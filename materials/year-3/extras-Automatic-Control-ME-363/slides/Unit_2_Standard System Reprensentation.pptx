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2"/>
  </p:notesMasterIdLst>
  <p:sldIdLst>
    <p:sldId id="263" r:id="rId2"/>
    <p:sldId id="264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52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65239-602F-4CB2-B215-C77E9499E69E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CA7E6-FB67-4A7D-B98C-D7F35433CA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685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08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422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23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49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58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348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47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412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484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151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847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609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659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042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529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136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323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3E769-CFAD-43C4-B479-5C52812B6468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2B443-8DAD-44E2-85AE-D7F6E0B83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02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7C0160-BE44-4806-870C-79A77E554B4E}"/>
              </a:ext>
            </a:extLst>
          </p:cNvPr>
          <p:cNvSpPr/>
          <p:nvPr/>
        </p:nvSpPr>
        <p:spPr>
          <a:xfrm>
            <a:off x="1524001" y="429491"/>
            <a:ext cx="1003069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4">
                    <a:lumMod val="75000"/>
                  </a:schemeClr>
                </a:solidFill>
              </a:rPr>
              <a:t>UNIT TWO</a:t>
            </a:r>
          </a:p>
          <a:p>
            <a:pPr algn="ctr"/>
            <a:r>
              <a:rPr lang="en-US" sz="3200" dirty="0"/>
              <a:t>STANDARD SYSTEM REPRESENTATION</a:t>
            </a:r>
          </a:p>
          <a:p>
            <a:pPr algn="ctr"/>
            <a:br>
              <a:rPr lang="en-GB" sz="32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76251" y="2626206"/>
            <a:ext cx="6788727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BLOCK DIAGRAM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SIGNAL FLOW</a:t>
            </a:r>
          </a:p>
          <a:p>
            <a:pPr lvl="0" algn="just">
              <a:lnSpc>
                <a:spcPct val="150000"/>
              </a:lnSpc>
            </a:pP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0835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STANDARD SYSTEM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four standard ways of representing physical systems:</a:t>
            </a:r>
          </a:p>
          <a:p>
            <a:pPr lvl="0"/>
            <a:r>
              <a:rPr lang="en-GB" dirty="0"/>
              <a:t>Block diagrams</a:t>
            </a:r>
            <a:endParaRPr lang="en-US" dirty="0"/>
          </a:p>
          <a:p>
            <a:pPr lvl="0"/>
            <a:r>
              <a:rPr lang="en-GB" dirty="0"/>
              <a:t>Signal flow diagrams</a:t>
            </a:r>
            <a:endParaRPr lang="en-US" dirty="0"/>
          </a:p>
          <a:p>
            <a:pPr lvl="0"/>
            <a:r>
              <a:rPr lang="en-GB" dirty="0"/>
              <a:t>Mathematical representation example, (Mechanical, electrical, pneumatics and hydraulics)</a:t>
            </a:r>
            <a:endParaRPr lang="en-US" dirty="0"/>
          </a:p>
          <a:p>
            <a:r>
              <a:rPr lang="en-GB" dirty="0"/>
              <a:t>State space representation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51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4437"/>
            <a:ext cx="10515600" cy="67119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Block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4933"/>
            <a:ext cx="10515600" cy="5608630"/>
          </a:xfrm>
        </p:spPr>
        <p:txBody>
          <a:bodyPr/>
          <a:lstStyle/>
          <a:p>
            <a:pPr algn="just"/>
            <a:r>
              <a:rPr lang="en-US" dirty="0"/>
              <a:t>A block diagram of a system is a pictorial representation of the functions performed by each component of the system and shows the flow of signals.</a:t>
            </a:r>
          </a:p>
          <a:p>
            <a:pPr algn="just"/>
            <a:r>
              <a:rPr lang="en-GB" dirty="0"/>
              <a:t>Blocks are used to represent the various parts of the system’s operation.</a:t>
            </a:r>
            <a:endParaRPr lang="en-US" dirty="0"/>
          </a:p>
          <a:p>
            <a:pPr algn="just"/>
            <a:r>
              <a:rPr lang="en-US" dirty="0"/>
              <a:t> The basic elements of block diagram are block, take-off point and summing point.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rcRect l="31571" t="63846" r="26602" b="16506"/>
          <a:stretch>
            <a:fillRect/>
          </a:stretch>
        </p:blipFill>
        <p:spPr bwMode="auto">
          <a:xfrm>
            <a:off x="2225040" y="4096512"/>
            <a:ext cx="8034528" cy="2255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365504" y="6126557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generic block diagram for an automatic control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40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1013"/>
            <a:ext cx="10515600" cy="106133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Determination of Overall Transfer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2080"/>
            <a:ext cx="10515600" cy="5035296"/>
          </a:xfrm>
        </p:spPr>
        <p:txBody>
          <a:bodyPr/>
          <a:lstStyle/>
          <a:p>
            <a:pPr algn="just"/>
            <a:r>
              <a:rPr lang="en-US" dirty="0"/>
              <a:t>The block diagram of a control system with negative feedback can often be simplified to the form shown:</a:t>
            </a: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 l="24359" t="19668" r="14744" b="16889"/>
          <a:stretch>
            <a:fillRect/>
          </a:stretch>
        </p:blipFill>
        <p:spPr bwMode="auto">
          <a:xfrm>
            <a:off x="1780032" y="2466974"/>
            <a:ext cx="7156704" cy="2934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3278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9184"/>
                <a:ext cx="10515600" cy="5847779"/>
              </a:xfrm>
            </p:spPr>
            <p:txBody>
              <a:bodyPr/>
              <a:lstStyle/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The important characteristic of a block diagram is the overall transfer function, which is the ratio of the Laplace transform of the output or the controlled variable C to the Laplace transform of the reference input R. </a:t>
                </a:r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The transfer function of the previous system simplifies to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den>
                      </m:f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The characteristic equation of the closed-loop system is obtained from the denominator of the control ratio i.e.  </a:t>
                </a:r>
                <a:r>
                  <a:rPr lang="en-US" b="1" dirty="0"/>
                  <a:t>1+G(s) H(s) =0</a:t>
                </a:r>
                <a:r>
                  <a:rPr lang="en-US" dirty="0"/>
                  <a:t>	</a:t>
                </a:r>
              </a:p>
              <a:p>
                <a:pPr algn="just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9184"/>
                <a:ext cx="10515600" cy="5847779"/>
              </a:xfrm>
              <a:blipFill>
                <a:blip r:embed="rId2"/>
                <a:stretch>
                  <a:fillRect l="-696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5822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8821"/>
            <a:ext cx="10515600" cy="86626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Block diagram transformation theorems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3584"/>
            <a:ext cx="10515600" cy="493337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Blocks in series: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Blocks in parallel: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Summation point: 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rcRect l="29327" t="56923" r="26442" b="20000"/>
          <a:stretch>
            <a:fillRect/>
          </a:stretch>
        </p:blipFill>
        <p:spPr bwMode="auto">
          <a:xfrm>
            <a:off x="4246605" y="1330270"/>
            <a:ext cx="2753106" cy="880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>
          <a:blip r:embed="rId3"/>
          <a:srcRect l="30609" t="30513" r="25481" b="41025"/>
          <a:stretch>
            <a:fillRect/>
          </a:stretch>
        </p:blipFill>
        <p:spPr bwMode="auto">
          <a:xfrm>
            <a:off x="4389861" y="2695782"/>
            <a:ext cx="2609850" cy="831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861" y="4299843"/>
            <a:ext cx="260985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92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6562"/>
            <a:ext cx="10515600" cy="6277233"/>
          </a:xfrm>
        </p:spPr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Exchanging summing points:</a:t>
            </a:r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Moving summing point ahead of block: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 l="12862" t="32500" r="54545" b="24444"/>
          <a:stretch>
            <a:fillRect/>
          </a:stretch>
        </p:blipFill>
        <p:spPr bwMode="auto">
          <a:xfrm>
            <a:off x="3630570" y="860812"/>
            <a:ext cx="58578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>
          <a:blip r:embed="rId3"/>
          <a:srcRect l="12674" t="26944" r="52257" b="30834"/>
          <a:stretch>
            <a:fillRect/>
          </a:stretch>
        </p:blipFill>
        <p:spPr bwMode="auto">
          <a:xfrm>
            <a:off x="3630570" y="4221206"/>
            <a:ext cx="5857875" cy="246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89372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9686"/>
            <a:ext cx="10515600" cy="5276336"/>
          </a:xfrm>
        </p:spPr>
        <p:txBody>
          <a:bodyPr/>
          <a:lstStyle/>
          <a:p>
            <a:pPr marL="514350" indent="-514350" algn="just">
              <a:buFont typeface="+mj-lt"/>
              <a:buAutoNum type="arabicPeriod" startAt="6"/>
            </a:pPr>
            <a:r>
              <a:rPr lang="en-US" dirty="0"/>
              <a:t>Moving pick up point behind block: 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rcRect l="14583" t="20556" r="54340" b="37222"/>
          <a:stretch>
            <a:fillRect/>
          </a:stretch>
        </p:blipFill>
        <p:spPr bwMode="auto">
          <a:xfrm>
            <a:off x="3133725" y="2290826"/>
            <a:ext cx="5924550" cy="232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76273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1973"/>
            <a:ext cx="10515600" cy="719963"/>
          </a:xfrm>
        </p:spPr>
        <p:txBody>
          <a:bodyPr/>
          <a:lstStyle/>
          <a:p>
            <a:pPr algn="ctr"/>
            <a:r>
              <a:rPr lang="en-US" b="1" dirty="0"/>
              <a:t>Block Diagram Reduction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4816"/>
            <a:ext cx="10515600" cy="543763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Reducing the block diagram to a single block is an easy way to get the relationship between C(s) (output) and R(s) (input).</a:t>
            </a:r>
          </a:p>
          <a:p>
            <a:pPr algn="just"/>
            <a:r>
              <a:rPr lang="en-US" dirty="0"/>
              <a:t> We can do this by rearranging or manipulating the blocks.</a:t>
            </a:r>
          </a:p>
          <a:p>
            <a:pPr algn="just"/>
            <a:r>
              <a:rPr lang="en-US" dirty="0"/>
              <a:t>The following steps are used to simplify block diagrams: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Combine all cascade blocks using transformation 1.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Combine all parallel blocks using transformation 2.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Eliminate all minor feedback loops using transformation 4.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Shift summing points to the left and take off points to the right of the major loop.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Repeat steps 1 to 4 for each input as required.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627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3632"/>
            <a:ext cx="10515600" cy="607952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Consider the system shown in Figure (a).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By moving the summing point of the negative feedback loop containing </a:t>
            </a:r>
            <a:r>
              <a:rPr lang="en-US" i="1" dirty="0"/>
              <a:t>H</a:t>
            </a:r>
            <a:r>
              <a:rPr lang="en-US" dirty="0"/>
              <a:t>2 outside the positive feedback loop containing </a:t>
            </a:r>
            <a:r>
              <a:rPr lang="en-US" i="1" dirty="0"/>
              <a:t>H</a:t>
            </a:r>
            <a:r>
              <a:rPr lang="en-US" dirty="0"/>
              <a:t>1, we obtain Figure (b). </a:t>
            </a:r>
          </a:p>
          <a:p>
            <a:pPr algn="just"/>
            <a:r>
              <a:rPr lang="en-US" dirty="0"/>
              <a:t>Eliminating the positive feedback loop, we have Figure (c).</a:t>
            </a:r>
          </a:p>
          <a:p>
            <a:pPr algn="just"/>
            <a:r>
              <a:rPr lang="en-US" dirty="0"/>
              <a:t>The elimination of the loop containing </a:t>
            </a:r>
            <a:r>
              <a:rPr lang="en-US" i="1" dirty="0"/>
              <a:t>H</a:t>
            </a:r>
            <a:r>
              <a:rPr lang="en-US" dirty="0"/>
              <a:t>2/</a:t>
            </a:r>
            <a:r>
              <a:rPr lang="en-US" i="1" dirty="0"/>
              <a:t>G</a:t>
            </a:r>
            <a:r>
              <a:rPr lang="en-US" dirty="0"/>
              <a:t>1 gives Figure (d). </a:t>
            </a:r>
          </a:p>
          <a:p>
            <a:pPr algn="just"/>
            <a:r>
              <a:rPr lang="en-US" dirty="0"/>
              <a:t>Finally, eliminating the feedback loop results in Figure 2–13(e).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162" y="852616"/>
            <a:ext cx="6448553" cy="207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13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555625"/>
            <a:ext cx="8686799" cy="573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582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9781"/>
            <a:ext cx="10515600" cy="744347"/>
          </a:xfrm>
        </p:spPr>
        <p:txBody>
          <a:bodyPr/>
          <a:lstStyle/>
          <a:p>
            <a:pPr algn="ctr"/>
            <a:r>
              <a:rPr lang="en-US" b="1" dirty="0"/>
              <a:t>Superposition of multiple inputs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7008"/>
            <a:ext cx="10515600" cy="496995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Linear systems with multiple inputs are analyzed as follows: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Set all inputs except one to zero,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Transform the block diagram to canonical form using the transformation sheet.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Calculate the response due to the chosen input acting alone.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Repeat steps 1 to 3 for each of the remaining input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Algebraically add all the responses (outputs) determined from steps 1 to 4. This sum is the total output acting simultaneously.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NB</a:t>
            </a:r>
            <a:r>
              <a:rPr lang="en-US" dirty="0"/>
              <a:t>: This is applicable only if the system is linear.</a:t>
            </a:r>
          </a:p>
        </p:txBody>
      </p:sp>
    </p:spTree>
    <p:extLst>
      <p:ext uri="{BB962C8B-B14F-4D97-AF65-F5344CB8AC3E}">
        <p14:creationId xmlns:p14="http://schemas.microsoft.com/office/powerpoint/2010/main" val="163109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07772"/>
            <a:ext cx="10515600" cy="6054811"/>
          </a:xfrm>
        </p:spPr>
        <p:txBody>
          <a:bodyPr/>
          <a:lstStyle/>
          <a:p>
            <a:r>
              <a:rPr lang="en-US" dirty="0"/>
              <a:t>Example </a:t>
            </a: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3961" t="10522" r="1801" b="4367"/>
          <a:stretch/>
        </p:blipFill>
        <p:spPr bwMode="auto">
          <a:xfrm>
            <a:off x="1359243" y="1037969"/>
            <a:ext cx="9885405" cy="5424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15912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3496" t="10756" r="1640" b="3723"/>
          <a:stretch/>
        </p:blipFill>
        <p:spPr bwMode="auto">
          <a:xfrm>
            <a:off x="1359243" y="679623"/>
            <a:ext cx="9625914" cy="5585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62458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3964" t="11381" r="2271" b="45116"/>
          <a:stretch/>
        </p:blipFill>
        <p:spPr bwMode="auto">
          <a:xfrm>
            <a:off x="1408670" y="1099750"/>
            <a:ext cx="9588843" cy="3447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3885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6032"/>
            <a:ext cx="10515600" cy="768096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Signal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6048"/>
            <a:ext cx="10515600" cy="543763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It is a pictorial representation of the simultaneous equations describing a system. </a:t>
            </a:r>
          </a:p>
          <a:p>
            <a:pPr algn="just"/>
            <a:r>
              <a:rPr lang="en-US" dirty="0"/>
              <a:t>In signal flow graphs, the dependent and independent variables are represented by nodes, while the transmittance is represented by the branch between respective nodes.</a:t>
            </a:r>
          </a:p>
          <a:p>
            <a:pPr algn="just"/>
            <a:r>
              <a:rPr lang="en-US" dirty="0"/>
              <a:t>A branch has the following properties:  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It is a line joining two nodes which has a direction represented by an arrow. 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Branch has magnitude which is called the transmittance, branch gain or transfer function. This magnitude is determined by the relationship between two nodes.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867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2608"/>
            <a:ext cx="10515600" cy="619353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Various terms used in signal flow graphs are illustrated on the figure below.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  <a:p>
            <a:pPr marL="571500" indent="-571500" algn="just">
              <a:buFont typeface="+mj-lt"/>
              <a:buAutoNum type="romanLcPeriod"/>
            </a:pPr>
            <a:r>
              <a:rPr lang="en-US" dirty="0"/>
              <a:t>Path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dirty="0"/>
              <a:t>Source node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dirty="0"/>
              <a:t>Sink node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dirty="0"/>
              <a:t>Mixed node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dirty="0"/>
              <a:t>Forward path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dirty="0"/>
              <a:t>Feedback path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dirty="0"/>
              <a:t>Self loop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dirty="0"/>
              <a:t>Path gain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dirty="0"/>
              <a:t>Loop gain </a:t>
            </a:r>
          </a:p>
        </p:txBody>
      </p:sp>
      <p:pic>
        <p:nvPicPr>
          <p:cNvPr id="5" name="Picture 4" descr="C:\Documents and Settings\Eunice Akyereko\My Documents\My Pictures\2008-09 (Sep)\scan.jpg"/>
          <p:cNvPicPr/>
          <p:nvPr/>
        </p:nvPicPr>
        <p:blipFill>
          <a:blip r:embed="rId2"/>
          <a:srcRect b="12500"/>
          <a:stretch>
            <a:fillRect/>
          </a:stretch>
        </p:blipFill>
        <p:spPr bwMode="auto">
          <a:xfrm>
            <a:off x="1294828" y="729424"/>
            <a:ext cx="5520500" cy="1769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19765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75488"/>
                <a:ext cx="10515600" cy="598627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The following rules are used in the construction and simplification of signal flow graphs for systems.</a:t>
                </a:r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dirty="0"/>
                  <a:t>The addition rule: The value of variable represented by a node is equal to the sum of all signals entering in that node.</a:t>
                </a:r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dirty="0"/>
                  <a:t>The transmission rule: The value of the variable represented by a node is transmitted on every branch which leaves that node.</a:t>
                </a:r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dirty="0"/>
                  <a:t>Multiplication rule: A series (cascade) connection of (m-1) branches with transmittance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21 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32 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−1)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can be replaced by a single branch with a new transmittance equal to the product of all branches of transmittance. This is described by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21 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32 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43 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….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−1) 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just"/>
                <a:endParaRPr lang="en-US" dirty="0"/>
              </a:p>
              <a:p>
                <a:pPr marL="571500" indent="-571500" algn="just">
                  <a:buFont typeface="+mj-lt"/>
                  <a:buAutoNum type="romanL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75488"/>
                <a:ext cx="10515600" cy="5986272"/>
              </a:xfrm>
              <a:blipFill rotWithShape="0">
                <a:blip r:embed="rId2"/>
                <a:stretch>
                  <a:fillRect l="-1217" t="-1629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212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02336"/>
                <a:ext cx="10515600" cy="6022848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dirty="0"/>
                  <a:t>Example: Draw the signal flow graph of the following equations.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3 </m:t>
                        </m:r>
                      </m:sub>
                    </m:sSub>
                  </m:oMath>
                </a14:m>
                <a:r>
                  <a:rPr lang="en-US" dirty="0"/>
                  <a:t>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2 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Solution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Considering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</m:oMath>
                </a14:m>
                <a:r>
                  <a:rPr lang="en-US" dirty="0"/>
                  <a:t>as the input node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as the output node, the signal flow graph is drawn as shown below: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02336"/>
                <a:ext cx="10515600" cy="6022848"/>
              </a:xfrm>
              <a:blipFill>
                <a:blip r:embed="rId2"/>
                <a:stretch>
                  <a:fillRect l="-754" t="-1316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C:\Documents and Settings\Eunice Akyereko\My Documents\My Pictures\2007-10 (Oct)\scan0005.jp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2370" y="3993309"/>
            <a:ext cx="4295458" cy="1633728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21886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8821"/>
            <a:ext cx="10515600" cy="90284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Constructing Signal Flow Graph from 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7008"/>
            <a:ext cx="10515600" cy="526694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following rules are used for converting signal flow graphs to block diagrams: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Variables, summing points, and take-off points are represented by nodes.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If a summing point is placed before take-off points in the direction of signal flow, then in such a case represent the summing point and the take-off by a single node.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If a summing point is placed after take-off points in the direction of signal flow, then in such a case represent the summing point and the take-off by separate nodes connected with a line having transmittance of unity.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Transfer function is represented by a line which is directed in the direction of signal 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80041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3614</TotalTime>
  <Words>945</Words>
  <Application>Microsoft Office PowerPoint</Application>
  <PresentationFormat>Widescreen</PresentationFormat>
  <Paragraphs>113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Century Gothic</vt:lpstr>
      <vt:lpstr>Wingdings</vt:lpstr>
      <vt:lpstr>Vapor Trail</vt:lpstr>
      <vt:lpstr>PowerPoint Presentation</vt:lpstr>
      <vt:lpstr>STANDARD SYSTEM REPRESENTATION</vt:lpstr>
      <vt:lpstr>Block Diagrams</vt:lpstr>
      <vt:lpstr>Determination of Overall Transfer Function</vt:lpstr>
      <vt:lpstr>PowerPoint Presentation</vt:lpstr>
      <vt:lpstr>Block diagram transformation theorems</vt:lpstr>
      <vt:lpstr>PowerPoint Presentation</vt:lpstr>
      <vt:lpstr>PowerPoint Presentation</vt:lpstr>
      <vt:lpstr>Block Diagram Reduction </vt:lpstr>
      <vt:lpstr>PowerPoint Presentation</vt:lpstr>
      <vt:lpstr>PowerPoint Presentation</vt:lpstr>
      <vt:lpstr>Superposition of multiple inputs</vt:lpstr>
      <vt:lpstr>PowerPoint Presentation</vt:lpstr>
      <vt:lpstr>PowerPoint Presentation</vt:lpstr>
      <vt:lpstr>PowerPoint Presentation</vt:lpstr>
      <vt:lpstr>Signal Flow</vt:lpstr>
      <vt:lpstr>PowerPoint Presentation</vt:lpstr>
      <vt:lpstr>PowerPoint Presentation</vt:lpstr>
      <vt:lpstr>PowerPoint Presentation</vt:lpstr>
      <vt:lpstr>Constructing Signal Flow Graph from Block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CONTROL 2  (ME 463)</dc:title>
  <dc:creator>Eunice Adjei</dc:creator>
  <cp:lastModifiedBy>Amoako Bernard Kofi</cp:lastModifiedBy>
  <cp:revision>79</cp:revision>
  <dcterms:created xsi:type="dcterms:W3CDTF">2017-09-04T04:43:52Z</dcterms:created>
  <dcterms:modified xsi:type="dcterms:W3CDTF">2022-04-09T14:46:38Z</dcterms:modified>
</cp:coreProperties>
</file>