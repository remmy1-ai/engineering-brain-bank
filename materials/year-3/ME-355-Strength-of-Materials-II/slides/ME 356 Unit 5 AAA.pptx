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notesSlides/notesSlide37.xml" ContentType="application/vnd.openxmlformats-officedocument.presentationml.notesSlide+xml"/>
  <Override PartName="/ppt/notesSlides/notesSlide55.xml" ContentType="application/vnd.openxmlformats-officedocument.presentationml.notes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329" r:id="rId2"/>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302" r:id="rId30"/>
    <p:sldId id="291" r:id="rId31"/>
    <p:sldId id="292" r:id="rId32"/>
    <p:sldId id="293" r:id="rId33"/>
    <p:sldId id="294" r:id="rId34"/>
    <p:sldId id="295" r:id="rId35"/>
    <p:sldId id="296" r:id="rId36"/>
    <p:sldId id="303" r:id="rId37"/>
    <p:sldId id="297" r:id="rId38"/>
    <p:sldId id="298" r:id="rId39"/>
    <p:sldId id="299" r:id="rId40"/>
    <p:sldId id="300" r:id="rId41"/>
    <p:sldId id="304" r:id="rId42"/>
    <p:sldId id="305" r:id="rId43"/>
    <p:sldId id="306" r:id="rId44"/>
    <p:sldId id="301" r:id="rId45"/>
    <p:sldId id="307" r:id="rId46"/>
    <p:sldId id="308" r:id="rId47"/>
    <p:sldId id="309" r:id="rId48"/>
    <p:sldId id="310" r:id="rId49"/>
    <p:sldId id="311" r:id="rId50"/>
    <p:sldId id="314" r:id="rId51"/>
    <p:sldId id="315" r:id="rId52"/>
    <p:sldId id="316" r:id="rId53"/>
    <p:sldId id="312" r:id="rId54"/>
    <p:sldId id="313"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38" d="100"/>
          <a:sy n="38" d="100"/>
        </p:scale>
        <p:origin x="-840"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72"/>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01A02E-049A-47F7-97DA-16CDBC446AB9}" type="datetimeFigureOut">
              <a:rPr lang="en-US" smtClean="0"/>
              <a:t>4/5/2013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F4294D-1FC0-4EED-A8DC-12F1EE85F45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6F4294D-1FC0-4EED-A8DC-12F1EE85F451}" type="slidenum">
              <a:rPr lang="en-US" smtClean="0"/>
              <a:t>66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91ABD7F-2DC4-4A92-9042-3D26656C5E76}"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DDD11-3B57-4CB5-AFA3-305EC7B1A668}"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C15D-627A-4926-841E-740084CC0FFA}"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5C85599-B19D-4E17-A598-F4556C477B2C}"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7976CB3-5982-4718-9256-9784DC249F4E}" type="datetime1">
              <a:rPr lang="en-US" smtClean="0"/>
              <a:t>4/5/2013</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35C07-27CA-438F-9B91-76297C05252B}" type="datetime1">
              <a:rPr lang="en-US" smtClean="0"/>
              <a:t>4/5/2013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B9EA5E-5BDA-40DD-90E2-63931B9C1B27}" type="datetime1">
              <a:rPr lang="en-US" smtClean="0"/>
              <a:t>4/5/2013</a:t>
            </a:fld>
            <a:endParaRPr lang="en-US"/>
          </a:p>
        </p:txBody>
      </p:sp>
      <p:sp>
        <p:nvSpPr>
          <p:cNvPr id="3" name="Footer Placeholder 2"/>
          <p:cNvSpPr>
            <a:spLocks noGrp="1"/>
          </p:cNvSpPr>
          <p:nvPr>
            <p:ph type="ftr" sz="quarter" idx="11"/>
          </p:nvPr>
        </p:nvSpPr>
        <p:spPr/>
        <p:txBody>
          <a:bodyPr/>
          <a:lstStyle/>
          <a:p>
            <a:r>
              <a:rPr lang="en-US" smtClean="0"/>
              <a:t>ME 356 Strength of Materials II for IDL</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9A26AC-2A76-468C-B8C5-D48E7E56A25E}"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FBB6E-E609-4E65-923F-D9D3B6C5D253}" type="datetime1">
              <a:rPr lang="en-US" smtClean="0"/>
              <a:t>4/5/2013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70B2E1-E4BF-46BC-82DF-6ACE6068B103}"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33239B-C769-416A-8327-50EA75D1EF80}" type="datetime1">
              <a:rPr lang="en-US" smtClean="0"/>
              <a:t>4/5/2013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E33C2-AA3F-4240-A2B2-F8E1243B8570}" type="datetime1">
              <a:rPr lang="en-US" smtClean="0"/>
              <a:t>4/5/2013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ME 356 Strength of Materials II for IDL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1"/>
            <a:ext cx="7772400" cy="2285999"/>
          </a:xfrm>
        </p:spPr>
        <p:txBody>
          <a:bodyPr>
            <a:normAutofit/>
          </a:bodyPr>
          <a:lstStyle/>
          <a:p>
            <a:r>
              <a:rPr lang="en-US" sz="5400" b="1" i="1" dirty="0" smtClean="0"/>
              <a:t>STRESSES AND DEFLECTION OF SPRINGS</a:t>
            </a:r>
            <a:endParaRPr lang="en-US" sz="5400" b="1" i="1" dirty="0"/>
          </a:p>
        </p:txBody>
      </p:sp>
      <p:sp>
        <p:nvSpPr>
          <p:cNvPr id="3" name="Subtitle 2"/>
          <p:cNvSpPr>
            <a:spLocks noGrp="1"/>
          </p:cNvSpPr>
          <p:nvPr>
            <p:ph type="subTitle" idx="1"/>
          </p:nvPr>
        </p:nvSpPr>
        <p:spPr>
          <a:xfrm>
            <a:off x="1371600" y="5791200"/>
            <a:ext cx="6400800" cy="838200"/>
          </a:xfrm>
        </p:spPr>
        <p:txBody>
          <a:bodyPr>
            <a:normAutofit/>
          </a:bodyPr>
          <a:lstStyle/>
          <a:p>
            <a:r>
              <a:rPr lang="en-US" sz="4000" b="1" i="1" dirty="0" smtClean="0"/>
              <a:t>By Dr. Andoh</a:t>
            </a:r>
            <a:endParaRPr lang="en-US" sz="4000" b="1"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srcRect/>
          <a:stretch>
            <a:fillRect/>
          </a:stretch>
        </p:blipFill>
        <p:spPr bwMode="auto">
          <a:xfrm>
            <a:off x="0" y="152400"/>
            <a:ext cx="9144000" cy="6553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Introduction</a:t>
            </a:r>
            <a:r>
              <a:rPr lang="en-US" sz="3200" dirty="0" smtClean="0"/>
              <a:t/>
            </a:r>
            <a:br>
              <a:rPr lang="en-US" sz="3200" dirty="0" smtClean="0"/>
            </a:br>
            <a:r>
              <a:rPr lang="en-US" sz="3200" b="1" i="1" dirty="0" smtClean="0"/>
              <a:t>CARRIAGE OR LEAF SPRINGS</a:t>
            </a:r>
            <a:endParaRPr lang="en-US" sz="3200" dirty="0"/>
          </a:p>
        </p:txBody>
      </p:sp>
      <p:sp>
        <p:nvSpPr>
          <p:cNvPr id="3" name="Content Placeholder 2"/>
          <p:cNvSpPr>
            <a:spLocks noGrp="1"/>
          </p:cNvSpPr>
          <p:nvPr>
            <p:ph idx="1"/>
          </p:nvPr>
        </p:nvSpPr>
        <p:spPr>
          <a:xfrm>
            <a:off x="304800" y="2332037"/>
            <a:ext cx="8229600" cy="4297363"/>
          </a:xfrm>
        </p:spPr>
        <p:txBody>
          <a:bodyPr>
            <a:normAutofit fontScale="70000" lnSpcReduction="20000"/>
          </a:bodyPr>
          <a:lstStyle/>
          <a:p>
            <a:r>
              <a:rPr lang="en-US" dirty="0" smtClean="0"/>
              <a:t>A spring is a device, in which the material is arranged in such a way that it can undergo a considerable change, without getting permanently distorted. </a:t>
            </a:r>
          </a:p>
          <a:p>
            <a:endParaRPr lang="en-US" dirty="0" smtClean="0"/>
          </a:p>
          <a:p>
            <a:r>
              <a:rPr lang="en-US" dirty="0" smtClean="0"/>
              <a:t>A spring is used to absorb energy due to resilience, which may be restored as and when required. The quality of a spring is judged from the energy it can absorb e.g., in a watch the spring is wound to absorb strain energy. </a:t>
            </a:r>
          </a:p>
          <a:p>
            <a:endParaRPr lang="en-US" dirty="0" smtClean="0"/>
          </a:p>
          <a:p>
            <a:r>
              <a:rPr lang="en-US" dirty="0" smtClean="0"/>
              <a:t>This energy is released to run the watch, when the spring regains its original shape. A carriage spring is used to absorb shocks. It is thus obvious that a spring which is capable of absorbing the greatest amount of energy for the given stress is known to be the best one. </a:t>
            </a:r>
          </a:p>
          <a:p>
            <a:endParaRPr lang="en-US" dirty="0"/>
          </a:p>
        </p:txBody>
      </p:sp>
      <p:sp>
        <p:nvSpPr>
          <p:cNvPr id="5" name="Rectangle 4"/>
          <p:cNvSpPr/>
          <p:nvPr/>
        </p:nvSpPr>
        <p:spPr>
          <a:xfrm>
            <a:off x="609600" y="1447800"/>
            <a:ext cx="3257550" cy="584775"/>
          </a:xfrm>
          <a:prstGeom prst="rect">
            <a:avLst/>
          </a:prstGeom>
        </p:spPr>
        <p:txBody>
          <a:bodyPr wrap="square">
            <a:spAutoFit/>
          </a:bodyPr>
          <a:lstStyle/>
          <a:p>
            <a:r>
              <a:rPr lang="en-US" sz="3200" b="1" dirty="0" smtClean="0">
                <a:solidFill>
                  <a:prstClr val="black"/>
                </a:solidFill>
                <a:ea typeface="+mj-ea"/>
                <a:cs typeface="+mj-cs"/>
              </a:rPr>
              <a:t>Introduction</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458200" cy="6172200"/>
          </a:xfrm>
        </p:spPr>
        <p:txBody>
          <a:bodyPr>
            <a:normAutofit fontScale="92500" lnSpcReduction="10000"/>
          </a:bodyPr>
          <a:lstStyle/>
          <a:p>
            <a:pPr>
              <a:buNone/>
            </a:pPr>
            <a:r>
              <a:rPr lang="en-US" b="1" dirty="0" smtClean="0"/>
              <a:t>Stiffness of a Spring</a:t>
            </a:r>
            <a:endParaRPr lang="en-US" dirty="0" smtClean="0"/>
          </a:p>
          <a:p>
            <a:r>
              <a:rPr lang="en-US" dirty="0" smtClean="0"/>
              <a:t>The load required to produce a unit deflection in a spring is called spring stiffness or </a:t>
            </a:r>
            <a:r>
              <a:rPr lang="en-US" i="1" dirty="0" smtClean="0"/>
              <a:t>stiffness of a spring.</a:t>
            </a:r>
            <a:endParaRPr lang="en-US" dirty="0" smtClean="0"/>
          </a:p>
          <a:p>
            <a:pPr>
              <a:buNone/>
            </a:pPr>
            <a:endParaRPr lang="en-US" dirty="0" smtClean="0"/>
          </a:p>
          <a:p>
            <a:pPr>
              <a:buNone/>
            </a:pPr>
            <a:r>
              <a:rPr lang="en-US" b="1" dirty="0" smtClean="0"/>
              <a:t>Types of Springs</a:t>
            </a:r>
            <a:endParaRPr lang="en-US" dirty="0" smtClean="0"/>
          </a:p>
          <a:p>
            <a:r>
              <a:rPr lang="en-US" dirty="0" smtClean="0"/>
              <a:t>We have already discussed that a spring is used for absorbing energy due to resilience. Thus in general, the springs are of the following two types depending upon the type of resilience.</a:t>
            </a:r>
          </a:p>
          <a:p>
            <a:pPr>
              <a:buNone/>
            </a:pPr>
            <a:r>
              <a:rPr lang="en-US" dirty="0" smtClean="0"/>
              <a:t> </a:t>
            </a:r>
          </a:p>
          <a:p>
            <a:pPr marL="571500" lvl="0" indent="-571500">
              <a:buFont typeface="+mj-lt"/>
              <a:buAutoNum type="romanUcPeriod"/>
            </a:pPr>
            <a:r>
              <a:rPr lang="en-US" dirty="0" smtClean="0"/>
              <a:t>Bending spring</a:t>
            </a:r>
          </a:p>
          <a:p>
            <a:pPr marL="571500" lvl="0" indent="-571500">
              <a:buFont typeface="+mj-lt"/>
              <a:buAutoNum type="romanUcPeriod"/>
            </a:pPr>
            <a:r>
              <a:rPr lang="en-US" dirty="0" smtClean="0"/>
              <a:t>Torsion spring</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019800"/>
          </a:xfrm>
        </p:spPr>
        <p:txBody>
          <a:bodyPr>
            <a:normAutofit fontScale="92500"/>
          </a:bodyPr>
          <a:lstStyle/>
          <a:p>
            <a:r>
              <a:rPr lang="en-US" b="1" dirty="0" smtClean="0"/>
              <a:t>Bending Spring</a:t>
            </a:r>
            <a:r>
              <a:rPr lang="en-US" dirty="0" smtClean="0"/>
              <a:t>: A spring which is subjected to bending only and the resilience is also due to it, is known a </a:t>
            </a:r>
            <a:r>
              <a:rPr lang="en-US" i="1" dirty="0" smtClean="0"/>
              <a:t>bending spring. </a:t>
            </a:r>
            <a:r>
              <a:rPr lang="en-US" dirty="0" smtClean="0"/>
              <a:t>Laminated springs or leaf springs are also called bending springs. </a:t>
            </a:r>
          </a:p>
          <a:p>
            <a:endParaRPr lang="en-US" dirty="0" smtClean="0"/>
          </a:p>
          <a:p>
            <a:r>
              <a:rPr lang="en-US" b="1" dirty="0" smtClean="0"/>
              <a:t>Torsion Spring</a:t>
            </a:r>
            <a:r>
              <a:rPr lang="en-US" dirty="0" smtClean="0"/>
              <a:t>: A spring, which is subjected to torsion or twisting moment only and the resilience, is also due to it is known as a </a:t>
            </a:r>
            <a:r>
              <a:rPr lang="en-US" i="1" dirty="0" smtClean="0"/>
              <a:t>torsion spring. </a:t>
            </a:r>
            <a:r>
              <a:rPr lang="en-US" dirty="0" smtClean="0"/>
              <a:t>Helical springs are also called torsion springs. Some springs arc subjected to bending as well as torsion. </a:t>
            </a:r>
          </a:p>
          <a:p>
            <a:endParaRPr lang="en-US" dirty="0" smtClean="0"/>
          </a:p>
          <a:p>
            <a:pPr>
              <a:buNone/>
            </a:pPr>
            <a:r>
              <a:rPr lang="en-US" b="1" dirty="0" smtClean="0"/>
              <a:t>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Forms of Springs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Though there are many forms of springs, which are made by the manufacturers, yet the following types of springs are commonly used in Engineering practice.</a:t>
            </a:r>
          </a:p>
          <a:p>
            <a:endParaRPr lang="en-US" dirty="0" smtClean="0"/>
          </a:p>
          <a:p>
            <a:pPr marL="571500" lvl="0" indent="-571500">
              <a:buFont typeface="+mj-lt"/>
              <a:buAutoNum type="romanUcPeriod"/>
            </a:pPr>
            <a:r>
              <a:rPr lang="en-US" dirty="0" smtClean="0"/>
              <a:t>Carriage springs or leaf springs</a:t>
            </a:r>
          </a:p>
          <a:p>
            <a:pPr marL="571500" lvl="0" indent="-571500">
              <a:buFont typeface="+mj-lt"/>
              <a:buAutoNum type="romanUcPeriod"/>
            </a:pPr>
            <a:r>
              <a:rPr lang="en-US" dirty="0" smtClean="0"/>
              <a:t>Helical springs.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Carriage Springs</a:t>
            </a:r>
            <a:r>
              <a:rPr lang="en-US" dirty="0" smtClean="0"/>
              <a:t/>
            </a:r>
            <a:br>
              <a:rPr lang="en-US" dirty="0" smtClean="0"/>
            </a:br>
            <a:endParaRPr lang="en-US" dirty="0"/>
          </a:p>
        </p:txBody>
      </p:sp>
      <p:sp>
        <p:nvSpPr>
          <p:cNvPr id="3" name="Content Placeholder 2"/>
          <p:cNvSpPr>
            <a:spLocks noGrp="1"/>
          </p:cNvSpPr>
          <p:nvPr>
            <p:ph idx="1"/>
          </p:nvPr>
        </p:nvSpPr>
        <p:spPr>
          <a:xfrm>
            <a:off x="381000" y="990600"/>
            <a:ext cx="8534400" cy="5638800"/>
          </a:xfrm>
        </p:spPr>
        <p:txBody>
          <a:bodyPr>
            <a:normAutofit fontScale="85000" lnSpcReduction="20000"/>
          </a:bodyPr>
          <a:lstStyle/>
          <a:p>
            <a:r>
              <a:rPr lang="en-US" dirty="0" smtClean="0"/>
              <a:t>These are also called laminated springs and are of two types:</a:t>
            </a:r>
          </a:p>
          <a:p>
            <a:pPr marL="571500" lvl="0" indent="-571500">
              <a:buFont typeface="+mj-lt"/>
              <a:buAutoNum type="romanUcPeriod"/>
            </a:pPr>
            <a:r>
              <a:rPr lang="en-US" dirty="0" smtClean="0"/>
              <a:t>semi-elliptical types </a:t>
            </a:r>
            <a:r>
              <a:rPr lang="en-US" i="1" dirty="0" smtClean="0"/>
              <a:t>(i.e., </a:t>
            </a:r>
            <a:r>
              <a:rPr lang="en-US" dirty="0" smtClean="0"/>
              <a:t>simply supported at its ends subjected to central load) and</a:t>
            </a:r>
          </a:p>
          <a:p>
            <a:pPr marL="571500" lvl="0" indent="-571500">
              <a:buFont typeface="+mj-lt"/>
              <a:buAutoNum type="romanUcPeriod"/>
            </a:pPr>
            <a:endParaRPr lang="en-US" dirty="0" smtClean="0"/>
          </a:p>
          <a:p>
            <a:pPr marL="571500" lvl="0" indent="-571500">
              <a:buFont typeface="+mj-lt"/>
              <a:buAutoNum type="romanUcPeriod"/>
            </a:pPr>
            <a:r>
              <a:rPr lang="en-US" dirty="0" smtClean="0"/>
              <a:t>quarter-elliptical </a:t>
            </a:r>
            <a:r>
              <a:rPr lang="en-US" i="1" dirty="0" smtClean="0"/>
              <a:t>(i.e., </a:t>
            </a:r>
            <a:r>
              <a:rPr lang="en-US" dirty="0" smtClean="0"/>
              <a:t>cantilever) types</a:t>
            </a:r>
          </a:p>
          <a:p>
            <a:pPr marL="571500" lvl="0" indent="-571500">
              <a:buFont typeface="+mj-lt"/>
              <a:buAutoNum type="romanUcPeriod"/>
            </a:pPr>
            <a:endParaRPr lang="en-US" dirty="0" smtClean="0"/>
          </a:p>
          <a:p>
            <a:r>
              <a:rPr lang="en-US" dirty="0" smtClean="0"/>
              <a:t>The carriage springs are widely used in railway wagon, coaches and road vehicles the e day.</a:t>
            </a:r>
          </a:p>
          <a:p>
            <a:endParaRPr lang="en-US" dirty="0" smtClean="0"/>
          </a:p>
          <a:p>
            <a:r>
              <a:rPr lang="en-US" dirty="0" smtClean="0"/>
              <a:t>These are used to absorb shocks, which give an unpleasant feeling to the passengers. The energy absorbed by a laminated spring during a shock is released immediately without doing any useful work.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839200" cy="6019800"/>
          </a:xfrm>
        </p:spPr>
        <p:txBody>
          <a:bodyPr/>
          <a:lstStyle/>
          <a:p>
            <a:pPr>
              <a:buNone/>
            </a:pPr>
            <a:r>
              <a:rPr lang="en-US" b="1" dirty="0" smtClean="0"/>
              <a:t>Helical Springs</a:t>
            </a:r>
          </a:p>
          <a:p>
            <a:pPr>
              <a:buNone/>
            </a:pPr>
            <a:endParaRPr lang="en-US" dirty="0" smtClean="0"/>
          </a:p>
          <a:p>
            <a:r>
              <a:rPr lang="en-US" dirty="0" smtClean="0"/>
              <a:t>It is a torsion spring and made up of a wire coiled into a helix. Though, there are many types of helical spring, yet the following are important from the subject point of view:</a:t>
            </a:r>
          </a:p>
          <a:p>
            <a:endParaRPr lang="en-US" dirty="0" smtClean="0"/>
          </a:p>
          <a:p>
            <a:pPr marL="571500" lvl="0" indent="-571500">
              <a:buFont typeface="+mj-lt"/>
              <a:buAutoNum type="romanUcPeriod"/>
            </a:pPr>
            <a:r>
              <a:rPr lang="en-US" dirty="0" smtClean="0"/>
              <a:t>Closely-coiled helical springs and </a:t>
            </a:r>
          </a:p>
          <a:p>
            <a:pPr marL="571500" lvl="0" indent="-571500">
              <a:buFont typeface="+mj-lt"/>
              <a:buAutoNum type="romanUcPeriod"/>
            </a:pPr>
            <a:r>
              <a:rPr lang="en-US" dirty="0" smtClean="0"/>
              <a:t>Open-coiled helical springs.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smtClean="0"/>
              <a:t>Semi-elliptical Type Leaf Springs</a:t>
            </a:r>
            <a:endParaRPr lang="en-US" sz="3600" dirty="0"/>
          </a:p>
        </p:txBody>
      </p:sp>
      <p:sp>
        <p:nvSpPr>
          <p:cNvPr id="3" name="Content Placeholder 2"/>
          <p:cNvSpPr>
            <a:spLocks noGrp="1"/>
          </p:cNvSpPr>
          <p:nvPr>
            <p:ph idx="1"/>
          </p:nvPr>
        </p:nvSpPr>
        <p:spPr>
          <a:xfrm>
            <a:off x="304800" y="990600"/>
            <a:ext cx="8610600" cy="1752600"/>
          </a:xfrm>
        </p:spPr>
        <p:txBody>
          <a:bodyPr>
            <a:normAutofit/>
          </a:bodyPr>
          <a:lstStyle/>
          <a:p>
            <a:pPr>
              <a:buNone/>
            </a:pPr>
            <a:r>
              <a:rPr lang="en-US" sz="2400" dirty="0" smtClean="0"/>
              <a:t>A laminated spring in its simplest form consists of a number of parallel strips of a metal having different lengths but same width and placed one over the other in laminations as shown in Fig. 28.1. </a:t>
            </a:r>
          </a:p>
          <a:p>
            <a:pPr>
              <a:buNone/>
            </a:pPr>
            <a:endParaRPr lang="en-US" sz="2400" dirty="0"/>
          </a:p>
        </p:txBody>
      </p:sp>
      <p:pic>
        <p:nvPicPr>
          <p:cNvPr id="12289" name="Picture 1"/>
          <p:cNvPicPr>
            <a:picLocks noChangeAspect="1" noChangeArrowheads="1"/>
          </p:cNvPicPr>
          <p:nvPr/>
        </p:nvPicPr>
        <p:blipFill>
          <a:blip r:embed="rId3"/>
          <a:srcRect/>
          <a:stretch>
            <a:fillRect/>
          </a:stretch>
        </p:blipFill>
        <p:spPr bwMode="auto">
          <a:xfrm>
            <a:off x="533400" y="2590800"/>
            <a:ext cx="7924800" cy="4038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lnSpcReduction="10000"/>
          </a:bodyPr>
          <a:lstStyle/>
          <a:p>
            <a:r>
              <a:rPr lang="en-US" dirty="0" smtClean="0"/>
              <a:t>All the plates are initially bent to the same radius and arc free to slide one over the other. When the spring is loaded to the designed load, all the plates become flat and the central deflection disappears. </a:t>
            </a:r>
          </a:p>
          <a:p>
            <a:endParaRPr lang="en-US" dirty="0" smtClean="0"/>
          </a:p>
          <a:p>
            <a:r>
              <a:rPr lang="en-US" dirty="0" smtClean="0"/>
              <a:t>The purpose of this type of arrangement of plates is to make the spring of uniform strength throughout. This is achieved by tapering the ends of the laminations. The semi-elliptical type spring rests on the axis of the vehicle and its top plate is pinned at the end to the chassis of the vehicle. </a:t>
            </a:r>
          </a:p>
          <a:p>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610600" cy="6019800"/>
          </a:xfrm>
        </p:spPr>
        <p:txBody>
          <a:bodyPr>
            <a:normAutofit/>
          </a:bodyPr>
          <a:lstStyle/>
          <a:p>
            <a:r>
              <a:rPr lang="en-US" sz="2800" dirty="0" smtClean="0"/>
              <a:t>Now consider a carriage spring pinned at its both ends, and carrying an upward load at its centre as shown in Fig. 28.l. </a:t>
            </a:r>
          </a:p>
          <a:p>
            <a:endParaRPr lang="en-US" sz="2800" dirty="0" smtClean="0"/>
          </a:p>
          <a:p>
            <a:r>
              <a:rPr lang="en-US" sz="2800" dirty="0" smtClean="0"/>
              <a:t>Let	</a:t>
            </a:r>
            <a:r>
              <a:rPr lang="en-US" sz="2800" i="1" dirty="0" smtClean="0"/>
              <a:t>l</a:t>
            </a:r>
            <a:r>
              <a:rPr lang="en-US" sz="2800" dirty="0" smtClean="0"/>
              <a:t>	Span of the spring, </a:t>
            </a:r>
          </a:p>
          <a:p>
            <a:pPr>
              <a:buNone/>
            </a:pPr>
            <a:r>
              <a:rPr lang="en-US" sz="2800" i="1" dirty="0" smtClean="0"/>
              <a:t>		t</a:t>
            </a:r>
            <a:r>
              <a:rPr lang="en-US" sz="2800" dirty="0" smtClean="0"/>
              <a:t>	Thickness of plates,</a:t>
            </a:r>
          </a:p>
          <a:p>
            <a:pPr>
              <a:buNone/>
            </a:pPr>
            <a:r>
              <a:rPr lang="en-US" sz="2800" i="1" dirty="0" smtClean="0"/>
              <a:t>		b 	</a:t>
            </a:r>
            <a:r>
              <a:rPr lang="en-US" sz="2800" dirty="0" smtClean="0"/>
              <a:t>Width of the plates,</a:t>
            </a:r>
          </a:p>
          <a:p>
            <a:pPr>
              <a:buNone/>
            </a:pPr>
            <a:r>
              <a:rPr lang="en-US" sz="2800" dirty="0" smtClean="0"/>
              <a:t>		n	Number of plates, </a:t>
            </a:r>
          </a:p>
          <a:p>
            <a:pPr>
              <a:buNone/>
            </a:pPr>
            <a:r>
              <a:rPr lang="en-US" sz="2800" dirty="0" smtClean="0"/>
              <a:t>		</a:t>
            </a:r>
            <a:r>
              <a:rPr lang="en-US" sz="2800" i="1" dirty="0" smtClean="0"/>
              <a:t>W	</a:t>
            </a:r>
            <a:r>
              <a:rPr lang="en-US" sz="2800" dirty="0" smtClean="0"/>
              <a:t>Load acting on the spring</a:t>
            </a:r>
          </a:p>
          <a:p>
            <a:pPr>
              <a:buNone/>
            </a:pPr>
            <a:r>
              <a:rPr lang="en-US" sz="2800" i="1" dirty="0" smtClean="0"/>
              <a:t>		σ	</a:t>
            </a:r>
            <a:r>
              <a:rPr lang="en-US" sz="2400" dirty="0" smtClean="0"/>
              <a:t>Maximum bending stress developed in the plates, </a:t>
            </a:r>
            <a:endParaRPr lang="en-US" sz="2800" dirty="0" smtClean="0"/>
          </a:p>
          <a:p>
            <a:pPr>
              <a:buNone/>
            </a:pPr>
            <a:r>
              <a:rPr lang="en-US" sz="2800" dirty="0" smtClean="0"/>
              <a:t>		δ	Original deflection of the top spring and </a:t>
            </a:r>
          </a:p>
          <a:p>
            <a:pPr>
              <a:buNone/>
            </a:pPr>
            <a:r>
              <a:rPr lang="en-US" sz="2800" i="1" dirty="0" smtClean="0"/>
              <a:t>		R	</a:t>
            </a:r>
            <a:r>
              <a:rPr lang="en-US" sz="2800" dirty="0" smtClean="0"/>
              <a:t>Radius of the spring</a:t>
            </a:r>
          </a:p>
          <a:p>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610600" cy="2438400"/>
          </a:xfrm>
        </p:spPr>
        <p:txBody>
          <a:bodyPr>
            <a:normAutofit/>
          </a:bodyPr>
          <a:lstStyle/>
          <a:p>
            <a:r>
              <a:rPr lang="en-US" sz="2000" dirty="0" smtClean="0"/>
              <a:t>A little consideration will show that the load will be acting on the spring on the lowermost plate and it will be shared equally on the two ends of the top plate as shown in Fig. 28.1. </a:t>
            </a:r>
          </a:p>
          <a:p>
            <a:endParaRPr lang="en-US" sz="2000" dirty="0" smtClean="0"/>
          </a:p>
          <a:p>
            <a:r>
              <a:rPr lang="en-US" sz="2000" dirty="0" smtClean="0"/>
              <a:t>We know that the bending moment, at the centre of the span due to this load</a:t>
            </a:r>
            <a:endParaRPr lang="en-US" sz="2000" dirty="0"/>
          </a:p>
        </p:txBody>
      </p:sp>
      <p:sp>
        <p:nvSpPr>
          <p:cNvPr id="92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217" name="Object 1"/>
          <p:cNvGraphicFramePr>
            <a:graphicFrameLocks noChangeAspect="1"/>
          </p:cNvGraphicFramePr>
          <p:nvPr/>
        </p:nvGraphicFramePr>
        <p:xfrm>
          <a:off x="2743200" y="2438400"/>
          <a:ext cx="2209800" cy="533400"/>
        </p:xfrm>
        <a:graphic>
          <a:graphicData uri="http://schemas.openxmlformats.org/presentationml/2006/ole">
            <p:oleObj spid="_x0000_s9217" name="Equation" r:id="rId4" imgW="558800" imgH="393700" progId="Equation.3">
              <p:embed/>
            </p:oleObj>
          </a:graphicData>
        </a:graphic>
      </p:graphicFrame>
      <p:pic>
        <p:nvPicPr>
          <p:cNvPr id="9219" name="Picture 3"/>
          <p:cNvPicPr>
            <a:picLocks noChangeAspect="1" noChangeArrowheads="1"/>
          </p:cNvPicPr>
          <p:nvPr/>
        </p:nvPicPr>
        <p:blipFill>
          <a:blip r:embed="rId5"/>
          <a:srcRect/>
          <a:stretch>
            <a:fillRect/>
          </a:stretch>
        </p:blipFill>
        <p:spPr bwMode="auto">
          <a:xfrm>
            <a:off x="228600" y="2971800"/>
            <a:ext cx="8534400" cy="36576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Footer Placeholder 6"/>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srcRect/>
          <a:stretch>
            <a:fillRect/>
          </a:stretch>
        </p:blipFill>
        <p:spPr bwMode="auto">
          <a:xfrm>
            <a:off x="304800" y="457200"/>
            <a:ext cx="8534400" cy="5943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sz="3600" i="1" dirty="0" smtClean="0"/>
              <a:t>Example 5-1: </a:t>
            </a:r>
          </a:p>
          <a:p>
            <a:pPr>
              <a:buNone/>
            </a:pPr>
            <a:r>
              <a:rPr lang="en-US" sz="3600" i="1" dirty="0" smtClean="0"/>
              <a:t>A laminated spring </a:t>
            </a:r>
            <a:r>
              <a:rPr lang="en-US" sz="3600" dirty="0" smtClean="0"/>
              <a:t>1 </a:t>
            </a:r>
            <a:r>
              <a:rPr lang="en-US" sz="3600" i="1" dirty="0" smtClean="0"/>
              <a:t>m long is made up of plates each 50 mm wide and 10 mm thick. If the bending stress in the plates is limited to 100 MPa, how many plates are required to enable the spring to carry a central point load of </a:t>
            </a:r>
            <a:r>
              <a:rPr lang="en-US" sz="3600" dirty="0" smtClean="0"/>
              <a:t>2 </a:t>
            </a:r>
            <a:r>
              <a:rPr lang="en-US" sz="3600" i="1" dirty="0" err="1" smtClean="0"/>
              <a:t>kN.</a:t>
            </a:r>
            <a:r>
              <a:rPr lang="en-US" sz="3600" i="1" dirty="0" smtClean="0"/>
              <a:t> If modulus of elasticity for the spring material is 200 GPa, what is the deflection under the load?</a:t>
            </a:r>
            <a:endParaRPr lang="en-US" sz="3600"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Grp="1" noChangeAspect="1" noChangeArrowheads="1"/>
          </p:cNvPicPr>
          <p:nvPr>
            <p:ph idx="1"/>
          </p:nvPr>
        </p:nvPicPr>
        <p:blipFill>
          <a:blip r:embed="rId3"/>
          <a:srcRect/>
          <a:stretch>
            <a:fillRect/>
          </a:stretch>
        </p:blipFill>
        <p:spPr bwMode="auto">
          <a:xfrm>
            <a:off x="304800" y="304800"/>
            <a:ext cx="8559312"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sz="4000" i="1" dirty="0" smtClean="0"/>
              <a:t>Example 5-2: </a:t>
            </a:r>
          </a:p>
          <a:p>
            <a:pPr>
              <a:buNone/>
            </a:pPr>
            <a:r>
              <a:rPr lang="en-US" sz="4000" i="1" dirty="0" smtClean="0"/>
              <a:t>A leaf spring is to be made of seven steel plates </a:t>
            </a:r>
            <a:r>
              <a:rPr lang="en-US" sz="4000" dirty="0" smtClean="0"/>
              <a:t>65 </a:t>
            </a:r>
            <a:r>
              <a:rPr lang="en-US" sz="4000" i="1" dirty="0" smtClean="0"/>
              <a:t>mm wide and </a:t>
            </a:r>
            <a:r>
              <a:rPr lang="en-US" sz="4000" dirty="0" smtClean="0"/>
              <a:t>6.5 </a:t>
            </a:r>
            <a:r>
              <a:rPr lang="en-US" sz="4000" i="1" dirty="0" smtClean="0"/>
              <a:t>min thick. Calculate the length of the spring, so that it may carry a central load of </a:t>
            </a:r>
            <a:r>
              <a:rPr lang="en-US" sz="4000" dirty="0" smtClean="0"/>
              <a:t>2.75 </a:t>
            </a:r>
            <a:r>
              <a:rPr lang="en-US" sz="4000" i="1" dirty="0" err="1" smtClean="0"/>
              <a:t>kN</a:t>
            </a:r>
            <a:r>
              <a:rPr lang="en-US" sz="4000" i="1" dirty="0" smtClean="0"/>
              <a:t>, the bending stress being limited to 160 MPa. Also calculate the deflection at the centre of the spring. Take E for the spring material as 200 GPa.</a:t>
            </a:r>
            <a:endParaRPr lang="en-US" sz="4000"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p:cNvPicPr>
            <a:picLocks noChangeAspect="1" noChangeArrowheads="1"/>
          </p:cNvPicPr>
          <p:nvPr/>
        </p:nvPicPr>
        <p:blipFill>
          <a:blip r:embed="rId3"/>
          <a:srcRect/>
          <a:stretch>
            <a:fillRect/>
          </a:stretch>
        </p:blipFill>
        <p:spPr bwMode="auto">
          <a:xfrm>
            <a:off x="2286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i="1" dirty="0" smtClean="0"/>
              <a:t>Example 5-3: </a:t>
            </a:r>
          </a:p>
          <a:p>
            <a:pPr>
              <a:buNone/>
            </a:pPr>
            <a:r>
              <a:rPr lang="en-US" i="1" dirty="0" smtClean="0"/>
              <a:t>A leaf spring 750 mm long is required to carry a central point load of </a:t>
            </a:r>
            <a:r>
              <a:rPr lang="en-US" dirty="0" smtClean="0"/>
              <a:t>8 </a:t>
            </a:r>
            <a:r>
              <a:rPr lang="en-US" i="1" dirty="0" err="1" smtClean="0"/>
              <a:t>kN.</a:t>
            </a:r>
            <a:r>
              <a:rPr lang="en-US" i="1" dirty="0" smtClean="0"/>
              <a:t> If the central deflection is not to exceed </a:t>
            </a:r>
            <a:r>
              <a:rPr lang="en-US" dirty="0" smtClean="0"/>
              <a:t>20 </a:t>
            </a:r>
            <a:r>
              <a:rPr lang="en-US" i="1" dirty="0" smtClean="0"/>
              <a:t>mm and the bending stress </a:t>
            </a:r>
            <a:r>
              <a:rPr lang="en-US" dirty="0" smtClean="0"/>
              <a:t>is </a:t>
            </a:r>
            <a:r>
              <a:rPr lang="en-US" i="1" dirty="0" smtClean="0"/>
              <a:t>not greater than 200 MPa, determine the thickness, width and number of plates. Also, compute the radius, to which the plates should be curved. Assume width of the plate equal to </a:t>
            </a:r>
            <a:r>
              <a:rPr lang="en-US" dirty="0" smtClean="0"/>
              <a:t>12 </a:t>
            </a:r>
            <a:r>
              <a:rPr lang="en-US" i="1" dirty="0" smtClean="0"/>
              <a:t>times its thickness and E equal to 200 GPa.</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3"/>
          <a:srcRect/>
          <a:stretch>
            <a:fillRect/>
          </a:stretch>
        </p:blipFill>
        <p:spPr bwMode="auto">
          <a:xfrm>
            <a:off x="228600" y="304800"/>
            <a:ext cx="86868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800" b="1" dirty="0" smtClean="0"/>
              <a:t>Quarter-Elliptical Type Leaf Springs</a:t>
            </a:r>
            <a:endParaRPr lang="en-US" sz="2800" dirty="0"/>
          </a:p>
        </p:txBody>
      </p:sp>
      <p:sp>
        <p:nvSpPr>
          <p:cNvPr id="3" name="Content Placeholder 2"/>
          <p:cNvSpPr>
            <a:spLocks noGrp="1"/>
          </p:cNvSpPr>
          <p:nvPr>
            <p:ph idx="1"/>
          </p:nvPr>
        </p:nvSpPr>
        <p:spPr>
          <a:xfrm>
            <a:off x="304800" y="1066800"/>
            <a:ext cx="8382000" cy="5257800"/>
          </a:xfrm>
        </p:spPr>
        <p:txBody>
          <a:bodyPr>
            <a:normAutofit/>
          </a:bodyPr>
          <a:lstStyle/>
          <a:p>
            <a:r>
              <a:rPr lang="en-US" sz="2400" dirty="0" smtClean="0"/>
              <a:t>The quarter-elliptical type leaf springs are rarely used except as certain parts in some machines. </a:t>
            </a:r>
          </a:p>
          <a:p>
            <a:r>
              <a:rPr lang="en-US" sz="2400" dirty="0" smtClean="0"/>
              <a:t>Like a carriage spring, a quarter-elliptical type leaf spring consists of a number of parallel strip of a metal having different lengths but same width and placed one over the other in laminations as shown in Fig. 28.2. All the plates are initially bent to the same radius and are free to slide one over the other. </a:t>
            </a:r>
          </a:p>
          <a:p>
            <a:endParaRPr lang="en-US" sz="2400" dirty="0"/>
          </a:p>
        </p:txBody>
      </p:sp>
      <p:pic>
        <p:nvPicPr>
          <p:cNvPr id="39938" name="Picture 2"/>
          <p:cNvPicPr>
            <a:picLocks noChangeAspect="1" noChangeArrowheads="1"/>
          </p:cNvPicPr>
          <p:nvPr/>
        </p:nvPicPr>
        <p:blipFill>
          <a:blip r:embed="rId3"/>
          <a:srcRect/>
          <a:stretch>
            <a:fillRect/>
          </a:stretch>
        </p:blipFill>
        <p:spPr bwMode="auto">
          <a:xfrm>
            <a:off x="2362200" y="3886200"/>
            <a:ext cx="4648200" cy="25908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458200" cy="6096000"/>
          </a:xfrm>
        </p:spPr>
        <p:txBody>
          <a:bodyPr/>
          <a:lstStyle/>
          <a:p>
            <a:r>
              <a:rPr lang="en-US" dirty="0" smtClean="0"/>
              <a:t>Now consider a quarter-elliptical type leaf spring subjected to a load at its free end as shown in Fig. 28.2. </a:t>
            </a:r>
          </a:p>
          <a:p>
            <a:pPr>
              <a:buNone/>
            </a:pPr>
            <a:r>
              <a:rPr lang="en-US" dirty="0" smtClean="0"/>
              <a:t>Let	</a:t>
            </a:r>
            <a:r>
              <a:rPr lang="en-US" i="1" dirty="0" smtClean="0"/>
              <a:t>l</a:t>
            </a:r>
            <a:r>
              <a:rPr lang="en-US" dirty="0" smtClean="0"/>
              <a:t>	Length of the spring,</a:t>
            </a:r>
          </a:p>
          <a:p>
            <a:pPr>
              <a:buNone/>
            </a:pPr>
            <a:r>
              <a:rPr lang="en-US" i="1" dirty="0" smtClean="0"/>
              <a:t>	t</a:t>
            </a:r>
            <a:r>
              <a:rPr lang="en-US" dirty="0" smtClean="0"/>
              <a:t>	Thickness of the plates,</a:t>
            </a:r>
          </a:p>
          <a:p>
            <a:pPr>
              <a:buNone/>
            </a:pPr>
            <a:r>
              <a:rPr lang="en-US" i="1" dirty="0" smtClean="0"/>
              <a:t>	b	</a:t>
            </a:r>
            <a:r>
              <a:rPr lang="en-US" dirty="0" smtClean="0"/>
              <a:t>Width of the plates,</a:t>
            </a:r>
          </a:p>
          <a:p>
            <a:pPr>
              <a:buNone/>
            </a:pPr>
            <a:r>
              <a:rPr lang="en-US" dirty="0" smtClean="0"/>
              <a:t>	</a:t>
            </a:r>
            <a:r>
              <a:rPr lang="en-US" i="1" dirty="0" smtClean="0"/>
              <a:t>n 	</a:t>
            </a:r>
            <a:r>
              <a:rPr lang="en-US" dirty="0" smtClean="0"/>
              <a:t>Number of plates, </a:t>
            </a:r>
          </a:p>
          <a:p>
            <a:pPr>
              <a:buNone/>
            </a:pPr>
            <a:r>
              <a:rPr lang="en-US" dirty="0" smtClean="0"/>
              <a:t>	</a:t>
            </a:r>
            <a:r>
              <a:rPr lang="en-US" i="1" dirty="0" smtClean="0"/>
              <a:t>W	</a:t>
            </a:r>
            <a:r>
              <a:rPr lang="en-US" sz="2800" dirty="0" smtClean="0"/>
              <a:t>Load acting at the free end of the spring, and </a:t>
            </a:r>
            <a:endParaRPr lang="en-US" dirty="0" smtClean="0"/>
          </a:p>
          <a:p>
            <a:pPr>
              <a:buNone/>
            </a:pPr>
            <a:r>
              <a:rPr lang="en-US" dirty="0" smtClean="0"/>
              <a:t>	δ	Original deflection of the spring.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1"/>
            <a:ext cx="8229600" cy="1752599"/>
          </a:xfrm>
        </p:spPr>
        <p:txBody>
          <a:bodyPr/>
          <a:lstStyle/>
          <a:p>
            <a:r>
              <a:rPr lang="en-US" dirty="0" smtClean="0"/>
              <a:t>We know that the bending moment at the fixed end of the leaf, </a:t>
            </a:r>
            <a:endParaRPr lang="en-US" dirty="0"/>
          </a:p>
        </p:txBody>
      </p:sp>
      <p:sp>
        <p:nvSpPr>
          <p:cNvPr id="440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4033" name="Object 1"/>
          <p:cNvGraphicFramePr>
            <a:graphicFrameLocks noChangeAspect="1"/>
          </p:cNvGraphicFramePr>
          <p:nvPr/>
        </p:nvGraphicFramePr>
        <p:xfrm>
          <a:off x="1295400" y="1524000"/>
          <a:ext cx="4038600" cy="914400"/>
        </p:xfrm>
        <a:graphic>
          <a:graphicData uri="http://schemas.openxmlformats.org/presentationml/2006/ole">
            <p:oleObj spid="_x0000_s44033" name="Equation" r:id="rId4" imgW="532937" imgH="177646" progId="Equation.3">
              <p:embed/>
            </p:oleObj>
          </a:graphicData>
        </a:graphic>
      </p:graphicFrame>
      <p:sp>
        <p:nvSpPr>
          <p:cNvPr id="6" name="TextBox 5"/>
          <p:cNvSpPr txBox="1"/>
          <p:nvPr/>
        </p:nvSpPr>
        <p:spPr>
          <a:xfrm>
            <a:off x="7162800" y="2362200"/>
            <a:ext cx="1524000" cy="369332"/>
          </a:xfrm>
          <a:prstGeom prst="rect">
            <a:avLst/>
          </a:prstGeom>
          <a:noFill/>
        </p:spPr>
        <p:txBody>
          <a:bodyPr wrap="square" rtlCol="0">
            <a:spAutoFit/>
          </a:bodyPr>
          <a:lstStyle/>
          <a:p>
            <a:r>
              <a:rPr lang="en-US" dirty="0" smtClean="0"/>
              <a:t>….. (</a:t>
            </a:r>
            <a:r>
              <a:rPr lang="en-US" dirty="0" err="1" smtClean="0"/>
              <a:t>i</a:t>
            </a:r>
            <a:r>
              <a:rPr lang="en-US" dirty="0" smtClean="0"/>
              <a:t>)</a:t>
            </a:r>
            <a:endParaRPr lang="en-US" dirty="0"/>
          </a:p>
        </p:txBody>
      </p:sp>
      <p:pic>
        <p:nvPicPr>
          <p:cNvPr id="44035" name="Picture 3"/>
          <p:cNvPicPr>
            <a:picLocks noChangeAspect="1" noChangeArrowheads="1"/>
          </p:cNvPicPr>
          <p:nvPr/>
        </p:nvPicPr>
        <p:blipFill>
          <a:blip r:embed="rId5"/>
          <a:srcRect/>
          <a:stretch>
            <a:fillRect/>
          </a:stretch>
        </p:blipFill>
        <p:spPr bwMode="auto">
          <a:xfrm>
            <a:off x="228600" y="2362200"/>
            <a:ext cx="8610600" cy="41910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Picture 1"/>
          <p:cNvPicPr>
            <a:picLocks noChangeAspect="1" noChangeArrowheads="1"/>
          </p:cNvPicPr>
          <p:nvPr/>
        </p:nvPicPr>
        <p:blipFill>
          <a:blip r:embed="rId3"/>
          <a:srcRect/>
          <a:stretch>
            <a:fillRect/>
          </a:stretch>
        </p:blipFill>
        <p:spPr bwMode="auto">
          <a:xfrm>
            <a:off x="228600" y="381000"/>
            <a:ext cx="86106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a:buNone/>
            </a:pPr>
            <a:r>
              <a:rPr lang="en-US" sz="4400" i="1" dirty="0" smtClean="0"/>
              <a:t>Example 5-4:</a:t>
            </a:r>
            <a:r>
              <a:rPr lang="en-US" sz="4400" b="1" dirty="0" smtClean="0"/>
              <a:t> </a:t>
            </a:r>
          </a:p>
          <a:p>
            <a:pPr>
              <a:buNone/>
            </a:pPr>
            <a:r>
              <a:rPr lang="en-US" sz="4400" i="1" dirty="0" smtClean="0"/>
              <a:t>A quarter-elliptic leaf spring 800 mm long is subjected to a point load of 10 kN. If the bending stress and deflection is not to exceed 320 MPa and 80 mm respectively, find the suitable size and number of plates required by taking the width as 8 times the thickness. Take E as 200 GPa</a:t>
            </a:r>
            <a:r>
              <a:rPr lang="en-US" i="1" dirty="0" smtClean="0"/>
              <a:t>.</a:t>
            </a:r>
            <a:endParaRPr lang="en-US"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1"/>
          <p:cNvPicPr>
            <a:picLocks noChangeAspect="1" noChangeArrowheads="1"/>
          </p:cNvPicPr>
          <p:nvPr/>
        </p:nvPicPr>
        <p:blipFill>
          <a:blip r:embed="rId3"/>
          <a:srcRect/>
          <a:stretch>
            <a:fillRect/>
          </a:stretch>
        </p:blipFill>
        <p:spPr bwMode="auto">
          <a:xfrm>
            <a:off x="228600" y="0"/>
            <a:ext cx="8686800" cy="6629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Self Assessment </a:t>
            </a:r>
            <a:endParaRPr lang="en-US" sz="4800" dirty="0"/>
          </a:p>
        </p:txBody>
      </p:sp>
      <p:sp>
        <p:nvSpPr>
          <p:cNvPr id="3" name="Content Placeholder 2"/>
          <p:cNvSpPr>
            <a:spLocks noGrp="1"/>
          </p:cNvSpPr>
          <p:nvPr>
            <p:ph idx="1"/>
          </p:nvPr>
        </p:nvSpPr>
        <p:spPr/>
        <p:txBody>
          <a:bodyPr/>
          <a:lstStyle/>
          <a:p>
            <a:pPr>
              <a:buNone/>
            </a:pPr>
            <a:r>
              <a:rPr lang="en-US" dirty="0" smtClean="0"/>
              <a:t>1. </a:t>
            </a:r>
            <a:r>
              <a:rPr lang="en-US" sz="4800" dirty="0" smtClean="0"/>
              <a:t>Derive the equations for the deflection and bending stress for a semi-elliptic type leaf spring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3200" b="1" i="1" dirty="0" smtClean="0"/>
              <a:t>HELICAL SPRINGS</a:t>
            </a:r>
            <a:endParaRPr lang="en-US" sz="3200" dirty="0"/>
          </a:p>
        </p:txBody>
      </p:sp>
      <p:sp>
        <p:nvSpPr>
          <p:cNvPr id="3" name="Content Placeholder 2"/>
          <p:cNvSpPr>
            <a:spLocks noGrp="1"/>
          </p:cNvSpPr>
          <p:nvPr>
            <p:ph idx="1"/>
          </p:nvPr>
        </p:nvSpPr>
        <p:spPr>
          <a:xfrm>
            <a:off x="228600" y="838200"/>
            <a:ext cx="8229600" cy="5334000"/>
          </a:xfrm>
        </p:spPr>
        <p:txBody>
          <a:bodyPr>
            <a:normAutofit fontScale="62500" lnSpcReduction="20000"/>
          </a:bodyPr>
          <a:lstStyle/>
          <a:p>
            <a:pPr>
              <a:buNone/>
            </a:pPr>
            <a:r>
              <a:rPr lang="en-US" sz="4000" b="1" dirty="0" smtClean="0"/>
              <a:t>Closely-coiled Helical Springs</a:t>
            </a:r>
          </a:p>
          <a:p>
            <a:pPr>
              <a:buNone/>
            </a:pPr>
            <a:endParaRPr lang="en-US" sz="4000" b="1" dirty="0" smtClean="0"/>
          </a:p>
          <a:p>
            <a:r>
              <a:rPr lang="en-US" sz="4000" dirty="0" smtClean="0"/>
              <a:t>In a closely coiled helical spring, the spring wire is coiled so close that the each turn </a:t>
            </a:r>
            <a:r>
              <a:rPr lang="en-US" sz="4000" i="1" dirty="0" smtClean="0"/>
              <a:t>is </a:t>
            </a:r>
            <a:r>
              <a:rPr lang="en-US" sz="4000" dirty="0" smtClean="0"/>
              <a:t>practically a plane at right angles to the axis of the helix and the wire is subjected to torsion. The bending stress is negligible as compared to the torsional stress. A closely-coiled helical spring may be subjected to:</a:t>
            </a:r>
          </a:p>
          <a:p>
            <a:endParaRPr lang="en-US" sz="4000" dirty="0" smtClean="0"/>
          </a:p>
          <a:p>
            <a:pPr marL="571500" lvl="0" indent="-571500">
              <a:buFont typeface="+mj-lt"/>
              <a:buAutoNum type="romanUcPeriod"/>
            </a:pPr>
            <a:r>
              <a:rPr lang="en-US" sz="4000" dirty="0" smtClean="0"/>
              <a:t>axial loading and</a:t>
            </a:r>
          </a:p>
          <a:p>
            <a:pPr marL="571500" lvl="0" indent="-571500">
              <a:buFont typeface="+mj-lt"/>
              <a:buAutoNum type="romanUcPeriod"/>
            </a:pPr>
            <a:r>
              <a:rPr lang="en-US" sz="4000" dirty="0" smtClean="0"/>
              <a:t>axial twist</a:t>
            </a:r>
          </a:p>
          <a:p>
            <a:pPr>
              <a:buNone/>
            </a:pPr>
            <a:endParaRPr lang="en-US" sz="4000" dirty="0" smtClean="0"/>
          </a:p>
          <a:p>
            <a:pPr>
              <a:buNone/>
            </a:pPr>
            <a:r>
              <a:rPr lang="en-US" sz="4000" dirty="0" smtClean="0"/>
              <a:t>In this session, we shall discuss both the cases one by one.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534400" cy="5791200"/>
          </a:xfrm>
        </p:spPr>
        <p:txBody>
          <a:bodyPr>
            <a:normAutofit fontScale="92500" lnSpcReduction="20000"/>
          </a:bodyPr>
          <a:lstStyle/>
          <a:p>
            <a:r>
              <a:rPr lang="en-US" dirty="0" smtClean="0"/>
              <a:t>Consider a closely-coiled helical spring subjected to an axial load as shown in Fig. 28.3.</a:t>
            </a:r>
          </a:p>
          <a:p>
            <a:r>
              <a:rPr lang="en-US" dirty="0" smtClean="0"/>
              <a:t>Let	</a:t>
            </a:r>
          </a:p>
          <a:p>
            <a:pPr>
              <a:buNone/>
            </a:pPr>
            <a:r>
              <a:rPr lang="en-US" i="1" dirty="0" smtClean="0"/>
              <a:t>	d	</a:t>
            </a:r>
            <a:r>
              <a:rPr lang="en-US" dirty="0" smtClean="0"/>
              <a:t>Diameter of the spring wire, , </a:t>
            </a:r>
          </a:p>
          <a:p>
            <a:pPr>
              <a:buNone/>
            </a:pPr>
            <a:r>
              <a:rPr lang="en-US" i="1" dirty="0" smtClean="0"/>
              <a:t>	R	</a:t>
            </a:r>
            <a:r>
              <a:rPr lang="en-US" dirty="0" smtClean="0"/>
              <a:t>Mean radius of the spring coil</a:t>
            </a:r>
          </a:p>
          <a:p>
            <a:pPr>
              <a:buNone/>
            </a:pPr>
            <a:r>
              <a:rPr lang="en-US" i="1" dirty="0" smtClean="0"/>
              <a:t>	n	</a:t>
            </a:r>
            <a:r>
              <a:rPr lang="en-US" dirty="0" smtClean="0"/>
              <a:t>No. of turns of coils, </a:t>
            </a:r>
          </a:p>
          <a:p>
            <a:pPr>
              <a:buNone/>
            </a:pPr>
            <a:r>
              <a:rPr lang="en-US" i="1" dirty="0" smtClean="0"/>
              <a:t>	C</a:t>
            </a:r>
            <a:r>
              <a:rPr lang="en-US" dirty="0" smtClean="0"/>
              <a:t>	Modulus of rigidity for the spring material, </a:t>
            </a:r>
          </a:p>
          <a:p>
            <a:pPr>
              <a:buNone/>
            </a:pPr>
            <a:r>
              <a:rPr lang="en-US" i="1" dirty="0" smtClean="0"/>
              <a:t>	W	</a:t>
            </a:r>
            <a:r>
              <a:rPr lang="en-US" dirty="0" smtClean="0"/>
              <a:t>Axial load on the spring</a:t>
            </a:r>
          </a:p>
          <a:p>
            <a:pPr>
              <a:buNone/>
            </a:pPr>
            <a:r>
              <a:rPr lang="en-US" i="1" dirty="0" smtClean="0"/>
              <a:t>	τ</a:t>
            </a:r>
            <a:r>
              <a:rPr lang="en-US" dirty="0" smtClean="0"/>
              <a:t>	Maximum shear stress induced in the wire due 	to twisting, </a:t>
            </a:r>
          </a:p>
          <a:p>
            <a:pPr>
              <a:buNone/>
            </a:pPr>
            <a:r>
              <a:rPr lang="en-US" dirty="0" smtClean="0"/>
              <a:t>	θ	Angle of twist in the spring wire and </a:t>
            </a:r>
          </a:p>
          <a:p>
            <a:pPr>
              <a:buNone/>
            </a:pPr>
            <a:r>
              <a:rPr lang="en-US" dirty="0" smtClean="0"/>
              <a:t>	δ	Deflection of the spring, as a result of axial load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3"/>
          <a:srcRect/>
          <a:stretch>
            <a:fillRect/>
          </a:stretch>
        </p:blipFill>
        <p:spPr bwMode="auto">
          <a:xfrm>
            <a:off x="762000" y="533400"/>
            <a:ext cx="7315200" cy="5638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a:srcRect/>
          <a:stretch>
            <a:fillRect/>
          </a:stretch>
        </p:blipFill>
        <p:spPr bwMode="auto">
          <a:xfrm>
            <a:off x="228600" y="228600"/>
            <a:ext cx="86106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sz="4400" i="1" dirty="0" smtClean="0"/>
              <a:t>Example 5-5: </a:t>
            </a:r>
          </a:p>
          <a:p>
            <a:pPr>
              <a:buNone/>
            </a:pPr>
            <a:r>
              <a:rPr lang="en-US" sz="4400" i="1" dirty="0" smtClean="0"/>
              <a:t>A close-coiled helical spring is required to carry a load of 150 N. if the mean coil diameter is to be </a:t>
            </a:r>
            <a:r>
              <a:rPr lang="en-US" sz="4400" dirty="0" smtClean="0"/>
              <a:t>8 </a:t>
            </a:r>
            <a:r>
              <a:rPr lang="en-US" sz="4400" i="1" dirty="0" smtClean="0"/>
              <a:t>times that of the wire, calculate these diameters. Take maximum shear stress as 100 MPa. </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3"/>
          <a:srcRect/>
          <a:stretch>
            <a:fillRect/>
          </a:stretch>
        </p:blipFill>
        <p:spPr bwMode="auto">
          <a:xfrm>
            <a:off x="0" y="533400"/>
            <a:ext cx="8991600" cy="5257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lstStyle/>
          <a:p>
            <a:pPr>
              <a:buNone/>
            </a:pPr>
            <a:r>
              <a:rPr lang="en-US" sz="4000" i="1" dirty="0" smtClean="0"/>
              <a:t>Example 5-6: </a:t>
            </a:r>
          </a:p>
          <a:p>
            <a:pPr>
              <a:buNone/>
            </a:pPr>
            <a:r>
              <a:rPr lang="en-US" sz="4000" i="1" dirty="0" smtClean="0"/>
              <a:t>A closely. coiled helical spring of round steel wire </a:t>
            </a:r>
            <a:r>
              <a:rPr lang="en-US" sz="4000" dirty="0" smtClean="0"/>
              <a:t>5 </a:t>
            </a:r>
            <a:r>
              <a:rPr lang="en-US" sz="4000" i="1" dirty="0" smtClean="0"/>
              <a:t>mm in diameter having 12 complete coils of 50 mm mean diameter is subjected 10 an axial load of 100 N. Find the deflection of the spring and the maximum shearing stress in the material. Modulus of rigidity (G) </a:t>
            </a:r>
            <a:r>
              <a:rPr lang="en-US" sz="4000" dirty="0" smtClean="0"/>
              <a:t>= </a:t>
            </a:r>
            <a:r>
              <a:rPr lang="en-US" sz="4000" i="1" dirty="0" smtClean="0"/>
              <a:t>80 GPa </a:t>
            </a:r>
            <a:endParaRPr lang="en-US" sz="4000"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3"/>
          <a:srcRect/>
          <a:stretch>
            <a:fillRect/>
          </a:stretch>
        </p:blipFill>
        <p:spPr bwMode="auto">
          <a:xfrm>
            <a:off x="304800" y="381000"/>
            <a:ext cx="8534399"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b="1" dirty="0" smtClean="0"/>
              <a:t>Closely-coiled Helical Springs Subjected to an Axial Twist</a:t>
            </a:r>
            <a:endParaRPr lang="en-US" sz="3200" dirty="0"/>
          </a:p>
        </p:txBody>
      </p:sp>
      <p:sp>
        <p:nvSpPr>
          <p:cNvPr id="3" name="Content Placeholder 2"/>
          <p:cNvSpPr>
            <a:spLocks noGrp="1"/>
          </p:cNvSpPr>
          <p:nvPr>
            <p:ph idx="1"/>
          </p:nvPr>
        </p:nvSpPr>
        <p:spPr>
          <a:xfrm>
            <a:off x="228600" y="1219200"/>
            <a:ext cx="8610600" cy="5257800"/>
          </a:xfrm>
        </p:spPr>
        <p:txBody>
          <a:bodyPr/>
          <a:lstStyle/>
          <a:p>
            <a:r>
              <a:rPr lang="en-US" dirty="0" smtClean="0"/>
              <a:t>Consider a closely-coiled helical spring subjected to an axial twist as shown in Fig. 28.4. </a:t>
            </a:r>
          </a:p>
          <a:p>
            <a:r>
              <a:rPr lang="en-US" dirty="0" smtClean="0"/>
              <a:t>Let 	</a:t>
            </a:r>
          </a:p>
          <a:p>
            <a:pPr lvl="1">
              <a:buNone/>
            </a:pPr>
            <a:r>
              <a:rPr lang="en-US" i="1" dirty="0" smtClean="0"/>
              <a:t>d 	</a:t>
            </a:r>
            <a:r>
              <a:rPr lang="en-US" dirty="0" smtClean="0"/>
              <a:t>Diameter of the spring wire, </a:t>
            </a:r>
          </a:p>
          <a:p>
            <a:pPr>
              <a:buNone/>
            </a:pPr>
            <a:r>
              <a:rPr lang="en-US" i="1" dirty="0" smtClean="0"/>
              <a:t>	R	</a:t>
            </a:r>
            <a:r>
              <a:rPr lang="en-US" dirty="0" smtClean="0"/>
              <a:t>Mean radius of the spring coil, </a:t>
            </a:r>
          </a:p>
          <a:p>
            <a:pPr>
              <a:buNone/>
            </a:pPr>
            <a:r>
              <a:rPr lang="en-US" dirty="0" smtClean="0"/>
              <a:t>	n	No. of turns of coils, </a:t>
            </a:r>
          </a:p>
          <a:p>
            <a:pPr>
              <a:buNone/>
            </a:pPr>
            <a:r>
              <a:rPr lang="en-US" dirty="0" smtClean="0"/>
              <a:t>	e 	Modulus of rigidity for the spring material 	and </a:t>
            </a:r>
          </a:p>
          <a:p>
            <a:pPr>
              <a:buNone/>
            </a:pPr>
            <a:r>
              <a:rPr lang="en-US" i="1" dirty="0" smtClean="0"/>
              <a:t>	M	</a:t>
            </a:r>
            <a:r>
              <a:rPr lang="en-US" dirty="0" smtClean="0"/>
              <a:t>Moment or axial twist applied on the spring.</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srcRect/>
          <a:stretch>
            <a:fillRect/>
          </a:stretch>
        </p:blipFill>
        <p:spPr bwMode="auto">
          <a:xfrm>
            <a:off x="762000" y="228600"/>
            <a:ext cx="64770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dirty="0" smtClean="0"/>
              <a:t>A little consideration will show that the number of spring coils will tend to increase or decrease depending upon the sense of the moment. Moreover, if the number of turns tend to increase, then the mean radius of the spring coil will decrease. ]</a:t>
            </a:r>
          </a:p>
          <a:p>
            <a:endParaRPr lang="en-US" dirty="0" smtClean="0"/>
          </a:p>
          <a:p>
            <a:r>
              <a:rPr lang="en-US" dirty="0" smtClean="0"/>
              <a:t>Now let us consider that the number of turns increase from </a:t>
            </a:r>
            <a:r>
              <a:rPr lang="en-US" i="1" dirty="0" smtClean="0"/>
              <a:t>n</a:t>
            </a:r>
            <a:r>
              <a:rPr lang="en-US" dirty="0" smtClean="0"/>
              <a:t> to </a:t>
            </a:r>
            <a:r>
              <a:rPr lang="en-US" i="1" dirty="0" smtClean="0"/>
              <a:t>n'</a:t>
            </a:r>
            <a:r>
              <a:rPr lang="en-US" dirty="0" smtClean="0"/>
              <a:t> and the mean radius decrease from </a:t>
            </a:r>
            <a:r>
              <a:rPr lang="en-US" i="1" dirty="0" smtClean="0"/>
              <a:t>R </a:t>
            </a:r>
            <a:r>
              <a:rPr lang="en-US" dirty="0" smtClean="0"/>
              <a:t>to </a:t>
            </a:r>
            <a:r>
              <a:rPr lang="en-US" i="1" dirty="0" smtClean="0"/>
              <a:t>R'.</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a:srcRect/>
          <a:stretch>
            <a:fillRect/>
          </a:stretch>
        </p:blipFill>
        <p:spPr bwMode="auto">
          <a:xfrm>
            <a:off x="228600" y="304800"/>
            <a:ext cx="85344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a:buNone/>
            </a:pPr>
            <a:r>
              <a:rPr lang="en-US" sz="4000" i="1" dirty="0" smtClean="0"/>
              <a:t>Example 5-7</a:t>
            </a:r>
            <a:r>
              <a:rPr lang="en-US" sz="4000" u="sng" dirty="0" smtClean="0"/>
              <a:t>:</a:t>
            </a:r>
            <a:r>
              <a:rPr lang="en-US" sz="4000" i="1" dirty="0" smtClean="0"/>
              <a:t> </a:t>
            </a:r>
          </a:p>
          <a:p>
            <a:pPr>
              <a:buNone/>
            </a:pPr>
            <a:r>
              <a:rPr lang="en-US" sz="4000" i="1" dirty="0" smtClean="0"/>
              <a:t>A closely-coiled helical spring is made lip of 10 nun diameter steel wire having 10 coils with 80 mm mean diameter. If the spring is subjected 10 an axial twist of 10 </a:t>
            </a:r>
            <a:r>
              <a:rPr lang="en-US" sz="4000" i="1" dirty="0" err="1" smtClean="0"/>
              <a:t>kN­mm</a:t>
            </a:r>
            <a:r>
              <a:rPr lang="en-US" sz="4000" i="1" dirty="0" smtClean="0"/>
              <a:t>, determine the bending stress and increase ill the number of turns. Take E as 200 GPa. </a:t>
            </a:r>
            <a:endParaRPr lang="en-US" sz="4000"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3"/>
          <a:srcRect/>
          <a:stretch>
            <a:fillRect/>
          </a:stretch>
        </p:blipFill>
        <p:spPr bwMode="auto">
          <a:xfrm>
            <a:off x="304800" y="381000"/>
            <a:ext cx="8534400" cy="609599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smtClean="0"/>
              <a:t>Open-coiled Helical Springs</a:t>
            </a:r>
            <a:endParaRPr lang="en-US" sz="3200" dirty="0"/>
          </a:p>
        </p:txBody>
      </p:sp>
      <p:sp>
        <p:nvSpPr>
          <p:cNvPr id="3" name="Content Placeholder 2"/>
          <p:cNvSpPr>
            <a:spLocks noGrp="1"/>
          </p:cNvSpPr>
          <p:nvPr>
            <p:ph idx="1"/>
          </p:nvPr>
        </p:nvSpPr>
        <p:spPr>
          <a:xfrm>
            <a:off x="381000" y="1295400"/>
            <a:ext cx="8229600" cy="4525963"/>
          </a:xfrm>
        </p:spPr>
        <p:txBody>
          <a:bodyPr>
            <a:normAutofit fontScale="92500"/>
          </a:bodyPr>
          <a:lstStyle/>
          <a:p>
            <a:r>
              <a:rPr lang="en-US" dirty="0" smtClean="0"/>
              <a:t>In an open helical spring, tile spring wire is coiled in such a way, that there </a:t>
            </a:r>
            <a:r>
              <a:rPr lang="en-US" dirty="0" err="1" smtClean="0"/>
              <a:t>i</a:t>
            </a:r>
            <a:r>
              <a:rPr lang="en-US" dirty="0" smtClean="0"/>
              <a:t> large gap between the two consecutive turns. As a result of this, the spring can take compressive load also. </a:t>
            </a:r>
          </a:p>
          <a:p>
            <a:r>
              <a:rPr lang="en-US" dirty="0" smtClean="0"/>
              <a:t>An open helical spring, like a closed helical spring, may be subjected to (1) axial loading or (2) axial twist. </a:t>
            </a:r>
          </a:p>
          <a:p>
            <a:pPr>
              <a:buNone/>
            </a:pPr>
            <a:endParaRPr lang="en-US" dirty="0" smtClean="0"/>
          </a:p>
          <a:p>
            <a:pPr>
              <a:buNone/>
            </a:pPr>
            <a:r>
              <a:rPr lang="en-US" dirty="0" smtClean="0"/>
              <a:t>In this session, we hall discuss only the first case.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610600" cy="6400800"/>
          </a:xfrm>
        </p:spPr>
        <p:txBody>
          <a:bodyPr>
            <a:normAutofit/>
          </a:bodyPr>
          <a:lstStyle/>
          <a:p>
            <a:pPr>
              <a:buNone/>
            </a:pPr>
            <a:r>
              <a:rPr lang="en-US" sz="2400" dirty="0" smtClean="0"/>
              <a:t>Now consider an open coiled helical spring subjected to an axial load as shown in Fig. 28.5. </a:t>
            </a:r>
          </a:p>
          <a:p>
            <a:pPr>
              <a:buNone/>
            </a:pPr>
            <a:r>
              <a:rPr lang="en-US" sz="2400" dirty="0" smtClean="0"/>
              <a:t/>
            </a:r>
            <a:br>
              <a:rPr lang="en-US" sz="2400" dirty="0" smtClean="0"/>
            </a:br>
            <a:r>
              <a:rPr lang="en-US" sz="2400" dirty="0" smtClean="0"/>
              <a:t>Let 	</a:t>
            </a:r>
          </a:p>
          <a:p>
            <a:pPr>
              <a:buNone/>
            </a:pPr>
            <a:r>
              <a:rPr lang="en-US" sz="2400" i="1" dirty="0" smtClean="0"/>
              <a:t>	d 	</a:t>
            </a:r>
            <a:r>
              <a:rPr lang="en-US" sz="2400" dirty="0" smtClean="0"/>
              <a:t>Diameter of the spring wire, </a:t>
            </a:r>
          </a:p>
          <a:p>
            <a:pPr>
              <a:buNone/>
            </a:pPr>
            <a:r>
              <a:rPr lang="en-US" sz="2400" i="1" dirty="0" smtClean="0"/>
              <a:t>	R	</a:t>
            </a:r>
            <a:r>
              <a:rPr lang="en-US" sz="2400" dirty="0" smtClean="0"/>
              <a:t>Mean radius of the spring coil, </a:t>
            </a:r>
          </a:p>
          <a:p>
            <a:pPr>
              <a:buNone/>
            </a:pPr>
            <a:r>
              <a:rPr lang="en-US" sz="2400" dirty="0" smtClean="0"/>
              <a:t>	P	Pitch of the spring coils, </a:t>
            </a:r>
          </a:p>
          <a:p>
            <a:pPr>
              <a:buNone/>
            </a:pPr>
            <a:r>
              <a:rPr lang="en-US" sz="2400" i="1" dirty="0" smtClean="0"/>
              <a:t>	n</a:t>
            </a:r>
            <a:r>
              <a:rPr lang="en-US" sz="2400" dirty="0" smtClean="0"/>
              <a:t>	No. of turns of coils,</a:t>
            </a:r>
          </a:p>
          <a:p>
            <a:pPr>
              <a:buNone/>
            </a:pPr>
            <a:r>
              <a:rPr lang="en-US" sz="2400" i="1" dirty="0" smtClean="0"/>
              <a:t>	C</a:t>
            </a:r>
            <a:r>
              <a:rPr lang="en-US" sz="2400" dirty="0" smtClean="0"/>
              <a:t>	Modulus of rigidity for the spring materials</a:t>
            </a:r>
          </a:p>
          <a:p>
            <a:pPr>
              <a:buNone/>
            </a:pPr>
            <a:r>
              <a:rPr lang="en-US" sz="2400" i="1" dirty="0" smtClean="0"/>
              <a:t>	W</a:t>
            </a:r>
            <a:r>
              <a:rPr lang="en-US" sz="2400" dirty="0" smtClean="0"/>
              <a:t>	Axial load on the spring, </a:t>
            </a:r>
          </a:p>
          <a:p>
            <a:pPr>
              <a:buNone/>
            </a:pPr>
            <a:r>
              <a:rPr lang="en-US" sz="2400" i="1" dirty="0" smtClean="0"/>
              <a:t>	τ</a:t>
            </a:r>
            <a:r>
              <a:rPr lang="en-US" sz="2400" dirty="0" smtClean="0"/>
              <a:t>	Maximum shear stress induced in the spring wire due to loading,</a:t>
            </a:r>
          </a:p>
          <a:p>
            <a:pPr>
              <a:buNone/>
            </a:pPr>
            <a:r>
              <a:rPr lang="en-US" sz="2400" i="1" dirty="0" smtClean="0"/>
              <a:t>	</a:t>
            </a:r>
            <a:r>
              <a:rPr lang="en-US" sz="2400" i="1" dirty="0" err="1" smtClean="0"/>
              <a:t>σ</a:t>
            </a:r>
            <a:r>
              <a:rPr lang="en-US" sz="2400" i="1" baseline="-25000" dirty="0" err="1" smtClean="0"/>
              <a:t>b</a:t>
            </a:r>
            <a:r>
              <a:rPr lang="en-US" sz="2400" dirty="0" smtClean="0"/>
              <a:t>	Bending stress induced in the spring wire due to bending, </a:t>
            </a:r>
          </a:p>
          <a:p>
            <a:pPr>
              <a:buNone/>
            </a:pPr>
            <a:r>
              <a:rPr lang="en-US" sz="2400" i="1" dirty="0" smtClean="0"/>
              <a:t>	δ</a:t>
            </a:r>
            <a:r>
              <a:rPr lang="en-US" sz="2400" dirty="0" smtClean="0"/>
              <a:t>	Deflection of the spring as a re­sult of axial load and </a:t>
            </a:r>
          </a:p>
          <a:p>
            <a:pPr>
              <a:buNone/>
            </a:pPr>
            <a:r>
              <a:rPr lang="en-US" sz="2400" i="1" dirty="0" smtClean="0"/>
              <a:t>	α</a:t>
            </a:r>
            <a:r>
              <a:rPr lang="en-US" sz="2400" dirty="0" smtClean="0"/>
              <a:t>	Angle of helix.</a:t>
            </a:r>
          </a:p>
          <a:p>
            <a:pPr>
              <a:buNone/>
            </a:pP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3"/>
          <a:srcRect/>
          <a:stretch>
            <a:fillRect/>
          </a:stretch>
        </p:blipFill>
        <p:spPr bwMode="auto">
          <a:xfrm>
            <a:off x="1219200" y="1142999"/>
            <a:ext cx="6096000" cy="5003883"/>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362200"/>
            <a:ext cx="8382000" cy="990600"/>
          </a:xfrm>
        </p:spPr>
        <p:txBody>
          <a:bodyPr>
            <a:normAutofit fontScale="92500" lnSpcReduction="10000"/>
          </a:bodyPr>
          <a:lstStyle/>
          <a:p>
            <a:pPr>
              <a:buNone/>
            </a:pPr>
            <a:r>
              <a:rPr lang="en-US" sz="2000" dirty="0" smtClean="0"/>
              <a:t>Let	</a:t>
            </a:r>
          </a:p>
          <a:p>
            <a:pPr>
              <a:buNone/>
            </a:pPr>
            <a:r>
              <a:rPr lang="en-US" sz="2000" dirty="0" smtClean="0"/>
              <a:t>	δ	Angle of twist, as a results of twisting moment</a:t>
            </a:r>
          </a:p>
          <a:p>
            <a:pPr>
              <a:buNone/>
            </a:pPr>
            <a:r>
              <a:rPr lang="en-US" sz="2000" dirty="0" smtClean="0"/>
              <a:t>	ϕ	Angle of bend, as a results of bending moment</a:t>
            </a:r>
          </a:p>
          <a:p>
            <a:endParaRPr lang="en-US" sz="2000" dirty="0"/>
          </a:p>
        </p:txBody>
      </p:sp>
      <p:pic>
        <p:nvPicPr>
          <p:cNvPr id="54274" name="Picture 2"/>
          <p:cNvPicPr>
            <a:picLocks noChangeAspect="1" noChangeArrowheads="1"/>
          </p:cNvPicPr>
          <p:nvPr/>
        </p:nvPicPr>
        <p:blipFill>
          <a:blip r:embed="rId3"/>
          <a:srcRect/>
          <a:stretch>
            <a:fillRect/>
          </a:stretch>
        </p:blipFill>
        <p:spPr bwMode="auto">
          <a:xfrm>
            <a:off x="304800" y="304800"/>
            <a:ext cx="8229600" cy="2057400"/>
          </a:xfrm>
          <a:prstGeom prst="rect">
            <a:avLst/>
          </a:prstGeom>
          <a:noFill/>
          <a:ln w="9525">
            <a:noFill/>
            <a:miter lim="800000"/>
            <a:headEnd/>
            <a:tailEnd/>
          </a:ln>
          <a:effectLst/>
        </p:spPr>
      </p:pic>
      <p:pic>
        <p:nvPicPr>
          <p:cNvPr id="54275" name="Picture 3"/>
          <p:cNvPicPr>
            <a:picLocks noChangeAspect="1" noChangeArrowheads="1"/>
          </p:cNvPicPr>
          <p:nvPr/>
        </p:nvPicPr>
        <p:blipFill>
          <a:blip r:embed="rId4"/>
          <a:srcRect/>
          <a:stretch>
            <a:fillRect/>
          </a:stretch>
        </p:blipFill>
        <p:spPr bwMode="auto">
          <a:xfrm>
            <a:off x="228600" y="3276599"/>
            <a:ext cx="8610600" cy="3352801"/>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3"/>
          <a:srcRect/>
          <a:stretch>
            <a:fillRect/>
          </a:stretch>
        </p:blipFill>
        <p:spPr bwMode="auto">
          <a:xfrm>
            <a:off x="228600" y="304800"/>
            <a:ext cx="86868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sz="4000" i="1" dirty="0" smtClean="0"/>
              <a:t>Example 5-8: </a:t>
            </a:r>
          </a:p>
          <a:p>
            <a:pPr>
              <a:buNone/>
            </a:pPr>
            <a:r>
              <a:rPr lang="en-US" sz="4000" i="1" dirty="0" smtClean="0"/>
              <a:t>An open coil helical spring made up of 10 nun diameter wire and of mean diameter of 100 mm has </a:t>
            </a:r>
            <a:r>
              <a:rPr lang="en-US" sz="4000" dirty="0" smtClean="0"/>
              <a:t>12 </a:t>
            </a:r>
            <a:r>
              <a:rPr lang="en-US" sz="4000" i="1" dirty="0" smtClean="0"/>
              <a:t>coils and angle of helix being 15°. Determine the axial deflection and the intensities of bending and shear stresses under an axial load of 500 N. Take C as 80 GPa and </a:t>
            </a:r>
            <a:r>
              <a:rPr lang="en-US" sz="4000" dirty="0" smtClean="0"/>
              <a:t>E </a:t>
            </a:r>
            <a:r>
              <a:rPr lang="en-US" sz="4000" i="1" dirty="0" smtClean="0"/>
              <a:t>as 200 GPa. </a:t>
            </a:r>
            <a:endParaRPr lang="en-US" sz="40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3"/>
          <a:srcRect/>
          <a:stretch>
            <a:fillRect/>
          </a:stretch>
        </p:blipFill>
        <p:spPr bwMode="auto">
          <a:xfrm>
            <a:off x="304800" y="228600"/>
            <a:ext cx="83820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3"/>
          <a:srcRect/>
          <a:stretch>
            <a:fillRect/>
          </a:stretch>
        </p:blipFill>
        <p:spPr bwMode="auto">
          <a:xfrm>
            <a:off x="228600" y="304800"/>
            <a:ext cx="86868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Flat Spiral Springs</a:t>
            </a:r>
            <a:endParaRPr lang="en-US" dirty="0"/>
          </a:p>
        </p:txBody>
      </p:sp>
      <p:sp>
        <p:nvSpPr>
          <p:cNvPr id="3" name="Content Placeholder 2"/>
          <p:cNvSpPr>
            <a:spLocks noGrp="1"/>
          </p:cNvSpPr>
          <p:nvPr>
            <p:ph idx="1"/>
          </p:nvPr>
        </p:nvSpPr>
        <p:spPr>
          <a:xfrm>
            <a:off x="457200" y="1447800"/>
            <a:ext cx="8229600" cy="4678363"/>
          </a:xfrm>
        </p:spPr>
        <p:txBody>
          <a:bodyPr>
            <a:noAutofit/>
          </a:bodyPr>
          <a:lstStyle/>
          <a:p>
            <a:r>
              <a:rPr lang="en-US" sz="3600" dirty="0" smtClean="0"/>
              <a:t>This is the type of spring used in clockwork mechanisms, and consists of a uniform thin strip wound into a spiral in one plane, and pinned at its outer end. </a:t>
            </a:r>
          </a:p>
          <a:p>
            <a:endParaRPr lang="en-US" sz="3600" dirty="0" smtClean="0"/>
          </a:p>
          <a:p>
            <a:r>
              <a:rPr lang="en-US" sz="3600" dirty="0" smtClean="0"/>
              <a:t>The spring is "wound up" by applying a torque to a spindle attached to the centre of the spiral</a:t>
            </a:r>
            <a:r>
              <a:rPr lang="en-US" sz="2400" dirty="0" smtClean="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1"/>
            <a:ext cx="8229600" cy="2057400"/>
          </a:xfrm>
        </p:spPr>
        <p:txBody>
          <a:bodyPr>
            <a:normAutofit/>
          </a:bodyPr>
          <a:lstStyle/>
          <a:p>
            <a:r>
              <a:rPr lang="en-US" sz="2800" dirty="0" smtClean="0"/>
              <a:t>Let T be the torque tending X to wind up the spring, and X and Y the components of reaction at the outer end of the spring a (Fig. 13.7).</a:t>
            </a:r>
          </a:p>
          <a:p>
            <a:endParaRPr lang="en-US" sz="2400" dirty="0"/>
          </a:p>
        </p:txBody>
      </p:sp>
      <p:pic>
        <p:nvPicPr>
          <p:cNvPr id="60418" name="Picture 2"/>
          <p:cNvPicPr>
            <a:picLocks noChangeAspect="1" noChangeArrowheads="1"/>
          </p:cNvPicPr>
          <p:nvPr/>
        </p:nvPicPr>
        <p:blipFill>
          <a:blip r:embed="rId3"/>
          <a:srcRect/>
          <a:stretch>
            <a:fillRect/>
          </a:stretch>
        </p:blipFill>
        <p:spPr bwMode="auto">
          <a:xfrm>
            <a:off x="1066800" y="1828800"/>
            <a:ext cx="6096000" cy="47244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1"/>
          <p:cNvPicPr>
            <a:picLocks noChangeAspect="1" noChangeArrowheads="1"/>
          </p:cNvPicPr>
          <p:nvPr/>
        </p:nvPicPr>
        <p:blipFill>
          <a:blip r:embed="rId3"/>
          <a:srcRect/>
          <a:stretch>
            <a:fillRect/>
          </a:stretch>
        </p:blipFill>
        <p:spPr bwMode="auto">
          <a:xfrm>
            <a:off x="304800" y="3048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C:\DOCUME~1\DRE94D~1.AND\LOCALS~1\Temp\msohtmlclip1\01\clip_image001.png"/>
          <p:cNvPicPr>
            <a:picLocks noChangeAspect="1" noChangeArrowheads="1"/>
          </p:cNvPicPr>
          <p:nvPr/>
        </p:nvPicPr>
        <p:blipFill>
          <a:blip r:embed="rId3"/>
          <a:srcRect/>
          <a:stretch>
            <a:fillRect/>
          </a:stretch>
        </p:blipFill>
        <p:spPr bwMode="auto">
          <a:xfrm>
            <a:off x="228600" y="228600"/>
            <a:ext cx="8534400" cy="6324600"/>
          </a:xfrm>
          <a:prstGeom prst="rect">
            <a:avLst/>
          </a:prstGeom>
          <a:noFill/>
        </p:spPr>
      </p:pic>
      <p:sp>
        <p:nvSpPr>
          <p:cNvPr id="3" name="Slide Number Placeholder 2"/>
          <p:cNvSpPr>
            <a:spLocks noGrp="1"/>
          </p:cNvSpPr>
          <p:nvPr>
            <p:ph type="sldNum" sz="quarter" idx="12"/>
          </p:nvPr>
        </p:nvSpPr>
        <p:spPr/>
        <p:txBody>
          <a:bodyPr/>
          <a:lstStyle/>
          <a:p>
            <a:fld id="{B6F15528-21DE-4FAA-801E-634DDDAF4B2B}" type="slidenum">
              <a:rPr lang="en-US" smtClean="0"/>
              <a:pPr/>
              <a:t>52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sz="4000" dirty="0" smtClean="0"/>
              <a:t>Example 5-9: </a:t>
            </a:r>
          </a:p>
          <a:p>
            <a:pPr>
              <a:buNone/>
            </a:pPr>
            <a:r>
              <a:rPr lang="en-US" sz="4000" i="1" dirty="0" smtClean="0"/>
              <a:t>A fiat spiral spring </a:t>
            </a:r>
            <a:r>
              <a:rPr lang="en-US" sz="4000" dirty="0" smtClean="0"/>
              <a:t>is 6 </a:t>
            </a:r>
            <a:r>
              <a:rPr lang="en-US" sz="4000" i="1" dirty="0" smtClean="0"/>
              <a:t>mm wide, 0·25 mm thick, and </a:t>
            </a:r>
            <a:r>
              <a:rPr lang="en-US" sz="4000" dirty="0" smtClean="0"/>
              <a:t>2,5 </a:t>
            </a:r>
            <a:r>
              <a:rPr lang="en-US" sz="4000" i="1" dirty="0" smtClean="0"/>
              <a:t>mm long, Assuming the maximum stress of 800 N/mm</a:t>
            </a:r>
            <a:r>
              <a:rPr lang="en-US" sz="4000" i="1" baseline="30000" dirty="0" smtClean="0"/>
              <a:t>2</a:t>
            </a:r>
            <a:r>
              <a:rPr lang="en-US" sz="4000" i="1" dirty="0" smtClean="0"/>
              <a:t> to occur at the point of greatest bending moment, calculate the torque, the work stored, and the number of turns to wind up the spring, E =208,000 N/mm</a:t>
            </a:r>
            <a:r>
              <a:rPr lang="en-US" sz="4000" i="1" baseline="30000" dirty="0" smtClean="0"/>
              <a:t>2</a:t>
            </a:r>
            <a:r>
              <a:rPr lang="en-US" sz="4000" i="1" dirty="0" smtClean="0"/>
              <a:t>.</a:t>
            </a:r>
            <a:endParaRPr lang="en-US" sz="4000" dirty="0" smtClean="0"/>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1"/>
          <p:cNvPicPr>
            <a:picLocks noChangeAspect="1" noChangeArrowheads="1"/>
          </p:cNvPicPr>
          <p:nvPr/>
        </p:nvPicPr>
        <p:blipFill>
          <a:blip r:embed="rId3"/>
          <a:srcRect/>
          <a:stretch>
            <a:fillRect/>
          </a:stretch>
        </p:blipFill>
        <p:spPr bwMode="auto">
          <a:xfrm>
            <a:off x="380999" y="304800"/>
            <a:ext cx="8382001"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600" b="1" dirty="0" smtClean="0"/>
              <a:t>Springs in Series and Parallel</a:t>
            </a:r>
            <a:endParaRPr lang="en-US" sz="3600" dirty="0"/>
          </a:p>
        </p:txBody>
      </p:sp>
      <p:sp>
        <p:nvSpPr>
          <p:cNvPr id="3" name="Content Placeholder 2"/>
          <p:cNvSpPr>
            <a:spLocks noGrp="1"/>
          </p:cNvSpPr>
          <p:nvPr>
            <p:ph idx="1"/>
          </p:nvPr>
        </p:nvSpPr>
        <p:spPr>
          <a:xfrm>
            <a:off x="304800" y="990600"/>
            <a:ext cx="8382000" cy="5486400"/>
          </a:xfrm>
        </p:spPr>
        <p:txBody>
          <a:bodyPr>
            <a:normAutofit/>
          </a:bodyPr>
          <a:lstStyle/>
          <a:p>
            <a:r>
              <a:rPr lang="en-US" sz="2400" dirty="0" smtClean="0"/>
              <a:t>In the previous session we have been discussing the use of one helical spring only. But sometimes two (or even more) springs are used at one place. </a:t>
            </a:r>
          </a:p>
          <a:p>
            <a:r>
              <a:rPr lang="en-US" sz="2400" dirty="0" smtClean="0"/>
              <a:t>Though there are many ways of using these springs, yet the springs in (</a:t>
            </a:r>
            <a:r>
              <a:rPr lang="en-US" sz="2400" dirty="0" err="1" smtClean="0"/>
              <a:t>i</a:t>
            </a:r>
            <a:r>
              <a:rPr lang="en-US" sz="2400" dirty="0" smtClean="0"/>
              <a:t>) series and (ii) parallel are important from the subject point of view.</a:t>
            </a:r>
          </a:p>
          <a:p>
            <a:pPr>
              <a:buNone/>
            </a:pPr>
            <a:endParaRPr lang="en-US" sz="2400" dirty="0"/>
          </a:p>
        </p:txBody>
      </p:sp>
      <p:pic>
        <p:nvPicPr>
          <p:cNvPr id="75779" name="Picture 3"/>
          <p:cNvPicPr>
            <a:picLocks noChangeAspect="1" noChangeArrowheads="1"/>
          </p:cNvPicPr>
          <p:nvPr/>
        </p:nvPicPr>
        <p:blipFill>
          <a:blip r:embed="rId3"/>
          <a:srcRect/>
          <a:stretch>
            <a:fillRect/>
          </a:stretch>
        </p:blipFill>
        <p:spPr bwMode="auto">
          <a:xfrm>
            <a:off x="685800" y="3581400"/>
            <a:ext cx="7010400" cy="2895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105400" cy="487362"/>
          </a:xfrm>
        </p:spPr>
        <p:txBody>
          <a:bodyPr>
            <a:noAutofit/>
          </a:bodyPr>
          <a:lstStyle/>
          <a:p>
            <a:pPr algn="l"/>
            <a:r>
              <a:rPr lang="en-US" sz="2800" b="1" i="1" dirty="0" smtClean="0"/>
              <a:t>Springs in series</a:t>
            </a:r>
            <a:endParaRPr lang="en-US" sz="2800" dirty="0"/>
          </a:p>
        </p:txBody>
      </p:sp>
      <p:sp>
        <p:nvSpPr>
          <p:cNvPr id="3" name="Content Placeholder 2"/>
          <p:cNvSpPr>
            <a:spLocks noGrp="1"/>
          </p:cNvSpPr>
          <p:nvPr>
            <p:ph idx="1"/>
          </p:nvPr>
        </p:nvSpPr>
        <p:spPr>
          <a:xfrm>
            <a:off x="381000" y="1295401"/>
            <a:ext cx="8229600" cy="2438399"/>
          </a:xfrm>
        </p:spPr>
        <p:txBody>
          <a:bodyPr>
            <a:normAutofit fontScale="92500" lnSpcReduction="10000"/>
          </a:bodyPr>
          <a:lstStyle/>
          <a:p>
            <a:r>
              <a:rPr lang="en-US" sz="2400" dirty="0" smtClean="0"/>
              <a:t>In this case, the two springs are connected in series as shown in Fig. 28.6 </a:t>
            </a:r>
            <a:r>
              <a:rPr lang="en-US" sz="2400" i="1" dirty="0" smtClean="0"/>
              <a:t>(a). </a:t>
            </a:r>
            <a:r>
              <a:rPr lang="en-US" sz="2400" dirty="0" smtClean="0"/>
              <a:t>Each spring is subjected to the same load applied at the end of one spring. </a:t>
            </a:r>
          </a:p>
          <a:p>
            <a:endParaRPr lang="en-US" sz="2400" dirty="0" smtClean="0"/>
          </a:p>
          <a:p>
            <a:r>
              <a:rPr lang="en-US" sz="2400" dirty="0" smtClean="0"/>
              <a:t>A little consideration will show that the total extension of the assembly is equal to the algebraic sum of the extensions of the two springs</a:t>
            </a:r>
            <a:endParaRPr lang="en-US" sz="2400" dirty="0"/>
          </a:p>
        </p:txBody>
      </p:sp>
      <p:sp>
        <p:nvSpPr>
          <p:cNvPr id="77825" name="Rectangle 1"/>
          <p:cNvSpPr>
            <a:spLocks noChangeArrowheads="1"/>
          </p:cNvSpPr>
          <p:nvPr/>
        </p:nvSpPr>
        <p:spPr bwMode="auto">
          <a:xfrm>
            <a:off x="381000" y="3733800"/>
            <a:ext cx="3657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1"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Springs in parallel</a:t>
            </a:r>
            <a:endParaRPr kumimoji="0" lang="en-US" sz="3600" b="0" i="0" u="none" strike="noStrike" cap="none" normalizeH="0" baseline="0" dirty="0" smtClean="0">
              <a:ln>
                <a:noFill/>
              </a:ln>
              <a:solidFill>
                <a:schemeClr val="tx1"/>
              </a:solidFill>
              <a:effectLst/>
              <a:latin typeface="Calibri" pitchFamily="34" charset="0"/>
              <a:cs typeface="Arial" pitchFamily="34" charset="0"/>
            </a:endParaRPr>
          </a:p>
        </p:txBody>
      </p:sp>
      <p:sp>
        <p:nvSpPr>
          <p:cNvPr id="5" name="TextBox 4"/>
          <p:cNvSpPr txBox="1"/>
          <p:nvPr/>
        </p:nvSpPr>
        <p:spPr>
          <a:xfrm>
            <a:off x="152400" y="4180344"/>
            <a:ext cx="8458200" cy="1631216"/>
          </a:xfrm>
          <a:prstGeom prst="rect">
            <a:avLst/>
          </a:prstGeom>
          <a:noFill/>
        </p:spPr>
        <p:txBody>
          <a:bodyPr wrap="square" rtlCol="0">
            <a:spAutoFit/>
          </a:bodyPr>
          <a:lstStyle/>
          <a:p>
            <a:pPr>
              <a:buFont typeface="Arial" pitchFamily="34" charset="0"/>
              <a:buChar char="•"/>
            </a:pPr>
            <a:r>
              <a:rPr lang="en-US" sz="2000" dirty="0" smtClean="0"/>
              <a:t>  In this case, the two springs are connected in parallel as shown in Fig. 28.6 </a:t>
            </a:r>
            <a:r>
              <a:rPr lang="en-US" sz="2000" i="1" dirty="0" smtClean="0"/>
              <a:t>(b). </a:t>
            </a:r>
          </a:p>
          <a:p>
            <a:endParaRPr lang="en-US" sz="2000" i="1" dirty="0" smtClean="0"/>
          </a:p>
          <a:p>
            <a:pPr>
              <a:buFont typeface="Arial" pitchFamily="34" charset="0"/>
              <a:buChar char="•"/>
            </a:pPr>
            <a:r>
              <a:rPr lang="en-US" sz="2000" dirty="0" smtClean="0"/>
              <a:t>  The extension of each spring is the same. A little consideration will show that the load applied on the assembly is shared by the two springs. </a:t>
            </a:r>
          </a:p>
          <a:p>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Footer Placeholder 6"/>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sz="3600" i="1" dirty="0" smtClean="0"/>
              <a:t>Example 5-10: </a:t>
            </a:r>
          </a:p>
          <a:p>
            <a:pPr>
              <a:buNone/>
            </a:pPr>
            <a:r>
              <a:rPr lang="en-US" sz="3600" i="1" dirty="0" smtClean="0"/>
              <a:t>Two-close coiled helical springs wound from the same wire, but with different core radii having equal no. of coils are compressed between rigid plates at their ends. Calculate the maximum shear stress induced in each spring, if the wire diameter </a:t>
            </a:r>
            <a:r>
              <a:rPr lang="en-US" sz="3600" dirty="0" smtClean="0"/>
              <a:t>is </a:t>
            </a:r>
            <a:r>
              <a:rPr lang="en-US" sz="3600" i="1" dirty="0" smtClean="0"/>
              <a:t>10 mm and the load applied between tile rigid plates is 500 N. The core radii of the springs are 100 mm and 75</a:t>
            </a:r>
            <a:r>
              <a:rPr lang="en-US" sz="3600" dirty="0" smtClean="0"/>
              <a:t> </a:t>
            </a:r>
            <a:r>
              <a:rPr lang="en-US" sz="3600" i="1" dirty="0" smtClean="0"/>
              <a:t>mm respectively.</a:t>
            </a:r>
            <a:endParaRPr lang="en-US" sz="3600" dirty="0" smtClean="0"/>
          </a:p>
          <a:p>
            <a:pPr>
              <a:buNone/>
            </a:pP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3"/>
          <a:srcRect/>
          <a:stretch>
            <a:fillRect/>
          </a:stretch>
        </p:blipFill>
        <p:spPr bwMode="auto">
          <a:xfrm>
            <a:off x="304801" y="457200"/>
            <a:ext cx="84582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3"/>
          <a:srcRect/>
          <a:stretch>
            <a:fillRect/>
          </a:stretch>
        </p:blipFill>
        <p:spPr bwMode="auto">
          <a:xfrm>
            <a:off x="152400" y="304800"/>
            <a:ext cx="86868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Self Assessment 2-5</a:t>
            </a:r>
            <a:endParaRPr lang="en-US" dirty="0"/>
          </a:p>
        </p:txBody>
      </p:sp>
      <p:sp>
        <p:nvSpPr>
          <p:cNvPr id="3" name="Content Placeholder 2"/>
          <p:cNvSpPr>
            <a:spLocks noGrp="1"/>
          </p:cNvSpPr>
          <p:nvPr>
            <p:ph idx="1"/>
          </p:nvPr>
        </p:nvSpPr>
        <p:spPr/>
        <p:txBody>
          <a:bodyPr/>
          <a:lstStyle/>
          <a:p>
            <a:pPr>
              <a:buNone/>
            </a:pPr>
            <a:r>
              <a:rPr lang="en-US" dirty="0" smtClean="0"/>
              <a:t>1. </a:t>
            </a:r>
            <a:r>
              <a:rPr lang="en-US" sz="4400" dirty="0" smtClean="0"/>
              <a:t>Derive the equations for the deflection and bending stress for a closed-coiled helical spring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dirty="0" smtClean="0"/>
              <a:t>Unit Summary</a:t>
            </a:r>
            <a:endParaRPr lang="en-US" sz="4000" dirty="0"/>
          </a:p>
        </p:txBody>
      </p:sp>
      <p:sp>
        <p:nvSpPr>
          <p:cNvPr id="3" name="Content Placeholder 2"/>
          <p:cNvSpPr>
            <a:spLocks noGrp="1"/>
          </p:cNvSpPr>
          <p:nvPr>
            <p:ph idx="1"/>
          </p:nvPr>
        </p:nvSpPr>
        <p:spPr>
          <a:xfrm>
            <a:off x="381000" y="914400"/>
            <a:ext cx="8305800" cy="5211763"/>
          </a:xfrm>
        </p:spPr>
        <p:txBody>
          <a:bodyPr>
            <a:normAutofit/>
          </a:bodyPr>
          <a:lstStyle/>
          <a:p>
            <a:pPr marL="457200" lvl="0" indent="-457200">
              <a:buFont typeface="+mj-lt"/>
              <a:buAutoNum type="arabicPeriod"/>
            </a:pPr>
            <a:r>
              <a:rPr lang="en-US" sz="2400" dirty="0" smtClean="0"/>
              <a:t>A spring</a:t>
            </a:r>
            <a:r>
              <a:rPr lang="en-US" sz="2400" i="1" dirty="0" smtClean="0"/>
              <a:t> </a:t>
            </a:r>
            <a:r>
              <a:rPr lang="en-US" sz="2400" dirty="0" smtClean="0"/>
              <a:t>is a flexible element used to exert a force or a torque and, at the same time, to store energy. </a:t>
            </a:r>
          </a:p>
          <a:p>
            <a:pPr marL="457200" lvl="0" indent="-457200">
              <a:buFont typeface="+mj-lt"/>
              <a:buAutoNum type="arabicPeriod"/>
            </a:pPr>
            <a:r>
              <a:rPr lang="en-US" sz="2400" dirty="0" smtClean="0"/>
              <a:t>The force can be a linear push or pull, or it can be radial, acting similarly to a rubber band around a roll of drawings. </a:t>
            </a:r>
          </a:p>
          <a:p>
            <a:pPr marL="457200" lvl="0" indent="-457200">
              <a:buFont typeface="+mj-lt"/>
              <a:buAutoNum type="arabicPeriod"/>
            </a:pPr>
            <a:r>
              <a:rPr lang="en-US" sz="2400" dirty="0" smtClean="0"/>
              <a:t>The torque can be used to cause a rotation, for example, to close a door on a cabinet or to provide a counterbalance force for a machine element pivoting on a hinge.</a:t>
            </a:r>
          </a:p>
          <a:p>
            <a:pPr marL="457200" lvl="0" indent="-457200">
              <a:buFont typeface="+mj-lt"/>
              <a:buAutoNum type="arabicPeriod"/>
            </a:pPr>
            <a:r>
              <a:rPr lang="en-US" sz="2400" dirty="0" smtClean="0"/>
              <a:t>Springs inherently store energy when they are deflected and return the energy when the force that causes the deflection is removed. </a:t>
            </a:r>
          </a:p>
          <a:p>
            <a:pPr marL="457200" lvl="0" indent="-457200">
              <a:buFont typeface="+mj-lt"/>
              <a:buAutoNum type="arabicPeriod"/>
            </a:pPr>
            <a:r>
              <a:rPr lang="en-US" sz="2400" dirty="0" smtClean="0"/>
              <a:t>When this is the primary design objective, the spring is frequently referred to as a </a:t>
            </a:r>
            <a:r>
              <a:rPr lang="en-US" sz="2400" i="1" dirty="0" smtClean="0"/>
              <a:t>power spring </a:t>
            </a:r>
            <a:r>
              <a:rPr lang="en-US" sz="2400" dirty="0" smtClean="0"/>
              <a:t>or </a:t>
            </a:r>
            <a:r>
              <a:rPr lang="en-US" sz="2400" i="1" dirty="0" smtClean="0"/>
              <a:t>motor</a:t>
            </a:r>
            <a:r>
              <a:rPr lang="en-US" sz="2400" dirty="0" smtClean="0"/>
              <a:t> </a:t>
            </a:r>
            <a:r>
              <a:rPr lang="en-US" sz="2400" i="1" dirty="0" smtClean="0"/>
              <a:t>spring.</a:t>
            </a:r>
            <a:endParaRPr lang="en-US" sz="2400" dirty="0" smtClean="0"/>
          </a:p>
          <a:p>
            <a:pPr marL="457200" indent="-457200">
              <a:buFont typeface="+mj-lt"/>
              <a:buAutoNum type="arabicPeriod"/>
            </a:pP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lvl="0"/>
            <a:r>
              <a:rPr lang="en-US" sz="3200" b="1" dirty="0" smtClean="0"/>
              <a:t>Review Question</a:t>
            </a:r>
            <a:endParaRPr lang="en-US" sz="3200" dirty="0"/>
          </a:p>
        </p:txBody>
      </p:sp>
      <p:sp>
        <p:nvSpPr>
          <p:cNvPr id="3" name="Content Placeholder 2"/>
          <p:cNvSpPr>
            <a:spLocks noGrp="1"/>
          </p:cNvSpPr>
          <p:nvPr>
            <p:ph idx="1"/>
          </p:nvPr>
        </p:nvSpPr>
        <p:spPr/>
        <p:txBody>
          <a:bodyPr/>
          <a:lstStyle/>
          <a:p>
            <a:pPr>
              <a:buNone/>
            </a:pPr>
            <a:r>
              <a:rPr lang="en-US" dirty="0" smtClean="0"/>
              <a:t>A close-coiled helical spring has to absorb 60 Nm of energy when compressed 6 cm. The diameter is nine times the wire diameter. If there are twelve coils, estimate the diameters of coils and wire and the maximum shear stress. G==95,000 N/mm</a:t>
            </a:r>
            <a:r>
              <a:rPr lang="en-US" baseline="30000" dirty="0" smtClean="0"/>
              <a:t>2</a:t>
            </a:r>
            <a:r>
              <a:rPr lang="en-US" dirty="0" smtClean="0"/>
              <a:t>.</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smtClean="0"/>
              <a:t>Discussion Question</a:t>
            </a:r>
            <a:endParaRPr lang="en-US" dirty="0"/>
          </a:p>
        </p:txBody>
      </p:sp>
      <p:sp>
        <p:nvSpPr>
          <p:cNvPr id="3" name="Content Placeholder 2"/>
          <p:cNvSpPr>
            <a:spLocks noGrp="1"/>
          </p:cNvSpPr>
          <p:nvPr>
            <p:ph idx="1"/>
          </p:nvPr>
        </p:nvSpPr>
        <p:spPr/>
        <p:txBody>
          <a:bodyPr>
            <a:normAutofit/>
          </a:bodyPr>
          <a:lstStyle/>
          <a:p>
            <a:pPr>
              <a:buNone/>
            </a:pPr>
            <a:r>
              <a:rPr lang="en-US" sz="2800" dirty="0" smtClean="0"/>
              <a:t>A composite spring has two close-coiled helical springs connected in series; each spring has ten coils at a mean diameter of 40 mm. Find the wire diameter in one if the other is 3.0 mm and the stiffness of the composite spring is 800 N/m. Estimate the greatest load that can be carried by the composite spring, and the corresponding extension, for a maximum shearing stress of 280 N/mm</a:t>
            </a:r>
            <a:r>
              <a:rPr lang="en-US" sz="2800" baseline="30000" dirty="0" smtClean="0"/>
              <a:t>2</a:t>
            </a:r>
            <a:r>
              <a:rPr lang="en-US" sz="2800" dirty="0" smtClean="0"/>
              <a:t>.</a:t>
            </a:r>
          </a:p>
          <a:p>
            <a:pPr>
              <a:buNone/>
            </a:pPr>
            <a:r>
              <a:rPr lang="en-US" sz="2800" dirty="0" smtClean="0"/>
              <a:t>G =90,000 N/mm</a:t>
            </a:r>
            <a:r>
              <a:rPr lang="en-US" sz="2800" baseline="30000" dirty="0" smtClean="0"/>
              <a:t>2</a:t>
            </a:r>
            <a:r>
              <a:rPr lang="en-US" sz="2800" dirty="0" smtClean="0"/>
              <a:t>.</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200" dirty="0" smtClean="0"/>
              <a:t>Quizzes</a:t>
            </a:r>
            <a:endParaRPr lang="en-US" sz="3200" dirty="0"/>
          </a:p>
        </p:txBody>
      </p:sp>
      <p:sp>
        <p:nvSpPr>
          <p:cNvPr id="3" name="Content Placeholder 2"/>
          <p:cNvSpPr>
            <a:spLocks noGrp="1"/>
          </p:cNvSpPr>
          <p:nvPr>
            <p:ph idx="1"/>
          </p:nvPr>
        </p:nvSpPr>
        <p:spPr>
          <a:xfrm>
            <a:off x="228600" y="990600"/>
            <a:ext cx="8458200" cy="5029200"/>
          </a:xfrm>
        </p:spPr>
        <p:txBody>
          <a:bodyPr>
            <a:normAutofit fontScale="77500" lnSpcReduction="20000"/>
          </a:bodyPr>
          <a:lstStyle/>
          <a:p>
            <a:pPr marL="514350" lvl="0" indent="-514350">
              <a:buFont typeface="+mj-lt"/>
              <a:buAutoNum type="arabicPeriod"/>
            </a:pPr>
            <a:r>
              <a:rPr lang="en-US" dirty="0" smtClean="0"/>
              <a:t>Derive from first principles, making usual assumptions the formula for the maximum stress and or the central deflection of a leaf spring consisting of </a:t>
            </a:r>
            <a:r>
              <a:rPr lang="en-US" i="1" dirty="0" smtClean="0"/>
              <a:t>n </a:t>
            </a:r>
            <a:r>
              <a:rPr lang="en-US" dirty="0" smtClean="0"/>
              <a:t>leaves and subjected to central load.</a:t>
            </a:r>
          </a:p>
          <a:p>
            <a:pPr marL="514350" indent="-514350">
              <a:buFont typeface="+mj-lt"/>
              <a:buAutoNum type="arabicPeriod"/>
            </a:pPr>
            <a:endParaRPr lang="en-US" dirty="0" smtClean="0"/>
          </a:p>
          <a:p>
            <a:pPr marL="514350" lvl="0" indent="-514350">
              <a:buFont typeface="+mj-lt"/>
              <a:buAutoNum type="arabicPeriod"/>
            </a:pPr>
            <a:r>
              <a:rPr lang="en-US" dirty="0" smtClean="0"/>
              <a:t>What are helical springs? Differentiate between a closely coiled helical spring and an coiled helical spring.</a:t>
            </a:r>
          </a:p>
          <a:p>
            <a:pPr marL="514350" indent="-514350">
              <a:buFont typeface="+mj-lt"/>
              <a:buAutoNum type="arabicPeriod"/>
            </a:pPr>
            <a:endParaRPr lang="en-US" dirty="0" smtClean="0"/>
          </a:p>
          <a:p>
            <a:pPr marL="514350" lvl="0" indent="-514350">
              <a:buFont typeface="+mj-lt"/>
              <a:buAutoNum type="arabicPeriod"/>
            </a:pPr>
            <a:r>
              <a:rPr lang="en-US" dirty="0" smtClean="0"/>
              <a:t>A closely coiled helical spring with </a:t>
            </a:r>
            <a:r>
              <a:rPr lang="en-US" i="1" dirty="0" smtClean="0"/>
              <a:t>D </a:t>
            </a:r>
            <a:r>
              <a:rPr lang="en-US" dirty="0" smtClean="0"/>
              <a:t>as diameter of the coil and </a:t>
            </a:r>
            <a:r>
              <a:rPr lang="en-US" i="1" dirty="0" smtClean="0"/>
              <a:t>d </a:t>
            </a:r>
            <a:r>
              <a:rPr lang="en-US" dirty="0" smtClean="0"/>
              <a:t>as diameter of the wire subjected to an axial load </a:t>
            </a:r>
            <a:r>
              <a:rPr lang="en-US" i="1" dirty="0" smtClean="0"/>
              <a:t>W. </a:t>
            </a:r>
            <a:r>
              <a:rPr lang="en-US" dirty="0" smtClean="0"/>
              <a:t>Prove that the maximum shear stress produced is equal to  </a:t>
            </a:r>
          </a:p>
          <a:p>
            <a:pPr marL="514350" indent="-514350">
              <a:buFont typeface="+mj-lt"/>
              <a:buAutoNum type="arabicPeriod"/>
            </a:pPr>
            <a:endParaRPr lang="en-US" dirty="0" smtClean="0"/>
          </a:p>
          <a:p>
            <a:pPr marL="514350" lvl="0" indent="-514350">
              <a:buFont typeface="+mj-lt"/>
              <a:buAutoNum type="arabicPeriod"/>
            </a:pPr>
            <a:r>
              <a:rPr lang="en-US" dirty="0" smtClean="0"/>
              <a:t>Derive an equation for the deflection of an open coiled helical spring.</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3"/>
          <a:srcRect/>
          <a:stretch>
            <a:fillRect/>
          </a:stretch>
        </p:blipFill>
        <p:spPr bwMode="auto">
          <a:xfrm>
            <a:off x="228600" y="152400"/>
            <a:ext cx="8534400" cy="6477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3"/>
          <a:srcRect/>
          <a:stretch>
            <a:fillRect/>
          </a:stretch>
        </p:blipFill>
        <p:spPr bwMode="auto">
          <a:xfrm>
            <a:off x="228600" y="304800"/>
            <a:ext cx="86106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3119</Words>
  <Application>Microsoft Office PowerPoint</Application>
  <PresentationFormat>On-screen Show (4:3)</PresentationFormat>
  <Paragraphs>379</Paragraphs>
  <Slides>66</Slides>
  <Notes>66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68" baseType="lpstr">
      <vt:lpstr>Office Theme</vt:lpstr>
      <vt:lpstr>Equation</vt:lpstr>
      <vt:lpstr>STRESSES AND DEFLECTION OF SPRINGS</vt:lpstr>
      <vt:lpstr>Slide 2</vt:lpstr>
      <vt:lpstr>Introduction CARRIAGE OR LEAF SPRINGS</vt:lpstr>
      <vt:lpstr>Slide 4</vt:lpstr>
      <vt:lpstr>Slide 5</vt:lpstr>
      <vt:lpstr>Forms of Springs </vt:lpstr>
      <vt:lpstr>Carriage Springs </vt:lpstr>
      <vt:lpstr>Slide 8</vt:lpstr>
      <vt:lpstr>Semi-elliptical Type Leaf Springs</vt:lpstr>
      <vt:lpstr>Slide 10</vt:lpstr>
      <vt:lpstr>Slide 11</vt:lpstr>
      <vt:lpstr>Slide 12</vt:lpstr>
      <vt:lpstr>Slide 13</vt:lpstr>
      <vt:lpstr>Slide 14</vt:lpstr>
      <vt:lpstr>Slide 15</vt:lpstr>
      <vt:lpstr>Slide 16</vt:lpstr>
      <vt:lpstr>Slide 17</vt:lpstr>
      <vt:lpstr>Slide 18</vt:lpstr>
      <vt:lpstr>Slide 19</vt:lpstr>
      <vt:lpstr>Quarter-Elliptical Type Leaf Springs</vt:lpstr>
      <vt:lpstr>Slide 21</vt:lpstr>
      <vt:lpstr>Slide 22</vt:lpstr>
      <vt:lpstr>Slide 23</vt:lpstr>
      <vt:lpstr>Slide 24</vt:lpstr>
      <vt:lpstr>Slide 25</vt:lpstr>
      <vt:lpstr>Self Assessment </vt:lpstr>
      <vt:lpstr>HELICAL SPRINGS</vt:lpstr>
      <vt:lpstr>Slide 28</vt:lpstr>
      <vt:lpstr>Slide 29</vt:lpstr>
      <vt:lpstr>Slide 30</vt:lpstr>
      <vt:lpstr>Slide 31</vt:lpstr>
      <vt:lpstr>Slide 32</vt:lpstr>
      <vt:lpstr>Slide 33</vt:lpstr>
      <vt:lpstr>Slide 34</vt:lpstr>
      <vt:lpstr>Closely-coiled Helical Springs Subjected to an Axial Twist</vt:lpstr>
      <vt:lpstr>Slide 36</vt:lpstr>
      <vt:lpstr>Slide 37</vt:lpstr>
      <vt:lpstr>Slide 38</vt:lpstr>
      <vt:lpstr>Slide 39</vt:lpstr>
      <vt:lpstr>Slide 40</vt:lpstr>
      <vt:lpstr>Open-coiled Helical Springs</vt:lpstr>
      <vt:lpstr>Slide 42</vt:lpstr>
      <vt:lpstr>Slide 43</vt:lpstr>
      <vt:lpstr>Slide 44</vt:lpstr>
      <vt:lpstr>Slide 45</vt:lpstr>
      <vt:lpstr>Slide 46</vt:lpstr>
      <vt:lpstr>Slide 47</vt:lpstr>
      <vt:lpstr>Slide 48</vt:lpstr>
      <vt:lpstr>Flat Spiral Springs</vt:lpstr>
      <vt:lpstr>Slide 50</vt:lpstr>
      <vt:lpstr>Slide 51</vt:lpstr>
      <vt:lpstr>Slide 52</vt:lpstr>
      <vt:lpstr>Slide 53</vt:lpstr>
      <vt:lpstr>Slide 54</vt:lpstr>
      <vt:lpstr>Springs in Series and Parallel</vt:lpstr>
      <vt:lpstr>Springs in series</vt:lpstr>
      <vt:lpstr>Slide 57</vt:lpstr>
      <vt:lpstr>Slide 58</vt:lpstr>
      <vt:lpstr>Slide 59</vt:lpstr>
      <vt:lpstr>Self Assessment 2-5</vt:lpstr>
      <vt:lpstr>Unit Summary</vt:lpstr>
      <vt:lpstr>Review Question</vt:lpstr>
      <vt:lpstr>Discussion Question</vt:lpstr>
      <vt:lpstr>Quizzes</vt:lpstr>
      <vt:lpstr>Slide 65</vt:lpstr>
      <vt:lpstr>Slide 66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Papa</dc:creator>
  <cp:lastModifiedBy>Papa</cp:lastModifiedBy>
  <cp:revision>89</cp:revision>
  <dcterms:created xsi:type="dcterms:W3CDTF">2006-08-16T00:00:00Z</dcterms:created>
  <dcterms:modified xsi:type="dcterms:W3CDTF">2013-04-05T08:02:23Z</dcterms:modified>
</cp:coreProperties>
</file>