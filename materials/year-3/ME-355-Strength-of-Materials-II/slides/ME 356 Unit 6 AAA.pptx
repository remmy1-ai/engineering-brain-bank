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319"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7" r:id="rId21"/>
    <p:sldId id="278" r:id="rId22"/>
    <p:sldId id="279" r:id="rId23"/>
    <p:sldId id="274" r:id="rId24"/>
    <p:sldId id="280" r:id="rId25"/>
    <p:sldId id="281" r:id="rId26"/>
    <p:sldId id="282" r:id="rId27"/>
    <p:sldId id="283" r:id="rId28"/>
    <p:sldId id="285" r:id="rId29"/>
    <p:sldId id="286" r:id="rId30"/>
    <p:sldId id="284"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2" r:id="rId46"/>
    <p:sldId id="303" r:id="rId47"/>
    <p:sldId id="305" r:id="rId48"/>
    <p:sldId id="306" r:id="rId49"/>
    <p:sldId id="307" r:id="rId50"/>
    <p:sldId id="309" r:id="rId51"/>
    <p:sldId id="310" r:id="rId52"/>
    <p:sldId id="308" r:id="rId53"/>
    <p:sldId id="313" r:id="rId54"/>
    <p:sldId id="314" r:id="rId55"/>
    <p:sldId id="311" r:id="rId56"/>
    <p:sldId id="312" r:id="rId57"/>
    <p:sldId id="315" r:id="rId58"/>
    <p:sldId id="316" r:id="rId59"/>
    <p:sldId id="317" r:id="rId60"/>
    <p:sldId id="318"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38" d="100"/>
          <a:sy n="38" d="100"/>
        </p:scale>
        <p:origin x="-840"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92509D-BB0F-44F6-8A04-81AA814CCE77}" type="datetimeFigureOut">
              <a:rPr lang="en-US" smtClean="0"/>
              <a:pPr/>
              <a:t>4/5/2013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7AA53FD-FBAE-40B2-B312-349A5507AC0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7AA53FD-FBAE-40B2-B312-349A5507AC02}"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AA53FD-FBAE-40B2-B312-349A5507AC02}" type="slidenum">
              <a:rPr lang="en-US" smtClean="0"/>
              <a:pPr/>
              <a:t>60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1230F5A-403D-41D6-85DA-964CABAD2B33}" type="datetime1">
              <a:rPr lang="en-US" smtClean="0"/>
              <a:t>4/5/2013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0F9FCF-B0AC-4A2E-B577-EEA45DC26699}" type="datetime1">
              <a:rPr lang="en-US" smtClean="0"/>
              <a:t>4/5/2013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724AB9D-2E87-4713-A429-DEE9613DAE31}" type="datetime1">
              <a:rPr lang="en-US" smtClean="0"/>
              <a:t>4/5/2013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D36CA1-F18E-4611-AB4D-BA7E6CA05617}" type="datetime1">
              <a:rPr lang="en-US" smtClean="0"/>
              <a:t>4/5/2013</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4BF92D2-74A3-470E-8F69-A81276CD2D8C}" type="datetime1">
              <a:rPr lang="en-US" smtClean="0"/>
              <a:t>4/5/2013</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A823C9E-90D8-47D7-89E8-AF891A1A1F57}" type="datetime1">
              <a:rPr lang="en-US" smtClean="0"/>
              <a:t>4/5/2013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1C8DD7-746B-45D4-B4DE-8987F349E8A1}" type="datetime1">
              <a:rPr lang="en-US" smtClean="0"/>
              <a:t>4/5/2013</a:t>
            </a:fld>
            <a:endParaRPr lang="en-US"/>
          </a:p>
        </p:txBody>
      </p:sp>
      <p:sp>
        <p:nvSpPr>
          <p:cNvPr id="3" name="Footer Placeholder 2"/>
          <p:cNvSpPr>
            <a:spLocks noGrp="1"/>
          </p:cNvSpPr>
          <p:nvPr>
            <p:ph type="ftr" sz="quarter" idx="11"/>
          </p:nvPr>
        </p:nvSpPr>
        <p:spPr/>
        <p:txBody>
          <a:bodyPr/>
          <a:lstStyle/>
          <a:p>
            <a:r>
              <a:rPr lang="en-US" smtClean="0"/>
              <a:t>ME 356 Strength of Materials II for IDL</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078972-EF79-444E-A3B2-28CFB324DB7A}" type="datetime1">
              <a:rPr lang="en-US" smtClean="0"/>
              <a:t>4/5/2013</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EDAFB2-8144-49FA-95C9-7993605EBFF9}" type="datetime1">
              <a:rPr lang="en-US" smtClean="0"/>
              <a:t>4/5/2013</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56D6B5-4E37-4B01-8622-5D368D6B9202}" type="datetime1">
              <a:rPr lang="en-US" smtClean="0"/>
              <a:t>4/5/2013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75391E-87B2-4C40-A870-ABDAF66B310A}" type="datetime1">
              <a:rPr lang="en-US" smtClean="0"/>
              <a:t>4/5/2013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D76429-B28F-44E0-BA13-67BF80D07AD7}" type="datetime1">
              <a:rPr lang="en-US" smtClean="0"/>
              <a:t>4/5/2013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ME 356 Strength of Materials II for IDL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43001"/>
            <a:ext cx="7772400" cy="1981199"/>
          </a:xfrm>
        </p:spPr>
        <p:txBody>
          <a:bodyPr>
            <a:normAutofit/>
          </a:bodyPr>
          <a:lstStyle/>
          <a:p>
            <a:r>
              <a:rPr lang="en-US" sz="6000" b="1" i="1" dirty="0" smtClean="0"/>
              <a:t>THIN SHELLS</a:t>
            </a:r>
            <a:endParaRPr lang="en-US" sz="6000" b="1" i="1" dirty="0"/>
          </a:p>
        </p:txBody>
      </p:sp>
      <p:sp>
        <p:nvSpPr>
          <p:cNvPr id="3" name="Subtitle 2"/>
          <p:cNvSpPr>
            <a:spLocks noGrp="1"/>
          </p:cNvSpPr>
          <p:nvPr>
            <p:ph type="subTitle" idx="1"/>
          </p:nvPr>
        </p:nvSpPr>
        <p:spPr>
          <a:xfrm>
            <a:off x="1371600" y="5943600"/>
            <a:ext cx="6400800" cy="685800"/>
          </a:xfrm>
        </p:spPr>
        <p:txBody>
          <a:bodyPr>
            <a:noAutofit/>
          </a:bodyPr>
          <a:lstStyle/>
          <a:p>
            <a:r>
              <a:rPr lang="en-US" sz="4000" b="1" i="1" dirty="0" smtClean="0"/>
              <a:t>By Dr. Andoh</a:t>
            </a:r>
            <a:endParaRPr lang="en-US" sz="4000" b="1"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3"/>
          <a:srcRect/>
          <a:stretch>
            <a:fillRect/>
          </a:stretch>
        </p:blipFill>
        <p:spPr bwMode="auto">
          <a:xfrm>
            <a:off x="228600" y="381000"/>
            <a:ext cx="8610600" cy="6199445"/>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THIN </a:t>
            </a:r>
            <a:r>
              <a:rPr lang="en-US" b="1" dirty="0" smtClean="0"/>
              <a:t>CYLINDRICAL SHELLS</a:t>
            </a:r>
            <a:r>
              <a:rPr lang="en-US" b="1" i="1" dirty="0" smtClean="0"/>
              <a:t/>
            </a:r>
            <a:br>
              <a:rPr lang="en-US" b="1" i="1" dirty="0" smtClean="0"/>
            </a:br>
            <a:endParaRPr lang="en-US" dirty="0"/>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pPr>
              <a:buNone/>
            </a:pPr>
            <a:r>
              <a:rPr lang="en-US" b="1" dirty="0" smtClean="0"/>
              <a:t>Introduction</a:t>
            </a:r>
            <a:endParaRPr lang="en-US" dirty="0" smtClean="0"/>
          </a:p>
          <a:p>
            <a:r>
              <a:rPr lang="en-US" dirty="0" smtClean="0"/>
              <a:t>In engineering field, we daily come across vessels of cylindrical and spherical shapes containing fluids such as tanks, boilers, compressed air receivers etc. </a:t>
            </a:r>
          </a:p>
          <a:p>
            <a:r>
              <a:rPr lang="en-US" dirty="0" smtClean="0"/>
              <a:t>Generally, the walls of such vessels are very thin as compared to their diameter. </a:t>
            </a:r>
          </a:p>
          <a:p>
            <a:pPr>
              <a:buNone/>
            </a:pPr>
            <a:endParaRPr lang="en-US" dirty="0" smtClean="0"/>
          </a:p>
          <a:p>
            <a:r>
              <a:rPr lang="en-US" dirty="0" smtClean="0"/>
              <a:t>These vessels, when empty, are subjected to atmospheric pressure internally as well as externally. In such a case, the resultant pressure on the walls of the shell is zero. </a:t>
            </a:r>
          </a:p>
          <a:p>
            <a:r>
              <a:rPr lang="en-US" dirty="0" smtClean="0"/>
              <a:t>But whenever a vessel is subjected to internal pressure (due to steam, compressed air etc.) its walls are subjected to tensile stresses.</a:t>
            </a:r>
          </a:p>
          <a:p>
            <a:r>
              <a:rPr lang="en-US" dirty="0" smtClean="0"/>
              <a:t>In general if the thickness of the wall of a shell is less than </a:t>
            </a:r>
            <a:r>
              <a:rPr lang="en-US" i="1" dirty="0" smtClean="0"/>
              <a:t>1/10th</a:t>
            </a:r>
            <a:r>
              <a:rPr lang="en-US" dirty="0" smtClean="0"/>
              <a:t> to </a:t>
            </a:r>
            <a:r>
              <a:rPr lang="en-US" i="1" dirty="0" smtClean="0"/>
              <a:t>1/1</a:t>
            </a:r>
            <a:r>
              <a:rPr lang="en-US" dirty="0" smtClean="0"/>
              <a:t>5th of its diameter, it is known as a thin shell.</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100" b="1" dirty="0" smtClean="0"/>
              <a:t>Failure of a Thin Cylindrical Shell due to an Internal Pressure </a:t>
            </a:r>
            <a:endParaRPr lang="en-US" dirty="0"/>
          </a:p>
        </p:txBody>
      </p:sp>
      <p:sp>
        <p:nvSpPr>
          <p:cNvPr id="3" name="Content Placeholder 2"/>
          <p:cNvSpPr>
            <a:spLocks noGrp="1"/>
          </p:cNvSpPr>
          <p:nvPr>
            <p:ph idx="1"/>
          </p:nvPr>
        </p:nvSpPr>
        <p:spPr/>
        <p:txBody>
          <a:bodyPr>
            <a:normAutofit lnSpcReduction="10000"/>
          </a:bodyPr>
          <a:lstStyle/>
          <a:p>
            <a:r>
              <a:rPr lang="en-US" dirty="0" smtClean="0"/>
              <a:t>We have already discussed in the last article that whenever a cylindrical shell is subjected to an internal pressure, its walls are subjected to tensile stresses. </a:t>
            </a:r>
          </a:p>
          <a:p>
            <a:r>
              <a:rPr lang="en-US" dirty="0" smtClean="0"/>
              <a:t>It will be interesting to know that if these stresses exceed the permissible limit, the cylinder is likely to fail in anyone of the following two ways as shown in fig, 31.1 </a:t>
            </a:r>
            <a:r>
              <a:rPr lang="en-US" i="1" dirty="0" smtClean="0"/>
              <a:t>(a) </a:t>
            </a:r>
            <a:r>
              <a:rPr lang="en-US" dirty="0" smtClean="0"/>
              <a:t>and </a:t>
            </a:r>
            <a:r>
              <a:rPr lang="en-US" i="1" dirty="0" smtClean="0"/>
              <a:t>(b).</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srcRect/>
          <a:stretch>
            <a:fillRect/>
          </a:stretch>
        </p:blipFill>
        <p:spPr bwMode="auto">
          <a:xfrm>
            <a:off x="165814" y="457200"/>
            <a:ext cx="8597186" cy="5410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70000" lnSpcReduction="20000"/>
          </a:bodyPr>
          <a:lstStyle/>
          <a:p>
            <a:pPr>
              <a:buNone/>
            </a:pPr>
            <a:r>
              <a:rPr lang="en-US" b="1" dirty="0" smtClean="0"/>
              <a:t>Stresses in a Thin Cylindrical Shell </a:t>
            </a:r>
          </a:p>
          <a:p>
            <a:pPr>
              <a:buNone/>
            </a:pPr>
            <a:endParaRPr lang="en-US" dirty="0" smtClean="0"/>
          </a:p>
          <a:p>
            <a:r>
              <a:rPr lang="en-US" dirty="0" smtClean="0"/>
              <a:t>We have already discussed that whenever a cylindrical shell is subjected to an internal pressure, its walls are subjected to tensile stresses. A little consideration will show that the walls of the cylindrical shell will be subjected to the following two types of tensile stresses: </a:t>
            </a:r>
          </a:p>
          <a:p>
            <a:pPr>
              <a:buNone/>
            </a:pPr>
            <a:endParaRPr lang="en-US" dirty="0" smtClean="0"/>
          </a:p>
          <a:p>
            <a:pPr lvl="0">
              <a:buNone/>
            </a:pPr>
            <a:r>
              <a:rPr lang="en-US" dirty="0" err="1" smtClean="0"/>
              <a:t>i</a:t>
            </a:r>
            <a:r>
              <a:rPr lang="en-US" dirty="0" smtClean="0"/>
              <a:t>.	Circumferential stress and </a:t>
            </a:r>
          </a:p>
          <a:p>
            <a:pPr lvl="0">
              <a:buNone/>
            </a:pPr>
            <a:r>
              <a:rPr lang="en-US" dirty="0" smtClean="0"/>
              <a:t>ii.	Longitudinal stress</a:t>
            </a:r>
          </a:p>
          <a:p>
            <a:pPr>
              <a:buNone/>
            </a:pPr>
            <a:endParaRPr lang="en-US" dirty="0" smtClean="0"/>
          </a:p>
          <a:p>
            <a:pPr>
              <a:buNone/>
            </a:pPr>
            <a:r>
              <a:rPr lang="en-US" b="1" dirty="0" smtClean="0"/>
              <a:t>Circumferential Stress</a:t>
            </a:r>
          </a:p>
          <a:p>
            <a:pPr>
              <a:buNone/>
            </a:pPr>
            <a:endParaRPr lang="en-US" dirty="0" smtClean="0"/>
          </a:p>
          <a:p>
            <a:r>
              <a:rPr lang="en-US" dirty="0" smtClean="0"/>
              <a:t>In case of thin shells, the stresses are assumed to be uniformly distributed throughout the wall thickness. However in case of thick shells, the stresses are no longer uniformly distributed and the problem becomes complex. In this session, we shall discuss the stress in thin shells only.</a:t>
            </a:r>
          </a:p>
          <a:p>
            <a:r>
              <a:rPr lang="en-US" dirty="0" smtClean="0"/>
              <a:t>NOTE: The above theory also holds good, when the shell is subjected to compressive stress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srcRect/>
          <a:stretch>
            <a:fillRect/>
          </a:stretch>
        </p:blipFill>
        <p:spPr bwMode="auto">
          <a:xfrm>
            <a:off x="228600" y="1295400"/>
            <a:ext cx="8686800" cy="4648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67400"/>
          </a:xfrm>
        </p:spPr>
        <p:txBody>
          <a:bodyPr>
            <a:normAutofit/>
          </a:bodyPr>
          <a:lstStyle/>
          <a:p>
            <a:r>
              <a:rPr lang="en-US" dirty="0" smtClean="0"/>
              <a:t>Consider a thin cylindrical shell subjected to an internal pressure as shown in Fig. </a:t>
            </a:r>
            <a:r>
              <a:rPr lang="en-US" i="1" dirty="0" smtClean="0"/>
              <a:t>31.2(a) </a:t>
            </a:r>
            <a:r>
              <a:rPr lang="en-US" dirty="0" smtClean="0"/>
              <a:t>and </a:t>
            </a:r>
            <a:r>
              <a:rPr lang="en-US" i="1" dirty="0" smtClean="0"/>
              <a:t>(b). </a:t>
            </a:r>
            <a:r>
              <a:rPr lang="en-US" dirty="0" smtClean="0"/>
              <a:t>We know that as a result of the internal pressure, the cylinder has a tendency to split up into two troughs as shown in the figure. </a:t>
            </a:r>
          </a:p>
          <a:p>
            <a:r>
              <a:rPr lang="en-US" dirty="0" smtClean="0"/>
              <a:t>Let	</a:t>
            </a:r>
            <a:r>
              <a:rPr lang="en-US" i="1" dirty="0" smtClean="0"/>
              <a:t>l</a:t>
            </a:r>
            <a:r>
              <a:rPr lang="en-US" dirty="0" smtClean="0"/>
              <a:t>	Length of the shell, </a:t>
            </a:r>
          </a:p>
          <a:p>
            <a:pPr>
              <a:buNone/>
            </a:pPr>
            <a:r>
              <a:rPr lang="en-US" dirty="0" smtClean="0"/>
              <a:t>		</a:t>
            </a:r>
            <a:r>
              <a:rPr lang="en-US" i="1" dirty="0" smtClean="0"/>
              <a:t>d	</a:t>
            </a:r>
            <a:r>
              <a:rPr lang="en-US" dirty="0" smtClean="0"/>
              <a:t>Diameter of the shell,</a:t>
            </a:r>
          </a:p>
          <a:p>
            <a:pPr>
              <a:buNone/>
            </a:pPr>
            <a:r>
              <a:rPr lang="en-US" dirty="0" smtClean="0"/>
              <a:t>		</a:t>
            </a:r>
            <a:r>
              <a:rPr lang="en-US" i="1" dirty="0" smtClean="0"/>
              <a:t>t</a:t>
            </a:r>
            <a:r>
              <a:rPr lang="en-US" dirty="0" smtClean="0"/>
              <a:t>	Thickness of the shell and </a:t>
            </a:r>
          </a:p>
          <a:p>
            <a:pPr lvl="1">
              <a:buNone/>
            </a:pPr>
            <a:r>
              <a:rPr lang="en-US" i="1" dirty="0" smtClean="0"/>
              <a:t>		p	</a:t>
            </a:r>
            <a:r>
              <a:rPr lang="en-US" dirty="0" smtClean="0"/>
              <a:t>Intensity of internal pressure. </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srcRect/>
          <a:stretch>
            <a:fillRect/>
          </a:stretch>
        </p:blipFill>
        <p:spPr bwMode="auto">
          <a:xfrm>
            <a:off x="228600" y="609600"/>
            <a:ext cx="8685944" cy="5410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9</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715000"/>
          </a:xfrm>
        </p:spPr>
        <p:txBody>
          <a:bodyPr>
            <a:normAutofit lnSpcReduction="10000"/>
          </a:bodyPr>
          <a:lstStyle/>
          <a:p>
            <a:pPr>
              <a:buNone/>
            </a:pPr>
            <a:r>
              <a:rPr lang="en-US" b="1" dirty="0" smtClean="0"/>
              <a:t>Longitudinal Stress</a:t>
            </a:r>
            <a:endParaRPr lang="en-US" dirty="0" smtClean="0"/>
          </a:p>
          <a:p>
            <a:r>
              <a:rPr lang="en-US" dirty="0" smtClean="0"/>
              <a:t>Consider the same cylindrical shell, subjected to the same internal pressure as shown Fig. 31.3 </a:t>
            </a:r>
            <a:r>
              <a:rPr lang="en-US" i="1" dirty="0" smtClean="0"/>
              <a:t>(a) </a:t>
            </a:r>
            <a:r>
              <a:rPr lang="en-US" dirty="0" smtClean="0"/>
              <a:t>and </a:t>
            </a:r>
            <a:r>
              <a:rPr lang="en-US" i="1" dirty="0" smtClean="0"/>
              <a:t>(b). </a:t>
            </a:r>
            <a:r>
              <a:rPr lang="en-US" dirty="0" smtClean="0"/>
              <a:t>We know that as a result of the internal pressure, the cylinder also has a to split into two pieces as shown in the figure.</a:t>
            </a:r>
          </a:p>
          <a:p>
            <a:pPr>
              <a:buNone/>
            </a:pPr>
            <a:r>
              <a:rPr lang="en-US" dirty="0" smtClean="0"/>
              <a:t> </a:t>
            </a:r>
          </a:p>
          <a:p>
            <a:r>
              <a:rPr lang="en-US" dirty="0" smtClean="0"/>
              <a:t>Let   </a:t>
            </a:r>
            <a:r>
              <a:rPr lang="en-US" i="1" dirty="0" smtClean="0"/>
              <a:t>p	</a:t>
            </a:r>
            <a:r>
              <a:rPr lang="en-US" dirty="0" smtClean="0"/>
              <a:t>Intensity of internal pressure,</a:t>
            </a:r>
          </a:p>
          <a:p>
            <a:pPr>
              <a:buNone/>
            </a:pPr>
            <a:r>
              <a:rPr lang="en-US" i="1" dirty="0" smtClean="0"/>
              <a:t>		  l	</a:t>
            </a:r>
            <a:r>
              <a:rPr lang="en-US" dirty="0" smtClean="0"/>
              <a:t>Length of the shell,</a:t>
            </a:r>
          </a:p>
          <a:p>
            <a:pPr>
              <a:buNone/>
            </a:pPr>
            <a:r>
              <a:rPr lang="en-US" dirty="0" smtClean="0"/>
              <a:t>		</a:t>
            </a:r>
            <a:r>
              <a:rPr lang="en-US" i="1" dirty="0" smtClean="0"/>
              <a:t>d	</a:t>
            </a:r>
            <a:r>
              <a:rPr lang="en-US" dirty="0" smtClean="0"/>
              <a:t>Diameter of the shell and </a:t>
            </a:r>
          </a:p>
          <a:p>
            <a:pPr>
              <a:buNone/>
            </a:pPr>
            <a:r>
              <a:rPr lang="en-US" dirty="0" smtClean="0"/>
              <a:t>		</a:t>
            </a:r>
            <a:r>
              <a:rPr lang="en-US" i="1" dirty="0" smtClean="0"/>
              <a:t>t</a:t>
            </a:r>
            <a:r>
              <a:rPr lang="en-US" dirty="0" smtClean="0"/>
              <a:t>	Thickness of the shell. </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srcRect/>
          <a:stretch>
            <a:fillRect/>
          </a:stretch>
        </p:blipFill>
        <p:spPr bwMode="auto">
          <a:xfrm>
            <a:off x="152400" y="152400"/>
            <a:ext cx="8686800" cy="6477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pPr>
              <a:buNone/>
            </a:pPr>
            <a:r>
              <a:rPr lang="en-US" sz="4400" i="1" dirty="0" smtClean="0"/>
              <a:t>Example 6-1:</a:t>
            </a:r>
          </a:p>
          <a:p>
            <a:pPr>
              <a:buNone/>
            </a:pPr>
            <a:r>
              <a:rPr lang="en-US" sz="4400" i="1" dirty="0" smtClean="0"/>
              <a:t> A stream boiler of 800 mm diameter is made up of 10 mm thick plates. If the boiler is subjected to an internal pressure of 2.5 MPa, find the circumferential and longitudinal stresses induced in the boiler plates.</a:t>
            </a:r>
            <a:endParaRPr lang="en-US" sz="4400"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3"/>
          <a:srcRect/>
          <a:stretch>
            <a:fillRect/>
          </a:stretch>
        </p:blipFill>
        <p:spPr bwMode="auto">
          <a:xfrm>
            <a:off x="304801" y="457200"/>
            <a:ext cx="8610600" cy="6019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762000"/>
            <a:ext cx="8229600" cy="5016758"/>
          </a:xfrm>
          <a:prstGeom prst="rect">
            <a:avLst/>
          </a:prstGeom>
        </p:spPr>
        <p:txBody>
          <a:bodyPr wrap="square">
            <a:spAutoFit/>
          </a:bodyPr>
          <a:lstStyle/>
          <a:p>
            <a:r>
              <a:rPr lang="en-US" sz="4000" i="1" dirty="0" smtClean="0"/>
              <a:t>Example 6-2: </a:t>
            </a:r>
          </a:p>
          <a:p>
            <a:r>
              <a:rPr lang="en-US" sz="4000" i="1" dirty="0" smtClean="0"/>
              <a:t>A cylindrical shell of 1.3 m diameter is made up of </a:t>
            </a:r>
            <a:r>
              <a:rPr lang="en-US" sz="4000" dirty="0" smtClean="0"/>
              <a:t>18 </a:t>
            </a:r>
            <a:r>
              <a:rPr lang="en-US" sz="4000" i="1" dirty="0" smtClean="0"/>
              <a:t>mm thick plates. Find the circumferential and longitudinal stress in the plates. if the boiler is subjected to an internal pressure of </a:t>
            </a:r>
            <a:r>
              <a:rPr lang="en-US" sz="4000" dirty="0" smtClean="0"/>
              <a:t>2.4 </a:t>
            </a:r>
            <a:r>
              <a:rPr lang="en-US" sz="4000" i="1" dirty="0" smtClean="0"/>
              <a:t>MPa. Take efficiency of the joints as 70%. </a:t>
            </a:r>
            <a:endParaRPr lang="en-US" sz="40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14</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srcRect/>
          <a:stretch>
            <a:fillRect/>
          </a:stretch>
        </p:blipFill>
        <p:spPr bwMode="auto">
          <a:xfrm>
            <a:off x="228600" y="152400"/>
            <a:ext cx="8610600"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US" sz="4400" i="1" dirty="0" smtClean="0"/>
              <a:t>Example 6-.3: </a:t>
            </a:r>
          </a:p>
          <a:p>
            <a:pPr>
              <a:buNone/>
            </a:pPr>
            <a:r>
              <a:rPr lang="en-US" sz="4400" i="1" dirty="0" smtClean="0"/>
              <a:t>A gas cylinder of internal diameter 40 mm is </a:t>
            </a:r>
            <a:r>
              <a:rPr lang="en-US" sz="4400" dirty="0" smtClean="0"/>
              <a:t>5 </a:t>
            </a:r>
            <a:r>
              <a:rPr lang="en-US" sz="4400" i="1" dirty="0" smtClean="0"/>
              <a:t>mm thick, if the tensile stress in the material </a:t>
            </a:r>
            <a:r>
              <a:rPr lang="en-US" sz="4400" dirty="0" smtClean="0"/>
              <a:t>is </a:t>
            </a:r>
            <a:r>
              <a:rPr lang="en-US" sz="4400" i="1" dirty="0" smtClean="0"/>
              <a:t>not to exceed 30 MPa, find the maximum pressure which can be allowed in the cylinder.</a:t>
            </a:r>
            <a:endParaRPr lang="en-US" sz="4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a:srcRect/>
          <a:stretch>
            <a:fillRect/>
          </a:stretch>
        </p:blipFill>
        <p:spPr bwMode="auto">
          <a:xfrm>
            <a:off x="304800" y="304800"/>
            <a:ext cx="84582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Design of Thin Cylindrical Shells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Designing of thin cylindrical shell involves calculating the thickness </a:t>
            </a:r>
            <a:r>
              <a:rPr lang="en-US" i="1" dirty="0" smtClean="0"/>
              <a:t>(t) </a:t>
            </a:r>
            <a:r>
              <a:rPr lang="en-US" dirty="0" smtClean="0"/>
              <a:t>of a cylindrical shell</a:t>
            </a:r>
            <a:r>
              <a:rPr lang="en-US" i="1" dirty="0" smtClean="0"/>
              <a:t>, </a:t>
            </a:r>
            <a:r>
              <a:rPr lang="en-US" dirty="0" smtClean="0"/>
              <a:t>the given length (</a:t>
            </a:r>
            <a:r>
              <a:rPr lang="en-US" i="1" dirty="0" smtClean="0"/>
              <a:t>l), </a:t>
            </a:r>
            <a:r>
              <a:rPr lang="en-US" dirty="0" smtClean="0"/>
              <a:t>diameter </a:t>
            </a:r>
            <a:r>
              <a:rPr lang="en-US" i="1" dirty="0" smtClean="0"/>
              <a:t>(d),</a:t>
            </a:r>
            <a:r>
              <a:rPr lang="en-US" dirty="0" smtClean="0"/>
              <a:t> </a:t>
            </a:r>
            <a:r>
              <a:rPr lang="en-US" i="1" dirty="0" smtClean="0"/>
              <a:t> </a:t>
            </a:r>
            <a:r>
              <a:rPr lang="en-US" dirty="0" smtClean="0"/>
              <a:t>intensity of maximum internal pressure </a:t>
            </a:r>
            <a:r>
              <a:rPr lang="en-US" i="1" dirty="0" smtClean="0"/>
              <a:t>(p) </a:t>
            </a:r>
            <a:r>
              <a:rPr lang="en-US" dirty="0" smtClean="0"/>
              <a:t>and circumference stress </a:t>
            </a:r>
            <a:r>
              <a:rPr lang="en-US" i="1" dirty="0" smtClean="0"/>
              <a:t>(</a:t>
            </a:r>
            <a:r>
              <a:rPr lang="en-US" i="1" dirty="0" err="1" smtClean="0"/>
              <a:t>σ</a:t>
            </a:r>
            <a:r>
              <a:rPr lang="en-US" i="1" baseline="-25000" dirty="0" err="1" smtClean="0"/>
              <a:t>c</a:t>
            </a:r>
            <a:r>
              <a:rPr lang="en-US" i="1" dirty="0" smtClean="0"/>
              <a:t>),</a:t>
            </a:r>
            <a:r>
              <a:rPr lang="en-US" dirty="0" smtClean="0"/>
              <a:t> The required thickness of the shell is calculated from the relation. </a:t>
            </a:r>
          </a:p>
          <a:p>
            <a:endParaRPr lang="en-US" dirty="0" smtClean="0"/>
          </a:p>
          <a:p>
            <a:r>
              <a:rPr lang="en-US" dirty="0" smtClean="0"/>
              <a:t>If the thickness so obtained, is not a round figure, then next higher value is provided. </a:t>
            </a:r>
          </a:p>
          <a:p>
            <a:endParaRPr lang="en-US" dirty="0" smtClean="0"/>
          </a:p>
          <a:p>
            <a:r>
              <a:rPr lang="en-US" dirty="0" smtClean="0"/>
              <a:t>NOTE: The thickness obtained from the longitudinal stress will be half of the thickness obtained from circumferential stress. Thus, it should not be accepted.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buNone/>
            </a:pPr>
            <a:r>
              <a:rPr lang="en-US" sz="2400" i="1" dirty="0" smtClean="0"/>
              <a:t>Example 6-4: </a:t>
            </a:r>
          </a:p>
          <a:p>
            <a:r>
              <a:rPr lang="en-US" sz="2400" i="1" dirty="0" smtClean="0"/>
              <a:t>A</a:t>
            </a:r>
            <a:r>
              <a:rPr lang="en-US" sz="2400" dirty="0" smtClean="0"/>
              <a:t> </a:t>
            </a:r>
            <a:r>
              <a:rPr lang="en-US" sz="2400" i="1" dirty="0" smtClean="0"/>
              <a:t>thin cylindrical shell of4oo mm diameter is to be designed for an internal pressure of </a:t>
            </a:r>
            <a:r>
              <a:rPr lang="en-US" sz="2400" dirty="0" smtClean="0"/>
              <a:t>2.4 </a:t>
            </a:r>
            <a:r>
              <a:rPr lang="en-US" sz="2400" i="1" dirty="0" smtClean="0"/>
              <a:t>MPa. Find the suitable thickness of the shell, if the allowable circumferential stress is 50 MPa</a:t>
            </a:r>
            <a:r>
              <a:rPr lang="en-US" sz="4000" i="1" dirty="0" smtClean="0"/>
              <a:t>. </a:t>
            </a:r>
            <a:endParaRPr lang="en-US" sz="4000" dirty="0" smtClean="0"/>
          </a:p>
          <a:p>
            <a:endParaRPr lang="en-US" dirty="0"/>
          </a:p>
        </p:txBody>
      </p:sp>
      <p:pic>
        <p:nvPicPr>
          <p:cNvPr id="4" name="Picture 2"/>
          <p:cNvPicPr>
            <a:picLocks noChangeAspect="1" noChangeArrowheads="1"/>
          </p:cNvPicPr>
          <p:nvPr/>
        </p:nvPicPr>
        <p:blipFill>
          <a:blip r:embed="rId3"/>
          <a:srcRect/>
          <a:stretch>
            <a:fillRect/>
          </a:stretch>
        </p:blipFill>
        <p:spPr bwMode="auto">
          <a:xfrm>
            <a:off x="152400" y="2514600"/>
            <a:ext cx="8763000" cy="37338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normAutofit fontScale="92500"/>
          </a:bodyPr>
          <a:lstStyle/>
          <a:p>
            <a:pPr>
              <a:buNone/>
            </a:pPr>
            <a:r>
              <a:rPr lang="en-US" sz="4000" i="1" dirty="0" smtClean="0"/>
              <a:t>Example</a:t>
            </a:r>
            <a:r>
              <a:rPr lang="en-US" sz="4000" dirty="0" smtClean="0"/>
              <a:t> 6-5:</a:t>
            </a:r>
            <a:r>
              <a:rPr lang="en-US" sz="4000" i="1" dirty="0" smtClean="0"/>
              <a:t> </a:t>
            </a:r>
          </a:p>
          <a:p>
            <a:pPr>
              <a:buNone/>
            </a:pPr>
            <a:r>
              <a:rPr lang="en-US" sz="4000" i="1" dirty="0" smtClean="0"/>
              <a:t>A cylindrical shell of 500 mm diameter is required to withstand an. internal pressure of </a:t>
            </a:r>
            <a:r>
              <a:rPr lang="en-US" sz="4000" dirty="0" smtClean="0"/>
              <a:t>4 </a:t>
            </a:r>
            <a:r>
              <a:rPr lang="en-US" sz="4000" i="1" dirty="0" smtClean="0"/>
              <a:t>MPa. Find the minimum thickness of the shell, if maximum tensile strength in the plate material is 400 MPa and efficiency of the joints is </a:t>
            </a:r>
            <a:r>
              <a:rPr lang="en-US" sz="4000" dirty="0" smtClean="0"/>
              <a:t>65%. </a:t>
            </a:r>
            <a:r>
              <a:rPr lang="en-US" sz="4000" i="1" dirty="0" smtClean="0"/>
              <a:t>Take factor of safety as 5</a:t>
            </a:r>
            <a:r>
              <a:rPr lang="en-US" i="1" dirty="0" smtClean="0"/>
              <a:t>. </a:t>
            </a:r>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srcRect/>
          <a:stretch>
            <a:fillRect/>
          </a:stretch>
        </p:blipFill>
        <p:spPr bwMode="auto">
          <a:xfrm>
            <a:off x="228600" y="457200"/>
            <a:ext cx="8763000" cy="5791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t>Change in Dimensions due to Internal Pressure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We have already discussed in the chapter on Elastic Constants that lateral strain is always accompanied by a linear strain. It is thus obvious that in a thin cylindrical shell subjected to an internal pressure, its wall will also be subjected to lateral strain. The effect of the lateral strains is to cause some change in the dimensions </a:t>
            </a:r>
            <a:r>
              <a:rPr lang="en-US" i="1" dirty="0" smtClean="0"/>
              <a:t>(i.e., </a:t>
            </a:r>
            <a:r>
              <a:rPr lang="en-US" dirty="0" smtClean="0"/>
              <a:t>length and diameter) of the shell. Now consider a thin cylindrical shell subjected to an internal pressure. </a:t>
            </a:r>
          </a:p>
          <a:p>
            <a:endParaRPr lang="en-US" dirty="0" smtClean="0"/>
          </a:p>
          <a:p>
            <a:r>
              <a:rPr lang="en-US" dirty="0" smtClean="0"/>
              <a:t>Let 	</a:t>
            </a:r>
            <a:r>
              <a:rPr lang="en-US" i="1" dirty="0" smtClean="0"/>
              <a:t>l 	</a:t>
            </a:r>
            <a:r>
              <a:rPr lang="en-US" dirty="0" smtClean="0"/>
              <a:t>Length of the shell, </a:t>
            </a:r>
          </a:p>
          <a:p>
            <a:pPr>
              <a:buNone/>
            </a:pPr>
            <a:r>
              <a:rPr lang="en-US" dirty="0" smtClean="0"/>
              <a:t>		</a:t>
            </a:r>
            <a:r>
              <a:rPr lang="en-US" i="1" dirty="0" smtClean="0"/>
              <a:t>d</a:t>
            </a:r>
            <a:r>
              <a:rPr lang="en-US" dirty="0" smtClean="0"/>
              <a:t>	Diameter of (he shell. </a:t>
            </a:r>
          </a:p>
          <a:p>
            <a:pPr lvl="1">
              <a:buNone/>
            </a:pPr>
            <a:r>
              <a:rPr lang="en-US" i="1" dirty="0" smtClean="0"/>
              <a:t>		t</a:t>
            </a:r>
            <a:r>
              <a:rPr lang="en-US" dirty="0" smtClean="0"/>
              <a:t>	Thickness of the shell and </a:t>
            </a:r>
          </a:p>
          <a:p>
            <a:pPr>
              <a:buNone/>
            </a:pPr>
            <a:r>
              <a:rPr lang="en-US" dirty="0" smtClean="0"/>
              <a:t>		</a:t>
            </a:r>
            <a:r>
              <a:rPr lang="en-US" i="1" dirty="0" smtClean="0"/>
              <a:t>p 	</a:t>
            </a:r>
            <a:r>
              <a:rPr lang="en-US" dirty="0" smtClean="0"/>
              <a:t>Intensity of the internal pressure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a:srcRect/>
          <a:stretch>
            <a:fillRect/>
          </a:stretch>
        </p:blipFill>
        <p:spPr bwMode="auto">
          <a:xfrm>
            <a:off x="228600" y="381000"/>
            <a:ext cx="8610600" cy="5410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a:srcRect/>
          <a:stretch>
            <a:fillRect/>
          </a:stretch>
        </p:blipFill>
        <p:spPr bwMode="auto">
          <a:xfrm>
            <a:off x="228600" y="914400"/>
            <a:ext cx="8610599" cy="4495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i="1" dirty="0" smtClean="0"/>
              <a:t>Example 6-6</a:t>
            </a:r>
            <a:r>
              <a:rPr lang="en-US" u="sng" dirty="0" smtClean="0"/>
              <a:t>:</a:t>
            </a:r>
            <a:r>
              <a:rPr lang="en-US" i="1" dirty="0" smtClean="0"/>
              <a:t> </a:t>
            </a:r>
          </a:p>
          <a:p>
            <a:r>
              <a:rPr lang="en-US" sz="2400" i="1" dirty="0" smtClean="0"/>
              <a:t>A cylindrical thin drum 800 </a:t>
            </a:r>
            <a:r>
              <a:rPr lang="en-US" sz="2400" dirty="0" smtClean="0"/>
              <a:t>mm </a:t>
            </a:r>
            <a:r>
              <a:rPr lang="en-US" sz="2400" i="1" dirty="0" smtClean="0"/>
              <a:t>in diameter and </a:t>
            </a:r>
            <a:r>
              <a:rPr lang="en-US" sz="2400" dirty="0" smtClean="0"/>
              <a:t>4 </a:t>
            </a:r>
            <a:r>
              <a:rPr lang="en-US" sz="2400" i="1" dirty="0" smtClean="0"/>
              <a:t>m long is made of 1.0 mm thick plates. If the drum is subjected to an internal pressure of </a:t>
            </a:r>
            <a:r>
              <a:rPr lang="en-US" sz="2400" dirty="0" smtClean="0"/>
              <a:t>2.5 </a:t>
            </a:r>
            <a:r>
              <a:rPr lang="en-US" sz="2400" i="1" dirty="0" smtClean="0"/>
              <a:t>MPa, determine its changes in diameter and length Take E as 200 GPa and Poisson's ratio as 0.25.</a:t>
            </a:r>
          </a:p>
          <a:p>
            <a:endParaRPr lang="en-US" sz="2400" dirty="0" smtClean="0"/>
          </a:p>
          <a:p>
            <a:endParaRPr lang="en-US" dirty="0"/>
          </a:p>
        </p:txBody>
      </p:sp>
      <p:pic>
        <p:nvPicPr>
          <p:cNvPr id="6" name="Picture 2"/>
          <p:cNvPicPr>
            <a:picLocks noChangeAspect="1" noChangeArrowheads="1"/>
          </p:cNvPicPr>
          <p:nvPr/>
        </p:nvPicPr>
        <p:blipFill>
          <a:blip r:embed="rId3"/>
          <a:srcRect/>
          <a:stretch>
            <a:fillRect/>
          </a:stretch>
        </p:blipFill>
        <p:spPr bwMode="auto">
          <a:xfrm>
            <a:off x="228600" y="2743200"/>
            <a:ext cx="8763000" cy="39624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srcRect/>
          <a:stretch>
            <a:fillRect/>
          </a:stretch>
        </p:blipFill>
        <p:spPr bwMode="auto">
          <a:xfrm>
            <a:off x="304800" y="381000"/>
            <a:ext cx="8458200" cy="6096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26</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3"/>
          <a:srcRect/>
          <a:stretch>
            <a:fillRect/>
          </a:stretch>
        </p:blipFill>
        <p:spPr bwMode="auto">
          <a:xfrm>
            <a:off x="228600" y="381000"/>
            <a:ext cx="8610600" cy="6172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lnSpcReduction="10000"/>
          </a:bodyPr>
          <a:lstStyle/>
          <a:p>
            <a:pPr>
              <a:buNone/>
            </a:pPr>
            <a:r>
              <a:rPr lang="en-US" sz="4400" i="1" dirty="0" smtClean="0"/>
              <a:t>Example .6-7: </a:t>
            </a:r>
          </a:p>
          <a:p>
            <a:r>
              <a:rPr lang="en-US" sz="4400" dirty="0" smtClean="0"/>
              <a:t>A </a:t>
            </a:r>
            <a:r>
              <a:rPr lang="en-US" sz="4400" i="1" dirty="0" smtClean="0"/>
              <a:t>cylindrical vessel </a:t>
            </a:r>
            <a:r>
              <a:rPr lang="en-US" sz="4400" dirty="0" smtClean="0"/>
              <a:t>2 </a:t>
            </a:r>
            <a:r>
              <a:rPr lang="en-US" sz="4400" i="1" dirty="0" smtClean="0"/>
              <a:t>m. long and 500 mm in diameter with </a:t>
            </a:r>
            <a:r>
              <a:rPr lang="en-US" sz="4400" dirty="0" smtClean="0"/>
              <a:t>10 </a:t>
            </a:r>
            <a:r>
              <a:rPr lang="en-US" sz="4400" i="1" dirty="0" smtClean="0"/>
              <a:t>mm thick plates is subjected to an internal pressure of </a:t>
            </a:r>
            <a:r>
              <a:rPr lang="en-US" sz="4400" dirty="0" smtClean="0"/>
              <a:t>3 </a:t>
            </a:r>
            <a:r>
              <a:rPr lang="en-US" sz="4400" i="1" dirty="0" smtClean="0"/>
              <a:t>MPa. Calculate the change in volume of the vessel. Take E 200 GPa and. Poisson's ratio </a:t>
            </a:r>
            <a:r>
              <a:rPr lang="en-US" sz="4400" dirty="0" smtClean="0"/>
              <a:t>= </a:t>
            </a:r>
            <a:r>
              <a:rPr lang="en-US" sz="4400" i="1" dirty="0" smtClean="0"/>
              <a:t>0.3 for the vessel material. </a:t>
            </a:r>
            <a:endParaRPr lang="en-US" sz="4400"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3"/>
          <a:srcRect/>
          <a:stretch>
            <a:fillRect/>
          </a:stretch>
        </p:blipFill>
        <p:spPr bwMode="auto">
          <a:xfrm>
            <a:off x="304800" y="152400"/>
            <a:ext cx="8534400" cy="6553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29</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Application of Thin Cylindrical Shells </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Riveted Cylindrical Shells</a:t>
            </a:r>
          </a:p>
          <a:p>
            <a:pPr>
              <a:buNone/>
            </a:pPr>
            <a:endParaRPr lang="en-US" dirty="0" smtClean="0"/>
          </a:p>
          <a:p>
            <a:r>
              <a:rPr lang="en-US" dirty="0" smtClean="0"/>
              <a:t>Sometimes, boilers of the desired capacity arc made of cylindrical shape by joining different plates usually by rivets. This is generally done:</a:t>
            </a:r>
          </a:p>
          <a:p>
            <a:endParaRPr lang="en-US" dirty="0" smtClean="0"/>
          </a:p>
          <a:p>
            <a:r>
              <a:rPr lang="en-US" dirty="0" smtClean="0"/>
              <a:t>by bending the plates to the required diameter and then joining them by a butt joint and </a:t>
            </a:r>
          </a:p>
          <a:p>
            <a:pPr>
              <a:buNone/>
            </a:pPr>
            <a:endParaRPr lang="en-US" dirty="0" smtClean="0"/>
          </a:p>
          <a:p>
            <a:pPr lvl="0"/>
            <a:r>
              <a:rPr lang="en-US" dirty="0" smtClean="0"/>
              <a:t>by joining individually fabricated shells by a lap joint as shown in Fig. 31.5 </a:t>
            </a:r>
            <a:r>
              <a:rPr lang="en-US" i="1" dirty="0" smtClean="0"/>
              <a:t>(a) </a:t>
            </a:r>
            <a:r>
              <a:rPr lang="en-US" dirty="0" smtClean="0"/>
              <a:t>and </a:t>
            </a:r>
            <a:r>
              <a:rPr lang="en-US" i="1" dirty="0" smtClean="0"/>
              <a:t>(b). </a:t>
            </a:r>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3"/>
          <a:srcRect/>
          <a:stretch>
            <a:fillRect/>
          </a:stretch>
        </p:blipFill>
        <p:spPr bwMode="auto">
          <a:xfrm>
            <a:off x="228600" y="762000"/>
            <a:ext cx="8686800" cy="5181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3"/>
          <a:srcRect/>
          <a:stretch>
            <a:fillRect/>
          </a:stretch>
        </p:blipFill>
        <p:spPr bwMode="auto">
          <a:xfrm>
            <a:off x="304800" y="152400"/>
            <a:ext cx="8610600"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91200"/>
          </a:xfrm>
        </p:spPr>
        <p:txBody>
          <a:bodyPr>
            <a:normAutofit/>
          </a:bodyPr>
          <a:lstStyle/>
          <a:p>
            <a:pPr>
              <a:buNone/>
            </a:pPr>
            <a:r>
              <a:rPr lang="en-US" i="1" dirty="0" smtClean="0"/>
              <a:t>Example 6-8: </a:t>
            </a:r>
          </a:p>
          <a:p>
            <a:pPr>
              <a:buNone/>
            </a:pPr>
            <a:r>
              <a:rPr lang="en-US" i="1" dirty="0" smtClean="0"/>
              <a:t>A boiler of shell of 2 m diameter is made up of mild steel plate of 20 mm thick: The efficiency of the longitudinal and circumferential joints is 70% and 60% respectively. Determine the safe pressure in the boiler; if the permissible tensile stress in the plate section through the rivets is 100 MPa. Also, determine the circumferential stress in the plate and longitudinal stress through the rivets.</a:t>
            </a:r>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3"/>
          <a:srcRect/>
          <a:stretch>
            <a:fillRect/>
          </a:stretch>
        </p:blipFill>
        <p:spPr bwMode="auto">
          <a:xfrm>
            <a:off x="228600" y="304800"/>
            <a:ext cx="86868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Wire-Bound Thin Cylindrical Shells</a:t>
            </a:r>
            <a:endParaRPr lang="en-US" dirty="0"/>
          </a:p>
        </p:txBody>
      </p:sp>
      <p:sp>
        <p:nvSpPr>
          <p:cNvPr id="3" name="Content Placeholder 2"/>
          <p:cNvSpPr>
            <a:spLocks noGrp="1"/>
          </p:cNvSpPr>
          <p:nvPr>
            <p:ph idx="1"/>
          </p:nvPr>
        </p:nvSpPr>
        <p:spPr/>
        <p:txBody>
          <a:bodyPr/>
          <a:lstStyle/>
          <a:p>
            <a:r>
              <a:rPr lang="en-US" dirty="0" smtClean="0"/>
              <a:t>Sometimes, we have to strengthen a cylindrical shell against bursting in longitudinal section </a:t>
            </a:r>
            <a:r>
              <a:rPr lang="en-US" i="1" dirty="0" smtClean="0"/>
              <a:t>(i.e., </a:t>
            </a:r>
            <a:r>
              <a:rPr lang="en-US" dirty="0" smtClean="0"/>
              <a:t>due to hoop or circumferential stress). </a:t>
            </a:r>
          </a:p>
          <a:p>
            <a:r>
              <a:rPr lang="en-US" dirty="0" smtClean="0"/>
              <a:t>This is done by winding a wire under tension, closely round the shell as shown in Fig. 31.6. Its effect will be to put the cylinder wall under initial compressive stress.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124200"/>
            <a:ext cx="8077200" cy="3001963"/>
          </a:xfrm>
        </p:spPr>
        <p:txBody>
          <a:bodyPr>
            <a:normAutofit fontScale="62500" lnSpcReduction="20000"/>
          </a:bodyPr>
          <a:lstStyle/>
          <a:p>
            <a:r>
              <a:rPr lang="en-US" dirty="0" smtClean="0"/>
              <a:t>A little consideration will show that now if the internal pressure of the shell is increased, the bursting force will be resisted jointly by the shell section and the wires. It is thus obvious that a wire bound shell can withstand a greater internal pressure than an ordinary shell. In actual practice the winding wire is made of a high tensile material.</a:t>
            </a:r>
          </a:p>
          <a:p>
            <a:endParaRPr lang="en-US" dirty="0" smtClean="0"/>
          </a:p>
          <a:p>
            <a:r>
              <a:rPr lang="en-US" dirty="0" smtClean="0"/>
              <a:t>In such cases, the bursting force (due to internal pressure) per cm length is equal to the resisting force (due to pipe section + wire section). The circumferential strain in the pipe is also equal to the strain in the steel wire</a:t>
            </a:r>
            <a:r>
              <a:rPr lang="en-US" u="sng" dirty="0" smtClean="0"/>
              <a:t>.</a:t>
            </a:r>
            <a:r>
              <a:rPr lang="en-US" dirty="0" smtClean="0"/>
              <a:t> The following example will illustrate the above mentioned statements.</a:t>
            </a:r>
          </a:p>
          <a:p>
            <a:endParaRPr lang="en-US" dirty="0"/>
          </a:p>
        </p:txBody>
      </p:sp>
      <p:pic>
        <p:nvPicPr>
          <p:cNvPr id="19458" name="Picture 2"/>
          <p:cNvPicPr>
            <a:picLocks noChangeAspect="1" noChangeArrowheads="1"/>
          </p:cNvPicPr>
          <p:nvPr/>
        </p:nvPicPr>
        <p:blipFill>
          <a:blip r:embed="rId3"/>
          <a:srcRect/>
          <a:stretch>
            <a:fillRect/>
          </a:stretch>
        </p:blipFill>
        <p:spPr bwMode="auto">
          <a:xfrm>
            <a:off x="304800" y="304800"/>
            <a:ext cx="8185303" cy="2667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a:bodyPr>
          <a:lstStyle/>
          <a:p>
            <a:pPr>
              <a:buNone/>
            </a:pPr>
            <a:r>
              <a:rPr lang="en-US" sz="3500" i="1" dirty="0" smtClean="0"/>
              <a:t>Example 6-9</a:t>
            </a:r>
            <a:r>
              <a:rPr lang="en-US" sz="3500" dirty="0" smtClean="0"/>
              <a:t>: </a:t>
            </a:r>
          </a:p>
          <a:p>
            <a:r>
              <a:rPr lang="en-US" sz="3500" dirty="0" smtClean="0"/>
              <a:t>A </a:t>
            </a:r>
            <a:r>
              <a:rPr lang="en-US" sz="3500" i="1" dirty="0" smtClean="0"/>
              <a:t>cast iron pipe of 300 mm internal diameter and 12</a:t>
            </a:r>
            <a:r>
              <a:rPr lang="en-US" sz="3500" dirty="0" smtClean="0"/>
              <a:t> </a:t>
            </a:r>
            <a:r>
              <a:rPr lang="en-US" sz="3500" i="1" dirty="0" smtClean="0"/>
              <a:t>mm. thick is wound closely with a single layer of circular steel wire of </a:t>
            </a:r>
            <a:r>
              <a:rPr lang="en-US" sz="3500" dirty="0" smtClean="0"/>
              <a:t>5 </a:t>
            </a:r>
            <a:r>
              <a:rPr lang="en-US" sz="3500" i="1" dirty="0" smtClean="0"/>
              <a:t>mm diameter under a tension of 60 MPa. Find the initial compressive stress in the pipe section. Also find the stresses set up in the pipe and</a:t>
            </a:r>
            <a:r>
              <a:rPr lang="en-US" sz="3500" dirty="0" smtClean="0"/>
              <a:t> </a:t>
            </a:r>
            <a:r>
              <a:rPr lang="en-US" sz="3500" i="1" dirty="0" smtClean="0"/>
              <a:t>steel wire when water under a pressure of </a:t>
            </a:r>
            <a:r>
              <a:rPr lang="en-US" sz="3500" dirty="0" smtClean="0"/>
              <a:t>4 </a:t>
            </a:r>
            <a:r>
              <a:rPr lang="en-US" sz="3500" i="1" dirty="0" smtClean="0"/>
              <a:t>MPa is admitted into the pipe. Take E for cast iron and steel as 100 GPa and 200 GPa respectively. Poisson's ratio </a:t>
            </a:r>
            <a:r>
              <a:rPr lang="en-US" sz="3500" dirty="0" smtClean="0"/>
              <a:t>= </a:t>
            </a:r>
            <a:r>
              <a:rPr lang="en-US" sz="3500" i="1" dirty="0" smtClean="0"/>
              <a:t>0.3.</a:t>
            </a:r>
            <a:endParaRPr lang="en-US" sz="3500"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3"/>
          <a:srcRect/>
          <a:stretch>
            <a:fillRect/>
          </a:stretch>
        </p:blipFill>
        <p:spPr bwMode="auto">
          <a:xfrm>
            <a:off x="152400" y="304800"/>
            <a:ext cx="87630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38</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3"/>
          <a:srcRect/>
          <a:stretch>
            <a:fillRect/>
          </a:stretch>
        </p:blipFill>
        <p:spPr bwMode="auto">
          <a:xfrm>
            <a:off x="228600" y="304800"/>
            <a:ext cx="86106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39</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3"/>
          <a:srcRect/>
          <a:stretch>
            <a:fillRect/>
          </a:stretch>
        </p:blipFill>
        <p:spPr bwMode="auto">
          <a:xfrm>
            <a:off x="304800" y="228600"/>
            <a:ext cx="8603782"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40</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Self Assessment</a:t>
            </a:r>
            <a:endParaRPr lang="en-US" dirty="0"/>
          </a:p>
        </p:txBody>
      </p:sp>
      <p:sp>
        <p:nvSpPr>
          <p:cNvPr id="3" name="Content Placeholder 2"/>
          <p:cNvSpPr>
            <a:spLocks noGrp="1"/>
          </p:cNvSpPr>
          <p:nvPr>
            <p:ph idx="1"/>
          </p:nvPr>
        </p:nvSpPr>
        <p:spPr/>
        <p:txBody>
          <a:bodyPr/>
          <a:lstStyle/>
          <a:p>
            <a:pPr>
              <a:buNone/>
            </a:pPr>
            <a:r>
              <a:rPr lang="en-US" dirty="0" smtClean="0"/>
              <a:t>Derive the equations for the </a:t>
            </a:r>
          </a:p>
          <a:p>
            <a:pPr lvl="0"/>
            <a:r>
              <a:rPr lang="en-US" dirty="0" smtClean="0"/>
              <a:t>Longitudinal stress and hood stress</a:t>
            </a:r>
          </a:p>
          <a:p>
            <a:pPr lvl="0"/>
            <a:r>
              <a:rPr lang="en-US" dirty="0" smtClean="0"/>
              <a:t>Longitudinal strain and hood strain</a:t>
            </a:r>
          </a:p>
          <a:p>
            <a:pPr>
              <a:buNone/>
            </a:pPr>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cap="all" dirty="0" smtClean="0"/>
              <a:t>THIN </a:t>
            </a:r>
            <a:r>
              <a:rPr lang="en-US" b="1" dirty="0" smtClean="0"/>
              <a:t>SPHERICAL SHELLS</a:t>
            </a:r>
            <a:endParaRPr lang="en-US" dirty="0"/>
          </a:p>
        </p:txBody>
      </p:sp>
      <p:sp>
        <p:nvSpPr>
          <p:cNvPr id="3" name="Content Placeholder 2"/>
          <p:cNvSpPr>
            <a:spLocks noGrp="1"/>
          </p:cNvSpPr>
          <p:nvPr>
            <p:ph idx="1"/>
          </p:nvPr>
        </p:nvSpPr>
        <p:spPr>
          <a:xfrm>
            <a:off x="457200" y="1447800"/>
            <a:ext cx="8229600" cy="4953000"/>
          </a:xfrm>
        </p:spPr>
        <p:txBody>
          <a:bodyPr>
            <a:normAutofit/>
          </a:bodyPr>
          <a:lstStyle/>
          <a:p>
            <a:pPr>
              <a:buNone/>
            </a:pPr>
            <a:r>
              <a:rPr lang="en-US" b="1" dirty="0" smtClean="0"/>
              <a:t>Stresses in Thin Spherical Shells</a:t>
            </a:r>
            <a:endParaRPr lang="en-US" dirty="0" smtClean="0"/>
          </a:p>
          <a:p>
            <a:pPr>
              <a:buNone/>
            </a:pPr>
            <a:endParaRPr lang="en-US" dirty="0" smtClean="0"/>
          </a:p>
          <a:p>
            <a:r>
              <a:rPr lang="en-US" dirty="0" smtClean="0"/>
              <a:t>Consider a thin spherical shell subjected to an internal pressure a shown in the figure below</a:t>
            </a:r>
            <a:endParaRPr lang="en-US" dirty="0"/>
          </a:p>
        </p:txBody>
      </p:sp>
      <p:pic>
        <p:nvPicPr>
          <p:cNvPr id="1027" name="Picture 3"/>
          <p:cNvPicPr>
            <a:picLocks noChangeAspect="1" noChangeArrowheads="1"/>
          </p:cNvPicPr>
          <p:nvPr/>
        </p:nvPicPr>
        <p:blipFill>
          <a:blip r:embed="rId3"/>
          <a:srcRect/>
          <a:stretch>
            <a:fillRect/>
          </a:stretch>
        </p:blipFill>
        <p:spPr bwMode="auto">
          <a:xfrm>
            <a:off x="2819400" y="3657600"/>
            <a:ext cx="3581400" cy="2895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42</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r>
              <a:rPr lang="en-US" dirty="0" smtClean="0"/>
              <a:t>Let 		</a:t>
            </a:r>
            <a:r>
              <a:rPr lang="en-US" i="1" dirty="0" smtClean="0"/>
              <a:t>p 	</a:t>
            </a:r>
            <a:r>
              <a:rPr lang="en-US" dirty="0" smtClean="0"/>
              <a:t>Intensity of internal pressure, </a:t>
            </a:r>
          </a:p>
          <a:p>
            <a:pPr>
              <a:buNone/>
            </a:pPr>
            <a:r>
              <a:rPr lang="en-US" i="1" dirty="0" smtClean="0"/>
              <a:t>			d </a:t>
            </a:r>
            <a:r>
              <a:rPr lang="en-US" dirty="0" smtClean="0"/>
              <a:t>= Diameter of the shell and </a:t>
            </a:r>
          </a:p>
          <a:p>
            <a:pPr>
              <a:buNone/>
            </a:pPr>
            <a:r>
              <a:rPr lang="en-US" i="1" dirty="0" smtClean="0"/>
              <a:t>			T	</a:t>
            </a:r>
            <a:r>
              <a:rPr lang="en-US" dirty="0" smtClean="0"/>
              <a:t>Thickness of the shell, </a:t>
            </a:r>
          </a:p>
          <a:p>
            <a:pPr>
              <a:buNone/>
            </a:pPr>
            <a:r>
              <a:rPr lang="en-US" dirty="0" smtClean="0"/>
              <a:t> </a:t>
            </a:r>
          </a:p>
          <a:p>
            <a:r>
              <a:rPr lang="en-US" dirty="0" smtClean="0"/>
              <a:t>As a result of this internal pressure, the shell </a:t>
            </a:r>
            <a:r>
              <a:rPr lang="en-US" i="1" dirty="0" smtClean="0"/>
              <a:t>is </a:t>
            </a:r>
            <a:r>
              <a:rPr lang="en-US" dirty="0" smtClean="0"/>
              <a:t>likely to be torn away along the centre of the sphere. </a:t>
            </a:r>
          </a:p>
          <a:p>
            <a:endParaRPr lang="en-US" dirty="0" smtClean="0"/>
          </a:p>
          <a:p>
            <a:r>
              <a:rPr lang="en-US" dirty="0" smtClean="0"/>
              <a:t>Therefore total pressure acting along the centre of the sphere</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srcRect/>
          <a:stretch>
            <a:fillRect/>
          </a:stretch>
        </p:blipFill>
        <p:spPr bwMode="auto">
          <a:xfrm>
            <a:off x="228600" y="304800"/>
            <a:ext cx="8534400" cy="6096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sz="4000" i="1" dirty="0" smtClean="0"/>
              <a:t>Example 6-10: </a:t>
            </a:r>
          </a:p>
          <a:p>
            <a:r>
              <a:rPr lang="en-US" sz="2800" i="1" dirty="0" smtClean="0"/>
              <a:t>A spherical gas vessel of </a:t>
            </a:r>
            <a:r>
              <a:rPr lang="en-US" sz="2800" dirty="0" smtClean="0"/>
              <a:t>1.2 </a:t>
            </a:r>
            <a:r>
              <a:rPr lang="en-US" sz="2800" i="1" dirty="0" smtClean="0"/>
              <a:t>m diameter is subjected to a pressure of 1.8 MPa. Determine the stress induced in the vessel plate, if its thickness is </a:t>
            </a:r>
            <a:r>
              <a:rPr lang="en-US" sz="2800" dirty="0" smtClean="0"/>
              <a:t>5 </a:t>
            </a:r>
            <a:r>
              <a:rPr lang="en-US" sz="2800" i="1" dirty="0" smtClean="0"/>
              <a:t>mm</a:t>
            </a:r>
            <a:r>
              <a:rPr lang="en-US" i="1" dirty="0" smtClean="0"/>
              <a:t>. </a:t>
            </a:r>
            <a:endParaRPr lang="en-US" dirty="0" smtClean="0"/>
          </a:p>
          <a:p>
            <a:endParaRPr lang="en-US" dirty="0"/>
          </a:p>
        </p:txBody>
      </p:sp>
      <p:pic>
        <p:nvPicPr>
          <p:cNvPr id="4" name="Picture 2"/>
          <p:cNvPicPr>
            <a:picLocks noChangeAspect="1" noChangeArrowheads="1"/>
          </p:cNvPicPr>
          <p:nvPr/>
        </p:nvPicPr>
        <p:blipFill>
          <a:blip r:embed="rId3"/>
          <a:srcRect/>
          <a:stretch>
            <a:fillRect/>
          </a:stretch>
        </p:blipFill>
        <p:spPr bwMode="auto">
          <a:xfrm>
            <a:off x="228600" y="2514600"/>
            <a:ext cx="8610600" cy="4038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45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pPr>
              <a:buNone/>
            </a:pPr>
            <a:r>
              <a:rPr lang="en-US" i="1" dirty="0" smtClean="0"/>
              <a:t>Example 11: </a:t>
            </a:r>
          </a:p>
          <a:p>
            <a:r>
              <a:rPr lang="en-US" sz="2800" i="1" dirty="0" smtClean="0"/>
              <a:t>A spherical vessel of </a:t>
            </a:r>
            <a:r>
              <a:rPr lang="en-US" sz="2800" dirty="0" smtClean="0"/>
              <a:t>2 </a:t>
            </a:r>
            <a:r>
              <a:rPr lang="en-US" sz="2800" i="1" dirty="0" smtClean="0"/>
              <a:t>m diameter is subjected to an internal pressure of 2 MPa. Find the minimum thickness of the plates required. if the maximum stress is not to exceed 100 MPa. Take efficiency of the joint as 80%. </a:t>
            </a:r>
            <a:endParaRPr lang="en-US" sz="2800" dirty="0" smtClean="0"/>
          </a:p>
          <a:p>
            <a:endParaRPr lang="en-US" dirty="0"/>
          </a:p>
        </p:txBody>
      </p:sp>
      <p:pic>
        <p:nvPicPr>
          <p:cNvPr id="4" name="Picture 2"/>
          <p:cNvPicPr>
            <a:picLocks noChangeAspect="1" noChangeArrowheads="1"/>
          </p:cNvPicPr>
          <p:nvPr/>
        </p:nvPicPr>
        <p:blipFill>
          <a:blip r:embed="rId3"/>
          <a:srcRect/>
          <a:stretch>
            <a:fillRect/>
          </a:stretch>
        </p:blipFill>
        <p:spPr bwMode="auto">
          <a:xfrm>
            <a:off x="152400" y="2971800"/>
            <a:ext cx="8686800" cy="3657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46</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b="1" dirty="0" smtClean="0"/>
              <a:t>Change in Diameter and Volume due to an Internal Pressure</a:t>
            </a:r>
            <a:endParaRPr lang="en-US" dirty="0"/>
          </a:p>
        </p:txBody>
      </p:sp>
      <p:sp>
        <p:nvSpPr>
          <p:cNvPr id="3" name="Content Placeholder 2"/>
          <p:cNvSpPr>
            <a:spLocks noGrp="1"/>
          </p:cNvSpPr>
          <p:nvPr>
            <p:ph idx="1"/>
          </p:nvPr>
        </p:nvSpPr>
        <p:spPr/>
        <p:txBody>
          <a:bodyPr/>
          <a:lstStyle/>
          <a:p>
            <a:r>
              <a:rPr lang="en-US" dirty="0" smtClean="0"/>
              <a:t>Consider a thin spherical shell subjected to an internal pressure. </a:t>
            </a:r>
          </a:p>
          <a:p>
            <a:r>
              <a:rPr lang="en-US" dirty="0" smtClean="0"/>
              <a:t>Let 	</a:t>
            </a:r>
            <a:r>
              <a:rPr lang="en-US" i="1" dirty="0" smtClean="0"/>
              <a:t>d </a:t>
            </a:r>
            <a:r>
              <a:rPr lang="en-US" dirty="0" smtClean="0"/>
              <a:t>= Diameter of the shell, </a:t>
            </a:r>
          </a:p>
          <a:p>
            <a:pPr>
              <a:buNone/>
            </a:pPr>
            <a:r>
              <a:rPr lang="en-US" i="1" dirty="0" smtClean="0"/>
              <a:t>		P	</a:t>
            </a:r>
            <a:r>
              <a:rPr lang="en-US" dirty="0" smtClean="0"/>
              <a:t>Intensity of internal pressure and </a:t>
            </a:r>
          </a:p>
          <a:p>
            <a:pPr>
              <a:buNone/>
            </a:pPr>
            <a:r>
              <a:rPr lang="en-US" i="1" dirty="0" smtClean="0"/>
              <a:t>		t	</a:t>
            </a:r>
            <a:r>
              <a:rPr lang="en-US" dirty="0" smtClean="0"/>
              <a:t>Thickness of the shell.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srcRect/>
          <a:stretch>
            <a:fillRect/>
          </a:stretch>
        </p:blipFill>
        <p:spPr bwMode="auto">
          <a:xfrm>
            <a:off x="304800" y="304800"/>
            <a:ext cx="86106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48</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None/>
            </a:pPr>
            <a:r>
              <a:rPr lang="en-US" sz="4400" i="1" dirty="0" smtClean="0"/>
              <a:t>Example 12.</a:t>
            </a:r>
            <a:r>
              <a:rPr lang="en-US" sz="4400" dirty="0" smtClean="0"/>
              <a:t> </a:t>
            </a:r>
          </a:p>
          <a:p>
            <a:r>
              <a:rPr lang="en-US" sz="4400" dirty="0" smtClean="0"/>
              <a:t>A </a:t>
            </a:r>
            <a:r>
              <a:rPr lang="en-US" sz="4400" i="1" dirty="0" smtClean="0"/>
              <a:t>spherical shell of </a:t>
            </a:r>
            <a:r>
              <a:rPr lang="en-US" sz="4400" dirty="0" smtClean="0"/>
              <a:t>2 </a:t>
            </a:r>
            <a:r>
              <a:rPr lang="en-US" sz="4400" i="1" dirty="0" smtClean="0"/>
              <a:t>m diameter is made up of 10 mm thick plates. Calculate the change in diameter and volume of the shell, when it is subjected to an internal pressure of 1.6 MPa. Take E </a:t>
            </a:r>
            <a:r>
              <a:rPr lang="en-US" sz="4400" dirty="0" smtClean="0"/>
              <a:t>= </a:t>
            </a:r>
            <a:r>
              <a:rPr lang="en-US" sz="4400" i="1" dirty="0" smtClean="0"/>
              <a:t>200 GPa and 1/m </a:t>
            </a:r>
            <a:r>
              <a:rPr lang="en-US" sz="4400" dirty="0" smtClean="0"/>
              <a:t>= </a:t>
            </a:r>
            <a:r>
              <a:rPr lang="en-US" sz="4400" i="1" dirty="0" smtClean="0"/>
              <a:t>0.3.</a:t>
            </a:r>
            <a:endParaRPr lang="en-US" sz="4400"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srcRect/>
          <a:stretch>
            <a:fillRect/>
          </a:stretch>
        </p:blipFill>
        <p:spPr bwMode="auto">
          <a:xfrm>
            <a:off x="228600" y="228600"/>
            <a:ext cx="8534400"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50</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Bulk Modulus K</a:t>
            </a:r>
            <a:endParaRPr lang="en-US" sz="3600" dirty="0"/>
          </a:p>
        </p:txBody>
      </p:sp>
      <p:sp>
        <p:nvSpPr>
          <p:cNvPr id="3" name="Content Placeholder 2"/>
          <p:cNvSpPr>
            <a:spLocks noGrp="1"/>
          </p:cNvSpPr>
          <p:nvPr>
            <p:ph idx="1"/>
          </p:nvPr>
        </p:nvSpPr>
        <p:spPr/>
        <p:txBody>
          <a:bodyPr/>
          <a:lstStyle/>
          <a:p>
            <a:r>
              <a:rPr lang="en-US" dirty="0" smtClean="0"/>
              <a:t>If a hydrostatic pressure </a:t>
            </a:r>
            <a:r>
              <a:rPr lang="en-US" i="1" dirty="0" smtClean="0"/>
              <a:t>p</a:t>
            </a:r>
            <a:r>
              <a:rPr lang="en-US" dirty="0" smtClean="0"/>
              <a:t> (is equal in all direction) acting on a body of initial volume V ,causes a reduction in volume equal to </a:t>
            </a:r>
            <a:r>
              <a:rPr lang="en-US" dirty="0" err="1" smtClean="0"/>
              <a:t>δV</a:t>
            </a:r>
            <a:r>
              <a:rPr lang="en-US" dirty="0" smtClean="0"/>
              <a:t>, then the bulk modulus K is defined as the ratio between the fluid pressure and volumetric strain. </a:t>
            </a:r>
          </a:p>
          <a:p>
            <a:endParaRPr lang="en-US" dirty="0"/>
          </a:p>
        </p:txBody>
      </p:sp>
      <p:pic>
        <p:nvPicPr>
          <p:cNvPr id="7172" name="Picture 4"/>
          <p:cNvPicPr>
            <a:picLocks noChangeAspect="1" noChangeArrowheads="1"/>
          </p:cNvPicPr>
          <p:nvPr/>
        </p:nvPicPr>
        <p:blipFill>
          <a:blip r:embed="rId3"/>
          <a:srcRect/>
          <a:stretch>
            <a:fillRect/>
          </a:stretch>
        </p:blipFill>
        <p:spPr bwMode="auto">
          <a:xfrm>
            <a:off x="2286000" y="4114800"/>
            <a:ext cx="1905000" cy="1401379"/>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51</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buNone/>
            </a:pPr>
            <a:r>
              <a:rPr lang="en-US" i="1" dirty="0" smtClean="0"/>
              <a:t>Example 6-13: </a:t>
            </a:r>
          </a:p>
          <a:p>
            <a:pPr>
              <a:buNone/>
            </a:pPr>
            <a:r>
              <a:rPr lang="en-US" i="1" dirty="0" smtClean="0"/>
              <a:t>A boiler drum consists of a cylindrical portion 2m long, 1m diameter, and 25mm thick is closed by a hemispherical ends. In a hydrostatic test to 10N/mm</a:t>
            </a:r>
            <a:r>
              <a:rPr lang="en-US" i="1" baseline="30000" dirty="0" smtClean="0"/>
              <a:t>2</a:t>
            </a:r>
            <a:r>
              <a:rPr lang="en-US" i="1" dirty="0" smtClean="0"/>
              <a:t>, how much additional water will be pumped in, after initial filling at atmospheric pressure? </a:t>
            </a:r>
          </a:p>
          <a:p>
            <a:pPr>
              <a:buNone/>
            </a:pPr>
            <a:r>
              <a:rPr lang="en-US" i="1" dirty="0" smtClean="0"/>
              <a:t>Assume the circumferential strain at the junction of cylinder hemisphere is the same for both for the drum material. E==207,000 N/mm</a:t>
            </a:r>
            <a:r>
              <a:rPr lang="en-US" i="1" baseline="30000" dirty="0" smtClean="0"/>
              <a:t>2</a:t>
            </a:r>
            <a:r>
              <a:rPr lang="en-US" i="1" dirty="0" smtClean="0"/>
              <a:t>; ν==0.3, for water K==2100 N/mm</a:t>
            </a:r>
            <a:r>
              <a:rPr lang="en-US" i="1" baseline="30000" dirty="0" smtClean="0"/>
              <a:t>2</a:t>
            </a:r>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srcRect/>
          <a:stretch>
            <a:fillRect/>
          </a:stretch>
        </p:blipFill>
        <p:spPr bwMode="auto">
          <a:xfrm>
            <a:off x="228600" y="228600"/>
            <a:ext cx="8686800"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srcRect/>
          <a:stretch>
            <a:fillRect/>
          </a:stretch>
        </p:blipFill>
        <p:spPr bwMode="auto">
          <a:xfrm>
            <a:off x="228600" y="304800"/>
            <a:ext cx="86106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pPr>
              <a:buNone/>
            </a:pPr>
            <a:r>
              <a:rPr lang="en-US" sz="5400" dirty="0" smtClean="0"/>
              <a:t>Self Assessment</a:t>
            </a:r>
          </a:p>
          <a:p>
            <a:pPr>
              <a:buNone/>
            </a:pPr>
            <a:endParaRPr lang="en-US" sz="5400" dirty="0" smtClean="0"/>
          </a:p>
          <a:p>
            <a:r>
              <a:rPr lang="en-US" sz="5400" dirty="0" smtClean="0"/>
              <a:t>1. Draw the Mohr’s circle for example 31</a:t>
            </a:r>
          </a:p>
          <a:p>
            <a:endParaRPr lang="en-US" sz="5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Unit Summary</a:t>
            </a:r>
            <a:endParaRPr lang="en-US" dirty="0"/>
          </a:p>
        </p:txBody>
      </p:sp>
      <p:sp>
        <p:nvSpPr>
          <p:cNvPr id="3" name="Content Placeholder 2"/>
          <p:cNvSpPr>
            <a:spLocks noGrp="1"/>
          </p:cNvSpPr>
          <p:nvPr>
            <p:ph idx="1"/>
          </p:nvPr>
        </p:nvSpPr>
        <p:spPr/>
        <p:txBody>
          <a:bodyPr>
            <a:normAutofit fontScale="77500" lnSpcReduction="20000"/>
          </a:bodyPr>
          <a:lstStyle/>
          <a:p>
            <a:pPr marL="514350" lvl="0" indent="-514350">
              <a:buFont typeface="+mj-lt"/>
              <a:buAutoNum type="arabicPeriod"/>
            </a:pPr>
            <a:r>
              <a:rPr lang="en-US" dirty="0" smtClean="0"/>
              <a:t>The internal pressure acting on the long sides of the cylinder will give rise to a circumferential stress in the wall of the cylinder this is known as hoop stress.</a:t>
            </a:r>
          </a:p>
          <a:p>
            <a:pPr marL="514350" lvl="0" indent="-514350">
              <a:buFont typeface="+mj-lt"/>
              <a:buAutoNum type="arabicPeriod"/>
            </a:pPr>
            <a:r>
              <a:rPr lang="en-US" dirty="0" smtClean="0"/>
              <a:t>If the ends of the vessel are closed the pressure acting on the ends is transmitted to the walls of the cylinder thin producing a longitudinal or stress. </a:t>
            </a:r>
          </a:p>
          <a:p>
            <a:pPr marL="514350" lvl="0" indent="-514350">
              <a:buFont typeface="+mj-lt"/>
              <a:buAutoNum type="arabicPeriod"/>
            </a:pPr>
            <a:r>
              <a:rPr lang="en-US" dirty="0" smtClean="0"/>
              <a:t>That is cylinders with the ratio of thickness to internal diameter less than 1:20. </a:t>
            </a:r>
          </a:p>
          <a:p>
            <a:pPr marL="514350" lvl="0" indent="-514350">
              <a:buFont typeface="+mj-lt"/>
              <a:buAutoNum type="arabicPeriod"/>
            </a:pPr>
            <a:r>
              <a:rPr lang="en-US" dirty="0" smtClean="0"/>
              <a:t>A spherical pressure vessel is really just a special case of a cylindrical vessel.</a:t>
            </a:r>
          </a:p>
          <a:p>
            <a:pPr marL="514350" lvl="0" indent="-514350">
              <a:buFont typeface="+mj-lt"/>
              <a:buAutoNum type="arabicPeriod"/>
            </a:pPr>
            <a:r>
              <a:rPr lang="en-US" dirty="0" smtClean="0"/>
              <a:t>No matter how the sphere is cut in half, the pressure load perpendicular to the cut must equal the shell stress load</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smtClean="0"/>
              <a:t>Review Question: </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State and derive the relation stress and strain in cylindrical pressure vessel. </a:t>
            </a:r>
          </a:p>
          <a:p>
            <a:endParaRPr lang="en-US" dirty="0" smtClean="0"/>
          </a:p>
          <a:p>
            <a:pPr lvl="0">
              <a:buNone/>
            </a:pPr>
            <a:r>
              <a:rPr lang="en-US" b="1" dirty="0" smtClean="0"/>
              <a:t>Discussion Question: </a:t>
            </a:r>
          </a:p>
          <a:p>
            <a:pPr lvl="0">
              <a:buNone/>
            </a:pPr>
            <a:endParaRPr lang="en-US" dirty="0" smtClean="0"/>
          </a:p>
          <a:p>
            <a:r>
              <a:rPr lang="en-US" dirty="0" smtClean="0"/>
              <a:t>Consider a cylindrical pressure vessel with a wall thickness of 25 mm, an internal pressure of 1.4 MPa, and an outer diameter of 1.2 m.   Find the axial and tangential stresses and strains. Draw the Mohr’s circle assuming a plane stress conditions. Hence find the principal stresses and strains and the maximum shearing stress and strain</a:t>
            </a:r>
            <a:r>
              <a:rPr lang="en-US" i="1" dirty="0" smtClean="0"/>
              <a:t>. Take E==200,000Nmm</a:t>
            </a:r>
            <a:r>
              <a:rPr lang="en-US" i="1" baseline="30000" dirty="0" smtClean="0"/>
              <a:t>-2</a:t>
            </a:r>
            <a:r>
              <a:rPr lang="en-US" i="1" dirty="0" smtClean="0"/>
              <a:t> and ϑ==0.3</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Assignments 6</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smtClean="0"/>
              <a:t>Quizzes</a:t>
            </a:r>
            <a:endParaRPr lang="en-US" dirty="0" smtClean="0"/>
          </a:p>
          <a:p>
            <a:pPr marL="514350" lvl="0" indent="-514350">
              <a:buFont typeface="+mj-lt"/>
              <a:buAutoNum type="arabicPeriod"/>
            </a:pPr>
            <a:r>
              <a:rPr lang="en-US" dirty="0" smtClean="0"/>
              <a:t>Distinguish between circumferential stress and longitudinal stress in a cylindrical shell, when subjected to an internal pressure.</a:t>
            </a:r>
          </a:p>
          <a:p>
            <a:pPr marL="514350" indent="-514350">
              <a:buFont typeface="+mj-lt"/>
              <a:buAutoNum type="arabicPeriod"/>
            </a:pPr>
            <a:endParaRPr lang="en-US" dirty="0" smtClean="0"/>
          </a:p>
          <a:p>
            <a:pPr marL="514350" lvl="0" indent="-514350">
              <a:buFont typeface="+mj-lt"/>
              <a:buAutoNum type="arabicPeriod"/>
            </a:pPr>
            <a:r>
              <a:rPr lang="en-US" dirty="0" smtClean="0"/>
              <a:t>Show that in the case of a thin cylindrical shell subjected to an internal fluid pressure, the tendency to burst lengthwise is twice as great as in a transverse section.</a:t>
            </a:r>
          </a:p>
          <a:p>
            <a:pPr marL="514350" indent="-514350">
              <a:buFont typeface="+mj-lt"/>
              <a:buAutoNum type="arabicPeriod"/>
            </a:pPr>
            <a:endParaRPr lang="en-US" dirty="0" smtClean="0"/>
          </a:p>
          <a:p>
            <a:pPr marL="514350" lvl="0" indent="-514350">
              <a:buFont typeface="+mj-lt"/>
              <a:buAutoNum type="arabicPeriod"/>
            </a:pPr>
            <a:r>
              <a:rPr lang="en-US" dirty="0" smtClean="0"/>
              <a:t>Derive a relation for the changes of diameter and length of a thin cylindrical shell, when subjected to an internal pressure.</a:t>
            </a:r>
          </a:p>
          <a:p>
            <a:pPr marL="514350" indent="-514350">
              <a:buFont typeface="+mj-lt"/>
              <a:buAutoNum type="arabicPeriod"/>
            </a:pPr>
            <a:endParaRPr lang="en-US" dirty="0" smtClean="0"/>
          </a:p>
          <a:p>
            <a:pPr marL="514350" lvl="0" indent="-514350">
              <a:buFont typeface="+mj-lt"/>
              <a:buAutoNum type="arabicPeriod"/>
            </a:pPr>
            <a:r>
              <a:rPr lang="en-US" dirty="0" smtClean="0"/>
              <a:t>Distinguish between cylindrical shell and spherical shell.</a:t>
            </a:r>
          </a:p>
          <a:p>
            <a:pPr marL="514350" indent="-514350">
              <a:buFont typeface="+mj-lt"/>
              <a:buAutoNum type="arabicPeriod"/>
            </a:pPr>
            <a:endParaRPr lang="en-US" dirty="0" smtClean="0"/>
          </a:p>
          <a:p>
            <a:pPr marL="514350" lvl="0" indent="-514350">
              <a:buFont typeface="+mj-lt"/>
              <a:buAutoNum type="arabicPeriod"/>
            </a:pPr>
            <a:r>
              <a:rPr lang="en-US" dirty="0" smtClean="0"/>
              <a:t>Derive a formula for the hoop stress in a thin spherical shell subjected to an internal pressure,</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Homework</a:t>
            </a:r>
            <a:endParaRPr lang="en-US" dirty="0"/>
          </a:p>
        </p:txBody>
      </p:sp>
      <p:sp>
        <p:nvSpPr>
          <p:cNvPr id="3" name="Content Placeholder 2"/>
          <p:cNvSpPr>
            <a:spLocks noGrp="1"/>
          </p:cNvSpPr>
          <p:nvPr>
            <p:ph idx="1"/>
          </p:nvPr>
        </p:nvSpPr>
        <p:spPr>
          <a:xfrm>
            <a:off x="228600" y="1295400"/>
            <a:ext cx="8610600" cy="5562600"/>
          </a:xfrm>
        </p:spPr>
        <p:txBody>
          <a:bodyPr>
            <a:normAutofit fontScale="62500" lnSpcReduction="20000"/>
          </a:bodyPr>
          <a:lstStyle/>
          <a:p>
            <a:pPr marL="514350" lvl="0" indent="-514350">
              <a:buFont typeface="+mj-lt"/>
              <a:buAutoNum type="arabicPeriod"/>
            </a:pPr>
            <a:r>
              <a:rPr lang="en-US" dirty="0" smtClean="0"/>
              <a:t>A thin wall cylindered has an internal diameter of 20 cm and is 0.5 cm thick. It is subjected to an internal pressure of 3.5 MN/m</a:t>
            </a:r>
            <a:r>
              <a:rPr lang="en-US" baseline="30000" dirty="0" smtClean="0"/>
              <a:t>2</a:t>
            </a:r>
            <a:r>
              <a:rPr lang="en-US" dirty="0" smtClean="0"/>
              <a:t>. Estimate the hoop and longitudinal stress of the ends if the cylinder ends are closed </a:t>
            </a:r>
          </a:p>
          <a:p>
            <a:pPr marL="514350" indent="-514350">
              <a:buFont typeface="+mj-lt"/>
              <a:buAutoNum type="arabicPeriod"/>
            </a:pPr>
            <a:endParaRPr lang="en-US" dirty="0" smtClean="0"/>
          </a:p>
          <a:p>
            <a:pPr marL="514350" lvl="0" indent="-514350">
              <a:buFont typeface="+mj-lt"/>
              <a:buAutoNum type="arabicPeriod"/>
            </a:pPr>
            <a:r>
              <a:rPr lang="en-US" dirty="0" smtClean="0"/>
              <a:t>A boiler drum consists of a cylindrical portion 4m long, 1m diameter, and 25mm thick is closed by a hemispherical ends. In a hydrostatic test to 10N/mm</a:t>
            </a:r>
            <a:r>
              <a:rPr lang="en-US" baseline="30000" dirty="0" smtClean="0"/>
              <a:t>2</a:t>
            </a:r>
            <a:r>
              <a:rPr lang="en-US" dirty="0" smtClean="0"/>
              <a:t>, how much additional water will be pumped in, after initial filling at atmospheric pressure? Assume the circumferential strain at the junction of cylinder hemisphere is the same for both for the drum material. E==207,000 N/mm</a:t>
            </a:r>
            <a:r>
              <a:rPr lang="en-US" baseline="30000" dirty="0" smtClean="0"/>
              <a:t>2</a:t>
            </a:r>
            <a:r>
              <a:rPr lang="en-US" dirty="0" smtClean="0"/>
              <a:t>; ν==0.3, for water K==2100 N/mm</a:t>
            </a:r>
            <a:r>
              <a:rPr lang="en-US" baseline="30000" dirty="0" smtClean="0"/>
              <a:t>2</a:t>
            </a:r>
            <a:endParaRPr lang="en-US" dirty="0" smtClean="0"/>
          </a:p>
          <a:p>
            <a:pPr marL="514350" indent="-514350">
              <a:buFont typeface="+mj-lt"/>
              <a:buAutoNum type="arabicPeriod"/>
            </a:pPr>
            <a:endParaRPr lang="en-US" dirty="0" smtClean="0"/>
          </a:p>
          <a:p>
            <a:pPr marL="514350" lvl="0" indent="-514350">
              <a:buFont typeface="+mj-lt"/>
              <a:buAutoNum type="arabicPeriod"/>
            </a:pPr>
            <a:r>
              <a:rPr lang="en-US" dirty="0" smtClean="0"/>
              <a:t>Consider two laminated pressure vessel with an initial interference on diameter of 0.25 mm. The thickness of the inner shell is 2.5mm, and that of the outer shell is 2.0mm. The outer cylinder is heated, placed on the inner and allowed to cool, thus providing a ‘shrink fit’. If both cylinders after cooling assume a common diameter of 100 mm find the interface pressure if both shell are made of steel E==207,000N/mm</a:t>
            </a:r>
            <a:r>
              <a:rPr lang="en-US" baseline="30000" dirty="0" smtClean="0"/>
              <a:t>2</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514350" lvl="0" indent="-514350">
              <a:buNone/>
            </a:pPr>
            <a:r>
              <a:rPr lang="en-US" dirty="0" smtClean="0"/>
              <a:t>4.	Consider a thin steel cylinder junction fitting over copper inner cylinder as shown. Find the hoop stresses in each shell due to a temperature rise of 30K. Assume there is no longitudinal stress </a:t>
            </a:r>
          </a:p>
          <a:p>
            <a:pPr marL="514350" indent="-514350">
              <a:buFont typeface="+mj-lt"/>
              <a:buAutoNum type="arabicPeriod"/>
            </a:pPr>
            <a:endParaRPr lang="en-US" dirty="0" smtClean="0"/>
          </a:p>
          <a:p>
            <a:pPr marL="514350" indent="-514350">
              <a:buNone/>
            </a:pPr>
            <a:r>
              <a:rPr lang="en-US" dirty="0" smtClean="0"/>
              <a:t>5.	Consider a thin steel cylinder junction fitting over copper inner cylinder as shown. Find the hoop stresses in each shell due to a temperature rise of 30 K. Assume there is no longitudinal stress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2820</Words>
  <Application>Microsoft Office PowerPoint</Application>
  <PresentationFormat>On-screen Show (4:3)</PresentationFormat>
  <Paragraphs>327</Paragraphs>
  <Slides>60</Slides>
  <Notes>60</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Office Theme</vt:lpstr>
      <vt:lpstr>THIN SHELLS</vt:lpstr>
      <vt:lpstr>Slide 2</vt:lpstr>
      <vt:lpstr>THIN CYLINDRICAL SHELLS </vt:lpstr>
      <vt:lpstr>Failure of a Thin Cylindrical Shell due to an Internal Pressure </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Design of Thin Cylindrical Shells</vt:lpstr>
      <vt:lpstr>Slide 19</vt:lpstr>
      <vt:lpstr>Slide 20</vt:lpstr>
      <vt:lpstr>Slide 21</vt:lpstr>
      <vt:lpstr>Change in Dimensions due to Internal Pressure</vt:lpstr>
      <vt:lpstr>Slide 23</vt:lpstr>
      <vt:lpstr>Slide 24</vt:lpstr>
      <vt:lpstr>Slide 25</vt:lpstr>
      <vt:lpstr>Slide 26</vt:lpstr>
      <vt:lpstr>Slide 27</vt:lpstr>
      <vt:lpstr>Slide 28</vt:lpstr>
      <vt:lpstr>Slide 29</vt:lpstr>
      <vt:lpstr>Application of Thin Cylindrical Shells </vt:lpstr>
      <vt:lpstr>Slide 31</vt:lpstr>
      <vt:lpstr>Slide 32</vt:lpstr>
      <vt:lpstr>Slide 33</vt:lpstr>
      <vt:lpstr>Slide 34</vt:lpstr>
      <vt:lpstr>Wire-Bound Thin Cylindrical Shells</vt:lpstr>
      <vt:lpstr>Slide 36</vt:lpstr>
      <vt:lpstr>Slide 37</vt:lpstr>
      <vt:lpstr>Slide 38</vt:lpstr>
      <vt:lpstr>Slide 39</vt:lpstr>
      <vt:lpstr>Slide 40</vt:lpstr>
      <vt:lpstr>Self Assessment</vt:lpstr>
      <vt:lpstr>THIN SPHERICAL SHELLS</vt:lpstr>
      <vt:lpstr>Slide 43</vt:lpstr>
      <vt:lpstr>Slide 44</vt:lpstr>
      <vt:lpstr>Slide 45</vt:lpstr>
      <vt:lpstr>Slide 46</vt:lpstr>
      <vt:lpstr>Change in Diameter and Volume due to an Internal Pressure</vt:lpstr>
      <vt:lpstr>Slide 48</vt:lpstr>
      <vt:lpstr>Slide 49</vt:lpstr>
      <vt:lpstr>Slide 50</vt:lpstr>
      <vt:lpstr>Bulk Modulus K</vt:lpstr>
      <vt:lpstr>Slide 52</vt:lpstr>
      <vt:lpstr>Slide 53</vt:lpstr>
      <vt:lpstr>Slide 54</vt:lpstr>
      <vt:lpstr>Slide 55</vt:lpstr>
      <vt:lpstr>Unit Summary</vt:lpstr>
      <vt:lpstr>Review Question: </vt:lpstr>
      <vt:lpstr>Assignments 6 </vt:lpstr>
      <vt:lpstr>Homework</vt:lpstr>
      <vt:lpstr>Slide 60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 SHELLS</dc:title>
  <dc:creator>Papa</dc:creator>
  <cp:lastModifiedBy>Papa</cp:lastModifiedBy>
  <cp:revision>68</cp:revision>
  <dcterms:created xsi:type="dcterms:W3CDTF">2006-08-16T00:00:00Z</dcterms:created>
  <dcterms:modified xsi:type="dcterms:W3CDTF">2013-04-05T08:03:00Z</dcterms:modified>
</cp:coreProperties>
</file>