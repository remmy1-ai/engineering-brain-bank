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70"/>
  </p:notesMasterIdLst>
  <p:sldIdLst>
    <p:sldId id="256" r:id="rId2"/>
    <p:sldId id="257" r:id="rId3"/>
    <p:sldId id="259" r:id="rId4"/>
    <p:sldId id="260" r:id="rId5"/>
    <p:sldId id="263" r:id="rId6"/>
    <p:sldId id="262"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58" autoAdjust="0"/>
  </p:normalViewPr>
  <p:slideViewPr>
    <p:cSldViewPr>
      <p:cViewPr varScale="1">
        <p:scale>
          <a:sx n="75" d="100"/>
          <a:sy n="75" d="100"/>
        </p:scale>
        <p:origin x="1236" y="90"/>
      </p:cViewPr>
      <p:guideLst>
        <p:guide orient="horz" pos="2160"/>
        <p:guide pos="2880"/>
      </p:guideLst>
    </p:cSldViewPr>
  </p:slideViewPr>
  <p:outlineViewPr>
    <p:cViewPr>
      <p:scale>
        <a:sx n="33" d="100"/>
        <a:sy n="33" d="100"/>
      </p:scale>
      <p:origin x="0" y="3054"/>
    </p:cViewPr>
  </p:outlineViewPr>
  <p:notesTextViewPr>
    <p:cViewPr>
      <p:scale>
        <a:sx n="100" d="100"/>
        <a:sy n="100" d="100"/>
      </p:scale>
      <p:origin x="0" y="0"/>
    </p:cViewPr>
  </p:notesTextViewPr>
  <p:sorterViewPr>
    <p:cViewPr>
      <p:scale>
        <a:sx n="66" d="100"/>
        <a:sy n="66" d="100"/>
      </p:scale>
      <p:origin x="0" y="488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image" Target="../media/image4.wmf"/><Relationship Id="rId7" Type="http://schemas.openxmlformats.org/officeDocument/2006/relationships/image" Target="../media/image8.wmf"/><Relationship Id="rId2" Type="http://schemas.openxmlformats.org/officeDocument/2006/relationships/image" Target="../media/image3.wmf"/><Relationship Id="rId1" Type="http://schemas.openxmlformats.org/officeDocument/2006/relationships/image" Target="../media/image2.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 Id="rId9"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4.wmf"/><Relationship Id="rId7" Type="http://schemas.openxmlformats.org/officeDocument/2006/relationships/image" Target="../media/image17.wmf"/><Relationship Id="rId2" Type="http://schemas.openxmlformats.org/officeDocument/2006/relationships/image" Target="../media/image13.wmf"/><Relationship Id="rId1" Type="http://schemas.openxmlformats.org/officeDocument/2006/relationships/image" Target="../media/image12.wmf"/><Relationship Id="rId6" Type="http://schemas.openxmlformats.org/officeDocument/2006/relationships/image" Target="../media/image5.wmf"/><Relationship Id="rId5" Type="http://schemas.openxmlformats.org/officeDocument/2006/relationships/image" Target="../media/image16.wmf"/><Relationship Id="rId4"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image" Target="../media/image21.wmf"/><Relationship Id="rId7" Type="http://schemas.openxmlformats.org/officeDocument/2006/relationships/image" Target="../media/image25.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11" Type="http://schemas.openxmlformats.org/officeDocument/2006/relationships/image" Target="../media/image29.wmf"/><Relationship Id="rId5" Type="http://schemas.openxmlformats.org/officeDocument/2006/relationships/image" Target="../media/image23.wmf"/><Relationship Id="rId10" Type="http://schemas.openxmlformats.org/officeDocument/2006/relationships/image" Target="../media/image28.wmf"/><Relationship Id="rId4" Type="http://schemas.openxmlformats.org/officeDocument/2006/relationships/image" Target="../media/image22.wmf"/><Relationship Id="rId9" Type="http://schemas.openxmlformats.org/officeDocument/2006/relationships/image" Target="../media/image27.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image" Target="../media/image33.wmf"/><Relationship Id="rId7" Type="http://schemas.openxmlformats.org/officeDocument/2006/relationships/image" Target="../media/image37.wmf"/><Relationship Id="rId2" Type="http://schemas.openxmlformats.org/officeDocument/2006/relationships/image" Target="../media/image32.wmf"/><Relationship Id="rId1" Type="http://schemas.openxmlformats.org/officeDocument/2006/relationships/image" Target="../media/image31.wmf"/><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 Id="rId4" Type="http://schemas.openxmlformats.org/officeDocument/2006/relationships/image" Target="../media/image4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image" Target="../media/image54.wmf"/><Relationship Id="rId7" Type="http://schemas.openxmlformats.org/officeDocument/2006/relationships/image" Target="../media/image58.wmf"/><Relationship Id="rId2" Type="http://schemas.openxmlformats.org/officeDocument/2006/relationships/image" Target="../media/image53.wmf"/><Relationship Id="rId1" Type="http://schemas.openxmlformats.org/officeDocument/2006/relationships/image" Target="../media/image52.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299EF3E-2282-4460-A9A9-44498AA0ED4E}" type="datetimeFigureOut">
              <a:rPr lang="en-US" smtClean="0"/>
              <a:pPr/>
              <a:t>11/1/2015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86CE94-D46D-44F1-B05E-8B85760D4521}" type="slidenum">
              <a:rPr lang="en-US" smtClean="0"/>
              <a:pPr/>
              <a:t>‹#›</a:t>
            </a:fld>
            <a:endParaRPr lang="en-US"/>
          </a:p>
        </p:txBody>
      </p:sp>
    </p:spTree>
    <p:extLst>
      <p:ext uri="{BB962C8B-B14F-4D97-AF65-F5344CB8AC3E}">
        <p14:creationId xmlns:p14="http://schemas.microsoft.com/office/powerpoint/2010/main" val="1226014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1</a:t>
            </a:fld>
            <a:endParaRPr lang="en-US"/>
          </a:p>
        </p:txBody>
      </p:sp>
    </p:spTree>
    <p:extLst>
      <p:ext uri="{BB962C8B-B14F-4D97-AF65-F5344CB8AC3E}">
        <p14:creationId xmlns:p14="http://schemas.microsoft.com/office/powerpoint/2010/main" val="2270111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2</a:t>
            </a:fld>
            <a:endParaRPr lang="en-US"/>
          </a:p>
        </p:txBody>
      </p:sp>
    </p:spTree>
    <p:extLst>
      <p:ext uri="{BB962C8B-B14F-4D97-AF65-F5344CB8AC3E}">
        <p14:creationId xmlns:p14="http://schemas.microsoft.com/office/powerpoint/2010/main" val="2992600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3</a:t>
            </a:fld>
            <a:endParaRPr lang="en-US"/>
          </a:p>
        </p:txBody>
      </p:sp>
    </p:spTree>
    <p:extLst>
      <p:ext uri="{BB962C8B-B14F-4D97-AF65-F5344CB8AC3E}">
        <p14:creationId xmlns:p14="http://schemas.microsoft.com/office/powerpoint/2010/main" val="1082030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4</a:t>
            </a:fld>
            <a:endParaRPr lang="en-US"/>
          </a:p>
        </p:txBody>
      </p:sp>
    </p:spTree>
    <p:extLst>
      <p:ext uri="{BB962C8B-B14F-4D97-AF65-F5344CB8AC3E}">
        <p14:creationId xmlns:p14="http://schemas.microsoft.com/office/powerpoint/2010/main" val="2955319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5</a:t>
            </a:fld>
            <a:endParaRPr lang="en-US"/>
          </a:p>
        </p:txBody>
      </p:sp>
    </p:spTree>
    <p:extLst>
      <p:ext uri="{BB962C8B-B14F-4D97-AF65-F5344CB8AC3E}">
        <p14:creationId xmlns:p14="http://schemas.microsoft.com/office/powerpoint/2010/main" val="54820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6</a:t>
            </a:fld>
            <a:endParaRPr lang="en-US"/>
          </a:p>
        </p:txBody>
      </p:sp>
    </p:spTree>
    <p:extLst>
      <p:ext uri="{BB962C8B-B14F-4D97-AF65-F5344CB8AC3E}">
        <p14:creationId xmlns:p14="http://schemas.microsoft.com/office/powerpoint/2010/main" val="328172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7</a:t>
            </a:fld>
            <a:endParaRPr lang="en-US"/>
          </a:p>
        </p:txBody>
      </p:sp>
    </p:spTree>
    <p:extLst>
      <p:ext uri="{BB962C8B-B14F-4D97-AF65-F5344CB8AC3E}">
        <p14:creationId xmlns:p14="http://schemas.microsoft.com/office/powerpoint/2010/main" val="423866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8</a:t>
            </a:fld>
            <a:endParaRPr lang="en-US"/>
          </a:p>
        </p:txBody>
      </p:sp>
    </p:spTree>
    <p:extLst>
      <p:ext uri="{BB962C8B-B14F-4D97-AF65-F5344CB8AC3E}">
        <p14:creationId xmlns:p14="http://schemas.microsoft.com/office/powerpoint/2010/main" val="4200270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9</a:t>
            </a:fld>
            <a:endParaRPr lang="en-US"/>
          </a:p>
        </p:txBody>
      </p:sp>
    </p:spTree>
    <p:extLst>
      <p:ext uri="{BB962C8B-B14F-4D97-AF65-F5344CB8AC3E}">
        <p14:creationId xmlns:p14="http://schemas.microsoft.com/office/powerpoint/2010/main" val="31784222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10</a:t>
            </a:fld>
            <a:endParaRPr lang="en-US"/>
          </a:p>
        </p:txBody>
      </p:sp>
    </p:spTree>
    <p:extLst>
      <p:ext uri="{BB962C8B-B14F-4D97-AF65-F5344CB8AC3E}">
        <p14:creationId xmlns:p14="http://schemas.microsoft.com/office/powerpoint/2010/main" val="3411478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11</a:t>
            </a:fld>
            <a:endParaRPr lang="en-US"/>
          </a:p>
        </p:txBody>
      </p:sp>
    </p:spTree>
    <p:extLst>
      <p:ext uri="{BB962C8B-B14F-4D97-AF65-F5344CB8AC3E}">
        <p14:creationId xmlns:p14="http://schemas.microsoft.com/office/powerpoint/2010/main" val="581588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12</a:t>
            </a:fld>
            <a:endParaRPr lang="en-US"/>
          </a:p>
        </p:txBody>
      </p:sp>
    </p:spTree>
    <p:extLst>
      <p:ext uri="{BB962C8B-B14F-4D97-AF65-F5344CB8AC3E}">
        <p14:creationId xmlns:p14="http://schemas.microsoft.com/office/powerpoint/2010/main" val="36305716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13</a:t>
            </a:fld>
            <a:endParaRPr lang="en-US"/>
          </a:p>
        </p:txBody>
      </p:sp>
    </p:spTree>
    <p:extLst>
      <p:ext uri="{BB962C8B-B14F-4D97-AF65-F5344CB8AC3E}">
        <p14:creationId xmlns:p14="http://schemas.microsoft.com/office/powerpoint/2010/main" val="2746136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14</a:t>
            </a:fld>
            <a:endParaRPr lang="en-US"/>
          </a:p>
        </p:txBody>
      </p:sp>
    </p:spTree>
    <p:extLst>
      <p:ext uri="{BB962C8B-B14F-4D97-AF65-F5344CB8AC3E}">
        <p14:creationId xmlns:p14="http://schemas.microsoft.com/office/powerpoint/2010/main" val="565593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15</a:t>
            </a:fld>
            <a:endParaRPr lang="en-US"/>
          </a:p>
        </p:txBody>
      </p:sp>
    </p:spTree>
    <p:extLst>
      <p:ext uri="{BB962C8B-B14F-4D97-AF65-F5344CB8AC3E}">
        <p14:creationId xmlns:p14="http://schemas.microsoft.com/office/powerpoint/2010/main" val="535908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16</a:t>
            </a:fld>
            <a:endParaRPr lang="en-US"/>
          </a:p>
        </p:txBody>
      </p:sp>
    </p:spTree>
    <p:extLst>
      <p:ext uri="{BB962C8B-B14F-4D97-AF65-F5344CB8AC3E}">
        <p14:creationId xmlns:p14="http://schemas.microsoft.com/office/powerpoint/2010/main" val="20223342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17</a:t>
            </a:fld>
            <a:endParaRPr lang="en-US"/>
          </a:p>
        </p:txBody>
      </p:sp>
    </p:spTree>
    <p:extLst>
      <p:ext uri="{BB962C8B-B14F-4D97-AF65-F5344CB8AC3E}">
        <p14:creationId xmlns:p14="http://schemas.microsoft.com/office/powerpoint/2010/main" val="36188549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18</a:t>
            </a:fld>
            <a:endParaRPr lang="en-US"/>
          </a:p>
        </p:txBody>
      </p:sp>
    </p:spTree>
    <p:extLst>
      <p:ext uri="{BB962C8B-B14F-4D97-AF65-F5344CB8AC3E}">
        <p14:creationId xmlns:p14="http://schemas.microsoft.com/office/powerpoint/2010/main" val="3983546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19</a:t>
            </a:fld>
            <a:endParaRPr lang="en-US"/>
          </a:p>
        </p:txBody>
      </p:sp>
    </p:spTree>
    <p:extLst>
      <p:ext uri="{BB962C8B-B14F-4D97-AF65-F5344CB8AC3E}">
        <p14:creationId xmlns:p14="http://schemas.microsoft.com/office/powerpoint/2010/main" val="27419297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20</a:t>
            </a:fld>
            <a:endParaRPr lang="en-US"/>
          </a:p>
        </p:txBody>
      </p:sp>
    </p:spTree>
    <p:extLst>
      <p:ext uri="{BB962C8B-B14F-4D97-AF65-F5344CB8AC3E}">
        <p14:creationId xmlns:p14="http://schemas.microsoft.com/office/powerpoint/2010/main" val="26724847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21</a:t>
            </a:fld>
            <a:endParaRPr lang="en-US"/>
          </a:p>
        </p:txBody>
      </p:sp>
    </p:spTree>
    <p:extLst>
      <p:ext uri="{BB962C8B-B14F-4D97-AF65-F5344CB8AC3E}">
        <p14:creationId xmlns:p14="http://schemas.microsoft.com/office/powerpoint/2010/main" val="13681878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22</a:t>
            </a:fld>
            <a:endParaRPr lang="en-US"/>
          </a:p>
        </p:txBody>
      </p:sp>
    </p:spTree>
    <p:extLst>
      <p:ext uri="{BB962C8B-B14F-4D97-AF65-F5344CB8AC3E}">
        <p14:creationId xmlns:p14="http://schemas.microsoft.com/office/powerpoint/2010/main" val="40169814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23</a:t>
            </a:fld>
            <a:endParaRPr lang="en-US"/>
          </a:p>
        </p:txBody>
      </p:sp>
    </p:spTree>
    <p:extLst>
      <p:ext uri="{BB962C8B-B14F-4D97-AF65-F5344CB8AC3E}">
        <p14:creationId xmlns:p14="http://schemas.microsoft.com/office/powerpoint/2010/main" val="31169799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24</a:t>
            </a:fld>
            <a:endParaRPr lang="en-US"/>
          </a:p>
        </p:txBody>
      </p:sp>
    </p:spTree>
    <p:extLst>
      <p:ext uri="{BB962C8B-B14F-4D97-AF65-F5344CB8AC3E}">
        <p14:creationId xmlns:p14="http://schemas.microsoft.com/office/powerpoint/2010/main" val="37480765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25</a:t>
            </a:fld>
            <a:endParaRPr lang="en-US"/>
          </a:p>
        </p:txBody>
      </p:sp>
    </p:spTree>
    <p:extLst>
      <p:ext uri="{BB962C8B-B14F-4D97-AF65-F5344CB8AC3E}">
        <p14:creationId xmlns:p14="http://schemas.microsoft.com/office/powerpoint/2010/main" val="27467030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26</a:t>
            </a:fld>
            <a:endParaRPr lang="en-US"/>
          </a:p>
        </p:txBody>
      </p:sp>
    </p:spTree>
    <p:extLst>
      <p:ext uri="{BB962C8B-B14F-4D97-AF65-F5344CB8AC3E}">
        <p14:creationId xmlns:p14="http://schemas.microsoft.com/office/powerpoint/2010/main" val="32946788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27</a:t>
            </a:fld>
            <a:endParaRPr lang="en-US"/>
          </a:p>
        </p:txBody>
      </p:sp>
    </p:spTree>
    <p:extLst>
      <p:ext uri="{BB962C8B-B14F-4D97-AF65-F5344CB8AC3E}">
        <p14:creationId xmlns:p14="http://schemas.microsoft.com/office/powerpoint/2010/main" val="29887730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28</a:t>
            </a:fld>
            <a:endParaRPr lang="en-US"/>
          </a:p>
        </p:txBody>
      </p:sp>
    </p:spTree>
    <p:extLst>
      <p:ext uri="{BB962C8B-B14F-4D97-AF65-F5344CB8AC3E}">
        <p14:creationId xmlns:p14="http://schemas.microsoft.com/office/powerpoint/2010/main" val="11372603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29</a:t>
            </a:fld>
            <a:endParaRPr lang="en-US"/>
          </a:p>
        </p:txBody>
      </p:sp>
    </p:spTree>
    <p:extLst>
      <p:ext uri="{BB962C8B-B14F-4D97-AF65-F5344CB8AC3E}">
        <p14:creationId xmlns:p14="http://schemas.microsoft.com/office/powerpoint/2010/main" val="3567806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30</a:t>
            </a:fld>
            <a:endParaRPr lang="en-US"/>
          </a:p>
        </p:txBody>
      </p:sp>
    </p:spTree>
    <p:extLst>
      <p:ext uri="{BB962C8B-B14F-4D97-AF65-F5344CB8AC3E}">
        <p14:creationId xmlns:p14="http://schemas.microsoft.com/office/powerpoint/2010/main" val="3040814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31</a:t>
            </a:fld>
            <a:endParaRPr lang="en-US"/>
          </a:p>
        </p:txBody>
      </p:sp>
    </p:spTree>
    <p:extLst>
      <p:ext uri="{BB962C8B-B14F-4D97-AF65-F5344CB8AC3E}">
        <p14:creationId xmlns:p14="http://schemas.microsoft.com/office/powerpoint/2010/main" val="9403238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32</a:t>
            </a:fld>
            <a:endParaRPr lang="en-US"/>
          </a:p>
        </p:txBody>
      </p:sp>
    </p:spTree>
    <p:extLst>
      <p:ext uri="{BB962C8B-B14F-4D97-AF65-F5344CB8AC3E}">
        <p14:creationId xmlns:p14="http://schemas.microsoft.com/office/powerpoint/2010/main" val="22884259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33</a:t>
            </a:fld>
            <a:endParaRPr lang="en-US"/>
          </a:p>
        </p:txBody>
      </p:sp>
    </p:spTree>
    <p:extLst>
      <p:ext uri="{BB962C8B-B14F-4D97-AF65-F5344CB8AC3E}">
        <p14:creationId xmlns:p14="http://schemas.microsoft.com/office/powerpoint/2010/main" val="37511868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34</a:t>
            </a:fld>
            <a:endParaRPr lang="en-US"/>
          </a:p>
        </p:txBody>
      </p:sp>
    </p:spTree>
    <p:extLst>
      <p:ext uri="{BB962C8B-B14F-4D97-AF65-F5344CB8AC3E}">
        <p14:creationId xmlns:p14="http://schemas.microsoft.com/office/powerpoint/2010/main" val="26826655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35</a:t>
            </a:fld>
            <a:endParaRPr lang="en-US"/>
          </a:p>
        </p:txBody>
      </p:sp>
    </p:spTree>
    <p:extLst>
      <p:ext uri="{BB962C8B-B14F-4D97-AF65-F5344CB8AC3E}">
        <p14:creationId xmlns:p14="http://schemas.microsoft.com/office/powerpoint/2010/main" val="34914757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36</a:t>
            </a:fld>
            <a:endParaRPr lang="en-US"/>
          </a:p>
        </p:txBody>
      </p:sp>
    </p:spTree>
    <p:extLst>
      <p:ext uri="{BB962C8B-B14F-4D97-AF65-F5344CB8AC3E}">
        <p14:creationId xmlns:p14="http://schemas.microsoft.com/office/powerpoint/2010/main" val="7137685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37</a:t>
            </a:fld>
            <a:endParaRPr lang="en-US"/>
          </a:p>
        </p:txBody>
      </p:sp>
    </p:spTree>
    <p:extLst>
      <p:ext uri="{BB962C8B-B14F-4D97-AF65-F5344CB8AC3E}">
        <p14:creationId xmlns:p14="http://schemas.microsoft.com/office/powerpoint/2010/main" val="23125977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38</a:t>
            </a:fld>
            <a:endParaRPr lang="en-US"/>
          </a:p>
        </p:txBody>
      </p:sp>
    </p:spTree>
    <p:extLst>
      <p:ext uri="{BB962C8B-B14F-4D97-AF65-F5344CB8AC3E}">
        <p14:creationId xmlns:p14="http://schemas.microsoft.com/office/powerpoint/2010/main" val="39412441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39</a:t>
            </a:fld>
            <a:endParaRPr lang="en-US"/>
          </a:p>
        </p:txBody>
      </p:sp>
    </p:spTree>
    <p:extLst>
      <p:ext uri="{BB962C8B-B14F-4D97-AF65-F5344CB8AC3E}">
        <p14:creationId xmlns:p14="http://schemas.microsoft.com/office/powerpoint/2010/main" val="11718289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40</a:t>
            </a:fld>
            <a:endParaRPr lang="en-US"/>
          </a:p>
        </p:txBody>
      </p:sp>
    </p:spTree>
    <p:extLst>
      <p:ext uri="{BB962C8B-B14F-4D97-AF65-F5344CB8AC3E}">
        <p14:creationId xmlns:p14="http://schemas.microsoft.com/office/powerpoint/2010/main" val="2194369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41</a:t>
            </a:fld>
            <a:endParaRPr lang="en-US"/>
          </a:p>
        </p:txBody>
      </p:sp>
    </p:spTree>
    <p:extLst>
      <p:ext uri="{BB962C8B-B14F-4D97-AF65-F5344CB8AC3E}">
        <p14:creationId xmlns:p14="http://schemas.microsoft.com/office/powerpoint/2010/main" val="39422843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42</a:t>
            </a:fld>
            <a:endParaRPr lang="en-US"/>
          </a:p>
        </p:txBody>
      </p:sp>
    </p:spTree>
    <p:extLst>
      <p:ext uri="{BB962C8B-B14F-4D97-AF65-F5344CB8AC3E}">
        <p14:creationId xmlns:p14="http://schemas.microsoft.com/office/powerpoint/2010/main" val="8556184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43</a:t>
            </a:fld>
            <a:endParaRPr lang="en-US"/>
          </a:p>
        </p:txBody>
      </p:sp>
    </p:spTree>
    <p:extLst>
      <p:ext uri="{BB962C8B-B14F-4D97-AF65-F5344CB8AC3E}">
        <p14:creationId xmlns:p14="http://schemas.microsoft.com/office/powerpoint/2010/main" val="39536575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44</a:t>
            </a:fld>
            <a:endParaRPr lang="en-US"/>
          </a:p>
        </p:txBody>
      </p:sp>
    </p:spTree>
    <p:extLst>
      <p:ext uri="{BB962C8B-B14F-4D97-AF65-F5344CB8AC3E}">
        <p14:creationId xmlns:p14="http://schemas.microsoft.com/office/powerpoint/2010/main" val="2322557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45</a:t>
            </a:fld>
            <a:endParaRPr lang="en-US"/>
          </a:p>
        </p:txBody>
      </p:sp>
    </p:spTree>
    <p:extLst>
      <p:ext uri="{BB962C8B-B14F-4D97-AF65-F5344CB8AC3E}">
        <p14:creationId xmlns:p14="http://schemas.microsoft.com/office/powerpoint/2010/main" val="21239969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46</a:t>
            </a:fld>
            <a:endParaRPr lang="en-US"/>
          </a:p>
        </p:txBody>
      </p:sp>
    </p:spTree>
    <p:extLst>
      <p:ext uri="{BB962C8B-B14F-4D97-AF65-F5344CB8AC3E}">
        <p14:creationId xmlns:p14="http://schemas.microsoft.com/office/powerpoint/2010/main" val="29184605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47</a:t>
            </a:fld>
            <a:endParaRPr lang="en-US"/>
          </a:p>
        </p:txBody>
      </p:sp>
    </p:spTree>
    <p:extLst>
      <p:ext uri="{BB962C8B-B14F-4D97-AF65-F5344CB8AC3E}">
        <p14:creationId xmlns:p14="http://schemas.microsoft.com/office/powerpoint/2010/main" val="32042465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48</a:t>
            </a:fld>
            <a:endParaRPr lang="en-US"/>
          </a:p>
        </p:txBody>
      </p:sp>
    </p:spTree>
    <p:extLst>
      <p:ext uri="{BB962C8B-B14F-4D97-AF65-F5344CB8AC3E}">
        <p14:creationId xmlns:p14="http://schemas.microsoft.com/office/powerpoint/2010/main" val="330200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49</a:t>
            </a:fld>
            <a:endParaRPr lang="en-US"/>
          </a:p>
        </p:txBody>
      </p:sp>
    </p:spTree>
    <p:extLst>
      <p:ext uri="{BB962C8B-B14F-4D97-AF65-F5344CB8AC3E}">
        <p14:creationId xmlns:p14="http://schemas.microsoft.com/office/powerpoint/2010/main" val="9159935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50</a:t>
            </a:fld>
            <a:endParaRPr lang="en-US"/>
          </a:p>
        </p:txBody>
      </p:sp>
    </p:spTree>
    <p:extLst>
      <p:ext uri="{BB962C8B-B14F-4D97-AF65-F5344CB8AC3E}">
        <p14:creationId xmlns:p14="http://schemas.microsoft.com/office/powerpoint/2010/main" val="27564256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51</a:t>
            </a:fld>
            <a:endParaRPr lang="en-US"/>
          </a:p>
        </p:txBody>
      </p:sp>
    </p:spTree>
    <p:extLst>
      <p:ext uri="{BB962C8B-B14F-4D97-AF65-F5344CB8AC3E}">
        <p14:creationId xmlns:p14="http://schemas.microsoft.com/office/powerpoint/2010/main" val="39832498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52</a:t>
            </a:fld>
            <a:endParaRPr lang="en-US"/>
          </a:p>
        </p:txBody>
      </p:sp>
    </p:spTree>
    <p:extLst>
      <p:ext uri="{BB962C8B-B14F-4D97-AF65-F5344CB8AC3E}">
        <p14:creationId xmlns:p14="http://schemas.microsoft.com/office/powerpoint/2010/main" val="30227310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53</a:t>
            </a:fld>
            <a:endParaRPr lang="en-US"/>
          </a:p>
        </p:txBody>
      </p:sp>
    </p:spTree>
    <p:extLst>
      <p:ext uri="{BB962C8B-B14F-4D97-AF65-F5344CB8AC3E}">
        <p14:creationId xmlns:p14="http://schemas.microsoft.com/office/powerpoint/2010/main" val="32911064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54</a:t>
            </a:fld>
            <a:endParaRPr lang="en-US"/>
          </a:p>
        </p:txBody>
      </p:sp>
    </p:spTree>
    <p:extLst>
      <p:ext uri="{BB962C8B-B14F-4D97-AF65-F5344CB8AC3E}">
        <p14:creationId xmlns:p14="http://schemas.microsoft.com/office/powerpoint/2010/main" val="8742142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55</a:t>
            </a:fld>
            <a:endParaRPr lang="en-US"/>
          </a:p>
        </p:txBody>
      </p:sp>
    </p:spTree>
    <p:extLst>
      <p:ext uri="{BB962C8B-B14F-4D97-AF65-F5344CB8AC3E}">
        <p14:creationId xmlns:p14="http://schemas.microsoft.com/office/powerpoint/2010/main" val="14406456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56</a:t>
            </a:fld>
            <a:endParaRPr lang="en-US"/>
          </a:p>
        </p:txBody>
      </p:sp>
    </p:spTree>
    <p:extLst>
      <p:ext uri="{BB962C8B-B14F-4D97-AF65-F5344CB8AC3E}">
        <p14:creationId xmlns:p14="http://schemas.microsoft.com/office/powerpoint/2010/main" val="26048503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57</a:t>
            </a:fld>
            <a:endParaRPr lang="en-US"/>
          </a:p>
        </p:txBody>
      </p:sp>
    </p:spTree>
    <p:extLst>
      <p:ext uri="{BB962C8B-B14F-4D97-AF65-F5344CB8AC3E}">
        <p14:creationId xmlns:p14="http://schemas.microsoft.com/office/powerpoint/2010/main" val="267603110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58</a:t>
            </a:fld>
            <a:endParaRPr lang="en-US"/>
          </a:p>
        </p:txBody>
      </p:sp>
    </p:spTree>
    <p:extLst>
      <p:ext uri="{BB962C8B-B14F-4D97-AF65-F5344CB8AC3E}">
        <p14:creationId xmlns:p14="http://schemas.microsoft.com/office/powerpoint/2010/main" val="6045930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59</a:t>
            </a:fld>
            <a:endParaRPr lang="en-US"/>
          </a:p>
        </p:txBody>
      </p:sp>
    </p:spTree>
    <p:extLst>
      <p:ext uri="{BB962C8B-B14F-4D97-AF65-F5344CB8AC3E}">
        <p14:creationId xmlns:p14="http://schemas.microsoft.com/office/powerpoint/2010/main" val="225407049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60</a:t>
            </a:fld>
            <a:endParaRPr lang="en-US"/>
          </a:p>
        </p:txBody>
      </p:sp>
    </p:spTree>
    <p:extLst>
      <p:ext uri="{BB962C8B-B14F-4D97-AF65-F5344CB8AC3E}">
        <p14:creationId xmlns:p14="http://schemas.microsoft.com/office/powerpoint/2010/main" val="331508347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61</a:t>
            </a:fld>
            <a:endParaRPr lang="en-US"/>
          </a:p>
        </p:txBody>
      </p:sp>
    </p:spTree>
    <p:extLst>
      <p:ext uri="{BB962C8B-B14F-4D97-AF65-F5344CB8AC3E}">
        <p14:creationId xmlns:p14="http://schemas.microsoft.com/office/powerpoint/2010/main" val="150824721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62</a:t>
            </a:fld>
            <a:endParaRPr lang="en-US"/>
          </a:p>
        </p:txBody>
      </p:sp>
    </p:spTree>
    <p:extLst>
      <p:ext uri="{BB962C8B-B14F-4D97-AF65-F5344CB8AC3E}">
        <p14:creationId xmlns:p14="http://schemas.microsoft.com/office/powerpoint/2010/main" val="21399266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63</a:t>
            </a:fld>
            <a:endParaRPr lang="en-US"/>
          </a:p>
        </p:txBody>
      </p:sp>
    </p:spTree>
    <p:extLst>
      <p:ext uri="{BB962C8B-B14F-4D97-AF65-F5344CB8AC3E}">
        <p14:creationId xmlns:p14="http://schemas.microsoft.com/office/powerpoint/2010/main" val="35054070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64</a:t>
            </a:fld>
            <a:endParaRPr lang="en-US"/>
          </a:p>
        </p:txBody>
      </p:sp>
    </p:spTree>
    <p:extLst>
      <p:ext uri="{BB962C8B-B14F-4D97-AF65-F5344CB8AC3E}">
        <p14:creationId xmlns:p14="http://schemas.microsoft.com/office/powerpoint/2010/main" val="155384433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65</a:t>
            </a:fld>
            <a:endParaRPr lang="en-US"/>
          </a:p>
        </p:txBody>
      </p:sp>
    </p:spTree>
    <p:extLst>
      <p:ext uri="{BB962C8B-B14F-4D97-AF65-F5344CB8AC3E}">
        <p14:creationId xmlns:p14="http://schemas.microsoft.com/office/powerpoint/2010/main" val="74425093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66</a:t>
            </a:fld>
            <a:endParaRPr lang="en-US"/>
          </a:p>
        </p:txBody>
      </p:sp>
    </p:spTree>
    <p:extLst>
      <p:ext uri="{BB962C8B-B14F-4D97-AF65-F5344CB8AC3E}">
        <p14:creationId xmlns:p14="http://schemas.microsoft.com/office/powerpoint/2010/main" val="373267517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67</a:t>
            </a:fld>
            <a:endParaRPr lang="en-US"/>
          </a:p>
        </p:txBody>
      </p:sp>
    </p:spTree>
    <p:extLst>
      <p:ext uri="{BB962C8B-B14F-4D97-AF65-F5344CB8AC3E}">
        <p14:creationId xmlns:p14="http://schemas.microsoft.com/office/powerpoint/2010/main" val="124148916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86CE94-D46D-44F1-B05E-8B85760D4521}" type="slidenum">
              <a:rPr lang="en-US" smtClean="0"/>
              <a:pPr/>
              <a:t>68</a:t>
            </a:fld>
            <a:endParaRPr lang="en-US"/>
          </a:p>
        </p:txBody>
      </p:sp>
    </p:spTree>
    <p:extLst>
      <p:ext uri="{BB962C8B-B14F-4D97-AF65-F5344CB8AC3E}">
        <p14:creationId xmlns:p14="http://schemas.microsoft.com/office/powerpoint/2010/main" val="754247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9E8CE4B-8454-4BC2-BE36-F4CB61F523B5}" type="datetime1">
              <a:rPr lang="en-US" smtClean="0"/>
              <a:t>11/1/2015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2D9705-00B1-4F9D-94FD-1F44237DD526}" type="datetime1">
              <a:rPr lang="en-US" smtClean="0"/>
              <a:t>11/1/2015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A38AED-7AC2-40EF-820C-E5DE9D240FA6}" type="datetime1">
              <a:rPr lang="en-US" smtClean="0"/>
              <a:t>11/1/2015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7E399D5-A714-4B81-A9B7-D55B29083C5C}" type="datetime1">
              <a:rPr lang="en-US" smtClean="0"/>
              <a:t>11/1/2015</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3E777D6-AC01-4C40-B7A5-2E89336A2E97}" type="datetime1">
              <a:rPr lang="en-US" smtClean="0"/>
              <a:t>11/1/2015</a:t>
            </a:fld>
            <a:endParaRPr lang="en-US"/>
          </a:p>
        </p:txBody>
      </p:sp>
      <p:sp>
        <p:nvSpPr>
          <p:cNvPr id="8" name="Footer Placeholder 7"/>
          <p:cNvSpPr>
            <a:spLocks noGrp="1"/>
          </p:cNvSpPr>
          <p:nvPr>
            <p:ph type="ftr" sz="quarter" idx="11"/>
          </p:nvPr>
        </p:nvSpPr>
        <p:spPr/>
        <p:txBody>
          <a:bodyPr/>
          <a:lstStyle/>
          <a:p>
            <a:r>
              <a:rPr lang="en-US" smtClean="0"/>
              <a:t>ME 356 Strength of Materials II for IDL</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C1FCAB7-B9C7-4333-BD7F-A6E17C01B20F}" type="datetime1">
              <a:rPr lang="en-US" smtClean="0"/>
              <a:t>11/1/2015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5BDA83-600F-4F1F-AA01-E0A1AAC7EE6A}" type="datetime1">
              <a:rPr lang="en-US" smtClean="0"/>
              <a:t>11/1/2015</a:t>
            </a:fld>
            <a:endParaRPr lang="en-US"/>
          </a:p>
        </p:txBody>
      </p:sp>
      <p:sp>
        <p:nvSpPr>
          <p:cNvPr id="3" name="Footer Placeholder 2"/>
          <p:cNvSpPr>
            <a:spLocks noGrp="1"/>
          </p:cNvSpPr>
          <p:nvPr>
            <p:ph type="ftr" sz="quarter" idx="11"/>
          </p:nvPr>
        </p:nvSpPr>
        <p:spPr/>
        <p:txBody>
          <a:bodyPr/>
          <a:lstStyle/>
          <a:p>
            <a:r>
              <a:rPr lang="en-US" smtClean="0"/>
              <a:t>ME 356 Strength of Materials II for IDL</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997046-C40E-4945-8FDC-C9A5AEA6CD63}" type="datetime1">
              <a:rPr lang="en-US" smtClean="0"/>
              <a:t>11/1/2015</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E2521F-5D42-4A89-A711-B38782D0D69C}" type="datetime1">
              <a:rPr lang="en-US" smtClean="0"/>
              <a:t>11/1/2015</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40AC36-52B7-41EA-861E-81ED1DBFD341}" type="datetime1">
              <a:rPr lang="en-US" smtClean="0"/>
              <a:t>11/1/2015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711ED39-E36B-467E-A77F-E5F5A01A0E05}" type="datetime1">
              <a:rPr lang="en-US" smtClean="0"/>
              <a:t>11/1/2015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17C9C2-4157-48FA-BB76-2575ECD419D2}" type="datetime1">
              <a:rPr lang="en-US" smtClean="0"/>
              <a:t>11/1/2015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ME 356 Strength of Materials II for IDL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6.wmf"/><Relationship Id="rId18" Type="http://schemas.openxmlformats.org/officeDocument/2006/relationships/oleObject" Target="../embeddings/oleObject8.bin"/><Relationship Id="rId3" Type="http://schemas.openxmlformats.org/officeDocument/2006/relationships/notesSlide" Target="../notesSlides/notesSlide5.xml"/><Relationship Id="rId21" Type="http://schemas.openxmlformats.org/officeDocument/2006/relationships/image" Target="../media/image10.wmf"/><Relationship Id="rId7" Type="http://schemas.openxmlformats.org/officeDocument/2006/relationships/image" Target="../media/image3.wmf"/><Relationship Id="rId12" Type="http://schemas.openxmlformats.org/officeDocument/2006/relationships/oleObject" Target="../embeddings/oleObject5.bin"/><Relationship Id="rId17" Type="http://schemas.openxmlformats.org/officeDocument/2006/relationships/image" Target="../media/image8.wmf"/><Relationship Id="rId2" Type="http://schemas.openxmlformats.org/officeDocument/2006/relationships/slideLayout" Target="../slideLayouts/slideLayout2.xml"/><Relationship Id="rId16" Type="http://schemas.openxmlformats.org/officeDocument/2006/relationships/oleObject" Target="../embeddings/oleObject7.bin"/><Relationship Id="rId20" Type="http://schemas.openxmlformats.org/officeDocument/2006/relationships/oleObject" Target="../embeddings/oleObject9.bin"/><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5.wmf"/><Relationship Id="rId5" Type="http://schemas.openxmlformats.org/officeDocument/2006/relationships/image" Target="../media/image2.wmf"/><Relationship Id="rId15" Type="http://schemas.openxmlformats.org/officeDocument/2006/relationships/image" Target="../media/image7.wmf"/><Relationship Id="rId10" Type="http://schemas.openxmlformats.org/officeDocument/2006/relationships/oleObject" Target="../embeddings/oleObject4.bin"/><Relationship Id="rId19" Type="http://schemas.openxmlformats.org/officeDocument/2006/relationships/image" Target="../media/image9.wmf"/><Relationship Id="rId4" Type="http://schemas.openxmlformats.org/officeDocument/2006/relationships/oleObject" Target="../embeddings/oleObject1.bin"/><Relationship Id="rId9" Type="http://schemas.openxmlformats.org/officeDocument/2006/relationships/image" Target="../media/image4.wmf"/><Relationship Id="rId1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16.wmf"/><Relationship Id="rId18" Type="http://schemas.openxmlformats.org/officeDocument/2006/relationships/oleObject" Target="../embeddings/oleObject17.bin"/><Relationship Id="rId3" Type="http://schemas.openxmlformats.org/officeDocument/2006/relationships/notesSlide" Target="../notesSlides/notesSlide7.xml"/><Relationship Id="rId7" Type="http://schemas.openxmlformats.org/officeDocument/2006/relationships/image" Target="../media/image13.wmf"/><Relationship Id="rId12" Type="http://schemas.openxmlformats.org/officeDocument/2006/relationships/oleObject" Target="../embeddings/oleObject14.bin"/><Relationship Id="rId17" Type="http://schemas.openxmlformats.org/officeDocument/2006/relationships/image" Target="../media/image17.wmf"/><Relationship Id="rId2" Type="http://schemas.openxmlformats.org/officeDocument/2006/relationships/slideLayout" Target="../slideLayouts/slideLayout2.xml"/><Relationship Id="rId16" Type="http://schemas.openxmlformats.org/officeDocument/2006/relationships/oleObject" Target="../embeddings/oleObject16.bin"/><Relationship Id="rId1" Type="http://schemas.openxmlformats.org/officeDocument/2006/relationships/vmlDrawing" Target="../drawings/vmlDrawing2.vml"/><Relationship Id="rId6" Type="http://schemas.openxmlformats.org/officeDocument/2006/relationships/oleObject" Target="../embeddings/oleObject11.bin"/><Relationship Id="rId11" Type="http://schemas.openxmlformats.org/officeDocument/2006/relationships/image" Target="../media/image15.wmf"/><Relationship Id="rId5" Type="http://schemas.openxmlformats.org/officeDocument/2006/relationships/image" Target="../media/image12.wmf"/><Relationship Id="rId15" Type="http://schemas.openxmlformats.org/officeDocument/2006/relationships/image" Target="../media/image5.wmf"/><Relationship Id="rId10" Type="http://schemas.openxmlformats.org/officeDocument/2006/relationships/oleObject" Target="../embeddings/oleObject13.bin"/><Relationship Id="rId19" Type="http://schemas.openxmlformats.org/officeDocument/2006/relationships/image" Target="../media/image18.wmf"/><Relationship Id="rId4" Type="http://schemas.openxmlformats.org/officeDocument/2006/relationships/oleObject" Target="../embeddings/oleObject10.bin"/><Relationship Id="rId9" Type="http://schemas.openxmlformats.org/officeDocument/2006/relationships/image" Target="../media/image14.wmf"/><Relationship Id="rId14" Type="http://schemas.openxmlformats.org/officeDocument/2006/relationships/oleObject" Target="../embeddings/oleObject15.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23.wmf"/><Relationship Id="rId18" Type="http://schemas.openxmlformats.org/officeDocument/2006/relationships/oleObject" Target="../embeddings/oleObject25.bin"/><Relationship Id="rId3" Type="http://schemas.openxmlformats.org/officeDocument/2006/relationships/notesSlide" Target="../notesSlides/notesSlide9.xml"/><Relationship Id="rId21" Type="http://schemas.openxmlformats.org/officeDocument/2006/relationships/image" Target="../media/image27.wmf"/><Relationship Id="rId7" Type="http://schemas.openxmlformats.org/officeDocument/2006/relationships/image" Target="../media/image20.wmf"/><Relationship Id="rId12" Type="http://schemas.openxmlformats.org/officeDocument/2006/relationships/oleObject" Target="../embeddings/oleObject22.bin"/><Relationship Id="rId17" Type="http://schemas.openxmlformats.org/officeDocument/2006/relationships/image" Target="../media/image25.wmf"/><Relationship Id="rId25" Type="http://schemas.openxmlformats.org/officeDocument/2006/relationships/image" Target="../media/image29.wmf"/><Relationship Id="rId2" Type="http://schemas.openxmlformats.org/officeDocument/2006/relationships/slideLayout" Target="../slideLayouts/slideLayout2.xml"/><Relationship Id="rId16" Type="http://schemas.openxmlformats.org/officeDocument/2006/relationships/oleObject" Target="../embeddings/oleObject24.bin"/><Relationship Id="rId20" Type="http://schemas.openxmlformats.org/officeDocument/2006/relationships/oleObject" Target="../embeddings/oleObject26.bin"/><Relationship Id="rId1" Type="http://schemas.openxmlformats.org/officeDocument/2006/relationships/vmlDrawing" Target="../drawings/vmlDrawing3.vml"/><Relationship Id="rId6" Type="http://schemas.openxmlformats.org/officeDocument/2006/relationships/oleObject" Target="../embeddings/oleObject19.bin"/><Relationship Id="rId11" Type="http://schemas.openxmlformats.org/officeDocument/2006/relationships/image" Target="../media/image22.wmf"/><Relationship Id="rId24" Type="http://schemas.openxmlformats.org/officeDocument/2006/relationships/oleObject" Target="../embeddings/oleObject28.bin"/><Relationship Id="rId5" Type="http://schemas.openxmlformats.org/officeDocument/2006/relationships/image" Target="../media/image19.wmf"/><Relationship Id="rId15" Type="http://schemas.openxmlformats.org/officeDocument/2006/relationships/image" Target="../media/image24.wmf"/><Relationship Id="rId23" Type="http://schemas.openxmlformats.org/officeDocument/2006/relationships/image" Target="../media/image28.wmf"/><Relationship Id="rId10" Type="http://schemas.openxmlformats.org/officeDocument/2006/relationships/oleObject" Target="../embeddings/oleObject21.bin"/><Relationship Id="rId19" Type="http://schemas.openxmlformats.org/officeDocument/2006/relationships/image" Target="../media/image26.wmf"/><Relationship Id="rId4" Type="http://schemas.openxmlformats.org/officeDocument/2006/relationships/oleObject" Target="../embeddings/oleObject18.bin"/><Relationship Id="rId9" Type="http://schemas.openxmlformats.org/officeDocument/2006/relationships/image" Target="../media/image21.wmf"/><Relationship Id="rId14" Type="http://schemas.openxmlformats.org/officeDocument/2006/relationships/oleObject" Target="../embeddings/oleObject23.bin"/><Relationship Id="rId22" Type="http://schemas.openxmlformats.org/officeDocument/2006/relationships/oleObject" Target="../embeddings/oleObject27.bin"/></Relationships>
</file>

<file path=ppt/slides/_rels/slide1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35.wmf"/><Relationship Id="rId18" Type="http://schemas.openxmlformats.org/officeDocument/2006/relationships/oleObject" Target="../embeddings/oleObject36.bin"/><Relationship Id="rId3" Type="http://schemas.openxmlformats.org/officeDocument/2006/relationships/notesSlide" Target="../notesSlides/notesSlide11.xml"/><Relationship Id="rId7" Type="http://schemas.openxmlformats.org/officeDocument/2006/relationships/image" Target="../media/image32.wmf"/><Relationship Id="rId12" Type="http://schemas.openxmlformats.org/officeDocument/2006/relationships/oleObject" Target="../embeddings/oleObject33.bin"/><Relationship Id="rId17" Type="http://schemas.openxmlformats.org/officeDocument/2006/relationships/image" Target="../media/image37.wmf"/><Relationship Id="rId2" Type="http://schemas.openxmlformats.org/officeDocument/2006/relationships/slideLayout" Target="../slideLayouts/slideLayout2.xml"/><Relationship Id="rId16" Type="http://schemas.openxmlformats.org/officeDocument/2006/relationships/oleObject" Target="../embeddings/oleObject35.bin"/><Relationship Id="rId1" Type="http://schemas.openxmlformats.org/officeDocument/2006/relationships/vmlDrawing" Target="../drawings/vmlDrawing4.vml"/><Relationship Id="rId6" Type="http://schemas.openxmlformats.org/officeDocument/2006/relationships/oleObject" Target="../embeddings/oleObject30.bin"/><Relationship Id="rId11" Type="http://schemas.openxmlformats.org/officeDocument/2006/relationships/image" Target="../media/image34.wmf"/><Relationship Id="rId5" Type="http://schemas.openxmlformats.org/officeDocument/2006/relationships/image" Target="../media/image31.wmf"/><Relationship Id="rId15" Type="http://schemas.openxmlformats.org/officeDocument/2006/relationships/image" Target="../media/image36.wmf"/><Relationship Id="rId10" Type="http://schemas.openxmlformats.org/officeDocument/2006/relationships/oleObject" Target="../embeddings/oleObject32.bin"/><Relationship Id="rId19" Type="http://schemas.openxmlformats.org/officeDocument/2006/relationships/image" Target="../media/image38.wmf"/><Relationship Id="rId4" Type="http://schemas.openxmlformats.org/officeDocument/2006/relationships/oleObject" Target="../embeddings/oleObject29.bin"/><Relationship Id="rId9" Type="http://schemas.openxmlformats.org/officeDocument/2006/relationships/image" Target="../media/image33.wmf"/><Relationship Id="rId14" Type="http://schemas.openxmlformats.org/officeDocument/2006/relationships/oleObject" Target="../embeddings/oleObject34.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40.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38.bin"/><Relationship Id="rId5" Type="http://schemas.openxmlformats.org/officeDocument/2006/relationships/image" Target="../media/image39.wmf"/><Relationship Id="rId4" Type="http://schemas.openxmlformats.org/officeDocument/2006/relationships/oleObject" Target="../embeddings/oleObject37.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notesSlide" Target="../notesSlides/notesSlide13.xml"/><Relationship Id="rId7" Type="http://schemas.openxmlformats.org/officeDocument/2006/relationships/image" Target="../media/image42.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40.bin"/><Relationship Id="rId11" Type="http://schemas.openxmlformats.org/officeDocument/2006/relationships/image" Target="../media/image44.wmf"/><Relationship Id="rId5" Type="http://schemas.openxmlformats.org/officeDocument/2006/relationships/image" Target="../media/image41.wmf"/><Relationship Id="rId10" Type="http://schemas.openxmlformats.org/officeDocument/2006/relationships/oleObject" Target="../embeddings/oleObject42.bin"/><Relationship Id="rId4" Type="http://schemas.openxmlformats.org/officeDocument/2006/relationships/oleObject" Target="../embeddings/oleObject39.bin"/><Relationship Id="rId9" Type="http://schemas.openxmlformats.org/officeDocument/2006/relationships/image" Target="../media/image43.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notesSlide" Target="../notesSlides/notesSlide14.xml"/><Relationship Id="rId7" Type="http://schemas.openxmlformats.org/officeDocument/2006/relationships/image" Target="../media/image46.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44.bin"/><Relationship Id="rId5" Type="http://schemas.openxmlformats.org/officeDocument/2006/relationships/image" Target="../media/image45.wmf"/><Relationship Id="rId4" Type="http://schemas.openxmlformats.org/officeDocument/2006/relationships/oleObject" Target="../embeddings/oleObject43.bin"/><Relationship Id="rId9" Type="http://schemas.openxmlformats.org/officeDocument/2006/relationships/image" Target="../media/image47.wmf"/></Relationships>
</file>

<file path=ppt/slides/_rels/slide15.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notesSlide" Target="../notesSlides/notesSlide15.xml"/><Relationship Id="rId7" Type="http://schemas.openxmlformats.org/officeDocument/2006/relationships/oleObject" Target="../embeddings/oleObject47.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48.wmf"/><Relationship Id="rId5" Type="http://schemas.openxmlformats.org/officeDocument/2006/relationships/oleObject" Target="../embeddings/oleObject46.bin"/><Relationship Id="rId10" Type="http://schemas.openxmlformats.org/officeDocument/2006/relationships/image" Target="../media/image50.wmf"/><Relationship Id="rId4" Type="http://schemas.openxmlformats.org/officeDocument/2006/relationships/image" Target="../media/image51.emf"/><Relationship Id="rId9" Type="http://schemas.openxmlformats.org/officeDocument/2006/relationships/oleObject" Target="../embeddings/oleObject48.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image" Target="../media/image56.wmf"/><Relationship Id="rId18" Type="http://schemas.openxmlformats.org/officeDocument/2006/relationships/oleObject" Target="../embeddings/oleObject56.bin"/><Relationship Id="rId3" Type="http://schemas.openxmlformats.org/officeDocument/2006/relationships/notesSlide" Target="../notesSlides/notesSlide16.xml"/><Relationship Id="rId7" Type="http://schemas.openxmlformats.org/officeDocument/2006/relationships/image" Target="../media/image53.wmf"/><Relationship Id="rId12" Type="http://schemas.openxmlformats.org/officeDocument/2006/relationships/oleObject" Target="../embeddings/oleObject53.bin"/><Relationship Id="rId17" Type="http://schemas.openxmlformats.org/officeDocument/2006/relationships/image" Target="../media/image58.wmf"/><Relationship Id="rId2" Type="http://schemas.openxmlformats.org/officeDocument/2006/relationships/slideLayout" Target="../slideLayouts/slideLayout2.xml"/><Relationship Id="rId16" Type="http://schemas.openxmlformats.org/officeDocument/2006/relationships/oleObject" Target="../embeddings/oleObject55.bin"/><Relationship Id="rId1" Type="http://schemas.openxmlformats.org/officeDocument/2006/relationships/vmlDrawing" Target="../drawings/vmlDrawing9.vml"/><Relationship Id="rId6" Type="http://schemas.openxmlformats.org/officeDocument/2006/relationships/oleObject" Target="../embeddings/oleObject50.bin"/><Relationship Id="rId11" Type="http://schemas.openxmlformats.org/officeDocument/2006/relationships/image" Target="../media/image55.wmf"/><Relationship Id="rId5" Type="http://schemas.openxmlformats.org/officeDocument/2006/relationships/image" Target="../media/image52.wmf"/><Relationship Id="rId15" Type="http://schemas.openxmlformats.org/officeDocument/2006/relationships/image" Target="../media/image57.wmf"/><Relationship Id="rId10" Type="http://schemas.openxmlformats.org/officeDocument/2006/relationships/oleObject" Target="../embeddings/oleObject52.bin"/><Relationship Id="rId19" Type="http://schemas.openxmlformats.org/officeDocument/2006/relationships/image" Target="../media/image59.wmf"/><Relationship Id="rId4" Type="http://schemas.openxmlformats.org/officeDocument/2006/relationships/oleObject" Target="../embeddings/oleObject49.bin"/><Relationship Id="rId9" Type="http://schemas.openxmlformats.org/officeDocument/2006/relationships/image" Target="../media/image54.wmf"/><Relationship Id="rId14" Type="http://schemas.openxmlformats.org/officeDocument/2006/relationships/oleObject" Target="../embeddings/oleObject54.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61.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58.bin"/><Relationship Id="rId5" Type="http://schemas.openxmlformats.org/officeDocument/2006/relationships/image" Target="../media/image60.wmf"/><Relationship Id="rId4" Type="http://schemas.openxmlformats.org/officeDocument/2006/relationships/oleObject" Target="../embeddings/oleObject57.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63.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60.bin"/><Relationship Id="rId5" Type="http://schemas.openxmlformats.org/officeDocument/2006/relationships/image" Target="../media/image62.wmf"/><Relationship Id="rId4" Type="http://schemas.openxmlformats.org/officeDocument/2006/relationships/oleObject" Target="../embeddings/oleObject59.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65.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62.bin"/><Relationship Id="rId5" Type="http://schemas.openxmlformats.org/officeDocument/2006/relationships/image" Target="../media/image64.wmf"/><Relationship Id="rId4" Type="http://schemas.openxmlformats.org/officeDocument/2006/relationships/oleObject" Target="../embeddings/oleObject61.bin"/></Relationships>
</file>

<file path=ppt/slides/_rels/slide2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2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2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3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3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3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4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4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4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4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5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5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64.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745162"/>
          </a:xfrm>
        </p:spPr>
        <p:txBody>
          <a:bodyPr>
            <a:normAutofit/>
          </a:bodyPr>
          <a:lstStyle/>
          <a:p>
            <a:r>
              <a:rPr lang="en-US" sz="6000" b="1" i="1" dirty="0" smtClean="0"/>
              <a:t>DEFLECTION OF BEAMS</a:t>
            </a:r>
            <a:r>
              <a:rPr lang="en-US" sz="6000" dirty="0" smtClean="0"/>
              <a:t/>
            </a:r>
            <a:br>
              <a:rPr lang="en-US" sz="6000" dirty="0" smtClean="0"/>
            </a:br>
            <a:r>
              <a:rPr lang="en-US" sz="6000" dirty="0" smtClean="0"/>
              <a:t/>
            </a:r>
            <a:br>
              <a:rPr lang="en-US" sz="6000" dirty="0" smtClean="0"/>
            </a:br>
            <a:r>
              <a:rPr lang="en-US" sz="6000" dirty="0" smtClean="0"/>
              <a:t/>
            </a:r>
            <a:br>
              <a:rPr lang="en-US" sz="6000" dirty="0" smtClean="0"/>
            </a:br>
            <a:r>
              <a:rPr lang="en-US" sz="6000" dirty="0" smtClean="0"/>
              <a:t/>
            </a:r>
            <a:br>
              <a:rPr lang="en-US" sz="6000" dirty="0" smtClean="0"/>
            </a:br>
            <a:r>
              <a:rPr lang="en-US" sz="6000" dirty="0" smtClean="0"/>
              <a:t/>
            </a:r>
            <a:br>
              <a:rPr lang="en-US" sz="6000" dirty="0" smtClean="0"/>
            </a:br>
            <a:r>
              <a:rPr lang="en-US" sz="3600" b="1" i="1" dirty="0" smtClean="0"/>
              <a:t>By Dr. Andoh</a:t>
            </a:r>
            <a:endParaRPr lang="en-US" sz="3600" b="1" i="1"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676400"/>
          </a:xfrm>
        </p:spPr>
        <p:txBody>
          <a:bodyPr>
            <a:normAutofit/>
          </a:bodyPr>
          <a:lstStyle/>
          <a:p>
            <a:r>
              <a:rPr lang="en-US" dirty="0" smtClean="0"/>
              <a:t>Introduction</a:t>
            </a:r>
            <a:br>
              <a:rPr lang="en-US" dirty="0" smtClean="0"/>
            </a:br>
            <a:r>
              <a:rPr lang="en-US" dirty="0" smtClean="0"/>
              <a:t>Learning objectives</a:t>
            </a:r>
            <a:endParaRPr lang="en-US" dirty="0"/>
          </a:p>
        </p:txBody>
      </p:sp>
      <p:sp>
        <p:nvSpPr>
          <p:cNvPr id="3" name="Content Placeholder 2"/>
          <p:cNvSpPr>
            <a:spLocks noGrp="1"/>
          </p:cNvSpPr>
          <p:nvPr>
            <p:ph idx="1"/>
          </p:nvPr>
        </p:nvSpPr>
        <p:spPr>
          <a:xfrm>
            <a:off x="457200" y="2133600"/>
            <a:ext cx="8229600" cy="4419600"/>
          </a:xfrm>
        </p:spPr>
        <p:txBody>
          <a:bodyPr>
            <a:normAutofit fontScale="77500" lnSpcReduction="20000"/>
          </a:bodyPr>
          <a:lstStyle/>
          <a:p>
            <a:r>
              <a:rPr lang="en-GB" dirty="0" smtClean="0"/>
              <a:t>This unit discusses the various methods used to determine the deflection of beams, which include the strain energy method, the method of calculus and the Macaulay’s method</a:t>
            </a:r>
          </a:p>
          <a:p>
            <a:pPr>
              <a:buNone/>
            </a:pPr>
            <a:endParaRPr lang="en-GB" dirty="0" smtClean="0"/>
          </a:p>
          <a:p>
            <a:pPr>
              <a:buNone/>
            </a:pPr>
            <a:r>
              <a:rPr lang="en-GB" dirty="0" smtClean="0"/>
              <a:t>After reading this unit you should be able to: </a:t>
            </a:r>
            <a:endParaRPr lang="en-US" dirty="0" smtClean="0"/>
          </a:p>
          <a:p>
            <a:pPr lvl="0"/>
            <a:r>
              <a:rPr lang="en-US" dirty="0" smtClean="0"/>
              <a:t>Define deflection of a beam  </a:t>
            </a:r>
          </a:p>
          <a:p>
            <a:pPr lvl="0"/>
            <a:r>
              <a:rPr lang="en-US" dirty="0" smtClean="0"/>
              <a:t>Derive the various equations used to determine the deflection of beams</a:t>
            </a:r>
          </a:p>
          <a:p>
            <a:pPr lvl="0"/>
            <a:r>
              <a:rPr lang="en-US" dirty="0" smtClean="0"/>
              <a:t>Select the appropriate boundary conditions for each type of situation</a:t>
            </a:r>
          </a:p>
          <a:p>
            <a:r>
              <a:rPr lang="en-GB" dirty="0" smtClean="0"/>
              <a:t>Determine the deflection of beam using the three methods</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Differential Equation of the Deflection Curve</a:t>
            </a:r>
            <a:endParaRPr lang="en-US" dirty="0"/>
          </a:p>
        </p:txBody>
      </p:sp>
      <p:sp>
        <p:nvSpPr>
          <p:cNvPr id="3" name="Content Placeholder 2"/>
          <p:cNvSpPr>
            <a:spLocks noGrp="1"/>
          </p:cNvSpPr>
          <p:nvPr>
            <p:ph idx="1"/>
          </p:nvPr>
        </p:nvSpPr>
        <p:spPr>
          <a:xfrm>
            <a:off x="457200" y="1066800"/>
            <a:ext cx="8229600" cy="5638800"/>
          </a:xfrm>
        </p:spPr>
        <p:txBody>
          <a:bodyPr>
            <a:noAutofit/>
          </a:bodyPr>
          <a:lstStyle/>
          <a:p>
            <a:r>
              <a:rPr lang="en-US" sz="2000" dirty="0" smtClean="0"/>
              <a:t>Whenever a cantilever or a beam is loaded, it deflects from its original position.</a:t>
            </a:r>
          </a:p>
          <a:p>
            <a:r>
              <a:rPr lang="en-US" sz="2000" dirty="0" smtClean="0"/>
              <a:t>The amount, by which a beam deflects, depends upon its cross-section and the bending moment.</a:t>
            </a:r>
          </a:p>
          <a:p>
            <a:r>
              <a:rPr lang="en-US" sz="2000" dirty="0" smtClean="0"/>
              <a:t>In modern design offices, the two design criteria for the deflection of a cantilever or a beam are strength and stiffness.</a:t>
            </a:r>
          </a:p>
          <a:p>
            <a:r>
              <a:rPr lang="en-US" sz="2000" dirty="0" smtClean="0"/>
              <a:t>As per the strength criterion of the beam design, it should be strong enough to resist bending moment and shear force. Or in other words, the beam should be strong enough to resist the bending stresses and shear stresses.</a:t>
            </a:r>
          </a:p>
          <a:p>
            <a:r>
              <a:rPr lang="en-US" sz="2000" dirty="0" smtClean="0"/>
              <a:t>As per the stiffness criterion of the beam design, which is equally important, it should be stiff enough to resist the deflection of the beam. Or in other words, the beam should be stiff enough not to deflect more than the permissible limit under the action of the loading.</a:t>
            </a:r>
          </a:p>
          <a:p>
            <a:r>
              <a:rPr lang="en-US" sz="2000" dirty="0" smtClean="0"/>
              <a:t>In actual practice, some specifications are always laid to limit the maximum deflection of a cantilever or a beam to a small fraction of its span</a:t>
            </a:r>
            <a:r>
              <a:rPr lang="en-US" sz="2400" dirty="0" smtClean="0"/>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715962"/>
          </a:xfrm>
        </p:spPr>
        <p:txBody>
          <a:bodyPr>
            <a:normAutofit fontScale="90000"/>
          </a:bodyPr>
          <a:lstStyle/>
          <a:p>
            <a:r>
              <a:rPr lang="en-US" dirty="0" smtClean="0"/>
              <a:t>Curvature of the Bending Beam</a:t>
            </a:r>
            <a:endParaRPr lang="en-US" dirty="0"/>
          </a:p>
        </p:txBody>
      </p:sp>
      <p:sp>
        <p:nvSpPr>
          <p:cNvPr id="3" name="Content Placeholder 2"/>
          <p:cNvSpPr>
            <a:spLocks noGrp="1"/>
          </p:cNvSpPr>
          <p:nvPr>
            <p:ph sz="half" idx="4294967295"/>
          </p:nvPr>
        </p:nvSpPr>
        <p:spPr>
          <a:xfrm>
            <a:off x="0" y="990600"/>
            <a:ext cx="4038600" cy="5135563"/>
          </a:xfrm>
        </p:spPr>
        <p:txBody>
          <a:bodyPr>
            <a:normAutofit fontScale="55000" lnSpcReduction="20000"/>
          </a:bodyPr>
          <a:lstStyle/>
          <a:p>
            <a:r>
              <a:rPr lang="en-US" dirty="0" smtClean="0"/>
              <a:t>Consider a beam </a:t>
            </a:r>
            <a:r>
              <a:rPr lang="en-US" i="1" dirty="0" smtClean="0"/>
              <a:t>AB </a:t>
            </a:r>
            <a:r>
              <a:rPr lang="en-US" dirty="0" smtClean="0"/>
              <a:t>subjected to a bending moment. As a result of loading, let the beam deflects from </a:t>
            </a:r>
            <a:r>
              <a:rPr lang="en-US" i="1" dirty="0" smtClean="0"/>
              <a:t>ABC </a:t>
            </a:r>
            <a:r>
              <a:rPr lang="en-US" dirty="0" smtClean="0"/>
              <a:t>to </a:t>
            </a:r>
            <a:r>
              <a:rPr lang="en-US" i="1" dirty="0" smtClean="0"/>
              <a:t>ADB </a:t>
            </a:r>
            <a:r>
              <a:rPr lang="en-US" dirty="0" smtClean="0"/>
              <a:t>into a circular arc as shown in Fig. 1</a:t>
            </a:r>
          </a:p>
          <a:p>
            <a:pPr>
              <a:buNone/>
            </a:pPr>
            <a:r>
              <a:rPr lang="en-US" dirty="0" smtClean="0"/>
              <a:t>Let 	</a:t>
            </a:r>
          </a:p>
          <a:p>
            <a:r>
              <a:rPr lang="en-US" i="1" dirty="0" smtClean="0"/>
              <a:t>l 	</a:t>
            </a:r>
            <a:r>
              <a:rPr lang="en-US" dirty="0" smtClean="0"/>
              <a:t>Length of the beam </a:t>
            </a:r>
            <a:r>
              <a:rPr lang="en-US" i="1" dirty="0" smtClean="0"/>
              <a:t>AB</a:t>
            </a:r>
            <a:endParaRPr lang="en-US" dirty="0" smtClean="0"/>
          </a:p>
          <a:p>
            <a:r>
              <a:rPr lang="en-US" i="1" dirty="0" smtClean="0"/>
              <a:t>M	</a:t>
            </a:r>
            <a:r>
              <a:rPr lang="en-US" dirty="0" smtClean="0"/>
              <a:t>Bending moment,</a:t>
            </a:r>
          </a:p>
          <a:p>
            <a:r>
              <a:rPr lang="en-US" i="1" dirty="0" smtClean="0"/>
              <a:t>R 	</a:t>
            </a:r>
            <a:r>
              <a:rPr lang="en-US" dirty="0" smtClean="0"/>
              <a:t>Radius of curvature of the bent up beam,</a:t>
            </a:r>
          </a:p>
          <a:p>
            <a:r>
              <a:rPr lang="en-US" i="1" dirty="0" smtClean="0"/>
              <a:t>I	</a:t>
            </a:r>
            <a:r>
              <a:rPr lang="en-US" dirty="0" smtClean="0"/>
              <a:t>Moment of inertia of the beam section,</a:t>
            </a:r>
          </a:p>
          <a:p>
            <a:r>
              <a:rPr lang="en-US" i="1" dirty="0" smtClean="0"/>
              <a:t>E	</a:t>
            </a:r>
            <a:r>
              <a:rPr lang="en-US" dirty="0" smtClean="0"/>
              <a:t>Modulus of elasticity of beam material,</a:t>
            </a:r>
          </a:p>
          <a:p>
            <a:r>
              <a:rPr lang="en-US" i="1" dirty="0" smtClean="0"/>
              <a:t>Y	</a:t>
            </a:r>
            <a:r>
              <a:rPr lang="en-US" dirty="0" smtClean="0"/>
              <a:t>Deflection of the beam </a:t>
            </a:r>
            <a:r>
              <a:rPr lang="en-US" i="1" dirty="0" smtClean="0"/>
              <a:t>(i.e., CD) </a:t>
            </a:r>
            <a:r>
              <a:rPr lang="en-US" dirty="0" smtClean="0"/>
              <a:t>and</a:t>
            </a:r>
          </a:p>
          <a:p>
            <a:r>
              <a:rPr lang="en-US" i="1" dirty="0" smtClean="0"/>
              <a:t>I</a:t>
            </a:r>
            <a:r>
              <a:rPr lang="en-US" dirty="0" smtClean="0"/>
              <a:t>	Slope of the beam </a:t>
            </a:r>
            <a:r>
              <a:rPr lang="en-US" i="1" dirty="0" smtClean="0"/>
              <a:t>(</a:t>
            </a:r>
            <a:r>
              <a:rPr lang="en-US" i="1" dirty="0" err="1" smtClean="0"/>
              <a:t>i.e</a:t>
            </a:r>
            <a:r>
              <a:rPr lang="en-US" i="1" dirty="0" smtClean="0"/>
              <a:t> </a:t>
            </a:r>
            <a:r>
              <a:rPr lang="en-US" dirty="0" smtClean="0"/>
              <a:t>angle which the tangent at </a:t>
            </a:r>
            <a:r>
              <a:rPr lang="en-US" i="1" dirty="0" smtClean="0"/>
              <a:t>A </a:t>
            </a:r>
            <a:r>
              <a:rPr lang="en-US" dirty="0" smtClean="0"/>
              <a:t>makes with </a:t>
            </a:r>
            <a:r>
              <a:rPr lang="en-US" i="1" dirty="0" smtClean="0"/>
              <a:t>AB)</a:t>
            </a:r>
            <a:endParaRPr lang="en-US" dirty="0"/>
          </a:p>
        </p:txBody>
      </p:sp>
      <p:pic>
        <p:nvPicPr>
          <p:cNvPr id="5" name="Content Placeholder 4"/>
          <p:cNvPicPr>
            <a:picLocks noGrp="1"/>
          </p:cNvPicPr>
          <p:nvPr>
            <p:ph sz="half" idx="4294967295"/>
          </p:nvPr>
        </p:nvPicPr>
        <p:blipFill>
          <a:blip r:embed="rId3"/>
          <a:srcRect/>
          <a:stretch>
            <a:fillRect/>
          </a:stretch>
        </p:blipFill>
        <p:spPr bwMode="auto">
          <a:xfrm>
            <a:off x="5867400" y="1143000"/>
            <a:ext cx="3276600" cy="3962400"/>
          </a:xfrm>
          <a:prstGeom prst="rect">
            <a:avLst/>
          </a:prstGeom>
          <a:noFill/>
          <a:ln w="9525">
            <a:noFill/>
            <a:miter lim="800000"/>
            <a:headEnd/>
            <a:tailEnd/>
          </a:ln>
        </p:spPr>
      </p:pic>
      <p:sp>
        <p:nvSpPr>
          <p:cNvPr id="7" name="TextBox 6"/>
          <p:cNvSpPr txBox="1"/>
          <p:nvPr/>
        </p:nvSpPr>
        <p:spPr>
          <a:xfrm>
            <a:off x="5257801" y="5486400"/>
            <a:ext cx="3200399" cy="369332"/>
          </a:xfrm>
          <a:prstGeom prst="rect">
            <a:avLst/>
          </a:prstGeom>
          <a:noFill/>
        </p:spPr>
        <p:txBody>
          <a:bodyPr wrap="square" rtlCol="0">
            <a:spAutoFit/>
          </a:bodyPr>
          <a:lstStyle/>
          <a:p>
            <a:r>
              <a:rPr lang="en-GB" dirty="0" smtClean="0"/>
              <a:t>Fig. 1: : Curvature of the beam</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8" name="Footer Placeholder 7"/>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400800"/>
          </a:xfrm>
        </p:spPr>
        <p:txBody>
          <a:bodyPr>
            <a:normAutofit fontScale="55000" lnSpcReduction="20000"/>
          </a:bodyPr>
          <a:lstStyle/>
          <a:p>
            <a:r>
              <a:rPr lang="en-US" dirty="0" smtClean="0"/>
              <a:t>From the geometry of a circle, we know that </a:t>
            </a:r>
          </a:p>
          <a:p>
            <a:pPr>
              <a:buNone/>
            </a:pPr>
            <a:r>
              <a:rPr lang="en-US" dirty="0" smtClean="0"/>
              <a:t> </a:t>
            </a:r>
            <a:endParaRPr lang="en-US" b="1" dirty="0" smtClean="0"/>
          </a:p>
          <a:p>
            <a:r>
              <a:rPr lang="en-US" dirty="0" smtClean="0"/>
              <a:t>Therefore</a:t>
            </a:r>
            <a:r>
              <a:rPr lang="en-US" b="1" dirty="0" smtClean="0"/>
              <a:t> </a:t>
            </a:r>
          </a:p>
          <a:p>
            <a:pPr>
              <a:buNone/>
            </a:pPr>
            <a:endParaRPr lang="en-US" b="1" dirty="0" smtClean="0"/>
          </a:p>
          <a:p>
            <a:r>
              <a:rPr lang="en-US" dirty="0" smtClean="0"/>
              <a:t>Neglecting y</a:t>
            </a:r>
            <a:r>
              <a:rPr lang="en-US" baseline="30000" dirty="0" smtClean="0"/>
              <a:t>2</a:t>
            </a:r>
            <a:r>
              <a:rPr lang="en-US" dirty="0" smtClean="0"/>
              <a:t>,                                         ……………………………………………………(</a:t>
            </a:r>
            <a:r>
              <a:rPr lang="en-US" dirty="0" err="1" smtClean="0"/>
              <a:t>i</a:t>
            </a:r>
            <a:r>
              <a:rPr lang="en-US" dirty="0" smtClean="0"/>
              <a:t>)</a:t>
            </a:r>
          </a:p>
          <a:p>
            <a:pPr>
              <a:buNone/>
            </a:pPr>
            <a:r>
              <a:rPr lang="en-US" dirty="0" smtClean="0"/>
              <a:t>									</a:t>
            </a:r>
          </a:p>
          <a:p>
            <a:r>
              <a:rPr lang="en-US" dirty="0" smtClean="0"/>
              <a:t>From ME 255, for a loaded beam,                            or </a:t>
            </a:r>
          </a:p>
          <a:p>
            <a:pPr>
              <a:buNone/>
            </a:pPr>
            <a:endParaRPr lang="en-US" dirty="0" smtClean="0"/>
          </a:p>
          <a:p>
            <a:r>
              <a:rPr lang="en-US" dirty="0" smtClean="0"/>
              <a:t>Now substituting this value of </a:t>
            </a:r>
            <a:r>
              <a:rPr lang="en-US" i="1" dirty="0" smtClean="0"/>
              <a:t>R </a:t>
            </a:r>
            <a:r>
              <a:rPr lang="en-US" dirty="0" smtClean="0"/>
              <a:t>in equation </a:t>
            </a:r>
            <a:r>
              <a:rPr lang="en-US" i="1" dirty="0" smtClean="0"/>
              <a:t>(</a:t>
            </a:r>
            <a:r>
              <a:rPr lang="en-US" i="1" dirty="0" err="1" smtClean="0"/>
              <a:t>i</a:t>
            </a:r>
            <a:r>
              <a:rPr lang="en-US" i="1" dirty="0" smtClean="0"/>
              <a:t>),</a:t>
            </a:r>
            <a:r>
              <a:rPr lang="en-GB" dirty="0" smtClean="0"/>
              <a:t> </a:t>
            </a:r>
          </a:p>
          <a:p>
            <a:pPr>
              <a:buNone/>
            </a:pPr>
            <a:endParaRPr lang="en-US" dirty="0" smtClean="0"/>
          </a:p>
          <a:p>
            <a:pPr>
              <a:buNone/>
            </a:pPr>
            <a:r>
              <a:rPr lang="en-US" dirty="0" smtClean="0"/>
              <a:t> </a:t>
            </a:r>
          </a:p>
          <a:p>
            <a:r>
              <a:rPr lang="en-US" dirty="0" smtClean="0"/>
              <a:t>From the geometry of the figure, we find that the slope of the beam </a:t>
            </a:r>
            <a:r>
              <a:rPr lang="en-US" dirty="0" err="1" smtClean="0"/>
              <a:t>i</a:t>
            </a:r>
            <a:r>
              <a:rPr lang="en-US" dirty="0" smtClean="0"/>
              <a:t> at </a:t>
            </a:r>
            <a:r>
              <a:rPr lang="en-US" i="1" dirty="0" smtClean="0"/>
              <a:t>A </a:t>
            </a:r>
            <a:r>
              <a:rPr lang="en-US" dirty="0" smtClean="0"/>
              <a:t>or </a:t>
            </a:r>
            <a:r>
              <a:rPr lang="en-US" i="1" dirty="0" smtClean="0"/>
              <a:t>B </a:t>
            </a:r>
            <a:r>
              <a:rPr lang="en-US" dirty="0" smtClean="0"/>
              <a:t>is also equal to angle </a:t>
            </a:r>
            <a:r>
              <a:rPr lang="en-US" i="1" dirty="0" smtClean="0"/>
              <a:t>AOC.</a:t>
            </a:r>
          </a:p>
          <a:p>
            <a:pPr>
              <a:buNone/>
            </a:pPr>
            <a:endParaRPr lang="en-US" dirty="0" smtClean="0"/>
          </a:p>
          <a:p>
            <a:r>
              <a:rPr lang="en-US" dirty="0" smtClean="0"/>
              <a:t>Therefore</a:t>
            </a:r>
            <a:r>
              <a:rPr lang="en-US" i="1" dirty="0" smtClean="0"/>
              <a:t>, </a:t>
            </a:r>
            <a:endParaRPr lang="en-US" dirty="0" smtClean="0"/>
          </a:p>
          <a:p>
            <a:pPr>
              <a:buNone/>
            </a:pPr>
            <a:r>
              <a:rPr lang="en-US" i="1" dirty="0" smtClean="0"/>
              <a:t> </a:t>
            </a:r>
            <a:endParaRPr lang="en-US" dirty="0" smtClean="0"/>
          </a:p>
          <a:p>
            <a:r>
              <a:rPr lang="en-US" dirty="0" smtClean="0"/>
              <a:t>Since the angle </a:t>
            </a:r>
            <a:r>
              <a:rPr lang="en-US" dirty="0" err="1" smtClean="0"/>
              <a:t>i</a:t>
            </a:r>
            <a:r>
              <a:rPr lang="en-US" dirty="0" smtClean="0"/>
              <a:t> is very small. therefore, sin </a:t>
            </a:r>
            <a:r>
              <a:rPr lang="en-US" dirty="0" err="1" smtClean="0"/>
              <a:t>i</a:t>
            </a:r>
            <a:r>
              <a:rPr lang="en-US" dirty="0" smtClean="0"/>
              <a:t> may be taken equal to </a:t>
            </a:r>
            <a:r>
              <a:rPr lang="en-US" dirty="0" err="1" smtClean="0"/>
              <a:t>i</a:t>
            </a:r>
            <a:r>
              <a:rPr lang="en-US" dirty="0" smtClean="0"/>
              <a:t> (in radians).</a:t>
            </a:r>
          </a:p>
          <a:p>
            <a:pPr>
              <a:buNone/>
            </a:pPr>
            <a:endParaRPr lang="en-US" dirty="0" smtClean="0"/>
          </a:p>
          <a:p>
            <a:r>
              <a:rPr lang="en-US" dirty="0" smtClean="0"/>
              <a:t>Therefore,                                                             ……………………………………………..(ii)</a:t>
            </a:r>
          </a:p>
          <a:p>
            <a:pPr>
              <a:buNone/>
            </a:pPr>
            <a:r>
              <a:rPr lang="en-US" dirty="0" smtClean="0"/>
              <a:t>									</a:t>
            </a:r>
          </a:p>
          <a:p>
            <a:r>
              <a:rPr lang="en-US" dirty="0" smtClean="0"/>
              <a:t>Again substituting the value of </a:t>
            </a:r>
            <a:r>
              <a:rPr lang="en-US" i="1" dirty="0" smtClean="0"/>
              <a:t>R </a:t>
            </a:r>
            <a:r>
              <a:rPr lang="en-US" dirty="0" smtClean="0"/>
              <a:t>in equation (ii),                                               …(iii)</a:t>
            </a:r>
          </a:p>
          <a:p>
            <a:pPr>
              <a:buNone/>
            </a:pPr>
            <a:endParaRPr lang="en-US" dirty="0"/>
          </a:p>
        </p:txBody>
      </p:sp>
      <p:sp>
        <p:nvSpPr>
          <p:cNvPr id="2048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81" name="Object 1"/>
          <p:cNvGraphicFramePr>
            <a:graphicFrameLocks noChangeAspect="1"/>
          </p:cNvGraphicFramePr>
          <p:nvPr/>
        </p:nvGraphicFramePr>
        <p:xfrm>
          <a:off x="5410200" y="152400"/>
          <a:ext cx="3200400" cy="381000"/>
        </p:xfrm>
        <a:graphic>
          <a:graphicData uri="http://schemas.openxmlformats.org/presentationml/2006/ole">
            <mc:AlternateContent xmlns:mc="http://schemas.openxmlformats.org/markup-compatibility/2006">
              <mc:Choice xmlns:v="urn:schemas-microsoft-com:vml" Requires="v">
                <p:oleObj spid="_x0000_s20507" name="Equation" r:id="rId4" imgW="2857500" imgH="304800" progId="Equation.3">
                  <p:embed/>
                </p:oleObj>
              </mc:Choice>
              <mc:Fallback>
                <p:oleObj name="Equation" r:id="rId4" imgW="2857500" imgH="304800" progId="Equation.3">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0200" y="152400"/>
                        <a:ext cx="3200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83" name="Object 3"/>
          <p:cNvGraphicFramePr>
            <a:graphicFrameLocks noChangeAspect="1"/>
          </p:cNvGraphicFramePr>
          <p:nvPr/>
        </p:nvGraphicFramePr>
        <p:xfrm>
          <a:off x="2209800" y="533400"/>
          <a:ext cx="1676400" cy="466725"/>
        </p:xfrm>
        <a:graphic>
          <a:graphicData uri="http://schemas.openxmlformats.org/presentationml/2006/ole">
            <mc:AlternateContent xmlns:mc="http://schemas.openxmlformats.org/markup-compatibility/2006">
              <mc:Choice xmlns:v="urn:schemas-microsoft-com:vml" Requires="v">
                <p:oleObj spid="_x0000_s20508" name="Equation" r:id="rId6" imgW="1409088" imgH="317362" progId="Equation.3">
                  <p:embed/>
                </p:oleObj>
              </mc:Choice>
              <mc:Fallback>
                <p:oleObj name="Equation" r:id="rId6" imgW="1409088" imgH="317362"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533400"/>
                        <a:ext cx="1676400"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85" name="Object 5"/>
          <p:cNvGraphicFramePr>
            <a:graphicFrameLocks noChangeAspect="1"/>
          </p:cNvGraphicFramePr>
          <p:nvPr/>
        </p:nvGraphicFramePr>
        <p:xfrm>
          <a:off x="2438400" y="1066800"/>
          <a:ext cx="1143000" cy="533400"/>
        </p:xfrm>
        <a:graphic>
          <a:graphicData uri="http://schemas.openxmlformats.org/presentationml/2006/ole">
            <mc:AlternateContent xmlns:mc="http://schemas.openxmlformats.org/markup-compatibility/2006">
              <mc:Choice xmlns:v="urn:schemas-microsoft-com:vml" Requires="v">
                <p:oleObj spid="_x0000_s20509" name="Equation" r:id="rId8" imgW="609336" imgH="317362" progId="Equation.3">
                  <p:embed/>
                </p:oleObj>
              </mc:Choice>
              <mc:Fallback>
                <p:oleObj name="Equation" r:id="rId8" imgW="609336" imgH="317362" progId="Equation.3">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38400" y="1066800"/>
                        <a:ext cx="11430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87" name="Object 7"/>
          <p:cNvGraphicFramePr>
            <a:graphicFrameLocks noChangeAspect="1"/>
          </p:cNvGraphicFramePr>
          <p:nvPr/>
        </p:nvGraphicFramePr>
        <p:xfrm>
          <a:off x="4191000" y="1600200"/>
          <a:ext cx="762000" cy="552450"/>
        </p:xfrm>
        <a:graphic>
          <a:graphicData uri="http://schemas.openxmlformats.org/presentationml/2006/ole">
            <mc:AlternateContent xmlns:mc="http://schemas.openxmlformats.org/markup-compatibility/2006">
              <mc:Choice xmlns:v="urn:schemas-microsoft-com:vml" Requires="v">
                <p:oleObj spid="_x0000_s20510" name="Equation" r:id="rId10" imgW="520474" imgH="393529" progId="Equation.3">
                  <p:embed/>
                </p:oleObj>
              </mc:Choice>
              <mc:Fallback>
                <p:oleObj name="Equation" r:id="rId10" imgW="520474" imgH="393529" progId="Equation.3">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91000" y="1600200"/>
                        <a:ext cx="762000"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0"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89" name="Object 9"/>
          <p:cNvGraphicFramePr>
            <a:graphicFrameLocks noChangeAspect="1"/>
          </p:cNvGraphicFramePr>
          <p:nvPr/>
        </p:nvGraphicFramePr>
        <p:xfrm>
          <a:off x="6172200" y="1676400"/>
          <a:ext cx="914400" cy="457200"/>
        </p:xfrm>
        <a:graphic>
          <a:graphicData uri="http://schemas.openxmlformats.org/presentationml/2006/ole">
            <mc:AlternateContent xmlns:mc="http://schemas.openxmlformats.org/markup-compatibility/2006">
              <mc:Choice xmlns:v="urn:schemas-microsoft-com:vml" Requires="v">
                <p:oleObj spid="_x0000_s20511" name="Equation" r:id="rId12" imgW="495000" imgH="393480" progId="Equation.3">
                  <p:embed/>
                </p:oleObj>
              </mc:Choice>
              <mc:Fallback>
                <p:oleObj name="Equation" r:id="rId12" imgW="495000" imgH="393480" progId="Equation.3">
                  <p:embed/>
                  <p:pic>
                    <p:nvPicPr>
                      <p:cNvPr id="0" name="Picture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72200" y="1676400"/>
                        <a:ext cx="9144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2"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91" name="Object 11"/>
          <p:cNvGraphicFramePr>
            <a:graphicFrameLocks noChangeAspect="1"/>
          </p:cNvGraphicFramePr>
          <p:nvPr/>
        </p:nvGraphicFramePr>
        <p:xfrm>
          <a:off x="5410200" y="2209800"/>
          <a:ext cx="1600200" cy="609600"/>
        </p:xfrm>
        <a:graphic>
          <a:graphicData uri="http://schemas.openxmlformats.org/presentationml/2006/ole">
            <mc:AlternateContent xmlns:mc="http://schemas.openxmlformats.org/markup-compatibility/2006">
              <mc:Choice xmlns:v="urn:schemas-microsoft-com:vml" Requires="v">
                <p:oleObj spid="_x0000_s20512" name="Equation" r:id="rId14" imgW="1320227" imgH="520474" progId="Equation.3">
                  <p:embed/>
                </p:oleObj>
              </mc:Choice>
              <mc:Fallback>
                <p:oleObj name="Equation" r:id="rId14" imgW="1320227" imgH="520474" progId="Equation.3">
                  <p:embed/>
                  <p:pic>
                    <p:nvPicPr>
                      <p:cNvPr id="0" name="Picture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10200" y="2209800"/>
                        <a:ext cx="16002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4"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93" name="Object 13"/>
          <p:cNvGraphicFramePr>
            <a:graphicFrameLocks noChangeAspect="1"/>
          </p:cNvGraphicFramePr>
          <p:nvPr/>
        </p:nvGraphicFramePr>
        <p:xfrm>
          <a:off x="1981200" y="3733800"/>
          <a:ext cx="1752600" cy="552450"/>
        </p:xfrm>
        <a:graphic>
          <a:graphicData uri="http://schemas.openxmlformats.org/presentationml/2006/ole">
            <mc:AlternateContent xmlns:mc="http://schemas.openxmlformats.org/markup-compatibility/2006">
              <mc:Choice xmlns:v="urn:schemas-microsoft-com:vml" Requires="v">
                <p:oleObj spid="_x0000_s20513" name="Equation" r:id="rId16" imgW="1155700" imgH="393700" progId="Equation.3">
                  <p:embed/>
                </p:oleObj>
              </mc:Choice>
              <mc:Fallback>
                <p:oleObj name="Equation" r:id="rId16" imgW="1155700" imgH="393700" progId="Equation.3">
                  <p:embed/>
                  <p:pic>
                    <p:nvPicPr>
                      <p:cNvPr id="0" name="Picture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81200" y="3733800"/>
                        <a:ext cx="1752600"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6"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95" name="Object 15"/>
          <p:cNvGraphicFramePr>
            <a:graphicFrameLocks noChangeAspect="1"/>
          </p:cNvGraphicFramePr>
          <p:nvPr/>
        </p:nvGraphicFramePr>
        <p:xfrm>
          <a:off x="1981200" y="4876800"/>
          <a:ext cx="1752600" cy="533400"/>
        </p:xfrm>
        <a:graphic>
          <a:graphicData uri="http://schemas.openxmlformats.org/presentationml/2006/ole">
            <mc:AlternateContent xmlns:mc="http://schemas.openxmlformats.org/markup-compatibility/2006">
              <mc:Choice xmlns:v="urn:schemas-microsoft-com:vml" Requires="v">
                <p:oleObj spid="_x0000_s20514" name="Equation" r:id="rId18" imgW="1066337" imgH="393529" progId="Equation.3">
                  <p:embed/>
                </p:oleObj>
              </mc:Choice>
              <mc:Fallback>
                <p:oleObj name="Equation" r:id="rId18" imgW="1066337" imgH="393529" progId="Equation.3">
                  <p:embed/>
                  <p:pic>
                    <p:nvPicPr>
                      <p:cNvPr id="0" name="Picture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81200" y="4876800"/>
                        <a:ext cx="17526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8" name="Rectangle 1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97" name="Object 17"/>
          <p:cNvGraphicFramePr>
            <a:graphicFrameLocks noChangeAspect="1"/>
          </p:cNvGraphicFramePr>
          <p:nvPr/>
        </p:nvGraphicFramePr>
        <p:xfrm>
          <a:off x="5410200" y="5410200"/>
          <a:ext cx="2324100" cy="647700"/>
        </p:xfrm>
        <a:graphic>
          <a:graphicData uri="http://schemas.openxmlformats.org/presentationml/2006/ole">
            <mc:AlternateContent xmlns:mc="http://schemas.openxmlformats.org/markup-compatibility/2006">
              <mc:Choice xmlns:v="urn:schemas-microsoft-com:vml" Requires="v">
                <p:oleObj spid="_x0000_s20515" name="Equation" r:id="rId20" imgW="2247900" imgH="495300" progId="Equation.3">
                  <p:embed/>
                </p:oleObj>
              </mc:Choice>
              <mc:Fallback>
                <p:oleObj name="Equation" r:id="rId20" imgW="2247900" imgH="495300" progId="Equation.3">
                  <p:embed/>
                  <p:pic>
                    <p:nvPicPr>
                      <p:cNvPr id="0" name="Picture 1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410200" y="5410200"/>
                        <a:ext cx="2324100"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Slide Number Placeholder 20"/>
          <p:cNvSpPr>
            <a:spLocks noGrp="1"/>
          </p:cNvSpPr>
          <p:nvPr>
            <p:ph type="sldNum" sz="quarter" idx="12"/>
          </p:nvPr>
        </p:nvSpPr>
        <p:spPr/>
        <p:txBody>
          <a:bodyPr/>
          <a:lstStyle/>
          <a:p>
            <a:fld id="{B6F15528-21DE-4FAA-801E-634DDDAF4B2B}" type="slidenum">
              <a:rPr lang="en-US" smtClean="0"/>
              <a:pPr/>
              <a:t>5</a:t>
            </a:fld>
            <a:endParaRPr lang="en-US"/>
          </a:p>
        </p:txBody>
      </p:sp>
      <p:sp>
        <p:nvSpPr>
          <p:cNvPr id="22" name="Footer Placeholder 21"/>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Relationship between Slope, Deflection and Radius of Curvature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Consider a small portion </a:t>
            </a:r>
            <a:r>
              <a:rPr lang="en-US" i="1" dirty="0" smtClean="0"/>
              <a:t>PQ </a:t>
            </a:r>
            <a:r>
              <a:rPr lang="en-US" dirty="0" smtClean="0"/>
              <a:t>of a beam, bent into an arc as shown in Fig. 2.</a:t>
            </a:r>
          </a:p>
          <a:p>
            <a:pPr>
              <a:buNone/>
            </a:pPr>
            <a:r>
              <a:rPr lang="en-US" dirty="0" smtClean="0"/>
              <a:t>Let	</a:t>
            </a:r>
          </a:p>
          <a:p>
            <a:r>
              <a:rPr lang="en-US" i="1" dirty="0" smtClean="0"/>
              <a:t>ds ,</a:t>
            </a:r>
            <a:r>
              <a:rPr lang="en-US" dirty="0" smtClean="0"/>
              <a:t>Length of the beam </a:t>
            </a:r>
            <a:r>
              <a:rPr lang="en-US" i="1" dirty="0" smtClean="0"/>
              <a:t>PQ,</a:t>
            </a:r>
            <a:endParaRPr lang="en-US" dirty="0" smtClean="0"/>
          </a:p>
          <a:p>
            <a:r>
              <a:rPr lang="en-US" i="1" dirty="0" smtClean="0"/>
              <a:t>R ,</a:t>
            </a:r>
            <a:r>
              <a:rPr lang="en-US" dirty="0" smtClean="0"/>
              <a:t>Radius of the arc, into which the beam bas been bent,</a:t>
            </a:r>
          </a:p>
          <a:p>
            <a:r>
              <a:rPr lang="en-US" dirty="0" smtClean="0"/>
              <a:t>C ,Centre of the arc,</a:t>
            </a:r>
          </a:p>
          <a:p>
            <a:r>
              <a:rPr lang="en-US" dirty="0" smtClean="0"/>
              <a:t>Ψ ,Angle, which the tangent at </a:t>
            </a:r>
            <a:r>
              <a:rPr lang="en-US" i="1" dirty="0" smtClean="0"/>
              <a:t>P </a:t>
            </a:r>
            <a:r>
              <a:rPr lang="en-US" dirty="0" smtClean="0"/>
              <a:t>makes with </a:t>
            </a:r>
            <a:r>
              <a:rPr lang="en-US" i="1" dirty="0" smtClean="0"/>
              <a:t>x-x </a:t>
            </a:r>
            <a:r>
              <a:rPr lang="en-US" dirty="0" smtClean="0"/>
              <a:t>axis and</a:t>
            </a:r>
          </a:p>
          <a:p>
            <a:r>
              <a:rPr lang="en-US" dirty="0" smtClean="0"/>
              <a:t>Ψ+dΨ,Angle which the tangent at </a:t>
            </a:r>
            <a:r>
              <a:rPr lang="en-US" i="1" dirty="0" smtClean="0"/>
              <a:t>Q </a:t>
            </a:r>
            <a:r>
              <a:rPr lang="en-US" dirty="0" smtClean="0"/>
              <a:t>makes with </a:t>
            </a:r>
            <a:r>
              <a:rPr lang="en-US" i="1" dirty="0" smtClean="0"/>
              <a:t>x-x </a:t>
            </a:r>
            <a:r>
              <a:rPr lang="en-US" dirty="0" smtClean="0"/>
              <a:t>axis.</a:t>
            </a:r>
            <a:endParaRPr lang="en-US" dirty="0"/>
          </a:p>
        </p:txBody>
      </p:sp>
      <p:pic>
        <p:nvPicPr>
          <p:cNvPr id="5" name="Content Placeholder 4"/>
          <p:cNvPicPr>
            <a:picLocks noGrp="1"/>
          </p:cNvPicPr>
          <p:nvPr>
            <p:ph sz="half" idx="4294967295"/>
          </p:nvPr>
        </p:nvPicPr>
        <p:blipFill>
          <a:blip r:embed="rId3"/>
          <a:srcRect/>
          <a:stretch>
            <a:fillRect/>
          </a:stretch>
        </p:blipFill>
        <p:spPr bwMode="auto">
          <a:xfrm>
            <a:off x="5105400" y="1600200"/>
            <a:ext cx="4038600" cy="3886200"/>
          </a:xfrm>
          <a:prstGeom prst="rect">
            <a:avLst/>
          </a:prstGeom>
          <a:noFill/>
          <a:ln w="9525">
            <a:noFill/>
            <a:miter lim="800000"/>
            <a:headEnd/>
            <a:tailEnd/>
          </a:ln>
        </p:spPr>
      </p:pic>
      <p:sp>
        <p:nvSpPr>
          <p:cNvPr id="6" name="TextBox 5"/>
          <p:cNvSpPr txBox="1"/>
          <p:nvPr/>
        </p:nvSpPr>
        <p:spPr>
          <a:xfrm>
            <a:off x="5181600" y="5562600"/>
            <a:ext cx="2895600" cy="369332"/>
          </a:xfrm>
          <a:prstGeom prst="rect">
            <a:avLst/>
          </a:prstGeom>
          <a:noFill/>
        </p:spPr>
        <p:txBody>
          <a:bodyPr wrap="square" rtlCol="0">
            <a:spAutoFit/>
          </a:bodyPr>
          <a:lstStyle/>
          <a:p>
            <a:r>
              <a:rPr lang="en-US" dirty="0" smtClean="0"/>
              <a:t>Fig. 2, Beam bent into an arc</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6</a:t>
            </a:fld>
            <a:endParaRPr lang="en-US"/>
          </a:p>
        </p:txBody>
      </p:sp>
      <p:sp>
        <p:nvSpPr>
          <p:cNvPr id="8" name="Footer Placeholder 7"/>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305800" cy="6248400"/>
          </a:xfrm>
        </p:spPr>
        <p:txBody>
          <a:bodyPr>
            <a:normAutofit fontScale="55000" lnSpcReduction="20000"/>
          </a:bodyPr>
          <a:lstStyle/>
          <a:p>
            <a:r>
              <a:rPr lang="en-US" dirty="0" smtClean="0"/>
              <a:t>From the geometry of the figure, we find that </a:t>
            </a:r>
          </a:p>
          <a:p>
            <a:pPr>
              <a:buNone/>
            </a:pPr>
            <a:endParaRPr lang="en-US" dirty="0" smtClean="0"/>
          </a:p>
          <a:p>
            <a:r>
              <a:rPr lang="en-US" i="1" dirty="0" smtClean="0"/>
              <a:t>Therefore, </a:t>
            </a:r>
            <a:r>
              <a:rPr lang="en-GB" dirty="0" smtClean="0"/>
              <a:t>                                                 </a:t>
            </a:r>
            <a:r>
              <a:rPr lang="en-US" dirty="0" smtClean="0"/>
              <a:t>(Considering </a:t>
            </a:r>
            <a:r>
              <a:rPr lang="en-US" i="1" dirty="0" err="1" smtClean="0"/>
              <a:t>ds</a:t>
            </a:r>
            <a:r>
              <a:rPr lang="en-US" i="1" dirty="0" smtClean="0"/>
              <a:t> </a:t>
            </a:r>
            <a:r>
              <a:rPr lang="en-US" dirty="0" smtClean="0"/>
              <a:t>= </a:t>
            </a:r>
            <a:r>
              <a:rPr lang="en-US" i="1" dirty="0" err="1" smtClean="0"/>
              <a:t>dx</a:t>
            </a:r>
            <a:r>
              <a:rPr lang="en-US" i="1" dirty="0" smtClean="0"/>
              <a:t>)</a:t>
            </a:r>
          </a:p>
          <a:p>
            <a:pPr>
              <a:buNone/>
            </a:pPr>
            <a:endParaRPr lang="en-US" dirty="0" smtClean="0"/>
          </a:p>
          <a:p>
            <a:r>
              <a:rPr lang="en-US" dirty="0" smtClean="0"/>
              <a:t>We know that if </a:t>
            </a:r>
            <a:r>
              <a:rPr lang="en-US" i="1" dirty="0" smtClean="0"/>
              <a:t>x </a:t>
            </a:r>
            <a:r>
              <a:rPr lang="en-US" dirty="0" smtClean="0"/>
              <a:t>and y be the co-ordinates of point P, then</a:t>
            </a:r>
          </a:p>
          <a:p>
            <a:pPr>
              <a:buNone/>
            </a:pPr>
            <a:r>
              <a:rPr lang="en-US" b="1" dirty="0" smtClean="0"/>
              <a:t> </a:t>
            </a:r>
            <a:endParaRPr lang="en-US" dirty="0" smtClean="0"/>
          </a:p>
          <a:p>
            <a:r>
              <a:rPr lang="en-US" dirty="0" smtClean="0"/>
              <a:t>Since 'Ψ' is a very small angle, therefore taking </a:t>
            </a:r>
            <a:endParaRPr lang="en-GB" i="1" dirty="0" smtClean="0"/>
          </a:p>
          <a:p>
            <a:pPr>
              <a:buNone/>
            </a:pPr>
            <a:endParaRPr lang="en-US" dirty="0" smtClean="0"/>
          </a:p>
          <a:p>
            <a:r>
              <a:rPr lang="en-US" dirty="0" smtClean="0"/>
              <a:t>Therefore</a:t>
            </a:r>
            <a:r>
              <a:rPr lang="en-US" i="1" dirty="0" smtClean="0"/>
              <a:t>, </a:t>
            </a:r>
          </a:p>
          <a:p>
            <a:pPr>
              <a:buNone/>
            </a:pPr>
            <a:endParaRPr lang="en-US" dirty="0" smtClean="0"/>
          </a:p>
          <a:p>
            <a:r>
              <a:rPr lang="en-US" dirty="0" smtClean="0"/>
              <a:t>We also know that                             or         </a:t>
            </a:r>
          </a:p>
          <a:p>
            <a:pPr>
              <a:buNone/>
            </a:pPr>
            <a:r>
              <a:rPr lang="en-GB" dirty="0" smtClean="0"/>
              <a:t> </a:t>
            </a:r>
            <a:endParaRPr lang="en-US" dirty="0" smtClean="0"/>
          </a:p>
          <a:p>
            <a:r>
              <a:rPr lang="en-US" dirty="0" smtClean="0"/>
              <a:t>Therefore, </a:t>
            </a:r>
          </a:p>
          <a:p>
            <a:pPr>
              <a:buNone/>
            </a:pPr>
            <a:endParaRPr lang="en-US" dirty="0" smtClean="0"/>
          </a:p>
          <a:p>
            <a:r>
              <a:rPr lang="en-US" b="1" dirty="0" smtClean="0"/>
              <a:t>NOTE:</a:t>
            </a:r>
            <a:r>
              <a:rPr lang="en-US" dirty="0" smtClean="0"/>
              <a:t> The above equation is also based only on the bending moment. The effect of shear force, being very small as compared to the bending moment, is neglected.</a:t>
            </a:r>
            <a:r>
              <a:rPr lang="en-US" i="1" dirty="0" smtClean="0"/>
              <a:t> </a:t>
            </a:r>
            <a:endParaRPr lang="en-US" dirty="0" smtClean="0"/>
          </a:p>
          <a:p>
            <a:endParaRPr lang="en-GB" dirty="0" smtClean="0"/>
          </a:p>
          <a:p>
            <a:pPr>
              <a:buNone/>
            </a:pPr>
            <a:r>
              <a:rPr lang="en-GB" dirty="0" smtClean="0"/>
              <a:t> </a:t>
            </a:r>
            <a:endParaRPr lang="en-US" dirty="0" smtClean="0"/>
          </a:p>
          <a:p>
            <a:pPr>
              <a:buNone/>
            </a:pPr>
            <a:r>
              <a:rPr lang="en-GB" dirty="0" smtClean="0"/>
              <a:t> </a:t>
            </a:r>
            <a:r>
              <a:rPr lang="en-GB" b="1" dirty="0" smtClean="0"/>
              <a:t>Self Assessment </a:t>
            </a:r>
            <a:endParaRPr lang="en-US" dirty="0" smtClean="0"/>
          </a:p>
          <a:p>
            <a:pPr>
              <a:buNone/>
            </a:pPr>
            <a:r>
              <a:rPr lang="en-GB" dirty="0" smtClean="0"/>
              <a:t> </a:t>
            </a:r>
            <a:endParaRPr lang="en-US" dirty="0" smtClean="0"/>
          </a:p>
          <a:p>
            <a:pPr lvl="0"/>
            <a:r>
              <a:rPr lang="en-US" dirty="0" smtClean="0"/>
              <a:t>What is deflection of beams and state the relation between deflection and bending moment.</a:t>
            </a:r>
          </a:p>
          <a:p>
            <a:endParaRPr lang="en-US" dirty="0"/>
          </a:p>
        </p:txBody>
      </p:sp>
      <p:sp>
        <p:nvSpPr>
          <p:cNvPr id="225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2529" name="Object 1"/>
          <p:cNvGraphicFramePr>
            <a:graphicFrameLocks noChangeAspect="1"/>
          </p:cNvGraphicFramePr>
          <p:nvPr/>
        </p:nvGraphicFramePr>
        <p:xfrm>
          <a:off x="5181600" y="152400"/>
          <a:ext cx="3200400" cy="304800"/>
        </p:xfrm>
        <a:graphic>
          <a:graphicData uri="http://schemas.openxmlformats.org/presentationml/2006/ole">
            <mc:AlternateContent xmlns:mc="http://schemas.openxmlformats.org/markup-compatibility/2006">
              <mc:Choice xmlns:v="urn:schemas-microsoft-com:vml" Requires="v">
                <p:oleObj spid="_x0000_s22552" name="Equation" r:id="rId4" imgW="2005729" imgH="203112" progId="Equation.3">
                  <p:embed/>
                </p:oleObj>
              </mc:Choice>
              <mc:Fallback>
                <p:oleObj name="Equation" r:id="rId4" imgW="2005729" imgH="203112" progId="Equation.3">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152400"/>
                        <a:ext cx="32004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2531" name="Object 3"/>
          <p:cNvGraphicFramePr>
            <a:graphicFrameLocks noChangeAspect="1"/>
          </p:cNvGraphicFramePr>
          <p:nvPr/>
        </p:nvGraphicFramePr>
        <p:xfrm>
          <a:off x="1981200" y="533400"/>
          <a:ext cx="2286000" cy="504825"/>
        </p:xfrm>
        <a:graphic>
          <a:graphicData uri="http://schemas.openxmlformats.org/presentationml/2006/ole">
            <mc:AlternateContent xmlns:mc="http://schemas.openxmlformats.org/markup-compatibility/2006">
              <mc:Choice xmlns:v="urn:schemas-microsoft-com:vml" Requires="v">
                <p:oleObj spid="_x0000_s22553" name="Equation" r:id="rId6" imgW="1688367" imgH="431613" progId="Equation.3">
                  <p:embed/>
                </p:oleObj>
              </mc:Choice>
              <mc:Fallback>
                <p:oleObj name="Equation" r:id="rId6" imgW="1688367" imgH="431613"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1200" y="533400"/>
                        <a:ext cx="228600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2533" name="Object 5"/>
          <p:cNvGraphicFramePr>
            <a:graphicFrameLocks noChangeAspect="1"/>
          </p:cNvGraphicFramePr>
          <p:nvPr/>
        </p:nvGraphicFramePr>
        <p:xfrm>
          <a:off x="6477000" y="990600"/>
          <a:ext cx="1143000" cy="685800"/>
        </p:xfrm>
        <a:graphic>
          <a:graphicData uri="http://schemas.openxmlformats.org/presentationml/2006/ole">
            <mc:AlternateContent xmlns:mc="http://schemas.openxmlformats.org/markup-compatibility/2006">
              <mc:Choice xmlns:v="urn:schemas-microsoft-com:vml" Requires="v">
                <p:oleObj spid="_x0000_s22554" name="Equation" r:id="rId8" imgW="736600" imgH="431800" progId="Equation.3">
                  <p:embed/>
                </p:oleObj>
              </mc:Choice>
              <mc:Fallback>
                <p:oleObj name="Equation" r:id="rId8" imgW="736600" imgH="431800" progId="Equation.3">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7000" y="990600"/>
                        <a:ext cx="11430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2535" name="Object 7"/>
          <p:cNvGraphicFramePr>
            <a:graphicFrameLocks noChangeAspect="1"/>
          </p:cNvGraphicFramePr>
          <p:nvPr/>
        </p:nvGraphicFramePr>
        <p:xfrm>
          <a:off x="5257800" y="1752600"/>
          <a:ext cx="1447800" cy="381000"/>
        </p:xfrm>
        <a:graphic>
          <a:graphicData uri="http://schemas.openxmlformats.org/presentationml/2006/ole">
            <mc:AlternateContent xmlns:mc="http://schemas.openxmlformats.org/markup-compatibility/2006">
              <mc:Choice xmlns:v="urn:schemas-microsoft-com:vml" Requires="v">
                <p:oleObj spid="_x0000_s22555" name="Equation" r:id="rId10" imgW="634725" imgH="190417" progId="Equation.3">
                  <p:embed/>
                </p:oleObj>
              </mc:Choice>
              <mc:Fallback>
                <p:oleObj name="Equation" r:id="rId10" imgW="634725" imgH="190417" progId="Equation.3">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57800" y="1752600"/>
                        <a:ext cx="14478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2537" name="Object 9"/>
          <p:cNvGraphicFramePr>
            <a:graphicFrameLocks noChangeAspect="1"/>
          </p:cNvGraphicFramePr>
          <p:nvPr/>
        </p:nvGraphicFramePr>
        <p:xfrm>
          <a:off x="2057400" y="2209800"/>
          <a:ext cx="1447800" cy="609600"/>
        </p:xfrm>
        <a:graphic>
          <a:graphicData uri="http://schemas.openxmlformats.org/presentationml/2006/ole">
            <mc:AlternateContent xmlns:mc="http://schemas.openxmlformats.org/markup-compatibility/2006">
              <mc:Choice xmlns:v="urn:schemas-microsoft-com:vml" Requires="v">
                <p:oleObj spid="_x0000_s22556" name="Equation" r:id="rId12" imgW="736600" imgH="457200" progId="Equation.3">
                  <p:embed/>
                </p:oleObj>
              </mc:Choice>
              <mc:Fallback>
                <p:oleObj name="Equation" r:id="rId12" imgW="736600" imgH="457200" progId="Equation.3">
                  <p:embed/>
                  <p:pic>
                    <p:nvPicPr>
                      <p:cNvPr id="0" name="Picture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57400" y="2209800"/>
                        <a:ext cx="14478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40"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2539" name="Object 11"/>
          <p:cNvGraphicFramePr>
            <a:graphicFrameLocks noChangeAspect="1"/>
          </p:cNvGraphicFramePr>
          <p:nvPr/>
        </p:nvGraphicFramePr>
        <p:xfrm>
          <a:off x="2819400" y="2819400"/>
          <a:ext cx="838200" cy="476250"/>
        </p:xfrm>
        <a:graphic>
          <a:graphicData uri="http://schemas.openxmlformats.org/presentationml/2006/ole">
            <mc:AlternateContent xmlns:mc="http://schemas.openxmlformats.org/markup-compatibility/2006">
              <mc:Choice xmlns:v="urn:schemas-microsoft-com:vml" Requires="v">
                <p:oleObj spid="_x0000_s22557" name="Equation" r:id="rId14" imgW="520474" imgH="393529" progId="Equation.3">
                  <p:embed/>
                </p:oleObj>
              </mc:Choice>
              <mc:Fallback>
                <p:oleObj name="Equation" r:id="rId14" imgW="520474" imgH="393529" progId="Equation.3">
                  <p:embed/>
                  <p:pic>
                    <p:nvPicPr>
                      <p:cNvPr id="0" name="Picture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19400" y="2819400"/>
                        <a:ext cx="83820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42"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2541" name="Object 13"/>
          <p:cNvGraphicFramePr>
            <a:graphicFrameLocks noChangeAspect="1"/>
          </p:cNvGraphicFramePr>
          <p:nvPr/>
        </p:nvGraphicFramePr>
        <p:xfrm>
          <a:off x="4724400" y="2667000"/>
          <a:ext cx="1295400" cy="609600"/>
        </p:xfrm>
        <a:graphic>
          <a:graphicData uri="http://schemas.openxmlformats.org/presentationml/2006/ole">
            <mc:AlternateContent xmlns:mc="http://schemas.openxmlformats.org/markup-compatibility/2006">
              <mc:Choice xmlns:v="urn:schemas-microsoft-com:vml" Requires="v">
                <p:oleObj spid="_x0000_s22558" name="Equation" r:id="rId16" imgW="850531" imgH="393529" progId="Equation.3">
                  <p:embed/>
                </p:oleObj>
              </mc:Choice>
              <mc:Fallback>
                <p:oleObj name="Equation" r:id="rId16" imgW="850531" imgH="393529" progId="Equation.3">
                  <p:embed/>
                  <p:pic>
                    <p:nvPicPr>
                      <p:cNvPr id="0" name="Picture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24400" y="2667000"/>
                        <a:ext cx="12954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44"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2543" name="Object 15"/>
          <p:cNvGraphicFramePr>
            <a:graphicFrameLocks noChangeAspect="1"/>
          </p:cNvGraphicFramePr>
          <p:nvPr/>
        </p:nvGraphicFramePr>
        <p:xfrm>
          <a:off x="2133600" y="3352800"/>
          <a:ext cx="1752600" cy="533400"/>
        </p:xfrm>
        <a:graphic>
          <a:graphicData uri="http://schemas.openxmlformats.org/presentationml/2006/ole">
            <mc:AlternateContent xmlns:mc="http://schemas.openxmlformats.org/markup-compatibility/2006">
              <mc:Choice xmlns:v="urn:schemas-microsoft-com:vml" Requires="v">
                <p:oleObj spid="_x0000_s22559" name="Equation" r:id="rId18" imgW="977900" imgH="431800" progId="Equation.3">
                  <p:embed/>
                </p:oleObj>
              </mc:Choice>
              <mc:Fallback>
                <p:oleObj name="Equation" r:id="rId18" imgW="977900" imgH="431800" progId="Equation.3">
                  <p:embed/>
                  <p:pic>
                    <p:nvPicPr>
                      <p:cNvPr id="0" name="Picture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33600" y="3352800"/>
                        <a:ext cx="17526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Slide Number Placeholder 18"/>
          <p:cNvSpPr>
            <a:spLocks noGrp="1"/>
          </p:cNvSpPr>
          <p:nvPr>
            <p:ph type="sldNum" sz="quarter" idx="12"/>
          </p:nvPr>
        </p:nvSpPr>
        <p:spPr/>
        <p:txBody>
          <a:bodyPr/>
          <a:lstStyle/>
          <a:p>
            <a:fld id="{B6F15528-21DE-4FAA-801E-634DDDAF4B2B}" type="slidenum">
              <a:rPr lang="en-US" smtClean="0"/>
              <a:pPr/>
              <a:t>7</a:t>
            </a:fld>
            <a:endParaRPr lang="en-US"/>
          </a:p>
        </p:txBody>
      </p:sp>
      <p:sp>
        <p:nvSpPr>
          <p:cNvPr id="20" name="Footer Placeholder 19"/>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noAutofit/>
          </a:bodyPr>
          <a:lstStyle/>
          <a:p>
            <a:r>
              <a:rPr lang="en-US" dirty="0" smtClean="0"/>
              <a:t>Methods for Slope and Deflection at a Section</a:t>
            </a:r>
            <a:endParaRPr lang="en-US" dirty="0"/>
          </a:p>
        </p:txBody>
      </p:sp>
      <p:sp>
        <p:nvSpPr>
          <p:cNvPr id="3" name="Content Placeholder 2"/>
          <p:cNvSpPr>
            <a:spLocks noGrp="1"/>
          </p:cNvSpPr>
          <p:nvPr>
            <p:ph idx="1"/>
          </p:nvPr>
        </p:nvSpPr>
        <p:spPr>
          <a:xfrm>
            <a:off x="457200" y="1905000"/>
            <a:ext cx="8229600" cy="3810000"/>
          </a:xfrm>
        </p:spPr>
        <p:txBody>
          <a:bodyPr/>
          <a:lstStyle/>
          <a:p>
            <a:r>
              <a:rPr lang="en-US" dirty="0" smtClean="0"/>
              <a:t>Strain Energy Method (Castigliano’s Theorem)</a:t>
            </a:r>
          </a:p>
          <a:p>
            <a:pPr>
              <a:buNone/>
            </a:pPr>
            <a:endParaRPr lang="en-US" dirty="0" smtClean="0"/>
          </a:p>
          <a:p>
            <a:r>
              <a:rPr lang="en-US" dirty="0" smtClean="0"/>
              <a:t>Double Integration Method</a:t>
            </a:r>
          </a:p>
          <a:p>
            <a:pPr>
              <a:buNone/>
            </a:pPr>
            <a:endParaRPr lang="en-US" dirty="0" smtClean="0"/>
          </a:p>
          <a:p>
            <a:r>
              <a:rPr lang="en-US" dirty="0" smtClean="0"/>
              <a:t>Singularity Function (Macaulay's Method)</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Strain Energy Method</a:t>
            </a:r>
            <a:endParaRPr lang="en-US" dirty="0"/>
          </a:p>
        </p:txBody>
      </p:sp>
      <p:sp>
        <p:nvSpPr>
          <p:cNvPr id="3" name="Content Placeholder 2"/>
          <p:cNvSpPr>
            <a:spLocks noGrp="1"/>
          </p:cNvSpPr>
          <p:nvPr>
            <p:ph idx="1"/>
          </p:nvPr>
        </p:nvSpPr>
        <p:spPr>
          <a:xfrm>
            <a:off x="457200" y="1219200"/>
            <a:ext cx="8229600" cy="5257800"/>
          </a:xfrm>
        </p:spPr>
        <p:txBody>
          <a:bodyPr>
            <a:normAutofit fontScale="77500" lnSpcReduction="20000"/>
          </a:bodyPr>
          <a:lstStyle/>
          <a:p>
            <a:r>
              <a:rPr lang="en-GB" dirty="0" smtClean="0"/>
              <a:t>Consider a short length of beam    </a:t>
            </a:r>
            <a:r>
              <a:rPr lang="en-GB" i="1" dirty="0" smtClean="0"/>
              <a:t> ,</a:t>
            </a:r>
            <a:r>
              <a:rPr lang="en-GB" dirty="0" smtClean="0"/>
              <a:t>under the action of a bending moment </a:t>
            </a:r>
            <a:r>
              <a:rPr lang="en-GB" i="1" dirty="0" smtClean="0"/>
              <a:t>M. </a:t>
            </a:r>
            <a:r>
              <a:rPr lang="en-GB" dirty="0" smtClean="0"/>
              <a:t>If    </a:t>
            </a:r>
            <a:r>
              <a:rPr lang="en-GB" i="1" dirty="0" smtClean="0"/>
              <a:t> </a:t>
            </a:r>
            <a:r>
              <a:rPr lang="en-GB" dirty="0" smtClean="0"/>
              <a:t>is the bending stress on an element of the cross-section of area     at a distance </a:t>
            </a:r>
            <a:r>
              <a:rPr lang="en-GB" i="1" dirty="0" smtClean="0"/>
              <a:t>y </a:t>
            </a:r>
            <a:r>
              <a:rPr lang="en-GB" dirty="0" smtClean="0"/>
              <a:t>from the neutral axis, the strain energy of the length    </a:t>
            </a:r>
            <a:r>
              <a:rPr lang="en-GB" i="1" dirty="0" smtClean="0"/>
              <a:t> </a:t>
            </a:r>
            <a:r>
              <a:rPr lang="en-GB" dirty="0" smtClean="0"/>
              <a:t>is</a:t>
            </a:r>
          </a:p>
          <a:p>
            <a:pPr>
              <a:buNone/>
            </a:pPr>
            <a:r>
              <a:rPr lang="en-GB" dirty="0" smtClean="0"/>
              <a:t>     </a:t>
            </a:r>
          </a:p>
          <a:p>
            <a:pPr>
              <a:buNone/>
            </a:pPr>
            <a:r>
              <a:rPr lang="en-GB" dirty="0" smtClean="0"/>
              <a:t>     given by</a:t>
            </a:r>
          </a:p>
          <a:p>
            <a:pPr>
              <a:buNone/>
            </a:pPr>
            <a:endParaRPr lang="en-US" dirty="0" smtClean="0"/>
          </a:p>
          <a:p>
            <a:r>
              <a:rPr lang="en-GB" dirty="0" smtClean="0"/>
              <a:t>But                   and</a:t>
            </a:r>
          </a:p>
          <a:p>
            <a:pPr>
              <a:buNone/>
            </a:pPr>
            <a:r>
              <a:rPr lang="en-GB" dirty="0" smtClean="0"/>
              <a:t>   </a:t>
            </a:r>
            <a:endParaRPr lang="en-US" dirty="0" smtClean="0"/>
          </a:p>
          <a:p>
            <a:r>
              <a:rPr lang="en-GB" dirty="0" smtClean="0"/>
              <a:t>But                        hence   </a:t>
            </a:r>
            <a:endParaRPr lang="en-US" dirty="0" smtClean="0"/>
          </a:p>
          <a:p>
            <a:pPr>
              <a:buNone/>
            </a:pPr>
            <a:endParaRPr lang="en-US" dirty="0" smtClean="0"/>
          </a:p>
          <a:p>
            <a:r>
              <a:rPr lang="en-GB" dirty="0" smtClean="0"/>
              <a:t>For the whole beam:</a:t>
            </a:r>
          </a:p>
          <a:p>
            <a:pPr>
              <a:buNone/>
            </a:pPr>
            <a:endParaRPr lang="en-US" dirty="0" smtClean="0"/>
          </a:p>
          <a:p>
            <a:r>
              <a:rPr lang="en-GB" dirty="0" smtClean="0"/>
              <a:t>The product </a:t>
            </a:r>
            <a:r>
              <a:rPr lang="en-GB" b="1" i="1" dirty="0" smtClean="0"/>
              <a:t>EI</a:t>
            </a:r>
            <a:r>
              <a:rPr lang="en-GB" i="1" dirty="0" smtClean="0"/>
              <a:t> </a:t>
            </a:r>
            <a:r>
              <a:rPr lang="en-GB" dirty="0" smtClean="0"/>
              <a:t>is called the </a:t>
            </a:r>
            <a:r>
              <a:rPr lang="en-GB" b="1" i="1" dirty="0" smtClean="0"/>
              <a:t>Flexural Rigidity </a:t>
            </a:r>
            <a:r>
              <a:rPr lang="en-GB" dirty="0" smtClean="0"/>
              <a:t>of the beam.</a:t>
            </a:r>
            <a:endParaRPr lang="en-US" dirty="0" smtClean="0"/>
          </a:p>
          <a:p>
            <a:endParaRPr lang="en-US" dirty="0"/>
          </a:p>
        </p:txBody>
      </p:sp>
      <p:sp>
        <p:nvSpPr>
          <p:cNvPr id="4096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1" name="Object 1"/>
          <p:cNvGraphicFramePr>
            <a:graphicFrameLocks noChangeAspect="1"/>
          </p:cNvGraphicFramePr>
          <p:nvPr/>
        </p:nvGraphicFramePr>
        <p:xfrm>
          <a:off x="5029200" y="1219200"/>
          <a:ext cx="304800" cy="381000"/>
        </p:xfrm>
        <a:graphic>
          <a:graphicData uri="http://schemas.openxmlformats.org/presentationml/2006/ole">
            <mc:AlternateContent xmlns:mc="http://schemas.openxmlformats.org/markup-compatibility/2006">
              <mc:Choice xmlns:v="urn:schemas-microsoft-com:vml" Requires="v">
                <p:oleObj spid="_x0000_s40993" name="Equation" r:id="rId4" imgW="177492" imgH="177492" progId="Equation.3">
                  <p:embed/>
                </p:oleObj>
              </mc:Choice>
              <mc:Fallback>
                <p:oleObj name="Equation" r:id="rId4" imgW="177492" imgH="177492" progId="Equation.3">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1219200"/>
                        <a:ext cx="3048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4"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3" name="Object 3"/>
          <p:cNvGraphicFramePr>
            <a:graphicFrameLocks noChangeAspect="1"/>
          </p:cNvGraphicFramePr>
          <p:nvPr/>
        </p:nvGraphicFramePr>
        <p:xfrm>
          <a:off x="3810000" y="1524000"/>
          <a:ext cx="228600" cy="304800"/>
        </p:xfrm>
        <a:graphic>
          <a:graphicData uri="http://schemas.openxmlformats.org/presentationml/2006/ole">
            <mc:AlternateContent xmlns:mc="http://schemas.openxmlformats.org/markup-compatibility/2006">
              <mc:Choice xmlns:v="urn:schemas-microsoft-com:vml" Requires="v">
                <p:oleObj spid="_x0000_s40994" name="Equation" r:id="rId6" imgW="152334" imgH="139639" progId="Equation.3">
                  <p:embed/>
                </p:oleObj>
              </mc:Choice>
              <mc:Fallback>
                <p:oleObj name="Equation" r:id="rId6" imgW="152334" imgH="139639"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0" y="1524000"/>
                        <a:ext cx="2286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5" name="Object 5"/>
          <p:cNvGraphicFramePr>
            <a:graphicFrameLocks noChangeAspect="1"/>
          </p:cNvGraphicFramePr>
          <p:nvPr/>
        </p:nvGraphicFramePr>
        <p:xfrm>
          <a:off x="5562600" y="1828800"/>
          <a:ext cx="304800" cy="304800"/>
        </p:xfrm>
        <a:graphic>
          <a:graphicData uri="http://schemas.openxmlformats.org/presentationml/2006/ole">
            <mc:AlternateContent xmlns:mc="http://schemas.openxmlformats.org/markup-compatibility/2006">
              <mc:Choice xmlns:v="urn:schemas-microsoft-com:vml" Requires="v">
                <p:oleObj spid="_x0000_s40995" name="Equation" r:id="rId8" imgW="202936" imgH="177569" progId="Equation.3">
                  <p:embed/>
                </p:oleObj>
              </mc:Choice>
              <mc:Fallback>
                <p:oleObj name="Equation" r:id="rId8" imgW="202936" imgH="177569" progId="Equation.3">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62600" y="1828800"/>
                        <a:ext cx="3048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8"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7" name="Object 7"/>
          <p:cNvGraphicFramePr>
            <a:graphicFrameLocks noChangeAspect="1"/>
          </p:cNvGraphicFramePr>
          <p:nvPr/>
        </p:nvGraphicFramePr>
        <p:xfrm>
          <a:off x="6934200" y="2133600"/>
          <a:ext cx="381000" cy="381000"/>
        </p:xfrm>
        <a:graphic>
          <a:graphicData uri="http://schemas.openxmlformats.org/presentationml/2006/ole">
            <mc:AlternateContent xmlns:mc="http://schemas.openxmlformats.org/markup-compatibility/2006">
              <mc:Choice xmlns:v="urn:schemas-microsoft-com:vml" Requires="v">
                <p:oleObj spid="_x0000_s40996" name="Equation" r:id="rId10" imgW="177480" imgH="177480" progId="Equation.3">
                  <p:embed/>
                </p:oleObj>
              </mc:Choice>
              <mc:Fallback>
                <p:oleObj name="Equation" r:id="rId10" imgW="177480" imgH="177480" progId="Equation.3">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34200" y="2133600"/>
                        <a:ext cx="381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70"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9" name="Object 9"/>
          <p:cNvGraphicFramePr>
            <a:graphicFrameLocks noChangeAspect="1"/>
          </p:cNvGraphicFramePr>
          <p:nvPr/>
        </p:nvGraphicFramePr>
        <p:xfrm>
          <a:off x="2057400" y="2743200"/>
          <a:ext cx="1676400" cy="609600"/>
        </p:xfrm>
        <a:graphic>
          <a:graphicData uri="http://schemas.openxmlformats.org/presentationml/2006/ole">
            <mc:AlternateContent xmlns:mc="http://schemas.openxmlformats.org/markup-compatibility/2006">
              <mc:Choice xmlns:v="urn:schemas-microsoft-com:vml" Requires="v">
                <p:oleObj spid="_x0000_s40997" name="Equation" r:id="rId12" imgW="1129810" imgH="317362" progId="Equation.3">
                  <p:embed/>
                </p:oleObj>
              </mc:Choice>
              <mc:Fallback>
                <p:oleObj name="Equation" r:id="rId12" imgW="1129810" imgH="317362" progId="Equation.3">
                  <p:embed/>
                  <p:pic>
                    <p:nvPicPr>
                      <p:cNvPr id="0" name="Picture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57400" y="2743200"/>
                        <a:ext cx="16764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72"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71" name="Object 11"/>
          <p:cNvGraphicFramePr>
            <a:graphicFrameLocks noChangeAspect="1"/>
          </p:cNvGraphicFramePr>
          <p:nvPr/>
        </p:nvGraphicFramePr>
        <p:xfrm>
          <a:off x="1371600" y="3657600"/>
          <a:ext cx="1219200" cy="304800"/>
        </p:xfrm>
        <a:graphic>
          <a:graphicData uri="http://schemas.openxmlformats.org/presentationml/2006/ole">
            <mc:AlternateContent xmlns:mc="http://schemas.openxmlformats.org/markup-compatibility/2006">
              <mc:Choice xmlns:v="urn:schemas-microsoft-com:vml" Requires="v">
                <p:oleObj spid="_x0000_s40998" name="Equation" r:id="rId14" imgW="799753" imgH="177723" progId="Equation.3">
                  <p:embed/>
                </p:oleObj>
              </mc:Choice>
              <mc:Fallback>
                <p:oleObj name="Equation" r:id="rId14" imgW="799753" imgH="177723" progId="Equation.3">
                  <p:embed/>
                  <p:pic>
                    <p:nvPicPr>
                      <p:cNvPr id="0" name="Picture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71600" y="3657600"/>
                        <a:ext cx="12192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74"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73" name="Object 13"/>
          <p:cNvGraphicFramePr>
            <a:graphicFrameLocks noChangeAspect="1"/>
          </p:cNvGraphicFramePr>
          <p:nvPr/>
        </p:nvGraphicFramePr>
        <p:xfrm>
          <a:off x="3276600" y="3429000"/>
          <a:ext cx="1143000" cy="609600"/>
        </p:xfrm>
        <a:graphic>
          <a:graphicData uri="http://schemas.openxmlformats.org/presentationml/2006/ole">
            <mc:AlternateContent xmlns:mc="http://schemas.openxmlformats.org/markup-compatibility/2006">
              <mc:Choice xmlns:v="urn:schemas-microsoft-com:vml" Requires="v">
                <p:oleObj spid="_x0000_s40999" name="Equation" r:id="rId16" imgW="914400" imgH="419100" progId="Equation.3">
                  <p:embed/>
                </p:oleObj>
              </mc:Choice>
              <mc:Fallback>
                <p:oleObj name="Equation" r:id="rId16" imgW="914400" imgH="419100" progId="Equation.3">
                  <p:embed/>
                  <p:pic>
                    <p:nvPicPr>
                      <p:cNvPr id="0" name="Picture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76600" y="3429000"/>
                        <a:ext cx="11430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76"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75" name="Object 15"/>
          <p:cNvGraphicFramePr>
            <a:graphicFrameLocks noChangeAspect="1"/>
          </p:cNvGraphicFramePr>
          <p:nvPr/>
        </p:nvGraphicFramePr>
        <p:xfrm>
          <a:off x="4648200" y="3505200"/>
          <a:ext cx="2286000" cy="485775"/>
        </p:xfrm>
        <a:graphic>
          <a:graphicData uri="http://schemas.openxmlformats.org/presentationml/2006/ole">
            <mc:AlternateContent xmlns:mc="http://schemas.openxmlformats.org/markup-compatibility/2006">
              <mc:Choice xmlns:v="urn:schemas-microsoft-com:vml" Requires="v">
                <p:oleObj spid="_x0000_s41000" name="Equation" r:id="rId18" imgW="1765300" imgH="330200" progId="Equation.3">
                  <p:embed/>
                </p:oleObj>
              </mc:Choice>
              <mc:Fallback>
                <p:oleObj name="Equation" r:id="rId18" imgW="1765300" imgH="330200" progId="Equation.3">
                  <p:embed/>
                  <p:pic>
                    <p:nvPicPr>
                      <p:cNvPr id="0" name="Picture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48200" y="3505200"/>
                        <a:ext cx="2286000"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78" name="Rectangle 1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77" name="Object 17"/>
          <p:cNvGraphicFramePr>
            <a:graphicFrameLocks noChangeAspect="1"/>
          </p:cNvGraphicFramePr>
          <p:nvPr/>
        </p:nvGraphicFramePr>
        <p:xfrm>
          <a:off x="1600200" y="4267200"/>
          <a:ext cx="1143000" cy="533400"/>
        </p:xfrm>
        <a:graphic>
          <a:graphicData uri="http://schemas.openxmlformats.org/presentationml/2006/ole">
            <mc:AlternateContent xmlns:mc="http://schemas.openxmlformats.org/markup-compatibility/2006">
              <mc:Choice xmlns:v="urn:schemas-microsoft-com:vml" Requires="v">
                <p:oleObj spid="_x0000_s41001" name="Equation" r:id="rId20" imgW="698500" imgH="279400" progId="Equation.3">
                  <p:embed/>
                </p:oleObj>
              </mc:Choice>
              <mc:Fallback>
                <p:oleObj name="Equation" r:id="rId20" imgW="698500" imgH="279400" progId="Equation.3">
                  <p:embed/>
                  <p:pic>
                    <p:nvPicPr>
                      <p:cNvPr id="0" name="Picture 1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00200" y="4267200"/>
                        <a:ext cx="11430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80"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79" name="Object 19"/>
          <p:cNvGraphicFramePr>
            <a:graphicFrameLocks noChangeAspect="1"/>
          </p:cNvGraphicFramePr>
          <p:nvPr/>
        </p:nvGraphicFramePr>
        <p:xfrm>
          <a:off x="4038600" y="4267200"/>
          <a:ext cx="1676400" cy="533400"/>
        </p:xfrm>
        <a:graphic>
          <a:graphicData uri="http://schemas.openxmlformats.org/presentationml/2006/ole">
            <mc:AlternateContent xmlns:mc="http://schemas.openxmlformats.org/markup-compatibility/2006">
              <mc:Choice xmlns:v="urn:schemas-microsoft-com:vml" Requires="v">
                <p:oleObj spid="_x0000_s41002" name="Equation" r:id="rId22" imgW="1104421" imgH="317362" progId="Equation.3">
                  <p:embed/>
                </p:oleObj>
              </mc:Choice>
              <mc:Fallback>
                <p:oleObj name="Equation" r:id="rId22" imgW="1104421" imgH="317362" progId="Equation.3">
                  <p:embed/>
                  <p:pic>
                    <p:nvPicPr>
                      <p:cNvPr id="0" name="Picture 1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038600" y="4267200"/>
                        <a:ext cx="16764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82"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81" name="Object 21"/>
          <p:cNvGraphicFramePr>
            <a:graphicFrameLocks noChangeAspect="1"/>
          </p:cNvGraphicFramePr>
          <p:nvPr/>
        </p:nvGraphicFramePr>
        <p:xfrm>
          <a:off x="3810000" y="5105400"/>
          <a:ext cx="1600200" cy="466725"/>
        </p:xfrm>
        <a:graphic>
          <a:graphicData uri="http://schemas.openxmlformats.org/presentationml/2006/ole">
            <mc:AlternateContent xmlns:mc="http://schemas.openxmlformats.org/markup-compatibility/2006">
              <mc:Choice xmlns:v="urn:schemas-microsoft-com:vml" Requires="v">
                <p:oleObj spid="_x0000_s41003" name="Equation" r:id="rId24" imgW="1129810" imgH="317362" progId="Equation.3">
                  <p:embed/>
                </p:oleObj>
              </mc:Choice>
              <mc:Fallback>
                <p:oleObj name="Equation" r:id="rId24" imgW="1129810" imgH="317362" progId="Equation.3">
                  <p:embed/>
                  <p:pic>
                    <p:nvPicPr>
                      <p:cNvPr id="0" name="Picture 2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810000" y="5105400"/>
                        <a:ext cx="1600200"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Slide Number Placeholder 25"/>
          <p:cNvSpPr>
            <a:spLocks noGrp="1"/>
          </p:cNvSpPr>
          <p:nvPr>
            <p:ph type="sldNum" sz="quarter" idx="12"/>
          </p:nvPr>
        </p:nvSpPr>
        <p:spPr/>
        <p:txBody>
          <a:bodyPr/>
          <a:lstStyle/>
          <a:p>
            <a:fld id="{B6F15528-21DE-4FAA-801E-634DDDAF4B2B}" type="slidenum">
              <a:rPr lang="en-US" smtClean="0"/>
              <a:pPr/>
              <a:t>9</a:t>
            </a:fld>
            <a:endParaRPr lang="en-US"/>
          </a:p>
        </p:txBody>
      </p:sp>
      <p:sp>
        <p:nvSpPr>
          <p:cNvPr id="27" name="Footer Placeholder 26"/>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81000"/>
            <a:ext cx="4038600" cy="5745163"/>
          </a:xfrm>
        </p:spPr>
        <p:txBody>
          <a:bodyPr/>
          <a:lstStyle/>
          <a:p>
            <a:r>
              <a:rPr lang="en-GB" i="1" dirty="0" smtClean="0"/>
              <a:t>Example</a:t>
            </a:r>
            <a:r>
              <a:rPr lang="en-GB" dirty="0" smtClean="0"/>
              <a:t> 1-1: </a:t>
            </a:r>
            <a:r>
              <a:rPr lang="en-GB" i="1" dirty="0" smtClean="0"/>
              <a:t>A simply supported beam of length I carries a concentrated load W at distances of  a  and   b from the two ends. Find expressions for the total strain energy of the beam and the deflection under the load.</a:t>
            </a:r>
            <a:endParaRPr lang="en-US" dirty="0" smtClean="0"/>
          </a:p>
          <a:p>
            <a:endParaRPr lang="en-US" dirty="0"/>
          </a:p>
        </p:txBody>
      </p:sp>
      <p:pic>
        <p:nvPicPr>
          <p:cNvPr id="5" name="Content Placeholder 4"/>
          <p:cNvPicPr>
            <a:picLocks noGrp="1"/>
          </p:cNvPicPr>
          <p:nvPr>
            <p:ph sz="half" idx="2"/>
          </p:nvPr>
        </p:nvPicPr>
        <p:blipFill>
          <a:blip r:embed="rId3"/>
          <a:srcRect/>
          <a:stretch>
            <a:fillRect/>
          </a:stretch>
        </p:blipFill>
        <p:spPr bwMode="auto">
          <a:xfrm>
            <a:off x="4419600" y="533400"/>
            <a:ext cx="4267200" cy="4114800"/>
          </a:xfrm>
          <a:prstGeom prst="rect">
            <a:avLst/>
          </a:prstGeom>
          <a:noFill/>
          <a:ln w="9525">
            <a:noFill/>
            <a:miter lim="800000"/>
            <a:headEnd/>
            <a:tailEnd/>
          </a:ln>
        </p:spPr>
      </p:pic>
      <p:sp>
        <p:nvSpPr>
          <p:cNvPr id="6" name="TextBox 5"/>
          <p:cNvSpPr txBox="1"/>
          <p:nvPr/>
        </p:nvSpPr>
        <p:spPr>
          <a:xfrm>
            <a:off x="4953000" y="5029200"/>
            <a:ext cx="3200400" cy="369332"/>
          </a:xfrm>
          <a:prstGeom prst="rect">
            <a:avLst/>
          </a:prstGeom>
          <a:noFill/>
        </p:spPr>
        <p:txBody>
          <a:bodyPr wrap="square" rtlCol="0">
            <a:spAutoFit/>
          </a:bodyPr>
          <a:lstStyle/>
          <a:p>
            <a:r>
              <a:rPr lang="en-GB" dirty="0" smtClean="0"/>
              <a:t>Fig. 3: Diagram for example 1</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10</a:t>
            </a:fld>
            <a:endParaRPr lang="en-US"/>
          </a:p>
        </p:txBody>
      </p:sp>
      <p:sp>
        <p:nvSpPr>
          <p:cNvPr id="8" name="Footer Placeholder 7"/>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dirty="0" smtClean="0"/>
              <a:t>Solution </a:t>
            </a:r>
            <a:endParaRPr lang="en-US" dirty="0"/>
          </a:p>
        </p:txBody>
      </p:sp>
      <p:sp>
        <p:nvSpPr>
          <p:cNvPr id="3" name="Content Placeholder 2"/>
          <p:cNvSpPr>
            <a:spLocks noGrp="1"/>
          </p:cNvSpPr>
          <p:nvPr>
            <p:ph idx="1"/>
          </p:nvPr>
        </p:nvSpPr>
        <p:spPr>
          <a:xfrm>
            <a:off x="457200" y="685800"/>
            <a:ext cx="8534400" cy="6019800"/>
          </a:xfrm>
        </p:spPr>
        <p:txBody>
          <a:bodyPr>
            <a:normAutofit fontScale="62500" lnSpcReduction="20000"/>
          </a:bodyPr>
          <a:lstStyle/>
          <a:p>
            <a:r>
              <a:rPr lang="en-GB" sz="2800" dirty="0" smtClean="0"/>
              <a:t>The integration for strain energy can only be applied over a length of beam for which a continuous expression for </a:t>
            </a:r>
            <a:r>
              <a:rPr lang="en-GB" sz="2800" i="1" dirty="0" smtClean="0"/>
              <a:t>M</a:t>
            </a:r>
            <a:r>
              <a:rPr lang="en-GB" sz="2800" dirty="0" smtClean="0"/>
              <a:t> can be obtained. This usually implies a separate integration for each section between two concentrated loads or reactions.</a:t>
            </a:r>
            <a:endParaRPr lang="en-US" sz="2800" dirty="0" smtClean="0"/>
          </a:p>
          <a:p>
            <a:r>
              <a:rPr lang="en-GB" sz="2800" dirty="0" smtClean="0"/>
              <a:t>Referring to Figure 3, for the section AB,</a:t>
            </a:r>
          </a:p>
          <a:p>
            <a:pPr>
              <a:buNone/>
            </a:pPr>
            <a:endParaRPr lang="en-GB" sz="2800" dirty="0" smtClean="0"/>
          </a:p>
          <a:p>
            <a:pPr>
              <a:buNone/>
            </a:pPr>
            <a:r>
              <a:rPr lang="en-GB" sz="2800" dirty="0" smtClean="0"/>
              <a:t> </a:t>
            </a:r>
            <a:endParaRPr lang="en-US" sz="2800" dirty="0" smtClean="0"/>
          </a:p>
          <a:p>
            <a:r>
              <a:rPr lang="en-GB" sz="2800" dirty="0" smtClean="0"/>
              <a:t>Similarly, by taking a variable </a:t>
            </a:r>
            <a:r>
              <a:rPr lang="en-GB" sz="2800" i="1" dirty="0" smtClean="0"/>
              <a:t>X </a:t>
            </a:r>
            <a:r>
              <a:rPr lang="en-GB" sz="2800" dirty="0" smtClean="0"/>
              <a:t>measured from C</a:t>
            </a:r>
          </a:p>
          <a:p>
            <a:pPr>
              <a:buNone/>
            </a:pPr>
            <a:endParaRPr lang="en-GB" sz="2800" dirty="0" smtClean="0"/>
          </a:p>
          <a:p>
            <a:pPr>
              <a:buNone/>
            </a:pPr>
            <a:r>
              <a:rPr lang="en-GB" sz="2800" dirty="0" smtClean="0"/>
              <a:t>    </a:t>
            </a:r>
            <a:endParaRPr lang="en-US" sz="2800" dirty="0" smtClean="0"/>
          </a:p>
          <a:p>
            <a:endParaRPr lang="en-GB" sz="2800" dirty="0" smtClean="0"/>
          </a:p>
          <a:p>
            <a:r>
              <a:rPr lang="en-GB" sz="2800" dirty="0" smtClean="0"/>
              <a:t>The total strain energy is </a:t>
            </a:r>
          </a:p>
          <a:p>
            <a:pPr>
              <a:buNone/>
            </a:pPr>
            <a:endParaRPr lang="en-GB" sz="2800" dirty="0" smtClean="0"/>
          </a:p>
          <a:p>
            <a:r>
              <a:rPr lang="en-GB" sz="2800" dirty="0" smtClean="0"/>
              <a:t> But, if      is the deflection under the load, the strain energy must equal the work done by the load (gradually applied), </a:t>
            </a:r>
          </a:p>
          <a:p>
            <a:pPr>
              <a:buNone/>
            </a:pPr>
            <a:endParaRPr lang="en-GB" sz="2800" dirty="0" smtClean="0"/>
          </a:p>
          <a:p>
            <a:pPr>
              <a:buNone/>
            </a:pPr>
            <a:r>
              <a:rPr lang="en-GB" sz="2800" dirty="0" smtClean="0"/>
              <a:t>     i.e. </a:t>
            </a:r>
            <a:endParaRPr lang="en-US" sz="2800" dirty="0" smtClean="0"/>
          </a:p>
          <a:p>
            <a:r>
              <a:rPr lang="en-GB" sz="2800" dirty="0" smtClean="0"/>
              <a:t>For a central load, </a:t>
            </a:r>
            <a:r>
              <a:rPr lang="en-GB" sz="2800" i="1" dirty="0" smtClean="0"/>
              <a:t>a =b =1/2, </a:t>
            </a:r>
            <a:r>
              <a:rPr lang="en-GB" sz="2800" dirty="0" smtClean="0"/>
              <a:t>and</a:t>
            </a:r>
          </a:p>
          <a:p>
            <a:endParaRPr lang="en-GB" sz="2800" dirty="0" smtClean="0"/>
          </a:p>
          <a:p>
            <a:r>
              <a:rPr lang="en-GB" sz="2800" dirty="0" smtClean="0"/>
              <a:t> </a:t>
            </a:r>
            <a:r>
              <a:rPr lang="en-GB" sz="2900" dirty="0" smtClean="0"/>
              <a:t>It should be noted that this method of finding deflection is limited to cases where only one concentrated load is applied (i.e. doing work), and then only gives the deflection under the load</a:t>
            </a:r>
            <a:r>
              <a:rPr lang="en-GB" sz="2000" dirty="0" smtClean="0"/>
              <a:t>.</a:t>
            </a:r>
            <a:endParaRPr lang="en-US" dirty="0" smtClean="0"/>
          </a:p>
          <a:p>
            <a:pPr>
              <a:buNone/>
            </a:pPr>
            <a:endParaRPr lang="en-US" dirty="0"/>
          </a:p>
        </p:txBody>
      </p:sp>
      <p:sp>
        <p:nvSpPr>
          <p:cNvPr id="4301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3009" name="Object 1"/>
          <p:cNvGraphicFramePr>
            <a:graphicFrameLocks noChangeAspect="1"/>
          </p:cNvGraphicFramePr>
          <p:nvPr/>
        </p:nvGraphicFramePr>
        <p:xfrm>
          <a:off x="4724400" y="1371600"/>
          <a:ext cx="1371600" cy="381000"/>
        </p:xfrm>
        <a:graphic>
          <a:graphicData uri="http://schemas.openxmlformats.org/presentationml/2006/ole">
            <mc:AlternateContent xmlns:mc="http://schemas.openxmlformats.org/markup-compatibility/2006">
              <mc:Choice xmlns:v="urn:schemas-microsoft-com:vml" Requires="v">
                <p:oleObj spid="_x0000_s43032" name="Equation" r:id="rId4" imgW="825142" imgH="215806" progId="Equation.3">
                  <p:embed/>
                </p:oleObj>
              </mc:Choice>
              <mc:Fallback>
                <p:oleObj name="Equation" r:id="rId4" imgW="825142" imgH="215806" progId="Equation.3">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1371600"/>
                        <a:ext cx="13716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3011" name="Object 3"/>
          <p:cNvGraphicFramePr>
            <a:graphicFrameLocks noChangeAspect="1"/>
          </p:cNvGraphicFramePr>
          <p:nvPr/>
        </p:nvGraphicFramePr>
        <p:xfrm>
          <a:off x="685800" y="1600200"/>
          <a:ext cx="4572000" cy="685800"/>
        </p:xfrm>
        <a:graphic>
          <a:graphicData uri="http://schemas.openxmlformats.org/presentationml/2006/ole">
            <mc:AlternateContent xmlns:mc="http://schemas.openxmlformats.org/markup-compatibility/2006">
              <mc:Choice xmlns:v="urn:schemas-microsoft-com:vml" Requires="v">
                <p:oleObj spid="_x0000_s43033" name="Equation" r:id="rId6" imgW="4152900" imgH="508000" progId="Equation.3">
                  <p:embed/>
                </p:oleObj>
              </mc:Choice>
              <mc:Fallback>
                <p:oleObj name="Equation" r:id="rId6" imgW="4152900" imgH="50800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1600200"/>
                        <a:ext cx="45720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3013" name="Object 5"/>
          <p:cNvGraphicFramePr>
            <a:graphicFrameLocks noChangeAspect="1"/>
          </p:cNvGraphicFramePr>
          <p:nvPr/>
        </p:nvGraphicFramePr>
        <p:xfrm>
          <a:off x="762000" y="2514600"/>
          <a:ext cx="4778375" cy="685800"/>
        </p:xfrm>
        <a:graphic>
          <a:graphicData uri="http://schemas.openxmlformats.org/presentationml/2006/ole">
            <mc:AlternateContent xmlns:mc="http://schemas.openxmlformats.org/markup-compatibility/2006">
              <mc:Choice xmlns:v="urn:schemas-microsoft-com:vml" Requires="v">
                <p:oleObj spid="_x0000_s43034" name="Equation" r:id="rId8" imgW="4101840" imgH="507960" progId="Equation.3">
                  <p:embed/>
                </p:oleObj>
              </mc:Choice>
              <mc:Fallback>
                <p:oleObj name="Equation" r:id="rId8" imgW="4101840" imgH="507960" progId="Equation.3">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2000" y="2514600"/>
                        <a:ext cx="4778375"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3015" name="Object 7"/>
          <p:cNvGraphicFramePr>
            <a:graphicFrameLocks noChangeAspect="1"/>
          </p:cNvGraphicFramePr>
          <p:nvPr/>
        </p:nvGraphicFramePr>
        <p:xfrm>
          <a:off x="3429000" y="3352800"/>
          <a:ext cx="990600" cy="381000"/>
        </p:xfrm>
        <a:graphic>
          <a:graphicData uri="http://schemas.openxmlformats.org/presentationml/2006/ole">
            <mc:AlternateContent xmlns:mc="http://schemas.openxmlformats.org/markup-compatibility/2006">
              <mc:Choice xmlns:v="urn:schemas-microsoft-com:vml" Requires="v">
                <p:oleObj spid="_x0000_s43035" name="Equation" r:id="rId10" imgW="812447" imgH="228501" progId="Equation.3">
                  <p:embed/>
                </p:oleObj>
              </mc:Choice>
              <mc:Fallback>
                <p:oleObj name="Equation" r:id="rId10" imgW="812447" imgH="228501" progId="Equation.3">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29000" y="3352800"/>
                        <a:ext cx="9906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3017" name="Object 9"/>
          <p:cNvGraphicFramePr>
            <a:graphicFrameLocks noChangeAspect="1"/>
          </p:cNvGraphicFramePr>
          <p:nvPr/>
        </p:nvGraphicFramePr>
        <p:xfrm>
          <a:off x="4648200" y="3200400"/>
          <a:ext cx="2400300" cy="685800"/>
        </p:xfrm>
        <a:graphic>
          <a:graphicData uri="http://schemas.openxmlformats.org/presentationml/2006/ole">
            <mc:AlternateContent xmlns:mc="http://schemas.openxmlformats.org/markup-compatibility/2006">
              <mc:Choice xmlns:v="urn:schemas-microsoft-com:vml" Requires="v">
                <p:oleObj spid="_x0000_s43036" name="Equation" r:id="rId12" imgW="2108160" imgH="482400" progId="Equation.3">
                  <p:embed/>
                </p:oleObj>
              </mc:Choice>
              <mc:Fallback>
                <p:oleObj name="Equation" r:id="rId12" imgW="2108160" imgH="482400" progId="Equation.3">
                  <p:embed/>
                  <p:pic>
                    <p:nvPicPr>
                      <p:cNvPr id="0" name="Picture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48200" y="3200400"/>
                        <a:ext cx="24003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20"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3019" name="Object 11"/>
          <p:cNvGraphicFramePr>
            <a:graphicFrameLocks noChangeAspect="1"/>
          </p:cNvGraphicFramePr>
          <p:nvPr/>
        </p:nvGraphicFramePr>
        <p:xfrm>
          <a:off x="1524000" y="3810000"/>
          <a:ext cx="304800" cy="381000"/>
        </p:xfrm>
        <a:graphic>
          <a:graphicData uri="http://schemas.openxmlformats.org/presentationml/2006/ole">
            <mc:AlternateContent xmlns:mc="http://schemas.openxmlformats.org/markup-compatibility/2006">
              <mc:Choice xmlns:v="urn:schemas-microsoft-com:vml" Requires="v">
                <p:oleObj spid="_x0000_s43037" name="Equation" r:id="rId14" imgW="139579" imgH="177646" progId="Equation.3">
                  <p:embed/>
                </p:oleObj>
              </mc:Choice>
              <mc:Fallback>
                <p:oleObj name="Equation" r:id="rId14" imgW="139579" imgH="177646" progId="Equation.3">
                  <p:embed/>
                  <p:pic>
                    <p:nvPicPr>
                      <p:cNvPr id="0" name="Picture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24000" y="3810000"/>
                        <a:ext cx="3048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22"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3021" name="Object 13"/>
          <p:cNvGraphicFramePr>
            <a:graphicFrameLocks noChangeAspect="1"/>
          </p:cNvGraphicFramePr>
          <p:nvPr/>
        </p:nvGraphicFramePr>
        <p:xfrm>
          <a:off x="1143000" y="4343400"/>
          <a:ext cx="2133600" cy="609600"/>
        </p:xfrm>
        <a:graphic>
          <a:graphicData uri="http://schemas.openxmlformats.org/presentationml/2006/ole">
            <mc:AlternateContent xmlns:mc="http://schemas.openxmlformats.org/markup-compatibility/2006">
              <mc:Choice xmlns:v="urn:schemas-microsoft-com:vml" Requires="v">
                <p:oleObj spid="_x0000_s43038" name="Equation" r:id="rId16" imgW="1981200" imgH="419100" progId="Equation.3">
                  <p:embed/>
                </p:oleObj>
              </mc:Choice>
              <mc:Fallback>
                <p:oleObj name="Equation" r:id="rId16" imgW="1981200" imgH="419100" progId="Equation.3">
                  <p:embed/>
                  <p:pic>
                    <p:nvPicPr>
                      <p:cNvPr id="0" name="Picture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43000" y="4343400"/>
                        <a:ext cx="21336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24"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3023" name="Object 15"/>
          <p:cNvGraphicFramePr>
            <a:graphicFrameLocks noChangeAspect="1"/>
          </p:cNvGraphicFramePr>
          <p:nvPr/>
        </p:nvGraphicFramePr>
        <p:xfrm>
          <a:off x="4267200" y="4648200"/>
          <a:ext cx="2133600" cy="581025"/>
        </p:xfrm>
        <a:graphic>
          <a:graphicData uri="http://schemas.openxmlformats.org/presentationml/2006/ole">
            <mc:AlternateContent xmlns:mc="http://schemas.openxmlformats.org/markup-compatibility/2006">
              <mc:Choice xmlns:v="urn:schemas-microsoft-com:vml" Requires="v">
                <p:oleObj spid="_x0000_s43039" name="Equation" r:id="rId18" imgW="1524000" imgH="431800" progId="Equation.3">
                  <p:embed/>
                </p:oleObj>
              </mc:Choice>
              <mc:Fallback>
                <p:oleObj name="Equation" r:id="rId18" imgW="1524000" imgH="431800" progId="Equation.3">
                  <p:embed/>
                  <p:pic>
                    <p:nvPicPr>
                      <p:cNvPr id="0" name="Picture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67200" y="4648200"/>
                        <a:ext cx="2133600"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Slide Number Placeholder 19"/>
          <p:cNvSpPr>
            <a:spLocks noGrp="1"/>
          </p:cNvSpPr>
          <p:nvPr>
            <p:ph type="sldNum" sz="quarter" idx="12"/>
          </p:nvPr>
        </p:nvSpPr>
        <p:spPr/>
        <p:txBody>
          <a:bodyPr/>
          <a:lstStyle/>
          <a:p>
            <a:fld id="{B6F15528-21DE-4FAA-801E-634DDDAF4B2B}" type="slidenum">
              <a:rPr lang="en-US" smtClean="0"/>
              <a:pPr/>
              <a:t>11</a:t>
            </a:fld>
            <a:endParaRPr lang="en-US"/>
          </a:p>
        </p:txBody>
      </p:sp>
      <p:sp>
        <p:nvSpPr>
          <p:cNvPr id="21" name="Footer Placeholder 20"/>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305800" cy="6400800"/>
          </a:xfrm>
        </p:spPr>
        <p:txBody>
          <a:bodyPr>
            <a:normAutofit/>
          </a:bodyPr>
          <a:lstStyle/>
          <a:p>
            <a:r>
              <a:rPr lang="en-GB" sz="2800" i="1" dirty="0" smtClean="0"/>
              <a:t>Example 1-2</a:t>
            </a:r>
            <a:r>
              <a:rPr lang="en-GB" sz="2800" dirty="0" smtClean="0"/>
              <a:t>: </a:t>
            </a:r>
            <a:r>
              <a:rPr lang="en-GB" sz="2800" i="1" dirty="0" smtClean="0"/>
              <a:t>Compare the strain energy of a beam, simply supported at its ends and loaded with a uniformly distributed load, with that of the same beam centrally loaded and having the same value of maximum bending stress.</a:t>
            </a:r>
          </a:p>
          <a:p>
            <a:pPr>
              <a:buNone/>
            </a:pPr>
            <a:r>
              <a:rPr lang="en-GB" sz="2800" b="1" i="1" dirty="0" smtClean="0"/>
              <a:t>Solution</a:t>
            </a:r>
          </a:p>
          <a:p>
            <a:r>
              <a:rPr lang="en-GB" sz="2800" dirty="0" smtClean="0"/>
              <a:t>If </a:t>
            </a:r>
            <a:r>
              <a:rPr lang="en-GB" sz="2800" i="1" dirty="0" smtClean="0"/>
              <a:t>l</a:t>
            </a:r>
            <a:r>
              <a:rPr lang="en-GB" sz="2800" dirty="0" smtClean="0"/>
              <a:t> is the span and </a:t>
            </a:r>
            <a:r>
              <a:rPr lang="en-GB" sz="2800" i="1" dirty="0" smtClean="0"/>
              <a:t>EI </a:t>
            </a:r>
            <a:r>
              <a:rPr lang="en-GB" sz="2800" dirty="0" smtClean="0"/>
              <a:t>the flexural rigidity, then for a uniformly distributed load </a:t>
            </a:r>
            <a:r>
              <a:rPr lang="en-GB" sz="2800" i="1" dirty="0" smtClean="0"/>
              <a:t>w, </a:t>
            </a:r>
            <a:r>
              <a:rPr lang="en-GB" sz="2800" dirty="0" smtClean="0"/>
              <a:t>the end reactions are </a:t>
            </a:r>
            <a:r>
              <a:rPr lang="en-GB" sz="2800" i="1" dirty="0" err="1" smtClean="0"/>
              <a:t>wl</a:t>
            </a:r>
            <a:r>
              <a:rPr lang="en-GB" sz="2800" i="1" dirty="0" smtClean="0"/>
              <a:t>/2, </a:t>
            </a:r>
            <a:r>
              <a:rPr lang="en-GB" sz="2800" dirty="0" smtClean="0"/>
              <a:t>and at a distance </a:t>
            </a:r>
            <a:r>
              <a:rPr lang="en-GB" sz="2800" i="1" dirty="0" smtClean="0"/>
              <a:t>x </a:t>
            </a:r>
            <a:r>
              <a:rPr lang="en-GB" sz="2800" dirty="0" smtClean="0"/>
              <a:t>from one end,</a:t>
            </a:r>
          </a:p>
          <a:p>
            <a:endParaRPr lang="en-GB" dirty="0" smtClean="0"/>
          </a:p>
          <a:p>
            <a:endParaRPr lang="en-GB" dirty="0" smtClean="0"/>
          </a:p>
          <a:p>
            <a:endParaRPr lang="en-GB" dirty="0" smtClean="0"/>
          </a:p>
          <a:p>
            <a:endParaRPr lang="en-GB" dirty="0" smtClean="0"/>
          </a:p>
        </p:txBody>
      </p:sp>
      <p:sp>
        <p:nvSpPr>
          <p:cNvPr id="4505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5057" name="Object 1"/>
          <p:cNvGraphicFramePr>
            <a:graphicFrameLocks noChangeAspect="1"/>
          </p:cNvGraphicFramePr>
          <p:nvPr/>
        </p:nvGraphicFramePr>
        <p:xfrm>
          <a:off x="914400" y="4495800"/>
          <a:ext cx="3200400" cy="609600"/>
        </p:xfrm>
        <a:graphic>
          <a:graphicData uri="http://schemas.openxmlformats.org/presentationml/2006/ole">
            <mc:AlternateContent xmlns:mc="http://schemas.openxmlformats.org/markup-compatibility/2006">
              <mc:Choice xmlns:v="urn:schemas-microsoft-com:vml" Requires="v">
                <p:oleObj spid="_x0000_s45062" name="Equation" r:id="rId4" imgW="2159000" imgH="317500" progId="Equation.3">
                  <p:embed/>
                </p:oleObj>
              </mc:Choice>
              <mc:Fallback>
                <p:oleObj name="Equation" r:id="rId4" imgW="2159000" imgH="317500" progId="Equation.3">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4495800"/>
                        <a:ext cx="32004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5059" name="Object 3"/>
          <p:cNvGraphicFramePr>
            <a:graphicFrameLocks noChangeAspect="1"/>
          </p:cNvGraphicFramePr>
          <p:nvPr/>
        </p:nvGraphicFramePr>
        <p:xfrm>
          <a:off x="533400" y="5257800"/>
          <a:ext cx="8305800" cy="914400"/>
        </p:xfrm>
        <a:graphic>
          <a:graphicData uri="http://schemas.openxmlformats.org/presentationml/2006/ole">
            <mc:AlternateContent xmlns:mc="http://schemas.openxmlformats.org/markup-compatibility/2006">
              <mc:Choice xmlns:v="urn:schemas-microsoft-com:vml" Requires="v">
                <p:oleObj spid="_x0000_s45063" name="Equation" r:id="rId6" imgW="4711700" imgH="431800" progId="Equation.3">
                  <p:embed/>
                </p:oleObj>
              </mc:Choice>
              <mc:Fallback>
                <p:oleObj name="Equation" r:id="rId6" imgW="4711700" imgH="43180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5257800"/>
                        <a:ext cx="83058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2"/>
          </p:nvPr>
        </p:nvSpPr>
        <p:spPr/>
        <p:txBody>
          <a:bodyPr/>
          <a:lstStyle/>
          <a:p>
            <a:fld id="{B6F15528-21DE-4FAA-801E-634DDDAF4B2B}" type="slidenum">
              <a:rPr lang="en-US" smtClean="0"/>
              <a:pPr/>
              <a:t>12</a:t>
            </a:fld>
            <a:endParaRPr lang="en-US"/>
          </a:p>
        </p:txBody>
      </p:sp>
      <p:sp>
        <p:nvSpPr>
          <p:cNvPr id="8" name="Footer Placeholder 7"/>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fontScale="77500" lnSpcReduction="20000"/>
          </a:bodyPr>
          <a:lstStyle/>
          <a:p>
            <a:r>
              <a:rPr lang="en-GB" dirty="0" smtClean="0"/>
              <a:t>For central load of</a:t>
            </a:r>
            <a:r>
              <a:rPr lang="en-GB" i="1" dirty="0" smtClean="0"/>
              <a:t> W</a:t>
            </a:r>
            <a:r>
              <a:rPr lang="en-GB" dirty="0" smtClean="0"/>
              <a:t>, (Example 1-1),</a:t>
            </a:r>
          </a:p>
          <a:p>
            <a:endParaRPr lang="en-GB" dirty="0" smtClean="0"/>
          </a:p>
          <a:p>
            <a:endParaRPr lang="en-US" dirty="0" smtClean="0"/>
          </a:p>
          <a:p>
            <a:r>
              <a:rPr lang="en-GB" dirty="0" smtClean="0"/>
              <a:t>Maximum bending stress</a:t>
            </a:r>
            <a:r>
              <a:rPr lang="en-GB" i="1" dirty="0" smtClean="0"/>
              <a:t>=M/Z, </a:t>
            </a:r>
            <a:r>
              <a:rPr lang="en-GB" dirty="0" smtClean="0"/>
              <a:t>and for a given beam depends on the maximum bending moment. Since the section modulus is the same and for the two bending stresses to be the same, then the maximum bending moment must be the same.</a:t>
            </a:r>
            <a:endParaRPr lang="en-US" dirty="0" smtClean="0"/>
          </a:p>
          <a:p>
            <a:r>
              <a:rPr lang="en-GB" dirty="0" smtClean="0"/>
              <a:t>Hence equating maximum bending moments, we</a:t>
            </a:r>
          </a:p>
          <a:p>
            <a:endParaRPr lang="en-GB" dirty="0" smtClean="0"/>
          </a:p>
          <a:p>
            <a:pPr>
              <a:buNone/>
            </a:pPr>
            <a:r>
              <a:rPr lang="en-GB" dirty="0" smtClean="0"/>
              <a:t>    have</a:t>
            </a:r>
          </a:p>
          <a:p>
            <a:pPr>
              <a:buNone/>
            </a:pPr>
            <a:endParaRPr lang="en-GB" dirty="0" smtClean="0"/>
          </a:p>
          <a:p>
            <a:pPr>
              <a:buNone/>
            </a:pPr>
            <a:r>
              <a:rPr lang="en-GB" dirty="0" smtClean="0"/>
              <a:t> </a:t>
            </a:r>
            <a:endParaRPr lang="en-US" dirty="0" smtClean="0"/>
          </a:p>
          <a:p>
            <a:pPr>
              <a:buNone/>
            </a:pPr>
            <a:r>
              <a:rPr lang="en-GB" dirty="0" smtClean="0"/>
              <a:t>Hence </a:t>
            </a:r>
          </a:p>
          <a:p>
            <a:pPr>
              <a:buNone/>
            </a:pPr>
            <a:endParaRPr lang="en-US" dirty="0" smtClean="0"/>
          </a:p>
          <a:p>
            <a:pPr>
              <a:buNone/>
            </a:pPr>
            <a:r>
              <a:rPr lang="en-GB" dirty="0" smtClean="0"/>
              <a:t>Ratio </a:t>
            </a:r>
            <a:endParaRPr lang="en-US" dirty="0" smtClean="0"/>
          </a:p>
          <a:p>
            <a:endParaRPr lang="en-US" dirty="0"/>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6081" name="Object 1"/>
          <p:cNvGraphicFramePr>
            <a:graphicFrameLocks noChangeAspect="1"/>
          </p:cNvGraphicFramePr>
          <p:nvPr/>
        </p:nvGraphicFramePr>
        <p:xfrm>
          <a:off x="990600" y="762000"/>
          <a:ext cx="3124200" cy="762000"/>
        </p:xfrm>
        <a:graphic>
          <a:graphicData uri="http://schemas.openxmlformats.org/presentationml/2006/ole">
            <mc:AlternateContent xmlns:mc="http://schemas.openxmlformats.org/markup-compatibility/2006">
              <mc:Choice xmlns:v="urn:schemas-microsoft-com:vml" Requires="v">
                <p:oleObj spid="_x0000_s46092" name="Equation" r:id="rId4" imgW="2108200" imgH="482600" progId="Equation.3">
                  <p:embed/>
                </p:oleObj>
              </mc:Choice>
              <mc:Fallback>
                <p:oleObj name="Equation" r:id="rId4" imgW="2108200" imgH="482600" progId="Equation.3">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762000"/>
                        <a:ext cx="31242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6083" name="Object 3"/>
          <p:cNvGraphicFramePr>
            <a:graphicFrameLocks noChangeAspect="1"/>
          </p:cNvGraphicFramePr>
          <p:nvPr/>
        </p:nvGraphicFramePr>
        <p:xfrm>
          <a:off x="1752600" y="3657600"/>
          <a:ext cx="2667000" cy="609600"/>
        </p:xfrm>
        <a:graphic>
          <a:graphicData uri="http://schemas.openxmlformats.org/presentationml/2006/ole">
            <mc:AlternateContent xmlns:mc="http://schemas.openxmlformats.org/markup-compatibility/2006">
              <mc:Choice xmlns:v="urn:schemas-microsoft-com:vml" Requires="v">
                <p:oleObj spid="_x0000_s46093" name="Equation" r:id="rId6" imgW="1600200" imgH="317500" progId="Equation.3">
                  <p:embed/>
                </p:oleObj>
              </mc:Choice>
              <mc:Fallback>
                <p:oleObj name="Equation" r:id="rId6" imgW="1600200" imgH="31750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3657600"/>
                        <a:ext cx="26670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6085" name="Object 5"/>
          <p:cNvGraphicFramePr>
            <a:graphicFrameLocks noChangeAspect="1"/>
          </p:cNvGraphicFramePr>
          <p:nvPr/>
        </p:nvGraphicFramePr>
        <p:xfrm>
          <a:off x="1600200" y="4724400"/>
          <a:ext cx="2895600" cy="685800"/>
        </p:xfrm>
        <a:graphic>
          <a:graphicData uri="http://schemas.openxmlformats.org/presentationml/2006/ole">
            <mc:AlternateContent xmlns:mc="http://schemas.openxmlformats.org/markup-compatibility/2006">
              <mc:Choice xmlns:v="urn:schemas-microsoft-com:vml" Requires="v">
                <p:oleObj spid="_x0000_s46094" name="Equation" r:id="rId8" imgW="1968500" imgH="444500" progId="Equation.3">
                  <p:embed/>
                </p:oleObj>
              </mc:Choice>
              <mc:Fallback>
                <p:oleObj name="Equation" r:id="rId8" imgW="1968500" imgH="444500" progId="Equation.3">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00200" y="4724400"/>
                        <a:ext cx="28956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6087" name="Object 7"/>
          <p:cNvGraphicFramePr>
            <a:graphicFrameLocks noChangeAspect="1"/>
          </p:cNvGraphicFramePr>
          <p:nvPr/>
        </p:nvGraphicFramePr>
        <p:xfrm>
          <a:off x="1752600" y="5638800"/>
          <a:ext cx="2895600" cy="714375"/>
        </p:xfrm>
        <a:graphic>
          <a:graphicData uri="http://schemas.openxmlformats.org/presentationml/2006/ole">
            <mc:AlternateContent xmlns:mc="http://schemas.openxmlformats.org/markup-compatibility/2006">
              <mc:Choice xmlns:v="urn:schemas-microsoft-com:vml" Requires="v">
                <p:oleObj spid="_x0000_s46095" name="Equation" r:id="rId10" imgW="1816100" imgH="482600" progId="Equation.3">
                  <p:embed/>
                </p:oleObj>
              </mc:Choice>
              <mc:Fallback>
                <p:oleObj name="Equation" r:id="rId10" imgW="1816100" imgH="482600" progId="Equation.3">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52600" y="5638800"/>
                        <a:ext cx="2895600" cy="71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Slide Number Placeholder 10"/>
          <p:cNvSpPr>
            <a:spLocks noGrp="1"/>
          </p:cNvSpPr>
          <p:nvPr>
            <p:ph type="sldNum" sz="quarter" idx="12"/>
          </p:nvPr>
        </p:nvSpPr>
        <p:spPr/>
        <p:txBody>
          <a:bodyPr/>
          <a:lstStyle/>
          <a:p>
            <a:fld id="{B6F15528-21DE-4FAA-801E-634DDDAF4B2B}" type="slidenum">
              <a:rPr lang="en-US" smtClean="0"/>
              <a:pPr/>
              <a:t>13</a:t>
            </a:fld>
            <a:endParaRPr lang="en-US"/>
          </a:p>
        </p:txBody>
      </p:sp>
      <p:sp>
        <p:nvSpPr>
          <p:cNvPr id="12" name="Footer Placeholder 11"/>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Double Integration Method</a:t>
            </a:r>
            <a:endParaRPr lang="en-US" dirty="0"/>
          </a:p>
        </p:txBody>
      </p:sp>
      <p:sp>
        <p:nvSpPr>
          <p:cNvPr id="3" name="Content Placeholder 2"/>
          <p:cNvSpPr>
            <a:spLocks noGrp="1"/>
          </p:cNvSpPr>
          <p:nvPr>
            <p:ph idx="1"/>
          </p:nvPr>
        </p:nvSpPr>
        <p:spPr>
          <a:xfrm>
            <a:off x="457200" y="1295400"/>
            <a:ext cx="8229600" cy="4830763"/>
          </a:xfrm>
        </p:spPr>
        <p:txBody>
          <a:bodyPr>
            <a:normAutofit lnSpcReduction="10000"/>
          </a:bodyPr>
          <a:lstStyle/>
          <a:p>
            <a:r>
              <a:rPr lang="en-US" dirty="0" smtClean="0"/>
              <a:t>Bending moment at a point is given by </a:t>
            </a:r>
          </a:p>
          <a:p>
            <a:r>
              <a:rPr lang="en-US" dirty="0" smtClean="0"/>
              <a:t>First integration of the above equation gives</a:t>
            </a:r>
          </a:p>
          <a:p>
            <a:pPr>
              <a:buNone/>
            </a:pPr>
            <a:r>
              <a:rPr lang="en-US" dirty="0" smtClean="0"/>
              <a:t>  	                  …………………………………………….(</a:t>
            </a:r>
            <a:r>
              <a:rPr lang="en-US" dirty="0" err="1" smtClean="0"/>
              <a:t>i</a:t>
            </a:r>
            <a:r>
              <a:rPr lang="en-US" dirty="0" smtClean="0"/>
              <a:t>)</a:t>
            </a:r>
          </a:p>
          <a:p>
            <a:r>
              <a:rPr lang="en-US" dirty="0" smtClean="0"/>
              <a:t>Second integration gives                  ………..(ii)</a:t>
            </a:r>
          </a:p>
          <a:p>
            <a:r>
              <a:rPr lang="en-US" dirty="0" smtClean="0"/>
              <a:t>It is thus obvious that after first integration of the original differential equation, we get the </a:t>
            </a:r>
            <a:r>
              <a:rPr lang="en-US" b="1" dirty="0" smtClean="0"/>
              <a:t>value of slope at any point</a:t>
            </a:r>
            <a:r>
              <a:rPr lang="en-US" dirty="0" smtClean="0"/>
              <a:t>. On further integration, we get the </a:t>
            </a:r>
            <a:r>
              <a:rPr lang="en-US" b="1" dirty="0" smtClean="0"/>
              <a:t>value of deflection at any point.</a:t>
            </a:r>
            <a:endParaRPr lang="en-US" b="1" dirty="0"/>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7105" name="Object 1"/>
          <p:cNvGraphicFramePr>
            <a:graphicFrameLocks noChangeAspect="1"/>
          </p:cNvGraphicFramePr>
          <p:nvPr/>
        </p:nvGraphicFramePr>
        <p:xfrm>
          <a:off x="7239000" y="1219200"/>
          <a:ext cx="1295400" cy="685800"/>
        </p:xfrm>
        <a:graphic>
          <a:graphicData uri="http://schemas.openxmlformats.org/presentationml/2006/ole">
            <mc:AlternateContent xmlns:mc="http://schemas.openxmlformats.org/markup-compatibility/2006">
              <mc:Choice xmlns:v="urn:schemas-microsoft-com:vml" Requires="v">
                <p:oleObj spid="_x0000_s47113" name="Equation" r:id="rId4" imgW="825500" imgH="431800" progId="Equation.3">
                  <p:embed/>
                </p:oleObj>
              </mc:Choice>
              <mc:Fallback>
                <p:oleObj name="Equation" r:id="rId4" imgW="825500" imgH="431800" progId="Equation.3">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9000" y="1219200"/>
                        <a:ext cx="12954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0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7107" name="Object 3"/>
          <p:cNvGraphicFramePr>
            <a:graphicFrameLocks noChangeAspect="1"/>
          </p:cNvGraphicFramePr>
          <p:nvPr/>
        </p:nvGraphicFramePr>
        <p:xfrm>
          <a:off x="914400" y="2286000"/>
          <a:ext cx="1447800" cy="609600"/>
        </p:xfrm>
        <a:graphic>
          <a:graphicData uri="http://schemas.openxmlformats.org/presentationml/2006/ole">
            <mc:AlternateContent xmlns:mc="http://schemas.openxmlformats.org/markup-compatibility/2006">
              <mc:Choice xmlns:v="urn:schemas-microsoft-com:vml" Requires="v">
                <p:oleObj spid="_x0000_s47114" name="Equation" r:id="rId6" imgW="812447" imgH="393529" progId="Equation.3">
                  <p:embed/>
                </p:oleObj>
              </mc:Choice>
              <mc:Fallback>
                <p:oleObj name="Equation" r:id="rId6" imgW="812447" imgH="393529"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2286000"/>
                        <a:ext cx="14478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1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7109" name="Object 5"/>
          <p:cNvGraphicFramePr>
            <a:graphicFrameLocks noChangeAspect="1"/>
          </p:cNvGraphicFramePr>
          <p:nvPr/>
        </p:nvGraphicFramePr>
        <p:xfrm>
          <a:off x="5105400" y="2895600"/>
          <a:ext cx="1524000" cy="609600"/>
        </p:xfrm>
        <a:graphic>
          <a:graphicData uri="http://schemas.openxmlformats.org/presentationml/2006/ole">
            <mc:AlternateContent xmlns:mc="http://schemas.openxmlformats.org/markup-compatibility/2006">
              <mc:Choice xmlns:v="urn:schemas-microsoft-com:vml" Requires="v">
                <p:oleObj spid="_x0000_s47115" name="Equation" r:id="rId8" imgW="774364" imgH="279279" progId="Equation.3">
                  <p:embed/>
                </p:oleObj>
              </mc:Choice>
              <mc:Fallback>
                <p:oleObj name="Equation" r:id="rId8" imgW="774364" imgH="279279" progId="Equation.3">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05400" y="2895600"/>
                        <a:ext cx="15240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Slide Number Placeholder 9"/>
          <p:cNvSpPr>
            <a:spLocks noGrp="1"/>
          </p:cNvSpPr>
          <p:nvPr>
            <p:ph type="sldNum" sz="quarter" idx="12"/>
          </p:nvPr>
        </p:nvSpPr>
        <p:spPr/>
        <p:txBody>
          <a:bodyPr/>
          <a:lstStyle/>
          <a:p>
            <a:fld id="{B6F15528-21DE-4FAA-801E-634DDDAF4B2B}" type="slidenum">
              <a:rPr lang="en-US" smtClean="0"/>
              <a:pPr/>
              <a:t>14</a:t>
            </a:fld>
            <a:endParaRPr lang="en-US"/>
          </a:p>
        </p:txBody>
      </p:sp>
      <p:sp>
        <p:nvSpPr>
          <p:cNvPr id="11" name="Footer Placeholder 10"/>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Simply Supported Beam with a Central Point Load</a:t>
            </a:r>
            <a:endParaRPr lang="en-US" dirty="0"/>
          </a:p>
        </p:txBody>
      </p:sp>
      <p:sp>
        <p:nvSpPr>
          <p:cNvPr id="3" name="Content Placeholder 2"/>
          <p:cNvSpPr>
            <a:spLocks noGrp="1"/>
          </p:cNvSpPr>
          <p:nvPr>
            <p:ph sz="half" idx="1"/>
          </p:nvPr>
        </p:nvSpPr>
        <p:spPr>
          <a:xfrm>
            <a:off x="457200" y="1600200"/>
            <a:ext cx="4343400" cy="4648200"/>
          </a:xfrm>
        </p:spPr>
        <p:txBody>
          <a:bodyPr>
            <a:normAutofit fontScale="77500" lnSpcReduction="20000"/>
          </a:bodyPr>
          <a:lstStyle/>
          <a:p>
            <a:r>
              <a:rPr lang="en-US" dirty="0" smtClean="0"/>
              <a:t>Consider a simply supported beam </a:t>
            </a:r>
            <a:r>
              <a:rPr lang="en-US" i="1" dirty="0" smtClean="0"/>
              <a:t>AB </a:t>
            </a:r>
            <a:r>
              <a:rPr lang="en-US" dirty="0" smtClean="0"/>
              <a:t>of length </a:t>
            </a:r>
            <a:r>
              <a:rPr lang="en-US" i="1" dirty="0" smtClean="0"/>
              <a:t>l </a:t>
            </a:r>
            <a:r>
              <a:rPr lang="en-US" dirty="0" smtClean="0"/>
              <a:t>and carrying a point load </a:t>
            </a:r>
            <a:r>
              <a:rPr lang="en-US" i="1" dirty="0" smtClean="0"/>
              <a:t>W </a:t>
            </a:r>
            <a:r>
              <a:rPr lang="en-US" dirty="0" smtClean="0"/>
              <a:t>at the centre of beam C as shown in Fig. 4. From the geometry of the figure, we find that the</a:t>
            </a:r>
          </a:p>
          <a:p>
            <a:pPr>
              <a:buNone/>
            </a:pPr>
            <a:r>
              <a:rPr lang="en-US" dirty="0" smtClean="0"/>
              <a:t>     reaction at </a:t>
            </a:r>
            <a:r>
              <a:rPr lang="en-US" i="1" dirty="0" smtClean="0"/>
              <a:t>A,</a:t>
            </a:r>
            <a:endParaRPr lang="en-US" dirty="0" smtClean="0"/>
          </a:p>
          <a:p>
            <a:r>
              <a:rPr lang="en-US" dirty="0" smtClean="0"/>
              <a:t>Consider a section </a:t>
            </a:r>
            <a:r>
              <a:rPr lang="en-US" i="1" dirty="0" smtClean="0"/>
              <a:t>X </a:t>
            </a:r>
            <a:r>
              <a:rPr lang="en-US" dirty="0" smtClean="0"/>
              <a:t>at a distance </a:t>
            </a:r>
            <a:r>
              <a:rPr lang="en-US" i="1" dirty="0" smtClean="0"/>
              <a:t>x </a:t>
            </a:r>
            <a:r>
              <a:rPr lang="en-US" dirty="0" smtClean="0"/>
              <a:t>from </a:t>
            </a:r>
            <a:r>
              <a:rPr lang="en-US" i="1" dirty="0" smtClean="0"/>
              <a:t>B. </a:t>
            </a:r>
            <a:r>
              <a:rPr lang="en-US" dirty="0" smtClean="0"/>
              <a:t>We know that the bending moment at this section,</a:t>
            </a:r>
          </a:p>
          <a:p>
            <a:pPr>
              <a:buNone/>
            </a:pPr>
            <a:endParaRPr lang="en-US" dirty="0" smtClean="0"/>
          </a:p>
          <a:p>
            <a:pPr>
              <a:buNone/>
            </a:pPr>
            <a:r>
              <a:rPr lang="en-US" dirty="0" smtClean="0"/>
              <a:t>                                                          (Plus sign due to sagging)</a:t>
            </a:r>
          </a:p>
          <a:p>
            <a:endParaRPr lang="en-US" dirty="0" smtClean="0"/>
          </a:p>
          <a:p>
            <a:r>
              <a:rPr lang="en-US" dirty="0" smtClean="0"/>
              <a:t>Therefore,                               ……(</a:t>
            </a:r>
            <a:r>
              <a:rPr lang="en-US" dirty="0" err="1" smtClean="0"/>
              <a:t>i</a:t>
            </a:r>
            <a:r>
              <a:rPr lang="en-US" dirty="0" smtClean="0"/>
              <a:t>)</a:t>
            </a:r>
          </a:p>
        </p:txBody>
      </p:sp>
      <p:pic>
        <p:nvPicPr>
          <p:cNvPr id="5" name="Content Placeholder 4"/>
          <p:cNvPicPr>
            <a:picLocks noGrp="1"/>
          </p:cNvPicPr>
          <p:nvPr>
            <p:ph sz="half" idx="2"/>
          </p:nvPr>
        </p:nvPicPr>
        <p:blipFill>
          <a:blip r:embed="rId4"/>
          <a:srcRect/>
          <a:stretch>
            <a:fillRect/>
          </a:stretch>
        </p:blipFill>
        <p:spPr bwMode="auto">
          <a:xfrm>
            <a:off x="4648200" y="1600200"/>
            <a:ext cx="4343400" cy="2286000"/>
          </a:xfrm>
          <a:prstGeom prst="rect">
            <a:avLst/>
          </a:prstGeom>
          <a:noFill/>
          <a:ln w="9525">
            <a:noFill/>
            <a:miter lim="800000"/>
            <a:headEnd/>
            <a:tailEnd/>
          </a:ln>
        </p:spPr>
      </p:pic>
      <p:sp>
        <p:nvSpPr>
          <p:cNvPr id="8" name="TextBox 7"/>
          <p:cNvSpPr txBox="1"/>
          <p:nvPr/>
        </p:nvSpPr>
        <p:spPr>
          <a:xfrm>
            <a:off x="5105400" y="3962400"/>
            <a:ext cx="3886200" cy="923330"/>
          </a:xfrm>
          <a:prstGeom prst="rect">
            <a:avLst/>
          </a:prstGeom>
          <a:noFill/>
        </p:spPr>
        <p:txBody>
          <a:bodyPr wrap="square" rtlCol="0">
            <a:spAutoFit/>
          </a:bodyPr>
          <a:lstStyle/>
          <a:p>
            <a:r>
              <a:rPr lang="en-US" b="1" dirty="0" smtClean="0"/>
              <a:t>Fig. 4: Simply supported beam with a central point load</a:t>
            </a:r>
          </a:p>
          <a:p>
            <a:endParaRPr lang="en-US" dirty="0"/>
          </a:p>
        </p:txBody>
      </p:sp>
      <p:sp>
        <p:nvSpPr>
          <p:cNvPr id="48131"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8130" name="Object 2"/>
          <p:cNvGraphicFramePr>
            <a:graphicFrameLocks noChangeAspect="1"/>
          </p:cNvGraphicFramePr>
          <p:nvPr/>
        </p:nvGraphicFramePr>
        <p:xfrm>
          <a:off x="2438400" y="3124200"/>
          <a:ext cx="1524000" cy="533400"/>
        </p:xfrm>
        <a:graphic>
          <a:graphicData uri="http://schemas.openxmlformats.org/presentationml/2006/ole">
            <mc:AlternateContent xmlns:mc="http://schemas.openxmlformats.org/markup-compatibility/2006">
              <mc:Choice xmlns:v="urn:schemas-microsoft-com:vml" Requires="v">
                <p:oleObj spid="_x0000_s48138" name="Equation" r:id="rId5" imgW="888614" imgH="393529" progId="Equation.3">
                  <p:embed/>
                </p:oleObj>
              </mc:Choice>
              <mc:Fallback>
                <p:oleObj name="Equation" r:id="rId5" imgW="888614" imgH="393529" progId="Equation.3">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3124200"/>
                        <a:ext cx="15240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8132" name="Object 4"/>
          <p:cNvGraphicFramePr>
            <a:graphicFrameLocks noChangeAspect="1"/>
          </p:cNvGraphicFramePr>
          <p:nvPr/>
        </p:nvGraphicFramePr>
        <p:xfrm>
          <a:off x="838200" y="4495800"/>
          <a:ext cx="1524000" cy="609600"/>
        </p:xfrm>
        <a:graphic>
          <a:graphicData uri="http://schemas.openxmlformats.org/presentationml/2006/ole">
            <mc:AlternateContent xmlns:mc="http://schemas.openxmlformats.org/markup-compatibility/2006">
              <mc:Choice xmlns:v="urn:schemas-microsoft-com:vml" Requires="v">
                <p:oleObj spid="_x0000_s48139" name="Equation" r:id="rId7" imgW="1054100" imgH="393700" progId="Equation.3">
                  <p:embed/>
                </p:oleObj>
              </mc:Choice>
              <mc:Fallback>
                <p:oleObj name="Equation" r:id="rId7" imgW="1054100" imgH="39370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4495800"/>
                        <a:ext cx="15240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8134" name="Object 6"/>
          <p:cNvGraphicFramePr>
            <a:graphicFrameLocks noChangeAspect="1"/>
          </p:cNvGraphicFramePr>
          <p:nvPr/>
        </p:nvGraphicFramePr>
        <p:xfrm>
          <a:off x="2286000" y="5486400"/>
          <a:ext cx="1676400" cy="762000"/>
        </p:xfrm>
        <a:graphic>
          <a:graphicData uri="http://schemas.openxmlformats.org/presentationml/2006/ole">
            <mc:AlternateContent xmlns:mc="http://schemas.openxmlformats.org/markup-compatibility/2006">
              <mc:Choice xmlns:v="urn:schemas-microsoft-com:vml" Requires="v">
                <p:oleObj spid="_x0000_s48140" name="Equation" r:id="rId9" imgW="876300" imgH="431800" progId="Equation.3">
                  <p:embed/>
                </p:oleObj>
              </mc:Choice>
              <mc:Fallback>
                <p:oleObj name="Equation" r:id="rId9" imgW="876300" imgH="431800" progId="Equation.3">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0" y="5486400"/>
                        <a:ext cx="16764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Slide Number Placeholder 11"/>
          <p:cNvSpPr>
            <a:spLocks noGrp="1"/>
          </p:cNvSpPr>
          <p:nvPr>
            <p:ph type="sldNum" sz="quarter" idx="12"/>
          </p:nvPr>
        </p:nvSpPr>
        <p:spPr/>
        <p:txBody>
          <a:bodyPr/>
          <a:lstStyle/>
          <a:p>
            <a:fld id="{B6F15528-21DE-4FAA-801E-634DDDAF4B2B}" type="slidenum">
              <a:rPr lang="en-US" smtClean="0"/>
              <a:pPr/>
              <a:t>15</a:t>
            </a:fld>
            <a:endParaRPr lang="en-US"/>
          </a:p>
        </p:txBody>
      </p:sp>
      <p:sp>
        <p:nvSpPr>
          <p:cNvPr id="13" name="Footer Placeholder 12"/>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248400"/>
          </a:xfrm>
        </p:spPr>
        <p:txBody>
          <a:bodyPr>
            <a:normAutofit fontScale="70000" lnSpcReduction="20000"/>
          </a:bodyPr>
          <a:lstStyle/>
          <a:p>
            <a:r>
              <a:rPr lang="en-US" dirty="0" smtClean="0"/>
              <a:t>Integrating (</a:t>
            </a:r>
            <a:r>
              <a:rPr lang="en-US" dirty="0" err="1" smtClean="0"/>
              <a:t>i</a:t>
            </a:r>
            <a:r>
              <a:rPr lang="en-US" dirty="0" smtClean="0"/>
              <a:t>) gives                                               …………………(ii)</a:t>
            </a:r>
          </a:p>
          <a:p>
            <a:pPr>
              <a:buNone/>
            </a:pPr>
            <a:r>
              <a:rPr lang="en-US" dirty="0" smtClean="0"/>
              <a:t>     where </a:t>
            </a:r>
            <a:r>
              <a:rPr lang="en-US" dirty="0" err="1" smtClean="0"/>
              <a:t>C</a:t>
            </a:r>
            <a:r>
              <a:rPr lang="en-US" baseline="-25000" dirty="0" err="1" smtClean="0"/>
              <a:t>l</a:t>
            </a:r>
            <a:r>
              <a:rPr lang="en-US" dirty="0" smtClean="0"/>
              <a:t> is the first constant of integration.</a:t>
            </a:r>
          </a:p>
          <a:p>
            <a:r>
              <a:rPr lang="en-US" dirty="0" smtClean="0"/>
              <a:t>When             </a:t>
            </a:r>
            <a:r>
              <a:rPr lang="en-US" i="1" dirty="0" smtClean="0"/>
              <a:t>, </a:t>
            </a:r>
            <a:r>
              <a:rPr lang="en-US" dirty="0" smtClean="0"/>
              <a:t>then </a:t>
            </a:r>
          </a:p>
          <a:p>
            <a:r>
              <a:rPr lang="en-US" dirty="0" smtClean="0"/>
              <a:t>Substituting these values in equation (ii) gives</a:t>
            </a:r>
          </a:p>
          <a:p>
            <a:pPr>
              <a:buNone/>
            </a:pPr>
            <a:r>
              <a:rPr lang="en-US" dirty="0" smtClean="0"/>
              <a:t> </a:t>
            </a:r>
          </a:p>
          <a:p>
            <a:r>
              <a:rPr lang="en-US" dirty="0" smtClean="0"/>
              <a:t>Substituting value of C</a:t>
            </a:r>
            <a:r>
              <a:rPr lang="en-US" baseline="-25000" dirty="0" smtClean="0"/>
              <a:t>1</a:t>
            </a:r>
            <a:r>
              <a:rPr lang="en-US" dirty="0" smtClean="0"/>
              <a:t> into (ii) gives               	               …….(iii)</a:t>
            </a:r>
          </a:p>
          <a:p>
            <a:pPr>
              <a:buNone/>
            </a:pPr>
            <a:endParaRPr lang="en-US" dirty="0" smtClean="0"/>
          </a:p>
          <a:p>
            <a:r>
              <a:rPr lang="en-US" dirty="0" smtClean="0"/>
              <a:t>This is the required equation for the slope, at any section. It will be interesting to know that the maximum slope occurs at </a:t>
            </a:r>
            <a:r>
              <a:rPr lang="en-US" i="1" dirty="0" smtClean="0"/>
              <a:t>A </a:t>
            </a:r>
            <a:r>
              <a:rPr lang="en-US" dirty="0" smtClean="0"/>
              <a:t>and </a:t>
            </a:r>
            <a:r>
              <a:rPr lang="en-US" i="1" dirty="0" smtClean="0"/>
              <a:t>B. </a:t>
            </a:r>
            <a:r>
              <a:rPr lang="en-US" dirty="0" smtClean="0"/>
              <a:t>Thus for maximum slope at </a:t>
            </a:r>
            <a:r>
              <a:rPr lang="en-US" i="1" dirty="0" smtClean="0"/>
              <a:t>B, </a:t>
            </a:r>
            <a:r>
              <a:rPr lang="en-US" dirty="0" smtClean="0"/>
              <a:t>substituting </a:t>
            </a:r>
            <a:r>
              <a:rPr lang="en-US" i="1" dirty="0" smtClean="0"/>
              <a:t>x </a:t>
            </a:r>
            <a:r>
              <a:rPr lang="en-US" dirty="0" smtClean="0"/>
              <a:t>= 0 in equation </a:t>
            </a:r>
            <a:r>
              <a:rPr lang="en-US" i="1" dirty="0" smtClean="0"/>
              <a:t>(iii), </a:t>
            </a:r>
            <a:r>
              <a:rPr lang="en-US" dirty="0" smtClean="0"/>
              <a:t>we</a:t>
            </a:r>
          </a:p>
          <a:p>
            <a:pPr>
              <a:buNone/>
            </a:pPr>
            <a:r>
              <a:rPr lang="en-US" dirty="0" smtClean="0"/>
              <a:t>      have</a:t>
            </a:r>
          </a:p>
          <a:p>
            <a:pPr>
              <a:buNone/>
            </a:pPr>
            <a:endParaRPr lang="en-US" dirty="0" smtClean="0"/>
          </a:p>
          <a:p>
            <a:r>
              <a:rPr lang="en-US" dirty="0" smtClean="0"/>
              <a:t>By symmetry, </a:t>
            </a:r>
          </a:p>
          <a:p>
            <a:pPr>
              <a:buNone/>
            </a:pPr>
            <a:endParaRPr lang="en-US" dirty="0" smtClean="0"/>
          </a:p>
          <a:p>
            <a:r>
              <a:rPr lang="en-US" dirty="0" smtClean="0"/>
              <a:t>Integrating the equation (iii) once again,                                                         </a:t>
            </a:r>
          </a:p>
          <a:p>
            <a:pPr>
              <a:buNone/>
            </a:pPr>
            <a:r>
              <a:rPr lang="en-US" dirty="0" smtClean="0"/>
              <a:t>                                                     ……………………………….(iv)                                                                                               </a:t>
            </a:r>
          </a:p>
          <a:p>
            <a:pPr>
              <a:buNone/>
            </a:pPr>
            <a:endParaRPr lang="en-US" dirty="0" smtClean="0"/>
          </a:p>
          <a:p>
            <a:r>
              <a:rPr lang="en-US" dirty="0" smtClean="0"/>
              <a:t>where C</a:t>
            </a:r>
            <a:r>
              <a:rPr lang="en-US" baseline="-25000" dirty="0" smtClean="0"/>
              <a:t>2</a:t>
            </a:r>
            <a:r>
              <a:rPr lang="en-US" dirty="0" smtClean="0"/>
              <a:t> is the second constant of integration.</a:t>
            </a:r>
            <a:endParaRPr lang="en-US" dirty="0"/>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1201" name="Object 1"/>
          <p:cNvGraphicFramePr>
            <a:graphicFrameLocks noChangeAspect="1"/>
          </p:cNvGraphicFramePr>
          <p:nvPr/>
        </p:nvGraphicFramePr>
        <p:xfrm>
          <a:off x="3200400" y="152400"/>
          <a:ext cx="1841500" cy="533400"/>
        </p:xfrm>
        <a:graphic>
          <a:graphicData uri="http://schemas.openxmlformats.org/presentationml/2006/ole">
            <mc:AlternateContent xmlns:mc="http://schemas.openxmlformats.org/markup-compatibility/2006">
              <mc:Choice xmlns:v="urn:schemas-microsoft-com:vml" Requires="v">
                <p:oleObj spid="_x0000_s51223" name="Equation" r:id="rId4" imgW="1104840" imgH="419040" progId="Equation.3">
                  <p:embed/>
                </p:oleObj>
              </mc:Choice>
              <mc:Fallback>
                <p:oleObj name="Equation" r:id="rId4" imgW="1104840" imgH="419040" progId="Equation.3">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152400"/>
                        <a:ext cx="18415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03"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 name="Object 2"/>
          <p:cNvGraphicFramePr>
            <a:graphicFrameLocks noChangeAspect="1"/>
          </p:cNvGraphicFramePr>
          <p:nvPr/>
        </p:nvGraphicFramePr>
        <p:xfrm>
          <a:off x="1676400" y="762000"/>
          <a:ext cx="685800" cy="609600"/>
        </p:xfrm>
        <a:graphic>
          <a:graphicData uri="http://schemas.openxmlformats.org/presentationml/2006/ole">
            <mc:AlternateContent xmlns:mc="http://schemas.openxmlformats.org/markup-compatibility/2006">
              <mc:Choice xmlns:v="urn:schemas-microsoft-com:vml" Requires="v">
                <p:oleObj spid="_x0000_s51224" name="Equation" r:id="rId6" imgW="380835" imgH="393529" progId="Equation.3">
                  <p:embed/>
                </p:oleObj>
              </mc:Choice>
              <mc:Fallback>
                <p:oleObj name="Equation" r:id="rId6" imgW="380835" imgH="393529" progId="Equation.3">
                  <p:embed/>
                  <p:pic>
                    <p:nvPicPr>
                      <p:cNvPr id="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762000"/>
                        <a:ext cx="6858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05"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1204" name="Object 4"/>
          <p:cNvGraphicFramePr>
            <a:graphicFrameLocks noChangeAspect="1"/>
          </p:cNvGraphicFramePr>
          <p:nvPr/>
        </p:nvGraphicFramePr>
        <p:xfrm>
          <a:off x="3200400" y="762000"/>
          <a:ext cx="762000" cy="609600"/>
        </p:xfrm>
        <a:graphic>
          <a:graphicData uri="http://schemas.openxmlformats.org/presentationml/2006/ole">
            <mc:AlternateContent xmlns:mc="http://schemas.openxmlformats.org/markup-compatibility/2006">
              <mc:Choice xmlns:v="urn:schemas-microsoft-com:vml" Requires="v">
                <p:oleObj spid="_x0000_s51225" name="Equation" r:id="rId8" imgW="545863" imgH="418918" progId="Equation.3">
                  <p:embed/>
                </p:oleObj>
              </mc:Choice>
              <mc:Fallback>
                <p:oleObj name="Equation" r:id="rId8" imgW="545863" imgH="418918" progId="Equation.3">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0400" y="762000"/>
                        <a:ext cx="7620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1206" name="Object 6"/>
          <p:cNvGraphicFramePr>
            <a:graphicFrameLocks noChangeAspect="1"/>
          </p:cNvGraphicFramePr>
          <p:nvPr/>
        </p:nvGraphicFramePr>
        <p:xfrm>
          <a:off x="6248400" y="1066800"/>
          <a:ext cx="1066800" cy="609600"/>
        </p:xfrm>
        <a:graphic>
          <a:graphicData uri="http://schemas.openxmlformats.org/presentationml/2006/ole">
            <mc:AlternateContent xmlns:mc="http://schemas.openxmlformats.org/markup-compatibility/2006">
              <mc:Choice xmlns:v="urn:schemas-microsoft-com:vml" Requires="v">
                <p:oleObj spid="_x0000_s51226" name="Equation" r:id="rId10" imgW="736600" imgH="419100" progId="Equation.3">
                  <p:embed/>
                </p:oleObj>
              </mc:Choice>
              <mc:Fallback>
                <p:oleObj name="Equation" r:id="rId10" imgW="736600" imgH="419100" progId="Equation.3">
                  <p:embed/>
                  <p:pic>
                    <p:nvPicPr>
                      <p:cNvPr id="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48400" y="1066800"/>
                        <a:ext cx="10668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09"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1208" name="Object 8"/>
          <p:cNvGraphicFramePr>
            <a:graphicFrameLocks noChangeAspect="1"/>
          </p:cNvGraphicFramePr>
          <p:nvPr/>
        </p:nvGraphicFramePr>
        <p:xfrm>
          <a:off x="5029200" y="1752600"/>
          <a:ext cx="1752600" cy="609600"/>
        </p:xfrm>
        <a:graphic>
          <a:graphicData uri="http://schemas.openxmlformats.org/presentationml/2006/ole">
            <mc:AlternateContent xmlns:mc="http://schemas.openxmlformats.org/markup-compatibility/2006">
              <mc:Choice xmlns:v="urn:schemas-microsoft-com:vml" Requires="v">
                <p:oleObj spid="_x0000_s51227" name="Equation" r:id="rId12" imgW="1282700" imgH="419100" progId="Equation.3">
                  <p:embed/>
                </p:oleObj>
              </mc:Choice>
              <mc:Fallback>
                <p:oleObj name="Equation" r:id="rId12" imgW="1282700" imgH="419100" progId="Equation.3">
                  <p:embed/>
                  <p:pic>
                    <p:nvPicPr>
                      <p:cNvPr id="0" name="Picture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29200" y="1752600"/>
                        <a:ext cx="17526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11"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1210" name="Object 10"/>
          <p:cNvGraphicFramePr>
            <a:graphicFrameLocks noChangeAspect="1"/>
          </p:cNvGraphicFramePr>
          <p:nvPr/>
        </p:nvGraphicFramePr>
        <p:xfrm>
          <a:off x="1600200" y="3429000"/>
          <a:ext cx="3352800" cy="609600"/>
        </p:xfrm>
        <a:graphic>
          <a:graphicData uri="http://schemas.openxmlformats.org/presentationml/2006/ole">
            <mc:AlternateContent xmlns:mc="http://schemas.openxmlformats.org/markup-compatibility/2006">
              <mc:Choice xmlns:v="urn:schemas-microsoft-com:vml" Requires="v">
                <p:oleObj spid="_x0000_s51228" name="Equation" r:id="rId14" imgW="2311400" imgH="419100" progId="Equation.3">
                  <p:embed/>
                </p:oleObj>
              </mc:Choice>
              <mc:Fallback>
                <p:oleObj name="Equation" r:id="rId14" imgW="2311400" imgH="419100" progId="Equation.3">
                  <p:embed/>
                  <p:pic>
                    <p:nvPicPr>
                      <p:cNvPr id="0" name="Picture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00200" y="3429000"/>
                        <a:ext cx="33528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13"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1212" name="Object 12"/>
          <p:cNvGraphicFramePr>
            <a:graphicFrameLocks noChangeAspect="1"/>
          </p:cNvGraphicFramePr>
          <p:nvPr/>
        </p:nvGraphicFramePr>
        <p:xfrm>
          <a:off x="2514600" y="4038600"/>
          <a:ext cx="2057400" cy="533400"/>
        </p:xfrm>
        <a:graphic>
          <a:graphicData uri="http://schemas.openxmlformats.org/presentationml/2006/ole">
            <mc:AlternateContent xmlns:mc="http://schemas.openxmlformats.org/markup-compatibility/2006">
              <mc:Choice xmlns:v="urn:schemas-microsoft-com:vml" Requires="v">
                <p:oleObj spid="_x0000_s51229" name="Equation" r:id="rId16" imgW="1270000" imgH="419100" progId="Equation.3">
                  <p:embed/>
                </p:oleObj>
              </mc:Choice>
              <mc:Fallback>
                <p:oleObj name="Equation" r:id="rId16" imgW="1270000" imgH="419100" progId="Equation.3">
                  <p:embed/>
                  <p:pic>
                    <p:nvPicPr>
                      <p:cNvPr id="0" name="Picture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14600" y="4038600"/>
                        <a:ext cx="20574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15"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1214" name="Object 14"/>
          <p:cNvGraphicFramePr>
            <a:graphicFrameLocks noChangeAspect="1"/>
          </p:cNvGraphicFramePr>
          <p:nvPr/>
        </p:nvGraphicFramePr>
        <p:xfrm>
          <a:off x="762000" y="5105400"/>
          <a:ext cx="2286000" cy="685800"/>
        </p:xfrm>
        <a:graphic>
          <a:graphicData uri="http://schemas.openxmlformats.org/presentationml/2006/ole">
            <mc:AlternateContent xmlns:mc="http://schemas.openxmlformats.org/markup-compatibility/2006">
              <mc:Choice xmlns:v="urn:schemas-microsoft-com:vml" Requires="v">
                <p:oleObj spid="_x0000_s51230" name="Equation" r:id="rId18" imgW="1536700" imgH="419100" progId="Equation.3">
                  <p:embed/>
                </p:oleObj>
              </mc:Choice>
              <mc:Fallback>
                <p:oleObj name="Equation" r:id="rId18" imgW="1536700" imgH="419100" progId="Equation.3">
                  <p:embed/>
                  <p:pic>
                    <p:nvPicPr>
                      <p:cNvPr id="0" name="Picture 1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62000" y="5105400"/>
                        <a:ext cx="22860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Slide Number Placeholder 18"/>
          <p:cNvSpPr>
            <a:spLocks noGrp="1"/>
          </p:cNvSpPr>
          <p:nvPr>
            <p:ph type="sldNum" sz="quarter" idx="12"/>
          </p:nvPr>
        </p:nvSpPr>
        <p:spPr/>
        <p:txBody>
          <a:bodyPr/>
          <a:lstStyle/>
          <a:p>
            <a:fld id="{B6F15528-21DE-4FAA-801E-634DDDAF4B2B}" type="slidenum">
              <a:rPr lang="en-US" smtClean="0"/>
              <a:pPr/>
              <a:t>16</a:t>
            </a:fld>
            <a:endParaRPr lang="en-US"/>
          </a:p>
        </p:txBody>
      </p:sp>
      <p:sp>
        <p:nvSpPr>
          <p:cNvPr id="20" name="Footer Placeholder 19"/>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lnSpcReduction="10000"/>
          </a:bodyPr>
          <a:lstStyle/>
          <a:p>
            <a:r>
              <a:rPr lang="en-US" sz="2800" dirty="0" smtClean="0"/>
              <a:t>When </a:t>
            </a:r>
            <a:r>
              <a:rPr lang="en-US" sz="2800" i="1" dirty="0" smtClean="0"/>
              <a:t>x </a:t>
            </a:r>
            <a:r>
              <a:rPr lang="en-US" sz="2800" dirty="0" smtClean="0"/>
              <a:t>= 0, then </a:t>
            </a:r>
            <a:r>
              <a:rPr lang="en-US" sz="2800" i="1" dirty="0" smtClean="0"/>
              <a:t>y </a:t>
            </a:r>
            <a:r>
              <a:rPr lang="en-US" sz="2800" dirty="0" smtClean="0"/>
              <a:t>= 0, Substituting these values in equation (iv), we get C</a:t>
            </a:r>
            <a:r>
              <a:rPr lang="en-US" sz="2800" baseline="-25000" dirty="0" smtClean="0"/>
              <a:t>2</a:t>
            </a:r>
            <a:r>
              <a:rPr lang="en-US" sz="2800" dirty="0" smtClean="0"/>
              <a:t> = 0.</a:t>
            </a:r>
          </a:p>
          <a:p>
            <a:pPr>
              <a:buNone/>
            </a:pPr>
            <a:endParaRPr lang="en-US" sz="2800" dirty="0" smtClean="0"/>
          </a:p>
          <a:p>
            <a:r>
              <a:rPr lang="en-US" sz="2800" dirty="0" smtClean="0"/>
              <a:t>Therefore, </a:t>
            </a:r>
          </a:p>
          <a:p>
            <a:pPr>
              <a:buNone/>
            </a:pPr>
            <a:endParaRPr lang="en-US" sz="2800" dirty="0" smtClean="0"/>
          </a:p>
          <a:p>
            <a:r>
              <a:rPr lang="en-US" sz="2800" dirty="0" smtClean="0"/>
              <a:t>This is the required equation for the deflection, at any section. A little consideration will show that maximum deflection occurs at the mid-point C. Thus for maximum deflection, substituting </a:t>
            </a:r>
            <a:r>
              <a:rPr lang="en-US" sz="2800" i="1" dirty="0" smtClean="0"/>
              <a:t>x </a:t>
            </a:r>
            <a:r>
              <a:rPr lang="en-US" sz="2800" dirty="0" smtClean="0"/>
              <a:t>= l/2</a:t>
            </a:r>
          </a:p>
          <a:p>
            <a:pPr>
              <a:buNone/>
            </a:pPr>
            <a:endParaRPr lang="en-US" sz="2800" dirty="0" smtClean="0"/>
          </a:p>
          <a:p>
            <a:r>
              <a:rPr lang="en-US" sz="2800" dirty="0" smtClean="0"/>
              <a:t>In equation (v), </a:t>
            </a:r>
          </a:p>
          <a:p>
            <a:endParaRPr lang="en-US" dirty="0"/>
          </a:p>
        </p:txBody>
      </p:sp>
      <p:sp>
        <p:nvSpPr>
          <p:cNvPr id="522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2225" name="Object 1"/>
          <p:cNvGraphicFramePr>
            <a:graphicFrameLocks noChangeAspect="1"/>
          </p:cNvGraphicFramePr>
          <p:nvPr/>
        </p:nvGraphicFramePr>
        <p:xfrm>
          <a:off x="2667000" y="2057400"/>
          <a:ext cx="1981200" cy="685800"/>
        </p:xfrm>
        <a:graphic>
          <a:graphicData uri="http://schemas.openxmlformats.org/presentationml/2006/ole">
            <mc:AlternateContent xmlns:mc="http://schemas.openxmlformats.org/markup-compatibility/2006">
              <mc:Choice xmlns:v="urn:schemas-microsoft-com:vml" Requires="v">
                <p:oleObj spid="_x0000_s52230" name="Equation" r:id="rId4" imgW="1257300" imgH="419100" progId="Equation.3">
                  <p:embed/>
                </p:oleObj>
              </mc:Choice>
              <mc:Fallback>
                <p:oleObj name="Equation" r:id="rId4" imgW="1257300" imgH="419100" progId="Equation.3">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2057400"/>
                        <a:ext cx="19812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2227" name="Object 3"/>
          <p:cNvGraphicFramePr>
            <a:graphicFrameLocks noChangeAspect="1"/>
          </p:cNvGraphicFramePr>
          <p:nvPr/>
        </p:nvGraphicFramePr>
        <p:xfrm>
          <a:off x="3200400" y="5029200"/>
          <a:ext cx="5410200" cy="762000"/>
        </p:xfrm>
        <a:graphic>
          <a:graphicData uri="http://schemas.openxmlformats.org/presentationml/2006/ole">
            <mc:AlternateContent xmlns:mc="http://schemas.openxmlformats.org/markup-compatibility/2006">
              <mc:Choice xmlns:v="urn:schemas-microsoft-com:vml" Requires="v">
                <p:oleObj spid="_x0000_s52231" name="Equation" r:id="rId6" imgW="4127500" imgH="469900" progId="Equation.3">
                  <p:embed/>
                </p:oleObj>
              </mc:Choice>
              <mc:Fallback>
                <p:oleObj name="Equation" r:id="rId6" imgW="4127500" imgH="46990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0400" y="5029200"/>
                        <a:ext cx="54102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2"/>
          </p:nvPr>
        </p:nvSpPr>
        <p:spPr/>
        <p:txBody>
          <a:bodyPr/>
          <a:lstStyle/>
          <a:p>
            <a:fld id="{B6F15528-21DE-4FAA-801E-634DDDAF4B2B}" type="slidenum">
              <a:rPr lang="en-US" smtClean="0"/>
              <a:pPr/>
              <a:t>17</a:t>
            </a:fld>
            <a:endParaRPr lang="en-US"/>
          </a:p>
        </p:txBody>
      </p:sp>
      <p:sp>
        <p:nvSpPr>
          <p:cNvPr id="8" name="Footer Placeholder 7"/>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28600"/>
            <a:ext cx="8305800" cy="6477000"/>
          </a:xfrm>
        </p:spPr>
        <p:txBody>
          <a:bodyPr>
            <a:normAutofit/>
          </a:bodyPr>
          <a:lstStyle/>
          <a:p>
            <a:pPr>
              <a:buNone/>
            </a:pPr>
            <a:r>
              <a:rPr lang="en-US" sz="2400" i="1" dirty="0" smtClean="0"/>
              <a:t>     Example 1-3: A simply supported beam of span 3 m is subjected to a central load of 10 </a:t>
            </a:r>
            <a:r>
              <a:rPr lang="en-US" sz="2400" i="1" dirty="0" err="1" smtClean="0"/>
              <a:t>kN.</a:t>
            </a:r>
            <a:r>
              <a:rPr lang="en-US" sz="2400" i="1" dirty="0" smtClean="0"/>
              <a:t> Find the maximum slope and deflection of the beam. Take I= 12 X 10</a:t>
            </a:r>
            <a:r>
              <a:rPr lang="en-US" sz="2400" i="1" baseline="30000" dirty="0" smtClean="0"/>
              <a:t>6</a:t>
            </a:r>
            <a:r>
              <a:rPr lang="en-US" sz="2400" i="1" dirty="0" smtClean="0"/>
              <a:t> mm</a:t>
            </a:r>
            <a:r>
              <a:rPr lang="en-US" sz="2400" i="1" baseline="30000" dirty="0" smtClean="0"/>
              <a:t>4</a:t>
            </a:r>
            <a:r>
              <a:rPr lang="en-US" sz="2400" i="1" dirty="0" smtClean="0"/>
              <a:t> and E = 200 </a:t>
            </a:r>
            <a:r>
              <a:rPr lang="en-US" sz="2400" i="1" dirty="0" err="1" smtClean="0"/>
              <a:t>GPa</a:t>
            </a:r>
            <a:r>
              <a:rPr lang="en-US" sz="2400" dirty="0" smtClean="0"/>
              <a:t> </a:t>
            </a:r>
          </a:p>
          <a:p>
            <a:pPr>
              <a:buNone/>
            </a:pPr>
            <a:r>
              <a:rPr lang="en-US" sz="2400" b="1" dirty="0" smtClean="0"/>
              <a:t>    Solution</a:t>
            </a:r>
            <a:endParaRPr lang="en-US" sz="2400" dirty="0" smtClean="0"/>
          </a:p>
          <a:p>
            <a:pPr>
              <a:buNone/>
            </a:pPr>
            <a:r>
              <a:rPr lang="en-US" sz="2400" dirty="0" smtClean="0"/>
              <a:t>     Given:</a:t>
            </a:r>
          </a:p>
          <a:p>
            <a:r>
              <a:rPr lang="en-US" sz="2400" dirty="0" smtClean="0"/>
              <a:t> Span (</a:t>
            </a:r>
            <a:r>
              <a:rPr lang="en-US" sz="2400" i="1" dirty="0" smtClean="0"/>
              <a:t>l</a:t>
            </a:r>
            <a:r>
              <a:rPr lang="en-US" sz="2400" dirty="0" smtClean="0"/>
              <a:t>) = 3 m = 3 x 10</a:t>
            </a:r>
            <a:r>
              <a:rPr lang="en-US" sz="2400" baseline="30000" dirty="0" smtClean="0"/>
              <a:t>3</a:t>
            </a:r>
            <a:r>
              <a:rPr lang="en-US" sz="2400" dirty="0" smtClean="0"/>
              <a:t> mm;</a:t>
            </a:r>
          </a:p>
          <a:p>
            <a:r>
              <a:rPr lang="en-US" sz="2400" dirty="0" smtClean="0"/>
              <a:t>Central load </a:t>
            </a:r>
            <a:r>
              <a:rPr lang="en-US" sz="2400" i="1" dirty="0" smtClean="0"/>
              <a:t>(W) </a:t>
            </a:r>
            <a:r>
              <a:rPr lang="en-US" sz="2400" dirty="0" smtClean="0"/>
              <a:t>= 10 </a:t>
            </a:r>
            <a:r>
              <a:rPr lang="en-US" sz="2400" dirty="0" err="1" smtClean="0"/>
              <a:t>kN</a:t>
            </a:r>
            <a:r>
              <a:rPr lang="en-US" sz="2400" dirty="0" smtClean="0"/>
              <a:t> = 10 x 10</a:t>
            </a:r>
            <a:r>
              <a:rPr lang="en-US" sz="2400" baseline="30000" dirty="0" smtClean="0"/>
              <a:t>3</a:t>
            </a:r>
            <a:r>
              <a:rPr lang="en-US" sz="2400" dirty="0" smtClean="0"/>
              <a:t> N</a:t>
            </a:r>
          </a:p>
          <a:p>
            <a:r>
              <a:rPr lang="en-US" sz="2400" dirty="0" smtClean="0"/>
              <a:t>Moment of inertia (</a:t>
            </a:r>
            <a:r>
              <a:rPr lang="en-US" sz="2400" i="1" dirty="0" smtClean="0"/>
              <a:t>I</a:t>
            </a:r>
            <a:r>
              <a:rPr lang="en-US" sz="2400" dirty="0" smtClean="0"/>
              <a:t>)= 12 x 10</a:t>
            </a:r>
            <a:r>
              <a:rPr lang="en-US" sz="2400" baseline="30000" dirty="0" smtClean="0"/>
              <a:t>6</a:t>
            </a:r>
            <a:r>
              <a:rPr lang="en-US" sz="2400" dirty="0" smtClean="0"/>
              <a:t> mm</a:t>
            </a:r>
            <a:r>
              <a:rPr lang="en-US" sz="2400" baseline="30000" dirty="0" smtClean="0"/>
              <a:t>4</a:t>
            </a:r>
            <a:r>
              <a:rPr lang="en-US" sz="2400" dirty="0" smtClean="0"/>
              <a:t> and </a:t>
            </a:r>
          </a:p>
          <a:p>
            <a:r>
              <a:rPr lang="en-US" sz="2400" dirty="0" smtClean="0"/>
              <a:t>Modulus of elasticity </a:t>
            </a:r>
            <a:r>
              <a:rPr lang="en-US" sz="2400" i="1" dirty="0" smtClean="0"/>
              <a:t>(E)= </a:t>
            </a:r>
            <a:r>
              <a:rPr lang="en-US" sz="2400" dirty="0" smtClean="0"/>
              <a:t>200 </a:t>
            </a:r>
            <a:r>
              <a:rPr lang="en-US" sz="2400" dirty="0" err="1" smtClean="0"/>
              <a:t>GPa</a:t>
            </a:r>
            <a:r>
              <a:rPr lang="en-US" sz="2400" dirty="0" smtClean="0"/>
              <a:t> = 200 x 10</a:t>
            </a:r>
            <a:r>
              <a:rPr lang="en-US" sz="2400" baseline="30000" dirty="0" smtClean="0"/>
              <a:t>3</a:t>
            </a:r>
            <a:r>
              <a:rPr lang="en-US" sz="2400" dirty="0" smtClean="0"/>
              <a:t> N/mm</a:t>
            </a:r>
            <a:r>
              <a:rPr lang="en-US" sz="2400" baseline="30000" dirty="0" smtClean="0"/>
              <a:t>2</a:t>
            </a:r>
            <a:r>
              <a:rPr lang="en-US" sz="2400" dirty="0" smtClean="0"/>
              <a:t>,</a:t>
            </a:r>
          </a:p>
          <a:p>
            <a:r>
              <a:rPr lang="en-US" sz="2400" i="1" dirty="0" smtClean="0"/>
              <a:t>Maximum slope of the beam</a:t>
            </a:r>
          </a:p>
          <a:p>
            <a:pPr>
              <a:buNone/>
            </a:pPr>
            <a:endParaRPr lang="en-US" sz="2400" dirty="0" smtClean="0"/>
          </a:p>
          <a:p>
            <a:r>
              <a:rPr lang="en-US" sz="2400" i="1" dirty="0" smtClean="0"/>
              <a:t>Maximum deflection of the beam</a:t>
            </a:r>
            <a:endParaRPr lang="en-US" i="1" dirty="0" smtClean="0"/>
          </a:p>
          <a:p>
            <a:endParaRPr lang="en-US" dirty="0" smtClean="0"/>
          </a:p>
          <a:p>
            <a:endParaRPr lang="en-US" dirty="0"/>
          </a:p>
        </p:txBody>
      </p:sp>
      <p:sp>
        <p:nvSpPr>
          <p:cNvPr id="532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3249" name="Object 1"/>
          <p:cNvGraphicFramePr>
            <a:graphicFrameLocks noChangeAspect="1"/>
          </p:cNvGraphicFramePr>
          <p:nvPr/>
        </p:nvGraphicFramePr>
        <p:xfrm>
          <a:off x="609600" y="4724400"/>
          <a:ext cx="5638800" cy="685800"/>
        </p:xfrm>
        <a:graphic>
          <a:graphicData uri="http://schemas.openxmlformats.org/presentationml/2006/ole">
            <mc:AlternateContent xmlns:mc="http://schemas.openxmlformats.org/markup-compatibility/2006">
              <mc:Choice xmlns:v="urn:schemas-microsoft-com:vml" Requires="v">
                <p:oleObj spid="_x0000_s53254" name="Equation" r:id="rId4" imgW="3149600" imgH="482600" progId="Equation.3">
                  <p:embed/>
                </p:oleObj>
              </mc:Choice>
              <mc:Fallback>
                <p:oleObj name="Equation" r:id="rId4" imgW="3149600" imgH="482600" progId="Equation.3">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4724400"/>
                        <a:ext cx="56388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3251" name="Object 3"/>
          <p:cNvGraphicFramePr>
            <a:graphicFrameLocks noChangeAspect="1"/>
          </p:cNvGraphicFramePr>
          <p:nvPr/>
        </p:nvGraphicFramePr>
        <p:xfrm>
          <a:off x="762000" y="5791200"/>
          <a:ext cx="4800600" cy="762000"/>
        </p:xfrm>
        <a:graphic>
          <a:graphicData uri="http://schemas.openxmlformats.org/presentationml/2006/ole">
            <mc:AlternateContent xmlns:mc="http://schemas.openxmlformats.org/markup-compatibility/2006">
              <mc:Choice xmlns:v="urn:schemas-microsoft-com:vml" Requires="v">
                <p:oleObj spid="_x0000_s53255" name="Equation" r:id="rId6" imgW="2984400" imgH="457200" progId="Equation.3">
                  <p:embed/>
                </p:oleObj>
              </mc:Choice>
              <mc:Fallback>
                <p:oleObj name="Equation" r:id="rId6" imgW="2984400" imgH="45720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 y="5791200"/>
                        <a:ext cx="48006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2"/>
          </p:nvPr>
        </p:nvSpPr>
        <p:spPr/>
        <p:txBody>
          <a:bodyPr/>
          <a:lstStyle/>
          <a:p>
            <a:fld id="{B6F15528-21DE-4FAA-801E-634DDDAF4B2B}" type="slidenum">
              <a:rPr lang="en-US" smtClean="0"/>
              <a:pPr/>
              <a:t>18</a:t>
            </a:fld>
            <a:endParaRPr lang="en-US"/>
          </a:p>
        </p:txBody>
      </p:sp>
      <p:sp>
        <p:nvSpPr>
          <p:cNvPr id="8" name="Footer Placeholder 7"/>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normAutofit/>
          </a:bodyPr>
          <a:lstStyle/>
          <a:p>
            <a:pPr>
              <a:buNone/>
            </a:pPr>
            <a:r>
              <a:rPr lang="en-US" i="1" dirty="0" smtClean="0"/>
              <a:t>     </a:t>
            </a:r>
            <a:r>
              <a:rPr lang="en-US" sz="2400" i="1" dirty="0" smtClean="0"/>
              <a:t>Example 1-4: A wooden beam 140 mm wide and 240 mm deep has a span of 4 </a:t>
            </a:r>
            <a:r>
              <a:rPr lang="en-US" sz="2400" dirty="0" smtClean="0"/>
              <a:t>m. </a:t>
            </a:r>
            <a:r>
              <a:rPr lang="en-US" sz="2400" i="1" dirty="0" smtClean="0"/>
              <a:t>Determine the load that can be placed at its centre to cause the beam a deflection of 10 mm. Take E = 6GPa.</a:t>
            </a:r>
            <a:endParaRPr lang="en-US" sz="2400" dirty="0" smtClean="0"/>
          </a:p>
          <a:p>
            <a:pPr>
              <a:buNone/>
            </a:pPr>
            <a:r>
              <a:rPr lang="en-US" sz="2400" b="1" dirty="0" smtClean="0"/>
              <a:t>     Solution</a:t>
            </a:r>
          </a:p>
          <a:p>
            <a:r>
              <a:rPr lang="en-US" sz="2400" dirty="0" smtClean="0"/>
              <a:t>Given: Width (</a:t>
            </a:r>
            <a:r>
              <a:rPr lang="en-US" sz="2400" i="1" dirty="0" smtClean="0"/>
              <a:t>b</a:t>
            </a:r>
            <a:r>
              <a:rPr lang="en-US" sz="2400" dirty="0" smtClean="0"/>
              <a:t>)= 140 mm; Depth (</a:t>
            </a:r>
            <a:r>
              <a:rPr lang="en-US" sz="2400" i="1" dirty="0" smtClean="0"/>
              <a:t>d</a:t>
            </a:r>
            <a:r>
              <a:rPr lang="en-US" sz="2400" dirty="0" smtClean="0"/>
              <a:t>)= 240 mm ; Span</a:t>
            </a:r>
            <a:r>
              <a:rPr lang="en-US" sz="2400" i="1" dirty="0" smtClean="0"/>
              <a:t>(l</a:t>
            </a:r>
            <a:r>
              <a:rPr lang="en-US" sz="2400" dirty="0" smtClean="0"/>
              <a:t>)= 4 m = 4 x l 0</a:t>
            </a:r>
            <a:r>
              <a:rPr lang="en-US" sz="2400" baseline="30000" dirty="0" smtClean="0"/>
              <a:t>3</a:t>
            </a:r>
            <a:r>
              <a:rPr lang="en-US" sz="2400" dirty="0" smtClean="0"/>
              <a:t> mm</a:t>
            </a:r>
          </a:p>
          <a:p>
            <a:r>
              <a:rPr lang="en-US" sz="2400" dirty="0" smtClean="0"/>
              <a:t>Central deflection </a:t>
            </a:r>
            <a:r>
              <a:rPr lang="en-US" sz="2400" i="1" dirty="0" smtClean="0"/>
              <a:t>&lt;Yc&gt; </a:t>
            </a:r>
            <a:r>
              <a:rPr lang="en-US" sz="2400" dirty="0" smtClean="0"/>
              <a:t>= 10 mm and </a:t>
            </a:r>
          </a:p>
          <a:p>
            <a:r>
              <a:rPr lang="en-US" sz="2400" dirty="0" smtClean="0"/>
              <a:t>Modulus of elasticity </a:t>
            </a:r>
            <a:r>
              <a:rPr lang="en-US" sz="2400" i="1" dirty="0" smtClean="0"/>
              <a:t>(E)= </a:t>
            </a:r>
            <a:r>
              <a:rPr lang="en-US" sz="2400" dirty="0" smtClean="0"/>
              <a:t>6 </a:t>
            </a:r>
            <a:r>
              <a:rPr lang="en-US" sz="2400" dirty="0" err="1" smtClean="0"/>
              <a:t>GPa</a:t>
            </a:r>
            <a:r>
              <a:rPr lang="en-US" sz="2400" dirty="0" smtClean="0"/>
              <a:t> = 6 x 10</a:t>
            </a:r>
            <a:r>
              <a:rPr lang="en-US" sz="2400" baseline="30000" dirty="0" smtClean="0"/>
              <a:t>3</a:t>
            </a:r>
            <a:r>
              <a:rPr lang="en-US" sz="2400" dirty="0" smtClean="0"/>
              <a:t> N/mm</a:t>
            </a:r>
            <a:r>
              <a:rPr lang="en-US" sz="2400" baseline="30000" dirty="0" smtClean="0"/>
              <a:t>2</a:t>
            </a:r>
            <a:endParaRPr lang="en-US" sz="2400" dirty="0" smtClean="0"/>
          </a:p>
          <a:p>
            <a:r>
              <a:rPr lang="en-US" sz="2400" dirty="0" smtClean="0"/>
              <a:t>Let </a:t>
            </a:r>
            <a:r>
              <a:rPr lang="en-US" sz="2400" i="1" dirty="0" smtClean="0"/>
              <a:t>W </a:t>
            </a:r>
            <a:r>
              <a:rPr lang="en-US" sz="2400" dirty="0" smtClean="0"/>
              <a:t>= Magnitude of the load,</a:t>
            </a:r>
          </a:p>
          <a:p>
            <a:r>
              <a:rPr lang="en-US" sz="2400" dirty="0" smtClean="0"/>
              <a:t>We know that moment of inertia of the beam section,</a:t>
            </a:r>
          </a:p>
          <a:p>
            <a:pPr>
              <a:buNone/>
            </a:pPr>
            <a:endParaRPr lang="en-US" sz="2400" dirty="0" smtClean="0"/>
          </a:p>
          <a:p>
            <a:r>
              <a:rPr lang="en-US" sz="2400" dirty="0" smtClean="0"/>
              <a:t>Deflection of the beam at its centre </a:t>
            </a:r>
            <a:r>
              <a:rPr lang="en-US" sz="2400" i="1" dirty="0" smtClean="0"/>
              <a:t>(y</a:t>
            </a:r>
            <a:r>
              <a:rPr lang="en-US" sz="2400" i="1" baseline="-25000" dirty="0" smtClean="0"/>
              <a:t>c</a:t>
            </a:r>
            <a:r>
              <a:rPr lang="en-US" sz="2400" i="1" dirty="0" smtClean="0"/>
              <a:t>),</a:t>
            </a:r>
          </a:p>
          <a:p>
            <a:endParaRPr lang="en-US" sz="2400" i="1" dirty="0" smtClean="0"/>
          </a:p>
          <a:p>
            <a:endParaRPr lang="en-US" i="1" dirty="0" smtClean="0"/>
          </a:p>
          <a:p>
            <a:endParaRPr lang="en-US" i="1" dirty="0" smtClean="0"/>
          </a:p>
          <a:p>
            <a:endParaRPr lang="en-US" i="1" dirty="0" smtClean="0"/>
          </a:p>
          <a:p>
            <a:endParaRPr lang="en-US" dirty="0" smtClean="0"/>
          </a:p>
          <a:p>
            <a:endParaRPr lang="en-US"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4273" name="Object 1"/>
          <p:cNvGraphicFramePr>
            <a:graphicFrameLocks noChangeAspect="1"/>
          </p:cNvGraphicFramePr>
          <p:nvPr/>
        </p:nvGraphicFramePr>
        <p:xfrm>
          <a:off x="990600" y="4800600"/>
          <a:ext cx="4038600" cy="685800"/>
        </p:xfrm>
        <a:graphic>
          <a:graphicData uri="http://schemas.openxmlformats.org/presentationml/2006/ole">
            <mc:AlternateContent xmlns:mc="http://schemas.openxmlformats.org/markup-compatibility/2006">
              <mc:Choice xmlns:v="urn:schemas-microsoft-com:vml" Requires="v">
                <p:oleObj spid="_x0000_s54278" name="Equation" r:id="rId4" imgW="2298700" imgH="431800" progId="Equation.3">
                  <p:embed/>
                </p:oleObj>
              </mc:Choice>
              <mc:Fallback>
                <p:oleObj name="Equation" r:id="rId4" imgW="2298700" imgH="431800" progId="Equation.3">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4800600"/>
                        <a:ext cx="40386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4275" name="Object 3"/>
          <p:cNvGraphicFramePr>
            <a:graphicFrameLocks noChangeAspect="1"/>
          </p:cNvGraphicFramePr>
          <p:nvPr/>
        </p:nvGraphicFramePr>
        <p:xfrm>
          <a:off x="685800" y="5867400"/>
          <a:ext cx="5410200" cy="704850"/>
        </p:xfrm>
        <a:graphic>
          <a:graphicData uri="http://schemas.openxmlformats.org/presentationml/2006/ole">
            <mc:AlternateContent xmlns:mc="http://schemas.openxmlformats.org/markup-compatibility/2006">
              <mc:Choice xmlns:v="urn:schemas-microsoft-com:vml" Requires="v">
                <p:oleObj spid="_x0000_s54279" name="Equation" r:id="rId6" imgW="3784600" imgH="469900" progId="Equation.3">
                  <p:embed/>
                </p:oleObj>
              </mc:Choice>
              <mc:Fallback>
                <p:oleObj name="Equation" r:id="rId6" imgW="3784600" imgH="46990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5867400"/>
                        <a:ext cx="5410200" cy="704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2"/>
          </p:nvPr>
        </p:nvSpPr>
        <p:spPr/>
        <p:txBody>
          <a:bodyPr/>
          <a:lstStyle/>
          <a:p>
            <a:fld id="{B6F15528-21DE-4FAA-801E-634DDDAF4B2B}" type="slidenum">
              <a:rPr lang="en-US" smtClean="0"/>
              <a:pPr/>
              <a:t>19</a:t>
            </a:fld>
            <a:endParaRPr lang="en-US"/>
          </a:p>
        </p:txBody>
      </p:sp>
      <p:sp>
        <p:nvSpPr>
          <p:cNvPr id="8" name="Footer Placeholder 7"/>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normAutofit fontScale="90000"/>
          </a:bodyPr>
          <a:lstStyle/>
          <a:p>
            <a:r>
              <a:rPr lang="en-US" dirty="0" smtClean="0"/>
              <a:t>Simply Supported Beam with an Eccentric Point Load</a:t>
            </a:r>
            <a:endParaRPr lang="en-US" dirty="0"/>
          </a:p>
        </p:txBody>
      </p:sp>
      <p:pic>
        <p:nvPicPr>
          <p:cNvPr id="55298" name="Picture 2"/>
          <p:cNvPicPr>
            <a:picLocks noGrp="1" noChangeAspect="1" noChangeArrowheads="1"/>
          </p:cNvPicPr>
          <p:nvPr>
            <p:ph idx="1"/>
          </p:nvPr>
        </p:nvPicPr>
        <p:blipFill>
          <a:blip r:embed="rId3"/>
          <a:srcRect/>
          <a:stretch>
            <a:fillRect/>
          </a:stretch>
        </p:blipFill>
        <p:spPr bwMode="auto">
          <a:xfrm>
            <a:off x="376014" y="990600"/>
            <a:ext cx="8082187" cy="56388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p:cNvPicPr>
            <a:picLocks noGrp="1" noChangeAspect="1" noChangeArrowheads="1"/>
          </p:cNvPicPr>
          <p:nvPr>
            <p:ph idx="1"/>
          </p:nvPr>
        </p:nvPicPr>
        <p:blipFill>
          <a:blip r:embed="rId3"/>
          <a:srcRect/>
          <a:stretch>
            <a:fillRect/>
          </a:stretch>
        </p:blipFill>
        <p:spPr bwMode="auto">
          <a:xfrm>
            <a:off x="304800" y="152400"/>
            <a:ext cx="8610600" cy="4572000"/>
          </a:xfrm>
          <a:prstGeom prst="rect">
            <a:avLst/>
          </a:prstGeom>
          <a:noFill/>
          <a:ln w="9525">
            <a:noFill/>
            <a:miter lim="800000"/>
            <a:headEnd/>
            <a:tailEnd/>
          </a:ln>
          <a:effectLst/>
        </p:spPr>
      </p:pic>
      <p:pic>
        <p:nvPicPr>
          <p:cNvPr id="56323" name="Picture 3"/>
          <p:cNvPicPr>
            <a:picLocks noChangeAspect="1" noChangeArrowheads="1"/>
          </p:cNvPicPr>
          <p:nvPr/>
        </p:nvPicPr>
        <p:blipFill>
          <a:blip r:embed="rId4"/>
          <a:srcRect/>
          <a:stretch>
            <a:fillRect/>
          </a:stretch>
        </p:blipFill>
        <p:spPr bwMode="auto">
          <a:xfrm>
            <a:off x="533400" y="4459856"/>
            <a:ext cx="7924800" cy="1712344"/>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Grp="1" noChangeAspect="1" noChangeArrowheads="1"/>
          </p:cNvPicPr>
          <p:nvPr>
            <p:ph idx="1"/>
          </p:nvPr>
        </p:nvPicPr>
        <p:blipFill>
          <a:blip r:embed="rId3"/>
          <a:srcRect/>
          <a:stretch>
            <a:fillRect/>
          </a:stretch>
        </p:blipFill>
        <p:spPr bwMode="auto">
          <a:xfrm>
            <a:off x="228600" y="152399"/>
            <a:ext cx="8610600" cy="6497089"/>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p:cNvPicPr>
            <a:picLocks noGrp="1" noChangeAspect="1" noChangeArrowheads="1"/>
          </p:cNvPicPr>
          <p:nvPr>
            <p:ph idx="1"/>
          </p:nvPr>
        </p:nvPicPr>
        <p:blipFill>
          <a:blip r:embed="rId3"/>
          <a:srcRect/>
          <a:stretch>
            <a:fillRect/>
          </a:stretch>
        </p:blipFill>
        <p:spPr bwMode="auto">
          <a:xfrm>
            <a:off x="304800" y="228600"/>
            <a:ext cx="8229600" cy="3733800"/>
          </a:xfrm>
          <a:prstGeom prst="rect">
            <a:avLst/>
          </a:prstGeom>
          <a:noFill/>
          <a:ln w="9525">
            <a:noFill/>
            <a:miter lim="800000"/>
            <a:headEnd/>
            <a:tailEnd/>
          </a:ln>
          <a:effectLst/>
        </p:spPr>
      </p:pic>
      <p:pic>
        <p:nvPicPr>
          <p:cNvPr id="58372" name="Picture 4"/>
          <p:cNvPicPr>
            <a:picLocks noChangeAspect="1" noChangeArrowheads="1"/>
          </p:cNvPicPr>
          <p:nvPr/>
        </p:nvPicPr>
        <p:blipFill>
          <a:blip r:embed="rId4"/>
          <a:srcRect/>
          <a:stretch>
            <a:fillRect/>
          </a:stretch>
        </p:blipFill>
        <p:spPr bwMode="auto">
          <a:xfrm>
            <a:off x="381000" y="3581400"/>
            <a:ext cx="8077200" cy="25908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p:cNvPicPr>
            <a:picLocks noGrp="1" noChangeAspect="1" noChangeArrowheads="1"/>
          </p:cNvPicPr>
          <p:nvPr>
            <p:ph idx="1"/>
          </p:nvPr>
        </p:nvPicPr>
        <p:blipFill>
          <a:blip r:embed="rId3"/>
          <a:srcRect/>
          <a:stretch>
            <a:fillRect/>
          </a:stretch>
        </p:blipFill>
        <p:spPr bwMode="auto">
          <a:xfrm>
            <a:off x="120164" y="457200"/>
            <a:ext cx="8795236" cy="6180435"/>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24</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p:cNvPicPr>
            <a:picLocks noGrp="1" noChangeAspect="1" noChangeArrowheads="1"/>
          </p:cNvPicPr>
          <p:nvPr>
            <p:ph idx="1"/>
          </p:nvPr>
        </p:nvPicPr>
        <p:blipFill>
          <a:blip r:embed="rId3"/>
          <a:srcRect/>
          <a:stretch>
            <a:fillRect/>
          </a:stretch>
        </p:blipFill>
        <p:spPr bwMode="auto">
          <a:xfrm>
            <a:off x="304800" y="566056"/>
            <a:ext cx="8763002" cy="5987144"/>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p:cNvPicPr>
            <a:picLocks noGrp="1" noChangeAspect="1" noChangeArrowheads="1"/>
          </p:cNvPicPr>
          <p:nvPr>
            <p:ph idx="1"/>
          </p:nvPr>
        </p:nvPicPr>
        <p:blipFill>
          <a:blip r:embed="rId3"/>
          <a:srcRect/>
          <a:stretch>
            <a:fillRect/>
          </a:stretch>
        </p:blipFill>
        <p:spPr bwMode="auto">
          <a:xfrm>
            <a:off x="228599" y="228600"/>
            <a:ext cx="8792737" cy="6400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26</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p:cNvPicPr>
            <a:picLocks noGrp="1" noChangeAspect="1" noChangeArrowheads="1"/>
          </p:cNvPicPr>
          <p:nvPr>
            <p:ph idx="1"/>
          </p:nvPr>
        </p:nvPicPr>
        <p:blipFill>
          <a:blip r:embed="rId3"/>
          <a:srcRect/>
          <a:stretch>
            <a:fillRect/>
          </a:stretch>
        </p:blipFill>
        <p:spPr bwMode="auto">
          <a:xfrm>
            <a:off x="381001" y="228600"/>
            <a:ext cx="8458200" cy="4876800"/>
          </a:xfrm>
          <a:prstGeom prst="rect">
            <a:avLst/>
          </a:prstGeom>
          <a:noFill/>
          <a:ln w="9525">
            <a:noFill/>
            <a:miter lim="800000"/>
            <a:headEnd/>
            <a:tailEnd/>
          </a:ln>
          <a:effectLst/>
        </p:spPr>
      </p:pic>
      <p:pic>
        <p:nvPicPr>
          <p:cNvPr id="62467" name="Picture 3"/>
          <p:cNvPicPr>
            <a:picLocks noChangeAspect="1" noChangeArrowheads="1"/>
          </p:cNvPicPr>
          <p:nvPr/>
        </p:nvPicPr>
        <p:blipFill>
          <a:blip r:embed="rId4"/>
          <a:srcRect/>
          <a:stretch>
            <a:fillRect/>
          </a:stretch>
        </p:blipFill>
        <p:spPr bwMode="auto">
          <a:xfrm>
            <a:off x="381000" y="5181600"/>
            <a:ext cx="8382000" cy="11430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rmAutofit fontScale="90000"/>
          </a:bodyPr>
          <a:lstStyle/>
          <a:p>
            <a:r>
              <a:rPr lang="en-US" dirty="0" smtClean="0"/>
              <a:t>Simply Supported Beam with a Uniformly Distributed Load</a:t>
            </a:r>
            <a:endParaRPr lang="en-US" dirty="0"/>
          </a:p>
        </p:txBody>
      </p:sp>
      <p:pic>
        <p:nvPicPr>
          <p:cNvPr id="55298" name="Picture 2"/>
          <p:cNvPicPr>
            <a:picLocks noGrp="1" noChangeAspect="1" noChangeArrowheads="1"/>
          </p:cNvPicPr>
          <p:nvPr>
            <p:ph idx="1"/>
          </p:nvPr>
        </p:nvPicPr>
        <p:blipFill>
          <a:blip r:embed="rId3"/>
          <a:srcRect/>
          <a:stretch>
            <a:fillRect/>
          </a:stretch>
        </p:blipFill>
        <p:spPr bwMode="auto">
          <a:xfrm>
            <a:off x="132546" y="1219201"/>
            <a:ext cx="8856674" cy="543258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p:cNvPicPr>
            <a:picLocks noGrp="1" noChangeAspect="1" noChangeArrowheads="1"/>
          </p:cNvPicPr>
          <p:nvPr>
            <p:ph idx="1"/>
          </p:nvPr>
        </p:nvPicPr>
        <p:blipFill>
          <a:blip r:embed="rId3"/>
          <a:srcRect/>
          <a:stretch>
            <a:fillRect/>
          </a:stretch>
        </p:blipFill>
        <p:spPr bwMode="auto">
          <a:xfrm>
            <a:off x="219512" y="228600"/>
            <a:ext cx="8747620" cy="2533650"/>
          </a:xfrm>
          <a:prstGeom prst="rect">
            <a:avLst/>
          </a:prstGeom>
          <a:noFill/>
          <a:ln w="9525">
            <a:noFill/>
            <a:miter lim="800000"/>
            <a:headEnd/>
            <a:tailEnd/>
          </a:ln>
          <a:effectLst/>
        </p:spPr>
      </p:pic>
      <p:pic>
        <p:nvPicPr>
          <p:cNvPr id="56324" name="Picture 4"/>
          <p:cNvPicPr>
            <a:picLocks noChangeAspect="1" noChangeArrowheads="1"/>
          </p:cNvPicPr>
          <p:nvPr/>
        </p:nvPicPr>
        <p:blipFill>
          <a:blip r:embed="rId4"/>
          <a:srcRect/>
          <a:stretch>
            <a:fillRect/>
          </a:stretch>
        </p:blipFill>
        <p:spPr bwMode="auto">
          <a:xfrm>
            <a:off x="152400" y="2667000"/>
            <a:ext cx="8763000" cy="39624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Grp="1" noChangeAspect="1" noChangeArrowheads="1"/>
          </p:cNvPicPr>
          <p:nvPr>
            <p:ph idx="1"/>
          </p:nvPr>
        </p:nvPicPr>
        <p:blipFill>
          <a:blip r:embed="rId3"/>
          <a:srcRect/>
          <a:stretch>
            <a:fillRect/>
          </a:stretch>
        </p:blipFill>
        <p:spPr bwMode="auto">
          <a:xfrm>
            <a:off x="152400" y="152400"/>
            <a:ext cx="8763000" cy="6553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30</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p:cNvPicPr>
            <a:picLocks noGrp="1" noChangeAspect="1" noChangeArrowheads="1"/>
          </p:cNvPicPr>
          <p:nvPr>
            <p:ph idx="1"/>
          </p:nvPr>
        </p:nvPicPr>
        <p:blipFill>
          <a:blip r:embed="rId3"/>
          <a:srcRect/>
          <a:stretch>
            <a:fillRect/>
          </a:stretch>
        </p:blipFill>
        <p:spPr bwMode="auto">
          <a:xfrm>
            <a:off x="228600" y="228600"/>
            <a:ext cx="8534400" cy="2743200"/>
          </a:xfrm>
          <a:prstGeom prst="rect">
            <a:avLst/>
          </a:prstGeom>
          <a:noFill/>
          <a:ln w="9525">
            <a:noFill/>
            <a:miter lim="800000"/>
            <a:headEnd/>
            <a:tailEnd/>
          </a:ln>
          <a:effectLst/>
        </p:spPr>
      </p:pic>
      <p:pic>
        <p:nvPicPr>
          <p:cNvPr id="58371" name="Picture 3"/>
          <p:cNvPicPr>
            <a:picLocks noChangeAspect="1" noChangeArrowheads="1"/>
          </p:cNvPicPr>
          <p:nvPr/>
        </p:nvPicPr>
        <p:blipFill>
          <a:blip r:embed="rId4"/>
          <a:srcRect/>
          <a:stretch>
            <a:fillRect/>
          </a:stretch>
        </p:blipFill>
        <p:spPr bwMode="auto">
          <a:xfrm>
            <a:off x="152400" y="3048000"/>
            <a:ext cx="8686800" cy="35814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p:cNvPicPr>
            <a:picLocks noGrp="1" noChangeAspect="1" noChangeArrowheads="1"/>
          </p:cNvPicPr>
          <p:nvPr>
            <p:ph idx="1"/>
          </p:nvPr>
        </p:nvPicPr>
        <p:blipFill>
          <a:blip r:embed="rId3"/>
          <a:srcRect/>
          <a:stretch>
            <a:fillRect/>
          </a:stretch>
        </p:blipFill>
        <p:spPr bwMode="auto">
          <a:xfrm>
            <a:off x="152400" y="152400"/>
            <a:ext cx="8763000" cy="6553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normAutofit fontScale="90000"/>
          </a:bodyPr>
          <a:lstStyle/>
          <a:p>
            <a:r>
              <a:rPr lang="en-US" dirty="0" smtClean="0"/>
              <a:t>Cantilever with a Point Load at Free End</a:t>
            </a:r>
            <a:endParaRPr lang="en-US" dirty="0"/>
          </a:p>
        </p:txBody>
      </p:sp>
      <p:pic>
        <p:nvPicPr>
          <p:cNvPr id="55298" name="Picture 2"/>
          <p:cNvPicPr>
            <a:picLocks noGrp="1" noChangeAspect="1" noChangeArrowheads="1"/>
          </p:cNvPicPr>
          <p:nvPr>
            <p:ph idx="1"/>
          </p:nvPr>
        </p:nvPicPr>
        <p:blipFill>
          <a:blip r:embed="rId3"/>
          <a:srcRect/>
          <a:stretch>
            <a:fillRect/>
          </a:stretch>
        </p:blipFill>
        <p:spPr bwMode="auto">
          <a:xfrm>
            <a:off x="228600" y="1219200"/>
            <a:ext cx="8763000" cy="54102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p:cNvPicPr>
            <a:picLocks noGrp="1" noChangeAspect="1" noChangeArrowheads="1"/>
          </p:cNvPicPr>
          <p:nvPr>
            <p:ph idx="1"/>
          </p:nvPr>
        </p:nvPicPr>
        <p:blipFill>
          <a:blip r:embed="rId3"/>
          <a:srcRect/>
          <a:stretch>
            <a:fillRect/>
          </a:stretch>
        </p:blipFill>
        <p:spPr bwMode="auto">
          <a:xfrm>
            <a:off x="228600" y="228600"/>
            <a:ext cx="8686800" cy="4876800"/>
          </a:xfrm>
          <a:prstGeom prst="rect">
            <a:avLst/>
          </a:prstGeom>
          <a:noFill/>
          <a:ln w="9525">
            <a:noFill/>
            <a:miter lim="800000"/>
            <a:headEnd/>
            <a:tailEnd/>
          </a:ln>
          <a:effectLst/>
        </p:spPr>
      </p:pic>
      <p:pic>
        <p:nvPicPr>
          <p:cNvPr id="56323" name="Picture 3"/>
          <p:cNvPicPr>
            <a:picLocks noChangeAspect="1" noChangeArrowheads="1"/>
          </p:cNvPicPr>
          <p:nvPr/>
        </p:nvPicPr>
        <p:blipFill>
          <a:blip r:embed="rId4"/>
          <a:srcRect/>
          <a:stretch>
            <a:fillRect/>
          </a:stretch>
        </p:blipFill>
        <p:spPr bwMode="auto">
          <a:xfrm>
            <a:off x="381000" y="5181600"/>
            <a:ext cx="8305800" cy="15240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Grp="1" noChangeAspect="1" noChangeArrowheads="1"/>
          </p:cNvPicPr>
          <p:nvPr>
            <p:ph idx="1"/>
          </p:nvPr>
        </p:nvPicPr>
        <p:blipFill>
          <a:blip r:embed="rId3"/>
          <a:srcRect/>
          <a:stretch>
            <a:fillRect/>
          </a:stretch>
        </p:blipFill>
        <p:spPr bwMode="auto">
          <a:xfrm>
            <a:off x="304800" y="304800"/>
            <a:ext cx="84582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p:cNvPicPr>
            <a:picLocks noGrp="1" noChangeAspect="1" noChangeArrowheads="1"/>
          </p:cNvPicPr>
          <p:nvPr>
            <p:ph idx="1"/>
          </p:nvPr>
        </p:nvPicPr>
        <p:blipFill>
          <a:blip r:embed="rId3"/>
          <a:srcRect/>
          <a:stretch>
            <a:fillRect/>
          </a:stretch>
        </p:blipFill>
        <p:spPr bwMode="auto">
          <a:xfrm>
            <a:off x="228600" y="304800"/>
            <a:ext cx="86106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36</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fontScale="90000"/>
          </a:bodyPr>
          <a:lstStyle/>
          <a:p>
            <a:r>
              <a:rPr lang="en-US" dirty="0" smtClean="0"/>
              <a:t>Cantilever with a Point Load not at the Free End</a:t>
            </a:r>
            <a:endParaRPr lang="en-US" dirty="0"/>
          </a:p>
        </p:txBody>
      </p:sp>
      <p:pic>
        <p:nvPicPr>
          <p:cNvPr id="59394" name="Picture 2"/>
          <p:cNvPicPr>
            <a:picLocks noGrp="1" noChangeAspect="1" noChangeArrowheads="1"/>
          </p:cNvPicPr>
          <p:nvPr>
            <p:ph idx="1"/>
          </p:nvPr>
        </p:nvPicPr>
        <p:blipFill>
          <a:blip r:embed="rId3"/>
          <a:srcRect/>
          <a:stretch>
            <a:fillRect/>
          </a:stretch>
        </p:blipFill>
        <p:spPr bwMode="auto">
          <a:xfrm>
            <a:off x="228600" y="1219200"/>
            <a:ext cx="8686800" cy="5333999"/>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p:cNvPicPr>
            <a:picLocks noGrp="1" noChangeAspect="1" noChangeArrowheads="1"/>
          </p:cNvPicPr>
          <p:nvPr>
            <p:ph idx="1"/>
          </p:nvPr>
        </p:nvPicPr>
        <p:blipFill>
          <a:blip r:embed="rId3"/>
          <a:srcRect/>
          <a:stretch>
            <a:fillRect/>
          </a:stretch>
        </p:blipFill>
        <p:spPr bwMode="auto">
          <a:xfrm>
            <a:off x="228600" y="304800"/>
            <a:ext cx="8534400" cy="6172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38</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normAutofit fontScale="90000"/>
          </a:bodyPr>
          <a:lstStyle/>
          <a:p>
            <a:r>
              <a:rPr lang="en-US" dirty="0" smtClean="0"/>
              <a:t>Cantilever with a Uniformly Distributed Load and a Point Load</a:t>
            </a:r>
            <a:endParaRPr lang="en-US" dirty="0"/>
          </a:p>
        </p:txBody>
      </p:sp>
      <p:pic>
        <p:nvPicPr>
          <p:cNvPr id="61442" name="Picture 2"/>
          <p:cNvPicPr>
            <a:picLocks noGrp="1" noChangeAspect="1" noChangeArrowheads="1"/>
          </p:cNvPicPr>
          <p:nvPr>
            <p:ph idx="1"/>
          </p:nvPr>
        </p:nvPicPr>
        <p:blipFill>
          <a:blip r:embed="rId3"/>
          <a:srcRect/>
          <a:stretch>
            <a:fillRect/>
          </a:stretch>
        </p:blipFill>
        <p:spPr bwMode="auto">
          <a:xfrm>
            <a:off x="228600" y="1295400"/>
            <a:ext cx="8610600" cy="53340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p:cNvPicPr>
            <a:picLocks noGrp="1" noChangeAspect="1" noChangeArrowheads="1"/>
          </p:cNvPicPr>
          <p:nvPr>
            <p:ph idx="1"/>
          </p:nvPr>
        </p:nvPicPr>
        <p:blipFill>
          <a:blip r:embed="rId3"/>
          <a:srcRect/>
          <a:stretch>
            <a:fillRect/>
          </a:stretch>
        </p:blipFill>
        <p:spPr bwMode="auto">
          <a:xfrm>
            <a:off x="304800" y="152400"/>
            <a:ext cx="8534400" cy="4953000"/>
          </a:xfrm>
          <a:prstGeom prst="rect">
            <a:avLst/>
          </a:prstGeom>
          <a:noFill/>
          <a:ln w="9525">
            <a:noFill/>
            <a:miter lim="800000"/>
            <a:headEnd/>
            <a:tailEnd/>
          </a:ln>
          <a:effectLst/>
        </p:spPr>
      </p:pic>
      <p:pic>
        <p:nvPicPr>
          <p:cNvPr id="62467" name="Picture 3"/>
          <p:cNvPicPr>
            <a:picLocks noChangeAspect="1" noChangeArrowheads="1"/>
          </p:cNvPicPr>
          <p:nvPr/>
        </p:nvPicPr>
        <p:blipFill>
          <a:blip r:embed="rId4"/>
          <a:srcRect/>
          <a:stretch>
            <a:fillRect/>
          </a:stretch>
        </p:blipFill>
        <p:spPr bwMode="auto">
          <a:xfrm>
            <a:off x="304800" y="5181600"/>
            <a:ext cx="8534400" cy="14478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p:cNvPicPr>
            <a:picLocks noGrp="1" noChangeAspect="1" noChangeArrowheads="1"/>
          </p:cNvPicPr>
          <p:nvPr>
            <p:ph idx="1"/>
          </p:nvPr>
        </p:nvPicPr>
        <p:blipFill>
          <a:blip r:embed="rId3"/>
          <a:srcRect/>
          <a:stretch>
            <a:fillRect/>
          </a:stretch>
        </p:blipFill>
        <p:spPr bwMode="auto">
          <a:xfrm>
            <a:off x="304800" y="304800"/>
            <a:ext cx="86106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41</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p:cNvPicPr>
            <a:picLocks noGrp="1" noChangeAspect="1" noChangeArrowheads="1"/>
          </p:cNvPicPr>
          <p:nvPr>
            <p:ph idx="1"/>
          </p:nvPr>
        </p:nvPicPr>
        <p:blipFill>
          <a:blip r:embed="rId3"/>
          <a:srcRect/>
          <a:stretch>
            <a:fillRect/>
          </a:stretch>
        </p:blipFill>
        <p:spPr bwMode="auto">
          <a:xfrm>
            <a:off x="228600" y="304800"/>
            <a:ext cx="8610600" cy="6324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Grp="1" noChangeAspect="1" noChangeArrowheads="1"/>
          </p:cNvPicPr>
          <p:nvPr>
            <p:ph idx="1"/>
          </p:nvPr>
        </p:nvPicPr>
        <p:blipFill>
          <a:blip r:embed="rId3"/>
          <a:srcRect/>
          <a:stretch>
            <a:fillRect/>
          </a:stretch>
        </p:blipFill>
        <p:spPr bwMode="auto">
          <a:xfrm>
            <a:off x="228600" y="228600"/>
            <a:ext cx="8686800" cy="6400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43</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fontScale="90000"/>
          </a:bodyPr>
          <a:lstStyle/>
          <a:p>
            <a:r>
              <a:rPr lang="en-US" dirty="0" smtClean="0"/>
              <a:t>Cantilever Partially Loaded with a Uniformly Distributed Load</a:t>
            </a:r>
            <a:endParaRPr lang="en-US" dirty="0"/>
          </a:p>
        </p:txBody>
      </p:sp>
      <p:pic>
        <p:nvPicPr>
          <p:cNvPr id="66562" name="Picture 2"/>
          <p:cNvPicPr>
            <a:picLocks noGrp="1" noChangeAspect="1" noChangeArrowheads="1"/>
          </p:cNvPicPr>
          <p:nvPr>
            <p:ph idx="1"/>
          </p:nvPr>
        </p:nvPicPr>
        <p:blipFill>
          <a:blip r:embed="rId3"/>
          <a:srcRect/>
          <a:stretch>
            <a:fillRect/>
          </a:stretch>
        </p:blipFill>
        <p:spPr bwMode="auto">
          <a:xfrm>
            <a:off x="533400" y="1219200"/>
            <a:ext cx="7772400" cy="2362200"/>
          </a:xfrm>
          <a:prstGeom prst="rect">
            <a:avLst/>
          </a:prstGeom>
          <a:noFill/>
          <a:ln w="9525">
            <a:noFill/>
            <a:miter lim="800000"/>
            <a:headEnd/>
            <a:tailEnd/>
          </a:ln>
          <a:effectLst/>
        </p:spPr>
      </p:pic>
      <p:pic>
        <p:nvPicPr>
          <p:cNvPr id="66563" name="Picture 3"/>
          <p:cNvPicPr>
            <a:picLocks noChangeAspect="1" noChangeArrowheads="1"/>
          </p:cNvPicPr>
          <p:nvPr/>
        </p:nvPicPr>
        <p:blipFill>
          <a:blip r:embed="rId4"/>
          <a:srcRect/>
          <a:stretch>
            <a:fillRect/>
          </a:stretch>
        </p:blipFill>
        <p:spPr bwMode="auto">
          <a:xfrm>
            <a:off x="457200" y="3657600"/>
            <a:ext cx="8305800" cy="30480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44</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p:cNvPicPr>
            <a:picLocks noGrp="1" noChangeAspect="1" noChangeArrowheads="1"/>
          </p:cNvPicPr>
          <p:nvPr>
            <p:ph idx="1"/>
          </p:nvPr>
        </p:nvPicPr>
        <p:blipFill>
          <a:blip r:embed="rId3"/>
          <a:srcRect/>
          <a:stretch>
            <a:fillRect/>
          </a:stretch>
        </p:blipFill>
        <p:spPr bwMode="auto">
          <a:xfrm>
            <a:off x="228600" y="304800"/>
            <a:ext cx="8610600" cy="6324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r>
              <a:rPr lang="en-US" dirty="0" smtClean="0"/>
              <a:t>Simply Supported Beam with a Gradually Varying Load</a:t>
            </a:r>
            <a:endParaRPr lang="en-US" dirty="0"/>
          </a:p>
        </p:txBody>
      </p:sp>
      <p:pic>
        <p:nvPicPr>
          <p:cNvPr id="68610" name="Picture 2"/>
          <p:cNvPicPr>
            <a:picLocks noGrp="1" noChangeAspect="1" noChangeArrowheads="1"/>
          </p:cNvPicPr>
          <p:nvPr>
            <p:ph idx="1"/>
          </p:nvPr>
        </p:nvPicPr>
        <p:blipFill>
          <a:blip r:embed="rId3"/>
          <a:srcRect/>
          <a:stretch>
            <a:fillRect/>
          </a:stretch>
        </p:blipFill>
        <p:spPr bwMode="auto">
          <a:xfrm>
            <a:off x="1219200" y="1143000"/>
            <a:ext cx="6629400" cy="1905000"/>
          </a:xfrm>
          <a:prstGeom prst="rect">
            <a:avLst/>
          </a:prstGeom>
          <a:noFill/>
          <a:ln w="9525">
            <a:noFill/>
            <a:miter lim="800000"/>
            <a:headEnd/>
            <a:tailEnd/>
          </a:ln>
          <a:effectLst/>
        </p:spPr>
      </p:pic>
      <p:pic>
        <p:nvPicPr>
          <p:cNvPr id="68611" name="Picture 3"/>
          <p:cNvPicPr>
            <a:picLocks noChangeAspect="1" noChangeArrowheads="1"/>
          </p:cNvPicPr>
          <p:nvPr/>
        </p:nvPicPr>
        <p:blipFill>
          <a:blip r:embed="rId4"/>
          <a:srcRect/>
          <a:stretch>
            <a:fillRect/>
          </a:stretch>
        </p:blipFill>
        <p:spPr bwMode="auto">
          <a:xfrm>
            <a:off x="381000" y="3124200"/>
            <a:ext cx="8458200" cy="35052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46</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p:cNvPicPr>
            <a:picLocks noGrp="1" noChangeAspect="1" noChangeArrowheads="1"/>
          </p:cNvPicPr>
          <p:nvPr>
            <p:ph idx="1"/>
          </p:nvPr>
        </p:nvPicPr>
        <p:blipFill>
          <a:blip r:embed="rId3"/>
          <a:srcRect/>
          <a:stretch>
            <a:fillRect/>
          </a:stretch>
        </p:blipFill>
        <p:spPr bwMode="auto">
          <a:xfrm>
            <a:off x="304800" y="228600"/>
            <a:ext cx="8534400" cy="6324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47</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p:cNvPicPr>
            <a:picLocks noGrp="1" noChangeAspect="1" noChangeArrowheads="1"/>
          </p:cNvPicPr>
          <p:nvPr>
            <p:ph idx="1"/>
          </p:nvPr>
        </p:nvPicPr>
        <p:blipFill>
          <a:blip r:embed="rId3"/>
          <a:srcRect/>
          <a:stretch>
            <a:fillRect/>
          </a:stretch>
        </p:blipFill>
        <p:spPr bwMode="auto">
          <a:xfrm>
            <a:off x="228600" y="533400"/>
            <a:ext cx="8610600" cy="3429000"/>
          </a:xfrm>
          <a:prstGeom prst="rect">
            <a:avLst/>
          </a:prstGeom>
          <a:noFill/>
          <a:ln w="9525">
            <a:noFill/>
            <a:miter lim="800000"/>
            <a:headEnd/>
            <a:tailEnd/>
          </a:ln>
          <a:effectLst/>
        </p:spPr>
      </p:pic>
      <p:pic>
        <p:nvPicPr>
          <p:cNvPr id="70659" name="Picture 3"/>
          <p:cNvPicPr>
            <a:picLocks noChangeAspect="1" noChangeArrowheads="1"/>
          </p:cNvPicPr>
          <p:nvPr/>
        </p:nvPicPr>
        <p:blipFill>
          <a:blip r:embed="rId4"/>
          <a:srcRect/>
          <a:stretch>
            <a:fillRect/>
          </a:stretch>
        </p:blipFill>
        <p:spPr bwMode="auto">
          <a:xfrm>
            <a:off x="152400" y="4191000"/>
            <a:ext cx="8610600" cy="20574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p:cNvPicPr>
            <a:picLocks noGrp="1" noChangeAspect="1" noChangeArrowheads="1"/>
          </p:cNvPicPr>
          <p:nvPr>
            <p:ph idx="1"/>
          </p:nvPr>
        </p:nvPicPr>
        <p:blipFill>
          <a:blip r:embed="rId3"/>
          <a:srcRect/>
          <a:stretch>
            <a:fillRect/>
          </a:stretch>
        </p:blipFill>
        <p:spPr bwMode="auto">
          <a:xfrm>
            <a:off x="152400" y="381000"/>
            <a:ext cx="88392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49</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dirty="0" smtClean="0"/>
              <a:t>Cantilever with a Gradually Varying Load</a:t>
            </a:r>
            <a:endParaRPr lang="en-US" dirty="0"/>
          </a:p>
        </p:txBody>
      </p:sp>
      <p:pic>
        <p:nvPicPr>
          <p:cNvPr id="55298" name="Picture 2"/>
          <p:cNvPicPr>
            <a:picLocks noGrp="1" noChangeAspect="1" noChangeArrowheads="1"/>
          </p:cNvPicPr>
          <p:nvPr>
            <p:ph idx="1"/>
          </p:nvPr>
        </p:nvPicPr>
        <p:blipFill>
          <a:blip r:embed="rId3"/>
          <a:srcRect/>
          <a:stretch>
            <a:fillRect/>
          </a:stretch>
        </p:blipFill>
        <p:spPr bwMode="auto">
          <a:xfrm>
            <a:off x="228600" y="1143000"/>
            <a:ext cx="8686800" cy="54864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p:cNvPicPr>
            <a:picLocks noGrp="1" noChangeAspect="1" noChangeArrowheads="1"/>
          </p:cNvPicPr>
          <p:nvPr>
            <p:ph idx="1"/>
          </p:nvPr>
        </p:nvPicPr>
        <p:blipFill>
          <a:blip r:embed="rId3"/>
          <a:srcRect/>
          <a:stretch>
            <a:fillRect/>
          </a:stretch>
        </p:blipFill>
        <p:spPr bwMode="auto">
          <a:xfrm>
            <a:off x="228600" y="304800"/>
            <a:ext cx="8610600" cy="60960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51</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Grp="1" noChangeAspect="1" noChangeArrowheads="1"/>
          </p:cNvPicPr>
          <p:nvPr>
            <p:ph idx="1"/>
          </p:nvPr>
        </p:nvPicPr>
        <p:blipFill>
          <a:blip r:embed="rId3"/>
          <a:srcRect/>
          <a:stretch>
            <a:fillRect/>
          </a:stretch>
        </p:blipFill>
        <p:spPr bwMode="auto">
          <a:xfrm>
            <a:off x="228600" y="381000"/>
            <a:ext cx="8610600" cy="6172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p:cNvPicPr>
            <a:picLocks noGrp="1" noChangeAspect="1" noChangeArrowheads="1"/>
          </p:cNvPicPr>
          <p:nvPr>
            <p:ph idx="1"/>
          </p:nvPr>
        </p:nvPicPr>
        <p:blipFill>
          <a:blip r:embed="rId3"/>
          <a:srcRect/>
          <a:stretch>
            <a:fillRect/>
          </a:stretch>
        </p:blipFill>
        <p:spPr bwMode="auto">
          <a:xfrm>
            <a:off x="152400" y="304800"/>
            <a:ext cx="8686800" cy="4495800"/>
          </a:xfrm>
          <a:prstGeom prst="rect">
            <a:avLst/>
          </a:prstGeom>
          <a:noFill/>
          <a:ln w="9525">
            <a:noFill/>
            <a:miter lim="800000"/>
            <a:headEnd/>
            <a:tailEnd/>
          </a:ln>
          <a:effectLst/>
        </p:spPr>
      </p:pic>
      <p:pic>
        <p:nvPicPr>
          <p:cNvPr id="58372" name="Picture 4"/>
          <p:cNvPicPr>
            <a:picLocks noChangeAspect="1" noChangeArrowheads="1"/>
          </p:cNvPicPr>
          <p:nvPr/>
        </p:nvPicPr>
        <p:blipFill>
          <a:blip r:embed="rId4"/>
          <a:srcRect/>
          <a:stretch>
            <a:fillRect/>
          </a:stretch>
        </p:blipFill>
        <p:spPr bwMode="auto">
          <a:xfrm>
            <a:off x="152400" y="4800600"/>
            <a:ext cx="7772400" cy="17526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371600"/>
          </a:xfrm>
        </p:spPr>
        <p:txBody>
          <a:bodyPr>
            <a:normAutofit fontScale="90000"/>
          </a:bodyPr>
          <a:lstStyle/>
          <a:p>
            <a:r>
              <a:rPr lang="en-US" dirty="0" smtClean="0"/>
              <a:t>Singularity Function</a:t>
            </a:r>
            <a:br>
              <a:rPr lang="en-US" dirty="0" smtClean="0"/>
            </a:br>
            <a:r>
              <a:rPr lang="en-US" dirty="0" smtClean="0"/>
              <a:t>(Macaulay’s Method)</a:t>
            </a:r>
            <a:endParaRPr lang="en-US" dirty="0"/>
          </a:p>
        </p:txBody>
      </p:sp>
      <p:pic>
        <p:nvPicPr>
          <p:cNvPr id="59394" name="Picture 2"/>
          <p:cNvPicPr>
            <a:picLocks noGrp="1" noChangeAspect="1" noChangeArrowheads="1"/>
          </p:cNvPicPr>
          <p:nvPr>
            <p:ph idx="1"/>
          </p:nvPr>
        </p:nvPicPr>
        <p:blipFill>
          <a:blip r:embed="rId3"/>
          <a:srcRect/>
          <a:stretch>
            <a:fillRect/>
          </a:stretch>
        </p:blipFill>
        <p:spPr bwMode="auto">
          <a:xfrm>
            <a:off x="152400" y="2057400"/>
            <a:ext cx="8686800" cy="32004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Concentrated Loads</a:t>
            </a:r>
            <a:endParaRPr lang="en-US" dirty="0"/>
          </a:p>
        </p:txBody>
      </p:sp>
      <p:pic>
        <p:nvPicPr>
          <p:cNvPr id="60418" name="Picture 2"/>
          <p:cNvPicPr>
            <a:picLocks noGrp="1" noChangeAspect="1" noChangeArrowheads="1"/>
          </p:cNvPicPr>
          <p:nvPr>
            <p:ph idx="1"/>
          </p:nvPr>
        </p:nvPicPr>
        <p:blipFill>
          <a:blip r:embed="rId3"/>
          <a:srcRect/>
          <a:stretch>
            <a:fillRect/>
          </a:stretch>
        </p:blipFill>
        <p:spPr bwMode="auto">
          <a:xfrm>
            <a:off x="228600" y="1447800"/>
            <a:ext cx="8458200" cy="51816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p:cNvPicPr>
            <a:picLocks noGrp="1" noChangeAspect="1" noChangeArrowheads="1"/>
          </p:cNvPicPr>
          <p:nvPr>
            <p:ph idx="1"/>
          </p:nvPr>
        </p:nvPicPr>
        <p:blipFill>
          <a:blip r:embed="rId3"/>
          <a:srcRect/>
          <a:stretch>
            <a:fillRect/>
          </a:stretch>
        </p:blipFill>
        <p:spPr bwMode="auto">
          <a:xfrm>
            <a:off x="152400" y="533400"/>
            <a:ext cx="8610600" cy="6019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56</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US" dirty="0" smtClean="0"/>
              <a:t>Uniformly Distributed Load</a:t>
            </a:r>
            <a:endParaRPr lang="en-US" dirty="0"/>
          </a:p>
        </p:txBody>
      </p:sp>
      <p:pic>
        <p:nvPicPr>
          <p:cNvPr id="62466" name="Picture 2"/>
          <p:cNvPicPr>
            <a:picLocks noGrp="1" noChangeAspect="1" noChangeArrowheads="1"/>
          </p:cNvPicPr>
          <p:nvPr>
            <p:ph idx="1"/>
          </p:nvPr>
        </p:nvPicPr>
        <p:blipFill>
          <a:blip r:embed="rId3"/>
          <a:srcRect/>
          <a:stretch>
            <a:fillRect/>
          </a:stretch>
        </p:blipFill>
        <p:spPr bwMode="auto">
          <a:xfrm>
            <a:off x="304800" y="1219200"/>
            <a:ext cx="8534400" cy="53340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p:cNvPicPr>
            <a:picLocks noGrp="1" noChangeAspect="1" noChangeArrowheads="1"/>
          </p:cNvPicPr>
          <p:nvPr>
            <p:ph idx="1"/>
          </p:nvPr>
        </p:nvPicPr>
        <p:blipFill>
          <a:blip r:embed="rId3"/>
          <a:srcRect/>
          <a:stretch>
            <a:fillRect/>
          </a:stretch>
        </p:blipFill>
        <p:spPr bwMode="auto">
          <a:xfrm>
            <a:off x="457200" y="228600"/>
            <a:ext cx="8153400" cy="2971800"/>
          </a:xfrm>
          <a:prstGeom prst="rect">
            <a:avLst/>
          </a:prstGeom>
          <a:noFill/>
          <a:ln w="9525">
            <a:noFill/>
            <a:miter lim="800000"/>
            <a:headEnd/>
            <a:tailEnd/>
          </a:ln>
          <a:effectLst/>
        </p:spPr>
      </p:pic>
      <p:pic>
        <p:nvPicPr>
          <p:cNvPr id="63491" name="Picture 3"/>
          <p:cNvPicPr>
            <a:picLocks noChangeAspect="1" noChangeArrowheads="1"/>
          </p:cNvPicPr>
          <p:nvPr/>
        </p:nvPicPr>
        <p:blipFill>
          <a:blip r:embed="rId4"/>
          <a:srcRect/>
          <a:stretch>
            <a:fillRect/>
          </a:stretch>
        </p:blipFill>
        <p:spPr bwMode="auto">
          <a:xfrm>
            <a:off x="381000" y="3276600"/>
            <a:ext cx="8382000" cy="26670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lstStyle/>
          <a:p>
            <a:r>
              <a:rPr lang="en-US" dirty="0" smtClean="0"/>
              <a:t>Concentrated Bending Moment</a:t>
            </a:r>
            <a:endParaRPr lang="en-US" dirty="0"/>
          </a:p>
        </p:txBody>
      </p:sp>
      <p:pic>
        <p:nvPicPr>
          <p:cNvPr id="64514" name="Picture 2"/>
          <p:cNvPicPr>
            <a:picLocks noGrp="1" noChangeAspect="1" noChangeArrowheads="1"/>
          </p:cNvPicPr>
          <p:nvPr>
            <p:ph idx="1"/>
          </p:nvPr>
        </p:nvPicPr>
        <p:blipFill>
          <a:blip r:embed="rId3"/>
          <a:srcRect/>
          <a:stretch>
            <a:fillRect/>
          </a:stretch>
        </p:blipFill>
        <p:spPr bwMode="auto">
          <a:xfrm>
            <a:off x="228600" y="1143000"/>
            <a:ext cx="8610600" cy="54102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59</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Grp="1" noChangeAspect="1" noChangeArrowheads="1"/>
          </p:cNvPicPr>
          <p:nvPr>
            <p:ph idx="1"/>
          </p:nvPr>
        </p:nvPicPr>
        <p:blipFill>
          <a:blip r:embed="rId3"/>
          <a:srcRect/>
          <a:stretch>
            <a:fillRect/>
          </a:stretch>
        </p:blipFill>
        <p:spPr bwMode="auto">
          <a:xfrm>
            <a:off x="228600" y="457200"/>
            <a:ext cx="8610600" cy="6019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60</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p:cNvPicPr>
            <a:picLocks noGrp="1" noChangeAspect="1" noChangeArrowheads="1"/>
          </p:cNvPicPr>
          <p:nvPr>
            <p:ph idx="1"/>
          </p:nvPr>
        </p:nvPicPr>
        <p:blipFill>
          <a:blip r:embed="rId3"/>
          <a:srcRect/>
          <a:stretch>
            <a:fillRect/>
          </a:stretch>
        </p:blipFill>
        <p:spPr bwMode="auto">
          <a:xfrm>
            <a:off x="228600" y="381000"/>
            <a:ext cx="86106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61</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p:cNvPicPr>
            <a:picLocks noGrp="1" noChangeAspect="1" noChangeArrowheads="1"/>
          </p:cNvPicPr>
          <p:nvPr>
            <p:ph idx="1"/>
          </p:nvPr>
        </p:nvPicPr>
        <p:blipFill>
          <a:blip r:embed="rId3"/>
          <a:srcRect/>
          <a:stretch>
            <a:fillRect/>
          </a:stretch>
        </p:blipFill>
        <p:spPr bwMode="auto">
          <a:xfrm>
            <a:off x="228600" y="171450"/>
            <a:ext cx="8686800" cy="65151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62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Grp="1" noChangeAspect="1" noChangeArrowheads="1"/>
          </p:cNvPicPr>
          <p:nvPr>
            <p:ph idx="1"/>
          </p:nvPr>
        </p:nvPicPr>
        <p:blipFill>
          <a:blip r:embed="rId3"/>
          <a:srcRect/>
          <a:stretch>
            <a:fillRect/>
          </a:stretch>
        </p:blipFill>
        <p:spPr bwMode="auto">
          <a:xfrm>
            <a:off x="381000" y="381000"/>
            <a:ext cx="8382000" cy="1905000"/>
          </a:xfrm>
          <a:prstGeom prst="rect">
            <a:avLst/>
          </a:prstGeom>
          <a:noFill/>
          <a:ln w="9525">
            <a:noFill/>
            <a:miter lim="800000"/>
            <a:headEnd/>
            <a:tailEnd/>
          </a:ln>
          <a:effectLst/>
        </p:spPr>
      </p:pic>
      <p:pic>
        <p:nvPicPr>
          <p:cNvPr id="68611" name="Picture 3"/>
          <p:cNvPicPr>
            <a:picLocks noChangeAspect="1" noChangeArrowheads="1"/>
          </p:cNvPicPr>
          <p:nvPr/>
        </p:nvPicPr>
        <p:blipFill>
          <a:blip r:embed="rId4"/>
          <a:srcRect/>
          <a:stretch>
            <a:fillRect/>
          </a:stretch>
        </p:blipFill>
        <p:spPr bwMode="auto">
          <a:xfrm>
            <a:off x="304800" y="2528888"/>
            <a:ext cx="8382000" cy="4024312"/>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63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p:cNvPicPr>
            <a:picLocks noGrp="1" noChangeAspect="1" noChangeArrowheads="1"/>
          </p:cNvPicPr>
          <p:nvPr>
            <p:ph idx="1"/>
          </p:nvPr>
        </p:nvPicPr>
        <p:blipFill>
          <a:blip r:embed="rId3"/>
          <a:srcRect/>
          <a:stretch>
            <a:fillRect/>
          </a:stretch>
        </p:blipFill>
        <p:spPr bwMode="auto">
          <a:xfrm>
            <a:off x="152400" y="195867"/>
            <a:ext cx="8763000" cy="6565939"/>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64</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p:cNvPicPr>
            <a:picLocks noGrp="1" noChangeAspect="1" noChangeArrowheads="1"/>
          </p:cNvPicPr>
          <p:nvPr>
            <p:ph idx="1"/>
          </p:nvPr>
        </p:nvPicPr>
        <p:blipFill>
          <a:blip r:embed="rId3"/>
          <a:srcRect/>
          <a:stretch>
            <a:fillRect/>
          </a:stretch>
        </p:blipFill>
        <p:spPr bwMode="auto">
          <a:xfrm>
            <a:off x="228600" y="304800"/>
            <a:ext cx="86106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65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p:cNvPicPr>
            <a:picLocks noGrp="1" noChangeAspect="1" noChangeArrowheads="1"/>
          </p:cNvPicPr>
          <p:nvPr>
            <p:ph idx="1"/>
          </p:nvPr>
        </p:nvPicPr>
        <p:blipFill>
          <a:blip r:embed="rId3"/>
          <a:srcRect/>
          <a:stretch>
            <a:fillRect/>
          </a:stretch>
        </p:blipFill>
        <p:spPr bwMode="auto">
          <a:xfrm>
            <a:off x="228600" y="228600"/>
            <a:ext cx="8686799" cy="6400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66</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p:cNvPicPr>
            <a:picLocks noGrp="1" noChangeAspect="1" noChangeArrowheads="1"/>
          </p:cNvPicPr>
          <p:nvPr>
            <p:ph idx="1"/>
          </p:nvPr>
        </p:nvPicPr>
        <p:blipFill>
          <a:blip r:embed="rId3"/>
          <a:srcRect/>
          <a:stretch>
            <a:fillRect/>
          </a:stretch>
        </p:blipFill>
        <p:spPr bwMode="auto">
          <a:xfrm>
            <a:off x="152400" y="304800"/>
            <a:ext cx="8671392"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67</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096000"/>
          </a:xfrm>
        </p:spPr>
        <p:txBody>
          <a:bodyPr>
            <a:normAutofit fontScale="70000" lnSpcReduction="20000"/>
          </a:bodyPr>
          <a:lstStyle/>
          <a:p>
            <a:pPr>
              <a:buNone/>
            </a:pPr>
            <a:r>
              <a:rPr lang="en-GB" b="1" dirty="0" smtClean="0"/>
              <a:t>Quizzes</a:t>
            </a:r>
            <a:endParaRPr lang="en-US" dirty="0" smtClean="0"/>
          </a:p>
          <a:p>
            <a:pPr lvl="0"/>
            <a:r>
              <a:rPr lang="en-US" dirty="0" smtClean="0"/>
              <a:t>What is the relation between slope, deflection and radius of curvature of a simply supported beam?</a:t>
            </a:r>
          </a:p>
          <a:p>
            <a:pPr>
              <a:buNone/>
            </a:pPr>
            <a:r>
              <a:rPr lang="en-US" dirty="0" smtClean="0"/>
              <a:t> </a:t>
            </a:r>
          </a:p>
          <a:p>
            <a:pPr lvl="0"/>
            <a:r>
              <a:rPr lang="en-US" dirty="0" smtClean="0"/>
              <a:t>A simply supported beam </a:t>
            </a:r>
            <a:r>
              <a:rPr lang="en-US" i="1" dirty="0" smtClean="0"/>
              <a:t>AB </a:t>
            </a:r>
            <a:r>
              <a:rPr lang="en-US" dirty="0" smtClean="0"/>
              <a:t>of span </a:t>
            </a:r>
            <a:r>
              <a:rPr lang="en-US" i="1" dirty="0" smtClean="0"/>
              <a:t>l </a:t>
            </a:r>
            <a:r>
              <a:rPr lang="en-US" dirty="0" smtClean="0"/>
              <a:t>and stiffness </a:t>
            </a:r>
            <a:r>
              <a:rPr lang="en-US" i="1" dirty="0" smtClean="0"/>
              <a:t>El </a:t>
            </a:r>
            <a:r>
              <a:rPr lang="en-US" dirty="0" smtClean="0"/>
              <a:t>carries a concentrated load </a:t>
            </a:r>
            <a:r>
              <a:rPr lang="en-US" i="1" dirty="0" smtClean="0"/>
              <a:t>P </a:t>
            </a:r>
            <a:r>
              <a:rPr lang="en-US" dirty="0" smtClean="0"/>
              <a:t>at its centre. Find the expression for slope of the beam at the support </a:t>
            </a:r>
            <a:r>
              <a:rPr lang="en-US" i="1" dirty="0" smtClean="0"/>
              <a:t>A </a:t>
            </a:r>
            <a:r>
              <a:rPr lang="en-US" dirty="0" smtClean="0"/>
              <a:t>and deflection of the beam at its centre.</a:t>
            </a:r>
          </a:p>
          <a:p>
            <a:pPr>
              <a:buNone/>
            </a:pPr>
            <a:r>
              <a:rPr lang="en-US" dirty="0" smtClean="0"/>
              <a:t> </a:t>
            </a:r>
          </a:p>
          <a:p>
            <a:pPr lvl="0"/>
            <a:r>
              <a:rPr lang="en-US" dirty="0" smtClean="0"/>
              <a:t>Derive a relation for the slope and deflection of a simply supported beam subjected to a uniformly distributed load of w/m length.</a:t>
            </a:r>
          </a:p>
          <a:p>
            <a:pPr>
              <a:buNone/>
            </a:pPr>
            <a:endParaRPr lang="en-US" dirty="0" smtClean="0"/>
          </a:p>
          <a:p>
            <a:pPr lvl="0"/>
            <a:r>
              <a:rPr lang="en-US" dirty="0" smtClean="0"/>
              <a:t>Explain the procedure for finding out the deflection of a beam of composite section.</a:t>
            </a:r>
          </a:p>
          <a:p>
            <a:pPr>
              <a:buNone/>
            </a:pPr>
            <a:endParaRPr lang="en-US" dirty="0" smtClean="0"/>
          </a:p>
          <a:p>
            <a:pPr lvl="0"/>
            <a:r>
              <a:rPr lang="en-US" dirty="0" smtClean="0"/>
              <a:t>A cantilever beam of span </a:t>
            </a:r>
            <a:r>
              <a:rPr lang="en-US" i="1" dirty="0" smtClean="0"/>
              <a:t>l </a:t>
            </a:r>
            <a:r>
              <a:rPr lang="en-US" dirty="0" smtClean="0"/>
              <a:t>carries a uniformly distributed load </a:t>
            </a:r>
            <a:r>
              <a:rPr lang="en-US" i="1" dirty="0" smtClean="0"/>
              <a:t>w </a:t>
            </a:r>
            <a:r>
              <a:rPr lang="en-US" dirty="0" smtClean="0"/>
              <a:t>over the entire span. Compute the maximum slope and deflection of a cantilever.</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68</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2121</TotalTime>
  <Words>2013</Words>
  <Application>Microsoft Office PowerPoint</Application>
  <PresentationFormat>On-screen Show (4:3)</PresentationFormat>
  <Paragraphs>417</Paragraphs>
  <Slides>68</Slides>
  <Notes>68</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68</vt:i4>
      </vt:variant>
    </vt:vector>
  </HeadingPairs>
  <TitlesOfParts>
    <vt:vector size="72" baseType="lpstr">
      <vt:lpstr>Arial</vt:lpstr>
      <vt:lpstr>Calibri</vt:lpstr>
      <vt:lpstr>Office Theme</vt:lpstr>
      <vt:lpstr>Equation</vt:lpstr>
      <vt:lpstr>DEFLECTION OF BEAMS     By Dr. Andoh</vt:lpstr>
      <vt:lpstr>Introduction Learning objectives</vt:lpstr>
      <vt:lpstr>Differential Equation of the Deflection Curve</vt:lpstr>
      <vt:lpstr>Curvature of the Bending Beam</vt:lpstr>
      <vt:lpstr>PowerPoint Presentation</vt:lpstr>
      <vt:lpstr>Relationship between Slope, Deflection and Radius of Curvature</vt:lpstr>
      <vt:lpstr>PowerPoint Presentation</vt:lpstr>
      <vt:lpstr>Methods for Slope and Deflection at a Section</vt:lpstr>
      <vt:lpstr>Strain Energy Method</vt:lpstr>
      <vt:lpstr>PowerPoint Presentation</vt:lpstr>
      <vt:lpstr>Solution </vt:lpstr>
      <vt:lpstr>PowerPoint Presentation</vt:lpstr>
      <vt:lpstr>PowerPoint Presentation</vt:lpstr>
      <vt:lpstr>Double Integration Method</vt:lpstr>
      <vt:lpstr>Simply Supported Beam with a Central Point Load</vt:lpstr>
      <vt:lpstr>PowerPoint Presentation</vt:lpstr>
      <vt:lpstr>PowerPoint Presentation</vt:lpstr>
      <vt:lpstr>PowerPoint Presentation</vt:lpstr>
      <vt:lpstr>PowerPoint Presentation</vt:lpstr>
      <vt:lpstr>Simply Supported Beam with an Eccentric Point Load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Simply Supported Beam with a Uniformly Distributed Load</vt:lpstr>
      <vt:lpstr>PowerPoint Presentation</vt:lpstr>
      <vt:lpstr>PowerPoint Presentation</vt:lpstr>
      <vt:lpstr>PowerPoint Presentation</vt:lpstr>
      <vt:lpstr>PowerPoint Presentation</vt:lpstr>
      <vt:lpstr>Cantilever with a Point Load at Free End</vt:lpstr>
      <vt:lpstr>PowerPoint Presentation</vt:lpstr>
      <vt:lpstr>PowerPoint Presentation</vt:lpstr>
      <vt:lpstr>PowerPoint Presentation</vt:lpstr>
      <vt:lpstr>Cantilever with a Point Load not at the Free End</vt:lpstr>
      <vt:lpstr>PowerPoint Presentation</vt:lpstr>
      <vt:lpstr>Cantilever with a Uniformly Distributed Load and a Point Load</vt:lpstr>
      <vt:lpstr>PowerPoint Presentation</vt:lpstr>
      <vt:lpstr>PowerPoint Presentation</vt:lpstr>
      <vt:lpstr>PowerPoint Presentation</vt:lpstr>
      <vt:lpstr>PowerPoint Presentation</vt:lpstr>
      <vt:lpstr>Cantilever Partially Loaded with a Uniformly Distributed Load</vt:lpstr>
      <vt:lpstr>PowerPoint Presentation</vt:lpstr>
      <vt:lpstr>Simply Supported Beam with a Gradually Varying Load</vt:lpstr>
      <vt:lpstr>PowerPoint Presentation</vt:lpstr>
      <vt:lpstr>PowerPoint Presentation</vt:lpstr>
      <vt:lpstr>PowerPoint Presentation</vt:lpstr>
      <vt:lpstr>Cantilever with a Gradually Varying Load</vt:lpstr>
      <vt:lpstr>PowerPoint Presentation</vt:lpstr>
      <vt:lpstr>PowerPoint Presentation</vt:lpstr>
      <vt:lpstr>PowerPoint Presentation</vt:lpstr>
      <vt:lpstr>Singularity Function (Macaulay’s Method)</vt:lpstr>
      <vt:lpstr>Concentrated Loads</vt:lpstr>
      <vt:lpstr>PowerPoint Presentation</vt:lpstr>
      <vt:lpstr>Uniformly Distributed Load</vt:lpstr>
      <vt:lpstr>PowerPoint Presentation</vt:lpstr>
      <vt:lpstr>Concentrated Bending Moment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DEFLECTION OF BEAMS     By Dr. Andoh</dc:title>
  <dc:creator>Papa</dc:creator>
  <cp:lastModifiedBy>Jerome Lavie</cp:lastModifiedBy>
  <cp:revision>181</cp:revision>
  <dcterms:created xsi:type="dcterms:W3CDTF">2006-08-16T00:00:00Z</dcterms:created>
  <dcterms:modified xsi:type="dcterms:W3CDTF">2015-11-02T01:02:33Z</dcterms:modified>
</cp:coreProperties>
</file>