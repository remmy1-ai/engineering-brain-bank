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67"/>
  </p:notesMasterIdLst>
  <p:sldIdLst>
    <p:sldId id="320"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5" d="100"/>
          <a:sy n="75" d="100"/>
        </p:scale>
        <p:origin x="123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C8A8EC-23E5-4C6B-871F-EECA14BCECD2}" type="datetimeFigureOut">
              <a:rPr lang="en-US" smtClean="0"/>
              <a:t>11/2/2015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506E99-9208-4EAD-896A-FF6CD568360E}" type="slidenum">
              <a:rPr lang="en-US" smtClean="0"/>
              <a:t>‹#›</a:t>
            </a:fld>
            <a:endParaRPr lang="en-US"/>
          </a:p>
        </p:txBody>
      </p:sp>
    </p:spTree>
    <p:extLst>
      <p:ext uri="{BB962C8B-B14F-4D97-AF65-F5344CB8AC3E}">
        <p14:creationId xmlns:p14="http://schemas.microsoft.com/office/powerpoint/2010/main" val="3115685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a:t>
            </a:fld>
            <a:endParaRPr lang="en-US"/>
          </a:p>
        </p:txBody>
      </p:sp>
    </p:spTree>
    <p:extLst>
      <p:ext uri="{BB962C8B-B14F-4D97-AF65-F5344CB8AC3E}">
        <p14:creationId xmlns:p14="http://schemas.microsoft.com/office/powerpoint/2010/main" val="4077295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a:t>
            </a:fld>
            <a:endParaRPr lang="en-US"/>
          </a:p>
        </p:txBody>
      </p:sp>
    </p:spTree>
    <p:extLst>
      <p:ext uri="{BB962C8B-B14F-4D97-AF65-F5344CB8AC3E}">
        <p14:creationId xmlns:p14="http://schemas.microsoft.com/office/powerpoint/2010/main" val="527020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a:t>
            </a:fld>
            <a:endParaRPr lang="en-US"/>
          </a:p>
        </p:txBody>
      </p:sp>
    </p:spTree>
    <p:extLst>
      <p:ext uri="{BB962C8B-B14F-4D97-AF65-F5344CB8AC3E}">
        <p14:creationId xmlns:p14="http://schemas.microsoft.com/office/powerpoint/2010/main" val="21259955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a:t>
            </a:fld>
            <a:endParaRPr lang="en-US"/>
          </a:p>
        </p:txBody>
      </p:sp>
    </p:spTree>
    <p:extLst>
      <p:ext uri="{BB962C8B-B14F-4D97-AF65-F5344CB8AC3E}">
        <p14:creationId xmlns:p14="http://schemas.microsoft.com/office/powerpoint/2010/main" val="3823558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a:t>
            </a:fld>
            <a:endParaRPr lang="en-US"/>
          </a:p>
        </p:txBody>
      </p:sp>
    </p:spTree>
    <p:extLst>
      <p:ext uri="{BB962C8B-B14F-4D97-AF65-F5344CB8AC3E}">
        <p14:creationId xmlns:p14="http://schemas.microsoft.com/office/powerpoint/2010/main" val="2059489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6</a:t>
            </a:fld>
            <a:endParaRPr lang="en-US"/>
          </a:p>
        </p:txBody>
      </p:sp>
    </p:spTree>
    <p:extLst>
      <p:ext uri="{BB962C8B-B14F-4D97-AF65-F5344CB8AC3E}">
        <p14:creationId xmlns:p14="http://schemas.microsoft.com/office/powerpoint/2010/main" val="6840105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7</a:t>
            </a:fld>
            <a:endParaRPr lang="en-US"/>
          </a:p>
        </p:txBody>
      </p:sp>
    </p:spTree>
    <p:extLst>
      <p:ext uri="{BB962C8B-B14F-4D97-AF65-F5344CB8AC3E}">
        <p14:creationId xmlns:p14="http://schemas.microsoft.com/office/powerpoint/2010/main" val="654816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8</a:t>
            </a:fld>
            <a:endParaRPr lang="en-US"/>
          </a:p>
        </p:txBody>
      </p:sp>
    </p:spTree>
    <p:extLst>
      <p:ext uri="{BB962C8B-B14F-4D97-AF65-F5344CB8AC3E}">
        <p14:creationId xmlns:p14="http://schemas.microsoft.com/office/powerpoint/2010/main" val="749553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9</a:t>
            </a:fld>
            <a:endParaRPr lang="en-US"/>
          </a:p>
        </p:txBody>
      </p:sp>
    </p:spTree>
    <p:extLst>
      <p:ext uri="{BB962C8B-B14F-4D97-AF65-F5344CB8AC3E}">
        <p14:creationId xmlns:p14="http://schemas.microsoft.com/office/powerpoint/2010/main" val="2409302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10</a:t>
            </a:fld>
            <a:endParaRPr lang="en-US"/>
          </a:p>
        </p:txBody>
      </p:sp>
    </p:spTree>
    <p:extLst>
      <p:ext uri="{BB962C8B-B14F-4D97-AF65-F5344CB8AC3E}">
        <p14:creationId xmlns:p14="http://schemas.microsoft.com/office/powerpoint/2010/main" val="2716860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11</a:t>
            </a:fld>
            <a:endParaRPr lang="en-US"/>
          </a:p>
        </p:txBody>
      </p:sp>
    </p:spTree>
    <p:extLst>
      <p:ext uri="{BB962C8B-B14F-4D97-AF65-F5344CB8AC3E}">
        <p14:creationId xmlns:p14="http://schemas.microsoft.com/office/powerpoint/2010/main" val="3173378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12</a:t>
            </a:fld>
            <a:endParaRPr lang="en-US"/>
          </a:p>
        </p:txBody>
      </p:sp>
    </p:spTree>
    <p:extLst>
      <p:ext uri="{BB962C8B-B14F-4D97-AF65-F5344CB8AC3E}">
        <p14:creationId xmlns:p14="http://schemas.microsoft.com/office/powerpoint/2010/main" val="37353489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13</a:t>
            </a:fld>
            <a:endParaRPr lang="en-US"/>
          </a:p>
        </p:txBody>
      </p:sp>
    </p:spTree>
    <p:extLst>
      <p:ext uri="{BB962C8B-B14F-4D97-AF65-F5344CB8AC3E}">
        <p14:creationId xmlns:p14="http://schemas.microsoft.com/office/powerpoint/2010/main" val="1165586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14</a:t>
            </a:fld>
            <a:endParaRPr lang="en-US"/>
          </a:p>
        </p:txBody>
      </p:sp>
    </p:spTree>
    <p:extLst>
      <p:ext uri="{BB962C8B-B14F-4D97-AF65-F5344CB8AC3E}">
        <p14:creationId xmlns:p14="http://schemas.microsoft.com/office/powerpoint/2010/main" val="2043374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15</a:t>
            </a:fld>
            <a:endParaRPr lang="en-US"/>
          </a:p>
        </p:txBody>
      </p:sp>
    </p:spTree>
    <p:extLst>
      <p:ext uri="{BB962C8B-B14F-4D97-AF65-F5344CB8AC3E}">
        <p14:creationId xmlns:p14="http://schemas.microsoft.com/office/powerpoint/2010/main" val="1322113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16</a:t>
            </a:fld>
            <a:endParaRPr lang="en-US"/>
          </a:p>
        </p:txBody>
      </p:sp>
    </p:spTree>
    <p:extLst>
      <p:ext uri="{BB962C8B-B14F-4D97-AF65-F5344CB8AC3E}">
        <p14:creationId xmlns:p14="http://schemas.microsoft.com/office/powerpoint/2010/main" val="13785221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17</a:t>
            </a:fld>
            <a:endParaRPr lang="en-US"/>
          </a:p>
        </p:txBody>
      </p:sp>
    </p:spTree>
    <p:extLst>
      <p:ext uri="{BB962C8B-B14F-4D97-AF65-F5344CB8AC3E}">
        <p14:creationId xmlns:p14="http://schemas.microsoft.com/office/powerpoint/2010/main" val="368706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18</a:t>
            </a:fld>
            <a:endParaRPr lang="en-US"/>
          </a:p>
        </p:txBody>
      </p:sp>
    </p:spTree>
    <p:extLst>
      <p:ext uri="{BB962C8B-B14F-4D97-AF65-F5344CB8AC3E}">
        <p14:creationId xmlns:p14="http://schemas.microsoft.com/office/powerpoint/2010/main" val="30435309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19</a:t>
            </a:fld>
            <a:endParaRPr lang="en-US"/>
          </a:p>
        </p:txBody>
      </p:sp>
    </p:spTree>
    <p:extLst>
      <p:ext uri="{BB962C8B-B14F-4D97-AF65-F5344CB8AC3E}">
        <p14:creationId xmlns:p14="http://schemas.microsoft.com/office/powerpoint/2010/main" val="41458791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20</a:t>
            </a:fld>
            <a:endParaRPr lang="en-US"/>
          </a:p>
        </p:txBody>
      </p:sp>
    </p:spTree>
    <p:extLst>
      <p:ext uri="{BB962C8B-B14F-4D97-AF65-F5344CB8AC3E}">
        <p14:creationId xmlns:p14="http://schemas.microsoft.com/office/powerpoint/2010/main" val="4076864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21</a:t>
            </a:fld>
            <a:endParaRPr lang="en-US"/>
          </a:p>
        </p:txBody>
      </p:sp>
    </p:spTree>
    <p:extLst>
      <p:ext uri="{BB962C8B-B14F-4D97-AF65-F5344CB8AC3E}">
        <p14:creationId xmlns:p14="http://schemas.microsoft.com/office/powerpoint/2010/main" val="31359108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22</a:t>
            </a:fld>
            <a:endParaRPr lang="en-US"/>
          </a:p>
        </p:txBody>
      </p:sp>
    </p:spTree>
    <p:extLst>
      <p:ext uri="{BB962C8B-B14F-4D97-AF65-F5344CB8AC3E}">
        <p14:creationId xmlns:p14="http://schemas.microsoft.com/office/powerpoint/2010/main" val="8085354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23</a:t>
            </a:fld>
            <a:endParaRPr lang="en-US"/>
          </a:p>
        </p:txBody>
      </p:sp>
    </p:spTree>
    <p:extLst>
      <p:ext uri="{BB962C8B-B14F-4D97-AF65-F5344CB8AC3E}">
        <p14:creationId xmlns:p14="http://schemas.microsoft.com/office/powerpoint/2010/main" val="10626578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24</a:t>
            </a:fld>
            <a:endParaRPr lang="en-US"/>
          </a:p>
        </p:txBody>
      </p:sp>
    </p:spTree>
    <p:extLst>
      <p:ext uri="{BB962C8B-B14F-4D97-AF65-F5344CB8AC3E}">
        <p14:creationId xmlns:p14="http://schemas.microsoft.com/office/powerpoint/2010/main" val="1750997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25</a:t>
            </a:fld>
            <a:endParaRPr lang="en-US"/>
          </a:p>
        </p:txBody>
      </p:sp>
    </p:spTree>
    <p:extLst>
      <p:ext uri="{BB962C8B-B14F-4D97-AF65-F5344CB8AC3E}">
        <p14:creationId xmlns:p14="http://schemas.microsoft.com/office/powerpoint/2010/main" val="2709270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26</a:t>
            </a:fld>
            <a:endParaRPr lang="en-US"/>
          </a:p>
        </p:txBody>
      </p:sp>
    </p:spTree>
    <p:extLst>
      <p:ext uri="{BB962C8B-B14F-4D97-AF65-F5344CB8AC3E}">
        <p14:creationId xmlns:p14="http://schemas.microsoft.com/office/powerpoint/2010/main" val="14361265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27</a:t>
            </a:fld>
            <a:endParaRPr lang="en-US"/>
          </a:p>
        </p:txBody>
      </p:sp>
    </p:spTree>
    <p:extLst>
      <p:ext uri="{BB962C8B-B14F-4D97-AF65-F5344CB8AC3E}">
        <p14:creationId xmlns:p14="http://schemas.microsoft.com/office/powerpoint/2010/main" val="38355484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28</a:t>
            </a:fld>
            <a:endParaRPr lang="en-US"/>
          </a:p>
        </p:txBody>
      </p:sp>
    </p:spTree>
    <p:extLst>
      <p:ext uri="{BB962C8B-B14F-4D97-AF65-F5344CB8AC3E}">
        <p14:creationId xmlns:p14="http://schemas.microsoft.com/office/powerpoint/2010/main" val="5476614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29</a:t>
            </a:fld>
            <a:endParaRPr lang="en-US"/>
          </a:p>
        </p:txBody>
      </p:sp>
    </p:spTree>
    <p:extLst>
      <p:ext uri="{BB962C8B-B14F-4D97-AF65-F5344CB8AC3E}">
        <p14:creationId xmlns:p14="http://schemas.microsoft.com/office/powerpoint/2010/main" val="15978185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30</a:t>
            </a:fld>
            <a:endParaRPr lang="en-US"/>
          </a:p>
        </p:txBody>
      </p:sp>
    </p:spTree>
    <p:extLst>
      <p:ext uri="{BB962C8B-B14F-4D97-AF65-F5344CB8AC3E}">
        <p14:creationId xmlns:p14="http://schemas.microsoft.com/office/powerpoint/2010/main" val="2411611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31</a:t>
            </a:fld>
            <a:endParaRPr lang="en-US"/>
          </a:p>
        </p:txBody>
      </p:sp>
    </p:spTree>
    <p:extLst>
      <p:ext uri="{BB962C8B-B14F-4D97-AF65-F5344CB8AC3E}">
        <p14:creationId xmlns:p14="http://schemas.microsoft.com/office/powerpoint/2010/main" val="17279707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32</a:t>
            </a:fld>
            <a:endParaRPr lang="en-US"/>
          </a:p>
        </p:txBody>
      </p:sp>
    </p:spTree>
    <p:extLst>
      <p:ext uri="{BB962C8B-B14F-4D97-AF65-F5344CB8AC3E}">
        <p14:creationId xmlns:p14="http://schemas.microsoft.com/office/powerpoint/2010/main" val="29108784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33</a:t>
            </a:fld>
            <a:endParaRPr lang="en-US"/>
          </a:p>
        </p:txBody>
      </p:sp>
    </p:spTree>
    <p:extLst>
      <p:ext uri="{BB962C8B-B14F-4D97-AF65-F5344CB8AC3E}">
        <p14:creationId xmlns:p14="http://schemas.microsoft.com/office/powerpoint/2010/main" val="20733623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34</a:t>
            </a:fld>
            <a:endParaRPr lang="en-US"/>
          </a:p>
        </p:txBody>
      </p:sp>
    </p:spTree>
    <p:extLst>
      <p:ext uri="{BB962C8B-B14F-4D97-AF65-F5344CB8AC3E}">
        <p14:creationId xmlns:p14="http://schemas.microsoft.com/office/powerpoint/2010/main" val="26873180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35</a:t>
            </a:fld>
            <a:endParaRPr lang="en-US"/>
          </a:p>
        </p:txBody>
      </p:sp>
    </p:spTree>
    <p:extLst>
      <p:ext uri="{BB962C8B-B14F-4D97-AF65-F5344CB8AC3E}">
        <p14:creationId xmlns:p14="http://schemas.microsoft.com/office/powerpoint/2010/main" val="10071483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36</a:t>
            </a:fld>
            <a:endParaRPr lang="en-US"/>
          </a:p>
        </p:txBody>
      </p:sp>
    </p:spTree>
    <p:extLst>
      <p:ext uri="{BB962C8B-B14F-4D97-AF65-F5344CB8AC3E}">
        <p14:creationId xmlns:p14="http://schemas.microsoft.com/office/powerpoint/2010/main" val="34269021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37</a:t>
            </a:fld>
            <a:endParaRPr lang="en-US"/>
          </a:p>
        </p:txBody>
      </p:sp>
    </p:spTree>
    <p:extLst>
      <p:ext uri="{BB962C8B-B14F-4D97-AF65-F5344CB8AC3E}">
        <p14:creationId xmlns:p14="http://schemas.microsoft.com/office/powerpoint/2010/main" val="39635612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38</a:t>
            </a:fld>
            <a:endParaRPr lang="en-US"/>
          </a:p>
        </p:txBody>
      </p:sp>
    </p:spTree>
    <p:extLst>
      <p:ext uri="{BB962C8B-B14F-4D97-AF65-F5344CB8AC3E}">
        <p14:creationId xmlns:p14="http://schemas.microsoft.com/office/powerpoint/2010/main" val="41685971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39</a:t>
            </a:fld>
            <a:endParaRPr lang="en-US"/>
          </a:p>
        </p:txBody>
      </p:sp>
    </p:spTree>
    <p:extLst>
      <p:ext uri="{BB962C8B-B14F-4D97-AF65-F5344CB8AC3E}">
        <p14:creationId xmlns:p14="http://schemas.microsoft.com/office/powerpoint/2010/main" val="22152776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40</a:t>
            </a:fld>
            <a:endParaRPr lang="en-US"/>
          </a:p>
        </p:txBody>
      </p:sp>
    </p:spTree>
    <p:extLst>
      <p:ext uri="{BB962C8B-B14F-4D97-AF65-F5344CB8AC3E}">
        <p14:creationId xmlns:p14="http://schemas.microsoft.com/office/powerpoint/2010/main" val="36977464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41</a:t>
            </a:fld>
            <a:endParaRPr lang="en-US"/>
          </a:p>
        </p:txBody>
      </p:sp>
    </p:spTree>
    <p:extLst>
      <p:ext uri="{BB962C8B-B14F-4D97-AF65-F5344CB8AC3E}">
        <p14:creationId xmlns:p14="http://schemas.microsoft.com/office/powerpoint/2010/main" val="748665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42</a:t>
            </a:fld>
            <a:endParaRPr lang="en-US"/>
          </a:p>
        </p:txBody>
      </p:sp>
    </p:spTree>
    <p:extLst>
      <p:ext uri="{BB962C8B-B14F-4D97-AF65-F5344CB8AC3E}">
        <p14:creationId xmlns:p14="http://schemas.microsoft.com/office/powerpoint/2010/main" val="15374062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43</a:t>
            </a:fld>
            <a:endParaRPr lang="en-US"/>
          </a:p>
        </p:txBody>
      </p:sp>
    </p:spTree>
    <p:extLst>
      <p:ext uri="{BB962C8B-B14F-4D97-AF65-F5344CB8AC3E}">
        <p14:creationId xmlns:p14="http://schemas.microsoft.com/office/powerpoint/2010/main" val="5033707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44</a:t>
            </a:fld>
            <a:endParaRPr lang="en-US"/>
          </a:p>
        </p:txBody>
      </p:sp>
    </p:spTree>
    <p:extLst>
      <p:ext uri="{BB962C8B-B14F-4D97-AF65-F5344CB8AC3E}">
        <p14:creationId xmlns:p14="http://schemas.microsoft.com/office/powerpoint/2010/main" val="25500150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45</a:t>
            </a:fld>
            <a:endParaRPr lang="en-US"/>
          </a:p>
        </p:txBody>
      </p:sp>
    </p:spTree>
    <p:extLst>
      <p:ext uri="{BB962C8B-B14F-4D97-AF65-F5344CB8AC3E}">
        <p14:creationId xmlns:p14="http://schemas.microsoft.com/office/powerpoint/2010/main" val="33825320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46</a:t>
            </a:fld>
            <a:endParaRPr lang="en-US"/>
          </a:p>
        </p:txBody>
      </p:sp>
    </p:spTree>
    <p:extLst>
      <p:ext uri="{BB962C8B-B14F-4D97-AF65-F5344CB8AC3E}">
        <p14:creationId xmlns:p14="http://schemas.microsoft.com/office/powerpoint/2010/main" val="41621778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47</a:t>
            </a:fld>
            <a:endParaRPr lang="en-US"/>
          </a:p>
        </p:txBody>
      </p:sp>
    </p:spTree>
    <p:extLst>
      <p:ext uri="{BB962C8B-B14F-4D97-AF65-F5344CB8AC3E}">
        <p14:creationId xmlns:p14="http://schemas.microsoft.com/office/powerpoint/2010/main" val="28274531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48</a:t>
            </a:fld>
            <a:endParaRPr lang="en-US"/>
          </a:p>
        </p:txBody>
      </p:sp>
    </p:spTree>
    <p:extLst>
      <p:ext uri="{BB962C8B-B14F-4D97-AF65-F5344CB8AC3E}">
        <p14:creationId xmlns:p14="http://schemas.microsoft.com/office/powerpoint/2010/main" val="32870995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49</a:t>
            </a:fld>
            <a:endParaRPr lang="en-US"/>
          </a:p>
        </p:txBody>
      </p:sp>
    </p:spTree>
    <p:extLst>
      <p:ext uri="{BB962C8B-B14F-4D97-AF65-F5344CB8AC3E}">
        <p14:creationId xmlns:p14="http://schemas.microsoft.com/office/powerpoint/2010/main" val="282374515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50</a:t>
            </a:fld>
            <a:endParaRPr lang="en-US"/>
          </a:p>
        </p:txBody>
      </p:sp>
    </p:spTree>
    <p:extLst>
      <p:ext uri="{BB962C8B-B14F-4D97-AF65-F5344CB8AC3E}">
        <p14:creationId xmlns:p14="http://schemas.microsoft.com/office/powerpoint/2010/main" val="19408813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51</a:t>
            </a:fld>
            <a:endParaRPr lang="en-US"/>
          </a:p>
        </p:txBody>
      </p:sp>
    </p:spTree>
    <p:extLst>
      <p:ext uri="{BB962C8B-B14F-4D97-AF65-F5344CB8AC3E}">
        <p14:creationId xmlns:p14="http://schemas.microsoft.com/office/powerpoint/2010/main" val="262097645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52</a:t>
            </a:fld>
            <a:endParaRPr lang="en-US"/>
          </a:p>
        </p:txBody>
      </p:sp>
    </p:spTree>
    <p:extLst>
      <p:ext uri="{BB962C8B-B14F-4D97-AF65-F5344CB8AC3E}">
        <p14:creationId xmlns:p14="http://schemas.microsoft.com/office/powerpoint/2010/main" val="125904981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53</a:t>
            </a:fld>
            <a:endParaRPr lang="en-US"/>
          </a:p>
        </p:txBody>
      </p:sp>
    </p:spTree>
    <p:extLst>
      <p:ext uri="{BB962C8B-B14F-4D97-AF65-F5344CB8AC3E}">
        <p14:creationId xmlns:p14="http://schemas.microsoft.com/office/powerpoint/2010/main" val="26129586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54</a:t>
            </a:fld>
            <a:endParaRPr lang="en-US"/>
          </a:p>
        </p:txBody>
      </p:sp>
    </p:spTree>
    <p:extLst>
      <p:ext uri="{BB962C8B-B14F-4D97-AF65-F5344CB8AC3E}">
        <p14:creationId xmlns:p14="http://schemas.microsoft.com/office/powerpoint/2010/main" val="37998503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55</a:t>
            </a:fld>
            <a:endParaRPr lang="en-US"/>
          </a:p>
        </p:txBody>
      </p:sp>
    </p:spTree>
    <p:extLst>
      <p:ext uri="{BB962C8B-B14F-4D97-AF65-F5344CB8AC3E}">
        <p14:creationId xmlns:p14="http://schemas.microsoft.com/office/powerpoint/2010/main" val="13937644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56</a:t>
            </a:fld>
            <a:endParaRPr lang="en-US"/>
          </a:p>
        </p:txBody>
      </p:sp>
    </p:spTree>
    <p:extLst>
      <p:ext uri="{BB962C8B-B14F-4D97-AF65-F5344CB8AC3E}">
        <p14:creationId xmlns:p14="http://schemas.microsoft.com/office/powerpoint/2010/main" val="36576787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57</a:t>
            </a:fld>
            <a:endParaRPr lang="en-US"/>
          </a:p>
        </p:txBody>
      </p:sp>
    </p:spTree>
    <p:extLst>
      <p:ext uri="{BB962C8B-B14F-4D97-AF65-F5344CB8AC3E}">
        <p14:creationId xmlns:p14="http://schemas.microsoft.com/office/powerpoint/2010/main" val="392216920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58</a:t>
            </a:fld>
            <a:endParaRPr lang="en-US"/>
          </a:p>
        </p:txBody>
      </p:sp>
    </p:spTree>
    <p:extLst>
      <p:ext uri="{BB962C8B-B14F-4D97-AF65-F5344CB8AC3E}">
        <p14:creationId xmlns:p14="http://schemas.microsoft.com/office/powerpoint/2010/main" val="37083592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59</a:t>
            </a:fld>
            <a:endParaRPr lang="en-US"/>
          </a:p>
        </p:txBody>
      </p:sp>
    </p:spTree>
    <p:extLst>
      <p:ext uri="{BB962C8B-B14F-4D97-AF65-F5344CB8AC3E}">
        <p14:creationId xmlns:p14="http://schemas.microsoft.com/office/powerpoint/2010/main" val="414796172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60</a:t>
            </a:fld>
            <a:endParaRPr lang="en-US"/>
          </a:p>
        </p:txBody>
      </p:sp>
    </p:spTree>
    <p:extLst>
      <p:ext uri="{BB962C8B-B14F-4D97-AF65-F5344CB8AC3E}">
        <p14:creationId xmlns:p14="http://schemas.microsoft.com/office/powerpoint/2010/main" val="390514793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61</a:t>
            </a:fld>
            <a:endParaRPr lang="en-US"/>
          </a:p>
        </p:txBody>
      </p:sp>
    </p:spTree>
    <p:extLst>
      <p:ext uri="{BB962C8B-B14F-4D97-AF65-F5344CB8AC3E}">
        <p14:creationId xmlns:p14="http://schemas.microsoft.com/office/powerpoint/2010/main" val="85190302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62</a:t>
            </a:fld>
            <a:endParaRPr lang="en-US"/>
          </a:p>
        </p:txBody>
      </p:sp>
    </p:spTree>
    <p:extLst>
      <p:ext uri="{BB962C8B-B14F-4D97-AF65-F5344CB8AC3E}">
        <p14:creationId xmlns:p14="http://schemas.microsoft.com/office/powerpoint/2010/main" val="23983573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63</a:t>
            </a:fld>
            <a:endParaRPr lang="en-US"/>
          </a:p>
        </p:txBody>
      </p:sp>
    </p:spTree>
    <p:extLst>
      <p:ext uri="{BB962C8B-B14F-4D97-AF65-F5344CB8AC3E}">
        <p14:creationId xmlns:p14="http://schemas.microsoft.com/office/powerpoint/2010/main" val="383370347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64</a:t>
            </a:fld>
            <a:endParaRPr lang="en-US"/>
          </a:p>
        </p:txBody>
      </p:sp>
    </p:spTree>
    <p:extLst>
      <p:ext uri="{BB962C8B-B14F-4D97-AF65-F5344CB8AC3E}">
        <p14:creationId xmlns:p14="http://schemas.microsoft.com/office/powerpoint/2010/main" val="362623175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F8506E99-9208-4EAD-896A-FF6CD568360E}" type="slidenum">
              <a:rPr lang="en-US" smtClean="0"/>
              <a:t>65</a:t>
            </a:fld>
            <a:endParaRPr lang="en-US"/>
          </a:p>
        </p:txBody>
      </p:sp>
    </p:spTree>
    <p:extLst>
      <p:ext uri="{BB962C8B-B14F-4D97-AF65-F5344CB8AC3E}">
        <p14:creationId xmlns:p14="http://schemas.microsoft.com/office/powerpoint/2010/main" val="1081400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761F6FC-E375-4B5A-8419-6F79AB892ACA}" type="datetime1">
              <a:rPr lang="en-US" smtClean="0"/>
              <a:t>11/2/2015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B16631-DC59-4236-89BB-107A9D2E1764}" type="datetime1">
              <a:rPr lang="en-US" smtClean="0"/>
              <a:t>11/2/2015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7785AB0-29EE-43CB-839A-B96F7284FC4D}" type="datetime1">
              <a:rPr lang="en-US" smtClean="0"/>
              <a:t>11/2/2015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D75A391-CADC-405D-A6DF-44CECF6120AB}" type="datetime1">
              <a:rPr lang="en-US" smtClean="0"/>
              <a:t>11/2/2015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0BFA641-B17A-42DB-84B1-08CD52B91B09}" type="datetime1">
              <a:rPr lang="en-US" smtClean="0"/>
              <a:t>11/2/2015</a:t>
            </a:fld>
            <a:endParaRPr lang="en-US"/>
          </a:p>
        </p:txBody>
      </p:sp>
      <p:sp>
        <p:nvSpPr>
          <p:cNvPr id="8" name="Footer Placeholder 7"/>
          <p:cNvSpPr>
            <a:spLocks noGrp="1"/>
          </p:cNvSpPr>
          <p:nvPr>
            <p:ph type="ftr" sz="quarter" idx="11"/>
          </p:nvPr>
        </p:nvSpPr>
        <p:spPr/>
        <p:txBody>
          <a:bodyPr/>
          <a:lstStyle/>
          <a:p>
            <a:r>
              <a:rPr lang="en-US" smtClean="0"/>
              <a:t>ME 356 Strength of Materials II for IDL</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BBA17B6-6047-4B1B-8030-D108F9447720}" type="datetime1">
              <a:rPr lang="en-US" smtClean="0"/>
              <a:t>11/2/2015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47E811-F457-45F1-840F-358A7BBEDBA3}" type="datetime1">
              <a:rPr lang="en-US" smtClean="0"/>
              <a:t>11/2/2015</a:t>
            </a:fld>
            <a:endParaRPr lang="en-US"/>
          </a:p>
        </p:txBody>
      </p:sp>
      <p:sp>
        <p:nvSpPr>
          <p:cNvPr id="3" name="Footer Placeholder 2"/>
          <p:cNvSpPr>
            <a:spLocks noGrp="1"/>
          </p:cNvSpPr>
          <p:nvPr>
            <p:ph type="ftr" sz="quarter" idx="11"/>
          </p:nvPr>
        </p:nvSpPr>
        <p:spPr/>
        <p:txBody>
          <a:bodyPr/>
          <a:lstStyle/>
          <a:p>
            <a:r>
              <a:rPr lang="en-US" smtClean="0"/>
              <a:t>ME 356 Strength of Materials II for IDL</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F92CF7-BBA7-4ED2-BC99-B734D808EF81}" type="datetime1">
              <a:rPr lang="en-US" smtClean="0"/>
              <a:t>11/2/2015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0FF015-4167-4B8B-9CA4-888464F7903C}" type="datetime1">
              <a:rPr lang="en-US" smtClean="0"/>
              <a:t>11/2/2015</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D76C4F7-DACF-45BC-86B2-CD5107D0F3EC}" type="datetime1">
              <a:rPr lang="en-US" smtClean="0"/>
              <a:t>11/2/2015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B48F19C-96F5-4436-B139-ECD0F3EB88A5}" type="datetime1">
              <a:rPr lang="en-US" smtClean="0"/>
              <a:t>11/2/2015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49CDDA-5E8F-4ADE-9D44-FBD87E3D7BB2}" type="datetime1">
              <a:rPr lang="en-US" smtClean="0"/>
              <a:t>11/2/2015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ME 356 Strength of Materials II for IDL</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4.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 Id="rId9" Type="http://schemas.openxmlformats.org/officeDocument/2006/relationships/image" Target="../media/image9.w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1.wmf"/><Relationship Id="rId4" Type="http://schemas.openxmlformats.org/officeDocument/2006/relationships/oleObject" Target="../embeddings/oleObject5.bin"/></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54762"/>
          </a:xfrm>
        </p:spPr>
        <p:txBody>
          <a:bodyPr>
            <a:normAutofit fontScale="90000"/>
          </a:bodyPr>
          <a:lstStyle/>
          <a:p>
            <a:r>
              <a:rPr lang="en-US" dirty="0" smtClean="0"/>
              <a:t/>
            </a:r>
            <a:br>
              <a:rPr lang="en-US" dirty="0" smtClean="0"/>
            </a:br>
            <a:r>
              <a:rPr lang="en-US" sz="6700" b="1" i="1" dirty="0" smtClean="0"/>
              <a:t>COLUMNS AND STRUTS</a:t>
            </a: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b="1" i="1" dirty="0" smtClean="0"/>
              <a:t>By Dr. Andoh</a:t>
            </a:r>
            <a:r>
              <a:rPr lang="en-US" dirty="0" smtClean="0"/>
              <a:t/>
            </a:r>
            <a:br>
              <a:rPr lang="en-US" dirty="0" smtClean="0"/>
            </a:b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pPr/>
              <a:t>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457200" y="990600"/>
          <a:ext cx="8382000" cy="4953000"/>
        </p:xfrm>
        <a:graphic>
          <a:graphicData uri="http://schemas.openxmlformats.org/drawingml/2006/table">
            <a:tbl>
              <a:tblPr/>
              <a:tblGrid>
                <a:gridCol w="178815"/>
                <a:gridCol w="8203185"/>
              </a:tblGrid>
              <a:tr h="4953000">
                <a:tc>
                  <a:txBody>
                    <a:bodyPr/>
                    <a:lstStyle/>
                    <a:p>
                      <a:pPr marL="0" marR="0">
                        <a:lnSpc>
                          <a:spcPct val="115000"/>
                        </a:lnSpc>
                        <a:spcBef>
                          <a:spcPts val="0"/>
                        </a:spcBef>
                        <a:spcAft>
                          <a:spcPts val="1000"/>
                        </a:spcAft>
                        <a:tabLst>
                          <a:tab pos="771525" algn="l"/>
                        </a:tabLst>
                      </a:pPr>
                      <a:endParaRPr lang="en-GB" sz="1800" dirty="0">
                        <a:latin typeface="Calibri"/>
                        <a:ea typeface="Calibri"/>
                        <a:cs typeface="Times New Roman"/>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L="0" marR="0">
                        <a:lnSpc>
                          <a:spcPct val="115000"/>
                        </a:lnSpc>
                        <a:spcBef>
                          <a:spcPts val="0"/>
                        </a:spcBef>
                        <a:spcAft>
                          <a:spcPts val="1000"/>
                        </a:spcAft>
                      </a:pPr>
                      <a:r>
                        <a:rPr lang="en-GB" sz="2400" dirty="0">
                          <a:latin typeface="Arial Black"/>
                          <a:ea typeface="Calibri"/>
                          <a:cs typeface="Times New Roman"/>
                        </a:rPr>
                        <a:t>Learning Objectives</a:t>
                      </a:r>
                      <a:endParaRPr lang="en-US" sz="1800" dirty="0">
                        <a:latin typeface="Calibri"/>
                        <a:ea typeface="Calibri"/>
                        <a:cs typeface="Times New Roman"/>
                      </a:endParaRPr>
                    </a:p>
                    <a:p>
                      <a:pPr marL="0" marR="0">
                        <a:lnSpc>
                          <a:spcPct val="115000"/>
                        </a:lnSpc>
                        <a:spcBef>
                          <a:spcPts val="0"/>
                        </a:spcBef>
                        <a:spcAft>
                          <a:spcPts val="1000"/>
                        </a:spcAft>
                        <a:buFont typeface="Arial" pitchFamily="34" charset="0"/>
                        <a:buChar char="•"/>
                      </a:pPr>
                      <a:r>
                        <a:rPr lang="en-GB" sz="2000" dirty="0">
                          <a:latin typeface="Times New Roman"/>
                          <a:ea typeface="Calibri"/>
                          <a:cs typeface="Times New Roman"/>
                        </a:rPr>
                        <a:t>After reading this unit you should be able to: </a:t>
                      </a:r>
                      <a:endParaRPr lang="en-US" sz="1800" dirty="0">
                        <a:latin typeface="Calibri"/>
                        <a:ea typeface="Calibri"/>
                        <a:cs typeface="Times New Roman"/>
                      </a:endParaRPr>
                    </a:p>
                    <a:p>
                      <a:pPr marL="342900" marR="0" lvl="0" indent="-342900">
                        <a:lnSpc>
                          <a:spcPct val="115000"/>
                        </a:lnSpc>
                        <a:spcBef>
                          <a:spcPts val="0"/>
                        </a:spcBef>
                        <a:spcAft>
                          <a:spcPts val="0"/>
                        </a:spcAft>
                        <a:buFont typeface="Arial" pitchFamily="34" charset="0"/>
                        <a:buChar char="•"/>
                        <a:tabLst>
                          <a:tab pos="457200" algn="l"/>
                        </a:tabLst>
                      </a:pPr>
                      <a:r>
                        <a:rPr lang="en-GB" sz="2000" dirty="0">
                          <a:latin typeface="Times New Roman"/>
                          <a:ea typeface="Calibri"/>
                          <a:cs typeface="Times New Roman"/>
                        </a:rPr>
                        <a:t> </a:t>
                      </a:r>
                      <a:r>
                        <a:rPr lang="en-US" sz="2000" dirty="0">
                          <a:latin typeface="Times New Roman"/>
                          <a:ea typeface="Calibri"/>
                          <a:cs typeface="Times New Roman"/>
                        </a:rPr>
                        <a:t>Define a strut</a:t>
                      </a:r>
                      <a:endParaRPr lang="en-US" sz="1800" dirty="0">
                        <a:latin typeface="Calibri"/>
                        <a:ea typeface="Calibri"/>
                        <a:cs typeface="Times New Roman"/>
                      </a:endParaRPr>
                    </a:p>
                    <a:p>
                      <a:pPr marL="342900" marR="0" lvl="0" indent="-342900">
                        <a:lnSpc>
                          <a:spcPct val="115000"/>
                        </a:lnSpc>
                        <a:spcBef>
                          <a:spcPts val="0"/>
                        </a:spcBef>
                        <a:spcAft>
                          <a:spcPts val="0"/>
                        </a:spcAft>
                        <a:buFont typeface="Arial" pitchFamily="34" charset="0"/>
                        <a:buChar char="•"/>
                        <a:tabLst>
                          <a:tab pos="457200" algn="l"/>
                        </a:tabLst>
                      </a:pPr>
                      <a:r>
                        <a:rPr lang="en-US" sz="2000" dirty="0">
                          <a:latin typeface="Times New Roman"/>
                          <a:ea typeface="Calibri"/>
                          <a:cs typeface="Times New Roman"/>
                        </a:rPr>
                        <a:t>Derive the Euler’s critical load equations for the various ended-joints</a:t>
                      </a:r>
                      <a:endParaRPr lang="en-US" sz="1800" dirty="0">
                        <a:latin typeface="Calibri"/>
                        <a:ea typeface="Calibri"/>
                        <a:cs typeface="Times New Roman"/>
                      </a:endParaRPr>
                    </a:p>
                    <a:p>
                      <a:pPr marL="342900" marR="0" lvl="0" indent="-342900">
                        <a:lnSpc>
                          <a:spcPct val="115000"/>
                        </a:lnSpc>
                        <a:spcBef>
                          <a:spcPts val="0"/>
                        </a:spcBef>
                        <a:spcAft>
                          <a:spcPts val="0"/>
                        </a:spcAft>
                        <a:buFont typeface="Arial" pitchFamily="34" charset="0"/>
                        <a:buChar char="•"/>
                        <a:tabLst>
                          <a:tab pos="457200" algn="l"/>
                        </a:tabLst>
                      </a:pPr>
                      <a:r>
                        <a:rPr lang="en-US" sz="2000" dirty="0">
                          <a:latin typeface="Times New Roman"/>
                          <a:ea typeface="Calibri"/>
                          <a:cs typeface="Times New Roman"/>
                        </a:rPr>
                        <a:t>Compute the critical load using the Euler’s  load formulae</a:t>
                      </a:r>
                      <a:endParaRPr lang="en-US" sz="1800" dirty="0">
                        <a:latin typeface="Calibri"/>
                        <a:ea typeface="Calibri"/>
                        <a:cs typeface="Times New Roman"/>
                      </a:endParaRPr>
                    </a:p>
                    <a:p>
                      <a:pPr marL="342900" marR="0" lvl="0" indent="-342900">
                        <a:lnSpc>
                          <a:spcPct val="115000"/>
                        </a:lnSpc>
                        <a:spcBef>
                          <a:spcPts val="0"/>
                        </a:spcBef>
                        <a:spcAft>
                          <a:spcPts val="0"/>
                        </a:spcAft>
                        <a:buFont typeface="Arial" pitchFamily="34" charset="0"/>
                        <a:buChar char="•"/>
                        <a:tabLst>
                          <a:tab pos="457200" algn="l"/>
                        </a:tabLst>
                      </a:pPr>
                      <a:r>
                        <a:rPr lang="en-US" sz="2000" dirty="0">
                          <a:latin typeface="Times New Roman"/>
                          <a:ea typeface="Calibri"/>
                          <a:cs typeface="Times New Roman"/>
                        </a:rPr>
                        <a:t>Derive the equation of critical load using the other methods</a:t>
                      </a:r>
                      <a:endParaRPr lang="en-US" sz="1800" dirty="0">
                        <a:latin typeface="Calibri"/>
                        <a:ea typeface="Calibri"/>
                        <a:cs typeface="Times New Roman"/>
                      </a:endParaRPr>
                    </a:p>
                    <a:p>
                      <a:pPr marL="342900" marR="0" lvl="0" indent="-342900">
                        <a:lnSpc>
                          <a:spcPct val="115000"/>
                        </a:lnSpc>
                        <a:spcBef>
                          <a:spcPts val="0"/>
                        </a:spcBef>
                        <a:spcAft>
                          <a:spcPts val="1000"/>
                        </a:spcAft>
                        <a:buFont typeface="Arial" pitchFamily="34" charset="0"/>
                        <a:buChar char="•"/>
                        <a:tabLst>
                          <a:tab pos="457200" algn="l"/>
                        </a:tabLst>
                      </a:pPr>
                      <a:r>
                        <a:rPr lang="en-US" sz="2000" dirty="0">
                          <a:latin typeface="Times New Roman"/>
                          <a:ea typeface="Calibri"/>
                          <a:cs typeface="Times New Roman"/>
                        </a:rPr>
                        <a:t>Compute the critical load using the other methods</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025" name="Rectangle 1"/>
          <p:cNvSpPr>
            <a:spLocks noChangeArrowheads="1"/>
          </p:cNvSpPr>
          <p:nvPr/>
        </p:nvSpPr>
        <p:spPr bwMode="auto">
          <a:xfrm>
            <a:off x="3276600" y="228600"/>
            <a:ext cx="2703432" cy="623187"/>
          </a:xfrm>
          <a:prstGeom prst="rect">
            <a:avLst/>
          </a:prstGeom>
          <a:noFill/>
          <a:ln w="9525">
            <a:noFill/>
            <a:miter lim="800000"/>
            <a:headEnd/>
            <a:tailEnd/>
          </a:ln>
          <a:effectLst/>
        </p:spPr>
        <p:txBody>
          <a:bodyPr vert="horz" wrap="none" lIns="0" tIns="152352" rIns="0" bIns="38088"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GB" sz="1600" b="1" i="0" u="none" strike="noStrike" cap="none" normalizeH="0" baseline="0" dirty="0" smtClean="0">
                <a:ln>
                  <a:noFill/>
                </a:ln>
                <a:solidFill>
                  <a:schemeClr val="tx1"/>
                </a:solidFill>
                <a:effectLst/>
                <a:latin typeface="Arial Black" pitchFamily="34" charset="0"/>
                <a:ea typeface="Calibri" pitchFamily="34" charset="0"/>
                <a:cs typeface="Arial" pitchFamily="34" charset="0"/>
              </a:rPr>
              <a:t>COLUMNS AND STRUTS</a:t>
            </a:r>
          </a:p>
          <a:p>
            <a:pPr marL="0" marR="0" lvl="0" indent="0" algn="l" defTabSz="914400" rtl="0" eaLnBrk="0" fontAlgn="base" latinLnBrk="0" hangingPunct="0">
              <a:lnSpc>
                <a:spcPct val="100000"/>
              </a:lnSpc>
              <a:spcBef>
                <a:spcPct val="0"/>
              </a:spcBef>
              <a:spcAft>
                <a:spcPct val="0"/>
              </a:spcAft>
              <a:buClrTx/>
              <a:buSzTx/>
              <a:buFontTx/>
              <a:buNone/>
              <a:tabLst>
                <a:tab pos="457200" algn="l"/>
              </a:tabLst>
            </a:pPr>
            <a:r>
              <a:rPr kumimoji="0" lang="en-GB" sz="12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endParaRPr kumimoji="0" lang="en-GB"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4"/>
          <p:cNvSpPr>
            <a:spLocks noChangeArrowheads="1"/>
          </p:cNvSpPr>
          <p:nvPr/>
        </p:nvSpPr>
        <p:spPr bwMode="auto">
          <a:xfrm>
            <a:off x="304800" y="304800"/>
            <a:ext cx="8534400" cy="2254403"/>
          </a:xfrm>
          <a:prstGeom prst="rect">
            <a:avLst/>
          </a:prstGeom>
          <a:noFill/>
          <a:ln w="9525">
            <a:noFill/>
            <a:miter lim="800000"/>
            <a:headEnd/>
            <a:tailEnd/>
          </a:ln>
          <a:effectLst/>
        </p:spPr>
        <p:txBody>
          <a:bodyPr vert="horz" wrap="square" lIns="0" tIns="152352" rIns="0" bIns="38088"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Arial Black" pitchFamily="34" charset="0"/>
                <a:ea typeface="Times New Roman" pitchFamily="18" charset="0"/>
                <a:cs typeface="Times New Roman" pitchFamily="18" charset="0"/>
              </a:rPr>
              <a:t>EULER CRIPPLING LOAD FORMULA </a:t>
            </a:r>
            <a:endParaRPr kumimoji="0" lang="en-US" sz="2000" b="1" i="1" u="none" strike="noStrike" cap="none" normalizeH="0" baseline="0" dirty="0" smtClean="0">
              <a:ln>
                <a:noFill/>
              </a:ln>
              <a:solidFill>
                <a:schemeClr val="tx1"/>
              </a:solidFill>
              <a:effectLst/>
              <a:latin typeface="Cambria" pitchFamily="18" charset="0"/>
              <a:ea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dirty="0" smtClean="0">
                <a:ln>
                  <a:noFill/>
                </a:ln>
                <a:solidFill>
                  <a:schemeClr val="tx1"/>
                </a:solidFill>
                <a:effectLst/>
                <a:latin typeface="Arial" pitchFamily="34" charset="0"/>
                <a:ea typeface="Calibri" pitchFamily="34" charset="0"/>
                <a:cs typeface="Arial" pitchFamily="34" charset="0"/>
              </a:rPr>
              <a:t>D</a:t>
            </a:r>
            <a:r>
              <a:rPr kumimoji="0" lang="en-GB" sz="2000" b="1" i="0" u="none" strike="noStrike" cap="none" normalizeH="0" baseline="0" dirty="0" smtClean="0" bmk="">
                <a:ln>
                  <a:noFill/>
                </a:ln>
                <a:solidFill>
                  <a:schemeClr val="tx1"/>
                </a:solidFill>
                <a:effectLst/>
                <a:latin typeface="Arial" pitchFamily="34" charset="0"/>
                <a:ea typeface="Calibri" pitchFamily="34" charset="0"/>
                <a:cs typeface="Arial" pitchFamily="34" charset="0"/>
              </a:rPr>
              <a:t>efinition of Strut</a:t>
            </a:r>
            <a:endParaRPr kumimoji="0" lang="en-GB" b="1" i="0" u="none" strike="noStrike" cap="none" normalizeH="0" baseline="0" dirty="0" smtClean="0">
              <a:ln>
                <a:noFill/>
              </a:ln>
              <a:solidFill>
                <a:schemeClr val="tx1"/>
              </a:solidFill>
              <a:effectLst/>
              <a:latin typeface="Arial" pitchFamily="34" charset="0"/>
              <a:ea typeface="Calibri"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 structural member, subjected to an axial compressive force, is called a strut. </a:t>
            </a:r>
            <a:r>
              <a:rPr kumimoji="0" lang="en-US" b="0" i="1"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As </a:t>
            </a: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per definition, a strut may be horizontal, inclined or even vertical. But a vertical strut, used in buildings or frames is called a </a:t>
            </a:r>
            <a:r>
              <a:rPr kumimoji="0" lang="en-US" b="0" i="1"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column</a:t>
            </a: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a:t>
            </a: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It has been observed, that when a column or a strut is subjected to some compressive force, then the compressive stress induced,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15363" name="Object 3"/>
          <p:cNvGraphicFramePr>
            <a:graphicFrameLocks noChangeAspect="1"/>
          </p:cNvGraphicFramePr>
          <p:nvPr/>
        </p:nvGraphicFramePr>
        <p:xfrm>
          <a:off x="3352800" y="2971800"/>
          <a:ext cx="962025" cy="876512"/>
        </p:xfrm>
        <a:graphic>
          <a:graphicData uri="http://schemas.openxmlformats.org/presentationml/2006/ole">
            <mc:AlternateContent xmlns:mc="http://schemas.openxmlformats.org/markup-compatibility/2006">
              <mc:Choice xmlns:v="urn:schemas-microsoft-com:vml" Requires="v">
                <p:oleObj spid="_x0000_s15365" name="Equation" r:id="rId4" imgW="431613" imgH="393529" progId="Equation.3">
                  <p:embed/>
                </p:oleObj>
              </mc:Choice>
              <mc:Fallback>
                <p:oleObj name="Equation" r:id="rId4" imgW="431613" imgH="393529"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2971800"/>
                        <a:ext cx="962025" cy="876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5" name="Rectangle 5"/>
          <p:cNvSpPr>
            <a:spLocks noChangeArrowheads="1"/>
          </p:cNvSpPr>
          <p:nvPr/>
        </p:nvSpPr>
        <p:spPr bwMode="auto">
          <a:xfrm>
            <a:off x="304800" y="4343400"/>
            <a:ext cx="9144000" cy="70788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GB" sz="20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where	 P	</a:t>
            </a:r>
            <a:r>
              <a:rPr kumimoji="0" lang="en-US" sz="20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Compressive force and</a:t>
            </a: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1"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	</a:t>
            </a:r>
            <a:r>
              <a:rPr kumimoji="0" lang="en-US" sz="20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Cross-sectional area of the column</a:t>
            </a:r>
            <a:endParaRPr kumimoji="0" lang="en-US" sz="12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457200"/>
            <a:ext cx="8763000" cy="5632311"/>
          </a:xfrm>
          <a:prstGeom prst="rect">
            <a:avLst/>
          </a:prstGeom>
        </p:spPr>
        <p:txBody>
          <a:bodyPr wrap="square">
            <a:spAutoFit/>
          </a:bodyPr>
          <a:lstStyle/>
          <a:p>
            <a:pPr lvl="0" eaLnBrk="0" fontAlgn="base" hangingPunct="0">
              <a:spcBef>
                <a:spcPct val="0"/>
              </a:spcBef>
              <a:spcAft>
                <a:spcPct val="0"/>
              </a:spcAft>
              <a:buFont typeface="Arial" pitchFamily="34" charset="0"/>
              <a:buChar char="•"/>
            </a:pPr>
            <a:r>
              <a:rPr lang="en-US" sz="2000" dirty="0" smtClean="0">
                <a:solidFill>
                  <a:srgbClr val="000000"/>
                </a:solidFill>
                <a:latin typeface="Times New Roman" pitchFamily="18" charset="0"/>
                <a:ea typeface="Calibri" pitchFamily="34" charset="0"/>
                <a:cs typeface="Times New Roman" pitchFamily="18" charset="0"/>
              </a:rPr>
              <a:t>   A little consideration will show that if the force or load is gradually increased the column will reach a stage, when it will be subjected to the ultimate crushing stress. Beyond this stage, the column will fail by crushing. The load corresponding to the crushing stress, is called </a:t>
            </a:r>
            <a:r>
              <a:rPr lang="en-US" sz="2000" i="1" dirty="0" smtClean="0">
                <a:solidFill>
                  <a:srgbClr val="000000"/>
                </a:solidFill>
                <a:latin typeface="Times New Roman" pitchFamily="18" charset="0"/>
                <a:ea typeface="Calibri" pitchFamily="34" charset="0"/>
                <a:cs typeface="Times New Roman" pitchFamily="18" charset="0"/>
              </a:rPr>
              <a:t>crushing load.</a:t>
            </a:r>
            <a:endParaRPr lang="en-US" sz="2000" i="1" dirty="0" smtClean="0">
              <a:solidFill>
                <a:srgbClr val="000000"/>
              </a:solidFill>
              <a:latin typeface="Times New Roman" pitchFamily="18" charset="0"/>
              <a:cs typeface="Times New Roman" pitchFamily="18" charset="0"/>
            </a:endParaRPr>
          </a:p>
          <a:p>
            <a:pPr lvl="0" eaLnBrk="0" fontAlgn="base" hangingPunct="0">
              <a:spcBef>
                <a:spcPct val="0"/>
              </a:spcBef>
              <a:spcAft>
                <a:spcPct val="0"/>
              </a:spcAft>
            </a:pPr>
            <a:endParaRPr lang="en-US" sz="2000" dirty="0" smtClean="0">
              <a:latin typeface="Arial" pitchFamily="34" charset="0"/>
              <a:cs typeface="Arial" pitchFamily="34" charset="0"/>
            </a:endParaRPr>
          </a:p>
          <a:p>
            <a:pPr lvl="0" eaLnBrk="0" fontAlgn="base" hangingPunct="0">
              <a:spcBef>
                <a:spcPct val="0"/>
              </a:spcBef>
              <a:spcAft>
                <a:spcPct val="0"/>
              </a:spcAft>
              <a:buFont typeface="Arial" pitchFamily="34" charset="0"/>
              <a:buChar char="•"/>
            </a:pPr>
            <a:r>
              <a:rPr lang="en-US" sz="2000" dirty="0" smtClean="0">
                <a:solidFill>
                  <a:srgbClr val="000000"/>
                </a:solidFill>
                <a:latin typeface="Times New Roman" pitchFamily="18" charset="0"/>
                <a:ea typeface="Calibri" pitchFamily="34" charset="0"/>
                <a:cs typeface="Times New Roman" pitchFamily="18" charset="0"/>
              </a:rPr>
              <a:t>   It has also been experienced that sometimes, a compression member does not fail entirely by crushing, but also by bending </a:t>
            </a:r>
            <a:r>
              <a:rPr lang="en-US" sz="2000" i="1" dirty="0" smtClean="0">
                <a:solidFill>
                  <a:srgbClr val="000000"/>
                </a:solidFill>
                <a:latin typeface="Times New Roman" pitchFamily="18" charset="0"/>
                <a:ea typeface="Calibri" pitchFamily="34" charset="0"/>
                <a:cs typeface="Times New Roman" pitchFamily="18" charset="0"/>
              </a:rPr>
              <a:t>i.e., </a:t>
            </a:r>
            <a:r>
              <a:rPr lang="en-US" sz="2000" dirty="0" smtClean="0">
                <a:solidFill>
                  <a:srgbClr val="000000"/>
                </a:solidFill>
                <a:latin typeface="Times New Roman" pitchFamily="18" charset="0"/>
                <a:ea typeface="Calibri" pitchFamily="34" charset="0"/>
                <a:cs typeface="Times New Roman" pitchFamily="18" charset="0"/>
              </a:rPr>
              <a:t>buckling. This happens in the case of long columns. It has also been observed that all the short columns fail due to their crushing. But, if a long column is subjected to a compressive load, it is subjected to a compressive stress. If the load is gradually increased, the column will reach a stage, when it will start buckling. </a:t>
            </a:r>
          </a:p>
          <a:p>
            <a:pPr lvl="0" eaLnBrk="0" fontAlgn="base" hangingPunct="0">
              <a:spcBef>
                <a:spcPct val="0"/>
              </a:spcBef>
              <a:spcAft>
                <a:spcPct val="0"/>
              </a:spcAft>
              <a:buFont typeface="Arial" pitchFamily="34" charset="0"/>
              <a:buChar char="•"/>
            </a:pPr>
            <a:endParaRPr lang="en-US" sz="2000" dirty="0" smtClean="0">
              <a:solidFill>
                <a:srgbClr val="000000"/>
              </a:solidFill>
              <a:latin typeface="Times New Roman" pitchFamily="18" charset="0"/>
              <a:ea typeface="Calibri" pitchFamily="34" charset="0"/>
              <a:cs typeface="Times New Roman" pitchFamily="18" charset="0"/>
            </a:endParaRPr>
          </a:p>
          <a:p>
            <a:pPr eaLnBrk="0" fontAlgn="base" hangingPunct="0">
              <a:spcBef>
                <a:spcPct val="0"/>
              </a:spcBef>
              <a:spcAft>
                <a:spcPct val="0"/>
              </a:spcAft>
              <a:buFont typeface="Arial" pitchFamily="34" charset="0"/>
              <a:buChar char="•"/>
            </a:pPr>
            <a:r>
              <a:rPr lang="en-US" sz="2000" dirty="0" smtClean="0"/>
              <a:t>  The load at which the column just buckles is called </a:t>
            </a:r>
            <a:r>
              <a:rPr lang="en-US" sz="2000" i="1" dirty="0" smtClean="0"/>
              <a:t>buckling load, critical load or crippling load </a:t>
            </a:r>
            <a:r>
              <a:rPr lang="en-US" sz="2000" dirty="0" smtClean="0"/>
              <a:t>and the column is said to have developed an elastic instability. A little consideration will show that for a long column, the value of buckling load will be less than the crushing load. Moreover, the value of buckling load is low for long columns and relatively high for short columns.</a:t>
            </a:r>
          </a:p>
          <a:p>
            <a:pPr lvl="0" eaLnBrk="0" fontAlgn="base" hangingPunct="0">
              <a:spcBef>
                <a:spcPct val="0"/>
              </a:spcBef>
              <a:spcAft>
                <a:spcPct val="0"/>
              </a:spcAft>
              <a:buFont typeface="Arial" pitchFamily="34" charset="0"/>
              <a:buChar char="•"/>
            </a:pPr>
            <a:endParaRPr lang="en-US" sz="2000" dirty="0" smtClean="0">
              <a:latin typeface="Arial" pitchFamily="34" charset="0"/>
              <a:cs typeface="Arial" pitchFamily="34"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7162800" cy="639762"/>
          </a:xfrm>
        </p:spPr>
        <p:txBody>
          <a:bodyPr>
            <a:normAutofit fontScale="90000"/>
          </a:bodyPr>
          <a:lstStyle/>
          <a:p>
            <a:r>
              <a:rPr lang="en-US" b="1" dirty="0" smtClean="0"/>
              <a:t>Euler's Column Theory</a:t>
            </a:r>
            <a:endParaRPr lang="en-US" dirty="0"/>
          </a:p>
        </p:txBody>
      </p:sp>
      <p:sp>
        <p:nvSpPr>
          <p:cNvPr id="3" name="Content Placeholder 2"/>
          <p:cNvSpPr>
            <a:spLocks noGrp="1"/>
          </p:cNvSpPr>
          <p:nvPr>
            <p:ph idx="1"/>
          </p:nvPr>
        </p:nvSpPr>
        <p:spPr>
          <a:xfrm>
            <a:off x="457200" y="1066800"/>
            <a:ext cx="8229600" cy="5562600"/>
          </a:xfrm>
        </p:spPr>
        <p:txBody>
          <a:bodyPr>
            <a:noAutofit/>
          </a:bodyPr>
          <a:lstStyle/>
          <a:p>
            <a:r>
              <a:rPr lang="en-US" sz="1800" dirty="0" smtClean="0"/>
              <a:t>The first rational attempt, to study the stability of long columns, was made by Mr. Euler. He derived an equation, for the buckling load of long columns based on the bending stress. While deriving this equation, the effect of direct stress is neglected. This may be justified with the statement that the direct stress induced in a long column is negligible as compared to the bending stress. It may be noted that the Euler's formula cannot be used in the case of short columns, because the direct stress is considerable and hence cannot be neglected.</a:t>
            </a:r>
          </a:p>
          <a:p>
            <a:pPr>
              <a:buNone/>
            </a:pPr>
            <a:r>
              <a:rPr lang="en-GB" sz="1800" b="1" dirty="0" smtClean="0"/>
              <a:t> </a:t>
            </a:r>
            <a:endParaRPr lang="en-US" sz="1800" dirty="0" smtClean="0"/>
          </a:p>
          <a:p>
            <a:r>
              <a:rPr lang="en-US" sz="1800" b="1" dirty="0" smtClean="0"/>
              <a:t>Assumptions in the Euler's Column Theory</a:t>
            </a:r>
            <a:endParaRPr lang="en-US" sz="1800" dirty="0" smtClean="0"/>
          </a:p>
          <a:p>
            <a:r>
              <a:rPr lang="en-US" sz="1800" dirty="0" smtClean="0"/>
              <a:t>The following simplifying assumptions are made in the Euler's column theory:</a:t>
            </a:r>
          </a:p>
          <a:p>
            <a:pPr lvl="0"/>
            <a:r>
              <a:rPr lang="en-US" sz="1800" dirty="0" smtClean="0"/>
              <a:t>Initially the column is perfectly straight and the load applied is truly axial.</a:t>
            </a:r>
          </a:p>
          <a:p>
            <a:pPr lvl="0"/>
            <a:r>
              <a:rPr lang="en-US" sz="1800" dirty="0" smtClean="0"/>
              <a:t>The cross-section of the column is uniform throughout its length.</a:t>
            </a:r>
          </a:p>
          <a:p>
            <a:pPr lvl="0"/>
            <a:r>
              <a:rPr lang="en-US" sz="1800" dirty="0" smtClean="0"/>
              <a:t>The column material is perfectly elastic, homogeneous and isotropic and thus obeys Hooke’s law</a:t>
            </a:r>
          </a:p>
          <a:p>
            <a:pPr lvl="0"/>
            <a:r>
              <a:rPr lang="en-US" sz="1800" dirty="0" smtClean="0"/>
              <a:t>The length of column is very large as compared to its cross-sectional dimensions.</a:t>
            </a:r>
          </a:p>
          <a:p>
            <a:pPr lvl="0"/>
            <a:r>
              <a:rPr lang="en-US" sz="1800" dirty="0" smtClean="0"/>
              <a:t>The shortening of column, due to direct compression (being very small) is neglected.</a:t>
            </a:r>
          </a:p>
          <a:p>
            <a:pPr lvl="0"/>
            <a:r>
              <a:rPr lang="en-US" sz="1800" dirty="0" smtClean="0"/>
              <a:t>The failure of column occurs due to buckling alone</a:t>
            </a:r>
            <a:endParaRPr lang="en-US" sz="1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Types of End Conditions of Columns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In actual practice, there are a number of end conditions, for columns. But, we shall study the</a:t>
            </a:r>
          </a:p>
          <a:p>
            <a:r>
              <a:rPr lang="en-US" dirty="0" smtClean="0"/>
              <a:t>Euler's column theory on the following four types of end conditions, which are important from the subject point of view:</a:t>
            </a:r>
          </a:p>
          <a:p>
            <a:pPr lvl="0"/>
            <a:r>
              <a:rPr lang="en-US" dirty="0" smtClean="0"/>
              <a:t>Both ends hinged.</a:t>
            </a:r>
          </a:p>
          <a:p>
            <a:pPr lvl="0"/>
            <a:r>
              <a:rPr lang="en-US" dirty="0" smtClean="0"/>
              <a:t>Both ends fixed,</a:t>
            </a:r>
          </a:p>
          <a:p>
            <a:pPr lvl="0"/>
            <a:r>
              <a:rPr lang="en-US" dirty="0" smtClean="0"/>
              <a:t>One end is fixed and the other hinged, and</a:t>
            </a:r>
          </a:p>
          <a:p>
            <a:pPr lvl="0"/>
            <a:r>
              <a:rPr lang="en-US" dirty="0" smtClean="0"/>
              <a:t>One end is fixed and the other free.</a:t>
            </a:r>
          </a:p>
          <a:p>
            <a:r>
              <a:rPr lang="en-US" dirty="0" smtClean="0"/>
              <a:t>Now we shall discuss the value of critical load for all the above mentioned type of and conditions of columns one by one.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3"/>
          <a:srcRect/>
          <a:stretch>
            <a:fillRect/>
          </a:stretch>
        </p:blipFill>
        <p:spPr bwMode="auto">
          <a:xfrm>
            <a:off x="381000" y="228600"/>
            <a:ext cx="83058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3"/>
          <a:srcRect/>
          <a:stretch>
            <a:fillRect/>
          </a:stretch>
        </p:blipFill>
        <p:spPr bwMode="auto">
          <a:xfrm>
            <a:off x="304800" y="173036"/>
            <a:ext cx="8229600" cy="6303963"/>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p:cNvPicPr>
            <a:picLocks noChangeAspect="1" noChangeArrowheads="1"/>
          </p:cNvPicPr>
          <p:nvPr/>
        </p:nvPicPr>
        <p:blipFill>
          <a:blip r:embed="rId3"/>
          <a:srcRect/>
          <a:stretch>
            <a:fillRect/>
          </a:stretch>
        </p:blipFill>
        <p:spPr bwMode="auto">
          <a:xfrm>
            <a:off x="228600" y="457200"/>
            <a:ext cx="8610600" cy="5833417"/>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3"/>
          <a:srcRect/>
          <a:stretch>
            <a:fillRect/>
          </a:stretch>
        </p:blipFill>
        <p:spPr bwMode="auto">
          <a:xfrm>
            <a:off x="381000" y="457200"/>
            <a:ext cx="8458200" cy="6019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700" b="1" dirty="0" smtClean="0"/>
              <a:t>Euler's Formula and Equivalent length of a Column</a:t>
            </a:r>
            <a:r>
              <a:rPr lang="en-US" sz="2700" dirty="0" smtClean="0"/>
              <a:t/>
            </a:r>
            <a:br>
              <a:rPr lang="en-US" sz="2700" dirty="0" smtClean="0"/>
            </a:br>
            <a:endParaRPr lang="en-US" dirty="0"/>
          </a:p>
        </p:txBody>
      </p:sp>
      <p:sp>
        <p:nvSpPr>
          <p:cNvPr id="3" name="Content Placeholder 2"/>
          <p:cNvSpPr>
            <a:spLocks noGrp="1"/>
          </p:cNvSpPr>
          <p:nvPr>
            <p:ph idx="1"/>
          </p:nvPr>
        </p:nvSpPr>
        <p:spPr>
          <a:xfrm>
            <a:off x="381000" y="1219200"/>
            <a:ext cx="8229600" cy="5029200"/>
          </a:xfrm>
        </p:spPr>
        <p:txBody>
          <a:bodyPr>
            <a:normAutofit fontScale="70000" lnSpcReduction="20000"/>
          </a:bodyPr>
          <a:lstStyle/>
          <a:p>
            <a:r>
              <a:rPr lang="en-US" dirty="0" smtClean="0"/>
              <a:t>In the previous articles, we have derived the relations for the crippling load under various end conditions. Sometimes, all these cases are represented by a general equation called Euler 's formula </a:t>
            </a:r>
          </a:p>
          <a:p>
            <a:pPr>
              <a:buNone/>
            </a:pPr>
            <a:r>
              <a:rPr lang="en-GB" dirty="0" smtClean="0"/>
              <a:t> </a:t>
            </a:r>
            <a:endParaRPr lang="en-US" dirty="0" smtClean="0"/>
          </a:p>
          <a:p>
            <a:r>
              <a:rPr lang="en-US" dirty="0" smtClean="0"/>
              <a:t>where </a:t>
            </a:r>
            <a:r>
              <a:rPr lang="en-US" i="1" dirty="0" smtClean="0"/>
              <a:t>L</a:t>
            </a:r>
            <a:r>
              <a:rPr lang="en-US" i="1" baseline="-25000" dirty="0" smtClean="0"/>
              <a:t>e</a:t>
            </a:r>
            <a:r>
              <a:rPr lang="en-US" i="1" dirty="0" smtClean="0"/>
              <a:t> </a:t>
            </a:r>
            <a:r>
              <a:rPr lang="en-US" dirty="0" smtClean="0"/>
              <a:t>is the equivalent or effective length of column.</a:t>
            </a:r>
          </a:p>
          <a:p>
            <a:pPr>
              <a:buNone/>
            </a:pPr>
            <a:endParaRPr lang="en-US" dirty="0" smtClean="0"/>
          </a:p>
          <a:p>
            <a:r>
              <a:rPr lang="en-US" dirty="0" smtClean="0"/>
              <a:t>There is another way of representing the equation for the crippling load by an equivalent length of effective length of a column. The equivalent length of a given column with given end conditions, is the length of an equivalent column of the same material and cross-section with both ends hinged and having the value of the crippling load equal to that of the given column.</a:t>
            </a:r>
          </a:p>
          <a:p>
            <a:endParaRPr lang="en-US" dirty="0" smtClean="0"/>
          </a:p>
          <a:p>
            <a:r>
              <a:rPr lang="en-US" dirty="0" smtClean="0"/>
              <a:t>The equivalent lengths </a:t>
            </a:r>
            <a:r>
              <a:rPr lang="en-US" i="1" dirty="0" smtClean="0"/>
              <a:t>(L) </a:t>
            </a:r>
            <a:r>
              <a:rPr lang="en-US" dirty="0" smtClean="0"/>
              <a:t>for the given end conditions are given below:</a:t>
            </a:r>
          </a:p>
          <a:p>
            <a:pPr>
              <a:buNone/>
            </a:pP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876800"/>
            <a:ext cx="8305800" cy="1554163"/>
          </a:xfrm>
        </p:spPr>
        <p:txBody>
          <a:bodyPr>
            <a:normAutofit fontScale="85000" lnSpcReduction="20000"/>
          </a:bodyPr>
          <a:lstStyle/>
          <a:p>
            <a:r>
              <a:rPr lang="en-US" sz="2600" b="1" dirty="0" smtClean="0"/>
              <a:t>NOTE: The vertical column will have two moment~ of inertia </a:t>
            </a:r>
            <a:r>
              <a:rPr lang="en-US" sz="2600" b="1" i="1" dirty="0" smtClean="0"/>
              <a:t>(</a:t>
            </a:r>
            <a:r>
              <a:rPr lang="en-US" sz="2600" b="1" i="1" dirty="0" err="1" smtClean="0"/>
              <a:t>viz</a:t>
            </a:r>
            <a:r>
              <a:rPr lang="en-US" sz="2600" b="1" i="1" dirty="0" smtClean="0"/>
              <a:t>; </a:t>
            </a:r>
            <a:r>
              <a:rPr lang="en-US" sz="2600" b="1" i="1" dirty="0" err="1" smtClean="0"/>
              <a:t>I</a:t>
            </a:r>
            <a:r>
              <a:rPr lang="en-US" sz="2600" b="1" i="1" baseline="-25000" dirty="0" err="1" smtClean="0"/>
              <a:t>xx</a:t>
            </a:r>
            <a:r>
              <a:rPr lang="en-US" sz="2600" b="1" i="1" dirty="0" smtClean="0"/>
              <a:t> </a:t>
            </a:r>
            <a:r>
              <a:rPr lang="en-US" sz="2600" b="1" dirty="0" smtClean="0"/>
              <a:t>and </a:t>
            </a:r>
            <a:r>
              <a:rPr lang="en-US" sz="2600" b="1" i="1" dirty="0" smtClean="0"/>
              <a:t> </a:t>
            </a:r>
            <a:r>
              <a:rPr lang="en-US" sz="2600" b="1" i="1" dirty="0" err="1" smtClean="0"/>
              <a:t>I</a:t>
            </a:r>
            <a:r>
              <a:rPr lang="en-US" sz="2600" b="1" i="1" baseline="-25000" dirty="0" err="1" smtClean="0"/>
              <a:t>yy</a:t>
            </a:r>
            <a:r>
              <a:rPr lang="en-US" sz="2600" b="1" i="1" dirty="0" smtClean="0"/>
              <a:t>). </a:t>
            </a:r>
            <a:r>
              <a:rPr lang="en-US" sz="2600" b="1" dirty="0" smtClean="0"/>
              <a:t>Since the column will tend to buckle in the direction of </a:t>
            </a:r>
            <a:r>
              <a:rPr lang="en-US" sz="2600" b="1" dirty="0" smtClean="0"/>
              <a:t>least </a:t>
            </a:r>
            <a:r>
              <a:rPr lang="en-US" sz="2600" b="1" dirty="0" smtClean="0"/>
              <a:t>moment of inertia, therefore the least value of the two moments of inert in</a:t>
            </a:r>
            <a:endParaRPr lang="en-US" sz="2600" dirty="0" smtClean="0"/>
          </a:p>
          <a:p>
            <a:r>
              <a:rPr lang="en-US" sz="2600" b="1" dirty="0" smtClean="0"/>
              <a:t>is to be used in </a:t>
            </a:r>
            <a:r>
              <a:rPr lang="en-US" sz="2600" b="1" dirty="0" smtClean="0"/>
              <a:t>the </a:t>
            </a:r>
            <a:r>
              <a:rPr lang="en-US" sz="2600" b="1" dirty="0" smtClean="0"/>
              <a:t>relation.</a:t>
            </a:r>
            <a:endParaRPr lang="en-US" sz="2600" dirty="0" smtClean="0"/>
          </a:p>
          <a:p>
            <a:endParaRPr lang="en-US" dirty="0"/>
          </a:p>
        </p:txBody>
      </p:sp>
      <p:pic>
        <p:nvPicPr>
          <p:cNvPr id="20482" name="Picture 2"/>
          <p:cNvPicPr>
            <a:picLocks noChangeAspect="1" noChangeArrowheads="1"/>
          </p:cNvPicPr>
          <p:nvPr/>
        </p:nvPicPr>
        <p:blipFill>
          <a:blip r:embed="rId3"/>
          <a:srcRect/>
          <a:stretch>
            <a:fillRect/>
          </a:stretch>
        </p:blipFill>
        <p:spPr bwMode="auto">
          <a:xfrm>
            <a:off x="228600" y="228600"/>
            <a:ext cx="8458200" cy="4572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5" name="Footer Placeholder 4"/>
          <p:cNvSpPr>
            <a:spLocks noGrp="1"/>
          </p:cNvSpPr>
          <p:nvPr>
            <p:ph type="ftr" sz="quarter" idx="11"/>
          </p:nvPr>
        </p:nvSpPr>
        <p:spPr/>
        <p:txBody>
          <a:bodyPr/>
          <a:lstStyle/>
          <a:p>
            <a:r>
              <a:rPr lang="en-US" dirty="0" smtClean="0"/>
              <a:t>ME 356 Strength of Materials II for IDL</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100" b="1" dirty="0" smtClean="0"/>
              <a:t>Slenderness Ratio</a:t>
            </a:r>
            <a:endParaRPr lang="en-US" dirty="0"/>
          </a:p>
        </p:txBody>
      </p:sp>
      <p:sp>
        <p:nvSpPr>
          <p:cNvPr id="3" name="Content Placeholder 2"/>
          <p:cNvSpPr>
            <a:spLocks noGrp="1"/>
          </p:cNvSpPr>
          <p:nvPr>
            <p:ph idx="1"/>
          </p:nvPr>
        </p:nvSpPr>
        <p:spPr>
          <a:xfrm>
            <a:off x="0" y="1600200"/>
            <a:ext cx="9144000" cy="4525963"/>
          </a:xfrm>
        </p:spPr>
        <p:txBody>
          <a:bodyPr>
            <a:normAutofit fontScale="62500" lnSpcReduction="20000"/>
          </a:bodyPr>
          <a:lstStyle/>
          <a:p>
            <a:r>
              <a:rPr lang="en-US" sz="2900" dirty="0" smtClean="0"/>
              <a:t>We have already discussed above that, the Euler’s formula for the crippling load is </a:t>
            </a:r>
            <a:r>
              <a:rPr lang="en-US" sz="3400" dirty="0" smtClean="0"/>
              <a:t> </a:t>
            </a:r>
            <a:r>
              <a:rPr lang="en-US" dirty="0" smtClean="0"/>
              <a:t>. ..     (</a:t>
            </a:r>
            <a:r>
              <a:rPr lang="en-US" dirty="0" err="1" smtClean="0"/>
              <a:t>i</a:t>
            </a:r>
            <a:r>
              <a:rPr lang="en-US" dirty="0" smtClean="0"/>
              <a:t>)</a:t>
            </a:r>
          </a:p>
          <a:p>
            <a:endParaRPr lang="en-US" dirty="0" smtClean="0"/>
          </a:p>
          <a:p>
            <a:r>
              <a:rPr lang="en-US" dirty="0" smtClean="0"/>
              <a:t>We know that the buckling of a column under the crippling load will take place about the axis of least resistance. Now substituting </a:t>
            </a:r>
            <a:r>
              <a:rPr lang="en-US" i="1" dirty="0" smtClean="0"/>
              <a:t>I = Ak</a:t>
            </a:r>
            <a:r>
              <a:rPr lang="en-US" i="1" baseline="30000" dirty="0" smtClean="0"/>
              <a:t>2</a:t>
            </a:r>
            <a:r>
              <a:rPr lang="en-US" i="1" dirty="0" smtClean="0"/>
              <a:t> </a:t>
            </a:r>
            <a:r>
              <a:rPr lang="en-US" dirty="0" smtClean="0"/>
              <a:t>(where </a:t>
            </a:r>
            <a:r>
              <a:rPr lang="en-US" i="1" dirty="0" smtClean="0"/>
              <a:t>A </a:t>
            </a:r>
            <a:r>
              <a:rPr lang="en-US" dirty="0" smtClean="0"/>
              <a:t>is the area and </a:t>
            </a:r>
            <a:r>
              <a:rPr lang="en-US" i="1" dirty="0" smtClean="0"/>
              <a:t>k </a:t>
            </a:r>
            <a:r>
              <a:rPr lang="en-US" dirty="0" smtClean="0"/>
              <a:t>is the least radius of gyration of the section) in the above equation,  …         (ii)</a:t>
            </a:r>
          </a:p>
          <a:p>
            <a:pPr>
              <a:buNone/>
            </a:pPr>
            <a:endParaRPr lang="en-US" dirty="0" smtClean="0"/>
          </a:p>
          <a:p>
            <a:r>
              <a:rPr lang="en-US" dirty="0" smtClean="0"/>
              <a:t>where </a:t>
            </a:r>
            <a:r>
              <a:rPr lang="en-GB" dirty="0" smtClean="0"/>
              <a:t> </a:t>
            </a:r>
            <a:r>
              <a:rPr lang="en-US" dirty="0" smtClean="0"/>
              <a:t>is known as slenderness ratio. Thus slenderness ratio is defined as ratio of equivalent (or unsupported) length of column to the least radius of gyration of the section. Slenderness ratio does not have any units.</a:t>
            </a:r>
          </a:p>
          <a:p>
            <a:pPr>
              <a:buNone/>
            </a:pPr>
            <a:endParaRPr lang="en-US" dirty="0" smtClean="0"/>
          </a:p>
          <a:p>
            <a:r>
              <a:rPr lang="en-US" dirty="0" smtClean="0"/>
              <a:t>Note: It may be noted that the formula for crippling load, in the pervious articles, have been derived on the assumption that, the slenderness ratio </a:t>
            </a:r>
            <a:r>
              <a:rPr lang="en-GB" i="1" dirty="0" smtClean="0"/>
              <a:t> </a:t>
            </a:r>
            <a:r>
              <a:rPr lang="en-US" dirty="0" smtClean="0"/>
              <a:t>is so large, that the failure of the column occurs only due to bending, the effect of direct stress </a:t>
            </a:r>
            <a:r>
              <a:rPr lang="en-US" i="1" dirty="0" smtClean="0"/>
              <a:t>(i.e.,</a:t>
            </a:r>
            <a:r>
              <a:rPr lang="en-GB" dirty="0" smtClean="0"/>
              <a:t> </a:t>
            </a:r>
            <a:r>
              <a:rPr lang="en-US" dirty="0" smtClean="0"/>
              <a:t>) being negligible.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507" name="Object 3"/>
          <p:cNvGraphicFramePr>
            <a:graphicFrameLocks noChangeAspect="1"/>
          </p:cNvGraphicFramePr>
          <p:nvPr/>
        </p:nvGraphicFramePr>
        <p:xfrm>
          <a:off x="5105400" y="304800"/>
          <a:ext cx="2133600" cy="685800"/>
        </p:xfrm>
        <a:graphic>
          <a:graphicData uri="http://schemas.openxmlformats.org/presentationml/2006/ole">
            <mc:AlternateContent xmlns:mc="http://schemas.openxmlformats.org/markup-compatibility/2006">
              <mc:Choice xmlns:v="urn:schemas-microsoft-com:vml" Requires="v">
                <p:oleObj spid="_x0000_s21511" name="Equation" r:id="rId4" imgW="1218671" imgH="380835" progId="Equation.3">
                  <p:embed/>
                </p:oleObj>
              </mc:Choice>
              <mc:Fallback>
                <p:oleObj name="Equation" r:id="rId4" imgW="1218671" imgH="380835"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304800"/>
                        <a:ext cx="21336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6" name="Object 2"/>
          <p:cNvGraphicFramePr>
            <a:graphicFrameLocks noChangeAspect="1"/>
          </p:cNvGraphicFramePr>
          <p:nvPr/>
        </p:nvGraphicFramePr>
        <p:xfrm>
          <a:off x="2895600" y="1219200"/>
          <a:ext cx="2438400" cy="685800"/>
        </p:xfrm>
        <a:graphic>
          <a:graphicData uri="http://schemas.openxmlformats.org/presentationml/2006/ole">
            <mc:AlternateContent xmlns:mc="http://schemas.openxmlformats.org/markup-compatibility/2006">
              <mc:Choice xmlns:v="urn:schemas-microsoft-com:vml" Requires="v">
                <p:oleObj spid="_x0000_s21512" name="Equation" r:id="rId6" imgW="1384200" imgH="419040" progId="Equation.3">
                  <p:embed/>
                </p:oleObj>
              </mc:Choice>
              <mc:Fallback>
                <p:oleObj name="Equation" r:id="rId6" imgW="1384200" imgH="419040" progId="Equation.3">
                  <p:embed/>
                  <p:pic>
                    <p:nvPicPr>
                      <p:cNvPr id="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5600" y="1219200"/>
                        <a:ext cx="24384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5" name="Object 1"/>
          <p:cNvGraphicFramePr>
            <a:graphicFrameLocks noChangeAspect="1"/>
          </p:cNvGraphicFramePr>
          <p:nvPr/>
        </p:nvGraphicFramePr>
        <p:xfrm>
          <a:off x="1676400" y="5343525"/>
          <a:ext cx="5870575" cy="828675"/>
        </p:xfrm>
        <a:graphic>
          <a:graphicData uri="http://schemas.openxmlformats.org/presentationml/2006/ole">
            <mc:AlternateContent xmlns:mc="http://schemas.openxmlformats.org/markup-compatibility/2006">
              <mc:Choice xmlns:v="urn:schemas-microsoft-com:vml" Requires="v">
                <p:oleObj spid="_x0000_s21513" name="Equation" r:id="rId8" imgW="3632040" imgH="419040" progId="Equation.3">
                  <p:embed/>
                </p:oleObj>
              </mc:Choice>
              <mc:Fallback>
                <p:oleObj name="Equation" r:id="rId8" imgW="3632040" imgH="419040" progId="Equation.3">
                  <p:embed/>
                  <p:pic>
                    <p:nvPicPr>
                      <p:cNvPr id="0" name="Picture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76400" y="5343525"/>
                        <a:ext cx="5870575"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08" name="Rectangle 4"/>
          <p:cNvSpPr>
            <a:spLocks noChangeArrowheads="1"/>
          </p:cNvSpPr>
          <p:nvPr/>
        </p:nvSpPr>
        <p:spPr bwMode="auto">
          <a:xfrm>
            <a:off x="0" y="0"/>
            <a:ext cx="4904869" cy="684803"/>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Limitation </a:t>
            </a:r>
            <a:r>
              <a:rPr kumimoji="0" lang="en-US" sz="1600" b="1" i="0" u="none" strike="noStrike" cap="none" normalizeH="0" baseline="0" dirty="0" smtClean="0">
                <a:ln>
                  <a:noFill/>
                </a:ln>
                <a:solidFill>
                  <a:srgbClr val="4D5255"/>
                </a:solidFill>
                <a:effectLst/>
                <a:latin typeface="Times New Roman" pitchFamily="18" charset="0"/>
                <a:ea typeface="Calibri" pitchFamily="34" charset="0"/>
                <a:cs typeface="Times New Roman" pitchFamily="18" charset="0"/>
              </a:rPr>
              <a:t>of Euler</a:t>
            </a:r>
            <a:r>
              <a:rPr kumimoji="0" lang="en-US" sz="1600" b="1" i="0" u="none" strike="noStrike" cap="none" normalizeH="0" baseline="0" dirty="0" smtClean="0">
                <a:ln>
                  <a:noFill/>
                </a:ln>
                <a:solidFill>
                  <a:srgbClr val="72787A"/>
                </a:solidFill>
                <a:effectLst/>
                <a:latin typeface="Times New Roman" pitchFamily="18" charset="0"/>
                <a:ea typeface="Calibri" pitchFamily="34" charset="0"/>
                <a:cs typeface="Times New Roman" pitchFamily="18" charset="0"/>
              </a:rPr>
              <a:t>'</a:t>
            </a:r>
            <a:r>
              <a:rPr kumimoji="0" lang="en-US" sz="1600" b="1" i="0" u="none" strike="noStrike" cap="none" normalizeH="0" baseline="0" dirty="0" smtClean="0">
                <a:ln>
                  <a:noFill/>
                </a:ln>
                <a:solidFill>
                  <a:srgbClr val="4D5255"/>
                </a:solidFill>
                <a:effectLst/>
                <a:latin typeface="Times New Roman" pitchFamily="18" charset="0"/>
                <a:ea typeface="Calibri" pitchFamily="34" charset="0"/>
                <a:cs typeface="Times New Roman" pitchFamily="18" charset="0"/>
              </a:rPr>
              <a:t>s </a:t>
            </a:r>
            <a:r>
              <a:rPr kumimoji="0" lang="en-US" sz="1600" b="1" i="0" u="none" strike="noStrike" cap="none" normalizeH="0" baseline="0" dirty="0" smtClean="0">
                <a:ln>
                  <a:noFill/>
                </a:ln>
                <a:solidFill>
                  <a:srgbClr val="353A3D"/>
                </a:solidFill>
                <a:effectLst/>
                <a:latin typeface="Times New Roman" pitchFamily="18" charset="0"/>
                <a:ea typeface="Calibri" pitchFamily="34" charset="0"/>
                <a:cs typeface="Times New Roman" pitchFamily="18" charset="0"/>
              </a:rPr>
              <a:t>Formula</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05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12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We have discussed above that the Euler·s formula for the crippling load is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1509" name="Rectangle 5"/>
          <p:cNvSpPr>
            <a:spLocks noChangeArrowheads="1"/>
          </p:cNvSpPr>
          <p:nvPr/>
        </p:nvSpPr>
        <p:spPr bwMode="auto">
          <a:xfrm>
            <a:off x="0" y="838200"/>
            <a:ext cx="8915400" cy="30777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14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Therefore, Euler's crippling stress,</a:t>
            </a:r>
            <a:endParaRPr kumimoji="0" lang="en-US" sz="2000" b="0" i="0" u="none" strike="noStrike" cap="none" normalizeH="0" baseline="0" dirty="0" smtClean="0">
              <a:ln>
                <a:noFill/>
              </a:ln>
              <a:solidFill>
                <a:schemeClr val="tx1"/>
              </a:solidFill>
              <a:effectLst/>
              <a:latin typeface="Arial" pitchFamily="34" charset="0"/>
              <a:cs typeface="Arial" pitchFamily="34" charset="0"/>
            </a:endParaRPr>
          </a:p>
        </p:txBody>
      </p:sp>
      <p:sp>
        <p:nvSpPr>
          <p:cNvPr id="21510" name="Rectangle 6"/>
          <p:cNvSpPr>
            <a:spLocks noChangeArrowheads="1"/>
          </p:cNvSpPr>
          <p:nvPr/>
        </p:nvSpPr>
        <p:spPr bwMode="auto">
          <a:xfrm>
            <a:off x="228600" y="2286000"/>
            <a:ext cx="8763000" cy="295465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 little consideration will show that the crippling stress will be high, when the slenderness ratio is small. </a:t>
            </a:r>
          </a:p>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We know that the crippling stress for a </a:t>
            </a:r>
            <a:r>
              <a:rPr kumimoji="0" lang="en-US" sz="20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column</a:t>
            </a: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cannot be more than the crushing stress of the column material It is thus obvious that the Euler's formula will give the value of crippling stress of the column (equal to the crushing stress of the column material) corresponding to the slenderness ratio. Now consider a mild steel column. We know that the crushing stress for the mild steel is </a:t>
            </a:r>
            <a:r>
              <a:rPr kumimoji="0" lang="en-US" b="0" i="0" u="none" strike="noStrike" cap="none" normalizeH="0" baseline="0" dirty="0" smtClean="0">
                <a:ln>
                  <a:noFill/>
                </a:ln>
                <a:solidFill>
                  <a:srgbClr val="000000"/>
                </a:solidFill>
                <a:effectLst/>
                <a:latin typeface="Arial" pitchFamily="34" charset="0"/>
                <a:ea typeface="HiddenHorzOCR"/>
                <a:cs typeface="Times New Roman" pitchFamily="18" charset="0"/>
              </a:rPr>
              <a:t>320 </a:t>
            </a: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MPa or 320 N/mm</a:t>
            </a:r>
            <a:r>
              <a:rPr kumimoji="0" lang="en-US" b="0" i="0" u="none" strike="noStrike" cap="none" normalizeH="0" baseline="30000" dirty="0" smtClean="0">
                <a:ln>
                  <a:noFill/>
                </a:ln>
                <a:solidFill>
                  <a:srgbClr val="000000"/>
                </a:solidFill>
                <a:effectLst/>
                <a:latin typeface="Times New Roman" pitchFamily="18" charset="0"/>
                <a:ea typeface="Calibri" pitchFamily="34" charset="0"/>
                <a:cs typeface="Times New Roman" pitchFamily="18" charset="0"/>
              </a:rPr>
              <a:t>2</a:t>
            </a: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and Young's </a:t>
            </a:r>
            <a:r>
              <a:rPr kumimoji="0" lang="en-US" b="0" i="0" u="none" strike="noStrike" cap="none" normalizeH="0" baseline="0" dirty="0" smtClean="0">
                <a:ln>
                  <a:noFill/>
                </a:ln>
                <a:solidFill>
                  <a:srgbClr val="000000"/>
                </a:solidFill>
                <a:effectLst/>
                <a:latin typeface="Arial" pitchFamily="34" charset="0"/>
                <a:ea typeface="HiddenHorzOCR"/>
                <a:cs typeface="Times New Roman" pitchFamily="18" charset="0"/>
              </a:rPr>
              <a:t>modu</a:t>
            </a: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lus for the mild steel of 200 GPa or 200 x I 0 N/mm</a:t>
            </a:r>
            <a:r>
              <a:rPr kumimoji="0" lang="en-US" b="0" i="0" u="none" strike="noStrike" cap="none" normalizeH="0" baseline="30000" dirty="0" smtClean="0">
                <a:ln>
                  <a:noFill/>
                </a:ln>
                <a:solidFill>
                  <a:srgbClr val="000000"/>
                </a:solidFill>
                <a:effectLst/>
                <a:latin typeface="Times New Roman" pitchFamily="18" charset="0"/>
                <a:ea typeface="Calibri" pitchFamily="34" charset="0"/>
                <a:cs typeface="Times New Roman" pitchFamily="18" charset="0"/>
              </a:rPr>
              <a:t>2</a:t>
            </a: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a:t>
            </a:r>
          </a:p>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1" fontAlgn="base" latinLnBrk="0" hangingPunct="1">
              <a:lnSpc>
                <a:spcPct val="100000"/>
              </a:lnSpc>
              <a:spcBef>
                <a:spcPct val="0"/>
              </a:spcBef>
              <a:spcAft>
                <a:spcPct val="0"/>
              </a:spcAft>
              <a:buClrTx/>
              <a:buSzTx/>
              <a:buFont typeface="Arial" pitchFamily="34" charset="0"/>
              <a:buChar char="•"/>
              <a:tabLst/>
            </a:pPr>
            <a:endParaRPr kumimoji="0" lang="en-US" sz="11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Now equating the crippling stress to the crushing stress,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Slide Number Placeholder 7"/>
          <p:cNvSpPr>
            <a:spLocks noGrp="1"/>
          </p:cNvSpPr>
          <p:nvPr>
            <p:ph type="sldNum" sz="quarter" idx="12"/>
          </p:nvPr>
        </p:nvSpPr>
        <p:spPr/>
        <p:txBody>
          <a:bodyPr/>
          <a:lstStyle/>
          <a:p>
            <a:fld id="{B6F15528-21DE-4FAA-801E-634DDDAF4B2B}" type="slidenum">
              <a:rPr lang="en-US" smtClean="0"/>
              <a:pPr/>
              <a:t>14</a:t>
            </a:fld>
            <a:endParaRPr lang="en-US"/>
          </a:p>
        </p:txBody>
      </p:sp>
      <p:sp>
        <p:nvSpPr>
          <p:cNvPr id="9" name="Footer Placeholder 8"/>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457200" y="685800"/>
            <a:ext cx="8153400" cy="618630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3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t>
            </a:r>
            <a:r>
              <a:rPr lang="en-US" sz="3600" dirty="0" smtClean="0">
                <a:solidFill>
                  <a:srgbClr val="000000"/>
                </a:solidFill>
                <a:latin typeface="Times New Roman" pitchFamily="18" charset="0"/>
                <a:ea typeface="Calibri" pitchFamily="34" charset="0"/>
                <a:cs typeface="Times New Roman" pitchFamily="18" charset="0"/>
              </a:rPr>
              <a:t> </a:t>
            </a:r>
            <a:r>
              <a:rPr kumimoji="0" lang="en-US" sz="3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Thus, if the slenderness ratio is less than 80 the Euler's formula for a mild steel column is not valid.</a:t>
            </a:r>
            <a:endParaRPr kumimoji="0" lang="en-US" sz="36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3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3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Sometimes, the columns, whose slenderness ratio is more than</a:t>
            </a:r>
            <a:r>
              <a:rPr kumimoji="0" lang="en-US" sz="3600" b="0" i="1"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 </a:t>
            </a:r>
            <a:r>
              <a:rPr kumimoji="0" lang="en-US" sz="3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80 are known as long column and those whose slenderness ratio is </a:t>
            </a:r>
            <a:r>
              <a:rPr kumimoji="0" lang="en-US" sz="3600" b="0" i="1"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less than </a:t>
            </a:r>
            <a:r>
              <a:rPr kumimoji="0" lang="en-US" sz="3600" b="0" i="0"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80 are known as short columns. It is obvious that, the Euler’s formula holds good only for long columns.</a:t>
            </a:r>
            <a:endParaRPr kumimoji="0" lang="en-US" sz="3600" b="0" i="0" u="none" strike="noStrike" cap="none" normalizeH="0" baseline="0" dirty="0" smtClean="0">
              <a:ln>
                <a:noFill/>
              </a:ln>
              <a:solidFill>
                <a:schemeClr val="tx1"/>
              </a:solidFill>
              <a:effectLst/>
              <a:latin typeface="Arial" pitchFamily="34" charset="0"/>
              <a:cs typeface="Arial" pitchFamily="34"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15</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auto">
          <a:xfrm>
            <a:off x="304800" y="1295400"/>
            <a:ext cx="8610600"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36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Example: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sz="36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straight bar of alloy, 1 m long and 12·5 mm by 4·8 mm in section, is mounted in a strut-testing machine and loaded axially until it buckles. Assuming the Euler formula to apply, estimate the maximum central deflection before the material attains its yield point of 280 N/mm</a:t>
            </a:r>
            <a:r>
              <a:rPr kumimoji="0" lang="en-GB" sz="3600" b="0" i="1" u="none" strike="noStrike" cap="none" normalizeH="0" baseline="30000" dirty="0" smtClean="0">
                <a:ln>
                  <a:noFill/>
                </a:ln>
                <a:solidFill>
                  <a:schemeClr val="tx1"/>
                </a:solidFill>
                <a:effectLst/>
                <a:latin typeface="Times New Roman" pitchFamily="18" charset="0"/>
                <a:ea typeface="Calibri" pitchFamily="34" charset="0"/>
                <a:cs typeface="Times New Roman" pitchFamily="18" charset="0"/>
              </a:rPr>
              <a:t>2</a:t>
            </a:r>
            <a:r>
              <a:rPr kumimoji="0" lang="en-GB" sz="36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E = 72,000 N/mm</a:t>
            </a:r>
            <a:r>
              <a:rPr kumimoji="0" lang="en-GB" sz="3600" b="0" i="1" u="none" strike="noStrike" cap="none" normalizeH="0" baseline="30000" dirty="0" smtClean="0">
                <a:ln>
                  <a:noFill/>
                </a:ln>
                <a:solidFill>
                  <a:schemeClr val="tx1"/>
                </a:solidFill>
                <a:effectLst/>
                <a:latin typeface="Times New Roman" pitchFamily="18" charset="0"/>
                <a:ea typeface="Calibri" pitchFamily="34" charset="0"/>
                <a:cs typeface="Times New Roman" pitchFamily="18" charset="0"/>
              </a:rPr>
              <a:t>2</a:t>
            </a:r>
            <a:r>
              <a:rPr kumimoji="0" lang="en-GB" sz="36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endParaRPr kumimoji="0" lang="en-GB" sz="3600" b="0" i="0" u="none" strike="noStrike" cap="none" normalizeH="0" baseline="0" dirty="0" smtClean="0">
              <a:ln>
                <a:noFill/>
              </a:ln>
              <a:solidFill>
                <a:schemeClr val="tx1"/>
              </a:solidFill>
              <a:effectLst/>
              <a:latin typeface="Arial" pitchFamily="34" charset="0"/>
              <a:cs typeface="Arial" pitchFamily="34"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16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3"/>
          <a:srcRect/>
          <a:stretch>
            <a:fillRect/>
          </a:stretch>
        </p:blipFill>
        <p:spPr bwMode="auto">
          <a:xfrm>
            <a:off x="304800" y="381000"/>
            <a:ext cx="8458200"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ChangeArrowheads="1"/>
          </p:cNvSpPr>
          <p:nvPr/>
        </p:nvSpPr>
        <p:spPr bwMode="auto">
          <a:xfrm>
            <a:off x="381000" y="457200"/>
            <a:ext cx="7848600"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Example 2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 uniform bar of cross-sectional area A and flexural stiffness EI is heated so that its temperature varies linearly from ½t at one end to t at the other end. One end is pin-jointed to a rigid foundation; the other end is pin-jointed so that it can slide in the direction of the length of the bar, the thermal expansion of which is resisted by a compression spring of stiffness k.</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GB"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If there is no load in the spring when t </a:t>
            </a:r>
            <a:r>
              <a:rPr kumimoji="0" lang="en-GB"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r>
              <a:rPr kumimoji="0" lang="en-GB" sz="24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0, obtain an expression for the stress in the bar when it is heated and show that it buckles in flexure when </a:t>
            </a:r>
            <a:endParaRPr kumimoji="0" lang="en-GB" sz="24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30723" name="Object 3"/>
          <p:cNvGraphicFramePr>
            <a:graphicFrameLocks noChangeAspect="1"/>
          </p:cNvGraphicFramePr>
          <p:nvPr/>
        </p:nvGraphicFramePr>
        <p:xfrm>
          <a:off x="3810000" y="4191000"/>
          <a:ext cx="3124200" cy="1143000"/>
        </p:xfrm>
        <a:graphic>
          <a:graphicData uri="http://schemas.openxmlformats.org/presentationml/2006/ole">
            <mc:AlternateContent xmlns:mc="http://schemas.openxmlformats.org/markup-compatibility/2006">
              <mc:Choice xmlns:v="urn:schemas-microsoft-com:vml" Requires="v">
                <p:oleObj spid="_x0000_s30725" name="Equation" r:id="rId4" imgW="1231366" imgH="444307" progId="Equation.3">
                  <p:embed/>
                </p:oleObj>
              </mc:Choice>
              <mc:Fallback>
                <p:oleObj name="Equation" r:id="rId4" imgW="1231366" imgH="444307" progId="Equation.3">
                  <p:embed/>
                  <p:pic>
                    <p:nvPicPr>
                      <p:cNvPr id="0"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4191000"/>
                        <a:ext cx="312420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25" name="Rectangle 5"/>
          <p:cNvSpPr>
            <a:spLocks noChangeArrowheads="1"/>
          </p:cNvSpPr>
          <p:nvPr/>
        </p:nvSpPr>
        <p:spPr bwMode="auto">
          <a:xfrm>
            <a:off x="609600" y="5791200"/>
            <a:ext cx="74676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sz="2000" b="0" i="1"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where α=coefficient of linear thermal expansion.</a:t>
            </a:r>
            <a:endParaRPr kumimoji="0" lang="en-GB" sz="32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
        <p:nvSpPr>
          <p:cNvPr id="6" name="Footer Placeholder 5"/>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srcRect/>
          <a:stretch>
            <a:fillRect/>
          </a:stretch>
        </p:blipFill>
        <p:spPr bwMode="auto">
          <a:xfrm>
            <a:off x="304800" y="381000"/>
            <a:ext cx="85344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19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lstStyle/>
          <a:p>
            <a:pPr>
              <a:buNone/>
            </a:pPr>
            <a:r>
              <a:rPr lang="en-US" sz="4000" i="1" dirty="0" smtClean="0"/>
              <a:t>Example 3: </a:t>
            </a:r>
            <a:endParaRPr lang="en-US" sz="4000" dirty="0" smtClean="0"/>
          </a:p>
          <a:p>
            <a:pPr>
              <a:buNone/>
            </a:pPr>
            <a:r>
              <a:rPr lang="en-US" sz="4000" i="1" dirty="0" smtClean="0"/>
              <a:t>A steel rod 5 m long and of 40 mm diameter is used as a column, with one end fixed and the other free. Determine the crippling load by Euler's formula. Take E as 200 GPa</a:t>
            </a:r>
            <a:endParaRPr lang="en-US" sz="40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3"/>
          <a:srcRect/>
          <a:stretch>
            <a:fillRect/>
          </a:stretch>
        </p:blipFill>
        <p:spPr bwMode="auto">
          <a:xfrm>
            <a:off x="457200" y="457200"/>
            <a:ext cx="8153400" cy="6019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1"/>
          <p:cNvSpPr>
            <a:spLocks noChangeArrowheads="1"/>
          </p:cNvSpPr>
          <p:nvPr/>
        </p:nvSpPr>
        <p:spPr bwMode="auto">
          <a:xfrm>
            <a:off x="381000" y="228600"/>
            <a:ext cx="7924800" cy="624786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4000" b="0" i="1"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Example</a:t>
            </a:r>
            <a:r>
              <a:rPr kumimoji="0" lang="en-US" sz="4000" b="0" i="1" u="none" strike="noStrike" cap="none" normalizeH="0" dirty="0" smtClean="0">
                <a:ln>
                  <a:noFill/>
                </a:ln>
                <a:solidFill>
                  <a:srgbClr val="000000"/>
                </a:solidFill>
                <a:effectLst/>
                <a:latin typeface="Times New Roman" pitchFamily="18" charset="0"/>
                <a:ea typeface="Calibri" pitchFamily="34" charset="0"/>
                <a:cs typeface="Times New Roman" pitchFamily="18" charset="0"/>
              </a:rPr>
              <a:t> </a:t>
            </a:r>
            <a:r>
              <a:rPr kumimoji="0" lang="en-US" sz="4000" b="0" i="1"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4: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4000" b="0" i="1" u="none" strike="noStrike" cap="none" normalizeH="0" baseline="0" dirty="0" smtClean="0">
                <a:ln>
                  <a:noFill/>
                </a:ln>
                <a:solidFill>
                  <a:srgbClr val="000000"/>
                </a:solidFill>
                <a:effectLst/>
                <a:latin typeface="Times New Roman" pitchFamily="18" charset="0"/>
                <a:ea typeface="Calibri" pitchFamily="34" charset="0"/>
                <a:cs typeface="Times New Roman" pitchFamily="18" charset="0"/>
              </a:rPr>
              <a:t>A hollow alloy tube 4 m long with external and internal diameters of 40 mm and 25 mm respectively was found to extend 4.8 mm under a tensile load of 60 kN. Find the buckling load for the tube with both ends pinned. Also find the safe load on the tube, taking a factor of safety as 5.</a:t>
            </a:r>
            <a:endParaRPr kumimoji="0" lang="en-US" sz="4000" b="0" i="0" u="none" strike="noStrike" cap="none" normalizeH="0" baseline="0" dirty="0" smtClean="0">
              <a:ln>
                <a:noFill/>
              </a:ln>
              <a:solidFill>
                <a:schemeClr val="tx1"/>
              </a:solidFill>
              <a:effectLst/>
              <a:latin typeface="Arial" pitchFamily="34" charset="0"/>
              <a:cs typeface="Arial" pitchFamily="34" charset="0"/>
            </a:endParaRPr>
          </a:p>
        </p:txBody>
      </p:sp>
      <p:sp>
        <p:nvSpPr>
          <p:cNvPr id="3" name="Slide Number Placeholder 2"/>
          <p:cNvSpPr>
            <a:spLocks noGrp="1"/>
          </p:cNvSpPr>
          <p:nvPr>
            <p:ph type="sldNum" sz="quarter" idx="12"/>
          </p:nvPr>
        </p:nvSpPr>
        <p:spPr/>
        <p:txBody>
          <a:bodyPr/>
          <a:lstStyle/>
          <a:p>
            <a:fld id="{B6F15528-21DE-4FAA-801E-634DDDAF4B2B}" type="slidenum">
              <a:rPr lang="en-US" smtClean="0"/>
              <a:pPr/>
              <a:t>22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3"/>
          <a:srcRect/>
          <a:stretch>
            <a:fillRect/>
          </a:stretch>
        </p:blipFill>
        <p:spPr bwMode="auto">
          <a:xfrm>
            <a:off x="381000" y="381000"/>
            <a:ext cx="85344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1143000"/>
            <a:ext cx="8382000" cy="4525963"/>
          </a:xfrm>
        </p:spPr>
        <p:txBody>
          <a:bodyPr>
            <a:normAutofit fontScale="92500" lnSpcReduction="20000"/>
          </a:bodyPr>
          <a:lstStyle/>
          <a:p>
            <a:pPr>
              <a:buNone/>
            </a:pPr>
            <a:r>
              <a:rPr lang="en-US" sz="4800" i="1" dirty="0" smtClean="0"/>
              <a:t>Example 5: </a:t>
            </a:r>
          </a:p>
          <a:p>
            <a:pPr>
              <a:buNone/>
            </a:pPr>
            <a:r>
              <a:rPr lang="en-US" sz="4800" i="1" dirty="0" smtClean="0"/>
              <a:t>An I section joist 400 mm </a:t>
            </a:r>
            <a:r>
              <a:rPr lang="en-US" sz="4800" dirty="0" smtClean="0"/>
              <a:t>x </a:t>
            </a:r>
            <a:r>
              <a:rPr lang="en-US" sz="4800" i="1" dirty="0" smtClean="0"/>
              <a:t>200 mm </a:t>
            </a:r>
            <a:r>
              <a:rPr lang="en-US" sz="4800" dirty="0" smtClean="0"/>
              <a:t>x </a:t>
            </a:r>
            <a:r>
              <a:rPr lang="en-US" sz="4800" i="1" dirty="0" smtClean="0"/>
              <a:t>20 mm and 6m long is used as a strut </a:t>
            </a:r>
            <a:r>
              <a:rPr lang="en-US" sz="4800" dirty="0" smtClean="0"/>
              <a:t>with </a:t>
            </a:r>
            <a:r>
              <a:rPr lang="en-US" sz="4800" i="1" dirty="0" smtClean="0"/>
              <a:t>both ends fixed as shown in Fig. 24. What is Euler's crippling load for the column? Take Young's modulus for the joist as 200 GPa.</a:t>
            </a:r>
            <a:endParaRPr lang="en-US" sz="48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3"/>
          <a:srcRect/>
          <a:stretch>
            <a:fillRect/>
          </a:stretch>
        </p:blipFill>
        <p:spPr bwMode="auto">
          <a:xfrm>
            <a:off x="304800" y="381000"/>
            <a:ext cx="86106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762000"/>
            <a:ext cx="8229600" cy="4525963"/>
          </a:xfrm>
        </p:spPr>
        <p:txBody>
          <a:bodyPr>
            <a:normAutofit lnSpcReduction="10000"/>
          </a:bodyPr>
          <a:lstStyle/>
          <a:p>
            <a:pPr>
              <a:buNone/>
            </a:pPr>
            <a:r>
              <a:rPr lang="en-US" sz="4400" i="1" dirty="0" smtClean="0"/>
              <a:t>Example 6:</a:t>
            </a:r>
            <a:r>
              <a:rPr lang="en-US" sz="4400" b="1" dirty="0" smtClean="0"/>
              <a:t> </a:t>
            </a:r>
          </a:p>
          <a:p>
            <a:pPr>
              <a:buNone/>
            </a:pPr>
            <a:r>
              <a:rPr lang="en-US" sz="4400" i="1" dirty="0" smtClean="0"/>
              <a:t>A T-section 50 mm </a:t>
            </a:r>
            <a:r>
              <a:rPr lang="en-US" sz="4400" dirty="0" smtClean="0"/>
              <a:t>x </a:t>
            </a:r>
            <a:r>
              <a:rPr lang="en-US" sz="4400" i="1" dirty="0" smtClean="0"/>
              <a:t>120 mm </a:t>
            </a:r>
            <a:r>
              <a:rPr lang="en-US" sz="4400" dirty="0" smtClean="0"/>
              <a:t>x </a:t>
            </a:r>
            <a:r>
              <a:rPr lang="en-US" sz="4400" i="1" dirty="0" smtClean="0"/>
              <a:t>20 mm is used as a strut of 4 m long with hinged at its both ends. Calculate the crippling load, if Young's modulus for the material is 200 GPa.</a:t>
            </a:r>
            <a:endParaRPr lang="en-US" sz="44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3"/>
          <a:srcRect/>
          <a:stretch>
            <a:fillRect/>
          </a:stretch>
        </p:blipFill>
        <p:spPr bwMode="auto">
          <a:xfrm>
            <a:off x="304800" y="152400"/>
            <a:ext cx="8458200" cy="6477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3"/>
          <a:srcRect/>
          <a:stretch>
            <a:fillRect/>
          </a:stretch>
        </p:blipFill>
        <p:spPr bwMode="auto">
          <a:xfrm>
            <a:off x="304800" y="457200"/>
            <a:ext cx="8551379"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GB" sz="4400" b="1" dirty="0" smtClean="0"/>
              <a:t>Self Assessment </a:t>
            </a:r>
            <a:endParaRPr lang="en-US" sz="4400" dirty="0" smtClean="0"/>
          </a:p>
          <a:p>
            <a:pPr>
              <a:buNone/>
            </a:pPr>
            <a:endParaRPr lang="en-US" sz="4400" dirty="0" smtClean="0"/>
          </a:p>
          <a:p>
            <a:pPr lvl="0"/>
            <a:r>
              <a:rPr lang="en-US" sz="4400" dirty="0" smtClean="0"/>
              <a:t>Derive the equation of the critical load using Euler formula for cases 3 and 4</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3"/>
          <a:srcRect/>
          <a:stretch>
            <a:fillRect/>
          </a:stretch>
        </p:blipFill>
        <p:spPr bwMode="auto">
          <a:xfrm>
            <a:off x="304800" y="381000"/>
            <a:ext cx="8458200"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9" name="Picture 3"/>
          <p:cNvPicPr>
            <a:picLocks noChangeAspect="1" noChangeArrowheads="1"/>
          </p:cNvPicPr>
          <p:nvPr/>
        </p:nvPicPr>
        <p:blipFill>
          <a:blip r:embed="rId3"/>
          <a:srcRect/>
          <a:stretch>
            <a:fillRect/>
          </a:stretch>
        </p:blipFill>
        <p:spPr bwMode="auto">
          <a:xfrm>
            <a:off x="152400" y="265417"/>
            <a:ext cx="8534400" cy="6287783"/>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Picture 2"/>
          <p:cNvPicPr>
            <a:picLocks noChangeAspect="1" noChangeArrowheads="1"/>
          </p:cNvPicPr>
          <p:nvPr/>
        </p:nvPicPr>
        <p:blipFill>
          <a:blip r:embed="rId3"/>
          <a:srcRect/>
          <a:stretch>
            <a:fillRect/>
          </a:stretch>
        </p:blipFill>
        <p:spPr bwMode="auto">
          <a:xfrm>
            <a:off x="304800" y="304800"/>
            <a:ext cx="84582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1"/>
            <a:ext cx="8305800" cy="4876800"/>
          </a:xfrm>
        </p:spPr>
        <p:txBody>
          <a:bodyPr/>
          <a:lstStyle/>
          <a:p>
            <a:pPr>
              <a:buNone/>
            </a:pPr>
            <a:r>
              <a:rPr lang="en-GB" i="1" dirty="0" smtClean="0"/>
              <a:t>Example 7: </a:t>
            </a:r>
          </a:p>
          <a:p>
            <a:pPr>
              <a:buNone/>
            </a:pPr>
            <a:r>
              <a:rPr lang="en-GB" i="1" dirty="0" smtClean="0"/>
              <a:t>A steel strut has an outside diameter of 180mm and inside diameter of 120mm and is 6m long. It is hinged at both ends and is initially bent. Assuming the centre line of the strut as sinusoidal with maximum deviation of 9mm, determine the maximum stress developed due to an axial load of 150kN.take E=208 GPa</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6" name="Picture 2"/>
          <p:cNvPicPr>
            <a:picLocks noChangeAspect="1" noChangeArrowheads="1"/>
          </p:cNvPicPr>
          <p:nvPr/>
        </p:nvPicPr>
        <p:blipFill>
          <a:blip r:embed="rId3"/>
          <a:srcRect/>
          <a:stretch>
            <a:fillRect/>
          </a:stretch>
        </p:blipFill>
        <p:spPr bwMode="auto">
          <a:xfrm>
            <a:off x="309408" y="152400"/>
            <a:ext cx="8453592"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ChangeAspect="1" noChangeArrowheads="1"/>
          </p:cNvPicPr>
          <p:nvPr/>
        </p:nvPicPr>
        <p:blipFill>
          <a:blip r:embed="rId3"/>
          <a:srcRect/>
          <a:stretch>
            <a:fillRect/>
          </a:stretch>
        </p:blipFill>
        <p:spPr bwMode="auto">
          <a:xfrm>
            <a:off x="228600" y="381000"/>
            <a:ext cx="86868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3"/>
          <a:srcRect/>
          <a:stretch>
            <a:fillRect/>
          </a:stretch>
        </p:blipFill>
        <p:spPr bwMode="auto">
          <a:xfrm>
            <a:off x="228600" y="457200"/>
            <a:ext cx="8686800"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p:cNvPicPr>
            <a:picLocks noChangeAspect="1" noChangeArrowheads="1"/>
          </p:cNvPicPr>
          <p:nvPr/>
        </p:nvPicPr>
        <p:blipFill>
          <a:blip r:embed="rId3"/>
          <a:srcRect/>
          <a:stretch>
            <a:fillRect/>
          </a:stretch>
        </p:blipFill>
        <p:spPr bwMode="auto">
          <a:xfrm>
            <a:off x="228601" y="381000"/>
            <a:ext cx="86106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
          <p:cNvPicPr>
            <a:picLocks noChangeAspect="1" noChangeArrowheads="1"/>
          </p:cNvPicPr>
          <p:nvPr/>
        </p:nvPicPr>
        <p:blipFill>
          <a:blip r:embed="rId3"/>
          <a:srcRect/>
          <a:stretch>
            <a:fillRect/>
          </a:stretch>
        </p:blipFill>
        <p:spPr bwMode="auto">
          <a:xfrm>
            <a:off x="195454" y="381000"/>
            <a:ext cx="8747728" cy="6096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1"/>
            <a:ext cx="8534400" cy="5029200"/>
          </a:xfrm>
        </p:spPr>
        <p:txBody>
          <a:bodyPr/>
          <a:lstStyle/>
          <a:p>
            <a:pPr>
              <a:buNone/>
            </a:pPr>
            <a:r>
              <a:rPr lang="en-US" i="1" dirty="0" smtClean="0"/>
              <a:t>Example 8. </a:t>
            </a:r>
          </a:p>
          <a:p>
            <a:pPr>
              <a:buNone/>
            </a:pPr>
            <a:r>
              <a:rPr lang="en-US" i="1" dirty="0" smtClean="0"/>
              <a:t>Find the Euler's crippling load for a hollow cylindrical steel column of 38 mm external diameter and 2.5 mm thick. Take length of the column as 2.3 m and hinged at its both ends. Take E = 205 GPa. Also determine crippling load by Rankine's formula using constants as 335 MPa and 1/7500</a:t>
            </a: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ChangeAspect="1" noChangeArrowheads="1"/>
          </p:cNvPicPr>
          <p:nvPr/>
        </p:nvPicPr>
        <p:blipFill>
          <a:blip r:embed="rId3"/>
          <a:srcRect/>
          <a:stretch>
            <a:fillRect/>
          </a:stretch>
        </p:blipFill>
        <p:spPr bwMode="auto">
          <a:xfrm>
            <a:off x="152400" y="304800"/>
            <a:ext cx="87630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0" name="Picture 2"/>
          <p:cNvPicPr>
            <a:picLocks noChangeAspect="1" noChangeArrowheads="1"/>
          </p:cNvPicPr>
          <p:nvPr/>
        </p:nvPicPr>
        <p:blipFill>
          <a:blip r:embed="rId3"/>
          <a:srcRect/>
          <a:stretch>
            <a:fillRect/>
          </a:stretch>
        </p:blipFill>
        <p:spPr bwMode="auto">
          <a:xfrm>
            <a:off x="228600" y="381000"/>
            <a:ext cx="8657586"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noChangeArrowheads="1"/>
          </p:cNvPicPr>
          <p:nvPr/>
        </p:nvPicPr>
        <p:blipFill>
          <a:blip r:embed="rId3"/>
          <a:srcRect/>
          <a:stretch>
            <a:fillRect/>
          </a:stretch>
        </p:blipFill>
        <p:spPr bwMode="auto">
          <a:xfrm>
            <a:off x="152400" y="533400"/>
            <a:ext cx="8686801" cy="6019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9" name="Picture 3"/>
          <p:cNvPicPr>
            <a:picLocks noChangeAspect="1" noChangeArrowheads="1"/>
          </p:cNvPicPr>
          <p:nvPr/>
        </p:nvPicPr>
        <p:blipFill>
          <a:blip r:embed="rId3"/>
          <a:srcRect/>
          <a:stretch>
            <a:fillRect/>
          </a:stretch>
        </p:blipFill>
        <p:spPr bwMode="auto">
          <a:xfrm>
            <a:off x="228600" y="308136"/>
            <a:ext cx="8610600" cy="6245063"/>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ChangeAspect="1" noChangeArrowheads="1"/>
          </p:cNvPicPr>
          <p:nvPr/>
        </p:nvPicPr>
        <p:blipFill>
          <a:blip r:embed="rId3"/>
          <a:srcRect/>
          <a:stretch>
            <a:fillRect/>
          </a:stretch>
        </p:blipFill>
        <p:spPr bwMode="auto">
          <a:xfrm>
            <a:off x="228600" y="381000"/>
            <a:ext cx="8659234"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
          <p:cNvPicPr>
            <a:picLocks noChangeAspect="1" noChangeArrowheads="1"/>
          </p:cNvPicPr>
          <p:nvPr/>
        </p:nvPicPr>
        <p:blipFill>
          <a:blip r:embed="rId3"/>
          <a:srcRect/>
          <a:stretch>
            <a:fillRect/>
          </a:stretch>
        </p:blipFill>
        <p:spPr bwMode="auto">
          <a:xfrm>
            <a:off x="228600" y="228600"/>
            <a:ext cx="8686800" cy="64770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noChangeArrowheads="1"/>
          </p:cNvPicPr>
          <p:nvPr/>
        </p:nvPicPr>
        <p:blipFill>
          <a:blip r:embed="rId3"/>
          <a:srcRect/>
          <a:stretch>
            <a:fillRect/>
          </a:stretch>
        </p:blipFill>
        <p:spPr bwMode="auto">
          <a:xfrm>
            <a:off x="228600" y="228600"/>
            <a:ext cx="8686800" cy="4267200"/>
          </a:xfrm>
          <a:prstGeom prst="rect">
            <a:avLst/>
          </a:prstGeom>
          <a:noFill/>
          <a:ln w="9525">
            <a:noFill/>
            <a:miter lim="800000"/>
            <a:headEnd/>
            <a:tailEnd/>
          </a:ln>
          <a:effectLst/>
        </p:spPr>
      </p:pic>
      <p:pic>
        <p:nvPicPr>
          <p:cNvPr id="68611" name="Picture 3"/>
          <p:cNvPicPr>
            <a:picLocks noChangeAspect="1" noChangeArrowheads="1"/>
          </p:cNvPicPr>
          <p:nvPr/>
        </p:nvPicPr>
        <p:blipFill>
          <a:blip r:embed="rId4"/>
          <a:srcRect/>
          <a:stretch>
            <a:fillRect/>
          </a:stretch>
        </p:blipFill>
        <p:spPr bwMode="auto">
          <a:xfrm>
            <a:off x="304800" y="4495800"/>
            <a:ext cx="8458200" cy="21336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noChangeArrowheads="1"/>
          </p:cNvPicPr>
          <p:nvPr/>
        </p:nvPicPr>
        <p:blipFill>
          <a:blip r:embed="rId3"/>
          <a:srcRect/>
          <a:stretch>
            <a:fillRect/>
          </a:stretch>
        </p:blipFill>
        <p:spPr bwMode="auto">
          <a:xfrm>
            <a:off x="381000" y="381000"/>
            <a:ext cx="84582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ChangeAspect="1" noChangeArrowheads="1"/>
          </p:cNvPicPr>
          <p:nvPr/>
        </p:nvPicPr>
        <p:blipFill>
          <a:blip r:embed="rId3"/>
          <a:srcRect/>
          <a:stretch>
            <a:fillRect/>
          </a:stretch>
        </p:blipFill>
        <p:spPr bwMode="auto">
          <a:xfrm>
            <a:off x="228600" y="609600"/>
            <a:ext cx="8686800" cy="5791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48</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noChangeArrowheads="1"/>
          </p:cNvPicPr>
          <p:nvPr/>
        </p:nvPicPr>
        <p:blipFill>
          <a:blip r:embed="rId3"/>
          <a:srcRect/>
          <a:stretch>
            <a:fillRect/>
          </a:stretch>
        </p:blipFill>
        <p:spPr bwMode="auto">
          <a:xfrm>
            <a:off x="380999" y="304800"/>
            <a:ext cx="8329961"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noChangeArrowheads="1"/>
          </p:cNvPicPr>
          <p:nvPr/>
        </p:nvPicPr>
        <p:blipFill>
          <a:blip r:embed="rId3"/>
          <a:srcRect/>
          <a:stretch>
            <a:fillRect/>
          </a:stretch>
        </p:blipFill>
        <p:spPr bwMode="auto">
          <a:xfrm>
            <a:off x="304800" y="228600"/>
            <a:ext cx="83058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50</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85801"/>
            <a:ext cx="8534400" cy="5638799"/>
          </a:xfrm>
        </p:spPr>
        <p:txBody>
          <a:bodyPr/>
          <a:lstStyle/>
          <a:p>
            <a:pPr>
              <a:buNone/>
            </a:pPr>
            <a:r>
              <a:rPr lang="en-US" sz="4400" i="1" dirty="0" smtClean="0"/>
              <a:t>Example 11:</a:t>
            </a:r>
            <a:r>
              <a:rPr lang="en-US" sz="4400" b="1" dirty="0" smtClean="0"/>
              <a:t> </a:t>
            </a:r>
          </a:p>
          <a:p>
            <a:pPr>
              <a:buNone/>
            </a:pPr>
            <a:r>
              <a:rPr lang="en-US" sz="4400" i="1" dirty="0" smtClean="0"/>
              <a:t>A hollow cylindrical steel tube of 38 mm external diameter and </a:t>
            </a:r>
            <a:r>
              <a:rPr lang="en-US" sz="4400" dirty="0" smtClean="0"/>
              <a:t>2.5 </a:t>
            </a:r>
            <a:r>
              <a:rPr lang="en-US" sz="4400" i="1" dirty="0" smtClean="0"/>
              <a:t>mm thick is used as a column of 2.3 m. long with both ends hinged. Determine the safe load by I. S. code.</a:t>
            </a:r>
            <a:endParaRPr lang="en-US" sz="44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p:cNvPicPr>
            <a:picLocks noChangeAspect="1" noChangeArrowheads="1"/>
          </p:cNvPicPr>
          <p:nvPr/>
        </p:nvPicPr>
        <p:blipFill>
          <a:blip r:embed="rId3"/>
          <a:srcRect/>
          <a:stretch>
            <a:fillRect/>
          </a:stretch>
        </p:blipFill>
        <p:spPr bwMode="auto">
          <a:xfrm>
            <a:off x="228600" y="228600"/>
            <a:ext cx="8697671"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2"/>
          <p:cNvPicPr>
            <a:picLocks noChangeAspect="1" noChangeArrowheads="1"/>
          </p:cNvPicPr>
          <p:nvPr/>
        </p:nvPicPr>
        <p:blipFill>
          <a:blip r:embed="rId3"/>
          <a:srcRect/>
          <a:stretch>
            <a:fillRect/>
          </a:stretch>
        </p:blipFill>
        <p:spPr bwMode="auto">
          <a:xfrm>
            <a:off x="228600" y="228600"/>
            <a:ext cx="86868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898" name="Picture 2"/>
          <p:cNvPicPr>
            <a:picLocks noChangeAspect="1" noChangeArrowheads="1"/>
          </p:cNvPicPr>
          <p:nvPr/>
        </p:nvPicPr>
        <p:blipFill>
          <a:blip r:embed="rId3"/>
          <a:srcRect/>
          <a:stretch>
            <a:fillRect/>
          </a:stretch>
        </p:blipFill>
        <p:spPr bwMode="auto">
          <a:xfrm>
            <a:off x="228600" y="304800"/>
            <a:ext cx="86868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22" name="Picture 2"/>
          <p:cNvPicPr>
            <a:picLocks noChangeAspect="1" noChangeArrowheads="1"/>
          </p:cNvPicPr>
          <p:nvPr/>
        </p:nvPicPr>
        <p:blipFill>
          <a:blip r:embed="rId3"/>
          <a:srcRect/>
          <a:stretch>
            <a:fillRect/>
          </a:stretch>
        </p:blipFill>
        <p:spPr bwMode="auto">
          <a:xfrm>
            <a:off x="381000" y="228600"/>
            <a:ext cx="8407334"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946" name="Picture 2"/>
          <p:cNvPicPr>
            <a:picLocks noChangeAspect="1" noChangeArrowheads="1"/>
          </p:cNvPicPr>
          <p:nvPr/>
        </p:nvPicPr>
        <p:blipFill>
          <a:blip r:embed="rId3"/>
          <a:srcRect/>
          <a:stretch>
            <a:fillRect/>
          </a:stretch>
        </p:blipFill>
        <p:spPr bwMode="auto">
          <a:xfrm>
            <a:off x="304800" y="304800"/>
            <a:ext cx="8534400" cy="6324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56</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0" name="Picture 2"/>
          <p:cNvPicPr>
            <a:picLocks noChangeAspect="1" noChangeArrowheads="1"/>
          </p:cNvPicPr>
          <p:nvPr/>
        </p:nvPicPr>
        <p:blipFill>
          <a:blip r:embed="rId3"/>
          <a:srcRect/>
          <a:stretch>
            <a:fillRect/>
          </a:stretch>
        </p:blipFill>
        <p:spPr bwMode="auto">
          <a:xfrm>
            <a:off x="304800" y="304800"/>
            <a:ext cx="85344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57</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33400"/>
            <a:ext cx="8458200" cy="5592763"/>
          </a:xfrm>
        </p:spPr>
        <p:txBody>
          <a:bodyPr>
            <a:normAutofit lnSpcReduction="10000"/>
          </a:bodyPr>
          <a:lstStyle/>
          <a:p>
            <a:pPr>
              <a:buNone/>
            </a:pPr>
            <a:r>
              <a:rPr lang="en-US" sz="4000" i="1" dirty="0" smtClean="0"/>
              <a:t>Example 12: </a:t>
            </a:r>
          </a:p>
          <a:p>
            <a:pPr>
              <a:buNone/>
            </a:pPr>
            <a:r>
              <a:rPr lang="en-US" sz="4000" i="1" dirty="0" smtClean="0"/>
              <a:t>An alloy hollow circular column of 200 mm external and 160 mm internal diameter is 5 m long and fixed at both of its ends. It is subjected to a load of 120 kN at an eccentricity of 20 mm from the geometrical axis. Determine the maximum stress induced in the column section. Take E as 120 GPa</a:t>
            </a:r>
            <a:r>
              <a:rPr lang="en-US" i="1" dirty="0" smtClean="0"/>
              <a:t>.</a:t>
            </a:r>
            <a:endParaRPr lang="en-US"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4994" name="Picture 2"/>
          <p:cNvPicPr>
            <a:picLocks noChangeAspect="1" noChangeArrowheads="1"/>
          </p:cNvPicPr>
          <p:nvPr/>
        </p:nvPicPr>
        <p:blipFill>
          <a:blip r:embed="rId3"/>
          <a:srcRect/>
          <a:stretch>
            <a:fillRect/>
          </a:stretch>
        </p:blipFill>
        <p:spPr bwMode="auto">
          <a:xfrm>
            <a:off x="304800" y="304800"/>
            <a:ext cx="8458200" cy="6248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59</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1"/>
            <a:ext cx="8229600" cy="5257800"/>
          </a:xfrm>
        </p:spPr>
        <p:txBody>
          <a:bodyPr/>
          <a:lstStyle/>
          <a:p>
            <a:pPr>
              <a:buNone/>
            </a:pPr>
            <a:r>
              <a:rPr lang="en-GB" sz="4400" dirty="0" smtClean="0"/>
              <a:t>Self Assessment </a:t>
            </a:r>
            <a:endParaRPr lang="en-US" sz="4400" dirty="0" smtClean="0"/>
          </a:p>
          <a:p>
            <a:pPr>
              <a:buNone/>
            </a:pPr>
            <a:r>
              <a:rPr lang="en-GB" sz="4400" dirty="0" smtClean="0"/>
              <a:t> </a:t>
            </a:r>
            <a:endParaRPr lang="en-US" sz="4400" dirty="0" smtClean="0"/>
          </a:p>
          <a:p>
            <a:r>
              <a:rPr lang="en-GB" sz="4400" dirty="0" smtClean="0"/>
              <a:t>Derive the Rankine formula and state its validity for small short columns</a:t>
            </a:r>
            <a:endParaRPr lang="en-US" sz="4400" dirty="0" smtClean="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p:sp>
        <p:nvSpPr>
          <p:cNvPr id="5" name="Footer Placeholder 4"/>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018" name="Picture 2"/>
          <p:cNvPicPr>
            <a:picLocks noChangeAspect="1" noChangeArrowheads="1"/>
          </p:cNvPicPr>
          <p:nvPr/>
        </p:nvPicPr>
        <p:blipFill>
          <a:blip r:embed="rId3"/>
          <a:srcRect/>
          <a:stretch>
            <a:fillRect/>
          </a:stretch>
        </p:blipFill>
        <p:spPr bwMode="auto">
          <a:xfrm>
            <a:off x="228600" y="228600"/>
            <a:ext cx="87630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61</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042" name="Picture 2"/>
          <p:cNvPicPr>
            <a:picLocks noChangeAspect="1" noChangeArrowheads="1"/>
          </p:cNvPicPr>
          <p:nvPr/>
        </p:nvPicPr>
        <p:blipFill>
          <a:blip r:embed="rId3"/>
          <a:srcRect/>
          <a:stretch>
            <a:fillRect/>
          </a:stretch>
        </p:blipFill>
        <p:spPr bwMode="auto">
          <a:xfrm>
            <a:off x="0" y="457200"/>
            <a:ext cx="89154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62</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p:cNvPicPr>
            <a:picLocks noChangeAspect="1" noChangeArrowheads="1"/>
          </p:cNvPicPr>
          <p:nvPr/>
        </p:nvPicPr>
        <p:blipFill>
          <a:blip r:embed="rId3"/>
          <a:srcRect/>
          <a:stretch>
            <a:fillRect/>
          </a:stretch>
        </p:blipFill>
        <p:spPr bwMode="auto">
          <a:xfrm>
            <a:off x="228600" y="228600"/>
            <a:ext cx="8458200" cy="6172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63</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9090" name="Picture 2"/>
          <p:cNvPicPr>
            <a:picLocks noChangeAspect="1" noChangeArrowheads="1"/>
          </p:cNvPicPr>
          <p:nvPr/>
        </p:nvPicPr>
        <p:blipFill>
          <a:blip r:embed="rId3"/>
          <a:srcRect/>
          <a:stretch>
            <a:fillRect/>
          </a:stretch>
        </p:blipFill>
        <p:spPr bwMode="auto">
          <a:xfrm>
            <a:off x="228600" y="152400"/>
            <a:ext cx="8458200" cy="6400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64</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Picture 2"/>
          <p:cNvPicPr>
            <a:picLocks noChangeAspect="1" noChangeArrowheads="1"/>
          </p:cNvPicPr>
          <p:nvPr/>
        </p:nvPicPr>
        <p:blipFill>
          <a:blip r:embed="rId3"/>
          <a:srcRect/>
          <a:stretch>
            <a:fillRect/>
          </a:stretch>
        </p:blipFill>
        <p:spPr bwMode="auto">
          <a:xfrm>
            <a:off x="304800" y="533400"/>
            <a:ext cx="8382000" cy="2133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65</a:t>
            </a:fld>
            <a:endParaRPr lang="en-US"/>
          </a:p>
        </p:txBody>
      </p:sp>
      <p:sp>
        <p:nvSpPr>
          <p:cNvPr id="4" name="Footer Placeholder 3"/>
          <p:cNvSpPr>
            <a:spLocks noGrp="1"/>
          </p:cNvSpPr>
          <p:nvPr>
            <p:ph type="ftr" sz="quarter" idx="11"/>
          </p:nvPr>
        </p:nvSpPr>
        <p:spPr/>
        <p:txBody>
          <a:bodyPr/>
          <a:lstStyle/>
          <a:p>
            <a:r>
              <a:rPr lang="en-US" smtClean="0"/>
              <a:t>ME 356 Strength of Materials II for IDL</a:t>
            </a: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295</TotalTime>
  <Words>2370</Words>
  <Application>Microsoft Office PowerPoint</Application>
  <PresentationFormat>On-screen Show (4:3)</PresentationFormat>
  <Paragraphs>293</Paragraphs>
  <Slides>65</Slides>
  <Notes>65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3" baseType="lpstr">
      <vt:lpstr>Arial</vt:lpstr>
      <vt:lpstr>Arial Black</vt:lpstr>
      <vt:lpstr>Calibri</vt:lpstr>
      <vt:lpstr>Cambria</vt:lpstr>
      <vt:lpstr>HiddenHorzOCR</vt:lpstr>
      <vt:lpstr>Times New Roman</vt:lpstr>
      <vt:lpstr>Office Theme</vt:lpstr>
      <vt:lpstr>Equation</vt:lpstr>
      <vt:lpstr> COLUMNS AND STRUTS         By Dr. Andoh </vt:lpstr>
      <vt:lpstr>PowerPoint Presentation</vt:lpstr>
      <vt:lpstr>PowerPoint Presentation</vt:lpstr>
      <vt:lpstr>PowerPoint Presentation</vt:lpstr>
      <vt:lpstr>Euler's Column Theory</vt:lpstr>
      <vt:lpstr>Types of End Conditions of Columns </vt:lpstr>
      <vt:lpstr>PowerPoint Presentation</vt:lpstr>
      <vt:lpstr>PowerPoint Presentation</vt:lpstr>
      <vt:lpstr>PowerPoint Presentation</vt:lpstr>
      <vt:lpstr>PowerPoint Presentation</vt:lpstr>
      <vt:lpstr>Euler's Formula and Equivalent length of a Column </vt:lpstr>
      <vt:lpstr>PowerPoint Presentation</vt:lpstr>
      <vt:lpstr>Slenderness Ratio</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Papa</dc:creator>
  <cp:lastModifiedBy>Jerome Lavie</cp:lastModifiedBy>
  <cp:revision>101</cp:revision>
  <dcterms:created xsi:type="dcterms:W3CDTF">2006-08-16T00:00:00Z</dcterms:created>
  <dcterms:modified xsi:type="dcterms:W3CDTF">2015-11-02T23:45:06Z</dcterms:modified>
</cp:coreProperties>
</file>