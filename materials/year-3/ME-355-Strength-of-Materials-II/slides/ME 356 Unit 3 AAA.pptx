
<file path=[Content_Types].xml><?xml version="1.0" encoding="utf-8"?>
<Types xmlns="http://schemas.openxmlformats.org/package/2006/content-types">
  <Default Extension="bin" ContentType="application/vnd.openxmlformats-officedocument.oleObject"/>
  <Default Extension="png" ContentType="image/png"/>
  <Default Extension="emf" ContentType="image/x-emf"/>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4"/>
  </p:notesMasterIdLst>
  <p:sldIdLst>
    <p:sldId id="290" r:id="rId2"/>
    <p:sldId id="257" r:id="rId3"/>
    <p:sldId id="258" r:id="rId4"/>
    <p:sldId id="259" r:id="rId5"/>
    <p:sldId id="260" r:id="rId6"/>
    <p:sldId id="261" r:id="rId7"/>
    <p:sldId id="262" r:id="rId8"/>
    <p:sldId id="263" r:id="rId9"/>
    <p:sldId id="264" r:id="rId10"/>
    <p:sldId id="266" r:id="rId11"/>
    <p:sldId id="265"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7" r:id="rId31"/>
    <p:sldId id="288" r:id="rId32"/>
    <p:sldId id="289" r:id="rId33"/>
  </p:sldIdLst>
  <p:sldSz cx="12241213"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5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5" d="100"/>
          <a:sy n="75" d="100"/>
        </p:scale>
        <p:origin x="504" y="72"/>
      </p:cViewPr>
      <p:guideLst>
        <p:guide orient="horz" pos="2160"/>
        <p:guide pos="3856"/>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image" Target="../media/image5.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image" Target="../media/image8.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image" Target="../media/image11.wmf"/><Relationship Id="rId1" Type="http://schemas.openxmlformats.org/officeDocument/2006/relationships/image" Target="../media/image10.wmf"/><Relationship Id="rId4" Type="http://schemas.openxmlformats.org/officeDocument/2006/relationships/image" Target="../media/image13.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15.wmf"/><Relationship Id="rId1" Type="http://schemas.openxmlformats.org/officeDocument/2006/relationships/image" Target="../media/image14.e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image" Target="../media/image16.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9DDA94A-F681-4BD4-9F72-BF11F0EBAA5A}" type="datetimeFigureOut">
              <a:rPr lang="en-US" smtClean="0"/>
              <a:t>12/7/2015</a:t>
            </a:fld>
            <a:endParaRPr lang="en-US"/>
          </a:p>
        </p:txBody>
      </p:sp>
      <p:sp>
        <p:nvSpPr>
          <p:cNvPr id="4" name="Slide Image Placeholder 3"/>
          <p:cNvSpPr>
            <a:spLocks noGrp="1" noRot="1" noChangeAspect="1"/>
          </p:cNvSpPr>
          <p:nvPr>
            <p:ph type="sldImg" idx="2"/>
          </p:nvPr>
        </p:nvSpPr>
        <p:spPr>
          <a:xfrm>
            <a:off x="369888" y="685800"/>
            <a:ext cx="6118225"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B3535CA-B94E-42B7-B115-6923F062897E}" type="slidenum">
              <a:rPr lang="en-US" smtClean="0"/>
              <a:t>‹#›</a:t>
            </a:fld>
            <a:endParaRPr lang="en-US"/>
          </a:p>
        </p:txBody>
      </p:sp>
    </p:spTree>
    <p:extLst>
      <p:ext uri="{BB962C8B-B14F-4D97-AF65-F5344CB8AC3E}">
        <p14:creationId xmlns:p14="http://schemas.microsoft.com/office/powerpoint/2010/main" val="4798129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B3535CA-B94E-42B7-B115-6923F062897E}" type="slidenum">
              <a:rPr lang="en-US" smtClean="0"/>
              <a:t>1</a:t>
            </a:fld>
            <a:endParaRPr lang="en-US"/>
          </a:p>
        </p:txBody>
      </p:sp>
    </p:spTree>
    <p:extLst>
      <p:ext uri="{BB962C8B-B14F-4D97-AF65-F5344CB8AC3E}">
        <p14:creationId xmlns:p14="http://schemas.microsoft.com/office/powerpoint/2010/main" val="384950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B3535CA-B94E-42B7-B115-6923F062897E}" type="slidenum">
              <a:rPr lang="en-US" smtClean="0"/>
              <a:t>2</a:t>
            </a:fld>
            <a:endParaRPr lang="en-US"/>
          </a:p>
        </p:txBody>
      </p:sp>
    </p:spTree>
    <p:extLst>
      <p:ext uri="{BB962C8B-B14F-4D97-AF65-F5344CB8AC3E}">
        <p14:creationId xmlns:p14="http://schemas.microsoft.com/office/powerpoint/2010/main" val="14092786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B3535CA-B94E-42B7-B115-6923F062897E}" type="slidenum">
              <a:rPr lang="en-US" smtClean="0"/>
              <a:t>3</a:t>
            </a:fld>
            <a:endParaRPr lang="en-US"/>
          </a:p>
        </p:txBody>
      </p:sp>
    </p:spTree>
    <p:extLst>
      <p:ext uri="{BB962C8B-B14F-4D97-AF65-F5344CB8AC3E}">
        <p14:creationId xmlns:p14="http://schemas.microsoft.com/office/powerpoint/2010/main" val="13831781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B3535CA-B94E-42B7-B115-6923F062897E}" type="slidenum">
              <a:rPr lang="en-US" smtClean="0"/>
              <a:t>4</a:t>
            </a:fld>
            <a:endParaRPr lang="en-US"/>
          </a:p>
        </p:txBody>
      </p:sp>
    </p:spTree>
    <p:extLst>
      <p:ext uri="{BB962C8B-B14F-4D97-AF65-F5344CB8AC3E}">
        <p14:creationId xmlns:p14="http://schemas.microsoft.com/office/powerpoint/2010/main" val="16859159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B3535CA-B94E-42B7-B115-6923F062897E}" type="slidenum">
              <a:rPr lang="en-US" smtClean="0"/>
              <a:t>5</a:t>
            </a:fld>
            <a:endParaRPr lang="en-US"/>
          </a:p>
        </p:txBody>
      </p:sp>
    </p:spTree>
    <p:extLst>
      <p:ext uri="{BB962C8B-B14F-4D97-AF65-F5344CB8AC3E}">
        <p14:creationId xmlns:p14="http://schemas.microsoft.com/office/powerpoint/2010/main" val="32189295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B3535CA-B94E-42B7-B115-6923F062897E}" type="slidenum">
              <a:rPr lang="en-US" smtClean="0"/>
              <a:t>6</a:t>
            </a:fld>
            <a:endParaRPr lang="en-US"/>
          </a:p>
        </p:txBody>
      </p:sp>
    </p:spTree>
    <p:extLst>
      <p:ext uri="{BB962C8B-B14F-4D97-AF65-F5344CB8AC3E}">
        <p14:creationId xmlns:p14="http://schemas.microsoft.com/office/powerpoint/2010/main" val="33848766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B3535CA-B94E-42B7-B115-6923F062897E}" type="slidenum">
              <a:rPr lang="en-US" smtClean="0"/>
              <a:t>7</a:t>
            </a:fld>
            <a:endParaRPr lang="en-US"/>
          </a:p>
        </p:txBody>
      </p:sp>
    </p:spTree>
    <p:extLst>
      <p:ext uri="{BB962C8B-B14F-4D97-AF65-F5344CB8AC3E}">
        <p14:creationId xmlns:p14="http://schemas.microsoft.com/office/powerpoint/2010/main" val="39427673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B3535CA-B94E-42B7-B115-6923F062897E}" type="slidenum">
              <a:rPr lang="en-US" smtClean="0"/>
              <a:t>8</a:t>
            </a:fld>
            <a:endParaRPr lang="en-US"/>
          </a:p>
        </p:txBody>
      </p:sp>
    </p:spTree>
    <p:extLst>
      <p:ext uri="{BB962C8B-B14F-4D97-AF65-F5344CB8AC3E}">
        <p14:creationId xmlns:p14="http://schemas.microsoft.com/office/powerpoint/2010/main" val="38215313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B3535CA-B94E-42B7-B115-6923F062897E}" type="slidenum">
              <a:rPr lang="en-US" smtClean="0"/>
              <a:t>9</a:t>
            </a:fld>
            <a:endParaRPr lang="en-US"/>
          </a:p>
        </p:txBody>
      </p:sp>
    </p:spTree>
    <p:extLst>
      <p:ext uri="{BB962C8B-B14F-4D97-AF65-F5344CB8AC3E}">
        <p14:creationId xmlns:p14="http://schemas.microsoft.com/office/powerpoint/2010/main" val="134952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B3535CA-B94E-42B7-B115-6923F062897E}" type="slidenum">
              <a:rPr lang="en-US" smtClean="0"/>
              <a:t>10</a:t>
            </a:fld>
            <a:endParaRPr lang="en-US"/>
          </a:p>
        </p:txBody>
      </p:sp>
    </p:spTree>
    <p:extLst>
      <p:ext uri="{BB962C8B-B14F-4D97-AF65-F5344CB8AC3E}">
        <p14:creationId xmlns:p14="http://schemas.microsoft.com/office/powerpoint/2010/main" val="29685995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B3535CA-B94E-42B7-B115-6923F062897E}" type="slidenum">
              <a:rPr lang="en-US" smtClean="0"/>
              <a:t>11</a:t>
            </a:fld>
            <a:endParaRPr lang="en-US"/>
          </a:p>
        </p:txBody>
      </p:sp>
    </p:spTree>
    <p:extLst>
      <p:ext uri="{BB962C8B-B14F-4D97-AF65-F5344CB8AC3E}">
        <p14:creationId xmlns:p14="http://schemas.microsoft.com/office/powerpoint/2010/main" val="16423468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B3535CA-B94E-42B7-B115-6923F062897E}" type="slidenum">
              <a:rPr lang="en-US" smtClean="0"/>
              <a:t>12</a:t>
            </a:fld>
            <a:endParaRPr lang="en-US"/>
          </a:p>
        </p:txBody>
      </p:sp>
    </p:spTree>
    <p:extLst>
      <p:ext uri="{BB962C8B-B14F-4D97-AF65-F5344CB8AC3E}">
        <p14:creationId xmlns:p14="http://schemas.microsoft.com/office/powerpoint/2010/main" val="11414299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B3535CA-B94E-42B7-B115-6923F062897E}" type="slidenum">
              <a:rPr lang="en-US" smtClean="0"/>
              <a:t>13</a:t>
            </a:fld>
            <a:endParaRPr lang="en-US"/>
          </a:p>
        </p:txBody>
      </p:sp>
    </p:spTree>
    <p:extLst>
      <p:ext uri="{BB962C8B-B14F-4D97-AF65-F5344CB8AC3E}">
        <p14:creationId xmlns:p14="http://schemas.microsoft.com/office/powerpoint/2010/main" val="42081340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B3535CA-B94E-42B7-B115-6923F062897E}" type="slidenum">
              <a:rPr lang="en-US" smtClean="0"/>
              <a:t>14</a:t>
            </a:fld>
            <a:endParaRPr lang="en-US"/>
          </a:p>
        </p:txBody>
      </p:sp>
    </p:spTree>
    <p:extLst>
      <p:ext uri="{BB962C8B-B14F-4D97-AF65-F5344CB8AC3E}">
        <p14:creationId xmlns:p14="http://schemas.microsoft.com/office/powerpoint/2010/main" val="25841297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B3535CA-B94E-42B7-B115-6923F062897E}" type="slidenum">
              <a:rPr lang="en-US" smtClean="0"/>
              <a:t>15</a:t>
            </a:fld>
            <a:endParaRPr lang="en-US"/>
          </a:p>
        </p:txBody>
      </p:sp>
    </p:spTree>
    <p:extLst>
      <p:ext uri="{BB962C8B-B14F-4D97-AF65-F5344CB8AC3E}">
        <p14:creationId xmlns:p14="http://schemas.microsoft.com/office/powerpoint/2010/main" val="17608168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B3535CA-B94E-42B7-B115-6923F062897E}" type="slidenum">
              <a:rPr lang="en-US" smtClean="0"/>
              <a:t>16</a:t>
            </a:fld>
            <a:endParaRPr lang="en-US"/>
          </a:p>
        </p:txBody>
      </p:sp>
    </p:spTree>
    <p:extLst>
      <p:ext uri="{BB962C8B-B14F-4D97-AF65-F5344CB8AC3E}">
        <p14:creationId xmlns:p14="http://schemas.microsoft.com/office/powerpoint/2010/main" val="143659913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B3535CA-B94E-42B7-B115-6923F062897E}" type="slidenum">
              <a:rPr lang="en-US" smtClean="0"/>
              <a:t>17</a:t>
            </a:fld>
            <a:endParaRPr lang="en-US"/>
          </a:p>
        </p:txBody>
      </p:sp>
    </p:spTree>
    <p:extLst>
      <p:ext uri="{BB962C8B-B14F-4D97-AF65-F5344CB8AC3E}">
        <p14:creationId xmlns:p14="http://schemas.microsoft.com/office/powerpoint/2010/main" val="256400499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B3535CA-B94E-42B7-B115-6923F062897E}" type="slidenum">
              <a:rPr lang="en-US" smtClean="0"/>
              <a:t>18</a:t>
            </a:fld>
            <a:endParaRPr lang="en-US"/>
          </a:p>
        </p:txBody>
      </p:sp>
    </p:spTree>
    <p:extLst>
      <p:ext uri="{BB962C8B-B14F-4D97-AF65-F5344CB8AC3E}">
        <p14:creationId xmlns:p14="http://schemas.microsoft.com/office/powerpoint/2010/main" val="209137384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B3535CA-B94E-42B7-B115-6923F062897E}" type="slidenum">
              <a:rPr lang="en-US" smtClean="0"/>
              <a:t>19</a:t>
            </a:fld>
            <a:endParaRPr lang="en-US"/>
          </a:p>
        </p:txBody>
      </p:sp>
    </p:spTree>
    <p:extLst>
      <p:ext uri="{BB962C8B-B14F-4D97-AF65-F5344CB8AC3E}">
        <p14:creationId xmlns:p14="http://schemas.microsoft.com/office/powerpoint/2010/main" val="3794348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B3535CA-B94E-42B7-B115-6923F062897E}" type="slidenum">
              <a:rPr lang="en-US" smtClean="0"/>
              <a:t>20</a:t>
            </a:fld>
            <a:endParaRPr lang="en-US"/>
          </a:p>
        </p:txBody>
      </p:sp>
    </p:spTree>
    <p:extLst>
      <p:ext uri="{BB962C8B-B14F-4D97-AF65-F5344CB8AC3E}">
        <p14:creationId xmlns:p14="http://schemas.microsoft.com/office/powerpoint/2010/main" val="416703014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B3535CA-B94E-42B7-B115-6923F062897E}" type="slidenum">
              <a:rPr lang="en-US" smtClean="0"/>
              <a:t>21</a:t>
            </a:fld>
            <a:endParaRPr lang="en-US"/>
          </a:p>
        </p:txBody>
      </p:sp>
    </p:spTree>
    <p:extLst>
      <p:ext uri="{BB962C8B-B14F-4D97-AF65-F5344CB8AC3E}">
        <p14:creationId xmlns:p14="http://schemas.microsoft.com/office/powerpoint/2010/main" val="333784746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B3535CA-B94E-42B7-B115-6923F062897E}" type="slidenum">
              <a:rPr lang="en-US" smtClean="0"/>
              <a:t>22</a:t>
            </a:fld>
            <a:endParaRPr lang="en-US"/>
          </a:p>
        </p:txBody>
      </p:sp>
    </p:spTree>
    <p:extLst>
      <p:ext uri="{BB962C8B-B14F-4D97-AF65-F5344CB8AC3E}">
        <p14:creationId xmlns:p14="http://schemas.microsoft.com/office/powerpoint/2010/main" val="61004572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B3535CA-B94E-42B7-B115-6923F062897E}" type="slidenum">
              <a:rPr lang="en-US" smtClean="0"/>
              <a:t>23</a:t>
            </a:fld>
            <a:endParaRPr lang="en-US"/>
          </a:p>
        </p:txBody>
      </p:sp>
    </p:spTree>
    <p:extLst>
      <p:ext uri="{BB962C8B-B14F-4D97-AF65-F5344CB8AC3E}">
        <p14:creationId xmlns:p14="http://schemas.microsoft.com/office/powerpoint/2010/main" val="417439490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B3535CA-B94E-42B7-B115-6923F062897E}" type="slidenum">
              <a:rPr lang="en-US" smtClean="0"/>
              <a:t>24</a:t>
            </a:fld>
            <a:endParaRPr lang="en-US"/>
          </a:p>
        </p:txBody>
      </p:sp>
    </p:spTree>
    <p:extLst>
      <p:ext uri="{BB962C8B-B14F-4D97-AF65-F5344CB8AC3E}">
        <p14:creationId xmlns:p14="http://schemas.microsoft.com/office/powerpoint/2010/main" val="354810443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B3535CA-B94E-42B7-B115-6923F062897E}" type="slidenum">
              <a:rPr lang="en-US" smtClean="0"/>
              <a:t>25</a:t>
            </a:fld>
            <a:endParaRPr lang="en-US"/>
          </a:p>
        </p:txBody>
      </p:sp>
    </p:spTree>
    <p:extLst>
      <p:ext uri="{BB962C8B-B14F-4D97-AF65-F5344CB8AC3E}">
        <p14:creationId xmlns:p14="http://schemas.microsoft.com/office/powerpoint/2010/main" val="152411085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B3535CA-B94E-42B7-B115-6923F062897E}" type="slidenum">
              <a:rPr lang="en-US" smtClean="0"/>
              <a:t>26</a:t>
            </a:fld>
            <a:endParaRPr lang="en-US"/>
          </a:p>
        </p:txBody>
      </p:sp>
    </p:spTree>
    <p:extLst>
      <p:ext uri="{BB962C8B-B14F-4D97-AF65-F5344CB8AC3E}">
        <p14:creationId xmlns:p14="http://schemas.microsoft.com/office/powerpoint/2010/main" val="174461962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B3535CA-B94E-42B7-B115-6923F062897E}" type="slidenum">
              <a:rPr lang="en-US" smtClean="0"/>
              <a:t>27</a:t>
            </a:fld>
            <a:endParaRPr lang="en-US"/>
          </a:p>
        </p:txBody>
      </p:sp>
    </p:spTree>
    <p:extLst>
      <p:ext uri="{BB962C8B-B14F-4D97-AF65-F5344CB8AC3E}">
        <p14:creationId xmlns:p14="http://schemas.microsoft.com/office/powerpoint/2010/main" val="349386920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B3535CA-B94E-42B7-B115-6923F062897E}" type="slidenum">
              <a:rPr lang="en-US" smtClean="0"/>
              <a:t>28</a:t>
            </a:fld>
            <a:endParaRPr lang="en-US"/>
          </a:p>
        </p:txBody>
      </p:sp>
    </p:spTree>
    <p:extLst>
      <p:ext uri="{BB962C8B-B14F-4D97-AF65-F5344CB8AC3E}">
        <p14:creationId xmlns:p14="http://schemas.microsoft.com/office/powerpoint/2010/main" val="271780330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B3535CA-B94E-42B7-B115-6923F062897E}" type="slidenum">
              <a:rPr lang="en-US" smtClean="0"/>
              <a:t>29</a:t>
            </a:fld>
            <a:endParaRPr lang="en-US"/>
          </a:p>
        </p:txBody>
      </p:sp>
    </p:spTree>
    <p:extLst>
      <p:ext uri="{BB962C8B-B14F-4D97-AF65-F5344CB8AC3E}">
        <p14:creationId xmlns:p14="http://schemas.microsoft.com/office/powerpoint/2010/main" val="115080469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B3535CA-B94E-42B7-B115-6923F062897E}" type="slidenum">
              <a:rPr lang="en-US" smtClean="0"/>
              <a:t>30</a:t>
            </a:fld>
            <a:endParaRPr lang="en-US"/>
          </a:p>
        </p:txBody>
      </p:sp>
    </p:spTree>
    <p:extLst>
      <p:ext uri="{BB962C8B-B14F-4D97-AF65-F5344CB8AC3E}">
        <p14:creationId xmlns:p14="http://schemas.microsoft.com/office/powerpoint/2010/main" val="127755688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B3535CA-B94E-42B7-B115-6923F062897E}" type="slidenum">
              <a:rPr lang="en-US" smtClean="0"/>
              <a:t>31</a:t>
            </a:fld>
            <a:endParaRPr lang="en-US"/>
          </a:p>
        </p:txBody>
      </p:sp>
    </p:spTree>
    <p:extLst>
      <p:ext uri="{BB962C8B-B14F-4D97-AF65-F5344CB8AC3E}">
        <p14:creationId xmlns:p14="http://schemas.microsoft.com/office/powerpoint/2010/main" val="321410893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B3535CA-B94E-42B7-B115-6923F062897E}" type="slidenum">
              <a:rPr lang="en-US" smtClean="0"/>
              <a:t>32</a:t>
            </a:fld>
            <a:endParaRPr lang="en-US"/>
          </a:p>
        </p:txBody>
      </p:sp>
    </p:spTree>
    <p:extLst>
      <p:ext uri="{BB962C8B-B14F-4D97-AF65-F5344CB8AC3E}">
        <p14:creationId xmlns:p14="http://schemas.microsoft.com/office/powerpoint/2010/main" val="27378367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8091" y="2130426"/>
            <a:ext cx="10405031"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836182" y="3886200"/>
            <a:ext cx="8568849"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DF3F3EF1-B467-48E0-AC6C-5B0466A2C66B}" type="datetime1">
              <a:rPr lang="en-US" smtClean="0"/>
              <a:t>12/7/2015</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29699A6-D1E3-4B70-9FD0-C332BFA50EE4}" type="datetime1">
              <a:rPr lang="en-US" smtClean="0"/>
              <a:t>12/7/2015</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6972" y="4406901"/>
            <a:ext cx="10405031"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966972" y="2906713"/>
            <a:ext cx="10405031"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B74CFB5-07FC-49E3-8460-5E331EA8ABC8}" type="datetime1">
              <a:rPr lang="en-US" smtClean="0"/>
              <a:t>12/7/2015</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12061" y="1600201"/>
            <a:ext cx="5406536"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222616" y="1600201"/>
            <a:ext cx="5406536"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449BE0E1-4B43-4F5C-A182-69A222942BAE}" type="datetime1">
              <a:rPr lang="en-US" smtClean="0"/>
              <a:t>12/7/2015</a:t>
            </a:fld>
            <a:endParaRPr lang="en-US"/>
          </a:p>
        </p:txBody>
      </p:sp>
      <p:sp>
        <p:nvSpPr>
          <p:cNvPr id="6" name="Footer Placeholder 5"/>
          <p:cNvSpPr>
            <a:spLocks noGrp="1"/>
          </p:cNvSpPr>
          <p:nvPr>
            <p:ph type="ftr" sz="quarter" idx="11"/>
          </p:nvPr>
        </p:nvSpPr>
        <p:spPr/>
        <p:txBody>
          <a:bodyPr/>
          <a:lstStyle/>
          <a:p>
            <a:r>
              <a:rPr lang="en-US" smtClean="0"/>
              <a:t>ME 356 Strength of Materials II for IDL</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12060" y="1535113"/>
            <a:ext cx="5408662"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12060" y="2174875"/>
            <a:ext cx="5408662"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218367" y="1535113"/>
            <a:ext cx="5410786"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18367" y="2174875"/>
            <a:ext cx="5410786"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F946D361-1B52-45D3-A029-B75A2E5F24BF}" type="datetime1">
              <a:rPr lang="en-US" smtClean="0"/>
              <a:t>12/7/2015</a:t>
            </a:fld>
            <a:endParaRPr lang="en-US"/>
          </a:p>
        </p:txBody>
      </p:sp>
      <p:sp>
        <p:nvSpPr>
          <p:cNvPr id="8" name="Footer Placeholder 7"/>
          <p:cNvSpPr>
            <a:spLocks noGrp="1"/>
          </p:cNvSpPr>
          <p:nvPr>
            <p:ph type="ftr" sz="quarter" idx="11"/>
          </p:nvPr>
        </p:nvSpPr>
        <p:spPr/>
        <p:txBody>
          <a:bodyPr/>
          <a:lstStyle/>
          <a:p>
            <a:r>
              <a:rPr lang="en-US" smtClean="0"/>
              <a:t>ME 356 Strength of Materials II for IDL</a:t>
            </a:r>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C007F9D5-093D-47FC-9BAE-1C8BC679D2B0}" type="datetime1">
              <a:rPr lang="en-US" smtClean="0"/>
              <a:t>12/7/2015</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54DE999-DB8E-4D56-A8EE-6A5835D35111}" type="datetime1">
              <a:rPr lang="en-US" smtClean="0"/>
              <a:t>12/7/2015</a:t>
            </a:fld>
            <a:endParaRPr lang="en-US"/>
          </a:p>
        </p:txBody>
      </p:sp>
      <p:sp>
        <p:nvSpPr>
          <p:cNvPr id="3" name="Footer Placeholder 2"/>
          <p:cNvSpPr>
            <a:spLocks noGrp="1"/>
          </p:cNvSpPr>
          <p:nvPr>
            <p:ph type="ftr" sz="quarter" idx="11"/>
          </p:nvPr>
        </p:nvSpPr>
        <p:spPr/>
        <p:txBody>
          <a:bodyPr/>
          <a:lstStyle/>
          <a:p>
            <a:r>
              <a:rPr lang="en-US" smtClean="0"/>
              <a:t>ME 356 Strength of Materials II for IDL</a:t>
            </a:r>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12061" y="273050"/>
            <a:ext cx="4027275"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785974" y="273051"/>
            <a:ext cx="6843178"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12061" y="1435101"/>
            <a:ext cx="4027275"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A28E180-C113-4B4F-AA86-889E43FB1F4E}" type="datetime1">
              <a:rPr lang="en-US" smtClean="0"/>
              <a:t>12/7/2015</a:t>
            </a:fld>
            <a:endParaRPr lang="en-US"/>
          </a:p>
        </p:txBody>
      </p:sp>
      <p:sp>
        <p:nvSpPr>
          <p:cNvPr id="6" name="Footer Placeholder 5"/>
          <p:cNvSpPr>
            <a:spLocks noGrp="1"/>
          </p:cNvSpPr>
          <p:nvPr>
            <p:ph type="ftr" sz="quarter" idx="11"/>
          </p:nvPr>
        </p:nvSpPr>
        <p:spPr/>
        <p:txBody>
          <a:bodyPr/>
          <a:lstStyle/>
          <a:p>
            <a:r>
              <a:rPr lang="en-US" smtClean="0"/>
              <a:t>ME 356 Strength of Materials II for IDL</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99363" y="4800600"/>
            <a:ext cx="7344728"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399363" y="612775"/>
            <a:ext cx="7344728"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99363" y="5367338"/>
            <a:ext cx="7344728"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B8B34CE-E965-4CCD-93C0-79529CADAFD8}" type="datetime1">
              <a:rPr lang="en-US" smtClean="0"/>
              <a:t>12/7/2015</a:t>
            </a:fld>
            <a:endParaRPr lang="en-US"/>
          </a:p>
        </p:txBody>
      </p:sp>
      <p:sp>
        <p:nvSpPr>
          <p:cNvPr id="6" name="Footer Placeholder 5"/>
          <p:cNvSpPr>
            <a:spLocks noGrp="1"/>
          </p:cNvSpPr>
          <p:nvPr>
            <p:ph type="ftr" sz="quarter" idx="11"/>
          </p:nvPr>
        </p:nvSpPr>
        <p:spPr/>
        <p:txBody>
          <a:bodyPr/>
          <a:lstStyle/>
          <a:p>
            <a:r>
              <a:rPr lang="en-US" smtClean="0"/>
              <a:t>ME 356 Strength of Materials II for IDL</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1671B42-8F13-4BD2-BF91-3AE22DCD9B8B}" type="datetime1">
              <a:rPr lang="en-US" smtClean="0"/>
              <a:t>12/7/2015</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74879" y="274639"/>
            <a:ext cx="2754273"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12060" y="274639"/>
            <a:ext cx="8058799"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FC19328-E3D8-4F0E-8E6D-9715B15F21A3}" type="datetime1">
              <a:rPr lang="en-US" smtClean="0"/>
              <a:t>12/7/2015</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12061" y="274638"/>
            <a:ext cx="11017092"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12061" y="1600201"/>
            <a:ext cx="11017092"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12061" y="6356351"/>
            <a:ext cx="2856283"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848FE3F-8636-4144-888D-3BBEC9D73F12}" type="datetime1">
              <a:rPr lang="en-US" smtClean="0"/>
              <a:t>12/7/2015</a:t>
            </a:fld>
            <a:endParaRPr lang="en-US"/>
          </a:p>
        </p:txBody>
      </p:sp>
      <p:sp>
        <p:nvSpPr>
          <p:cNvPr id="5" name="Footer Placeholder 4"/>
          <p:cNvSpPr>
            <a:spLocks noGrp="1"/>
          </p:cNvSpPr>
          <p:nvPr>
            <p:ph type="ftr" sz="quarter" idx="3"/>
          </p:nvPr>
        </p:nvSpPr>
        <p:spPr>
          <a:xfrm>
            <a:off x="4182415" y="6356351"/>
            <a:ext cx="3876384"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ME 356 Strength of Materials II for IDL</a:t>
            </a:r>
            <a:endParaRPr lang="en-US"/>
          </a:p>
        </p:txBody>
      </p:sp>
      <p:sp>
        <p:nvSpPr>
          <p:cNvPr id="6" name="Slide Number Placeholder 5"/>
          <p:cNvSpPr>
            <a:spLocks noGrp="1"/>
          </p:cNvSpPr>
          <p:nvPr>
            <p:ph type="sldNum" sz="quarter" idx="4"/>
          </p:nvPr>
        </p:nvSpPr>
        <p:spPr>
          <a:xfrm>
            <a:off x="8772869" y="6356351"/>
            <a:ext cx="2856283"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7" Type="http://schemas.openxmlformats.org/officeDocument/2006/relationships/image" Target="../media/image4.emf"/><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3.wmf"/><Relationship Id="rId4" Type="http://schemas.openxmlformats.org/officeDocument/2006/relationships/oleObject" Target="../embeddings/oleObject1.bin"/></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7" Type="http://schemas.openxmlformats.org/officeDocument/2006/relationships/image" Target="../media/image6.wmf"/><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oleObject" Target="../embeddings/oleObject4.bin"/><Relationship Id="rId5" Type="http://schemas.openxmlformats.org/officeDocument/2006/relationships/image" Target="../media/image5.wmf"/><Relationship Id="rId4" Type="http://schemas.openxmlformats.org/officeDocument/2006/relationships/oleObject" Target="../embeddings/oleObject3.bin"/></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7.wmf"/><Relationship Id="rId4" Type="http://schemas.openxmlformats.org/officeDocument/2006/relationships/oleObject" Target="../embeddings/oleObject5.bin"/></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7" Type="http://schemas.openxmlformats.org/officeDocument/2006/relationships/image" Target="../media/image9.wmf"/><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oleObject" Target="../embeddings/oleObject7.bin"/><Relationship Id="rId5" Type="http://schemas.openxmlformats.org/officeDocument/2006/relationships/image" Target="../media/image8.wmf"/><Relationship Id="rId4" Type="http://schemas.openxmlformats.org/officeDocument/2006/relationships/oleObject" Target="../embeddings/oleObject6.bin"/></Relationships>
</file>

<file path=ppt/slides/_rels/slide16.xml.rels><?xml version="1.0" encoding="UTF-8" standalone="yes"?>
<Relationships xmlns="http://schemas.openxmlformats.org/package/2006/relationships"><Relationship Id="rId8" Type="http://schemas.openxmlformats.org/officeDocument/2006/relationships/oleObject" Target="../embeddings/oleObject10.bin"/><Relationship Id="rId3" Type="http://schemas.openxmlformats.org/officeDocument/2006/relationships/notesSlide" Target="../notesSlides/notesSlide16.xml"/><Relationship Id="rId7" Type="http://schemas.openxmlformats.org/officeDocument/2006/relationships/image" Target="../media/image11.wmf"/><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oleObject" Target="../embeddings/oleObject9.bin"/><Relationship Id="rId11" Type="http://schemas.openxmlformats.org/officeDocument/2006/relationships/image" Target="../media/image13.wmf"/><Relationship Id="rId5" Type="http://schemas.openxmlformats.org/officeDocument/2006/relationships/image" Target="../media/image10.wmf"/><Relationship Id="rId10" Type="http://schemas.openxmlformats.org/officeDocument/2006/relationships/oleObject" Target="../embeddings/oleObject11.bin"/><Relationship Id="rId4" Type="http://schemas.openxmlformats.org/officeDocument/2006/relationships/oleObject" Target="../embeddings/oleObject8.bin"/><Relationship Id="rId9" Type="http://schemas.openxmlformats.org/officeDocument/2006/relationships/image" Target="../media/image12.wmf"/></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7" Type="http://schemas.openxmlformats.org/officeDocument/2006/relationships/image" Target="../media/image15.wmf"/><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oleObject" Target="../embeddings/oleObject13.bin"/><Relationship Id="rId5" Type="http://schemas.openxmlformats.org/officeDocument/2006/relationships/image" Target="../media/image14.emf"/><Relationship Id="rId4" Type="http://schemas.openxmlformats.org/officeDocument/2006/relationships/oleObject" Target="../embeddings/oleObject12.bin"/></Relationships>
</file>

<file path=ppt/slides/_rels/slide18.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notesSlide" Target="../notesSlides/notesSlide18.xml"/><Relationship Id="rId7" Type="http://schemas.openxmlformats.org/officeDocument/2006/relationships/image" Target="../media/image17.wmf"/><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oleObject" Target="../embeddings/oleObject15.bin"/><Relationship Id="rId5" Type="http://schemas.openxmlformats.org/officeDocument/2006/relationships/image" Target="../media/image16.wmf"/><Relationship Id="rId4" Type="http://schemas.openxmlformats.org/officeDocument/2006/relationships/oleObject" Target="../embeddings/oleObject14.bin"/></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emf"/></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2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18091" y="685801"/>
            <a:ext cx="10405031" cy="2743200"/>
          </a:xfrm>
        </p:spPr>
        <p:txBody>
          <a:bodyPr>
            <a:noAutofit/>
          </a:bodyPr>
          <a:lstStyle/>
          <a:p>
            <a:r>
              <a:rPr lang="en-GB" sz="6000" b="1" i="1" cap="none" dirty="0" smtClean="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rPr>
              <a:t>COMPRESSIONS, </a:t>
            </a:r>
            <a:br>
              <a:rPr lang="en-GB" sz="6000" b="1" i="1" cap="none" dirty="0" smtClean="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rPr>
            </a:br>
            <a:r>
              <a:rPr lang="en-GB" sz="6000" b="1" i="1" cap="none" dirty="0" smtClean="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rPr>
              <a:t>BENDING </a:t>
            </a:r>
            <a:br>
              <a:rPr lang="en-GB" sz="6000" b="1" i="1" cap="none" dirty="0" smtClean="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rPr>
            </a:br>
            <a:r>
              <a:rPr lang="en-GB" sz="6000" b="1" i="1" cap="none" dirty="0" smtClean="0">
                <a:ln>
                  <a:prstDash val="solid"/>
                </a:ln>
                <a:gradFill rotWithShape="1">
                  <a:gsLst>
                    <a:gs pos="0">
                      <a:schemeClr val="accent4">
                        <a:tint val="70000"/>
                        <a:satMod val="200000"/>
                      </a:schemeClr>
                    </a:gs>
                    <a:gs pos="40000">
                      <a:schemeClr val="accent4">
                        <a:tint val="90000"/>
                        <a:satMod val="130000"/>
                      </a:schemeClr>
                    </a:gs>
                    <a:gs pos="50000">
                      <a:schemeClr val="accent4">
                        <a:tint val="90000"/>
                        <a:satMod val="130000"/>
                      </a:schemeClr>
                    </a:gs>
                    <a:gs pos="68000">
                      <a:schemeClr val="accent4">
                        <a:tint val="90000"/>
                        <a:satMod val="130000"/>
                      </a:schemeClr>
                    </a:gs>
                    <a:gs pos="100000">
                      <a:schemeClr val="accent4">
                        <a:tint val="70000"/>
                        <a:satMod val="200000"/>
                      </a:schemeClr>
                    </a:gs>
                  </a:gsLst>
                  <a:lin ang="5400000"/>
                </a:gradFill>
                <a:effectLst>
                  <a:outerShdw blurRad="88000" dist="50800" dir="5040000" algn="tl">
                    <a:schemeClr val="accent4">
                      <a:tint val="80000"/>
                      <a:satMod val="250000"/>
                      <a:alpha val="45000"/>
                    </a:schemeClr>
                  </a:outerShdw>
                </a:effectLst>
              </a:rPr>
              <a:t>AND TORSION UNDER PLASTIC CONDITIONS</a:t>
            </a:r>
            <a:endParaRPr lang="en-US" sz="6000" b="1" i="1" dirty="0"/>
          </a:p>
        </p:txBody>
      </p:sp>
      <p:sp>
        <p:nvSpPr>
          <p:cNvPr id="3" name="Subtitle 2"/>
          <p:cNvSpPr>
            <a:spLocks noGrp="1"/>
          </p:cNvSpPr>
          <p:nvPr>
            <p:ph type="subTitle" idx="1"/>
          </p:nvPr>
        </p:nvSpPr>
        <p:spPr>
          <a:xfrm>
            <a:off x="1836182" y="5867400"/>
            <a:ext cx="8568849" cy="838200"/>
          </a:xfrm>
        </p:spPr>
        <p:txBody>
          <a:bodyPr>
            <a:normAutofit/>
          </a:bodyPr>
          <a:lstStyle/>
          <a:p>
            <a:r>
              <a:rPr lang="en-US" sz="4000" b="1" i="1" dirty="0" smtClean="0"/>
              <a:t>By Dr. </a:t>
            </a:r>
            <a:r>
              <a:rPr lang="en-US" sz="4000" b="1" i="1" dirty="0" err="1" smtClean="0"/>
              <a:t>Andoh</a:t>
            </a:r>
            <a:endParaRPr lang="en-US" sz="4000" b="1" i="1"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Introduction</a:t>
            </a:r>
          </a:p>
        </p:txBody>
      </p:sp>
      <p:sp>
        <p:nvSpPr>
          <p:cNvPr id="3" name="Content Placeholder 2"/>
          <p:cNvSpPr>
            <a:spLocks noGrp="1"/>
          </p:cNvSpPr>
          <p:nvPr>
            <p:ph idx="1"/>
          </p:nvPr>
        </p:nvSpPr>
        <p:spPr>
          <a:xfrm>
            <a:off x="820162" y="2895600"/>
            <a:ext cx="10915083" cy="2286000"/>
          </a:xfrm>
        </p:spPr>
        <p:txBody>
          <a:bodyPr/>
          <a:lstStyle/>
          <a:p>
            <a:pPr marL="0" indent="0" algn="ctr">
              <a:buNone/>
            </a:pPr>
            <a:r>
              <a:rPr lang="en-GB" dirty="0"/>
              <a:t>This unit discusses the bending moment and torsion required to form a plastic hinge and also </a:t>
            </a:r>
            <a:r>
              <a:rPr lang="en-GB" dirty="0" smtClean="0"/>
              <a:t>the distribution </a:t>
            </a:r>
            <a:r>
              <a:rPr lang="en-GB" dirty="0"/>
              <a:t>along a beam at a collapse load.</a:t>
            </a:r>
          </a:p>
          <a:p>
            <a:pPr algn="ctr"/>
            <a:endParaRPr lang="en-GB"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extLst>
      <p:ext uri="{BB962C8B-B14F-4D97-AF65-F5344CB8AC3E}">
        <p14:creationId xmlns:p14="http://schemas.microsoft.com/office/powerpoint/2010/main" val="2138364562"/>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Learning Objectives</a:t>
            </a:r>
            <a:br>
              <a:rPr lang="en-GB" dirty="0"/>
            </a:br>
            <a:endParaRPr lang="en-GB" dirty="0"/>
          </a:p>
        </p:txBody>
      </p:sp>
      <p:sp>
        <p:nvSpPr>
          <p:cNvPr id="3" name="Content Placeholder 2"/>
          <p:cNvSpPr>
            <a:spLocks noGrp="1"/>
          </p:cNvSpPr>
          <p:nvPr>
            <p:ph idx="1"/>
          </p:nvPr>
        </p:nvSpPr>
        <p:spPr/>
        <p:txBody>
          <a:bodyPr/>
          <a:lstStyle/>
          <a:p>
            <a:pPr marL="0" indent="0">
              <a:buNone/>
            </a:pPr>
            <a:r>
              <a:rPr lang="en-GB" b="1" dirty="0"/>
              <a:t>After reading this unit you should be able to:</a:t>
            </a:r>
            <a:r>
              <a:rPr lang="en-GB" dirty="0"/>
              <a:t> </a:t>
            </a:r>
          </a:p>
          <a:p>
            <a:pPr lvl="0"/>
            <a:r>
              <a:rPr lang="en-US" dirty="0"/>
              <a:t>Calculate the bending moment required to form a plastic hinge for any particular cross-section, </a:t>
            </a:r>
            <a:endParaRPr lang="en-GB" dirty="0"/>
          </a:p>
          <a:p>
            <a:pPr lvl="0"/>
            <a:r>
              <a:rPr lang="en-US" dirty="0"/>
              <a:t>Determine the distribution of bending moment along the beam at the collapse load. </a:t>
            </a:r>
            <a:endParaRPr lang="en-GB" dirty="0"/>
          </a:p>
          <a:p>
            <a:pPr lvl="0"/>
            <a:r>
              <a:rPr lang="en-US" dirty="0"/>
              <a:t>Compute the shape factor for each type of cross-section</a:t>
            </a:r>
            <a:endParaRPr lang="en-GB" dirty="0"/>
          </a:p>
          <a:p>
            <a:r>
              <a:rPr lang="en-GB" dirty="0"/>
              <a:t>Calculate the torque required to form a plastic hinge for a circular section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3</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extLst>
      <p:ext uri="{BB962C8B-B14F-4D97-AF65-F5344CB8AC3E}">
        <p14:creationId xmlns:p14="http://schemas.microsoft.com/office/powerpoint/2010/main" val="415704963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5970" y="228600"/>
            <a:ext cx="11429212" cy="990600"/>
          </a:xfrm>
        </p:spPr>
        <p:txBody>
          <a:bodyPr>
            <a:normAutofit/>
          </a:bodyPr>
          <a:lstStyle/>
          <a:p>
            <a:r>
              <a:rPr lang="en-GB" dirty="0"/>
              <a:t>MOMENT UNDER PLASTIC CONDITION</a:t>
            </a:r>
          </a:p>
        </p:txBody>
      </p:sp>
      <p:sp>
        <p:nvSpPr>
          <p:cNvPr id="3" name="Content Placeholder 2"/>
          <p:cNvSpPr>
            <a:spLocks noGrp="1"/>
          </p:cNvSpPr>
          <p:nvPr>
            <p:ph idx="1"/>
          </p:nvPr>
        </p:nvSpPr>
        <p:spPr>
          <a:xfrm>
            <a:off x="820162" y="1600200"/>
            <a:ext cx="10915083" cy="4800600"/>
          </a:xfrm>
        </p:spPr>
        <p:txBody>
          <a:bodyPr>
            <a:normAutofit/>
          </a:bodyPr>
          <a:lstStyle/>
          <a:p>
            <a:pPr marL="0" indent="0">
              <a:buNone/>
            </a:pPr>
            <a:r>
              <a:rPr lang="en-GB" dirty="0"/>
              <a:t>In the elastic theory of bending, the method of design has been to calculate the maximum stresses occurring, and to keep them within the limits of working stresses in tension and compression, the working stresses being obtained by dividing the yield (or ultimate) stress by a factor of safety. However, mild-steel structures do not fail as soon as the edge stress at any cross-section reaches the yield point, and will continue to withstand the load as long as a central core of the section remains in the elastic state.</a:t>
            </a:r>
          </a:p>
          <a:p>
            <a:pPr marL="0" indent="0">
              <a:buNone/>
            </a:pPr>
            <a:endParaRPr lang="en-GB"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4</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extLst>
      <p:ext uri="{BB962C8B-B14F-4D97-AF65-F5344CB8AC3E}">
        <p14:creationId xmlns:p14="http://schemas.microsoft.com/office/powerpoint/2010/main" val="213005231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10051" y="1600200"/>
            <a:ext cx="11323122" cy="5257800"/>
          </a:xfrm>
        </p:spPr>
        <p:txBody>
          <a:bodyPr>
            <a:normAutofit fontScale="92500"/>
          </a:bodyPr>
          <a:lstStyle/>
          <a:p>
            <a:r>
              <a:rPr lang="en-GB" dirty="0"/>
              <a:t>In any particular loaded beam, if the load system were increased gradually, yielding would first occur at the extreme fibres of the" weakest" section (if the material exhibits a drop in stress at yield, the lower yield stress is taken to apply). These fibres are then said to be in the </a:t>
            </a:r>
            <a:r>
              <a:rPr lang="en-GB" i="1" dirty="0"/>
              <a:t>plastic </a:t>
            </a:r>
            <a:r>
              <a:rPr lang="en-GB" dirty="0"/>
              <a:t>state, and further increase in loading will bring about a considerable increase in strain (and hence deflection) at that section of the beam, with a redistribution of stress. With mild steel this increase in strain can take place without the stress rising above the yield point (i.e. strain hardening effects can be neglected, the plastic strain at yield being of the order 10/20 times the elastic strain), so that the stress in the plastic region may be assumed constant. </a:t>
            </a:r>
          </a:p>
        </p:txBody>
      </p:sp>
      <p:sp>
        <p:nvSpPr>
          <p:cNvPr id="4" name="Slide Number Placeholder 3"/>
          <p:cNvSpPr>
            <a:spLocks noGrp="1"/>
          </p:cNvSpPr>
          <p:nvPr>
            <p:ph type="sldNum" sz="quarter" idx="12"/>
          </p:nvPr>
        </p:nvSpPr>
        <p:spPr/>
        <p:txBody>
          <a:bodyPr/>
          <a:lstStyle/>
          <a:p>
            <a:fld id="{B6F15528-21DE-4FAA-801E-634DDDAF4B2B}" type="slidenum">
              <a:rPr lang="en-US" smtClean="0"/>
              <a:pPr/>
              <a:t>5</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extLst>
      <p:ext uri="{BB962C8B-B14F-4D97-AF65-F5344CB8AC3E}">
        <p14:creationId xmlns:p14="http://schemas.microsoft.com/office/powerpoint/2010/main" val="73391074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34206" y="381000"/>
            <a:ext cx="11101039" cy="6248400"/>
          </a:xfrm>
        </p:spPr>
        <p:txBody>
          <a:bodyPr>
            <a:normAutofit/>
          </a:bodyPr>
          <a:lstStyle/>
          <a:p>
            <a:r>
              <a:rPr lang="en-GB" dirty="0"/>
              <a:t>When the whole cross section at any point in a structure becomes plastic, no further increase in the moment of resistance is possible without excessive strain (equivalent to</a:t>
            </a:r>
            <a:r>
              <a:rPr lang="en-GB" i="1" dirty="0"/>
              <a:t> </a:t>
            </a:r>
            <a:r>
              <a:rPr lang="en-GB" dirty="0"/>
              <a:t>an increase in curvature at that section) and a </a:t>
            </a:r>
            <a:r>
              <a:rPr lang="en-GB" i="1" dirty="0"/>
              <a:t>plastic hinge </a:t>
            </a:r>
            <a:r>
              <a:rPr lang="en-GB" dirty="0"/>
              <a:t>has</a:t>
            </a:r>
            <a:r>
              <a:rPr lang="en-GB" i="1" dirty="0"/>
              <a:t> </a:t>
            </a:r>
            <a:r>
              <a:rPr lang="en-GB" dirty="0"/>
              <a:t>been developed. </a:t>
            </a:r>
            <a:endParaRPr lang="en-GB" dirty="0" smtClean="0"/>
          </a:p>
          <a:p>
            <a:r>
              <a:rPr lang="en-GB" dirty="0" smtClean="0"/>
              <a:t>Depending </a:t>
            </a:r>
            <a:r>
              <a:rPr lang="en-GB" dirty="0"/>
              <a:t>on the type of structure (e.g. simply</a:t>
            </a:r>
            <a:r>
              <a:rPr lang="en-GB" i="1" dirty="0"/>
              <a:t> </a:t>
            </a:r>
            <a:r>
              <a:rPr lang="en-GB" dirty="0"/>
              <a:t>supported beam, built-in beam, rigid frame, etc.) one or more plastic</a:t>
            </a:r>
            <a:r>
              <a:rPr lang="en-GB" i="1" dirty="0"/>
              <a:t> </a:t>
            </a:r>
            <a:r>
              <a:rPr lang="en-GB" dirty="0"/>
              <a:t>hinges are required to cause complete collapse. The value of the load to produce this state is called the </a:t>
            </a:r>
            <a:r>
              <a:rPr lang="en-GB" i="1" dirty="0"/>
              <a:t>collapse load, </a:t>
            </a:r>
            <a:r>
              <a:rPr lang="en-GB" dirty="0"/>
              <a:t>and the ratio collapse load: working load is called the </a:t>
            </a:r>
            <a:r>
              <a:rPr lang="en-GB" i="1" dirty="0"/>
              <a:t>load factor. </a:t>
            </a:r>
            <a:endParaRPr lang="en-GB" i="1" dirty="0" smtClean="0"/>
          </a:p>
          <a:p>
            <a:r>
              <a:rPr lang="en-GB" dirty="0" smtClean="0"/>
              <a:t>In </a:t>
            </a:r>
            <a:r>
              <a:rPr lang="en-GB" dirty="0"/>
              <a:t>plastic design this factor is used to replace the normal factor of safety.</a:t>
            </a:r>
          </a:p>
          <a:p>
            <a:endParaRPr lang="en-GB" dirty="0"/>
          </a:p>
          <a:p>
            <a:pPr marL="0" indent="0">
              <a:buNone/>
            </a:pPr>
            <a:endParaRPr lang="en-GB"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6</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extLst>
      <p:ext uri="{BB962C8B-B14F-4D97-AF65-F5344CB8AC3E}">
        <p14:creationId xmlns:p14="http://schemas.microsoft.com/office/powerpoint/2010/main" val="417228892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Assumptions in the Plastic Theory</a:t>
            </a:r>
          </a:p>
        </p:txBody>
      </p:sp>
      <p:sp>
        <p:nvSpPr>
          <p:cNvPr id="3" name="Content Placeholder 2"/>
          <p:cNvSpPr>
            <a:spLocks noGrp="1"/>
          </p:cNvSpPr>
          <p:nvPr>
            <p:ph idx="1"/>
          </p:nvPr>
        </p:nvSpPr>
        <p:spPr>
          <a:xfrm>
            <a:off x="481806" y="1524000"/>
            <a:ext cx="11277600" cy="5105400"/>
          </a:xfrm>
        </p:spPr>
        <p:txBody>
          <a:bodyPr/>
          <a:lstStyle/>
          <a:p>
            <a:r>
              <a:rPr lang="en-GB" dirty="0"/>
              <a:t>The material exhibits a marked yield, and can undergo considerable strain at yield without further increase in stress. This limits application of the theory generally to </a:t>
            </a:r>
            <a:r>
              <a:rPr lang="en-GB" i="1" dirty="0"/>
              <a:t>mild steels, </a:t>
            </a:r>
            <a:r>
              <a:rPr lang="en-GB" dirty="0"/>
              <a:t>and as there is a drop in stress at yield the lower yield stress is used in calculations. </a:t>
            </a:r>
            <a:r>
              <a:rPr lang="en-GB" dirty="0" smtClean="0"/>
              <a:t>Below shows </a:t>
            </a:r>
            <a:r>
              <a:rPr lang="en-GB" dirty="0"/>
              <a:t>the idealized stress-strain diagram for such a material.</a:t>
            </a:r>
          </a:p>
          <a:p>
            <a:pPr marL="514350" indent="-514350">
              <a:buFont typeface="+mj-lt"/>
              <a:buAutoNum type="arabicPeriod"/>
            </a:pPr>
            <a:endParaRPr lang="en-GB" dirty="0"/>
          </a:p>
        </p:txBody>
      </p:sp>
      <p:pic>
        <p:nvPicPr>
          <p:cNvPr id="4" name="Picture 3"/>
          <p:cNvPicPr/>
          <p:nvPr/>
        </p:nvPicPr>
        <p:blipFill>
          <a:blip r:embed="rId3"/>
          <a:srcRect/>
          <a:stretch>
            <a:fillRect/>
          </a:stretch>
        </p:blipFill>
        <p:spPr bwMode="auto">
          <a:xfrm>
            <a:off x="2234406" y="4419600"/>
            <a:ext cx="8077200" cy="2286000"/>
          </a:xfrm>
          <a:prstGeom prst="rect">
            <a:avLst/>
          </a:prstGeom>
          <a:noFill/>
          <a:ln w="9525">
            <a:noFill/>
            <a:miter lim="800000"/>
            <a:headEnd/>
            <a:tailEnd/>
          </a:ln>
        </p:spPr>
      </p:pic>
      <p:sp>
        <p:nvSpPr>
          <p:cNvPr id="5" name="Slide Number Placeholder 4"/>
          <p:cNvSpPr>
            <a:spLocks noGrp="1"/>
          </p:cNvSpPr>
          <p:nvPr>
            <p:ph type="sldNum" sz="quarter" idx="12"/>
          </p:nvPr>
        </p:nvSpPr>
        <p:spPr/>
        <p:txBody>
          <a:bodyPr/>
          <a:lstStyle/>
          <a:p>
            <a:fld id="{B6F15528-21DE-4FAA-801E-634DDDAF4B2B}" type="slidenum">
              <a:rPr lang="en-US" smtClean="0"/>
              <a:pPr/>
              <a:t>7</a:t>
            </a:fld>
            <a:endParaRPr lang="en-US"/>
          </a:p>
        </p:txBody>
      </p:sp>
      <p:sp>
        <p:nvSpPr>
          <p:cNvPr id="6" name="Footer Placeholder 5"/>
          <p:cNvSpPr>
            <a:spLocks noGrp="1"/>
          </p:cNvSpPr>
          <p:nvPr>
            <p:ph type="ftr" sz="quarter" idx="11"/>
          </p:nvPr>
        </p:nvSpPr>
        <p:spPr/>
        <p:txBody>
          <a:bodyPr/>
          <a:lstStyle/>
          <a:p>
            <a:r>
              <a:rPr lang="en-US" smtClean="0"/>
              <a:t>ME 356 Strength of Materials II for IDL</a:t>
            </a:r>
            <a:endParaRPr lang="en-US"/>
          </a:p>
        </p:txBody>
      </p:sp>
    </p:spTree>
    <p:extLst>
      <p:ext uri="{BB962C8B-B14F-4D97-AF65-F5344CB8AC3E}">
        <p14:creationId xmlns:p14="http://schemas.microsoft.com/office/powerpoint/2010/main" val="403327461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2061" y="381000"/>
            <a:ext cx="11017092" cy="5867400"/>
          </a:xfrm>
        </p:spPr>
        <p:txBody>
          <a:bodyPr>
            <a:normAutofit/>
          </a:bodyPr>
          <a:lstStyle/>
          <a:p>
            <a:r>
              <a:rPr lang="en-GB" dirty="0"/>
              <a:t>The yield stress is the same in tension and compression.</a:t>
            </a:r>
          </a:p>
          <a:p>
            <a:r>
              <a:rPr lang="en-GB" dirty="0"/>
              <a:t>Transverse cross-sections remain plane, so that strain is proportional to the distance from the neutral axis, though in the plastic region stress will be constant, and not</a:t>
            </a:r>
            <a:r>
              <a:rPr lang="en-GB" i="1" dirty="0"/>
              <a:t> </a:t>
            </a:r>
            <a:r>
              <a:rPr lang="en-GB" dirty="0"/>
              <a:t>proportional to strain.</a:t>
            </a:r>
          </a:p>
          <a:p>
            <a:r>
              <a:rPr lang="en-GB" dirty="0"/>
              <a:t>When a plastic hinge has developed at any cross-section the moment of resistance at that point remains constant until collapse of the whole structure takes place due to the formation of the required number of further plastic hinges at other points.</a:t>
            </a:r>
          </a:p>
          <a:p>
            <a:pPr>
              <a:buFont typeface="Wingdings" pitchFamily="2" charset="2"/>
              <a:buChar char="q"/>
            </a:pPr>
            <a:endParaRPr lang="en-GB"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8</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extLst>
      <p:ext uri="{BB962C8B-B14F-4D97-AF65-F5344CB8AC3E}">
        <p14:creationId xmlns:p14="http://schemas.microsoft.com/office/powerpoint/2010/main" val="316157021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Moment of Resistance at the Plastic Hinges</a:t>
            </a:r>
          </a:p>
        </p:txBody>
      </p:sp>
      <p:sp>
        <p:nvSpPr>
          <p:cNvPr id="3" name="Content Placeholder 2"/>
          <p:cNvSpPr>
            <a:spLocks noGrp="1"/>
          </p:cNvSpPr>
          <p:nvPr>
            <p:ph idx="1"/>
          </p:nvPr>
        </p:nvSpPr>
        <p:spPr>
          <a:xfrm>
            <a:off x="820162" y="1600200"/>
            <a:ext cx="10915083" cy="5181600"/>
          </a:xfrm>
        </p:spPr>
        <p:txBody>
          <a:bodyPr>
            <a:normAutofit/>
          </a:bodyPr>
          <a:lstStyle/>
          <a:p>
            <a:pPr marL="0" indent="0"/>
            <a:r>
              <a:rPr lang="en-GB" dirty="0" smtClean="0"/>
              <a:t>The figure (a) below </a:t>
            </a:r>
            <a:r>
              <a:rPr lang="en-GB" dirty="0"/>
              <a:t>shows the variation of stress </a:t>
            </a:r>
            <a:r>
              <a:rPr lang="en-GB" dirty="0" smtClean="0"/>
              <a:t>and </a:t>
            </a:r>
            <a:r>
              <a:rPr lang="en-GB" dirty="0"/>
              <a:t>strain in a symmetrical cross-section under the working load, by the simple theory of bending, </a:t>
            </a:r>
            <a:r>
              <a:rPr lang="en-GB" i="1" dirty="0"/>
              <a:t>(</a:t>
            </a:r>
            <a:r>
              <a:rPr lang="en-GB" i="1" dirty="0" err="1"/>
              <a:t>σ</a:t>
            </a:r>
            <a:r>
              <a:rPr lang="en-GB" i="1" baseline="-25000" dirty="0" err="1"/>
              <a:t>w</a:t>
            </a:r>
            <a:r>
              <a:rPr lang="en-GB" i="1" dirty="0"/>
              <a:t> </a:t>
            </a:r>
            <a:r>
              <a:rPr lang="en-GB" dirty="0"/>
              <a:t>is the maximum working stress). </a:t>
            </a:r>
          </a:p>
        </p:txBody>
      </p:sp>
      <p:pic>
        <p:nvPicPr>
          <p:cNvPr id="4" name="Picture 3"/>
          <p:cNvPicPr/>
          <p:nvPr/>
        </p:nvPicPr>
        <p:blipFill>
          <a:blip r:embed="rId3"/>
          <a:srcRect/>
          <a:stretch>
            <a:fillRect/>
          </a:stretch>
        </p:blipFill>
        <p:spPr bwMode="auto">
          <a:xfrm>
            <a:off x="1015206" y="3352800"/>
            <a:ext cx="10363200" cy="3200400"/>
          </a:xfrm>
          <a:prstGeom prst="rect">
            <a:avLst/>
          </a:prstGeom>
          <a:noFill/>
          <a:ln w="9525">
            <a:noFill/>
            <a:miter lim="800000"/>
            <a:headEnd/>
            <a:tailEnd/>
          </a:ln>
        </p:spPr>
      </p:pic>
      <p:sp>
        <p:nvSpPr>
          <p:cNvPr id="5" name="Slide Number Placeholder 4"/>
          <p:cNvSpPr>
            <a:spLocks noGrp="1"/>
          </p:cNvSpPr>
          <p:nvPr>
            <p:ph type="sldNum" sz="quarter" idx="12"/>
          </p:nvPr>
        </p:nvSpPr>
        <p:spPr/>
        <p:txBody>
          <a:bodyPr/>
          <a:lstStyle/>
          <a:p>
            <a:fld id="{B6F15528-21DE-4FAA-801E-634DDDAF4B2B}" type="slidenum">
              <a:rPr lang="en-US" smtClean="0"/>
              <a:pPr/>
              <a:t>9</a:t>
            </a:fld>
            <a:endParaRPr lang="en-US"/>
          </a:p>
        </p:txBody>
      </p:sp>
      <p:sp>
        <p:nvSpPr>
          <p:cNvPr id="6" name="Footer Placeholder 5"/>
          <p:cNvSpPr>
            <a:spLocks noGrp="1"/>
          </p:cNvSpPr>
          <p:nvPr>
            <p:ph type="ftr" sz="quarter" idx="11"/>
          </p:nvPr>
        </p:nvSpPr>
        <p:spPr/>
        <p:txBody>
          <a:bodyPr/>
          <a:lstStyle/>
          <a:p>
            <a:r>
              <a:rPr lang="en-US" smtClean="0"/>
              <a:t>ME 356 Strength of Materials II for IDL</a:t>
            </a:r>
            <a:endParaRPr lang="en-US"/>
          </a:p>
        </p:txBody>
      </p:sp>
    </p:spTree>
    <p:extLst>
      <p:ext uri="{BB962C8B-B14F-4D97-AF65-F5344CB8AC3E}">
        <p14:creationId xmlns:p14="http://schemas.microsoft.com/office/powerpoint/2010/main" val="184929832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2061" y="533401"/>
            <a:ext cx="11017092" cy="5592764"/>
          </a:xfrm>
        </p:spPr>
        <p:txBody>
          <a:bodyPr/>
          <a:lstStyle/>
          <a:p>
            <a:pPr marL="0" indent="0">
              <a:buNone/>
            </a:pPr>
            <a:r>
              <a:rPr lang="en-GB" dirty="0" smtClean="0"/>
              <a:t>If </a:t>
            </a:r>
            <a:r>
              <a:rPr lang="en-GB" dirty="0"/>
              <a:t>the load is increased until yielding occurs in the extreme fibres the partially plastic state of Figure </a:t>
            </a:r>
            <a:r>
              <a:rPr lang="en-GB" dirty="0" smtClean="0"/>
              <a:t>(b</a:t>
            </a:r>
            <a:r>
              <a:rPr lang="en-GB" dirty="0"/>
              <a:t>) would be obtained, </a:t>
            </a:r>
            <a:r>
              <a:rPr lang="en-GB" dirty="0" smtClean="0"/>
              <a:t>where</a:t>
            </a:r>
            <a:r>
              <a:rPr lang="en-GB" i="1" dirty="0" smtClean="0"/>
              <a:t> σ </a:t>
            </a:r>
            <a:r>
              <a:rPr lang="en-GB" dirty="0"/>
              <a:t>is the lower yield stress (note how the assumptions are applied).</a:t>
            </a:r>
          </a:p>
        </p:txBody>
      </p:sp>
      <p:pic>
        <p:nvPicPr>
          <p:cNvPr id="4" name="Picture 3"/>
          <p:cNvPicPr/>
          <p:nvPr/>
        </p:nvPicPr>
        <p:blipFill>
          <a:blip r:embed="rId3"/>
          <a:srcRect/>
          <a:stretch>
            <a:fillRect/>
          </a:stretch>
        </p:blipFill>
        <p:spPr bwMode="auto">
          <a:xfrm>
            <a:off x="862806" y="2971800"/>
            <a:ext cx="10363200" cy="3657600"/>
          </a:xfrm>
          <a:prstGeom prst="rect">
            <a:avLst/>
          </a:prstGeom>
          <a:noFill/>
          <a:ln w="9525">
            <a:noFill/>
            <a:miter lim="800000"/>
            <a:headEnd/>
            <a:tailEnd/>
          </a:ln>
        </p:spPr>
      </p:pic>
      <p:sp>
        <p:nvSpPr>
          <p:cNvPr id="5" name="Slide Number Placeholder 4"/>
          <p:cNvSpPr>
            <a:spLocks noGrp="1"/>
          </p:cNvSpPr>
          <p:nvPr>
            <p:ph type="sldNum" sz="quarter" idx="12"/>
          </p:nvPr>
        </p:nvSpPr>
        <p:spPr/>
        <p:txBody>
          <a:bodyPr/>
          <a:lstStyle/>
          <a:p>
            <a:fld id="{B6F15528-21DE-4FAA-801E-634DDDAF4B2B}" type="slidenum">
              <a:rPr lang="en-US" smtClean="0"/>
              <a:pPr/>
              <a:t>10</a:t>
            </a:fld>
            <a:endParaRPr lang="en-US"/>
          </a:p>
        </p:txBody>
      </p:sp>
      <p:sp>
        <p:nvSpPr>
          <p:cNvPr id="6" name="Footer Placeholder 5"/>
          <p:cNvSpPr>
            <a:spLocks noGrp="1"/>
          </p:cNvSpPr>
          <p:nvPr>
            <p:ph type="ftr" sz="quarter" idx="11"/>
          </p:nvPr>
        </p:nvSpPr>
        <p:spPr/>
        <p:txBody>
          <a:bodyPr/>
          <a:lstStyle/>
          <a:p>
            <a:r>
              <a:rPr lang="en-US" smtClean="0"/>
              <a:t>ME 356 Strength of Materials II for IDL</a:t>
            </a:r>
            <a:endParaRPr lang="en-US"/>
          </a:p>
        </p:txBody>
      </p:sp>
    </p:spTree>
    <p:extLst>
      <p:ext uri="{BB962C8B-B14F-4D97-AF65-F5344CB8AC3E}">
        <p14:creationId xmlns:p14="http://schemas.microsoft.com/office/powerpoint/2010/main" val="362258453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2061" y="457201"/>
            <a:ext cx="11017092" cy="5668964"/>
          </a:xfrm>
        </p:spPr>
        <p:txBody>
          <a:bodyPr/>
          <a:lstStyle/>
          <a:p>
            <a:pPr marL="0" indent="0">
              <a:buNone/>
            </a:pPr>
            <a:r>
              <a:rPr lang="en-GB" dirty="0"/>
              <a:t>Further increase in load produces the fully plastic state of Figure </a:t>
            </a:r>
            <a:r>
              <a:rPr lang="en-GB" dirty="0" smtClean="0"/>
              <a:t>(c</a:t>
            </a:r>
            <a:r>
              <a:rPr lang="en-GB" dirty="0"/>
              <a:t>), in which the stress is assumed uniform and equal to </a:t>
            </a:r>
            <a:r>
              <a:rPr lang="en-GB" i="1" dirty="0" err="1"/>
              <a:t>σ</a:t>
            </a:r>
            <a:r>
              <a:rPr lang="en-GB" i="1" baseline="-25000" dirty="0" err="1"/>
              <a:t>y</a:t>
            </a:r>
            <a:r>
              <a:rPr lang="en-GB" i="1" dirty="0"/>
              <a:t>. </a:t>
            </a:r>
            <a:r>
              <a:rPr lang="en-GB" dirty="0"/>
              <a:t>There will still be a very small elastic region around the neutral axis, as indicated in the diagram, but the effect of this on the value of the moment of resistance is very small and will be neglected</a:t>
            </a:r>
          </a:p>
          <a:p>
            <a:endParaRPr lang="en-GB" dirty="0"/>
          </a:p>
          <a:p>
            <a:endParaRPr lang="en-GB" dirty="0"/>
          </a:p>
        </p:txBody>
      </p:sp>
      <p:pic>
        <p:nvPicPr>
          <p:cNvPr id="4" name="Picture 3"/>
          <p:cNvPicPr/>
          <p:nvPr/>
        </p:nvPicPr>
        <p:blipFill>
          <a:blip r:embed="rId3"/>
          <a:srcRect/>
          <a:stretch>
            <a:fillRect/>
          </a:stretch>
        </p:blipFill>
        <p:spPr bwMode="auto">
          <a:xfrm>
            <a:off x="862806" y="4038600"/>
            <a:ext cx="10744200" cy="2743200"/>
          </a:xfrm>
          <a:prstGeom prst="rect">
            <a:avLst/>
          </a:prstGeom>
          <a:noFill/>
          <a:ln w="9525">
            <a:noFill/>
            <a:miter lim="800000"/>
            <a:headEnd/>
            <a:tailEnd/>
          </a:ln>
        </p:spPr>
      </p:pic>
      <p:sp>
        <p:nvSpPr>
          <p:cNvPr id="5" name="Slide Number Placeholder 4"/>
          <p:cNvSpPr>
            <a:spLocks noGrp="1"/>
          </p:cNvSpPr>
          <p:nvPr>
            <p:ph type="sldNum" sz="quarter" idx="12"/>
          </p:nvPr>
        </p:nvSpPr>
        <p:spPr/>
        <p:txBody>
          <a:bodyPr/>
          <a:lstStyle/>
          <a:p>
            <a:fld id="{B6F15528-21DE-4FAA-801E-634DDDAF4B2B}" type="slidenum">
              <a:rPr lang="en-US" smtClean="0"/>
              <a:pPr/>
              <a:t>11</a:t>
            </a:fld>
            <a:endParaRPr lang="en-US"/>
          </a:p>
        </p:txBody>
      </p:sp>
      <p:sp>
        <p:nvSpPr>
          <p:cNvPr id="6" name="Footer Placeholder 5"/>
          <p:cNvSpPr>
            <a:spLocks noGrp="1"/>
          </p:cNvSpPr>
          <p:nvPr>
            <p:ph type="ftr" sz="quarter" idx="11"/>
          </p:nvPr>
        </p:nvSpPr>
        <p:spPr/>
        <p:txBody>
          <a:bodyPr/>
          <a:lstStyle/>
          <a:p>
            <a:r>
              <a:rPr lang="en-US" smtClean="0"/>
              <a:t>ME 356 Strength of Materials II for IDL</a:t>
            </a:r>
            <a:endParaRPr lang="en-US"/>
          </a:p>
        </p:txBody>
      </p:sp>
    </p:spTree>
    <p:extLst>
      <p:ext uri="{BB962C8B-B14F-4D97-AF65-F5344CB8AC3E}">
        <p14:creationId xmlns:p14="http://schemas.microsoft.com/office/powerpoint/2010/main" val="183602662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a:t>Case 1: Rectangular Section</a:t>
            </a:r>
            <a:r>
              <a:rPr lang="en-GB" dirty="0"/>
              <a:t/>
            </a:r>
            <a:br>
              <a:rPr lang="en-GB" dirty="0"/>
            </a:br>
            <a:endParaRPr lang="en-GB" dirty="0"/>
          </a:p>
        </p:txBody>
      </p:sp>
      <p:sp>
        <p:nvSpPr>
          <p:cNvPr id="3" name="Content Placeholder 2"/>
          <p:cNvSpPr>
            <a:spLocks noGrp="1"/>
          </p:cNvSpPr>
          <p:nvPr>
            <p:ph idx="1"/>
          </p:nvPr>
        </p:nvSpPr>
        <p:spPr/>
        <p:txBody>
          <a:bodyPr/>
          <a:lstStyle/>
          <a:p>
            <a:r>
              <a:rPr lang="en-GB" dirty="0"/>
              <a:t>In an elastic range, we have </a:t>
            </a:r>
            <a:r>
              <a:rPr lang="en-GB" dirty="0" smtClean="0"/>
              <a:t>:</a:t>
            </a:r>
          </a:p>
          <a:p>
            <a:pPr marL="0" indent="0">
              <a:buNone/>
            </a:pPr>
            <a:endParaRPr lang="en-GB" dirty="0" smtClean="0"/>
          </a:p>
          <a:p>
            <a:pPr marL="0" indent="0">
              <a:buNone/>
            </a:pPr>
            <a:endParaRPr lang="en-GB" dirty="0"/>
          </a:p>
          <a:p>
            <a:pPr marL="0" indent="0">
              <a:buNone/>
            </a:pPr>
            <a:r>
              <a:rPr lang="en-GB" dirty="0"/>
              <a:t>E</a:t>
            </a:r>
            <a:r>
              <a:rPr lang="en-GB" dirty="0" smtClean="0"/>
              <a:t>lastoplastic </a:t>
            </a:r>
            <a:r>
              <a:rPr lang="en-GB" dirty="0"/>
              <a:t>beam is shown in </a:t>
            </a:r>
            <a:r>
              <a:rPr lang="en-GB" dirty="0" smtClean="0"/>
              <a:t>this figure:</a:t>
            </a:r>
            <a:endParaRPr lang="en-GB" dirty="0"/>
          </a:p>
          <a:p>
            <a:endParaRPr lang="en-GB" dirty="0"/>
          </a:p>
        </p:txBody>
      </p:sp>
      <p:sp>
        <p:nvSpPr>
          <p:cNvPr id="4" name="Rectangle 2"/>
          <p:cNvSpPr>
            <a:spLocks noChangeArrowheads="1"/>
          </p:cNvSpPr>
          <p:nvPr/>
        </p:nvSpPr>
        <p:spPr bwMode="auto">
          <a:xfrm>
            <a:off x="0" y="0"/>
            <a:ext cx="122412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graphicFrame>
        <p:nvGraphicFramePr>
          <p:cNvPr id="5" name="Object 4"/>
          <p:cNvGraphicFramePr>
            <a:graphicFrameLocks noChangeAspect="1"/>
          </p:cNvGraphicFramePr>
          <p:nvPr>
            <p:extLst>
              <p:ext uri="{D42A27DB-BD31-4B8C-83A1-F6EECF244321}">
                <p14:modId xmlns:p14="http://schemas.microsoft.com/office/powerpoint/2010/main" val="1786476178"/>
              </p:ext>
            </p:extLst>
          </p:nvPr>
        </p:nvGraphicFramePr>
        <p:xfrm>
          <a:off x="2386806" y="2209800"/>
          <a:ext cx="4318000" cy="1143000"/>
        </p:xfrm>
        <a:graphic>
          <a:graphicData uri="http://schemas.openxmlformats.org/presentationml/2006/ole">
            <mc:AlternateContent xmlns:mc="http://schemas.openxmlformats.org/markup-compatibility/2006">
              <mc:Choice xmlns:v="urn:schemas-microsoft-com:vml" Requires="v">
                <p:oleObj spid="_x0000_s1043" name="Equation" r:id="rId4" imgW="1625600" imgH="482600" progId="Equation.3">
                  <p:embed/>
                </p:oleObj>
              </mc:Choice>
              <mc:Fallback>
                <p:oleObj name="Equation" r:id="rId4" imgW="1625600" imgH="482600" progId="Equation.3">
                  <p:embed/>
                  <p:pic>
                    <p:nvPicPr>
                      <p:cNvPr id="0" name="Picture 1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86806" y="2209800"/>
                        <a:ext cx="4318000" cy="1143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Rectangle 4"/>
          <p:cNvSpPr>
            <a:spLocks noChangeArrowheads="1"/>
          </p:cNvSpPr>
          <p:nvPr/>
        </p:nvSpPr>
        <p:spPr bwMode="auto">
          <a:xfrm>
            <a:off x="0" y="0"/>
            <a:ext cx="12241213"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graphicFrame>
        <p:nvGraphicFramePr>
          <p:cNvPr id="7" name="Object 6"/>
          <p:cNvGraphicFramePr>
            <a:graphicFrameLocks noChangeAspect="1"/>
          </p:cNvGraphicFramePr>
          <p:nvPr>
            <p:extLst>
              <p:ext uri="{D42A27DB-BD31-4B8C-83A1-F6EECF244321}">
                <p14:modId xmlns:p14="http://schemas.microsoft.com/office/powerpoint/2010/main" val="1467158028"/>
              </p:ext>
            </p:extLst>
          </p:nvPr>
        </p:nvGraphicFramePr>
        <p:xfrm>
          <a:off x="3987006" y="3810000"/>
          <a:ext cx="4495800" cy="2788047"/>
        </p:xfrm>
        <a:graphic>
          <a:graphicData uri="http://schemas.openxmlformats.org/presentationml/2006/ole">
            <mc:AlternateContent xmlns:mc="http://schemas.openxmlformats.org/markup-compatibility/2006">
              <mc:Choice xmlns:v="urn:schemas-microsoft-com:vml" Requires="v">
                <p:oleObj spid="_x0000_s1044" name="Visio" r:id="rId6" imgW="4498560" imgH="3926880" progId="">
                  <p:embed/>
                </p:oleObj>
              </mc:Choice>
              <mc:Fallback>
                <p:oleObj name="Visio" r:id="rId6" imgW="4498560" imgH="3926880" progId="">
                  <p:embed/>
                  <p:pic>
                    <p:nvPicPr>
                      <p:cNvPr id="0" name="Picture 1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87006" y="3810000"/>
                        <a:ext cx="4495800" cy="278804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Slide Number Placeholder 7"/>
          <p:cNvSpPr>
            <a:spLocks noGrp="1"/>
          </p:cNvSpPr>
          <p:nvPr>
            <p:ph type="sldNum" sz="quarter" idx="12"/>
          </p:nvPr>
        </p:nvSpPr>
        <p:spPr/>
        <p:txBody>
          <a:bodyPr/>
          <a:lstStyle/>
          <a:p>
            <a:fld id="{B6F15528-21DE-4FAA-801E-634DDDAF4B2B}" type="slidenum">
              <a:rPr lang="en-US" smtClean="0"/>
              <a:pPr/>
              <a:t>12</a:t>
            </a:fld>
            <a:endParaRPr lang="en-US"/>
          </a:p>
        </p:txBody>
      </p:sp>
      <p:sp>
        <p:nvSpPr>
          <p:cNvPr id="9" name="Footer Placeholder 8"/>
          <p:cNvSpPr>
            <a:spLocks noGrp="1"/>
          </p:cNvSpPr>
          <p:nvPr>
            <p:ph type="ftr" sz="quarter" idx="11"/>
          </p:nvPr>
        </p:nvSpPr>
        <p:spPr/>
        <p:txBody>
          <a:bodyPr/>
          <a:lstStyle/>
          <a:p>
            <a:r>
              <a:rPr lang="en-US" smtClean="0"/>
              <a:t>ME 356 Strength of Materials II for IDL</a:t>
            </a:r>
            <a:endParaRPr lang="en-US"/>
          </a:p>
        </p:txBody>
      </p:sp>
    </p:spTree>
    <p:extLst>
      <p:ext uri="{BB962C8B-B14F-4D97-AF65-F5344CB8AC3E}">
        <p14:creationId xmlns:p14="http://schemas.microsoft.com/office/powerpoint/2010/main" val="387199483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2061" y="533401"/>
            <a:ext cx="11017092" cy="5592764"/>
          </a:xfrm>
        </p:spPr>
        <p:txBody>
          <a:bodyPr/>
          <a:lstStyle/>
          <a:p>
            <a:r>
              <a:rPr lang="en-GB" dirty="0"/>
              <a:t>The total moment of resistance is given </a:t>
            </a:r>
            <a:r>
              <a:rPr lang="en-GB" dirty="0" smtClean="0"/>
              <a:t>by:</a:t>
            </a:r>
          </a:p>
          <a:p>
            <a:endParaRPr lang="en-GB" dirty="0"/>
          </a:p>
          <a:p>
            <a:endParaRPr lang="en-GB" dirty="0" smtClean="0"/>
          </a:p>
          <a:p>
            <a:r>
              <a:rPr lang="en-GB" dirty="0"/>
              <a:t>When h becomes equal to d/2, the stress distribution is as shown in (c) and the highest value of bending moment is reached. This </a:t>
            </a:r>
            <a:r>
              <a:rPr lang="en-GB" dirty="0" smtClean="0"/>
              <a:t>gives: </a:t>
            </a:r>
            <a:endParaRPr lang="en-GB" dirty="0"/>
          </a:p>
        </p:txBody>
      </p:sp>
      <p:sp>
        <p:nvSpPr>
          <p:cNvPr id="4" name="Rectangle 2"/>
          <p:cNvSpPr>
            <a:spLocks noChangeArrowheads="1"/>
          </p:cNvSpPr>
          <p:nvPr/>
        </p:nvSpPr>
        <p:spPr bwMode="auto">
          <a:xfrm>
            <a:off x="0" y="0"/>
            <a:ext cx="12241213"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graphicFrame>
        <p:nvGraphicFramePr>
          <p:cNvPr id="5" name="Object 4"/>
          <p:cNvGraphicFramePr>
            <a:graphicFrameLocks noChangeAspect="1"/>
          </p:cNvGraphicFramePr>
          <p:nvPr>
            <p:extLst>
              <p:ext uri="{D42A27DB-BD31-4B8C-83A1-F6EECF244321}">
                <p14:modId xmlns:p14="http://schemas.microsoft.com/office/powerpoint/2010/main" val="3750320457"/>
              </p:ext>
            </p:extLst>
          </p:nvPr>
        </p:nvGraphicFramePr>
        <p:xfrm>
          <a:off x="710406" y="1219200"/>
          <a:ext cx="10287000" cy="838200"/>
        </p:xfrm>
        <a:graphic>
          <a:graphicData uri="http://schemas.openxmlformats.org/presentationml/2006/ole">
            <mc:AlternateContent xmlns:mc="http://schemas.openxmlformats.org/markup-compatibility/2006">
              <mc:Choice xmlns:v="urn:schemas-microsoft-com:vml" Requires="v">
                <p:oleObj spid="_x0000_s2067" name="Equation" r:id="rId4" imgW="3251200" imgH="266700" progId="Equation.3">
                  <p:embed/>
                </p:oleObj>
              </mc:Choice>
              <mc:Fallback>
                <p:oleObj name="Equation" r:id="rId4" imgW="3251200" imgH="266700" progId="Equation.3">
                  <p:embed/>
                  <p:pic>
                    <p:nvPicPr>
                      <p:cNvPr id="0" name="Picture 1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0406" y="1219200"/>
                        <a:ext cx="10287000" cy="838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Rectangle 4"/>
          <p:cNvSpPr>
            <a:spLocks noChangeArrowheads="1"/>
          </p:cNvSpPr>
          <p:nvPr/>
        </p:nvSpPr>
        <p:spPr bwMode="auto">
          <a:xfrm>
            <a:off x="0" y="0"/>
            <a:ext cx="12241213"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graphicFrame>
        <p:nvGraphicFramePr>
          <p:cNvPr id="7" name="Object 6"/>
          <p:cNvGraphicFramePr>
            <a:graphicFrameLocks noChangeAspect="1"/>
          </p:cNvGraphicFramePr>
          <p:nvPr>
            <p:extLst>
              <p:ext uri="{D42A27DB-BD31-4B8C-83A1-F6EECF244321}">
                <p14:modId xmlns:p14="http://schemas.microsoft.com/office/powerpoint/2010/main" val="220327888"/>
              </p:ext>
            </p:extLst>
          </p:nvPr>
        </p:nvGraphicFramePr>
        <p:xfrm>
          <a:off x="1472406" y="4114800"/>
          <a:ext cx="8980714" cy="1524000"/>
        </p:xfrm>
        <a:graphic>
          <a:graphicData uri="http://schemas.openxmlformats.org/presentationml/2006/ole">
            <mc:AlternateContent xmlns:mc="http://schemas.openxmlformats.org/markup-compatibility/2006">
              <mc:Choice xmlns:v="urn:schemas-microsoft-com:vml" Requires="v">
                <p:oleObj spid="_x0000_s2068" name="Equation" r:id="rId6" imgW="2349500" imgH="533400" progId="Equation.3">
                  <p:embed/>
                </p:oleObj>
              </mc:Choice>
              <mc:Fallback>
                <p:oleObj name="Equation" r:id="rId6" imgW="2349500" imgH="533400" progId="Equation.3">
                  <p:embed/>
                  <p:pic>
                    <p:nvPicPr>
                      <p:cNvPr id="0" name="Picture 1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72406" y="4114800"/>
                        <a:ext cx="8980714" cy="1524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Slide Number Placeholder 7"/>
          <p:cNvSpPr>
            <a:spLocks noGrp="1"/>
          </p:cNvSpPr>
          <p:nvPr>
            <p:ph type="sldNum" sz="quarter" idx="12"/>
          </p:nvPr>
        </p:nvSpPr>
        <p:spPr/>
        <p:txBody>
          <a:bodyPr/>
          <a:lstStyle/>
          <a:p>
            <a:fld id="{B6F15528-21DE-4FAA-801E-634DDDAF4B2B}" type="slidenum">
              <a:rPr lang="en-US" smtClean="0"/>
              <a:pPr/>
              <a:t>13</a:t>
            </a:fld>
            <a:endParaRPr lang="en-US"/>
          </a:p>
        </p:txBody>
      </p:sp>
      <p:sp>
        <p:nvSpPr>
          <p:cNvPr id="9" name="Footer Placeholder 8"/>
          <p:cNvSpPr>
            <a:spLocks noGrp="1"/>
          </p:cNvSpPr>
          <p:nvPr>
            <p:ph type="ftr" sz="quarter" idx="11"/>
          </p:nvPr>
        </p:nvSpPr>
        <p:spPr/>
        <p:txBody>
          <a:bodyPr/>
          <a:lstStyle/>
          <a:p>
            <a:r>
              <a:rPr lang="en-US" smtClean="0"/>
              <a:t>ME 356 Strength of Materials II for IDL</a:t>
            </a:r>
            <a:endParaRPr lang="en-US"/>
          </a:p>
        </p:txBody>
      </p:sp>
    </p:spTree>
    <p:extLst>
      <p:ext uri="{BB962C8B-B14F-4D97-AF65-F5344CB8AC3E}">
        <p14:creationId xmlns:p14="http://schemas.microsoft.com/office/powerpoint/2010/main" val="379834924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5606" y="609600"/>
            <a:ext cx="11506200" cy="6096000"/>
          </a:xfrm>
        </p:spPr>
        <p:txBody>
          <a:bodyPr>
            <a:normAutofit fontScale="92500" lnSpcReduction="10000"/>
          </a:bodyPr>
          <a:lstStyle/>
          <a:p>
            <a:r>
              <a:rPr lang="en-GB" dirty="0"/>
              <a:t>The ratio </a:t>
            </a:r>
            <a:r>
              <a:rPr lang="en-GB" i="1" dirty="0" err="1"/>
              <a:t>M</a:t>
            </a:r>
            <a:r>
              <a:rPr lang="en-GB" i="1" baseline="-25000" dirty="0" err="1"/>
              <a:t>p</a:t>
            </a:r>
            <a:r>
              <a:rPr lang="en-GB" i="1" dirty="0"/>
              <a:t>\M</a:t>
            </a:r>
            <a:r>
              <a:rPr lang="en-GB" i="1" baseline="-25000" dirty="0"/>
              <a:t>y</a:t>
            </a:r>
            <a:r>
              <a:rPr lang="en-GB" i="1" dirty="0"/>
              <a:t> </a:t>
            </a:r>
            <a:r>
              <a:rPr lang="en-GB" dirty="0"/>
              <a:t>is called the </a:t>
            </a:r>
            <a:r>
              <a:rPr lang="en-GB" i="1" dirty="0"/>
              <a:t>shape factor </a:t>
            </a:r>
            <a:r>
              <a:rPr lang="en-GB" dirty="0"/>
              <a:t>S, since it depends only on the shape of the cross-section, i.e. for a rectangular section, </a:t>
            </a:r>
            <a:endParaRPr lang="en-GB" dirty="0" smtClean="0"/>
          </a:p>
          <a:p>
            <a:endParaRPr lang="en-GB" dirty="0"/>
          </a:p>
          <a:p>
            <a:endParaRPr lang="en-GB" dirty="0" smtClean="0"/>
          </a:p>
          <a:p>
            <a:r>
              <a:rPr lang="en-GB" i="1" dirty="0"/>
              <a:t>Example </a:t>
            </a:r>
            <a:r>
              <a:rPr lang="en-GB" i="1" dirty="0" smtClean="0"/>
              <a:t>1</a:t>
            </a:r>
            <a:r>
              <a:rPr lang="en-GB" i="1" dirty="0"/>
              <a:t>:</a:t>
            </a:r>
            <a:r>
              <a:rPr lang="en-GB" dirty="0"/>
              <a:t> </a:t>
            </a:r>
            <a:r>
              <a:rPr lang="en-GB" i="1" dirty="0"/>
              <a:t>A steel bar of rectangular section </a:t>
            </a:r>
            <a:r>
              <a:rPr lang="en-GB" dirty="0"/>
              <a:t>72 </a:t>
            </a:r>
            <a:r>
              <a:rPr lang="en-GB" i="1" dirty="0"/>
              <a:t>mm by </a:t>
            </a:r>
            <a:r>
              <a:rPr lang="en-GB" dirty="0"/>
              <a:t>30 </a:t>
            </a:r>
            <a:r>
              <a:rPr lang="en-GB" i="1" dirty="0"/>
              <a:t>mm </a:t>
            </a:r>
            <a:r>
              <a:rPr lang="en-GB" dirty="0"/>
              <a:t>is </a:t>
            </a:r>
            <a:r>
              <a:rPr lang="en-GB" i="1" dirty="0"/>
              <a:t>used as a simply supported beam on a span of </a:t>
            </a:r>
            <a:r>
              <a:rPr lang="en-GB" dirty="0"/>
              <a:t>l.2 m </a:t>
            </a:r>
            <a:r>
              <a:rPr lang="en-GB" i="1" dirty="0"/>
              <a:t>and loaded at mid-span. If the yield stress </a:t>
            </a:r>
            <a:r>
              <a:rPr lang="en-GB" dirty="0"/>
              <a:t>is </a:t>
            </a:r>
            <a:r>
              <a:rPr lang="en-GB" i="1" dirty="0"/>
              <a:t>280 N/mm</a:t>
            </a:r>
            <a:r>
              <a:rPr lang="en-GB" i="1" baseline="30000" dirty="0"/>
              <a:t>2</a:t>
            </a:r>
            <a:r>
              <a:rPr lang="en-GB" i="1" dirty="0"/>
              <a:t> and the long edges of the section are vertical, find the load when yielding first occurs.</a:t>
            </a:r>
            <a:endParaRPr lang="en-GB" dirty="0"/>
          </a:p>
          <a:p>
            <a:r>
              <a:rPr lang="en-GB" i="1" dirty="0"/>
              <a:t>Assuming that a further increase in load causes yielding to spread inwards towards the neutral axis, with the stress in the yielded part remaining at 280 N/mm</a:t>
            </a:r>
            <a:r>
              <a:rPr lang="en-GB" i="1" baseline="30000" dirty="0"/>
              <a:t>2</a:t>
            </a:r>
            <a:r>
              <a:rPr lang="en-GB" i="1" dirty="0"/>
              <a:t>, find the load required to cause yielding for a depth of </a:t>
            </a:r>
            <a:r>
              <a:rPr lang="en-GB" dirty="0"/>
              <a:t>12 </a:t>
            </a:r>
            <a:r>
              <a:rPr lang="en-GB" i="1" dirty="0"/>
              <a:t>mm at the top and bottom of the section at mid-span, and find the length of beam over which yielding has occurred.</a:t>
            </a:r>
            <a:endParaRPr lang="en-GB" dirty="0"/>
          </a:p>
          <a:p>
            <a:endParaRPr lang="en-GB" dirty="0"/>
          </a:p>
        </p:txBody>
      </p:sp>
      <p:sp>
        <p:nvSpPr>
          <p:cNvPr id="4" name="Rectangle 2"/>
          <p:cNvSpPr>
            <a:spLocks noChangeArrowheads="1"/>
          </p:cNvSpPr>
          <p:nvPr/>
        </p:nvSpPr>
        <p:spPr bwMode="auto">
          <a:xfrm>
            <a:off x="0" y="0"/>
            <a:ext cx="12241213"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graphicFrame>
        <p:nvGraphicFramePr>
          <p:cNvPr id="5" name="Object 4"/>
          <p:cNvGraphicFramePr>
            <a:graphicFrameLocks noChangeAspect="1"/>
          </p:cNvGraphicFramePr>
          <p:nvPr>
            <p:extLst>
              <p:ext uri="{D42A27DB-BD31-4B8C-83A1-F6EECF244321}">
                <p14:modId xmlns:p14="http://schemas.microsoft.com/office/powerpoint/2010/main" val="2032338698"/>
              </p:ext>
            </p:extLst>
          </p:nvPr>
        </p:nvGraphicFramePr>
        <p:xfrm>
          <a:off x="7035006" y="1600200"/>
          <a:ext cx="1225296" cy="914400"/>
        </p:xfrm>
        <a:graphic>
          <a:graphicData uri="http://schemas.openxmlformats.org/presentationml/2006/ole">
            <mc:AlternateContent xmlns:mc="http://schemas.openxmlformats.org/markup-compatibility/2006">
              <mc:Choice xmlns:v="urn:schemas-microsoft-com:vml" Requires="v">
                <p:oleObj spid="_x0000_s3083" name="Equation" r:id="rId4" imgW="634725" imgH="469696" progId="Equation.3">
                  <p:embed/>
                </p:oleObj>
              </mc:Choice>
              <mc:Fallback>
                <p:oleObj name="Equation" r:id="rId4" imgW="634725" imgH="469696" progId="Equation.3">
                  <p:embed/>
                  <p:pic>
                    <p:nvPicPr>
                      <p:cNvPr id="0" name="Picture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35006" y="1600200"/>
                        <a:ext cx="1225296" cy="914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Slide Number Placeholder 5"/>
          <p:cNvSpPr>
            <a:spLocks noGrp="1"/>
          </p:cNvSpPr>
          <p:nvPr>
            <p:ph type="sldNum" sz="quarter" idx="12"/>
          </p:nvPr>
        </p:nvSpPr>
        <p:spPr/>
        <p:txBody>
          <a:bodyPr/>
          <a:lstStyle/>
          <a:p>
            <a:fld id="{B6F15528-21DE-4FAA-801E-634DDDAF4B2B}" type="slidenum">
              <a:rPr lang="en-US" smtClean="0"/>
              <a:pPr/>
              <a:t>14</a:t>
            </a:fld>
            <a:endParaRPr lang="en-US"/>
          </a:p>
        </p:txBody>
      </p:sp>
      <p:sp>
        <p:nvSpPr>
          <p:cNvPr id="7" name="Footer Placeholder 6"/>
          <p:cNvSpPr>
            <a:spLocks noGrp="1"/>
          </p:cNvSpPr>
          <p:nvPr>
            <p:ph type="ftr" sz="quarter" idx="11"/>
          </p:nvPr>
        </p:nvSpPr>
        <p:spPr/>
        <p:txBody>
          <a:bodyPr/>
          <a:lstStyle/>
          <a:p>
            <a:r>
              <a:rPr lang="en-US" smtClean="0"/>
              <a:t>ME 356 Strength of Materials II for IDL</a:t>
            </a:r>
            <a:endParaRPr lang="en-US"/>
          </a:p>
        </p:txBody>
      </p:sp>
    </p:spTree>
    <p:extLst>
      <p:ext uri="{BB962C8B-B14F-4D97-AF65-F5344CB8AC3E}">
        <p14:creationId xmlns:p14="http://schemas.microsoft.com/office/powerpoint/2010/main" val="11050105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2061" y="152400"/>
            <a:ext cx="11017092" cy="685800"/>
          </a:xfrm>
        </p:spPr>
        <p:txBody>
          <a:bodyPr>
            <a:normAutofit fontScale="90000"/>
          </a:bodyPr>
          <a:lstStyle/>
          <a:p>
            <a:r>
              <a:rPr lang="en-GB" b="1" i="1" dirty="0"/>
              <a:t>Solution</a:t>
            </a:r>
            <a:r>
              <a:rPr lang="en-GB" dirty="0"/>
              <a:t/>
            </a:r>
            <a:br>
              <a:rPr lang="en-GB" dirty="0"/>
            </a:br>
            <a:endParaRPr lang="en-GB" dirty="0"/>
          </a:p>
        </p:txBody>
      </p:sp>
      <p:sp>
        <p:nvSpPr>
          <p:cNvPr id="3" name="Content Placeholder 2"/>
          <p:cNvSpPr>
            <a:spLocks noGrp="1"/>
          </p:cNvSpPr>
          <p:nvPr>
            <p:ph idx="1"/>
          </p:nvPr>
        </p:nvSpPr>
        <p:spPr>
          <a:xfrm>
            <a:off x="612061" y="838201"/>
            <a:ext cx="11017092" cy="5287964"/>
          </a:xfrm>
        </p:spPr>
        <p:txBody>
          <a:bodyPr>
            <a:normAutofit/>
          </a:bodyPr>
          <a:lstStyle/>
          <a:p>
            <a:r>
              <a:rPr lang="en-GB" dirty="0"/>
              <a:t>If </a:t>
            </a:r>
            <a:r>
              <a:rPr lang="en-GB" i="1" dirty="0"/>
              <a:t>W</a:t>
            </a:r>
            <a:r>
              <a:rPr lang="en-GB" i="1" baseline="-25000" dirty="0"/>
              <a:t>y</a:t>
            </a:r>
            <a:r>
              <a:rPr lang="en-GB" i="1" dirty="0"/>
              <a:t> </a:t>
            </a:r>
            <a:r>
              <a:rPr lang="en-GB" dirty="0"/>
              <a:t>is the load at first </a:t>
            </a:r>
            <a:r>
              <a:rPr lang="en-GB" dirty="0" smtClean="0"/>
              <a:t>yield</a:t>
            </a:r>
            <a:r>
              <a:rPr lang="en-GB" dirty="0"/>
              <a:t>, </a:t>
            </a:r>
            <a:r>
              <a:rPr lang="en-GB" dirty="0" smtClean="0"/>
              <a:t>then:</a:t>
            </a:r>
          </a:p>
          <a:p>
            <a:endParaRPr lang="en-GB" dirty="0"/>
          </a:p>
          <a:p>
            <a:endParaRPr lang="en-GB" dirty="0" smtClean="0"/>
          </a:p>
          <a:p>
            <a:r>
              <a:rPr lang="en-GB" dirty="0"/>
              <a:t>Under a higher load </a:t>
            </a:r>
            <a:r>
              <a:rPr lang="en-GB" i="1" dirty="0"/>
              <a:t>W, </a:t>
            </a:r>
            <a:r>
              <a:rPr lang="en-GB" dirty="0"/>
              <a:t>the central section of the beam is in a partially plastic state, the stress distribution being similar to Fig. 12.2(b), the outer 12 mm on each side of the neutral axis being under constant stress of 280 N/mm</a:t>
            </a:r>
            <a:r>
              <a:rPr lang="en-GB" baseline="30000" dirty="0"/>
              <a:t>2</a:t>
            </a:r>
            <a:r>
              <a:rPr lang="en-GB" dirty="0"/>
              <a:t> with no drop of stress at yield. The moment of resistance calculated from the stress diagram is</a:t>
            </a:r>
          </a:p>
          <a:p>
            <a:endParaRPr lang="en-GB" dirty="0"/>
          </a:p>
        </p:txBody>
      </p:sp>
      <p:sp>
        <p:nvSpPr>
          <p:cNvPr id="4" name="Rectangle 2"/>
          <p:cNvSpPr>
            <a:spLocks noChangeArrowheads="1"/>
          </p:cNvSpPr>
          <p:nvPr/>
        </p:nvSpPr>
        <p:spPr bwMode="auto">
          <a:xfrm>
            <a:off x="0" y="0"/>
            <a:ext cx="122412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graphicFrame>
        <p:nvGraphicFramePr>
          <p:cNvPr id="5" name="Object 4"/>
          <p:cNvGraphicFramePr>
            <a:graphicFrameLocks noChangeAspect="1"/>
          </p:cNvGraphicFramePr>
          <p:nvPr>
            <p:extLst>
              <p:ext uri="{D42A27DB-BD31-4B8C-83A1-F6EECF244321}">
                <p14:modId xmlns:p14="http://schemas.microsoft.com/office/powerpoint/2010/main" val="2514678141"/>
              </p:ext>
            </p:extLst>
          </p:nvPr>
        </p:nvGraphicFramePr>
        <p:xfrm>
          <a:off x="1015206" y="1524000"/>
          <a:ext cx="10591800" cy="914400"/>
        </p:xfrm>
        <a:graphic>
          <a:graphicData uri="http://schemas.openxmlformats.org/presentationml/2006/ole">
            <mc:AlternateContent xmlns:mc="http://schemas.openxmlformats.org/markup-compatibility/2006">
              <mc:Choice xmlns:v="urn:schemas-microsoft-com:vml" Requires="v">
                <p:oleObj spid="_x0000_s4119" name="Equation" r:id="rId4" imgW="3733800" imgH="482600" progId="Equation.3">
                  <p:embed/>
                </p:oleObj>
              </mc:Choice>
              <mc:Fallback>
                <p:oleObj name="Equation" r:id="rId4" imgW="3733800" imgH="482600" progId="Equation.3">
                  <p:embed/>
                  <p:pic>
                    <p:nvPicPr>
                      <p:cNvPr id="0" name="Picture 1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15206" y="1524000"/>
                        <a:ext cx="10591800" cy="914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Rectangle 4"/>
          <p:cNvSpPr>
            <a:spLocks noChangeArrowheads="1"/>
          </p:cNvSpPr>
          <p:nvPr/>
        </p:nvSpPr>
        <p:spPr bwMode="auto">
          <a:xfrm>
            <a:off x="0" y="0"/>
            <a:ext cx="12241213"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8" name="Rectangle 6"/>
          <p:cNvSpPr>
            <a:spLocks noChangeArrowheads="1"/>
          </p:cNvSpPr>
          <p:nvPr/>
        </p:nvSpPr>
        <p:spPr bwMode="auto">
          <a:xfrm>
            <a:off x="0" y="0"/>
            <a:ext cx="12241213"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10" name="Rectangle 8"/>
          <p:cNvSpPr>
            <a:spLocks noChangeArrowheads="1"/>
          </p:cNvSpPr>
          <p:nvPr/>
        </p:nvSpPr>
        <p:spPr bwMode="auto">
          <a:xfrm>
            <a:off x="0" y="0"/>
            <a:ext cx="12241213"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graphicFrame>
        <p:nvGraphicFramePr>
          <p:cNvPr id="11" name="Object 10"/>
          <p:cNvGraphicFramePr>
            <a:graphicFrameLocks noChangeAspect="1"/>
          </p:cNvGraphicFramePr>
          <p:nvPr>
            <p:extLst>
              <p:ext uri="{D42A27DB-BD31-4B8C-83A1-F6EECF244321}">
                <p14:modId xmlns:p14="http://schemas.microsoft.com/office/powerpoint/2010/main" val="4061068141"/>
              </p:ext>
            </p:extLst>
          </p:nvPr>
        </p:nvGraphicFramePr>
        <p:xfrm>
          <a:off x="786606" y="5791200"/>
          <a:ext cx="11201400" cy="457200"/>
        </p:xfrm>
        <a:graphic>
          <a:graphicData uri="http://schemas.openxmlformats.org/presentationml/2006/ole">
            <mc:AlternateContent xmlns:mc="http://schemas.openxmlformats.org/markup-compatibility/2006">
              <mc:Choice xmlns:v="urn:schemas-microsoft-com:vml" Requires="v">
                <p:oleObj spid="_x0000_s4120" name="Equation" r:id="rId6" imgW="6515100" imgH="266700" progId="Equation.3">
                  <p:embed/>
                </p:oleObj>
              </mc:Choice>
              <mc:Fallback>
                <p:oleObj name="Equation" r:id="rId6" imgW="6515100" imgH="266700" progId="Equation.3">
                  <p:embed/>
                  <p:pic>
                    <p:nvPicPr>
                      <p:cNvPr id="0" name="Picture 2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86606" y="5791200"/>
                        <a:ext cx="11201400"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Slide Number Placeholder 11"/>
          <p:cNvSpPr>
            <a:spLocks noGrp="1"/>
          </p:cNvSpPr>
          <p:nvPr>
            <p:ph type="sldNum" sz="quarter" idx="12"/>
          </p:nvPr>
        </p:nvSpPr>
        <p:spPr/>
        <p:txBody>
          <a:bodyPr/>
          <a:lstStyle/>
          <a:p>
            <a:fld id="{B6F15528-21DE-4FAA-801E-634DDDAF4B2B}" type="slidenum">
              <a:rPr lang="en-US" smtClean="0"/>
              <a:pPr/>
              <a:t>15</a:t>
            </a:fld>
            <a:endParaRPr lang="en-US"/>
          </a:p>
        </p:txBody>
      </p:sp>
      <p:sp>
        <p:nvSpPr>
          <p:cNvPr id="13" name="Footer Placeholder 12"/>
          <p:cNvSpPr>
            <a:spLocks noGrp="1"/>
          </p:cNvSpPr>
          <p:nvPr>
            <p:ph type="ftr" sz="quarter" idx="11"/>
          </p:nvPr>
        </p:nvSpPr>
        <p:spPr/>
        <p:txBody>
          <a:bodyPr/>
          <a:lstStyle/>
          <a:p>
            <a:r>
              <a:rPr lang="en-US" smtClean="0"/>
              <a:t>ME 356 Strength of Materials II for IDL</a:t>
            </a:r>
            <a:endParaRPr lang="en-US"/>
          </a:p>
        </p:txBody>
      </p:sp>
    </p:spTree>
    <p:extLst>
      <p:ext uri="{BB962C8B-B14F-4D97-AF65-F5344CB8AC3E}">
        <p14:creationId xmlns:p14="http://schemas.microsoft.com/office/powerpoint/2010/main" val="159041555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GB" dirty="0"/>
              <a:t>At first yield the moment of resistance </a:t>
            </a:r>
            <a:r>
              <a:rPr lang="en-GB" dirty="0" smtClean="0"/>
              <a:t>is               that </a:t>
            </a:r>
            <a:r>
              <a:rPr lang="en-GB" dirty="0"/>
              <a:t>is</a:t>
            </a:r>
            <a:r>
              <a:rPr lang="en-GB" i="1" dirty="0"/>
              <a:t> 7.26kN </a:t>
            </a:r>
            <a:r>
              <a:rPr lang="en-GB" dirty="0"/>
              <a:t>and if this occurs at a distance </a:t>
            </a:r>
            <a:r>
              <a:rPr lang="en-GB" i="1" dirty="0"/>
              <a:t>x</a:t>
            </a:r>
            <a:r>
              <a:rPr lang="en-GB" dirty="0"/>
              <a:t> from ether end under the central load </a:t>
            </a:r>
            <a:r>
              <a:rPr lang="en-GB" i="1" dirty="0"/>
              <a:t>W,</a:t>
            </a:r>
            <a:r>
              <a:rPr lang="en-GB" dirty="0"/>
              <a:t> then</a:t>
            </a:r>
          </a:p>
          <a:p>
            <a:endParaRPr lang="en-GB" dirty="0"/>
          </a:p>
          <a:p>
            <a:r>
              <a:rPr lang="en-GB" dirty="0"/>
              <a:t>The length of the beam over which yielding occurs is</a:t>
            </a:r>
          </a:p>
        </p:txBody>
      </p:sp>
      <p:sp>
        <p:nvSpPr>
          <p:cNvPr id="4" name="Rectangle 2"/>
          <p:cNvSpPr>
            <a:spLocks noChangeArrowheads="1"/>
          </p:cNvSpPr>
          <p:nvPr/>
        </p:nvSpPr>
        <p:spPr bwMode="auto">
          <a:xfrm>
            <a:off x="0" y="0"/>
            <a:ext cx="12241213"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graphicFrame>
        <p:nvGraphicFramePr>
          <p:cNvPr id="5" name="Object 4"/>
          <p:cNvGraphicFramePr>
            <a:graphicFrameLocks noChangeAspect="1"/>
          </p:cNvGraphicFramePr>
          <p:nvPr>
            <p:extLst>
              <p:ext uri="{D42A27DB-BD31-4B8C-83A1-F6EECF244321}">
                <p14:modId xmlns:p14="http://schemas.microsoft.com/office/powerpoint/2010/main" val="4244152143"/>
              </p:ext>
            </p:extLst>
          </p:nvPr>
        </p:nvGraphicFramePr>
        <p:xfrm>
          <a:off x="1015206" y="381000"/>
          <a:ext cx="7498556" cy="609600"/>
        </p:xfrm>
        <a:graphic>
          <a:graphicData uri="http://schemas.openxmlformats.org/presentationml/2006/ole">
            <mc:AlternateContent xmlns:mc="http://schemas.openxmlformats.org/markup-compatibility/2006">
              <mc:Choice xmlns:v="urn:schemas-microsoft-com:vml" Requires="v">
                <p:oleObj spid="_x0000_s5159" name="Equation" r:id="rId4" imgW="2222280" imgH="177480" progId="Equation.3">
                  <p:embed/>
                </p:oleObj>
              </mc:Choice>
              <mc:Fallback>
                <p:oleObj name="Equation" r:id="rId4" imgW="2222280" imgH="177480" progId="Equation.3">
                  <p:embed/>
                  <p:pic>
                    <p:nvPicPr>
                      <p:cNvPr id="0" name="Picture 3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15206" y="381000"/>
                        <a:ext cx="7498556" cy="609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Rectangle 4"/>
          <p:cNvSpPr>
            <a:spLocks noChangeArrowheads="1"/>
          </p:cNvSpPr>
          <p:nvPr/>
        </p:nvSpPr>
        <p:spPr bwMode="auto">
          <a:xfrm>
            <a:off x="0" y="0"/>
            <a:ext cx="122412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graphicFrame>
        <p:nvGraphicFramePr>
          <p:cNvPr id="7" name="Object 6"/>
          <p:cNvGraphicFramePr>
            <a:graphicFrameLocks noChangeAspect="1"/>
          </p:cNvGraphicFramePr>
          <p:nvPr>
            <p:extLst>
              <p:ext uri="{D42A27DB-BD31-4B8C-83A1-F6EECF244321}">
                <p14:modId xmlns:p14="http://schemas.microsoft.com/office/powerpoint/2010/main" val="105926909"/>
              </p:ext>
            </p:extLst>
          </p:nvPr>
        </p:nvGraphicFramePr>
        <p:xfrm>
          <a:off x="7949406" y="1600200"/>
          <a:ext cx="990600" cy="685800"/>
        </p:xfrm>
        <a:graphic>
          <a:graphicData uri="http://schemas.openxmlformats.org/presentationml/2006/ole">
            <mc:AlternateContent xmlns:mc="http://schemas.openxmlformats.org/markup-compatibility/2006">
              <mc:Choice xmlns:v="urn:schemas-microsoft-com:vml" Requires="v">
                <p:oleObj spid="_x0000_s5160" name="Equation" r:id="rId6" imgW="508000" imgH="241300" progId="Equation.3">
                  <p:embed/>
                </p:oleObj>
              </mc:Choice>
              <mc:Fallback>
                <p:oleObj name="Equation" r:id="rId6" imgW="508000" imgH="241300" progId="Equation.3">
                  <p:embed/>
                  <p:pic>
                    <p:nvPicPr>
                      <p:cNvPr id="0" name="Picture 3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949406" y="1600200"/>
                        <a:ext cx="990600" cy="685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Rectangle 8"/>
          <p:cNvSpPr>
            <a:spLocks noChangeArrowheads="1"/>
          </p:cNvSpPr>
          <p:nvPr/>
        </p:nvSpPr>
        <p:spPr bwMode="auto">
          <a:xfrm>
            <a:off x="0" y="0"/>
            <a:ext cx="12241213"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graphicFrame>
        <p:nvGraphicFramePr>
          <p:cNvPr id="9" name="Object 8"/>
          <p:cNvGraphicFramePr>
            <a:graphicFrameLocks noChangeAspect="1"/>
          </p:cNvGraphicFramePr>
          <p:nvPr>
            <p:extLst>
              <p:ext uri="{D42A27DB-BD31-4B8C-83A1-F6EECF244321}">
                <p14:modId xmlns:p14="http://schemas.microsoft.com/office/powerpoint/2010/main" val="3920403236"/>
              </p:ext>
            </p:extLst>
          </p:nvPr>
        </p:nvGraphicFramePr>
        <p:xfrm>
          <a:off x="4596606" y="2667000"/>
          <a:ext cx="4343400" cy="533400"/>
        </p:xfrm>
        <a:graphic>
          <a:graphicData uri="http://schemas.openxmlformats.org/presentationml/2006/ole">
            <mc:AlternateContent xmlns:mc="http://schemas.openxmlformats.org/markup-compatibility/2006">
              <mc:Choice xmlns:v="urn:schemas-microsoft-com:vml" Requires="v">
                <p:oleObj spid="_x0000_s5161" name="Equation" r:id="rId8" imgW="1663700" imgH="228600" progId="Equation.3">
                  <p:embed/>
                </p:oleObj>
              </mc:Choice>
              <mc:Fallback>
                <p:oleObj name="Equation" r:id="rId8" imgW="1663700" imgH="228600" progId="Equation.3">
                  <p:embed/>
                  <p:pic>
                    <p:nvPicPr>
                      <p:cNvPr id="0" name="Picture 3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596606" y="2667000"/>
                        <a:ext cx="4343400" cy="533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Rectangle 10"/>
          <p:cNvSpPr>
            <a:spLocks noChangeArrowheads="1"/>
          </p:cNvSpPr>
          <p:nvPr/>
        </p:nvSpPr>
        <p:spPr bwMode="auto">
          <a:xfrm>
            <a:off x="0" y="0"/>
            <a:ext cx="12241213"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graphicFrame>
        <p:nvGraphicFramePr>
          <p:cNvPr id="11" name="Object 10"/>
          <p:cNvGraphicFramePr>
            <a:graphicFrameLocks noChangeAspect="1"/>
          </p:cNvGraphicFramePr>
          <p:nvPr>
            <p:extLst>
              <p:ext uri="{D42A27DB-BD31-4B8C-83A1-F6EECF244321}">
                <p14:modId xmlns:p14="http://schemas.microsoft.com/office/powerpoint/2010/main" val="1220217888"/>
              </p:ext>
            </p:extLst>
          </p:nvPr>
        </p:nvGraphicFramePr>
        <p:xfrm>
          <a:off x="2158206" y="4419600"/>
          <a:ext cx="2438400" cy="400050"/>
        </p:xfrm>
        <a:graphic>
          <a:graphicData uri="http://schemas.openxmlformats.org/presentationml/2006/ole">
            <mc:AlternateContent xmlns:mc="http://schemas.openxmlformats.org/markup-compatibility/2006">
              <mc:Choice xmlns:v="urn:schemas-microsoft-com:vml" Requires="v">
                <p:oleObj spid="_x0000_s5162" name="Equation" r:id="rId10" imgW="1142504" imgH="177723" progId="Equation.3">
                  <p:embed/>
                </p:oleObj>
              </mc:Choice>
              <mc:Fallback>
                <p:oleObj name="Equation" r:id="rId10" imgW="1142504" imgH="177723" progId="Equation.3">
                  <p:embed/>
                  <p:pic>
                    <p:nvPicPr>
                      <p:cNvPr id="0" name="Picture 3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158206" y="4419600"/>
                        <a:ext cx="2438400" cy="400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Slide Number Placeholder 11"/>
          <p:cNvSpPr>
            <a:spLocks noGrp="1"/>
          </p:cNvSpPr>
          <p:nvPr>
            <p:ph type="sldNum" sz="quarter" idx="12"/>
          </p:nvPr>
        </p:nvSpPr>
        <p:spPr/>
        <p:txBody>
          <a:bodyPr/>
          <a:lstStyle/>
          <a:p>
            <a:fld id="{B6F15528-21DE-4FAA-801E-634DDDAF4B2B}" type="slidenum">
              <a:rPr lang="en-US" smtClean="0"/>
              <a:pPr/>
              <a:t>16</a:t>
            </a:fld>
            <a:endParaRPr lang="en-US"/>
          </a:p>
        </p:txBody>
      </p:sp>
      <p:sp>
        <p:nvSpPr>
          <p:cNvPr id="13" name="Footer Placeholder 12"/>
          <p:cNvSpPr>
            <a:spLocks noGrp="1"/>
          </p:cNvSpPr>
          <p:nvPr>
            <p:ph type="ftr" sz="quarter" idx="11"/>
          </p:nvPr>
        </p:nvSpPr>
        <p:spPr/>
        <p:txBody>
          <a:bodyPr/>
          <a:lstStyle/>
          <a:p>
            <a:r>
              <a:rPr lang="en-US" smtClean="0"/>
              <a:t>ME 356 Strength of Materials II for IDL</a:t>
            </a:r>
            <a:endParaRPr lang="en-US"/>
          </a:p>
        </p:txBody>
      </p:sp>
    </p:spTree>
    <p:extLst>
      <p:ext uri="{BB962C8B-B14F-4D97-AF65-F5344CB8AC3E}">
        <p14:creationId xmlns:p14="http://schemas.microsoft.com/office/powerpoint/2010/main" val="296888522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a:t>Case 2: I-Section</a:t>
            </a:r>
            <a:r>
              <a:rPr lang="en-GB" dirty="0"/>
              <a:t/>
            </a:r>
            <a:br>
              <a:rPr lang="en-GB" dirty="0"/>
            </a:br>
            <a:endParaRPr lang="en-GB" dirty="0"/>
          </a:p>
        </p:txBody>
      </p:sp>
      <p:sp>
        <p:nvSpPr>
          <p:cNvPr id="3" name="Content Placeholder 2"/>
          <p:cNvSpPr>
            <a:spLocks noGrp="1"/>
          </p:cNvSpPr>
          <p:nvPr>
            <p:ph idx="1"/>
          </p:nvPr>
        </p:nvSpPr>
        <p:spPr/>
        <p:txBody>
          <a:bodyPr/>
          <a:lstStyle/>
          <a:p>
            <a:r>
              <a:rPr lang="en-US" b="1" dirty="0" smtClean="0"/>
              <a:t>: </a:t>
            </a:r>
            <a:r>
              <a:rPr lang="en-US" b="1" dirty="0"/>
              <a:t>I-section </a:t>
            </a:r>
            <a:r>
              <a:rPr lang="en-US" b="1" dirty="0" smtClean="0"/>
              <a:t>beam</a:t>
            </a:r>
          </a:p>
          <a:p>
            <a:endParaRPr lang="en-US" b="1" dirty="0"/>
          </a:p>
          <a:p>
            <a:endParaRPr lang="en-US" b="1" dirty="0" smtClean="0"/>
          </a:p>
          <a:p>
            <a:endParaRPr lang="en-US" b="1" dirty="0"/>
          </a:p>
          <a:p>
            <a:r>
              <a:rPr lang="en-GB" dirty="0"/>
              <a:t>Consider an I-beam when yielding is about to occur at the extreme fibre, we have </a:t>
            </a:r>
            <a:r>
              <a:rPr lang="en-GB" dirty="0" smtClean="0"/>
              <a:t>:</a:t>
            </a:r>
            <a:endParaRPr lang="en-GB" b="1" dirty="0"/>
          </a:p>
          <a:p>
            <a:endParaRPr lang="en-GB" dirty="0"/>
          </a:p>
        </p:txBody>
      </p:sp>
      <p:sp>
        <p:nvSpPr>
          <p:cNvPr id="4" name="Rectangle 2"/>
          <p:cNvSpPr>
            <a:spLocks noChangeArrowheads="1"/>
          </p:cNvSpPr>
          <p:nvPr/>
        </p:nvSpPr>
        <p:spPr bwMode="auto">
          <a:xfrm>
            <a:off x="0" y="0"/>
            <a:ext cx="12241213"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graphicFrame>
        <p:nvGraphicFramePr>
          <p:cNvPr id="5" name="Object 4"/>
          <p:cNvGraphicFramePr>
            <a:graphicFrameLocks noChangeAspect="1"/>
          </p:cNvGraphicFramePr>
          <p:nvPr>
            <p:extLst>
              <p:ext uri="{D42A27DB-BD31-4B8C-83A1-F6EECF244321}">
                <p14:modId xmlns:p14="http://schemas.microsoft.com/office/powerpoint/2010/main" val="181825604"/>
              </p:ext>
            </p:extLst>
          </p:nvPr>
        </p:nvGraphicFramePr>
        <p:xfrm>
          <a:off x="4139406" y="1676400"/>
          <a:ext cx="3962400" cy="2057400"/>
        </p:xfrm>
        <a:graphic>
          <a:graphicData uri="http://schemas.openxmlformats.org/presentationml/2006/ole">
            <mc:AlternateContent xmlns:mc="http://schemas.openxmlformats.org/markup-compatibility/2006">
              <mc:Choice xmlns:v="urn:schemas-microsoft-com:vml" Requires="v">
                <p:oleObj spid="_x0000_s6163" name="Visio" r:id="rId4" imgW="4606560" imgH="3926880" progId="">
                  <p:embed/>
                </p:oleObj>
              </mc:Choice>
              <mc:Fallback>
                <p:oleObj name="Visio" r:id="rId4" imgW="4606560" imgH="3926880" progId="">
                  <p:embed/>
                  <p:pic>
                    <p:nvPicPr>
                      <p:cNvPr id="0" name="Picture 1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39406" y="1676400"/>
                        <a:ext cx="3962400" cy="2057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Rectangle 4"/>
          <p:cNvSpPr>
            <a:spLocks noChangeArrowheads="1"/>
          </p:cNvSpPr>
          <p:nvPr/>
        </p:nvSpPr>
        <p:spPr bwMode="auto">
          <a:xfrm>
            <a:off x="0" y="0"/>
            <a:ext cx="12241213"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graphicFrame>
        <p:nvGraphicFramePr>
          <p:cNvPr id="7" name="Object 6"/>
          <p:cNvGraphicFramePr>
            <a:graphicFrameLocks noChangeAspect="1"/>
          </p:cNvGraphicFramePr>
          <p:nvPr>
            <p:extLst>
              <p:ext uri="{D42A27DB-BD31-4B8C-83A1-F6EECF244321}">
                <p14:modId xmlns:p14="http://schemas.microsoft.com/office/powerpoint/2010/main" val="3733788240"/>
              </p:ext>
            </p:extLst>
          </p:nvPr>
        </p:nvGraphicFramePr>
        <p:xfrm>
          <a:off x="5206206" y="4572000"/>
          <a:ext cx="3376613" cy="914400"/>
        </p:xfrm>
        <a:graphic>
          <a:graphicData uri="http://schemas.openxmlformats.org/presentationml/2006/ole">
            <mc:AlternateContent xmlns:mc="http://schemas.openxmlformats.org/markup-compatibility/2006">
              <mc:Choice xmlns:v="urn:schemas-microsoft-com:vml" Requires="v">
                <p:oleObj spid="_x0000_s6164" name="Equation" r:id="rId6" imgW="1663560" imgH="482400" progId="Equation.3">
                  <p:embed/>
                </p:oleObj>
              </mc:Choice>
              <mc:Fallback>
                <p:oleObj name="Equation" r:id="rId6" imgW="1663560" imgH="482400" progId="Equation.3">
                  <p:embed/>
                  <p:pic>
                    <p:nvPicPr>
                      <p:cNvPr id="0" name="Picture 1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206206" y="4572000"/>
                        <a:ext cx="3376613" cy="914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Slide Number Placeholder 7"/>
          <p:cNvSpPr>
            <a:spLocks noGrp="1"/>
          </p:cNvSpPr>
          <p:nvPr>
            <p:ph type="sldNum" sz="quarter" idx="12"/>
          </p:nvPr>
        </p:nvSpPr>
        <p:spPr/>
        <p:txBody>
          <a:bodyPr/>
          <a:lstStyle/>
          <a:p>
            <a:fld id="{B6F15528-21DE-4FAA-801E-634DDDAF4B2B}" type="slidenum">
              <a:rPr lang="en-US" smtClean="0"/>
              <a:pPr/>
              <a:t>17</a:t>
            </a:fld>
            <a:endParaRPr lang="en-US"/>
          </a:p>
        </p:txBody>
      </p:sp>
      <p:sp>
        <p:nvSpPr>
          <p:cNvPr id="9" name="Footer Placeholder 8"/>
          <p:cNvSpPr>
            <a:spLocks noGrp="1"/>
          </p:cNvSpPr>
          <p:nvPr>
            <p:ph type="ftr" sz="quarter" idx="11"/>
          </p:nvPr>
        </p:nvSpPr>
        <p:spPr/>
        <p:txBody>
          <a:bodyPr/>
          <a:lstStyle/>
          <a:p>
            <a:r>
              <a:rPr lang="en-US" smtClean="0"/>
              <a:t>ME 356 Strength of Materials II for IDL</a:t>
            </a:r>
            <a:endParaRPr lang="en-US"/>
          </a:p>
        </p:txBody>
      </p:sp>
    </p:spTree>
    <p:extLst>
      <p:ext uri="{BB962C8B-B14F-4D97-AF65-F5344CB8AC3E}">
        <p14:creationId xmlns:p14="http://schemas.microsoft.com/office/powerpoint/2010/main" val="310403096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a:xfrm>
            <a:off x="253206" y="1600200"/>
            <a:ext cx="11811000" cy="4953000"/>
          </a:xfrm>
        </p:spPr>
        <p:txBody>
          <a:bodyPr/>
          <a:lstStyle/>
          <a:p>
            <a:r>
              <a:rPr lang="en-GB" dirty="0"/>
              <a:t>In a fully plastic condition, we </a:t>
            </a:r>
            <a:r>
              <a:rPr lang="en-GB" dirty="0" smtClean="0"/>
              <a:t>have</a:t>
            </a:r>
          </a:p>
          <a:p>
            <a:endParaRPr lang="en-GB" dirty="0"/>
          </a:p>
          <a:p>
            <a:pPr marL="0" indent="0">
              <a:buNone/>
            </a:pPr>
            <a:r>
              <a:rPr lang="en-GB" dirty="0"/>
              <a:t>The shape factor is</a:t>
            </a:r>
            <a:r>
              <a:rPr lang="en-GB" dirty="0" smtClean="0"/>
              <a:t> </a:t>
            </a:r>
            <a:endParaRPr lang="en-GB" dirty="0"/>
          </a:p>
        </p:txBody>
      </p:sp>
      <p:sp>
        <p:nvSpPr>
          <p:cNvPr id="4" name="Rectangle 2"/>
          <p:cNvSpPr>
            <a:spLocks noChangeArrowheads="1"/>
          </p:cNvSpPr>
          <p:nvPr/>
        </p:nvSpPr>
        <p:spPr bwMode="auto">
          <a:xfrm>
            <a:off x="0" y="0"/>
            <a:ext cx="12241213"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graphicFrame>
        <p:nvGraphicFramePr>
          <p:cNvPr id="5" name="Object 4"/>
          <p:cNvGraphicFramePr>
            <a:graphicFrameLocks noChangeAspect="1"/>
          </p:cNvGraphicFramePr>
          <p:nvPr>
            <p:extLst>
              <p:ext uri="{D42A27DB-BD31-4B8C-83A1-F6EECF244321}">
                <p14:modId xmlns:p14="http://schemas.microsoft.com/office/powerpoint/2010/main" val="1703257596"/>
              </p:ext>
            </p:extLst>
          </p:nvPr>
        </p:nvGraphicFramePr>
        <p:xfrm>
          <a:off x="6577806" y="1524000"/>
          <a:ext cx="2971800" cy="990600"/>
        </p:xfrm>
        <a:graphic>
          <a:graphicData uri="http://schemas.openxmlformats.org/presentationml/2006/ole">
            <mc:AlternateContent xmlns:mc="http://schemas.openxmlformats.org/markup-compatibility/2006">
              <mc:Choice xmlns:v="urn:schemas-microsoft-com:vml" Requires="v">
                <p:oleObj spid="_x0000_s7184" name="Equation" r:id="rId4" imgW="1485900" imgH="482600" progId="Equation.3">
                  <p:embed/>
                </p:oleObj>
              </mc:Choice>
              <mc:Fallback>
                <p:oleObj name="Equation" r:id="rId4" imgW="1485900" imgH="482600" progId="Equation.3">
                  <p:embed/>
                  <p:pic>
                    <p:nvPicPr>
                      <p:cNvPr id="0" name="Picture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7806" y="1524000"/>
                        <a:ext cx="2971800" cy="990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Rectangle 4"/>
          <p:cNvSpPr>
            <a:spLocks noChangeArrowheads="1"/>
          </p:cNvSpPr>
          <p:nvPr/>
        </p:nvSpPr>
        <p:spPr bwMode="auto">
          <a:xfrm>
            <a:off x="0" y="0"/>
            <a:ext cx="12241213"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graphicFrame>
        <p:nvGraphicFramePr>
          <p:cNvPr id="7" name="Object 6"/>
          <p:cNvGraphicFramePr>
            <a:graphicFrameLocks noChangeAspect="1"/>
          </p:cNvGraphicFramePr>
          <p:nvPr>
            <p:extLst>
              <p:ext uri="{D42A27DB-BD31-4B8C-83A1-F6EECF244321}">
                <p14:modId xmlns:p14="http://schemas.microsoft.com/office/powerpoint/2010/main" val="1228400239"/>
              </p:ext>
            </p:extLst>
          </p:nvPr>
        </p:nvGraphicFramePr>
        <p:xfrm>
          <a:off x="3758406" y="2514600"/>
          <a:ext cx="2667000" cy="942975"/>
        </p:xfrm>
        <a:graphic>
          <a:graphicData uri="http://schemas.openxmlformats.org/presentationml/2006/ole">
            <mc:AlternateContent xmlns:mc="http://schemas.openxmlformats.org/markup-compatibility/2006">
              <mc:Choice xmlns:v="urn:schemas-microsoft-com:vml" Requires="v">
                <p:oleObj spid="_x0000_s7185" name="Equation" r:id="rId6" imgW="1828800" imgH="482600" progId="Equation.3">
                  <p:embed/>
                </p:oleObj>
              </mc:Choice>
              <mc:Fallback>
                <p:oleObj name="Equation" r:id="rId6" imgW="1828800" imgH="482600" progId="Equation.3">
                  <p:embed/>
                  <p:pic>
                    <p:nvPicPr>
                      <p:cNvPr id="0" name="Picture 1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58406" y="2514600"/>
                        <a:ext cx="2667000" cy="942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7173" name="Picture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05606" y="3657600"/>
            <a:ext cx="11201400" cy="289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Slide Number Placeholder 8"/>
          <p:cNvSpPr>
            <a:spLocks noGrp="1"/>
          </p:cNvSpPr>
          <p:nvPr>
            <p:ph type="sldNum" sz="quarter" idx="12"/>
          </p:nvPr>
        </p:nvSpPr>
        <p:spPr/>
        <p:txBody>
          <a:bodyPr/>
          <a:lstStyle/>
          <a:p>
            <a:fld id="{B6F15528-21DE-4FAA-801E-634DDDAF4B2B}" type="slidenum">
              <a:rPr lang="en-US" smtClean="0"/>
              <a:pPr/>
              <a:t>18</a:t>
            </a:fld>
            <a:endParaRPr lang="en-US"/>
          </a:p>
        </p:txBody>
      </p:sp>
      <p:sp>
        <p:nvSpPr>
          <p:cNvPr id="10" name="Footer Placeholder 9"/>
          <p:cNvSpPr>
            <a:spLocks noGrp="1"/>
          </p:cNvSpPr>
          <p:nvPr>
            <p:ph type="ftr" sz="quarter" idx="11"/>
          </p:nvPr>
        </p:nvSpPr>
        <p:spPr/>
        <p:txBody>
          <a:bodyPr/>
          <a:lstStyle/>
          <a:p>
            <a:r>
              <a:rPr lang="en-US" smtClean="0"/>
              <a:t>ME 356 Strength of Materials II for IDL</a:t>
            </a:r>
            <a:endParaRPr lang="en-US"/>
          </a:p>
        </p:txBody>
      </p:sp>
    </p:spTree>
    <p:extLst>
      <p:ext uri="{BB962C8B-B14F-4D97-AF65-F5344CB8AC3E}">
        <p14:creationId xmlns:p14="http://schemas.microsoft.com/office/powerpoint/2010/main" val="277340155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i="1" dirty="0"/>
              <a:t>Solution</a:t>
            </a:r>
            <a:endParaRPr lang="en-GB" dirty="0"/>
          </a:p>
        </p:txBody>
      </p:sp>
      <p:pic>
        <p:nvPicPr>
          <p:cNvPr id="8195" name="Picture 3"/>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634206" y="2933700"/>
            <a:ext cx="11277600" cy="3695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0406" y="1524000"/>
            <a:ext cx="99060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Slide Number Placeholder 4"/>
          <p:cNvSpPr>
            <a:spLocks noGrp="1"/>
          </p:cNvSpPr>
          <p:nvPr>
            <p:ph type="sldNum" sz="quarter" idx="12"/>
          </p:nvPr>
        </p:nvSpPr>
        <p:spPr/>
        <p:txBody>
          <a:bodyPr/>
          <a:lstStyle/>
          <a:p>
            <a:fld id="{B6F15528-21DE-4FAA-801E-634DDDAF4B2B}" type="slidenum">
              <a:rPr lang="en-US" smtClean="0"/>
              <a:pPr/>
              <a:t>19</a:t>
            </a:fld>
            <a:endParaRPr lang="en-US"/>
          </a:p>
        </p:txBody>
      </p:sp>
      <p:sp>
        <p:nvSpPr>
          <p:cNvPr id="6" name="Footer Placeholder 5"/>
          <p:cNvSpPr>
            <a:spLocks noGrp="1"/>
          </p:cNvSpPr>
          <p:nvPr>
            <p:ph type="ftr" sz="quarter" idx="11"/>
          </p:nvPr>
        </p:nvSpPr>
        <p:spPr/>
        <p:txBody>
          <a:bodyPr/>
          <a:lstStyle/>
          <a:p>
            <a:r>
              <a:rPr lang="en-US" smtClean="0"/>
              <a:t>ME 356 Strength of Materials II for IDL</a:t>
            </a:r>
            <a:endParaRPr lang="en-US"/>
          </a:p>
        </p:txBody>
      </p:sp>
    </p:spTree>
    <p:extLst>
      <p:ext uri="{BB962C8B-B14F-4D97-AF65-F5344CB8AC3E}">
        <p14:creationId xmlns:p14="http://schemas.microsoft.com/office/powerpoint/2010/main" val="236247772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1806" y="609600"/>
            <a:ext cx="9958039" cy="685800"/>
          </a:xfrm>
        </p:spPr>
        <p:txBody>
          <a:bodyPr>
            <a:normAutofit fontScale="90000"/>
          </a:bodyPr>
          <a:lstStyle/>
          <a:p>
            <a:r>
              <a:rPr lang="en-GB" b="1" dirty="0"/>
              <a:t>Case 3: General</a:t>
            </a:r>
            <a:r>
              <a:rPr lang="en-GB" dirty="0"/>
              <a:t/>
            </a:r>
            <a:br>
              <a:rPr lang="en-GB" dirty="0"/>
            </a:br>
            <a:endParaRPr lang="en-GB" dirty="0"/>
          </a:p>
        </p:txBody>
      </p:sp>
      <p:pic>
        <p:nvPicPr>
          <p:cNvPr id="921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9406" y="1633538"/>
            <a:ext cx="11582400" cy="4995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Slide Number Placeholder 3"/>
          <p:cNvSpPr>
            <a:spLocks noGrp="1"/>
          </p:cNvSpPr>
          <p:nvPr>
            <p:ph type="sldNum" sz="quarter" idx="12"/>
          </p:nvPr>
        </p:nvSpPr>
        <p:spPr/>
        <p:txBody>
          <a:bodyPr/>
          <a:lstStyle/>
          <a:p>
            <a:fld id="{B6F15528-21DE-4FAA-801E-634DDDAF4B2B}" type="slidenum">
              <a:rPr lang="en-US" smtClean="0"/>
              <a:pPr/>
              <a:t>20</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extLst>
      <p:ext uri="{BB962C8B-B14F-4D97-AF65-F5344CB8AC3E}">
        <p14:creationId xmlns:p14="http://schemas.microsoft.com/office/powerpoint/2010/main" val="407444710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9406" y="381000"/>
            <a:ext cx="11506200" cy="251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4"/>
          <p:cNvPicPr/>
          <p:nvPr/>
        </p:nvPicPr>
        <p:blipFill>
          <a:blip r:embed="rId4"/>
          <a:srcRect/>
          <a:stretch>
            <a:fillRect/>
          </a:stretch>
        </p:blipFill>
        <p:spPr bwMode="auto">
          <a:xfrm>
            <a:off x="2539206" y="2895600"/>
            <a:ext cx="6477000" cy="2971800"/>
          </a:xfrm>
          <a:prstGeom prst="rect">
            <a:avLst/>
          </a:prstGeom>
          <a:noFill/>
          <a:ln w="9525">
            <a:noFill/>
            <a:miter lim="800000"/>
            <a:headEnd/>
            <a:tailEnd/>
          </a:ln>
        </p:spPr>
      </p:pic>
      <p:pic>
        <p:nvPicPr>
          <p:cNvPr id="10243"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82206" y="5715000"/>
            <a:ext cx="3335338" cy="314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Slide Number Placeholder 5"/>
          <p:cNvSpPr>
            <a:spLocks noGrp="1"/>
          </p:cNvSpPr>
          <p:nvPr>
            <p:ph type="sldNum" sz="quarter" idx="12"/>
          </p:nvPr>
        </p:nvSpPr>
        <p:spPr/>
        <p:txBody>
          <a:bodyPr/>
          <a:lstStyle/>
          <a:p>
            <a:fld id="{B6F15528-21DE-4FAA-801E-634DDDAF4B2B}" type="slidenum">
              <a:rPr lang="en-US" smtClean="0"/>
              <a:pPr/>
              <a:t>21</a:t>
            </a:fld>
            <a:endParaRPr lang="en-US"/>
          </a:p>
        </p:txBody>
      </p:sp>
      <p:sp>
        <p:nvSpPr>
          <p:cNvPr id="7" name="Footer Placeholder 6"/>
          <p:cNvSpPr>
            <a:spLocks noGrp="1"/>
          </p:cNvSpPr>
          <p:nvPr>
            <p:ph type="ftr" sz="quarter" idx="11"/>
          </p:nvPr>
        </p:nvSpPr>
        <p:spPr/>
        <p:txBody>
          <a:bodyPr/>
          <a:lstStyle/>
          <a:p>
            <a:r>
              <a:rPr lang="en-US" smtClean="0"/>
              <a:t>ME 356 Strength of Materials II for IDL</a:t>
            </a:r>
            <a:endParaRPr lang="en-US"/>
          </a:p>
        </p:txBody>
      </p:sp>
    </p:spTree>
    <p:extLst>
      <p:ext uri="{BB962C8B-B14F-4D97-AF65-F5344CB8AC3E}">
        <p14:creationId xmlns:p14="http://schemas.microsoft.com/office/powerpoint/2010/main" val="224896966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1806" y="304800"/>
            <a:ext cx="11201400" cy="571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Slide Number Placeholder 2"/>
          <p:cNvSpPr>
            <a:spLocks noGrp="1"/>
          </p:cNvSpPr>
          <p:nvPr>
            <p:ph type="sldNum" sz="quarter" idx="12"/>
          </p:nvPr>
        </p:nvSpPr>
        <p:spPr/>
        <p:txBody>
          <a:bodyPr/>
          <a:lstStyle/>
          <a:p>
            <a:fld id="{B6F15528-21DE-4FAA-801E-634DDDAF4B2B}" type="slidenum">
              <a:rPr lang="en-US" smtClean="0"/>
              <a:pPr/>
              <a:t>22</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extLst>
      <p:ext uri="{BB962C8B-B14F-4D97-AF65-F5344CB8AC3E}">
        <p14:creationId xmlns:p14="http://schemas.microsoft.com/office/powerpoint/2010/main" val="76769298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3206" y="228600"/>
            <a:ext cx="11658600" cy="632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Slide Number Placeholder 2"/>
          <p:cNvSpPr>
            <a:spLocks noGrp="1"/>
          </p:cNvSpPr>
          <p:nvPr>
            <p:ph type="sldNum" sz="quarter" idx="12"/>
          </p:nvPr>
        </p:nvSpPr>
        <p:spPr/>
        <p:txBody>
          <a:bodyPr/>
          <a:lstStyle/>
          <a:p>
            <a:fld id="{B6F15528-21DE-4FAA-801E-634DDDAF4B2B}" type="slidenum">
              <a:rPr lang="en-US" smtClean="0"/>
              <a:pPr/>
              <a:t>23</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extLst>
      <p:ext uri="{BB962C8B-B14F-4D97-AF65-F5344CB8AC3E}">
        <p14:creationId xmlns:p14="http://schemas.microsoft.com/office/powerpoint/2010/main" val="189709513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9406" y="457200"/>
            <a:ext cx="11648570" cy="594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Slide Number Placeholder 2"/>
          <p:cNvSpPr>
            <a:spLocks noGrp="1"/>
          </p:cNvSpPr>
          <p:nvPr>
            <p:ph type="sldNum" sz="quarter" idx="12"/>
          </p:nvPr>
        </p:nvSpPr>
        <p:spPr/>
        <p:txBody>
          <a:bodyPr/>
          <a:lstStyle/>
          <a:p>
            <a:fld id="{B6F15528-21DE-4FAA-801E-634DDDAF4B2B}" type="slidenum">
              <a:rPr lang="en-US" smtClean="0"/>
              <a:pPr/>
              <a:t>24</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extLst>
      <p:ext uri="{BB962C8B-B14F-4D97-AF65-F5344CB8AC3E}">
        <p14:creationId xmlns:p14="http://schemas.microsoft.com/office/powerpoint/2010/main" val="12650045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3"/>
          <a:srcRect/>
          <a:stretch>
            <a:fillRect/>
          </a:stretch>
        </p:blipFill>
        <p:spPr bwMode="auto">
          <a:xfrm>
            <a:off x="2920206" y="228600"/>
            <a:ext cx="5867400" cy="5562600"/>
          </a:xfrm>
          <a:prstGeom prst="rect">
            <a:avLst/>
          </a:prstGeom>
          <a:noFill/>
          <a:ln w="9525">
            <a:noFill/>
            <a:miter lim="800000"/>
            <a:headEnd/>
            <a:tailEnd/>
          </a:ln>
        </p:spPr>
      </p:pic>
      <p:pic>
        <p:nvPicPr>
          <p:cNvPr id="1433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34506" y="6096000"/>
            <a:ext cx="4648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Slide Number Placeholder 4"/>
          <p:cNvSpPr>
            <a:spLocks noGrp="1"/>
          </p:cNvSpPr>
          <p:nvPr>
            <p:ph type="sldNum" sz="quarter" idx="12"/>
          </p:nvPr>
        </p:nvSpPr>
        <p:spPr/>
        <p:txBody>
          <a:bodyPr/>
          <a:lstStyle/>
          <a:p>
            <a:fld id="{B6F15528-21DE-4FAA-801E-634DDDAF4B2B}" type="slidenum">
              <a:rPr lang="en-US" smtClean="0"/>
              <a:pPr/>
              <a:t>25</a:t>
            </a:fld>
            <a:endParaRPr lang="en-US"/>
          </a:p>
        </p:txBody>
      </p:sp>
      <p:sp>
        <p:nvSpPr>
          <p:cNvPr id="6" name="Footer Placeholder 5"/>
          <p:cNvSpPr>
            <a:spLocks noGrp="1"/>
          </p:cNvSpPr>
          <p:nvPr>
            <p:ph type="ftr" sz="quarter" idx="11"/>
          </p:nvPr>
        </p:nvSpPr>
        <p:spPr/>
        <p:txBody>
          <a:bodyPr/>
          <a:lstStyle/>
          <a:p>
            <a:r>
              <a:rPr lang="en-US" smtClean="0"/>
              <a:t>ME 356 Strength of Materials II for IDL</a:t>
            </a:r>
            <a:endParaRPr lang="en-US"/>
          </a:p>
        </p:txBody>
      </p:sp>
    </p:spTree>
    <p:extLst>
      <p:ext uri="{BB962C8B-B14F-4D97-AF65-F5344CB8AC3E}">
        <p14:creationId xmlns:p14="http://schemas.microsoft.com/office/powerpoint/2010/main" val="358521176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9406" y="533400"/>
            <a:ext cx="11582400" cy="594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Slide Number Placeholder 2"/>
          <p:cNvSpPr>
            <a:spLocks noGrp="1"/>
          </p:cNvSpPr>
          <p:nvPr>
            <p:ph type="sldNum" sz="quarter" idx="12"/>
          </p:nvPr>
        </p:nvSpPr>
        <p:spPr/>
        <p:txBody>
          <a:bodyPr/>
          <a:lstStyle/>
          <a:p>
            <a:fld id="{B6F15528-21DE-4FAA-801E-634DDDAF4B2B}" type="slidenum">
              <a:rPr lang="en-US" smtClean="0"/>
              <a:pPr/>
              <a:t>26</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extLst>
      <p:ext uri="{BB962C8B-B14F-4D97-AF65-F5344CB8AC3E}">
        <p14:creationId xmlns:p14="http://schemas.microsoft.com/office/powerpoint/2010/main" val="11526824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8006" y="533400"/>
            <a:ext cx="10820400" cy="594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Slide Number Placeholder 2"/>
          <p:cNvSpPr>
            <a:spLocks noGrp="1"/>
          </p:cNvSpPr>
          <p:nvPr>
            <p:ph type="sldNum" sz="quarter" idx="12"/>
          </p:nvPr>
        </p:nvSpPr>
        <p:spPr/>
        <p:txBody>
          <a:bodyPr/>
          <a:lstStyle/>
          <a:p>
            <a:fld id="{B6F15528-21DE-4FAA-801E-634DDDAF4B2B}" type="slidenum">
              <a:rPr lang="en-US" smtClean="0"/>
              <a:pPr/>
              <a:t>27</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extLst>
      <p:ext uri="{BB962C8B-B14F-4D97-AF65-F5344CB8AC3E}">
        <p14:creationId xmlns:p14="http://schemas.microsoft.com/office/powerpoint/2010/main" val="353273644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3206" y="304800"/>
            <a:ext cx="11353799" cy="6172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Slide Number Placeholder 2"/>
          <p:cNvSpPr>
            <a:spLocks noGrp="1"/>
          </p:cNvSpPr>
          <p:nvPr>
            <p:ph type="sldNum" sz="quarter" idx="12"/>
          </p:nvPr>
        </p:nvSpPr>
        <p:spPr/>
        <p:txBody>
          <a:bodyPr/>
          <a:lstStyle/>
          <a:p>
            <a:fld id="{B6F15528-21DE-4FAA-801E-634DDDAF4B2B}" type="slidenum">
              <a:rPr lang="en-US" smtClean="0"/>
              <a:pPr/>
              <a:t>28</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extLst>
      <p:ext uri="{BB962C8B-B14F-4D97-AF65-F5344CB8AC3E}">
        <p14:creationId xmlns:p14="http://schemas.microsoft.com/office/powerpoint/2010/main" val="367240238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i="1" dirty="0"/>
              <a:t>Solution</a:t>
            </a:r>
            <a:endParaRPr lang="en-GB" dirty="0"/>
          </a:p>
        </p:txBody>
      </p:sp>
      <p:pic>
        <p:nvPicPr>
          <p:cNvPr id="1843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6606" y="1600200"/>
            <a:ext cx="9906000" cy="457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Slide Number Placeholder 3"/>
          <p:cNvSpPr>
            <a:spLocks noGrp="1"/>
          </p:cNvSpPr>
          <p:nvPr>
            <p:ph type="sldNum" sz="quarter" idx="12"/>
          </p:nvPr>
        </p:nvSpPr>
        <p:spPr/>
        <p:txBody>
          <a:bodyPr/>
          <a:lstStyle/>
          <a:p>
            <a:fld id="{B6F15528-21DE-4FAA-801E-634DDDAF4B2B}" type="slidenum">
              <a:rPr lang="en-US" smtClean="0"/>
              <a:pPr/>
              <a:t>29</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extLst>
      <p:ext uri="{BB962C8B-B14F-4D97-AF65-F5344CB8AC3E}">
        <p14:creationId xmlns:p14="http://schemas.microsoft.com/office/powerpoint/2010/main" val="215510637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5957" y="3733800"/>
            <a:ext cx="9905999" cy="9245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4206" y="1510145"/>
            <a:ext cx="9683608" cy="198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Slide Number Placeholder 3"/>
          <p:cNvSpPr>
            <a:spLocks noGrp="1"/>
          </p:cNvSpPr>
          <p:nvPr>
            <p:ph type="sldNum" sz="quarter" idx="12"/>
          </p:nvPr>
        </p:nvSpPr>
        <p:spPr/>
        <p:txBody>
          <a:bodyPr/>
          <a:lstStyle/>
          <a:p>
            <a:fld id="{B6F15528-21DE-4FAA-801E-634DDDAF4B2B}" type="slidenum">
              <a:rPr lang="en-US" smtClean="0"/>
              <a:pPr/>
              <a:t>30</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extLst>
      <p:ext uri="{BB962C8B-B14F-4D97-AF65-F5344CB8AC3E}">
        <p14:creationId xmlns:p14="http://schemas.microsoft.com/office/powerpoint/2010/main" val="173460371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6606" y="762000"/>
            <a:ext cx="10915083" cy="533400"/>
          </a:xfrm>
        </p:spPr>
        <p:txBody>
          <a:bodyPr>
            <a:normAutofit fontScale="90000"/>
          </a:bodyPr>
          <a:lstStyle/>
          <a:p>
            <a:pPr lvl="0"/>
            <a:r>
              <a:rPr lang="en-GB" b="1" dirty="0"/>
              <a:t>Review Question </a:t>
            </a:r>
            <a:r>
              <a:rPr lang="en-GB" dirty="0"/>
              <a:t/>
            </a:r>
            <a:br>
              <a:rPr lang="en-GB" dirty="0"/>
            </a:br>
            <a:endParaRPr lang="en-GB" dirty="0"/>
          </a:p>
        </p:txBody>
      </p:sp>
      <p:sp>
        <p:nvSpPr>
          <p:cNvPr id="3" name="Content Placeholder 2"/>
          <p:cNvSpPr>
            <a:spLocks noGrp="1"/>
          </p:cNvSpPr>
          <p:nvPr>
            <p:ph idx="1"/>
          </p:nvPr>
        </p:nvSpPr>
        <p:spPr>
          <a:xfrm>
            <a:off x="558006" y="2514600"/>
            <a:ext cx="10915083" cy="2667000"/>
          </a:xfrm>
        </p:spPr>
        <p:txBody>
          <a:bodyPr/>
          <a:lstStyle/>
          <a:p>
            <a:r>
              <a:rPr lang="en-GB" dirty="0" smtClean="0"/>
              <a:t>Derive </a:t>
            </a:r>
            <a:r>
              <a:rPr lang="en-GB" dirty="0"/>
              <a:t>the shape factor for the general </a:t>
            </a:r>
            <a:r>
              <a:rPr lang="en-GB" dirty="0" smtClean="0"/>
              <a:t>case</a:t>
            </a:r>
          </a:p>
          <a:p>
            <a:r>
              <a:rPr lang="en-GB" dirty="0"/>
              <a:t>Derive the shape factor for I-section beam under bending load</a:t>
            </a:r>
          </a:p>
          <a:p>
            <a:endParaRPr lang="en-GB" dirty="0"/>
          </a:p>
          <a:p>
            <a:endParaRPr lang="en-GB"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31</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extLst>
      <p:ext uri="{BB962C8B-B14F-4D97-AF65-F5344CB8AC3E}">
        <p14:creationId xmlns:p14="http://schemas.microsoft.com/office/powerpoint/2010/main" val="50951588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6606" y="609600"/>
            <a:ext cx="10915083" cy="381000"/>
          </a:xfrm>
        </p:spPr>
        <p:txBody>
          <a:bodyPr>
            <a:normAutofit fontScale="90000"/>
          </a:bodyPr>
          <a:lstStyle/>
          <a:p>
            <a:r>
              <a:rPr lang="en-GB" dirty="0"/>
              <a:t>Unit Assignments 3</a:t>
            </a:r>
            <a:br>
              <a:rPr lang="en-GB" dirty="0"/>
            </a:br>
            <a:endParaRPr lang="en-GB" dirty="0"/>
          </a:p>
        </p:txBody>
      </p:sp>
      <p:sp>
        <p:nvSpPr>
          <p:cNvPr id="3" name="Content Placeholder 2"/>
          <p:cNvSpPr>
            <a:spLocks noGrp="1"/>
          </p:cNvSpPr>
          <p:nvPr>
            <p:ph idx="1"/>
          </p:nvPr>
        </p:nvSpPr>
        <p:spPr/>
        <p:txBody>
          <a:bodyPr>
            <a:normAutofit fontScale="92500" lnSpcReduction="10000"/>
          </a:bodyPr>
          <a:lstStyle/>
          <a:p>
            <a:r>
              <a:rPr lang="en-US" sz="3200" dirty="0"/>
              <a:t>A hollow shaft has external and internal diameters of 32 mm and 14 mm respectively, and is 750 mm long. The shaft is subjected to a torque which is increased to initiate plastic deformation in the shaft. The torque is further increased to cause the plastic to advance 3 mm radially into the shaft material. Calculate the following:</a:t>
            </a:r>
            <a:endParaRPr lang="en-GB" sz="2800" dirty="0"/>
          </a:p>
          <a:p>
            <a:pPr lvl="1"/>
            <a:r>
              <a:rPr lang="en-US" sz="2800" dirty="0"/>
              <a:t>The torque that initiated the plastic deformation</a:t>
            </a:r>
            <a:endParaRPr lang="en-GB" sz="2400" dirty="0"/>
          </a:p>
          <a:p>
            <a:pPr lvl="1"/>
            <a:r>
              <a:rPr lang="en-US" sz="2800" dirty="0"/>
              <a:t>The final torque</a:t>
            </a:r>
            <a:endParaRPr lang="en-GB" sz="2400" dirty="0"/>
          </a:p>
          <a:p>
            <a:pPr lvl="1"/>
            <a:r>
              <a:rPr lang="en-US" sz="2800" dirty="0"/>
              <a:t>The angle of twist on the surface of the shaft</a:t>
            </a:r>
            <a:endParaRPr lang="en-GB" sz="2400" dirty="0"/>
          </a:p>
          <a:p>
            <a:r>
              <a:rPr lang="en-GB" sz="3200" dirty="0"/>
              <a:t>Given G==85, 000 N/mm</a:t>
            </a:r>
            <a:r>
              <a:rPr lang="en-GB" sz="3200" baseline="30000" dirty="0"/>
              <a:t>2</a:t>
            </a:r>
            <a:r>
              <a:rPr lang="en-GB" sz="3200" dirty="0"/>
              <a:t> and </a:t>
            </a:r>
            <a:r>
              <a:rPr lang="en-GB" sz="3200" dirty="0" err="1"/>
              <a:t>τ</a:t>
            </a:r>
            <a:r>
              <a:rPr lang="en-GB" sz="3200" baseline="-25000" dirty="0" err="1"/>
              <a:t>y</a:t>
            </a:r>
            <a:r>
              <a:rPr lang="en-GB" sz="3200" dirty="0"/>
              <a:t>==120 N/mm</a:t>
            </a:r>
            <a:r>
              <a:rPr lang="en-GB" sz="3200" baseline="30000" dirty="0"/>
              <a:t>2</a:t>
            </a:r>
            <a:r>
              <a:rPr lang="en-GB" sz="3200" dirty="0"/>
              <a:t>.</a:t>
            </a:r>
            <a:endParaRPr lang="en-GB"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32</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extLst>
      <p:ext uri="{BB962C8B-B14F-4D97-AF65-F5344CB8AC3E}">
        <p14:creationId xmlns:p14="http://schemas.microsoft.com/office/powerpoint/2010/main" val="242560916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642</TotalTime>
  <Words>1579</Words>
  <Application>Microsoft Office PowerPoint</Application>
  <PresentationFormat>Custom</PresentationFormat>
  <Paragraphs>164</Paragraphs>
  <Slides>32</Slides>
  <Notes>32</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2</vt:i4>
      </vt:variant>
      <vt:variant>
        <vt:lpstr>Slide Titles</vt:lpstr>
      </vt:variant>
      <vt:variant>
        <vt:i4>32</vt:i4>
      </vt:variant>
    </vt:vector>
  </HeadingPairs>
  <TitlesOfParts>
    <vt:vector size="38" baseType="lpstr">
      <vt:lpstr>Arial</vt:lpstr>
      <vt:lpstr>Calibri</vt:lpstr>
      <vt:lpstr>Wingdings</vt:lpstr>
      <vt:lpstr>Office Theme</vt:lpstr>
      <vt:lpstr>Equation</vt:lpstr>
      <vt:lpstr>Visio</vt:lpstr>
      <vt:lpstr>COMPRESSIONS,  BENDING  AND TORSION UNDER PLASTIC CONDITIONS</vt:lpstr>
      <vt:lpstr>Introduction</vt:lpstr>
      <vt:lpstr>Learning Objectives </vt:lpstr>
      <vt:lpstr>MOMENT UNDER PLASTIC CONDITION</vt:lpstr>
      <vt:lpstr>PowerPoint Presentation</vt:lpstr>
      <vt:lpstr>PowerPoint Presentation</vt:lpstr>
      <vt:lpstr>Assumptions in the Plastic Theory</vt:lpstr>
      <vt:lpstr>PowerPoint Presentation</vt:lpstr>
      <vt:lpstr>Moment of Resistance at the Plastic Hinges</vt:lpstr>
      <vt:lpstr>PowerPoint Presentation</vt:lpstr>
      <vt:lpstr>PowerPoint Presentation</vt:lpstr>
      <vt:lpstr>Case 1: Rectangular Section </vt:lpstr>
      <vt:lpstr>PowerPoint Presentation</vt:lpstr>
      <vt:lpstr>PowerPoint Presentation</vt:lpstr>
      <vt:lpstr>Solution </vt:lpstr>
      <vt:lpstr>PowerPoint Presentation</vt:lpstr>
      <vt:lpstr>Case 2: I-Section </vt:lpstr>
      <vt:lpstr>PowerPoint Presentation</vt:lpstr>
      <vt:lpstr>Solution</vt:lpstr>
      <vt:lpstr>Case 3: General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Solution</vt:lpstr>
      <vt:lpstr>PowerPoint Presentation</vt:lpstr>
      <vt:lpstr>Review Question  </vt:lpstr>
      <vt:lpstr>Unit Assignments 3 </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COMPRESSIONS,  BENDING  AND TORSION UNDER PLASTIC CONDITIONS</dc:title>
  <dc:creator>Papa</dc:creator>
  <cp:lastModifiedBy>Jerome Lavie</cp:lastModifiedBy>
  <cp:revision>20</cp:revision>
  <dcterms:created xsi:type="dcterms:W3CDTF">2006-08-16T00:00:00Z</dcterms:created>
  <dcterms:modified xsi:type="dcterms:W3CDTF">2015-12-08T05:05:25Z</dcterms:modified>
</cp:coreProperties>
</file>