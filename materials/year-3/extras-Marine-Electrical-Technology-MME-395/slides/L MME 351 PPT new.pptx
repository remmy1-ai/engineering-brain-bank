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503" r:id="rId2"/>
    <p:sldId id="544" r:id="rId3"/>
    <p:sldId id="545" r:id="rId4"/>
    <p:sldId id="546" r:id="rId5"/>
    <p:sldId id="547" r:id="rId6"/>
    <p:sldId id="548" r:id="rId7"/>
    <p:sldId id="549" r:id="rId8"/>
    <p:sldId id="550" r:id="rId9"/>
    <p:sldId id="558" r:id="rId10"/>
    <p:sldId id="552" r:id="rId11"/>
    <p:sldId id="553" r:id="rId12"/>
    <p:sldId id="554" r:id="rId13"/>
    <p:sldId id="555" r:id="rId14"/>
    <p:sldId id="556" r:id="rId15"/>
    <p:sldId id="557" r:id="rId16"/>
    <p:sldId id="559" r:id="rId17"/>
    <p:sldId id="577" r:id="rId18"/>
    <p:sldId id="560" r:id="rId19"/>
    <p:sldId id="561" r:id="rId20"/>
    <p:sldId id="566" r:id="rId21"/>
    <p:sldId id="568" r:id="rId22"/>
    <p:sldId id="572" r:id="rId23"/>
    <p:sldId id="575" r:id="rId24"/>
    <p:sldId id="574" r:id="rId25"/>
    <p:sldId id="573" r:id="rId26"/>
    <p:sldId id="576" r:id="rId27"/>
    <p:sldId id="562" r:id="rId28"/>
    <p:sldId id="569" r:id="rId29"/>
    <p:sldId id="571" r:id="rId30"/>
    <p:sldId id="563" r:id="rId31"/>
    <p:sldId id="565" r:id="rId32"/>
    <p:sldId id="564" r:id="rId33"/>
    <p:sldId id="578" r:id="rId34"/>
    <p:sldId id="579" r:id="rId35"/>
    <p:sldId id="580" r:id="rId36"/>
    <p:sldId id="581" r:id="rId37"/>
    <p:sldId id="582" r:id="rId38"/>
    <p:sldId id="583" r:id="rId39"/>
    <p:sldId id="584" r:id="rId40"/>
    <p:sldId id="585" r:id="rId41"/>
    <p:sldId id="586" r:id="rId42"/>
    <p:sldId id="587" r:id="rId43"/>
    <p:sldId id="588" r:id="rId44"/>
    <p:sldId id="589" r:id="rId45"/>
    <p:sldId id="590" r:id="rId46"/>
    <p:sldId id="591" r:id="rId47"/>
    <p:sldId id="592" r:id="rId48"/>
    <p:sldId id="593" r:id="rId49"/>
    <p:sldId id="594" r:id="rId50"/>
    <p:sldId id="59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manuel frimpong" initials="ef" lastIdx="1" clrIdx="0">
    <p:extLst>
      <p:ext uri="{19B8F6BF-5375-455C-9EA6-DF929625EA0E}">
        <p15:presenceInfo xmlns:p15="http://schemas.microsoft.com/office/powerpoint/2012/main" userId="defc4016b041d4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198DF"/>
    <a:srgbClr val="F6C702"/>
    <a:srgbClr val="00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534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05T18:23:33.459" idx="1">
    <p:pos x="5379" y="2322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47608-6ABE-4504-86B5-76DC66B615AB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764DC-64CD-49E5-9D34-444ECD225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7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070D9-CE4C-4523-84E5-2BCC360EF90C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DD320-4E3A-4CB5-A0BC-F8EFFE6E1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76DD-8797-46B9-BAA0-1118061A3B20}" type="datetime1">
              <a:rPr lang="en-US" smtClean="0"/>
              <a:t>3/15/2021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12192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13360" y="241270"/>
              <a:ext cx="2519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50123" y="68970"/>
              <a:ext cx="563237" cy="71680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400" y="1096019"/>
            <a:ext cx="10363200" cy="25417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914400" y="4666761"/>
            <a:ext cx="10363200" cy="159933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pPr algn="l"/>
            <a:endParaRPr lang="en-US" b="1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60-5DEC-4F9C-AE86-3A65EBEA6D5D}" type="datetime1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71235"/>
            <a:ext cx="12191997" cy="586764"/>
            <a:chOff x="0" y="6271235"/>
            <a:chExt cx="9144000" cy="586764"/>
          </a:xfrm>
        </p:grpSpPr>
        <p:sp>
          <p:nvSpPr>
            <p:cNvPr id="8" name="Rectangle 7"/>
            <p:cNvSpPr/>
            <p:nvPr/>
          </p:nvSpPr>
          <p:spPr>
            <a:xfrm>
              <a:off x="0" y="6668022"/>
              <a:ext cx="9144000" cy="18997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271235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36489" y="6299719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8027214" y="6314438"/>
              <a:ext cx="1091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50538" y="6320348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7070" y="6308011"/>
              <a:ext cx="292217" cy="292217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33D96D2C-39D2-D146-949D-A56FF12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95127"/>
            <a:ext cx="11198086" cy="59269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0F8A6806-0C47-8F41-8CB1-123A74FCD28F}"/>
              </a:ext>
            </a:extLst>
          </p:cNvPr>
          <p:cNvCxnSpPr/>
          <p:nvPr userDrawn="1"/>
        </p:nvCxnSpPr>
        <p:spPr>
          <a:xfrm>
            <a:off x="1" y="924340"/>
            <a:ext cx="12207161" cy="0"/>
          </a:xfrm>
          <a:prstGeom prst="line">
            <a:avLst/>
          </a:prstGeom>
          <a:ln w="12700">
            <a:solidFill>
              <a:srgbClr val="00800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B14474AE-41FC-854B-B962-6E0C929C5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2088"/>
            <a:ext cx="11198085" cy="51758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708" y="6278605"/>
            <a:ext cx="855784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fld id="{F4801FD5-11B4-DE43-ACA2-E85EEB9A6F9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D7EC4-0FAA-4E2B-9A38-6D09C67DA3A1}" type="datetime1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2406-8828-418B-8809-38D0A9920C77}" type="datetime1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5C99-0020-4D01-8567-E31F48D46E49}" type="datetime1">
              <a:rPr lang="en-US" smtClean="0"/>
              <a:t>3/15/2021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0C0AC-B421-4F27-B629-B4BF5EA43D28}" type="datetime1">
              <a:rPr lang="en-US" smtClean="0"/>
              <a:t>3/15/2021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8E7F-7F5B-4B1A-A083-B461A23AA8FA}" type="datetime1">
              <a:rPr lang="en-US" smtClean="0"/>
              <a:t>3/15/2021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FB52-87DB-4D57-8A37-3B02874B479C}" type="datetime1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A186-4EFB-4B8E-AB2B-86BDDA713B27}" type="datetime1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FC1A-4AC2-4AAF-A501-06099FF0D626}" type="datetime1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3F44-2E53-4BAA-A8EA-A81B2EB64AD8}" type="datetime1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88C0D-608D-44E2-B7D7-7A7555FE1132}" type="datetime1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4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xmlns="" id="{E81EFB1F-8D7C-2F44-8B60-6C24E97F6990}"/>
              </a:ext>
            </a:extLst>
          </p:cNvPr>
          <p:cNvSpPr txBox="1">
            <a:spLocks/>
          </p:cNvSpPr>
          <p:nvPr/>
        </p:nvSpPr>
        <p:spPr>
          <a:xfrm>
            <a:off x="443753" y="2250681"/>
            <a:ext cx="11748247" cy="11082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E2AC00"/>
              </a:buClr>
              <a:buSzPts val="1600"/>
            </a:pPr>
            <a:r>
              <a:rPr lang="en-US" sz="4800" b="1" dirty="0">
                <a:solidFill>
                  <a:srgbClr val="0000CC"/>
                </a:solidFill>
              </a:rPr>
              <a:t>MME 351 - Marine Electrical Technology</a:t>
            </a:r>
          </a:p>
          <a:p>
            <a:pPr marL="0" indent="0" algn="ctr">
              <a:spcBef>
                <a:spcPts val="0"/>
              </a:spcBef>
              <a:buClr>
                <a:srgbClr val="E2AC00"/>
              </a:buClr>
              <a:buSzPts val="1600"/>
            </a:pPr>
            <a:r>
              <a:rPr lang="en-US" sz="3200" b="1" dirty="0">
                <a:solidFill>
                  <a:srgbClr val="0000CC"/>
                </a:solidFill>
              </a:rPr>
              <a:t>(2 0 2)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2339548" y="4563320"/>
            <a:ext cx="8273631" cy="1211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  <a:latin typeface="Helvetica"/>
                <a:cs typeface="Helvetica"/>
              </a:rPr>
              <a:t>E.A. Frimpong (PhD), MIEEE, </a:t>
            </a:r>
            <a:r>
              <a:rPr lang="en-US" sz="2400" b="1" dirty="0" err="1">
                <a:solidFill>
                  <a:schemeClr val="tx1"/>
                </a:solidFill>
                <a:latin typeface="Helvetica"/>
                <a:cs typeface="Helvetica"/>
              </a:rPr>
              <a:t>MGhIE</a:t>
            </a:r>
            <a:endParaRPr lang="en-US" sz="2400" b="1" dirty="0">
              <a:solidFill>
                <a:schemeClr val="tx1"/>
              </a:solidFill>
              <a:latin typeface="Helvetica"/>
              <a:cs typeface="Helvetica"/>
            </a:endParaRPr>
          </a:p>
          <a:p>
            <a:r>
              <a:rPr lang="en-US" sz="1800" b="1" dirty="0">
                <a:latin typeface="Helvetica"/>
                <a:cs typeface="Helvetica"/>
              </a:rPr>
              <a:t>Associate Professor at Department of Electrical and Electronic Engineering,</a:t>
            </a:r>
          </a:p>
          <a:p>
            <a:r>
              <a:rPr lang="en-US" sz="1800" b="1" dirty="0">
                <a:latin typeface="Helvetica"/>
                <a:cs typeface="Helvetica"/>
              </a:rPr>
              <a:t>Kwame Nkrumah University of Science and Technology, Kumasi, Ghana</a:t>
            </a:r>
          </a:p>
        </p:txBody>
      </p:sp>
    </p:spTree>
    <p:extLst>
      <p:ext uri="{BB962C8B-B14F-4D97-AF65-F5344CB8AC3E}">
        <p14:creationId xmlns:p14="http://schemas.microsoft.com/office/powerpoint/2010/main" val="288887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Course aim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provide insight into electrical technology used in marine vessels.</a:t>
            </a: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02" y="1480073"/>
            <a:ext cx="4951857" cy="27944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766" y="1480072"/>
            <a:ext cx="4612340" cy="27944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743" y="4378501"/>
            <a:ext cx="3119717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98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Course Content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Power generation and distribution: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Selection of DC and AC generators, Merits and Demerits of AC and DC. Construction &amp; Characteristics of brushless high speed AC generators with automatic Voltage regulator.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Rules and Regulations governing electrical machinery on ships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location and installation of generator sets. Rating and characteristics of main switch boards. Arrangements of preferential trips and protective devices with wiring diagrams. 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System </a:t>
            </a:r>
            <a:r>
              <a:rPr lang="en-US" b="1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earthing</a:t>
            </a: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Isolated neutral systems, resistance earthed system.</a:t>
            </a:r>
          </a:p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</p:spTree>
    <p:extLst>
      <p:ext uri="{BB962C8B-B14F-4D97-AF65-F5344CB8AC3E}">
        <p14:creationId xmlns:p14="http://schemas.microsoft.com/office/powerpoint/2010/main" val="10304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Course Content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Motor and Control Equipment: 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 requirements of motors and starters for anchor Windlass &amp; Capstan, wiring diagram, lowering &amp; hoisting arrangement, overload protection, magnetic disc, brakes. </a:t>
            </a:r>
            <a:r>
              <a:rPr lang="en-US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Centralised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control of motors in machinery spaces. Classes of insulation (A, B and E) and Temperature rise.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Starters for miscellaneous electrical equipment 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machinery space auxiliaries </a:t>
            </a:r>
            <a:r>
              <a:rPr lang="en-US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eg</a:t>
            </a:r>
            <a:r>
              <a:rPr lang="en-US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Sequential starting and cut outs for an automatic fired boiler incorporating safety devices &amp; combustion control equipment. Sequential starting for refrigerating plants, incorporating safety devices like high pressure cut out, cooling water failure cut out, automatic defrosting with help of timer. </a:t>
            </a:r>
          </a:p>
          <a:p>
            <a:pPr marL="285750" indent="-285750">
              <a:buBlip>
                <a:blip r:embed="rId2"/>
              </a:buBlip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</p:spTree>
    <p:extLst>
      <p:ext uri="{BB962C8B-B14F-4D97-AF65-F5344CB8AC3E}">
        <p14:creationId xmlns:p14="http://schemas.microsoft.com/office/powerpoint/2010/main" val="256956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Assessment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Continuous assessment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(Assignments, quizzes, mid-</a:t>
            </a:r>
            <a:r>
              <a:rPr lang="en-US" b="1" dirty="0" err="1"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) - 30%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End-of-Semester Examination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(MCQs, Written paper) - 70%</a:t>
            </a:r>
            <a:endParaRPr lang="en-US" b="1" dirty="0"/>
          </a:p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</p:spTree>
    <p:extLst>
      <p:ext uri="{BB962C8B-B14F-4D97-AF65-F5344CB8AC3E}">
        <p14:creationId xmlns:p14="http://schemas.microsoft.com/office/powerpoint/2010/main" val="17836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639018"/>
            <a:ext cx="11198085" cy="5175827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 algn="ctr">
              <a:buNone/>
              <a:defRPr/>
            </a:pPr>
            <a:r>
              <a:rPr lang="en-US" sz="7100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Power Generation </a:t>
            </a:r>
          </a:p>
          <a:p>
            <a:pPr marL="0" indent="0" algn="ctr">
              <a:buNone/>
              <a:defRPr/>
            </a:pPr>
            <a:r>
              <a:rPr lang="en-US" sz="7100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</a:p>
          <a:p>
            <a:pPr marL="0" indent="0" algn="ctr">
              <a:buNone/>
              <a:defRPr/>
            </a:pPr>
            <a:r>
              <a:rPr lang="en-US" sz="7100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Distribution in Marine Vessels</a:t>
            </a:r>
            <a:endParaRPr lang="en-US" sz="71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205" y="2716304"/>
            <a:ext cx="2517914" cy="176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8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Uses of electricity in watercraft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64" y="1002088"/>
            <a:ext cx="3009900" cy="15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24584" y="2445422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64" y="3029025"/>
            <a:ext cx="2238375" cy="2038350"/>
          </a:xfrm>
          <a:prstGeom prst="rect">
            <a:avLst/>
          </a:prstGeom>
        </p:spPr>
      </p:pic>
      <p:pic>
        <p:nvPicPr>
          <p:cNvPr id="2050" name="Picture 2" descr="Gladiator Garage-Ready Refrigerator/Freezer Set | Garage refrigerator,  Gladiator garage, Refrigerator freez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502" y="293471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234452" y="5096980"/>
            <a:ext cx="15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Refrigeration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768" y="940284"/>
            <a:ext cx="2524125" cy="15858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58627" y="2461384"/>
            <a:ext cx="968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Pumps</a:t>
            </a:r>
          </a:p>
        </p:txBody>
      </p:sp>
    </p:spTree>
    <p:extLst>
      <p:ext uri="{BB962C8B-B14F-4D97-AF65-F5344CB8AC3E}">
        <p14:creationId xmlns:p14="http://schemas.microsoft.com/office/powerpoint/2010/main" val="22697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806" y="1002088"/>
            <a:ext cx="3638843" cy="28067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05" y="3913094"/>
            <a:ext cx="3638843" cy="23655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992" y="3567086"/>
            <a:ext cx="2897990" cy="25006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1" y="101432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Blip>
                <a:blip r:embed="rId5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Operating principle of AC generators</a:t>
            </a:r>
            <a:endParaRPr lang="en-US" sz="2400" b="1" dirty="0"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681" y="1549858"/>
            <a:ext cx="3778624" cy="30295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7158" y="146444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3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1" y="101432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Types AC generators</a:t>
            </a:r>
            <a:endParaRPr lang="en-US" sz="2400" b="1" dirty="0">
              <a:ea typeface="Calibri"/>
              <a:cs typeface="Calibri"/>
              <a:sym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46729" y="4925162"/>
            <a:ext cx="2380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3-phase AC generator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787314"/>
            <a:ext cx="5263963" cy="29930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975" y="2057400"/>
            <a:ext cx="3434884" cy="27230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37491" y="4892896"/>
            <a:ext cx="2380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1-phase AC generator</a:t>
            </a:r>
          </a:p>
        </p:txBody>
      </p:sp>
    </p:spTree>
    <p:extLst>
      <p:ext uri="{BB962C8B-B14F-4D97-AF65-F5344CB8AC3E}">
        <p14:creationId xmlns:p14="http://schemas.microsoft.com/office/powerpoint/2010/main" val="129128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1" y="101432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Major components</a:t>
            </a:r>
          </a:p>
          <a:p>
            <a:pPr marL="342900" indent="635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 Stator</a:t>
            </a:r>
          </a:p>
          <a:p>
            <a:pPr marL="342900" indent="635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 Rotor</a:t>
            </a:r>
          </a:p>
          <a:p>
            <a:pPr marL="342900" indent="635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 Slip rings</a:t>
            </a:r>
            <a:endParaRPr lang="en-US" sz="2400" b="1" dirty="0"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1014321"/>
            <a:ext cx="5486399" cy="516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6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1" y="101432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Stator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8217"/>
            <a:ext cx="5210713" cy="43747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6800" y="1002088"/>
            <a:ext cx="3275200" cy="3148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713" y="1072530"/>
            <a:ext cx="3462640" cy="2423705"/>
          </a:xfrm>
          <a:prstGeom prst="rect">
            <a:avLst/>
          </a:prstGeom>
        </p:spPr>
      </p:pic>
      <p:pic>
        <p:nvPicPr>
          <p:cNvPr id="4098" name="Picture 2" descr="One Size Ricks 21-328 Suzuki Stator Motorcycle Tool Accessories Brow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800" y="4150738"/>
            <a:ext cx="3275200" cy="202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6436" y="3566678"/>
            <a:ext cx="3576918" cy="261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5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1" y="101432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Rotor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00" y="1576675"/>
            <a:ext cx="3443288" cy="284825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9368" y="1150424"/>
            <a:ext cx="4762500" cy="26765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460" y="3729816"/>
            <a:ext cx="3766326" cy="249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0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1" y="101432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Slip rings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733729"/>
            <a:ext cx="4619345" cy="418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5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DC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7170" name="Picture 2" descr="Eniquest - DC generator power pla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691" y="2833224"/>
            <a:ext cx="5734237" cy="331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09600" y="125134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Blip>
                <a:blip r:embed="rId3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A DC generator is essentially a 1-phase AC generator with </a:t>
            </a:r>
            <a:r>
              <a:rPr lang="en-US" sz="2400" b="1" dirty="0" err="1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commutator</a:t>
            </a:r>
            <a:endParaRPr lang="en-US" sz="2400" b="1" dirty="0">
              <a:solidFill>
                <a:srgbClr val="0000CC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876" y="1796486"/>
            <a:ext cx="4456860" cy="363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AC </a:t>
            </a:r>
            <a:r>
              <a:rPr lang="en-US" b="1" dirty="0" err="1">
                <a:solidFill>
                  <a:srgbClr val="0000CC"/>
                </a:solidFill>
              </a:rPr>
              <a:t>vrs</a:t>
            </a:r>
            <a:r>
              <a:rPr lang="en-US" b="1" dirty="0">
                <a:solidFill>
                  <a:srgbClr val="0000CC"/>
                </a:solidFill>
              </a:rPr>
              <a:t> DC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DC Generators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>
                <a:ea typeface="Calibri"/>
                <a:cs typeface="Calibri"/>
                <a:sym typeface="Calibri"/>
              </a:rPr>
              <a:t>Suitability </a:t>
            </a:r>
            <a:r>
              <a:rPr lang="en-US" sz="2400" b="1" dirty="0">
                <a:ea typeface="Calibri"/>
                <a:cs typeface="Calibri"/>
                <a:sym typeface="Calibri"/>
              </a:rPr>
              <a:t>for large motors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Simple design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AC Generators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Suitability for electrical appliances and small motors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Low maintenance needs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Easy distribution of the output with a transformer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Higher efficiency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Losses are relatively fewer than DC Generators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AC generators can be easily stepped up and stepped down through transformers.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Smaller in sizer compared to DC generators.</a:t>
            </a:r>
          </a:p>
        </p:txBody>
      </p:sp>
    </p:spTree>
    <p:extLst>
      <p:ext uri="{BB962C8B-B14F-4D97-AF65-F5344CB8AC3E}">
        <p14:creationId xmlns:p14="http://schemas.microsoft.com/office/powerpoint/2010/main" val="8482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Emergency power supply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Emergency power is needed when the main supply system fails</a:t>
            </a:r>
            <a:r>
              <a:rPr lang="en-US" sz="2400" b="1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. </a:t>
            </a:r>
            <a:endParaRPr lang="en-US" sz="2400" b="1" dirty="0">
              <a:solidFill>
                <a:srgbClr val="0000CC"/>
              </a:solidFill>
              <a:ea typeface="Calibri"/>
              <a:cs typeface="Calibri"/>
              <a:sym typeface="Calibri"/>
            </a:endParaRP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Emergency power can be supplied by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Batteries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Emergency generator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Both batteries and generator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solidFill>
                  <a:srgbClr val="0000CC"/>
                </a:solidFill>
                <a:ea typeface="Calibri"/>
                <a:cs typeface="Calibri"/>
                <a:sym typeface="Calibri"/>
              </a:rPr>
              <a:t>Emergency power should cover the following key components and systems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Steering gear system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Emergency bilge pump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Watertight doors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Fire fighting system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Ship’s navigation lights and emergency lights</a:t>
            </a:r>
          </a:p>
          <a:p>
            <a:pPr marL="463550" indent="-182563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Communication and alarm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1964CA4-4FAF-40F7-BAF3-D0C820748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473" y="3590001"/>
            <a:ext cx="3976464" cy="25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9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Location and installation of generators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A solid, level mounting platform is necessary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Adequate space on all sides for ventilation and servicing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400" b="1" dirty="0">
                <a:ea typeface="Calibri"/>
                <a:cs typeface="Calibri"/>
                <a:sym typeface="Calibri"/>
              </a:rPr>
              <a:t>Generators must be kept away from living quarters, and away from bilge splash and vapors. </a:t>
            </a:r>
          </a:p>
        </p:txBody>
      </p:sp>
    </p:spTree>
    <p:extLst>
      <p:ext uri="{BB962C8B-B14F-4D97-AF65-F5344CB8AC3E}">
        <p14:creationId xmlns:p14="http://schemas.microsoft.com/office/powerpoint/2010/main" val="339695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Emergency power supply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Emergency generator is normally located outside the machinery space to provided unhindered access to it.</a:t>
            </a:r>
          </a:p>
        </p:txBody>
      </p:sp>
    </p:spTree>
    <p:extLst>
      <p:ext uri="{BB962C8B-B14F-4D97-AF65-F5344CB8AC3E}">
        <p14:creationId xmlns:p14="http://schemas.microsoft.com/office/powerpoint/2010/main" val="206165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1" y="1251349"/>
            <a:ext cx="2895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The power distribution system of a ship is designed to provide a secure supply to all loads with built-in protection for equipment and personnel.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529488FF-45FD-407D-9ED5-23AE6B9A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1138990"/>
            <a:ext cx="8302484" cy="483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54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A ship’s electricity distribution system consists of different component for distribution and safe operation of the system. They are: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Ship generator consisting of prime mover and alternator.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Main switch board which is a metal enclosure taking power from a generator and supplying it to different machinery.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Bus Bars which act as a carrier and allow transfer for transfer of power from one point to another. 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Circuit breakers which act as a switch and in unsafe condition can be tripped to avoid breakdown and accidents.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Fuses as safety device for machinery.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Transformers to step up or step down the voltage. </a:t>
            </a:r>
          </a:p>
        </p:txBody>
      </p:sp>
    </p:spTree>
    <p:extLst>
      <p:ext uri="{BB962C8B-B14F-4D97-AF65-F5344CB8AC3E}">
        <p14:creationId xmlns:p14="http://schemas.microsoft.com/office/powerpoint/2010/main" val="331891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Generator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6D51074-5067-4A1D-9601-665A9406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24" y="1588169"/>
            <a:ext cx="8540917" cy="458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50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Main switch 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58C1488-16D1-4CCB-A6D9-1F7CEB35C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18" y="1251349"/>
            <a:ext cx="6517087" cy="4391842"/>
          </a:xfrm>
          <a:prstGeom prst="rect">
            <a:avLst/>
          </a:prstGeom>
        </p:spPr>
      </p:pic>
      <p:pic>
        <p:nvPicPr>
          <p:cNvPr id="6146" name="Picture 2" descr="Image result for distribution board">
            <a:extLst>
              <a:ext uri="{FF2B5EF4-FFF2-40B4-BE49-F238E27FC236}">
                <a16:creationId xmlns:a16="http://schemas.microsoft.com/office/drawing/2014/main" xmlns="" id="{C667B246-9755-4F38-B4CF-1D5F762A3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92" y="2238101"/>
            <a:ext cx="2859487" cy="336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BB5F115-4205-40EB-8C24-6A225DDC881D}"/>
              </a:ext>
            </a:extLst>
          </p:cNvPr>
          <p:cNvSpPr txBox="1"/>
          <p:nvPr/>
        </p:nvSpPr>
        <p:spPr>
          <a:xfrm>
            <a:off x="1596190" y="560302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Domestic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2E1E03C-098D-4F74-BDA3-2360D764E457}"/>
              </a:ext>
            </a:extLst>
          </p:cNvPr>
          <p:cNvSpPr txBox="1"/>
          <p:nvPr/>
        </p:nvSpPr>
        <p:spPr>
          <a:xfrm>
            <a:off x="7166831" y="561888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Ship</a:t>
            </a:r>
          </a:p>
        </p:txBody>
      </p:sp>
    </p:spTree>
    <p:extLst>
      <p:ext uri="{BB962C8B-B14F-4D97-AF65-F5344CB8AC3E}">
        <p14:creationId xmlns:p14="http://schemas.microsoft.com/office/powerpoint/2010/main" val="2890663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Busbars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C1461AB-C68D-45A0-940E-5A50C701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71" y="2284629"/>
            <a:ext cx="3086100" cy="2543175"/>
          </a:xfrm>
          <a:prstGeom prst="rect">
            <a:avLst/>
          </a:prstGeom>
        </p:spPr>
      </p:pic>
      <p:pic>
        <p:nvPicPr>
          <p:cNvPr id="7170" name="Picture 2" descr="Image result for busbars">
            <a:extLst>
              <a:ext uri="{FF2B5EF4-FFF2-40B4-BE49-F238E27FC236}">
                <a16:creationId xmlns:a16="http://schemas.microsoft.com/office/drawing/2014/main" xmlns="" id="{B81F0D57-CFB0-40F7-9738-366CB4F4F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544" y="1988840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 result for busbars">
            <a:extLst>
              <a:ext uri="{FF2B5EF4-FFF2-40B4-BE49-F238E27FC236}">
                <a16:creationId xmlns:a16="http://schemas.microsoft.com/office/drawing/2014/main" xmlns="" id="{5B70F3CB-5CED-4360-AAB9-3032794C3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486" y="3551454"/>
            <a:ext cx="1790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874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Fuse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95F4AAB-6917-4D27-A036-B2FC02125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421" y="2185987"/>
            <a:ext cx="60293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66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Circuit breaker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DBC80CB-2C15-4506-9510-7EC80D3CE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90" y="2124075"/>
            <a:ext cx="2638425" cy="2609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888B283-0F64-4930-B313-E25D1050B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605" y="2675178"/>
            <a:ext cx="2305050" cy="1790700"/>
          </a:xfrm>
          <a:prstGeom prst="rect">
            <a:avLst/>
          </a:prstGeom>
        </p:spPr>
      </p:pic>
      <p:pic>
        <p:nvPicPr>
          <p:cNvPr id="8194" name="Picture 2" descr="Image result for air circuit breaker">
            <a:extLst>
              <a:ext uri="{FF2B5EF4-FFF2-40B4-BE49-F238E27FC236}">
                <a16:creationId xmlns:a16="http://schemas.microsoft.com/office/drawing/2014/main" xmlns="" id="{3C914E06-2EEE-4B53-BD1E-7196E0057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217" y="23574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707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7559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Transformer</a:t>
            </a:r>
          </a:p>
        </p:txBody>
      </p:sp>
      <p:pic>
        <p:nvPicPr>
          <p:cNvPr id="9218" name="Picture 2" descr="Image result for transformer for ship">
            <a:extLst>
              <a:ext uri="{FF2B5EF4-FFF2-40B4-BE49-F238E27FC236}">
                <a16:creationId xmlns:a16="http://schemas.microsoft.com/office/drawing/2014/main" xmlns="" id="{9C53F59B-C9BB-4931-9F51-A0CCAF891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15" y="1860204"/>
            <a:ext cx="4027264" cy="351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Image result for power transformer for ship">
            <a:extLst>
              <a:ext uri="{FF2B5EF4-FFF2-40B4-BE49-F238E27FC236}">
                <a16:creationId xmlns:a16="http://schemas.microsoft.com/office/drawing/2014/main" xmlns="" id="{1DDDD21A-499B-467D-8AA9-62E2594FB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029" y="731396"/>
            <a:ext cx="2882223" cy="330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mage result for power transformer for ship">
            <a:extLst>
              <a:ext uri="{FF2B5EF4-FFF2-40B4-BE49-F238E27FC236}">
                <a16:creationId xmlns:a16="http://schemas.microsoft.com/office/drawing/2014/main" xmlns="" id="{670FF25D-BCB5-4A11-9B76-74F5BED63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24" y="1002088"/>
            <a:ext cx="3674337" cy="313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Image result for transformer for appliances">
            <a:extLst>
              <a:ext uri="{FF2B5EF4-FFF2-40B4-BE49-F238E27FC236}">
                <a16:creationId xmlns:a16="http://schemas.microsoft.com/office/drawing/2014/main" xmlns="" id="{FA64B554-A055-46F5-ADF2-8F1F07927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818" y="39173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Image result for transformer for appliances">
            <a:extLst>
              <a:ext uri="{FF2B5EF4-FFF2-40B4-BE49-F238E27FC236}">
                <a16:creationId xmlns:a16="http://schemas.microsoft.com/office/drawing/2014/main" xmlns="" id="{21B8DD84-088A-4676-900F-D3CC1EA4A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36" y="4088069"/>
            <a:ext cx="23050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603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64562B-115D-4BA6-A0E8-9F05F240A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966531"/>
            <a:ext cx="8448675" cy="49249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27A60FF-7448-4A03-8F71-1048A05009DD}"/>
              </a:ext>
            </a:extLst>
          </p:cNvPr>
          <p:cNvSpPr txBox="1"/>
          <p:nvPr/>
        </p:nvSpPr>
        <p:spPr>
          <a:xfrm>
            <a:off x="4206240" y="5955162"/>
            <a:ext cx="395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typical distribution system for a ship</a:t>
            </a:r>
          </a:p>
        </p:txBody>
      </p:sp>
    </p:spTree>
    <p:extLst>
      <p:ext uri="{BB962C8B-B14F-4D97-AF65-F5344CB8AC3E}">
        <p14:creationId xmlns:p14="http://schemas.microsoft.com/office/powerpoint/2010/main" val="3421565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Emergency switchboard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It is the emergency power distribution center.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It distributes power to auxiliaries that are vital, under emergency conditions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Under normal operation, power for the emergency switchboard is supplied by the main generators through a bus-tie. 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In case of power failure, loss of voltage at the emergency switchboard will cause the emergency generator to automatically start. 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Simultaneously, the bus-tie will open disconnecting the main and the emergency switchboards.</a:t>
            </a:r>
          </a:p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The emergency generator breaker will close, energizing the emergency board and providing the needed emergency power. </a:t>
            </a:r>
          </a:p>
        </p:txBody>
      </p:sp>
    </p:spTree>
    <p:extLst>
      <p:ext uri="{BB962C8B-B14F-4D97-AF65-F5344CB8AC3E}">
        <p14:creationId xmlns:p14="http://schemas.microsoft.com/office/powerpoint/2010/main" val="254076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C1681C1F-DD28-432C-9DCB-0FC016209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368" y="765399"/>
            <a:ext cx="10010274" cy="550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841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565032B-B541-46D0-8BCD-04FDE22B4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93" y="301762"/>
            <a:ext cx="8550813" cy="56066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F3A72E1-75F3-4C97-9D8D-EDC2504E6271}"/>
              </a:ext>
            </a:extLst>
          </p:cNvPr>
          <p:cNvSpPr txBox="1"/>
          <p:nvPr/>
        </p:nvSpPr>
        <p:spPr>
          <a:xfrm>
            <a:off x="4642338" y="5908431"/>
            <a:ext cx="2672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Ship’s distribution system</a:t>
            </a:r>
          </a:p>
        </p:txBody>
      </p:sp>
    </p:spTree>
    <p:extLst>
      <p:ext uri="{BB962C8B-B14F-4D97-AF65-F5344CB8AC3E}">
        <p14:creationId xmlns:p14="http://schemas.microsoft.com/office/powerpoint/2010/main" val="1426562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7D1A387-A5A2-4CBF-9770-303D9663F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74" y="866275"/>
            <a:ext cx="10090484" cy="541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23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Electrical distribution systems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27A60FF-7448-4A03-8F71-1048A05009DD}"/>
              </a:ext>
            </a:extLst>
          </p:cNvPr>
          <p:cNvSpPr txBox="1"/>
          <p:nvPr/>
        </p:nvSpPr>
        <p:spPr>
          <a:xfrm>
            <a:off x="5049128" y="5262562"/>
            <a:ext cx="185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Ship shore supply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393B4C7-9E84-4120-A0D8-9CB2A9C72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1595437"/>
            <a:ext cx="78962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26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40507"/>
            <a:ext cx="9762565" cy="528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5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Uses</a:t>
            </a:r>
          </a:p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Electric propulsion</a:t>
            </a:r>
            <a:endParaRPr lang="en-US" sz="2800" b="1" dirty="0"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The corkscrew seal massacre: trying to track down the culprits - Rob Edwards">
            <a:extLst>
              <a:ext uri="{FF2B5EF4-FFF2-40B4-BE49-F238E27FC236}">
                <a16:creationId xmlns:a16="http://schemas.microsoft.com/office/drawing/2014/main" xmlns="" id="{F4C96A03-6034-4A00-ACC3-CCEE81A74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002088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32" y="2419727"/>
            <a:ext cx="4715436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17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Windlass</a:t>
            </a:r>
            <a:endParaRPr lang="en-US" sz="2800" b="1" dirty="0"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659" y="898088"/>
            <a:ext cx="6390341" cy="41311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32" y="2306147"/>
            <a:ext cx="5192059" cy="307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21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Winches</a:t>
            </a:r>
            <a:endParaRPr lang="en-US" sz="2800" b="1" dirty="0"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9" y="1251349"/>
            <a:ext cx="7221071" cy="502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2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Pumps</a:t>
            </a:r>
            <a:endParaRPr lang="en-US" sz="2800" b="1" dirty="0"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07" y="1774569"/>
            <a:ext cx="5600735" cy="43429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629" y="2568388"/>
            <a:ext cx="4777068" cy="30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1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Fans</a:t>
            </a:r>
            <a:endParaRPr lang="en-US" sz="2800" b="1" dirty="0"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64" y="2023830"/>
            <a:ext cx="4408567" cy="32877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895" y="2057984"/>
            <a:ext cx="39719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5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Classes of motors</a:t>
            </a: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7" y="1002088"/>
            <a:ext cx="7123860" cy="52798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22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0000CC"/>
                </a:solidFill>
              </a:rPr>
              <a:t>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Motors used in marine vessels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Induction (</a:t>
            </a:r>
            <a:r>
              <a:rPr lang="en-US" sz="2800" b="1" dirty="0">
                <a:ea typeface="Calibri"/>
                <a:cs typeface="Calibri"/>
                <a:sym typeface="Calibri"/>
              </a:rPr>
              <a:t>Asynchronous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) Motors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Synchronous motors</a:t>
            </a:r>
          </a:p>
        </p:txBody>
      </p:sp>
    </p:spTree>
    <p:extLst>
      <p:ext uri="{BB962C8B-B14F-4D97-AF65-F5344CB8AC3E}">
        <p14:creationId xmlns:p14="http://schemas.microsoft.com/office/powerpoint/2010/main" val="97118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are the workhorses of marine vessels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92" y="1988840"/>
            <a:ext cx="8946519" cy="40475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787817"/>
            <a:ext cx="4439653" cy="26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7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are either single-phase or three-phase type</a:t>
            </a: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023830"/>
            <a:ext cx="9744636" cy="36523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04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Single-phase induction motors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are </a:t>
            </a:r>
            <a:r>
              <a:rPr lang="en-US" sz="2800" b="1" dirty="0">
                <a:ea typeface="Calibri"/>
                <a:cs typeface="Calibri"/>
                <a:sym typeface="Calibri"/>
              </a:rPr>
              <a:t>powered by single-phase power supply. </a:t>
            </a:r>
            <a:endParaRPr lang="en-US" sz="2800" b="1" dirty="0" smtClean="0">
              <a:ea typeface="Calibri"/>
              <a:cs typeface="Calibri"/>
              <a:sym typeface="Calibri"/>
            </a:endParaRP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are </a:t>
            </a:r>
            <a:r>
              <a:rPr lang="en-US" sz="2800" b="1" dirty="0">
                <a:ea typeface="Calibri"/>
                <a:cs typeface="Calibri"/>
                <a:sym typeface="Calibri"/>
              </a:rPr>
              <a:t>mostly used in low power applications such as small pumps, small portable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compressors and small fans.</a:t>
            </a:r>
          </a:p>
        </p:txBody>
      </p:sp>
    </p:spTree>
    <p:extLst>
      <p:ext uri="{BB962C8B-B14F-4D97-AF65-F5344CB8AC3E}">
        <p14:creationId xmlns:p14="http://schemas.microsoft.com/office/powerpoint/2010/main" val="149024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Three-phase induction motors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are </a:t>
            </a:r>
            <a:r>
              <a:rPr lang="en-US" sz="2800" b="1" dirty="0">
                <a:ea typeface="Calibri"/>
                <a:cs typeface="Calibri"/>
                <a:sym typeface="Calibri"/>
              </a:rPr>
              <a:t>supplied with 3 three-phase AC supply </a:t>
            </a:r>
            <a:endParaRPr lang="en-US" sz="2800" b="1" dirty="0" smtClean="0">
              <a:ea typeface="Calibri"/>
              <a:cs typeface="Calibri"/>
              <a:sym typeface="Calibri"/>
            </a:endParaRP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</a:t>
            </a:r>
            <a:r>
              <a:rPr lang="en-US" sz="2800" b="1" dirty="0">
                <a:ea typeface="Calibri"/>
                <a:cs typeface="Calibri"/>
                <a:sym typeface="Calibri"/>
              </a:rPr>
              <a:t>are of two types, namely, squirrel cage and wound rotor. </a:t>
            </a:r>
            <a:endParaRPr lang="en-US" sz="2800" b="1" dirty="0" smtClean="0">
              <a:ea typeface="Calibri"/>
              <a:cs typeface="Calibri"/>
              <a:sym typeface="Calibri"/>
            </a:endParaRP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Squirrel </a:t>
            </a:r>
            <a:r>
              <a:rPr lang="en-US" sz="2800" b="1" dirty="0">
                <a:ea typeface="Calibri"/>
                <a:cs typeface="Calibri"/>
                <a:sym typeface="Calibri"/>
              </a:rPr>
              <a:t>cage motors are widely used on ships due to their rugged construction and simple design. </a:t>
            </a:r>
            <a:endParaRPr lang="en-US" sz="2800" b="1" dirty="0" smtClean="0">
              <a:ea typeface="Calibri"/>
              <a:cs typeface="Calibri"/>
              <a:sym typeface="Calibri"/>
            </a:endParaRP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Typical </a:t>
            </a:r>
            <a:r>
              <a:rPr lang="en-US" sz="2800" b="1" dirty="0">
                <a:ea typeface="Calibri"/>
                <a:cs typeface="Calibri"/>
                <a:sym typeface="Calibri"/>
              </a:rPr>
              <a:t>applications of three-phase induction motors are: lifts, cranes, large capacity exhaust fans, engine auxiliary pumps, engine blower fan motor, engine room heavy load pumps including pumps for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fire-fighting</a:t>
            </a:r>
            <a:r>
              <a:rPr lang="en-US" sz="2800" b="1" dirty="0">
                <a:ea typeface="Calibri"/>
                <a:cs typeface="Calibri"/>
                <a:sym typeface="Calibri"/>
              </a:rPr>
              <a:t>, freshwater and sea water.</a:t>
            </a:r>
            <a:endParaRPr lang="en-US" sz="2800" b="1" dirty="0" smtClean="0"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531" y="193269"/>
            <a:ext cx="2457450" cy="1866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506" y="462806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8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Advantages of induction motors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</a:t>
            </a:r>
            <a:r>
              <a:rPr lang="en-US" sz="2800" b="1" dirty="0">
                <a:ea typeface="Calibri"/>
                <a:cs typeface="Calibri"/>
                <a:sym typeface="Calibri"/>
              </a:rPr>
              <a:t>are robust and simple in construction, with few moving parts.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They </a:t>
            </a:r>
            <a:r>
              <a:rPr lang="en-US" sz="2800" b="1" dirty="0">
                <a:ea typeface="Calibri"/>
                <a:cs typeface="Calibri"/>
                <a:sym typeface="Calibri"/>
              </a:rPr>
              <a:t>can efficiently operate in a rugged and harsh environment such as in seagoing vessels.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The </a:t>
            </a:r>
            <a:r>
              <a:rPr lang="en-US" sz="2800" b="1" dirty="0">
                <a:ea typeface="Calibri"/>
                <a:cs typeface="Calibri"/>
                <a:sym typeface="Calibri"/>
              </a:rPr>
              <a:t>maintenance cost of 3-phase induction motor is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less; </a:t>
            </a:r>
            <a:r>
              <a:rPr lang="en-US" sz="2800" b="1" dirty="0">
                <a:ea typeface="Calibri"/>
                <a:cs typeface="Calibri"/>
                <a:sym typeface="Calibri"/>
              </a:rPr>
              <a:t>they do not have parts like brushes, commuters or slip rings.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An </a:t>
            </a:r>
            <a:r>
              <a:rPr lang="en-US" sz="2800" b="1" dirty="0">
                <a:ea typeface="Calibri"/>
                <a:cs typeface="Calibri"/>
                <a:sym typeface="Calibri"/>
              </a:rPr>
              <a:t>induction motor can operate in an intrinsic environment as they do not have brushes which can cause sparks that could ignite fire.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3-phase </a:t>
            </a:r>
            <a:r>
              <a:rPr lang="en-US" sz="2800" b="1" dirty="0">
                <a:ea typeface="Calibri"/>
                <a:cs typeface="Calibri"/>
                <a:sym typeface="Calibri"/>
              </a:rPr>
              <a:t>induction motors do not need additional starting mechanism or arrangement as they can generate self-starting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torque</a:t>
            </a:r>
            <a:endParaRPr lang="en-US" sz="2800" b="1" dirty="0"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931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3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309" end="4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Disadvantages of induction motors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During </a:t>
            </a:r>
            <a:r>
              <a:rPr lang="en-US" sz="2800" b="1" dirty="0">
                <a:ea typeface="Calibri"/>
                <a:cs typeface="Calibri"/>
                <a:sym typeface="Calibri"/>
              </a:rPr>
              <a:t>starting, they draw high starting current, particularly when attached to a heavy load. This causes a dip in voltage during the starting period of the machine. </a:t>
            </a:r>
            <a:endParaRPr lang="en-US" sz="2800" b="1" dirty="0" smtClean="0">
              <a:ea typeface="Calibri"/>
              <a:cs typeface="Calibri"/>
              <a:sym typeface="Calibri"/>
            </a:endParaRP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Induction </a:t>
            </a:r>
            <a:r>
              <a:rPr lang="en-US" sz="2800" b="1" dirty="0">
                <a:ea typeface="Calibri"/>
                <a:cs typeface="Calibri"/>
                <a:sym typeface="Calibri"/>
              </a:rPr>
              <a:t>motors operate at lagging power factor which results in increased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power </a:t>
            </a:r>
            <a:r>
              <a:rPr lang="en-US" sz="2800" b="1" dirty="0">
                <a:ea typeface="Calibri"/>
                <a:cs typeface="Calibri"/>
                <a:sym typeface="Calibri"/>
              </a:rPr>
              <a:t>losses and efficiency reduction, especially at low load. </a:t>
            </a:r>
          </a:p>
        </p:txBody>
      </p:sp>
    </p:spTree>
    <p:extLst>
      <p:ext uri="{BB962C8B-B14F-4D97-AF65-F5344CB8AC3E}">
        <p14:creationId xmlns:p14="http://schemas.microsoft.com/office/powerpoint/2010/main" val="232226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Potential faults 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Environmental faults</a:t>
            </a:r>
          </a:p>
          <a:p>
            <a:pPr marL="860425" indent="-282575">
              <a:buFont typeface="Arial" panose="020B0604020202020204" pitchFamily="34" charset="0"/>
              <a:buChar char="•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Moisture in air</a:t>
            </a:r>
          </a:p>
          <a:p>
            <a:pPr marL="860425" indent="-282575">
              <a:buFont typeface="Arial" panose="020B0604020202020204" pitchFamily="34" charset="0"/>
              <a:buChar char="•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Vibration from heave equipment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Winding faults due to insulation failure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Unbalance supply due to blown fuses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Crawling due to harmonics in supply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Imbalance rotor due to defect in the rotor, internal misalignment, bending of the shaft, uneven loading and improper motor and load coupling. </a:t>
            </a:r>
            <a:endParaRPr lang="en-US" sz="2800" b="1" dirty="0" smtClean="0"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577" y="1147349"/>
            <a:ext cx="3706673" cy="293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4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Fatigue failure due to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improper maintenance, use of poor quality parts, </a:t>
            </a:r>
            <a:r>
              <a:rPr lang="en-US" sz="2800" b="1" dirty="0">
                <a:ea typeface="Calibri"/>
                <a:cs typeface="Calibri"/>
                <a:sym typeface="Calibri"/>
              </a:rPr>
              <a:t>weakening of material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caused </a:t>
            </a:r>
            <a:r>
              <a:rPr lang="en-US" sz="2800" b="1" dirty="0">
                <a:ea typeface="Calibri"/>
                <a:cs typeface="Calibri"/>
                <a:sym typeface="Calibri"/>
              </a:rPr>
              <a:t>by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repeated load applications.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Bearing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failure due to poor maintenance, due </a:t>
            </a:r>
            <a:r>
              <a:rPr lang="en-US" sz="2800" b="1" dirty="0">
                <a:ea typeface="Calibri"/>
                <a:cs typeface="Calibri"/>
                <a:sym typeface="Calibri"/>
              </a:rPr>
              <a:t>to overloading, wrong installation, contaminated lube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oil, operation </a:t>
            </a:r>
            <a:r>
              <a:rPr lang="en-US" sz="2800" b="1" dirty="0">
                <a:ea typeface="Calibri"/>
                <a:cs typeface="Calibri"/>
                <a:sym typeface="Calibri"/>
              </a:rPr>
              <a:t>at excessive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temperature and water in lubrication </a:t>
            </a:r>
            <a:r>
              <a:rPr lang="en-US" sz="2800" b="1" dirty="0">
                <a:ea typeface="Calibri"/>
                <a:cs typeface="Calibri"/>
                <a:sym typeface="Calibri"/>
              </a:rPr>
              <a:t>(grease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).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>
                <a:ea typeface="Calibri"/>
                <a:cs typeface="Calibri"/>
                <a:sym typeface="Calibri"/>
              </a:rPr>
              <a:t>Lubrication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problem due to lack </a:t>
            </a:r>
            <a:r>
              <a:rPr lang="en-US" sz="2800" b="1" dirty="0">
                <a:ea typeface="Calibri"/>
                <a:cs typeface="Calibri"/>
                <a:sym typeface="Calibri"/>
              </a:rPr>
              <a:t>of lubrication or contamination of lubricants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leading to can </a:t>
            </a:r>
            <a:r>
              <a:rPr lang="en-US" sz="2800" b="1" dirty="0">
                <a:ea typeface="Calibri"/>
                <a:cs typeface="Calibri"/>
                <a:sym typeface="Calibri"/>
              </a:rPr>
              <a:t>lead to increase friction between parts and </a:t>
            </a:r>
            <a:r>
              <a:rPr lang="en-US" sz="2800" b="1" dirty="0" smtClean="0">
                <a:ea typeface="Calibri"/>
                <a:cs typeface="Calibri"/>
                <a:sym typeface="Calibri"/>
              </a:rPr>
              <a:t>bearings.</a:t>
            </a:r>
          </a:p>
        </p:txBody>
      </p:sp>
    </p:spTree>
    <p:extLst>
      <p:ext uri="{BB962C8B-B14F-4D97-AF65-F5344CB8AC3E}">
        <p14:creationId xmlns:p14="http://schemas.microsoft.com/office/powerpoint/2010/main" val="127297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Protection of induction motors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Overload protection 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Overcurrent protection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Phase unbalance protection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Stalling (locked rotor) protection</a:t>
            </a:r>
            <a:endParaRPr lang="en-US" sz="2800" b="1" dirty="0"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937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00CC"/>
                </a:solidFill>
              </a:rPr>
              <a:t>Induction Motors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770964" y="6281915"/>
            <a:ext cx="12102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KNUST-SESC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251349"/>
            <a:ext cx="1137385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Blip>
                <a:blip r:embed="rId2"/>
              </a:buBlip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Starting of induction motors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Direct-on-line starting 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Resistance starting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Auto-transformer starting</a:t>
            </a:r>
          </a:p>
          <a:p>
            <a:pPr marL="457200" indent="-174625">
              <a:buFont typeface="Wingdings" panose="05000000000000000000" pitchFamily="2" charset="2"/>
              <a:buChar char="ü"/>
              <a:defRPr/>
            </a:pPr>
            <a:r>
              <a:rPr lang="en-US" sz="2800" b="1" dirty="0" smtClean="0">
                <a:ea typeface="Calibri"/>
                <a:cs typeface="Calibri"/>
                <a:sym typeface="Calibri"/>
              </a:rPr>
              <a:t>Star-Delta starting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134034" y="3763410"/>
            <a:ext cx="4267200" cy="2038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679" y="1486074"/>
            <a:ext cx="2731245" cy="35908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772" y="1395710"/>
            <a:ext cx="3601358" cy="397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6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39968</TotalTime>
  <Words>1391</Words>
  <Application>Microsoft Office PowerPoint</Application>
  <PresentationFormat>Widescreen</PresentationFormat>
  <Paragraphs>289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Garamond</vt:lpstr>
      <vt:lpstr>Helvetica</vt:lpstr>
      <vt:lpstr>Wingdings</vt:lpstr>
      <vt:lpstr>Office Theme</vt:lpstr>
      <vt:lpstr>PowerPoint Presentation</vt:lpstr>
      <vt:lpstr>Course aim</vt:lpstr>
      <vt:lpstr>Course Content</vt:lpstr>
      <vt:lpstr>Course Content</vt:lpstr>
      <vt:lpstr>Assessment</vt:lpstr>
      <vt:lpstr>PowerPoint Presentation</vt:lpstr>
      <vt:lpstr>Uses of electricity in watercraft</vt:lpstr>
      <vt:lpstr>AC generators</vt:lpstr>
      <vt:lpstr>AC generators</vt:lpstr>
      <vt:lpstr>AC generators</vt:lpstr>
      <vt:lpstr>AC generators</vt:lpstr>
      <vt:lpstr>AC generators</vt:lpstr>
      <vt:lpstr>AC generators</vt:lpstr>
      <vt:lpstr>DC generators</vt:lpstr>
      <vt:lpstr>AC vrs DC generators</vt:lpstr>
      <vt:lpstr>Emergency power supply</vt:lpstr>
      <vt:lpstr>Location and installation of generators</vt:lpstr>
      <vt:lpstr>Emergency power supply</vt:lpstr>
      <vt:lpstr>Electrical distribution systems</vt:lpstr>
      <vt:lpstr>Electrical distribution systems</vt:lpstr>
      <vt:lpstr>Electrical distribution systems</vt:lpstr>
      <vt:lpstr>Electrical distribution systems</vt:lpstr>
      <vt:lpstr>Electrical distribution systems</vt:lpstr>
      <vt:lpstr>Electrical distribution systems</vt:lpstr>
      <vt:lpstr>Electrical distribution systems</vt:lpstr>
      <vt:lpstr>Electrical distribution systems</vt:lpstr>
      <vt:lpstr>Electrical distribution systems</vt:lpstr>
      <vt:lpstr>Emergency switchboard</vt:lpstr>
      <vt:lpstr>Electrical distribution systems</vt:lpstr>
      <vt:lpstr>PowerPoint Presentation</vt:lpstr>
      <vt:lpstr>PowerPoint Presentation</vt:lpstr>
      <vt:lpstr>Electrical distribution systems</vt:lpstr>
      <vt:lpstr>Motors</vt:lpstr>
      <vt:lpstr>Motors</vt:lpstr>
      <vt:lpstr>Motors</vt:lpstr>
      <vt:lpstr>Motors</vt:lpstr>
      <vt:lpstr>Motors</vt:lpstr>
      <vt:lpstr>Motors</vt:lpstr>
      <vt:lpstr>Motors</vt:lpstr>
      <vt:lpstr>Motors</vt:lpstr>
      <vt:lpstr>Induction Motors</vt:lpstr>
      <vt:lpstr>Induction Motors</vt:lpstr>
      <vt:lpstr>Induction Motors</vt:lpstr>
      <vt:lpstr>Induction Motors</vt:lpstr>
      <vt:lpstr>Induction Motors</vt:lpstr>
      <vt:lpstr>Induction Motors</vt:lpstr>
      <vt:lpstr>Induction Motors</vt:lpstr>
      <vt:lpstr>Induction Motors</vt:lpstr>
      <vt:lpstr>Induction Motors</vt:lpstr>
      <vt:lpstr>Induction Motors</vt:lpstr>
    </vt:vector>
  </TitlesOfParts>
  <Company>UPK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USER</cp:lastModifiedBy>
  <cp:revision>468</cp:revision>
  <dcterms:created xsi:type="dcterms:W3CDTF">2016-11-07T15:28:41Z</dcterms:created>
  <dcterms:modified xsi:type="dcterms:W3CDTF">2021-03-15T21:05:04Z</dcterms:modified>
</cp:coreProperties>
</file>