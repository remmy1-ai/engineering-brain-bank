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62" r:id="rId5"/>
    <p:sldId id="263" r:id="rId6"/>
    <p:sldId id="267" r:id="rId7"/>
    <p:sldId id="264" r:id="rId8"/>
    <p:sldId id="270" r:id="rId9"/>
    <p:sldId id="271" r:id="rId10"/>
    <p:sldId id="266" r:id="rId11"/>
    <p:sldId id="268" r:id="rId12"/>
    <p:sldId id="269" r:id="rId13"/>
    <p:sldId id="272" r:id="rId14"/>
    <p:sldId id="273" r:id="rId15"/>
    <p:sldId id="275" r:id="rId16"/>
    <p:sldId id="274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6404-3098-4200-BADE-A57C9C6D3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2D757-44CE-4A59-B414-55E95C8F1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12BED-F6C9-4157-A52A-AAC86005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FF505-F6BE-4D9D-BC55-C7940C38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22DD1-4B3A-4E59-BC3A-DB240111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21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4E828-A80C-4361-B510-12D988521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417F-D622-4DD6-989F-9BF4AFA20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B8666-D843-44D6-B9A7-FA7D8602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46F90-1FAE-467B-8AD0-FA62A1E6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3AA42-2317-49DB-B9FC-1BAEBEC0C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6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5585B-FD9C-4DFC-8A83-4B6A7939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CC464-4DF2-4134-B198-5B75EF517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7699A-D2D1-4C64-977D-20198718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A685D-CDE3-4B6A-9E9C-AC8D62D4D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2D73D-15B0-411E-BA1F-1AE2797F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3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D020-3AB0-402C-AB03-66B2E1D3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5C1CF-DE7F-4E0F-B927-DC6FE83E4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6F3149-3BFC-453A-9A9F-BDA0D09CD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64755-EF97-4A04-B4C5-9BE4D5BC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AB460-8CFA-4FB0-AC70-BCDC9D01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3B83D-2EC5-4964-A0D2-F34F27D2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63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97CC-4E6A-440B-99D6-A333067B0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76E72-D07C-4037-8F94-1813CA2C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D3873-18A2-454A-AC6D-CAA5D851E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2C00-5028-42A1-B811-27D0030B30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373C7-D0DA-4A97-AACE-62E5D6D26D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3B276-9348-4BAB-9EC9-D4CE3FE0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60374-06D6-4BAD-B484-DF0205B64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5468A-61E3-4CC4-95C4-07FB86FE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87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0694-49D5-4E59-8E8B-0C591AF68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C0A3D-2B6E-4EA8-B554-1BBCC48A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005DB9-D54F-47AA-A090-4EEF7424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5FF2B-68C9-4C74-92B9-0E57729A7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8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15D504-C689-472B-AC97-A00E3891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29B27-CD20-46F4-B009-9DC495D77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46A1F-37FF-45E3-A8FE-A02353EE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23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E8C48-EF78-4ED1-8D8A-0256BE70B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2DF21-D1F4-47C7-BF47-3DA53EEED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B491C-7596-4797-B50C-C7A29CD60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E31D3-EB00-40C8-950C-AD41DFA8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F78DF-4969-4AC2-83CB-2025DBE8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31168-ADA2-4A13-A3D9-F78754E1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3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2951A-9363-46BF-95F1-C502B9EA2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9DE01-CFBC-40F2-B001-4BCE32D82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EF707-2911-4E6B-9A46-957657170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3BD1D-B1BC-43F5-B2F5-0C899A8B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82DB4-919C-4304-929F-F8F8572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9D97D-C23A-4620-803E-B5ACCE63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955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B278-EB17-484F-A4FF-FF217422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DE7D1-84BD-4292-A109-0BF4DF42B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59C4A-41FF-4303-A9B2-0E418766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BC03B-5D39-47D9-BF2A-58A3F9AE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375FB-5EF0-42DA-BD6F-33E60FE1B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2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76C14-39B0-4E9A-80F3-B150EF2D7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84D80-D581-449F-B879-02C1F09A0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F1AC4-ABD0-421F-ADFA-8E06C6C2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ABEFF-ED6B-4FD8-ABD8-45E15FA7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F31F8-296B-42A8-9BC1-812BA224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64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225692-6828-4C5C-9BF6-A452A92E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BD00D-109D-4CBB-BF31-C4DFD7F10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369CC-C26B-4D29-BC1B-940B6DB900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C67DD-46FE-43DD-AAAB-970F044883FE}" type="datetimeFigureOut">
              <a:rPr lang="en-US" smtClean="0"/>
              <a:t>11/6/2021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38DC1-1514-4D23-B1D0-D2A2B0D40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B4FAA-B664-4796-8FEB-7D2395CEB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A4478-6D24-4556-BB1F-AAED328A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0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58F5-A053-42CB-81FB-AB2A67C199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/>
              <a:t>INITIAL STABILITY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A547D-8602-4C49-A2EA-383B90F0A2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4891"/>
            <a:ext cx="9144000" cy="665161"/>
          </a:xfrm>
        </p:spPr>
        <p:txBody>
          <a:bodyPr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23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9A1F-3FCC-4640-AD10-BD647037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9781"/>
          </a:xfrm>
        </p:spPr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7D83-528F-40E5-960F-2B49E23F0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4396"/>
            <a:ext cx="10515600" cy="508979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1.The </a:t>
            </a:r>
            <a:r>
              <a:rPr lang="en-US" sz="2000" b="0" i="0" u="none" strike="noStrike" baseline="0" dirty="0" err="1">
                <a:latin typeface="+mj-lt"/>
                <a:cs typeface="Times New Roman" panose="02020603050405020304" pitchFamily="18" charset="0"/>
              </a:rPr>
              <a:t>centre</a:t>
            </a: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 of gravity of a body ‘G’ is the point through which the force of gravity is considered to act vertically downwards with a force equal to the weight of the body. KG is VCG of the ship.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2. The </a:t>
            </a:r>
            <a:r>
              <a:rPr lang="en-US" sz="2000" b="0" i="0" u="none" strike="noStrike" baseline="0" dirty="0" err="1">
                <a:latin typeface="+mj-lt"/>
                <a:cs typeface="Times New Roman" panose="02020603050405020304" pitchFamily="18" charset="0"/>
              </a:rPr>
              <a:t>centre</a:t>
            </a: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 of buoyancy ‘B’ is the point through which the force of buoyancy is considered to act vertically upwards with a force equal to the weight of water displaced. It is the </a:t>
            </a:r>
            <a:r>
              <a:rPr lang="en-US" sz="2000" b="0" i="0" u="none" strike="noStrike" baseline="0" dirty="0" err="1">
                <a:latin typeface="+mj-lt"/>
                <a:cs typeface="Times New Roman" panose="02020603050405020304" pitchFamily="18" charset="0"/>
              </a:rPr>
              <a:t>centre</a:t>
            </a: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 of gravity of the underwater volume. KB is VCB of the ship.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3. To float at rest in still water, a vessel must displace her own weight of water, and the </a:t>
            </a:r>
            <a:r>
              <a:rPr lang="en-US" sz="2000" b="0" i="0" u="none" strike="noStrike" baseline="0" dirty="0" err="1">
                <a:latin typeface="+mj-lt"/>
                <a:cs typeface="Times New Roman" panose="02020603050405020304" pitchFamily="18" charset="0"/>
              </a:rPr>
              <a:t>centre</a:t>
            </a: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 of gravity must be in the same vertical line as the </a:t>
            </a:r>
            <a:r>
              <a:rPr lang="en-US" sz="2000" b="0" i="0" u="none" strike="noStrike" baseline="0" dirty="0" err="1">
                <a:latin typeface="+mj-lt"/>
                <a:cs typeface="Times New Roman" panose="02020603050405020304" pitchFamily="18" charset="0"/>
              </a:rPr>
              <a:t>centre</a:t>
            </a: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 of buoyancy.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b="0" i="0" u="none" strike="noStrike" baseline="0" dirty="0">
                <a:latin typeface="+mj-lt"/>
                <a:cs typeface="Times New Roman" panose="02020603050405020304" pitchFamily="18" charset="0"/>
              </a:rPr>
              <a:t>4. KM  KB  BM. Also KM  KG  GM.</a:t>
            </a:r>
            <a:endParaRPr lang="en-US" sz="20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79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D5C-069B-4AAC-B3DF-27FB39017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335" y="330506"/>
            <a:ext cx="10515600" cy="550843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LINEAR MEASUREMENTS IN STABILITY</a:t>
            </a: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8F5433-B9F8-453A-9F39-249023237D1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445" y="1263959"/>
            <a:ext cx="3228975" cy="274044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8DFE0F-D664-4F0A-BF4D-BBD5082FF8B7}"/>
              </a:ext>
            </a:extLst>
          </p:cNvPr>
          <p:cNvSpPr txBox="1"/>
          <p:nvPr/>
        </p:nvSpPr>
        <p:spPr>
          <a:xfrm>
            <a:off x="5055309" y="1341305"/>
            <a:ext cx="60978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KG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- </a:t>
            </a:r>
            <a:r>
              <a:rPr lang="en-US" sz="20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Height of the ships Center of Gravity the above Keel</a:t>
            </a:r>
            <a:endParaRPr lang="en-US" sz="20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BE031-D5FA-4118-9D89-0BA58FD1E5E5}"/>
              </a:ext>
            </a:extLst>
          </p:cNvPr>
          <p:cNvSpPr txBox="1"/>
          <p:nvPr/>
        </p:nvSpPr>
        <p:spPr>
          <a:xfrm>
            <a:off x="5034708" y="2339869"/>
            <a:ext cx="6118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KM</a:t>
            </a:r>
            <a:r>
              <a:rPr lang="en-US" sz="18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 - </a:t>
            </a:r>
            <a:r>
              <a:rPr lang="en-US" sz="20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Height of Metacenter above the Keel</a:t>
            </a:r>
            <a:endParaRPr lang="en-US" sz="20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9640A-F9D4-44E7-82F5-7E17A961E281}"/>
              </a:ext>
            </a:extLst>
          </p:cNvPr>
          <p:cNvSpPr txBox="1"/>
          <p:nvPr/>
        </p:nvSpPr>
        <p:spPr>
          <a:xfrm>
            <a:off x="4095519" y="2941718"/>
            <a:ext cx="7615410" cy="1116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GM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 Metacentric Height:</a:t>
            </a:r>
            <a:r>
              <a:rPr lang="en-US" sz="20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 This measurement is calculated by subtracting KG from KM (GM = KM - KG). GM is a measure of the ship's initial stability.</a:t>
            </a:r>
            <a:endParaRPr lang="en-US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50C3C-7EE7-488F-B15D-09C1C5F884A2}"/>
              </a:ext>
            </a:extLst>
          </p:cNvPr>
          <p:cNvSpPr txBox="1"/>
          <p:nvPr/>
        </p:nvSpPr>
        <p:spPr>
          <a:xfrm>
            <a:off x="4095519" y="4422498"/>
            <a:ext cx="761541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BM</a:t>
            </a:r>
            <a:r>
              <a:rPr lang="en-US" sz="18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sz="20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Metacentric Radius:</a:t>
            </a:r>
            <a:r>
              <a:rPr lang="en-US" sz="20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 The distance between the Center of Buoyancy and the Metacenter. It is actually the radius of the circle for the movements of "B" at small angles of heel</a:t>
            </a:r>
            <a:r>
              <a:rPr lang="en-US" sz="1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62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5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DEFINITION OF LIST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6" y="1388304"/>
            <a:ext cx="4846983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 vessel in static equilibrium with the vertical  forces acting along the </a:t>
            </a:r>
            <a:r>
              <a:rPr lang="en-US" dirty="0" err="1"/>
              <a:t>centreline</a:t>
            </a:r>
            <a:r>
              <a:rPr lang="en-US" dirty="0"/>
              <a:t> is said to be </a:t>
            </a:r>
            <a:r>
              <a:rPr lang="en-US" b="1" i="1" dirty="0"/>
              <a:t>UPRIGHT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A vessel with its </a:t>
            </a:r>
            <a:r>
              <a:rPr lang="en-US" dirty="0" err="1"/>
              <a:t>centre</a:t>
            </a:r>
            <a:r>
              <a:rPr lang="en-US" dirty="0"/>
              <a:t> of gravity off the </a:t>
            </a:r>
            <a:r>
              <a:rPr lang="en-US" dirty="0" err="1"/>
              <a:t>centreline</a:t>
            </a:r>
            <a:r>
              <a:rPr lang="en-US" dirty="0"/>
              <a:t> will be in static equilibrium inclined. Under such a condition it is said to be </a:t>
            </a:r>
            <a:r>
              <a:rPr lang="en-US" b="1" i="1" dirty="0"/>
              <a:t>LISTED</a:t>
            </a:r>
            <a:r>
              <a:rPr lang="en-US" dirty="0"/>
              <a:t>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4AC8FA-DDB0-4063-BB46-548E5420AF14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627" y="1749287"/>
            <a:ext cx="6463747" cy="3060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0547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8875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HEEL &amp; HEELING MOMENT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6" y="1388304"/>
            <a:ext cx="5708374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When an external force acts broadside on a vessel, a moment comes into action and causes it to incline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This moment is referred to as </a:t>
            </a:r>
            <a:r>
              <a:rPr lang="en-US" b="1" i="1" dirty="0"/>
              <a:t>HEELING MOMENT (HM)</a:t>
            </a:r>
            <a:r>
              <a:rPr lang="en-US" dirty="0"/>
              <a:t>, the inclination as </a:t>
            </a:r>
            <a:r>
              <a:rPr lang="en-US" b="1" i="1" dirty="0"/>
              <a:t>HEEL</a:t>
            </a:r>
            <a:r>
              <a:rPr lang="en-US" dirty="0"/>
              <a:t> and the angle as the </a:t>
            </a:r>
            <a:r>
              <a:rPr lang="en-US" b="1" i="1" dirty="0"/>
              <a:t>ANGLE OF HEEL </a:t>
            </a:r>
            <a:r>
              <a:rPr lang="en-US" b="1" dirty="0"/>
              <a:t>(</a:t>
            </a:r>
            <a:r>
              <a:rPr lang="el-GR" b="1" dirty="0"/>
              <a:t>θ</a:t>
            </a:r>
            <a:r>
              <a:rPr lang="en-US" b="1" dirty="0"/>
              <a:t>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Heel is hence a condition of dynamic equilibrium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As soon as the disturbing force is removed, the vessel will return to the upright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19C5827-AC77-41EF-A3F2-F7400AC207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26495" y="1080259"/>
            <a:ext cx="3775318" cy="2663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48D7A3-AAF7-4CEA-B7AA-D5D09753E60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103" y="3583678"/>
            <a:ext cx="3419475" cy="302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708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30"/>
            <a:ext cx="10515600" cy="717240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RIGHTING MOMENT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5" y="1070251"/>
            <a:ext cx="5708375" cy="491973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As a vessel heels, the displacement and buoyancy forces come together to form a couple which acts counter to the HM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This couple is referred to as the </a:t>
            </a:r>
            <a:r>
              <a:rPr lang="en-US" b="1" i="1" dirty="0"/>
              <a:t>RIGHTING MOMENT (RM)</a:t>
            </a:r>
            <a:r>
              <a:rPr lang="en-US" dirty="0"/>
              <a:t> or </a:t>
            </a:r>
            <a:r>
              <a:rPr lang="en-US" b="1" i="1" dirty="0"/>
              <a:t>MOMENT OF STATICAL STABILITY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It is responsible for returning a vessel upright when the disturbing force is removed, and a vessel which demonstrates such capability is said to be stable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Stability is hence defined as the ability for a vessel to bring itself upright when heeled by an external force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D3FB8A-A390-47D7-840C-5F7CA2137FE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618" y="1533633"/>
            <a:ext cx="4611756" cy="4125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5806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RIGHTING MOMENT &amp; METACENTRIC HEIGHT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135508-5B49-4598-AD74-532CA6805B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598" y="874643"/>
                <a:ext cx="6742045" cy="585746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At the angle of heel, displacement acts downwards through (G) and buoyancy acts upwards through (B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) to generate RM: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0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200" i="0" smtClean="0">
                          <a:latin typeface="Cambria Math" panose="02040503050406030204" pitchFamily="18" charset="0"/>
                        </a:rPr>
                        <m:t>GZ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The perpendicular </a:t>
                </a:r>
                <a:r>
                  <a:rPr lang="en-US" sz="2200" b="1" i="1" dirty="0"/>
                  <a:t>GZ</a:t>
                </a:r>
                <a:r>
                  <a:rPr lang="en-US" sz="2200" dirty="0"/>
                  <a:t> is referred to as the </a:t>
                </a:r>
                <a:r>
                  <a:rPr lang="en-US" sz="2200" b="1" i="1" dirty="0"/>
                  <a:t>RIGHTING LEVER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The point of intersection of the lines of action through B and B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 is called the </a:t>
                </a:r>
                <a:r>
                  <a:rPr lang="en-US" sz="2200" b="1" i="1" dirty="0"/>
                  <a:t>TRANSVERSE METACENTRE </a:t>
                </a:r>
                <a:r>
                  <a:rPr lang="en-US" sz="2200" dirty="0"/>
                  <a:t>(</a:t>
                </a:r>
                <a:r>
                  <a:rPr lang="en-US" sz="2200" i="1" dirty="0"/>
                  <a:t>M</a:t>
                </a:r>
                <a:r>
                  <a:rPr lang="en-US" sz="2200" i="1" baseline="-25000" dirty="0"/>
                  <a:t>T</a:t>
                </a:r>
                <a:r>
                  <a:rPr lang="en-US" sz="2200" dirty="0"/>
                  <a:t>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Therefore, from triangle GZM</a:t>
                </a:r>
                <a:r>
                  <a:rPr lang="en-US" sz="2200" baseline="-25000" dirty="0"/>
                  <a:t>T</a:t>
                </a:r>
                <a:r>
                  <a:rPr lang="en-US" sz="2200" dirty="0"/>
                  <a:t>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0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sz="2200" i="0" smtClean="0">
                          <a:latin typeface="Cambria Math" panose="02040503050406030204" pitchFamily="18" charset="0"/>
                        </a:rPr>
                        <m:t>GZ</m:t>
                      </m:r>
                      <m:r>
                        <a:rPr lang="en-US" sz="2200" i="0" smtClean="0">
                          <a:latin typeface="Cambria Math" panose="02040503050406030204" pitchFamily="18" charset="0"/>
                        </a:rPr>
                        <m:t>=∆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i="0" smtClean="0">
                              <a:latin typeface="Cambria Math" panose="02040503050406030204" pitchFamily="18" charset="0"/>
                            </a:rPr>
                            <m:t>GM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00" i="0" smtClean="0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200" i="0" smtClean="0">
                          <a:latin typeface="Cambria Math" panose="02040503050406030204" pitchFamily="18" charset="0"/>
                        </a:rPr>
                        <m:t>Ө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The quantity </a:t>
                </a:r>
                <a:r>
                  <a:rPr lang="en-US" sz="2200" b="1" i="1" dirty="0"/>
                  <a:t>GM</a:t>
                </a:r>
                <a:r>
                  <a:rPr lang="en-US" sz="2200" b="1" i="1" baseline="-25000" dirty="0"/>
                  <a:t>T</a:t>
                </a:r>
                <a:r>
                  <a:rPr lang="en-US" sz="2200" dirty="0"/>
                  <a:t> is referred to as the </a:t>
                </a:r>
                <a:r>
                  <a:rPr lang="en-US" sz="2200" b="1" i="1" dirty="0"/>
                  <a:t>METACENTRIC HEIGHT</a:t>
                </a:r>
                <a:r>
                  <a:rPr lang="en-US" sz="2200" dirty="0"/>
                  <a:t>, and is the measure of stability for small angles of heel up to about 10°</a:t>
                </a:r>
                <a:endParaRPr lang="en-US" sz="2200" b="1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dirty="0"/>
                  <a:t>It is determined from the formula: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KM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 panose="02040503050406030204" pitchFamily="18" charset="0"/>
                        </a:rPr>
                        <m:t>KB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BM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 panose="02040503050406030204" pitchFamily="18" charset="0"/>
                        </a:rPr>
                        <m:t>KG</m:t>
                      </m:r>
                      <m:r>
                        <a:rPr lang="en-US" sz="22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GM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135508-5B49-4598-AD74-532CA6805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598" y="874643"/>
                <a:ext cx="6742045" cy="5857461"/>
              </a:xfrm>
              <a:blipFill>
                <a:blip r:embed="rId2"/>
                <a:stretch>
                  <a:fillRect l="-995" t="-520" r="-1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7D3FB8A-A390-47D7-840C-5F7CA2137FED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704" y="1298713"/>
            <a:ext cx="4475923" cy="39756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765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46"/>
            <a:ext cx="10515600" cy="790127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INITIAL STABILITY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373" y="1408078"/>
            <a:ext cx="4210880" cy="411807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When the value of KM</a:t>
            </a:r>
            <a:r>
              <a:rPr lang="en-US" sz="2400" baseline="-25000" dirty="0"/>
              <a:t>T</a:t>
            </a:r>
            <a:r>
              <a:rPr lang="en-US" sz="2400" dirty="0"/>
              <a:t> is calculated for different angles of heel, it practically remains constant from zero up to about 10º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/>
              <a:t>Hence the concept of </a:t>
            </a:r>
            <a:r>
              <a:rPr lang="en-US" sz="2400" b="1" i="1" dirty="0"/>
              <a:t>Initial Stability</a:t>
            </a:r>
            <a:r>
              <a:rPr lang="en-US" sz="2400" dirty="0"/>
              <a:t> means </a:t>
            </a:r>
            <a:r>
              <a:rPr lang="en-US" sz="2400" dirty="0" err="1"/>
              <a:t>statical</a:t>
            </a:r>
            <a:r>
              <a:rPr lang="en-US" sz="2400" dirty="0"/>
              <a:t> stability at small angles of heel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4927A5-E3B4-4A8E-9F20-288033975AAA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9982" y="927480"/>
            <a:ext cx="4863547" cy="3053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B60C7-9547-4EE7-BD24-6D7B055FE194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0373" y="3980761"/>
            <a:ext cx="6002766" cy="2687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2276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DETERMINATION OF BM</a:t>
            </a:r>
            <a:r>
              <a:rPr lang="en-US" sz="3200" u="sng" baseline="-25000" dirty="0"/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135508-5B49-4598-AD74-532CA6805B9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65043" y="916019"/>
                <a:ext cx="4691270" cy="571006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When a vessel heels, it assumes a posture that is equivalent to the emergence of a volume (Oww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dx) from one side to immersion of (Oll</a:t>
                </a:r>
                <a:r>
                  <a:rPr lang="en-US" sz="2400" baseline="-25000" dirty="0"/>
                  <a:t>1</a:t>
                </a:r>
                <a:r>
                  <a:rPr lang="en-US" sz="2400" dirty="0"/>
                  <a:t>dx) on the other side, or the shift in </a:t>
                </a:r>
                <a:r>
                  <a:rPr lang="en-US" sz="2400" dirty="0" err="1"/>
                  <a:t>centre</a:t>
                </a:r>
                <a:r>
                  <a:rPr lang="en-US" sz="2400" dirty="0"/>
                  <a:t> of volume from B to B</a:t>
                </a:r>
                <a:r>
                  <a:rPr lang="en-US" sz="2400" baseline="-25000" dirty="0"/>
                  <a:t>1</a:t>
                </a:r>
                <a:endParaRPr lang="en-US" sz="24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CL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sz="18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Ө</m:t>
                          </m:r>
                        </m:num>
                        <m:den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𝛻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8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 lang="en-US" sz="1800">
                          <a:latin typeface="Cambria Math" panose="02040503050406030204" pitchFamily="18" charset="0"/>
                        </a:rPr>
                        <m:t>Ө=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CL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tan</m:t>
                          </m:r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Ө</m:t>
                          </m:r>
                        </m:num>
                        <m:den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𝛻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400" dirty="0"/>
                  <a:t>Therefore: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BM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18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800">
                                  <a:latin typeface="Cambria Math" panose="02040503050406030204" pitchFamily="18" charset="0"/>
                                </a:rPr>
                                <m:t>CL</m:t>
                              </m:r>
                            </m:sub>
                          </m:sSub>
                        </m:num>
                        <m:den>
                          <m:r>
                            <a:rPr lang="en-US" sz="1800">
                              <a:latin typeface="Cambria Math" panose="02040503050406030204" pitchFamily="18" charset="0"/>
                            </a:rPr>
                            <m:t>𝛻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9135508-5B49-4598-AD74-532CA6805B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65043" y="916019"/>
                <a:ext cx="4691270" cy="5710068"/>
              </a:xfrm>
              <a:blipFill>
                <a:blip r:embed="rId2"/>
                <a:stretch>
                  <a:fillRect l="-1688" t="-854" r="-2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10307AB-1CB7-414F-89D0-C49AAA811EC7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15339" y="1408078"/>
            <a:ext cx="6811618" cy="3596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0652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STATES OF EQUILIBRIUM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6" y="1388304"/>
            <a:ext cx="427713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/>
              <a:t>Stable Equilibrium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Where KM</a:t>
            </a:r>
            <a:r>
              <a:rPr lang="en-US" baseline="-25000" dirty="0"/>
              <a:t>T</a:t>
            </a:r>
            <a:r>
              <a:rPr lang="en-US" dirty="0"/>
              <a:t> &gt; KG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GM</a:t>
            </a:r>
            <a:r>
              <a:rPr lang="en-US" baseline="-25000" dirty="0"/>
              <a:t>T</a:t>
            </a:r>
            <a:r>
              <a:rPr lang="en-US" dirty="0"/>
              <a:t> is considered positive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vessel is said to be in stable equilibrium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RM will hence oppose HM when heeled</a:t>
            </a:r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83B2763-C64A-4D82-8B63-EA130FB254B0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1854442"/>
            <a:ext cx="6705599" cy="322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96326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STATES OF EQUILIBRIUM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6" y="1388304"/>
            <a:ext cx="46482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/>
              <a:t>Unstable Equilibrium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Where KM</a:t>
            </a:r>
            <a:r>
              <a:rPr lang="en-US" baseline="-25000" dirty="0"/>
              <a:t>T</a:t>
            </a:r>
            <a:r>
              <a:rPr lang="en-US" dirty="0"/>
              <a:t> &lt; KG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GM</a:t>
            </a:r>
            <a:r>
              <a:rPr lang="en-US" baseline="-25000" dirty="0"/>
              <a:t>T</a:t>
            </a:r>
            <a:r>
              <a:rPr lang="en-US" dirty="0"/>
              <a:t> is considered negative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vessel is said to be in unstable equilibrium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RM will hence assist HM when heeled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8E5CF2-423A-4417-96C1-117F12BF8B0C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6887" y="2173357"/>
            <a:ext cx="6202017" cy="3089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26123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6388"/>
          </a:xfrm>
        </p:spPr>
        <p:txBody>
          <a:bodyPr anchor="ctr">
            <a:normAutofit/>
          </a:bodyPr>
          <a:lstStyle/>
          <a:p>
            <a:pPr algn="ctr"/>
            <a:r>
              <a:rPr lang="en-US" sz="3200" u="sng" dirty="0"/>
              <a:t>STATES OF EQUILIBRIUM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6" y="1388304"/>
            <a:ext cx="46482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u="sng" dirty="0"/>
              <a:t>Neutral Equilibrium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Where KM</a:t>
            </a:r>
            <a:r>
              <a:rPr lang="en-US" baseline="-25000" dirty="0"/>
              <a:t>T</a:t>
            </a:r>
            <a:r>
              <a:rPr lang="en-US" dirty="0"/>
              <a:t> = KG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GM</a:t>
            </a:r>
            <a:r>
              <a:rPr lang="en-US" baseline="-25000" dirty="0"/>
              <a:t>T</a:t>
            </a:r>
            <a:r>
              <a:rPr lang="en-US" dirty="0"/>
              <a:t> is zero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A vessel is said to be in neutral equilibrium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Vessel has no RM when upright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70BD25-6238-495C-9543-1EECD0C94D17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35827" y="2173357"/>
            <a:ext cx="6768548" cy="3273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324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28055" cy="856388"/>
          </a:xfrm>
        </p:spPr>
        <p:txBody>
          <a:bodyPr anchor="ctr"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WORKED 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0456" y="1004552"/>
            <a:ext cx="3657599" cy="435305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Q2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A vessel or 10 000 </a:t>
            </a:r>
            <a:r>
              <a:rPr lang="en-US" dirty="0" err="1"/>
              <a:t>tonne</a:t>
            </a:r>
            <a:r>
              <a:rPr lang="en-US" dirty="0"/>
              <a:t> displacement has a second moment of area of </a:t>
            </a:r>
            <a:r>
              <a:rPr lang="en-US" dirty="0" err="1"/>
              <a:t>waterplane</a:t>
            </a:r>
            <a:r>
              <a:rPr lang="en-US" dirty="0"/>
              <a:t> about the centerline to be 60 x 10</a:t>
            </a:r>
            <a:r>
              <a:rPr lang="en-US" baseline="30000" dirty="0"/>
              <a:t>3</a:t>
            </a:r>
            <a:r>
              <a:rPr lang="en-US" dirty="0"/>
              <a:t> m</a:t>
            </a:r>
            <a:r>
              <a:rPr lang="en-US" baseline="30000" dirty="0"/>
              <a:t>4</a:t>
            </a:r>
            <a:r>
              <a:rPr lang="en-US" dirty="0"/>
              <a:t>. The </a:t>
            </a:r>
            <a:r>
              <a:rPr lang="en-US" dirty="0" err="1"/>
              <a:t>centre</a:t>
            </a:r>
            <a:r>
              <a:rPr lang="en-US" dirty="0"/>
              <a:t> of buoyancy is 2.75 m above the keel and the following are the disposition of the displacement mass on board.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4000 </a:t>
            </a:r>
            <a:r>
              <a:rPr lang="en-US" dirty="0" err="1"/>
              <a:t>tonne</a:t>
            </a:r>
            <a:r>
              <a:rPr lang="en-US" dirty="0"/>
              <a:t> at 6.30 m above the keel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2000 </a:t>
            </a:r>
            <a:r>
              <a:rPr lang="en-US" dirty="0" err="1"/>
              <a:t>tonne</a:t>
            </a:r>
            <a:r>
              <a:rPr lang="en-US" dirty="0"/>
              <a:t> at 7.50 m above the keel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4000 </a:t>
            </a:r>
            <a:r>
              <a:rPr lang="en-US" dirty="0" err="1"/>
              <a:t>tonne</a:t>
            </a:r>
            <a:r>
              <a:rPr lang="en-US" dirty="0"/>
              <a:t> at 9.15 m above the keel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Calculate the metacentric height.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18289" y="679268"/>
            <a:ext cx="6802864" cy="534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3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034"/>
    </mc:Choice>
    <mc:Fallback xmlns="">
      <p:transition spd="slow" advTm="14003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63"/>
            <a:ext cx="3944983" cy="856388"/>
          </a:xfrm>
        </p:spPr>
        <p:txBody>
          <a:bodyPr anchor="ctr"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WORKED 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7627" y="856388"/>
            <a:ext cx="3244215" cy="4436829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Q3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A vessel of constant rectangular cross-section is 7.2 m wide.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514350" lvl="0" indent="-514350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dirty="0"/>
              <a:t>Draw the metacentric diagram for the vessel using 0.5 m intervals of draught up to the 4.0 m waterline.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dirty="0"/>
              <a:t>If the </a:t>
            </a:r>
            <a:r>
              <a:rPr lang="en-US" dirty="0" err="1"/>
              <a:t>centre</a:t>
            </a:r>
            <a:r>
              <a:rPr lang="en-US" dirty="0"/>
              <a:t> of gravity is 3.0 m above the keel, determine from the diagram the limits of draught between which the vessel will be unstable.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81006" y="524962"/>
            <a:ext cx="6179818" cy="598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82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407"/>
    </mc:Choice>
    <mc:Fallback xmlns="">
      <p:transition spd="slow" advTm="22440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063"/>
            <a:ext cx="3944983" cy="856388"/>
          </a:xfrm>
        </p:spPr>
        <p:txBody>
          <a:bodyPr anchor="ctr"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WORKED EXAMPLES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44983" y="441257"/>
            <a:ext cx="7632751" cy="59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6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407"/>
    </mc:Choice>
    <mc:Fallback xmlns="">
      <p:transition spd="slow" advTm="22440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79"/>
            <a:ext cx="3992451" cy="856388"/>
          </a:xfrm>
        </p:spPr>
        <p:txBody>
          <a:bodyPr anchor="ctr"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WORKED EXAMPLES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35508-5B49-4598-AD74-532CA6805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2754" y="869267"/>
            <a:ext cx="4146183" cy="415993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Q4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A ship of 12 000 </a:t>
            </a:r>
            <a:r>
              <a:rPr lang="en-US" dirty="0" err="1"/>
              <a:t>tonne</a:t>
            </a:r>
            <a:r>
              <a:rPr lang="en-US" dirty="0"/>
              <a:t> displacement and 15 m beam has a metacentric height of 1.1 m. A mass 80 </a:t>
            </a:r>
            <a:r>
              <a:rPr lang="en-US" dirty="0" err="1"/>
              <a:t>tonne</a:t>
            </a:r>
            <a:r>
              <a:rPr lang="en-US" dirty="0"/>
              <a:t> is lifted from its position on the </a:t>
            </a:r>
            <a:r>
              <a:rPr lang="en-US" dirty="0" err="1"/>
              <a:t>centreline</a:t>
            </a:r>
            <a:r>
              <a:rPr lang="en-US" dirty="0"/>
              <a:t> at the bottom of the lower hold by one of the ship’s derricks, and placed on the quay 2.0 m from the ship’s side. The ship heels to a maximum of 3.5º when the mass is being moved.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 </a:t>
            </a:r>
          </a:p>
          <a:p>
            <a:pPr marL="514350" lvl="0" indent="-514350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dirty="0"/>
              <a:t>Calculate the height of the derrick head above the </a:t>
            </a:r>
            <a:r>
              <a:rPr lang="en-US" dirty="0" err="1"/>
              <a:t>centre</a:t>
            </a:r>
            <a:r>
              <a:rPr lang="en-US" dirty="0"/>
              <a:t> of gravity of the mass. 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dirty="0"/>
              <a:t>By how much does the GM</a:t>
            </a:r>
            <a:r>
              <a:rPr lang="en-US" baseline="-25000" dirty="0"/>
              <a:t>T</a:t>
            </a:r>
            <a:r>
              <a:rPr lang="en-US" dirty="0"/>
              <a:t> alter during the operation?</a:t>
            </a:r>
          </a:p>
          <a:p>
            <a:pPr marL="514350" indent="-514350">
              <a:lnSpc>
                <a:spcPct val="120000"/>
              </a:lnSpc>
              <a:spcBef>
                <a:spcPts val="0"/>
              </a:spcBef>
              <a:buFont typeface="+mj-lt"/>
              <a:buAutoNum type="alphaLcPeriod"/>
            </a:pP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12323" y="1005840"/>
            <a:ext cx="7226098" cy="44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9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086"/>
    </mc:Choice>
    <mc:Fallback xmlns="">
      <p:transition spd="slow" advTm="30208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2AAE-B250-4A6B-AC2C-A838BD721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879"/>
            <a:ext cx="3992451" cy="856388"/>
          </a:xfrm>
        </p:spPr>
        <p:txBody>
          <a:bodyPr anchor="ctr"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WORKED EXAMPLES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61094" y="869267"/>
            <a:ext cx="6074368" cy="551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2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086"/>
    </mc:Choice>
    <mc:Fallback xmlns="">
      <p:transition spd="slow" advTm="30208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3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2140</TotalTime>
  <Words>1008</Words>
  <Application>Microsoft Office PowerPoint</Application>
  <PresentationFormat>Widescreen</PresentationFormat>
  <Paragraphs>86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Tahoma</vt:lpstr>
      <vt:lpstr>Office Theme</vt:lpstr>
      <vt:lpstr>INITIAL STABILITY</vt:lpstr>
      <vt:lpstr>DEFINITIONS</vt:lpstr>
      <vt:lpstr>LINEAR MEASUREMENTS IN STABILITY</vt:lpstr>
      <vt:lpstr>DEFINITION OF LIST</vt:lpstr>
      <vt:lpstr>HEEL &amp; HEELING MOMENT</vt:lpstr>
      <vt:lpstr>RIGHTING MOMENT</vt:lpstr>
      <vt:lpstr>RIGHTING MOMENT &amp; METACENTRIC HEIGHT</vt:lpstr>
      <vt:lpstr>INITIAL STABILITY</vt:lpstr>
      <vt:lpstr>DETERMINATION OF BMT</vt:lpstr>
      <vt:lpstr>STATES OF EQUILIBRIUM</vt:lpstr>
      <vt:lpstr>STATES OF EQUILIBRIUM</vt:lpstr>
      <vt:lpstr>STATES OF EQUILIBRIUM</vt:lpstr>
      <vt:lpstr>WORKED EXAMPLES</vt:lpstr>
      <vt:lpstr>WORKED EXAMPLES</vt:lpstr>
      <vt:lpstr>WORKED EXAMPLES</vt:lpstr>
      <vt:lpstr>WORKED EXAMPLES</vt:lpstr>
      <vt:lpstr>WORKED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 GEOMETRY &amp; HYDROSTATICS</dc:title>
  <dc:creator>Joseph Mante</dc:creator>
  <cp:lastModifiedBy> </cp:lastModifiedBy>
  <cp:revision>132</cp:revision>
  <dcterms:created xsi:type="dcterms:W3CDTF">2020-02-17T04:08:34Z</dcterms:created>
  <dcterms:modified xsi:type="dcterms:W3CDTF">2021-11-06T08:26:11Z</dcterms:modified>
</cp:coreProperties>
</file>