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22" r:id="rId1"/>
  </p:sldMasterIdLst>
  <p:notesMasterIdLst>
    <p:notesMasterId r:id="rId49"/>
  </p:notesMasterIdLst>
  <p:handoutMasterIdLst>
    <p:handoutMasterId r:id="rId50"/>
  </p:handoutMasterIdLst>
  <p:sldIdLst>
    <p:sldId id="262" r:id="rId2"/>
    <p:sldId id="643" r:id="rId3"/>
    <p:sldId id="645" r:id="rId4"/>
    <p:sldId id="644" r:id="rId5"/>
    <p:sldId id="458" r:id="rId6"/>
    <p:sldId id="460" r:id="rId7"/>
    <p:sldId id="640" r:id="rId8"/>
    <p:sldId id="462" r:id="rId9"/>
    <p:sldId id="641" r:id="rId10"/>
    <p:sldId id="642" r:id="rId11"/>
    <p:sldId id="469" r:id="rId12"/>
    <p:sldId id="470" r:id="rId13"/>
    <p:sldId id="472" r:id="rId14"/>
    <p:sldId id="488" r:id="rId15"/>
    <p:sldId id="489" r:id="rId16"/>
    <p:sldId id="490" r:id="rId17"/>
    <p:sldId id="485" r:id="rId18"/>
    <p:sldId id="491" r:id="rId19"/>
    <p:sldId id="492" r:id="rId20"/>
    <p:sldId id="635" r:id="rId21"/>
    <p:sldId id="636" r:id="rId22"/>
    <p:sldId id="586" r:id="rId23"/>
    <p:sldId id="650" r:id="rId24"/>
    <p:sldId id="651" r:id="rId25"/>
    <p:sldId id="627" r:id="rId26"/>
    <p:sldId id="652" r:id="rId27"/>
    <p:sldId id="653" r:id="rId28"/>
    <p:sldId id="654" r:id="rId29"/>
    <p:sldId id="655" r:id="rId30"/>
    <p:sldId id="498" r:id="rId31"/>
    <p:sldId id="638" r:id="rId32"/>
    <p:sldId id="581" r:id="rId33"/>
    <p:sldId id="630" r:id="rId34"/>
    <p:sldId id="499" r:id="rId35"/>
    <p:sldId id="582" r:id="rId36"/>
    <p:sldId id="501" r:id="rId37"/>
    <p:sldId id="591" r:id="rId38"/>
    <p:sldId id="259" r:id="rId39"/>
    <p:sldId id="260" r:id="rId40"/>
    <p:sldId id="646" r:id="rId41"/>
    <p:sldId id="648" r:id="rId42"/>
    <p:sldId id="263" r:id="rId43"/>
    <p:sldId id="639" r:id="rId44"/>
    <p:sldId id="264" r:id="rId45"/>
    <p:sldId id="265" r:id="rId46"/>
    <p:sldId id="266" r:id="rId47"/>
    <p:sldId id="649" r:id="rId48"/>
  </p:sldIdLst>
  <p:sldSz cx="9144000" cy="6858000" type="screen4x3"/>
  <p:notesSz cx="7010400" cy="9236075"/>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793">
          <p15:clr>
            <a:srgbClr val="A4A3A4"/>
          </p15:clr>
        </p15:guide>
        <p15:guide id="2" orient="horz" pos="2160">
          <p15:clr>
            <a:srgbClr val="A4A3A4"/>
          </p15:clr>
        </p15:guide>
        <p15:guide id="3" orient="horz" pos="3816">
          <p15:clr>
            <a:srgbClr val="A4A3A4"/>
          </p15:clr>
        </p15:guide>
        <p15:guide id="4" orient="horz" pos="1226">
          <p15:clr>
            <a:srgbClr val="A4A3A4"/>
          </p15:clr>
        </p15:guide>
        <p15:guide id="5" orient="horz" pos="1646">
          <p15:clr>
            <a:srgbClr val="A4A3A4"/>
          </p15:clr>
        </p15:guide>
        <p15:guide id="6" orient="horz" pos="486">
          <p15:clr>
            <a:srgbClr val="A4A3A4"/>
          </p15:clr>
        </p15:guide>
        <p15:guide id="7" orient="horz" pos="3808">
          <p15:clr>
            <a:srgbClr val="A4A3A4"/>
          </p15:clr>
        </p15:guide>
        <p15:guide id="8" pos="3030">
          <p15:clr>
            <a:srgbClr val="A4A3A4"/>
          </p15:clr>
        </p15:guide>
        <p15:guide id="9" pos="5478">
          <p15:clr>
            <a:srgbClr val="A4A3A4"/>
          </p15:clr>
        </p15:guide>
        <p15:guide id="10" pos="294">
          <p15:clr>
            <a:srgbClr val="A4A3A4"/>
          </p15:clr>
        </p15:guide>
      </p15:sldGuideLst>
    </p:ext>
    <p:ext uri="{2D200454-40CA-4A62-9FC3-DE9A4176ACB9}">
      <p15:notesGuideLst xmlns:p15="http://schemas.microsoft.com/office/powerpoint/2012/main">
        <p15:guide id="1" orient="horz" pos="2909"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8000"/>
    <a:srgbClr val="3333FF"/>
    <a:srgbClr val="340000"/>
    <a:srgbClr val="0000CC"/>
    <a:srgbClr val="51260B"/>
    <a:srgbClr val="000000"/>
    <a:srgbClr val="F1AB00"/>
    <a:srgbClr val="E8A300"/>
    <a:srgbClr val="BBA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47" autoAdjust="0"/>
  </p:normalViewPr>
  <p:slideViewPr>
    <p:cSldViewPr snapToGrid="0" snapToObjects="1">
      <p:cViewPr>
        <p:scale>
          <a:sx n="60" d="100"/>
          <a:sy n="60" d="100"/>
        </p:scale>
        <p:origin x="1025" y="-117"/>
      </p:cViewPr>
      <p:guideLst>
        <p:guide orient="horz" pos="793"/>
        <p:guide orient="horz" pos="2160"/>
        <p:guide orient="horz" pos="3816"/>
        <p:guide orient="horz" pos="1226"/>
        <p:guide orient="horz" pos="1646"/>
        <p:guide orient="horz" pos="486"/>
        <p:guide orient="horz" pos="3808"/>
        <p:guide pos="3030"/>
        <p:guide pos="5478"/>
        <p:guide pos="29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p:cViewPr varScale="1">
        <p:scale>
          <a:sx n="85" d="100"/>
          <a:sy n="85" d="100"/>
        </p:scale>
        <p:origin x="-3810" y="-84"/>
      </p:cViewPr>
      <p:guideLst>
        <p:guide orient="horz" pos="2909"/>
        <p:guide pos="2208"/>
      </p:guideLst>
    </p:cSldViewPr>
  </p:notesViewPr>
  <p:gridSpacing cx="457200" cy="457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3" y="0"/>
            <a:ext cx="3038475" cy="462120"/>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lvl1pPr algn="l" eaLnBrk="0" hangingPunct="0">
              <a:defRPr sz="1200"/>
            </a:lvl1pPr>
          </a:lstStyle>
          <a:p>
            <a:pPr>
              <a:defRPr/>
            </a:pPr>
            <a:endParaRPr lang="en-US"/>
          </a:p>
        </p:txBody>
      </p:sp>
      <p:sp>
        <p:nvSpPr>
          <p:cNvPr id="49155" name="Rectangle 3"/>
          <p:cNvSpPr>
            <a:spLocks noGrp="1" noChangeArrowheads="1"/>
          </p:cNvSpPr>
          <p:nvPr>
            <p:ph type="dt" sz="quarter" idx="1"/>
          </p:nvPr>
        </p:nvSpPr>
        <p:spPr bwMode="auto">
          <a:xfrm>
            <a:off x="3970341" y="0"/>
            <a:ext cx="3038475" cy="462120"/>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lvl1pPr algn="r" eaLnBrk="0" hangingPunct="0">
              <a:defRPr sz="1200"/>
            </a:lvl1pPr>
          </a:lstStyle>
          <a:p>
            <a:pPr>
              <a:defRPr/>
            </a:pPr>
            <a:endParaRPr lang="en-US"/>
          </a:p>
        </p:txBody>
      </p:sp>
      <p:sp>
        <p:nvSpPr>
          <p:cNvPr id="49156" name="Rectangle 4"/>
          <p:cNvSpPr>
            <a:spLocks noGrp="1" noChangeArrowheads="1"/>
          </p:cNvSpPr>
          <p:nvPr>
            <p:ph type="ftr" sz="quarter" idx="2"/>
          </p:nvPr>
        </p:nvSpPr>
        <p:spPr bwMode="auto">
          <a:xfrm>
            <a:off x="3" y="8772378"/>
            <a:ext cx="3038475" cy="462120"/>
          </a:xfrm>
          <a:prstGeom prst="rect">
            <a:avLst/>
          </a:prstGeom>
          <a:noFill/>
          <a:ln w="9525">
            <a:noFill/>
            <a:miter lim="800000"/>
            <a:headEnd/>
            <a:tailEnd/>
          </a:ln>
          <a:effectLst/>
        </p:spPr>
        <p:txBody>
          <a:bodyPr vert="horz" wrap="square" lIns="91434" tIns="45717" rIns="91434" bIns="45717" numCol="1" anchor="b" anchorCtr="0" compatLnSpc="1">
            <a:prstTxWarp prst="textNoShape">
              <a:avLst/>
            </a:prstTxWarp>
          </a:bodyPr>
          <a:lstStyle>
            <a:lvl1pPr algn="l" eaLnBrk="0" hangingPunct="0">
              <a:defRPr sz="1200"/>
            </a:lvl1pPr>
          </a:lstStyle>
          <a:p>
            <a:pPr>
              <a:defRPr/>
            </a:pPr>
            <a:endParaRPr lang="en-US"/>
          </a:p>
        </p:txBody>
      </p:sp>
      <p:sp>
        <p:nvSpPr>
          <p:cNvPr id="49157" name="Rectangle 5"/>
          <p:cNvSpPr>
            <a:spLocks noGrp="1" noChangeArrowheads="1"/>
          </p:cNvSpPr>
          <p:nvPr>
            <p:ph type="sldNum" sz="quarter" idx="3"/>
          </p:nvPr>
        </p:nvSpPr>
        <p:spPr bwMode="auto">
          <a:xfrm>
            <a:off x="3970341" y="8772378"/>
            <a:ext cx="3038475" cy="462120"/>
          </a:xfrm>
          <a:prstGeom prst="rect">
            <a:avLst/>
          </a:prstGeom>
          <a:noFill/>
          <a:ln w="9525">
            <a:noFill/>
            <a:miter lim="800000"/>
            <a:headEnd/>
            <a:tailEnd/>
          </a:ln>
          <a:effectLst/>
        </p:spPr>
        <p:txBody>
          <a:bodyPr vert="horz" wrap="square" lIns="91434" tIns="45717" rIns="91434" bIns="45717" numCol="1" anchor="b" anchorCtr="0" compatLnSpc="1">
            <a:prstTxWarp prst="textNoShape">
              <a:avLst/>
            </a:prstTxWarp>
          </a:bodyPr>
          <a:lstStyle>
            <a:lvl1pPr algn="r" eaLnBrk="0" hangingPunct="0">
              <a:defRPr sz="1200"/>
            </a:lvl1pPr>
          </a:lstStyle>
          <a:p>
            <a:pPr>
              <a:defRPr/>
            </a:pPr>
            <a:fld id="{09B0AA77-6275-4340-A71B-5EB3090E896B}" type="slidenum">
              <a:rPr lang="en-US" altLang="en-US"/>
              <a:pPr>
                <a:defRPr/>
              </a:pPr>
              <a:t>‹#›</a:t>
            </a:fld>
            <a:endParaRPr lang="en-US" altLang="en-US"/>
          </a:p>
        </p:txBody>
      </p:sp>
    </p:spTree>
    <p:extLst>
      <p:ext uri="{BB962C8B-B14F-4D97-AF65-F5344CB8AC3E}">
        <p14:creationId xmlns:p14="http://schemas.microsoft.com/office/powerpoint/2010/main" val="617762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3038475" cy="462120"/>
          </a:xfrm>
          <a:prstGeom prst="rect">
            <a:avLst/>
          </a:prstGeom>
        </p:spPr>
        <p:txBody>
          <a:bodyPr vert="horz" lIns="92226" tIns="46113" rIns="92226" bIns="46113" rtlCol="0"/>
          <a:lstStyle>
            <a:lvl1pPr algn="l" eaLnBrk="1" hangingPunct="1">
              <a:defRPr sz="1200"/>
            </a:lvl1pPr>
          </a:lstStyle>
          <a:p>
            <a:pPr>
              <a:defRPr/>
            </a:pPr>
            <a:endParaRPr lang="en-CA"/>
          </a:p>
        </p:txBody>
      </p:sp>
      <p:sp>
        <p:nvSpPr>
          <p:cNvPr id="3" name="Date Placeholder 2"/>
          <p:cNvSpPr>
            <a:spLocks noGrp="1"/>
          </p:cNvSpPr>
          <p:nvPr>
            <p:ph type="dt" idx="1"/>
          </p:nvPr>
        </p:nvSpPr>
        <p:spPr>
          <a:xfrm>
            <a:off x="3970341" y="0"/>
            <a:ext cx="3038475" cy="462120"/>
          </a:xfrm>
          <a:prstGeom prst="rect">
            <a:avLst/>
          </a:prstGeom>
        </p:spPr>
        <p:txBody>
          <a:bodyPr vert="horz" lIns="92226" tIns="46113" rIns="92226" bIns="46113" rtlCol="0"/>
          <a:lstStyle>
            <a:lvl1pPr algn="r" eaLnBrk="1" hangingPunct="1">
              <a:defRPr sz="1200"/>
            </a:lvl1pPr>
          </a:lstStyle>
          <a:p>
            <a:pPr>
              <a:defRPr/>
            </a:pPr>
            <a:fld id="{32B4C607-C522-456D-8358-CEABE5DE2EDF}" type="datetimeFigureOut">
              <a:rPr lang="en-CA"/>
              <a:pPr>
                <a:defRPr/>
              </a:pPr>
              <a:t>2024-05-28</a:t>
            </a:fld>
            <a:endParaRPr lang="en-CA"/>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2226" tIns="46113" rIns="92226" bIns="46113" rtlCol="0" anchor="ctr"/>
          <a:lstStyle/>
          <a:p>
            <a:pPr lvl="0"/>
            <a:endParaRPr lang="en-CA" noProof="0"/>
          </a:p>
        </p:txBody>
      </p:sp>
      <p:sp>
        <p:nvSpPr>
          <p:cNvPr id="5" name="Notes Placeholder 4"/>
          <p:cNvSpPr>
            <a:spLocks noGrp="1"/>
          </p:cNvSpPr>
          <p:nvPr>
            <p:ph type="body" sz="quarter" idx="3"/>
          </p:nvPr>
        </p:nvSpPr>
        <p:spPr>
          <a:xfrm>
            <a:off x="701675" y="4387769"/>
            <a:ext cx="5607050" cy="4155919"/>
          </a:xfrm>
          <a:prstGeom prst="rect">
            <a:avLst/>
          </a:prstGeom>
        </p:spPr>
        <p:txBody>
          <a:bodyPr vert="horz" lIns="92226" tIns="46113" rIns="92226" bIns="4611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3" y="8772378"/>
            <a:ext cx="3038475" cy="462120"/>
          </a:xfrm>
          <a:prstGeom prst="rect">
            <a:avLst/>
          </a:prstGeom>
        </p:spPr>
        <p:txBody>
          <a:bodyPr vert="horz" lIns="92226" tIns="46113" rIns="92226" bIns="46113" rtlCol="0" anchor="b"/>
          <a:lstStyle>
            <a:lvl1pPr algn="l" eaLnBrk="1" hangingPunct="1">
              <a:defRPr sz="1200"/>
            </a:lvl1pPr>
          </a:lstStyle>
          <a:p>
            <a:pPr>
              <a:defRPr/>
            </a:pPr>
            <a:endParaRPr lang="en-CA"/>
          </a:p>
        </p:txBody>
      </p:sp>
      <p:sp>
        <p:nvSpPr>
          <p:cNvPr id="7" name="Slide Number Placeholder 6"/>
          <p:cNvSpPr>
            <a:spLocks noGrp="1"/>
          </p:cNvSpPr>
          <p:nvPr>
            <p:ph type="sldNum" sz="quarter" idx="5"/>
          </p:nvPr>
        </p:nvSpPr>
        <p:spPr>
          <a:xfrm>
            <a:off x="3970341" y="8772378"/>
            <a:ext cx="3038475" cy="462120"/>
          </a:xfrm>
          <a:prstGeom prst="rect">
            <a:avLst/>
          </a:prstGeom>
        </p:spPr>
        <p:txBody>
          <a:bodyPr vert="horz" wrap="square" lIns="92226" tIns="46113" rIns="92226" bIns="46113" numCol="1" anchor="b" anchorCtr="0" compatLnSpc="1">
            <a:prstTxWarp prst="textNoShape">
              <a:avLst/>
            </a:prstTxWarp>
          </a:bodyPr>
          <a:lstStyle>
            <a:lvl1pPr algn="r" eaLnBrk="1" hangingPunct="1">
              <a:defRPr sz="1200"/>
            </a:lvl1pPr>
          </a:lstStyle>
          <a:p>
            <a:pPr>
              <a:defRPr/>
            </a:pPr>
            <a:fld id="{34781C02-6DE5-4322-A2AC-958FAC418BF6}" type="slidenum">
              <a:rPr lang="en-CA" altLang="en-US"/>
              <a:pPr>
                <a:defRPr/>
              </a:pPr>
              <a:t>‹#›</a:t>
            </a:fld>
            <a:endParaRPr lang="en-CA" altLang="en-US"/>
          </a:p>
        </p:txBody>
      </p:sp>
    </p:spTree>
    <p:extLst>
      <p:ext uri="{BB962C8B-B14F-4D97-AF65-F5344CB8AC3E}">
        <p14:creationId xmlns:p14="http://schemas.microsoft.com/office/powerpoint/2010/main" val="19392903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8</a:t>
            </a:fld>
            <a:endParaRPr lang="en-CA" altLang="en-US"/>
          </a:p>
        </p:txBody>
      </p:sp>
    </p:spTree>
    <p:extLst>
      <p:ext uri="{BB962C8B-B14F-4D97-AF65-F5344CB8AC3E}">
        <p14:creationId xmlns:p14="http://schemas.microsoft.com/office/powerpoint/2010/main" val="2891698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9</a:t>
            </a:fld>
            <a:endParaRPr lang="en-CA" altLang="en-US"/>
          </a:p>
        </p:txBody>
      </p:sp>
    </p:spTree>
    <p:extLst>
      <p:ext uri="{BB962C8B-B14F-4D97-AF65-F5344CB8AC3E}">
        <p14:creationId xmlns:p14="http://schemas.microsoft.com/office/powerpoint/2010/main" val="3228224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10</a:t>
            </a:fld>
            <a:endParaRPr lang="en-CA" altLang="en-US"/>
          </a:p>
        </p:txBody>
      </p:sp>
    </p:spTree>
    <p:extLst>
      <p:ext uri="{BB962C8B-B14F-4D97-AF65-F5344CB8AC3E}">
        <p14:creationId xmlns:p14="http://schemas.microsoft.com/office/powerpoint/2010/main" val="2454287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11</a:t>
            </a:fld>
            <a:endParaRPr lang="en-CA" altLang="en-US"/>
          </a:p>
        </p:txBody>
      </p:sp>
    </p:spTree>
    <p:extLst>
      <p:ext uri="{BB962C8B-B14F-4D97-AF65-F5344CB8AC3E}">
        <p14:creationId xmlns:p14="http://schemas.microsoft.com/office/powerpoint/2010/main" val="2076059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12</a:t>
            </a:fld>
            <a:endParaRPr lang="en-CA" altLang="en-US"/>
          </a:p>
        </p:txBody>
      </p:sp>
    </p:spTree>
    <p:extLst>
      <p:ext uri="{BB962C8B-B14F-4D97-AF65-F5344CB8AC3E}">
        <p14:creationId xmlns:p14="http://schemas.microsoft.com/office/powerpoint/2010/main" val="2071299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15</a:t>
            </a:fld>
            <a:endParaRPr lang="en-CA" altLang="en-US"/>
          </a:p>
        </p:txBody>
      </p:sp>
    </p:spTree>
    <p:extLst>
      <p:ext uri="{BB962C8B-B14F-4D97-AF65-F5344CB8AC3E}">
        <p14:creationId xmlns:p14="http://schemas.microsoft.com/office/powerpoint/2010/main" val="3026720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37</a:t>
            </a:fld>
            <a:endParaRPr lang="en-CA" altLang="en-US"/>
          </a:p>
        </p:txBody>
      </p:sp>
    </p:spTree>
    <p:extLst>
      <p:ext uri="{BB962C8B-B14F-4D97-AF65-F5344CB8AC3E}">
        <p14:creationId xmlns:p14="http://schemas.microsoft.com/office/powerpoint/2010/main" val="4220704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38</a:t>
            </a:fld>
            <a:endParaRPr lang="en-US"/>
          </a:p>
        </p:txBody>
      </p:sp>
    </p:spTree>
    <p:extLst>
      <p:ext uri="{BB962C8B-B14F-4D97-AF65-F5344CB8AC3E}">
        <p14:creationId xmlns:p14="http://schemas.microsoft.com/office/powerpoint/2010/main" val="1847702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39</a:t>
            </a:fld>
            <a:endParaRPr lang="en-US"/>
          </a:p>
        </p:txBody>
      </p:sp>
    </p:spTree>
    <p:extLst>
      <p:ext uri="{BB962C8B-B14F-4D97-AF65-F5344CB8AC3E}">
        <p14:creationId xmlns:p14="http://schemas.microsoft.com/office/powerpoint/2010/main" val="4526531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40</a:t>
            </a:fld>
            <a:endParaRPr lang="en-US"/>
          </a:p>
        </p:txBody>
      </p:sp>
    </p:spTree>
    <p:extLst>
      <p:ext uri="{BB962C8B-B14F-4D97-AF65-F5344CB8AC3E}">
        <p14:creationId xmlns:p14="http://schemas.microsoft.com/office/powerpoint/2010/main" val="703758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41</a:t>
            </a:fld>
            <a:endParaRPr lang="en-US"/>
          </a:p>
        </p:txBody>
      </p:sp>
    </p:spTree>
    <p:extLst>
      <p:ext uri="{BB962C8B-B14F-4D97-AF65-F5344CB8AC3E}">
        <p14:creationId xmlns:p14="http://schemas.microsoft.com/office/powerpoint/2010/main" val="1757732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42</a:t>
            </a:fld>
            <a:endParaRPr lang="en-US"/>
          </a:p>
        </p:txBody>
      </p:sp>
    </p:spTree>
    <p:extLst>
      <p:ext uri="{BB962C8B-B14F-4D97-AF65-F5344CB8AC3E}">
        <p14:creationId xmlns:p14="http://schemas.microsoft.com/office/powerpoint/2010/main" val="3080264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43</a:t>
            </a:fld>
            <a:endParaRPr lang="en-US"/>
          </a:p>
        </p:txBody>
      </p:sp>
    </p:spTree>
    <p:extLst>
      <p:ext uri="{BB962C8B-B14F-4D97-AF65-F5344CB8AC3E}">
        <p14:creationId xmlns:p14="http://schemas.microsoft.com/office/powerpoint/2010/main" val="634941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44</a:t>
            </a:fld>
            <a:endParaRPr lang="en-US"/>
          </a:p>
        </p:txBody>
      </p:sp>
    </p:spTree>
    <p:extLst>
      <p:ext uri="{BB962C8B-B14F-4D97-AF65-F5344CB8AC3E}">
        <p14:creationId xmlns:p14="http://schemas.microsoft.com/office/powerpoint/2010/main" val="785349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45</a:t>
            </a:fld>
            <a:endParaRPr lang="en-US"/>
          </a:p>
        </p:txBody>
      </p:sp>
    </p:spTree>
    <p:extLst>
      <p:ext uri="{BB962C8B-B14F-4D97-AF65-F5344CB8AC3E}">
        <p14:creationId xmlns:p14="http://schemas.microsoft.com/office/powerpoint/2010/main" val="4288735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46</a:t>
            </a:fld>
            <a:endParaRPr lang="en-US"/>
          </a:p>
        </p:txBody>
      </p:sp>
    </p:spTree>
    <p:extLst>
      <p:ext uri="{BB962C8B-B14F-4D97-AF65-F5344CB8AC3E}">
        <p14:creationId xmlns:p14="http://schemas.microsoft.com/office/powerpoint/2010/main" val="20583111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368CD5-327F-4212-AA61-1E07CD039442}" type="slidenum">
              <a:rPr lang="en-US" smtClean="0"/>
              <a:t>47</a:t>
            </a:fld>
            <a:endParaRPr lang="en-US"/>
          </a:p>
        </p:txBody>
      </p:sp>
    </p:spTree>
    <p:extLst>
      <p:ext uri="{BB962C8B-B14F-4D97-AF65-F5344CB8AC3E}">
        <p14:creationId xmlns:p14="http://schemas.microsoft.com/office/powerpoint/2010/main" val="2101431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ctr">
            <a:normAutofit/>
          </a:bodyPr>
          <a:lstStyle>
            <a:lvl1pPr algn="ctr">
              <a:defRPr sz="3200"/>
            </a:lvl1pPr>
          </a:lstStyle>
          <a:p>
            <a:r>
              <a:rPr lang="en-US" dirty="0"/>
              <a:t>Click to edit Master title style</a:t>
            </a:r>
            <a:endParaRPr lang="en-CA"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A3DC30AA-D437-471D-8E6D-A50927D1378F}" type="datetime1">
              <a:rPr lang="en-CA" smtClean="0"/>
              <a:t>2024-05-28</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2369219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000"/>
            </a:lvl1pPr>
          </a:lstStyle>
          <a:p>
            <a:r>
              <a:rPr lang="en-US" dirty="0"/>
              <a:t>Click to edit Master title style</a:t>
            </a:r>
            <a:endParaRPr lang="en-CA" dirty="0"/>
          </a:p>
        </p:txBody>
      </p:sp>
      <p:sp>
        <p:nvSpPr>
          <p:cNvPr id="3" name="Content Placeholder 2"/>
          <p:cNvSpPr>
            <a:spLocks noGrp="1"/>
          </p:cNvSpPr>
          <p:nvPr>
            <p:ph idx="1"/>
          </p:nvPr>
        </p:nvSpPr>
        <p:spPr/>
        <p:txBody>
          <a:bodyPr/>
          <a:lstStyle>
            <a:lvl1pPr>
              <a:defRPr sz="2400"/>
            </a:lvl1pPr>
            <a:lvl2pPr>
              <a:defRPr sz="2000"/>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FE0E2BE3-0751-4ACB-A1C5-83D2D19F7AAE}" type="datetime1">
              <a:rPr lang="en-CA" smtClean="0"/>
              <a:t>2024-05-28</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1442027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ctr">
            <a:normAutofit/>
          </a:bodyPr>
          <a:lstStyle>
            <a:lvl1pPr>
              <a:defRPr sz="3200"/>
            </a:lvl1pPr>
          </a:lstStyle>
          <a:p>
            <a:r>
              <a:rPr lang="en-US" dirty="0"/>
              <a:t>Click to edit Master title style</a:t>
            </a:r>
            <a:endParaRPr lang="en-CA" dirty="0"/>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1626184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699DBDD3-6CC8-497A-9DC2-3818F0D11793}" type="datetime1">
              <a:rPr lang="en-CA" smtClean="0"/>
              <a:t>2024-05-28</a:t>
            </a:fld>
            <a:endParaRPr lang="en-CA"/>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CA"/>
          </a:p>
        </p:txBody>
      </p:sp>
      <p:sp>
        <p:nvSpPr>
          <p:cNvPr id="7" name="Slide Number Placeholder 6"/>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528867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a:xfrm>
            <a:off x="628650" y="6356350"/>
            <a:ext cx="2057400" cy="365125"/>
          </a:xfrm>
          <a:prstGeom prst="rect">
            <a:avLst/>
          </a:prstGeom>
        </p:spPr>
        <p:txBody>
          <a:bodyPr/>
          <a:lstStyle/>
          <a:p>
            <a:fld id="{D9B88ADD-D34B-44E0-B336-82C3477E1B2E}" type="datetime1">
              <a:rPr lang="en-CA" smtClean="0"/>
              <a:t>2024-05-28</a:t>
            </a:fld>
            <a:endParaRPr lang="en-CA"/>
          </a:p>
        </p:txBody>
      </p:sp>
      <p:sp>
        <p:nvSpPr>
          <p:cNvPr id="8" name="Footer Placeholder 7"/>
          <p:cNvSpPr>
            <a:spLocks noGrp="1"/>
          </p:cNvSpPr>
          <p:nvPr>
            <p:ph type="ftr" sz="quarter" idx="11"/>
          </p:nvPr>
        </p:nvSpPr>
        <p:spPr>
          <a:xfrm>
            <a:off x="3028950" y="6356350"/>
            <a:ext cx="3086100" cy="365125"/>
          </a:xfrm>
          <a:prstGeom prst="rect">
            <a:avLst/>
          </a:prstGeom>
        </p:spPr>
        <p:txBody>
          <a:bodyPr/>
          <a:lstStyle/>
          <a:p>
            <a:endParaRPr lang="en-CA"/>
          </a:p>
        </p:txBody>
      </p:sp>
      <p:sp>
        <p:nvSpPr>
          <p:cNvPr id="9" name="Slide Number Placeholder 8"/>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2472041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a:xfrm>
            <a:off x="628650" y="6356350"/>
            <a:ext cx="2057400" cy="365125"/>
          </a:xfrm>
          <a:prstGeom prst="rect">
            <a:avLst/>
          </a:prstGeom>
        </p:spPr>
        <p:txBody>
          <a:bodyPr/>
          <a:lstStyle/>
          <a:p>
            <a:fld id="{C8395BB1-676F-41F9-B56D-3FE1D9F06A95}" type="datetime1">
              <a:rPr lang="en-CA" smtClean="0"/>
              <a:t>2024-05-28</a:t>
            </a:fld>
            <a:endParaRPr lang="en-CA"/>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endParaRPr lang="en-CA"/>
          </a:p>
        </p:txBody>
      </p:sp>
      <p:sp>
        <p:nvSpPr>
          <p:cNvPr id="5" name="Slide Number Placeholder 4"/>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844496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0"/>
            <a:ext cx="2057400" cy="365125"/>
          </a:xfrm>
          <a:prstGeom prst="rect">
            <a:avLst/>
          </a:prstGeom>
        </p:spPr>
        <p:txBody>
          <a:bodyPr/>
          <a:lstStyle/>
          <a:p>
            <a:fld id="{2ED366E3-1188-4967-B2B9-12A1A07D8C20}" type="datetime1">
              <a:rPr lang="en-CA" smtClean="0"/>
              <a:t>2024-05-28</a:t>
            </a:fld>
            <a:endParaRPr lang="en-CA"/>
          </a:p>
        </p:txBody>
      </p:sp>
      <p:sp>
        <p:nvSpPr>
          <p:cNvPr id="3" name="Footer Placeholder 2"/>
          <p:cNvSpPr>
            <a:spLocks noGrp="1"/>
          </p:cNvSpPr>
          <p:nvPr>
            <p:ph type="ftr" sz="quarter" idx="11"/>
          </p:nvPr>
        </p:nvSpPr>
        <p:spPr>
          <a:xfrm>
            <a:off x="3028950" y="6356350"/>
            <a:ext cx="3086100" cy="365125"/>
          </a:xfrm>
          <a:prstGeom prst="rect">
            <a:avLst/>
          </a:prstGeom>
        </p:spPr>
        <p:txBody>
          <a:bodyPr/>
          <a:lstStyle/>
          <a:p>
            <a:endParaRPr lang="en-CA"/>
          </a:p>
        </p:txBody>
      </p:sp>
      <p:sp>
        <p:nvSpPr>
          <p:cNvPr id="4" name="Slide Number Placeholder 3"/>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372513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F3A50FCE-57DD-4C76-A534-46E76D987996}" type="datetime1">
              <a:rPr lang="en-CA" smtClean="0"/>
              <a:t>2024-05-28</a:t>
            </a:fld>
            <a:endParaRPr lang="en-CA"/>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CA"/>
          </a:p>
        </p:txBody>
      </p:sp>
      <p:sp>
        <p:nvSpPr>
          <p:cNvPr id="7" name="Slide Number Placeholder 6"/>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1385366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933A60BC-B1ED-4A27-9B38-6C87E13C848E}" type="datetime1">
              <a:rPr lang="en-CA" smtClean="0"/>
              <a:t>2024-05-28</a:t>
            </a:fld>
            <a:endParaRPr lang="en-CA"/>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CA"/>
          </a:p>
        </p:txBody>
      </p:sp>
      <p:sp>
        <p:nvSpPr>
          <p:cNvPr id="7" name="Slide Number Placeholder 6"/>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468483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F773F5B3-6769-43CC-993F-7B4122612E0D}" type="datetime1">
              <a:rPr lang="en-CA" smtClean="0"/>
              <a:t>2024-05-28</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3883945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E60449D4-0405-4630-B879-DB2FACE81936}" type="datetime1">
              <a:rPr lang="en-CA" smtClean="0"/>
              <a:t>2024-05-28</a:t>
            </a:fld>
            <a:endParaRPr lang="en-CA"/>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CA"/>
          </a:p>
        </p:txBody>
      </p:sp>
      <p:sp>
        <p:nvSpPr>
          <p:cNvPr id="6" name="Slide Number Placeholder 5"/>
          <p:cNvSpPr>
            <a:spLocks noGrp="1"/>
          </p:cNvSpPr>
          <p:nvPr>
            <p:ph type="sldNum" sz="quarter" idx="12"/>
          </p:nvPr>
        </p:nvSpPr>
        <p:spPr/>
        <p:txBody>
          <a:bodyPr/>
          <a:lstStyle/>
          <a:p>
            <a:fld id="{49FCB85E-0F77-4855-90A7-7A1B61BB679B}" type="slidenum">
              <a:rPr lang="en-CA" smtClean="0"/>
              <a:t>‹#›</a:t>
            </a:fld>
            <a:endParaRPr lang="en-CA"/>
          </a:p>
        </p:txBody>
      </p:sp>
    </p:spTree>
    <p:extLst>
      <p:ext uri="{BB962C8B-B14F-4D97-AF65-F5344CB8AC3E}">
        <p14:creationId xmlns:p14="http://schemas.microsoft.com/office/powerpoint/2010/main" val="350305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568940"/>
          </a:xfrm>
          <a:prstGeom prst="rect">
            <a:avLst/>
          </a:prstGeom>
        </p:spPr>
        <p:txBody>
          <a:bodyPr vert="horz" lIns="91440" tIns="45720" rIns="91440" bIns="45720" rtlCol="0" anchor="ctr">
            <a:normAutofit/>
          </a:bodyPr>
          <a:lstStyle/>
          <a:p>
            <a:r>
              <a:rPr lang="en-US" dirty="0"/>
              <a:t>Click to edit Master title style</a:t>
            </a:r>
            <a:endParaRPr lang="en-CA" dirty="0"/>
          </a:p>
        </p:txBody>
      </p:sp>
      <p:sp>
        <p:nvSpPr>
          <p:cNvPr id="3" name="Text Placeholder 2"/>
          <p:cNvSpPr>
            <a:spLocks noGrp="1"/>
          </p:cNvSpPr>
          <p:nvPr>
            <p:ph type="body" idx="1"/>
          </p:nvPr>
        </p:nvSpPr>
        <p:spPr>
          <a:xfrm>
            <a:off x="628650" y="1097578"/>
            <a:ext cx="7886700" cy="49319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FCB85E-0F77-4855-90A7-7A1B61BB679B}" type="slidenum">
              <a:rPr lang="en-CA" smtClean="0"/>
              <a:pPr/>
              <a:t>‹#›</a:t>
            </a:fld>
            <a:endParaRPr lang="en-CA" dirty="0"/>
          </a:p>
        </p:txBody>
      </p:sp>
      <p:cxnSp>
        <p:nvCxnSpPr>
          <p:cNvPr id="7" name="Straight Connector 6"/>
          <p:cNvCxnSpPr/>
          <p:nvPr userDrawn="1"/>
        </p:nvCxnSpPr>
        <p:spPr bwMode="auto">
          <a:xfrm>
            <a:off x="0" y="6048375"/>
            <a:ext cx="9144000" cy="0"/>
          </a:xfrm>
          <a:prstGeom prst="line">
            <a:avLst/>
          </a:prstGeom>
          <a:ln>
            <a:solidFill>
              <a:srgbClr val="F1AB00"/>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9" name="Picture 8"/>
          <p:cNvPicPr>
            <a:picLocks noChangeAspect="1"/>
          </p:cNvPicPr>
          <p:nvPr userDrawn="1"/>
        </p:nvPicPr>
        <p:blipFill>
          <a:blip r:embed="rId13"/>
          <a:stretch>
            <a:fillRect/>
          </a:stretch>
        </p:blipFill>
        <p:spPr>
          <a:xfrm>
            <a:off x="8013103" y="6141815"/>
            <a:ext cx="502247" cy="579660"/>
          </a:xfrm>
          <a:prstGeom prst="rect">
            <a:avLst/>
          </a:prstGeom>
        </p:spPr>
      </p:pic>
    </p:spTree>
    <p:extLst>
      <p:ext uri="{BB962C8B-B14F-4D97-AF65-F5344CB8AC3E}">
        <p14:creationId xmlns:p14="http://schemas.microsoft.com/office/powerpoint/2010/main" val="58214681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ftr="0" dt="0"/>
  <p:txStyles>
    <p:titleStyle>
      <a:lvl1pPr algn="ctr" defTabSz="914400" rtl="0" eaLnBrk="1" latinLnBrk="0" hangingPunct="1">
        <a:lnSpc>
          <a:spcPct val="90000"/>
        </a:lnSpc>
        <a:spcBef>
          <a:spcPct val="0"/>
        </a:spcBef>
        <a:buNone/>
        <a:defRPr sz="2000" b="1" kern="1200">
          <a:solidFill>
            <a:srgbClr val="0000FF"/>
          </a:solidFill>
          <a:latin typeface="Myriad Web Pro"/>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5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image" Target="../media/image38.jpeg"/><Relationship Id="rId7" Type="http://schemas.openxmlformats.org/officeDocument/2006/relationships/image" Target="../media/image61.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52.png"/><Relationship Id="rId5" Type="http://schemas.openxmlformats.org/officeDocument/2006/relationships/image" Target="../media/image490.png"/><Relationship Id="rId4" Type="http://schemas.openxmlformats.org/officeDocument/2006/relationships/image" Target="../media/image3.png"/><Relationship Id="rId9" Type="http://schemas.openxmlformats.org/officeDocument/2006/relationships/image" Target="../media/image40.tmp"/></Relationships>
</file>

<file path=ppt/slides/_rels/slide31.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51.png"/><Relationship Id="rId5" Type="http://schemas.openxmlformats.org/officeDocument/2006/relationships/image" Target="../media/image340.png"/><Relationship Id="rId4" Type="http://schemas.openxmlformats.org/officeDocument/2006/relationships/image" Target="../media/image330.png"/></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2.xml"/><Relationship Id="rId4" Type="http://schemas.openxmlformats.org/officeDocument/2006/relationships/image" Target="../media/image400.png"/></Relationships>
</file>

<file path=ppt/slides/_rels/slide36.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image" Target="../media/image410.png"/><Relationship Id="rId1" Type="http://schemas.openxmlformats.org/officeDocument/2006/relationships/slideLayout" Target="../slideLayouts/slideLayout2.xml"/><Relationship Id="rId5" Type="http://schemas.openxmlformats.org/officeDocument/2006/relationships/image" Target="../media/image370.png"/><Relationship Id="rId4" Type="http://schemas.openxmlformats.org/officeDocument/2006/relationships/image" Target="../media/image360.png"/></Relationships>
</file>

<file path=ppt/slides/_rels/slide37.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39633" y="685041"/>
            <a:ext cx="6858000" cy="2387600"/>
          </a:xfrm>
        </p:spPr>
        <p:txBody>
          <a:bodyPr>
            <a:normAutofit/>
          </a:bodyPr>
          <a:lstStyle/>
          <a:p>
            <a:pPr>
              <a:lnSpc>
                <a:spcPct val="200000"/>
              </a:lnSpc>
            </a:pPr>
            <a:r>
              <a:rPr lang="en-US" sz="3000" dirty="0">
                <a:solidFill>
                  <a:schemeClr val="tx1"/>
                </a:solidFill>
              </a:rPr>
              <a:t>ME 352</a:t>
            </a:r>
            <a:br>
              <a:rPr lang="en-US" sz="3000" dirty="0">
                <a:solidFill>
                  <a:schemeClr val="tx1"/>
                </a:solidFill>
              </a:rPr>
            </a:br>
            <a:r>
              <a:rPr lang="en-US" sz="3000" dirty="0">
                <a:solidFill>
                  <a:schemeClr val="tx1"/>
                </a:solidFill>
              </a:rPr>
              <a:t>FLUID DYNAMICS 2</a:t>
            </a:r>
            <a:endParaRPr lang="en-CA" sz="3000" dirty="0">
              <a:solidFill>
                <a:schemeClr val="tx1"/>
              </a:solidFill>
            </a:endParaRPr>
          </a:p>
        </p:txBody>
      </p:sp>
      <p:sp>
        <p:nvSpPr>
          <p:cNvPr id="3" name="Slide Number Placeholder 2">
            <a:extLst>
              <a:ext uri="{FF2B5EF4-FFF2-40B4-BE49-F238E27FC236}">
                <a16:creationId xmlns:a16="http://schemas.microsoft.com/office/drawing/2014/main" id="{8BCF6B85-19F5-BEA3-9932-DB5F062757E6}"/>
              </a:ext>
            </a:extLst>
          </p:cNvPr>
          <p:cNvSpPr>
            <a:spLocks noGrp="1"/>
          </p:cNvSpPr>
          <p:nvPr>
            <p:ph type="sldNum" sz="quarter" idx="12"/>
          </p:nvPr>
        </p:nvSpPr>
        <p:spPr/>
        <p:txBody>
          <a:bodyPr/>
          <a:lstStyle/>
          <a:p>
            <a:fld id="{49FCB85E-0F77-4855-90A7-7A1B61BB679B}" type="slidenum">
              <a:rPr lang="en-CA" smtClean="0"/>
              <a:t>1</a:t>
            </a:fld>
            <a:endParaRPr lang="en-CA"/>
          </a:p>
        </p:txBody>
      </p:sp>
    </p:spTree>
    <p:extLst>
      <p:ext uri="{BB962C8B-B14F-4D97-AF65-F5344CB8AC3E}">
        <p14:creationId xmlns:p14="http://schemas.microsoft.com/office/powerpoint/2010/main" val="347992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0656"/>
            <a:ext cx="9144000" cy="568940"/>
          </a:xfrm>
        </p:spPr>
        <p:txBody>
          <a:bodyPr>
            <a:normAutofit/>
          </a:bodyPr>
          <a:lstStyle/>
          <a:p>
            <a:r>
              <a:rPr lang="en-CA" sz="3200" dirty="0">
                <a:solidFill>
                  <a:schemeClr val="tx1"/>
                </a:solidFill>
                <a:ea typeface="Verdana" panose="020B0604030504040204" pitchFamily="34" charset="0"/>
                <a:cs typeface="Verdana" panose="020B0604030504040204" pitchFamily="34" charset="0"/>
              </a:rPr>
              <a:t>Course Outline</a:t>
            </a:r>
          </a:p>
        </p:txBody>
      </p:sp>
      <p:sp>
        <p:nvSpPr>
          <p:cNvPr id="3" name="Content Placeholder 2"/>
          <p:cNvSpPr>
            <a:spLocks noGrp="1"/>
          </p:cNvSpPr>
          <p:nvPr>
            <p:ph idx="1"/>
          </p:nvPr>
        </p:nvSpPr>
        <p:spPr>
          <a:xfrm>
            <a:off x="345171" y="1107363"/>
            <a:ext cx="8453658" cy="4198284"/>
          </a:xfrm>
        </p:spPr>
        <p:txBody>
          <a:bodyPr>
            <a:normAutofit/>
          </a:bodyPr>
          <a:lstStyle/>
          <a:p>
            <a:pPr marL="455295" marR="0" indent="-457200">
              <a:lnSpc>
                <a:spcPct val="110000"/>
              </a:lnSpc>
              <a:spcBef>
                <a:spcPts val="600"/>
              </a:spcBef>
              <a:spcAft>
                <a:spcPts val="0"/>
              </a:spcAft>
              <a:buFont typeface="Wingdings" panose="05000000000000000000" pitchFamily="2" charset="2"/>
              <a:buChar char="q"/>
            </a:pPr>
            <a:r>
              <a:rPr lang="en-CA" sz="2600" b="1" dirty="0">
                <a:ea typeface="Calibri" panose="020F0502020204030204" pitchFamily="34" charset="0"/>
                <a:cs typeface="Arial" panose="020B0604020202020204" pitchFamily="34" charset="0"/>
              </a:rPr>
              <a:t>Chapter 1: Basic Equations in Integral Form for a Control Volume (Mass Conservation Equation, Momentum Equation, Moment of Momentum Equation)</a:t>
            </a:r>
          </a:p>
          <a:p>
            <a:pPr marL="455295" marR="0" indent="-457200">
              <a:lnSpc>
                <a:spcPct val="150000"/>
              </a:lnSpc>
              <a:spcBef>
                <a:spcPts val="1800"/>
              </a:spcBef>
              <a:spcAft>
                <a:spcPts val="0"/>
              </a:spcAft>
              <a:buFont typeface="Wingdings" panose="05000000000000000000" pitchFamily="2" charset="2"/>
              <a:buChar char="q"/>
            </a:pPr>
            <a:r>
              <a:rPr lang="en-CA" sz="2600" b="1" dirty="0">
                <a:ea typeface="Calibri" panose="020F0502020204030204" pitchFamily="34" charset="0"/>
                <a:cs typeface="Arial" panose="020B0604020202020204" pitchFamily="34" charset="0"/>
              </a:rPr>
              <a:t>Chapter 2: Dimensional and Model Analysis</a:t>
            </a:r>
          </a:p>
          <a:p>
            <a:pPr marL="455295" marR="0" indent="-457200">
              <a:lnSpc>
                <a:spcPct val="150000"/>
              </a:lnSpc>
              <a:spcBef>
                <a:spcPts val="1800"/>
              </a:spcBef>
              <a:spcAft>
                <a:spcPts val="0"/>
              </a:spcAft>
              <a:buFont typeface="Wingdings" panose="05000000000000000000" pitchFamily="2" charset="2"/>
              <a:buChar char="q"/>
            </a:pPr>
            <a:r>
              <a:rPr lang="en-CA" sz="2600" b="1" dirty="0">
                <a:ea typeface="Calibri" panose="020F0502020204030204" pitchFamily="34" charset="0"/>
                <a:cs typeface="Arial" panose="020B0604020202020204" pitchFamily="34" charset="0"/>
              </a:rPr>
              <a:t>Chapter 3: Viscous Flow</a:t>
            </a:r>
          </a:p>
          <a:p>
            <a:pPr marL="455295" marR="0" indent="-457200">
              <a:lnSpc>
                <a:spcPct val="150000"/>
              </a:lnSpc>
              <a:spcBef>
                <a:spcPts val="1800"/>
              </a:spcBef>
              <a:spcAft>
                <a:spcPts val="0"/>
              </a:spcAft>
              <a:buFont typeface="Wingdings" panose="05000000000000000000" pitchFamily="2" charset="2"/>
              <a:buChar char="q"/>
            </a:pPr>
            <a:r>
              <a:rPr lang="en-CA" sz="2600" b="1" dirty="0">
                <a:ea typeface="Calibri" panose="020F0502020204030204" pitchFamily="34" charset="0"/>
                <a:cs typeface="Arial" panose="020B0604020202020204" pitchFamily="34" charset="0"/>
              </a:rPr>
              <a:t> Chapter 4: Turbulent Flow</a:t>
            </a:r>
            <a:endParaRPr lang="en-CA" sz="2600" dirty="0">
              <a:ea typeface="Calibri" panose="020F0502020204030204" pitchFamily="34" charset="0"/>
              <a:cs typeface="Times New Roman" panose="02020603050405020304" pitchFamily="18" charset="0"/>
            </a:endParaRPr>
          </a:p>
          <a:p>
            <a:pPr marL="0" indent="0">
              <a:buNone/>
            </a:pPr>
            <a:endParaRPr lang="en-CA" dirty="0">
              <a:latin typeface="+mn-lt"/>
            </a:endParaRPr>
          </a:p>
        </p:txBody>
      </p:sp>
      <p:sp>
        <p:nvSpPr>
          <p:cNvPr id="4" name="Slide Number Placeholder 3">
            <a:extLst>
              <a:ext uri="{FF2B5EF4-FFF2-40B4-BE49-F238E27FC236}">
                <a16:creationId xmlns:a16="http://schemas.microsoft.com/office/drawing/2014/main" id="{761F00CD-13A1-6B06-8556-BB1282DD220D}"/>
              </a:ext>
            </a:extLst>
          </p:cNvPr>
          <p:cNvSpPr>
            <a:spLocks noGrp="1"/>
          </p:cNvSpPr>
          <p:nvPr>
            <p:ph type="sldNum" sz="quarter" idx="12"/>
          </p:nvPr>
        </p:nvSpPr>
        <p:spPr/>
        <p:txBody>
          <a:bodyPr/>
          <a:lstStyle/>
          <a:p>
            <a:fld id="{49FCB85E-0F77-4855-90A7-7A1B61BB679B}" type="slidenum">
              <a:rPr lang="en-CA" smtClean="0"/>
              <a:t>2</a:t>
            </a:fld>
            <a:endParaRPr lang="en-CA"/>
          </a:p>
        </p:txBody>
      </p:sp>
    </p:spTree>
    <p:extLst>
      <p:ext uri="{BB962C8B-B14F-4D97-AF65-F5344CB8AC3E}">
        <p14:creationId xmlns:p14="http://schemas.microsoft.com/office/powerpoint/2010/main" val="3097075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0656"/>
            <a:ext cx="9144000" cy="568940"/>
          </a:xfrm>
        </p:spPr>
        <p:txBody>
          <a:bodyPr>
            <a:normAutofit/>
          </a:bodyPr>
          <a:lstStyle/>
          <a:p>
            <a:r>
              <a:rPr lang="en-CA" sz="3200" dirty="0">
                <a:solidFill>
                  <a:schemeClr val="tx1"/>
                </a:solidFill>
                <a:ea typeface="Verdana" panose="020B0604030504040204" pitchFamily="34" charset="0"/>
                <a:cs typeface="Verdana" panose="020B0604030504040204" pitchFamily="34" charset="0"/>
              </a:rPr>
              <a:t>Assessment</a:t>
            </a:r>
          </a:p>
        </p:txBody>
      </p:sp>
      <p:sp>
        <p:nvSpPr>
          <p:cNvPr id="3" name="Content Placeholder 2"/>
          <p:cNvSpPr>
            <a:spLocks noGrp="1"/>
          </p:cNvSpPr>
          <p:nvPr>
            <p:ph idx="1"/>
          </p:nvPr>
        </p:nvSpPr>
        <p:spPr>
          <a:xfrm>
            <a:off x="345171" y="1107363"/>
            <a:ext cx="8453658" cy="4198284"/>
          </a:xfrm>
        </p:spPr>
        <p:txBody>
          <a:bodyPr>
            <a:normAutofit/>
          </a:bodyPr>
          <a:lstStyle/>
          <a:p>
            <a:pPr marL="455295" marR="0" indent="-457200">
              <a:lnSpc>
                <a:spcPct val="110000"/>
              </a:lnSpc>
              <a:spcBef>
                <a:spcPts val="600"/>
              </a:spcBef>
              <a:spcAft>
                <a:spcPts val="0"/>
              </a:spcAft>
              <a:buFont typeface="Wingdings" panose="05000000000000000000" pitchFamily="2" charset="2"/>
              <a:buChar char="q"/>
            </a:pPr>
            <a:r>
              <a:rPr lang="en-CA" sz="2600" b="1" dirty="0">
                <a:ea typeface="Calibri" panose="020F0502020204030204" pitchFamily="34" charset="0"/>
                <a:cs typeface="Arial" panose="020B0604020202020204" pitchFamily="34" charset="0"/>
              </a:rPr>
              <a:t>There will be frequent Pop Quizzes</a:t>
            </a:r>
          </a:p>
          <a:p>
            <a:pPr marL="455295" marR="0" indent="-457200">
              <a:lnSpc>
                <a:spcPct val="150000"/>
              </a:lnSpc>
              <a:spcBef>
                <a:spcPts val="1800"/>
              </a:spcBef>
              <a:spcAft>
                <a:spcPts val="0"/>
              </a:spcAft>
              <a:buFont typeface="Wingdings" panose="05000000000000000000" pitchFamily="2" charset="2"/>
              <a:buChar char="q"/>
            </a:pPr>
            <a:r>
              <a:rPr lang="en-CA" sz="2600" b="1" dirty="0">
                <a:ea typeface="Calibri" panose="020F0502020204030204" pitchFamily="34" charset="0"/>
                <a:cs typeface="Arial" panose="020B0604020202020204" pitchFamily="34" charset="0"/>
              </a:rPr>
              <a:t>Two Class Tests</a:t>
            </a:r>
          </a:p>
          <a:p>
            <a:pPr marL="455295" marR="0" indent="-457200">
              <a:lnSpc>
                <a:spcPct val="150000"/>
              </a:lnSpc>
              <a:spcBef>
                <a:spcPts val="1800"/>
              </a:spcBef>
              <a:spcAft>
                <a:spcPts val="0"/>
              </a:spcAft>
              <a:buFont typeface="Wingdings" panose="05000000000000000000" pitchFamily="2" charset="2"/>
              <a:buChar char="q"/>
            </a:pPr>
            <a:r>
              <a:rPr lang="en-CA" sz="2600" b="1" dirty="0">
                <a:ea typeface="Calibri" panose="020F0502020204030204" pitchFamily="34" charset="0"/>
                <a:cs typeface="Arial" panose="020B0604020202020204" pitchFamily="34" charset="0"/>
              </a:rPr>
              <a:t>Two Assignments</a:t>
            </a:r>
          </a:p>
          <a:p>
            <a:pPr marL="455295" marR="0" indent="-457200">
              <a:lnSpc>
                <a:spcPct val="150000"/>
              </a:lnSpc>
              <a:spcBef>
                <a:spcPts val="1800"/>
              </a:spcBef>
              <a:spcAft>
                <a:spcPts val="0"/>
              </a:spcAft>
              <a:buFont typeface="Wingdings" panose="05000000000000000000" pitchFamily="2" charset="2"/>
              <a:buChar char="q"/>
            </a:pPr>
            <a:r>
              <a:rPr lang="en-CA" sz="2600" b="1">
                <a:ea typeface="Calibri" panose="020F0502020204030204" pitchFamily="34" charset="0"/>
                <a:cs typeface="Arial" panose="020B0604020202020204" pitchFamily="34" charset="0"/>
              </a:rPr>
              <a:t> Mid-Semester </a:t>
            </a:r>
            <a:r>
              <a:rPr lang="en-CA" sz="2600" b="1" dirty="0">
                <a:ea typeface="Calibri" panose="020F0502020204030204" pitchFamily="34" charset="0"/>
                <a:cs typeface="Arial" panose="020B0604020202020204" pitchFamily="34" charset="0"/>
              </a:rPr>
              <a:t>Exams</a:t>
            </a:r>
          </a:p>
          <a:p>
            <a:pPr marL="455295" marR="0" indent="-457200">
              <a:lnSpc>
                <a:spcPct val="150000"/>
              </a:lnSpc>
              <a:spcBef>
                <a:spcPts val="1800"/>
              </a:spcBef>
              <a:spcAft>
                <a:spcPts val="0"/>
              </a:spcAft>
              <a:buFont typeface="Wingdings" panose="05000000000000000000" pitchFamily="2" charset="2"/>
              <a:buChar char="q"/>
            </a:pPr>
            <a:r>
              <a:rPr lang="en-CA" sz="2600" b="1" dirty="0">
                <a:ea typeface="Calibri" panose="020F0502020204030204" pitchFamily="34" charset="0"/>
                <a:cs typeface="Arial" panose="020B0604020202020204" pitchFamily="34" charset="0"/>
              </a:rPr>
              <a:t> End of Semester Exams</a:t>
            </a:r>
            <a:endParaRPr lang="en-CA" sz="2600" dirty="0">
              <a:ea typeface="Calibri" panose="020F0502020204030204" pitchFamily="34" charset="0"/>
              <a:cs typeface="Times New Roman" panose="02020603050405020304" pitchFamily="18" charset="0"/>
            </a:endParaRPr>
          </a:p>
          <a:p>
            <a:pPr marL="0" indent="0">
              <a:buNone/>
            </a:pPr>
            <a:endParaRPr lang="en-CA" dirty="0">
              <a:latin typeface="+mn-lt"/>
            </a:endParaRPr>
          </a:p>
        </p:txBody>
      </p:sp>
      <p:sp>
        <p:nvSpPr>
          <p:cNvPr id="4" name="Slide Number Placeholder 3">
            <a:extLst>
              <a:ext uri="{FF2B5EF4-FFF2-40B4-BE49-F238E27FC236}">
                <a16:creationId xmlns:a16="http://schemas.microsoft.com/office/drawing/2014/main" id="{4C87643E-422B-D45A-1F41-4AF123481C52}"/>
              </a:ext>
            </a:extLst>
          </p:cNvPr>
          <p:cNvSpPr>
            <a:spLocks noGrp="1"/>
          </p:cNvSpPr>
          <p:nvPr>
            <p:ph type="sldNum" sz="quarter" idx="12"/>
          </p:nvPr>
        </p:nvSpPr>
        <p:spPr/>
        <p:txBody>
          <a:bodyPr/>
          <a:lstStyle/>
          <a:p>
            <a:fld id="{49FCB85E-0F77-4855-90A7-7A1B61BB679B}" type="slidenum">
              <a:rPr lang="en-CA" smtClean="0"/>
              <a:t>3</a:t>
            </a:fld>
            <a:endParaRPr lang="en-CA"/>
          </a:p>
        </p:txBody>
      </p:sp>
    </p:spTree>
    <p:extLst>
      <p:ext uri="{BB962C8B-B14F-4D97-AF65-F5344CB8AC3E}">
        <p14:creationId xmlns:p14="http://schemas.microsoft.com/office/powerpoint/2010/main" val="624961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96347" y="1652078"/>
            <a:ext cx="7951305" cy="1655762"/>
          </a:xfrm>
        </p:spPr>
        <p:txBody>
          <a:bodyPr anchor="ctr">
            <a:normAutofit/>
          </a:bodyPr>
          <a:lstStyle/>
          <a:p>
            <a:r>
              <a:rPr lang="en-US" sz="2800" b="1" dirty="0"/>
              <a:t>Chapter 1: </a:t>
            </a:r>
            <a:r>
              <a:rPr lang="en-CA" sz="2800" b="1" dirty="0"/>
              <a:t>Basic Equations in Integral Form </a:t>
            </a:r>
          </a:p>
          <a:p>
            <a:r>
              <a:rPr lang="en-CA" sz="2800" b="1" dirty="0"/>
              <a:t>for a Control Volume</a:t>
            </a:r>
          </a:p>
        </p:txBody>
      </p:sp>
      <p:sp>
        <p:nvSpPr>
          <p:cNvPr id="2" name="Slide Number Placeholder 1">
            <a:extLst>
              <a:ext uri="{FF2B5EF4-FFF2-40B4-BE49-F238E27FC236}">
                <a16:creationId xmlns:a16="http://schemas.microsoft.com/office/drawing/2014/main" id="{C7D75B17-6AF0-B2FA-AB14-FD225F69B63D}"/>
              </a:ext>
            </a:extLst>
          </p:cNvPr>
          <p:cNvSpPr>
            <a:spLocks noGrp="1"/>
          </p:cNvSpPr>
          <p:nvPr>
            <p:ph type="sldNum" sz="quarter" idx="12"/>
          </p:nvPr>
        </p:nvSpPr>
        <p:spPr/>
        <p:txBody>
          <a:bodyPr/>
          <a:lstStyle/>
          <a:p>
            <a:fld id="{49FCB85E-0F77-4855-90A7-7A1B61BB679B}" type="slidenum">
              <a:rPr lang="en-CA" smtClean="0"/>
              <a:t>4</a:t>
            </a:fld>
            <a:endParaRPr lang="en-CA"/>
          </a:p>
        </p:txBody>
      </p:sp>
    </p:spTree>
    <p:extLst>
      <p:ext uri="{BB962C8B-B14F-4D97-AF65-F5344CB8AC3E}">
        <p14:creationId xmlns:p14="http://schemas.microsoft.com/office/powerpoint/2010/main" val="2354756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0656"/>
            <a:ext cx="9144000" cy="568940"/>
          </a:xfrm>
        </p:spPr>
        <p:txBody>
          <a:bodyPr>
            <a:normAutofit/>
          </a:bodyPr>
          <a:lstStyle/>
          <a:p>
            <a:r>
              <a:rPr lang="en-CA" sz="2800" dirty="0">
                <a:solidFill>
                  <a:schemeClr val="tx1"/>
                </a:solidFill>
                <a:ea typeface="Verdana" panose="020B0604030504040204" pitchFamily="34" charset="0"/>
                <a:cs typeface="Verdana" panose="020B0604030504040204" pitchFamily="34" charset="0"/>
              </a:rPr>
              <a:t>Main Topics</a:t>
            </a:r>
          </a:p>
        </p:txBody>
      </p:sp>
      <p:sp>
        <p:nvSpPr>
          <p:cNvPr id="3" name="Content Placeholder 2"/>
          <p:cNvSpPr>
            <a:spLocks noGrp="1"/>
          </p:cNvSpPr>
          <p:nvPr>
            <p:ph idx="1"/>
          </p:nvPr>
        </p:nvSpPr>
        <p:spPr>
          <a:xfrm>
            <a:off x="205840" y="639531"/>
            <a:ext cx="8709560" cy="4115349"/>
          </a:xfrm>
          <a:ln w="12700">
            <a:solidFill>
              <a:schemeClr val="tx1"/>
            </a:solidFill>
          </a:ln>
        </p:spPr>
        <p:txBody>
          <a:bodyPr>
            <a:normAutofit/>
          </a:bodyPr>
          <a:lstStyle/>
          <a:p>
            <a:pPr marL="683895" lvl="1">
              <a:lnSpc>
                <a:spcPct val="120000"/>
              </a:lnSpc>
              <a:spcBef>
                <a:spcPts val="600"/>
              </a:spcBef>
            </a:pPr>
            <a:r>
              <a:rPr lang="en-CA" sz="2600" dirty="0">
                <a:ea typeface="Calibri" panose="020F0502020204030204" pitchFamily="34" charset="0"/>
                <a:cs typeface="Arial" panose="020B0604020202020204" pitchFamily="34" charset="0"/>
              </a:rPr>
              <a:t>System vs Control Volume Concept</a:t>
            </a:r>
            <a:endParaRPr lang="en-CA" sz="2600" dirty="0">
              <a:ea typeface="Calibri" panose="020F0502020204030204" pitchFamily="34" charset="0"/>
              <a:cs typeface="Times New Roman" panose="02020603050405020304" pitchFamily="18" charset="0"/>
            </a:endParaRPr>
          </a:p>
          <a:p>
            <a:pPr marL="683895" lvl="1">
              <a:lnSpc>
                <a:spcPct val="120000"/>
              </a:lnSpc>
              <a:spcBef>
                <a:spcPts val="600"/>
              </a:spcBef>
            </a:pPr>
            <a:r>
              <a:rPr lang="en-CA" sz="2600" dirty="0">
                <a:ea typeface="Calibri" panose="020F0502020204030204" pitchFamily="34" charset="0"/>
                <a:cs typeface="Times New Roman" panose="02020603050405020304" pitchFamily="18" charset="0"/>
              </a:rPr>
              <a:t>Application of </a:t>
            </a:r>
            <a:r>
              <a:rPr lang="en-CA" sz="2600" dirty="0">
                <a:ea typeface="Calibri" panose="020F0502020204030204" pitchFamily="34" charset="0"/>
                <a:cs typeface="Arial" panose="020B0604020202020204" pitchFamily="34" charset="0"/>
              </a:rPr>
              <a:t>System Derivatives to the Control Volume</a:t>
            </a:r>
            <a:endParaRPr lang="en-CA" sz="2600" dirty="0">
              <a:ea typeface="Calibri" panose="020F0502020204030204" pitchFamily="34" charset="0"/>
              <a:cs typeface="Times New Roman" panose="02020603050405020304" pitchFamily="18" charset="0"/>
            </a:endParaRPr>
          </a:p>
          <a:p>
            <a:pPr marL="683895" lvl="1">
              <a:lnSpc>
                <a:spcPct val="120000"/>
              </a:lnSpc>
              <a:spcBef>
                <a:spcPts val="600"/>
              </a:spcBef>
            </a:pPr>
            <a:r>
              <a:rPr lang="en-CA" sz="2600" dirty="0">
                <a:ea typeface="Calibri" panose="020F0502020204030204" pitchFamily="34" charset="0"/>
                <a:cs typeface="Arial" panose="020B0604020202020204" pitchFamily="34" charset="0"/>
              </a:rPr>
              <a:t>Conservation of Mass</a:t>
            </a:r>
            <a:endParaRPr lang="en-CA" sz="2600" dirty="0">
              <a:ea typeface="Calibri" panose="020F0502020204030204" pitchFamily="34" charset="0"/>
              <a:cs typeface="Times New Roman" panose="02020603050405020304" pitchFamily="18" charset="0"/>
            </a:endParaRPr>
          </a:p>
          <a:p>
            <a:pPr marL="683895" lvl="1">
              <a:lnSpc>
                <a:spcPct val="120000"/>
              </a:lnSpc>
              <a:spcBef>
                <a:spcPts val="600"/>
              </a:spcBef>
            </a:pPr>
            <a:r>
              <a:rPr lang="en-CA" sz="2600" dirty="0">
                <a:ea typeface="Calibri" panose="020F0502020204030204" pitchFamily="34" charset="0"/>
                <a:cs typeface="Arial" panose="020B0604020202020204" pitchFamily="34" charset="0"/>
              </a:rPr>
              <a:t>Momentum Equation for Inertial Control Volume</a:t>
            </a:r>
          </a:p>
          <a:p>
            <a:pPr marL="683895" lvl="1">
              <a:lnSpc>
                <a:spcPct val="120000"/>
              </a:lnSpc>
              <a:spcBef>
                <a:spcPts val="600"/>
              </a:spcBef>
            </a:pPr>
            <a:r>
              <a:rPr lang="en-CA" sz="2600" dirty="0">
                <a:ea typeface="Calibri" panose="020F0502020204030204" pitchFamily="34" charset="0"/>
                <a:cs typeface="Arial" panose="020B0604020202020204" pitchFamily="34" charset="0"/>
              </a:rPr>
              <a:t>Momentum Equation for an Accelerating Control Volume</a:t>
            </a:r>
            <a:endParaRPr lang="en-CA" sz="2600" b="1" dirty="0">
              <a:ea typeface="Calibri" panose="020F0502020204030204" pitchFamily="34" charset="0"/>
              <a:cs typeface="Arial" panose="020B0604020202020204" pitchFamily="34" charset="0"/>
            </a:endParaRPr>
          </a:p>
          <a:p>
            <a:pPr marL="683895" lvl="1">
              <a:lnSpc>
                <a:spcPct val="120000"/>
              </a:lnSpc>
              <a:spcBef>
                <a:spcPts val="600"/>
              </a:spcBef>
            </a:pPr>
            <a:r>
              <a:rPr lang="en-CA" sz="2600" dirty="0">
                <a:ea typeface="Calibri" panose="020F0502020204030204" pitchFamily="34" charset="0"/>
                <a:cs typeface="Arial" panose="020B0604020202020204" pitchFamily="34" charset="0"/>
              </a:rPr>
              <a:t>Moment of Momentum Equation for Inertial Control Volume</a:t>
            </a:r>
            <a:endParaRPr lang="en-CA" sz="2600" dirty="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8659B7A-CEB9-3C1B-70C9-97F5D74DCC33}"/>
              </a:ext>
            </a:extLst>
          </p:cNvPr>
          <p:cNvSpPr>
            <a:spLocks noGrp="1"/>
          </p:cNvSpPr>
          <p:nvPr>
            <p:ph type="sldNum" sz="quarter" idx="12"/>
          </p:nvPr>
        </p:nvSpPr>
        <p:spPr/>
        <p:txBody>
          <a:bodyPr/>
          <a:lstStyle/>
          <a:p>
            <a:fld id="{49FCB85E-0F77-4855-90A7-7A1B61BB679B}" type="slidenum">
              <a:rPr lang="en-CA" smtClean="0"/>
              <a:t>5</a:t>
            </a:fld>
            <a:endParaRPr lang="en-CA"/>
          </a:p>
        </p:txBody>
      </p:sp>
    </p:spTree>
    <p:extLst>
      <p:ext uri="{BB962C8B-B14F-4D97-AF65-F5344CB8AC3E}">
        <p14:creationId xmlns:p14="http://schemas.microsoft.com/office/powerpoint/2010/main" val="1432327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270"/>
            <a:ext cx="9144000" cy="568940"/>
          </a:xfrm>
        </p:spPr>
        <p:txBody>
          <a:bodyPr>
            <a:normAutofit/>
          </a:bodyPr>
          <a:lstStyle/>
          <a:p>
            <a:r>
              <a:rPr lang="en-CA" sz="2400" dirty="0">
                <a:solidFill>
                  <a:schemeClr val="tx1"/>
                </a:solidFill>
                <a:ea typeface="Verdana" panose="020B0604030504040204" pitchFamily="34" charset="0"/>
                <a:cs typeface="Verdana" panose="020B0604030504040204" pitchFamily="34" charset="0"/>
              </a:rPr>
              <a:t>System vs. Control Volume</a:t>
            </a:r>
          </a:p>
        </p:txBody>
      </p:sp>
      <p:pic>
        <p:nvPicPr>
          <p:cNvPr id="4" name="Picture 3" descr="fig_01_02.jpg"/>
          <p:cNvPicPr/>
          <p:nvPr/>
        </p:nvPicPr>
        <p:blipFill>
          <a:blip r:embed="rId2">
            <a:extLst>
              <a:ext uri="{28A0092B-C50C-407E-A947-70E740481C1C}">
                <a14:useLocalDpi xmlns:a14="http://schemas.microsoft.com/office/drawing/2010/main" val="0"/>
              </a:ext>
            </a:extLst>
          </a:blip>
          <a:srcRect/>
          <a:stretch>
            <a:fillRect/>
          </a:stretch>
        </p:blipFill>
        <p:spPr bwMode="auto">
          <a:xfrm>
            <a:off x="6186320" y="1434695"/>
            <a:ext cx="2586340" cy="1595605"/>
          </a:xfrm>
          <a:prstGeom prst="rect">
            <a:avLst/>
          </a:prstGeom>
          <a:noFill/>
          <a:ln>
            <a:noFill/>
          </a:ln>
        </p:spPr>
      </p:pic>
      <p:pic>
        <p:nvPicPr>
          <p:cNvPr id="5" name="Picture 4" descr="fig_01_03.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54888" y="3664121"/>
            <a:ext cx="2198502" cy="1705293"/>
          </a:xfrm>
          <a:prstGeom prst="rect">
            <a:avLst/>
          </a:prstGeom>
          <a:noFill/>
          <a:ln>
            <a:noFill/>
          </a:ln>
        </p:spPr>
      </p:pic>
      <p:sp>
        <p:nvSpPr>
          <p:cNvPr id="8" name="Content Placeholder 2"/>
          <p:cNvSpPr>
            <a:spLocks noGrp="1"/>
          </p:cNvSpPr>
          <p:nvPr>
            <p:ph idx="1"/>
          </p:nvPr>
        </p:nvSpPr>
        <p:spPr>
          <a:xfrm>
            <a:off x="0" y="687576"/>
            <a:ext cx="6186320" cy="5315659"/>
          </a:xfrm>
        </p:spPr>
        <p:txBody>
          <a:bodyPr>
            <a:normAutofit/>
          </a:bodyPr>
          <a:lstStyle/>
          <a:p>
            <a:pPr algn="just">
              <a:lnSpc>
                <a:spcPct val="100000"/>
              </a:lnSpc>
              <a:spcBef>
                <a:spcPts val="600"/>
              </a:spcBef>
              <a:spcAft>
                <a:spcPts val="600"/>
              </a:spcAft>
              <a:buFont typeface="Wingdings" panose="05000000000000000000" pitchFamily="2" charset="2"/>
              <a:buChar char="q"/>
            </a:pPr>
            <a:r>
              <a:rPr lang="en-US" sz="2000" b="1" dirty="0">
                <a:ea typeface="Calibri" panose="020F0502020204030204" pitchFamily="34" charset="0"/>
                <a:cs typeface="Times New Roman" panose="02020603050405020304" pitchFamily="18" charset="0"/>
              </a:rPr>
              <a:t> </a:t>
            </a:r>
            <a:r>
              <a:rPr lang="en-US" sz="2200" dirty="0">
                <a:ea typeface="Calibri" panose="020F0502020204030204" pitchFamily="34" charset="0"/>
                <a:cs typeface="Times New Roman" panose="02020603050405020304" pitchFamily="18" charset="0"/>
              </a:rPr>
              <a:t>A system is a fixed quantity of matter or any region of space separated from its surroundings by a boundary. The boundary may be fixed or moving.</a:t>
            </a:r>
            <a:endParaRPr lang="en-CA" sz="2200" dirty="0">
              <a:ea typeface="Calibri" panose="020F0502020204030204" pitchFamily="34" charset="0"/>
              <a:cs typeface="Times New Roman" panose="02020603050405020304" pitchFamily="18" charset="0"/>
            </a:endParaRPr>
          </a:p>
          <a:p>
            <a:pPr algn="just">
              <a:lnSpc>
                <a:spcPct val="100000"/>
              </a:lnSpc>
              <a:spcBef>
                <a:spcPts val="600"/>
              </a:spcBef>
              <a:spcAft>
                <a:spcPts val="600"/>
              </a:spcAft>
              <a:buFont typeface="Wingdings" panose="05000000000000000000" pitchFamily="2" charset="2"/>
              <a:buChar char="q"/>
            </a:pPr>
            <a:r>
              <a:rPr lang="en-US" sz="2200" dirty="0">
                <a:ea typeface="Calibri" panose="020F0502020204030204" pitchFamily="34" charset="0"/>
                <a:cs typeface="Times New Roman" panose="02020603050405020304" pitchFamily="18" charset="0"/>
              </a:rPr>
              <a:t> There are three types of systems in the field of thermo-fluids</a:t>
            </a:r>
          </a:p>
          <a:p>
            <a:pPr marL="360000" lvl="1" algn="just">
              <a:lnSpc>
                <a:spcPct val="100000"/>
              </a:lnSpc>
              <a:spcBef>
                <a:spcPts val="600"/>
              </a:spcBef>
              <a:spcAft>
                <a:spcPts val="600"/>
              </a:spcAft>
            </a:pPr>
            <a:r>
              <a:rPr lang="en-US" sz="2200" dirty="0">
                <a:ea typeface="Calibri" panose="020F0502020204030204" pitchFamily="34" charset="0"/>
                <a:cs typeface="Times New Roman" panose="02020603050405020304" pitchFamily="18" charset="0"/>
              </a:rPr>
              <a:t>Isolated System: No mass or energy can cross its boundary</a:t>
            </a:r>
          </a:p>
          <a:p>
            <a:pPr marL="360000" lvl="1" algn="just">
              <a:lnSpc>
                <a:spcPct val="100000"/>
              </a:lnSpc>
              <a:spcBef>
                <a:spcPts val="600"/>
              </a:spcBef>
              <a:spcAft>
                <a:spcPts val="600"/>
              </a:spcAft>
            </a:pPr>
            <a:r>
              <a:rPr lang="en-US" sz="2200" dirty="0">
                <a:ea typeface="Calibri" panose="020F0502020204030204" pitchFamily="34" charset="0"/>
                <a:cs typeface="Times New Roman" panose="02020603050405020304" pitchFamily="18" charset="0"/>
              </a:rPr>
              <a:t>Closed System: Energy can cross system boundary but mass can not</a:t>
            </a:r>
          </a:p>
          <a:p>
            <a:pPr marL="360000" lvl="1" algn="just">
              <a:lnSpc>
                <a:spcPct val="100000"/>
              </a:lnSpc>
              <a:spcBef>
                <a:spcPts val="600"/>
              </a:spcBef>
              <a:spcAft>
                <a:spcPts val="600"/>
              </a:spcAft>
            </a:pPr>
            <a:r>
              <a:rPr lang="en-US" sz="2200" dirty="0">
                <a:ea typeface="Calibri" panose="020F0502020204030204" pitchFamily="34" charset="0"/>
                <a:cs typeface="Times New Roman" panose="02020603050405020304" pitchFamily="18" charset="0"/>
              </a:rPr>
              <a:t>Open System: Both mass and energy can cross its boundary</a:t>
            </a:r>
          </a:p>
          <a:p>
            <a:pPr lvl="0" algn="just">
              <a:lnSpc>
                <a:spcPct val="100000"/>
              </a:lnSpc>
              <a:spcBef>
                <a:spcPts val="600"/>
              </a:spcBef>
              <a:spcAft>
                <a:spcPts val="600"/>
              </a:spcAft>
              <a:buFont typeface="Wingdings" panose="05000000000000000000" pitchFamily="2" charset="2"/>
              <a:buChar char="q"/>
            </a:pPr>
            <a:r>
              <a:rPr lang="en-US" sz="2000" b="1" dirty="0">
                <a:solidFill>
                  <a:prstClr val="black"/>
                </a:solidFill>
                <a:ea typeface="Calibri" panose="020F0502020204030204" pitchFamily="34" charset="0"/>
                <a:cs typeface="Times New Roman" panose="02020603050405020304" pitchFamily="18" charset="0"/>
              </a:rPr>
              <a:t> </a:t>
            </a:r>
            <a:r>
              <a:rPr lang="en-GB" sz="2200" dirty="0">
                <a:solidFill>
                  <a:prstClr val="black"/>
                </a:solidFill>
                <a:ea typeface="Calibri" panose="020F0502020204030204" pitchFamily="34" charset="0"/>
                <a:cs typeface="Times New Roman" panose="02020603050405020304" pitchFamily="18" charset="0"/>
              </a:rPr>
              <a:t>In Fluid Mechanics an open system is called a Control Volume (CV)</a:t>
            </a:r>
            <a:endParaRPr lang="en-CA" sz="2200" dirty="0">
              <a:solidFill>
                <a:prstClr val="black"/>
              </a:solidFill>
              <a:ea typeface="Calibri" panose="020F0502020204030204" pitchFamily="34" charset="0"/>
              <a:cs typeface="Times New Roman" panose="02020603050405020304" pitchFamily="18" charset="0"/>
            </a:endParaRPr>
          </a:p>
          <a:p>
            <a:pPr marL="131400" lvl="1" indent="0" algn="just">
              <a:lnSpc>
                <a:spcPct val="100000"/>
              </a:lnSpc>
              <a:spcBef>
                <a:spcPts val="600"/>
              </a:spcBef>
              <a:spcAft>
                <a:spcPts val="600"/>
              </a:spcAft>
              <a:buNone/>
            </a:pPr>
            <a:endParaRPr lang="en-US" sz="2200" dirty="0">
              <a:ea typeface="Calibri" panose="020F050202020403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D9DD442B-DF5E-23A9-D7B4-E1E3AF787669}"/>
              </a:ext>
            </a:extLst>
          </p:cNvPr>
          <p:cNvSpPr>
            <a:spLocks noGrp="1"/>
          </p:cNvSpPr>
          <p:nvPr>
            <p:ph type="sldNum" sz="quarter" idx="12"/>
          </p:nvPr>
        </p:nvSpPr>
        <p:spPr/>
        <p:txBody>
          <a:bodyPr/>
          <a:lstStyle/>
          <a:p>
            <a:fld id="{49FCB85E-0F77-4855-90A7-7A1B61BB679B}" type="slidenum">
              <a:rPr lang="en-CA" smtClean="0"/>
              <a:t>6</a:t>
            </a:fld>
            <a:endParaRPr lang="en-CA"/>
          </a:p>
        </p:txBody>
      </p:sp>
    </p:spTree>
    <p:extLst>
      <p:ext uri="{BB962C8B-B14F-4D97-AF65-F5344CB8AC3E}">
        <p14:creationId xmlns:p14="http://schemas.microsoft.com/office/powerpoint/2010/main" val="414857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lang="en-CA" sz="2400" dirty="0">
                <a:solidFill>
                  <a:schemeClr val="tx1"/>
                </a:solidFill>
                <a:ea typeface="Verdana" panose="020B0604030504040204" pitchFamily="34" charset="0"/>
                <a:cs typeface="Verdana" panose="020B0604030504040204" pitchFamily="34" charset="0"/>
              </a:rPr>
              <a:t>System vs. Control Volume</a:t>
            </a: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0" y="568941"/>
                <a:ext cx="9144000" cy="5219610"/>
              </a:xfrm>
            </p:spPr>
            <p:txBody>
              <a:bodyPr>
                <a:normAutofit/>
              </a:bodyPr>
              <a:lstStyle/>
              <a:p>
                <a:pPr algn="just">
                  <a:lnSpc>
                    <a:spcPct val="100000"/>
                  </a:lnSpc>
                  <a:spcBef>
                    <a:spcPts val="600"/>
                  </a:spcBef>
                  <a:spcAft>
                    <a:spcPts val="600"/>
                  </a:spcAft>
                  <a:buFont typeface="Wingdings" panose="05000000000000000000" pitchFamily="2" charset="2"/>
                  <a:buChar char="q"/>
                </a:pPr>
                <a:r>
                  <a:rPr lang="en-US" sz="2000" b="1" dirty="0">
                    <a:ea typeface="Calibri" panose="020F0502020204030204" pitchFamily="34" charset="0"/>
                    <a:cs typeface="Times New Roman" panose="02020603050405020304" pitchFamily="18" charset="0"/>
                  </a:rPr>
                  <a:t> </a:t>
                </a:r>
                <a:r>
                  <a:rPr lang="en-GB" sz="2200" dirty="0">
                    <a:ea typeface="Calibri" panose="020F0502020204030204" pitchFamily="34" charset="0"/>
                    <a:cs typeface="Times New Roman" panose="02020603050405020304" pitchFamily="18" charset="0"/>
                  </a:rPr>
                  <a:t>In Thermo-fluids, the behaviour of a system is studied using system properties, e.g., mass (</a:t>
                </a:r>
                <a:r>
                  <a:rPr lang="en-GB" sz="2200" i="1" dirty="0">
                    <a:ea typeface="Calibri" panose="020F0502020204030204" pitchFamily="34" charset="0"/>
                    <a:cs typeface="Times New Roman" panose="02020603050405020304" pitchFamily="18" charset="0"/>
                  </a:rPr>
                  <a:t>M</a:t>
                </a:r>
                <a:r>
                  <a:rPr lang="en-GB" sz="2200" dirty="0">
                    <a:ea typeface="Calibri" panose="020F0502020204030204" pitchFamily="34" charset="0"/>
                    <a:cs typeface="Times New Roman" panose="02020603050405020304" pitchFamily="18" charset="0"/>
                  </a:rPr>
                  <a:t>), volume (</a:t>
                </a:r>
                <a14:m>
                  <m:oMath xmlns:m="http://schemas.openxmlformats.org/officeDocument/2006/math">
                    <m:r>
                      <a:rPr lang="en-CA"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GB" sz="2200" dirty="0">
                    <a:ea typeface="Calibri" panose="020F0502020204030204" pitchFamily="34" charset="0"/>
                    <a:cs typeface="Times New Roman" panose="02020603050405020304" pitchFamily="18" charset="0"/>
                  </a:rPr>
                  <a:t>), density, pressure, temperature, etc.</a:t>
                </a:r>
              </a:p>
              <a:p>
                <a:pPr marL="360000" lvl="1" indent="-230400" algn="just">
                  <a:lnSpc>
                    <a:spcPct val="100000"/>
                  </a:lnSpc>
                  <a:spcBef>
                    <a:spcPts val="600"/>
                  </a:spcBef>
                  <a:spcAft>
                    <a:spcPts val="600"/>
                  </a:spcAft>
                </a:pPr>
                <a:r>
                  <a:rPr lang="en-GB" sz="2200" dirty="0">
                    <a:ea typeface="Calibri" panose="020F0502020204030204" pitchFamily="34" charset="0"/>
                    <a:cs typeface="Times New Roman" panose="02020603050405020304" pitchFamily="18" charset="0"/>
                  </a:rPr>
                  <a:t> </a:t>
                </a:r>
                <a:r>
                  <a:rPr lang="en-GB" sz="2200" dirty="0">
                    <a:solidFill>
                      <a:prstClr val="black"/>
                    </a:solidFill>
                    <a:ea typeface="Calibri" panose="020F0502020204030204" pitchFamily="34" charset="0"/>
                    <a:cs typeface="Times New Roman" panose="02020603050405020304" pitchFamily="18" charset="0"/>
                  </a:rPr>
                  <a:t>In Fluid Dynamics, fluid momentum must also be taken into consideration</a:t>
                </a:r>
                <a:endParaRPr lang="en-CA" sz="2200" dirty="0">
                  <a:ea typeface="Calibri" panose="020F0502020204030204" pitchFamily="34" charset="0"/>
                  <a:cs typeface="Times New Roman" panose="02020603050405020304" pitchFamily="18" charset="0"/>
                </a:endParaRPr>
              </a:p>
              <a:p>
                <a:pPr algn="just">
                  <a:lnSpc>
                    <a:spcPct val="100000"/>
                  </a:lnSpc>
                  <a:spcBef>
                    <a:spcPts val="600"/>
                  </a:spcBef>
                  <a:spcAft>
                    <a:spcPts val="600"/>
                  </a:spcAft>
                  <a:buFont typeface="Wingdings" panose="05000000000000000000" pitchFamily="2" charset="2"/>
                  <a:buChar char="q"/>
                </a:pPr>
                <a:r>
                  <a:rPr lang="en-US" sz="2200" dirty="0">
                    <a:ea typeface="Calibri" panose="020F0502020204030204" pitchFamily="34" charset="0"/>
                    <a:cs typeface="Times New Roman" panose="02020603050405020304" pitchFamily="18" charset="0"/>
                  </a:rPr>
                  <a:t> There are two types of system properties</a:t>
                </a:r>
              </a:p>
              <a:p>
                <a:pPr marL="360000" lvl="1" algn="just">
                  <a:lnSpc>
                    <a:spcPct val="100000"/>
                  </a:lnSpc>
                  <a:spcBef>
                    <a:spcPts val="600"/>
                  </a:spcBef>
                  <a:spcAft>
                    <a:spcPts val="600"/>
                  </a:spcAft>
                </a:pPr>
                <a:r>
                  <a:rPr lang="en-US" sz="2200" dirty="0">
                    <a:ea typeface="Calibri" panose="020F0502020204030204" pitchFamily="34" charset="0"/>
                    <a:cs typeface="Times New Roman" panose="02020603050405020304" pitchFamily="18" charset="0"/>
                  </a:rPr>
                  <a:t>Extensive Properties (N): Depend on the amount of matter present in the system (or CV) e.g., </a:t>
                </a:r>
                <a:r>
                  <a:rPr lang="en-GB" sz="2200" dirty="0">
                    <a:ea typeface="Calibri" panose="020F0502020204030204" pitchFamily="34" charset="0"/>
                    <a:cs typeface="Times New Roman" panose="02020603050405020304" pitchFamily="18" charset="0"/>
                  </a:rPr>
                  <a:t>mass (</a:t>
                </a:r>
                <a:r>
                  <a:rPr lang="en-GB" sz="2200" i="1" dirty="0">
                    <a:ea typeface="Calibri" panose="020F0502020204030204" pitchFamily="34" charset="0"/>
                    <a:cs typeface="Times New Roman" panose="02020603050405020304" pitchFamily="18" charset="0"/>
                  </a:rPr>
                  <a:t>M</a:t>
                </a:r>
                <a:r>
                  <a:rPr lang="en-GB" sz="2200" dirty="0">
                    <a:ea typeface="Calibri" panose="020F0502020204030204" pitchFamily="34" charset="0"/>
                    <a:cs typeface="Times New Roman" panose="02020603050405020304" pitchFamily="18" charset="0"/>
                  </a:rPr>
                  <a:t>), volume (</a:t>
                </a:r>
                <a14:m>
                  <m:oMath xmlns:m="http://schemas.openxmlformats.org/officeDocument/2006/math">
                    <m:r>
                      <a:rPr lang="en-CA" sz="24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GB" sz="2200" dirty="0">
                    <a:ea typeface="Calibri" panose="020F0502020204030204" pitchFamily="34" charset="0"/>
                    <a:cs typeface="Times New Roman" panose="02020603050405020304" pitchFamily="18" charset="0"/>
                  </a:rPr>
                  <a:t>)</a:t>
                </a:r>
                <a:r>
                  <a:rPr lang="en-US" sz="2200" dirty="0">
                    <a:ea typeface="Calibri" panose="020F0502020204030204" pitchFamily="34" charset="0"/>
                    <a:cs typeface="Times New Roman" panose="02020603050405020304" pitchFamily="18" charset="0"/>
                  </a:rPr>
                  <a:t>, total energy (</a:t>
                </a:r>
                <a:r>
                  <a:rPr lang="en-US" sz="2200" i="1" dirty="0">
                    <a:ea typeface="Calibri" panose="020F0502020204030204" pitchFamily="34" charset="0"/>
                    <a:cs typeface="Times New Roman" panose="02020603050405020304" pitchFamily="18" charset="0"/>
                  </a:rPr>
                  <a:t>E</a:t>
                </a:r>
                <a:r>
                  <a:rPr lang="en-US" sz="2200" dirty="0">
                    <a:ea typeface="Calibri" panose="020F0502020204030204" pitchFamily="34" charset="0"/>
                    <a:cs typeface="Times New Roman" panose="02020603050405020304" pitchFamily="18" charset="0"/>
                  </a:rPr>
                  <a:t>), etc.</a:t>
                </a:r>
              </a:p>
              <a:p>
                <a:pPr marL="360000" lvl="1" algn="just">
                  <a:lnSpc>
                    <a:spcPct val="100000"/>
                  </a:lnSpc>
                  <a:spcBef>
                    <a:spcPts val="600"/>
                  </a:spcBef>
                  <a:spcAft>
                    <a:spcPts val="600"/>
                  </a:spcAft>
                </a:pPr>
                <a:r>
                  <a:rPr lang="en-US" sz="2200" dirty="0">
                    <a:ea typeface="Calibri" panose="020F0502020204030204" pitchFamily="34" charset="0"/>
                    <a:cs typeface="Times New Roman" panose="02020603050405020304" pitchFamily="18" charset="0"/>
                  </a:rPr>
                  <a:t>Intensive Properties: Do not depend on the amount of matter present in the system (or CV), e.g., velocity (</a:t>
                </a:r>
                <a14:m>
                  <m:oMath xmlns:m="http://schemas.openxmlformats.org/officeDocument/2006/math">
                    <m:acc>
                      <m:accPr>
                        <m:chr m:val="⃗"/>
                        <m:ctrlPr>
                          <a:rPr lang="en-CA" sz="2400" i="1" smtClean="0">
                            <a:solidFill>
                              <a:schemeClr val="tx1"/>
                            </a:solidFill>
                            <a:latin typeface="Cambria Math" panose="02040503050406030204" pitchFamily="18" charset="0"/>
                          </a:rPr>
                        </m:ctrlPr>
                      </m:accPr>
                      <m:e>
                        <m:r>
                          <a:rPr lang="en-CA" sz="2400" b="0" i="1">
                            <a:solidFill>
                              <a:schemeClr val="tx1"/>
                            </a:solidFill>
                            <a:latin typeface="Cambria Math" panose="02040503050406030204" pitchFamily="18" charset="0"/>
                          </a:rPr>
                          <m:t>𝑉</m:t>
                        </m:r>
                      </m:e>
                    </m:acc>
                  </m:oMath>
                </a14:m>
                <a:r>
                  <a:rPr lang="en-US" sz="2200" dirty="0">
                    <a:ea typeface="Calibri" panose="020F0502020204030204" pitchFamily="34" charset="0"/>
                    <a:cs typeface="Times New Roman" panose="02020603050405020304" pitchFamily="18" charset="0"/>
                  </a:rPr>
                  <a:t>), density (</a:t>
                </a:r>
                <a:r>
                  <a:rPr lang="el-GR" sz="2200" i="1" dirty="0">
                    <a:latin typeface="Times New Roman" panose="02020603050405020304" pitchFamily="18" charset="0"/>
                    <a:ea typeface="Calibri" panose="020F0502020204030204" pitchFamily="34" charset="0"/>
                    <a:cs typeface="Times New Roman" panose="02020603050405020304" pitchFamily="18" charset="0"/>
                  </a:rPr>
                  <a:t>ρ</a:t>
                </a:r>
                <a:r>
                  <a:rPr lang="en-US" sz="2200" dirty="0">
                    <a:ea typeface="Calibri" panose="020F0502020204030204" pitchFamily="34" charset="0"/>
                    <a:cs typeface="Times New Roman" panose="02020603050405020304" pitchFamily="18" charset="0"/>
                  </a:rPr>
                  <a:t>) and specific energy (</a:t>
                </a:r>
                <a:r>
                  <a:rPr lang="en-US" sz="2200" i="1" dirty="0">
                    <a:ea typeface="Calibri" panose="020F0502020204030204" pitchFamily="34" charset="0"/>
                    <a:cs typeface="Times New Roman" panose="02020603050405020304" pitchFamily="18" charset="0"/>
                  </a:rPr>
                  <a:t>e</a:t>
                </a:r>
                <a:r>
                  <a:rPr lang="en-US" sz="2200" dirty="0">
                    <a:ea typeface="Calibri" panose="020F0502020204030204" pitchFamily="34" charset="0"/>
                    <a:cs typeface="Times New Roman" panose="02020603050405020304" pitchFamily="18" charset="0"/>
                  </a:rPr>
                  <a:t>)</a:t>
                </a:r>
              </a:p>
              <a:p>
                <a:pPr algn="just">
                  <a:buFont typeface="Wingdings" panose="05000000000000000000" pitchFamily="2" charset="2"/>
                  <a:buChar char="q"/>
                </a:pPr>
                <a:r>
                  <a:rPr lang="en-GB" sz="2200" dirty="0">
                    <a:cs typeface="Times New Roman" panose="02020603050405020304" pitchFamily="18" charset="0"/>
                  </a:rPr>
                  <a:t> Specific properties (denoted by the lower case letter, </a:t>
                </a:r>
                <a:r>
                  <a:rPr lang="el-GR" sz="2200" i="1" dirty="0">
                    <a:cs typeface="Times New Roman" panose="02020603050405020304" pitchFamily="18" charset="0"/>
                  </a:rPr>
                  <a:t>η</a:t>
                </a:r>
                <a:r>
                  <a:rPr lang="en-GB" sz="2200" dirty="0">
                    <a:cs typeface="Times New Roman" panose="02020603050405020304" pitchFamily="18" charset="0"/>
                  </a:rPr>
                  <a:t>, are defined as the value of an extensive property per unit mass; they are, therefore, independent of mass and are intensive.</a:t>
                </a:r>
              </a:p>
              <a:p>
                <a:pPr marL="0" lvl="0" indent="0" algn="just">
                  <a:lnSpc>
                    <a:spcPct val="100000"/>
                  </a:lnSpc>
                  <a:spcBef>
                    <a:spcPts val="600"/>
                  </a:spcBef>
                  <a:spcAft>
                    <a:spcPts val="600"/>
                  </a:spcAft>
                  <a:buSzPct val="105000"/>
                  <a:buNone/>
                </a:pPr>
                <a:endParaRPr lang="en-US" sz="2200" dirty="0">
                  <a:ea typeface="Calibri" panose="020F0502020204030204" pitchFamily="34" charset="0"/>
                  <a:cs typeface="Times New Roman" panose="02020603050405020304" pitchFamily="18"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0" y="568941"/>
                <a:ext cx="9144000" cy="5219610"/>
              </a:xfrm>
              <a:blipFill>
                <a:blip r:embed="rId2"/>
                <a:stretch>
                  <a:fillRect l="-733" t="-700" r="-867"/>
                </a:stretch>
              </a:blipFill>
            </p:spPr>
            <p:txBody>
              <a:bodyPr/>
              <a:lstStyle/>
              <a:p>
                <a:r>
                  <a:rPr lang="en-GH">
                    <a:noFill/>
                  </a:rPr>
                  <a:t> </a:t>
                </a:r>
              </a:p>
            </p:txBody>
          </p:sp>
        </mc:Fallback>
      </mc:AlternateContent>
      <p:sp>
        <p:nvSpPr>
          <p:cNvPr id="3" name="Slide Number Placeholder 2">
            <a:extLst>
              <a:ext uri="{FF2B5EF4-FFF2-40B4-BE49-F238E27FC236}">
                <a16:creationId xmlns:a16="http://schemas.microsoft.com/office/drawing/2014/main" id="{AF07B2A3-6C91-E33E-FE4A-3542B1AB5CA8}"/>
              </a:ext>
            </a:extLst>
          </p:cNvPr>
          <p:cNvSpPr>
            <a:spLocks noGrp="1"/>
          </p:cNvSpPr>
          <p:nvPr>
            <p:ph type="sldNum" sz="quarter" idx="12"/>
          </p:nvPr>
        </p:nvSpPr>
        <p:spPr/>
        <p:txBody>
          <a:bodyPr/>
          <a:lstStyle/>
          <a:p>
            <a:fld id="{49FCB85E-0F77-4855-90A7-7A1B61BB679B}" type="slidenum">
              <a:rPr lang="en-CA" smtClean="0"/>
              <a:t>7</a:t>
            </a:fld>
            <a:endParaRPr lang="en-CA"/>
          </a:p>
        </p:txBody>
      </p:sp>
    </p:spTree>
    <p:extLst>
      <p:ext uri="{BB962C8B-B14F-4D97-AF65-F5344CB8AC3E}">
        <p14:creationId xmlns:p14="http://schemas.microsoft.com/office/powerpoint/2010/main" val="335790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2706"/>
            <a:ext cx="9144000" cy="568940"/>
          </a:xfrm>
        </p:spPr>
        <p:txBody>
          <a:bodyPr>
            <a:normAutofit/>
          </a:bodyPr>
          <a:lstStyle/>
          <a:p>
            <a:r>
              <a:rPr lang="en-CA" sz="2400" dirty="0">
                <a:solidFill>
                  <a:schemeClr val="tx1"/>
                </a:solidFill>
                <a:ea typeface="Verdana" panose="020B0604030504040204" pitchFamily="34" charset="0"/>
                <a:cs typeface="Verdana" panose="020B0604030504040204" pitchFamily="34" charset="0"/>
              </a:rPr>
              <a:t>Extensive and Intensive Properties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68094" y="1166773"/>
                <a:ext cx="7886700" cy="4931901"/>
              </a:xfrm>
            </p:spPr>
            <p:txBody>
              <a:bodyPr/>
              <a:lstStyle/>
              <a:p>
                <a:pPr marL="0" marR="0" indent="0">
                  <a:lnSpc>
                    <a:spcPct val="115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CA" sz="2000" b="1"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𝑵</m:t>
                          </m:r>
                        </m:e>
                        <m:sub>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𝒔𝒚𝒔𝒕𝒆𝒎</m:t>
                          </m:r>
                        </m:sub>
                      </m:sSub>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nary>
                        <m:naryPr>
                          <m:limLoc m:val="subSup"/>
                          <m:ctrlPr>
                            <a:rPr lang="en-CA"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naryPr>
                        <m:sub>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𝑴</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𝒔𝒚𝒔𝒕</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sub>
                        <m:sup/>
                        <m:e>
                          <m:r>
                            <a:rPr lang="en-US" sz="20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𝜼</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𝒅𝒎</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nary>
                            <m:naryPr>
                              <m:limLoc m:val="subSup"/>
                              <m:ctrlPr>
                                <a:rPr lang="en-CA"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naryPr>
                            <m:sub>
                              <m:r>
                                <a:rPr lang="en-US" sz="2000" b="1" i="1" strike="sngStrike">
                                  <a:solidFill>
                                    <a:schemeClr val="tx1"/>
                                  </a:solidFill>
                                  <a:latin typeface="Cambria Math" panose="02040503050406030204" pitchFamily="18" charset="0"/>
                                  <a:ea typeface="Calibri" panose="020F0502020204030204" pitchFamily="34" charset="0"/>
                                  <a:cs typeface="Times New Roman" panose="02020603050405020304" pitchFamily="18" charset="0"/>
                                </a:rPr>
                                <m:t>𝑽</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𝒔𝒚𝒔𝒕</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sub>
                            <m:sup/>
                            <m:e>
                              <m:r>
                                <a:rPr lang="en-US" sz="20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𝜼</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r>
                                <a:rPr lang="en-US" sz="20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𝝆</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r>
                                <a:rPr lang="en-US"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𝒅</m:t>
                              </m:r>
                              <m:r>
                                <a:rPr lang="en-US" sz="20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e>
                          </m:nary>
                        </m:e>
                      </m:nary>
                    </m:oMath>
                  </m:oMathPara>
                </a14:m>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endParaRPr lang="en-CA"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68094" y="1166773"/>
                <a:ext cx="7886700" cy="4931901"/>
              </a:xfrm>
              <a:blipFill>
                <a:blip r:embed="rId3"/>
                <a:stretch>
                  <a:fillRect/>
                </a:stretch>
              </a:blipFill>
            </p:spPr>
            <p:txBody>
              <a:bodyPr/>
              <a:lstStyle/>
              <a:p>
                <a:r>
                  <a:rPr lang="en-GH">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546115649"/>
              </p:ext>
            </p:extLst>
          </p:nvPr>
        </p:nvGraphicFramePr>
        <p:xfrm>
          <a:off x="568094" y="2890031"/>
          <a:ext cx="2451256" cy="1886501"/>
        </p:xfrm>
        <a:graphic>
          <a:graphicData uri="http://schemas.openxmlformats.org/drawingml/2006/table">
            <a:tbl>
              <a:tblPr firstRow="1" bandRow="1">
                <a:tableStyleId>{69CF1AB2-1976-4502-BF36-3FF5EA218861}</a:tableStyleId>
              </a:tblPr>
              <a:tblGrid>
                <a:gridCol w="2451256">
                  <a:extLst>
                    <a:ext uri="{9D8B030D-6E8A-4147-A177-3AD203B41FA5}">
                      <a16:colId xmlns:a16="http://schemas.microsoft.com/office/drawing/2014/main" val="1824907021"/>
                    </a:ext>
                  </a:extLst>
                </a:gridCol>
              </a:tblGrid>
              <a:tr h="457200">
                <a:tc>
                  <a:txBody>
                    <a:bodyPr/>
                    <a:lstStyle/>
                    <a:p>
                      <a:pPr algn="ctr"/>
                      <a:r>
                        <a:rPr lang="en-CA" sz="1800" b="1" dirty="0"/>
                        <a:t>Property</a:t>
                      </a:r>
                      <a:endParaRPr lang="en-CA" sz="1800" b="1" dirty="0">
                        <a:latin typeface="Myriad Web Pro"/>
                      </a:endParaRPr>
                    </a:p>
                  </a:txBody>
                  <a:tcPr/>
                </a:tc>
                <a:extLst>
                  <a:ext uri="{0D108BD9-81ED-4DB2-BD59-A6C34878D82A}">
                    <a16:rowId xmlns:a16="http://schemas.microsoft.com/office/drawing/2014/main" val="2167357807"/>
                  </a:ext>
                </a:extLst>
              </a:tr>
              <a:tr h="457200">
                <a:tc>
                  <a:txBody>
                    <a:bodyPr/>
                    <a:lstStyle/>
                    <a:p>
                      <a:pPr algn="ctr"/>
                      <a:r>
                        <a:rPr lang="en-CA" sz="1800" b="1" dirty="0"/>
                        <a:t>Mass</a:t>
                      </a:r>
                      <a:endParaRPr lang="en-CA" sz="1800" b="1" dirty="0">
                        <a:latin typeface="Myriad Web Pro"/>
                      </a:endParaRPr>
                    </a:p>
                  </a:txBody>
                  <a:tcPr/>
                </a:tc>
                <a:extLst>
                  <a:ext uri="{0D108BD9-81ED-4DB2-BD59-A6C34878D82A}">
                    <a16:rowId xmlns:a16="http://schemas.microsoft.com/office/drawing/2014/main" val="4241930278"/>
                  </a:ext>
                </a:extLst>
              </a:tr>
              <a:tr h="514901">
                <a:tc>
                  <a:txBody>
                    <a:bodyPr/>
                    <a:lstStyle/>
                    <a:p>
                      <a:pPr algn="ctr"/>
                      <a:r>
                        <a:rPr lang="en-CA" sz="1800" b="1" dirty="0"/>
                        <a:t>Momentum</a:t>
                      </a:r>
                      <a:endParaRPr lang="en-CA" sz="1800" b="1" dirty="0">
                        <a:latin typeface="Myriad Web Pro"/>
                      </a:endParaRPr>
                    </a:p>
                  </a:txBody>
                  <a:tcPr/>
                </a:tc>
                <a:extLst>
                  <a:ext uri="{0D108BD9-81ED-4DB2-BD59-A6C34878D82A}">
                    <a16:rowId xmlns:a16="http://schemas.microsoft.com/office/drawing/2014/main" val="86437240"/>
                  </a:ext>
                </a:extLst>
              </a:tr>
              <a:tr h="457200">
                <a:tc>
                  <a:txBody>
                    <a:bodyPr/>
                    <a:lstStyle/>
                    <a:p>
                      <a:pPr algn="ctr"/>
                      <a:r>
                        <a:rPr lang="en-CA" sz="1800" b="1" dirty="0"/>
                        <a:t>Energy</a:t>
                      </a:r>
                      <a:endParaRPr lang="en-CA" sz="1800" b="1" dirty="0">
                        <a:latin typeface="Myriad Web Pro"/>
                      </a:endParaRPr>
                    </a:p>
                  </a:txBody>
                  <a:tcPr/>
                </a:tc>
                <a:extLst>
                  <a:ext uri="{0D108BD9-81ED-4DB2-BD59-A6C34878D82A}">
                    <a16:rowId xmlns:a16="http://schemas.microsoft.com/office/drawing/2014/main" val="2547172838"/>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173089980"/>
              </p:ext>
            </p:extLst>
          </p:nvPr>
        </p:nvGraphicFramePr>
        <p:xfrm>
          <a:off x="3019350" y="2890031"/>
          <a:ext cx="2733289" cy="1878550"/>
        </p:xfrm>
        <a:graphic>
          <a:graphicData uri="http://schemas.openxmlformats.org/drawingml/2006/table">
            <a:tbl>
              <a:tblPr firstRow="1" bandRow="1">
                <a:tableStyleId>{69CF1AB2-1976-4502-BF36-3FF5EA218861}</a:tableStyleId>
              </a:tblPr>
              <a:tblGrid>
                <a:gridCol w="2733289">
                  <a:extLst>
                    <a:ext uri="{9D8B030D-6E8A-4147-A177-3AD203B41FA5}">
                      <a16:colId xmlns:a16="http://schemas.microsoft.com/office/drawing/2014/main" val="1824907021"/>
                    </a:ext>
                  </a:extLst>
                </a:gridCol>
              </a:tblGrid>
              <a:tr h="457200">
                <a:tc>
                  <a:txBody>
                    <a:bodyPr/>
                    <a:lstStyle/>
                    <a:p>
                      <a:pPr algn="ctr"/>
                      <a:r>
                        <a:rPr lang="en-CA" sz="1800" b="1" dirty="0"/>
                        <a:t>Extensive (</a:t>
                      </a:r>
                      <a:r>
                        <a:rPr lang="en-CA" sz="1800" b="1" i="1" dirty="0"/>
                        <a:t>N</a:t>
                      </a:r>
                      <a:r>
                        <a:rPr lang="en-CA" sz="1800" b="1" dirty="0"/>
                        <a:t>)</a:t>
                      </a:r>
                      <a:endParaRPr lang="en-CA" sz="1800" b="1" dirty="0">
                        <a:solidFill>
                          <a:srgbClr val="0000FF"/>
                        </a:solidFill>
                        <a:latin typeface="Myriad Web Pro"/>
                      </a:endParaRPr>
                    </a:p>
                  </a:txBody>
                  <a:tcPr/>
                </a:tc>
                <a:extLst>
                  <a:ext uri="{0D108BD9-81ED-4DB2-BD59-A6C34878D82A}">
                    <a16:rowId xmlns:a16="http://schemas.microsoft.com/office/drawing/2014/main" val="2167357807"/>
                  </a:ext>
                </a:extLst>
              </a:tr>
              <a:tr h="457200">
                <a:tc>
                  <a:txBody>
                    <a:bodyPr/>
                    <a:lstStyle/>
                    <a:p>
                      <a:pPr algn="ctr"/>
                      <a:r>
                        <a:rPr lang="en-CA" sz="1800" b="1" dirty="0"/>
                        <a:t>M</a:t>
                      </a:r>
                      <a:endParaRPr lang="en-CA" sz="1800" b="1" dirty="0">
                        <a:solidFill>
                          <a:srgbClr val="0000FF"/>
                        </a:solidFill>
                        <a:latin typeface="Myriad Web Pro"/>
                      </a:endParaRPr>
                    </a:p>
                  </a:txBody>
                  <a:tcPr/>
                </a:tc>
                <a:extLst>
                  <a:ext uri="{0D108BD9-81ED-4DB2-BD59-A6C34878D82A}">
                    <a16:rowId xmlns:a16="http://schemas.microsoft.com/office/drawing/2014/main" val="4241930278"/>
                  </a:ext>
                </a:extLst>
              </a:tr>
              <a:tr h="506950">
                <a:tc>
                  <a:txBody>
                    <a:bodyPr/>
                    <a:lstStyle/>
                    <a:p>
                      <a:pPr algn="ctr"/>
                      <a:r>
                        <a:rPr lang="en-CA" sz="1800" b="1" dirty="0"/>
                        <a:t>P</a:t>
                      </a:r>
                      <a:endParaRPr lang="en-CA" sz="1800" b="1" dirty="0">
                        <a:solidFill>
                          <a:srgbClr val="0000FF"/>
                        </a:solidFill>
                        <a:latin typeface="Myriad Web Pro"/>
                      </a:endParaRPr>
                    </a:p>
                  </a:txBody>
                  <a:tcPr/>
                </a:tc>
                <a:extLst>
                  <a:ext uri="{0D108BD9-81ED-4DB2-BD59-A6C34878D82A}">
                    <a16:rowId xmlns:a16="http://schemas.microsoft.com/office/drawing/2014/main" val="86437240"/>
                  </a:ext>
                </a:extLst>
              </a:tr>
              <a:tr h="457200">
                <a:tc>
                  <a:txBody>
                    <a:bodyPr/>
                    <a:lstStyle/>
                    <a:p>
                      <a:pPr algn="ctr"/>
                      <a:r>
                        <a:rPr lang="en-CA" sz="1800" b="1" dirty="0"/>
                        <a:t>E</a:t>
                      </a:r>
                      <a:endParaRPr lang="en-CA" sz="1800" b="1" dirty="0">
                        <a:solidFill>
                          <a:srgbClr val="0000FF"/>
                        </a:solidFill>
                        <a:latin typeface="Myriad Web Pro"/>
                      </a:endParaRPr>
                    </a:p>
                  </a:txBody>
                  <a:tcPr/>
                </a:tc>
                <a:extLst>
                  <a:ext uri="{0D108BD9-81ED-4DB2-BD59-A6C34878D82A}">
                    <a16:rowId xmlns:a16="http://schemas.microsoft.com/office/drawing/2014/main" val="2547172838"/>
                  </a:ext>
                </a:extLst>
              </a:tr>
            </a:tbl>
          </a:graphicData>
        </a:graphic>
      </p:graphicFrame>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522231520"/>
                  </p:ext>
                </p:extLst>
              </p:nvPr>
            </p:nvGraphicFramePr>
            <p:xfrm>
              <a:off x="5752639" y="2897984"/>
              <a:ext cx="2226061" cy="1870597"/>
            </p:xfrm>
            <a:graphic>
              <a:graphicData uri="http://schemas.openxmlformats.org/drawingml/2006/table">
                <a:tbl>
                  <a:tblPr firstRow="1" bandRow="1">
                    <a:tableStyleId>{69CF1AB2-1976-4502-BF36-3FF5EA218861}</a:tableStyleId>
                  </a:tblPr>
                  <a:tblGrid>
                    <a:gridCol w="2226061">
                      <a:extLst>
                        <a:ext uri="{9D8B030D-6E8A-4147-A177-3AD203B41FA5}">
                          <a16:colId xmlns:a16="http://schemas.microsoft.com/office/drawing/2014/main" val="1824907021"/>
                        </a:ext>
                      </a:extLst>
                    </a:gridCol>
                  </a:tblGrid>
                  <a:tr h="473294">
                    <a:tc>
                      <a:txBody>
                        <a:bodyPr/>
                        <a:lstStyle/>
                        <a:p>
                          <a:pPr algn="ctr"/>
                          <a:r>
                            <a:rPr lang="en-CA" sz="1800" b="1" dirty="0">
                              <a:solidFill>
                                <a:schemeClr val="tx1"/>
                              </a:solidFill>
                            </a:rPr>
                            <a:t>Intensive (</a:t>
                          </a:r>
                          <a14:m>
                            <m:oMath xmlns:m="http://schemas.openxmlformats.org/officeDocument/2006/math">
                              <m:r>
                                <a:rPr lang="en-US" sz="1800" b="1" i="1"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𝜼</m:t>
                              </m:r>
                            </m:oMath>
                          </a14:m>
                          <a:r>
                            <a:rPr lang="en-CA" sz="1800" b="1" dirty="0">
                              <a:solidFill>
                                <a:schemeClr val="tx1"/>
                              </a:solidFill>
                            </a:rPr>
                            <a:t>)</a:t>
                          </a:r>
                          <a:endParaRPr lang="en-CA" sz="1800" b="1" dirty="0">
                            <a:solidFill>
                              <a:schemeClr val="tx1"/>
                            </a:solidFill>
                            <a:latin typeface="Myriad Web Pro"/>
                          </a:endParaRPr>
                        </a:p>
                      </a:txBody>
                      <a:tcPr/>
                    </a:tc>
                    <a:extLst>
                      <a:ext uri="{0D108BD9-81ED-4DB2-BD59-A6C34878D82A}">
                        <a16:rowId xmlns:a16="http://schemas.microsoft.com/office/drawing/2014/main" val="2167357807"/>
                      </a:ext>
                    </a:extLst>
                  </a:tr>
                  <a:tr h="473294">
                    <a:tc>
                      <a:txBody>
                        <a:bodyPr/>
                        <a:lstStyle/>
                        <a:p>
                          <a:pPr algn="ctr"/>
                          <a:r>
                            <a:rPr lang="en-CA" sz="1800" b="1" dirty="0">
                              <a:solidFill>
                                <a:schemeClr val="tx1"/>
                              </a:solidFill>
                            </a:rPr>
                            <a:t>1</a:t>
                          </a:r>
                          <a:endParaRPr lang="en-CA" sz="1800" b="1" dirty="0">
                            <a:solidFill>
                              <a:schemeClr val="tx1"/>
                            </a:solidFill>
                            <a:latin typeface="Myriad Web Pro"/>
                          </a:endParaRPr>
                        </a:p>
                      </a:txBody>
                      <a:tcPr/>
                    </a:tc>
                    <a:extLst>
                      <a:ext uri="{0D108BD9-81ED-4DB2-BD59-A6C34878D82A}">
                        <a16:rowId xmlns:a16="http://schemas.microsoft.com/office/drawing/2014/main" val="4241930278"/>
                      </a:ext>
                    </a:extLst>
                  </a:tr>
                  <a:tr h="450715">
                    <a:tc>
                      <a:txBody>
                        <a:bodyPr/>
                        <a:lstStyle/>
                        <a:p>
                          <a:pPr algn="ctr"/>
                          <a14:m>
                            <m:oMathPara xmlns:m="http://schemas.openxmlformats.org/officeDocument/2006/math">
                              <m:oMathParaPr>
                                <m:jc m:val="centerGroup"/>
                              </m:oMathParaPr>
                              <m:oMath xmlns:m="http://schemas.openxmlformats.org/officeDocument/2006/math">
                                <m:acc>
                                  <m:accPr>
                                    <m:chr m:val="⃗"/>
                                    <m:ctrlPr>
                                      <a:rPr lang="en-CA" sz="1800" b="1" i="1" dirty="0" smtClean="0">
                                        <a:solidFill>
                                          <a:schemeClr val="tx1"/>
                                        </a:solidFill>
                                        <a:latin typeface="Cambria Math" panose="02040503050406030204" pitchFamily="18" charset="0"/>
                                      </a:rPr>
                                    </m:ctrlPr>
                                  </m:accPr>
                                  <m:e>
                                    <m:r>
                                      <a:rPr lang="en-CA" sz="1800" b="1" i="1" dirty="0" smtClean="0">
                                        <a:solidFill>
                                          <a:schemeClr val="tx1"/>
                                        </a:solidFill>
                                        <a:latin typeface="Cambria Math" panose="02040503050406030204" pitchFamily="18" charset="0"/>
                                      </a:rPr>
                                      <m:t>𝑽</m:t>
                                    </m:r>
                                  </m:e>
                                </m:acc>
                              </m:oMath>
                            </m:oMathPara>
                          </a14:m>
                          <a:endParaRPr lang="en-CA" sz="1800" b="1" dirty="0">
                            <a:solidFill>
                              <a:schemeClr val="tx1"/>
                            </a:solidFill>
                            <a:latin typeface="Myriad Web Pro"/>
                          </a:endParaRPr>
                        </a:p>
                      </a:txBody>
                      <a:tcPr/>
                    </a:tc>
                    <a:extLst>
                      <a:ext uri="{0D108BD9-81ED-4DB2-BD59-A6C34878D82A}">
                        <a16:rowId xmlns:a16="http://schemas.microsoft.com/office/drawing/2014/main" val="86437240"/>
                      </a:ext>
                    </a:extLst>
                  </a:tr>
                  <a:tr h="473294">
                    <a:tc>
                      <a:txBody>
                        <a:bodyPr/>
                        <a:lstStyle/>
                        <a:p>
                          <a:pPr algn="ctr"/>
                          <a14:m>
                            <m:oMathPara xmlns:m="http://schemas.openxmlformats.org/officeDocument/2006/math">
                              <m:oMathParaPr>
                                <m:jc m:val="centerGroup"/>
                              </m:oMathParaPr>
                              <m:oMath xmlns:m="http://schemas.openxmlformats.org/officeDocument/2006/math">
                                <m:r>
                                  <a:rPr lang="en-CA" sz="1800" b="1" i="1" dirty="0" smtClean="0">
                                    <a:solidFill>
                                      <a:schemeClr val="tx1"/>
                                    </a:solidFill>
                                    <a:latin typeface="Cambria Math" panose="02040503050406030204" pitchFamily="18" charset="0"/>
                                  </a:rPr>
                                  <m:t>𝒆</m:t>
                                </m:r>
                              </m:oMath>
                            </m:oMathPara>
                          </a14:m>
                          <a:endParaRPr lang="en-CA" sz="1800" b="1" dirty="0">
                            <a:solidFill>
                              <a:schemeClr val="tx1"/>
                            </a:solidFill>
                            <a:latin typeface="Myriad Web Pro"/>
                          </a:endParaRPr>
                        </a:p>
                      </a:txBody>
                      <a:tcPr/>
                    </a:tc>
                    <a:extLst>
                      <a:ext uri="{0D108BD9-81ED-4DB2-BD59-A6C34878D82A}">
                        <a16:rowId xmlns:a16="http://schemas.microsoft.com/office/drawing/2014/main" val="2547172838"/>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522231520"/>
                  </p:ext>
                </p:extLst>
              </p:nvPr>
            </p:nvGraphicFramePr>
            <p:xfrm>
              <a:off x="5752639" y="2897984"/>
              <a:ext cx="2226061" cy="1870597"/>
            </p:xfrm>
            <a:graphic>
              <a:graphicData uri="http://schemas.openxmlformats.org/drawingml/2006/table">
                <a:tbl>
                  <a:tblPr firstRow="1" bandRow="1">
                    <a:tableStyleId>{69CF1AB2-1976-4502-BF36-3FF5EA218861}</a:tableStyleId>
                  </a:tblPr>
                  <a:tblGrid>
                    <a:gridCol w="2226061">
                      <a:extLst>
                        <a:ext uri="{9D8B030D-6E8A-4147-A177-3AD203B41FA5}">
                          <a16:colId xmlns:a16="http://schemas.microsoft.com/office/drawing/2014/main" val="1824907021"/>
                        </a:ext>
                      </a:extLst>
                    </a:gridCol>
                  </a:tblGrid>
                  <a:tr h="473294">
                    <a:tc>
                      <a:txBody>
                        <a:bodyPr/>
                        <a:lstStyle/>
                        <a:p>
                          <a:endParaRPr lang="en-GH"/>
                        </a:p>
                      </a:txBody>
                      <a:tcPr>
                        <a:blipFill>
                          <a:blip r:embed="rId4"/>
                          <a:stretch>
                            <a:fillRect l="-273" t="-6410" r="-546" b="-297436"/>
                          </a:stretch>
                        </a:blipFill>
                      </a:tcPr>
                    </a:tc>
                    <a:extLst>
                      <a:ext uri="{0D108BD9-81ED-4DB2-BD59-A6C34878D82A}">
                        <a16:rowId xmlns:a16="http://schemas.microsoft.com/office/drawing/2014/main" val="2167357807"/>
                      </a:ext>
                    </a:extLst>
                  </a:tr>
                  <a:tr h="473294">
                    <a:tc>
                      <a:txBody>
                        <a:bodyPr/>
                        <a:lstStyle/>
                        <a:p>
                          <a:pPr algn="ctr"/>
                          <a:r>
                            <a:rPr lang="en-CA" sz="1800" b="1" dirty="0">
                              <a:solidFill>
                                <a:schemeClr val="tx1"/>
                              </a:solidFill>
                            </a:rPr>
                            <a:t>1</a:t>
                          </a:r>
                          <a:endParaRPr lang="en-CA" sz="1800" b="1" dirty="0">
                            <a:solidFill>
                              <a:schemeClr val="tx1"/>
                            </a:solidFill>
                            <a:latin typeface="Myriad Web Pro"/>
                          </a:endParaRPr>
                        </a:p>
                      </a:txBody>
                      <a:tcPr/>
                    </a:tc>
                    <a:extLst>
                      <a:ext uri="{0D108BD9-81ED-4DB2-BD59-A6C34878D82A}">
                        <a16:rowId xmlns:a16="http://schemas.microsoft.com/office/drawing/2014/main" val="4241930278"/>
                      </a:ext>
                    </a:extLst>
                  </a:tr>
                  <a:tr h="450715">
                    <a:tc>
                      <a:txBody>
                        <a:bodyPr/>
                        <a:lstStyle/>
                        <a:p>
                          <a:endParaRPr lang="en-GH"/>
                        </a:p>
                      </a:txBody>
                      <a:tcPr>
                        <a:blipFill>
                          <a:blip r:embed="rId4"/>
                          <a:stretch>
                            <a:fillRect l="-273" t="-217568" r="-546" b="-108108"/>
                          </a:stretch>
                        </a:blipFill>
                      </a:tcPr>
                    </a:tc>
                    <a:extLst>
                      <a:ext uri="{0D108BD9-81ED-4DB2-BD59-A6C34878D82A}">
                        <a16:rowId xmlns:a16="http://schemas.microsoft.com/office/drawing/2014/main" val="86437240"/>
                      </a:ext>
                    </a:extLst>
                  </a:tr>
                  <a:tr h="473294">
                    <a:tc>
                      <a:txBody>
                        <a:bodyPr/>
                        <a:lstStyle/>
                        <a:p>
                          <a:endParaRPr lang="en-GH"/>
                        </a:p>
                      </a:txBody>
                      <a:tcPr>
                        <a:blipFill>
                          <a:blip r:embed="rId4"/>
                          <a:stretch>
                            <a:fillRect l="-273" t="-301282" r="-546" b="-2564"/>
                          </a:stretch>
                        </a:blipFill>
                      </a:tcPr>
                    </a:tc>
                    <a:extLst>
                      <a:ext uri="{0D108BD9-81ED-4DB2-BD59-A6C34878D82A}">
                        <a16:rowId xmlns:a16="http://schemas.microsoft.com/office/drawing/2014/main" val="2547172838"/>
                      </a:ext>
                    </a:extLst>
                  </a:tr>
                </a:tbl>
              </a:graphicData>
            </a:graphic>
          </p:graphicFrame>
        </mc:Fallback>
      </mc:AlternateContent>
      <p:sp>
        <p:nvSpPr>
          <p:cNvPr id="7" name="Slide Number Placeholder 6">
            <a:extLst>
              <a:ext uri="{FF2B5EF4-FFF2-40B4-BE49-F238E27FC236}">
                <a16:creationId xmlns:a16="http://schemas.microsoft.com/office/drawing/2014/main" id="{0452C630-ECF6-964F-5087-9B36990349C0}"/>
              </a:ext>
            </a:extLst>
          </p:cNvPr>
          <p:cNvSpPr>
            <a:spLocks noGrp="1"/>
          </p:cNvSpPr>
          <p:nvPr>
            <p:ph type="sldNum" sz="quarter" idx="12"/>
          </p:nvPr>
        </p:nvSpPr>
        <p:spPr/>
        <p:txBody>
          <a:bodyPr/>
          <a:lstStyle/>
          <a:p>
            <a:fld id="{49FCB85E-0F77-4855-90A7-7A1B61BB679B}" type="slidenum">
              <a:rPr lang="en-CA" smtClean="0"/>
              <a:t>8</a:t>
            </a:fld>
            <a:endParaRPr lang="en-CA"/>
          </a:p>
        </p:txBody>
      </p:sp>
    </p:spTree>
    <p:extLst>
      <p:ext uri="{BB962C8B-B14F-4D97-AF65-F5344CB8AC3E}">
        <p14:creationId xmlns:p14="http://schemas.microsoft.com/office/powerpoint/2010/main" val="2111758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lang="en-CA" sz="2800" dirty="0">
                <a:solidFill>
                  <a:schemeClr val="tx1"/>
                </a:solidFill>
                <a:ea typeface="Verdana" panose="020B0604030504040204" pitchFamily="34" charset="0"/>
                <a:cs typeface="Verdana" panose="020B0604030504040204" pitchFamily="34" charset="0"/>
              </a:rPr>
              <a:t>Basic Laws of a Thermodynamic System</a:t>
            </a:r>
          </a:p>
        </p:txBody>
      </p:sp>
      <p:sp>
        <p:nvSpPr>
          <p:cNvPr id="3" name="Content Placeholder 2"/>
          <p:cNvSpPr>
            <a:spLocks noGrp="1"/>
          </p:cNvSpPr>
          <p:nvPr>
            <p:ph idx="1"/>
          </p:nvPr>
        </p:nvSpPr>
        <p:spPr>
          <a:xfrm>
            <a:off x="366926" y="672997"/>
            <a:ext cx="7886700" cy="1087771"/>
          </a:xfrm>
        </p:spPr>
        <p:txBody>
          <a:bodyPr/>
          <a:lstStyle/>
          <a:p>
            <a:pPr marR="0">
              <a:lnSpc>
                <a:spcPct val="115000"/>
              </a:lnSpc>
              <a:spcBef>
                <a:spcPts val="0"/>
              </a:spcBef>
              <a:spcAft>
                <a:spcPts val="0"/>
              </a:spcAft>
              <a:buFont typeface="Wingdings" panose="05000000000000000000" pitchFamily="2" charset="2"/>
              <a:buChar char="q"/>
            </a:pPr>
            <a:r>
              <a:rPr lang="en-CA" sz="2800" dirty="0">
                <a:effectLst/>
                <a:latin typeface="Calibri" panose="020F0502020204030204" pitchFamily="34" charset="0"/>
                <a:ea typeface="Calibri" panose="020F0502020204030204" pitchFamily="34" charset="0"/>
                <a:cs typeface="Times New Roman" panose="02020603050405020304" pitchFamily="18" charset="0"/>
              </a:rPr>
              <a:t>  Closed System:</a:t>
            </a:r>
          </a:p>
          <a:p>
            <a:pPr marL="468000" marR="0">
              <a:lnSpc>
                <a:spcPct val="115000"/>
              </a:lnSpc>
              <a:spcBef>
                <a:spcPts val="0"/>
              </a:spcBef>
              <a:spcAft>
                <a:spcPts val="0"/>
              </a:spcAft>
            </a:pPr>
            <a:r>
              <a:rPr lang="en-CA" sz="2800" dirty="0">
                <a:latin typeface="Calibri" panose="020F0502020204030204" pitchFamily="34" charset="0"/>
                <a:ea typeface="Calibri" panose="020F0502020204030204" pitchFamily="34" charset="0"/>
                <a:cs typeface="Times New Roman" panose="02020603050405020304" pitchFamily="18" charset="0"/>
              </a:rPr>
              <a:t> Energy Conservation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5AFF085-E039-CAB7-9F92-92B277AF9061}"/>
                  </a:ext>
                </a:extLst>
              </p:cNvPr>
              <p:cNvSpPr txBox="1"/>
              <p:nvPr/>
            </p:nvSpPr>
            <p:spPr>
              <a:xfrm>
                <a:off x="4416552" y="1237548"/>
                <a:ext cx="223113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b="1" i="1" smtClean="0">
                          <a:latin typeface="Cambria Math" panose="02040503050406030204" pitchFamily="18" charset="0"/>
                        </a:rPr>
                        <m:t>𝑸</m:t>
                      </m:r>
                      <m:r>
                        <a:rPr lang="en-US" sz="2800" b="1" i="1" smtClean="0">
                          <a:latin typeface="Cambria Math" panose="02040503050406030204" pitchFamily="18" charset="0"/>
                        </a:rPr>
                        <m:t>−</m:t>
                      </m:r>
                      <m:r>
                        <a:rPr lang="en-US" sz="2800" b="1" i="1" smtClean="0">
                          <a:latin typeface="Cambria Math" panose="02040503050406030204" pitchFamily="18" charset="0"/>
                        </a:rPr>
                        <m:t>𝑾</m:t>
                      </m:r>
                      <m:r>
                        <a:rPr lang="en-US" sz="2800" b="1" i="1" smtClean="0">
                          <a:latin typeface="Cambria Math" panose="02040503050406030204" pitchFamily="18" charset="0"/>
                        </a:rPr>
                        <m:t>= ∆</m:t>
                      </m:r>
                      <m:r>
                        <a:rPr lang="en-US" sz="2800" b="1" i="1" smtClean="0">
                          <a:latin typeface="Cambria Math" panose="02040503050406030204" pitchFamily="18" charset="0"/>
                          <a:ea typeface="Cambria Math" panose="02040503050406030204" pitchFamily="18" charset="0"/>
                        </a:rPr>
                        <m:t>𝑬</m:t>
                      </m:r>
                    </m:oMath>
                  </m:oMathPara>
                </a14:m>
                <a:endParaRPr lang="en-US" sz="2800" b="1" dirty="0"/>
              </a:p>
            </p:txBody>
          </p:sp>
        </mc:Choice>
        <mc:Fallback xmlns="">
          <p:sp>
            <p:nvSpPr>
              <p:cNvPr id="7" name="TextBox 6">
                <a:extLst>
                  <a:ext uri="{FF2B5EF4-FFF2-40B4-BE49-F238E27FC236}">
                    <a16:creationId xmlns:a16="http://schemas.microsoft.com/office/drawing/2014/main" id="{15AFF085-E039-CAB7-9F92-92B277AF9061}"/>
                  </a:ext>
                </a:extLst>
              </p:cNvPr>
              <p:cNvSpPr txBox="1">
                <a:spLocks noRot="1" noChangeAspect="1" noMove="1" noResize="1" noEditPoints="1" noAdjustHandles="1" noChangeArrowheads="1" noChangeShapeType="1" noTextEdit="1"/>
              </p:cNvSpPr>
              <p:nvPr/>
            </p:nvSpPr>
            <p:spPr>
              <a:xfrm>
                <a:off x="4416552" y="1237548"/>
                <a:ext cx="2231136" cy="523220"/>
              </a:xfrm>
              <a:prstGeom prst="rect">
                <a:avLst/>
              </a:prstGeom>
              <a:blipFill>
                <a:blip r:embed="rId3"/>
                <a:stretch>
                  <a:fillRect/>
                </a:stretch>
              </a:blipFill>
            </p:spPr>
            <p:txBody>
              <a:bodyPr/>
              <a:lstStyle/>
              <a:p>
                <a:r>
                  <a:rPr lang="en-GH">
                    <a:noFill/>
                  </a:rPr>
                  <a:t> </a:t>
                </a:r>
              </a:p>
            </p:txBody>
          </p:sp>
        </mc:Fallback>
      </mc:AlternateContent>
      <p:sp>
        <p:nvSpPr>
          <p:cNvPr id="11" name="Content Placeholder 2">
            <a:extLst>
              <a:ext uri="{FF2B5EF4-FFF2-40B4-BE49-F238E27FC236}">
                <a16:creationId xmlns:a16="http://schemas.microsoft.com/office/drawing/2014/main" id="{433959E4-B44F-FB53-9B04-E606C6BC3C37}"/>
              </a:ext>
            </a:extLst>
          </p:cNvPr>
          <p:cNvSpPr txBox="1">
            <a:spLocks/>
          </p:cNvSpPr>
          <p:nvPr/>
        </p:nvSpPr>
        <p:spPr>
          <a:xfrm>
            <a:off x="366926" y="1902684"/>
            <a:ext cx="3540610" cy="10877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15000"/>
              </a:lnSpc>
              <a:spcBef>
                <a:spcPts val="0"/>
              </a:spcBef>
              <a:spcAft>
                <a:spcPts val="0"/>
              </a:spcAft>
              <a:buFont typeface="Wingdings" panose="05000000000000000000" pitchFamily="2" charset="2"/>
              <a:buChar char="q"/>
            </a:pPr>
            <a:r>
              <a:rPr lang="en-CA" sz="2800" dirty="0">
                <a:latin typeface="Calibri" panose="020F0502020204030204" pitchFamily="34" charset="0"/>
                <a:ea typeface="Calibri" panose="020F0502020204030204" pitchFamily="34" charset="0"/>
                <a:cs typeface="Times New Roman" panose="02020603050405020304" pitchFamily="18" charset="0"/>
              </a:rPr>
              <a:t>  Open System: </a:t>
            </a:r>
          </a:p>
          <a:p>
            <a:pPr marL="468000" fontAlgn="auto">
              <a:lnSpc>
                <a:spcPct val="115000"/>
              </a:lnSpc>
              <a:spcBef>
                <a:spcPts val="0"/>
              </a:spcBef>
              <a:spcAft>
                <a:spcPts val="0"/>
              </a:spcAft>
            </a:pPr>
            <a:r>
              <a:rPr lang="en-CA" sz="2800" dirty="0">
                <a:latin typeface="Calibri" panose="020F0502020204030204" pitchFamily="34" charset="0"/>
                <a:ea typeface="Calibri" panose="020F0502020204030204" pitchFamily="34" charset="0"/>
                <a:cs typeface="Times New Roman" panose="02020603050405020304" pitchFamily="18" charset="0"/>
              </a:rPr>
              <a:t> Mass Conservation</a:t>
            </a:r>
          </a:p>
          <a:p>
            <a:pPr marL="0" indent="0" fontAlgn="auto">
              <a:spcAft>
                <a:spcPts val="0"/>
              </a:spcAft>
              <a:buFont typeface="Arial" panose="020B0604020202020204" pitchFamily="34" charset="0"/>
              <a:buNone/>
            </a:pPr>
            <a:endParaRPr lang="en-CA"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8282A66-D75F-A080-7E58-8A069BCB7214}"/>
                  </a:ext>
                </a:extLst>
              </p:cNvPr>
              <p:cNvSpPr txBox="1"/>
              <p:nvPr/>
            </p:nvSpPr>
            <p:spPr>
              <a:xfrm>
                <a:off x="2537460" y="2912857"/>
                <a:ext cx="3758184" cy="8156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H" b="1" i="1" smtClean="0">
                              <a:latin typeface="Cambria Math" panose="02040503050406030204" pitchFamily="18" charset="0"/>
                            </a:rPr>
                          </m:ctrlPr>
                        </m:fPr>
                        <m:num>
                          <m:r>
                            <a:rPr lang="en-GB" b="1" i="1" smtClean="0">
                              <a:latin typeface="Cambria Math" panose="02040503050406030204" pitchFamily="18" charset="0"/>
                            </a:rPr>
                            <m:t>𝒅𝑴</m:t>
                          </m:r>
                        </m:num>
                        <m:den>
                          <m:r>
                            <a:rPr lang="en-GB" b="1" i="1" smtClean="0">
                              <a:latin typeface="Cambria Math" panose="02040503050406030204" pitchFamily="18" charset="0"/>
                            </a:rPr>
                            <m:t>𝒅𝒕</m:t>
                          </m:r>
                        </m:den>
                      </m:f>
                      <m:r>
                        <a:rPr lang="en-GB" b="1" i="1" smtClean="0">
                          <a:latin typeface="Cambria Math" panose="02040503050406030204" pitchFamily="18" charset="0"/>
                        </a:rPr>
                        <m:t>=</m:t>
                      </m:r>
                      <m:acc>
                        <m:accPr>
                          <m:chr m:val="̇"/>
                          <m:ctrlPr>
                            <a:rPr lang="en-GB" b="1" i="1" smtClean="0">
                              <a:latin typeface="Cambria Math" panose="02040503050406030204" pitchFamily="18" charset="0"/>
                            </a:rPr>
                          </m:ctrlPr>
                        </m:accPr>
                        <m:e>
                          <m:r>
                            <a:rPr lang="en-GB" b="1" i="1" smtClean="0">
                              <a:latin typeface="Cambria Math" panose="02040503050406030204" pitchFamily="18" charset="0"/>
                            </a:rPr>
                            <m:t>𝒎</m:t>
                          </m:r>
                        </m:e>
                      </m:acc>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acc>
                            <m:accPr>
                              <m:chr m:val="̇"/>
                              <m:ctrlPr>
                                <a:rPr lang="en-GB" b="1" i="1" smtClean="0">
                                  <a:latin typeface="Cambria Math" panose="02040503050406030204" pitchFamily="18" charset="0"/>
                                </a:rPr>
                              </m:ctrlPr>
                            </m:accPr>
                            <m:e>
                              <m:r>
                                <a:rPr lang="en-GB" b="1" i="1" smtClean="0">
                                  <a:latin typeface="Cambria Math" panose="02040503050406030204" pitchFamily="18" charset="0"/>
                                </a:rPr>
                                <m:t>𝒎</m:t>
                              </m:r>
                            </m:e>
                          </m:acc>
                        </m:e>
                        <m:sub>
                          <m:r>
                            <a:rPr lang="en-GB" b="1" i="1" smtClean="0">
                              <a:latin typeface="Cambria Math" panose="02040503050406030204" pitchFamily="18" charset="0"/>
                            </a:rPr>
                            <m:t>𝒊𝒏</m:t>
                          </m:r>
                        </m:sub>
                      </m:sSub>
                      <m:r>
                        <a:rPr lang="en-GB" b="1" i="1" smtClean="0">
                          <a:latin typeface="Cambria Math" panose="02040503050406030204" pitchFamily="18" charset="0"/>
                        </a:rPr>
                        <m:t>−</m:t>
                      </m:r>
                      <m:sSub>
                        <m:sSubPr>
                          <m:ctrlPr>
                            <a:rPr lang="en-GB" b="1" i="1">
                              <a:latin typeface="Cambria Math" panose="02040503050406030204" pitchFamily="18" charset="0"/>
                            </a:rPr>
                          </m:ctrlPr>
                        </m:sSubPr>
                        <m:e>
                          <m:acc>
                            <m:accPr>
                              <m:chr m:val="̇"/>
                              <m:ctrlPr>
                                <a:rPr lang="en-GB" b="1" i="1">
                                  <a:latin typeface="Cambria Math" panose="02040503050406030204" pitchFamily="18" charset="0"/>
                                </a:rPr>
                              </m:ctrlPr>
                            </m:accPr>
                            <m:e>
                              <m:r>
                                <a:rPr lang="en-GB" b="1" i="1">
                                  <a:latin typeface="Cambria Math" panose="02040503050406030204" pitchFamily="18" charset="0"/>
                                </a:rPr>
                                <m:t>𝒎</m:t>
                              </m:r>
                            </m:e>
                          </m:acc>
                        </m:e>
                        <m:sub>
                          <m:r>
                            <a:rPr lang="en-GB" b="1" i="1" smtClean="0">
                              <a:latin typeface="Cambria Math" panose="02040503050406030204" pitchFamily="18" charset="0"/>
                            </a:rPr>
                            <m:t>𝒐𝒖𝒕</m:t>
                          </m:r>
                        </m:sub>
                      </m:sSub>
                    </m:oMath>
                  </m:oMathPara>
                </a14:m>
                <a:endParaRPr lang="en-GH" b="1" dirty="0"/>
              </a:p>
            </p:txBody>
          </p:sp>
        </mc:Choice>
        <mc:Fallback xmlns="">
          <p:sp>
            <p:nvSpPr>
              <p:cNvPr id="12" name="TextBox 11">
                <a:extLst>
                  <a:ext uri="{FF2B5EF4-FFF2-40B4-BE49-F238E27FC236}">
                    <a16:creationId xmlns:a16="http://schemas.microsoft.com/office/drawing/2014/main" id="{F8282A66-D75F-A080-7E58-8A069BCB7214}"/>
                  </a:ext>
                </a:extLst>
              </p:cNvPr>
              <p:cNvSpPr txBox="1">
                <a:spLocks noRot="1" noChangeAspect="1" noMove="1" noResize="1" noEditPoints="1" noAdjustHandles="1" noChangeArrowheads="1" noChangeShapeType="1" noTextEdit="1"/>
              </p:cNvSpPr>
              <p:nvPr/>
            </p:nvSpPr>
            <p:spPr>
              <a:xfrm>
                <a:off x="2537460" y="2912857"/>
                <a:ext cx="3758184" cy="815673"/>
              </a:xfrm>
              <a:prstGeom prst="rect">
                <a:avLst/>
              </a:prstGeom>
              <a:blipFill>
                <a:blip r:embed="rId4"/>
                <a:stretch>
                  <a:fillRect/>
                </a:stretch>
              </a:blipFill>
            </p:spPr>
            <p:txBody>
              <a:bodyPr/>
              <a:lstStyle/>
              <a:p>
                <a:r>
                  <a:rPr lang="en-GH">
                    <a:noFill/>
                  </a:rPr>
                  <a:t> </a:t>
                </a:r>
              </a:p>
            </p:txBody>
          </p:sp>
        </mc:Fallback>
      </mc:AlternateContent>
      <p:sp>
        <p:nvSpPr>
          <p:cNvPr id="13" name="Content Placeholder 2">
            <a:extLst>
              <a:ext uri="{FF2B5EF4-FFF2-40B4-BE49-F238E27FC236}">
                <a16:creationId xmlns:a16="http://schemas.microsoft.com/office/drawing/2014/main" id="{6BB80E5B-05D5-FF29-73FE-318483711E99}"/>
              </a:ext>
            </a:extLst>
          </p:cNvPr>
          <p:cNvSpPr txBox="1">
            <a:spLocks/>
          </p:cNvSpPr>
          <p:nvPr/>
        </p:nvSpPr>
        <p:spPr>
          <a:xfrm>
            <a:off x="366926" y="3728531"/>
            <a:ext cx="3758184" cy="5965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8000" fontAlgn="auto">
              <a:lnSpc>
                <a:spcPct val="115000"/>
              </a:lnSpc>
              <a:spcBef>
                <a:spcPts val="0"/>
              </a:spcBef>
              <a:spcAft>
                <a:spcPts val="0"/>
              </a:spcAft>
            </a:pPr>
            <a:r>
              <a:rPr lang="en-CA" sz="2800" dirty="0">
                <a:latin typeface="Calibri" panose="020F0502020204030204" pitchFamily="34" charset="0"/>
                <a:ea typeface="Calibri" panose="020F0502020204030204" pitchFamily="34" charset="0"/>
                <a:cs typeface="Times New Roman" panose="02020603050405020304" pitchFamily="18" charset="0"/>
              </a:rPr>
              <a:t> Energy Conservation</a:t>
            </a:r>
          </a:p>
          <a:p>
            <a:pPr marL="0" indent="0" fontAlgn="auto">
              <a:spcAft>
                <a:spcPts val="0"/>
              </a:spcAft>
              <a:buFont typeface="Arial" panose="020B0604020202020204" pitchFamily="34" charset="0"/>
              <a:buNone/>
            </a:pPr>
            <a:endParaRPr lang="en-CA"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E4C273F-B5E0-F4BF-A9C6-7EF40924E838}"/>
                  </a:ext>
                </a:extLst>
              </p:cNvPr>
              <p:cNvSpPr txBox="1"/>
              <p:nvPr/>
            </p:nvSpPr>
            <p:spPr>
              <a:xfrm>
                <a:off x="2246018" y="4371537"/>
                <a:ext cx="3758184" cy="1018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H" b="1" i="1" smtClean="0">
                              <a:latin typeface="Cambria Math" panose="02040503050406030204" pitchFamily="18" charset="0"/>
                            </a:rPr>
                          </m:ctrlPr>
                        </m:sSubPr>
                        <m:e>
                          <m:d>
                            <m:dPr>
                              <m:ctrlPr>
                                <a:rPr lang="en-GH" b="1" i="1" smtClean="0">
                                  <a:latin typeface="Cambria Math" panose="02040503050406030204" pitchFamily="18" charset="0"/>
                                </a:rPr>
                              </m:ctrlPr>
                            </m:dPr>
                            <m:e>
                              <m:f>
                                <m:fPr>
                                  <m:ctrlPr>
                                    <a:rPr lang="en-GH" b="1" i="1">
                                      <a:latin typeface="Cambria Math" panose="02040503050406030204" pitchFamily="18" charset="0"/>
                                    </a:rPr>
                                  </m:ctrlPr>
                                </m:fPr>
                                <m:num>
                                  <m:r>
                                    <a:rPr lang="en-GB" b="1" i="1">
                                      <a:latin typeface="Cambria Math" panose="02040503050406030204" pitchFamily="18" charset="0"/>
                                    </a:rPr>
                                    <m:t>𝒅𝑬</m:t>
                                  </m:r>
                                </m:num>
                                <m:den>
                                  <m:r>
                                    <a:rPr lang="en-GB" b="1" i="1">
                                      <a:latin typeface="Cambria Math" panose="02040503050406030204" pitchFamily="18" charset="0"/>
                                    </a:rPr>
                                    <m:t>𝒅𝒕</m:t>
                                  </m:r>
                                </m:den>
                              </m:f>
                            </m:e>
                          </m:d>
                        </m:e>
                        <m:sub>
                          <m:r>
                            <a:rPr lang="en-GB" b="1" i="1" smtClean="0">
                              <a:latin typeface="Cambria Math" panose="02040503050406030204" pitchFamily="18" charset="0"/>
                            </a:rPr>
                            <m:t>𝒔𝒚𝒔𝒕𝒆𝒎</m:t>
                          </m:r>
                        </m:sub>
                      </m:sSub>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acc>
                            <m:accPr>
                              <m:chr m:val="̇"/>
                              <m:ctrlPr>
                                <a:rPr lang="en-GB" b="1" i="1" smtClean="0">
                                  <a:latin typeface="Cambria Math" panose="02040503050406030204" pitchFamily="18" charset="0"/>
                                </a:rPr>
                              </m:ctrlPr>
                            </m:accPr>
                            <m:e>
                              <m:r>
                                <a:rPr lang="en-GB" b="1" i="1" smtClean="0">
                                  <a:latin typeface="Cambria Math" panose="02040503050406030204" pitchFamily="18" charset="0"/>
                                </a:rPr>
                                <m:t>𝑬</m:t>
                              </m:r>
                            </m:e>
                          </m:acc>
                        </m:e>
                        <m:sub>
                          <m:r>
                            <a:rPr lang="en-GB" b="1" i="1" smtClean="0">
                              <a:latin typeface="Cambria Math" panose="02040503050406030204" pitchFamily="18" charset="0"/>
                            </a:rPr>
                            <m:t>𝒊𝒏</m:t>
                          </m:r>
                        </m:sub>
                      </m:sSub>
                      <m:r>
                        <a:rPr lang="en-GB" b="1" i="1" smtClean="0">
                          <a:latin typeface="Cambria Math" panose="02040503050406030204" pitchFamily="18" charset="0"/>
                        </a:rPr>
                        <m:t>−</m:t>
                      </m:r>
                      <m:sSub>
                        <m:sSubPr>
                          <m:ctrlPr>
                            <a:rPr lang="en-GB" b="1" i="1">
                              <a:latin typeface="Cambria Math" panose="02040503050406030204" pitchFamily="18" charset="0"/>
                            </a:rPr>
                          </m:ctrlPr>
                        </m:sSubPr>
                        <m:e>
                          <m:acc>
                            <m:accPr>
                              <m:chr m:val="̇"/>
                              <m:ctrlPr>
                                <a:rPr lang="en-GB" b="1" i="1">
                                  <a:latin typeface="Cambria Math" panose="02040503050406030204" pitchFamily="18" charset="0"/>
                                </a:rPr>
                              </m:ctrlPr>
                            </m:accPr>
                            <m:e>
                              <m:r>
                                <a:rPr lang="en-GB" b="1" i="1" smtClean="0">
                                  <a:latin typeface="Cambria Math" panose="02040503050406030204" pitchFamily="18" charset="0"/>
                                </a:rPr>
                                <m:t>𝑬</m:t>
                              </m:r>
                            </m:e>
                          </m:acc>
                        </m:e>
                        <m:sub>
                          <m:r>
                            <a:rPr lang="en-GB" b="1" i="1" smtClean="0">
                              <a:latin typeface="Cambria Math" panose="02040503050406030204" pitchFamily="18" charset="0"/>
                            </a:rPr>
                            <m:t>𝒐𝒖𝒕</m:t>
                          </m:r>
                        </m:sub>
                      </m:sSub>
                    </m:oMath>
                  </m:oMathPara>
                </a14:m>
                <a:endParaRPr lang="en-GH" b="1" dirty="0"/>
              </a:p>
            </p:txBody>
          </p:sp>
        </mc:Choice>
        <mc:Fallback xmlns="">
          <p:sp>
            <p:nvSpPr>
              <p:cNvPr id="14" name="TextBox 13">
                <a:extLst>
                  <a:ext uri="{FF2B5EF4-FFF2-40B4-BE49-F238E27FC236}">
                    <a16:creationId xmlns:a16="http://schemas.microsoft.com/office/drawing/2014/main" id="{6E4C273F-B5E0-F4BF-A9C6-7EF40924E838}"/>
                  </a:ext>
                </a:extLst>
              </p:cNvPr>
              <p:cNvSpPr txBox="1">
                <a:spLocks noRot="1" noChangeAspect="1" noMove="1" noResize="1" noEditPoints="1" noAdjustHandles="1" noChangeArrowheads="1" noChangeShapeType="1" noTextEdit="1"/>
              </p:cNvSpPr>
              <p:nvPr/>
            </p:nvSpPr>
            <p:spPr>
              <a:xfrm>
                <a:off x="2246018" y="4371537"/>
                <a:ext cx="3758184" cy="1018164"/>
              </a:xfrm>
              <a:prstGeom prst="rect">
                <a:avLst/>
              </a:prstGeom>
              <a:blipFill>
                <a:blip r:embed="rId5"/>
                <a:stretch>
                  <a:fillRect/>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E0711770-8201-20B7-0D2C-43B44BCF87AA}"/>
              </a:ext>
            </a:extLst>
          </p:cNvPr>
          <p:cNvSpPr>
            <a:spLocks noGrp="1"/>
          </p:cNvSpPr>
          <p:nvPr>
            <p:ph type="sldNum" sz="quarter" idx="12"/>
          </p:nvPr>
        </p:nvSpPr>
        <p:spPr/>
        <p:txBody>
          <a:bodyPr/>
          <a:lstStyle/>
          <a:p>
            <a:fld id="{49FCB85E-0F77-4855-90A7-7A1B61BB679B}" type="slidenum">
              <a:rPr lang="en-CA" smtClean="0"/>
              <a:t>9</a:t>
            </a:fld>
            <a:endParaRPr lang="en-CA"/>
          </a:p>
        </p:txBody>
      </p:sp>
    </p:spTree>
    <p:extLst>
      <p:ext uri="{BB962C8B-B14F-4D97-AF65-F5344CB8AC3E}">
        <p14:creationId xmlns:p14="http://schemas.microsoft.com/office/powerpoint/2010/main" val="3840041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lang="en-CA" sz="2800" dirty="0">
                <a:solidFill>
                  <a:schemeClr val="tx1"/>
                </a:solidFill>
                <a:ea typeface="Verdana" panose="020B0604030504040204" pitchFamily="34" charset="0"/>
                <a:cs typeface="Verdana" panose="020B0604030504040204" pitchFamily="34" charset="0"/>
              </a:rPr>
              <a:t>Basic Laws of a Control Volume</a:t>
            </a:r>
          </a:p>
        </p:txBody>
      </p:sp>
      <p:sp>
        <p:nvSpPr>
          <p:cNvPr id="3" name="Content Placeholder 2"/>
          <p:cNvSpPr>
            <a:spLocks noGrp="1"/>
          </p:cNvSpPr>
          <p:nvPr>
            <p:ph idx="1"/>
          </p:nvPr>
        </p:nvSpPr>
        <p:spPr>
          <a:xfrm>
            <a:off x="0" y="687628"/>
            <a:ext cx="7886700" cy="611916"/>
          </a:xfrm>
        </p:spPr>
        <p:txBody>
          <a:bodyPr/>
          <a:lstStyle/>
          <a:p>
            <a:pPr marR="0">
              <a:lnSpc>
                <a:spcPct val="115000"/>
              </a:lnSpc>
              <a:spcBef>
                <a:spcPts val="0"/>
              </a:spcBef>
              <a:spcAft>
                <a:spcPts val="0"/>
              </a:spcAft>
              <a:buFont typeface="Wingdings" panose="05000000000000000000" pitchFamily="2" charset="2"/>
              <a:buChar char="q"/>
            </a:pPr>
            <a:r>
              <a:rPr lang="en-CA" sz="2800" dirty="0">
                <a:effectLst/>
                <a:latin typeface="Calibri" panose="020F0502020204030204" pitchFamily="34" charset="0"/>
                <a:ea typeface="Calibri" panose="020F0502020204030204" pitchFamily="34" charset="0"/>
                <a:cs typeface="Times New Roman" panose="02020603050405020304" pitchFamily="18" charset="0"/>
              </a:rPr>
              <a:t>  Mass Conservation</a:t>
            </a:r>
          </a:p>
        </p:txBody>
      </p:sp>
      <p:sp>
        <p:nvSpPr>
          <p:cNvPr id="11" name="Content Placeholder 2">
            <a:extLst>
              <a:ext uri="{FF2B5EF4-FFF2-40B4-BE49-F238E27FC236}">
                <a16:creationId xmlns:a16="http://schemas.microsoft.com/office/drawing/2014/main" id="{433959E4-B44F-FB53-9B04-E606C6BC3C37}"/>
              </a:ext>
            </a:extLst>
          </p:cNvPr>
          <p:cNvSpPr txBox="1">
            <a:spLocks/>
          </p:cNvSpPr>
          <p:nvPr/>
        </p:nvSpPr>
        <p:spPr>
          <a:xfrm>
            <a:off x="0" y="1596726"/>
            <a:ext cx="9079992" cy="7349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15000"/>
              </a:lnSpc>
              <a:spcBef>
                <a:spcPts val="0"/>
              </a:spcBef>
              <a:spcAft>
                <a:spcPts val="0"/>
              </a:spcAft>
              <a:buFont typeface="Wingdings" panose="05000000000000000000" pitchFamily="2" charset="2"/>
              <a:buChar char="q"/>
            </a:pPr>
            <a:r>
              <a:rPr lang="en-CA" sz="2800" dirty="0">
                <a:latin typeface="Calibri" panose="020F0502020204030204" pitchFamily="34" charset="0"/>
                <a:ea typeface="Calibri" panose="020F0502020204030204" pitchFamily="34" charset="0"/>
                <a:cs typeface="Times New Roman" panose="02020603050405020304" pitchFamily="18" charset="0"/>
              </a:rPr>
              <a:t>  Momentum Conservation (Linear &amp; Angular Momentum) </a:t>
            </a:r>
          </a:p>
        </p:txBody>
      </p:sp>
      <p:sp>
        <p:nvSpPr>
          <p:cNvPr id="4" name="Content Placeholder 2">
            <a:extLst>
              <a:ext uri="{FF2B5EF4-FFF2-40B4-BE49-F238E27FC236}">
                <a16:creationId xmlns:a16="http://schemas.microsoft.com/office/drawing/2014/main" id="{1F694039-3AA6-9CC5-059A-B3572BA908F4}"/>
              </a:ext>
            </a:extLst>
          </p:cNvPr>
          <p:cNvSpPr txBox="1">
            <a:spLocks/>
          </p:cNvSpPr>
          <p:nvPr/>
        </p:nvSpPr>
        <p:spPr>
          <a:xfrm>
            <a:off x="0" y="2711868"/>
            <a:ext cx="9144000" cy="17504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15000"/>
              </a:lnSpc>
              <a:spcBef>
                <a:spcPts val="0"/>
              </a:spcBef>
              <a:spcAft>
                <a:spcPts val="0"/>
              </a:spcAft>
              <a:buNone/>
            </a:pPr>
            <a:r>
              <a:rPr lang="en-CA" sz="2800" dirty="0">
                <a:latin typeface="Calibri" panose="020F0502020204030204" pitchFamily="34" charset="0"/>
                <a:ea typeface="Calibri" panose="020F0502020204030204" pitchFamily="34" charset="0"/>
                <a:cs typeface="Times New Roman" panose="02020603050405020304" pitchFamily="18" charset="0"/>
              </a:rPr>
              <a:t>For a control volume, the laws are more meaningful when expressed in integral form than differential form. This is accomplished using the Reynolds Transport Theorem (RTT)</a:t>
            </a:r>
          </a:p>
        </p:txBody>
      </p:sp>
      <p:sp>
        <p:nvSpPr>
          <p:cNvPr id="5" name="Slide Number Placeholder 4">
            <a:extLst>
              <a:ext uri="{FF2B5EF4-FFF2-40B4-BE49-F238E27FC236}">
                <a16:creationId xmlns:a16="http://schemas.microsoft.com/office/drawing/2014/main" id="{D28B5CE3-39EA-EDF2-B934-C4EC1978339F}"/>
              </a:ext>
            </a:extLst>
          </p:cNvPr>
          <p:cNvSpPr>
            <a:spLocks noGrp="1"/>
          </p:cNvSpPr>
          <p:nvPr>
            <p:ph type="sldNum" sz="quarter" idx="12"/>
          </p:nvPr>
        </p:nvSpPr>
        <p:spPr/>
        <p:txBody>
          <a:bodyPr/>
          <a:lstStyle/>
          <a:p>
            <a:fld id="{49FCB85E-0F77-4855-90A7-7A1B61BB679B}" type="slidenum">
              <a:rPr lang="en-CA" smtClean="0"/>
              <a:t>10</a:t>
            </a:fld>
            <a:endParaRPr lang="en-CA"/>
          </a:p>
        </p:txBody>
      </p:sp>
    </p:spTree>
    <p:extLst>
      <p:ext uri="{BB962C8B-B14F-4D97-AF65-F5344CB8AC3E}">
        <p14:creationId xmlns:p14="http://schemas.microsoft.com/office/powerpoint/2010/main" val="2279309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4947"/>
            <a:ext cx="9144000" cy="568940"/>
          </a:xfrm>
        </p:spPr>
        <p:txBody>
          <a:bodyPr>
            <a:normAutofit/>
          </a:bodyPr>
          <a:lstStyle/>
          <a:p>
            <a:r>
              <a:rPr lang="en-CA" sz="2400" dirty="0">
                <a:solidFill>
                  <a:schemeClr val="tx1"/>
                </a:solidFill>
                <a:latin typeface="+mn-lt"/>
                <a:ea typeface="Verdana" panose="020B0604030504040204" pitchFamily="34" charset="0"/>
                <a:cs typeface="Verdana" panose="020B0604030504040204" pitchFamily="34" charset="0"/>
              </a:rPr>
              <a:t>Reynolds Transport Theorem (RTT)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2480" y="690086"/>
                <a:ext cx="8751519" cy="5308378"/>
              </a:xfrm>
            </p:spPr>
            <p:txBody>
              <a:bodyPr>
                <a:noAutofit/>
              </a:bodyPr>
              <a:lstStyle/>
              <a:p>
                <a:pPr algn="just">
                  <a:lnSpc>
                    <a:spcPct val="100000"/>
                  </a:lnSpc>
                </a:pPr>
                <a:r>
                  <a:rPr lang="en-CA" sz="2000" b="1" dirty="0">
                    <a:solidFill>
                      <a:schemeClr val="tx1"/>
                    </a:solidFill>
                    <a:latin typeface="+mn-lt"/>
                  </a:rPr>
                  <a:t>Consider a system or </a:t>
                </a:r>
                <a:r>
                  <a:rPr lang="en-CA" sz="2000" b="1" i="1" dirty="0">
                    <a:solidFill>
                      <a:schemeClr val="tx1"/>
                    </a:solidFill>
                    <a:latin typeface="+mn-lt"/>
                  </a:rPr>
                  <a:t>an arbitrary piece</a:t>
                </a:r>
                <a:r>
                  <a:rPr lang="en-CA" sz="2000" b="1" dirty="0">
                    <a:solidFill>
                      <a:schemeClr val="tx1"/>
                    </a:solidFill>
                    <a:latin typeface="+mn-lt"/>
                  </a:rPr>
                  <a:t> of flowing fluid at some time </a:t>
                </a:r>
                <a14:m>
                  <m:oMath xmlns:m="http://schemas.openxmlformats.org/officeDocument/2006/math">
                    <m:r>
                      <a:rPr lang="en-CA" sz="2000" b="1" i="1" dirty="0" smtClean="0">
                        <a:solidFill>
                          <a:schemeClr val="tx1"/>
                        </a:solidFill>
                        <a:latin typeface="Cambria Math" panose="02040503050406030204" pitchFamily="18" charset="0"/>
                      </a:rPr>
                      <m:t>𝒕</m:t>
                    </m:r>
                    <m:r>
                      <a:rPr lang="en-CA" sz="2000" b="1" i="1" baseline="-25000" dirty="0" smtClean="0">
                        <a:solidFill>
                          <a:schemeClr val="tx1"/>
                        </a:solidFill>
                        <a:latin typeface="Cambria Math" panose="02040503050406030204" pitchFamily="18" charset="0"/>
                      </a:rPr>
                      <m:t>𝒐</m:t>
                    </m:r>
                  </m:oMath>
                </a14:m>
                <a:endParaRPr lang="en-CA" sz="2000" b="1" baseline="-25000" dirty="0">
                  <a:solidFill>
                    <a:schemeClr val="tx1"/>
                  </a:solidFill>
                  <a:latin typeface="+mn-lt"/>
                </a:endParaRPr>
              </a:p>
              <a:p>
                <a:pPr algn="just">
                  <a:lnSpc>
                    <a:spcPct val="100000"/>
                  </a:lnSpc>
                </a:pPr>
                <a:endParaRPr lang="en-CA" sz="1400" dirty="0">
                  <a:latin typeface="+mn-lt"/>
                </a:endParaRPr>
              </a:p>
              <a:p>
                <a:pPr algn="just">
                  <a:lnSpc>
                    <a:spcPct val="100000"/>
                  </a:lnSpc>
                </a:pPr>
                <a:endParaRPr lang="en-CA" sz="1400" dirty="0">
                  <a:latin typeface="+mn-lt"/>
                </a:endParaRPr>
              </a:p>
              <a:p>
                <a:pPr algn="just">
                  <a:lnSpc>
                    <a:spcPct val="100000"/>
                  </a:lnSpc>
                </a:pPr>
                <a:endParaRPr lang="en-CA" sz="1400" dirty="0">
                  <a:latin typeface="+mn-lt"/>
                </a:endParaRPr>
              </a:p>
              <a:p>
                <a:pPr algn="just">
                  <a:lnSpc>
                    <a:spcPct val="100000"/>
                  </a:lnSpc>
                </a:pPr>
                <a:endParaRPr lang="en-CA" sz="1400" dirty="0">
                  <a:latin typeface="+mn-lt"/>
                </a:endParaRPr>
              </a:p>
              <a:p>
                <a:pPr algn="just">
                  <a:lnSpc>
                    <a:spcPct val="100000"/>
                  </a:lnSpc>
                </a:pPr>
                <a:endParaRPr lang="en-CA" sz="1400" dirty="0">
                  <a:latin typeface="+mn-lt"/>
                </a:endParaRPr>
              </a:p>
              <a:p>
                <a:pPr algn="just">
                  <a:lnSpc>
                    <a:spcPct val="100000"/>
                  </a:lnSpc>
                </a:pPr>
                <a:endParaRPr lang="en-CA" sz="1400" dirty="0">
                  <a:latin typeface="+mn-lt"/>
                </a:endParaRPr>
              </a:p>
              <a:p>
                <a:pPr algn="just">
                  <a:lnSpc>
                    <a:spcPct val="100000"/>
                  </a:lnSpc>
                </a:pPr>
                <a:endParaRPr lang="en-CA" sz="1400" dirty="0">
                  <a:latin typeface="+mn-lt"/>
                </a:endParaRPr>
              </a:p>
              <a:p>
                <a:pPr algn="just">
                  <a:lnSpc>
                    <a:spcPct val="100000"/>
                  </a:lnSpc>
                </a:pPr>
                <a:endParaRPr lang="en-CA" sz="1400" dirty="0">
                  <a:latin typeface="+mn-lt"/>
                </a:endParaRPr>
              </a:p>
              <a:p>
                <a:pPr marL="0" indent="0" algn="just">
                  <a:lnSpc>
                    <a:spcPct val="100000"/>
                  </a:lnSpc>
                  <a:buNone/>
                </a:pPr>
                <a:endParaRPr lang="en-CA" sz="1400" dirty="0">
                  <a:latin typeface="+mn-lt"/>
                </a:endParaRPr>
              </a:p>
              <a:p>
                <a:pPr marL="0" indent="0" algn="just">
                  <a:lnSpc>
                    <a:spcPct val="100000"/>
                  </a:lnSpc>
                  <a:spcBef>
                    <a:spcPts val="600"/>
                  </a:spcBef>
                  <a:buNone/>
                </a:pPr>
                <a:endParaRPr lang="en-CA" sz="1400" dirty="0">
                  <a:latin typeface="+mn-lt"/>
                </a:endParaRPr>
              </a:p>
              <a:p>
                <a:pPr marL="0" indent="0" algn="just">
                  <a:lnSpc>
                    <a:spcPct val="100000"/>
                  </a:lnSpc>
                  <a:spcBef>
                    <a:spcPts val="600"/>
                  </a:spcBef>
                  <a:buNone/>
                </a:pPr>
                <a:endParaRPr lang="en-CA" sz="1400" b="1" dirty="0">
                  <a:latin typeface="+mn-lt"/>
                </a:endParaRPr>
              </a:p>
              <a:p>
                <a:pPr marL="0" indent="0" algn="just">
                  <a:lnSpc>
                    <a:spcPct val="100000"/>
                  </a:lnSpc>
                  <a:spcBef>
                    <a:spcPts val="600"/>
                  </a:spcBef>
                  <a:buNone/>
                </a:pPr>
                <a:endParaRPr lang="en-CA" sz="1400" b="1" dirty="0">
                  <a:latin typeface="+mn-lt"/>
                </a:endParaRPr>
              </a:p>
              <a:p>
                <a:pPr algn="just">
                  <a:lnSpc>
                    <a:spcPct val="100000"/>
                  </a:lnSpc>
                  <a:spcBef>
                    <a:spcPts val="600"/>
                  </a:spcBef>
                </a:pPr>
                <a:r>
                  <a:rPr lang="en-CA" sz="2000" b="1" dirty="0">
                    <a:solidFill>
                      <a:schemeClr val="tx1"/>
                    </a:solidFill>
                    <a:latin typeface="+mn-lt"/>
                  </a:rPr>
                  <a:t>Choose a CV in the flow that is </a:t>
                </a:r>
                <a:r>
                  <a:rPr lang="en-CA" sz="2000" b="1" i="1" dirty="0">
                    <a:solidFill>
                      <a:schemeClr val="tx1"/>
                    </a:solidFill>
                    <a:latin typeface="+mn-lt"/>
                  </a:rPr>
                  <a:t>fixed in space </a:t>
                </a:r>
                <a:r>
                  <a:rPr lang="en-CA" sz="2000" b="1" dirty="0">
                    <a:solidFill>
                      <a:schemeClr val="tx1"/>
                    </a:solidFill>
                    <a:latin typeface="+mn-lt"/>
                  </a:rPr>
                  <a:t>relative to the coordinate </a:t>
                </a:r>
                <a:r>
                  <a:rPr lang="en-CA" sz="2000" b="1" i="1" dirty="0">
                    <a:solidFill>
                      <a:schemeClr val="tx1"/>
                    </a:solidFill>
                    <a:latin typeface="+mn-lt"/>
                  </a:rPr>
                  <a:t>xyz</a:t>
                </a:r>
                <a:r>
                  <a:rPr lang="en-CA" sz="2000" b="1" dirty="0">
                    <a:solidFill>
                      <a:schemeClr val="tx1"/>
                    </a:solidFill>
                    <a:latin typeface="+mn-lt"/>
                  </a:rPr>
                  <a:t>. </a:t>
                </a:r>
              </a:p>
              <a:p>
                <a:pPr algn="just">
                  <a:lnSpc>
                    <a:spcPct val="100000"/>
                  </a:lnSpc>
                  <a:spcBef>
                    <a:spcPts val="600"/>
                  </a:spcBef>
                </a:pPr>
                <a:r>
                  <a:rPr lang="en-CA" sz="2000" b="1" dirty="0">
                    <a:solidFill>
                      <a:schemeClr val="tx1"/>
                    </a:solidFill>
                    <a:latin typeface="+mn-lt"/>
                  </a:rPr>
                  <a:t>Let the CV coincide with the system completely at time </a:t>
                </a:r>
                <a14:m>
                  <m:oMath xmlns:m="http://schemas.openxmlformats.org/officeDocument/2006/math">
                    <m:r>
                      <a:rPr lang="en-CA" sz="2000" b="1" i="1" dirty="0" smtClean="0">
                        <a:solidFill>
                          <a:schemeClr val="tx1"/>
                        </a:solidFill>
                        <a:latin typeface="Cambria Math" panose="02040503050406030204" pitchFamily="18" charset="0"/>
                      </a:rPr>
                      <m:t>𝒕</m:t>
                    </m:r>
                    <m:r>
                      <a:rPr lang="en-CA" sz="2000" b="1" i="1" baseline="-25000" dirty="0">
                        <a:solidFill>
                          <a:schemeClr val="tx1"/>
                        </a:solidFill>
                        <a:latin typeface="Cambria Math" panose="02040503050406030204" pitchFamily="18" charset="0"/>
                      </a:rPr>
                      <m:t>𝒐</m:t>
                    </m:r>
                  </m:oMath>
                </a14:m>
                <a:r>
                  <a:rPr lang="en-CA" sz="2000" b="1" dirty="0">
                    <a:solidFill>
                      <a:schemeClr val="tx1"/>
                    </a:solidFill>
                    <a:latin typeface="+mn-lt"/>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2480" y="690086"/>
                <a:ext cx="8751519" cy="5308378"/>
              </a:xfrm>
              <a:blipFill>
                <a:blip r:embed="rId3"/>
                <a:stretch>
                  <a:fillRect l="-627" t="-574"/>
                </a:stretch>
              </a:blipFill>
            </p:spPr>
            <p:txBody>
              <a:bodyPr/>
              <a:lstStyle/>
              <a:p>
                <a:r>
                  <a:rPr lang="en-GH">
                    <a:noFill/>
                  </a:rPr>
                  <a:t> </a:t>
                </a:r>
              </a:p>
            </p:txBody>
          </p:sp>
        </mc:Fallback>
      </mc:AlternateContent>
      <p:pic>
        <p:nvPicPr>
          <p:cNvPr id="4" name="Picture 2" descr="Z:\newmedia\Ebook-Novella\Wiley\jira\bcs2793\Fox9e\Work\Image_gallery\Ch04\images\fox_9e_fig_04_01.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53984"/>
          <a:stretch/>
        </p:blipFill>
        <p:spPr bwMode="auto">
          <a:xfrm>
            <a:off x="2194560" y="1128335"/>
            <a:ext cx="3675887" cy="3823489"/>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E2C2654B-118D-A6CF-A1E8-102FDE9119FB}"/>
              </a:ext>
            </a:extLst>
          </p:cNvPr>
          <p:cNvSpPr>
            <a:spLocks noGrp="1"/>
          </p:cNvSpPr>
          <p:nvPr>
            <p:ph type="sldNum" sz="quarter" idx="12"/>
          </p:nvPr>
        </p:nvSpPr>
        <p:spPr/>
        <p:txBody>
          <a:bodyPr/>
          <a:lstStyle/>
          <a:p>
            <a:fld id="{49FCB85E-0F77-4855-90A7-7A1B61BB679B}" type="slidenum">
              <a:rPr lang="en-CA" smtClean="0"/>
              <a:t>11</a:t>
            </a:fld>
            <a:endParaRPr lang="en-CA"/>
          </a:p>
        </p:txBody>
      </p:sp>
    </p:spTree>
    <p:extLst>
      <p:ext uri="{BB962C8B-B14F-4D97-AF65-F5344CB8AC3E}">
        <p14:creationId xmlns:p14="http://schemas.microsoft.com/office/powerpoint/2010/main" val="527572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255"/>
            <a:ext cx="9144000" cy="568940"/>
          </a:xfrm>
        </p:spPr>
        <p:txBody>
          <a:bodyPr>
            <a:normAutofit/>
          </a:bodyPr>
          <a:lstStyle/>
          <a:p>
            <a:r>
              <a:rPr lang="en-CA" sz="2400" dirty="0">
                <a:solidFill>
                  <a:schemeClr val="tx1"/>
                </a:solidFill>
                <a:latin typeface="+mn-lt"/>
                <a:ea typeface="Verdana" panose="020B0604030504040204" pitchFamily="34" charset="0"/>
                <a:cs typeface="Verdana" panose="020B0604030504040204" pitchFamily="34" charset="0"/>
              </a:rPr>
              <a:t>Reynolds Transport Theorem (</a:t>
            </a:r>
            <a:r>
              <a:rPr lang="en-CA" sz="2400" dirty="0" err="1">
                <a:solidFill>
                  <a:schemeClr val="tx1"/>
                </a:solidFill>
                <a:latin typeface="+mn-lt"/>
                <a:ea typeface="Verdana" panose="020B0604030504040204" pitchFamily="34" charset="0"/>
                <a:cs typeface="Verdana" panose="020B0604030504040204" pitchFamily="34" charset="0"/>
              </a:rPr>
              <a:t>RTT</a:t>
            </a:r>
            <a:r>
              <a:rPr lang="en-CA" sz="2400" dirty="0">
                <a:solidFill>
                  <a:schemeClr val="tx1"/>
                </a:solidFill>
                <a:latin typeface="+mn-lt"/>
                <a:ea typeface="Verdana" panose="020B0604030504040204" pitchFamily="34" charset="0"/>
                <a:cs typeface="Verdana" panose="020B0604030504040204" pitchFamily="34" charset="0"/>
              </a:rPr>
              <a: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63874"/>
                <a:ext cx="8959351" cy="5455177"/>
              </a:xfrm>
            </p:spPr>
            <p:txBody>
              <a:bodyPr>
                <a:noAutofit/>
              </a:bodyPr>
              <a:lstStyle/>
              <a:p>
                <a:pPr marL="0" indent="0">
                  <a:lnSpc>
                    <a:spcPct val="100000"/>
                  </a:lnSpc>
                  <a:spcBef>
                    <a:spcPts val="600"/>
                  </a:spcBef>
                  <a:buNone/>
                </a:pPr>
                <a:r>
                  <a:rPr lang="en-CA" sz="2000" b="1" dirty="0">
                    <a:solidFill>
                      <a:schemeClr val="tx1"/>
                    </a:solidFill>
                    <a:latin typeface="+mn-lt"/>
                  </a:rPr>
                  <a:t>After an infinitesimal time,</a:t>
                </a:r>
                <a14:m>
                  <m:oMath xmlns:m="http://schemas.openxmlformats.org/officeDocument/2006/math">
                    <m:r>
                      <a:rPr lang="en-CA" sz="2000" b="1" i="0" smtClean="0">
                        <a:solidFill>
                          <a:schemeClr val="tx1"/>
                        </a:solidFill>
                        <a:latin typeface="Cambria Math" panose="02040503050406030204" pitchFamily="18" charset="0"/>
                        <a:ea typeface="Cambria Math" panose="02040503050406030204" pitchFamily="18" charset="0"/>
                      </a:rPr>
                      <m:t>  </m:t>
                    </m:r>
                    <m:r>
                      <a:rPr lang="en-CA" sz="2000" b="1" i="1" smtClean="0">
                        <a:solidFill>
                          <a:schemeClr val="tx1"/>
                        </a:solidFill>
                        <a:latin typeface="Cambria Math" panose="02040503050406030204" pitchFamily="18" charset="0"/>
                        <a:ea typeface="Cambria Math" panose="02040503050406030204" pitchFamily="18" charset="0"/>
                      </a:rPr>
                      <m:t> ∆</m:t>
                    </m:r>
                    <m:r>
                      <a:rPr lang="en-CA" sz="2000" b="1" i="1" smtClean="0">
                        <a:solidFill>
                          <a:schemeClr val="tx1"/>
                        </a:solidFill>
                        <a:latin typeface="Cambria Math" panose="02040503050406030204" pitchFamily="18" charset="0"/>
                        <a:ea typeface="Cambria Math" panose="02040503050406030204" pitchFamily="18" charset="0"/>
                      </a:rPr>
                      <m:t>𝒕</m:t>
                    </m:r>
                  </m:oMath>
                </a14:m>
                <a:r>
                  <a:rPr lang="en-CA" sz="2000" b="1" dirty="0">
                    <a:solidFill>
                      <a:schemeClr val="tx1"/>
                    </a:solidFill>
                    <a:latin typeface="+mn-lt"/>
                  </a:rPr>
                  <a:t> the system would have moved to a new location (</a:t>
                </a:r>
                <a14:m>
                  <m:oMath xmlns:m="http://schemas.openxmlformats.org/officeDocument/2006/math">
                    <m:r>
                      <a:rPr lang="en-CA" sz="2000" b="1" i="1" dirty="0" smtClean="0">
                        <a:solidFill>
                          <a:schemeClr val="tx1"/>
                        </a:solidFill>
                        <a:latin typeface="Cambria Math" panose="02040503050406030204" pitchFamily="18" charset="0"/>
                      </a:rPr>
                      <m:t>𝑰𝑰</m:t>
                    </m:r>
                    <m:r>
                      <a:rPr lang="en-CA" sz="2000" b="1" i="1" dirty="0" smtClean="0">
                        <a:solidFill>
                          <a:schemeClr val="tx1"/>
                        </a:solidFill>
                        <a:latin typeface="Cambria Math" panose="02040503050406030204" pitchFamily="18" charset="0"/>
                      </a:rPr>
                      <m:t> + </m:t>
                    </m:r>
                    <m:r>
                      <a:rPr lang="en-CA" sz="2000" b="1" i="1" dirty="0" smtClean="0">
                        <a:solidFill>
                          <a:schemeClr val="tx1"/>
                        </a:solidFill>
                        <a:latin typeface="Cambria Math" panose="02040503050406030204" pitchFamily="18" charset="0"/>
                      </a:rPr>
                      <m:t>𝑰𝑰𝑰</m:t>
                    </m:r>
                  </m:oMath>
                </a14:m>
                <a:r>
                  <a:rPr lang="en-CA" sz="2000" b="1" dirty="0">
                    <a:solidFill>
                      <a:schemeClr val="tx1"/>
                    </a:solidFill>
                    <a:latin typeface="+mn-lt"/>
                  </a:rPr>
                  <a:t>)</a:t>
                </a:r>
              </a:p>
              <a:p>
                <a:pPr marL="0" indent="0">
                  <a:lnSpc>
                    <a:spcPct val="100000"/>
                  </a:lnSpc>
                  <a:spcBef>
                    <a:spcPts val="600"/>
                  </a:spcBef>
                  <a:buNone/>
                </a:pPr>
                <a:endParaRPr lang="en-CA" sz="2000" b="1" dirty="0">
                  <a:latin typeface="+mn-lt"/>
                </a:endParaRPr>
              </a:p>
              <a:p>
                <a:pPr marL="0" indent="0">
                  <a:lnSpc>
                    <a:spcPct val="100000"/>
                  </a:lnSpc>
                  <a:spcBef>
                    <a:spcPts val="600"/>
                  </a:spcBef>
                  <a:buNone/>
                </a:pPr>
                <a:endParaRPr lang="en-CA" sz="2000" b="1" dirty="0">
                  <a:solidFill>
                    <a:srgbClr val="3333FF"/>
                  </a:solidFill>
                  <a:latin typeface="+mn-lt"/>
                </a:endParaRPr>
              </a:p>
              <a:p>
                <a:pPr marL="0" indent="0">
                  <a:lnSpc>
                    <a:spcPct val="100000"/>
                  </a:lnSpc>
                  <a:spcBef>
                    <a:spcPts val="600"/>
                  </a:spcBef>
                  <a:buNone/>
                </a:pPr>
                <a:endParaRPr lang="en-CA" sz="2000" b="1" dirty="0">
                  <a:solidFill>
                    <a:srgbClr val="3333FF"/>
                  </a:solidFill>
                  <a:latin typeface="+mn-lt"/>
                </a:endParaRPr>
              </a:p>
              <a:p>
                <a:pPr marL="0" indent="0">
                  <a:lnSpc>
                    <a:spcPct val="100000"/>
                  </a:lnSpc>
                  <a:spcBef>
                    <a:spcPts val="600"/>
                  </a:spcBef>
                  <a:buNone/>
                </a:pPr>
                <a:endParaRPr lang="en-CA" sz="2000" b="1" dirty="0">
                  <a:solidFill>
                    <a:srgbClr val="3333FF"/>
                  </a:solidFill>
                  <a:latin typeface="+mn-lt"/>
                </a:endParaRPr>
              </a:p>
              <a:p>
                <a:pPr marL="0" indent="0">
                  <a:lnSpc>
                    <a:spcPct val="100000"/>
                  </a:lnSpc>
                  <a:spcBef>
                    <a:spcPts val="600"/>
                  </a:spcBef>
                  <a:buNone/>
                </a:pPr>
                <a:endParaRPr lang="en-CA" sz="2000" b="1" dirty="0">
                  <a:solidFill>
                    <a:srgbClr val="3333FF"/>
                  </a:solidFill>
                  <a:latin typeface="+mn-lt"/>
                </a:endParaRPr>
              </a:p>
              <a:p>
                <a:pPr marL="0" indent="0">
                  <a:lnSpc>
                    <a:spcPct val="100000"/>
                  </a:lnSpc>
                  <a:spcBef>
                    <a:spcPts val="600"/>
                  </a:spcBef>
                  <a:buNone/>
                </a:pPr>
                <a:endParaRPr lang="en-CA" sz="2000" b="1" dirty="0">
                  <a:solidFill>
                    <a:srgbClr val="3333FF"/>
                  </a:solidFill>
                  <a:latin typeface="+mn-lt"/>
                </a:endParaRPr>
              </a:p>
              <a:p>
                <a:pPr marL="0" indent="0">
                  <a:lnSpc>
                    <a:spcPct val="100000"/>
                  </a:lnSpc>
                  <a:spcBef>
                    <a:spcPts val="600"/>
                  </a:spcBef>
                  <a:buNone/>
                </a:pPr>
                <a:endParaRPr lang="en-CA" sz="2000" b="1" dirty="0">
                  <a:solidFill>
                    <a:srgbClr val="3333FF"/>
                  </a:solidFill>
                  <a:latin typeface="+mn-lt"/>
                </a:endParaRPr>
              </a:p>
              <a:p>
                <a:pPr marL="0" indent="0">
                  <a:lnSpc>
                    <a:spcPct val="100000"/>
                  </a:lnSpc>
                  <a:spcBef>
                    <a:spcPts val="600"/>
                  </a:spcBef>
                  <a:buNone/>
                </a:pPr>
                <a:endParaRPr lang="en-CA" sz="2000" b="1" dirty="0">
                  <a:solidFill>
                    <a:srgbClr val="3333FF"/>
                  </a:solidFill>
                  <a:latin typeface="+mn-lt"/>
                </a:endParaRPr>
              </a:p>
              <a:p>
                <a:pPr marL="0" indent="0">
                  <a:lnSpc>
                    <a:spcPct val="100000"/>
                  </a:lnSpc>
                  <a:spcBef>
                    <a:spcPts val="600"/>
                  </a:spcBef>
                  <a:buNone/>
                </a:pPr>
                <a:endParaRPr lang="en-CA" sz="2000" b="1" dirty="0">
                  <a:solidFill>
                    <a:srgbClr val="3333FF"/>
                  </a:solidFill>
                  <a:latin typeface="+mn-lt"/>
                </a:endParaRPr>
              </a:p>
              <a:p>
                <a:pPr marL="0" indent="0">
                  <a:lnSpc>
                    <a:spcPct val="100000"/>
                  </a:lnSpc>
                  <a:spcBef>
                    <a:spcPts val="600"/>
                  </a:spcBef>
                  <a:buNone/>
                </a:pPr>
                <a:endParaRPr lang="en-CA" sz="2000" b="1" dirty="0">
                  <a:solidFill>
                    <a:srgbClr val="3333FF"/>
                  </a:solidFill>
                  <a:latin typeface="+mn-lt"/>
                </a:endParaRPr>
              </a:p>
              <a:p>
                <a:pPr marL="0" indent="0">
                  <a:lnSpc>
                    <a:spcPct val="100000"/>
                  </a:lnSpc>
                  <a:spcBef>
                    <a:spcPts val="600"/>
                  </a:spcBef>
                  <a:buNone/>
                </a:pPr>
                <a:r>
                  <a:rPr lang="en-CA" sz="2000" b="1" dirty="0">
                    <a:latin typeface="+mn-lt"/>
                  </a:rPr>
                  <a:t>The goal is to relate the </a:t>
                </a:r>
                <a:r>
                  <a:rPr lang="en-CA" sz="2000" b="1" i="1" dirty="0">
                    <a:latin typeface="+mn-lt"/>
                  </a:rPr>
                  <a:t>rate of change</a:t>
                </a:r>
                <a:r>
                  <a:rPr lang="en-CA" sz="2000" b="1" dirty="0">
                    <a:latin typeface="+mn-lt"/>
                  </a:rPr>
                  <a:t> of </a:t>
                </a:r>
                <a:r>
                  <a:rPr lang="en-CA" sz="2000" b="1" i="1" dirty="0">
                    <a:latin typeface="+mn-lt"/>
                  </a:rPr>
                  <a:t>any </a:t>
                </a:r>
                <a:r>
                  <a:rPr lang="en-CA" sz="2000" b="1" i="1" u="sng" dirty="0">
                    <a:latin typeface="+mn-lt"/>
                  </a:rPr>
                  <a:t>arbitrary</a:t>
                </a:r>
                <a:r>
                  <a:rPr lang="en-CA" sz="2000" b="1" i="1" dirty="0">
                    <a:latin typeface="+mn-lt"/>
                  </a:rPr>
                  <a:t> extensive property</a:t>
                </a:r>
                <a:r>
                  <a:rPr lang="en-CA" sz="2000" b="1" dirty="0">
                    <a:latin typeface="+mn-lt"/>
                  </a:rPr>
                  <a:t> (</a:t>
                </a:r>
                <a:r>
                  <a:rPr lang="en-CA" sz="2000" b="1" i="1" dirty="0">
                    <a:latin typeface="+mn-lt"/>
                  </a:rPr>
                  <a:t>N</a:t>
                </a:r>
                <a:r>
                  <a:rPr lang="en-CA" sz="2000" b="1" dirty="0">
                    <a:latin typeface="+mn-lt"/>
                  </a:rPr>
                  <a:t>) of the system to quantities associated with the CV.</a:t>
                </a:r>
              </a:p>
              <a:p>
                <a:pPr marL="0" indent="0">
                  <a:lnSpc>
                    <a:spcPct val="100000"/>
                  </a:lnSpc>
                  <a:buNone/>
                </a:pPr>
                <a:endParaRPr lang="en-CA" sz="2200" dirty="0">
                  <a:solidFill>
                    <a:srgbClr val="3333FF"/>
                  </a:solidFill>
                  <a:latin typeface="+mn-lt"/>
                </a:endParaRPr>
              </a:p>
              <a:p>
                <a:pPr>
                  <a:lnSpc>
                    <a:spcPct val="100000"/>
                  </a:lnSpc>
                </a:pPr>
                <a:endParaRPr lang="en-CA" sz="2200" dirty="0">
                  <a:latin typeface="+mn-lt"/>
                </a:endParaRPr>
              </a:p>
              <a:p>
                <a:pPr>
                  <a:lnSpc>
                    <a:spcPct val="100000"/>
                  </a:lnSpc>
                </a:pPr>
                <a:endParaRPr lang="en-CA" sz="2200" dirty="0">
                  <a:latin typeface="+mn-lt"/>
                </a:endParaRPr>
              </a:p>
              <a:p>
                <a:pPr>
                  <a:lnSpc>
                    <a:spcPct val="100000"/>
                  </a:lnSpc>
                </a:pPr>
                <a:endParaRPr lang="en-CA" sz="2200"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63874"/>
                <a:ext cx="8959351" cy="5455177"/>
              </a:xfrm>
              <a:blipFill>
                <a:blip r:embed="rId3"/>
                <a:stretch>
                  <a:fillRect l="-680" t="-559"/>
                </a:stretch>
              </a:blipFill>
            </p:spPr>
            <p:txBody>
              <a:bodyPr/>
              <a:lstStyle/>
              <a:p>
                <a:r>
                  <a:rPr lang="en-GH">
                    <a:noFill/>
                  </a:rPr>
                  <a:t> </a:t>
                </a:r>
              </a:p>
            </p:txBody>
          </p:sp>
        </mc:Fallback>
      </mc:AlternateContent>
      <p:pic>
        <p:nvPicPr>
          <p:cNvPr id="4" name="Picture 2" descr="Z:\newmedia\Ebook-Novella\Wiley\jira\bcs2793\Fox9e\Work\Image_gallery\Ch04\images\fox_9e_fig_04_01.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857"/>
          <a:stretch/>
        </p:blipFill>
        <p:spPr bwMode="auto">
          <a:xfrm>
            <a:off x="333400" y="1182012"/>
            <a:ext cx="7604051" cy="367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A7A73BAC-7767-76D4-8122-3BDF7D343941}"/>
              </a:ext>
            </a:extLst>
          </p:cNvPr>
          <p:cNvSpPr>
            <a:spLocks noGrp="1"/>
          </p:cNvSpPr>
          <p:nvPr>
            <p:ph type="sldNum" sz="quarter" idx="12"/>
          </p:nvPr>
        </p:nvSpPr>
        <p:spPr/>
        <p:txBody>
          <a:bodyPr/>
          <a:lstStyle/>
          <a:p>
            <a:fld id="{49FCB85E-0F77-4855-90A7-7A1B61BB679B}" type="slidenum">
              <a:rPr lang="en-CA" smtClean="0"/>
              <a:t>12</a:t>
            </a:fld>
            <a:endParaRPr lang="en-CA"/>
          </a:p>
        </p:txBody>
      </p:sp>
    </p:spTree>
    <p:extLst>
      <p:ext uri="{BB962C8B-B14F-4D97-AF65-F5344CB8AC3E}">
        <p14:creationId xmlns:p14="http://schemas.microsoft.com/office/powerpoint/2010/main" val="3036906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A97DF54-75B9-45B7-B703-B30F13CA05D7}"/>
              </a:ext>
            </a:extLst>
          </p:cNvPr>
          <p:cNvGrpSpPr/>
          <p:nvPr/>
        </p:nvGrpSpPr>
        <p:grpSpPr>
          <a:xfrm>
            <a:off x="5699570" y="2842180"/>
            <a:ext cx="2737145" cy="2494918"/>
            <a:chOff x="1608803" y="-57739"/>
            <a:chExt cx="1895870" cy="1749694"/>
          </a:xfrm>
        </p:grpSpPr>
        <p:pic>
          <p:nvPicPr>
            <p:cNvPr id="9" name="Picture 8" descr="Z:\newmedia\Ebook-Novella\Wiley\jira\bcs2793\Fox9e\Work\Image_gallery\Ch04\images\fox_9e_fig_04_01.jpg">
              <a:extLst>
                <a:ext uri="{FF2B5EF4-FFF2-40B4-BE49-F238E27FC236}">
                  <a16:creationId xmlns:a16="http://schemas.microsoft.com/office/drawing/2014/main" id="{59BD7292-7FEF-4EAE-9DEA-349BA5E2E55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5875" t="-3413" r="851"/>
            <a:stretch/>
          </p:blipFill>
          <p:spPr bwMode="auto">
            <a:xfrm>
              <a:off x="1608803" y="-57739"/>
              <a:ext cx="1895870" cy="1749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reeform 7">
              <a:extLst>
                <a:ext uri="{FF2B5EF4-FFF2-40B4-BE49-F238E27FC236}">
                  <a16:creationId xmlns:a16="http://schemas.microsoft.com/office/drawing/2014/main" id="{EC6A0C1E-BFE6-42FE-8CC7-126288ACFEAF}"/>
                </a:ext>
              </a:extLst>
            </p:cNvPr>
            <p:cNvSpPr/>
            <p:nvPr/>
          </p:nvSpPr>
          <p:spPr>
            <a:xfrm>
              <a:off x="2377108" y="216890"/>
              <a:ext cx="1045208" cy="1117691"/>
            </a:xfrm>
            <a:custGeom>
              <a:avLst/>
              <a:gdLst>
                <a:gd name="connsiteX0" fmla="*/ 668814 w 1662456"/>
                <a:gd name="connsiteY0" fmla="*/ 10344 h 1822602"/>
                <a:gd name="connsiteX1" fmla="*/ 829175 w 1662456"/>
                <a:gd name="connsiteY1" fmla="*/ 6932 h 1822602"/>
                <a:gd name="connsiteX2" fmla="*/ 955417 w 1662456"/>
                <a:gd name="connsiteY2" fmla="*/ 27404 h 1822602"/>
                <a:gd name="connsiteX3" fmla="*/ 1095307 w 1662456"/>
                <a:gd name="connsiteY3" fmla="*/ 78583 h 1822602"/>
                <a:gd name="connsiteX4" fmla="*/ 1204489 w 1662456"/>
                <a:gd name="connsiteY4" fmla="*/ 126350 h 1822602"/>
                <a:gd name="connsiteX5" fmla="*/ 1289787 w 1662456"/>
                <a:gd name="connsiteY5" fmla="*/ 177529 h 1822602"/>
                <a:gd name="connsiteX6" fmla="*/ 1378498 w 1662456"/>
                <a:gd name="connsiteY6" fmla="*/ 232120 h 1822602"/>
                <a:gd name="connsiteX7" fmla="*/ 1460384 w 1662456"/>
                <a:gd name="connsiteY7" fmla="*/ 303771 h 1822602"/>
                <a:gd name="connsiteX8" fmla="*/ 1518387 w 1662456"/>
                <a:gd name="connsiteY8" fmla="*/ 368598 h 1822602"/>
                <a:gd name="connsiteX9" fmla="*/ 1572978 w 1662456"/>
                <a:gd name="connsiteY9" fmla="*/ 450485 h 1822602"/>
                <a:gd name="connsiteX10" fmla="*/ 1627569 w 1662456"/>
                <a:gd name="connsiteY10" fmla="*/ 559667 h 1822602"/>
                <a:gd name="connsiteX11" fmla="*/ 1648041 w 1662456"/>
                <a:gd name="connsiteY11" fmla="*/ 655201 h 1822602"/>
                <a:gd name="connsiteX12" fmla="*/ 1661689 w 1662456"/>
                <a:gd name="connsiteY12" fmla="*/ 778031 h 1822602"/>
                <a:gd name="connsiteX13" fmla="*/ 1658277 w 1662456"/>
                <a:gd name="connsiteY13" fmla="*/ 849682 h 1822602"/>
                <a:gd name="connsiteX14" fmla="*/ 1637805 w 1662456"/>
                <a:gd name="connsiteY14" fmla="*/ 938392 h 1822602"/>
                <a:gd name="connsiteX15" fmla="*/ 1600274 w 1662456"/>
                <a:gd name="connsiteY15" fmla="*/ 1033926 h 1822602"/>
                <a:gd name="connsiteX16" fmla="*/ 1555919 w 1662456"/>
                <a:gd name="connsiteY16" fmla="*/ 1129461 h 1822602"/>
                <a:gd name="connsiteX17" fmla="*/ 1491092 w 1662456"/>
                <a:gd name="connsiteY17" fmla="*/ 1228407 h 1822602"/>
                <a:gd name="connsiteX18" fmla="*/ 1443325 w 1662456"/>
                <a:gd name="connsiteY18" fmla="*/ 1293234 h 1822602"/>
                <a:gd name="connsiteX19" fmla="*/ 1371674 w 1662456"/>
                <a:gd name="connsiteY19" fmla="*/ 1371709 h 1822602"/>
                <a:gd name="connsiteX20" fmla="*/ 1259080 w 1662456"/>
                <a:gd name="connsiteY20" fmla="*/ 1484303 h 1822602"/>
                <a:gd name="connsiteX21" fmla="*/ 1166957 w 1662456"/>
                <a:gd name="connsiteY21" fmla="*/ 1562777 h 1822602"/>
                <a:gd name="connsiteX22" fmla="*/ 1091895 w 1662456"/>
                <a:gd name="connsiteY22" fmla="*/ 1617368 h 1822602"/>
                <a:gd name="connsiteX23" fmla="*/ 1013420 w 1662456"/>
                <a:gd name="connsiteY23" fmla="*/ 1671959 h 1822602"/>
                <a:gd name="connsiteX24" fmla="*/ 952005 w 1662456"/>
                <a:gd name="connsiteY24" fmla="*/ 1709491 h 1822602"/>
                <a:gd name="connsiteX25" fmla="*/ 846235 w 1662456"/>
                <a:gd name="connsiteY25" fmla="*/ 1757258 h 1822602"/>
                <a:gd name="connsiteX26" fmla="*/ 767760 w 1662456"/>
                <a:gd name="connsiteY26" fmla="*/ 1784553 h 1822602"/>
                <a:gd name="connsiteX27" fmla="*/ 668814 w 1662456"/>
                <a:gd name="connsiteY27" fmla="*/ 1811849 h 1822602"/>
                <a:gd name="connsiteX28" fmla="*/ 580104 w 1662456"/>
                <a:gd name="connsiteY28" fmla="*/ 1822085 h 1822602"/>
                <a:gd name="connsiteX29" fmla="*/ 484569 w 1662456"/>
                <a:gd name="connsiteY29" fmla="*/ 1818673 h 1822602"/>
                <a:gd name="connsiteX30" fmla="*/ 440214 w 1662456"/>
                <a:gd name="connsiteY30" fmla="*/ 1798201 h 1822602"/>
                <a:gd name="connsiteX31" fmla="*/ 399271 w 1662456"/>
                <a:gd name="connsiteY31" fmla="*/ 1770906 h 1822602"/>
                <a:gd name="connsiteX32" fmla="*/ 334444 w 1662456"/>
                <a:gd name="connsiteY32" fmla="*/ 1723138 h 1822602"/>
                <a:gd name="connsiteX33" fmla="*/ 273029 w 1662456"/>
                <a:gd name="connsiteY33" fmla="*/ 1658312 h 1822602"/>
                <a:gd name="connsiteX34" fmla="*/ 215026 w 1662456"/>
                <a:gd name="connsiteY34" fmla="*/ 1573013 h 1822602"/>
                <a:gd name="connsiteX35" fmla="*/ 170671 w 1662456"/>
                <a:gd name="connsiteY35" fmla="*/ 1494538 h 1822602"/>
                <a:gd name="connsiteX36" fmla="*/ 129728 w 1662456"/>
                <a:gd name="connsiteY36" fmla="*/ 1409240 h 1822602"/>
                <a:gd name="connsiteX37" fmla="*/ 95608 w 1662456"/>
                <a:gd name="connsiteY37" fmla="*/ 1334177 h 1822602"/>
                <a:gd name="connsiteX38" fmla="*/ 64901 w 1662456"/>
                <a:gd name="connsiteY38" fmla="*/ 1238643 h 1822602"/>
                <a:gd name="connsiteX39" fmla="*/ 20545 w 1662456"/>
                <a:gd name="connsiteY39" fmla="*/ 1016867 h 1822602"/>
                <a:gd name="connsiteX40" fmla="*/ 6898 w 1662456"/>
                <a:gd name="connsiteY40" fmla="*/ 914509 h 1822602"/>
                <a:gd name="connsiteX41" fmla="*/ 3486 w 1662456"/>
                <a:gd name="connsiteY41" fmla="*/ 805326 h 1822602"/>
                <a:gd name="connsiteX42" fmla="*/ 74 w 1662456"/>
                <a:gd name="connsiteY42" fmla="*/ 740500 h 1822602"/>
                <a:gd name="connsiteX43" fmla="*/ 6898 w 1662456"/>
                <a:gd name="connsiteY43" fmla="*/ 658613 h 1822602"/>
                <a:gd name="connsiteX44" fmla="*/ 17134 w 1662456"/>
                <a:gd name="connsiteY44" fmla="*/ 573314 h 1822602"/>
                <a:gd name="connsiteX45" fmla="*/ 37605 w 1662456"/>
                <a:gd name="connsiteY45" fmla="*/ 498252 h 1822602"/>
                <a:gd name="connsiteX46" fmla="*/ 68313 w 1662456"/>
                <a:gd name="connsiteY46" fmla="*/ 426601 h 1822602"/>
                <a:gd name="connsiteX47" fmla="*/ 92196 w 1662456"/>
                <a:gd name="connsiteY47" fmla="*/ 372010 h 1822602"/>
                <a:gd name="connsiteX48" fmla="*/ 122904 w 1662456"/>
                <a:gd name="connsiteY48" fmla="*/ 317419 h 1822602"/>
                <a:gd name="connsiteX49" fmla="*/ 163847 w 1662456"/>
                <a:gd name="connsiteY49" fmla="*/ 259416 h 1822602"/>
                <a:gd name="connsiteX50" fmla="*/ 221850 w 1662456"/>
                <a:gd name="connsiteY50" fmla="*/ 201413 h 1822602"/>
                <a:gd name="connsiteX51" fmla="*/ 307148 w 1662456"/>
                <a:gd name="connsiteY51" fmla="*/ 136586 h 1822602"/>
                <a:gd name="connsiteX52" fmla="*/ 406095 w 1662456"/>
                <a:gd name="connsiteY52" fmla="*/ 81995 h 1822602"/>
                <a:gd name="connsiteX53" fmla="*/ 505041 w 1662456"/>
                <a:gd name="connsiteY53" fmla="*/ 41052 h 1822602"/>
                <a:gd name="connsiteX54" fmla="*/ 617635 w 1662456"/>
                <a:gd name="connsiteY54" fmla="*/ 13756 h 1822602"/>
                <a:gd name="connsiteX55" fmla="*/ 795056 w 1662456"/>
                <a:gd name="connsiteY55" fmla="*/ 109 h 1822602"/>
                <a:gd name="connsiteX56" fmla="*/ 914474 w 1662456"/>
                <a:gd name="connsiteY56" fmla="*/ 20580 h 1822602"/>
                <a:gd name="connsiteX57" fmla="*/ 996360 w 1662456"/>
                <a:gd name="connsiteY57" fmla="*/ 37640 h 1822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662456" h="1822602">
                  <a:moveTo>
                    <a:pt x="668814" y="10344"/>
                  </a:moveTo>
                  <a:cubicBezTo>
                    <a:pt x="725111" y="7216"/>
                    <a:pt x="781408" y="4089"/>
                    <a:pt x="829175" y="6932"/>
                  </a:cubicBezTo>
                  <a:cubicBezTo>
                    <a:pt x="876942" y="9775"/>
                    <a:pt x="911062" y="15462"/>
                    <a:pt x="955417" y="27404"/>
                  </a:cubicBezTo>
                  <a:cubicBezTo>
                    <a:pt x="999772" y="39346"/>
                    <a:pt x="1053795" y="62092"/>
                    <a:pt x="1095307" y="78583"/>
                  </a:cubicBezTo>
                  <a:cubicBezTo>
                    <a:pt x="1136819" y="95074"/>
                    <a:pt x="1172076" y="109859"/>
                    <a:pt x="1204489" y="126350"/>
                  </a:cubicBezTo>
                  <a:cubicBezTo>
                    <a:pt x="1236902" y="142841"/>
                    <a:pt x="1289787" y="177529"/>
                    <a:pt x="1289787" y="177529"/>
                  </a:cubicBezTo>
                  <a:cubicBezTo>
                    <a:pt x="1318788" y="195157"/>
                    <a:pt x="1350065" y="211080"/>
                    <a:pt x="1378498" y="232120"/>
                  </a:cubicBezTo>
                  <a:cubicBezTo>
                    <a:pt x="1406931" y="253160"/>
                    <a:pt x="1437069" y="281025"/>
                    <a:pt x="1460384" y="303771"/>
                  </a:cubicBezTo>
                  <a:cubicBezTo>
                    <a:pt x="1483699" y="326517"/>
                    <a:pt x="1499621" y="344146"/>
                    <a:pt x="1518387" y="368598"/>
                  </a:cubicBezTo>
                  <a:cubicBezTo>
                    <a:pt x="1537153" y="393050"/>
                    <a:pt x="1554781" y="418640"/>
                    <a:pt x="1572978" y="450485"/>
                  </a:cubicBezTo>
                  <a:cubicBezTo>
                    <a:pt x="1591175" y="482330"/>
                    <a:pt x="1615058" y="525548"/>
                    <a:pt x="1627569" y="559667"/>
                  </a:cubicBezTo>
                  <a:cubicBezTo>
                    <a:pt x="1640080" y="593786"/>
                    <a:pt x="1642354" y="618807"/>
                    <a:pt x="1648041" y="655201"/>
                  </a:cubicBezTo>
                  <a:cubicBezTo>
                    <a:pt x="1653728" y="691595"/>
                    <a:pt x="1659983" y="745618"/>
                    <a:pt x="1661689" y="778031"/>
                  </a:cubicBezTo>
                  <a:cubicBezTo>
                    <a:pt x="1663395" y="810444"/>
                    <a:pt x="1662258" y="822955"/>
                    <a:pt x="1658277" y="849682"/>
                  </a:cubicBezTo>
                  <a:cubicBezTo>
                    <a:pt x="1654296" y="876409"/>
                    <a:pt x="1647472" y="907685"/>
                    <a:pt x="1637805" y="938392"/>
                  </a:cubicBezTo>
                  <a:cubicBezTo>
                    <a:pt x="1628138" y="969099"/>
                    <a:pt x="1613922" y="1002081"/>
                    <a:pt x="1600274" y="1033926"/>
                  </a:cubicBezTo>
                  <a:cubicBezTo>
                    <a:pt x="1586626" y="1065771"/>
                    <a:pt x="1574116" y="1097048"/>
                    <a:pt x="1555919" y="1129461"/>
                  </a:cubicBezTo>
                  <a:cubicBezTo>
                    <a:pt x="1537722" y="1161874"/>
                    <a:pt x="1509858" y="1201111"/>
                    <a:pt x="1491092" y="1228407"/>
                  </a:cubicBezTo>
                  <a:cubicBezTo>
                    <a:pt x="1472326" y="1255703"/>
                    <a:pt x="1463228" y="1269351"/>
                    <a:pt x="1443325" y="1293234"/>
                  </a:cubicBezTo>
                  <a:cubicBezTo>
                    <a:pt x="1423422" y="1317117"/>
                    <a:pt x="1402382" y="1339864"/>
                    <a:pt x="1371674" y="1371709"/>
                  </a:cubicBezTo>
                  <a:cubicBezTo>
                    <a:pt x="1340966" y="1403554"/>
                    <a:pt x="1293200" y="1452458"/>
                    <a:pt x="1259080" y="1484303"/>
                  </a:cubicBezTo>
                  <a:cubicBezTo>
                    <a:pt x="1224960" y="1516148"/>
                    <a:pt x="1194821" y="1540600"/>
                    <a:pt x="1166957" y="1562777"/>
                  </a:cubicBezTo>
                  <a:cubicBezTo>
                    <a:pt x="1139093" y="1584955"/>
                    <a:pt x="1117485" y="1599171"/>
                    <a:pt x="1091895" y="1617368"/>
                  </a:cubicBezTo>
                  <a:cubicBezTo>
                    <a:pt x="1066306" y="1635565"/>
                    <a:pt x="1036735" y="1656605"/>
                    <a:pt x="1013420" y="1671959"/>
                  </a:cubicBezTo>
                  <a:cubicBezTo>
                    <a:pt x="990105" y="1687313"/>
                    <a:pt x="979869" y="1695275"/>
                    <a:pt x="952005" y="1709491"/>
                  </a:cubicBezTo>
                  <a:cubicBezTo>
                    <a:pt x="924141" y="1723708"/>
                    <a:pt x="876942" y="1744748"/>
                    <a:pt x="846235" y="1757258"/>
                  </a:cubicBezTo>
                  <a:cubicBezTo>
                    <a:pt x="815528" y="1769768"/>
                    <a:pt x="797330" y="1775455"/>
                    <a:pt x="767760" y="1784553"/>
                  </a:cubicBezTo>
                  <a:cubicBezTo>
                    <a:pt x="738190" y="1793651"/>
                    <a:pt x="700090" y="1805594"/>
                    <a:pt x="668814" y="1811849"/>
                  </a:cubicBezTo>
                  <a:cubicBezTo>
                    <a:pt x="637538" y="1818104"/>
                    <a:pt x="610811" y="1820948"/>
                    <a:pt x="580104" y="1822085"/>
                  </a:cubicBezTo>
                  <a:cubicBezTo>
                    <a:pt x="549397" y="1823222"/>
                    <a:pt x="507884" y="1822654"/>
                    <a:pt x="484569" y="1818673"/>
                  </a:cubicBezTo>
                  <a:cubicBezTo>
                    <a:pt x="461254" y="1814692"/>
                    <a:pt x="454430" y="1806162"/>
                    <a:pt x="440214" y="1798201"/>
                  </a:cubicBezTo>
                  <a:cubicBezTo>
                    <a:pt x="425998" y="1790240"/>
                    <a:pt x="416899" y="1783416"/>
                    <a:pt x="399271" y="1770906"/>
                  </a:cubicBezTo>
                  <a:cubicBezTo>
                    <a:pt x="381643" y="1758396"/>
                    <a:pt x="355484" y="1741904"/>
                    <a:pt x="334444" y="1723138"/>
                  </a:cubicBezTo>
                  <a:cubicBezTo>
                    <a:pt x="313404" y="1704372"/>
                    <a:pt x="292932" y="1683333"/>
                    <a:pt x="273029" y="1658312"/>
                  </a:cubicBezTo>
                  <a:cubicBezTo>
                    <a:pt x="253126" y="1633291"/>
                    <a:pt x="232086" y="1600309"/>
                    <a:pt x="215026" y="1573013"/>
                  </a:cubicBezTo>
                  <a:cubicBezTo>
                    <a:pt x="197966" y="1545717"/>
                    <a:pt x="184887" y="1521833"/>
                    <a:pt x="170671" y="1494538"/>
                  </a:cubicBezTo>
                  <a:cubicBezTo>
                    <a:pt x="156455" y="1467243"/>
                    <a:pt x="142238" y="1435967"/>
                    <a:pt x="129728" y="1409240"/>
                  </a:cubicBezTo>
                  <a:cubicBezTo>
                    <a:pt x="117218" y="1382513"/>
                    <a:pt x="106412" y="1362610"/>
                    <a:pt x="95608" y="1334177"/>
                  </a:cubicBezTo>
                  <a:cubicBezTo>
                    <a:pt x="84803" y="1305744"/>
                    <a:pt x="77412" y="1291528"/>
                    <a:pt x="64901" y="1238643"/>
                  </a:cubicBezTo>
                  <a:cubicBezTo>
                    <a:pt x="52390" y="1185758"/>
                    <a:pt x="30212" y="1070889"/>
                    <a:pt x="20545" y="1016867"/>
                  </a:cubicBezTo>
                  <a:cubicBezTo>
                    <a:pt x="10878" y="962845"/>
                    <a:pt x="9741" y="949766"/>
                    <a:pt x="6898" y="914509"/>
                  </a:cubicBezTo>
                  <a:cubicBezTo>
                    <a:pt x="4055" y="879252"/>
                    <a:pt x="4623" y="834328"/>
                    <a:pt x="3486" y="805326"/>
                  </a:cubicBezTo>
                  <a:cubicBezTo>
                    <a:pt x="2349" y="776325"/>
                    <a:pt x="-495" y="764952"/>
                    <a:pt x="74" y="740500"/>
                  </a:cubicBezTo>
                  <a:cubicBezTo>
                    <a:pt x="643" y="716048"/>
                    <a:pt x="4055" y="686477"/>
                    <a:pt x="6898" y="658613"/>
                  </a:cubicBezTo>
                  <a:cubicBezTo>
                    <a:pt x="9741" y="630749"/>
                    <a:pt x="12016" y="600041"/>
                    <a:pt x="17134" y="573314"/>
                  </a:cubicBezTo>
                  <a:cubicBezTo>
                    <a:pt x="22252" y="546587"/>
                    <a:pt x="29075" y="522704"/>
                    <a:pt x="37605" y="498252"/>
                  </a:cubicBezTo>
                  <a:cubicBezTo>
                    <a:pt x="46135" y="473800"/>
                    <a:pt x="59215" y="447641"/>
                    <a:pt x="68313" y="426601"/>
                  </a:cubicBezTo>
                  <a:cubicBezTo>
                    <a:pt x="77411" y="405561"/>
                    <a:pt x="83097" y="390207"/>
                    <a:pt x="92196" y="372010"/>
                  </a:cubicBezTo>
                  <a:cubicBezTo>
                    <a:pt x="101294" y="353813"/>
                    <a:pt x="110962" y="336185"/>
                    <a:pt x="122904" y="317419"/>
                  </a:cubicBezTo>
                  <a:cubicBezTo>
                    <a:pt x="134846" y="298653"/>
                    <a:pt x="147356" y="278750"/>
                    <a:pt x="163847" y="259416"/>
                  </a:cubicBezTo>
                  <a:cubicBezTo>
                    <a:pt x="180338" y="240082"/>
                    <a:pt x="197967" y="221885"/>
                    <a:pt x="221850" y="201413"/>
                  </a:cubicBezTo>
                  <a:cubicBezTo>
                    <a:pt x="245733" y="180941"/>
                    <a:pt x="276441" y="156489"/>
                    <a:pt x="307148" y="136586"/>
                  </a:cubicBezTo>
                  <a:cubicBezTo>
                    <a:pt x="337855" y="116683"/>
                    <a:pt x="373113" y="97917"/>
                    <a:pt x="406095" y="81995"/>
                  </a:cubicBezTo>
                  <a:cubicBezTo>
                    <a:pt x="439077" y="66073"/>
                    <a:pt x="469784" y="52425"/>
                    <a:pt x="505041" y="41052"/>
                  </a:cubicBezTo>
                  <a:cubicBezTo>
                    <a:pt x="540298" y="29679"/>
                    <a:pt x="569299" y="20580"/>
                    <a:pt x="617635" y="13756"/>
                  </a:cubicBezTo>
                  <a:cubicBezTo>
                    <a:pt x="665971" y="6932"/>
                    <a:pt x="745583" y="-1028"/>
                    <a:pt x="795056" y="109"/>
                  </a:cubicBezTo>
                  <a:cubicBezTo>
                    <a:pt x="844529" y="1246"/>
                    <a:pt x="880923" y="14325"/>
                    <a:pt x="914474" y="20580"/>
                  </a:cubicBezTo>
                  <a:cubicBezTo>
                    <a:pt x="948025" y="26835"/>
                    <a:pt x="983849" y="27404"/>
                    <a:pt x="996360" y="37640"/>
                  </a:cubicBezTo>
                </a:path>
              </a:pathLst>
            </a:custGeom>
            <a:no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tx1"/>
                </a:solidFill>
              </a:endParaRPr>
            </a:p>
          </p:txBody>
        </p:sp>
      </p:grpSp>
      <p:sp>
        <p:nvSpPr>
          <p:cNvPr id="2" name="Title 1"/>
          <p:cNvSpPr>
            <a:spLocks noGrp="1"/>
          </p:cNvSpPr>
          <p:nvPr>
            <p:ph type="title"/>
          </p:nvPr>
        </p:nvSpPr>
        <p:spPr>
          <a:xfrm>
            <a:off x="-950487" y="72625"/>
            <a:ext cx="9144000" cy="437763"/>
          </a:xfrm>
        </p:spPr>
        <p:txBody>
          <a:bodyPr>
            <a:noAutofit/>
          </a:bodyPr>
          <a:lstStyle/>
          <a:p>
            <a:r>
              <a:rPr lang="en-CA" sz="2000" dirty="0">
                <a:solidFill>
                  <a:schemeClr val="tx1"/>
                </a:solidFill>
                <a:latin typeface="+mn-lt"/>
                <a:ea typeface="Verdana" panose="020B0604030504040204" pitchFamily="34" charset="0"/>
                <a:cs typeface="Verdana" panose="020B0604030504040204" pitchFamily="34" charset="0"/>
              </a:rPr>
              <a:t>Derivation of </a:t>
            </a:r>
            <a:r>
              <a:rPr lang="en-CA" sz="2000" dirty="0" err="1">
                <a:solidFill>
                  <a:schemeClr val="tx1"/>
                </a:solidFill>
                <a:latin typeface="+mn-lt"/>
                <a:ea typeface="Verdana" panose="020B0604030504040204" pitchFamily="34" charset="0"/>
                <a:cs typeface="Verdana" panose="020B0604030504040204" pitchFamily="34" charset="0"/>
              </a:rPr>
              <a:t>RTT</a:t>
            </a:r>
            <a:endParaRPr lang="en-CA" sz="2000" dirty="0">
              <a:solidFill>
                <a:schemeClr val="tx1"/>
              </a:solidFill>
              <a:latin typeface="+mn-lt"/>
              <a:ea typeface="Verdana" panose="020B0604030504040204" pitchFamily="34" charset="0"/>
              <a:cs typeface="Verdana" panose="020B0604030504040204" pitchFamily="34" charset="0"/>
            </a:endParaRPr>
          </a:p>
        </p:txBody>
      </p:sp>
      <p:pic>
        <p:nvPicPr>
          <p:cNvPr id="11" name="Picture 2" descr="Z:\newmedia\Ebook-Novella\Wiley\jira\bcs2793\Fox9e\Work\Image_gallery\Ch04\images\fox_9e_fig_04_0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3984"/>
          <a:stretch/>
        </p:blipFill>
        <p:spPr bwMode="auto">
          <a:xfrm>
            <a:off x="6133128" y="611375"/>
            <a:ext cx="2303587" cy="2230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5335" y="611375"/>
                <a:ext cx="6266264" cy="5554688"/>
              </a:xfrm>
            </p:spPr>
            <p:txBody>
              <a:bodyPr>
                <a:normAutofit fontScale="92500"/>
              </a:bodyPr>
              <a:lstStyle/>
              <a:p>
                <a:pPr marL="0" marR="0" indent="0" algn="just">
                  <a:lnSpc>
                    <a:spcPct val="100000"/>
                  </a:lnSpc>
                  <a:spcBef>
                    <a:spcPts val="1800"/>
                  </a:spcBef>
                  <a:spcAft>
                    <a:spcPts val="1800"/>
                  </a:spcAft>
                  <a:buNone/>
                </a:pPr>
                <a:r>
                  <a:rPr lang="en-CA" sz="1600" b="1" dirty="0">
                    <a:latin typeface="+mn-lt"/>
                    <a:ea typeface="Times New Roman" panose="02020603050405020304" pitchFamily="18" charset="0"/>
                  </a:rPr>
                  <a:t>The rate of change of </a:t>
                </a:r>
                <a:r>
                  <a:rPr lang="en-CA" sz="1600" b="1" i="1" dirty="0">
                    <a:latin typeface="+mn-lt"/>
                    <a:ea typeface="Times New Roman" panose="02020603050405020304" pitchFamily="18" charset="0"/>
                  </a:rPr>
                  <a:t>N</a:t>
                </a:r>
                <a:r>
                  <a:rPr lang="en-CA" sz="1600" b="1" i="1" baseline="-25000" dirty="0">
                    <a:latin typeface="+mn-lt"/>
                    <a:ea typeface="Times New Roman" panose="02020603050405020304" pitchFamily="18" charset="0"/>
                  </a:rPr>
                  <a:t>s</a:t>
                </a:r>
                <a:r>
                  <a:rPr lang="en-CA" sz="1600" b="1" dirty="0">
                    <a:latin typeface="+mn-lt"/>
                    <a:ea typeface="Times New Roman" panose="02020603050405020304" pitchFamily="18" charset="0"/>
                  </a:rPr>
                  <a:t> (where the subscript </a:t>
                </a:r>
                <a:r>
                  <a:rPr lang="en-CA" sz="1600" b="1" i="1" dirty="0">
                    <a:latin typeface="+mn-lt"/>
                    <a:ea typeface="Times New Roman" panose="02020603050405020304" pitchFamily="18" charset="0"/>
                  </a:rPr>
                  <a:t>s</a:t>
                </a:r>
                <a:r>
                  <a:rPr lang="en-CA" sz="1600" b="1" dirty="0">
                    <a:latin typeface="+mn-lt"/>
                    <a:ea typeface="Times New Roman" panose="02020603050405020304" pitchFamily="18" charset="0"/>
                  </a:rPr>
                  <a:t> denotes system) is given by:</a:t>
                </a:r>
                <a:r>
                  <a:rPr lang="en-CA" sz="1600" b="1" dirty="0">
                    <a:solidFill>
                      <a:srgbClr val="000000"/>
                    </a:solidFill>
                    <a:latin typeface="+mn-lt"/>
                    <a:ea typeface="Times New Roman" panose="02020603050405020304" pitchFamily="18" charset="0"/>
                  </a:rPr>
                  <a:t> </a:t>
                </a:r>
              </a:p>
              <a:p>
                <a:pPr marL="0" marR="0" indent="0" algn="just">
                  <a:lnSpc>
                    <a:spcPct val="100000"/>
                  </a:lnSpc>
                  <a:spcBef>
                    <a:spcPts val="1800"/>
                  </a:spcBef>
                  <a:spcAft>
                    <a:spcPts val="1800"/>
                  </a:spcAft>
                  <a:buNone/>
                </a:pPr>
                <a14:m>
                  <m:oMathPara xmlns:m="http://schemas.openxmlformats.org/officeDocument/2006/math">
                    <m:oMathParaPr>
                      <m:jc m:val="centerGroup"/>
                    </m:oMathParaPr>
                    <m:oMath xmlns:m="http://schemas.openxmlformats.org/officeDocument/2006/math">
                      <m:sSub>
                        <m:sSubPr>
                          <m:ctrlPr>
                            <a:rPr lang="en-CA" sz="1600" b="1" i="1" smtClean="0">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f>
                                <m:fPr>
                                  <m:ctrlPr>
                                    <a:rPr lang="en-CA" sz="1600" b="1" i="1">
                                      <a:solidFill>
                                        <a:schemeClr val="tx1"/>
                                      </a:solidFill>
                                      <a:latin typeface="Cambria Math" panose="02040503050406030204" pitchFamily="18" charset="0"/>
                                      <a:ea typeface="Times New Roman" panose="02020603050405020304" pitchFamily="18" charset="0"/>
                                    </a:rPr>
                                  </m:ctrlPr>
                                </m:fPr>
                                <m:num>
                                  <m:r>
                                    <a:rPr lang="en-CA" sz="1600" b="1" i="1">
                                      <a:solidFill>
                                        <a:schemeClr val="tx1"/>
                                      </a:solidFill>
                                      <a:latin typeface="Cambria Math" panose="02040503050406030204" pitchFamily="18" charset="0"/>
                                      <a:ea typeface="Times New Roman" panose="02020603050405020304" pitchFamily="18" charset="0"/>
                                    </a:rPr>
                                    <m:t>𝒅𝑵</m:t>
                                  </m:r>
                                </m:num>
                                <m:den>
                                  <m:r>
                                    <a:rPr lang="en-CA" sz="1600" b="1" i="1">
                                      <a:solidFill>
                                        <a:schemeClr val="tx1"/>
                                      </a:solidFill>
                                      <a:latin typeface="Cambria Math" panose="02040503050406030204" pitchFamily="18" charset="0"/>
                                      <a:ea typeface="Times New Roman" panose="02020603050405020304" pitchFamily="18" charset="0"/>
                                    </a:rPr>
                                    <m:t>𝒅𝒕</m:t>
                                  </m:r>
                                </m:den>
                              </m:f>
                            </m:e>
                          </m:d>
                        </m:e>
                        <m:sub>
                          <m:r>
                            <a:rPr lang="en-CA" sz="1600" b="1" i="1">
                              <a:solidFill>
                                <a:schemeClr val="tx1"/>
                              </a:solidFill>
                              <a:latin typeface="Cambria Math" panose="02040503050406030204" pitchFamily="18" charset="0"/>
                              <a:ea typeface="Times New Roman" panose="02020603050405020304" pitchFamily="18" charset="0"/>
                            </a:rPr>
                            <m:t>𝒔</m:t>
                          </m:r>
                        </m:sub>
                      </m:sSub>
                      <m:r>
                        <a:rPr lang="en-CA" sz="1600" b="1" i="1">
                          <a:solidFill>
                            <a:schemeClr val="tx1"/>
                          </a:solidFill>
                          <a:latin typeface="Cambria Math" panose="02040503050406030204" pitchFamily="18" charset="0"/>
                          <a:ea typeface="Times New Roman" panose="02020603050405020304" pitchFamily="18" charset="0"/>
                        </a:rPr>
                        <m:t>=</m:t>
                      </m:r>
                      <m:func>
                        <m:funcPr>
                          <m:ctrlPr>
                            <a:rPr lang="en-CA" sz="1600" b="1" i="1">
                              <a:solidFill>
                                <a:schemeClr val="tx1"/>
                              </a:solidFill>
                              <a:latin typeface="Cambria Math" panose="02040503050406030204" pitchFamily="18" charset="0"/>
                              <a:ea typeface="Times New Roman" panose="02020603050405020304" pitchFamily="18" charset="0"/>
                            </a:rPr>
                          </m:ctrlPr>
                        </m:funcPr>
                        <m:fName>
                          <m:limLow>
                            <m:limLowPr>
                              <m:ctrlPr>
                                <a:rPr lang="en-CA" sz="1600" b="1" i="1">
                                  <a:solidFill>
                                    <a:schemeClr val="tx1"/>
                                  </a:solidFill>
                                  <a:latin typeface="Cambria Math" panose="02040503050406030204" pitchFamily="18" charset="0"/>
                                  <a:ea typeface="Times New Roman" panose="02020603050405020304" pitchFamily="18" charset="0"/>
                                </a:rPr>
                              </m:ctrlPr>
                            </m:limLowPr>
                            <m:e>
                              <m:r>
                                <a:rPr lang="en-CA" sz="1600" b="1" i="1">
                                  <a:solidFill>
                                    <a:schemeClr val="tx1"/>
                                  </a:solidFill>
                                  <a:latin typeface="Cambria Math" panose="02040503050406030204" pitchFamily="18" charset="0"/>
                                  <a:ea typeface="Times New Roman" panose="02020603050405020304" pitchFamily="18" charset="0"/>
                                </a:rPr>
                                <m:t>𝒍𝒊𝒎</m:t>
                              </m:r>
                            </m:e>
                            <m:lim>
                              <m:r>
                                <a:rPr lang="en-CA" sz="1600" b="1" i="1">
                                  <a:solidFill>
                                    <a:schemeClr val="tx1"/>
                                  </a:solidFill>
                                  <a:latin typeface="Cambria Math" panose="02040503050406030204" pitchFamily="18" charset="0"/>
                                  <a:ea typeface="Times New Roman" panose="02020603050405020304" pitchFamily="18" charset="0"/>
                                  <a:sym typeface="Symbol" panose="05050102010706020507" pitchFamily="18" charset="2"/>
                                </a:rPr>
                                <m:t></m:t>
                              </m:r>
                              <m:r>
                                <a:rPr lang="en-CA" sz="1600" b="1" i="1">
                                  <a:solidFill>
                                    <a:schemeClr val="tx1"/>
                                  </a:solidFill>
                                  <a:latin typeface="Cambria Math" panose="02040503050406030204" pitchFamily="18" charset="0"/>
                                  <a:ea typeface="Times New Roman" panose="02020603050405020304" pitchFamily="18" charset="0"/>
                                </a:rPr>
                                <m:t>𝒕</m:t>
                              </m:r>
                              <m:r>
                                <a:rPr lang="en-CA" sz="1600" b="1" i="1">
                                  <a:solidFill>
                                    <a:schemeClr val="tx1"/>
                                  </a:solidFill>
                                  <a:latin typeface="Cambria Math" panose="02040503050406030204" pitchFamily="18" charset="0"/>
                                  <a:ea typeface="Times New Roman" panose="02020603050405020304" pitchFamily="18" charset="0"/>
                                </a:rPr>
                                <m:t>→</m:t>
                              </m:r>
                              <m:r>
                                <a:rPr lang="en-CA" sz="1600" b="1" i="1">
                                  <a:solidFill>
                                    <a:schemeClr val="tx1"/>
                                  </a:solidFill>
                                  <a:latin typeface="Cambria Math" panose="02040503050406030204" pitchFamily="18" charset="0"/>
                                  <a:ea typeface="Times New Roman" panose="02020603050405020304" pitchFamily="18" charset="0"/>
                                </a:rPr>
                                <m:t>𝟎</m:t>
                              </m:r>
                            </m:lim>
                          </m:limLow>
                        </m:fName>
                        <m:e>
                          <m:f>
                            <m:fPr>
                              <m:ctrlPr>
                                <a:rPr lang="en-CA" sz="1600" b="1" i="1">
                                  <a:solidFill>
                                    <a:schemeClr val="tx1"/>
                                  </a:solidFill>
                                  <a:latin typeface="Cambria Math" panose="02040503050406030204" pitchFamily="18" charset="0"/>
                                  <a:ea typeface="Times New Roman" panose="02020603050405020304" pitchFamily="18" charset="0"/>
                                </a:rPr>
                              </m:ctrlPr>
                            </m:fPr>
                            <m:num>
                              <m:sSub>
                                <m:sSubPr>
                                  <m:ctrlPr>
                                    <a:rPr lang="en-CA" sz="1600" b="1" i="1">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𝒔</m:t>
                                          </m:r>
                                        </m:sub>
                                      </m:sSub>
                                    </m:e>
                                  </m:d>
                                </m:e>
                                <m:sub>
                                  <m:r>
                                    <a:rPr lang="en-CA" sz="1600" b="1" i="1">
                                      <a:solidFill>
                                        <a:schemeClr val="tx1"/>
                                      </a:solidFill>
                                      <a:latin typeface="Cambria Math" panose="02040503050406030204" pitchFamily="18" charset="0"/>
                                      <a:ea typeface="Times New Roman" panose="02020603050405020304" pitchFamily="18" charset="0"/>
                                    </a:rPr>
                                    <m:t>𝒕𝒐</m:t>
                                  </m:r>
                                  <m:r>
                                    <a:rPr lang="en-CA" sz="1600" b="1" i="1">
                                      <a:solidFill>
                                        <a:schemeClr val="tx1"/>
                                      </a:solidFill>
                                      <a:latin typeface="Cambria Math" panose="02040503050406030204" pitchFamily="18" charset="0"/>
                                      <a:ea typeface="Times New Roman" panose="02020603050405020304" pitchFamily="18" charset="0"/>
                                    </a:rPr>
                                    <m:t> +∆</m:t>
                                  </m:r>
                                  <m:r>
                                    <a:rPr lang="en-CA" sz="1600" b="1" i="1">
                                      <a:solidFill>
                                        <a:schemeClr val="tx1"/>
                                      </a:solidFill>
                                      <a:latin typeface="Cambria Math" panose="02040503050406030204" pitchFamily="18" charset="0"/>
                                      <a:ea typeface="Times New Roman" panose="02020603050405020304" pitchFamily="18" charset="0"/>
                                    </a:rPr>
                                    <m:t>𝒕</m:t>
                                  </m:r>
                                  <m:r>
                                    <a:rPr lang="en-CA" sz="1600" b="1" i="1">
                                      <a:solidFill>
                                        <a:schemeClr val="tx1"/>
                                      </a:solidFill>
                                      <a:latin typeface="Cambria Math" panose="02040503050406030204" pitchFamily="18" charset="0"/>
                                      <a:ea typeface="Times New Roman" panose="02020603050405020304" pitchFamily="18" charset="0"/>
                                    </a:rPr>
                                    <m:t> </m:t>
                                  </m:r>
                                </m:sub>
                              </m:sSub>
                              <m:r>
                                <a:rPr lang="en-CA" sz="1600" b="1" i="1">
                                  <a:solidFill>
                                    <a:schemeClr val="tx1"/>
                                  </a:solidFill>
                                  <a:latin typeface="Cambria Math" panose="02040503050406030204" pitchFamily="18" charset="0"/>
                                  <a:ea typeface="Times New Roman" panose="02020603050405020304" pitchFamily="18" charset="0"/>
                                </a:rPr>
                                <m:t>−</m:t>
                              </m:r>
                              <m:sSub>
                                <m:sSubPr>
                                  <m:ctrlPr>
                                    <a:rPr lang="en-CA" sz="1600" b="1" i="1" smtClean="0">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𝒔</m:t>
                                          </m:r>
                                        </m:sub>
                                      </m:sSub>
                                    </m:e>
                                  </m:d>
                                </m:e>
                                <m:sub>
                                  <m:r>
                                    <a:rPr lang="en-CA" sz="1600" b="1" i="1">
                                      <a:solidFill>
                                        <a:schemeClr val="tx1"/>
                                      </a:solidFill>
                                      <a:latin typeface="Cambria Math" panose="02040503050406030204" pitchFamily="18" charset="0"/>
                                      <a:ea typeface="Times New Roman" panose="02020603050405020304" pitchFamily="18" charset="0"/>
                                    </a:rPr>
                                    <m:t>𝒕𝒐</m:t>
                                  </m:r>
                                  <m:r>
                                    <a:rPr lang="en-CA" sz="1600" b="1" i="1">
                                      <a:solidFill>
                                        <a:schemeClr val="tx1"/>
                                      </a:solidFill>
                                      <a:latin typeface="Cambria Math" panose="02040503050406030204" pitchFamily="18" charset="0"/>
                                      <a:ea typeface="Times New Roman" panose="02020603050405020304" pitchFamily="18" charset="0"/>
                                    </a:rPr>
                                    <m:t> </m:t>
                                  </m:r>
                                </m:sub>
                              </m:sSub>
                            </m:num>
                            <m:den>
                              <m:r>
                                <a:rPr lang="en-CA" sz="1600" b="1" i="1">
                                  <a:solidFill>
                                    <a:schemeClr val="tx1"/>
                                  </a:solidFill>
                                  <a:latin typeface="Cambria Math" panose="02040503050406030204" pitchFamily="18" charset="0"/>
                                  <a:ea typeface="Times New Roman" panose="02020603050405020304" pitchFamily="18" charset="0"/>
                                  <a:sym typeface="Symbol" panose="05050102010706020507" pitchFamily="18" charset="2"/>
                                </a:rPr>
                                <m:t></m:t>
                              </m:r>
                              <m:r>
                                <a:rPr lang="en-CA" sz="1600" b="1" i="1">
                                  <a:solidFill>
                                    <a:schemeClr val="tx1"/>
                                  </a:solidFill>
                                  <a:latin typeface="Cambria Math" panose="02040503050406030204" pitchFamily="18" charset="0"/>
                                  <a:ea typeface="Times New Roman" panose="02020603050405020304" pitchFamily="18" charset="0"/>
                                </a:rPr>
                                <m:t>𝒕</m:t>
                              </m:r>
                              <m:r>
                                <a:rPr lang="en-CA" sz="1600" b="1" i="1">
                                  <a:solidFill>
                                    <a:schemeClr val="tx1"/>
                                  </a:solidFill>
                                  <a:latin typeface="Cambria Math" panose="02040503050406030204" pitchFamily="18" charset="0"/>
                                  <a:ea typeface="Times New Roman" panose="02020603050405020304" pitchFamily="18" charset="0"/>
                                </a:rPr>
                                <m:t> </m:t>
                              </m:r>
                            </m:den>
                          </m:f>
                        </m:e>
                      </m:func>
                    </m:oMath>
                  </m:oMathPara>
                </a14:m>
                <a:endParaRPr lang="en-CA" sz="1600" b="1" dirty="0">
                  <a:solidFill>
                    <a:schemeClr val="tx1"/>
                  </a:solidFill>
                  <a:effectLst/>
                  <a:latin typeface="+mn-lt"/>
                  <a:ea typeface="Times New Roman" panose="02020603050405020304" pitchFamily="18" charset="0"/>
                </a:endParaRPr>
              </a:p>
              <a:p>
                <a:pPr marL="0" marR="0" indent="0">
                  <a:lnSpc>
                    <a:spcPct val="210000"/>
                  </a:lnSpc>
                  <a:spcBef>
                    <a:spcPts val="2400"/>
                  </a:spcBef>
                  <a:spcAft>
                    <a:spcPts val="1800"/>
                  </a:spcAft>
                  <a:buNone/>
                </a:pPr>
                <a14:m>
                  <m:oMathPara xmlns:m="http://schemas.openxmlformats.org/officeDocument/2006/math">
                    <m:oMathParaPr>
                      <m:jc m:val="centerGroup"/>
                    </m:oMathParaPr>
                    <m:oMath xmlns:m="http://schemas.openxmlformats.org/officeDocument/2006/math">
                      <m:sSub>
                        <m:sSubPr>
                          <m:ctrlPr>
                            <a:rPr lang="en-CA" sz="1600" b="1" i="1" smtClean="0">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𝒔</m:t>
                                  </m:r>
                                </m:sub>
                              </m:sSub>
                            </m:e>
                          </m:d>
                        </m:e>
                        <m:sub>
                          <m:r>
                            <a:rPr lang="en-CA" sz="1600" b="1" i="1">
                              <a:solidFill>
                                <a:schemeClr val="tx1"/>
                              </a:solidFill>
                              <a:latin typeface="Cambria Math" panose="02040503050406030204" pitchFamily="18" charset="0"/>
                              <a:ea typeface="Times New Roman" panose="02020603050405020304" pitchFamily="18" charset="0"/>
                            </a:rPr>
                            <m:t>𝒕𝒐</m:t>
                          </m:r>
                          <m:r>
                            <a:rPr lang="en-CA" sz="1600" b="1" i="1">
                              <a:solidFill>
                                <a:schemeClr val="tx1"/>
                              </a:solidFill>
                              <a:latin typeface="Cambria Math" panose="02040503050406030204" pitchFamily="18" charset="0"/>
                              <a:ea typeface="Times New Roman" panose="02020603050405020304" pitchFamily="18" charset="0"/>
                            </a:rPr>
                            <m:t>  </m:t>
                          </m:r>
                        </m:sub>
                      </m:sSub>
                      <m:r>
                        <a:rPr lang="en-CA" sz="1600" b="1" i="1">
                          <a:solidFill>
                            <a:schemeClr val="tx1"/>
                          </a:solidFill>
                          <a:latin typeface="Cambria Math" panose="02040503050406030204" pitchFamily="18" charset="0"/>
                          <a:ea typeface="Times New Roman" panose="02020603050405020304" pitchFamily="18" charset="0"/>
                        </a:rPr>
                        <m:t>=</m:t>
                      </m:r>
                      <m:sSub>
                        <m:sSubPr>
                          <m:ctrlPr>
                            <a:rPr lang="en-CA" sz="1600" b="1" i="1">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𝑪𝑽</m:t>
                                  </m:r>
                                </m:sub>
                              </m:sSub>
                            </m:e>
                          </m:d>
                        </m:e>
                        <m:sub>
                          <m:r>
                            <a:rPr lang="en-CA" sz="1600" b="1" i="1">
                              <a:solidFill>
                                <a:schemeClr val="tx1"/>
                              </a:solidFill>
                              <a:latin typeface="Cambria Math" panose="02040503050406030204" pitchFamily="18" charset="0"/>
                              <a:ea typeface="Times New Roman" panose="02020603050405020304" pitchFamily="18" charset="0"/>
                            </a:rPr>
                            <m:t>𝒕𝒐</m:t>
                          </m:r>
                          <m:r>
                            <a:rPr lang="en-CA" sz="1600" b="1" i="1">
                              <a:solidFill>
                                <a:schemeClr val="tx1"/>
                              </a:solidFill>
                              <a:latin typeface="Cambria Math" panose="02040503050406030204" pitchFamily="18" charset="0"/>
                              <a:ea typeface="Times New Roman" panose="02020603050405020304" pitchFamily="18" charset="0"/>
                            </a:rPr>
                            <m:t>  </m:t>
                          </m:r>
                        </m:sub>
                      </m:sSub>
                    </m:oMath>
                  </m:oMathPara>
                </a14:m>
                <a:endParaRPr lang="en-CA" sz="1600" b="1" i="1" dirty="0">
                  <a:solidFill>
                    <a:schemeClr val="tx1"/>
                  </a:solidFill>
                  <a:latin typeface="+mn-lt"/>
                  <a:ea typeface="Times New Roman" panose="02020603050405020304" pitchFamily="18" charset="0"/>
                </a:endParaRPr>
              </a:p>
              <a:p>
                <a:pPr marL="0" marR="0" indent="0">
                  <a:lnSpc>
                    <a:spcPct val="200000"/>
                  </a:lnSpc>
                  <a:spcBef>
                    <a:spcPts val="1800"/>
                  </a:spcBef>
                  <a:spcAft>
                    <a:spcPts val="1800"/>
                  </a:spcAft>
                  <a:buNone/>
                </a:pPr>
                <a14:m>
                  <m:oMathPara xmlns:m="http://schemas.openxmlformats.org/officeDocument/2006/math">
                    <m:oMathParaPr>
                      <m:jc m:val="centerGroup"/>
                    </m:oMathParaPr>
                    <m:oMath xmlns:m="http://schemas.openxmlformats.org/officeDocument/2006/math">
                      <m:sSub>
                        <m:sSubPr>
                          <m:ctrlPr>
                            <a:rPr lang="en-CA" sz="1600" b="1" i="1">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𝒔</m:t>
                                  </m:r>
                                </m:sub>
                              </m:sSub>
                            </m:e>
                          </m:d>
                        </m:e>
                        <m:sub>
                          <m:r>
                            <a:rPr lang="en-CA" sz="1600" b="1" i="1">
                              <a:solidFill>
                                <a:schemeClr val="tx1"/>
                              </a:solidFill>
                              <a:latin typeface="Cambria Math" panose="02040503050406030204" pitchFamily="18" charset="0"/>
                              <a:ea typeface="Times New Roman" panose="02020603050405020304" pitchFamily="18" charset="0"/>
                            </a:rPr>
                            <m:t>𝒕𝒐</m:t>
                          </m:r>
                          <m:r>
                            <a:rPr lang="en-CA" sz="1600" b="1" i="1">
                              <a:solidFill>
                                <a:schemeClr val="tx1"/>
                              </a:solidFill>
                              <a:latin typeface="Cambria Math" panose="02040503050406030204" pitchFamily="18" charset="0"/>
                              <a:ea typeface="Times New Roman" panose="02020603050405020304" pitchFamily="18" charset="0"/>
                            </a:rPr>
                            <m:t> +∆</m:t>
                          </m:r>
                          <m:r>
                            <a:rPr lang="en-CA" sz="1600" b="1" i="1">
                              <a:solidFill>
                                <a:schemeClr val="tx1"/>
                              </a:solidFill>
                              <a:latin typeface="Cambria Math" panose="02040503050406030204" pitchFamily="18" charset="0"/>
                              <a:ea typeface="Times New Roman" panose="02020603050405020304" pitchFamily="18" charset="0"/>
                            </a:rPr>
                            <m:t>𝒕</m:t>
                          </m:r>
                          <m:r>
                            <a:rPr lang="en-CA" sz="1600" b="1" i="1">
                              <a:solidFill>
                                <a:schemeClr val="tx1"/>
                              </a:solidFill>
                              <a:latin typeface="Cambria Math" panose="02040503050406030204" pitchFamily="18" charset="0"/>
                              <a:ea typeface="Times New Roman" panose="02020603050405020304" pitchFamily="18" charset="0"/>
                            </a:rPr>
                            <m:t> </m:t>
                          </m:r>
                        </m:sub>
                      </m:sSub>
                      <m:r>
                        <a:rPr lang="en-CA" sz="1600" b="1" i="1">
                          <a:solidFill>
                            <a:schemeClr val="tx1"/>
                          </a:solidFill>
                          <a:latin typeface="Cambria Math" panose="02040503050406030204" pitchFamily="18" charset="0"/>
                          <a:ea typeface="Times New Roman" panose="02020603050405020304" pitchFamily="18" charset="0"/>
                        </a:rPr>
                        <m:t>=</m:t>
                      </m:r>
                      <m:sSub>
                        <m:sSubPr>
                          <m:ctrlPr>
                            <a:rPr lang="en-CA" sz="1600" b="1" i="1">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d>
                                <m:dPr>
                                  <m:endChr m:val=""/>
                                  <m:ctrlPr>
                                    <a:rPr lang="en-CA" sz="1600" b="1" i="1">
                                      <a:solidFill>
                                        <a:schemeClr val="tx1"/>
                                      </a:solidFill>
                                      <a:latin typeface="Cambria Math" panose="02040503050406030204" pitchFamily="18" charset="0"/>
                                      <a:ea typeface="Times New Roman" panose="02020603050405020304" pitchFamily="18" charset="0"/>
                                    </a:rPr>
                                  </m:ctrlPr>
                                </m:dPr>
                                <m:e>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𝑰𝑰</m:t>
                                      </m:r>
                                    </m:sub>
                                  </m:sSub>
                                </m:e>
                              </m:d>
                              <m:r>
                                <a:rPr lang="en-CA" sz="1600" b="1" i="1">
                                  <a:solidFill>
                                    <a:schemeClr val="tx1"/>
                                  </a:solidFill>
                                  <a:latin typeface="Cambria Math" panose="02040503050406030204" pitchFamily="18" charset="0"/>
                                  <a:ea typeface="Times New Roman" panose="02020603050405020304" pitchFamily="18" charset="0"/>
                                </a:rPr>
                                <m:t>+</m:t>
                              </m:r>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𝑰𝑰𝑰</m:t>
                                  </m:r>
                                </m:sub>
                              </m:sSub>
                            </m:e>
                          </m:d>
                        </m:e>
                        <m:sub>
                          <m:r>
                            <a:rPr lang="en-CA" sz="1600" b="1" i="1">
                              <a:solidFill>
                                <a:schemeClr val="tx1"/>
                              </a:solidFill>
                              <a:latin typeface="Cambria Math" panose="02040503050406030204" pitchFamily="18" charset="0"/>
                              <a:ea typeface="Times New Roman" panose="02020603050405020304" pitchFamily="18" charset="0"/>
                            </a:rPr>
                            <m:t>𝒕𝒐</m:t>
                          </m:r>
                          <m:r>
                            <a:rPr lang="en-CA" sz="1600" b="1" i="1">
                              <a:solidFill>
                                <a:schemeClr val="tx1"/>
                              </a:solidFill>
                              <a:latin typeface="Cambria Math" panose="02040503050406030204" pitchFamily="18" charset="0"/>
                              <a:ea typeface="Times New Roman" panose="02020603050405020304" pitchFamily="18" charset="0"/>
                            </a:rPr>
                            <m:t> +∆</m:t>
                          </m:r>
                          <m:r>
                            <a:rPr lang="en-CA" sz="1600" b="1" i="1">
                              <a:solidFill>
                                <a:schemeClr val="tx1"/>
                              </a:solidFill>
                              <a:latin typeface="Cambria Math" panose="02040503050406030204" pitchFamily="18" charset="0"/>
                              <a:ea typeface="Times New Roman" panose="02020603050405020304" pitchFamily="18" charset="0"/>
                            </a:rPr>
                            <m:t>𝒕</m:t>
                          </m:r>
                          <m:r>
                            <a:rPr lang="en-CA" sz="1600" b="1" i="1">
                              <a:solidFill>
                                <a:schemeClr val="tx1"/>
                              </a:solidFill>
                              <a:latin typeface="Cambria Math" panose="02040503050406030204" pitchFamily="18" charset="0"/>
                              <a:ea typeface="Times New Roman" panose="02020603050405020304" pitchFamily="18" charset="0"/>
                            </a:rPr>
                            <m:t> </m:t>
                          </m:r>
                        </m:sub>
                      </m:sSub>
                      <m:r>
                        <a:rPr lang="en-CA" sz="1600" b="1" i="1">
                          <a:solidFill>
                            <a:schemeClr val="tx1"/>
                          </a:solidFill>
                          <a:latin typeface="Cambria Math" panose="02040503050406030204" pitchFamily="18" charset="0"/>
                          <a:ea typeface="Times New Roman" panose="02020603050405020304" pitchFamily="18" charset="0"/>
                        </a:rPr>
                        <m:t>=</m:t>
                      </m:r>
                      <m:sSub>
                        <m:sSubPr>
                          <m:ctrlPr>
                            <a:rPr lang="en-CA" sz="1600" b="1" i="1">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d>
                                <m:dPr>
                                  <m:endChr m:val=""/>
                                  <m:ctrlPr>
                                    <a:rPr lang="en-CA" sz="1600" b="1" i="1">
                                      <a:solidFill>
                                        <a:schemeClr val="tx1"/>
                                      </a:solidFill>
                                      <a:latin typeface="Cambria Math" panose="02040503050406030204" pitchFamily="18" charset="0"/>
                                      <a:ea typeface="Times New Roman" panose="02020603050405020304" pitchFamily="18" charset="0"/>
                                    </a:rPr>
                                  </m:ctrlPr>
                                </m:dPr>
                                <m:e>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𝑪𝑽</m:t>
                                      </m:r>
                                    </m:sub>
                                  </m:sSub>
                                </m:e>
                              </m:d>
                              <m:r>
                                <a:rPr lang="en-CA" sz="1600" b="1" i="1">
                                  <a:solidFill>
                                    <a:schemeClr val="tx1"/>
                                  </a:solidFill>
                                  <a:latin typeface="Cambria Math" panose="02040503050406030204" pitchFamily="18" charset="0"/>
                                  <a:ea typeface="Times New Roman" panose="02020603050405020304" pitchFamily="18" charset="0"/>
                                </a:rPr>
                                <m:t>−</m:t>
                              </m:r>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𝑰</m:t>
                                  </m:r>
                                </m:sub>
                              </m:sSub>
                              <m:r>
                                <a:rPr lang="en-CA" sz="1600" b="1" i="1">
                                  <a:solidFill>
                                    <a:schemeClr val="tx1"/>
                                  </a:solidFill>
                                  <a:latin typeface="Cambria Math" panose="02040503050406030204" pitchFamily="18" charset="0"/>
                                  <a:ea typeface="Times New Roman" panose="02020603050405020304" pitchFamily="18" charset="0"/>
                                </a:rPr>
                                <m:t>+</m:t>
                              </m:r>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𝑰𝑰𝑰</m:t>
                                  </m:r>
                                </m:sub>
                              </m:sSub>
                            </m:e>
                          </m:d>
                        </m:e>
                        <m:sub>
                          <m:r>
                            <a:rPr lang="en-CA" sz="1600" b="1" i="1">
                              <a:solidFill>
                                <a:schemeClr val="tx1"/>
                              </a:solidFill>
                              <a:latin typeface="Cambria Math" panose="02040503050406030204" pitchFamily="18" charset="0"/>
                              <a:ea typeface="Times New Roman" panose="02020603050405020304" pitchFamily="18" charset="0"/>
                            </a:rPr>
                            <m:t>𝒕𝒐</m:t>
                          </m:r>
                          <m:r>
                            <a:rPr lang="en-CA" sz="1600" b="1" i="1">
                              <a:solidFill>
                                <a:schemeClr val="tx1"/>
                              </a:solidFill>
                              <a:latin typeface="Cambria Math" panose="02040503050406030204" pitchFamily="18" charset="0"/>
                              <a:ea typeface="Times New Roman" panose="02020603050405020304" pitchFamily="18" charset="0"/>
                            </a:rPr>
                            <m:t> +∆</m:t>
                          </m:r>
                          <m:r>
                            <a:rPr lang="en-CA" sz="1600" b="1" i="1">
                              <a:solidFill>
                                <a:schemeClr val="tx1"/>
                              </a:solidFill>
                              <a:latin typeface="Cambria Math" panose="02040503050406030204" pitchFamily="18" charset="0"/>
                              <a:ea typeface="Times New Roman" panose="02020603050405020304" pitchFamily="18" charset="0"/>
                            </a:rPr>
                            <m:t>𝒕</m:t>
                          </m:r>
                          <m:r>
                            <a:rPr lang="en-CA" sz="1600" b="1" i="1">
                              <a:solidFill>
                                <a:schemeClr val="tx1"/>
                              </a:solidFill>
                              <a:latin typeface="Cambria Math" panose="02040503050406030204" pitchFamily="18" charset="0"/>
                              <a:ea typeface="Times New Roman" panose="02020603050405020304" pitchFamily="18" charset="0"/>
                            </a:rPr>
                            <m:t> </m:t>
                          </m:r>
                        </m:sub>
                      </m:sSub>
                    </m:oMath>
                  </m:oMathPara>
                </a14:m>
                <a:endParaRPr lang="en-CA" sz="1600" b="1" dirty="0">
                  <a:solidFill>
                    <a:schemeClr val="tx1"/>
                  </a:solidFill>
                  <a:effectLst/>
                  <a:latin typeface="+mn-lt"/>
                  <a:ea typeface="Times New Roman" panose="02020603050405020304" pitchFamily="18" charset="0"/>
                </a:endParaRPr>
              </a:p>
              <a:p>
                <a:pPr marL="0" marR="0" indent="0" algn="ctr">
                  <a:lnSpc>
                    <a:spcPct val="200000"/>
                  </a:lnSpc>
                  <a:spcBef>
                    <a:spcPts val="1800"/>
                  </a:spcBef>
                  <a:spcAft>
                    <a:spcPts val="1800"/>
                  </a:spcAft>
                  <a:buNone/>
                </a:pPr>
                <a:r>
                  <a:rPr lang="en-CA" sz="1600" b="1" dirty="0">
                    <a:solidFill>
                      <a:schemeClr val="tx1"/>
                    </a:solidFill>
                    <a:latin typeface="+mn-lt"/>
                    <a:ea typeface="Times New Roman" panose="02020603050405020304" pitchFamily="18" charset="0"/>
                  </a:rPr>
                  <a:t> </a:t>
                </a:r>
                <a14:m>
                  <m:oMath xmlns:m="http://schemas.openxmlformats.org/officeDocument/2006/math">
                    <m:sSub>
                      <m:sSubPr>
                        <m:ctrlPr>
                          <a:rPr lang="en-CA" sz="1600" b="1" i="1">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f>
                              <m:fPr>
                                <m:ctrlPr>
                                  <a:rPr lang="en-CA" sz="1600" b="1" i="1">
                                    <a:solidFill>
                                      <a:schemeClr val="tx1"/>
                                    </a:solidFill>
                                    <a:latin typeface="Cambria Math" panose="02040503050406030204" pitchFamily="18" charset="0"/>
                                    <a:ea typeface="Times New Roman" panose="02020603050405020304" pitchFamily="18" charset="0"/>
                                  </a:rPr>
                                </m:ctrlPr>
                              </m:fPr>
                              <m:num>
                                <m:r>
                                  <a:rPr lang="en-CA" sz="1600" b="1" i="1">
                                    <a:solidFill>
                                      <a:schemeClr val="tx1"/>
                                    </a:solidFill>
                                    <a:latin typeface="Cambria Math" panose="02040503050406030204" pitchFamily="18" charset="0"/>
                                    <a:ea typeface="Times New Roman" panose="02020603050405020304" pitchFamily="18" charset="0"/>
                                  </a:rPr>
                                  <m:t>𝒅𝑵</m:t>
                                </m:r>
                              </m:num>
                              <m:den>
                                <m:r>
                                  <a:rPr lang="en-CA" sz="1600" b="1" i="1">
                                    <a:solidFill>
                                      <a:schemeClr val="tx1"/>
                                    </a:solidFill>
                                    <a:latin typeface="Cambria Math" panose="02040503050406030204" pitchFamily="18" charset="0"/>
                                    <a:ea typeface="Times New Roman" panose="02020603050405020304" pitchFamily="18" charset="0"/>
                                  </a:rPr>
                                  <m:t>𝒅𝒕</m:t>
                                </m:r>
                              </m:den>
                            </m:f>
                          </m:e>
                        </m:d>
                      </m:e>
                      <m:sub>
                        <m:r>
                          <a:rPr lang="en-CA" sz="1600" b="1" i="1">
                            <a:solidFill>
                              <a:schemeClr val="tx1"/>
                            </a:solidFill>
                            <a:latin typeface="Cambria Math" panose="02040503050406030204" pitchFamily="18" charset="0"/>
                            <a:ea typeface="Times New Roman" panose="02020603050405020304" pitchFamily="18" charset="0"/>
                          </a:rPr>
                          <m:t>𝒔</m:t>
                        </m:r>
                      </m:sub>
                    </m:sSub>
                    <m:r>
                      <a:rPr lang="en-CA" sz="1600" b="1" i="1">
                        <a:solidFill>
                          <a:schemeClr val="tx1"/>
                        </a:solidFill>
                        <a:latin typeface="Cambria Math" panose="02040503050406030204" pitchFamily="18" charset="0"/>
                        <a:ea typeface="Times New Roman" panose="02020603050405020304" pitchFamily="18" charset="0"/>
                      </a:rPr>
                      <m:t>=</m:t>
                    </m:r>
                    <m:func>
                      <m:funcPr>
                        <m:ctrlPr>
                          <a:rPr lang="en-CA" sz="1600" b="1" i="1">
                            <a:solidFill>
                              <a:schemeClr val="tx1"/>
                            </a:solidFill>
                            <a:latin typeface="Cambria Math" panose="02040503050406030204" pitchFamily="18" charset="0"/>
                            <a:ea typeface="Times New Roman" panose="02020603050405020304" pitchFamily="18" charset="0"/>
                          </a:rPr>
                        </m:ctrlPr>
                      </m:funcPr>
                      <m:fName>
                        <m:limLow>
                          <m:limLowPr>
                            <m:ctrlPr>
                              <a:rPr lang="en-CA" sz="1600" b="1" i="1">
                                <a:solidFill>
                                  <a:schemeClr val="tx1"/>
                                </a:solidFill>
                                <a:latin typeface="Cambria Math" panose="02040503050406030204" pitchFamily="18" charset="0"/>
                                <a:ea typeface="Times New Roman" panose="02020603050405020304" pitchFamily="18" charset="0"/>
                              </a:rPr>
                            </m:ctrlPr>
                          </m:limLowPr>
                          <m:e>
                            <m:r>
                              <a:rPr lang="en-CA" sz="1600" b="1" i="1">
                                <a:solidFill>
                                  <a:schemeClr val="tx1"/>
                                </a:solidFill>
                                <a:latin typeface="Cambria Math" panose="02040503050406030204" pitchFamily="18" charset="0"/>
                                <a:ea typeface="Times New Roman" panose="02020603050405020304" pitchFamily="18" charset="0"/>
                              </a:rPr>
                              <m:t>𝒍𝒊𝒎</m:t>
                            </m:r>
                          </m:e>
                          <m:lim>
                            <m:r>
                              <a:rPr lang="en-CA" sz="1600" b="1" i="1">
                                <a:solidFill>
                                  <a:schemeClr val="tx1"/>
                                </a:solidFill>
                                <a:latin typeface="Cambria Math" panose="02040503050406030204" pitchFamily="18" charset="0"/>
                                <a:ea typeface="Times New Roman" panose="02020603050405020304" pitchFamily="18" charset="0"/>
                                <a:sym typeface="Symbol" panose="05050102010706020507" pitchFamily="18" charset="2"/>
                              </a:rPr>
                              <m:t></m:t>
                            </m:r>
                            <m:r>
                              <a:rPr lang="en-CA" sz="1600" b="1" i="1">
                                <a:solidFill>
                                  <a:schemeClr val="tx1"/>
                                </a:solidFill>
                                <a:latin typeface="Cambria Math" panose="02040503050406030204" pitchFamily="18" charset="0"/>
                                <a:ea typeface="Times New Roman" panose="02020603050405020304" pitchFamily="18" charset="0"/>
                              </a:rPr>
                              <m:t>𝒕</m:t>
                            </m:r>
                            <m:r>
                              <a:rPr lang="en-CA" sz="1600" b="1" i="1">
                                <a:solidFill>
                                  <a:schemeClr val="tx1"/>
                                </a:solidFill>
                                <a:latin typeface="Cambria Math" panose="02040503050406030204" pitchFamily="18" charset="0"/>
                                <a:ea typeface="Times New Roman" panose="02020603050405020304" pitchFamily="18" charset="0"/>
                              </a:rPr>
                              <m:t>→</m:t>
                            </m:r>
                            <m:r>
                              <a:rPr lang="en-CA" sz="1600" b="1" i="1">
                                <a:solidFill>
                                  <a:schemeClr val="tx1"/>
                                </a:solidFill>
                                <a:latin typeface="Cambria Math" panose="02040503050406030204" pitchFamily="18" charset="0"/>
                                <a:ea typeface="Times New Roman" panose="02020603050405020304" pitchFamily="18" charset="0"/>
                              </a:rPr>
                              <m:t>𝟎</m:t>
                            </m:r>
                          </m:lim>
                        </m:limLow>
                      </m:fName>
                      <m:e>
                        <m:f>
                          <m:fPr>
                            <m:ctrlPr>
                              <a:rPr lang="en-CA" sz="1600" b="1" i="1">
                                <a:solidFill>
                                  <a:schemeClr val="tx1"/>
                                </a:solidFill>
                                <a:latin typeface="Cambria Math" panose="02040503050406030204" pitchFamily="18" charset="0"/>
                                <a:ea typeface="Times New Roman" panose="02020603050405020304" pitchFamily="18" charset="0"/>
                              </a:rPr>
                            </m:ctrlPr>
                          </m:fPr>
                          <m:num>
                            <m:sSub>
                              <m:sSubPr>
                                <m:ctrlPr>
                                  <a:rPr lang="en-CA" sz="1600" b="1" i="1">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d>
                                      <m:dPr>
                                        <m:endChr m:val=""/>
                                        <m:ctrlPr>
                                          <a:rPr lang="en-CA" sz="1600" b="1" i="1">
                                            <a:solidFill>
                                              <a:schemeClr val="tx1"/>
                                            </a:solidFill>
                                            <a:latin typeface="Cambria Math" panose="02040503050406030204" pitchFamily="18" charset="0"/>
                                            <a:ea typeface="Times New Roman" panose="02020603050405020304" pitchFamily="18" charset="0"/>
                                          </a:rPr>
                                        </m:ctrlPr>
                                      </m:dPr>
                                      <m:e>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𝑪𝑽</m:t>
                                            </m:r>
                                          </m:sub>
                                        </m:sSub>
                                      </m:e>
                                    </m:d>
                                    <m:r>
                                      <a:rPr lang="en-CA" sz="1600" b="1" i="1">
                                        <a:solidFill>
                                          <a:schemeClr val="tx1"/>
                                        </a:solidFill>
                                        <a:latin typeface="Cambria Math" panose="02040503050406030204" pitchFamily="18" charset="0"/>
                                        <a:ea typeface="Times New Roman" panose="02020603050405020304" pitchFamily="18" charset="0"/>
                                      </a:rPr>
                                      <m:t>−</m:t>
                                    </m:r>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𝑰</m:t>
                                        </m:r>
                                      </m:sub>
                                    </m:sSub>
                                    <m:r>
                                      <a:rPr lang="en-CA" sz="1600" b="1" i="1">
                                        <a:solidFill>
                                          <a:schemeClr val="tx1"/>
                                        </a:solidFill>
                                        <a:latin typeface="Cambria Math" panose="02040503050406030204" pitchFamily="18" charset="0"/>
                                        <a:ea typeface="Times New Roman" panose="02020603050405020304" pitchFamily="18" charset="0"/>
                                      </a:rPr>
                                      <m:t>+</m:t>
                                    </m:r>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𝑰𝑰𝑰</m:t>
                                        </m:r>
                                      </m:sub>
                                    </m:sSub>
                                  </m:e>
                                </m:d>
                              </m:e>
                              <m:sub>
                                <m:r>
                                  <a:rPr lang="en-CA" sz="1600" b="1" i="1">
                                    <a:solidFill>
                                      <a:schemeClr val="tx1"/>
                                    </a:solidFill>
                                    <a:latin typeface="Cambria Math" panose="02040503050406030204" pitchFamily="18" charset="0"/>
                                    <a:ea typeface="Times New Roman" panose="02020603050405020304" pitchFamily="18" charset="0"/>
                                  </a:rPr>
                                  <m:t>𝒕𝒐</m:t>
                                </m:r>
                                <m:r>
                                  <a:rPr lang="en-CA" sz="1600" b="1" i="1">
                                    <a:solidFill>
                                      <a:schemeClr val="tx1"/>
                                    </a:solidFill>
                                    <a:latin typeface="Cambria Math" panose="02040503050406030204" pitchFamily="18" charset="0"/>
                                    <a:ea typeface="Times New Roman" panose="02020603050405020304" pitchFamily="18" charset="0"/>
                                  </a:rPr>
                                  <m:t> +∆</m:t>
                                </m:r>
                                <m:r>
                                  <a:rPr lang="en-CA" sz="1600" b="1" i="1">
                                    <a:solidFill>
                                      <a:schemeClr val="tx1"/>
                                    </a:solidFill>
                                    <a:latin typeface="Cambria Math" panose="02040503050406030204" pitchFamily="18" charset="0"/>
                                    <a:ea typeface="Times New Roman" panose="02020603050405020304" pitchFamily="18" charset="0"/>
                                  </a:rPr>
                                  <m:t>𝒕</m:t>
                                </m:r>
                                <m:r>
                                  <a:rPr lang="en-CA" sz="1600" b="1" i="1">
                                    <a:solidFill>
                                      <a:schemeClr val="tx1"/>
                                    </a:solidFill>
                                    <a:latin typeface="Cambria Math" panose="02040503050406030204" pitchFamily="18" charset="0"/>
                                    <a:ea typeface="Times New Roman" panose="02020603050405020304" pitchFamily="18" charset="0"/>
                                  </a:rPr>
                                  <m:t> </m:t>
                                </m:r>
                              </m:sub>
                            </m:sSub>
                            <m:r>
                              <a:rPr lang="en-CA" sz="1600" b="1" i="1">
                                <a:solidFill>
                                  <a:schemeClr val="tx1"/>
                                </a:solidFill>
                                <a:latin typeface="Cambria Math" panose="02040503050406030204" pitchFamily="18" charset="0"/>
                                <a:ea typeface="Times New Roman" panose="02020603050405020304" pitchFamily="18" charset="0"/>
                              </a:rPr>
                              <m:t>−</m:t>
                            </m:r>
                            <m:sSub>
                              <m:sSubPr>
                                <m:ctrlPr>
                                  <a:rPr lang="en-CA" sz="1600" b="1" i="1" smtClean="0">
                                    <a:solidFill>
                                      <a:schemeClr val="tx1"/>
                                    </a:solidFill>
                                    <a:latin typeface="Cambria Math" panose="02040503050406030204" pitchFamily="18" charset="0"/>
                                    <a:ea typeface="Times New Roman" panose="02020603050405020304" pitchFamily="18" charset="0"/>
                                  </a:rPr>
                                </m:ctrlPr>
                              </m:sSubPr>
                              <m:e>
                                <m:d>
                                  <m:dPr>
                                    <m:begChr m:val=""/>
                                    <m:ctrlPr>
                                      <a:rPr lang="en-CA" sz="1600" b="1" i="1">
                                        <a:solidFill>
                                          <a:schemeClr val="tx1"/>
                                        </a:solidFill>
                                        <a:latin typeface="Cambria Math" panose="02040503050406030204" pitchFamily="18" charset="0"/>
                                        <a:ea typeface="Times New Roman" panose="02020603050405020304" pitchFamily="18" charset="0"/>
                                      </a:rPr>
                                    </m:ctrlPr>
                                  </m:dPr>
                                  <m:e>
                                    <m:sSub>
                                      <m:sSubPr>
                                        <m:ctrlPr>
                                          <a:rPr lang="en-CA" sz="1600" b="1" i="1">
                                            <a:solidFill>
                                              <a:schemeClr val="tx1"/>
                                            </a:solidFill>
                                            <a:latin typeface="Cambria Math" panose="02040503050406030204" pitchFamily="18" charset="0"/>
                                            <a:ea typeface="Times New Roman" panose="02020603050405020304" pitchFamily="18" charset="0"/>
                                          </a:rPr>
                                        </m:ctrlPr>
                                      </m:sSubPr>
                                      <m:e>
                                        <m:r>
                                          <a:rPr lang="en-CA" sz="1600" b="1" i="1">
                                            <a:solidFill>
                                              <a:schemeClr val="tx1"/>
                                            </a:solidFill>
                                            <a:latin typeface="Cambria Math" panose="02040503050406030204" pitchFamily="18" charset="0"/>
                                            <a:ea typeface="Times New Roman" panose="02020603050405020304" pitchFamily="18" charset="0"/>
                                          </a:rPr>
                                          <m:t>𝑵</m:t>
                                        </m:r>
                                      </m:e>
                                      <m:sub>
                                        <m:r>
                                          <a:rPr lang="en-CA" sz="1600" b="1" i="1">
                                            <a:solidFill>
                                              <a:schemeClr val="tx1"/>
                                            </a:solidFill>
                                            <a:latin typeface="Cambria Math" panose="02040503050406030204" pitchFamily="18" charset="0"/>
                                            <a:ea typeface="Times New Roman" panose="02020603050405020304" pitchFamily="18" charset="0"/>
                                          </a:rPr>
                                          <m:t>𝑪𝑽</m:t>
                                        </m:r>
                                      </m:sub>
                                    </m:sSub>
                                  </m:e>
                                </m:d>
                              </m:e>
                              <m:sub>
                                <m:r>
                                  <a:rPr lang="en-CA" sz="1600" b="1" i="1">
                                    <a:solidFill>
                                      <a:schemeClr val="tx1"/>
                                    </a:solidFill>
                                    <a:latin typeface="Cambria Math" panose="02040503050406030204" pitchFamily="18" charset="0"/>
                                    <a:ea typeface="Times New Roman" panose="02020603050405020304" pitchFamily="18" charset="0"/>
                                  </a:rPr>
                                  <m:t>𝒕𝒐</m:t>
                                </m:r>
                                <m:r>
                                  <a:rPr lang="en-CA" sz="1600" b="1" i="1">
                                    <a:solidFill>
                                      <a:schemeClr val="tx1"/>
                                    </a:solidFill>
                                    <a:latin typeface="Cambria Math" panose="02040503050406030204" pitchFamily="18" charset="0"/>
                                    <a:ea typeface="Times New Roman" panose="02020603050405020304" pitchFamily="18" charset="0"/>
                                  </a:rPr>
                                  <m:t>  </m:t>
                                </m:r>
                              </m:sub>
                            </m:sSub>
                          </m:num>
                          <m:den>
                            <m:r>
                              <a:rPr lang="en-CA" sz="1600" b="1" i="1">
                                <a:solidFill>
                                  <a:schemeClr val="tx1"/>
                                </a:solidFill>
                                <a:latin typeface="Cambria Math" panose="02040503050406030204" pitchFamily="18" charset="0"/>
                                <a:ea typeface="Times New Roman" panose="02020603050405020304" pitchFamily="18" charset="0"/>
                                <a:sym typeface="Symbol" panose="05050102010706020507" pitchFamily="18" charset="2"/>
                              </a:rPr>
                              <m:t></m:t>
                            </m:r>
                            <m:r>
                              <a:rPr lang="en-CA" sz="1600" b="1" i="1">
                                <a:solidFill>
                                  <a:schemeClr val="tx1"/>
                                </a:solidFill>
                                <a:latin typeface="Cambria Math" panose="02040503050406030204" pitchFamily="18" charset="0"/>
                                <a:ea typeface="Times New Roman" panose="02020603050405020304" pitchFamily="18" charset="0"/>
                              </a:rPr>
                              <m:t>𝒕</m:t>
                            </m:r>
                            <m:r>
                              <a:rPr lang="en-CA" sz="1600" b="1" i="1">
                                <a:solidFill>
                                  <a:schemeClr val="tx1"/>
                                </a:solidFill>
                                <a:latin typeface="Cambria Math" panose="02040503050406030204" pitchFamily="18" charset="0"/>
                                <a:ea typeface="Times New Roman" panose="02020603050405020304" pitchFamily="18" charset="0"/>
                              </a:rPr>
                              <m:t> </m:t>
                            </m:r>
                          </m:den>
                        </m:f>
                      </m:e>
                    </m:func>
                  </m:oMath>
                </a14:m>
                <a:endParaRPr lang="en-CA" sz="1600" b="1" dirty="0">
                  <a:solidFill>
                    <a:schemeClr val="tx1"/>
                  </a:solidFill>
                  <a:effectLst/>
                  <a:latin typeface="+mn-lt"/>
                  <a:ea typeface="Times New Roman" panose="02020603050405020304" pitchFamily="18" charset="0"/>
                </a:endParaRPr>
              </a:p>
              <a:p>
                <a:pPr marL="0" indent="0">
                  <a:lnSpc>
                    <a:spcPct val="210000"/>
                  </a:lnSpc>
                  <a:spcBef>
                    <a:spcPts val="1800"/>
                  </a:spcBef>
                  <a:spcAft>
                    <a:spcPts val="1800"/>
                  </a:spcAft>
                  <a:buNone/>
                </a:pPr>
                <a14:m>
                  <m:oMathPara xmlns:m="http://schemas.openxmlformats.org/officeDocument/2006/math">
                    <m:oMathParaPr>
                      <m:jc m:val="centerGroup"/>
                    </m:oMathParaPr>
                    <m:oMath xmlns:m="http://schemas.openxmlformats.org/officeDocument/2006/math">
                      <m:sSub>
                        <m:sSubPr>
                          <m:ctrlPr>
                            <a:rPr lang="en-CA" sz="1600" b="1" i="1">
                              <a:solidFill>
                                <a:schemeClr val="tx1"/>
                              </a:solidFill>
                              <a:latin typeface="Cambria Math" panose="02040503050406030204" pitchFamily="18" charset="0"/>
                            </a:rPr>
                          </m:ctrlPr>
                        </m:sSubPr>
                        <m:e>
                          <m:d>
                            <m:dPr>
                              <m:begChr m:val=""/>
                              <m:ctrlPr>
                                <a:rPr lang="en-CA" sz="1600" b="1" i="1">
                                  <a:solidFill>
                                    <a:schemeClr val="tx1"/>
                                  </a:solidFill>
                                  <a:latin typeface="Cambria Math" panose="02040503050406030204" pitchFamily="18" charset="0"/>
                                </a:rPr>
                              </m:ctrlPr>
                            </m:dPr>
                            <m:e>
                              <m:f>
                                <m:fPr>
                                  <m:ctrlPr>
                                    <a:rPr lang="en-CA" sz="1600" b="1" i="1">
                                      <a:solidFill>
                                        <a:schemeClr val="tx1"/>
                                      </a:solidFill>
                                      <a:latin typeface="Cambria Math" panose="02040503050406030204" pitchFamily="18" charset="0"/>
                                    </a:rPr>
                                  </m:ctrlPr>
                                </m:fPr>
                                <m:num>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𝒅𝑵</m:t>
                                  </m:r>
                                </m:num>
                                <m:den>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𝒅𝒕</m:t>
                                  </m:r>
                                </m:den>
                              </m:f>
                            </m:e>
                          </m:d>
                        </m:e>
                        <m: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𝒔</m:t>
                          </m:r>
                        </m:sub>
                      </m:s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func>
                        <m:funcPr>
                          <m:ctrlPr>
                            <a:rPr lang="en-CA" sz="1600" b="1" i="1">
                              <a:solidFill>
                                <a:schemeClr val="tx1"/>
                              </a:solidFill>
                              <a:latin typeface="Cambria Math" panose="02040503050406030204" pitchFamily="18" charset="0"/>
                            </a:rPr>
                          </m:ctrlPr>
                        </m:funcPr>
                        <m:fName>
                          <m:limLow>
                            <m:limLowPr>
                              <m:ctrlPr>
                                <a:rPr lang="en-CA" sz="1600" b="1" i="1" smtClean="0">
                                  <a:solidFill>
                                    <a:schemeClr val="tx1"/>
                                  </a:solidFill>
                                  <a:latin typeface="Cambria Math" panose="02040503050406030204" pitchFamily="18" charset="0"/>
                                </a:rPr>
                              </m:ctrlPr>
                            </m:limLowPr>
                            <m:e>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𝒍𝒊𝒎</m:t>
                              </m:r>
                            </m:e>
                            <m:lim>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sym typeface="Symbol" panose="05050102010706020507" pitchFamily="18" charset="2"/>
                                </a:rPr>
                                <m:t></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𝟎</m:t>
                              </m:r>
                            </m:lim>
                          </m:limLow>
                        </m:fName>
                        <m:e>
                          <m:f>
                            <m:fPr>
                              <m:ctrlPr>
                                <a:rPr lang="en-CA" sz="1600" b="1" i="1">
                                  <a:solidFill>
                                    <a:schemeClr val="tx1"/>
                                  </a:solidFill>
                                  <a:latin typeface="Cambria Math" panose="02040503050406030204" pitchFamily="18" charset="0"/>
                                </a:rPr>
                              </m:ctrlPr>
                            </m:fPr>
                            <m:num>
                              <m:sSub>
                                <m:sSubPr>
                                  <m:ctrlPr>
                                    <a:rPr lang="en-CA" sz="1600" b="1" i="1">
                                      <a:solidFill>
                                        <a:schemeClr val="tx1"/>
                                      </a:solidFill>
                                      <a:latin typeface="Cambria Math" panose="02040503050406030204" pitchFamily="18" charset="0"/>
                                    </a:rPr>
                                  </m:ctrlPr>
                                </m:sSubPr>
                                <m:e>
                                  <m:d>
                                    <m:dPr>
                                      <m:begChr m:val=""/>
                                      <m:ctrlPr>
                                        <a:rPr lang="en-CA" sz="1600" b="1" i="1">
                                          <a:solidFill>
                                            <a:schemeClr val="tx1"/>
                                          </a:solidFill>
                                          <a:latin typeface="Cambria Math" panose="02040503050406030204" pitchFamily="18" charset="0"/>
                                        </a:rPr>
                                      </m:ctrlPr>
                                    </m:dPr>
                                    <m:e>
                                      <m:sSub>
                                        <m:sSubPr>
                                          <m:ctrlPr>
                                            <a:rPr lang="en-CA" sz="1600" b="1" i="1">
                                              <a:solidFill>
                                                <a:schemeClr val="tx1"/>
                                              </a:solidFill>
                                              <a:latin typeface="Cambria Math" panose="02040503050406030204" pitchFamily="18" charset="0"/>
                                            </a:rPr>
                                          </m:ctrlPr>
                                        </m:sSubPr>
                                        <m:e>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𝑵</m:t>
                                          </m:r>
                                        </m:e>
                                        <m: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𝑪𝑽</m:t>
                                          </m:r>
                                        </m:sub>
                                      </m:sSub>
                                    </m:e>
                                  </m:d>
                                </m:e>
                                <m: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𝒕𝒐</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sub>
                              </m:s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CA" sz="1600" b="1" i="1">
                                      <a:solidFill>
                                        <a:schemeClr val="tx1"/>
                                      </a:solidFill>
                                      <a:latin typeface="Cambria Math" panose="02040503050406030204" pitchFamily="18" charset="0"/>
                                    </a:rPr>
                                  </m:ctrlPr>
                                </m:sSubPr>
                                <m:e>
                                  <m:d>
                                    <m:dPr>
                                      <m:begChr m:val=""/>
                                      <m:ctrlPr>
                                        <a:rPr lang="en-CA" sz="1600" b="1" i="1">
                                          <a:solidFill>
                                            <a:schemeClr val="tx1"/>
                                          </a:solidFill>
                                          <a:latin typeface="Cambria Math" panose="02040503050406030204" pitchFamily="18" charset="0"/>
                                        </a:rPr>
                                      </m:ctrlPr>
                                    </m:dPr>
                                    <m:e>
                                      <m:sSub>
                                        <m:sSubPr>
                                          <m:ctrlPr>
                                            <a:rPr lang="en-CA" sz="1600" b="1" i="1">
                                              <a:solidFill>
                                                <a:schemeClr val="tx1"/>
                                              </a:solidFill>
                                              <a:latin typeface="Cambria Math" panose="02040503050406030204" pitchFamily="18" charset="0"/>
                                            </a:rPr>
                                          </m:ctrlPr>
                                        </m:sSubPr>
                                        <m:e>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𝑵</m:t>
                                          </m:r>
                                        </m:e>
                                        <m: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𝑪𝑽</m:t>
                                          </m:r>
                                        </m:sub>
                                      </m:sSub>
                                    </m:e>
                                  </m:d>
                                </m:e>
                                <m: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𝒕𝒐</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sub>
                              </m:sSub>
                            </m:num>
                            <m:den>
                              <m:r>
                                <a:rPr lang="en-US" sz="1600" b="1"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sym typeface="Symbol" panose="05050102010706020507" pitchFamily="18" charset="2"/>
                                </a:rPr>
                                <m:t></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den>
                          </m:f>
                        </m:e>
                      </m:func>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func>
                        <m:funcPr>
                          <m:ctrlPr>
                            <a:rPr lang="en-CA" sz="1600" b="1" i="1">
                              <a:solidFill>
                                <a:schemeClr val="tx1"/>
                              </a:solidFill>
                              <a:latin typeface="Cambria Math" panose="02040503050406030204" pitchFamily="18" charset="0"/>
                            </a:rPr>
                          </m:ctrlPr>
                        </m:funcPr>
                        <m:fName>
                          <m:limLow>
                            <m:limLowPr>
                              <m:ctrlPr>
                                <a:rPr lang="en-CA" sz="1600" b="1" i="1">
                                  <a:solidFill>
                                    <a:schemeClr val="tx1"/>
                                  </a:solidFill>
                                  <a:latin typeface="Cambria Math" panose="02040503050406030204" pitchFamily="18" charset="0"/>
                                </a:rPr>
                              </m:ctrlPr>
                            </m:limLowPr>
                            <m:e>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𝒍𝒊𝒎</m:t>
                              </m:r>
                            </m:e>
                            <m:lim>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sym typeface="Symbol" panose="05050102010706020507" pitchFamily="18" charset="2"/>
                                </a:rPr>
                                <m:t></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𝟎</m:t>
                              </m:r>
                            </m:lim>
                          </m:limLow>
                        </m:fName>
                        <m:e>
                          <m:f>
                            <m:fPr>
                              <m:ctrlPr>
                                <a:rPr lang="en-CA" sz="1600" b="1" i="1">
                                  <a:solidFill>
                                    <a:schemeClr val="tx1"/>
                                  </a:solidFill>
                                  <a:latin typeface="Cambria Math" panose="02040503050406030204" pitchFamily="18" charset="0"/>
                                </a:rPr>
                              </m:ctrlPr>
                            </m:fPr>
                            <m:num>
                              <m:sSub>
                                <m:sSubPr>
                                  <m:ctrlPr>
                                    <a:rPr lang="en-CA" sz="1600" b="1" i="1">
                                      <a:solidFill>
                                        <a:schemeClr val="tx1"/>
                                      </a:solidFill>
                                      <a:latin typeface="Cambria Math" panose="02040503050406030204" pitchFamily="18" charset="0"/>
                                    </a:rPr>
                                  </m:ctrlPr>
                                </m:sSubPr>
                                <m:e>
                                  <m:d>
                                    <m:dPr>
                                      <m:begChr m:val=""/>
                                      <m:ctrlPr>
                                        <a:rPr lang="en-CA" sz="1600" b="1" i="1">
                                          <a:solidFill>
                                            <a:schemeClr val="tx1"/>
                                          </a:solidFill>
                                          <a:latin typeface="Cambria Math" panose="02040503050406030204" pitchFamily="18" charset="0"/>
                                        </a:rPr>
                                      </m:ctrlPr>
                                    </m:dPr>
                                    <m:e>
                                      <m:sSub>
                                        <m:sSubPr>
                                          <m:ctrlPr>
                                            <a:rPr lang="en-CA" sz="1600" b="1" i="1">
                                              <a:solidFill>
                                                <a:schemeClr val="tx1"/>
                                              </a:solidFill>
                                              <a:latin typeface="Cambria Math" panose="02040503050406030204" pitchFamily="18" charset="0"/>
                                            </a:rPr>
                                          </m:ctrlPr>
                                        </m:sSubPr>
                                        <m:e>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𝑵</m:t>
                                          </m:r>
                                        </m:e>
                                        <m: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𝑰𝑰𝑰</m:t>
                                          </m:r>
                                        </m:sub>
                                      </m:sSub>
                                    </m:e>
                                  </m:d>
                                </m:e>
                                <m: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𝒕𝒐</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sub>
                              </m:sSub>
                            </m:num>
                            <m:den>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sym typeface="Symbol" panose="05050102010706020507" pitchFamily="18" charset="2"/>
                                </a:rPr>
                                <m:t></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den>
                          </m:f>
                        </m:e>
                      </m:func>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func>
                        <m:funcPr>
                          <m:ctrlPr>
                            <a:rPr lang="en-CA" sz="1600" b="1" i="1">
                              <a:solidFill>
                                <a:schemeClr val="tx1"/>
                              </a:solidFill>
                              <a:latin typeface="Cambria Math" panose="02040503050406030204" pitchFamily="18" charset="0"/>
                            </a:rPr>
                          </m:ctrlPr>
                        </m:funcPr>
                        <m:fName>
                          <m:limLow>
                            <m:limLowPr>
                              <m:ctrlPr>
                                <a:rPr lang="en-CA" sz="1600" b="1" i="1" smtClean="0">
                                  <a:solidFill>
                                    <a:schemeClr val="tx1"/>
                                  </a:solidFill>
                                  <a:latin typeface="Cambria Math" panose="02040503050406030204" pitchFamily="18" charset="0"/>
                                </a:rPr>
                              </m:ctrlPr>
                            </m:limLowPr>
                            <m:e>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𝒍𝒊𝒎</m:t>
                              </m:r>
                            </m:e>
                            <m:lim>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sym typeface="Symbol" panose="05050102010706020507" pitchFamily="18" charset="2"/>
                                </a:rPr>
                                <m:t></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𝟎</m:t>
                              </m:r>
                            </m:lim>
                          </m:limLow>
                        </m:fName>
                        <m:e>
                          <m:f>
                            <m:fPr>
                              <m:ctrlPr>
                                <a:rPr lang="en-CA" sz="1600" b="1" i="1" smtClean="0">
                                  <a:solidFill>
                                    <a:schemeClr val="tx1"/>
                                  </a:solidFill>
                                  <a:latin typeface="Cambria Math" panose="02040503050406030204" pitchFamily="18" charset="0"/>
                                </a:rPr>
                              </m:ctrlPr>
                            </m:fPr>
                            <m:num>
                              <m:sSub>
                                <m:sSubPr>
                                  <m:ctrlPr>
                                    <a:rPr lang="en-CA" sz="1600" b="1" i="1">
                                      <a:solidFill>
                                        <a:schemeClr val="tx1"/>
                                      </a:solidFill>
                                      <a:latin typeface="Cambria Math" panose="02040503050406030204" pitchFamily="18" charset="0"/>
                                    </a:rPr>
                                  </m:ctrlPr>
                                </m:sSubPr>
                                <m:e>
                                  <m:d>
                                    <m:dPr>
                                      <m:begChr m:val=""/>
                                      <m:ctrlPr>
                                        <a:rPr lang="en-CA" sz="1600" b="1" i="1">
                                          <a:solidFill>
                                            <a:schemeClr val="tx1"/>
                                          </a:solidFill>
                                          <a:latin typeface="Cambria Math" panose="02040503050406030204" pitchFamily="18" charset="0"/>
                                        </a:rPr>
                                      </m:ctrlPr>
                                    </m:dPr>
                                    <m:e>
                                      <m:sSub>
                                        <m:sSubPr>
                                          <m:ctrlPr>
                                            <a:rPr lang="en-CA" sz="1600" b="1" i="1">
                                              <a:solidFill>
                                                <a:schemeClr val="tx1"/>
                                              </a:solidFill>
                                              <a:latin typeface="Cambria Math" panose="02040503050406030204" pitchFamily="18" charset="0"/>
                                            </a:rPr>
                                          </m:ctrlPr>
                                        </m:sSubPr>
                                        <m:e>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𝑵</m:t>
                                          </m:r>
                                        </m:e>
                                        <m: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𝑰</m:t>
                                          </m:r>
                                        </m:sub>
                                      </m:sSub>
                                    </m:e>
                                  </m:d>
                                </m:e>
                                <m:sub>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𝒕𝒐</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sub>
                              </m:sSub>
                            </m:num>
                            <m:den>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sym typeface="Symbol" panose="05050102010706020507" pitchFamily="18" charset="2"/>
                                </a:rPr>
                                <m:t></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𝒕</m:t>
                              </m:r>
                              <m:r>
                                <a:rPr lang="en-US"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den>
                          </m:f>
                        </m:e>
                      </m:func>
                    </m:oMath>
                  </m:oMathPara>
                </a14:m>
                <a:endParaRPr lang="en-CA" sz="1600" b="1"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5335" y="611375"/>
                <a:ext cx="6266264" cy="5554688"/>
              </a:xfrm>
              <a:blipFill>
                <a:blip r:embed="rId4"/>
                <a:stretch>
                  <a:fillRect l="-389" t="-220"/>
                </a:stretch>
              </a:blipFill>
            </p:spPr>
            <p:txBody>
              <a:bodyPr/>
              <a:lstStyle/>
              <a:p>
                <a:r>
                  <a:rPr lang="en-GH">
                    <a:noFill/>
                  </a:rPr>
                  <a:t> </a:t>
                </a:r>
              </a:p>
            </p:txBody>
          </p:sp>
        </mc:Fallback>
      </mc:AlternateContent>
      <p:grpSp>
        <p:nvGrpSpPr>
          <p:cNvPr id="7" name="Group 6"/>
          <p:cNvGrpSpPr/>
          <p:nvPr/>
        </p:nvGrpSpPr>
        <p:grpSpPr>
          <a:xfrm>
            <a:off x="1346248" y="5713785"/>
            <a:ext cx="4935756" cy="336558"/>
            <a:chOff x="3224934" y="5660147"/>
            <a:chExt cx="4614759" cy="336558"/>
          </a:xfrm>
        </p:grpSpPr>
        <p:sp>
          <p:nvSpPr>
            <p:cNvPr id="4" name="TextBox 3"/>
            <p:cNvSpPr txBox="1"/>
            <p:nvPr/>
          </p:nvSpPr>
          <p:spPr>
            <a:xfrm>
              <a:off x="3224934" y="5660147"/>
              <a:ext cx="603278" cy="307777"/>
            </a:xfrm>
            <a:prstGeom prst="rect">
              <a:avLst/>
            </a:prstGeom>
            <a:noFill/>
          </p:spPr>
          <p:txBody>
            <a:bodyPr wrap="none" rtlCol="0">
              <a:spAutoFit/>
            </a:bodyPr>
            <a:lstStyle/>
            <a:p>
              <a:r>
                <a:rPr lang="en-CA" sz="1400" b="1" dirty="0">
                  <a:latin typeface="Myriad Web Pro"/>
                </a:rPr>
                <a:t>Term I</a:t>
              </a:r>
            </a:p>
          </p:txBody>
        </p:sp>
        <p:sp>
          <p:nvSpPr>
            <p:cNvPr id="5" name="TextBox 4"/>
            <p:cNvSpPr txBox="1"/>
            <p:nvPr/>
          </p:nvSpPr>
          <p:spPr>
            <a:xfrm>
              <a:off x="5352226" y="5688928"/>
              <a:ext cx="710229" cy="307777"/>
            </a:xfrm>
            <a:prstGeom prst="rect">
              <a:avLst/>
            </a:prstGeom>
            <a:noFill/>
          </p:spPr>
          <p:txBody>
            <a:bodyPr wrap="none" rtlCol="0">
              <a:spAutoFit/>
            </a:bodyPr>
            <a:lstStyle/>
            <a:p>
              <a:r>
                <a:rPr lang="en-CA" sz="1400" b="1" dirty="0">
                  <a:latin typeface="Myriad Web Pro"/>
                </a:rPr>
                <a:t>Term II</a:t>
              </a:r>
            </a:p>
          </p:txBody>
        </p:sp>
        <p:sp>
          <p:nvSpPr>
            <p:cNvPr id="6" name="TextBox 5"/>
            <p:cNvSpPr txBox="1"/>
            <p:nvPr/>
          </p:nvSpPr>
          <p:spPr>
            <a:xfrm>
              <a:off x="7146490" y="5688928"/>
              <a:ext cx="693203" cy="307777"/>
            </a:xfrm>
            <a:prstGeom prst="rect">
              <a:avLst/>
            </a:prstGeom>
            <a:noFill/>
          </p:spPr>
          <p:txBody>
            <a:bodyPr wrap="none" rtlCol="0">
              <a:spAutoFit/>
            </a:bodyPr>
            <a:lstStyle/>
            <a:p>
              <a:r>
                <a:rPr lang="en-CA" sz="1400" b="1" dirty="0">
                  <a:latin typeface="Myriad Web Pro"/>
                </a:rPr>
                <a:t>Term III</a:t>
              </a:r>
            </a:p>
          </p:txBody>
        </p:sp>
      </p:grpSp>
      <p:sp>
        <p:nvSpPr>
          <p:cNvPr id="12" name="Slide Number Placeholder 11">
            <a:extLst>
              <a:ext uri="{FF2B5EF4-FFF2-40B4-BE49-F238E27FC236}">
                <a16:creationId xmlns:a16="http://schemas.microsoft.com/office/drawing/2014/main" id="{B63170D9-7838-C6E3-F378-935BF1B917F9}"/>
              </a:ext>
            </a:extLst>
          </p:cNvPr>
          <p:cNvSpPr>
            <a:spLocks noGrp="1"/>
          </p:cNvSpPr>
          <p:nvPr>
            <p:ph type="sldNum" sz="quarter" idx="12"/>
          </p:nvPr>
        </p:nvSpPr>
        <p:spPr/>
        <p:txBody>
          <a:bodyPr/>
          <a:lstStyle/>
          <a:p>
            <a:fld id="{49FCB85E-0F77-4855-90A7-7A1B61BB679B}" type="slidenum">
              <a:rPr lang="en-CA" smtClean="0"/>
              <a:t>13</a:t>
            </a:fld>
            <a:endParaRPr lang="en-CA"/>
          </a:p>
        </p:txBody>
      </p:sp>
    </p:spTree>
    <p:extLst>
      <p:ext uri="{BB962C8B-B14F-4D97-AF65-F5344CB8AC3E}">
        <p14:creationId xmlns:p14="http://schemas.microsoft.com/office/powerpoint/2010/main" val="2880146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4637"/>
            <a:ext cx="9144000" cy="409995"/>
          </a:xfrm>
        </p:spPr>
        <p:txBody>
          <a:bodyPr>
            <a:noAutofit/>
          </a:bodyPr>
          <a:lstStyle/>
          <a:p>
            <a:r>
              <a:rPr lang="en-CA" sz="2400" dirty="0">
                <a:solidFill>
                  <a:schemeClr val="tx1"/>
                </a:solidFill>
                <a:latin typeface="+mn-lt"/>
                <a:ea typeface="Verdana" panose="020B0604030504040204" pitchFamily="34" charset="0"/>
                <a:cs typeface="Verdana" panose="020B0604030504040204" pitchFamily="34" charset="0"/>
              </a:rPr>
              <a:t>Derivation of </a:t>
            </a:r>
            <a:r>
              <a:rPr lang="en-CA" sz="2400" dirty="0" err="1">
                <a:solidFill>
                  <a:schemeClr val="tx1"/>
                </a:solidFill>
                <a:latin typeface="+mn-lt"/>
                <a:ea typeface="Verdana" panose="020B0604030504040204" pitchFamily="34" charset="0"/>
                <a:cs typeface="Verdana" panose="020B0604030504040204" pitchFamily="34" charset="0"/>
              </a:rPr>
              <a:t>RTT</a:t>
            </a:r>
            <a:endParaRPr lang="en-CA" sz="2400" dirty="0">
              <a:solidFill>
                <a:schemeClr val="tx1"/>
              </a:solidFill>
              <a:latin typeface="+mn-lt"/>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8536" y="614021"/>
                <a:ext cx="8187679" cy="5046115"/>
              </a:xfrm>
            </p:spPr>
            <p:txBody>
              <a:bodyPr>
                <a:normAutofit/>
              </a:bodyPr>
              <a:lstStyle/>
              <a:p>
                <a:pPr>
                  <a:lnSpc>
                    <a:spcPct val="150000"/>
                  </a:lnSpc>
                  <a:spcBef>
                    <a:spcPts val="1800"/>
                  </a:spcBef>
                </a:pPr>
                <a:r>
                  <a:rPr lang="en-CA" sz="2000" b="1" dirty="0">
                    <a:latin typeface="+mn-lt"/>
                  </a:rPr>
                  <a:t>After some algebra and simplification, we have</a:t>
                </a:r>
              </a:p>
              <a:p>
                <a:pPr marL="0" indent="0">
                  <a:lnSpc>
                    <a:spcPct val="150000"/>
                  </a:lnSpc>
                  <a:spcBef>
                    <a:spcPts val="1800"/>
                  </a:spcBef>
                  <a:buNone/>
                </a:pPr>
                <a14:m>
                  <m:oMathPara xmlns:m="http://schemas.openxmlformats.org/officeDocument/2006/math">
                    <m:oMathParaPr>
                      <m:jc m:val="centerGroup"/>
                    </m:oMathParaPr>
                    <m:oMath xmlns:m="http://schemas.openxmlformats.org/officeDocument/2006/math">
                      <m:sSub>
                        <m:sSubPr>
                          <m:ctrlPr>
                            <a:rPr lang="en-CA" sz="2000" b="1" i="1" smtClean="0">
                              <a:solidFill>
                                <a:schemeClr val="tx1"/>
                              </a:solidFill>
                              <a:latin typeface="Cambria Math" panose="02040503050406030204" pitchFamily="18" charset="0"/>
                              <a:ea typeface="Times New Roman" panose="02020603050405020304" pitchFamily="18" charset="0"/>
                            </a:rPr>
                          </m:ctrlPr>
                        </m:sSubPr>
                        <m:e>
                          <m:d>
                            <m:dPr>
                              <m:begChr m:val=""/>
                              <m:ctrlPr>
                                <a:rPr lang="en-CA" sz="2000" b="1" i="1">
                                  <a:solidFill>
                                    <a:schemeClr val="tx1"/>
                                  </a:solidFill>
                                  <a:latin typeface="Cambria Math" panose="02040503050406030204" pitchFamily="18" charset="0"/>
                                  <a:ea typeface="Times New Roman" panose="02020603050405020304" pitchFamily="18" charset="0"/>
                                </a:rPr>
                              </m:ctrlPr>
                            </m:dPr>
                            <m:e>
                              <m:f>
                                <m:fPr>
                                  <m:ctrlPr>
                                    <a:rPr lang="en-CA" sz="2000" b="1" i="1">
                                      <a:solidFill>
                                        <a:schemeClr val="tx1"/>
                                      </a:solidFill>
                                      <a:latin typeface="Cambria Math" panose="02040503050406030204" pitchFamily="18" charset="0"/>
                                      <a:ea typeface="Times New Roman" panose="02020603050405020304" pitchFamily="18" charset="0"/>
                                    </a:rPr>
                                  </m:ctrlPr>
                                </m:fPr>
                                <m:num>
                                  <m:r>
                                    <a:rPr lang="en-CA" sz="2000" b="1" i="1">
                                      <a:solidFill>
                                        <a:schemeClr val="tx1"/>
                                      </a:solidFill>
                                      <a:latin typeface="Cambria Math" panose="02040503050406030204" pitchFamily="18" charset="0"/>
                                      <a:ea typeface="Times New Roman" panose="02020603050405020304" pitchFamily="18" charset="0"/>
                                    </a:rPr>
                                    <m:t>𝒅𝑵</m:t>
                                  </m:r>
                                </m:num>
                                <m:den>
                                  <m:r>
                                    <a:rPr lang="en-CA" sz="2000" b="1" i="1">
                                      <a:solidFill>
                                        <a:schemeClr val="tx1"/>
                                      </a:solidFill>
                                      <a:latin typeface="Cambria Math" panose="02040503050406030204" pitchFamily="18" charset="0"/>
                                      <a:ea typeface="Times New Roman" panose="02020603050405020304" pitchFamily="18" charset="0"/>
                                    </a:rPr>
                                    <m:t>𝒅𝒕</m:t>
                                  </m:r>
                                </m:den>
                              </m:f>
                            </m:e>
                          </m:d>
                        </m:e>
                        <m:sub>
                          <m:r>
                            <a:rPr lang="en-CA" sz="2000" b="1" i="1">
                              <a:solidFill>
                                <a:schemeClr val="tx1"/>
                              </a:solidFill>
                              <a:latin typeface="Cambria Math" panose="02040503050406030204" pitchFamily="18" charset="0"/>
                              <a:ea typeface="Times New Roman" panose="02020603050405020304" pitchFamily="18" charset="0"/>
                            </a:rPr>
                            <m:t>𝒔</m:t>
                          </m:r>
                        </m:sub>
                      </m:sSub>
                      <m:r>
                        <a:rPr lang="en-CA" sz="2000" b="1" i="1">
                          <a:solidFill>
                            <a:schemeClr val="tx1"/>
                          </a:solidFill>
                          <a:latin typeface="Cambria Math" panose="02040503050406030204" pitchFamily="18" charset="0"/>
                          <a:ea typeface="Times New Roman" panose="02020603050405020304" pitchFamily="18" charset="0"/>
                        </a:rPr>
                        <m:t>=</m:t>
                      </m:r>
                      <m:f>
                        <m:fPr>
                          <m:ctrlPr>
                            <a:rPr lang="en-CA" sz="2000" b="1" i="1" smtClean="0">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a:solidFill>
                                <a:schemeClr val="tx1"/>
                              </a:solidFill>
                              <a:latin typeface="Cambria Math" panose="02040503050406030204" pitchFamily="18" charset="0"/>
                              <a:ea typeface="Cambria Math" panose="02040503050406030204" pitchFamily="18" charset="0"/>
                            </a:rPr>
                            <m:t>𝜼𝝆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i="0" smtClean="0">
                          <a:solidFill>
                            <a:schemeClr val="tx1"/>
                          </a:solidFill>
                          <a:latin typeface="Cambria Math" panose="02040503050406030204" pitchFamily="18" charset="0"/>
                          <a:ea typeface="Cambria Math" panose="02040503050406030204" pitchFamily="18" charset="0"/>
                        </a:rPr>
                        <m:t>+</m:t>
                      </m:r>
                      <m:nary>
                        <m:naryPr>
                          <m:ctrlPr>
                            <a:rPr lang="en-CA" sz="2000" b="1" i="1" smtClean="0">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r>
                            <a:rPr lang="en-CA" sz="2000" b="1" i="1">
                              <a:solidFill>
                                <a:schemeClr val="tx1"/>
                              </a:solidFill>
                              <a:latin typeface="Cambria Math" panose="02040503050406030204" pitchFamily="18" charset="0"/>
                            </a:rPr>
                            <m:t>−</m:t>
                          </m:r>
                          <m:r>
                            <a:rPr lang="en-CA" sz="2000" b="1" i="1">
                              <a:solidFill>
                                <a:schemeClr val="tx1"/>
                              </a:solidFill>
                              <a:latin typeface="Cambria Math" panose="02040503050406030204" pitchFamily="18" charset="0"/>
                            </a:rPr>
                            <m:t>𝑰𝑰𝑰</m:t>
                          </m:r>
                        </m:sub>
                        <m:sup/>
                        <m:e>
                          <m:r>
                            <a:rPr lang="en-CA" sz="2000" b="1" i="1">
                              <a:solidFill>
                                <a:schemeClr val="tx1"/>
                              </a:solidFill>
                              <a:latin typeface="Cambria Math" panose="02040503050406030204" pitchFamily="18" charset="0"/>
                              <a:ea typeface="Cambria Math" panose="02040503050406030204" pitchFamily="18" charset="0"/>
                            </a:rPr>
                            <m:t>𝜼𝝆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𝒅</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r>
                        <a:rPr lang="en-CA" sz="2000" b="1" i="0" smtClean="0">
                          <a:solidFill>
                            <a:schemeClr val="tx1"/>
                          </a:solidFill>
                          <a:latin typeface="Cambria Math" panose="02040503050406030204" pitchFamily="18" charset="0"/>
                          <a:ea typeface="Cambria Math" panose="02040503050406030204" pitchFamily="18" charset="0"/>
                        </a:rPr>
                        <m:t>+</m:t>
                      </m:r>
                      <m:nary>
                        <m:naryPr>
                          <m:ctrlPr>
                            <a:rPr lang="en-CA" sz="2000" b="1" i="1" smtClean="0">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r>
                            <a:rPr lang="en-CA" sz="2000" b="1" i="1">
                              <a:solidFill>
                                <a:schemeClr val="tx1"/>
                              </a:solidFill>
                              <a:latin typeface="Cambria Math" panose="02040503050406030204" pitchFamily="18" charset="0"/>
                            </a:rPr>
                            <m:t>−</m:t>
                          </m:r>
                          <m:r>
                            <a:rPr lang="en-CA" sz="2000" b="1" i="1">
                              <a:solidFill>
                                <a:schemeClr val="tx1"/>
                              </a:solidFill>
                              <a:latin typeface="Cambria Math" panose="02040503050406030204" pitchFamily="18" charset="0"/>
                            </a:rPr>
                            <m:t>𝑰</m:t>
                          </m:r>
                        </m:sub>
                        <m:sup/>
                        <m:e>
                          <m:r>
                            <a:rPr lang="en-CA" sz="2000" b="1" i="1">
                              <a:solidFill>
                                <a:schemeClr val="tx1"/>
                              </a:solidFill>
                              <a:latin typeface="Cambria Math" panose="02040503050406030204" pitchFamily="18" charset="0"/>
                              <a:ea typeface="Cambria Math" panose="02040503050406030204" pitchFamily="18" charset="0"/>
                            </a:rPr>
                            <m:t>𝜼𝝆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𝒅</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solidFill>
                    <a:schemeClr val="tx1"/>
                  </a:solidFill>
                  <a:latin typeface="+mn-lt"/>
                </a:endParaRPr>
              </a:p>
              <a:p>
                <a:pPr marL="0" indent="0">
                  <a:lnSpc>
                    <a:spcPct val="150000"/>
                  </a:lnSpc>
                  <a:spcBef>
                    <a:spcPts val="1800"/>
                  </a:spcBef>
                  <a:buNone/>
                </a:pPr>
                <a:r>
                  <a:rPr lang="en-CA" sz="2000" b="1" dirty="0">
                    <a:solidFill>
                      <a:schemeClr val="tx1"/>
                    </a:solidFill>
                    <a:latin typeface="+mn-lt"/>
                  </a:rPr>
                  <a:t>Or </a:t>
                </a:r>
              </a:p>
              <a:p>
                <a:pPr marL="0" indent="0">
                  <a:lnSpc>
                    <a:spcPct val="150000"/>
                  </a:lnSpc>
                  <a:spcBef>
                    <a:spcPts val="1800"/>
                  </a:spcBef>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ea typeface="Times New Roman" panose="02020603050405020304" pitchFamily="18" charset="0"/>
                            </a:rPr>
                          </m:ctrlPr>
                        </m:sSubPr>
                        <m:e>
                          <m:d>
                            <m:dPr>
                              <m:begChr m:val=""/>
                              <m:ctrlPr>
                                <a:rPr lang="en-CA" sz="2000" b="1" i="1">
                                  <a:solidFill>
                                    <a:schemeClr val="tx1"/>
                                  </a:solidFill>
                                  <a:latin typeface="Cambria Math" panose="02040503050406030204" pitchFamily="18" charset="0"/>
                                  <a:ea typeface="Times New Roman" panose="02020603050405020304" pitchFamily="18" charset="0"/>
                                </a:rPr>
                              </m:ctrlPr>
                            </m:dPr>
                            <m:e>
                              <m:f>
                                <m:fPr>
                                  <m:ctrlPr>
                                    <a:rPr lang="en-CA" sz="2000" b="1" i="1">
                                      <a:solidFill>
                                        <a:schemeClr val="tx1"/>
                                      </a:solidFill>
                                      <a:latin typeface="Cambria Math" panose="02040503050406030204" pitchFamily="18" charset="0"/>
                                      <a:ea typeface="Times New Roman" panose="02020603050405020304" pitchFamily="18" charset="0"/>
                                    </a:rPr>
                                  </m:ctrlPr>
                                </m:fPr>
                                <m:num>
                                  <m:r>
                                    <a:rPr lang="en-CA" sz="2000" b="1" i="1">
                                      <a:solidFill>
                                        <a:schemeClr val="tx1"/>
                                      </a:solidFill>
                                      <a:latin typeface="Cambria Math" panose="02040503050406030204" pitchFamily="18" charset="0"/>
                                      <a:ea typeface="Times New Roman" panose="02020603050405020304" pitchFamily="18" charset="0"/>
                                    </a:rPr>
                                    <m:t>𝒅𝑵</m:t>
                                  </m:r>
                                </m:num>
                                <m:den>
                                  <m:r>
                                    <a:rPr lang="en-CA" sz="2000" b="1" i="1">
                                      <a:solidFill>
                                        <a:schemeClr val="tx1"/>
                                      </a:solidFill>
                                      <a:latin typeface="Cambria Math" panose="02040503050406030204" pitchFamily="18" charset="0"/>
                                      <a:ea typeface="Times New Roman" panose="02020603050405020304" pitchFamily="18" charset="0"/>
                                    </a:rPr>
                                    <m:t>𝒅𝒕</m:t>
                                  </m:r>
                                </m:den>
                              </m:f>
                            </m:e>
                          </m:d>
                        </m:e>
                        <m:sub>
                          <m:r>
                            <a:rPr lang="en-CA" sz="2000" b="1" i="1">
                              <a:solidFill>
                                <a:schemeClr val="tx1"/>
                              </a:solidFill>
                              <a:latin typeface="Cambria Math" panose="02040503050406030204" pitchFamily="18" charset="0"/>
                              <a:ea typeface="Times New Roman" panose="02020603050405020304" pitchFamily="18" charset="0"/>
                            </a:rPr>
                            <m:t>𝒔</m:t>
                          </m:r>
                        </m:sub>
                      </m:sSub>
                      <m:r>
                        <a:rPr lang="en-CA" sz="2000" b="1" i="1">
                          <a:solidFill>
                            <a:schemeClr val="tx1"/>
                          </a:solidFill>
                          <a:latin typeface="Cambria Math" panose="02040503050406030204" pitchFamily="18" charset="0"/>
                          <a:ea typeface="Times New Roman" panose="02020603050405020304" pitchFamily="18" charset="0"/>
                        </a:rPr>
                        <m:t>=</m:t>
                      </m:r>
                      <m:f>
                        <m:fPr>
                          <m:ctrlPr>
                            <a:rPr lang="en-CA" sz="2000" b="1" i="1" smtClean="0">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a:solidFill>
                                <a:schemeClr val="tx1"/>
                              </a:solidFill>
                              <a:latin typeface="Cambria Math" panose="02040503050406030204" pitchFamily="18" charset="0"/>
                              <a:ea typeface="Cambria Math" panose="02040503050406030204" pitchFamily="18" charset="0"/>
                            </a:rPr>
                            <m:t>𝜼𝝆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smtClean="0">
                          <a:solidFill>
                            <a:schemeClr val="tx1"/>
                          </a:solidFill>
                          <a:latin typeface="Cambria Math" panose="02040503050406030204" pitchFamily="18" charset="0"/>
                          <a:ea typeface="Cambria Math" panose="02040503050406030204" pitchFamily="18" charset="0"/>
                        </a:rPr>
                        <m:t>+</m:t>
                      </m:r>
                      <m:nary>
                        <m:naryPr>
                          <m:ctrlPr>
                            <a:rPr lang="en-CA" sz="2000" b="1" i="1" smtClean="0">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r>
                            <a:rPr lang="en-CA" sz="2000" b="1" i="1">
                              <a:solidFill>
                                <a:schemeClr val="tx1"/>
                              </a:solidFill>
                              <a:latin typeface="Cambria Math" panose="02040503050406030204" pitchFamily="18" charset="0"/>
                              <a:ea typeface="Cambria Math" panose="02040503050406030204" pitchFamily="18" charset="0"/>
                            </a:rPr>
                            <m:t>𝜼𝝆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𝒅</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latin typeface="+mn-lt"/>
                </a:endParaRPr>
              </a:p>
              <a:p>
                <a:pPr marL="0" indent="0">
                  <a:lnSpc>
                    <a:spcPct val="150000"/>
                  </a:lnSpc>
                  <a:spcBef>
                    <a:spcPts val="1800"/>
                  </a:spcBef>
                  <a:buNone/>
                </a:pPr>
                <a:endParaRPr lang="en-CA" sz="1600" b="1" dirty="0">
                  <a:latin typeface="+mn-lt"/>
                </a:endParaRPr>
              </a:p>
              <a:p>
                <a:pPr marL="0" indent="0">
                  <a:lnSpc>
                    <a:spcPct val="150000"/>
                  </a:lnSpc>
                  <a:spcBef>
                    <a:spcPts val="1800"/>
                  </a:spcBef>
                  <a:buNone/>
                </a:pPr>
                <a:r>
                  <a:rPr lang="en-CA" sz="2000" b="1" dirty="0">
                    <a:latin typeface="+mn-lt"/>
                  </a:rPr>
                  <a:t>The above equation is the Reynolds Transport Theorem (RTT).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8536" y="614021"/>
                <a:ext cx="8187679" cy="5046115"/>
              </a:xfrm>
              <a:blipFill>
                <a:blip r:embed="rId2"/>
                <a:stretch>
                  <a:fillRect l="-745"/>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80498087-57DB-F452-9BCB-BE6F8EE80312}"/>
              </a:ext>
            </a:extLst>
          </p:cNvPr>
          <p:cNvSpPr>
            <a:spLocks noGrp="1"/>
          </p:cNvSpPr>
          <p:nvPr>
            <p:ph type="sldNum" sz="quarter" idx="12"/>
          </p:nvPr>
        </p:nvSpPr>
        <p:spPr/>
        <p:txBody>
          <a:bodyPr/>
          <a:lstStyle/>
          <a:p>
            <a:fld id="{49FCB85E-0F77-4855-90A7-7A1B61BB679B}" type="slidenum">
              <a:rPr lang="en-CA" smtClean="0"/>
              <a:t>14</a:t>
            </a:fld>
            <a:endParaRPr lang="en-CA"/>
          </a:p>
        </p:txBody>
      </p:sp>
    </p:spTree>
    <p:extLst>
      <p:ext uri="{BB962C8B-B14F-4D97-AF65-F5344CB8AC3E}">
        <p14:creationId xmlns:p14="http://schemas.microsoft.com/office/powerpoint/2010/main" val="3659177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lang="en-CA" sz="2400" dirty="0">
                <a:solidFill>
                  <a:schemeClr val="tx1"/>
                </a:solidFill>
                <a:latin typeface="+mn-lt"/>
                <a:ea typeface="Verdana" panose="020B0604030504040204" pitchFamily="34" charset="0"/>
                <a:cs typeface="Verdana" panose="020B0604030504040204" pitchFamily="34" charset="0"/>
              </a:rPr>
              <a:t>Reynolds Transport Theorem (</a:t>
            </a:r>
            <a:r>
              <a:rPr lang="en-CA" sz="2400" dirty="0" err="1">
                <a:solidFill>
                  <a:schemeClr val="tx1"/>
                </a:solidFill>
                <a:latin typeface="+mn-lt"/>
                <a:ea typeface="Verdana" panose="020B0604030504040204" pitchFamily="34" charset="0"/>
                <a:cs typeface="Verdana" panose="020B0604030504040204" pitchFamily="34" charset="0"/>
              </a:rPr>
              <a:t>RTT</a:t>
            </a:r>
            <a:r>
              <a:rPr lang="en-CA" sz="2400" dirty="0">
                <a:solidFill>
                  <a:schemeClr val="tx1"/>
                </a:solidFill>
                <a:latin typeface="+mn-lt"/>
                <a:ea typeface="Verdana" panose="020B0604030504040204" pitchFamily="34" charset="0"/>
                <a:cs typeface="Verdana" panose="020B0604030504040204" pitchFamily="34" charset="0"/>
              </a:rPr>
              <a: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6043" y="683755"/>
                <a:ext cx="7886700" cy="916445"/>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CA" b="1" i="1" smtClean="0">
                              <a:solidFill>
                                <a:schemeClr val="tx1"/>
                              </a:solidFill>
                              <a:latin typeface="Cambria Math" panose="02040503050406030204" pitchFamily="18" charset="0"/>
                              <a:ea typeface="Times New Roman" panose="02020603050405020304" pitchFamily="18" charset="0"/>
                            </a:rPr>
                          </m:ctrlPr>
                        </m:sSubPr>
                        <m:e>
                          <m:d>
                            <m:dPr>
                              <m:begChr m:val=""/>
                              <m:ctrlPr>
                                <a:rPr lang="en-CA" b="1" i="1">
                                  <a:solidFill>
                                    <a:schemeClr val="tx1"/>
                                  </a:solidFill>
                                  <a:latin typeface="Cambria Math" panose="02040503050406030204" pitchFamily="18" charset="0"/>
                                  <a:ea typeface="Times New Roman" panose="02020603050405020304" pitchFamily="18" charset="0"/>
                                </a:rPr>
                              </m:ctrlPr>
                            </m:dPr>
                            <m:e>
                              <m:f>
                                <m:fPr>
                                  <m:ctrlPr>
                                    <a:rPr lang="en-CA" b="1" i="1">
                                      <a:solidFill>
                                        <a:schemeClr val="tx1"/>
                                      </a:solidFill>
                                      <a:latin typeface="Cambria Math" panose="02040503050406030204" pitchFamily="18" charset="0"/>
                                      <a:ea typeface="Times New Roman" panose="02020603050405020304" pitchFamily="18" charset="0"/>
                                    </a:rPr>
                                  </m:ctrlPr>
                                </m:fPr>
                                <m:num>
                                  <m:r>
                                    <a:rPr lang="en-CA" b="1" i="1">
                                      <a:solidFill>
                                        <a:schemeClr val="tx1"/>
                                      </a:solidFill>
                                      <a:latin typeface="Cambria Math" panose="02040503050406030204" pitchFamily="18" charset="0"/>
                                      <a:ea typeface="Times New Roman" panose="02020603050405020304" pitchFamily="18" charset="0"/>
                                    </a:rPr>
                                    <m:t>𝒅𝑵</m:t>
                                  </m:r>
                                </m:num>
                                <m:den>
                                  <m:r>
                                    <a:rPr lang="en-CA" b="1" i="1">
                                      <a:solidFill>
                                        <a:schemeClr val="tx1"/>
                                      </a:solidFill>
                                      <a:latin typeface="Cambria Math" panose="02040503050406030204" pitchFamily="18" charset="0"/>
                                      <a:ea typeface="Times New Roman" panose="02020603050405020304" pitchFamily="18" charset="0"/>
                                    </a:rPr>
                                    <m:t>𝒅𝒕</m:t>
                                  </m:r>
                                </m:den>
                              </m:f>
                            </m:e>
                          </m:d>
                        </m:e>
                        <m:sub>
                          <m:r>
                            <a:rPr lang="en-CA" b="1" i="1">
                              <a:solidFill>
                                <a:schemeClr val="tx1"/>
                              </a:solidFill>
                              <a:latin typeface="Cambria Math" panose="02040503050406030204" pitchFamily="18" charset="0"/>
                              <a:ea typeface="Times New Roman" panose="02020603050405020304" pitchFamily="18" charset="0"/>
                            </a:rPr>
                            <m:t>𝒔</m:t>
                          </m:r>
                        </m:sub>
                      </m:sSub>
                      <m:r>
                        <a:rPr lang="en-CA" b="1" i="1">
                          <a:solidFill>
                            <a:schemeClr val="tx1"/>
                          </a:solidFill>
                          <a:latin typeface="Cambria Math" panose="02040503050406030204" pitchFamily="18" charset="0"/>
                          <a:ea typeface="Times New Roman" panose="02020603050405020304" pitchFamily="18" charset="0"/>
                        </a:rPr>
                        <m:t>=</m:t>
                      </m:r>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m:t>
                          </m:r>
                        </m:num>
                        <m:den>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𝒕</m:t>
                          </m:r>
                        </m:den>
                      </m:f>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𝑽</m:t>
                          </m:r>
                        </m:sub>
                        <m:sup/>
                        <m:e>
                          <m:r>
                            <a:rPr lang="en-CA" b="1" i="1">
                              <a:solidFill>
                                <a:schemeClr val="tx1"/>
                              </a:solidFill>
                              <a:latin typeface="Cambria Math" panose="02040503050406030204" pitchFamily="18" charset="0"/>
                              <a:ea typeface="Cambria Math" panose="02040503050406030204" pitchFamily="18" charset="0"/>
                            </a:rPr>
                            <m:t>𝜼𝝆</m:t>
                          </m:r>
                          <m:r>
                            <a:rPr lang="en-CA" b="1" i="1">
                              <a:solidFill>
                                <a:schemeClr val="tx1"/>
                              </a:solidFill>
                              <a:latin typeface="Cambria Math" panose="02040503050406030204" pitchFamily="18" charset="0"/>
                              <a:ea typeface="Cambria Math" panose="02040503050406030204" pitchFamily="18" charset="0"/>
                            </a:rPr>
                            <m:t>𝒅</m:t>
                          </m:r>
                          <m:r>
                            <a:rPr lang="en-CA" b="1" i="1" smtClean="0">
                              <a:solidFill>
                                <a:schemeClr val="tx1"/>
                              </a:solidFill>
                              <a:latin typeface="Cambria Math" panose="02040503050406030204" pitchFamily="18" charset="0"/>
                              <a:ea typeface="Cambria Math" panose="02040503050406030204" pitchFamily="18" charset="0"/>
                            </a:rPr>
                            <m:t>∀</m:t>
                          </m:r>
                        </m:e>
                      </m:nary>
                      <m:r>
                        <a:rPr lang="en-CA" b="1">
                          <a:solidFill>
                            <a:schemeClr val="tx1"/>
                          </a:solidFill>
                          <a:latin typeface="Cambria Math" panose="02040503050406030204" pitchFamily="18" charset="0"/>
                          <a:ea typeface="Cambria Math" panose="02040503050406030204" pitchFamily="18" charset="0"/>
                        </a:rPr>
                        <m:t>+</m:t>
                      </m:r>
                      <m:nary>
                        <m:naryPr>
                          <m:ctrlPr>
                            <a:rPr lang="en-CA" b="1" i="1" smtClean="0">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𝑺</m:t>
                          </m:r>
                        </m:sub>
                        <m:sup/>
                        <m:e>
                          <m:r>
                            <a:rPr lang="en-CA" b="1" i="1">
                              <a:solidFill>
                                <a:schemeClr val="tx1"/>
                              </a:solidFill>
                              <a:latin typeface="Cambria Math" panose="02040503050406030204" pitchFamily="18" charset="0"/>
                              <a:ea typeface="Cambria Math" panose="02040503050406030204" pitchFamily="18" charset="0"/>
                            </a:rPr>
                            <m:t>𝜼𝝆</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𝒅</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𝑨</m:t>
                              </m:r>
                            </m:e>
                          </m:acc>
                        </m:e>
                      </m:nary>
                    </m:oMath>
                  </m:oMathPara>
                </a14:m>
                <a:endParaRPr lang="en-CA" b="1" dirty="0">
                  <a:solidFill>
                    <a:schemeClr val="tx1"/>
                  </a:solidFill>
                </a:endParaRPr>
              </a:p>
              <a:p>
                <a:pPr marL="0" indent="0">
                  <a:buNone/>
                </a:pPr>
                <a:endParaRPr lang="en-CA" sz="1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56043" y="683755"/>
                <a:ext cx="7886700" cy="916445"/>
              </a:xfr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773054946"/>
                  </p:ext>
                </p:extLst>
              </p:nvPr>
            </p:nvGraphicFramePr>
            <p:xfrm>
              <a:off x="0" y="1981200"/>
              <a:ext cx="9070848" cy="3230880"/>
            </p:xfrm>
            <a:graphic>
              <a:graphicData uri="http://schemas.openxmlformats.org/drawingml/2006/table">
                <a:tbl>
                  <a:tblPr firstRow="1" bandRow="1">
                    <a:tableStyleId>{2D5ABB26-0587-4C30-8999-92F81FD0307C}</a:tableStyleId>
                  </a:tblPr>
                  <a:tblGrid>
                    <a:gridCol w="5050754">
                      <a:extLst>
                        <a:ext uri="{9D8B030D-6E8A-4147-A177-3AD203B41FA5}">
                          <a16:colId xmlns:a16="http://schemas.microsoft.com/office/drawing/2014/main" val="3629368845"/>
                        </a:ext>
                      </a:extLst>
                    </a:gridCol>
                    <a:gridCol w="4020094">
                      <a:extLst>
                        <a:ext uri="{9D8B030D-6E8A-4147-A177-3AD203B41FA5}">
                          <a16:colId xmlns:a16="http://schemas.microsoft.com/office/drawing/2014/main" val="288051618"/>
                        </a:ext>
                      </a:extLst>
                    </a:gridCol>
                  </a:tblGrid>
                  <a:tr h="1401346">
                    <a:tc>
                      <a:txBody>
                        <a:bodyPr/>
                        <a:lstStyle/>
                        <a:p>
                          <a:pPr algn="just"/>
                          <a:r>
                            <a:rPr lang="en-CA" sz="2000" b="1" dirty="0">
                              <a:solidFill>
                                <a:schemeClr val="tx1"/>
                              </a:solidFill>
                              <a:latin typeface="+mn-lt"/>
                            </a:rPr>
                            <a:t>The </a:t>
                          </a:r>
                          <a:r>
                            <a:rPr lang="en-CA" sz="2000" b="1" u="sng" dirty="0">
                              <a:solidFill>
                                <a:schemeClr val="tx1"/>
                              </a:solidFill>
                              <a:latin typeface="+mn-lt"/>
                            </a:rPr>
                            <a:t>rate of change</a:t>
                          </a:r>
                          <a:r>
                            <a:rPr lang="en-CA" sz="2000" b="1" dirty="0">
                              <a:solidFill>
                                <a:schemeClr val="tx1"/>
                              </a:solidFill>
                              <a:latin typeface="+mn-lt"/>
                            </a:rPr>
                            <a:t> of an arbitrary extensive property</a:t>
                          </a:r>
                          <a:r>
                            <a:rPr lang="en-CA" sz="2000" b="1" baseline="0" dirty="0">
                              <a:solidFill>
                                <a:schemeClr val="tx1"/>
                              </a:solidFill>
                              <a:latin typeface="+mn-lt"/>
                            </a:rPr>
                            <a:t> (</a:t>
                          </a:r>
                          <a14:m>
                            <m:oMath xmlns:m="http://schemas.openxmlformats.org/officeDocument/2006/math">
                              <m:r>
                                <a:rPr lang="en-CA" sz="2000" b="1" i="1" baseline="0" dirty="0" smtClean="0">
                                  <a:solidFill>
                                    <a:schemeClr val="tx1"/>
                                  </a:solidFill>
                                  <a:latin typeface="Cambria Math" panose="02040503050406030204" pitchFamily="18" charset="0"/>
                                </a:rPr>
                                <m:t>𝑵</m:t>
                              </m:r>
                            </m:oMath>
                          </a14:m>
                          <a:r>
                            <a:rPr lang="en-CA" sz="2000" b="1" baseline="0" dirty="0">
                              <a:solidFill>
                                <a:schemeClr val="tx1"/>
                              </a:solidFill>
                              <a:latin typeface="+mn-lt"/>
                            </a:rPr>
                            <a:t> ≡ mass, momentum, energy etc.) of a </a:t>
                          </a:r>
                          <a:r>
                            <a:rPr lang="en-CA" sz="2000" b="1" u="sng" baseline="0" dirty="0">
                              <a:solidFill>
                                <a:schemeClr val="tx1"/>
                              </a:solidFill>
                              <a:latin typeface="+mn-lt"/>
                            </a:rPr>
                            <a:t>system</a:t>
                          </a:r>
                          <a:endParaRPr lang="en-CA" sz="2000" b="1" u="sng" dirty="0">
                            <a:solidFill>
                              <a:schemeClr val="tx1"/>
                            </a:solidFill>
                            <a:latin typeface="+mn-lt"/>
                          </a:endParaRPr>
                        </a:p>
                      </a:txBody>
                      <a:tcPr/>
                    </a:tc>
                    <a:tc>
                      <a:txBody>
                        <a:bodyPr/>
                        <a:lstStyle/>
                        <a:p>
                          <a:pPr algn="just"/>
                          <a:r>
                            <a:rPr lang="en-CA" sz="2000" b="1" dirty="0">
                              <a:solidFill>
                                <a:schemeClr val="tx1"/>
                              </a:solidFill>
                              <a:latin typeface="+mn-lt"/>
                            </a:rPr>
                            <a:t>= The time rate of change of arbitrary extensive</a:t>
                          </a:r>
                          <a:r>
                            <a:rPr lang="en-CA" sz="2000" b="1" baseline="0" dirty="0">
                              <a:solidFill>
                                <a:schemeClr val="tx1"/>
                              </a:solidFill>
                              <a:latin typeface="+mn-lt"/>
                            </a:rPr>
                            <a:t> property within the </a:t>
                          </a:r>
                          <a:r>
                            <a:rPr lang="en-CA" sz="2000" b="1" u="sng" baseline="0" dirty="0">
                              <a:solidFill>
                                <a:schemeClr val="tx1"/>
                              </a:solidFill>
                              <a:latin typeface="+mn-lt"/>
                            </a:rPr>
                            <a:t>control volume</a:t>
                          </a:r>
                          <a:endParaRPr lang="en-CA" sz="2000" b="1" u="sng" dirty="0">
                            <a:solidFill>
                              <a:schemeClr val="tx1"/>
                            </a:solidFill>
                            <a:latin typeface="+mn-lt"/>
                          </a:endParaRPr>
                        </a:p>
                      </a:txBody>
                      <a:tcPr/>
                    </a:tc>
                    <a:extLst>
                      <a:ext uri="{0D108BD9-81ED-4DB2-BD59-A6C34878D82A}">
                        <a16:rowId xmlns:a16="http://schemas.microsoft.com/office/drawing/2014/main" val="3925455532"/>
                      </a:ext>
                    </a:extLst>
                  </a:tr>
                  <a:tr h="1829534">
                    <a:tc>
                      <a:txBody>
                        <a:bodyPr/>
                        <a:lstStyle/>
                        <a:p>
                          <a:endParaRPr lang="en-CA" sz="2000" dirty="0">
                            <a:solidFill>
                              <a:schemeClr val="tx1"/>
                            </a:solidFill>
                            <a:latin typeface="+mn-lt"/>
                          </a:endParaRPr>
                        </a:p>
                      </a:txBody>
                      <a:tcPr/>
                    </a:tc>
                    <a:tc>
                      <a:txBody>
                        <a:bodyPr/>
                        <a:lstStyle/>
                        <a:p>
                          <a:r>
                            <a:rPr lang="en-CA" sz="2000" b="1" dirty="0">
                              <a:solidFill>
                                <a:schemeClr val="tx1"/>
                              </a:solidFill>
                              <a:latin typeface="+mn-lt"/>
                            </a:rPr>
                            <a:t>              + </a:t>
                          </a:r>
                        </a:p>
                        <a:p>
                          <a:endParaRPr lang="en-CA" sz="2000" b="1" dirty="0">
                            <a:solidFill>
                              <a:schemeClr val="tx1"/>
                            </a:solidFill>
                            <a:latin typeface="+mn-lt"/>
                          </a:endParaRPr>
                        </a:p>
                        <a:p>
                          <a:pPr algn="just"/>
                          <a:r>
                            <a:rPr lang="en-CA" sz="2000" b="1" dirty="0">
                              <a:solidFill>
                                <a:schemeClr val="tx1"/>
                              </a:solidFill>
                              <a:latin typeface="+mn-lt"/>
                            </a:rPr>
                            <a:t>The net rate of change of </a:t>
                          </a:r>
                          <a:r>
                            <a:rPr lang="en-CA" sz="2000" b="1" u="sng" dirty="0">
                              <a:solidFill>
                                <a:schemeClr val="tx1"/>
                              </a:solidFill>
                              <a:latin typeface="+mn-lt"/>
                            </a:rPr>
                            <a:t>flux</a:t>
                          </a:r>
                          <a:r>
                            <a:rPr lang="en-CA" sz="2000" b="1" dirty="0">
                              <a:solidFill>
                                <a:schemeClr val="tx1"/>
                              </a:solidFill>
                              <a:latin typeface="+mn-lt"/>
                            </a:rPr>
                            <a:t> of extensive property </a:t>
                          </a:r>
                          <a14:m>
                            <m:oMath xmlns:m="http://schemas.openxmlformats.org/officeDocument/2006/math">
                              <m:r>
                                <a:rPr lang="en-CA" sz="2000" b="1" i="1" dirty="0" smtClean="0">
                                  <a:solidFill>
                                    <a:schemeClr val="tx1"/>
                                  </a:solidFill>
                                  <a:latin typeface="Cambria Math" panose="02040503050406030204" pitchFamily="18" charset="0"/>
                                </a:rPr>
                                <m:t>𝑵</m:t>
                              </m:r>
                              <m:r>
                                <a:rPr lang="en-CA" sz="2000" b="1" i="1" dirty="0" smtClean="0">
                                  <a:solidFill>
                                    <a:schemeClr val="tx1"/>
                                  </a:solidFill>
                                  <a:latin typeface="Cambria Math" panose="02040503050406030204" pitchFamily="18" charset="0"/>
                                </a:rPr>
                                <m:t> </m:t>
                              </m:r>
                            </m:oMath>
                          </a14:m>
                          <a:r>
                            <a:rPr lang="en-CA" sz="2000" b="1" dirty="0">
                              <a:solidFill>
                                <a:schemeClr val="tx1"/>
                              </a:solidFill>
                              <a:latin typeface="+mn-lt"/>
                            </a:rPr>
                            <a:t>through the </a:t>
                          </a:r>
                          <a:r>
                            <a:rPr lang="en-CA" sz="2000" b="1" u="sng" dirty="0">
                              <a:solidFill>
                                <a:schemeClr val="tx1"/>
                              </a:solidFill>
                              <a:latin typeface="+mn-lt"/>
                            </a:rPr>
                            <a:t>control surface</a:t>
                          </a:r>
                        </a:p>
                      </a:txBody>
                      <a:tcPr/>
                    </a:tc>
                    <a:extLst>
                      <a:ext uri="{0D108BD9-81ED-4DB2-BD59-A6C34878D82A}">
                        <a16:rowId xmlns:a16="http://schemas.microsoft.com/office/drawing/2014/main" val="17168293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773054946"/>
                  </p:ext>
                </p:extLst>
              </p:nvPr>
            </p:nvGraphicFramePr>
            <p:xfrm>
              <a:off x="0" y="1981200"/>
              <a:ext cx="9070848" cy="3230880"/>
            </p:xfrm>
            <a:graphic>
              <a:graphicData uri="http://schemas.openxmlformats.org/drawingml/2006/table">
                <a:tbl>
                  <a:tblPr firstRow="1" bandRow="1">
                    <a:tableStyleId>{2D5ABB26-0587-4C30-8999-92F81FD0307C}</a:tableStyleId>
                  </a:tblPr>
                  <a:tblGrid>
                    <a:gridCol w="5050754">
                      <a:extLst>
                        <a:ext uri="{9D8B030D-6E8A-4147-A177-3AD203B41FA5}">
                          <a16:colId xmlns:a16="http://schemas.microsoft.com/office/drawing/2014/main" val="3629368845"/>
                        </a:ext>
                      </a:extLst>
                    </a:gridCol>
                    <a:gridCol w="4020094">
                      <a:extLst>
                        <a:ext uri="{9D8B030D-6E8A-4147-A177-3AD203B41FA5}">
                          <a16:colId xmlns:a16="http://schemas.microsoft.com/office/drawing/2014/main" val="288051618"/>
                        </a:ext>
                      </a:extLst>
                    </a:gridCol>
                  </a:tblGrid>
                  <a:tr h="1401346">
                    <a:tc>
                      <a:txBody>
                        <a:bodyPr/>
                        <a:lstStyle/>
                        <a:p>
                          <a:endParaRPr lang="en-GH"/>
                        </a:p>
                      </a:txBody>
                      <a:tcPr>
                        <a:blipFill>
                          <a:blip r:embed="rId4"/>
                          <a:stretch>
                            <a:fillRect t="-2174" r="-79493" b="-130435"/>
                          </a:stretch>
                        </a:blipFill>
                      </a:tcPr>
                    </a:tc>
                    <a:tc>
                      <a:txBody>
                        <a:bodyPr/>
                        <a:lstStyle/>
                        <a:p>
                          <a:pPr algn="just"/>
                          <a:r>
                            <a:rPr lang="en-CA" sz="2000" b="1" dirty="0">
                              <a:solidFill>
                                <a:schemeClr val="tx1"/>
                              </a:solidFill>
                              <a:latin typeface="+mn-lt"/>
                            </a:rPr>
                            <a:t>= The time rate of change of arbitrary extensive</a:t>
                          </a:r>
                          <a:r>
                            <a:rPr lang="en-CA" sz="2000" b="1" baseline="0" dirty="0">
                              <a:solidFill>
                                <a:schemeClr val="tx1"/>
                              </a:solidFill>
                              <a:latin typeface="+mn-lt"/>
                            </a:rPr>
                            <a:t> property within the </a:t>
                          </a:r>
                          <a:r>
                            <a:rPr lang="en-CA" sz="2000" b="1" u="sng" baseline="0" dirty="0">
                              <a:solidFill>
                                <a:schemeClr val="tx1"/>
                              </a:solidFill>
                              <a:latin typeface="+mn-lt"/>
                            </a:rPr>
                            <a:t>control volume</a:t>
                          </a:r>
                          <a:endParaRPr lang="en-CA" sz="2000" b="1" u="sng" dirty="0">
                            <a:solidFill>
                              <a:schemeClr val="tx1"/>
                            </a:solidFill>
                            <a:latin typeface="+mn-lt"/>
                          </a:endParaRPr>
                        </a:p>
                      </a:txBody>
                      <a:tcPr/>
                    </a:tc>
                    <a:extLst>
                      <a:ext uri="{0D108BD9-81ED-4DB2-BD59-A6C34878D82A}">
                        <a16:rowId xmlns:a16="http://schemas.microsoft.com/office/drawing/2014/main" val="3925455532"/>
                      </a:ext>
                    </a:extLst>
                  </a:tr>
                  <a:tr h="1829534">
                    <a:tc>
                      <a:txBody>
                        <a:bodyPr/>
                        <a:lstStyle/>
                        <a:p>
                          <a:endParaRPr lang="en-CA" sz="2000" dirty="0">
                            <a:solidFill>
                              <a:schemeClr val="tx1"/>
                            </a:solidFill>
                            <a:latin typeface="+mn-lt"/>
                          </a:endParaRPr>
                        </a:p>
                      </a:txBody>
                      <a:tcPr/>
                    </a:tc>
                    <a:tc>
                      <a:txBody>
                        <a:bodyPr/>
                        <a:lstStyle/>
                        <a:p>
                          <a:endParaRPr lang="en-GH"/>
                        </a:p>
                      </a:txBody>
                      <a:tcPr>
                        <a:blipFill>
                          <a:blip r:embed="rId4"/>
                          <a:stretch>
                            <a:fillRect l="-125797" t="-78333"/>
                          </a:stretch>
                        </a:blipFill>
                      </a:tcPr>
                    </a:tc>
                    <a:extLst>
                      <a:ext uri="{0D108BD9-81ED-4DB2-BD59-A6C34878D82A}">
                        <a16:rowId xmlns:a16="http://schemas.microsoft.com/office/drawing/2014/main" val="171682934"/>
                      </a:ext>
                    </a:extLst>
                  </a:tr>
                </a:tbl>
              </a:graphicData>
            </a:graphic>
          </p:graphicFrame>
        </mc:Fallback>
      </mc:AlternateContent>
      <p:sp>
        <p:nvSpPr>
          <p:cNvPr id="5" name="Slide Number Placeholder 4">
            <a:extLst>
              <a:ext uri="{FF2B5EF4-FFF2-40B4-BE49-F238E27FC236}">
                <a16:creationId xmlns:a16="http://schemas.microsoft.com/office/drawing/2014/main" id="{74FE6474-D48A-12D9-60FE-6EB274CA7BE5}"/>
              </a:ext>
            </a:extLst>
          </p:cNvPr>
          <p:cNvSpPr>
            <a:spLocks noGrp="1"/>
          </p:cNvSpPr>
          <p:nvPr>
            <p:ph type="sldNum" sz="quarter" idx="12"/>
          </p:nvPr>
        </p:nvSpPr>
        <p:spPr/>
        <p:txBody>
          <a:bodyPr/>
          <a:lstStyle/>
          <a:p>
            <a:fld id="{49FCB85E-0F77-4855-90A7-7A1B61BB679B}" type="slidenum">
              <a:rPr lang="en-CA" smtClean="0"/>
              <a:t>15</a:t>
            </a:fld>
            <a:endParaRPr lang="en-CA"/>
          </a:p>
        </p:txBody>
      </p:sp>
    </p:spTree>
    <p:extLst>
      <p:ext uri="{BB962C8B-B14F-4D97-AF65-F5344CB8AC3E}">
        <p14:creationId xmlns:p14="http://schemas.microsoft.com/office/powerpoint/2010/main" val="924760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5182" y="255181"/>
                <a:ext cx="8463516" cy="5826642"/>
              </a:xfrm>
            </p:spPr>
            <p:txBody>
              <a:bodyPr>
                <a:noAutofit/>
              </a:bodyPr>
              <a:lstStyle/>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CA" b="1" i="1" smtClean="0">
                              <a:solidFill>
                                <a:schemeClr val="tx1"/>
                              </a:solidFill>
                              <a:latin typeface="Cambria Math" panose="02040503050406030204" pitchFamily="18" charset="0"/>
                              <a:ea typeface="Times New Roman" panose="02020603050405020304" pitchFamily="18" charset="0"/>
                            </a:rPr>
                          </m:ctrlPr>
                        </m:sSubPr>
                        <m:e>
                          <m:d>
                            <m:dPr>
                              <m:begChr m:val=""/>
                              <m:ctrlPr>
                                <a:rPr lang="en-CA" b="1" i="1">
                                  <a:solidFill>
                                    <a:schemeClr val="tx1"/>
                                  </a:solidFill>
                                  <a:latin typeface="Cambria Math" panose="02040503050406030204" pitchFamily="18" charset="0"/>
                                  <a:ea typeface="Times New Roman" panose="02020603050405020304" pitchFamily="18" charset="0"/>
                                </a:rPr>
                              </m:ctrlPr>
                            </m:dPr>
                            <m:e>
                              <m:f>
                                <m:fPr>
                                  <m:ctrlPr>
                                    <a:rPr lang="en-CA" b="1" i="1">
                                      <a:solidFill>
                                        <a:schemeClr val="tx1"/>
                                      </a:solidFill>
                                      <a:latin typeface="Cambria Math" panose="02040503050406030204" pitchFamily="18" charset="0"/>
                                      <a:ea typeface="Times New Roman" panose="02020603050405020304" pitchFamily="18" charset="0"/>
                                    </a:rPr>
                                  </m:ctrlPr>
                                </m:fPr>
                                <m:num>
                                  <m:r>
                                    <a:rPr lang="en-CA" b="1" i="1">
                                      <a:solidFill>
                                        <a:schemeClr val="tx1"/>
                                      </a:solidFill>
                                      <a:latin typeface="Cambria Math" panose="02040503050406030204" pitchFamily="18" charset="0"/>
                                      <a:ea typeface="Times New Roman" panose="02020603050405020304" pitchFamily="18" charset="0"/>
                                    </a:rPr>
                                    <m:t>𝒅𝑵</m:t>
                                  </m:r>
                                </m:num>
                                <m:den>
                                  <m:r>
                                    <a:rPr lang="en-CA" b="1" i="1">
                                      <a:solidFill>
                                        <a:schemeClr val="tx1"/>
                                      </a:solidFill>
                                      <a:latin typeface="Cambria Math" panose="02040503050406030204" pitchFamily="18" charset="0"/>
                                      <a:ea typeface="Times New Roman" panose="02020603050405020304" pitchFamily="18" charset="0"/>
                                    </a:rPr>
                                    <m:t>𝒅𝒕</m:t>
                                  </m:r>
                                </m:den>
                              </m:f>
                            </m:e>
                          </m:d>
                        </m:e>
                        <m:sub>
                          <m:r>
                            <a:rPr lang="en-CA" b="1" i="1">
                              <a:solidFill>
                                <a:schemeClr val="tx1"/>
                              </a:solidFill>
                              <a:latin typeface="Cambria Math" panose="02040503050406030204" pitchFamily="18" charset="0"/>
                              <a:ea typeface="Times New Roman" panose="02020603050405020304" pitchFamily="18" charset="0"/>
                            </a:rPr>
                            <m:t>𝒔</m:t>
                          </m:r>
                        </m:sub>
                      </m:sSub>
                      <m:r>
                        <a:rPr lang="en-CA" b="1" i="1">
                          <a:solidFill>
                            <a:schemeClr val="tx1"/>
                          </a:solidFill>
                          <a:latin typeface="Cambria Math" panose="02040503050406030204" pitchFamily="18" charset="0"/>
                          <a:ea typeface="Times New Roman" panose="02020603050405020304" pitchFamily="18" charset="0"/>
                        </a:rPr>
                        <m:t>=</m:t>
                      </m:r>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m:t>
                          </m:r>
                        </m:num>
                        <m:den>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𝒕</m:t>
                          </m:r>
                        </m:den>
                      </m:f>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𝑽</m:t>
                          </m:r>
                        </m:sub>
                        <m:sup/>
                        <m:e>
                          <m:r>
                            <a:rPr lang="en-CA" b="1" i="1">
                              <a:solidFill>
                                <a:schemeClr val="tx1"/>
                              </a:solidFill>
                              <a:latin typeface="Cambria Math" panose="02040503050406030204" pitchFamily="18" charset="0"/>
                              <a:ea typeface="Cambria Math" panose="02040503050406030204" pitchFamily="18" charset="0"/>
                            </a:rPr>
                            <m:t>𝜼𝝆</m:t>
                          </m:r>
                          <m:r>
                            <a:rPr lang="en-CA" b="1" i="1">
                              <a:solidFill>
                                <a:schemeClr val="tx1"/>
                              </a:solidFill>
                              <a:latin typeface="Cambria Math" panose="02040503050406030204" pitchFamily="18" charset="0"/>
                              <a:ea typeface="Cambria Math" panose="02040503050406030204" pitchFamily="18" charset="0"/>
                            </a:rPr>
                            <m:t>𝒅</m:t>
                          </m:r>
                          <m:r>
                            <a:rPr lang="en-CA" b="1" i="1" smtClean="0">
                              <a:solidFill>
                                <a:schemeClr val="tx1"/>
                              </a:solidFill>
                              <a:latin typeface="Cambria Math" panose="02040503050406030204" pitchFamily="18" charset="0"/>
                              <a:ea typeface="Cambria Math" panose="02040503050406030204" pitchFamily="18" charset="0"/>
                            </a:rPr>
                            <m:t>∀</m:t>
                          </m:r>
                        </m:e>
                      </m:nary>
                      <m:r>
                        <a:rPr lang="en-CA" b="1">
                          <a:solidFill>
                            <a:schemeClr val="tx1"/>
                          </a:solidFill>
                          <a:latin typeface="Cambria Math" panose="02040503050406030204" pitchFamily="18" charset="0"/>
                          <a:ea typeface="Cambria Math" panose="02040503050406030204" pitchFamily="18" charset="0"/>
                        </a:rPr>
                        <m:t>+</m:t>
                      </m:r>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𝑺</m:t>
                          </m:r>
                        </m:sub>
                        <m:sup/>
                        <m:e>
                          <m:r>
                            <a:rPr lang="en-CA" b="1" i="1">
                              <a:solidFill>
                                <a:schemeClr val="tx1"/>
                              </a:solidFill>
                              <a:latin typeface="Cambria Math" panose="02040503050406030204" pitchFamily="18" charset="0"/>
                              <a:ea typeface="Cambria Math" panose="02040503050406030204" pitchFamily="18" charset="0"/>
                            </a:rPr>
                            <m:t>𝜼𝝆</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𝒅</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𝑨</m:t>
                              </m:r>
                            </m:e>
                          </m:acc>
                        </m:e>
                      </m:nary>
                    </m:oMath>
                  </m:oMathPara>
                </a14:m>
                <a:endParaRPr lang="en-CA" b="1" dirty="0">
                  <a:solidFill>
                    <a:schemeClr val="tx1"/>
                  </a:solidFill>
                  <a:latin typeface="+mn-lt"/>
                </a:endParaRPr>
              </a:p>
              <a:p>
                <a:pPr marL="0" indent="0">
                  <a:lnSpc>
                    <a:spcPct val="120000"/>
                  </a:lnSpc>
                  <a:buNone/>
                </a:pPr>
                <a:endParaRPr lang="en-CA" sz="1800" b="1" dirty="0">
                  <a:solidFill>
                    <a:schemeClr val="tx1"/>
                  </a:solidFill>
                  <a:latin typeface="+mn-lt"/>
                </a:endParaRPr>
              </a:p>
              <a:p>
                <a:pPr marL="0" indent="0">
                  <a:lnSpc>
                    <a:spcPct val="120000"/>
                  </a:lnSpc>
                  <a:buNone/>
                </a:pPr>
                <a:r>
                  <a:rPr lang="en-CA" b="1" dirty="0">
                    <a:solidFill>
                      <a:schemeClr val="tx1"/>
                    </a:solidFill>
                    <a:latin typeface="+mn-lt"/>
                  </a:rPr>
                  <a:t>Mass (</a:t>
                </a:r>
                <a14:m>
                  <m:oMath xmlns:m="http://schemas.openxmlformats.org/officeDocument/2006/math">
                    <m:r>
                      <a:rPr lang="en-CA" b="1" i="1" dirty="0" smtClean="0">
                        <a:solidFill>
                          <a:schemeClr val="tx1"/>
                        </a:solidFill>
                        <a:latin typeface="Cambria Math" panose="02040503050406030204" pitchFamily="18" charset="0"/>
                      </a:rPr>
                      <m:t>𝑵</m:t>
                    </m:r>
                    <m:r>
                      <a:rPr lang="en-CA" b="1" i="1" dirty="0" smtClean="0">
                        <a:solidFill>
                          <a:schemeClr val="tx1"/>
                        </a:solidFill>
                        <a:latin typeface="Cambria Math" panose="02040503050406030204" pitchFamily="18" charset="0"/>
                      </a:rPr>
                      <m:t> = </m:t>
                    </m:r>
                    <m:r>
                      <a:rPr lang="en-CA" b="1" i="1" dirty="0" smtClean="0">
                        <a:solidFill>
                          <a:schemeClr val="tx1"/>
                        </a:solidFill>
                        <a:latin typeface="Cambria Math" panose="02040503050406030204" pitchFamily="18" charset="0"/>
                      </a:rPr>
                      <m:t>𝑴</m:t>
                    </m:r>
                    <m:r>
                      <a:rPr lang="en-CA" b="1" i="1" dirty="0" smtClean="0">
                        <a:solidFill>
                          <a:schemeClr val="tx1"/>
                        </a:solidFill>
                        <a:latin typeface="Cambria Math" panose="02040503050406030204" pitchFamily="18" charset="0"/>
                      </a:rPr>
                      <m:t>,</m:t>
                    </m:r>
                    <m:r>
                      <a:rPr lang="en-CA" b="1" i="1" dirty="0" smtClean="0">
                        <a:solidFill>
                          <a:schemeClr val="tx1"/>
                        </a:solidFill>
                        <a:latin typeface="Cambria Math" panose="02040503050406030204" pitchFamily="18" charset="0"/>
                        <a:ea typeface="Cambria Math" panose="02040503050406030204" pitchFamily="18" charset="0"/>
                      </a:rPr>
                      <m:t>𝜼</m:t>
                    </m:r>
                    <m:r>
                      <a:rPr lang="en-CA" b="1" i="1" dirty="0" smtClean="0">
                        <a:solidFill>
                          <a:schemeClr val="tx1"/>
                        </a:solidFill>
                        <a:latin typeface="Cambria Math" panose="02040503050406030204" pitchFamily="18" charset="0"/>
                        <a:ea typeface="Cambria Math" panose="02040503050406030204" pitchFamily="18" charset="0"/>
                      </a:rPr>
                      <m:t>=</m:t>
                    </m:r>
                    <m:r>
                      <a:rPr lang="en-CA" b="1" i="1" dirty="0" smtClean="0">
                        <a:solidFill>
                          <a:schemeClr val="tx1"/>
                        </a:solidFill>
                        <a:latin typeface="Cambria Math" panose="02040503050406030204" pitchFamily="18" charset="0"/>
                        <a:ea typeface="Cambria Math" panose="02040503050406030204" pitchFamily="18" charset="0"/>
                      </a:rPr>
                      <m:t>𝟏</m:t>
                    </m:r>
                    <m:r>
                      <a:rPr lang="en-CA" b="1" i="1" dirty="0" smtClean="0">
                        <a:solidFill>
                          <a:schemeClr val="tx1"/>
                        </a:solidFill>
                        <a:latin typeface="Cambria Math" panose="02040503050406030204" pitchFamily="18" charset="0"/>
                        <a:ea typeface="Cambria Math" panose="02040503050406030204" pitchFamily="18" charset="0"/>
                      </a:rPr>
                      <m:t>) </m:t>
                    </m:r>
                  </m:oMath>
                </a14:m>
                <a:endParaRPr lang="en-CA" b="1" dirty="0">
                  <a:solidFill>
                    <a:schemeClr val="tx1"/>
                  </a:solidFill>
                  <a:latin typeface="+mn-lt"/>
                </a:endParaRP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CA" b="1" i="1">
                              <a:solidFill>
                                <a:schemeClr val="tx1"/>
                              </a:solidFill>
                              <a:latin typeface="Cambria Math" panose="02040503050406030204" pitchFamily="18" charset="0"/>
                              <a:ea typeface="Times New Roman" panose="02020603050405020304" pitchFamily="18" charset="0"/>
                            </a:rPr>
                          </m:ctrlPr>
                        </m:sSubPr>
                        <m:e>
                          <m:r>
                            <a:rPr lang="en-CA" b="1" i="1" smtClean="0">
                              <a:solidFill>
                                <a:schemeClr val="tx1"/>
                              </a:solidFill>
                              <a:latin typeface="Cambria Math" panose="02040503050406030204" pitchFamily="18" charset="0"/>
                              <a:ea typeface="Times New Roman" panose="02020603050405020304" pitchFamily="18" charset="0"/>
                            </a:rPr>
                            <m:t> </m:t>
                          </m:r>
                          <m:d>
                            <m:dPr>
                              <m:begChr m:val=""/>
                              <m:ctrlPr>
                                <a:rPr lang="en-CA" b="1" i="1">
                                  <a:solidFill>
                                    <a:schemeClr val="tx1"/>
                                  </a:solidFill>
                                  <a:latin typeface="Cambria Math" panose="02040503050406030204" pitchFamily="18" charset="0"/>
                                  <a:ea typeface="Times New Roman" panose="02020603050405020304" pitchFamily="18" charset="0"/>
                                </a:rPr>
                              </m:ctrlPr>
                            </m:dPr>
                            <m:e>
                              <m:f>
                                <m:fPr>
                                  <m:ctrlPr>
                                    <a:rPr lang="en-CA" b="1" i="1">
                                      <a:solidFill>
                                        <a:schemeClr val="tx1"/>
                                      </a:solidFill>
                                      <a:latin typeface="Cambria Math" panose="02040503050406030204" pitchFamily="18" charset="0"/>
                                      <a:ea typeface="Times New Roman" panose="02020603050405020304" pitchFamily="18" charset="0"/>
                                    </a:rPr>
                                  </m:ctrlPr>
                                </m:fPr>
                                <m:num>
                                  <m:r>
                                    <a:rPr lang="en-CA" b="1" i="1">
                                      <a:solidFill>
                                        <a:schemeClr val="tx1"/>
                                      </a:solidFill>
                                      <a:latin typeface="Cambria Math" panose="02040503050406030204" pitchFamily="18" charset="0"/>
                                      <a:ea typeface="Times New Roman" panose="02020603050405020304" pitchFamily="18" charset="0"/>
                                    </a:rPr>
                                    <m:t>𝒅</m:t>
                                  </m:r>
                                  <m:r>
                                    <a:rPr lang="en-CA" b="1" i="1" smtClean="0">
                                      <a:solidFill>
                                        <a:schemeClr val="tx1"/>
                                      </a:solidFill>
                                      <a:latin typeface="Cambria Math" panose="02040503050406030204" pitchFamily="18" charset="0"/>
                                      <a:ea typeface="Times New Roman" panose="02020603050405020304" pitchFamily="18" charset="0"/>
                                    </a:rPr>
                                    <m:t>𝑴</m:t>
                                  </m:r>
                                </m:num>
                                <m:den>
                                  <m:r>
                                    <a:rPr lang="en-CA" b="1" i="1">
                                      <a:solidFill>
                                        <a:schemeClr val="tx1"/>
                                      </a:solidFill>
                                      <a:latin typeface="Cambria Math" panose="02040503050406030204" pitchFamily="18" charset="0"/>
                                      <a:ea typeface="Times New Roman" panose="02020603050405020304" pitchFamily="18" charset="0"/>
                                    </a:rPr>
                                    <m:t>𝒅𝒕</m:t>
                                  </m:r>
                                </m:den>
                              </m:f>
                            </m:e>
                          </m:d>
                        </m:e>
                        <m:sub>
                          <m:r>
                            <a:rPr lang="en-CA" b="1" i="1">
                              <a:solidFill>
                                <a:schemeClr val="tx1"/>
                              </a:solidFill>
                              <a:latin typeface="Cambria Math" panose="02040503050406030204" pitchFamily="18" charset="0"/>
                              <a:ea typeface="Times New Roman" panose="02020603050405020304" pitchFamily="18" charset="0"/>
                            </a:rPr>
                            <m:t>𝒔</m:t>
                          </m:r>
                        </m:sub>
                      </m:sSub>
                      <m:r>
                        <a:rPr lang="en-CA" b="1" i="1">
                          <a:solidFill>
                            <a:schemeClr val="tx1"/>
                          </a:solidFill>
                          <a:latin typeface="Cambria Math" panose="02040503050406030204" pitchFamily="18" charset="0"/>
                          <a:ea typeface="Times New Roman" panose="02020603050405020304" pitchFamily="18" charset="0"/>
                        </a:rPr>
                        <m:t>=</m:t>
                      </m:r>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m:t>
                          </m:r>
                        </m:num>
                        <m:den>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𝒕</m:t>
                          </m:r>
                        </m:den>
                      </m:f>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𝑽</m:t>
                          </m:r>
                        </m:sub>
                        <m:sup/>
                        <m:e>
                          <m:r>
                            <a:rPr lang="en-CA" b="1" i="1">
                              <a:solidFill>
                                <a:schemeClr val="tx1"/>
                              </a:solidFill>
                              <a:latin typeface="Cambria Math" panose="02040503050406030204" pitchFamily="18" charset="0"/>
                              <a:ea typeface="Cambria Math" panose="02040503050406030204" pitchFamily="18" charset="0"/>
                            </a:rPr>
                            <m:t>𝝆</m:t>
                          </m:r>
                          <m:r>
                            <a:rPr lang="en-CA" b="1" i="1">
                              <a:solidFill>
                                <a:schemeClr val="tx1"/>
                              </a:solidFill>
                              <a:latin typeface="Cambria Math" panose="02040503050406030204" pitchFamily="18" charset="0"/>
                              <a:ea typeface="Cambria Math" panose="02040503050406030204" pitchFamily="18" charset="0"/>
                            </a:rPr>
                            <m:t>𝒅</m:t>
                          </m:r>
                          <m:r>
                            <a:rPr lang="en-CA" b="1" i="1" smtClean="0">
                              <a:solidFill>
                                <a:schemeClr val="tx1"/>
                              </a:solidFill>
                              <a:latin typeface="Cambria Math" panose="02040503050406030204" pitchFamily="18" charset="0"/>
                              <a:ea typeface="Cambria Math" panose="02040503050406030204" pitchFamily="18" charset="0"/>
                            </a:rPr>
                            <m:t>∀</m:t>
                          </m:r>
                        </m:e>
                      </m:nary>
                      <m:r>
                        <a:rPr lang="en-CA" b="1">
                          <a:solidFill>
                            <a:schemeClr val="tx1"/>
                          </a:solidFill>
                          <a:latin typeface="Cambria Math" panose="02040503050406030204" pitchFamily="18" charset="0"/>
                          <a:ea typeface="Cambria Math" panose="02040503050406030204" pitchFamily="18" charset="0"/>
                        </a:rPr>
                        <m:t>+</m:t>
                      </m:r>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𝑺</m:t>
                          </m:r>
                        </m:sub>
                        <m:sup/>
                        <m:e>
                          <m:r>
                            <a:rPr lang="en-CA" b="1" i="1">
                              <a:solidFill>
                                <a:schemeClr val="tx1"/>
                              </a:solidFill>
                              <a:latin typeface="Cambria Math" panose="02040503050406030204" pitchFamily="18" charset="0"/>
                              <a:ea typeface="Cambria Math" panose="02040503050406030204" pitchFamily="18" charset="0"/>
                            </a:rPr>
                            <m:t>𝝆</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𝒅</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𝑨</m:t>
                              </m:r>
                            </m:e>
                          </m:acc>
                        </m:e>
                      </m:nary>
                    </m:oMath>
                  </m:oMathPara>
                </a14:m>
                <a:endParaRPr lang="en-CA" b="1" dirty="0">
                  <a:solidFill>
                    <a:schemeClr val="tx1"/>
                  </a:solidFill>
                  <a:latin typeface="+mn-lt"/>
                </a:endParaRPr>
              </a:p>
              <a:p>
                <a:pPr marL="0" indent="0">
                  <a:lnSpc>
                    <a:spcPct val="120000"/>
                  </a:lnSpc>
                  <a:buNone/>
                </a:pPr>
                <a:endParaRPr lang="en-CA" b="1" dirty="0">
                  <a:solidFill>
                    <a:schemeClr val="tx1"/>
                  </a:solidFill>
                  <a:latin typeface="+mn-lt"/>
                </a:endParaRPr>
              </a:p>
              <a:p>
                <a:pPr marL="0" indent="0">
                  <a:lnSpc>
                    <a:spcPct val="120000"/>
                  </a:lnSpc>
                  <a:buNone/>
                </a:pPr>
                <a:r>
                  <a:rPr lang="en-CA" b="1" dirty="0">
                    <a:solidFill>
                      <a:schemeClr val="tx1"/>
                    </a:solidFill>
                    <a:latin typeface="+mn-lt"/>
                  </a:rPr>
                  <a:t>Momentum (</a:t>
                </a:r>
                <a14:m>
                  <m:oMath xmlns:m="http://schemas.openxmlformats.org/officeDocument/2006/math">
                    <m:r>
                      <a:rPr lang="en-CA" b="1" i="1" dirty="0">
                        <a:solidFill>
                          <a:schemeClr val="tx1"/>
                        </a:solidFill>
                        <a:latin typeface="Cambria Math" panose="02040503050406030204" pitchFamily="18" charset="0"/>
                      </a:rPr>
                      <m:t>𝑵</m:t>
                    </m:r>
                    <m:r>
                      <a:rPr lang="en-CA" b="1" i="1" dirty="0">
                        <a:solidFill>
                          <a:schemeClr val="tx1"/>
                        </a:solidFill>
                        <a:latin typeface="Cambria Math" panose="02040503050406030204" pitchFamily="18" charset="0"/>
                      </a:rPr>
                      <m:t> =</m:t>
                    </m:r>
                    <m:r>
                      <a:rPr lang="en-CA" b="1" i="1" dirty="0" smtClean="0">
                        <a:solidFill>
                          <a:schemeClr val="tx1"/>
                        </a:solidFill>
                        <a:latin typeface="Cambria Math" panose="02040503050406030204" pitchFamily="18" charset="0"/>
                      </a:rPr>
                      <m:t>𝑷</m:t>
                    </m:r>
                    <m:r>
                      <a:rPr lang="en-CA" b="1" i="1" dirty="0">
                        <a:solidFill>
                          <a:schemeClr val="tx1"/>
                        </a:solidFill>
                        <a:latin typeface="Cambria Math" panose="02040503050406030204" pitchFamily="18" charset="0"/>
                      </a:rPr>
                      <m:t>,</m:t>
                    </m:r>
                    <m:r>
                      <a:rPr lang="en-CA" b="1" i="1" dirty="0">
                        <a:solidFill>
                          <a:schemeClr val="tx1"/>
                        </a:solidFill>
                        <a:latin typeface="Cambria Math" panose="02040503050406030204" pitchFamily="18" charset="0"/>
                        <a:ea typeface="Cambria Math" panose="02040503050406030204" pitchFamily="18" charset="0"/>
                      </a:rPr>
                      <m:t>𝜼</m:t>
                    </m:r>
                    <m:r>
                      <a:rPr lang="en-CA" b="1" i="1" dirty="0">
                        <a:solidFill>
                          <a:schemeClr val="tx1"/>
                        </a:solidFill>
                        <a:latin typeface="Cambria Math" panose="02040503050406030204" pitchFamily="18" charset="0"/>
                        <a:ea typeface="Cambria Math" panose="02040503050406030204" pitchFamily="18" charset="0"/>
                      </a:rPr>
                      <m:t>=</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dirty="0">
                        <a:solidFill>
                          <a:schemeClr val="tx1"/>
                        </a:solidFill>
                        <a:latin typeface="Cambria Math" panose="02040503050406030204" pitchFamily="18" charset="0"/>
                        <a:ea typeface="Cambria Math" panose="02040503050406030204" pitchFamily="18" charset="0"/>
                      </a:rPr>
                      <m:t>)</m:t>
                    </m:r>
                    <m:r>
                      <a:rPr lang="en-CA" b="1" i="1" dirty="0">
                        <a:solidFill>
                          <a:schemeClr val="tx1"/>
                        </a:solidFill>
                        <a:latin typeface="Cambria Math" panose="02040503050406030204" pitchFamily="18" charset="0"/>
                      </a:rPr>
                      <m:t> </m:t>
                    </m:r>
                  </m:oMath>
                </a14:m>
                <a:endParaRPr lang="en-CA" b="1" dirty="0">
                  <a:solidFill>
                    <a:schemeClr val="tx1"/>
                  </a:solidFill>
                  <a:latin typeface="+mn-lt"/>
                </a:endParaRP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CA" b="1" i="1">
                              <a:solidFill>
                                <a:schemeClr val="tx1"/>
                              </a:solidFill>
                              <a:latin typeface="Cambria Math" panose="02040503050406030204" pitchFamily="18" charset="0"/>
                              <a:ea typeface="Times New Roman" panose="02020603050405020304" pitchFamily="18" charset="0"/>
                            </a:rPr>
                          </m:ctrlPr>
                        </m:sSubPr>
                        <m:e>
                          <m:d>
                            <m:dPr>
                              <m:begChr m:val=""/>
                              <m:ctrlPr>
                                <a:rPr lang="en-CA" b="1" i="1">
                                  <a:solidFill>
                                    <a:schemeClr val="tx1"/>
                                  </a:solidFill>
                                  <a:latin typeface="Cambria Math" panose="02040503050406030204" pitchFamily="18" charset="0"/>
                                  <a:ea typeface="Times New Roman" panose="02020603050405020304" pitchFamily="18" charset="0"/>
                                </a:rPr>
                              </m:ctrlPr>
                            </m:dPr>
                            <m:e>
                              <m:f>
                                <m:fPr>
                                  <m:ctrlPr>
                                    <a:rPr lang="en-CA" b="1" i="1">
                                      <a:solidFill>
                                        <a:schemeClr val="tx1"/>
                                      </a:solidFill>
                                      <a:latin typeface="Cambria Math" panose="02040503050406030204" pitchFamily="18" charset="0"/>
                                      <a:ea typeface="Times New Roman" panose="02020603050405020304" pitchFamily="18" charset="0"/>
                                    </a:rPr>
                                  </m:ctrlPr>
                                </m:fPr>
                                <m:num>
                                  <m:r>
                                    <a:rPr lang="en-CA" b="1" i="1">
                                      <a:solidFill>
                                        <a:schemeClr val="tx1"/>
                                      </a:solidFill>
                                      <a:latin typeface="Cambria Math" panose="02040503050406030204" pitchFamily="18" charset="0"/>
                                      <a:ea typeface="Times New Roman" panose="02020603050405020304" pitchFamily="18" charset="0"/>
                                    </a:rPr>
                                    <m:t>𝒅</m:t>
                                  </m:r>
                                  <m:r>
                                    <a:rPr lang="en-CA" b="1" i="1" smtClean="0">
                                      <a:solidFill>
                                        <a:schemeClr val="tx1"/>
                                      </a:solidFill>
                                      <a:latin typeface="Cambria Math" panose="02040503050406030204" pitchFamily="18" charset="0"/>
                                      <a:ea typeface="Times New Roman" panose="02020603050405020304" pitchFamily="18" charset="0"/>
                                    </a:rPr>
                                    <m:t>𝑷</m:t>
                                  </m:r>
                                </m:num>
                                <m:den>
                                  <m:r>
                                    <a:rPr lang="en-CA" b="1" i="1">
                                      <a:solidFill>
                                        <a:schemeClr val="tx1"/>
                                      </a:solidFill>
                                      <a:latin typeface="Cambria Math" panose="02040503050406030204" pitchFamily="18" charset="0"/>
                                      <a:ea typeface="Times New Roman" panose="02020603050405020304" pitchFamily="18" charset="0"/>
                                    </a:rPr>
                                    <m:t>𝒅𝒕</m:t>
                                  </m:r>
                                </m:den>
                              </m:f>
                            </m:e>
                          </m:d>
                        </m:e>
                        <m:sub>
                          <m:r>
                            <a:rPr lang="en-CA" b="1" i="1">
                              <a:solidFill>
                                <a:schemeClr val="tx1"/>
                              </a:solidFill>
                              <a:latin typeface="Cambria Math" panose="02040503050406030204" pitchFamily="18" charset="0"/>
                              <a:ea typeface="Times New Roman" panose="02020603050405020304" pitchFamily="18" charset="0"/>
                            </a:rPr>
                            <m:t>𝒔</m:t>
                          </m:r>
                        </m:sub>
                      </m:sSub>
                      <m:r>
                        <a:rPr lang="en-CA" b="1" i="1">
                          <a:solidFill>
                            <a:schemeClr val="tx1"/>
                          </a:solidFill>
                          <a:latin typeface="Cambria Math" panose="02040503050406030204" pitchFamily="18" charset="0"/>
                          <a:ea typeface="Times New Roman" panose="02020603050405020304" pitchFamily="18" charset="0"/>
                        </a:rPr>
                        <m:t>=</m:t>
                      </m:r>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m:t>
                          </m:r>
                        </m:num>
                        <m:den>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𝒕</m:t>
                          </m:r>
                        </m:den>
                      </m:f>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𝑽</m:t>
                          </m:r>
                        </m:sub>
                        <m:sup/>
                        <m:e>
                          <m:acc>
                            <m:accPr>
                              <m:chr m:val="⃗"/>
                              <m:ctrlPr>
                                <a:rPr lang="en-CA" b="1" i="1" smtClean="0">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ea typeface="Cambria Math" panose="02040503050406030204" pitchFamily="18" charset="0"/>
                            </a:rPr>
                            <m:t>𝝆</m:t>
                          </m:r>
                          <m:r>
                            <a:rPr lang="en-CA" b="1" i="1">
                              <a:solidFill>
                                <a:schemeClr val="tx1"/>
                              </a:solidFill>
                              <a:latin typeface="Cambria Math" panose="02040503050406030204" pitchFamily="18" charset="0"/>
                              <a:ea typeface="Cambria Math" panose="02040503050406030204" pitchFamily="18" charset="0"/>
                            </a:rPr>
                            <m:t>𝒅</m:t>
                          </m:r>
                          <m:r>
                            <a:rPr lang="en-CA" b="1" i="1" smtClean="0">
                              <a:solidFill>
                                <a:schemeClr val="tx1"/>
                              </a:solidFill>
                              <a:latin typeface="Cambria Math" panose="02040503050406030204" pitchFamily="18" charset="0"/>
                              <a:ea typeface="Cambria Math" panose="02040503050406030204" pitchFamily="18" charset="0"/>
                            </a:rPr>
                            <m:t>∀</m:t>
                          </m:r>
                        </m:e>
                      </m:nary>
                      <m:r>
                        <a:rPr lang="en-CA" b="1">
                          <a:solidFill>
                            <a:schemeClr val="tx1"/>
                          </a:solidFill>
                          <a:latin typeface="Cambria Math" panose="02040503050406030204" pitchFamily="18" charset="0"/>
                          <a:ea typeface="Cambria Math" panose="02040503050406030204" pitchFamily="18" charset="0"/>
                        </a:rPr>
                        <m:t>+</m:t>
                      </m:r>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𝑺</m:t>
                          </m:r>
                        </m:sub>
                        <m:sup/>
                        <m:e>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smtClean="0">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ea typeface="Cambria Math" panose="02040503050406030204" pitchFamily="18" charset="0"/>
                            </a:rPr>
                            <m:t>𝝆</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𝒅</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𝑨</m:t>
                              </m:r>
                            </m:e>
                          </m:acc>
                        </m:e>
                      </m:nary>
                    </m:oMath>
                  </m:oMathPara>
                </a14:m>
                <a:endParaRPr lang="en-CA" b="1"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5182" y="255181"/>
                <a:ext cx="8463516" cy="5826642"/>
              </a:xfrm>
              <a:blipFill>
                <a:blip r:embed="rId2"/>
                <a:stretch>
                  <a:fillRect l="-1153"/>
                </a:stretch>
              </a:blipFill>
            </p:spPr>
            <p:txBody>
              <a:bodyPr/>
              <a:lstStyle/>
              <a:p>
                <a:r>
                  <a:rPr lang="en-GH">
                    <a:noFill/>
                  </a:rPr>
                  <a:t> </a:t>
                </a:r>
              </a:p>
            </p:txBody>
          </p:sp>
        </mc:Fallback>
      </mc:AlternateContent>
      <p:sp>
        <p:nvSpPr>
          <p:cNvPr id="2" name="Slide Number Placeholder 1">
            <a:extLst>
              <a:ext uri="{FF2B5EF4-FFF2-40B4-BE49-F238E27FC236}">
                <a16:creationId xmlns:a16="http://schemas.microsoft.com/office/drawing/2014/main" id="{E0774ADC-43B6-70BB-7EC9-4F7FC92F5136}"/>
              </a:ext>
            </a:extLst>
          </p:cNvPr>
          <p:cNvSpPr>
            <a:spLocks noGrp="1"/>
          </p:cNvSpPr>
          <p:nvPr>
            <p:ph type="sldNum" sz="quarter" idx="12"/>
          </p:nvPr>
        </p:nvSpPr>
        <p:spPr/>
        <p:txBody>
          <a:bodyPr/>
          <a:lstStyle/>
          <a:p>
            <a:fld id="{49FCB85E-0F77-4855-90A7-7A1B61BB679B}" type="slidenum">
              <a:rPr lang="en-CA" smtClean="0"/>
              <a:t>16</a:t>
            </a:fld>
            <a:endParaRPr lang="en-CA"/>
          </a:p>
        </p:txBody>
      </p:sp>
    </p:spTree>
    <p:extLst>
      <p:ext uri="{BB962C8B-B14F-4D97-AF65-F5344CB8AC3E}">
        <p14:creationId xmlns:p14="http://schemas.microsoft.com/office/powerpoint/2010/main" val="3712556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461" y="79859"/>
            <a:ext cx="9144000" cy="568940"/>
          </a:xfrm>
        </p:spPr>
        <p:txBody>
          <a:bodyPr>
            <a:normAutofit/>
          </a:bodyPr>
          <a:lstStyle/>
          <a:p>
            <a:r>
              <a:rPr lang="en-US" sz="2400" dirty="0">
                <a:solidFill>
                  <a:schemeClr val="tx1"/>
                </a:solidFill>
                <a:latin typeface="+mn-lt"/>
                <a:ea typeface="Verdana" panose="020B0604030504040204" pitchFamily="34" charset="0"/>
                <a:cs typeface="Verdana" panose="020B0604030504040204" pitchFamily="34" charset="0"/>
              </a:rPr>
              <a:t>Mass/Volume Flux</a:t>
            </a:r>
            <a:endParaRPr lang="en-CA" sz="2400" dirty="0">
              <a:solidFill>
                <a:schemeClr val="tx1"/>
              </a:solidFill>
              <a:latin typeface="+mn-lt"/>
              <a:ea typeface="Verdana" panose="020B0604030504040204" pitchFamily="34" charset="0"/>
              <a:cs typeface="Verdana" panose="020B0604030504040204" pitchFamily="34" charset="0"/>
            </a:endParaRPr>
          </a:p>
        </p:txBody>
      </p:sp>
      <p:pic>
        <p:nvPicPr>
          <p:cNvPr id="4" name="Picture 3" descr="fig_04_03.jpg"/>
          <p:cNvPicPr/>
          <p:nvPr/>
        </p:nvPicPr>
        <p:blipFill rotWithShape="1">
          <a:blip r:embed="rId2">
            <a:extLst>
              <a:ext uri="{28A0092B-C50C-407E-A947-70E740481C1C}">
                <a14:useLocalDpi xmlns:a14="http://schemas.microsoft.com/office/drawing/2010/main" val="0"/>
              </a:ext>
            </a:extLst>
          </a:blip>
          <a:srcRect r="69120"/>
          <a:stretch/>
        </p:blipFill>
        <p:spPr bwMode="auto">
          <a:xfrm>
            <a:off x="310669" y="1171524"/>
            <a:ext cx="2549097" cy="2290274"/>
          </a:xfrm>
          <a:prstGeom prst="rect">
            <a:avLst/>
          </a:prstGeom>
          <a:noFill/>
          <a:ln>
            <a:noFill/>
          </a:ln>
        </p:spPr>
      </p:pic>
      <p:pic>
        <p:nvPicPr>
          <p:cNvPr id="8" name="Picture 7" descr="fig_04_03.jpg"/>
          <p:cNvPicPr/>
          <p:nvPr/>
        </p:nvPicPr>
        <p:blipFill rotWithShape="1">
          <a:blip r:embed="rId2">
            <a:extLst>
              <a:ext uri="{28A0092B-C50C-407E-A947-70E740481C1C}">
                <a14:useLocalDpi xmlns:a14="http://schemas.microsoft.com/office/drawing/2010/main" val="0"/>
              </a:ext>
            </a:extLst>
          </a:blip>
          <a:srcRect l="36162" t="70714" r="32801"/>
          <a:stretch/>
        </p:blipFill>
        <p:spPr bwMode="auto">
          <a:xfrm>
            <a:off x="3070454" y="2835912"/>
            <a:ext cx="2350130" cy="670737"/>
          </a:xfrm>
          <a:prstGeom prst="rect">
            <a:avLst/>
          </a:prstGeom>
          <a:noFill/>
          <a:ln>
            <a:noFill/>
          </a:ln>
        </p:spPr>
      </p:pic>
      <p:pic>
        <p:nvPicPr>
          <p:cNvPr id="9" name="Picture 8" descr="fig_04_03.jpg"/>
          <p:cNvPicPr/>
          <p:nvPr/>
        </p:nvPicPr>
        <p:blipFill rotWithShape="1">
          <a:blip r:embed="rId2">
            <a:extLst>
              <a:ext uri="{28A0092B-C50C-407E-A947-70E740481C1C}">
                <a14:useLocalDpi xmlns:a14="http://schemas.microsoft.com/office/drawing/2010/main" val="0"/>
              </a:ext>
            </a:extLst>
          </a:blip>
          <a:srcRect l="71695" t="73533"/>
          <a:stretch/>
        </p:blipFill>
        <p:spPr bwMode="auto">
          <a:xfrm>
            <a:off x="5950375" y="2883580"/>
            <a:ext cx="2095271" cy="606161"/>
          </a:xfrm>
          <a:prstGeom prst="rect">
            <a:avLst/>
          </a:prstGeom>
          <a:noFill/>
          <a:ln>
            <a:noFill/>
          </a:ln>
        </p:spPr>
      </p:pic>
      <p:grpSp>
        <p:nvGrpSpPr>
          <p:cNvPr id="11" name="Group 10"/>
          <p:cNvGrpSpPr/>
          <p:nvPr/>
        </p:nvGrpSpPr>
        <p:grpSpPr>
          <a:xfrm>
            <a:off x="3452696" y="1121868"/>
            <a:ext cx="2177526" cy="1638252"/>
            <a:chOff x="3882325" y="1108165"/>
            <a:chExt cx="1845510" cy="1638252"/>
          </a:xfrm>
        </p:grpSpPr>
        <p:pic>
          <p:nvPicPr>
            <p:cNvPr id="6" name="Picture 5" descr="fig_04_03.jpg"/>
            <p:cNvPicPr/>
            <p:nvPr/>
          </p:nvPicPr>
          <p:blipFill rotWithShape="1">
            <a:blip r:embed="rId2">
              <a:extLst>
                <a:ext uri="{28A0092B-C50C-407E-A947-70E740481C1C}">
                  <a14:useLocalDpi xmlns:a14="http://schemas.microsoft.com/office/drawing/2010/main" val="0"/>
                </a:ext>
              </a:extLst>
            </a:blip>
            <a:srcRect l="36162" r="32801" b="30978"/>
            <a:stretch/>
          </p:blipFill>
          <p:spPr bwMode="auto">
            <a:xfrm>
              <a:off x="3882325" y="1108165"/>
              <a:ext cx="1836549" cy="1580791"/>
            </a:xfrm>
            <a:prstGeom prst="rect">
              <a:avLst/>
            </a:prstGeom>
            <a:noFill/>
            <a:ln>
              <a:noFill/>
            </a:ln>
          </p:spPr>
        </p:pic>
        <p:sp>
          <p:nvSpPr>
            <p:cNvPr id="3" name="TextBox 2"/>
            <p:cNvSpPr txBox="1"/>
            <p:nvPr/>
          </p:nvSpPr>
          <p:spPr>
            <a:xfrm>
              <a:off x="4201253" y="2438640"/>
              <a:ext cx="1526582" cy="307777"/>
            </a:xfrm>
            <a:prstGeom prst="rect">
              <a:avLst/>
            </a:prstGeom>
            <a:noFill/>
          </p:spPr>
          <p:txBody>
            <a:bodyPr wrap="square" rtlCol="0">
              <a:spAutoFit/>
            </a:bodyPr>
            <a:lstStyle/>
            <a:p>
              <a:endParaRPr lang="en-CA" sz="1400" dirty="0">
                <a:solidFill>
                  <a:srgbClr val="0000FF"/>
                </a:solidFill>
                <a:latin typeface="Myriad Web Pro"/>
              </a:endParaRPr>
            </a:p>
          </p:txBody>
        </p:sp>
      </p:grpSp>
      <p:grpSp>
        <p:nvGrpSpPr>
          <p:cNvPr id="12" name="Group 11"/>
          <p:cNvGrpSpPr/>
          <p:nvPr/>
        </p:nvGrpSpPr>
        <p:grpSpPr>
          <a:xfrm>
            <a:off x="6212579" y="1220702"/>
            <a:ext cx="2044901" cy="1677184"/>
            <a:chOff x="6160576" y="1108165"/>
            <a:chExt cx="1836549" cy="1677184"/>
          </a:xfrm>
        </p:grpSpPr>
        <p:pic>
          <p:nvPicPr>
            <p:cNvPr id="7" name="Picture 6" descr="fig_04_03.jpg"/>
            <p:cNvPicPr/>
            <p:nvPr/>
          </p:nvPicPr>
          <p:blipFill rotWithShape="1">
            <a:blip r:embed="rId2">
              <a:extLst>
                <a:ext uri="{28A0092B-C50C-407E-A947-70E740481C1C}">
                  <a14:useLocalDpi xmlns:a14="http://schemas.microsoft.com/office/drawing/2010/main" val="0"/>
                </a:ext>
              </a:extLst>
            </a:blip>
            <a:srcRect l="71695" b="28271"/>
            <a:stretch/>
          </p:blipFill>
          <p:spPr bwMode="auto">
            <a:xfrm>
              <a:off x="6160576" y="1108165"/>
              <a:ext cx="1674870" cy="1642784"/>
            </a:xfrm>
            <a:prstGeom prst="rect">
              <a:avLst/>
            </a:prstGeom>
            <a:noFill/>
            <a:ln>
              <a:noFill/>
            </a:ln>
          </p:spPr>
        </p:pic>
        <p:sp>
          <p:nvSpPr>
            <p:cNvPr id="10" name="TextBox 9"/>
            <p:cNvSpPr txBox="1"/>
            <p:nvPr/>
          </p:nvSpPr>
          <p:spPr>
            <a:xfrm>
              <a:off x="6470543" y="2477572"/>
              <a:ext cx="1526582" cy="307777"/>
            </a:xfrm>
            <a:prstGeom prst="rect">
              <a:avLst/>
            </a:prstGeom>
            <a:noFill/>
          </p:spPr>
          <p:txBody>
            <a:bodyPr wrap="square" rtlCol="0">
              <a:spAutoFit/>
            </a:bodyPr>
            <a:lstStyle/>
            <a:p>
              <a:endParaRPr lang="en-CA" sz="1400" dirty="0">
                <a:solidFill>
                  <a:srgbClr val="0000FF"/>
                </a:solidFill>
                <a:latin typeface="Myriad Web Pro"/>
              </a:endParaRPr>
            </a:p>
          </p:txBody>
        </p:sp>
      </p:grpSp>
      <p:grpSp>
        <p:nvGrpSpPr>
          <p:cNvPr id="20" name="Group 19">
            <a:extLst>
              <a:ext uri="{FF2B5EF4-FFF2-40B4-BE49-F238E27FC236}">
                <a16:creationId xmlns:a16="http://schemas.microsoft.com/office/drawing/2014/main" id="{ED7E172C-22AE-4820-8C96-F1A4D6C3C6E6}"/>
              </a:ext>
            </a:extLst>
          </p:cNvPr>
          <p:cNvGrpSpPr/>
          <p:nvPr/>
        </p:nvGrpSpPr>
        <p:grpSpPr>
          <a:xfrm>
            <a:off x="4501484" y="4078552"/>
            <a:ext cx="3174441" cy="2606006"/>
            <a:chOff x="2868459" y="4210214"/>
            <a:chExt cx="3045757" cy="2209247"/>
          </a:xfrm>
        </p:grpSpPr>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2868459" y="4210214"/>
              <a:ext cx="3033395" cy="2066925"/>
            </a:xfrm>
            <a:prstGeom prst="rect">
              <a:avLst/>
            </a:prstGeom>
            <a:noFill/>
          </p:spPr>
        </p:pic>
        <p:grpSp>
          <p:nvGrpSpPr>
            <p:cNvPr id="19" name="Group 18">
              <a:extLst>
                <a:ext uri="{FF2B5EF4-FFF2-40B4-BE49-F238E27FC236}">
                  <a16:creationId xmlns:a16="http://schemas.microsoft.com/office/drawing/2014/main" id="{82FBB93F-81D5-4CAB-BB13-32CEAD4AE232}"/>
                </a:ext>
              </a:extLst>
            </p:cNvPr>
            <p:cNvGrpSpPr/>
            <p:nvPr/>
          </p:nvGrpSpPr>
          <p:grpSpPr>
            <a:xfrm>
              <a:off x="2868459" y="4210214"/>
              <a:ext cx="3045757" cy="2209247"/>
              <a:chOff x="2868459" y="4210214"/>
              <a:chExt cx="3045757" cy="2209247"/>
            </a:xfrm>
          </p:grpSpPr>
          <p:cxnSp>
            <p:nvCxnSpPr>
              <p:cNvPr id="14" name="Straight Arrow Connector 13">
                <a:extLst>
                  <a:ext uri="{FF2B5EF4-FFF2-40B4-BE49-F238E27FC236}">
                    <a16:creationId xmlns:a16="http://schemas.microsoft.com/office/drawing/2014/main" id="{ECC374E8-8A5C-4CDC-BD54-B68A0794731A}"/>
                  </a:ext>
                </a:extLst>
              </p:cNvPr>
              <p:cNvCxnSpPr/>
              <p:nvPr/>
            </p:nvCxnSpPr>
            <p:spPr>
              <a:xfrm flipH="1" flipV="1">
                <a:off x="2868459" y="4210214"/>
                <a:ext cx="509246" cy="20316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46F729C-696F-41D4-9E97-5AC762B592D9}"/>
                  </a:ext>
                </a:extLst>
              </p:cNvPr>
              <p:cNvCxnSpPr>
                <a:cxnSpLocks/>
              </p:cNvCxnSpPr>
              <p:nvPr/>
            </p:nvCxnSpPr>
            <p:spPr>
              <a:xfrm>
                <a:off x="5514303" y="4907450"/>
                <a:ext cx="39991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4C0010B-B4B6-4EF2-9CE2-840DF5C6567C}"/>
                  </a:ext>
                </a:extLst>
              </p:cNvPr>
              <p:cNvCxnSpPr>
                <a:cxnSpLocks/>
              </p:cNvCxnSpPr>
              <p:nvPr/>
            </p:nvCxnSpPr>
            <p:spPr>
              <a:xfrm>
                <a:off x="4572000" y="5878356"/>
                <a:ext cx="0" cy="5411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13" name="Rectangle 12"/>
              <p:cNvSpPr/>
              <p:nvPr/>
            </p:nvSpPr>
            <p:spPr>
              <a:xfrm>
                <a:off x="250132" y="5297614"/>
                <a:ext cx="1088951" cy="6673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trlPr>
                            <a:rPr lang="en-CA" sz="1600" b="1" i="1" smtClean="0">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𝑺</m:t>
                          </m:r>
                        </m:sub>
                        <m:sup/>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𝒅</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1600" dirty="0"/>
              </a:p>
            </p:txBody>
          </p:sp>
        </mc:Choice>
        <mc:Fallback xmlns="">
          <p:sp>
            <p:nvSpPr>
              <p:cNvPr id="13" name="Rectangle 12"/>
              <p:cNvSpPr>
                <a:spLocks noRot="1" noChangeAspect="1" noMove="1" noResize="1" noEditPoints="1" noAdjustHandles="1" noChangeArrowheads="1" noChangeShapeType="1" noTextEdit="1"/>
              </p:cNvSpPr>
              <p:nvPr/>
            </p:nvSpPr>
            <p:spPr>
              <a:xfrm>
                <a:off x="250132" y="5297614"/>
                <a:ext cx="1088951" cy="667362"/>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50132" y="3984524"/>
                <a:ext cx="1217192" cy="6673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trlPr>
                            <a:rPr lang="en-CA" sz="1600" b="1" i="1" smtClean="0">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𝑺</m:t>
                          </m:r>
                        </m:sub>
                        <m:sup/>
                        <m:e>
                          <m:r>
                            <a:rPr lang="en-CA" sz="1600" b="1" i="1">
                              <a:solidFill>
                                <a:schemeClr val="tx1"/>
                              </a:solidFill>
                              <a:latin typeface="Cambria Math" panose="02040503050406030204" pitchFamily="18" charset="0"/>
                              <a:ea typeface="Cambria Math" panose="02040503050406030204" pitchFamily="18" charset="0"/>
                            </a:rPr>
                            <m:t>𝝆</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𝒅</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1600" dirty="0"/>
              </a:p>
            </p:txBody>
          </p:sp>
        </mc:Choice>
        <mc:Fallback xmlns="">
          <p:sp>
            <p:nvSpPr>
              <p:cNvPr id="21" name="Rectangle 20"/>
              <p:cNvSpPr>
                <a:spLocks noRot="1" noChangeAspect="1" noMove="1" noResize="1" noEditPoints="1" noAdjustHandles="1" noChangeArrowheads="1" noChangeShapeType="1" noTextEdit="1"/>
              </p:cNvSpPr>
              <p:nvPr/>
            </p:nvSpPr>
            <p:spPr>
              <a:xfrm>
                <a:off x="250132" y="3984524"/>
                <a:ext cx="1217192" cy="667362"/>
              </a:xfrm>
              <a:prstGeom prst="rect">
                <a:avLst/>
              </a:prstGeom>
              <a:blipFill>
                <a:blip r:embed="rId5"/>
                <a:stretch>
                  <a:fillRect/>
                </a:stretch>
              </a:blipFill>
            </p:spPr>
            <p:txBody>
              <a:bodyPr/>
              <a:lstStyle/>
              <a:p>
                <a:r>
                  <a:rPr lang="en-GH">
                    <a:noFill/>
                  </a:rPr>
                  <a:t> </a:t>
                </a:r>
              </a:p>
            </p:txBody>
          </p:sp>
        </mc:Fallback>
      </mc:AlternateContent>
      <p:sp>
        <p:nvSpPr>
          <p:cNvPr id="16" name="Slide Number Placeholder 15">
            <a:extLst>
              <a:ext uri="{FF2B5EF4-FFF2-40B4-BE49-F238E27FC236}">
                <a16:creationId xmlns:a16="http://schemas.microsoft.com/office/drawing/2014/main" id="{77E4FA96-FA63-62EB-424A-8EF0E0677991}"/>
              </a:ext>
            </a:extLst>
          </p:cNvPr>
          <p:cNvSpPr>
            <a:spLocks noGrp="1"/>
          </p:cNvSpPr>
          <p:nvPr>
            <p:ph type="sldNum" sz="quarter" idx="12"/>
          </p:nvPr>
        </p:nvSpPr>
        <p:spPr/>
        <p:txBody>
          <a:bodyPr/>
          <a:lstStyle/>
          <a:p>
            <a:fld id="{49FCB85E-0F77-4855-90A7-7A1B61BB679B}" type="slidenum">
              <a:rPr lang="en-CA" smtClean="0"/>
              <a:t>17</a:t>
            </a:fld>
            <a:endParaRPr lang="en-CA"/>
          </a:p>
        </p:txBody>
      </p:sp>
    </p:spTree>
    <p:extLst>
      <p:ext uri="{BB962C8B-B14F-4D97-AF65-F5344CB8AC3E}">
        <p14:creationId xmlns:p14="http://schemas.microsoft.com/office/powerpoint/2010/main" val="3198742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05" y="0"/>
            <a:ext cx="9144000" cy="362904"/>
          </a:xfrm>
        </p:spPr>
        <p:txBody>
          <a:bodyPr>
            <a:normAutofit fontScale="90000"/>
          </a:bodyPr>
          <a:lstStyle/>
          <a:p>
            <a:r>
              <a:rPr lang="en-CA" sz="2400" dirty="0">
                <a:solidFill>
                  <a:schemeClr val="tx1"/>
                </a:solidFill>
                <a:latin typeface="+mn-lt"/>
                <a:ea typeface="Verdana" panose="020B0604030504040204" pitchFamily="34" charset="0"/>
                <a:cs typeface="Verdana" panose="020B0604030504040204" pitchFamily="34" charset="0"/>
              </a:rPr>
              <a:t>Conservation Mass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414047"/>
                <a:ext cx="9144000" cy="5593562"/>
              </a:xfrm>
            </p:spPr>
            <p:txBody>
              <a:bodyPr>
                <a:normAutofit/>
              </a:bodyPr>
              <a:lstStyle/>
              <a:p>
                <a:pPr marL="0" indent="0">
                  <a:lnSpc>
                    <a:spcPct val="100000"/>
                  </a:lnSpc>
                  <a:spcAft>
                    <a:spcPts val="600"/>
                  </a:spcAft>
                  <a:buNone/>
                </a:pPr>
                <a14:m>
                  <m:oMathPara xmlns:m="http://schemas.openxmlformats.org/officeDocument/2006/math">
                    <m:oMathParaPr>
                      <m:jc m:val="centerGroup"/>
                    </m:oMathParaPr>
                    <m:oMath xmlns:m="http://schemas.openxmlformats.org/officeDocument/2006/math">
                      <m:sSub>
                        <m:sSubPr>
                          <m:ctrlPr>
                            <a:rPr lang="en-CA" b="1" i="1" smtClean="0">
                              <a:solidFill>
                                <a:srgbClr val="000000"/>
                              </a:solidFill>
                              <a:latin typeface="Cambria Math" panose="02040503050406030204" pitchFamily="18" charset="0"/>
                              <a:ea typeface="Times New Roman" panose="02020603050405020304" pitchFamily="18" charset="0"/>
                            </a:rPr>
                          </m:ctrlPr>
                        </m:sSubPr>
                        <m:e>
                          <m:r>
                            <a:rPr lang="en-CA" b="1" i="1">
                              <a:solidFill>
                                <a:srgbClr val="000000"/>
                              </a:solidFill>
                              <a:latin typeface="Cambria Math" panose="02040503050406030204" pitchFamily="18" charset="0"/>
                              <a:ea typeface="Times New Roman" panose="02020603050405020304" pitchFamily="18" charset="0"/>
                            </a:rPr>
                            <m:t> </m:t>
                          </m:r>
                          <m:d>
                            <m:dPr>
                              <m:begChr m:val=""/>
                              <m:ctrlPr>
                                <a:rPr lang="en-CA" b="1" i="1">
                                  <a:solidFill>
                                    <a:srgbClr val="000000"/>
                                  </a:solidFill>
                                  <a:latin typeface="Cambria Math" panose="02040503050406030204" pitchFamily="18" charset="0"/>
                                  <a:ea typeface="Times New Roman" panose="02020603050405020304" pitchFamily="18" charset="0"/>
                                </a:rPr>
                              </m:ctrlPr>
                            </m:dPr>
                            <m:e>
                              <m:f>
                                <m:fPr>
                                  <m:ctrlPr>
                                    <a:rPr lang="en-CA" b="1" i="1">
                                      <a:solidFill>
                                        <a:srgbClr val="000000"/>
                                      </a:solidFill>
                                      <a:latin typeface="Cambria Math" panose="02040503050406030204" pitchFamily="18" charset="0"/>
                                      <a:ea typeface="Times New Roman" panose="02020603050405020304" pitchFamily="18" charset="0"/>
                                    </a:rPr>
                                  </m:ctrlPr>
                                </m:fPr>
                                <m:num>
                                  <m:r>
                                    <a:rPr lang="en-CA" b="1" i="1">
                                      <a:solidFill>
                                        <a:srgbClr val="000000"/>
                                      </a:solidFill>
                                      <a:latin typeface="Cambria Math" panose="02040503050406030204" pitchFamily="18" charset="0"/>
                                      <a:ea typeface="Times New Roman" panose="02020603050405020304" pitchFamily="18" charset="0"/>
                                    </a:rPr>
                                    <m:t>𝒅𝑴</m:t>
                                  </m:r>
                                </m:num>
                                <m:den>
                                  <m:r>
                                    <a:rPr lang="en-CA" b="1" i="1">
                                      <a:solidFill>
                                        <a:srgbClr val="000000"/>
                                      </a:solidFill>
                                      <a:latin typeface="Cambria Math" panose="02040503050406030204" pitchFamily="18" charset="0"/>
                                      <a:ea typeface="Times New Roman" panose="02020603050405020304" pitchFamily="18" charset="0"/>
                                    </a:rPr>
                                    <m:t>𝒅𝒕</m:t>
                                  </m:r>
                                </m:den>
                              </m:f>
                            </m:e>
                          </m:d>
                        </m:e>
                        <m:sub>
                          <m:r>
                            <a:rPr lang="en-CA" b="1" i="1">
                              <a:solidFill>
                                <a:srgbClr val="000000"/>
                              </a:solidFill>
                              <a:latin typeface="Cambria Math" panose="02040503050406030204" pitchFamily="18" charset="0"/>
                              <a:ea typeface="Times New Roman" panose="02020603050405020304" pitchFamily="18" charset="0"/>
                            </a:rPr>
                            <m:t>𝒔</m:t>
                          </m:r>
                        </m:sub>
                      </m:sSub>
                      <m:r>
                        <a:rPr lang="en-CA" b="1" i="1">
                          <a:solidFill>
                            <a:srgbClr val="000000"/>
                          </a:solidFill>
                          <a:latin typeface="Cambria Math" panose="02040503050406030204" pitchFamily="18" charset="0"/>
                          <a:ea typeface="Times New Roman" panose="02020603050405020304" pitchFamily="18" charset="0"/>
                        </a:rPr>
                        <m:t>=</m:t>
                      </m:r>
                      <m:r>
                        <a:rPr lang="en-CA" b="1" i="1" smtClean="0">
                          <a:solidFill>
                            <a:srgbClr val="000000"/>
                          </a:solidFill>
                          <a:latin typeface="Cambria Math" panose="02040503050406030204" pitchFamily="18" charset="0"/>
                          <a:ea typeface="Times New Roman" panose="02020603050405020304" pitchFamily="18" charset="0"/>
                        </a:rPr>
                        <m:t>𝟎</m:t>
                      </m:r>
                    </m:oMath>
                  </m:oMathPara>
                </a14:m>
                <a:endParaRPr lang="en-CA" b="1" i="1" dirty="0">
                  <a:solidFill>
                    <a:srgbClr val="0000FF"/>
                  </a:solidFill>
                  <a:latin typeface="+mn-lt"/>
                </a:endParaRPr>
              </a:p>
              <a:p>
                <a:pPr marL="0" indent="0">
                  <a:lnSpc>
                    <a:spcPct val="100000"/>
                  </a:lnSpc>
                  <a:spcAft>
                    <a:spcPts val="800"/>
                  </a:spcAft>
                  <a:buNone/>
                </a:pPr>
                <a:r>
                  <a:rPr lang="en-CA" b="1" dirty="0">
                    <a:solidFill>
                      <a:srgbClr val="0000FF"/>
                    </a:solidFill>
                    <a:latin typeface="+mn-lt"/>
                  </a:rPr>
                  <a:t>		</a:t>
                </a:r>
                <a:r>
                  <a:rPr lang="en-CA" b="1" dirty="0">
                    <a:solidFill>
                      <a:schemeClr val="tx1"/>
                    </a:solidFill>
                    <a:latin typeface="+mn-lt"/>
                  </a:rPr>
                  <a:t>RTT:</a:t>
                </a:r>
                <a:r>
                  <a:rPr lang="en-CA" b="1" i="1" dirty="0">
                    <a:solidFill>
                      <a:schemeClr val="tx1"/>
                    </a:solidFill>
                    <a:latin typeface="+mn-lt"/>
                  </a:rPr>
                  <a:t>	 </a:t>
                </a:r>
                <a14:m>
                  <m:oMath xmlns:m="http://schemas.openxmlformats.org/officeDocument/2006/math">
                    <m:sSub>
                      <m:sSubPr>
                        <m:ctrlPr>
                          <a:rPr lang="en-CA" b="1" i="1">
                            <a:solidFill>
                              <a:schemeClr val="tx1"/>
                            </a:solidFill>
                            <a:latin typeface="Cambria Math" panose="02040503050406030204" pitchFamily="18" charset="0"/>
                            <a:ea typeface="Times New Roman" panose="02020603050405020304" pitchFamily="18" charset="0"/>
                          </a:rPr>
                        </m:ctrlPr>
                      </m:sSubPr>
                      <m:e>
                        <m:d>
                          <m:dPr>
                            <m:begChr m:val=""/>
                            <m:ctrlPr>
                              <a:rPr lang="en-CA" b="1" i="1">
                                <a:solidFill>
                                  <a:schemeClr val="tx1"/>
                                </a:solidFill>
                                <a:latin typeface="Cambria Math" panose="02040503050406030204" pitchFamily="18" charset="0"/>
                                <a:ea typeface="Times New Roman" panose="02020603050405020304" pitchFamily="18" charset="0"/>
                              </a:rPr>
                            </m:ctrlPr>
                          </m:dPr>
                          <m:e>
                            <m:f>
                              <m:fPr>
                                <m:ctrlPr>
                                  <a:rPr lang="en-CA" b="1" i="1">
                                    <a:solidFill>
                                      <a:schemeClr val="tx1"/>
                                    </a:solidFill>
                                    <a:latin typeface="Cambria Math" panose="02040503050406030204" pitchFamily="18" charset="0"/>
                                    <a:ea typeface="Times New Roman" panose="02020603050405020304" pitchFamily="18" charset="0"/>
                                  </a:rPr>
                                </m:ctrlPr>
                              </m:fPr>
                              <m:num>
                                <m:r>
                                  <a:rPr lang="en-CA" b="1" i="1">
                                    <a:solidFill>
                                      <a:schemeClr val="tx1"/>
                                    </a:solidFill>
                                    <a:latin typeface="Cambria Math" panose="02040503050406030204" pitchFamily="18" charset="0"/>
                                    <a:ea typeface="Times New Roman" panose="02020603050405020304" pitchFamily="18" charset="0"/>
                                  </a:rPr>
                                  <m:t>𝒅𝑵</m:t>
                                </m:r>
                              </m:num>
                              <m:den>
                                <m:r>
                                  <a:rPr lang="en-CA" b="1" i="1">
                                    <a:solidFill>
                                      <a:schemeClr val="tx1"/>
                                    </a:solidFill>
                                    <a:latin typeface="Cambria Math" panose="02040503050406030204" pitchFamily="18" charset="0"/>
                                    <a:ea typeface="Times New Roman" panose="02020603050405020304" pitchFamily="18" charset="0"/>
                                  </a:rPr>
                                  <m:t>𝒅𝒕</m:t>
                                </m:r>
                              </m:den>
                            </m:f>
                          </m:e>
                        </m:d>
                      </m:e>
                      <m:sub>
                        <m:r>
                          <a:rPr lang="en-CA" b="1" i="1">
                            <a:solidFill>
                              <a:schemeClr val="tx1"/>
                            </a:solidFill>
                            <a:latin typeface="Cambria Math" panose="02040503050406030204" pitchFamily="18" charset="0"/>
                            <a:ea typeface="Times New Roman" panose="02020603050405020304" pitchFamily="18" charset="0"/>
                          </a:rPr>
                          <m:t>𝒔</m:t>
                        </m:r>
                      </m:sub>
                    </m:sSub>
                    <m:r>
                      <a:rPr lang="en-CA" b="1" i="1">
                        <a:solidFill>
                          <a:schemeClr val="tx1"/>
                        </a:solidFill>
                        <a:latin typeface="Cambria Math" panose="02040503050406030204" pitchFamily="18" charset="0"/>
                        <a:ea typeface="Times New Roman" panose="02020603050405020304" pitchFamily="18" charset="0"/>
                      </a:rPr>
                      <m:t>=</m:t>
                    </m:r>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m:t>
                        </m:r>
                      </m:num>
                      <m:den>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𝒕</m:t>
                        </m:r>
                      </m:den>
                    </m:f>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𝑽</m:t>
                        </m:r>
                      </m:sub>
                      <m:sup/>
                      <m:e>
                        <m:r>
                          <a:rPr lang="en-CA" b="1" i="1">
                            <a:solidFill>
                              <a:schemeClr val="tx1"/>
                            </a:solidFill>
                            <a:latin typeface="Cambria Math" panose="02040503050406030204" pitchFamily="18" charset="0"/>
                            <a:ea typeface="Cambria Math" panose="02040503050406030204" pitchFamily="18" charset="0"/>
                          </a:rPr>
                          <m:t>𝜼𝝆</m:t>
                        </m:r>
                        <m:r>
                          <a:rPr lang="en-CA" b="1" i="1">
                            <a:solidFill>
                              <a:schemeClr val="tx1"/>
                            </a:solidFill>
                            <a:latin typeface="Cambria Math" panose="02040503050406030204" pitchFamily="18" charset="0"/>
                            <a:ea typeface="Cambria Math" panose="02040503050406030204" pitchFamily="18" charset="0"/>
                          </a:rPr>
                          <m:t>𝒅</m:t>
                        </m:r>
                        <m:r>
                          <a:rPr lang="en-CA" b="1" i="1">
                            <a:solidFill>
                              <a:schemeClr val="tx1"/>
                            </a:solidFill>
                            <a:latin typeface="Cambria Math" panose="02040503050406030204" pitchFamily="18" charset="0"/>
                            <a:ea typeface="Cambria Math" panose="02040503050406030204" pitchFamily="18" charset="0"/>
                          </a:rPr>
                          <m:t>∀</m:t>
                        </m:r>
                      </m:e>
                    </m:nary>
                    <m:r>
                      <a:rPr lang="en-CA" b="1">
                        <a:solidFill>
                          <a:schemeClr val="tx1"/>
                        </a:solidFill>
                        <a:latin typeface="Cambria Math" panose="02040503050406030204" pitchFamily="18" charset="0"/>
                        <a:ea typeface="Cambria Math" panose="02040503050406030204" pitchFamily="18" charset="0"/>
                      </a:rPr>
                      <m:t>+</m:t>
                    </m:r>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𝑺</m:t>
                        </m:r>
                      </m:sub>
                      <m:sup/>
                      <m:e>
                        <m:r>
                          <a:rPr lang="en-CA" b="1" i="1">
                            <a:solidFill>
                              <a:schemeClr val="tx1"/>
                            </a:solidFill>
                            <a:latin typeface="Cambria Math" panose="02040503050406030204" pitchFamily="18" charset="0"/>
                            <a:ea typeface="Cambria Math" panose="02040503050406030204" pitchFamily="18" charset="0"/>
                          </a:rPr>
                          <m:t>𝜼𝝆</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𝒅</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𝑨</m:t>
                            </m:r>
                          </m:e>
                        </m:acc>
                      </m:e>
                    </m:nary>
                  </m:oMath>
                </a14:m>
                <a:endParaRPr lang="en-CA" b="1" i="1" dirty="0">
                  <a:solidFill>
                    <a:schemeClr val="tx1"/>
                  </a:solidFill>
                  <a:latin typeface="+mn-lt"/>
                </a:endParaRPr>
              </a:p>
              <a:p>
                <a:pPr marL="0" indent="0">
                  <a:lnSpc>
                    <a:spcPct val="100000"/>
                  </a:lnSpc>
                  <a:spcAft>
                    <a:spcPts val="800"/>
                  </a:spcAft>
                  <a:buNone/>
                </a:pPr>
                <a14:m>
                  <m:oMathPara xmlns:m="http://schemas.openxmlformats.org/officeDocument/2006/math">
                    <m:oMathParaPr>
                      <m:jc m:val="centerGroup"/>
                    </m:oMathParaPr>
                    <m:oMath xmlns:m="http://schemas.openxmlformats.org/officeDocument/2006/math">
                      <m:sSub>
                        <m:sSubPr>
                          <m:ctrlPr>
                            <a:rPr lang="en-CA" b="1" i="1">
                              <a:solidFill>
                                <a:schemeClr val="tx1"/>
                              </a:solidFill>
                              <a:latin typeface="Cambria Math" panose="02040503050406030204" pitchFamily="18" charset="0"/>
                              <a:ea typeface="Times New Roman" panose="02020603050405020304" pitchFamily="18" charset="0"/>
                            </a:rPr>
                          </m:ctrlPr>
                        </m:sSubPr>
                        <m:e>
                          <m:d>
                            <m:dPr>
                              <m:begChr m:val=""/>
                              <m:ctrlPr>
                                <a:rPr lang="en-CA" b="1" i="1">
                                  <a:solidFill>
                                    <a:schemeClr val="tx1"/>
                                  </a:solidFill>
                                  <a:latin typeface="Cambria Math" panose="02040503050406030204" pitchFamily="18" charset="0"/>
                                  <a:ea typeface="Times New Roman" panose="02020603050405020304" pitchFamily="18" charset="0"/>
                                </a:rPr>
                              </m:ctrlPr>
                            </m:dPr>
                            <m:e>
                              <m:f>
                                <m:fPr>
                                  <m:ctrlPr>
                                    <a:rPr lang="en-CA" b="1" i="1">
                                      <a:solidFill>
                                        <a:schemeClr val="tx1"/>
                                      </a:solidFill>
                                      <a:latin typeface="Cambria Math" panose="02040503050406030204" pitchFamily="18" charset="0"/>
                                      <a:ea typeface="Times New Roman" panose="02020603050405020304" pitchFamily="18" charset="0"/>
                                    </a:rPr>
                                  </m:ctrlPr>
                                </m:fPr>
                                <m:num>
                                  <m:r>
                                    <a:rPr lang="en-CA" b="1" i="1">
                                      <a:solidFill>
                                        <a:schemeClr val="tx1"/>
                                      </a:solidFill>
                                      <a:latin typeface="Cambria Math" panose="02040503050406030204" pitchFamily="18" charset="0"/>
                                      <a:ea typeface="Times New Roman" panose="02020603050405020304" pitchFamily="18" charset="0"/>
                                    </a:rPr>
                                    <m:t>𝒅</m:t>
                                  </m:r>
                                  <m:r>
                                    <a:rPr lang="en-CA" b="1" i="1" smtClean="0">
                                      <a:solidFill>
                                        <a:schemeClr val="tx1"/>
                                      </a:solidFill>
                                      <a:latin typeface="Cambria Math" panose="02040503050406030204" pitchFamily="18" charset="0"/>
                                      <a:ea typeface="Times New Roman" panose="02020603050405020304" pitchFamily="18" charset="0"/>
                                    </a:rPr>
                                    <m:t>𝑴</m:t>
                                  </m:r>
                                </m:num>
                                <m:den>
                                  <m:r>
                                    <a:rPr lang="en-CA" b="1" i="1">
                                      <a:solidFill>
                                        <a:schemeClr val="tx1"/>
                                      </a:solidFill>
                                      <a:latin typeface="Cambria Math" panose="02040503050406030204" pitchFamily="18" charset="0"/>
                                      <a:ea typeface="Times New Roman" panose="02020603050405020304" pitchFamily="18" charset="0"/>
                                    </a:rPr>
                                    <m:t>𝒅𝒕</m:t>
                                  </m:r>
                                </m:den>
                              </m:f>
                            </m:e>
                          </m:d>
                        </m:e>
                        <m:sub>
                          <m:r>
                            <a:rPr lang="en-CA" b="1" i="1">
                              <a:solidFill>
                                <a:schemeClr val="tx1"/>
                              </a:solidFill>
                              <a:latin typeface="Cambria Math" panose="02040503050406030204" pitchFamily="18" charset="0"/>
                              <a:ea typeface="Times New Roman" panose="02020603050405020304" pitchFamily="18" charset="0"/>
                            </a:rPr>
                            <m:t>𝒔</m:t>
                          </m:r>
                        </m:sub>
                      </m:sSub>
                      <m:r>
                        <a:rPr lang="en-CA" b="1" i="1">
                          <a:solidFill>
                            <a:schemeClr val="tx1"/>
                          </a:solidFill>
                          <a:latin typeface="Cambria Math" panose="02040503050406030204" pitchFamily="18" charset="0"/>
                          <a:ea typeface="Times New Roman" panose="02020603050405020304" pitchFamily="18" charset="0"/>
                        </a:rPr>
                        <m:t>=</m:t>
                      </m:r>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m:t>
                          </m:r>
                        </m:num>
                        <m:den>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𝒕</m:t>
                          </m:r>
                        </m:den>
                      </m:f>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𝑽</m:t>
                          </m:r>
                        </m:sub>
                        <m:sup/>
                        <m:e>
                          <m:r>
                            <a:rPr lang="en-CA" b="1" i="1">
                              <a:solidFill>
                                <a:schemeClr val="tx1"/>
                              </a:solidFill>
                              <a:latin typeface="Cambria Math" panose="02040503050406030204" pitchFamily="18" charset="0"/>
                              <a:ea typeface="Cambria Math" panose="02040503050406030204" pitchFamily="18" charset="0"/>
                            </a:rPr>
                            <m:t>𝝆</m:t>
                          </m:r>
                          <m:r>
                            <a:rPr lang="en-CA" b="1" i="1">
                              <a:solidFill>
                                <a:schemeClr val="tx1"/>
                              </a:solidFill>
                              <a:latin typeface="Cambria Math" panose="02040503050406030204" pitchFamily="18" charset="0"/>
                              <a:ea typeface="Cambria Math" panose="02040503050406030204" pitchFamily="18" charset="0"/>
                            </a:rPr>
                            <m:t>𝒅</m:t>
                          </m:r>
                          <m:r>
                            <a:rPr lang="en-CA" b="1" i="1">
                              <a:solidFill>
                                <a:schemeClr val="tx1"/>
                              </a:solidFill>
                              <a:latin typeface="Cambria Math" panose="02040503050406030204" pitchFamily="18" charset="0"/>
                              <a:ea typeface="Cambria Math" panose="02040503050406030204" pitchFamily="18" charset="0"/>
                            </a:rPr>
                            <m:t>∀</m:t>
                          </m:r>
                        </m:e>
                      </m:nary>
                      <m:r>
                        <a:rPr lang="en-CA" b="1">
                          <a:solidFill>
                            <a:schemeClr val="tx1"/>
                          </a:solidFill>
                          <a:latin typeface="Cambria Math" panose="02040503050406030204" pitchFamily="18" charset="0"/>
                          <a:ea typeface="Cambria Math" panose="02040503050406030204" pitchFamily="18" charset="0"/>
                        </a:rPr>
                        <m:t>+</m:t>
                      </m:r>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𝑺</m:t>
                          </m:r>
                        </m:sub>
                        <m:sup/>
                        <m:e>
                          <m:r>
                            <a:rPr lang="en-CA" b="1" i="1">
                              <a:solidFill>
                                <a:schemeClr val="tx1"/>
                              </a:solidFill>
                              <a:latin typeface="Cambria Math" panose="02040503050406030204" pitchFamily="18" charset="0"/>
                              <a:ea typeface="Cambria Math" panose="02040503050406030204" pitchFamily="18" charset="0"/>
                            </a:rPr>
                            <m:t>𝝆</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𝒅</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𝑨</m:t>
                              </m:r>
                            </m:e>
                          </m:acc>
                        </m:e>
                      </m:nary>
                    </m:oMath>
                  </m:oMathPara>
                </a14:m>
                <a:endParaRPr lang="en-CA" b="1" i="1" dirty="0">
                  <a:solidFill>
                    <a:schemeClr val="tx1"/>
                  </a:solidFill>
                  <a:latin typeface="+mn-lt"/>
                </a:endParaRPr>
              </a:p>
              <a:p>
                <a:pPr marL="0" indent="0">
                  <a:lnSpc>
                    <a:spcPct val="100000"/>
                  </a:lnSpc>
                  <a:spcAft>
                    <a:spcPts val="800"/>
                  </a:spcAft>
                  <a:buNone/>
                </a:pPr>
                <a14:m>
                  <m:oMathPara xmlns:m="http://schemas.openxmlformats.org/officeDocument/2006/math">
                    <m:oMathParaPr>
                      <m:jc m:val="centerGroup"/>
                    </m:oMathParaPr>
                    <m:oMath xmlns:m="http://schemas.openxmlformats.org/officeDocument/2006/math">
                      <m:f>
                        <m:fPr>
                          <m:ctrlPr>
                            <a:rPr lang="en-CA" b="1" i="1" smtClean="0">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m:t>
                          </m:r>
                        </m:num>
                        <m:den>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𝒕</m:t>
                          </m:r>
                        </m:den>
                      </m:f>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𝑽</m:t>
                          </m:r>
                        </m:sub>
                        <m:sup/>
                        <m:e>
                          <m:r>
                            <a:rPr lang="en-CA" b="1" i="1">
                              <a:solidFill>
                                <a:schemeClr val="tx1"/>
                              </a:solidFill>
                              <a:latin typeface="Cambria Math" panose="02040503050406030204" pitchFamily="18" charset="0"/>
                              <a:ea typeface="Cambria Math" panose="02040503050406030204" pitchFamily="18" charset="0"/>
                            </a:rPr>
                            <m:t>𝝆</m:t>
                          </m:r>
                          <m:r>
                            <a:rPr lang="en-CA" b="1" i="1">
                              <a:solidFill>
                                <a:schemeClr val="tx1"/>
                              </a:solidFill>
                              <a:latin typeface="Cambria Math" panose="02040503050406030204" pitchFamily="18" charset="0"/>
                              <a:ea typeface="Cambria Math" panose="02040503050406030204" pitchFamily="18" charset="0"/>
                            </a:rPr>
                            <m:t>𝒅</m:t>
                          </m:r>
                          <m:r>
                            <a:rPr lang="en-CA" b="1" i="1" smtClean="0">
                              <a:solidFill>
                                <a:schemeClr val="tx1"/>
                              </a:solidFill>
                              <a:latin typeface="Cambria Math" panose="02040503050406030204" pitchFamily="18" charset="0"/>
                              <a:ea typeface="Cambria Math" panose="02040503050406030204" pitchFamily="18" charset="0"/>
                            </a:rPr>
                            <m:t>∀</m:t>
                          </m:r>
                        </m:e>
                      </m:nary>
                      <m:r>
                        <a:rPr lang="en-CA" b="1">
                          <a:solidFill>
                            <a:schemeClr val="tx1"/>
                          </a:solidFill>
                          <a:latin typeface="Cambria Math" panose="02040503050406030204" pitchFamily="18" charset="0"/>
                          <a:ea typeface="Cambria Math" panose="02040503050406030204" pitchFamily="18" charset="0"/>
                        </a:rPr>
                        <m:t>+</m:t>
                      </m:r>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𝑺</m:t>
                          </m:r>
                        </m:sub>
                        <m:sup/>
                        <m:e>
                          <m:r>
                            <a:rPr lang="en-CA" b="1" i="1">
                              <a:solidFill>
                                <a:schemeClr val="tx1"/>
                              </a:solidFill>
                              <a:latin typeface="Cambria Math" panose="02040503050406030204" pitchFamily="18" charset="0"/>
                              <a:ea typeface="Cambria Math" panose="02040503050406030204" pitchFamily="18" charset="0"/>
                            </a:rPr>
                            <m:t>𝝆</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𝒅</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𝑨</m:t>
                              </m:r>
                            </m:e>
                          </m:acc>
                        </m:e>
                      </m:nary>
                      <m:r>
                        <a:rPr lang="en-CA" b="1" i="1" smtClean="0">
                          <a:solidFill>
                            <a:schemeClr val="tx1"/>
                          </a:solidFill>
                          <a:latin typeface="Cambria Math" panose="02040503050406030204" pitchFamily="18" charset="0"/>
                          <a:ea typeface="Cambria Math" panose="02040503050406030204" pitchFamily="18" charset="0"/>
                        </a:rPr>
                        <m:t>=</m:t>
                      </m:r>
                      <m:r>
                        <a:rPr lang="en-CA" b="1" i="1" smtClean="0">
                          <a:solidFill>
                            <a:schemeClr val="tx1"/>
                          </a:solidFill>
                          <a:latin typeface="Cambria Math" panose="02040503050406030204" pitchFamily="18" charset="0"/>
                          <a:ea typeface="Cambria Math" panose="02040503050406030204" pitchFamily="18" charset="0"/>
                        </a:rPr>
                        <m:t>𝟎</m:t>
                      </m:r>
                    </m:oMath>
                  </m:oMathPara>
                </a14:m>
                <a:endParaRPr lang="en-CA" b="1" dirty="0">
                  <a:solidFill>
                    <a:schemeClr val="tx1"/>
                  </a:solidFill>
                  <a:latin typeface="+mn-lt"/>
                </a:endParaRPr>
              </a:p>
              <a:p>
                <a:pPr marL="0" indent="0">
                  <a:lnSpc>
                    <a:spcPct val="100000"/>
                  </a:lnSpc>
                  <a:spcAft>
                    <a:spcPts val="2400"/>
                  </a:spcAft>
                  <a:buNone/>
                </a:pPr>
                <a14:m>
                  <m:oMathPara xmlns:m="http://schemas.openxmlformats.org/officeDocument/2006/math">
                    <m:oMathParaPr>
                      <m:jc m:val="centerGroup"/>
                    </m:oMathParaPr>
                    <m:oMath xmlns:m="http://schemas.openxmlformats.org/officeDocument/2006/math">
                      <m:f>
                        <m:fPr>
                          <m:ctrlPr>
                            <a:rPr lang="en-CA" b="1" i="1">
                              <a:solidFill>
                                <a:schemeClr val="tx1"/>
                              </a:solidFill>
                              <a:latin typeface="Cambria Math" panose="02040503050406030204" pitchFamily="18" charset="0"/>
                            </a:rPr>
                          </m:ctrlPr>
                        </m:fPr>
                        <m:num>
                          <m:r>
                            <a:rPr lang="en-CA" b="1" i="1">
                              <a:solidFill>
                                <a:schemeClr val="tx1"/>
                              </a:solidFill>
                              <a:latin typeface="Cambria Math" panose="02040503050406030204" pitchFamily="18" charset="0"/>
                              <a:ea typeface="Cambria Math" panose="02040503050406030204" pitchFamily="18" charset="0"/>
                            </a:rPr>
                            <m:t>𝝏</m:t>
                          </m:r>
                        </m:num>
                        <m:den>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𝒕</m:t>
                          </m:r>
                        </m:den>
                      </m:f>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𝑽</m:t>
                          </m:r>
                        </m:sub>
                        <m:sup/>
                        <m:e>
                          <m:r>
                            <a:rPr lang="en-CA" b="1" i="1">
                              <a:solidFill>
                                <a:schemeClr val="tx1"/>
                              </a:solidFill>
                              <a:latin typeface="Cambria Math" panose="02040503050406030204" pitchFamily="18" charset="0"/>
                              <a:ea typeface="Cambria Math" panose="02040503050406030204" pitchFamily="18" charset="0"/>
                            </a:rPr>
                            <m:t>𝝆</m:t>
                          </m:r>
                          <m:r>
                            <a:rPr lang="en-CA" b="1" i="1">
                              <a:solidFill>
                                <a:schemeClr val="tx1"/>
                              </a:solidFill>
                              <a:latin typeface="Cambria Math" panose="02040503050406030204" pitchFamily="18" charset="0"/>
                              <a:ea typeface="Cambria Math" panose="02040503050406030204" pitchFamily="18" charset="0"/>
                            </a:rPr>
                            <m:t>𝒅</m:t>
                          </m:r>
                          <m:r>
                            <a:rPr lang="en-CA" b="1" i="1" smtClean="0">
                              <a:solidFill>
                                <a:schemeClr val="tx1"/>
                              </a:solidFill>
                              <a:latin typeface="Cambria Math" panose="02040503050406030204" pitchFamily="18" charset="0"/>
                              <a:ea typeface="Cambria Math" panose="02040503050406030204" pitchFamily="18" charset="0"/>
                            </a:rPr>
                            <m:t>∀</m:t>
                          </m:r>
                        </m:e>
                      </m:nary>
                      <m:r>
                        <a:rPr lang="en-CA" b="1" i="1" smtClean="0">
                          <a:solidFill>
                            <a:schemeClr val="tx1"/>
                          </a:solidFill>
                          <a:latin typeface="Cambria Math" panose="02040503050406030204" pitchFamily="18" charset="0"/>
                          <a:ea typeface="Cambria Math" panose="02040503050406030204" pitchFamily="18" charset="0"/>
                        </a:rPr>
                        <m:t>=−</m:t>
                      </m:r>
                      <m:nary>
                        <m:naryPr>
                          <m:ctrlPr>
                            <a:rPr lang="en-CA" b="1" i="1">
                              <a:solidFill>
                                <a:schemeClr val="tx1"/>
                              </a:solidFill>
                              <a:latin typeface="Cambria Math" panose="02040503050406030204" pitchFamily="18" charset="0"/>
                            </a:rPr>
                          </m:ctrlPr>
                        </m:naryPr>
                        <m:sub>
                          <m:r>
                            <m:rPr>
                              <m:brk m:alnAt="23"/>
                            </m:rPr>
                            <a:rPr lang="en-CA" b="1" i="1">
                              <a:solidFill>
                                <a:schemeClr val="tx1"/>
                              </a:solidFill>
                              <a:latin typeface="Cambria Math" panose="02040503050406030204" pitchFamily="18" charset="0"/>
                            </a:rPr>
                            <m:t>𝑪</m:t>
                          </m:r>
                          <m:r>
                            <a:rPr lang="en-CA" b="1" i="1">
                              <a:solidFill>
                                <a:schemeClr val="tx1"/>
                              </a:solidFill>
                              <a:latin typeface="Cambria Math" panose="02040503050406030204" pitchFamily="18" charset="0"/>
                            </a:rPr>
                            <m:t>𝑺</m:t>
                          </m:r>
                        </m:sub>
                        <m:sup/>
                        <m:e>
                          <m:r>
                            <a:rPr lang="en-CA" b="1" i="1">
                              <a:solidFill>
                                <a:schemeClr val="tx1"/>
                              </a:solidFill>
                              <a:latin typeface="Cambria Math" panose="02040503050406030204" pitchFamily="18" charset="0"/>
                              <a:ea typeface="Cambria Math" panose="02040503050406030204" pitchFamily="18" charset="0"/>
                            </a:rPr>
                            <m:t>𝝆</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𝑽</m:t>
                              </m:r>
                            </m:e>
                          </m:acc>
                          <m:r>
                            <a:rPr lang="en-CA" b="1" i="1">
                              <a:solidFill>
                                <a:schemeClr val="tx1"/>
                              </a:solidFill>
                              <a:latin typeface="Cambria Math" panose="02040503050406030204" pitchFamily="18" charset="0"/>
                              <a:ea typeface="Cambria Math" panose="02040503050406030204" pitchFamily="18" charset="0"/>
                            </a:rPr>
                            <m:t>∙</m:t>
                          </m:r>
                          <m:r>
                            <a:rPr lang="en-CA" b="1" i="1">
                              <a:solidFill>
                                <a:schemeClr val="tx1"/>
                              </a:solidFill>
                              <a:latin typeface="Cambria Math" panose="02040503050406030204" pitchFamily="18" charset="0"/>
                              <a:ea typeface="Cambria Math" panose="02040503050406030204" pitchFamily="18" charset="0"/>
                            </a:rPr>
                            <m:t>𝒅</m:t>
                          </m:r>
                          <m:acc>
                            <m:accPr>
                              <m:chr m:val="⃗"/>
                              <m:ctrlPr>
                                <a:rPr lang="en-CA" b="1" i="1">
                                  <a:solidFill>
                                    <a:schemeClr val="tx1"/>
                                  </a:solidFill>
                                  <a:latin typeface="Cambria Math" panose="02040503050406030204" pitchFamily="18" charset="0"/>
                                  <a:ea typeface="Cambria Math" panose="02040503050406030204" pitchFamily="18" charset="0"/>
                                </a:rPr>
                              </m:ctrlPr>
                            </m:accPr>
                            <m:e>
                              <m:r>
                                <a:rPr lang="en-CA" b="1" i="1">
                                  <a:solidFill>
                                    <a:schemeClr val="tx1"/>
                                  </a:solidFill>
                                  <a:latin typeface="Cambria Math" panose="02040503050406030204" pitchFamily="18" charset="0"/>
                                  <a:ea typeface="Cambria Math" panose="02040503050406030204" pitchFamily="18" charset="0"/>
                                </a:rPr>
                                <m:t>𝑨</m:t>
                              </m:r>
                            </m:e>
                          </m:acc>
                        </m:e>
                      </m:nary>
                    </m:oMath>
                  </m:oMathPara>
                </a14:m>
                <a:endParaRPr lang="en-CA" b="1" dirty="0">
                  <a:solidFill>
                    <a:schemeClr val="tx1"/>
                  </a:solidFill>
                  <a:latin typeface="+mn-lt"/>
                </a:endParaRPr>
              </a:p>
              <a:p>
                <a:pPr marL="0" indent="0" algn="ctr">
                  <a:lnSpc>
                    <a:spcPct val="100000"/>
                  </a:lnSpc>
                  <a:spcBef>
                    <a:spcPts val="0"/>
                  </a:spcBef>
                  <a:spcAft>
                    <a:spcPts val="600"/>
                  </a:spcAft>
                  <a:buNone/>
                </a:pPr>
                <a:r>
                  <a:rPr lang="en-CA" b="1" dirty="0">
                    <a:solidFill>
                      <a:schemeClr val="tx1"/>
                    </a:solidFill>
                    <a:latin typeface="+mn-lt"/>
                  </a:rPr>
                  <a:t>Rate of increase of mass in CV = Net influx of mass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414047"/>
                <a:ext cx="9144000" cy="5593562"/>
              </a:xfrm>
              <a:blipFill>
                <a:blip r:embed="rId2"/>
                <a:stretch>
                  <a:fillRect/>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3C4B7729-9517-5311-81FF-2D1447D06037}"/>
              </a:ext>
            </a:extLst>
          </p:cNvPr>
          <p:cNvSpPr>
            <a:spLocks noGrp="1"/>
          </p:cNvSpPr>
          <p:nvPr>
            <p:ph type="sldNum" sz="quarter" idx="12"/>
          </p:nvPr>
        </p:nvSpPr>
        <p:spPr/>
        <p:txBody>
          <a:bodyPr/>
          <a:lstStyle/>
          <a:p>
            <a:fld id="{49FCB85E-0F77-4855-90A7-7A1B61BB679B}" type="slidenum">
              <a:rPr lang="en-CA" smtClean="0"/>
              <a:t>18</a:t>
            </a:fld>
            <a:endParaRPr lang="en-CA"/>
          </a:p>
        </p:txBody>
      </p:sp>
    </p:spTree>
    <p:extLst>
      <p:ext uri="{BB962C8B-B14F-4D97-AF65-F5344CB8AC3E}">
        <p14:creationId xmlns:p14="http://schemas.microsoft.com/office/powerpoint/2010/main" val="3795244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017" y="80656"/>
            <a:ext cx="9144000" cy="568940"/>
          </a:xfrm>
        </p:spPr>
        <p:txBody>
          <a:bodyPr>
            <a:normAutofit/>
          </a:bodyPr>
          <a:lstStyle/>
          <a:p>
            <a:r>
              <a:rPr lang="en-CA" sz="2400" dirty="0">
                <a:solidFill>
                  <a:schemeClr val="tx1"/>
                </a:solidFill>
                <a:latin typeface="+mn-lt"/>
                <a:ea typeface="Verdana" panose="020B0604030504040204" pitchFamily="34" charset="0"/>
                <a:cs typeface="Verdana" panose="020B0604030504040204" pitchFamily="34" charset="0"/>
              </a:rPr>
              <a:t>Conservation Mass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1760" y="649596"/>
                <a:ext cx="7886700" cy="5328622"/>
              </a:xfrm>
            </p:spPr>
            <p:txBody>
              <a:bodyPr>
                <a:normAutofit/>
              </a:bodyPr>
              <a:lstStyle/>
              <a:p>
                <a:pPr marL="0" indent="0">
                  <a:lnSpc>
                    <a:spcPct val="160000"/>
                  </a:lnSpc>
                  <a:spcBef>
                    <a:spcPts val="0"/>
                  </a:spcBef>
                  <a:buNone/>
                </a:pPr>
                <a14:m>
                  <m:oMathPara xmlns:m="http://schemas.openxmlformats.org/officeDocument/2006/math">
                    <m:oMathParaPr>
                      <m:jc m:val="centerGroup"/>
                    </m:oMathParaPr>
                    <m:oMath xmlns:m="http://schemas.openxmlformats.org/officeDocument/2006/math">
                      <m:f>
                        <m:fPr>
                          <m:ctrlPr>
                            <a:rPr lang="en-CA" sz="1600" b="1" i="1" smtClean="0">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ea typeface="Cambria Math" panose="02040503050406030204" pitchFamily="18" charset="0"/>
                            </a:rPr>
                            <m:t>𝝏</m:t>
                          </m:r>
                        </m:num>
                        <m:den>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𝒕</m:t>
                          </m:r>
                        </m:den>
                      </m:f>
                      <m:nary>
                        <m:naryPr>
                          <m:ctrlPr>
                            <a:rPr lang="en-CA" sz="1600" b="1" i="1">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𝑽</m:t>
                          </m:r>
                        </m:sub>
                        <m:sup/>
                        <m:e>
                          <m:r>
                            <a:rPr lang="en-CA" sz="1600" b="1" i="1">
                              <a:solidFill>
                                <a:schemeClr val="tx1"/>
                              </a:solidFill>
                              <a:latin typeface="Cambria Math" panose="02040503050406030204" pitchFamily="18" charset="0"/>
                              <a:ea typeface="Cambria Math" panose="02040503050406030204" pitchFamily="18" charset="0"/>
                            </a:rPr>
                            <m:t>𝝆</m:t>
                          </m:r>
                          <m:r>
                            <a:rPr lang="en-CA" sz="1600" b="1" i="1">
                              <a:solidFill>
                                <a:schemeClr val="tx1"/>
                              </a:solidFill>
                              <a:latin typeface="Cambria Math" panose="02040503050406030204" pitchFamily="18" charset="0"/>
                              <a:ea typeface="Cambria Math" panose="02040503050406030204" pitchFamily="18" charset="0"/>
                            </a:rPr>
                            <m:t>𝒅</m:t>
                          </m:r>
                          <m:r>
                            <a:rPr lang="en-CA" sz="1600" b="1" i="1">
                              <a:solidFill>
                                <a:schemeClr val="tx1"/>
                              </a:solidFill>
                              <a:latin typeface="Cambria Math" panose="02040503050406030204" pitchFamily="18" charset="0"/>
                              <a:ea typeface="Cambria Math" panose="02040503050406030204" pitchFamily="18" charset="0"/>
                            </a:rPr>
                            <m:t>∀</m:t>
                          </m:r>
                        </m:e>
                      </m:nary>
                      <m:r>
                        <a:rPr lang="en-CA" sz="1600" b="1">
                          <a:solidFill>
                            <a:schemeClr val="tx1"/>
                          </a:solidFill>
                          <a:latin typeface="Cambria Math" panose="02040503050406030204" pitchFamily="18" charset="0"/>
                          <a:ea typeface="Cambria Math" panose="02040503050406030204" pitchFamily="18" charset="0"/>
                        </a:rPr>
                        <m:t>+</m:t>
                      </m:r>
                      <m:nary>
                        <m:naryPr>
                          <m:ctrlPr>
                            <a:rPr lang="en-CA" sz="1600" b="1" i="1">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𝑺</m:t>
                          </m:r>
                        </m:sub>
                        <m:sup/>
                        <m:e>
                          <m:r>
                            <a:rPr lang="en-CA" sz="1600" b="1" i="1">
                              <a:solidFill>
                                <a:schemeClr val="tx1"/>
                              </a:solidFill>
                              <a:latin typeface="Cambria Math" panose="02040503050406030204" pitchFamily="18" charset="0"/>
                              <a:ea typeface="Cambria Math" panose="02040503050406030204" pitchFamily="18" charset="0"/>
                            </a:rPr>
                            <m:t>𝝆</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𝒅</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e>
                      </m:nary>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𝟎</m:t>
                      </m:r>
                    </m:oMath>
                  </m:oMathPara>
                </a14:m>
                <a:endParaRPr lang="en-CA" sz="1600" b="1" dirty="0">
                  <a:solidFill>
                    <a:schemeClr val="tx1"/>
                  </a:solidFill>
                </a:endParaRPr>
              </a:p>
              <a:p>
                <a:pPr marL="0" indent="0">
                  <a:lnSpc>
                    <a:spcPct val="200000"/>
                  </a:lnSpc>
                  <a:buNone/>
                </a:pPr>
                <a:r>
                  <a:rPr lang="en-CA" sz="1600" b="1" u="sng" dirty="0">
                    <a:solidFill>
                      <a:schemeClr val="tx1"/>
                    </a:solidFill>
                    <a:latin typeface="+mn-lt"/>
                  </a:rPr>
                  <a:t>Special Cases</a:t>
                </a:r>
              </a:p>
              <a:p>
                <a:pPr>
                  <a:lnSpc>
                    <a:spcPct val="200000"/>
                  </a:lnSpc>
                </a:pPr>
                <a:r>
                  <a:rPr lang="en-CA" sz="1600" b="1" dirty="0">
                    <a:solidFill>
                      <a:schemeClr val="tx1"/>
                    </a:solidFill>
                    <a:latin typeface="+mn-lt"/>
                  </a:rPr>
                  <a:t>Incompressible fluid (</a:t>
                </a:r>
                <a14:m>
                  <m:oMath xmlns:m="http://schemas.openxmlformats.org/officeDocument/2006/math">
                    <m:r>
                      <a:rPr lang="en-CA" sz="1600" b="1" i="1">
                        <a:solidFill>
                          <a:schemeClr val="tx1"/>
                        </a:solidFill>
                        <a:latin typeface="Cambria Math" panose="02040503050406030204" pitchFamily="18" charset="0"/>
                        <a:ea typeface="Cambria Math" panose="02040503050406030204" pitchFamily="18" charset="0"/>
                      </a:rPr>
                      <m:t>𝝆</m:t>
                    </m:r>
                  </m:oMath>
                </a14:m>
                <a:r>
                  <a:rPr lang="en-CA" sz="1600" b="1" dirty="0">
                    <a:solidFill>
                      <a:schemeClr val="tx1"/>
                    </a:solidFill>
                    <a:latin typeface="+mn-lt"/>
                  </a:rPr>
                  <a:t> = constant)</a:t>
                </a:r>
              </a:p>
              <a:p>
                <a:pPr marL="0" indent="0">
                  <a:lnSpc>
                    <a:spcPct val="200000"/>
                  </a:lnSpc>
                  <a:buNone/>
                </a:pPr>
                <a14:m>
                  <m:oMathPara xmlns:m="http://schemas.openxmlformats.org/officeDocument/2006/math">
                    <m:oMathParaPr>
                      <m:jc m:val="centerGroup"/>
                    </m:oMathParaPr>
                    <m:oMath xmlns:m="http://schemas.openxmlformats.org/officeDocument/2006/math">
                      <m:f>
                        <m:fPr>
                          <m:ctrlPr>
                            <a:rPr lang="en-CA" sz="1600" b="1" i="1">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ea typeface="Cambria Math" panose="02040503050406030204" pitchFamily="18" charset="0"/>
                            </a:rPr>
                            <m:t>𝝏</m:t>
                          </m:r>
                        </m:num>
                        <m:den>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𝒕</m:t>
                          </m:r>
                        </m:den>
                      </m:f>
                      <m:nary>
                        <m:naryPr>
                          <m:ctrlPr>
                            <a:rPr lang="en-CA" sz="1600" b="1" i="1">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𝑽</m:t>
                          </m:r>
                        </m:sub>
                        <m:sup/>
                        <m:e>
                          <m:r>
                            <a:rPr lang="en-CA" sz="1600" b="1" i="1">
                              <a:solidFill>
                                <a:schemeClr val="tx1"/>
                              </a:solidFill>
                              <a:latin typeface="Cambria Math" panose="02040503050406030204" pitchFamily="18" charset="0"/>
                              <a:ea typeface="Cambria Math" panose="02040503050406030204" pitchFamily="18" charset="0"/>
                            </a:rPr>
                            <m:t>𝒅</m:t>
                          </m:r>
                          <m:r>
                            <a:rPr lang="en-CA" sz="1600" b="1" i="1">
                              <a:solidFill>
                                <a:schemeClr val="tx1"/>
                              </a:solidFill>
                              <a:latin typeface="Cambria Math" panose="02040503050406030204" pitchFamily="18" charset="0"/>
                              <a:ea typeface="Cambria Math" panose="02040503050406030204" pitchFamily="18" charset="0"/>
                            </a:rPr>
                            <m:t>∀</m:t>
                          </m:r>
                        </m:e>
                      </m:nary>
                      <m:r>
                        <a:rPr lang="en-CA" sz="1600" b="1">
                          <a:solidFill>
                            <a:schemeClr val="tx1"/>
                          </a:solidFill>
                          <a:latin typeface="Cambria Math" panose="02040503050406030204" pitchFamily="18" charset="0"/>
                          <a:ea typeface="Cambria Math" panose="02040503050406030204" pitchFamily="18" charset="0"/>
                        </a:rPr>
                        <m:t>+</m:t>
                      </m:r>
                      <m:nary>
                        <m:naryPr>
                          <m:ctrlPr>
                            <a:rPr lang="en-CA" sz="1600" b="1" i="1">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𝑺</m:t>
                          </m:r>
                        </m:sub>
                        <m:sup/>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𝒅</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e>
                      </m:nary>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𝟎</m:t>
                      </m:r>
                    </m:oMath>
                  </m:oMathPara>
                </a14:m>
                <a:endParaRPr lang="en-CA" sz="1600" b="1" dirty="0">
                  <a:solidFill>
                    <a:schemeClr val="tx1"/>
                  </a:solidFill>
                </a:endParaRPr>
              </a:p>
              <a:p>
                <a:pPr>
                  <a:lnSpc>
                    <a:spcPct val="200000"/>
                  </a:lnSpc>
                </a:pPr>
                <a:r>
                  <a:rPr lang="en-CA" sz="1400" b="1" dirty="0">
                    <a:solidFill>
                      <a:schemeClr val="tx1"/>
                    </a:solidFill>
                  </a:rPr>
                  <a:t>Non-deformable control volume of fixed shape and size</a:t>
                </a:r>
                <a:endParaRPr lang="en-CA" sz="1400" b="1" dirty="0">
                  <a:solidFill>
                    <a:schemeClr val="tx1"/>
                  </a:solidFill>
                  <a:latin typeface="+mn-lt"/>
                </a:endParaRPr>
              </a:p>
              <a:p>
                <a:pPr marL="0" indent="0">
                  <a:lnSpc>
                    <a:spcPct val="200000"/>
                  </a:lnSpc>
                  <a:buNone/>
                </a:pPr>
                <a14:m>
                  <m:oMathPara xmlns:m="http://schemas.openxmlformats.org/officeDocument/2006/math">
                    <m:oMathParaPr>
                      <m:jc m:val="centerGroup"/>
                    </m:oMathParaPr>
                    <m:oMath xmlns:m="http://schemas.openxmlformats.org/officeDocument/2006/math">
                      <m:nary>
                        <m:naryPr>
                          <m:ctrlPr>
                            <a:rPr lang="en-CA" sz="1600" b="1" i="1">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𝑺</m:t>
                          </m:r>
                        </m:sub>
                        <m:sup/>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𝒅</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e>
                      </m:nary>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𝟎</m:t>
                      </m:r>
                    </m:oMath>
                  </m:oMathPara>
                </a14:m>
                <a:endParaRPr lang="en-CA" sz="1600" b="1" dirty="0">
                  <a:solidFill>
                    <a:schemeClr val="tx1"/>
                  </a:solidFill>
                  <a:latin typeface="+mn-lt"/>
                </a:endParaRPr>
              </a:p>
              <a:p>
                <a:pPr marL="0" indent="0">
                  <a:lnSpc>
                    <a:spcPct val="100000"/>
                  </a:lnSpc>
                  <a:buNone/>
                </a:pPr>
                <a:endParaRPr lang="en-CA" dirty="0">
                  <a:latin typeface="+mn-lt"/>
                </a:endParaRPr>
              </a:p>
              <a:p>
                <a:endParaRPr lang="en-CA"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1760" y="649596"/>
                <a:ext cx="7886700" cy="5328622"/>
              </a:xfrm>
              <a:blipFill>
                <a:blip r:embed="rId2"/>
                <a:stretch>
                  <a:fillRect l="-386"/>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77006299-78AC-257E-579D-E35B0AA6D0D5}"/>
              </a:ext>
            </a:extLst>
          </p:cNvPr>
          <p:cNvSpPr>
            <a:spLocks noGrp="1"/>
          </p:cNvSpPr>
          <p:nvPr>
            <p:ph type="sldNum" sz="quarter" idx="12"/>
          </p:nvPr>
        </p:nvSpPr>
        <p:spPr/>
        <p:txBody>
          <a:bodyPr/>
          <a:lstStyle/>
          <a:p>
            <a:fld id="{49FCB85E-0F77-4855-90A7-7A1B61BB679B}" type="slidenum">
              <a:rPr lang="en-CA" smtClean="0"/>
              <a:t>19</a:t>
            </a:fld>
            <a:endParaRPr lang="en-CA"/>
          </a:p>
        </p:txBody>
      </p:sp>
    </p:spTree>
    <p:extLst>
      <p:ext uri="{BB962C8B-B14F-4D97-AF65-F5344CB8AC3E}">
        <p14:creationId xmlns:p14="http://schemas.microsoft.com/office/powerpoint/2010/main" val="3526086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017" y="80656"/>
            <a:ext cx="9144000" cy="568940"/>
          </a:xfrm>
        </p:spPr>
        <p:txBody>
          <a:bodyPr>
            <a:normAutofit/>
          </a:bodyPr>
          <a:lstStyle/>
          <a:p>
            <a:r>
              <a:rPr lang="en-CA" sz="2400" dirty="0">
                <a:solidFill>
                  <a:schemeClr val="tx1"/>
                </a:solidFill>
                <a:latin typeface="+mn-lt"/>
                <a:ea typeface="Verdana" panose="020B0604030504040204" pitchFamily="34" charset="0"/>
                <a:cs typeface="Verdana" panose="020B0604030504040204" pitchFamily="34" charset="0"/>
              </a:rPr>
              <a:t>Conservation Mass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537" y="582751"/>
                <a:ext cx="7886700" cy="4029006"/>
              </a:xfrm>
            </p:spPr>
            <p:txBody>
              <a:bodyPr>
                <a:normAutofit/>
              </a:bodyPr>
              <a:lstStyle/>
              <a:p>
                <a:pPr marL="0" indent="0">
                  <a:lnSpc>
                    <a:spcPct val="120000"/>
                  </a:lnSpc>
                  <a:buNone/>
                </a:pPr>
                <a14:m>
                  <m:oMathPara xmlns:m="http://schemas.openxmlformats.org/officeDocument/2006/math">
                    <m:oMathParaPr>
                      <m:jc m:val="centerGroup"/>
                    </m:oMathParaPr>
                    <m:oMath xmlns:m="http://schemas.openxmlformats.org/officeDocument/2006/math">
                      <m:nary>
                        <m:naryPr>
                          <m:ctrlPr>
                            <a:rPr lang="en-CA" sz="1500" b="1" i="1">
                              <a:latin typeface="Cambria Math" panose="02040503050406030204" pitchFamily="18" charset="0"/>
                            </a:rPr>
                          </m:ctrlPr>
                        </m:naryPr>
                        <m:sub>
                          <m:r>
                            <m:rPr>
                              <m:brk m:alnAt="23"/>
                            </m:rPr>
                            <a:rPr lang="en-CA" sz="1500" b="1" i="1">
                              <a:latin typeface="Cambria Math" panose="02040503050406030204" pitchFamily="18" charset="0"/>
                            </a:rPr>
                            <m:t>𝑪</m:t>
                          </m:r>
                          <m:r>
                            <a:rPr lang="en-CA" sz="1500" b="1" i="1">
                              <a:latin typeface="Cambria Math" panose="02040503050406030204" pitchFamily="18" charset="0"/>
                            </a:rPr>
                            <m:t>𝑺</m:t>
                          </m:r>
                        </m:sub>
                        <m:sup/>
                        <m:e>
                          <m:acc>
                            <m:accPr>
                              <m:chr m:val="⃗"/>
                              <m:ctrlPr>
                                <a:rPr lang="en-CA" sz="1500" b="1" i="1">
                                  <a:latin typeface="Cambria Math" panose="02040503050406030204" pitchFamily="18" charset="0"/>
                                  <a:ea typeface="Cambria Math" panose="02040503050406030204" pitchFamily="18" charset="0"/>
                                </a:rPr>
                              </m:ctrlPr>
                            </m:accPr>
                            <m:e>
                              <m:r>
                                <a:rPr lang="en-CA" sz="1500" b="1" i="1">
                                  <a:latin typeface="Cambria Math" panose="02040503050406030204" pitchFamily="18" charset="0"/>
                                  <a:ea typeface="Cambria Math" panose="02040503050406030204" pitchFamily="18" charset="0"/>
                                </a:rPr>
                                <m:t>𝑽</m:t>
                              </m:r>
                            </m:e>
                          </m:acc>
                          <m:r>
                            <a:rPr lang="en-CA" sz="1500" b="1" i="1">
                              <a:latin typeface="Cambria Math" panose="02040503050406030204" pitchFamily="18" charset="0"/>
                              <a:ea typeface="Cambria Math" panose="02040503050406030204" pitchFamily="18" charset="0"/>
                            </a:rPr>
                            <m:t>∙</m:t>
                          </m:r>
                          <m:r>
                            <a:rPr lang="en-CA" sz="1500" b="1" i="1">
                              <a:latin typeface="Cambria Math" panose="02040503050406030204" pitchFamily="18" charset="0"/>
                              <a:ea typeface="Cambria Math" panose="02040503050406030204" pitchFamily="18" charset="0"/>
                            </a:rPr>
                            <m:t>𝒅</m:t>
                          </m:r>
                          <m:acc>
                            <m:accPr>
                              <m:chr m:val="⃗"/>
                              <m:ctrlPr>
                                <a:rPr lang="en-CA" sz="1500" b="1" i="1">
                                  <a:latin typeface="Cambria Math" panose="02040503050406030204" pitchFamily="18" charset="0"/>
                                  <a:ea typeface="Cambria Math" panose="02040503050406030204" pitchFamily="18" charset="0"/>
                                </a:rPr>
                              </m:ctrlPr>
                            </m:accPr>
                            <m:e>
                              <m:r>
                                <a:rPr lang="en-CA" sz="1500" b="1" i="1">
                                  <a:latin typeface="Cambria Math" panose="02040503050406030204" pitchFamily="18" charset="0"/>
                                  <a:ea typeface="Cambria Math" panose="02040503050406030204" pitchFamily="18" charset="0"/>
                                </a:rPr>
                                <m:t>𝑨</m:t>
                              </m:r>
                            </m:e>
                          </m:acc>
                        </m:e>
                      </m:nary>
                      <m:r>
                        <a:rPr lang="en-CA" sz="1500" b="1" i="1">
                          <a:latin typeface="Cambria Math" panose="02040503050406030204" pitchFamily="18" charset="0"/>
                          <a:ea typeface="Cambria Math" panose="02040503050406030204" pitchFamily="18" charset="0"/>
                        </a:rPr>
                        <m:t>=</m:t>
                      </m:r>
                      <m:r>
                        <a:rPr lang="en-CA" sz="1500" b="1" i="1">
                          <a:latin typeface="Cambria Math" panose="02040503050406030204" pitchFamily="18" charset="0"/>
                          <a:ea typeface="Cambria Math" panose="02040503050406030204" pitchFamily="18" charset="0"/>
                        </a:rPr>
                        <m:t>𝟎</m:t>
                      </m:r>
                    </m:oMath>
                  </m:oMathPara>
                </a14:m>
                <a:endParaRPr lang="en-CA" sz="1500" b="1" dirty="0"/>
              </a:p>
              <a:p>
                <a:pPr marL="0" indent="0">
                  <a:lnSpc>
                    <a:spcPct val="170000"/>
                  </a:lnSpc>
                  <a:buNone/>
                </a:pPr>
                <a:r>
                  <a:rPr lang="en-CA" sz="1600" b="1" dirty="0">
                    <a:solidFill>
                      <a:schemeClr val="tx1"/>
                    </a:solidFill>
                    <a:latin typeface="+mn-lt"/>
                  </a:rPr>
                  <a:t>For uniform flow/velocity at all inlets and exits:</a:t>
                </a:r>
              </a:p>
              <a:p>
                <a:pPr marL="0" indent="0">
                  <a:lnSpc>
                    <a:spcPct val="170000"/>
                  </a:lnSpc>
                  <a:buNone/>
                </a:pPr>
                <a14:m>
                  <m:oMathPara xmlns:m="http://schemas.openxmlformats.org/officeDocument/2006/math">
                    <m:oMathParaPr>
                      <m:jc m:val="centerGroup"/>
                    </m:oMathParaPr>
                    <m:oMath xmlns:m="http://schemas.openxmlformats.org/officeDocument/2006/math">
                      <m:nary>
                        <m:naryPr>
                          <m:chr m:val="∑"/>
                          <m:limLoc m:val="subSup"/>
                          <m:ctrlPr>
                            <a:rPr lang="en-CA" sz="1600" b="1" i="1" smtClean="0">
                              <a:solidFill>
                                <a:schemeClr val="tx1"/>
                              </a:solidFill>
                              <a:latin typeface="Cambria Math" panose="02040503050406030204" pitchFamily="18" charset="0"/>
                              <a:ea typeface="Cambria Math" panose="02040503050406030204" pitchFamily="18" charset="0"/>
                            </a:rPr>
                          </m:ctrlPr>
                        </m:naryPr>
                        <m:sub>
                          <m:r>
                            <m:rPr>
                              <m:brk m:alnAt="25"/>
                            </m:rPr>
                            <a:rPr lang="en-CA" sz="1600" b="1" i="1">
                              <a:solidFill>
                                <a:schemeClr val="tx1"/>
                              </a:solidFill>
                              <a:latin typeface="Cambria Math" panose="02040503050406030204" pitchFamily="18" charset="0"/>
                              <a:ea typeface="Cambria Math" panose="02040503050406030204" pitchFamily="18" charset="0"/>
                            </a:rPr>
                            <m:t>𝑪</m:t>
                          </m:r>
                          <m:r>
                            <a:rPr lang="en-CA" sz="1600" b="1" i="1">
                              <a:solidFill>
                                <a:schemeClr val="tx1"/>
                              </a:solidFill>
                              <a:latin typeface="Cambria Math" panose="02040503050406030204" pitchFamily="18" charset="0"/>
                              <a:ea typeface="Cambria Math" panose="02040503050406030204" pitchFamily="18" charset="0"/>
                            </a:rPr>
                            <m:t>𝑺</m:t>
                          </m:r>
                        </m:sub>
                        <m:sup/>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e>
                      </m:nary>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𝟎</m:t>
                      </m:r>
                    </m:oMath>
                  </m:oMathPara>
                </a14:m>
                <a:endParaRPr lang="en-CA" sz="1600" b="1" dirty="0">
                  <a:solidFill>
                    <a:schemeClr val="tx1"/>
                  </a:solidFill>
                  <a:latin typeface="+mn-lt"/>
                </a:endParaRPr>
              </a:p>
              <a:p>
                <a:pPr marL="0" indent="0">
                  <a:lnSpc>
                    <a:spcPct val="200000"/>
                  </a:lnSpc>
                  <a:buNone/>
                </a:pPr>
                <a14:m>
                  <m:oMathPara xmlns:m="http://schemas.openxmlformats.org/officeDocument/2006/math">
                    <m:oMathParaPr>
                      <m:jc m:val="centerGroup"/>
                    </m:oMathParaPr>
                    <m:oMath xmlns:m="http://schemas.openxmlformats.org/officeDocument/2006/math">
                      <m:r>
                        <a:rPr lang="en-CA" sz="1600" b="1" i="1">
                          <a:solidFill>
                            <a:schemeClr val="tx1"/>
                          </a:solidFill>
                          <a:latin typeface="Cambria Math" panose="02040503050406030204" pitchFamily="18" charset="0"/>
                          <a:ea typeface="Cambria Math" panose="02040503050406030204" pitchFamily="18" charset="0"/>
                        </a:rPr>
                        <m:t>(</m:t>
                      </m:r>
                      <m:sSub>
                        <m:sSubPr>
                          <m:ctrlPr>
                            <a:rPr lang="en-CA" sz="1600" b="1" i="1">
                              <a:solidFill>
                                <a:schemeClr val="tx1"/>
                              </a:solidFill>
                              <a:latin typeface="Cambria Math" panose="02040503050406030204" pitchFamily="18" charset="0"/>
                              <a:ea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r>
                            <a:rPr lang="en-CA" sz="1600" b="1" i="1">
                              <a:solidFill>
                                <a:schemeClr val="tx1"/>
                              </a:solidFill>
                              <a:latin typeface="Cambria Math" panose="02040503050406030204" pitchFamily="18" charset="0"/>
                              <a:ea typeface="Cambria Math" panose="02040503050406030204" pitchFamily="18" charset="0"/>
                            </a:rPr>
                            <m:t>)</m:t>
                          </m:r>
                        </m:e>
                        <m:sub>
                          <m:r>
                            <a:rPr lang="en-CA" sz="1600" b="1" i="1">
                              <a:solidFill>
                                <a:schemeClr val="tx1"/>
                              </a:solidFill>
                              <a:latin typeface="Cambria Math" panose="02040503050406030204" pitchFamily="18" charset="0"/>
                              <a:ea typeface="Cambria Math" panose="02040503050406030204" pitchFamily="18" charset="0"/>
                            </a:rPr>
                            <m:t>𝒊𝒏𝒍𝒆𝒕</m:t>
                          </m:r>
                        </m:sub>
                      </m:sSub>
                      <m:r>
                        <a:rPr lang="en-CA" sz="1600" b="1" i="1">
                          <a:solidFill>
                            <a:schemeClr val="tx1"/>
                          </a:solidFill>
                          <a:latin typeface="Cambria Math" panose="02040503050406030204" pitchFamily="18" charset="0"/>
                          <a:ea typeface="Cambria Math" panose="02040503050406030204" pitchFamily="18" charset="0"/>
                        </a:rPr>
                        <m:t>=(</m:t>
                      </m:r>
                      <m:sSub>
                        <m:sSubPr>
                          <m:ctrlPr>
                            <a:rPr lang="en-CA" sz="1600" b="1" i="1">
                              <a:solidFill>
                                <a:schemeClr val="tx1"/>
                              </a:solidFill>
                              <a:latin typeface="Cambria Math" panose="02040503050406030204" pitchFamily="18" charset="0"/>
                              <a:ea typeface="Cambria Math" panose="02040503050406030204" pitchFamily="18" charset="0"/>
                            </a:rPr>
                          </m:ctrlPr>
                        </m:sSubPr>
                        <m:e>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r>
                            <a:rPr lang="en-CA" sz="1600" b="1" i="1">
                              <a:solidFill>
                                <a:schemeClr val="tx1"/>
                              </a:solidFill>
                              <a:latin typeface="Cambria Math" panose="02040503050406030204" pitchFamily="18" charset="0"/>
                              <a:ea typeface="Cambria Math" panose="02040503050406030204" pitchFamily="18" charset="0"/>
                            </a:rPr>
                            <m:t>)</m:t>
                          </m:r>
                        </m:e>
                        <m:sub>
                          <m:r>
                            <a:rPr lang="en-CA" sz="1600" b="1" i="1">
                              <a:solidFill>
                                <a:schemeClr val="tx1"/>
                              </a:solidFill>
                              <a:latin typeface="Cambria Math" panose="02040503050406030204" pitchFamily="18" charset="0"/>
                              <a:ea typeface="Cambria Math" panose="02040503050406030204" pitchFamily="18" charset="0"/>
                            </a:rPr>
                            <m:t>𝒐𝒖𝒕𝒍𝒆𝒕</m:t>
                          </m:r>
                        </m:sub>
                      </m:sSub>
                    </m:oMath>
                  </m:oMathPara>
                </a14:m>
                <a:endParaRPr lang="en-CA" sz="1600" b="1" dirty="0">
                  <a:solidFill>
                    <a:schemeClr val="tx1"/>
                  </a:solidFill>
                  <a:latin typeface="+mn-lt"/>
                </a:endParaRPr>
              </a:p>
              <a:p>
                <a:pPr marL="0" indent="0">
                  <a:lnSpc>
                    <a:spcPct val="100000"/>
                  </a:lnSpc>
                  <a:buNone/>
                </a:pPr>
                <a:endParaRPr lang="en-CA" dirty="0">
                  <a:latin typeface="+mn-lt"/>
                </a:endParaRPr>
              </a:p>
              <a:p>
                <a:endParaRPr lang="en-CA"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537" y="582751"/>
                <a:ext cx="7886700" cy="4029006"/>
              </a:xfrm>
              <a:blipFill>
                <a:blip r:embed="rId2"/>
                <a:stretch>
                  <a:fillRect l="-386"/>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45B229C9-3F54-BBE2-7BBE-167B7D67ABF2}"/>
              </a:ext>
            </a:extLst>
          </p:cNvPr>
          <p:cNvSpPr>
            <a:spLocks noGrp="1"/>
          </p:cNvSpPr>
          <p:nvPr>
            <p:ph type="sldNum" sz="quarter" idx="12"/>
          </p:nvPr>
        </p:nvSpPr>
        <p:spPr/>
        <p:txBody>
          <a:bodyPr/>
          <a:lstStyle/>
          <a:p>
            <a:fld id="{49FCB85E-0F77-4855-90A7-7A1B61BB679B}" type="slidenum">
              <a:rPr lang="en-CA" smtClean="0"/>
              <a:t>20</a:t>
            </a:fld>
            <a:endParaRPr lang="en-CA"/>
          </a:p>
        </p:txBody>
      </p:sp>
    </p:spTree>
    <p:extLst>
      <p:ext uri="{BB962C8B-B14F-4D97-AF65-F5344CB8AC3E}">
        <p14:creationId xmlns:p14="http://schemas.microsoft.com/office/powerpoint/2010/main" val="2348082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017" y="80656"/>
            <a:ext cx="9144000" cy="568940"/>
          </a:xfrm>
        </p:spPr>
        <p:txBody>
          <a:bodyPr>
            <a:normAutofit/>
          </a:bodyPr>
          <a:lstStyle/>
          <a:p>
            <a:r>
              <a:rPr lang="en-CA" sz="2400" dirty="0">
                <a:solidFill>
                  <a:schemeClr val="tx1"/>
                </a:solidFill>
                <a:latin typeface="+mn-lt"/>
                <a:ea typeface="Verdana" panose="020B0604030504040204" pitchFamily="34" charset="0"/>
                <a:cs typeface="Verdana" panose="020B0604030504040204" pitchFamily="34" charset="0"/>
              </a:rPr>
              <a:t>Conservation Mass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537" y="582751"/>
                <a:ext cx="7886700" cy="5709048"/>
              </a:xfrm>
            </p:spPr>
            <p:txBody>
              <a:bodyPr>
                <a:normAutofit/>
              </a:bodyPr>
              <a:lstStyle/>
              <a:p>
                <a:pPr marL="0" indent="0">
                  <a:lnSpc>
                    <a:spcPct val="170000"/>
                  </a:lnSpc>
                  <a:buNone/>
                </a:pPr>
                <a:r>
                  <a:rPr lang="en-CA" sz="1600" b="1" dirty="0">
                    <a:solidFill>
                      <a:schemeClr val="tx1"/>
                    </a:solidFill>
                    <a:latin typeface="+mn-lt"/>
                  </a:rPr>
                  <a:t>Steady Compressible Flow </a:t>
                </a:r>
                <a:r>
                  <a:rPr lang="en-CA" sz="1600" b="1" dirty="0">
                    <a:solidFill>
                      <a:schemeClr val="tx1"/>
                    </a:solidFill>
                  </a:rPr>
                  <a:t>(</a:t>
                </a:r>
                <a14:m>
                  <m:oMath xmlns:m="http://schemas.openxmlformats.org/officeDocument/2006/math">
                    <m:r>
                      <a:rPr lang="en-CA" sz="1600" b="1" i="1">
                        <a:solidFill>
                          <a:schemeClr val="tx1"/>
                        </a:solidFill>
                        <a:latin typeface="Cambria Math" panose="02040503050406030204" pitchFamily="18" charset="0"/>
                        <a:ea typeface="Cambria Math" panose="02040503050406030204" pitchFamily="18" charset="0"/>
                      </a:rPr>
                      <m:t>𝝆</m:t>
                    </m:r>
                  </m:oMath>
                </a14:m>
                <a:r>
                  <a:rPr lang="en-CA" sz="1600" b="1" dirty="0">
                    <a:solidFill>
                      <a:schemeClr val="tx1"/>
                    </a:solidFill>
                  </a:rPr>
                  <a:t> </a:t>
                </a:r>
                <a:r>
                  <a:rPr lang="en-CA" sz="1600" b="1" dirty="0">
                    <a:solidFill>
                      <a:schemeClr val="tx1"/>
                    </a:solidFill>
                    <a:sym typeface="Symbol" panose="05050102010706020507" pitchFamily="18" charset="2"/>
                  </a:rPr>
                  <a:t></a:t>
                </a:r>
                <a:r>
                  <a:rPr lang="en-CA" sz="1600" b="1" dirty="0">
                    <a:solidFill>
                      <a:schemeClr val="tx1"/>
                    </a:solidFill>
                  </a:rPr>
                  <a:t> constant)</a:t>
                </a:r>
              </a:p>
              <a:p>
                <a:pPr marL="0" indent="0">
                  <a:lnSpc>
                    <a:spcPct val="170000"/>
                  </a:lnSpc>
                  <a:buNone/>
                </a:pPr>
                <a14:m>
                  <m:oMathPara xmlns:m="http://schemas.openxmlformats.org/officeDocument/2006/math">
                    <m:oMathParaPr>
                      <m:jc m:val="centerGroup"/>
                    </m:oMathParaPr>
                    <m:oMath xmlns:m="http://schemas.openxmlformats.org/officeDocument/2006/math">
                      <m:f>
                        <m:fPr>
                          <m:ctrlPr>
                            <a:rPr lang="en-CA" sz="1600" b="1" i="1">
                              <a:solidFill>
                                <a:schemeClr val="tx1"/>
                              </a:solidFill>
                              <a:latin typeface="Cambria Math" panose="02040503050406030204" pitchFamily="18" charset="0"/>
                            </a:rPr>
                          </m:ctrlPr>
                        </m:fPr>
                        <m:num>
                          <m:r>
                            <a:rPr lang="en-CA" sz="1600" b="1" i="1">
                              <a:solidFill>
                                <a:schemeClr val="tx1"/>
                              </a:solidFill>
                              <a:latin typeface="Cambria Math" panose="02040503050406030204" pitchFamily="18" charset="0"/>
                              <a:ea typeface="Cambria Math" panose="02040503050406030204" pitchFamily="18" charset="0"/>
                            </a:rPr>
                            <m:t>𝝏</m:t>
                          </m:r>
                        </m:num>
                        <m:den>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𝒕</m:t>
                          </m:r>
                        </m:den>
                      </m:f>
                      <m:nary>
                        <m:naryPr>
                          <m:ctrlPr>
                            <a:rPr lang="en-CA" sz="1600" b="1" i="1">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𝑽</m:t>
                          </m:r>
                        </m:sub>
                        <m:sup/>
                        <m:e>
                          <m:r>
                            <a:rPr lang="en-CA" sz="1600" b="1" i="1">
                              <a:solidFill>
                                <a:schemeClr val="tx1"/>
                              </a:solidFill>
                              <a:latin typeface="Cambria Math" panose="02040503050406030204" pitchFamily="18" charset="0"/>
                              <a:ea typeface="Cambria Math" panose="02040503050406030204" pitchFamily="18" charset="0"/>
                            </a:rPr>
                            <m:t>𝝆</m:t>
                          </m:r>
                          <m:r>
                            <a:rPr lang="en-CA" sz="1600" b="1" i="1">
                              <a:solidFill>
                                <a:schemeClr val="tx1"/>
                              </a:solidFill>
                              <a:latin typeface="Cambria Math" panose="02040503050406030204" pitchFamily="18" charset="0"/>
                              <a:ea typeface="Cambria Math" panose="02040503050406030204" pitchFamily="18" charset="0"/>
                            </a:rPr>
                            <m:t>𝒅</m:t>
                          </m:r>
                          <m:r>
                            <a:rPr lang="en-CA" sz="1600" b="1" i="1" smtClean="0">
                              <a:solidFill>
                                <a:schemeClr val="tx1"/>
                              </a:solidFill>
                              <a:latin typeface="Cambria Math" panose="02040503050406030204" pitchFamily="18" charset="0"/>
                              <a:ea typeface="Cambria Math" panose="02040503050406030204" pitchFamily="18" charset="0"/>
                            </a:rPr>
                            <m:t>∀</m:t>
                          </m:r>
                        </m:e>
                      </m:nary>
                      <m:r>
                        <a:rPr lang="en-CA" sz="1600" b="1">
                          <a:solidFill>
                            <a:schemeClr val="tx1"/>
                          </a:solidFill>
                          <a:latin typeface="Cambria Math" panose="02040503050406030204" pitchFamily="18" charset="0"/>
                          <a:ea typeface="Cambria Math" panose="02040503050406030204" pitchFamily="18" charset="0"/>
                        </a:rPr>
                        <m:t>+</m:t>
                      </m:r>
                      <m:nary>
                        <m:naryPr>
                          <m:ctrlPr>
                            <a:rPr lang="en-CA" sz="1600" b="1" i="1">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𝑺</m:t>
                          </m:r>
                        </m:sub>
                        <m:sup/>
                        <m:e>
                          <m:r>
                            <a:rPr lang="en-CA" sz="1600" b="1" i="1">
                              <a:solidFill>
                                <a:schemeClr val="tx1"/>
                              </a:solidFill>
                              <a:latin typeface="Cambria Math" panose="02040503050406030204" pitchFamily="18" charset="0"/>
                              <a:ea typeface="Cambria Math" panose="02040503050406030204" pitchFamily="18" charset="0"/>
                            </a:rPr>
                            <m:t>𝝆</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𝒅</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e>
                      </m:nary>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𝟎</m:t>
                      </m:r>
                    </m:oMath>
                  </m:oMathPara>
                </a14:m>
                <a:endParaRPr lang="en-CA" sz="1600" b="1" dirty="0">
                  <a:solidFill>
                    <a:schemeClr val="tx1"/>
                  </a:solidFill>
                  <a:latin typeface="+mn-lt"/>
                </a:endParaRPr>
              </a:p>
              <a:p>
                <a:pPr marL="0" indent="0">
                  <a:lnSpc>
                    <a:spcPct val="200000"/>
                  </a:lnSpc>
                  <a:buNone/>
                </a:pPr>
                <a14:m>
                  <m:oMathPara xmlns:m="http://schemas.openxmlformats.org/officeDocument/2006/math">
                    <m:oMathParaPr>
                      <m:jc m:val="centerGroup"/>
                    </m:oMathParaPr>
                    <m:oMath xmlns:m="http://schemas.openxmlformats.org/officeDocument/2006/math">
                      <m:nary>
                        <m:naryPr>
                          <m:ctrlPr>
                            <a:rPr lang="en-CA" sz="1600" b="1" i="1">
                              <a:solidFill>
                                <a:schemeClr val="tx1"/>
                              </a:solidFill>
                              <a:latin typeface="Cambria Math" panose="02040503050406030204" pitchFamily="18" charset="0"/>
                            </a:rPr>
                          </m:ctrlPr>
                        </m:naryPr>
                        <m:sub>
                          <m:r>
                            <m:rPr>
                              <m:brk m:alnAt="23"/>
                            </m:rPr>
                            <a:rPr lang="en-CA" sz="1600" b="1" i="1">
                              <a:solidFill>
                                <a:schemeClr val="tx1"/>
                              </a:solidFill>
                              <a:latin typeface="Cambria Math" panose="02040503050406030204" pitchFamily="18" charset="0"/>
                            </a:rPr>
                            <m:t>𝑪</m:t>
                          </m:r>
                          <m:r>
                            <a:rPr lang="en-CA" sz="1600" b="1" i="1">
                              <a:solidFill>
                                <a:schemeClr val="tx1"/>
                              </a:solidFill>
                              <a:latin typeface="Cambria Math" panose="02040503050406030204" pitchFamily="18" charset="0"/>
                            </a:rPr>
                            <m:t>𝑺</m:t>
                          </m:r>
                        </m:sub>
                        <m:sup/>
                        <m:e>
                          <m:r>
                            <a:rPr lang="en-CA" sz="1600" b="1" i="1">
                              <a:solidFill>
                                <a:schemeClr val="tx1"/>
                              </a:solidFill>
                              <a:latin typeface="Cambria Math" panose="02040503050406030204" pitchFamily="18" charset="0"/>
                              <a:ea typeface="Cambria Math" panose="02040503050406030204" pitchFamily="18" charset="0"/>
                            </a:rPr>
                            <m:t>𝝆</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𝒅</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e>
                      </m:nary>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𝟎</m:t>
                      </m:r>
                    </m:oMath>
                  </m:oMathPara>
                </a14:m>
                <a:endParaRPr lang="en-CA" sz="1600" b="1" dirty="0">
                  <a:solidFill>
                    <a:schemeClr val="tx1"/>
                  </a:solidFill>
                  <a:latin typeface="+mn-lt"/>
                </a:endParaRPr>
              </a:p>
              <a:p>
                <a:pPr marL="0" indent="0">
                  <a:lnSpc>
                    <a:spcPct val="100000"/>
                  </a:lnSpc>
                  <a:buNone/>
                </a:pPr>
                <a:endParaRPr lang="en-CA" sz="1600" b="1" dirty="0"/>
              </a:p>
              <a:p>
                <a:pPr marL="0" indent="0">
                  <a:lnSpc>
                    <a:spcPct val="100000"/>
                  </a:lnSpc>
                  <a:buNone/>
                </a:pPr>
                <a:r>
                  <a:rPr lang="en-CA" sz="1600" b="1" dirty="0"/>
                  <a:t>If flow is also uniform</a:t>
                </a:r>
              </a:p>
              <a:p>
                <a:pPr marL="0" indent="0">
                  <a:lnSpc>
                    <a:spcPct val="100000"/>
                  </a:lnSpc>
                  <a:buNone/>
                </a:pPr>
                <a14:m>
                  <m:oMathPara xmlns:m="http://schemas.openxmlformats.org/officeDocument/2006/math">
                    <m:oMathParaPr>
                      <m:jc m:val="centerGroup"/>
                    </m:oMathParaPr>
                    <m:oMath xmlns:m="http://schemas.openxmlformats.org/officeDocument/2006/math">
                      <m:nary>
                        <m:naryPr>
                          <m:chr m:val="∑"/>
                          <m:limLoc m:val="subSup"/>
                          <m:ctrlPr>
                            <a:rPr lang="en-CA" sz="1600" b="1" i="1" smtClean="0">
                              <a:solidFill>
                                <a:schemeClr val="tx1"/>
                              </a:solidFill>
                              <a:latin typeface="Cambria Math" panose="02040503050406030204" pitchFamily="18" charset="0"/>
                              <a:ea typeface="Cambria Math" panose="02040503050406030204" pitchFamily="18" charset="0"/>
                            </a:rPr>
                          </m:ctrlPr>
                        </m:naryPr>
                        <m:sub>
                          <m:r>
                            <m:rPr>
                              <m:brk m:alnAt="25"/>
                            </m:rPr>
                            <a:rPr lang="en-CA" sz="1600" b="1" i="1">
                              <a:solidFill>
                                <a:schemeClr val="tx1"/>
                              </a:solidFill>
                              <a:latin typeface="Cambria Math" panose="02040503050406030204" pitchFamily="18" charset="0"/>
                              <a:ea typeface="Cambria Math" panose="02040503050406030204" pitchFamily="18" charset="0"/>
                            </a:rPr>
                            <m:t>𝑪</m:t>
                          </m:r>
                          <m:r>
                            <a:rPr lang="en-CA" sz="1600" b="1" i="1">
                              <a:solidFill>
                                <a:schemeClr val="tx1"/>
                              </a:solidFill>
                              <a:latin typeface="Cambria Math" panose="02040503050406030204" pitchFamily="18" charset="0"/>
                              <a:ea typeface="Cambria Math" panose="02040503050406030204" pitchFamily="18" charset="0"/>
                            </a:rPr>
                            <m:t>𝑺</m:t>
                          </m:r>
                        </m:sub>
                        <m:sup/>
                        <m:e>
                          <m:r>
                            <a:rPr lang="en-CA" sz="1600" b="1" i="1" smtClean="0">
                              <a:solidFill>
                                <a:schemeClr val="tx1"/>
                              </a:solidFill>
                              <a:latin typeface="Cambria Math" panose="02040503050406030204" pitchFamily="18" charset="0"/>
                              <a:ea typeface="Cambria Math" panose="02040503050406030204" pitchFamily="18" charset="0"/>
                            </a:rPr>
                            <m:t>𝝆</m:t>
                          </m:r>
                          <m:r>
                            <a:rPr lang="en-CA" sz="1600" b="1" i="1" smtClean="0">
                              <a:solidFill>
                                <a:schemeClr val="tx1"/>
                              </a:solidFill>
                              <a:latin typeface="Cambria Math" panose="02040503050406030204" pitchFamily="18" charset="0"/>
                              <a:ea typeface="Cambria Math" panose="02040503050406030204" pitchFamily="18" charset="0"/>
                            </a:rPr>
                            <m:t> </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𝑽</m:t>
                              </m:r>
                            </m:e>
                          </m:acc>
                          <m:r>
                            <a:rPr lang="en-CA" sz="1600" b="1" i="1">
                              <a:solidFill>
                                <a:schemeClr val="tx1"/>
                              </a:solidFill>
                              <a:latin typeface="Cambria Math" panose="02040503050406030204" pitchFamily="18" charset="0"/>
                              <a:ea typeface="Cambria Math" panose="02040503050406030204" pitchFamily="18" charset="0"/>
                            </a:rPr>
                            <m:t>∙</m:t>
                          </m:r>
                          <m:acc>
                            <m:accPr>
                              <m:chr m:val="⃗"/>
                              <m:ctrlPr>
                                <a:rPr lang="en-CA" sz="1600" b="1" i="1">
                                  <a:solidFill>
                                    <a:schemeClr val="tx1"/>
                                  </a:solidFill>
                                  <a:latin typeface="Cambria Math" panose="02040503050406030204" pitchFamily="18" charset="0"/>
                                  <a:ea typeface="Cambria Math" panose="02040503050406030204" pitchFamily="18" charset="0"/>
                                </a:rPr>
                              </m:ctrlPr>
                            </m:accPr>
                            <m:e>
                              <m:r>
                                <a:rPr lang="en-CA" sz="1600" b="1" i="1">
                                  <a:solidFill>
                                    <a:schemeClr val="tx1"/>
                                  </a:solidFill>
                                  <a:latin typeface="Cambria Math" panose="02040503050406030204" pitchFamily="18" charset="0"/>
                                  <a:ea typeface="Cambria Math" panose="02040503050406030204" pitchFamily="18" charset="0"/>
                                </a:rPr>
                                <m:t>𝑨</m:t>
                              </m:r>
                            </m:e>
                          </m:acc>
                        </m:e>
                      </m:nary>
                      <m:r>
                        <a:rPr lang="en-CA" sz="1600" b="1" i="1">
                          <a:solidFill>
                            <a:schemeClr val="tx1"/>
                          </a:solidFill>
                          <a:latin typeface="Cambria Math" panose="02040503050406030204" pitchFamily="18" charset="0"/>
                          <a:ea typeface="Cambria Math" panose="02040503050406030204" pitchFamily="18" charset="0"/>
                        </a:rPr>
                        <m:t>=</m:t>
                      </m:r>
                      <m:r>
                        <a:rPr lang="en-CA" sz="1600" b="1" i="1">
                          <a:solidFill>
                            <a:schemeClr val="tx1"/>
                          </a:solidFill>
                          <a:latin typeface="Cambria Math" panose="02040503050406030204" pitchFamily="18" charset="0"/>
                          <a:ea typeface="Cambria Math" panose="02040503050406030204" pitchFamily="18" charset="0"/>
                        </a:rPr>
                        <m:t>𝟎</m:t>
                      </m:r>
                    </m:oMath>
                  </m:oMathPara>
                </a14:m>
                <a:endParaRPr lang="en-CA" sz="1600" b="1" dirty="0">
                  <a:solidFill>
                    <a:schemeClr val="tx1"/>
                  </a:solidFill>
                </a:endParaRPr>
              </a:p>
              <a:p>
                <a:pPr marL="0" indent="0">
                  <a:lnSpc>
                    <a:spcPct val="100000"/>
                  </a:lnSpc>
                  <a:buNone/>
                </a:pPr>
                <a:endParaRPr lang="en-CA" dirty="0">
                  <a:latin typeface="+mn-lt"/>
                </a:endParaRPr>
              </a:p>
              <a:p>
                <a:endParaRPr lang="en-CA"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537" y="582751"/>
                <a:ext cx="7886700" cy="5709048"/>
              </a:xfrm>
              <a:blipFill>
                <a:blip r:embed="rId2"/>
                <a:stretch>
                  <a:fillRect l="-386"/>
                </a:stretch>
              </a:blipFill>
            </p:spPr>
            <p:txBody>
              <a:bodyPr/>
              <a:lstStyle/>
              <a:p>
                <a:r>
                  <a:rPr lang="en-GH">
                    <a:noFill/>
                  </a:rPr>
                  <a:t> </a:t>
                </a:r>
              </a:p>
            </p:txBody>
          </p:sp>
        </mc:Fallback>
      </mc:AlternateContent>
      <p:grpSp>
        <p:nvGrpSpPr>
          <p:cNvPr id="7" name="Group 6"/>
          <p:cNvGrpSpPr/>
          <p:nvPr/>
        </p:nvGrpSpPr>
        <p:grpSpPr>
          <a:xfrm>
            <a:off x="3299863" y="1089402"/>
            <a:ext cx="960120" cy="961866"/>
            <a:chOff x="3360420" y="4135914"/>
            <a:chExt cx="960120" cy="961866"/>
          </a:xfrm>
        </p:grpSpPr>
        <p:cxnSp>
          <p:nvCxnSpPr>
            <p:cNvPr id="5" name="Straight Arrow Connector 4"/>
            <p:cNvCxnSpPr/>
            <p:nvPr/>
          </p:nvCxnSpPr>
          <p:spPr>
            <a:xfrm flipV="1">
              <a:off x="3360420" y="4377690"/>
              <a:ext cx="640080" cy="7200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874770" y="4135914"/>
              <a:ext cx="445770" cy="369332"/>
            </a:xfrm>
            <a:prstGeom prst="rect">
              <a:avLst/>
            </a:prstGeom>
            <a:noFill/>
          </p:spPr>
          <p:txBody>
            <a:bodyPr wrap="square" rtlCol="0">
              <a:spAutoFit/>
            </a:bodyPr>
            <a:lstStyle/>
            <a:p>
              <a:pPr algn="ctr"/>
              <a:r>
                <a:rPr lang="en-CA" sz="1800" dirty="0">
                  <a:latin typeface="Myriad Web Pro"/>
                </a:rPr>
                <a:t>0</a:t>
              </a:r>
            </a:p>
          </p:txBody>
        </p:sp>
      </p:grpSp>
      <p:sp>
        <p:nvSpPr>
          <p:cNvPr id="4" name="Slide Number Placeholder 3">
            <a:extLst>
              <a:ext uri="{FF2B5EF4-FFF2-40B4-BE49-F238E27FC236}">
                <a16:creationId xmlns:a16="http://schemas.microsoft.com/office/drawing/2014/main" id="{1B71BBE3-9DA9-E741-C365-342700F83B9C}"/>
              </a:ext>
            </a:extLst>
          </p:cNvPr>
          <p:cNvSpPr>
            <a:spLocks noGrp="1"/>
          </p:cNvSpPr>
          <p:nvPr>
            <p:ph type="sldNum" sz="quarter" idx="12"/>
          </p:nvPr>
        </p:nvSpPr>
        <p:spPr/>
        <p:txBody>
          <a:bodyPr/>
          <a:lstStyle/>
          <a:p>
            <a:fld id="{49FCB85E-0F77-4855-90A7-7A1B61BB679B}" type="slidenum">
              <a:rPr lang="en-CA" smtClean="0"/>
              <a:t>21</a:t>
            </a:fld>
            <a:endParaRPr lang="en-CA"/>
          </a:p>
        </p:txBody>
      </p:sp>
    </p:spTree>
    <p:extLst>
      <p:ext uri="{BB962C8B-B14F-4D97-AF65-F5344CB8AC3E}">
        <p14:creationId xmlns:p14="http://schemas.microsoft.com/office/powerpoint/2010/main" val="1054336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19"/>
            <a:ext cx="9144000" cy="568940"/>
          </a:xfrm>
        </p:spPr>
        <p:txBody>
          <a:bodyPr>
            <a:normAutofit/>
          </a:bodyPr>
          <a:lstStyle/>
          <a:p>
            <a:r>
              <a:rPr lang="en-CA" sz="2400" dirty="0">
                <a:solidFill>
                  <a:schemeClr val="tx1"/>
                </a:solidFill>
                <a:latin typeface="+mn-lt"/>
                <a:ea typeface="Verdana" panose="020B0604030504040204" pitchFamily="34" charset="0"/>
                <a:cs typeface="Verdana" panose="020B0604030504040204" pitchFamily="34" charset="0"/>
              </a:rPr>
              <a:t>Example 1 (Steady Flow)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628146"/>
                <a:ext cx="7886700" cy="4931901"/>
              </a:xfrm>
            </p:spPr>
            <p:txBody>
              <a:bodyPr>
                <a:normAutofit/>
              </a:bodyPr>
              <a:lstStyle/>
              <a:p>
                <a:pPr marL="0" indent="0" algn="just">
                  <a:lnSpc>
                    <a:spcPct val="100000"/>
                  </a:lnSpc>
                  <a:spcBef>
                    <a:spcPts val="600"/>
                  </a:spcBef>
                  <a:buNone/>
                </a:pPr>
                <a:r>
                  <a:rPr lang="en-US" b="1" dirty="0">
                    <a:latin typeface="+mn-lt"/>
                  </a:rPr>
                  <a:t>Example 1: </a:t>
                </a:r>
                <a:r>
                  <a:rPr lang="en-US" dirty="0">
                    <a:solidFill>
                      <a:schemeClr val="tx1"/>
                    </a:solidFill>
                    <a:latin typeface="+mn-lt"/>
                  </a:rPr>
                  <a:t>Consider the steady flow in a water pipe joint shown in the diagram. The areas are: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𝐴</m:t>
                        </m:r>
                      </m:e>
                      <m:sub>
                        <m:r>
                          <a:rPr lang="en-CA" b="0" i="1" smtClean="0">
                            <a:solidFill>
                              <a:schemeClr val="tx1"/>
                            </a:solidFill>
                            <a:latin typeface="Cambria Math" panose="02040503050406030204" pitchFamily="18" charset="0"/>
                          </a:rPr>
                          <m:t>1</m:t>
                        </m:r>
                      </m:sub>
                    </m:sSub>
                    <m:r>
                      <a:rPr lang="en-CA" b="0" i="1" smtClean="0">
                        <a:solidFill>
                          <a:schemeClr val="tx1"/>
                        </a:solidFill>
                        <a:latin typeface="Cambria Math" panose="02040503050406030204" pitchFamily="18" charset="0"/>
                      </a:rPr>
                      <m:t>=0.2 </m:t>
                    </m:r>
                    <m:sSup>
                      <m:sSupPr>
                        <m:ctrlPr>
                          <a:rPr lang="en-CA" b="0"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𝑚</m:t>
                        </m:r>
                      </m:e>
                      <m:sup>
                        <m:r>
                          <a:rPr lang="en-CA" b="0" i="1" smtClean="0">
                            <a:solidFill>
                              <a:schemeClr val="tx1"/>
                            </a:solidFill>
                            <a:latin typeface="Cambria Math" panose="02040503050406030204" pitchFamily="18" charset="0"/>
                          </a:rPr>
                          <m:t>2</m:t>
                        </m:r>
                      </m:sup>
                    </m:sSup>
                  </m:oMath>
                </a14:m>
                <a:r>
                  <a:rPr lang="en-US" dirty="0">
                    <a:solidFill>
                      <a:schemeClr val="tx1"/>
                    </a:solidFill>
                    <a:latin typeface="+mn-lt"/>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CA" i="1">
                            <a:solidFill>
                              <a:schemeClr val="tx1"/>
                            </a:solidFill>
                            <a:latin typeface="Cambria Math" panose="02040503050406030204" pitchFamily="18" charset="0"/>
                          </a:rPr>
                          <m:t>𝐴</m:t>
                        </m:r>
                      </m:e>
                      <m:sub>
                        <m:r>
                          <a:rPr lang="en-CA" b="0" i="1" smtClean="0">
                            <a:solidFill>
                              <a:schemeClr val="tx1"/>
                            </a:solidFill>
                            <a:latin typeface="Cambria Math" panose="02040503050406030204" pitchFamily="18" charset="0"/>
                          </a:rPr>
                          <m:t>2</m:t>
                        </m:r>
                      </m:sub>
                    </m:sSub>
                    <m:r>
                      <a:rPr lang="en-CA" i="1">
                        <a:solidFill>
                          <a:schemeClr val="tx1"/>
                        </a:solidFill>
                        <a:latin typeface="Cambria Math" panose="02040503050406030204" pitchFamily="18" charset="0"/>
                      </a:rPr>
                      <m:t>=0.2</m:t>
                    </m:r>
                    <m:sSup>
                      <m:sSupPr>
                        <m:ctrlPr>
                          <a:rPr lang="en-CA" i="1">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 </m:t>
                        </m:r>
                        <m:r>
                          <a:rPr lang="en-CA" i="1">
                            <a:solidFill>
                              <a:schemeClr val="tx1"/>
                            </a:solidFill>
                            <a:latin typeface="Cambria Math" panose="02040503050406030204" pitchFamily="18" charset="0"/>
                          </a:rPr>
                          <m:t>𝑚</m:t>
                        </m:r>
                      </m:e>
                      <m:sup>
                        <m:r>
                          <a:rPr lang="en-CA" i="1">
                            <a:solidFill>
                              <a:schemeClr val="tx1"/>
                            </a:solidFill>
                            <a:latin typeface="Cambria Math" panose="02040503050406030204" pitchFamily="18" charset="0"/>
                          </a:rPr>
                          <m:t>2</m:t>
                        </m:r>
                      </m:sup>
                    </m:sSup>
                    <m:r>
                      <a:rPr lang="en-CA" i="1">
                        <a:solidFill>
                          <a:schemeClr val="tx1"/>
                        </a:solidFill>
                        <a:latin typeface="Cambria Math" panose="02040503050406030204" pitchFamily="18" charset="0"/>
                      </a:rPr>
                      <m:t> </m:t>
                    </m:r>
                  </m:oMath>
                </a14:m>
                <a:r>
                  <a:rPr lang="en-US" dirty="0">
                    <a:solidFill>
                      <a:schemeClr val="tx1"/>
                    </a:solidFill>
                    <a:latin typeface="+mn-lt"/>
                  </a:rPr>
                  <a:t>and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CA" i="1">
                            <a:solidFill>
                              <a:schemeClr val="tx1"/>
                            </a:solidFill>
                            <a:latin typeface="Cambria Math" panose="02040503050406030204" pitchFamily="18" charset="0"/>
                          </a:rPr>
                          <m:t>𝐴</m:t>
                        </m:r>
                      </m:e>
                      <m:sub>
                        <m:r>
                          <a:rPr lang="en-CA" b="0" i="1" smtClean="0">
                            <a:solidFill>
                              <a:schemeClr val="tx1"/>
                            </a:solidFill>
                            <a:latin typeface="Cambria Math" panose="02040503050406030204" pitchFamily="18" charset="0"/>
                          </a:rPr>
                          <m:t>3</m:t>
                        </m:r>
                      </m:sub>
                    </m:sSub>
                    <m:r>
                      <a:rPr lang="en-CA" i="1">
                        <a:solidFill>
                          <a:schemeClr val="tx1"/>
                        </a:solidFill>
                        <a:latin typeface="Cambria Math" panose="02040503050406030204" pitchFamily="18" charset="0"/>
                      </a:rPr>
                      <m:t>=0.</m:t>
                    </m:r>
                    <m:r>
                      <a:rPr lang="en-CA" b="0" i="1" smtClean="0">
                        <a:solidFill>
                          <a:schemeClr val="tx1"/>
                        </a:solidFill>
                        <a:latin typeface="Cambria Math" panose="02040503050406030204" pitchFamily="18" charset="0"/>
                      </a:rPr>
                      <m:t>15 </m:t>
                    </m:r>
                    <m:sSup>
                      <m:sSupPr>
                        <m:ctrlPr>
                          <a:rPr lang="en-CA" i="1">
                            <a:solidFill>
                              <a:schemeClr val="tx1"/>
                            </a:solidFill>
                            <a:latin typeface="Cambria Math" panose="02040503050406030204" pitchFamily="18" charset="0"/>
                          </a:rPr>
                        </m:ctrlPr>
                      </m:sSupPr>
                      <m:e>
                        <m:r>
                          <a:rPr lang="en-CA" i="1">
                            <a:solidFill>
                              <a:schemeClr val="tx1"/>
                            </a:solidFill>
                            <a:latin typeface="Cambria Math" panose="02040503050406030204" pitchFamily="18" charset="0"/>
                          </a:rPr>
                          <m:t>𝑚</m:t>
                        </m:r>
                      </m:e>
                      <m:sup>
                        <m:r>
                          <a:rPr lang="en-CA" i="1">
                            <a:solidFill>
                              <a:schemeClr val="tx1"/>
                            </a:solidFill>
                            <a:latin typeface="Cambria Math" panose="02040503050406030204" pitchFamily="18" charset="0"/>
                          </a:rPr>
                          <m:t>2</m:t>
                        </m:r>
                      </m:sup>
                    </m:sSup>
                  </m:oMath>
                </a14:m>
                <a:r>
                  <a:rPr lang="en-US" dirty="0">
                    <a:solidFill>
                      <a:schemeClr val="tx1"/>
                    </a:solidFill>
                    <a:latin typeface="+mn-lt"/>
                  </a:rPr>
                  <a:t>. In addition, fluid is </a:t>
                </a:r>
                <a:r>
                  <a:rPr lang="en-US" u="sng" dirty="0">
                    <a:solidFill>
                      <a:schemeClr val="tx1"/>
                    </a:solidFill>
                    <a:latin typeface="+mn-lt"/>
                  </a:rPr>
                  <a:t>lost out </a:t>
                </a:r>
                <a:r>
                  <a:rPr lang="en-US" dirty="0">
                    <a:solidFill>
                      <a:schemeClr val="tx1"/>
                    </a:solidFill>
                    <a:latin typeface="+mn-lt"/>
                  </a:rPr>
                  <a:t>of a hole at 4 , estimated at a rate of </a:t>
                </a:r>
                <a14:m>
                  <m:oMath xmlns:m="http://schemas.openxmlformats.org/officeDocument/2006/math">
                    <m:r>
                      <a:rPr lang="en-CA" i="1" smtClean="0">
                        <a:solidFill>
                          <a:schemeClr val="tx1"/>
                        </a:solidFill>
                        <a:latin typeface="Cambria Math" panose="02040503050406030204" pitchFamily="18" charset="0"/>
                      </a:rPr>
                      <m:t>0.1 </m:t>
                    </m:r>
                    <m:sSup>
                      <m:sSupPr>
                        <m:ctrlPr>
                          <a:rPr lang="en-CA" i="1">
                            <a:solidFill>
                              <a:schemeClr val="tx1"/>
                            </a:solidFill>
                            <a:latin typeface="Cambria Math" panose="02040503050406030204" pitchFamily="18" charset="0"/>
                          </a:rPr>
                        </m:ctrlPr>
                      </m:sSupPr>
                      <m:e>
                        <m:r>
                          <a:rPr lang="en-CA" i="1">
                            <a:solidFill>
                              <a:schemeClr val="tx1"/>
                            </a:solidFill>
                            <a:latin typeface="Cambria Math" panose="02040503050406030204" pitchFamily="18" charset="0"/>
                          </a:rPr>
                          <m:t>𝑚</m:t>
                        </m:r>
                      </m:e>
                      <m:sup>
                        <m:r>
                          <a:rPr lang="en-CA" b="0" i="1" smtClean="0">
                            <a:solidFill>
                              <a:schemeClr val="tx1"/>
                            </a:solidFill>
                            <a:latin typeface="Cambria Math" panose="02040503050406030204" pitchFamily="18" charset="0"/>
                          </a:rPr>
                          <m:t>3</m:t>
                        </m:r>
                      </m:sup>
                    </m:sSup>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𝑠</m:t>
                    </m:r>
                  </m:oMath>
                </a14:m>
                <a:r>
                  <a:rPr lang="en-US" dirty="0">
                    <a:solidFill>
                      <a:schemeClr val="tx1"/>
                    </a:solidFill>
                    <a:latin typeface="+mn-lt"/>
                  </a:rPr>
                  <a:t>. The average speeds at sections 1 and 3 are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𝑉</m:t>
                        </m:r>
                      </m:e>
                      <m:sub>
                        <m:r>
                          <a:rPr lang="en-CA" i="1">
                            <a:solidFill>
                              <a:schemeClr val="tx1"/>
                            </a:solidFill>
                            <a:latin typeface="Cambria Math" panose="02040503050406030204" pitchFamily="18" charset="0"/>
                          </a:rPr>
                          <m:t>1</m:t>
                        </m:r>
                      </m:sub>
                    </m:sSub>
                    <m:r>
                      <a:rPr lang="en-CA" i="1">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5 </m:t>
                    </m:r>
                    <m:r>
                      <a:rPr lang="en-CA" b="0" i="1" smtClean="0">
                        <a:solidFill>
                          <a:schemeClr val="tx1"/>
                        </a:solidFill>
                        <a:latin typeface="Cambria Math" panose="02040503050406030204" pitchFamily="18" charset="0"/>
                      </a:rPr>
                      <m:t>𝑚</m:t>
                    </m:r>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𝑠</m:t>
                    </m:r>
                    <m:r>
                      <a:rPr lang="en-CA" i="1">
                        <a:solidFill>
                          <a:schemeClr val="tx1"/>
                        </a:solidFill>
                        <a:latin typeface="Cambria Math" panose="02040503050406030204" pitchFamily="18" charset="0"/>
                      </a:rPr>
                      <m:t> </m:t>
                    </m:r>
                  </m:oMath>
                </a14:m>
                <a:r>
                  <a:rPr lang="en-US" dirty="0">
                    <a:solidFill>
                      <a:schemeClr val="tx1"/>
                    </a:solidFill>
                    <a:latin typeface="+mn-lt"/>
                  </a:rPr>
                  <a:t>and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CA" i="1">
                            <a:solidFill>
                              <a:schemeClr val="tx1"/>
                            </a:solidFill>
                            <a:latin typeface="Cambria Math" panose="02040503050406030204" pitchFamily="18" charset="0"/>
                          </a:rPr>
                          <m:t>𝑉</m:t>
                        </m:r>
                      </m:e>
                      <m:sub>
                        <m:r>
                          <a:rPr lang="en-CA" b="0" i="1" smtClean="0">
                            <a:solidFill>
                              <a:schemeClr val="tx1"/>
                            </a:solidFill>
                            <a:latin typeface="Cambria Math" panose="02040503050406030204" pitchFamily="18" charset="0"/>
                          </a:rPr>
                          <m:t>3</m:t>
                        </m:r>
                      </m:sub>
                    </m:sSub>
                    <m:r>
                      <a:rPr lang="en-CA" i="1">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12</m:t>
                    </m:r>
                    <m:r>
                      <a:rPr lang="en-CA" i="1">
                        <a:solidFill>
                          <a:schemeClr val="tx1"/>
                        </a:solidFill>
                        <a:latin typeface="Cambria Math" panose="02040503050406030204" pitchFamily="18" charset="0"/>
                      </a:rPr>
                      <m:t> </m:t>
                    </m:r>
                    <m:r>
                      <a:rPr lang="en-CA" i="1">
                        <a:solidFill>
                          <a:schemeClr val="tx1"/>
                        </a:solidFill>
                        <a:latin typeface="Cambria Math" panose="02040503050406030204" pitchFamily="18" charset="0"/>
                      </a:rPr>
                      <m:t>𝑚</m:t>
                    </m:r>
                    <m:r>
                      <a:rPr lang="en-CA" i="1">
                        <a:solidFill>
                          <a:schemeClr val="tx1"/>
                        </a:solidFill>
                        <a:latin typeface="Cambria Math" panose="02040503050406030204" pitchFamily="18" charset="0"/>
                      </a:rPr>
                      <m:t>/</m:t>
                    </m:r>
                    <m:r>
                      <a:rPr lang="en-CA" i="1">
                        <a:solidFill>
                          <a:schemeClr val="tx1"/>
                        </a:solidFill>
                        <a:latin typeface="Cambria Math" panose="02040503050406030204" pitchFamily="18" charset="0"/>
                      </a:rPr>
                      <m:t>𝑠</m:t>
                    </m:r>
                  </m:oMath>
                </a14:m>
                <a:r>
                  <a:rPr lang="en-US" dirty="0">
                    <a:solidFill>
                      <a:schemeClr val="tx1"/>
                    </a:solidFill>
                    <a:latin typeface="+mn-lt"/>
                  </a:rPr>
                  <a:t>, respectively. Find the velocity at section 2.</a:t>
                </a:r>
                <a:endParaRPr lang="en-CA"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628146"/>
                <a:ext cx="7886700" cy="4931901"/>
              </a:xfrm>
              <a:blipFill>
                <a:blip r:embed="rId2"/>
                <a:stretch>
                  <a:fillRect l="-1159" t="-989" r="-1236"/>
                </a:stretch>
              </a:blipFill>
            </p:spPr>
            <p:txBody>
              <a:bodyPr/>
              <a:lstStyle/>
              <a:p>
                <a:r>
                  <a:rPr lang="en-GH">
                    <a:noFill/>
                  </a:rPr>
                  <a:t> </a:t>
                </a:r>
              </a:p>
            </p:txBody>
          </p:sp>
        </mc:Fallback>
      </mc:AlternateContent>
      <p:pic>
        <p:nvPicPr>
          <p:cNvPr id="4" name="Picture 2" descr="Z:\newmedia\Ebook-Novella\Wiley\jira\bcs2793\Fox9e\Work\Image_gallery\Ch04\images\fox_9e_figun_04_p091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886" y="2997334"/>
            <a:ext cx="4638517" cy="308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FEDDC8CE-8634-95FA-EE23-8287FBCF578E}"/>
              </a:ext>
            </a:extLst>
          </p:cNvPr>
          <p:cNvSpPr>
            <a:spLocks noGrp="1"/>
          </p:cNvSpPr>
          <p:nvPr>
            <p:ph type="sldNum" sz="quarter" idx="12"/>
          </p:nvPr>
        </p:nvSpPr>
        <p:spPr/>
        <p:txBody>
          <a:bodyPr/>
          <a:lstStyle/>
          <a:p>
            <a:fld id="{49FCB85E-0F77-4855-90A7-7A1B61BB679B}" type="slidenum">
              <a:rPr lang="en-CA" smtClean="0"/>
              <a:t>22</a:t>
            </a:fld>
            <a:endParaRPr lang="en-CA"/>
          </a:p>
        </p:txBody>
      </p:sp>
    </p:spTree>
    <p:extLst>
      <p:ext uri="{BB962C8B-B14F-4D97-AF65-F5344CB8AC3E}">
        <p14:creationId xmlns:p14="http://schemas.microsoft.com/office/powerpoint/2010/main" val="2053338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19"/>
            <a:ext cx="9144000" cy="568940"/>
          </a:xfrm>
        </p:spPr>
        <p:txBody>
          <a:bodyPr>
            <a:normAutofit/>
          </a:bodyPr>
          <a:lstStyle/>
          <a:p>
            <a:r>
              <a:rPr lang="en-CA" sz="2400" dirty="0">
                <a:solidFill>
                  <a:schemeClr val="tx1"/>
                </a:solidFill>
                <a:latin typeface="+mn-lt"/>
                <a:ea typeface="Verdana" panose="020B0604030504040204" pitchFamily="34" charset="0"/>
                <a:cs typeface="Verdana" panose="020B0604030504040204" pitchFamily="34" charset="0"/>
              </a:rPr>
              <a:t>Example 1 - Solution</a:t>
            </a:r>
          </a:p>
        </p:txBody>
      </p:sp>
      <p:pic>
        <p:nvPicPr>
          <p:cNvPr id="8" name="Picture 7">
            <a:extLst>
              <a:ext uri="{FF2B5EF4-FFF2-40B4-BE49-F238E27FC236}">
                <a16:creationId xmlns:a16="http://schemas.microsoft.com/office/drawing/2014/main" id="{45EB49DF-5DBB-27AF-C09B-54DA88D308F8}"/>
              </a:ext>
            </a:extLst>
          </p:cNvPr>
          <p:cNvPicPr>
            <a:picLocks noChangeAspect="1"/>
          </p:cNvPicPr>
          <p:nvPr/>
        </p:nvPicPr>
        <p:blipFill rotWithShape="1">
          <a:blip r:embed="rId2"/>
          <a:srcRect l="2498" t="2635" r="2046"/>
          <a:stretch/>
        </p:blipFill>
        <p:spPr>
          <a:xfrm>
            <a:off x="64009" y="535983"/>
            <a:ext cx="3840480" cy="3170843"/>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3926D18-C3C6-220E-0E35-23D2E1705D35}"/>
                  </a:ext>
                </a:extLst>
              </p:cNvPr>
              <p:cNvSpPr txBox="1"/>
              <p:nvPr/>
            </p:nvSpPr>
            <p:spPr>
              <a:xfrm>
                <a:off x="3968498" y="514182"/>
                <a:ext cx="5093207" cy="1569660"/>
              </a:xfrm>
              <a:prstGeom prst="rect">
                <a:avLst/>
              </a:prstGeom>
              <a:noFill/>
            </p:spPr>
            <p:txBody>
              <a:bodyPr wrap="square">
                <a:spAutoFit/>
              </a:bodyPr>
              <a:lstStyle/>
              <a:p>
                <a:r>
                  <a:rPr lang="en-US" dirty="0">
                    <a:solidFill>
                      <a:schemeClr val="tx1"/>
                    </a:solidFill>
                    <a:latin typeface="+mn-lt"/>
                  </a:rPr>
                  <a:t>G</a:t>
                </a:r>
                <a14:m>
                  <m:oMath xmlns:m="http://schemas.openxmlformats.org/officeDocument/2006/math">
                    <m:r>
                      <m:rPr>
                        <m:sty m:val="p"/>
                      </m:rPr>
                      <a:rPr lang="en-GB" b="0" i="0" smtClean="0">
                        <a:solidFill>
                          <a:schemeClr val="tx1"/>
                        </a:solidFill>
                        <a:latin typeface="Cambria Math" panose="02040503050406030204" pitchFamily="18" charset="0"/>
                      </a:rPr>
                      <m:t>iven</m:t>
                    </m:r>
                    <m:r>
                      <a:rPr lang="en-GB" b="0" i="0" smtClean="0">
                        <a:solidFill>
                          <a:schemeClr val="tx1"/>
                        </a:solidFill>
                        <a:latin typeface="Cambria Math" panose="02040503050406030204" pitchFamily="18" charset="0"/>
                      </a:rPr>
                      <m:t>: </m:t>
                    </m:r>
                    <m:sSub>
                      <m:sSubPr>
                        <m:ctrlPr>
                          <a:rPr lang="en-US"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𝐴</m:t>
                        </m:r>
                      </m:e>
                      <m:sub>
                        <m:r>
                          <a:rPr lang="en-CA" b="0" i="1" smtClean="0">
                            <a:solidFill>
                              <a:schemeClr val="tx1"/>
                            </a:solidFill>
                            <a:latin typeface="Cambria Math" panose="02040503050406030204" pitchFamily="18" charset="0"/>
                          </a:rPr>
                          <m:t>1</m:t>
                        </m:r>
                      </m:sub>
                    </m:sSub>
                    <m:r>
                      <a:rPr lang="en-CA" b="0" i="1" smtClean="0">
                        <a:solidFill>
                          <a:schemeClr val="tx1"/>
                        </a:solidFill>
                        <a:latin typeface="Cambria Math" panose="02040503050406030204" pitchFamily="18" charset="0"/>
                      </a:rPr>
                      <m:t>=0.2 </m:t>
                    </m:r>
                    <m:sSup>
                      <m:sSupPr>
                        <m:ctrlPr>
                          <a:rPr lang="en-CA" b="0" i="1" smtClean="0">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𝑚</m:t>
                        </m:r>
                      </m:e>
                      <m:sup>
                        <m:r>
                          <a:rPr lang="en-CA" b="0" i="1" smtClean="0">
                            <a:solidFill>
                              <a:schemeClr val="tx1"/>
                            </a:solidFill>
                            <a:latin typeface="Cambria Math" panose="02040503050406030204" pitchFamily="18" charset="0"/>
                          </a:rPr>
                          <m:t>2</m:t>
                        </m:r>
                      </m:sup>
                    </m:sSup>
                  </m:oMath>
                </a14:m>
                <a:r>
                  <a:rPr lang="en-US" dirty="0">
                    <a:solidFill>
                      <a:schemeClr val="tx1"/>
                    </a:solidFill>
                    <a:latin typeface="+mn-lt"/>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CA" i="1">
                            <a:solidFill>
                              <a:schemeClr val="tx1"/>
                            </a:solidFill>
                            <a:latin typeface="Cambria Math" panose="02040503050406030204" pitchFamily="18" charset="0"/>
                          </a:rPr>
                          <m:t>𝐴</m:t>
                        </m:r>
                      </m:e>
                      <m:sub>
                        <m:r>
                          <a:rPr lang="en-CA" b="0" i="1" smtClean="0">
                            <a:solidFill>
                              <a:schemeClr val="tx1"/>
                            </a:solidFill>
                            <a:latin typeface="Cambria Math" panose="02040503050406030204" pitchFamily="18" charset="0"/>
                          </a:rPr>
                          <m:t>2</m:t>
                        </m:r>
                      </m:sub>
                    </m:sSub>
                    <m:r>
                      <a:rPr lang="en-CA" i="1">
                        <a:solidFill>
                          <a:schemeClr val="tx1"/>
                        </a:solidFill>
                        <a:latin typeface="Cambria Math" panose="02040503050406030204" pitchFamily="18" charset="0"/>
                      </a:rPr>
                      <m:t>=0.2</m:t>
                    </m:r>
                    <m:sSup>
                      <m:sSupPr>
                        <m:ctrlPr>
                          <a:rPr lang="en-CA" i="1">
                            <a:solidFill>
                              <a:schemeClr val="tx1"/>
                            </a:solidFill>
                            <a:latin typeface="Cambria Math" panose="02040503050406030204" pitchFamily="18" charset="0"/>
                          </a:rPr>
                        </m:ctrlPr>
                      </m:sSupPr>
                      <m:e>
                        <m:r>
                          <a:rPr lang="en-CA" b="0" i="1" smtClean="0">
                            <a:solidFill>
                              <a:schemeClr val="tx1"/>
                            </a:solidFill>
                            <a:latin typeface="Cambria Math" panose="02040503050406030204" pitchFamily="18" charset="0"/>
                          </a:rPr>
                          <m:t> </m:t>
                        </m:r>
                        <m:r>
                          <a:rPr lang="en-CA" i="1">
                            <a:solidFill>
                              <a:schemeClr val="tx1"/>
                            </a:solidFill>
                            <a:latin typeface="Cambria Math" panose="02040503050406030204" pitchFamily="18" charset="0"/>
                          </a:rPr>
                          <m:t>𝑚</m:t>
                        </m:r>
                      </m:e>
                      <m:sup>
                        <m:r>
                          <a:rPr lang="en-CA" i="1">
                            <a:solidFill>
                              <a:schemeClr val="tx1"/>
                            </a:solidFill>
                            <a:latin typeface="Cambria Math" panose="02040503050406030204" pitchFamily="18" charset="0"/>
                          </a:rPr>
                          <m:t>2</m:t>
                        </m:r>
                      </m:sup>
                    </m:sSup>
                    <m:r>
                      <a:rPr lang="en-CA" i="1">
                        <a:solidFill>
                          <a:schemeClr val="tx1"/>
                        </a:solidFill>
                        <a:latin typeface="Cambria Math" panose="02040503050406030204" pitchFamily="18" charset="0"/>
                      </a:rPr>
                      <m:t> </m:t>
                    </m:r>
                  </m:oMath>
                </a14:m>
                <a:r>
                  <a:rPr lang="en-US" dirty="0">
                    <a:solidFill>
                      <a:schemeClr val="tx1"/>
                    </a:solidFill>
                    <a:latin typeface="+mn-lt"/>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CA" i="1">
                            <a:solidFill>
                              <a:schemeClr val="tx1"/>
                            </a:solidFill>
                            <a:latin typeface="Cambria Math" panose="02040503050406030204" pitchFamily="18" charset="0"/>
                          </a:rPr>
                          <m:t>𝐴</m:t>
                        </m:r>
                      </m:e>
                      <m:sub>
                        <m:r>
                          <a:rPr lang="en-CA" b="0" i="1" smtClean="0">
                            <a:solidFill>
                              <a:schemeClr val="tx1"/>
                            </a:solidFill>
                            <a:latin typeface="Cambria Math" panose="02040503050406030204" pitchFamily="18" charset="0"/>
                          </a:rPr>
                          <m:t>3</m:t>
                        </m:r>
                      </m:sub>
                    </m:sSub>
                    <m:r>
                      <a:rPr lang="en-CA" i="1">
                        <a:solidFill>
                          <a:schemeClr val="tx1"/>
                        </a:solidFill>
                        <a:latin typeface="Cambria Math" panose="02040503050406030204" pitchFamily="18" charset="0"/>
                      </a:rPr>
                      <m:t>=0.</m:t>
                    </m:r>
                    <m:r>
                      <a:rPr lang="en-CA" b="0" i="1" smtClean="0">
                        <a:solidFill>
                          <a:schemeClr val="tx1"/>
                        </a:solidFill>
                        <a:latin typeface="Cambria Math" panose="02040503050406030204" pitchFamily="18" charset="0"/>
                      </a:rPr>
                      <m:t>15 </m:t>
                    </m:r>
                    <m:sSup>
                      <m:sSupPr>
                        <m:ctrlPr>
                          <a:rPr lang="en-CA" i="1">
                            <a:solidFill>
                              <a:schemeClr val="tx1"/>
                            </a:solidFill>
                            <a:latin typeface="Cambria Math" panose="02040503050406030204" pitchFamily="18" charset="0"/>
                          </a:rPr>
                        </m:ctrlPr>
                      </m:sSupPr>
                      <m:e>
                        <m:r>
                          <a:rPr lang="en-CA" i="1">
                            <a:solidFill>
                              <a:schemeClr val="tx1"/>
                            </a:solidFill>
                            <a:latin typeface="Cambria Math" panose="02040503050406030204" pitchFamily="18" charset="0"/>
                          </a:rPr>
                          <m:t>𝑚</m:t>
                        </m:r>
                      </m:e>
                      <m:sup>
                        <m:r>
                          <a:rPr lang="en-CA" i="1">
                            <a:solidFill>
                              <a:schemeClr val="tx1"/>
                            </a:solidFill>
                            <a:latin typeface="Cambria Math" panose="02040503050406030204" pitchFamily="18" charset="0"/>
                          </a:rPr>
                          <m:t>2</m:t>
                        </m:r>
                      </m:sup>
                    </m:sSup>
                  </m:oMath>
                </a14:m>
                <a:r>
                  <a:rPr lang="en-GB" dirty="0"/>
                  <a:t>,     </a:t>
                </a:r>
                <a14:m>
                  <m:oMath xmlns:m="http://schemas.openxmlformats.org/officeDocument/2006/math">
                    <m:sSub>
                      <m:sSubPr>
                        <m:ctrlPr>
                          <a:rPr lang="en-US" i="1">
                            <a:latin typeface="Cambria Math" panose="02040503050406030204" pitchFamily="18" charset="0"/>
                          </a:rPr>
                        </m:ctrlPr>
                      </m:sSubPr>
                      <m:e>
                        <m:r>
                          <a:rPr lang="en-GB" b="0" i="1" smtClean="0">
                            <a:latin typeface="Cambria Math" panose="02040503050406030204" pitchFamily="18" charset="0"/>
                          </a:rPr>
                          <m:t>𝑉</m:t>
                        </m:r>
                      </m:e>
                      <m:sub>
                        <m:r>
                          <a:rPr lang="en-GB" b="0" i="1" smtClean="0">
                            <a:latin typeface="Cambria Math" panose="02040503050406030204" pitchFamily="18" charset="0"/>
                          </a:rPr>
                          <m:t>1</m:t>
                        </m:r>
                      </m:sub>
                    </m:sSub>
                    <m:r>
                      <a:rPr lang="en-CA" i="1">
                        <a:latin typeface="Cambria Math" panose="02040503050406030204" pitchFamily="18" charset="0"/>
                      </a:rPr>
                      <m:t>=</m:t>
                    </m:r>
                    <m:r>
                      <a:rPr lang="en-GB" b="0" i="1" smtClean="0">
                        <a:latin typeface="Cambria Math" panose="02040503050406030204" pitchFamily="18" charset="0"/>
                      </a:rPr>
                      <m:t>5 </m:t>
                    </m:r>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𝑠</m:t>
                    </m:r>
                  </m:oMath>
                </a14:m>
                <a:r>
                  <a:rPr lang="en-GB" dirty="0"/>
                  <a:t>,        </a:t>
                </a:r>
                <a14:m>
                  <m:oMath xmlns:m="http://schemas.openxmlformats.org/officeDocument/2006/math">
                    <m:sSub>
                      <m:sSubPr>
                        <m:ctrlPr>
                          <a:rPr lang="en-US" i="1">
                            <a:latin typeface="Cambria Math" panose="02040503050406030204" pitchFamily="18" charset="0"/>
                          </a:rPr>
                        </m:ctrlPr>
                      </m:sSubPr>
                      <m:e>
                        <m:r>
                          <a:rPr lang="en-GB" i="1">
                            <a:latin typeface="Cambria Math" panose="02040503050406030204" pitchFamily="18" charset="0"/>
                          </a:rPr>
                          <m:t>𝑉</m:t>
                        </m:r>
                      </m:e>
                      <m:sub>
                        <m:r>
                          <a:rPr lang="en-GB" b="0" i="1" smtClean="0">
                            <a:latin typeface="Cambria Math" panose="02040503050406030204" pitchFamily="18" charset="0"/>
                          </a:rPr>
                          <m:t>3</m:t>
                        </m:r>
                      </m:sub>
                    </m:sSub>
                    <m:r>
                      <a:rPr lang="en-CA" i="1">
                        <a:latin typeface="Cambria Math" panose="02040503050406030204" pitchFamily="18" charset="0"/>
                      </a:rPr>
                      <m:t>=</m:t>
                    </m:r>
                    <m:r>
                      <a:rPr lang="en-GB" b="0" i="1" smtClean="0">
                        <a:latin typeface="Cambria Math" panose="02040503050406030204" pitchFamily="18" charset="0"/>
                      </a:rPr>
                      <m:t>12</m:t>
                    </m:r>
                    <m:r>
                      <a:rPr lang="en-GB" i="1">
                        <a:latin typeface="Cambria Math" panose="02040503050406030204" pitchFamily="18" charset="0"/>
                      </a:rPr>
                      <m:t> </m:t>
                    </m:r>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𝑠</m:t>
                    </m:r>
                  </m:oMath>
                </a14:m>
                <a:r>
                  <a:rPr lang="en-GB" dirty="0"/>
                  <a:t>,       </a:t>
                </a:r>
                <a14:m>
                  <m:oMath xmlns:m="http://schemas.openxmlformats.org/officeDocument/2006/math">
                    <m:r>
                      <a:rPr lang="el-GR" i="1" smtClean="0">
                        <a:latin typeface="Cambria Math" panose="02040503050406030204" pitchFamily="18" charset="0"/>
                        <a:ea typeface="Cambria Math" panose="02040503050406030204" pitchFamily="18" charset="0"/>
                      </a:rPr>
                      <m:t>𝜌</m:t>
                    </m:r>
                    <m:r>
                      <a:rPr lang="en-CA" i="1">
                        <a:latin typeface="Cambria Math" panose="02040503050406030204" pitchFamily="18" charset="0"/>
                      </a:rPr>
                      <m:t>=</m:t>
                    </m:r>
                    <m:r>
                      <a:rPr lang="en-GB" b="0" i="0" smtClean="0">
                        <a:latin typeface="Cambria Math" panose="02040503050406030204" pitchFamily="18" charset="0"/>
                      </a:rPr>
                      <m:t>1000 </m:t>
                    </m:r>
                    <m:r>
                      <m:rPr>
                        <m:sty m:val="p"/>
                      </m:rPr>
                      <a:rPr lang="en-GB" b="0" i="0" smtClean="0">
                        <a:latin typeface="Cambria Math" panose="02040503050406030204" pitchFamily="18" charset="0"/>
                      </a:rPr>
                      <m:t>kg</m:t>
                    </m:r>
                    <m:r>
                      <a:rPr lang="en-GB" b="0" i="0"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𝑚</m:t>
                        </m:r>
                      </m:e>
                      <m:sup>
                        <m:r>
                          <a:rPr lang="en-GB" b="0" i="1" smtClean="0">
                            <a:latin typeface="Cambria Math" panose="02040503050406030204" pitchFamily="18" charset="0"/>
                          </a:rPr>
                          <m:t>3</m:t>
                        </m:r>
                      </m:sup>
                    </m:sSup>
                  </m:oMath>
                </a14:m>
                <a:endParaRPr lang="en-GB" dirty="0"/>
              </a:p>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GB" b="0" i="1" smtClean="0">
                              <a:latin typeface="Cambria Math" panose="02040503050406030204" pitchFamily="18" charset="0"/>
                            </a:rPr>
                            <m:t>𝑄</m:t>
                          </m:r>
                        </m:e>
                        <m:sub>
                          <m:r>
                            <a:rPr lang="en-GB" b="0" i="1" smtClean="0">
                              <a:latin typeface="Cambria Math" panose="02040503050406030204" pitchFamily="18" charset="0"/>
                            </a:rPr>
                            <m:t>4</m:t>
                          </m:r>
                        </m:sub>
                      </m:sSub>
                      <m:r>
                        <a:rPr lang="en-CA" i="1">
                          <a:latin typeface="Cambria Math" panose="02040503050406030204" pitchFamily="18" charset="0"/>
                        </a:rPr>
                        <m:t>=</m:t>
                      </m:r>
                      <m:r>
                        <a:rPr lang="en-GB" b="0" i="1" smtClean="0">
                          <a:latin typeface="Cambria Math" panose="02040503050406030204" pitchFamily="18" charset="0"/>
                        </a:rPr>
                        <m:t>0.1 </m:t>
                      </m:r>
                      <m:sSup>
                        <m:sSupPr>
                          <m:ctrlPr>
                            <a:rPr lang="en-GB" b="0" i="1" smtClean="0">
                              <a:latin typeface="Cambria Math" panose="02040503050406030204" pitchFamily="18" charset="0"/>
                            </a:rPr>
                          </m:ctrlPr>
                        </m:sSupPr>
                        <m:e>
                          <m:r>
                            <a:rPr lang="en-GB" i="1">
                              <a:latin typeface="Cambria Math" panose="02040503050406030204" pitchFamily="18" charset="0"/>
                            </a:rPr>
                            <m:t>𝑚</m:t>
                          </m:r>
                        </m:e>
                        <m:sup>
                          <m:r>
                            <a:rPr lang="en-GB" b="0" i="1" smtClean="0">
                              <a:latin typeface="Cambria Math" panose="02040503050406030204" pitchFamily="18" charset="0"/>
                            </a:rPr>
                            <m:t>3</m:t>
                          </m:r>
                        </m:sup>
                      </m:sSup>
                      <m:r>
                        <a:rPr lang="en-GB" b="0" i="1" smtClean="0">
                          <a:latin typeface="Cambria Math" panose="02040503050406030204" pitchFamily="18" charset="0"/>
                        </a:rPr>
                        <m:t>/</m:t>
                      </m:r>
                      <m:r>
                        <a:rPr lang="en-GB" b="0" i="1" smtClean="0">
                          <a:latin typeface="Cambria Math" panose="02040503050406030204" pitchFamily="18" charset="0"/>
                        </a:rPr>
                        <m:t>𝑠</m:t>
                      </m:r>
                    </m:oMath>
                  </m:oMathPara>
                </a14:m>
                <a:endParaRPr lang="en-GH" dirty="0"/>
              </a:p>
            </p:txBody>
          </p:sp>
        </mc:Choice>
        <mc:Fallback xmlns="">
          <p:sp>
            <p:nvSpPr>
              <p:cNvPr id="10" name="TextBox 9">
                <a:extLst>
                  <a:ext uri="{FF2B5EF4-FFF2-40B4-BE49-F238E27FC236}">
                    <a16:creationId xmlns:a16="http://schemas.microsoft.com/office/drawing/2014/main" id="{23926D18-C3C6-220E-0E35-23D2E1705D35}"/>
                  </a:ext>
                </a:extLst>
              </p:cNvPr>
              <p:cNvSpPr txBox="1">
                <a:spLocks noRot="1" noChangeAspect="1" noMove="1" noResize="1" noEditPoints="1" noAdjustHandles="1" noChangeArrowheads="1" noChangeShapeType="1" noTextEdit="1"/>
              </p:cNvSpPr>
              <p:nvPr/>
            </p:nvSpPr>
            <p:spPr>
              <a:xfrm>
                <a:off x="3968498" y="514182"/>
                <a:ext cx="5093207" cy="1569660"/>
              </a:xfrm>
              <a:prstGeom prst="rect">
                <a:avLst/>
              </a:prstGeom>
              <a:blipFill>
                <a:blip r:embed="rId3"/>
                <a:stretch>
                  <a:fillRect l="-1794" t="-3101" b="-4651"/>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AA42FBB-E3BB-11D3-32F0-EEEE8D0AFFC5}"/>
                  </a:ext>
                </a:extLst>
              </p:cNvPr>
              <p:cNvSpPr txBox="1"/>
              <p:nvPr/>
            </p:nvSpPr>
            <p:spPr>
              <a:xfrm>
                <a:off x="3755899" y="2211919"/>
                <a:ext cx="4576572" cy="9548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A" sz="2400" b="1" i="1" smtClean="0">
                              <a:solidFill>
                                <a:schemeClr val="tx1"/>
                              </a:solidFill>
                              <a:latin typeface="Cambria Math" panose="02040503050406030204" pitchFamily="18" charset="0"/>
                            </a:rPr>
                          </m:ctrlPr>
                        </m:fPr>
                        <m:num>
                          <m:r>
                            <a:rPr lang="en-CA" sz="2400" b="1" i="1">
                              <a:solidFill>
                                <a:schemeClr val="tx1"/>
                              </a:solidFill>
                              <a:latin typeface="Cambria Math" panose="02040503050406030204" pitchFamily="18" charset="0"/>
                              <a:ea typeface="Cambria Math" panose="02040503050406030204" pitchFamily="18" charset="0"/>
                            </a:rPr>
                            <m:t>𝝏</m:t>
                          </m:r>
                        </m:num>
                        <m:den>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𝒕</m:t>
                          </m:r>
                        </m:den>
                      </m:f>
                      <m:nary>
                        <m:naryPr>
                          <m:ctrlPr>
                            <a:rPr lang="en-CA" sz="2400" b="1" i="1">
                              <a:solidFill>
                                <a:schemeClr val="tx1"/>
                              </a:solidFill>
                              <a:latin typeface="Cambria Math" panose="02040503050406030204" pitchFamily="18" charset="0"/>
                            </a:rPr>
                          </m:ctrlPr>
                        </m:naryPr>
                        <m:sub>
                          <m:r>
                            <m:rPr>
                              <m:brk m:alnAt="23"/>
                            </m:rPr>
                            <a:rPr lang="en-CA" sz="2400" b="1" i="1">
                              <a:solidFill>
                                <a:schemeClr val="tx1"/>
                              </a:solidFill>
                              <a:latin typeface="Cambria Math" panose="02040503050406030204" pitchFamily="18" charset="0"/>
                            </a:rPr>
                            <m:t>𝑪</m:t>
                          </m:r>
                          <m:r>
                            <a:rPr lang="en-CA" sz="2400" b="1" i="1">
                              <a:solidFill>
                                <a:schemeClr val="tx1"/>
                              </a:solidFill>
                              <a:latin typeface="Cambria Math" panose="02040503050406030204" pitchFamily="18" charset="0"/>
                            </a:rPr>
                            <m:t>𝑽</m:t>
                          </m:r>
                        </m:sub>
                        <m:sup/>
                        <m:e>
                          <m:r>
                            <a:rPr lang="en-CA" sz="2400" b="1" i="1">
                              <a:solidFill>
                                <a:schemeClr val="tx1"/>
                              </a:solidFill>
                              <a:latin typeface="Cambria Math" panose="02040503050406030204" pitchFamily="18" charset="0"/>
                              <a:ea typeface="Cambria Math" panose="02040503050406030204" pitchFamily="18" charset="0"/>
                            </a:rPr>
                            <m:t>𝝆</m:t>
                          </m:r>
                          <m:r>
                            <a:rPr lang="en-CA" sz="2400" b="1" i="1">
                              <a:solidFill>
                                <a:schemeClr val="tx1"/>
                              </a:solidFill>
                              <a:latin typeface="Cambria Math" panose="02040503050406030204" pitchFamily="18" charset="0"/>
                              <a:ea typeface="Cambria Math" panose="02040503050406030204" pitchFamily="18" charset="0"/>
                            </a:rPr>
                            <m:t>𝒅</m:t>
                          </m:r>
                          <m:r>
                            <a:rPr lang="en-CA" sz="2400" b="1" i="1">
                              <a:solidFill>
                                <a:schemeClr val="tx1"/>
                              </a:solidFill>
                              <a:latin typeface="Cambria Math" panose="02040503050406030204" pitchFamily="18" charset="0"/>
                              <a:ea typeface="Cambria Math" panose="02040503050406030204" pitchFamily="18" charset="0"/>
                            </a:rPr>
                            <m:t>∀</m:t>
                          </m:r>
                        </m:e>
                      </m:nary>
                      <m:r>
                        <a:rPr lang="en-CA" sz="2400" b="1">
                          <a:solidFill>
                            <a:schemeClr val="tx1"/>
                          </a:solidFill>
                          <a:latin typeface="Cambria Math" panose="02040503050406030204" pitchFamily="18" charset="0"/>
                          <a:ea typeface="Cambria Math" panose="02040503050406030204" pitchFamily="18" charset="0"/>
                        </a:rPr>
                        <m:t>+</m:t>
                      </m:r>
                      <m:nary>
                        <m:naryPr>
                          <m:ctrlPr>
                            <a:rPr lang="en-CA" sz="2400" b="1" i="1">
                              <a:solidFill>
                                <a:schemeClr val="tx1"/>
                              </a:solidFill>
                              <a:latin typeface="Cambria Math" panose="02040503050406030204" pitchFamily="18" charset="0"/>
                            </a:rPr>
                          </m:ctrlPr>
                        </m:naryPr>
                        <m:sub>
                          <m:r>
                            <m:rPr>
                              <m:brk m:alnAt="23"/>
                            </m:rPr>
                            <a:rPr lang="en-CA" sz="2400" b="1" i="1">
                              <a:solidFill>
                                <a:schemeClr val="tx1"/>
                              </a:solidFill>
                              <a:latin typeface="Cambria Math" panose="02040503050406030204" pitchFamily="18" charset="0"/>
                            </a:rPr>
                            <m:t>𝑪</m:t>
                          </m:r>
                          <m:r>
                            <a:rPr lang="en-CA" sz="2400" b="1" i="1">
                              <a:solidFill>
                                <a:schemeClr val="tx1"/>
                              </a:solidFill>
                              <a:latin typeface="Cambria Math" panose="02040503050406030204" pitchFamily="18" charset="0"/>
                            </a:rPr>
                            <m:t>𝑺</m:t>
                          </m:r>
                        </m:sub>
                        <m:sup/>
                        <m:e>
                          <m:r>
                            <a:rPr lang="en-CA" sz="2400" b="1" i="1">
                              <a:solidFill>
                                <a:schemeClr val="tx1"/>
                              </a:solidFill>
                              <a:latin typeface="Cambria Math" panose="02040503050406030204" pitchFamily="18" charset="0"/>
                              <a:ea typeface="Cambria Math" panose="02040503050406030204" pitchFamily="18" charset="0"/>
                            </a:rPr>
                            <m:t>𝝆</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𝑽</m:t>
                              </m:r>
                            </m:e>
                          </m:acc>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𝒅</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𝑨</m:t>
                              </m:r>
                            </m:e>
                          </m:acc>
                        </m:e>
                      </m:nary>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𝟎</m:t>
                      </m:r>
                    </m:oMath>
                  </m:oMathPara>
                </a14:m>
                <a:endParaRPr lang="en-GH" dirty="0"/>
              </a:p>
            </p:txBody>
          </p:sp>
        </mc:Choice>
        <mc:Fallback xmlns="">
          <p:sp>
            <p:nvSpPr>
              <p:cNvPr id="12" name="TextBox 11">
                <a:extLst>
                  <a:ext uri="{FF2B5EF4-FFF2-40B4-BE49-F238E27FC236}">
                    <a16:creationId xmlns:a16="http://schemas.microsoft.com/office/drawing/2014/main" id="{EAA42FBB-E3BB-11D3-32F0-EEEE8D0AFFC5}"/>
                  </a:ext>
                </a:extLst>
              </p:cNvPr>
              <p:cNvSpPr txBox="1">
                <a:spLocks noRot="1" noChangeAspect="1" noMove="1" noResize="1" noEditPoints="1" noAdjustHandles="1" noChangeArrowheads="1" noChangeShapeType="1" noTextEdit="1"/>
              </p:cNvSpPr>
              <p:nvPr/>
            </p:nvSpPr>
            <p:spPr>
              <a:xfrm>
                <a:off x="3755899" y="2211919"/>
                <a:ext cx="4576572" cy="954877"/>
              </a:xfrm>
              <a:prstGeom prst="rect">
                <a:avLst/>
              </a:prstGeom>
              <a:blipFill>
                <a:blip r:embed="rId4"/>
                <a:stretch>
                  <a:fillRect/>
                </a:stretch>
              </a:blipFill>
            </p:spPr>
            <p:txBody>
              <a:bodyPr/>
              <a:lstStyle/>
              <a:p>
                <a:r>
                  <a:rPr lang="en-GH">
                    <a:noFill/>
                  </a:rPr>
                  <a:t> </a:t>
                </a:r>
              </a:p>
            </p:txBody>
          </p:sp>
        </mc:Fallback>
      </mc:AlternateContent>
      <p:sp>
        <p:nvSpPr>
          <p:cNvPr id="13" name="TextBox 12">
            <a:extLst>
              <a:ext uri="{FF2B5EF4-FFF2-40B4-BE49-F238E27FC236}">
                <a16:creationId xmlns:a16="http://schemas.microsoft.com/office/drawing/2014/main" id="{8A179AC7-5866-5CB0-F530-C2B5034F6017}"/>
              </a:ext>
            </a:extLst>
          </p:cNvPr>
          <p:cNvSpPr txBox="1"/>
          <p:nvPr/>
        </p:nvSpPr>
        <p:spPr>
          <a:xfrm>
            <a:off x="2968375" y="3429000"/>
            <a:ext cx="5093207" cy="1569660"/>
          </a:xfrm>
          <a:prstGeom prst="rect">
            <a:avLst/>
          </a:prstGeom>
          <a:noFill/>
        </p:spPr>
        <p:txBody>
          <a:bodyPr wrap="square">
            <a:spAutoFit/>
          </a:bodyPr>
          <a:lstStyle/>
          <a:p>
            <a:r>
              <a:rPr lang="en-US" dirty="0">
                <a:latin typeface="+mn-lt"/>
              </a:rPr>
              <a:t>Assumptions:</a:t>
            </a:r>
          </a:p>
          <a:p>
            <a:pPr marL="457200" indent="-457200">
              <a:buAutoNum type="arabicPeriod"/>
            </a:pPr>
            <a:r>
              <a:rPr lang="en-US" dirty="0">
                <a:latin typeface="+mn-lt"/>
              </a:rPr>
              <a:t>Steady flow</a:t>
            </a:r>
          </a:p>
          <a:p>
            <a:pPr marL="457200" indent="-457200">
              <a:buAutoNum type="arabicPeriod"/>
            </a:pPr>
            <a:r>
              <a:rPr lang="en-US" dirty="0">
                <a:latin typeface="+mn-lt"/>
              </a:rPr>
              <a:t>Incompressible flow</a:t>
            </a:r>
          </a:p>
          <a:p>
            <a:pPr marL="457200" indent="-457200">
              <a:buAutoNum type="arabicPeriod"/>
            </a:pPr>
            <a:r>
              <a:rPr lang="en-US" dirty="0">
                <a:latin typeface="+mn-lt"/>
              </a:rPr>
              <a:t>Uniform flow at all sections </a:t>
            </a:r>
            <a:endParaRPr lang="en-GH" dirty="0"/>
          </a:p>
        </p:txBody>
      </p:sp>
      <p:sp>
        <p:nvSpPr>
          <p:cNvPr id="14" name="TextBox 13">
            <a:extLst>
              <a:ext uri="{FF2B5EF4-FFF2-40B4-BE49-F238E27FC236}">
                <a16:creationId xmlns:a16="http://schemas.microsoft.com/office/drawing/2014/main" id="{B0930CF8-22CB-57D5-5AA9-1D7A9253A27E}"/>
              </a:ext>
            </a:extLst>
          </p:cNvPr>
          <p:cNvSpPr txBox="1"/>
          <p:nvPr/>
        </p:nvSpPr>
        <p:spPr>
          <a:xfrm>
            <a:off x="841249" y="5255577"/>
            <a:ext cx="7726680" cy="461665"/>
          </a:xfrm>
          <a:prstGeom prst="rect">
            <a:avLst/>
          </a:prstGeom>
          <a:noFill/>
        </p:spPr>
        <p:txBody>
          <a:bodyPr wrap="square">
            <a:spAutoFit/>
          </a:bodyPr>
          <a:lstStyle/>
          <a:p>
            <a:r>
              <a:rPr lang="en-US" dirty="0">
                <a:latin typeface="+mn-lt"/>
              </a:rPr>
              <a:t>Let’s also assume that the flow out of Section 2 is outwards</a:t>
            </a:r>
          </a:p>
        </p:txBody>
      </p:sp>
      <p:sp>
        <p:nvSpPr>
          <p:cNvPr id="3" name="Slide Number Placeholder 2">
            <a:extLst>
              <a:ext uri="{FF2B5EF4-FFF2-40B4-BE49-F238E27FC236}">
                <a16:creationId xmlns:a16="http://schemas.microsoft.com/office/drawing/2014/main" id="{AE8BD468-45D5-5087-1A27-177B084463C0}"/>
              </a:ext>
            </a:extLst>
          </p:cNvPr>
          <p:cNvSpPr>
            <a:spLocks noGrp="1"/>
          </p:cNvSpPr>
          <p:nvPr>
            <p:ph type="sldNum" sz="quarter" idx="12"/>
          </p:nvPr>
        </p:nvSpPr>
        <p:spPr/>
        <p:txBody>
          <a:bodyPr/>
          <a:lstStyle/>
          <a:p>
            <a:fld id="{49FCB85E-0F77-4855-90A7-7A1B61BB679B}" type="slidenum">
              <a:rPr lang="en-CA" smtClean="0"/>
              <a:t>23</a:t>
            </a:fld>
            <a:endParaRPr lang="en-CA"/>
          </a:p>
        </p:txBody>
      </p:sp>
    </p:spTree>
    <p:extLst>
      <p:ext uri="{BB962C8B-B14F-4D97-AF65-F5344CB8AC3E}">
        <p14:creationId xmlns:p14="http://schemas.microsoft.com/office/powerpoint/2010/main" val="420707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19"/>
            <a:ext cx="9144000" cy="461665"/>
          </a:xfrm>
        </p:spPr>
        <p:txBody>
          <a:bodyPr>
            <a:normAutofit/>
          </a:bodyPr>
          <a:lstStyle/>
          <a:p>
            <a:r>
              <a:rPr lang="en-CA" sz="2400" dirty="0">
                <a:solidFill>
                  <a:schemeClr val="tx1"/>
                </a:solidFill>
                <a:latin typeface="+mn-lt"/>
                <a:ea typeface="Verdana" panose="020B0604030504040204" pitchFamily="34" charset="0"/>
                <a:cs typeface="Verdana" panose="020B0604030504040204" pitchFamily="34" charset="0"/>
              </a:rPr>
              <a:t>Example 1 - Solution</a:t>
            </a:r>
          </a:p>
        </p:txBody>
      </p:sp>
      <p:sp>
        <p:nvSpPr>
          <p:cNvPr id="10" name="TextBox 9">
            <a:extLst>
              <a:ext uri="{FF2B5EF4-FFF2-40B4-BE49-F238E27FC236}">
                <a16:creationId xmlns:a16="http://schemas.microsoft.com/office/drawing/2014/main" id="{23926D18-C3C6-220E-0E35-23D2E1705D35}"/>
              </a:ext>
            </a:extLst>
          </p:cNvPr>
          <p:cNvSpPr txBox="1"/>
          <p:nvPr/>
        </p:nvSpPr>
        <p:spPr>
          <a:xfrm>
            <a:off x="64008" y="465284"/>
            <a:ext cx="4764024" cy="830997"/>
          </a:xfrm>
          <a:prstGeom prst="rect">
            <a:avLst/>
          </a:prstGeom>
          <a:noFill/>
        </p:spPr>
        <p:txBody>
          <a:bodyPr wrap="square">
            <a:spAutoFit/>
          </a:bodyPr>
          <a:lstStyle/>
          <a:p>
            <a:r>
              <a:rPr lang="en-US" dirty="0">
                <a:latin typeface="+mn-lt"/>
              </a:rPr>
              <a:t>The general control volume equation</a:t>
            </a:r>
          </a:p>
          <a:p>
            <a:r>
              <a:rPr lang="en-US" dirty="0">
                <a:latin typeface="+mn-lt"/>
              </a:rPr>
              <a:t> becomes</a:t>
            </a:r>
            <a:endParaRPr lang="en-GH"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4FA921B-067E-B1AB-8F62-26F11830465E}"/>
                  </a:ext>
                </a:extLst>
              </p:cNvPr>
              <p:cNvSpPr txBox="1"/>
              <p:nvPr/>
            </p:nvSpPr>
            <p:spPr>
              <a:xfrm>
                <a:off x="289562" y="1383836"/>
                <a:ext cx="1780793" cy="637290"/>
              </a:xfrm>
              <a:prstGeom prst="rect">
                <a:avLst/>
              </a:prstGeom>
              <a:noFill/>
            </p:spPr>
            <p:txBody>
              <a:bodyPr wrap="square" tIns="0">
                <a:spAutoFit/>
              </a:bodyPr>
              <a:lstStyle/>
              <a:p>
                <a:pPr marL="0" indent="0">
                  <a:buNone/>
                </a:pPr>
                <a14:m>
                  <m:oMathPara xmlns:m="http://schemas.openxmlformats.org/officeDocument/2006/math">
                    <m:oMathParaPr>
                      <m:jc m:val="centerGroup"/>
                    </m:oMathParaPr>
                    <m:oMath xmlns:m="http://schemas.openxmlformats.org/officeDocument/2006/math">
                      <m:nary>
                        <m:naryPr>
                          <m:chr m:val="∑"/>
                          <m:limLoc m:val="subSup"/>
                          <m:ctrlPr>
                            <a:rPr lang="en-CA" sz="1800" b="1" i="1" smtClean="0">
                              <a:solidFill>
                                <a:schemeClr val="tx1"/>
                              </a:solidFill>
                              <a:latin typeface="Cambria Math" panose="02040503050406030204" pitchFamily="18" charset="0"/>
                              <a:ea typeface="Cambria Math" panose="02040503050406030204" pitchFamily="18" charset="0"/>
                            </a:rPr>
                          </m:ctrlPr>
                        </m:naryPr>
                        <m:sub>
                          <m:r>
                            <m:rPr>
                              <m:brk m:alnAt="25"/>
                            </m:rPr>
                            <a:rPr lang="en-CA" sz="1800" b="1" i="1">
                              <a:solidFill>
                                <a:schemeClr val="tx1"/>
                              </a:solidFill>
                              <a:latin typeface="Cambria Math" panose="02040503050406030204" pitchFamily="18" charset="0"/>
                              <a:ea typeface="Cambria Math" panose="02040503050406030204" pitchFamily="18" charset="0"/>
                            </a:rPr>
                            <m:t>𝑪</m:t>
                          </m:r>
                          <m:r>
                            <a:rPr lang="en-CA" sz="1800" b="1" i="1">
                              <a:solidFill>
                                <a:schemeClr val="tx1"/>
                              </a:solidFill>
                              <a:latin typeface="Cambria Math" panose="02040503050406030204" pitchFamily="18" charset="0"/>
                              <a:ea typeface="Cambria Math" panose="02040503050406030204" pitchFamily="18" charset="0"/>
                            </a:rPr>
                            <m:t>𝑺</m:t>
                          </m:r>
                        </m:sub>
                        <m:sup/>
                        <m:e>
                          <m:acc>
                            <m:accPr>
                              <m:chr m:val="⃗"/>
                              <m:ctrlPr>
                                <a:rPr lang="en-CA" sz="1800" b="1" i="1">
                                  <a:solidFill>
                                    <a:schemeClr val="tx1"/>
                                  </a:solidFill>
                                  <a:latin typeface="Cambria Math" panose="02040503050406030204" pitchFamily="18" charset="0"/>
                                  <a:ea typeface="Cambria Math" panose="02040503050406030204" pitchFamily="18" charset="0"/>
                                </a:rPr>
                              </m:ctrlPr>
                            </m:accPr>
                            <m:e>
                              <m:r>
                                <a:rPr lang="en-CA" sz="1800" b="1" i="1">
                                  <a:solidFill>
                                    <a:schemeClr val="tx1"/>
                                  </a:solidFill>
                                  <a:latin typeface="Cambria Math" panose="02040503050406030204" pitchFamily="18" charset="0"/>
                                  <a:ea typeface="Cambria Math" panose="02040503050406030204" pitchFamily="18" charset="0"/>
                                </a:rPr>
                                <m:t>𝑽</m:t>
                              </m:r>
                            </m:e>
                          </m:acc>
                          <m:r>
                            <a:rPr lang="en-CA" sz="1800" b="1" i="1">
                              <a:solidFill>
                                <a:schemeClr val="tx1"/>
                              </a:solidFill>
                              <a:latin typeface="Cambria Math" panose="02040503050406030204" pitchFamily="18" charset="0"/>
                              <a:ea typeface="Cambria Math" panose="02040503050406030204" pitchFamily="18" charset="0"/>
                            </a:rPr>
                            <m:t>∙</m:t>
                          </m:r>
                          <m:acc>
                            <m:accPr>
                              <m:chr m:val="⃗"/>
                              <m:ctrlPr>
                                <a:rPr lang="en-CA" sz="1800" b="1" i="1">
                                  <a:solidFill>
                                    <a:schemeClr val="tx1"/>
                                  </a:solidFill>
                                  <a:latin typeface="Cambria Math" panose="02040503050406030204" pitchFamily="18" charset="0"/>
                                  <a:ea typeface="Cambria Math" panose="02040503050406030204" pitchFamily="18" charset="0"/>
                                </a:rPr>
                              </m:ctrlPr>
                            </m:accPr>
                            <m:e>
                              <m:r>
                                <a:rPr lang="en-CA" sz="1800" b="1" i="1">
                                  <a:solidFill>
                                    <a:schemeClr val="tx1"/>
                                  </a:solidFill>
                                  <a:latin typeface="Cambria Math" panose="02040503050406030204" pitchFamily="18" charset="0"/>
                                  <a:ea typeface="Cambria Math" panose="02040503050406030204" pitchFamily="18" charset="0"/>
                                </a:rPr>
                                <m:t>𝑨</m:t>
                              </m:r>
                            </m:e>
                          </m:acc>
                        </m:e>
                      </m:nary>
                      <m:r>
                        <a:rPr lang="en-CA" sz="1800" b="1" i="1">
                          <a:solidFill>
                            <a:schemeClr val="tx1"/>
                          </a:solidFill>
                          <a:latin typeface="Cambria Math" panose="02040503050406030204" pitchFamily="18" charset="0"/>
                          <a:ea typeface="Cambria Math" panose="02040503050406030204" pitchFamily="18" charset="0"/>
                        </a:rPr>
                        <m:t>=</m:t>
                      </m:r>
                      <m:r>
                        <a:rPr lang="en-CA" sz="1800" b="1" i="1">
                          <a:solidFill>
                            <a:schemeClr val="tx1"/>
                          </a:solidFill>
                          <a:latin typeface="Cambria Math" panose="02040503050406030204" pitchFamily="18" charset="0"/>
                          <a:ea typeface="Cambria Math" panose="02040503050406030204" pitchFamily="18" charset="0"/>
                        </a:rPr>
                        <m:t>𝟎</m:t>
                      </m:r>
                    </m:oMath>
                  </m:oMathPara>
                </a14:m>
                <a:endParaRPr lang="en-CA" sz="1800" b="1" dirty="0">
                  <a:solidFill>
                    <a:schemeClr val="tx1"/>
                  </a:solidFill>
                  <a:latin typeface="+mn-lt"/>
                </a:endParaRPr>
              </a:p>
            </p:txBody>
          </p:sp>
        </mc:Choice>
        <mc:Fallback xmlns="">
          <p:sp>
            <p:nvSpPr>
              <p:cNvPr id="5" name="TextBox 4">
                <a:extLst>
                  <a:ext uri="{FF2B5EF4-FFF2-40B4-BE49-F238E27FC236}">
                    <a16:creationId xmlns:a16="http://schemas.microsoft.com/office/drawing/2014/main" id="{94FA921B-067E-B1AB-8F62-26F11830465E}"/>
                  </a:ext>
                </a:extLst>
              </p:cNvPr>
              <p:cNvSpPr txBox="1">
                <a:spLocks noRot="1" noChangeAspect="1" noMove="1" noResize="1" noEditPoints="1" noAdjustHandles="1" noChangeArrowheads="1" noChangeShapeType="1" noTextEdit="1"/>
              </p:cNvSpPr>
              <p:nvPr/>
            </p:nvSpPr>
            <p:spPr>
              <a:xfrm>
                <a:off x="289562" y="1383836"/>
                <a:ext cx="1780793" cy="637290"/>
              </a:xfrm>
              <a:prstGeom prst="rect">
                <a:avLst/>
              </a:prstGeom>
              <a:blipFill>
                <a:blip r:embed="rId2"/>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35B32D-CB54-9ABF-F57F-E05AC88196DA}"/>
                  </a:ext>
                </a:extLst>
              </p:cNvPr>
              <p:cNvSpPr txBox="1"/>
              <p:nvPr/>
            </p:nvSpPr>
            <p:spPr>
              <a:xfrm>
                <a:off x="-27432" y="2222036"/>
                <a:ext cx="5772911" cy="392223"/>
              </a:xfrm>
              <a:prstGeom prst="rect">
                <a:avLst/>
              </a:prstGeom>
              <a:noFill/>
            </p:spPr>
            <p:txBody>
              <a:bodyPr wrap="square" tIns="0">
                <a:spAutoFit/>
              </a:bodyPr>
              <a:lstStyle/>
              <a:p>
                <a:pPr marL="0" indent="0">
                  <a:buNone/>
                </a:pPr>
                <a14:m>
                  <m:oMathPara xmlns:m="http://schemas.openxmlformats.org/officeDocument/2006/math">
                    <m:oMathParaPr>
                      <m:jc m:val="left"/>
                    </m:oMathParaPr>
                    <m:oMath xmlns:m="http://schemas.openxmlformats.org/officeDocument/2006/math">
                      <m:r>
                        <a:rPr lang="en-CA" sz="2000" b="1" i="1" smtClean="0">
                          <a:solidFill>
                            <a:schemeClr val="tx1"/>
                          </a:solidFill>
                          <a:latin typeface="Cambria Math" panose="02040503050406030204" pitchFamily="18" charset="0"/>
                          <a:ea typeface="Cambria Math" panose="02040503050406030204" pitchFamily="18" charset="0"/>
                        </a:rPr>
                        <m:t>⟹</m:t>
                      </m:r>
                      <m:r>
                        <a:rPr lang="en-GB" sz="2000" b="1" i="1" smtClean="0">
                          <a:solidFill>
                            <a:schemeClr val="tx1"/>
                          </a:solidFill>
                          <a:latin typeface="Cambria Math" panose="02040503050406030204" pitchFamily="18" charset="0"/>
                          <a:ea typeface="Cambria Math" panose="02040503050406030204" pitchFamily="18" charset="0"/>
                        </a:rPr>
                        <m:t>   </m:t>
                      </m:r>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a:latin typeface="Cambria Math" panose="02040503050406030204" pitchFamily="18" charset="0"/>
                                  <a:ea typeface="Cambria Math" panose="02040503050406030204" pitchFamily="18" charset="0"/>
                                </a:rPr>
                                <m:t>𝑽</m:t>
                              </m:r>
                            </m:e>
                            <m:sub>
                              <m:r>
                                <a:rPr lang="en-GB" sz="2000" b="1" i="1">
                                  <a:latin typeface="Cambria Math" panose="02040503050406030204" pitchFamily="18" charset="0"/>
                                  <a:ea typeface="Cambria Math" panose="02040503050406030204" pitchFamily="18" charset="0"/>
                                </a:rPr>
                                <m:t>𝟏</m:t>
                              </m:r>
                            </m:sub>
                          </m:sSub>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smtClean="0">
                                  <a:latin typeface="Cambria Math" panose="02040503050406030204" pitchFamily="18" charset="0"/>
                                  <a:ea typeface="Cambria Math" panose="02040503050406030204" pitchFamily="18" charset="0"/>
                                </a:rPr>
                                <m:t>𝑨</m:t>
                              </m:r>
                            </m:e>
                            <m:sub>
                              <m:r>
                                <a:rPr lang="en-GB" sz="2000" b="1" i="1">
                                  <a:latin typeface="Cambria Math" panose="02040503050406030204" pitchFamily="18" charset="0"/>
                                  <a:ea typeface="Cambria Math" panose="02040503050406030204" pitchFamily="18" charset="0"/>
                                </a:rPr>
                                <m:t>𝟏</m:t>
                              </m:r>
                            </m:sub>
                          </m:sSub>
                        </m:e>
                      </m:acc>
                      <m:r>
                        <a:rPr lang="en-GB" sz="2000" b="1" i="1" smtClean="0">
                          <a:solidFill>
                            <a:schemeClr val="tx1"/>
                          </a:solidFill>
                          <a:latin typeface="Cambria Math" panose="02040503050406030204" pitchFamily="18" charset="0"/>
                          <a:ea typeface="Cambria Math" panose="02040503050406030204" pitchFamily="18" charset="0"/>
                        </a:rPr>
                        <m:t>+</m:t>
                      </m:r>
                      <m:acc>
                        <m:accPr>
                          <m:chr m:val="⃗"/>
                          <m:ctrlPr>
                            <a:rPr lang="en-CA" sz="2000" b="1" i="1">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a:latin typeface="Cambria Math" panose="02040503050406030204" pitchFamily="18" charset="0"/>
                                  <a:ea typeface="Cambria Math" panose="02040503050406030204" pitchFamily="18" charset="0"/>
                                </a:rPr>
                                <m:t>𝑽</m:t>
                              </m:r>
                            </m:e>
                            <m:sub>
                              <m:r>
                                <a:rPr lang="en-GB" sz="2000" b="1" i="1" smtClean="0">
                                  <a:latin typeface="Cambria Math" panose="02040503050406030204" pitchFamily="18" charset="0"/>
                                  <a:ea typeface="Cambria Math" panose="02040503050406030204" pitchFamily="18" charset="0"/>
                                </a:rPr>
                                <m:t>𝟐</m:t>
                              </m:r>
                            </m:sub>
                          </m:sSub>
                        </m:e>
                      </m:acc>
                      <m:r>
                        <a:rPr lang="en-CA" sz="2000" b="1" i="1">
                          <a:latin typeface="Cambria Math" panose="02040503050406030204" pitchFamily="18" charset="0"/>
                          <a:ea typeface="Cambria Math" panose="02040503050406030204" pitchFamily="18" charset="0"/>
                        </a:rPr>
                        <m:t>∙</m:t>
                      </m:r>
                      <m:acc>
                        <m:accPr>
                          <m:chr m:val="⃗"/>
                          <m:ctrlPr>
                            <a:rPr lang="en-CA" sz="2000" b="1" i="1">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a:latin typeface="Cambria Math" panose="02040503050406030204" pitchFamily="18" charset="0"/>
                                  <a:ea typeface="Cambria Math" panose="02040503050406030204" pitchFamily="18" charset="0"/>
                                </a:rPr>
                                <m:t>𝑨</m:t>
                              </m:r>
                            </m:e>
                            <m:sub>
                              <m:r>
                                <a:rPr lang="en-GB" sz="2000" b="1" i="1" smtClean="0">
                                  <a:latin typeface="Cambria Math" panose="02040503050406030204" pitchFamily="18" charset="0"/>
                                  <a:ea typeface="Cambria Math" panose="02040503050406030204" pitchFamily="18" charset="0"/>
                                </a:rPr>
                                <m:t>𝟐</m:t>
                              </m:r>
                            </m:sub>
                          </m:sSub>
                        </m:e>
                      </m:acc>
                      <m:r>
                        <a:rPr lang="en-GB" sz="2000" b="1" i="1" smtClean="0">
                          <a:latin typeface="Cambria Math" panose="02040503050406030204" pitchFamily="18" charset="0"/>
                          <a:ea typeface="Cambria Math" panose="02040503050406030204" pitchFamily="18" charset="0"/>
                        </a:rPr>
                        <m:t>+</m:t>
                      </m:r>
                      <m:acc>
                        <m:accPr>
                          <m:chr m:val="⃗"/>
                          <m:ctrlPr>
                            <a:rPr lang="en-CA" sz="2000" b="1" i="1">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a:latin typeface="Cambria Math" panose="02040503050406030204" pitchFamily="18" charset="0"/>
                                  <a:ea typeface="Cambria Math" panose="02040503050406030204" pitchFamily="18" charset="0"/>
                                </a:rPr>
                                <m:t>𝑽</m:t>
                              </m:r>
                            </m:e>
                            <m:sub>
                              <m:r>
                                <a:rPr lang="en-GB" sz="2000" b="1" i="1" smtClean="0">
                                  <a:latin typeface="Cambria Math" panose="02040503050406030204" pitchFamily="18" charset="0"/>
                                  <a:ea typeface="Cambria Math" panose="02040503050406030204" pitchFamily="18" charset="0"/>
                                </a:rPr>
                                <m:t>𝟑</m:t>
                              </m:r>
                            </m:sub>
                          </m:sSub>
                        </m:e>
                      </m:acc>
                      <m:r>
                        <a:rPr lang="en-CA" sz="2000" b="1" i="1">
                          <a:latin typeface="Cambria Math" panose="02040503050406030204" pitchFamily="18" charset="0"/>
                          <a:ea typeface="Cambria Math" panose="02040503050406030204" pitchFamily="18" charset="0"/>
                        </a:rPr>
                        <m:t>∙</m:t>
                      </m:r>
                      <m:acc>
                        <m:accPr>
                          <m:chr m:val="⃗"/>
                          <m:ctrlPr>
                            <a:rPr lang="en-CA" sz="2000" b="1" i="1">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a:latin typeface="Cambria Math" panose="02040503050406030204" pitchFamily="18" charset="0"/>
                                  <a:ea typeface="Cambria Math" panose="02040503050406030204" pitchFamily="18" charset="0"/>
                                </a:rPr>
                                <m:t>𝑨</m:t>
                              </m:r>
                            </m:e>
                            <m:sub>
                              <m:r>
                                <a:rPr lang="en-GB" sz="2000" b="1" i="1" smtClean="0">
                                  <a:latin typeface="Cambria Math" panose="02040503050406030204" pitchFamily="18" charset="0"/>
                                  <a:ea typeface="Cambria Math" panose="02040503050406030204" pitchFamily="18" charset="0"/>
                                </a:rPr>
                                <m:t>𝟑</m:t>
                              </m:r>
                            </m:sub>
                          </m:sSub>
                        </m:e>
                      </m:acc>
                      <m:r>
                        <a:rPr lang="en-GB" sz="2000" b="1" i="1" smtClean="0">
                          <a:latin typeface="Cambria Math" panose="02040503050406030204" pitchFamily="18" charset="0"/>
                          <a:ea typeface="Cambria Math" panose="02040503050406030204" pitchFamily="18" charset="0"/>
                        </a:rPr>
                        <m:t>+</m:t>
                      </m:r>
                      <m:sSub>
                        <m:sSubPr>
                          <m:ctrlPr>
                            <a:rPr lang="en-GB" sz="2000" b="1" i="1" smtClean="0">
                              <a:latin typeface="Cambria Math" panose="02040503050406030204" pitchFamily="18" charset="0"/>
                              <a:ea typeface="Cambria Math" panose="02040503050406030204" pitchFamily="18" charset="0"/>
                            </a:rPr>
                          </m:ctrlPr>
                        </m:sSubPr>
                        <m:e>
                          <m:r>
                            <a:rPr lang="en-GB" sz="2000" b="1" i="1" smtClean="0">
                              <a:latin typeface="Cambria Math" panose="02040503050406030204" pitchFamily="18" charset="0"/>
                              <a:ea typeface="Cambria Math" panose="02040503050406030204" pitchFamily="18" charset="0"/>
                            </a:rPr>
                            <m:t>𝑸</m:t>
                          </m:r>
                        </m:e>
                        <m:sub>
                          <m:r>
                            <a:rPr lang="en-GB" sz="2000" b="1" i="1" smtClean="0">
                              <a:latin typeface="Cambria Math" panose="02040503050406030204" pitchFamily="18" charset="0"/>
                              <a:ea typeface="Cambria Math" panose="02040503050406030204" pitchFamily="18" charset="0"/>
                            </a:rPr>
                            <m:t>𝟒</m:t>
                          </m:r>
                        </m:sub>
                      </m:sSub>
                      <m:r>
                        <a:rPr lang="en-GB" sz="2000" b="1" i="1" smtClean="0">
                          <a:latin typeface="Cambria Math" panose="02040503050406030204" pitchFamily="18" charset="0"/>
                          <a:ea typeface="Cambria Math" panose="02040503050406030204" pitchFamily="18" charset="0"/>
                        </a:rPr>
                        <m:t>=</m:t>
                      </m:r>
                      <m:r>
                        <a:rPr lang="en-GB" sz="2000" b="1" i="1" smtClean="0">
                          <a:latin typeface="Cambria Math" panose="02040503050406030204" pitchFamily="18" charset="0"/>
                          <a:ea typeface="Cambria Math" panose="02040503050406030204" pitchFamily="18" charset="0"/>
                        </a:rPr>
                        <m:t>𝟎</m:t>
                      </m:r>
                    </m:oMath>
                  </m:oMathPara>
                </a14:m>
                <a:endParaRPr lang="en-CA" sz="2000" b="1" dirty="0">
                  <a:solidFill>
                    <a:schemeClr val="tx1"/>
                  </a:solidFill>
                  <a:latin typeface="+mn-lt"/>
                </a:endParaRPr>
              </a:p>
            </p:txBody>
          </p:sp>
        </mc:Choice>
        <mc:Fallback xmlns="">
          <p:sp>
            <p:nvSpPr>
              <p:cNvPr id="6" name="TextBox 5">
                <a:extLst>
                  <a:ext uri="{FF2B5EF4-FFF2-40B4-BE49-F238E27FC236}">
                    <a16:creationId xmlns:a16="http://schemas.microsoft.com/office/drawing/2014/main" id="{F635B32D-CB54-9ABF-F57F-E05AC88196DA}"/>
                  </a:ext>
                </a:extLst>
              </p:cNvPr>
              <p:cNvSpPr txBox="1">
                <a:spLocks noRot="1" noChangeAspect="1" noMove="1" noResize="1" noEditPoints="1" noAdjustHandles="1" noChangeArrowheads="1" noChangeShapeType="1" noTextEdit="1"/>
              </p:cNvSpPr>
              <p:nvPr/>
            </p:nvSpPr>
            <p:spPr>
              <a:xfrm>
                <a:off x="-27432" y="2222036"/>
                <a:ext cx="5772911" cy="392223"/>
              </a:xfrm>
              <a:prstGeom prst="rect">
                <a:avLst/>
              </a:prstGeom>
              <a:blipFill>
                <a:blip r:embed="rId3"/>
                <a:stretch>
                  <a:fillRect b="-12500"/>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C3BD36F-C634-0F4D-5FE6-5DE9417CBF5B}"/>
                  </a:ext>
                </a:extLst>
              </p:cNvPr>
              <p:cNvSpPr txBox="1"/>
              <p:nvPr/>
            </p:nvSpPr>
            <p:spPr>
              <a:xfrm>
                <a:off x="335280" y="2774120"/>
                <a:ext cx="5772911" cy="392223"/>
              </a:xfrm>
              <a:prstGeom prst="rect">
                <a:avLst/>
              </a:prstGeom>
              <a:noFill/>
            </p:spPr>
            <p:txBody>
              <a:bodyPr wrap="square" tIns="0">
                <a:spAutoFit/>
              </a:bodyPr>
              <a:lstStyle/>
              <a:p>
                <a:pPr marL="0" indent="0">
                  <a:buNone/>
                </a:pPr>
                <a14:m>
                  <m:oMathPara xmlns:m="http://schemas.openxmlformats.org/officeDocument/2006/math">
                    <m:oMathParaPr>
                      <m:jc m:val="left"/>
                    </m:oMathParaPr>
                    <m:oMath xmlns:m="http://schemas.openxmlformats.org/officeDocument/2006/math">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a:latin typeface="Cambria Math" panose="02040503050406030204" pitchFamily="18" charset="0"/>
                                  <a:ea typeface="Cambria Math" panose="02040503050406030204" pitchFamily="18" charset="0"/>
                                </a:rPr>
                                <m:t>𝑽</m:t>
                              </m:r>
                            </m:e>
                            <m:sub>
                              <m:r>
                                <a:rPr lang="en-GB" sz="2000" b="1" i="1">
                                  <a:latin typeface="Cambria Math" panose="02040503050406030204" pitchFamily="18" charset="0"/>
                                  <a:ea typeface="Cambria Math" panose="02040503050406030204" pitchFamily="18" charset="0"/>
                                </a:rPr>
                                <m:t>𝟏</m:t>
                              </m:r>
                            </m:sub>
                          </m:sSub>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smtClean="0">
                                  <a:latin typeface="Cambria Math" panose="02040503050406030204" pitchFamily="18" charset="0"/>
                                  <a:ea typeface="Cambria Math" panose="02040503050406030204" pitchFamily="18" charset="0"/>
                                </a:rPr>
                                <m:t>𝑨</m:t>
                              </m:r>
                            </m:e>
                            <m:sub>
                              <m:r>
                                <a:rPr lang="en-GB" sz="2000" b="1" i="1">
                                  <a:latin typeface="Cambria Math" panose="02040503050406030204" pitchFamily="18" charset="0"/>
                                  <a:ea typeface="Cambria Math" panose="02040503050406030204" pitchFamily="18" charset="0"/>
                                </a:rPr>
                                <m:t>𝟏</m:t>
                              </m:r>
                            </m:sub>
                          </m:sSub>
                        </m:e>
                      </m:acc>
                      <m:r>
                        <a:rPr lang="en-GB" sz="2000" b="1" i="1" smtClean="0">
                          <a:latin typeface="Cambria Math" panose="02040503050406030204" pitchFamily="18" charset="0"/>
                          <a:ea typeface="Cambria Math" panose="02040503050406030204" pitchFamily="18" charset="0"/>
                        </a:rPr>
                        <m:t>=−</m:t>
                      </m:r>
                      <m:sSub>
                        <m:sSubPr>
                          <m:ctrlPr>
                            <a:rPr lang="en-GB" sz="200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𝑉</m:t>
                          </m:r>
                        </m:e>
                        <m:sub>
                          <m:r>
                            <a:rPr lang="en-GB" sz="2000" b="0" i="1" smtClean="0">
                              <a:latin typeface="Cambria Math" panose="02040503050406030204" pitchFamily="18" charset="0"/>
                              <a:ea typeface="Cambria Math" panose="02040503050406030204" pitchFamily="18" charset="0"/>
                            </a:rPr>
                            <m:t>1</m:t>
                          </m:r>
                        </m:sub>
                      </m:sSub>
                      <m:sSub>
                        <m:sSubPr>
                          <m:ctrlPr>
                            <a:rPr lang="en-GB" sz="200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𝐴</m:t>
                          </m:r>
                        </m:e>
                        <m:sub>
                          <m:r>
                            <a:rPr lang="en-GB" sz="2000" b="0" i="1" smtClean="0">
                              <a:latin typeface="Cambria Math" panose="02040503050406030204" pitchFamily="18" charset="0"/>
                              <a:ea typeface="Cambria Math" panose="02040503050406030204" pitchFamily="18" charset="0"/>
                            </a:rPr>
                            <m:t>1</m:t>
                          </m:r>
                        </m:sub>
                      </m:sSub>
                    </m:oMath>
                  </m:oMathPara>
                </a14:m>
                <a:endParaRPr lang="en-CA" sz="2000" dirty="0">
                  <a:solidFill>
                    <a:schemeClr val="tx1"/>
                  </a:solidFill>
                  <a:latin typeface="+mn-lt"/>
                </a:endParaRPr>
              </a:p>
            </p:txBody>
          </p:sp>
        </mc:Choice>
        <mc:Fallback xmlns="">
          <p:sp>
            <p:nvSpPr>
              <p:cNvPr id="9" name="TextBox 8">
                <a:extLst>
                  <a:ext uri="{FF2B5EF4-FFF2-40B4-BE49-F238E27FC236}">
                    <a16:creationId xmlns:a16="http://schemas.microsoft.com/office/drawing/2014/main" id="{FC3BD36F-C634-0F4D-5FE6-5DE9417CBF5B}"/>
                  </a:ext>
                </a:extLst>
              </p:cNvPr>
              <p:cNvSpPr txBox="1">
                <a:spLocks noRot="1" noChangeAspect="1" noMove="1" noResize="1" noEditPoints="1" noAdjustHandles="1" noChangeArrowheads="1" noChangeShapeType="1" noTextEdit="1"/>
              </p:cNvSpPr>
              <p:nvPr/>
            </p:nvSpPr>
            <p:spPr>
              <a:xfrm>
                <a:off x="335280" y="2774120"/>
                <a:ext cx="5772911" cy="392223"/>
              </a:xfrm>
              <a:prstGeom prst="rect">
                <a:avLst/>
              </a:prstGeom>
              <a:blipFill>
                <a:blip r:embed="rId4"/>
                <a:stretch>
                  <a:fillRect b="-312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A93C172-AEFB-4092-C1C2-344DBCCF2CAA}"/>
                  </a:ext>
                </a:extLst>
              </p:cNvPr>
              <p:cNvSpPr txBox="1"/>
              <p:nvPr/>
            </p:nvSpPr>
            <p:spPr>
              <a:xfrm>
                <a:off x="320041" y="3298627"/>
                <a:ext cx="5772911" cy="392223"/>
              </a:xfrm>
              <a:prstGeom prst="rect">
                <a:avLst/>
              </a:prstGeom>
              <a:noFill/>
            </p:spPr>
            <p:txBody>
              <a:bodyPr wrap="square" tIns="0">
                <a:spAutoFit/>
              </a:bodyPr>
              <a:lstStyle/>
              <a:p>
                <a:pPr marL="0" indent="0">
                  <a:buNone/>
                </a:pPr>
                <a14:m>
                  <m:oMathPara xmlns:m="http://schemas.openxmlformats.org/officeDocument/2006/math">
                    <m:oMathParaPr>
                      <m:jc m:val="left"/>
                    </m:oMathParaPr>
                    <m:oMath xmlns:m="http://schemas.openxmlformats.org/officeDocument/2006/math">
                      <m:acc>
                        <m:accPr>
                          <m:chr m:val="⃗"/>
                          <m:ctrlPr>
                            <a:rPr lang="en-CA" sz="2000" b="1" i="1" smtClean="0">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a:latin typeface="Cambria Math" panose="02040503050406030204" pitchFamily="18" charset="0"/>
                                  <a:ea typeface="Cambria Math" panose="02040503050406030204" pitchFamily="18" charset="0"/>
                                </a:rPr>
                                <m:t>𝑽</m:t>
                              </m:r>
                            </m:e>
                            <m:sub>
                              <m:r>
                                <a:rPr lang="en-GB" sz="2000" b="1" i="1" smtClean="0">
                                  <a:latin typeface="Cambria Math" panose="02040503050406030204" pitchFamily="18" charset="0"/>
                                  <a:ea typeface="Cambria Math" panose="02040503050406030204" pitchFamily="18" charset="0"/>
                                </a:rPr>
                                <m:t>𝟐</m:t>
                              </m:r>
                            </m:sub>
                          </m:sSub>
                        </m:e>
                      </m:acc>
                      <m:r>
                        <a:rPr lang="en-CA" sz="2000" b="1" i="1">
                          <a:latin typeface="Cambria Math" panose="02040503050406030204" pitchFamily="18" charset="0"/>
                          <a:ea typeface="Cambria Math" panose="02040503050406030204" pitchFamily="18" charset="0"/>
                        </a:rPr>
                        <m:t>∙</m:t>
                      </m:r>
                      <m:acc>
                        <m:accPr>
                          <m:chr m:val="⃗"/>
                          <m:ctrlPr>
                            <a:rPr lang="en-CA" sz="2000" b="1" i="1">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a:latin typeface="Cambria Math" panose="02040503050406030204" pitchFamily="18" charset="0"/>
                                  <a:ea typeface="Cambria Math" panose="02040503050406030204" pitchFamily="18" charset="0"/>
                                </a:rPr>
                                <m:t>𝑨</m:t>
                              </m:r>
                            </m:e>
                            <m:sub>
                              <m:r>
                                <a:rPr lang="en-GB" sz="2000" b="1" i="1" smtClean="0">
                                  <a:latin typeface="Cambria Math" panose="02040503050406030204" pitchFamily="18" charset="0"/>
                                  <a:ea typeface="Cambria Math" panose="02040503050406030204" pitchFamily="18" charset="0"/>
                                </a:rPr>
                                <m:t>𝟐</m:t>
                              </m:r>
                            </m:sub>
                          </m:sSub>
                        </m:e>
                      </m:acc>
                      <m:r>
                        <a:rPr lang="en-GB" sz="2000" b="1" i="1" smtClean="0">
                          <a:latin typeface="Cambria Math" panose="02040503050406030204" pitchFamily="18" charset="0"/>
                          <a:ea typeface="Cambria Math" panose="02040503050406030204" pitchFamily="18" charset="0"/>
                        </a:rPr>
                        <m:t>=+</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𝑉</m:t>
                          </m:r>
                        </m:e>
                        <m:sub>
                          <m:r>
                            <a:rPr lang="en-GB" sz="2000" b="0" i="1" smtClean="0">
                              <a:latin typeface="Cambria Math" panose="02040503050406030204" pitchFamily="18" charset="0"/>
                              <a:ea typeface="Cambria Math" panose="02040503050406030204" pitchFamily="18" charset="0"/>
                            </a:rPr>
                            <m:t>2</m:t>
                          </m:r>
                        </m:sub>
                      </m:sSub>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𝐴</m:t>
                          </m:r>
                        </m:e>
                        <m:sub>
                          <m:r>
                            <a:rPr lang="en-GB" sz="2000" b="0" i="1" smtClean="0">
                              <a:latin typeface="Cambria Math" panose="02040503050406030204" pitchFamily="18" charset="0"/>
                              <a:ea typeface="Cambria Math" panose="02040503050406030204" pitchFamily="18" charset="0"/>
                            </a:rPr>
                            <m:t>2</m:t>
                          </m:r>
                        </m:sub>
                      </m:sSub>
                    </m:oMath>
                  </m:oMathPara>
                </a14:m>
                <a:endParaRPr lang="en-CA" sz="2000" b="1" dirty="0">
                  <a:solidFill>
                    <a:schemeClr val="tx1"/>
                  </a:solidFill>
                  <a:latin typeface="+mn-lt"/>
                </a:endParaRPr>
              </a:p>
            </p:txBody>
          </p:sp>
        </mc:Choice>
        <mc:Fallback xmlns="">
          <p:sp>
            <p:nvSpPr>
              <p:cNvPr id="11" name="TextBox 10">
                <a:extLst>
                  <a:ext uri="{FF2B5EF4-FFF2-40B4-BE49-F238E27FC236}">
                    <a16:creationId xmlns:a16="http://schemas.microsoft.com/office/drawing/2014/main" id="{6A93C172-AEFB-4092-C1C2-344DBCCF2CAA}"/>
                  </a:ext>
                </a:extLst>
              </p:cNvPr>
              <p:cNvSpPr txBox="1">
                <a:spLocks noRot="1" noChangeAspect="1" noMove="1" noResize="1" noEditPoints="1" noAdjustHandles="1" noChangeArrowheads="1" noChangeShapeType="1" noTextEdit="1"/>
              </p:cNvSpPr>
              <p:nvPr/>
            </p:nvSpPr>
            <p:spPr>
              <a:xfrm>
                <a:off x="320041" y="3298627"/>
                <a:ext cx="5772911" cy="392223"/>
              </a:xfrm>
              <a:prstGeom prst="rect">
                <a:avLst/>
              </a:prstGeom>
              <a:blipFill>
                <a:blip r:embed="rId5"/>
                <a:stretch>
                  <a:fillRect b="-312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BF018E3-EDD2-C52D-D4F8-FEE8083E7FE4}"/>
                  </a:ext>
                </a:extLst>
              </p:cNvPr>
              <p:cNvSpPr txBox="1"/>
              <p:nvPr/>
            </p:nvSpPr>
            <p:spPr>
              <a:xfrm>
                <a:off x="320040" y="3891760"/>
                <a:ext cx="5772911" cy="392223"/>
              </a:xfrm>
              <a:prstGeom prst="rect">
                <a:avLst/>
              </a:prstGeom>
              <a:noFill/>
            </p:spPr>
            <p:txBody>
              <a:bodyPr wrap="square" tIns="0">
                <a:spAutoFit/>
              </a:bodyPr>
              <a:lstStyle/>
              <a:p>
                <a:pPr marL="0" indent="0">
                  <a:buNone/>
                </a:pPr>
                <a14:m>
                  <m:oMathPara xmlns:m="http://schemas.openxmlformats.org/officeDocument/2006/math">
                    <m:oMathParaPr>
                      <m:jc m:val="left"/>
                    </m:oMathParaPr>
                    <m:oMath xmlns:m="http://schemas.openxmlformats.org/officeDocument/2006/math">
                      <m:acc>
                        <m:accPr>
                          <m:chr m:val="⃗"/>
                          <m:ctrlPr>
                            <a:rPr lang="en-CA" sz="2000" b="1" i="1" smtClean="0">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a:latin typeface="Cambria Math" panose="02040503050406030204" pitchFamily="18" charset="0"/>
                                  <a:ea typeface="Cambria Math" panose="02040503050406030204" pitchFamily="18" charset="0"/>
                                </a:rPr>
                                <m:t>𝑽</m:t>
                              </m:r>
                            </m:e>
                            <m:sub>
                              <m:r>
                                <a:rPr lang="en-GB" sz="2000" b="1" i="1" smtClean="0">
                                  <a:latin typeface="Cambria Math" panose="02040503050406030204" pitchFamily="18" charset="0"/>
                                  <a:ea typeface="Cambria Math" panose="02040503050406030204" pitchFamily="18" charset="0"/>
                                </a:rPr>
                                <m:t>𝟑</m:t>
                              </m:r>
                            </m:sub>
                          </m:sSub>
                        </m:e>
                      </m:acc>
                      <m:r>
                        <a:rPr lang="en-CA" sz="2000" b="1" i="1">
                          <a:latin typeface="Cambria Math" panose="02040503050406030204" pitchFamily="18" charset="0"/>
                          <a:ea typeface="Cambria Math" panose="02040503050406030204" pitchFamily="18" charset="0"/>
                        </a:rPr>
                        <m:t>∙</m:t>
                      </m:r>
                      <m:acc>
                        <m:accPr>
                          <m:chr m:val="⃗"/>
                          <m:ctrlPr>
                            <a:rPr lang="en-CA" sz="2000" b="1" i="1">
                              <a:latin typeface="Cambria Math" panose="02040503050406030204" pitchFamily="18" charset="0"/>
                              <a:ea typeface="Cambria Math" panose="02040503050406030204" pitchFamily="18" charset="0"/>
                            </a:rPr>
                          </m:ctrlPr>
                        </m:accPr>
                        <m:e>
                          <m:sSub>
                            <m:sSubPr>
                              <m:ctrlPr>
                                <a:rPr lang="en-CA" sz="2000" b="1" i="1">
                                  <a:latin typeface="Cambria Math" panose="02040503050406030204" pitchFamily="18" charset="0"/>
                                  <a:ea typeface="Cambria Math" panose="02040503050406030204" pitchFamily="18" charset="0"/>
                                </a:rPr>
                              </m:ctrlPr>
                            </m:sSubPr>
                            <m:e>
                              <m:r>
                                <a:rPr lang="en-GB" sz="2000" b="1" i="1">
                                  <a:latin typeface="Cambria Math" panose="02040503050406030204" pitchFamily="18" charset="0"/>
                                  <a:ea typeface="Cambria Math" panose="02040503050406030204" pitchFamily="18" charset="0"/>
                                </a:rPr>
                                <m:t>𝑨</m:t>
                              </m:r>
                            </m:e>
                            <m:sub>
                              <m:r>
                                <a:rPr lang="en-GB" sz="2000" b="1" i="1" smtClean="0">
                                  <a:latin typeface="Cambria Math" panose="02040503050406030204" pitchFamily="18" charset="0"/>
                                  <a:ea typeface="Cambria Math" panose="02040503050406030204" pitchFamily="18" charset="0"/>
                                </a:rPr>
                                <m:t>𝟑</m:t>
                              </m:r>
                            </m:sub>
                          </m:sSub>
                        </m:e>
                      </m:acc>
                      <m:r>
                        <a:rPr lang="en-GB" sz="2000" b="1" i="1" smtClean="0">
                          <a:latin typeface="Cambria Math" panose="02040503050406030204" pitchFamily="18" charset="0"/>
                          <a:ea typeface="Cambria Math" panose="02040503050406030204" pitchFamily="18" charset="0"/>
                        </a:rPr>
                        <m:t>=</m:t>
                      </m:r>
                      <m:sSub>
                        <m:sSubPr>
                          <m:ctrlPr>
                            <a:rPr lang="en-GB" sz="2000" i="1">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𝑉</m:t>
                          </m:r>
                        </m:e>
                        <m:sub>
                          <m:r>
                            <a:rPr lang="en-GB" sz="2000" b="0" i="1" smtClean="0">
                              <a:latin typeface="Cambria Math" panose="02040503050406030204" pitchFamily="18" charset="0"/>
                              <a:ea typeface="Cambria Math" panose="02040503050406030204" pitchFamily="18" charset="0"/>
                            </a:rPr>
                            <m:t>3</m:t>
                          </m:r>
                        </m:sub>
                      </m:sSub>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𝐴</m:t>
                          </m:r>
                        </m:e>
                        <m:sub>
                          <m:r>
                            <a:rPr lang="en-GB" sz="2000" b="0" i="1" smtClean="0">
                              <a:latin typeface="Cambria Math" panose="02040503050406030204" pitchFamily="18" charset="0"/>
                              <a:ea typeface="Cambria Math" panose="02040503050406030204" pitchFamily="18" charset="0"/>
                            </a:rPr>
                            <m:t>3</m:t>
                          </m:r>
                        </m:sub>
                      </m:sSub>
                    </m:oMath>
                  </m:oMathPara>
                </a14:m>
                <a:endParaRPr lang="en-CA" sz="2000" b="1" dirty="0">
                  <a:solidFill>
                    <a:schemeClr val="tx1"/>
                  </a:solidFill>
                  <a:latin typeface="+mn-lt"/>
                </a:endParaRPr>
              </a:p>
            </p:txBody>
          </p:sp>
        </mc:Choice>
        <mc:Fallback xmlns="">
          <p:sp>
            <p:nvSpPr>
              <p:cNvPr id="14" name="TextBox 13">
                <a:extLst>
                  <a:ext uri="{FF2B5EF4-FFF2-40B4-BE49-F238E27FC236}">
                    <a16:creationId xmlns:a16="http://schemas.microsoft.com/office/drawing/2014/main" id="{EBF018E3-EDD2-C52D-D4F8-FEE8083E7FE4}"/>
                  </a:ext>
                </a:extLst>
              </p:cNvPr>
              <p:cNvSpPr txBox="1">
                <a:spLocks noRot="1" noChangeAspect="1" noMove="1" noResize="1" noEditPoints="1" noAdjustHandles="1" noChangeArrowheads="1" noChangeShapeType="1" noTextEdit="1"/>
              </p:cNvSpPr>
              <p:nvPr/>
            </p:nvSpPr>
            <p:spPr>
              <a:xfrm>
                <a:off x="320040" y="3891760"/>
                <a:ext cx="5772911" cy="392223"/>
              </a:xfrm>
              <a:prstGeom prst="rect">
                <a:avLst/>
              </a:prstGeom>
              <a:blipFill>
                <a:blip r:embed="rId6"/>
                <a:stretch>
                  <a:fillRect b="-1538"/>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87CBB6D-9F31-C7F2-F629-4AF4306B5775}"/>
                  </a:ext>
                </a:extLst>
              </p:cNvPr>
              <p:cNvSpPr txBox="1"/>
              <p:nvPr/>
            </p:nvSpPr>
            <p:spPr>
              <a:xfrm>
                <a:off x="4892040" y="868570"/>
                <a:ext cx="4108703" cy="800476"/>
              </a:xfrm>
              <a:prstGeom prst="rect">
                <a:avLst/>
              </a:prstGeom>
              <a:noFill/>
            </p:spPr>
            <p:txBody>
              <a:bodyPr wrap="square" tIns="0">
                <a:spAutoFit/>
              </a:bodyPr>
              <a:lstStyle/>
              <a:p>
                <a:pPr marL="0" indent="0">
                  <a:buNone/>
                </a:pPr>
                <a14:m>
                  <m:oMathPara xmlns:m="http://schemas.openxmlformats.org/officeDocument/2006/math">
                    <m:oMathParaPr>
                      <m:jc m:val="left"/>
                    </m:oMathParaPr>
                    <m:oMath xmlns:m="http://schemas.openxmlformats.org/officeDocument/2006/math">
                      <m:r>
                        <a:rPr lang="en-CA" b="1" i="1" smtClean="0">
                          <a:solidFill>
                            <a:schemeClr val="tx1"/>
                          </a:solidFill>
                          <a:latin typeface="Cambria Math" panose="02040503050406030204" pitchFamily="18" charset="0"/>
                          <a:ea typeface="Cambria Math" panose="02040503050406030204" pitchFamily="18" charset="0"/>
                        </a:rPr>
                        <m:t>⟹</m:t>
                      </m:r>
                      <m:sSub>
                        <m:sSubPr>
                          <m:ctrlPr>
                            <a:rPr lang="en-CA" i="1" smtClean="0">
                              <a:solidFill>
                                <a:schemeClr val="tx1"/>
                              </a:solidFill>
                              <a:latin typeface="Cambria Math" panose="02040503050406030204" pitchFamily="18" charset="0"/>
                              <a:ea typeface="Cambria Math" panose="02040503050406030204" pitchFamily="18" charset="0"/>
                            </a:rPr>
                          </m:ctrlPr>
                        </m:sSubPr>
                        <m:e>
                          <m:r>
                            <a:rPr lang="en-GB" b="0" i="1" smtClean="0">
                              <a:solidFill>
                                <a:schemeClr val="tx1"/>
                              </a:solidFill>
                              <a:latin typeface="Cambria Math" panose="02040503050406030204" pitchFamily="18" charset="0"/>
                              <a:ea typeface="Cambria Math" panose="02040503050406030204" pitchFamily="18" charset="0"/>
                            </a:rPr>
                            <m:t>𝑉</m:t>
                          </m:r>
                        </m:e>
                        <m:sub>
                          <m:r>
                            <a:rPr lang="en-GB" b="0" i="1" smtClean="0">
                              <a:solidFill>
                                <a:schemeClr val="tx1"/>
                              </a:solidFill>
                              <a:latin typeface="Cambria Math" panose="02040503050406030204" pitchFamily="18" charset="0"/>
                              <a:ea typeface="Cambria Math" panose="02040503050406030204" pitchFamily="18" charset="0"/>
                            </a:rPr>
                            <m:t>2</m:t>
                          </m:r>
                        </m:sub>
                      </m:sSub>
                      <m:r>
                        <a:rPr lang="en-GB" b="1" i="1" smtClean="0">
                          <a:latin typeface="Cambria Math" panose="02040503050406030204" pitchFamily="18" charset="0"/>
                          <a:ea typeface="Cambria Math" panose="02040503050406030204" pitchFamily="18" charset="0"/>
                        </a:rPr>
                        <m:t>=</m:t>
                      </m:r>
                      <m:f>
                        <m:fPr>
                          <m:ctrlPr>
                            <a:rPr lang="en-GB" b="1" i="1" smtClean="0">
                              <a:latin typeface="Cambria Math" panose="02040503050406030204" pitchFamily="18" charset="0"/>
                              <a:ea typeface="Cambria Math" panose="02040503050406030204" pitchFamily="18" charset="0"/>
                            </a:rPr>
                          </m:ctrlPr>
                        </m:fPr>
                        <m:num>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𝑉</m:t>
                              </m:r>
                            </m:e>
                            <m:sub>
                              <m:r>
                                <a:rPr lang="en-GB" i="1">
                                  <a:latin typeface="Cambria Math" panose="02040503050406030204" pitchFamily="18" charset="0"/>
                                  <a:ea typeface="Cambria Math" panose="02040503050406030204" pitchFamily="18" charset="0"/>
                                </a:rPr>
                                <m:t>1</m:t>
                              </m:r>
                            </m:sub>
                          </m:sSub>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𝐴</m:t>
                              </m:r>
                            </m:e>
                            <m:sub>
                              <m:r>
                                <a:rPr lang="en-GB" i="1">
                                  <a:latin typeface="Cambria Math" panose="02040503050406030204" pitchFamily="18" charset="0"/>
                                  <a:ea typeface="Cambria Math" panose="02040503050406030204" pitchFamily="18" charset="0"/>
                                </a:rPr>
                                <m:t>1</m:t>
                              </m:r>
                            </m:sub>
                          </m:sSub>
                          <m:sSub>
                            <m:sSubPr>
                              <m:ctrlPr>
                                <a:rPr lang="en-GB" i="1">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 </m:t>
                              </m:r>
                              <m:r>
                                <a:rPr lang="en-GB" i="1">
                                  <a:latin typeface="Cambria Math" panose="02040503050406030204" pitchFamily="18" charset="0"/>
                                  <a:ea typeface="Cambria Math" panose="02040503050406030204" pitchFamily="18" charset="0"/>
                                </a:rPr>
                                <m:t>𝑉</m:t>
                              </m:r>
                            </m:e>
                            <m:sub>
                              <m:r>
                                <a:rPr lang="en-GB" i="1">
                                  <a:latin typeface="Cambria Math" panose="02040503050406030204" pitchFamily="18" charset="0"/>
                                  <a:ea typeface="Cambria Math" panose="02040503050406030204" pitchFamily="18" charset="0"/>
                                </a:rPr>
                                <m:t>3</m:t>
                              </m:r>
                            </m:sub>
                          </m:sSub>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𝐴</m:t>
                              </m:r>
                            </m:e>
                            <m:sub>
                              <m:r>
                                <a:rPr lang="en-GB" i="1">
                                  <a:latin typeface="Cambria Math" panose="02040503050406030204" pitchFamily="18" charset="0"/>
                                  <a:ea typeface="Cambria Math" panose="02040503050406030204" pitchFamily="18" charset="0"/>
                                </a:rPr>
                                <m:t>3</m:t>
                              </m:r>
                            </m:sub>
                          </m:sSub>
                          <m:r>
                            <a:rPr lang="en-GB" b="1"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𝑄</m:t>
                              </m:r>
                            </m:e>
                            <m:sub>
                              <m:r>
                                <a:rPr lang="en-GB" i="1">
                                  <a:latin typeface="Cambria Math" panose="02040503050406030204" pitchFamily="18" charset="0"/>
                                  <a:ea typeface="Cambria Math" panose="02040503050406030204" pitchFamily="18" charset="0"/>
                                </a:rPr>
                                <m:t>4</m:t>
                              </m:r>
                            </m:sub>
                          </m:sSub>
                        </m:num>
                        <m:den>
                          <m:sSub>
                            <m:sSubPr>
                              <m:ctrlPr>
                                <a:rPr lang="en-GB" b="1"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𝐴</m:t>
                              </m:r>
                            </m:e>
                            <m:sub>
                              <m:r>
                                <a:rPr lang="en-GB" b="1" i="1" smtClean="0">
                                  <a:latin typeface="Cambria Math" panose="02040503050406030204" pitchFamily="18" charset="0"/>
                                  <a:ea typeface="Cambria Math" panose="02040503050406030204" pitchFamily="18" charset="0"/>
                                </a:rPr>
                                <m:t>𝟐</m:t>
                              </m:r>
                            </m:sub>
                          </m:sSub>
                        </m:den>
                      </m:f>
                    </m:oMath>
                  </m:oMathPara>
                </a14:m>
                <a:endParaRPr lang="en-CA" dirty="0">
                  <a:solidFill>
                    <a:schemeClr val="tx1"/>
                  </a:solidFill>
                  <a:latin typeface="+mn-lt"/>
                </a:endParaRPr>
              </a:p>
            </p:txBody>
          </p:sp>
        </mc:Choice>
        <mc:Fallback xmlns="">
          <p:sp>
            <p:nvSpPr>
              <p:cNvPr id="16" name="TextBox 15">
                <a:extLst>
                  <a:ext uri="{FF2B5EF4-FFF2-40B4-BE49-F238E27FC236}">
                    <a16:creationId xmlns:a16="http://schemas.microsoft.com/office/drawing/2014/main" id="{187CBB6D-9F31-C7F2-F629-4AF4306B5775}"/>
                  </a:ext>
                </a:extLst>
              </p:cNvPr>
              <p:cNvSpPr txBox="1">
                <a:spLocks noRot="1" noChangeAspect="1" noMove="1" noResize="1" noEditPoints="1" noAdjustHandles="1" noChangeArrowheads="1" noChangeShapeType="1" noTextEdit="1"/>
              </p:cNvSpPr>
              <p:nvPr/>
            </p:nvSpPr>
            <p:spPr>
              <a:xfrm>
                <a:off x="4892040" y="868570"/>
                <a:ext cx="4108703" cy="800476"/>
              </a:xfrm>
              <a:prstGeom prst="rect">
                <a:avLst/>
              </a:prstGeom>
              <a:blipFill>
                <a:blip r:embed="rId7"/>
                <a:stretch>
                  <a:fillRect/>
                </a:stretch>
              </a:blipFill>
            </p:spPr>
            <p:txBody>
              <a:bodyPr/>
              <a:lstStyle/>
              <a:p>
                <a:r>
                  <a:rPr lang="en-GH">
                    <a:noFill/>
                  </a:rPr>
                  <a:t> </a:t>
                </a:r>
              </a:p>
            </p:txBody>
          </p:sp>
        </mc:Fallback>
      </mc:AlternateContent>
      <p:cxnSp>
        <p:nvCxnSpPr>
          <p:cNvPr id="18" name="Straight Connector 17">
            <a:extLst>
              <a:ext uri="{FF2B5EF4-FFF2-40B4-BE49-F238E27FC236}">
                <a16:creationId xmlns:a16="http://schemas.microsoft.com/office/drawing/2014/main" id="{CD715F47-B7A7-8303-73D4-28BBF3116B1C}"/>
              </a:ext>
            </a:extLst>
          </p:cNvPr>
          <p:cNvCxnSpPr>
            <a:cxnSpLocks/>
          </p:cNvCxnSpPr>
          <p:nvPr/>
        </p:nvCxnSpPr>
        <p:spPr>
          <a:xfrm>
            <a:off x="4828032" y="511004"/>
            <a:ext cx="0" cy="521314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B3CA455-9DDF-8F54-8CEF-1465F1F8CF5B}"/>
                  </a:ext>
                </a:extLst>
              </p:cNvPr>
              <p:cNvSpPr txBox="1"/>
              <p:nvPr/>
            </p:nvSpPr>
            <p:spPr>
              <a:xfrm>
                <a:off x="21336" y="4623676"/>
                <a:ext cx="5772911" cy="353943"/>
              </a:xfrm>
              <a:prstGeom prst="rect">
                <a:avLst/>
              </a:prstGeom>
              <a:noFill/>
            </p:spPr>
            <p:txBody>
              <a:bodyPr wrap="square" tIns="0">
                <a:spAutoFit/>
              </a:bodyPr>
              <a:lstStyle/>
              <a:p>
                <a:pPr marL="0" indent="0">
                  <a:buNone/>
                </a:pPr>
                <a14:m>
                  <m:oMathPara xmlns:m="http://schemas.openxmlformats.org/officeDocument/2006/math">
                    <m:oMathParaPr>
                      <m:jc m:val="left"/>
                    </m:oMathParaPr>
                    <m:oMath xmlns:m="http://schemas.openxmlformats.org/officeDocument/2006/math">
                      <m:r>
                        <a:rPr lang="en-CA" sz="2000" b="1" i="1" smtClean="0">
                          <a:solidFill>
                            <a:schemeClr val="tx1"/>
                          </a:solidFill>
                          <a:latin typeface="Cambria Math" panose="02040503050406030204" pitchFamily="18" charset="0"/>
                          <a:ea typeface="Cambria Math" panose="02040503050406030204" pitchFamily="18" charset="0"/>
                        </a:rPr>
                        <m:t>⟹</m:t>
                      </m:r>
                      <m:r>
                        <a:rPr lang="en-GB" sz="2000" b="1" i="1">
                          <a:latin typeface="Cambria Math" panose="02040503050406030204" pitchFamily="18" charset="0"/>
                          <a:ea typeface="Cambria Math" panose="02040503050406030204" pitchFamily="18" charset="0"/>
                        </a:rPr>
                        <m:t>−</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𝑉</m:t>
                          </m:r>
                        </m:e>
                        <m:sub>
                          <m:r>
                            <a:rPr lang="en-GB" sz="2000" i="1">
                              <a:latin typeface="Cambria Math" panose="02040503050406030204" pitchFamily="18" charset="0"/>
                              <a:ea typeface="Cambria Math" panose="02040503050406030204" pitchFamily="18" charset="0"/>
                            </a:rPr>
                            <m:t>1</m:t>
                          </m:r>
                        </m:sub>
                      </m:sSub>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𝐴</m:t>
                          </m:r>
                        </m:e>
                        <m:sub>
                          <m:r>
                            <a:rPr lang="en-GB" sz="2000" i="1">
                              <a:latin typeface="Cambria Math" panose="02040503050406030204" pitchFamily="18" charset="0"/>
                              <a:ea typeface="Cambria Math" panose="02040503050406030204" pitchFamily="18" charset="0"/>
                            </a:rPr>
                            <m:t>1</m:t>
                          </m:r>
                        </m:sub>
                      </m:sSub>
                      <m:r>
                        <a:rPr lang="en-GB" sz="2000" b="1" i="1" smtClean="0">
                          <a:solidFill>
                            <a:schemeClr val="tx1"/>
                          </a:solidFill>
                          <a:latin typeface="Cambria Math" panose="02040503050406030204" pitchFamily="18" charset="0"/>
                          <a:ea typeface="Cambria Math" panose="02040503050406030204" pitchFamily="18" charset="0"/>
                        </a:rPr>
                        <m:t>+</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𝑉</m:t>
                          </m:r>
                        </m:e>
                        <m:sub>
                          <m:r>
                            <a:rPr lang="en-GB" sz="2000" i="1">
                              <a:latin typeface="Cambria Math" panose="02040503050406030204" pitchFamily="18" charset="0"/>
                              <a:ea typeface="Cambria Math" panose="02040503050406030204" pitchFamily="18" charset="0"/>
                            </a:rPr>
                            <m:t>2</m:t>
                          </m:r>
                        </m:sub>
                      </m:sSub>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𝐴</m:t>
                          </m:r>
                        </m:e>
                        <m:sub>
                          <m:r>
                            <a:rPr lang="en-GB" sz="2000" i="1">
                              <a:latin typeface="Cambria Math" panose="02040503050406030204" pitchFamily="18" charset="0"/>
                              <a:ea typeface="Cambria Math" panose="02040503050406030204" pitchFamily="18" charset="0"/>
                            </a:rPr>
                            <m:t>2</m:t>
                          </m:r>
                        </m:sub>
                      </m:sSub>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𝑉</m:t>
                          </m:r>
                        </m:e>
                        <m:sub>
                          <m:r>
                            <a:rPr lang="en-GB" sz="2000" i="1">
                              <a:latin typeface="Cambria Math" panose="02040503050406030204" pitchFamily="18" charset="0"/>
                              <a:ea typeface="Cambria Math" panose="02040503050406030204" pitchFamily="18" charset="0"/>
                            </a:rPr>
                            <m:t>3</m:t>
                          </m:r>
                        </m:sub>
                      </m:sSub>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𝐴</m:t>
                          </m:r>
                        </m:e>
                        <m:sub>
                          <m:r>
                            <a:rPr lang="en-GB" sz="2000" i="1">
                              <a:latin typeface="Cambria Math" panose="02040503050406030204" pitchFamily="18" charset="0"/>
                              <a:ea typeface="Cambria Math" panose="02040503050406030204" pitchFamily="18" charset="0"/>
                            </a:rPr>
                            <m:t>3</m:t>
                          </m:r>
                        </m:sub>
                      </m:sSub>
                      <m:r>
                        <a:rPr lang="en-GB" sz="2000" b="1" i="1" smtClean="0">
                          <a:latin typeface="Cambria Math" panose="02040503050406030204" pitchFamily="18" charset="0"/>
                          <a:ea typeface="Cambria Math" panose="02040503050406030204" pitchFamily="18" charset="0"/>
                        </a:rPr>
                        <m:t>+</m:t>
                      </m:r>
                      <m:sSub>
                        <m:sSubPr>
                          <m:ctrlPr>
                            <a:rPr lang="en-GB" sz="200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𝑄</m:t>
                          </m:r>
                        </m:e>
                        <m:sub>
                          <m:r>
                            <a:rPr lang="en-GB" sz="2000" b="0" i="1" smtClean="0">
                              <a:latin typeface="Cambria Math" panose="02040503050406030204" pitchFamily="18" charset="0"/>
                              <a:ea typeface="Cambria Math" panose="02040503050406030204" pitchFamily="18" charset="0"/>
                            </a:rPr>
                            <m:t>4</m:t>
                          </m:r>
                        </m:sub>
                      </m:sSub>
                      <m:r>
                        <a:rPr lang="en-GB" sz="2000" b="1"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0</m:t>
                      </m:r>
                    </m:oMath>
                  </m:oMathPara>
                </a14:m>
                <a:endParaRPr lang="en-CA" sz="2000" dirty="0">
                  <a:solidFill>
                    <a:schemeClr val="tx1"/>
                  </a:solidFill>
                  <a:latin typeface="+mn-lt"/>
                </a:endParaRPr>
              </a:p>
            </p:txBody>
          </p:sp>
        </mc:Choice>
        <mc:Fallback xmlns="">
          <p:sp>
            <p:nvSpPr>
              <p:cNvPr id="20" name="TextBox 19">
                <a:extLst>
                  <a:ext uri="{FF2B5EF4-FFF2-40B4-BE49-F238E27FC236}">
                    <a16:creationId xmlns:a16="http://schemas.microsoft.com/office/drawing/2014/main" id="{7B3CA455-9DDF-8F54-8CEF-1465F1F8CF5B}"/>
                  </a:ext>
                </a:extLst>
              </p:cNvPr>
              <p:cNvSpPr txBox="1">
                <a:spLocks noRot="1" noChangeAspect="1" noMove="1" noResize="1" noEditPoints="1" noAdjustHandles="1" noChangeArrowheads="1" noChangeShapeType="1" noTextEdit="1"/>
              </p:cNvSpPr>
              <p:nvPr/>
            </p:nvSpPr>
            <p:spPr>
              <a:xfrm>
                <a:off x="21336" y="4623676"/>
                <a:ext cx="5772911" cy="353943"/>
              </a:xfrm>
              <a:prstGeom prst="rect">
                <a:avLst/>
              </a:prstGeom>
              <a:blipFill>
                <a:blip r:embed="rId8"/>
                <a:stretch>
                  <a:fillRect b="-8475"/>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38CD7A8-1541-9487-E016-F237D6365755}"/>
                  </a:ext>
                </a:extLst>
              </p:cNvPr>
              <p:cNvSpPr txBox="1"/>
              <p:nvPr/>
            </p:nvSpPr>
            <p:spPr>
              <a:xfrm>
                <a:off x="4865371" y="1759019"/>
                <a:ext cx="4108703" cy="762901"/>
              </a:xfrm>
              <a:prstGeom prst="rect">
                <a:avLst/>
              </a:prstGeom>
              <a:noFill/>
            </p:spPr>
            <p:txBody>
              <a:bodyPr wrap="square" tIns="0">
                <a:spAutoFit/>
              </a:bodyPr>
              <a:lstStyle/>
              <a:p>
                <a:pPr marL="0" indent="0">
                  <a:buNone/>
                </a:pPr>
                <a14:m>
                  <m:oMathPara xmlns:m="http://schemas.openxmlformats.org/officeDocument/2006/math">
                    <m:oMathParaPr>
                      <m:jc m:val="left"/>
                    </m:oMathParaPr>
                    <m:oMath xmlns:m="http://schemas.openxmlformats.org/officeDocument/2006/math">
                      <m:sSub>
                        <m:sSubPr>
                          <m:ctrlPr>
                            <a:rPr lang="en-CA" i="1" smtClean="0">
                              <a:solidFill>
                                <a:schemeClr val="tx1"/>
                              </a:solidFill>
                              <a:latin typeface="Cambria Math" panose="02040503050406030204" pitchFamily="18" charset="0"/>
                              <a:ea typeface="Cambria Math" panose="02040503050406030204" pitchFamily="18" charset="0"/>
                            </a:rPr>
                          </m:ctrlPr>
                        </m:sSubPr>
                        <m:e>
                          <m:r>
                            <a:rPr lang="en-GB" b="0" i="1" smtClean="0">
                              <a:solidFill>
                                <a:schemeClr val="tx1"/>
                              </a:solidFill>
                              <a:latin typeface="Cambria Math" panose="02040503050406030204" pitchFamily="18" charset="0"/>
                              <a:ea typeface="Cambria Math" panose="02040503050406030204" pitchFamily="18" charset="0"/>
                            </a:rPr>
                            <m:t>𝑉</m:t>
                          </m:r>
                        </m:e>
                        <m:sub>
                          <m:r>
                            <a:rPr lang="en-GB" b="0" i="1" smtClean="0">
                              <a:solidFill>
                                <a:schemeClr val="tx1"/>
                              </a:solidFill>
                              <a:latin typeface="Cambria Math" panose="02040503050406030204" pitchFamily="18" charset="0"/>
                              <a:ea typeface="Cambria Math" panose="02040503050406030204" pitchFamily="18" charset="0"/>
                            </a:rPr>
                            <m:t>2</m:t>
                          </m:r>
                        </m:sub>
                      </m:sSub>
                      <m:r>
                        <a:rPr lang="en-GB" b="1" i="1" smtClean="0">
                          <a:latin typeface="Cambria Math" panose="02040503050406030204" pitchFamily="18" charset="0"/>
                          <a:ea typeface="Cambria Math" panose="02040503050406030204" pitchFamily="18" charset="0"/>
                        </a:rPr>
                        <m:t>=</m:t>
                      </m:r>
                      <m:f>
                        <m:fPr>
                          <m:ctrlPr>
                            <a:rPr lang="en-GB" b="1"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5</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0.2</m:t>
                              </m:r>
                            </m:e>
                          </m:d>
                          <m:r>
                            <a:rPr lang="en-GB" b="0" i="1" smtClean="0">
                              <a:latin typeface="Cambria Math" panose="02040503050406030204" pitchFamily="18" charset="0"/>
                              <a:ea typeface="Cambria Math" panose="02040503050406030204" pitchFamily="18" charset="0"/>
                            </a:rPr>
                            <m:t>−12</m:t>
                          </m:r>
                          <m:r>
                            <a:rPr lang="en-GB" b="1"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0.15</m:t>
                          </m:r>
                          <m:r>
                            <a:rPr lang="en-GB" b="1"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0.1</m:t>
                          </m:r>
                        </m:num>
                        <m:den>
                          <m:r>
                            <a:rPr lang="en-GB" b="0" i="1" smtClean="0">
                              <a:latin typeface="Cambria Math" panose="02040503050406030204" pitchFamily="18" charset="0"/>
                              <a:ea typeface="Cambria Math" panose="02040503050406030204" pitchFamily="18" charset="0"/>
                            </a:rPr>
                            <m:t>0.2</m:t>
                          </m:r>
                        </m:den>
                      </m:f>
                    </m:oMath>
                  </m:oMathPara>
                </a14:m>
                <a:endParaRPr lang="en-CA" dirty="0">
                  <a:solidFill>
                    <a:schemeClr val="tx1"/>
                  </a:solidFill>
                  <a:latin typeface="+mn-lt"/>
                </a:endParaRPr>
              </a:p>
            </p:txBody>
          </p:sp>
        </mc:Choice>
        <mc:Fallback xmlns="">
          <p:sp>
            <p:nvSpPr>
              <p:cNvPr id="21" name="TextBox 20">
                <a:extLst>
                  <a:ext uri="{FF2B5EF4-FFF2-40B4-BE49-F238E27FC236}">
                    <a16:creationId xmlns:a16="http://schemas.microsoft.com/office/drawing/2014/main" id="{A38CD7A8-1541-9487-E016-F237D6365755}"/>
                  </a:ext>
                </a:extLst>
              </p:cNvPr>
              <p:cNvSpPr txBox="1">
                <a:spLocks noRot="1" noChangeAspect="1" noMove="1" noResize="1" noEditPoints="1" noAdjustHandles="1" noChangeArrowheads="1" noChangeShapeType="1" noTextEdit="1"/>
              </p:cNvSpPr>
              <p:nvPr/>
            </p:nvSpPr>
            <p:spPr>
              <a:xfrm>
                <a:off x="4865371" y="1759019"/>
                <a:ext cx="4108703" cy="762901"/>
              </a:xfrm>
              <a:prstGeom prst="rect">
                <a:avLst/>
              </a:prstGeom>
              <a:blipFill>
                <a:blip r:embed="rId9"/>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388B1D3-8746-C96F-6B2C-59007B98CE92}"/>
                  </a:ext>
                </a:extLst>
              </p:cNvPr>
              <p:cNvSpPr txBox="1"/>
              <p:nvPr/>
            </p:nvSpPr>
            <p:spPr>
              <a:xfrm>
                <a:off x="4892039" y="2781736"/>
                <a:ext cx="4108703" cy="415498"/>
              </a:xfrm>
              <a:prstGeom prst="rect">
                <a:avLst/>
              </a:prstGeom>
              <a:noFill/>
            </p:spPr>
            <p:txBody>
              <a:bodyPr wrap="square" tIns="0">
                <a:spAutoFit/>
              </a:bodyPr>
              <a:lstStyle/>
              <a:p>
                <a:pPr marL="0" indent="0">
                  <a:buNone/>
                </a:pPr>
                <a14:m>
                  <m:oMathPara xmlns:m="http://schemas.openxmlformats.org/officeDocument/2006/math">
                    <m:oMathParaPr>
                      <m:jc m:val="left"/>
                    </m:oMathParaPr>
                    <m:oMath xmlns:m="http://schemas.openxmlformats.org/officeDocument/2006/math">
                      <m:sSub>
                        <m:sSubPr>
                          <m:ctrlPr>
                            <a:rPr lang="en-CA" i="1" smtClean="0">
                              <a:solidFill>
                                <a:schemeClr val="tx1"/>
                              </a:solidFill>
                              <a:latin typeface="Cambria Math" panose="02040503050406030204" pitchFamily="18" charset="0"/>
                              <a:ea typeface="Cambria Math" panose="02040503050406030204" pitchFamily="18" charset="0"/>
                            </a:rPr>
                          </m:ctrlPr>
                        </m:sSubPr>
                        <m:e>
                          <m:r>
                            <a:rPr lang="en-GB" b="0" i="1" smtClean="0">
                              <a:solidFill>
                                <a:schemeClr val="tx1"/>
                              </a:solidFill>
                              <a:latin typeface="Cambria Math" panose="02040503050406030204" pitchFamily="18" charset="0"/>
                              <a:ea typeface="Cambria Math" panose="02040503050406030204" pitchFamily="18" charset="0"/>
                            </a:rPr>
                            <m:t>𝑉</m:t>
                          </m:r>
                        </m:e>
                        <m:sub>
                          <m:r>
                            <a:rPr lang="en-GB" b="0" i="1" smtClean="0">
                              <a:solidFill>
                                <a:schemeClr val="tx1"/>
                              </a:solidFill>
                              <a:latin typeface="Cambria Math" panose="02040503050406030204" pitchFamily="18" charset="0"/>
                              <a:ea typeface="Cambria Math" panose="02040503050406030204" pitchFamily="18" charset="0"/>
                            </a:rPr>
                            <m:t>2</m:t>
                          </m:r>
                        </m:sub>
                      </m:sSub>
                      <m:r>
                        <a:rPr lang="en-GB" b="1"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−4.5 </m:t>
                      </m:r>
                      <m:r>
                        <a:rPr lang="en-GB" b="0" i="1" smtClean="0">
                          <a:latin typeface="Cambria Math" panose="02040503050406030204" pitchFamily="18" charset="0"/>
                          <a:ea typeface="Cambria Math" panose="02040503050406030204" pitchFamily="18" charset="0"/>
                        </a:rPr>
                        <m:t>𝑚</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𝑠</m:t>
                      </m:r>
                    </m:oMath>
                  </m:oMathPara>
                </a14:m>
                <a:endParaRPr lang="en-CA" dirty="0">
                  <a:solidFill>
                    <a:schemeClr val="tx1"/>
                  </a:solidFill>
                  <a:latin typeface="+mn-lt"/>
                </a:endParaRPr>
              </a:p>
            </p:txBody>
          </p:sp>
        </mc:Choice>
        <mc:Fallback xmlns="">
          <p:sp>
            <p:nvSpPr>
              <p:cNvPr id="22" name="TextBox 21">
                <a:extLst>
                  <a:ext uri="{FF2B5EF4-FFF2-40B4-BE49-F238E27FC236}">
                    <a16:creationId xmlns:a16="http://schemas.microsoft.com/office/drawing/2014/main" id="{8388B1D3-8746-C96F-6B2C-59007B98CE92}"/>
                  </a:ext>
                </a:extLst>
              </p:cNvPr>
              <p:cNvSpPr txBox="1">
                <a:spLocks noRot="1" noChangeAspect="1" noMove="1" noResize="1" noEditPoints="1" noAdjustHandles="1" noChangeArrowheads="1" noChangeShapeType="1" noTextEdit="1"/>
              </p:cNvSpPr>
              <p:nvPr/>
            </p:nvSpPr>
            <p:spPr>
              <a:xfrm>
                <a:off x="4892039" y="2781736"/>
                <a:ext cx="4108703" cy="415498"/>
              </a:xfrm>
              <a:prstGeom prst="rect">
                <a:avLst/>
              </a:prstGeom>
              <a:blipFill>
                <a:blip r:embed="rId10"/>
                <a:stretch>
                  <a:fillRect l="-297" b="-20588"/>
                </a:stretch>
              </a:blipFill>
            </p:spPr>
            <p:txBody>
              <a:bodyPr/>
              <a:lstStyle/>
              <a:p>
                <a:r>
                  <a:rPr lang="en-GH">
                    <a:noFill/>
                  </a:rPr>
                  <a:t> </a:t>
                </a:r>
              </a:p>
            </p:txBody>
          </p:sp>
        </mc:Fallback>
      </mc:AlternateContent>
      <p:sp>
        <p:nvSpPr>
          <p:cNvPr id="23" name="TextBox 22">
            <a:extLst>
              <a:ext uri="{FF2B5EF4-FFF2-40B4-BE49-F238E27FC236}">
                <a16:creationId xmlns:a16="http://schemas.microsoft.com/office/drawing/2014/main" id="{BA3D6636-5825-7F9E-1F9E-F23870DF2427}"/>
              </a:ext>
            </a:extLst>
          </p:cNvPr>
          <p:cNvSpPr txBox="1"/>
          <p:nvPr/>
        </p:nvSpPr>
        <p:spPr>
          <a:xfrm>
            <a:off x="4872989" y="3242954"/>
            <a:ext cx="3995927" cy="1938992"/>
          </a:xfrm>
          <a:prstGeom prst="rect">
            <a:avLst/>
          </a:prstGeom>
          <a:noFill/>
        </p:spPr>
        <p:txBody>
          <a:bodyPr wrap="square">
            <a:spAutoFit/>
          </a:bodyPr>
          <a:lstStyle/>
          <a:p>
            <a:r>
              <a:rPr lang="en-US" b="1" dirty="0">
                <a:latin typeface="+mn-lt"/>
              </a:rPr>
              <a:t>Comments</a:t>
            </a:r>
            <a:r>
              <a:rPr lang="en-US" dirty="0">
                <a:latin typeface="+mn-lt"/>
              </a:rPr>
              <a:t>: Negative value of </a:t>
            </a:r>
            <a:r>
              <a:rPr lang="en-US" i="1" dirty="0">
                <a:latin typeface="+mn-lt"/>
              </a:rPr>
              <a:t>V</a:t>
            </a:r>
            <a:r>
              <a:rPr lang="en-US" baseline="-25000" dirty="0">
                <a:latin typeface="+mn-lt"/>
              </a:rPr>
              <a:t>2</a:t>
            </a:r>
            <a:r>
              <a:rPr lang="en-US" dirty="0">
                <a:latin typeface="+mn-lt"/>
              </a:rPr>
              <a:t> means there is an inflow at Section 2. Thus, our initial assumption of outflow was invalid! </a:t>
            </a:r>
            <a:endParaRPr lang="en-GH" dirty="0"/>
          </a:p>
        </p:txBody>
      </p:sp>
      <p:sp>
        <p:nvSpPr>
          <p:cNvPr id="3" name="Slide Number Placeholder 2">
            <a:extLst>
              <a:ext uri="{FF2B5EF4-FFF2-40B4-BE49-F238E27FC236}">
                <a16:creationId xmlns:a16="http://schemas.microsoft.com/office/drawing/2014/main" id="{FF6D79C1-ECFD-27AC-2DF7-82D0E1183EAE}"/>
              </a:ext>
            </a:extLst>
          </p:cNvPr>
          <p:cNvSpPr>
            <a:spLocks noGrp="1"/>
          </p:cNvSpPr>
          <p:nvPr>
            <p:ph type="sldNum" sz="quarter" idx="12"/>
          </p:nvPr>
        </p:nvSpPr>
        <p:spPr/>
        <p:txBody>
          <a:bodyPr/>
          <a:lstStyle/>
          <a:p>
            <a:fld id="{49FCB85E-0F77-4855-90A7-7A1B61BB679B}" type="slidenum">
              <a:rPr lang="en-CA" smtClean="0"/>
              <a:t>24</a:t>
            </a:fld>
            <a:endParaRPr lang="en-CA"/>
          </a:p>
        </p:txBody>
      </p:sp>
    </p:spTree>
    <p:extLst>
      <p:ext uri="{BB962C8B-B14F-4D97-AF65-F5344CB8AC3E}">
        <p14:creationId xmlns:p14="http://schemas.microsoft.com/office/powerpoint/2010/main" val="470354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07784"/>
            <a:ext cx="8823960" cy="2189696"/>
          </a:xfrm>
        </p:spPr>
        <p:txBody>
          <a:bodyPr>
            <a:normAutofit/>
          </a:bodyPr>
          <a:lstStyle/>
          <a:p>
            <a:pPr marL="0" indent="0" algn="just">
              <a:lnSpc>
                <a:spcPct val="110000"/>
              </a:lnSpc>
              <a:buNone/>
            </a:pPr>
            <a:r>
              <a:rPr lang="en-CA" dirty="0">
                <a:latin typeface="+mn-lt"/>
              </a:rPr>
              <a:t>A tank of 0.4 m</a:t>
            </a:r>
            <a:r>
              <a:rPr lang="en-CA" baseline="30000" dirty="0">
                <a:latin typeface="+mn-lt"/>
              </a:rPr>
              <a:t>3</a:t>
            </a:r>
            <a:r>
              <a:rPr lang="en-CA" dirty="0">
                <a:latin typeface="+mn-lt"/>
              </a:rPr>
              <a:t> volume contains compressed air. A valve is opened and air escapes with a velocity of 250 m/s through an opening of 100 mm</a:t>
            </a:r>
            <a:r>
              <a:rPr lang="en-CA" baseline="30000" dirty="0">
                <a:latin typeface="+mn-lt"/>
              </a:rPr>
              <a:t>2</a:t>
            </a:r>
            <a:r>
              <a:rPr lang="en-CA" dirty="0">
                <a:latin typeface="+mn-lt"/>
              </a:rPr>
              <a:t> area. The temperature of the air passing through the opening is -20</a:t>
            </a:r>
            <a:r>
              <a:rPr lang="en-CA" baseline="30000" dirty="0">
                <a:latin typeface="+mn-lt"/>
              </a:rPr>
              <a:t>o</a:t>
            </a:r>
            <a:r>
              <a:rPr lang="en-CA" dirty="0">
                <a:latin typeface="+mn-lt"/>
              </a:rPr>
              <a:t>C and the absolute pressure is 300 kPa. Find the rate of change of density of the air in the tank at this moment.</a:t>
            </a:r>
          </a:p>
          <a:p>
            <a:pPr marL="0" indent="0">
              <a:buNone/>
            </a:pPr>
            <a:endParaRPr lang="en-CA" dirty="0"/>
          </a:p>
        </p:txBody>
      </p:sp>
      <p:sp>
        <p:nvSpPr>
          <p:cNvPr id="4" name="TextBox 3"/>
          <p:cNvSpPr txBox="1"/>
          <p:nvPr/>
        </p:nvSpPr>
        <p:spPr>
          <a:xfrm>
            <a:off x="1414175" y="43687"/>
            <a:ext cx="5327036" cy="461665"/>
          </a:xfrm>
          <a:prstGeom prst="rect">
            <a:avLst/>
          </a:prstGeom>
          <a:noFill/>
        </p:spPr>
        <p:txBody>
          <a:bodyPr wrap="none" rtlCol="0">
            <a:spAutoFit/>
          </a:bodyPr>
          <a:lstStyle/>
          <a:p>
            <a:r>
              <a:rPr lang="en-CA" b="1" dirty="0">
                <a:latin typeface="+mn-lt"/>
                <a:ea typeface="Verdana" panose="020B0604030504040204" pitchFamily="34" charset="0"/>
                <a:cs typeface="Verdana" panose="020B0604030504040204" pitchFamily="34" charset="0"/>
              </a:rPr>
              <a:t>Example 2: Unsteady Compressible Flow</a:t>
            </a:r>
            <a:endParaRPr lang="en-CA" b="1" dirty="0">
              <a:latin typeface="+mn-lt"/>
            </a:endParaRPr>
          </a:p>
        </p:txBody>
      </p:sp>
      <p:sp>
        <p:nvSpPr>
          <p:cNvPr id="2" name="TextBox 1">
            <a:extLst>
              <a:ext uri="{FF2B5EF4-FFF2-40B4-BE49-F238E27FC236}">
                <a16:creationId xmlns:a16="http://schemas.microsoft.com/office/drawing/2014/main" id="{A744FDF9-E027-EA8D-BEAC-07AF5A4C44C6}"/>
              </a:ext>
            </a:extLst>
          </p:cNvPr>
          <p:cNvSpPr txBox="1"/>
          <p:nvPr/>
        </p:nvSpPr>
        <p:spPr>
          <a:xfrm>
            <a:off x="3603632" y="2648310"/>
            <a:ext cx="1385847" cy="461665"/>
          </a:xfrm>
          <a:prstGeom prst="rect">
            <a:avLst/>
          </a:prstGeom>
          <a:noFill/>
        </p:spPr>
        <p:txBody>
          <a:bodyPr wrap="square">
            <a:spAutoFit/>
          </a:bodyPr>
          <a:lstStyle/>
          <a:p>
            <a:r>
              <a:rPr lang="en-US" b="1" dirty="0">
                <a:latin typeface="+mn-lt"/>
              </a:rPr>
              <a:t>Solution:</a:t>
            </a:r>
          </a:p>
        </p:txBody>
      </p:sp>
      <p:pic>
        <p:nvPicPr>
          <p:cNvPr id="6" name="Picture 5">
            <a:extLst>
              <a:ext uri="{FF2B5EF4-FFF2-40B4-BE49-F238E27FC236}">
                <a16:creationId xmlns:a16="http://schemas.microsoft.com/office/drawing/2014/main" id="{406F2A19-AA42-D668-865D-82D381BED40C}"/>
              </a:ext>
            </a:extLst>
          </p:cNvPr>
          <p:cNvPicPr>
            <a:picLocks noChangeAspect="1"/>
          </p:cNvPicPr>
          <p:nvPr/>
        </p:nvPicPr>
        <p:blipFill>
          <a:blip r:embed="rId2"/>
          <a:stretch>
            <a:fillRect/>
          </a:stretch>
        </p:blipFill>
        <p:spPr>
          <a:xfrm>
            <a:off x="104583" y="2879142"/>
            <a:ext cx="2874505" cy="2044902"/>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E34578-FF34-1FE7-C6B4-71271B5B27C9}"/>
                  </a:ext>
                </a:extLst>
              </p:cNvPr>
              <p:cNvSpPr txBox="1"/>
              <p:nvPr/>
            </p:nvSpPr>
            <p:spPr>
              <a:xfrm>
                <a:off x="3463291" y="3205644"/>
                <a:ext cx="4576572" cy="9548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A" sz="2400" i="1" smtClean="0">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𝑉</m:t>
                          </m:r>
                        </m:sub>
                        <m:sup/>
                        <m:e>
                          <m:r>
                            <a:rPr lang="en-CA" sz="2400" b="0" i="1">
                              <a:solidFill>
                                <a:schemeClr val="tx1"/>
                              </a:solidFill>
                              <a:latin typeface="Cambria Math" panose="02040503050406030204" pitchFamily="18" charset="0"/>
                              <a:ea typeface="Cambria Math" panose="02040503050406030204" pitchFamily="18" charset="0"/>
                            </a:rPr>
                            <m:t>𝜌</m:t>
                          </m:r>
                          <m:r>
                            <a:rPr lang="en-CA" sz="2400" b="0" i="1">
                              <a:solidFill>
                                <a:schemeClr val="tx1"/>
                              </a:solidFill>
                              <a:latin typeface="Cambria Math" panose="02040503050406030204" pitchFamily="18" charset="0"/>
                              <a:ea typeface="Cambria Math" panose="02040503050406030204" pitchFamily="18" charset="0"/>
                            </a:rPr>
                            <m:t>𝑑</m:t>
                          </m:r>
                          <m:r>
                            <a:rPr lang="en-CA" sz="2400" b="0" i="1">
                              <a:solidFill>
                                <a:schemeClr val="tx1"/>
                              </a:solidFill>
                              <a:latin typeface="Cambria Math" panose="02040503050406030204" pitchFamily="18" charset="0"/>
                              <a:ea typeface="Cambria Math" panose="02040503050406030204" pitchFamily="18" charset="0"/>
                            </a:rPr>
                            <m:t>∀</m:t>
                          </m:r>
                        </m:e>
                      </m:nary>
                      <m:r>
                        <a:rPr lang="en-CA" sz="2400" b="0">
                          <a:solidFill>
                            <a:schemeClr val="tx1"/>
                          </a:solidFill>
                          <a:latin typeface="Cambria Math" panose="02040503050406030204" pitchFamily="18" charset="0"/>
                          <a:ea typeface="Cambria Math" panose="02040503050406030204" pitchFamily="18" charset="0"/>
                        </a:rPr>
                        <m:t>+</m:t>
                      </m:r>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r>
                            <a:rPr lang="en-CA" sz="2400" b="0" i="1">
                              <a:solidFill>
                                <a:schemeClr val="tx1"/>
                              </a:solidFill>
                              <a:latin typeface="Cambria Math" panose="02040503050406030204" pitchFamily="18" charset="0"/>
                              <a:ea typeface="Cambria Math" panose="02040503050406030204" pitchFamily="18" charset="0"/>
                            </a:rPr>
                            <m:t>𝜌</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r>
                        <a:rPr lang="en-CA" sz="2400" b="0" i="1">
                          <a:solidFill>
                            <a:schemeClr val="tx1"/>
                          </a:solidFill>
                          <a:latin typeface="Cambria Math" panose="02040503050406030204" pitchFamily="18" charset="0"/>
                          <a:ea typeface="Cambria Math" panose="02040503050406030204" pitchFamily="18" charset="0"/>
                        </a:rPr>
                        <m:t>=0</m:t>
                      </m:r>
                    </m:oMath>
                  </m:oMathPara>
                </a14:m>
                <a:endParaRPr lang="en-GH" dirty="0"/>
              </a:p>
            </p:txBody>
          </p:sp>
        </mc:Choice>
        <mc:Fallback xmlns="">
          <p:sp>
            <p:nvSpPr>
              <p:cNvPr id="7" name="TextBox 6">
                <a:extLst>
                  <a:ext uri="{FF2B5EF4-FFF2-40B4-BE49-F238E27FC236}">
                    <a16:creationId xmlns:a16="http://schemas.microsoft.com/office/drawing/2014/main" id="{DBE34578-FF34-1FE7-C6B4-71271B5B27C9}"/>
                  </a:ext>
                </a:extLst>
              </p:cNvPr>
              <p:cNvSpPr txBox="1">
                <a:spLocks noRot="1" noChangeAspect="1" noMove="1" noResize="1" noEditPoints="1" noAdjustHandles="1" noChangeArrowheads="1" noChangeShapeType="1" noTextEdit="1"/>
              </p:cNvSpPr>
              <p:nvPr/>
            </p:nvSpPr>
            <p:spPr>
              <a:xfrm>
                <a:off x="3463291" y="3205644"/>
                <a:ext cx="4576572" cy="954877"/>
              </a:xfrm>
              <a:prstGeom prst="rect">
                <a:avLst/>
              </a:prstGeom>
              <a:blipFill>
                <a:blip r:embed="rId3"/>
                <a:stretch>
                  <a:fillRect/>
                </a:stretch>
              </a:blipFill>
            </p:spPr>
            <p:txBody>
              <a:bodyPr/>
              <a:lstStyle/>
              <a:p>
                <a:r>
                  <a:rPr lang="en-GH">
                    <a:noFill/>
                  </a:rPr>
                  <a:t> </a:t>
                </a:r>
              </a:p>
            </p:txBody>
          </p:sp>
        </mc:Fallback>
      </mc:AlternateContent>
      <p:sp>
        <p:nvSpPr>
          <p:cNvPr id="8" name="TextBox 7">
            <a:extLst>
              <a:ext uri="{FF2B5EF4-FFF2-40B4-BE49-F238E27FC236}">
                <a16:creationId xmlns:a16="http://schemas.microsoft.com/office/drawing/2014/main" id="{BB1D59F0-9BBB-FCF3-C17D-DDBAF103F0D4}"/>
              </a:ext>
            </a:extLst>
          </p:cNvPr>
          <p:cNvSpPr txBox="1"/>
          <p:nvPr/>
        </p:nvSpPr>
        <p:spPr>
          <a:xfrm>
            <a:off x="2904367" y="4256190"/>
            <a:ext cx="5919593" cy="1569660"/>
          </a:xfrm>
          <a:prstGeom prst="rect">
            <a:avLst/>
          </a:prstGeom>
          <a:noFill/>
        </p:spPr>
        <p:txBody>
          <a:bodyPr wrap="square">
            <a:spAutoFit/>
          </a:bodyPr>
          <a:lstStyle/>
          <a:p>
            <a:r>
              <a:rPr lang="en-US" dirty="0">
                <a:latin typeface="+mn-lt"/>
              </a:rPr>
              <a:t>Assumptions:</a:t>
            </a:r>
          </a:p>
          <a:p>
            <a:pPr marL="457200" indent="-457200">
              <a:buAutoNum type="arabicPeriod"/>
            </a:pPr>
            <a:r>
              <a:rPr lang="en-US" dirty="0">
                <a:latin typeface="+mn-lt"/>
              </a:rPr>
              <a:t>Properties in the tank are uniform but depend on time</a:t>
            </a:r>
          </a:p>
          <a:p>
            <a:pPr marL="457200" indent="-457200">
              <a:buAutoNum type="arabicPeriod"/>
            </a:pPr>
            <a:r>
              <a:rPr lang="en-US" dirty="0">
                <a:latin typeface="+mn-lt"/>
              </a:rPr>
              <a:t>Uniform flow at Section 1 </a:t>
            </a:r>
            <a:endParaRPr lang="en-GH" dirty="0"/>
          </a:p>
        </p:txBody>
      </p:sp>
      <p:sp>
        <p:nvSpPr>
          <p:cNvPr id="5" name="Slide Number Placeholder 4">
            <a:extLst>
              <a:ext uri="{FF2B5EF4-FFF2-40B4-BE49-F238E27FC236}">
                <a16:creationId xmlns:a16="http://schemas.microsoft.com/office/drawing/2014/main" id="{78DF39E0-1A52-A22B-4000-B5049EEEC89C}"/>
              </a:ext>
            </a:extLst>
          </p:cNvPr>
          <p:cNvSpPr>
            <a:spLocks noGrp="1"/>
          </p:cNvSpPr>
          <p:nvPr>
            <p:ph type="sldNum" sz="quarter" idx="12"/>
          </p:nvPr>
        </p:nvSpPr>
        <p:spPr/>
        <p:txBody>
          <a:bodyPr/>
          <a:lstStyle/>
          <a:p>
            <a:fld id="{49FCB85E-0F77-4855-90A7-7A1B61BB679B}" type="slidenum">
              <a:rPr lang="en-CA" smtClean="0"/>
              <a:t>25</a:t>
            </a:fld>
            <a:endParaRPr lang="en-CA"/>
          </a:p>
        </p:txBody>
      </p:sp>
    </p:spTree>
    <p:extLst>
      <p:ext uri="{BB962C8B-B14F-4D97-AF65-F5344CB8AC3E}">
        <p14:creationId xmlns:p14="http://schemas.microsoft.com/office/powerpoint/2010/main" val="3257293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07784"/>
            <a:ext cx="8823960" cy="2189696"/>
          </a:xfrm>
        </p:spPr>
        <p:txBody>
          <a:bodyPr>
            <a:normAutofit/>
          </a:bodyPr>
          <a:lstStyle/>
          <a:p>
            <a:pPr marL="0" indent="0" algn="just">
              <a:lnSpc>
                <a:spcPct val="110000"/>
              </a:lnSpc>
              <a:buNone/>
            </a:pPr>
            <a:r>
              <a:rPr lang="en-CA" dirty="0">
                <a:latin typeface="+mn-lt"/>
              </a:rPr>
              <a:t>A tank of 0.4 m</a:t>
            </a:r>
            <a:r>
              <a:rPr lang="en-CA" baseline="30000" dirty="0">
                <a:latin typeface="+mn-lt"/>
              </a:rPr>
              <a:t>3</a:t>
            </a:r>
            <a:r>
              <a:rPr lang="en-CA" dirty="0">
                <a:latin typeface="+mn-lt"/>
              </a:rPr>
              <a:t> volume contains compressed air. A valve is opened and air escapes with a velocity of 250 m/s through an opening of 100 mm</a:t>
            </a:r>
            <a:r>
              <a:rPr lang="en-CA" baseline="30000" dirty="0">
                <a:latin typeface="+mn-lt"/>
              </a:rPr>
              <a:t>2</a:t>
            </a:r>
            <a:r>
              <a:rPr lang="en-CA" dirty="0">
                <a:latin typeface="+mn-lt"/>
              </a:rPr>
              <a:t> area. The temperature of the air passing through the opening is -20</a:t>
            </a:r>
            <a:r>
              <a:rPr lang="en-CA" baseline="30000" dirty="0">
                <a:latin typeface="+mn-lt"/>
              </a:rPr>
              <a:t>o</a:t>
            </a:r>
            <a:r>
              <a:rPr lang="en-CA" dirty="0">
                <a:latin typeface="+mn-lt"/>
              </a:rPr>
              <a:t>C and the absolute pressure is 300 kPa. Find the rate of change of density of the air in the tank at this moment.</a:t>
            </a:r>
          </a:p>
          <a:p>
            <a:pPr marL="0" indent="0">
              <a:buNone/>
            </a:pPr>
            <a:endParaRPr lang="en-CA" dirty="0"/>
          </a:p>
        </p:txBody>
      </p:sp>
      <p:sp>
        <p:nvSpPr>
          <p:cNvPr id="4" name="TextBox 3"/>
          <p:cNvSpPr txBox="1"/>
          <p:nvPr/>
        </p:nvSpPr>
        <p:spPr>
          <a:xfrm>
            <a:off x="1414175" y="43687"/>
            <a:ext cx="5327036" cy="461665"/>
          </a:xfrm>
          <a:prstGeom prst="rect">
            <a:avLst/>
          </a:prstGeom>
          <a:noFill/>
        </p:spPr>
        <p:txBody>
          <a:bodyPr wrap="none" rtlCol="0">
            <a:spAutoFit/>
          </a:bodyPr>
          <a:lstStyle/>
          <a:p>
            <a:r>
              <a:rPr lang="en-CA" b="1" dirty="0">
                <a:latin typeface="+mn-lt"/>
                <a:ea typeface="Verdana" panose="020B0604030504040204" pitchFamily="34" charset="0"/>
                <a:cs typeface="Verdana" panose="020B0604030504040204" pitchFamily="34" charset="0"/>
              </a:rPr>
              <a:t>Example 2: Unsteady Compressible Flow</a:t>
            </a:r>
            <a:endParaRPr lang="en-CA" b="1" dirty="0">
              <a:latin typeface="+mn-lt"/>
            </a:endParaRPr>
          </a:p>
        </p:txBody>
      </p:sp>
      <p:sp>
        <p:nvSpPr>
          <p:cNvPr id="2" name="TextBox 1">
            <a:extLst>
              <a:ext uri="{FF2B5EF4-FFF2-40B4-BE49-F238E27FC236}">
                <a16:creationId xmlns:a16="http://schemas.microsoft.com/office/drawing/2014/main" id="{A744FDF9-E027-EA8D-BEAC-07AF5A4C44C6}"/>
              </a:ext>
            </a:extLst>
          </p:cNvPr>
          <p:cNvSpPr txBox="1"/>
          <p:nvPr/>
        </p:nvSpPr>
        <p:spPr>
          <a:xfrm>
            <a:off x="3603632" y="2648310"/>
            <a:ext cx="1385847" cy="461665"/>
          </a:xfrm>
          <a:prstGeom prst="rect">
            <a:avLst/>
          </a:prstGeom>
          <a:noFill/>
        </p:spPr>
        <p:txBody>
          <a:bodyPr wrap="square">
            <a:spAutoFit/>
          </a:bodyPr>
          <a:lstStyle/>
          <a:p>
            <a:r>
              <a:rPr lang="en-US" b="1" dirty="0">
                <a:latin typeface="+mn-lt"/>
              </a:rPr>
              <a:t>Solution:</a:t>
            </a:r>
          </a:p>
        </p:txBody>
      </p:sp>
      <p:pic>
        <p:nvPicPr>
          <p:cNvPr id="6" name="Picture 5">
            <a:extLst>
              <a:ext uri="{FF2B5EF4-FFF2-40B4-BE49-F238E27FC236}">
                <a16:creationId xmlns:a16="http://schemas.microsoft.com/office/drawing/2014/main" id="{406F2A19-AA42-D668-865D-82D381BED40C}"/>
              </a:ext>
            </a:extLst>
          </p:cNvPr>
          <p:cNvPicPr>
            <a:picLocks noChangeAspect="1"/>
          </p:cNvPicPr>
          <p:nvPr/>
        </p:nvPicPr>
        <p:blipFill>
          <a:blip r:embed="rId2"/>
          <a:stretch>
            <a:fillRect/>
          </a:stretch>
        </p:blipFill>
        <p:spPr>
          <a:xfrm>
            <a:off x="104583" y="2879142"/>
            <a:ext cx="2874505" cy="2044902"/>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E34578-FF34-1FE7-C6B4-71271B5B27C9}"/>
                  </a:ext>
                </a:extLst>
              </p:cNvPr>
              <p:cNvSpPr txBox="1"/>
              <p:nvPr/>
            </p:nvSpPr>
            <p:spPr>
              <a:xfrm>
                <a:off x="3463291" y="3205644"/>
                <a:ext cx="4576572" cy="9548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A" sz="2400" i="1" smtClean="0">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𝑉</m:t>
                          </m:r>
                        </m:sub>
                        <m:sup/>
                        <m:e>
                          <m:r>
                            <a:rPr lang="en-CA" sz="2400" b="0" i="1">
                              <a:solidFill>
                                <a:schemeClr val="tx1"/>
                              </a:solidFill>
                              <a:latin typeface="Cambria Math" panose="02040503050406030204" pitchFamily="18" charset="0"/>
                              <a:ea typeface="Cambria Math" panose="02040503050406030204" pitchFamily="18" charset="0"/>
                            </a:rPr>
                            <m:t>𝜌</m:t>
                          </m:r>
                          <m:r>
                            <a:rPr lang="en-CA" sz="2400" b="0" i="1">
                              <a:solidFill>
                                <a:schemeClr val="tx1"/>
                              </a:solidFill>
                              <a:latin typeface="Cambria Math" panose="02040503050406030204" pitchFamily="18" charset="0"/>
                              <a:ea typeface="Cambria Math" panose="02040503050406030204" pitchFamily="18" charset="0"/>
                            </a:rPr>
                            <m:t>𝑑</m:t>
                          </m:r>
                          <m:r>
                            <a:rPr lang="en-CA" sz="2400" b="0" i="1">
                              <a:solidFill>
                                <a:schemeClr val="tx1"/>
                              </a:solidFill>
                              <a:latin typeface="Cambria Math" panose="02040503050406030204" pitchFamily="18" charset="0"/>
                              <a:ea typeface="Cambria Math" panose="02040503050406030204" pitchFamily="18" charset="0"/>
                            </a:rPr>
                            <m:t>∀</m:t>
                          </m:r>
                        </m:e>
                      </m:nary>
                      <m:r>
                        <a:rPr lang="en-CA" sz="2400" b="0">
                          <a:solidFill>
                            <a:schemeClr val="tx1"/>
                          </a:solidFill>
                          <a:latin typeface="Cambria Math" panose="02040503050406030204" pitchFamily="18" charset="0"/>
                          <a:ea typeface="Cambria Math" panose="02040503050406030204" pitchFamily="18" charset="0"/>
                        </a:rPr>
                        <m:t>+</m:t>
                      </m:r>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r>
                            <a:rPr lang="en-CA" sz="2400" b="0" i="1">
                              <a:solidFill>
                                <a:schemeClr val="tx1"/>
                              </a:solidFill>
                              <a:latin typeface="Cambria Math" panose="02040503050406030204" pitchFamily="18" charset="0"/>
                              <a:ea typeface="Cambria Math" panose="02040503050406030204" pitchFamily="18" charset="0"/>
                            </a:rPr>
                            <m:t>𝜌</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r>
                        <a:rPr lang="en-CA" sz="2400" b="0" i="1">
                          <a:solidFill>
                            <a:schemeClr val="tx1"/>
                          </a:solidFill>
                          <a:latin typeface="Cambria Math" panose="02040503050406030204" pitchFamily="18" charset="0"/>
                          <a:ea typeface="Cambria Math" panose="02040503050406030204" pitchFamily="18" charset="0"/>
                        </a:rPr>
                        <m:t>=0</m:t>
                      </m:r>
                    </m:oMath>
                  </m:oMathPara>
                </a14:m>
                <a:endParaRPr lang="en-GH" dirty="0"/>
              </a:p>
            </p:txBody>
          </p:sp>
        </mc:Choice>
        <mc:Fallback xmlns="">
          <p:sp>
            <p:nvSpPr>
              <p:cNvPr id="7" name="TextBox 6">
                <a:extLst>
                  <a:ext uri="{FF2B5EF4-FFF2-40B4-BE49-F238E27FC236}">
                    <a16:creationId xmlns:a16="http://schemas.microsoft.com/office/drawing/2014/main" id="{DBE34578-FF34-1FE7-C6B4-71271B5B27C9}"/>
                  </a:ext>
                </a:extLst>
              </p:cNvPr>
              <p:cNvSpPr txBox="1">
                <a:spLocks noRot="1" noChangeAspect="1" noMove="1" noResize="1" noEditPoints="1" noAdjustHandles="1" noChangeArrowheads="1" noChangeShapeType="1" noTextEdit="1"/>
              </p:cNvSpPr>
              <p:nvPr/>
            </p:nvSpPr>
            <p:spPr>
              <a:xfrm>
                <a:off x="3463291" y="3205644"/>
                <a:ext cx="4576572" cy="954877"/>
              </a:xfrm>
              <a:prstGeom prst="rect">
                <a:avLst/>
              </a:prstGeom>
              <a:blipFill>
                <a:blip r:embed="rId3"/>
                <a:stretch>
                  <a:fillRect/>
                </a:stretch>
              </a:blipFill>
            </p:spPr>
            <p:txBody>
              <a:bodyPr/>
              <a:lstStyle/>
              <a:p>
                <a:r>
                  <a:rPr lang="en-GH">
                    <a:noFill/>
                  </a:rPr>
                  <a:t> </a:t>
                </a:r>
              </a:p>
            </p:txBody>
          </p:sp>
        </mc:Fallback>
      </mc:AlternateContent>
      <p:sp>
        <p:nvSpPr>
          <p:cNvPr id="8" name="TextBox 7">
            <a:extLst>
              <a:ext uri="{FF2B5EF4-FFF2-40B4-BE49-F238E27FC236}">
                <a16:creationId xmlns:a16="http://schemas.microsoft.com/office/drawing/2014/main" id="{BB1D59F0-9BBB-FCF3-C17D-DDBAF103F0D4}"/>
              </a:ext>
            </a:extLst>
          </p:cNvPr>
          <p:cNvSpPr txBox="1"/>
          <p:nvPr/>
        </p:nvSpPr>
        <p:spPr>
          <a:xfrm>
            <a:off x="2904367" y="4256190"/>
            <a:ext cx="5919593" cy="1569660"/>
          </a:xfrm>
          <a:prstGeom prst="rect">
            <a:avLst/>
          </a:prstGeom>
          <a:noFill/>
        </p:spPr>
        <p:txBody>
          <a:bodyPr wrap="square">
            <a:spAutoFit/>
          </a:bodyPr>
          <a:lstStyle/>
          <a:p>
            <a:r>
              <a:rPr lang="en-US" dirty="0">
                <a:latin typeface="+mn-lt"/>
              </a:rPr>
              <a:t>Assumptions:</a:t>
            </a:r>
          </a:p>
          <a:p>
            <a:pPr marL="457200" indent="-457200">
              <a:buAutoNum type="arabicPeriod"/>
            </a:pPr>
            <a:r>
              <a:rPr lang="en-US" dirty="0">
                <a:latin typeface="+mn-lt"/>
              </a:rPr>
              <a:t>Properties in the tank are uniform but depend on time</a:t>
            </a:r>
          </a:p>
          <a:p>
            <a:pPr marL="457200" indent="-457200">
              <a:buAutoNum type="arabicPeriod"/>
            </a:pPr>
            <a:r>
              <a:rPr lang="en-US" dirty="0">
                <a:latin typeface="+mn-lt"/>
              </a:rPr>
              <a:t>Uniform flow at Section 1 </a:t>
            </a:r>
            <a:endParaRPr lang="en-GH" dirty="0"/>
          </a:p>
        </p:txBody>
      </p:sp>
      <p:sp>
        <p:nvSpPr>
          <p:cNvPr id="5" name="Slide Number Placeholder 4">
            <a:extLst>
              <a:ext uri="{FF2B5EF4-FFF2-40B4-BE49-F238E27FC236}">
                <a16:creationId xmlns:a16="http://schemas.microsoft.com/office/drawing/2014/main" id="{6459713E-6AC2-443D-6DA1-EF0270194EE6}"/>
              </a:ext>
            </a:extLst>
          </p:cNvPr>
          <p:cNvSpPr>
            <a:spLocks noGrp="1"/>
          </p:cNvSpPr>
          <p:nvPr>
            <p:ph type="sldNum" sz="quarter" idx="12"/>
          </p:nvPr>
        </p:nvSpPr>
        <p:spPr/>
        <p:txBody>
          <a:bodyPr/>
          <a:lstStyle/>
          <a:p>
            <a:fld id="{49FCB85E-0F77-4855-90A7-7A1B61BB679B}" type="slidenum">
              <a:rPr lang="en-CA" smtClean="0"/>
              <a:t>26</a:t>
            </a:fld>
            <a:endParaRPr lang="en-CA"/>
          </a:p>
        </p:txBody>
      </p:sp>
    </p:spTree>
    <p:extLst>
      <p:ext uri="{BB962C8B-B14F-4D97-AF65-F5344CB8AC3E}">
        <p14:creationId xmlns:p14="http://schemas.microsoft.com/office/powerpoint/2010/main" val="49513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14175" y="43687"/>
            <a:ext cx="3730573" cy="461665"/>
          </a:xfrm>
          <a:prstGeom prst="rect">
            <a:avLst/>
          </a:prstGeom>
          <a:noFill/>
        </p:spPr>
        <p:txBody>
          <a:bodyPr wrap="none" rtlCol="0">
            <a:spAutoFit/>
          </a:bodyPr>
          <a:lstStyle/>
          <a:p>
            <a:r>
              <a:rPr lang="en-CA" b="1" dirty="0">
                <a:latin typeface="+mn-lt"/>
                <a:ea typeface="Verdana" panose="020B0604030504040204" pitchFamily="34" charset="0"/>
                <a:cs typeface="Verdana" panose="020B0604030504040204" pitchFamily="34" charset="0"/>
              </a:rPr>
              <a:t>Example 2 (Solution Contd.)</a:t>
            </a:r>
            <a:endParaRPr lang="en-CA" b="1" dirty="0">
              <a:latin typeface="+mn-l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E34578-FF34-1FE7-C6B4-71271B5B27C9}"/>
                  </a:ext>
                </a:extLst>
              </p:cNvPr>
              <p:cNvSpPr txBox="1"/>
              <p:nvPr/>
            </p:nvSpPr>
            <p:spPr>
              <a:xfrm>
                <a:off x="105156" y="597367"/>
                <a:ext cx="4576572" cy="10502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A" sz="2400" i="1" smtClean="0">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d>
                        <m:dPr>
                          <m:begChr m:val="["/>
                          <m:endChr m:val="]"/>
                          <m:ctrlPr>
                            <a:rPr lang="en-CA" sz="2400" b="0" i="1" smtClean="0">
                              <a:solidFill>
                                <a:schemeClr val="tx1"/>
                              </a:solidFill>
                              <a:latin typeface="Cambria Math" panose="02040503050406030204" pitchFamily="18" charset="0"/>
                              <a:ea typeface="Cambria Math" panose="02040503050406030204" pitchFamily="18" charset="0"/>
                            </a:rPr>
                          </m:ctrlPr>
                        </m:dPr>
                        <m:e>
                          <m:sSub>
                            <m:sSubPr>
                              <m:ctrlPr>
                                <a:rPr lang="en-CA" sz="2400" b="0" i="1" smtClean="0">
                                  <a:solidFill>
                                    <a:schemeClr val="tx1"/>
                                  </a:solidFill>
                                  <a:latin typeface="Cambria Math" panose="02040503050406030204" pitchFamily="18" charset="0"/>
                                  <a:ea typeface="Cambria Math" panose="02040503050406030204" pitchFamily="18" charset="0"/>
                                </a:rPr>
                              </m:ctrlPr>
                            </m:sSubPr>
                            <m:e>
                              <m:r>
                                <a:rPr lang="en-CA" sz="2400" b="0" i="1" smtClean="0">
                                  <a:solidFill>
                                    <a:schemeClr val="tx1"/>
                                  </a:solidFill>
                                  <a:latin typeface="Cambria Math" panose="02040503050406030204" pitchFamily="18" charset="0"/>
                                  <a:ea typeface="Cambria Math" panose="02040503050406030204" pitchFamily="18" charset="0"/>
                                </a:rPr>
                                <m:t>𝜌</m:t>
                              </m:r>
                            </m:e>
                            <m:sub>
                              <m:r>
                                <a:rPr lang="en-GB" sz="2400" b="0" i="1" smtClean="0">
                                  <a:solidFill>
                                    <a:schemeClr val="tx1"/>
                                  </a:solidFill>
                                  <a:latin typeface="Cambria Math" panose="02040503050406030204" pitchFamily="18" charset="0"/>
                                  <a:ea typeface="Cambria Math" panose="02040503050406030204" pitchFamily="18" charset="0"/>
                                </a:rPr>
                                <m:t>𝐶𝑉</m:t>
                              </m:r>
                            </m:sub>
                          </m:sSub>
                          <m:nary>
                            <m:naryPr>
                              <m:ctrlPr>
                                <a:rPr lang="en-CA" i="1">
                                  <a:latin typeface="Cambria Math" panose="02040503050406030204" pitchFamily="18" charset="0"/>
                                </a:rPr>
                              </m:ctrlPr>
                            </m:naryPr>
                            <m:sub>
                              <m:r>
                                <m:rPr>
                                  <m:brk m:alnAt="23"/>
                                </m:rPr>
                                <a:rPr lang="en-CA" i="1">
                                  <a:latin typeface="Cambria Math" panose="02040503050406030204" pitchFamily="18" charset="0"/>
                                </a:rPr>
                                <m:t>𝐶</m:t>
                              </m:r>
                              <m:r>
                                <a:rPr lang="en-CA" i="1">
                                  <a:latin typeface="Cambria Math" panose="02040503050406030204" pitchFamily="18" charset="0"/>
                                </a:rPr>
                                <m:t>𝑉</m:t>
                              </m:r>
                            </m:sub>
                            <m:sup/>
                            <m:e>
                              <m:r>
                                <a:rPr lang="en-CA" i="1">
                                  <a:latin typeface="Cambria Math" panose="02040503050406030204" pitchFamily="18" charset="0"/>
                                  <a:ea typeface="Cambria Math" panose="02040503050406030204" pitchFamily="18" charset="0"/>
                                </a:rPr>
                                <m:t>𝑑</m:t>
                              </m:r>
                              <m:r>
                                <a:rPr lang="en-CA" i="1">
                                  <a:latin typeface="Cambria Math" panose="02040503050406030204" pitchFamily="18" charset="0"/>
                                  <a:ea typeface="Cambria Math" panose="02040503050406030204" pitchFamily="18" charset="0"/>
                                </a:rPr>
                                <m:t>∀</m:t>
                              </m:r>
                            </m:e>
                          </m:nary>
                        </m:e>
                      </m:d>
                      <m:r>
                        <a:rPr lang="en-CA" sz="2400" b="0">
                          <a:solidFill>
                            <a:schemeClr val="tx1"/>
                          </a:solidFill>
                          <a:latin typeface="Cambria Math" panose="02040503050406030204" pitchFamily="18" charset="0"/>
                          <a:ea typeface="Cambria Math" panose="02040503050406030204" pitchFamily="18" charset="0"/>
                        </a:rPr>
                        <m:t>+</m:t>
                      </m:r>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r>
                            <a:rPr lang="en-CA" sz="2400" b="0" i="1">
                              <a:solidFill>
                                <a:schemeClr val="tx1"/>
                              </a:solidFill>
                              <a:latin typeface="Cambria Math" panose="02040503050406030204" pitchFamily="18" charset="0"/>
                              <a:ea typeface="Cambria Math" panose="02040503050406030204" pitchFamily="18" charset="0"/>
                            </a:rPr>
                            <m:t>𝜌</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r>
                        <a:rPr lang="en-CA" sz="2400" b="0" i="1">
                          <a:solidFill>
                            <a:schemeClr val="tx1"/>
                          </a:solidFill>
                          <a:latin typeface="Cambria Math" panose="02040503050406030204" pitchFamily="18" charset="0"/>
                          <a:ea typeface="Cambria Math" panose="02040503050406030204" pitchFamily="18" charset="0"/>
                        </a:rPr>
                        <m:t>=0</m:t>
                      </m:r>
                    </m:oMath>
                  </m:oMathPara>
                </a14:m>
                <a:endParaRPr lang="en-GH" dirty="0"/>
              </a:p>
            </p:txBody>
          </p:sp>
        </mc:Choice>
        <mc:Fallback xmlns="">
          <p:sp>
            <p:nvSpPr>
              <p:cNvPr id="7" name="TextBox 6">
                <a:extLst>
                  <a:ext uri="{FF2B5EF4-FFF2-40B4-BE49-F238E27FC236}">
                    <a16:creationId xmlns:a16="http://schemas.microsoft.com/office/drawing/2014/main" id="{DBE34578-FF34-1FE7-C6B4-71271B5B27C9}"/>
                  </a:ext>
                </a:extLst>
              </p:cNvPr>
              <p:cNvSpPr txBox="1">
                <a:spLocks noRot="1" noChangeAspect="1" noMove="1" noResize="1" noEditPoints="1" noAdjustHandles="1" noChangeArrowheads="1" noChangeShapeType="1" noTextEdit="1"/>
              </p:cNvSpPr>
              <p:nvPr/>
            </p:nvSpPr>
            <p:spPr>
              <a:xfrm>
                <a:off x="105156" y="597367"/>
                <a:ext cx="4576572" cy="1050224"/>
              </a:xfrm>
              <a:prstGeom prst="rect">
                <a:avLst/>
              </a:prstGeom>
              <a:blipFill>
                <a:blip r:embed="rId2"/>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7D86833-AF70-8DB6-129F-185C5D6FAD3B}"/>
                  </a:ext>
                </a:extLst>
              </p:cNvPr>
              <p:cNvSpPr txBox="1"/>
              <p:nvPr/>
            </p:nvSpPr>
            <p:spPr>
              <a:xfrm>
                <a:off x="105156" y="1683980"/>
                <a:ext cx="4576572" cy="95551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CA" sz="2400" i="1" smtClean="0">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sSub>
                        <m:sSubPr>
                          <m:ctrlPr>
                            <a:rPr lang="en-CA" i="1">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m:t>
                          </m:r>
                          <m:r>
                            <a:rPr lang="en-CA" i="1">
                              <a:latin typeface="Cambria Math" panose="02040503050406030204" pitchFamily="18" charset="0"/>
                              <a:ea typeface="Cambria Math" panose="02040503050406030204" pitchFamily="18" charset="0"/>
                            </a:rPr>
                            <m:t>𝜌</m:t>
                          </m:r>
                          <m:r>
                            <a:rPr lang="en-CA" i="1">
                              <a:latin typeface="Cambria Math" panose="02040503050406030204" pitchFamily="18" charset="0"/>
                              <a:ea typeface="Cambria Math" panose="02040503050406030204" pitchFamily="18" charset="0"/>
                            </a:rPr>
                            <m:t>∀)</m:t>
                          </m:r>
                        </m:e>
                        <m:sub>
                          <m:r>
                            <a:rPr lang="en-GB" i="1">
                              <a:latin typeface="Cambria Math" panose="02040503050406030204" pitchFamily="18" charset="0"/>
                              <a:ea typeface="Cambria Math" panose="02040503050406030204" pitchFamily="18" charset="0"/>
                            </a:rPr>
                            <m:t>𝐶𝑉</m:t>
                          </m:r>
                        </m:sub>
                      </m:sSub>
                      <m:r>
                        <a:rPr lang="en-CA" sz="2400" b="0">
                          <a:solidFill>
                            <a:schemeClr val="tx1"/>
                          </a:solidFill>
                          <a:latin typeface="Cambria Math" panose="02040503050406030204" pitchFamily="18" charset="0"/>
                          <a:ea typeface="Cambria Math" panose="02040503050406030204" pitchFamily="18" charset="0"/>
                        </a:rPr>
                        <m:t>+</m:t>
                      </m:r>
                      <m:nary>
                        <m:naryPr>
                          <m:ctrlPr>
                            <a:rPr lang="en-CA" sz="2400" i="1">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r>
                            <a:rPr lang="en-CA" sz="2400" b="0" i="1">
                              <a:solidFill>
                                <a:schemeClr val="tx1"/>
                              </a:solidFill>
                              <a:latin typeface="Cambria Math" panose="02040503050406030204" pitchFamily="18" charset="0"/>
                              <a:ea typeface="Cambria Math" panose="02040503050406030204" pitchFamily="18" charset="0"/>
                            </a:rPr>
                            <m:t>𝜌</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r>
                        <a:rPr lang="en-CA" sz="2400" b="0" i="1">
                          <a:solidFill>
                            <a:schemeClr val="tx1"/>
                          </a:solidFill>
                          <a:latin typeface="Cambria Math" panose="02040503050406030204" pitchFamily="18" charset="0"/>
                          <a:ea typeface="Cambria Math" panose="02040503050406030204" pitchFamily="18" charset="0"/>
                        </a:rPr>
                        <m:t>=0</m:t>
                      </m:r>
                    </m:oMath>
                  </m:oMathPara>
                </a14:m>
                <a:endParaRPr lang="en-GH" dirty="0"/>
              </a:p>
            </p:txBody>
          </p:sp>
        </mc:Choice>
        <mc:Fallback xmlns="">
          <p:sp>
            <p:nvSpPr>
              <p:cNvPr id="10" name="TextBox 9">
                <a:extLst>
                  <a:ext uri="{FF2B5EF4-FFF2-40B4-BE49-F238E27FC236}">
                    <a16:creationId xmlns:a16="http://schemas.microsoft.com/office/drawing/2014/main" id="{A7D86833-AF70-8DB6-129F-185C5D6FAD3B}"/>
                  </a:ext>
                </a:extLst>
              </p:cNvPr>
              <p:cNvSpPr txBox="1">
                <a:spLocks noRot="1" noChangeAspect="1" noMove="1" noResize="1" noEditPoints="1" noAdjustHandles="1" noChangeArrowheads="1" noChangeShapeType="1" noTextEdit="1"/>
              </p:cNvSpPr>
              <p:nvPr/>
            </p:nvSpPr>
            <p:spPr>
              <a:xfrm>
                <a:off x="105156" y="1683980"/>
                <a:ext cx="4576572" cy="955518"/>
              </a:xfrm>
              <a:prstGeom prst="rect">
                <a:avLst/>
              </a:prstGeom>
              <a:blipFill>
                <a:blip r:embed="rId3"/>
                <a:stretch>
                  <a:fillRect/>
                </a:stretch>
              </a:blipFill>
            </p:spPr>
            <p:txBody>
              <a:bodyPr/>
              <a:lstStyle/>
              <a:p>
                <a:r>
                  <a:rPr lang="en-GH">
                    <a:noFill/>
                  </a:rPr>
                  <a:t> </a:t>
                </a:r>
              </a:p>
            </p:txBody>
          </p:sp>
        </mc:Fallback>
      </mc:AlternateContent>
      <p:sp>
        <p:nvSpPr>
          <p:cNvPr id="12" name="TextBox 11">
            <a:extLst>
              <a:ext uri="{FF2B5EF4-FFF2-40B4-BE49-F238E27FC236}">
                <a16:creationId xmlns:a16="http://schemas.microsoft.com/office/drawing/2014/main" id="{8A67BF31-4A17-6D3A-10F8-D09126866A46}"/>
              </a:ext>
            </a:extLst>
          </p:cNvPr>
          <p:cNvSpPr txBox="1"/>
          <p:nvPr/>
        </p:nvSpPr>
        <p:spPr>
          <a:xfrm>
            <a:off x="105156" y="2672664"/>
            <a:ext cx="3595670" cy="461665"/>
          </a:xfrm>
          <a:prstGeom prst="rect">
            <a:avLst/>
          </a:prstGeom>
          <a:noFill/>
        </p:spPr>
        <p:txBody>
          <a:bodyPr wrap="square">
            <a:spAutoFit/>
          </a:bodyPr>
          <a:lstStyle/>
          <a:p>
            <a:r>
              <a:rPr lang="en-US" dirty="0">
                <a:latin typeface="+mn-lt"/>
              </a:rPr>
              <a:t>Evaluating term by term</a:t>
            </a:r>
            <a:endParaRPr lang="en-GH"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906D428-A7B5-0EB8-83F3-96F2DD8A47C7}"/>
                  </a:ext>
                </a:extLst>
              </p:cNvPr>
              <p:cNvSpPr txBox="1"/>
              <p:nvPr/>
            </p:nvSpPr>
            <p:spPr>
              <a:xfrm>
                <a:off x="105156" y="3125285"/>
                <a:ext cx="4576572" cy="7945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CA" sz="2400" i="1" smtClean="0">
                              <a:solidFill>
                                <a:schemeClr val="tx1"/>
                              </a:solidFill>
                              <a:latin typeface="Cambria Math" panose="02040503050406030204" pitchFamily="18" charset="0"/>
                            </a:rPr>
                          </m:ctrlPr>
                        </m:fPr>
                        <m:num>
                          <m:r>
                            <a:rPr lang="en-CA" sz="2400" b="0" i="1">
                              <a:solidFill>
                                <a:schemeClr val="tx1"/>
                              </a:solidFill>
                              <a:latin typeface="Cambria Math" panose="02040503050406030204" pitchFamily="18" charset="0"/>
                              <a:ea typeface="Cambria Math" panose="02040503050406030204" pitchFamily="18" charset="0"/>
                            </a:rPr>
                            <m:t>𝜕</m:t>
                          </m:r>
                        </m:num>
                        <m:den>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𝑡</m:t>
                          </m:r>
                        </m:den>
                      </m:f>
                      <m:sSub>
                        <m:sSubPr>
                          <m:ctrlPr>
                            <a:rPr lang="en-CA" i="1">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m:t>
                          </m:r>
                          <m:r>
                            <a:rPr lang="en-CA" i="1">
                              <a:latin typeface="Cambria Math" panose="02040503050406030204" pitchFamily="18" charset="0"/>
                              <a:ea typeface="Cambria Math" panose="02040503050406030204" pitchFamily="18" charset="0"/>
                            </a:rPr>
                            <m:t>𝜌</m:t>
                          </m:r>
                          <m:r>
                            <a:rPr lang="en-CA" i="1">
                              <a:latin typeface="Cambria Math" panose="02040503050406030204" pitchFamily="18" charset="0"/>
                              <a:ea typeface="Cambria Math" panose="02040503050406030204" pitchFamily="18" charset="0"/>
                            </a:rPr>
                            <m:t>∀)</m:t>
                          </m:r>
                        </m:e>
                        <m:sub>
                          <m:r>
                            <a:rPr lang="en-GB" i="1">
                              <a:latin typeface="Cambria Math" panose="02040503050406030204" pitchFamily="18" charset="0"/>
                              <a:ea typeface="Cambria Math" panose="02040503050406030204" pitchFamily="18" charset="0"/>
                            </a:rPr>
                            <m:t>𝐶𝑉</m:t>
                          </m:r>
                        </m:sub>
                      </m:sSub>
                      <m:r>
                        <a:rPr lang="en-CA" sz="2400" b="0" i="1">
                          <a:solidFill>
                            <a:schemeClr val="tx1"/>
                          </a:solidFill>
                          <a:latin typeface="Cambria Math" panose="02040503050406030204" pitchFamily="18" charset="0"/>
                          <a:ea typeface="Cambria Math" panose="02040503050406030204" pitchFamily="18" charset="0"/>
                        </a:rPr>
                        <m:t>=</m:t>
                      </m:r>
                      <m:f>
                        <m:fPr>
                          <m:ctrlPr>
                            <a:rPr lang="en-CA" i="1">
                              <a:latin typeface="Cambria Math" panose="02040503050406030204" pitchFamily="18" charset="0"/>
                            </a:rPr>
                          </m:ctrlPr>
                        </m:fPr>
                        <m:num>
                          <m:r>
                            <a:rPr lang="en-CA" i="1">
                              <a:latin typeface="Cambria Math" panose="02040503050406030204" pitchFamily="18" charset="0"/>
                              <a:ea typeface="Cambria Math" panose="02040503050406030204" pitchFamily="18" charset="0"/>
                            </a:rPr>
                            <m:t>𝜕</m:t>
                          </m:r>
                        </m:num>
                        <m:den>
                          <m:r>
                            <a:rPr lang="en-CA" i="1">
                              <a:latin typeface="Cambria Math" panose="02040503050406030204" pitchFamily="18" charset="0"/>
                              <a:ea typeface="Cambria Math" panose="02040503050406030204" pitchFamily="18" charset="0"/>
                            </a:rPr>
                            <m:t>𝜕</m:t>
                          </m:r>
                          <m:r>
                            <a:rPr lang="en-CA" i="1">
                              <a:latin typeface="Cambria Math" panose="02040503050406030204" pitchFamily="18" charset="0"/>
                              <a:ea typeface="Cambria Math" panose="02040503050406030204" pitchFamily="18" charset="0"/>
                            </a:rPr>
                            <m:t>𝑡</m:t>
                          </m:r>
                        </m:den>
                      </m:f>
                      <m:d>
                        <m:dPr>
                          <m:ctrlPr>
                            <a:rPr lang="en-GB" i="1">
                              <a:latin typeface="Cambria Math" panose="02040503050406030204" pitchFamily="18" charset="0"/>
                              <a:ea typeface="Cambria Math" panose="02040503050406030204" pitchFamily="18" charset="0"/>
                            </a:rPr>
                          </m:ctrlPr>
                        </m:dPr>
                        <m:e>
                          <m:r>
                            <a:rPr lang="en-CA" i="1">
                              <a:latin typeface="Cambria Math" panose="02040503050406030204" pitchFamily="18" charset="0"/>
                              <a:ea typeface="Cambria Math" panose="02040503050406030204" pitchFamily="18" charset="0"/>
                            </a:rPr>
                            <m:t>𝜌</m:t>
                          </m:r>
                          <m:r>
                            <a:rPr lang="en-CA" i="1">
                              <a:latin typeface="Cambria Math" panose="02040503050406030204" pitchFamily="18" charset="0"/>
                              <a:ea typeface="Cambria Math" panose="02040503050406030204" pitchFamily="18" charset="0"/>
                            </a:rPr>
                            <m:t>∀</m:t>
                          </m:r>
                        </m:e>
                      </m:d>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𝜕𝜌</m:t>
                          </m:r>
                        </m:num>
                        <m:den>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den>
                      </m:f>
                    </m:oMath>
                  </m:oMathPara>
                </a14:m>
                <a:endParaRPr lang="en-GH" dirty="0"/>
              </a:p>
            </p:txBody>
          </p:sp>
        </mc:Choice>
        <mc:Fallback xmlns="">
          <p:sp>
            <p:nvSpPr>
              <p:cNvPr id="13" name="TextBox 12">
                <a:extLst>
                  <a:ext uri="{FF2B5EF4-FFF2-40B4-BE49-F238E27FC236}">
                    <a16:creationId xmlns:a16="http://schemas.microsoft.com/office/drawing/2014/main" id="{4906D428-A7B5-0EB8-83F3-96F2DD8A47C7}"/>
                  </a:ext>
                </a:extLst>
              </p:cNvPr>
              <p:cNvSpPr txBox="1">
                <a:spLocks noRot="1" noChangeAspect="1" noMove="1" noResize="1" noEditPoints="1" noAdjustHandles="1" noChangeArrowheads="1" noChangeShapeType="1" noTextEdit="1"/>
              </p:cNvSpPr>
              <p:nvPr/>
            </p:nvSpPr>
            <p:spPr>
              <a:xfrm>
                <a:off x="105156" y="3125285"/>
                <a:ext cx="4576572" cy="794576"/>
              </a:xfrm>
              <a:prstGeom prst="rect">
                <a:avLst/>
              </a:prstGeom>
              <a:blipFill>
                <a:blip r:embed="rId4"/>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D4F434-C259-C7A7-E0BE-AA32DBF95650}"/>
                  </a:ext>
                </a:extLst>
              </p:cNvPr>
              <p:cNvSpPr txBox="1"/>
              <p:nvPr/>
            </p:nvSpPr>
            <p:spPr>
              <a:xfrm>
                <a:off x="0" y="4093076"/>
                <a:ext cx="4940670" cy="95551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ctrlPr>
                            <a:rPr lang="en-CA" sz="2400" i="1" smtClean="0">
                              <a:solidFill>
                                <a:schemeClr val="tx1"/>
                              </a:solidFill>
                              <a:latin typeface="Cambria Math" panose="02040503050406030204" pitchFamily="18" charset="0"/>
                            </a:rPr>
                          </m:ctrlPr>
                        </m:naryPr>
                        <m:sub>
                          <m:r>
                            <m:rPr>
                              <m:brk m:alnAt="23"/>
                            </m:rPr>
                            <a:rPr lang="en-CA" sz="2400" b="0" i="1">
                              <a:solidFill>
                                <a:schemeClr val="tx1"/>
                              </a:solidFill>
                              <a:latin typeface="Cambria Math" panose="02040503050406030204" pitchFamily="18" charset="0"/>
                            </a:rPr>
                            <m:t>𝐶</m:t>
                          </m:r>
                          <m:r>
                            <a:rPr lang="en-CA" sz="2400" b="0" i="1">
                              <a:solidFill>
                                <a:schemeClr val="tx1"/>
                              </a:solidFill>
                              <a:latin typeface="Cambria Math" panose="02040503050406030204" pitchFamily="18" charset="0"/>
                            </a:rPr>
                            <m:t>𝑆</m:t>
                          </m:r>
                        </m:sub>
                        <m:sup/>
                        <m:e>
                          <m:r>
                            <a:rPr lang="en-CA" sz="2400" b="0" i="1">
                              <a:solidFill>
                                <a:schemeClr val="tx1"/>
                              </a:solidFill>
                              <a:latin typeface="Cambria Math" panose="02040503050406030204" pitchFamily="18" charset="0"/>
                              <a:ea typeface="Cambria Math" panose="02040503050406030204" pitchFamily="18" charset="0"/>
                            </a:rPr>
                            <m:t>𝜌</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𝑉</m:t>
                              </m:r>
                            </m:e>
                          </m:acc>
                          <m:r>
                            <a:rPr lang="en-CA" sz="2400" b="0" i="1">
                              <a:solidFill>
                                <a:schemeClr val="tx1"/>
                              </a:solidFill>
                              <a:latin typeface="Cambria Math" panose="02040503050406030204" pitchFamily="18" charset="0"/>
                              <a:ea typeface="Cambria Math" panose="02040503050406030204" pitchFamily="18" charset="0"/>
                            </a:rPr>
                            <m:t>∙</m:t>
                          </m:r>
                          <m:r>
                            <a:rPr lang="en-CA" sz="2400" b="0" i="1">
                              <a:solidFill>
                                <a:schemeClr val="tx1"/>
                              </a:solidFill>
                              <a:latin typeface="Cambria Math" panose="02040503050406030204" pitchFamily="18" charset="0"/>
                              <a:ea typeface="Cambria Math" panose="02040503050406030204" pitchFamily="18" charset="0"/>
                            </a:rPr>
                            <m:t>𝑑</m:t>
                          </m:r>
                          <m:acc>
                            <m:accPr>
                              <m:chr m:val="⃗"/>
                              <m:ctrlPr>
                                <a:rPr lang="en-CA" sz="2400" i="1">
                                  <a:solidFill>
                                    <a:schemeClr val="tx1"/>
                                  </a:solidFill>
                                  <a:latin typeface="Cambria Math" panose="02040503050406030204" pitchFamily="18" charset="0"/>
                                  <a:ea typeface="Cambria Math" panose="02040503050406030204" pitchFamily="18" charset="0"/>
                                </a:rPr>
                              </m:ctrlPr>
                            </m:accPr>
                            <m:e>
                              <m:r>
                                <a:rPr lang="en-CA" sz="2400" b="0" i="1">
                                  <a:solidFill>
                                    <a:schemeClr val="tx1"/>
                                  </a:solidFill>
                                  <a:latin typeface="Cambria Math" panose="02040503050406030204" pitchFamily="18" charset="0"/>
                                  <a:ea typeface="Cambria Math" panose="02040503050406030204" pitchFamily="18" charset="0"/>
                                </a:rPr>
                                <m:t>𝐴</m:t>
                              </m:r>
                            </m:e>
                          </m:acc>
                        </m:e>
                      </m:nary>
                      <m:r>
                        <a:rPr lang="en-CA" sz="2400" b="0" i="1">
                          <a:solidFill>
                            <a:schemeClr val="tx1"/>
                          </a:solidFill>
                          <a:latin typeface="Cambria Math" panose="02040503050406030204" pitchFamily="18" charset="0"/>
                          <a:ea typeface="Cambria Math" panose="02040503050406030204" pitchFamily="18" charset="0"/>
                        </a:rPr>
                        <m:t>=</m:t>
                      </m:r>
                      <m:nary>
                        <m:naryPr>
                          <m:chr m:val="∑"/>
                          <m:limLoc m:val="subSup"/>
                          <m:ctrlPr>
                            <a:rPr lang="en-CA" i="1">
                              <a:latin typeface="Cambria Math" panose="02040503050406030204" pitchFamily="18" charset="0"/>
                              <a:ea typeface="Cambria Math" panose="02040503050406030204" pitchFamily="18" charset="0"/>
                            </a:rPr>
                          </m:ctrlPr>
                        </m:naryPr>
                        <m:sub>
                          <m:r>
                            <m:rPr>
                              <m:brk m:alnAt="25"/>
                            </m:rPr>
                            <a:rPr lang="en-CA" b="0" i="1">
                              <a:latin typeface="Cambria Math" panose="02040503050406030204" pitchFamily="18" charset="0"/>
                              <a:ea typeface="Cambria Math" panose="02040503050406030204" pitchFamily="18" charset="0"/>
                            </a:rPr>
                            <m:t>𝐶</m:t>
                          </m:r>
                          <m:r>
                            <a:rPr lang="en-CA" b="0" i="1">
                              <a:latin typeface="Cambria Math" panose="02040503050406030204" pitchFamily="18" charset="0"/>
                              <a:ea typeface="Cambria Math" panose="02040503050406030204" pitchFamily="18" charset="0"/>
                            </a:rPr>
                            <m:t>𝑆</m:t>
                          </m:r>
                        </m:sub>
                        <m:sup/>
                        <m:e>
                          <m:r>
                            <a:rPr lang="en-CA" i="1" smtClean="0">
                              <a:latin typeface="Cambria Math" panose="02040503050406030204" pitchFamily="18" charset="0"/>
                              <a:ea typeface="Cambria Math" panose="02040503050406030204" pitchFamily="18" charset="0"/>
                            </a:rPr>
                            <m:t>𝜌</m:t>
                          </m:r>
                          <m:acc>
                            <m:accPr>
                              <m:chr m:val="⃗"/>
                              <m:ctrlPr>
                                <a:rPr lang="en-CA" i="1">
                                  <a:latin typeface="Cambria Math" panose="02040503050406030204" pitchFamily="18" charset="0"/>
                                  <a:ea typeface="Cambria Math" panose="02040503050406030204" pitchFamily="18" charset="0"/>
                                </a:rPr>
                              </m:ctrlPr>
                            </m:accPr>
                            <m:e>
                              <m:r>
                                <a:rPr lang="en-CA" b="0" i="1">
                                  <a:latin typeface="Cambria Math" panose="02040503050406030204" pitchFamily="18" charset="0"/>
                                  <a:ea typeface="Cambria Math" panose="02040503050406030204" pitchFamily="18" charset="0"/>
                                </a:rPr>
                                <m:t>𝑉</m:t>
                              </m:r>
                            </m:e>
                          </m:acc>
                          <m:r>
                            <a:rPr lang="en-CA" b="0" i="1">
                              <a:latin typeface="Cambria Math" panose="02040503050406030204" pitchFamily="18" charset="0"/>
                              <a:ea typeface="Cambria Math" panose="02040503050406030204" pitchFamily="18" charset="0"/>
                            </a:rPr>
                            <m:t>∙</m:t>
                          </m:r>
                          <m:acc>
                            <m:accPr>
                              <m:chr m:val="⃗"/>
                              <m:ctrlPr>
                                <a:rPr lang="en-CA" i="1">
                                  <a:latin typeface="Cambria Math" panose="02040503050406030204" pitchFamily="18" charset="0"/>
                                  <a:ea typeface="Cambria Math" panose="02040503050406030204" pitchFamily="18" charset="0"/>
                                </a:rPr>
                              </m:ctrlPr>
                            </m:accPr>
                            <m:e>
                              <m:r>
                                <a:rPr lang="en-CA" b="0" i="1">
                                  <a:latin typeface="Cambria Math" panose="02040503050406030204" pitchFamily="18" charset="0"/>
                                  <a:ea typeface="Cambria Math" panose="02040503050406030204" pitchFamily="18" charset="0"/>
                                </a:rPr>
                                <m:t>𝐴</m:t>
                              </m:r>
                            </m:e>
                          </m:acc>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𝜌</m:t>
                              </m:r>
                            </m:e>
                            <m:sub>
                              <m:r>
                                <a:rPr lang="en-GB" b="0" i="1" smtClean="0">
                                  <a:latin typeface="Cambria Math" panose="02040503050406030204" pitchFamily="18" charset="0"/>
                                  <a:ea typeface="Cambria Math" panose="02040503050406030204" pitchFamily="18" charset="0"/>
                                </a:rPr>
                                <m:t>1</m:t>
                              </m:r>
                            </m:sub>
                          </m:sSub>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𝑉</m:t>
                              </m:r>
                            </m:e>
                            <m:sub>
                              <m:r>
                                <a:rPr lang="en-GB" b="0" i="1" smtClean="0">
                                  <a:latin typeface="Cambria Math" panose="02040503050406030204" pitchFamily="18" charset="0"/>
                                  <a:ea typeface="Cambria Math" panose="02040503050406030204" pitchFamily="18" charset="0"/>
                                </a:rPr>
                                <m:t>1</m:t>
                              </m:r>
                            </m:sub>
                          </m:sSub>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𝐴</m:t>
                              </m:r>
                            </m:e>
                            <m:sub>
                              <m:r>
                                <a:rPr lang="en-GB" b="0" i="1" smtClean="0">
                                  <a:latin typeface="Cambria Math" panose="02040503050406030204" pitchFamily="18" charset="0"/>
                                  <a:ea typeface="Cambria Math" panose="02040503050406030204" pitchFamily="18" charset="0"/>
                                </a:rPr>
                                <m:t>1</m:t>
                              </m:r>
                            </m:sub>
                          </m:sSub>
                        </m:e>
                      </m:nary>
                    </m:oMath>
                  </m:oMathPara>
                </a14:m>
                <a:endParaRPr lang="en-GH" dirty="0"/>
              </a:p>
            </p:txBody>
          </p:sp>
        </mc:Choice>
        <mc:Fallback xmlns="">
          <p:sp>
            <p:nvSpPr>
              <p:cNvPr id="14" name="TextBox 13">
                <a:extLst>
                  <a:ext uri="{FF2B5EF4-FFF2-40B4-BE49-F238E27FC236}">
                    <a16:creationId xmlns:a16="http://schemas.microsoft.com/office/drawing/2014/main" id="{9FD4F434-C259-C7A7-E0BE-AA32DBF95650}"/>
                  </a:ext>
                </a:extLst>
              </p:cNvPr>
              <p:cNvSpPr txBox="1">
                <a:spLocks noRot="1" noChangeAspect="1" noMove="1" noResize="1" noEditPoints="1" noAdjustHandles="1" noChangeArrowheads="1" noChangeShapeType="1" noTextEdit="1"/>
              </p:cNvSpPr>
              <p:nvPr/>
            </p:nvSpPr>
            <p:spPr>
              <a:xfrm>
                <a:off x="0" y="4093076"/>
                <a:ext cx="4940670" cy="955518"/>
              </a:xfrm>
              <a:prstGeom prst="rect">
                <a:avLst/>
              </a:prstGeom>
              <a:blipFill>
                <a:blip r:embed="rId5"/>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1782CA7-5534-69D2-0FF7-346AD67AAC43}"/>
                  </a:ext>
                </a:extLst>
              </p:cNvPr>
              <p:cNvSpPr txBox="1"/>
              <p:nvPr/>
            </p:nvSpPr>
            <p:spPr>
              <a:xfrm>
                <a:off x="33251" y="5174020"/>
                <a:ext cx="4576572" cy="7945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𝜕𝜌</m:t>
                          </m:r>
                        </m:num>
                        <m:den>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den>
                      </m:f>
                      <m:r>
                        <a:rPr lang="en-GB"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𝜌</m:t>
                          </m:r>
                        </m:e>
                        <m:sub>
                          <m:r>
                            <a:rPr lang="en-GB" i="1">
                              <a:latin typeface="Cambria Math" panose="02040503050406030204" pitchFamily="18" charset="0"/>
                              <a:ea typeface="Cambria Math" panose="02040503050406030204" pitchFamily="18" charset="0"/>
                            </a:rPr>
                            <m:t>1</m:t>
                          </m:r>
                        </m:sub>
                      </m:sSub>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𝑉</m:t>
                          </m:r>
                        </m:e>
                        <m:sub>
                          <m:r>
                            <a:rPr lang="en-GB" i="1">
                              <a:latin typeface="Cambria Math" panose="02040503050406030204" pitchFamily="18" charset="0"/>
                              <a:ea typeface="Cambria Math" panose="02040503050406030204" pitchFamily="18" charset="0"/>
                            </a:rPr>
                            <m:t>1</m:t>
                          </m:r>
                        </m:sub>
                      </m:sSub>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𝐴</m:t>
                          </m:r>
                        </m:e>
                        <m:sub>
                          <m:r>
                            <a:rPr lang="en-GB" i="1">
                              <a:latin typeface="Cambria Math" panose="02040503050406030204" pitchFamily="18" charset="0"/>
                              <a:ea typeface="Cambria Math" panose="02040503050406030204" pitchFamily="18" charset="0"/>
                            </a:rPr>
                            <m:t>1</m:t>
                          </m:r>
                        </m:sub>
                      </m:sSub>
                      <m:r>
                        <a:rPr lang="en-GB" b="0" i="1" smtClean="0">
                          <a:latin typeface="Cambria Math" panose="02040503050406030204" pitchFamily="18" charset="0"/>
                          <a:ea typeface="Cambria Math" panose="02040503050406030204" pitchFamily="18" charset="0"/>
                        </a:rPr>
                        <m:t>=0</m:t>
                      </m:r>
                    </m:oMath>
                  </m:oMathPara>
                </a14:m>
                <a:endParaRPr lang="en-GH" dirty="0"/>
              </a:p>
            </p:txBody>
          </p:sp>
        </mc:Choice>
        <mc:Fallback xmlns="">
          <p:sp>
            <p:nvSpPr>
              <p:cNvPr id="15" name="TextBox 14">
                <a:extLst>
                  <a:ext uri="{FF2B5EF4-FFF2-40B4-BE49-F238E27FC236}">
                    <a16:creationId xmlns:a16="http://schemas.microsoft.com/office/drawing/2014/main" id="{01782CA7-5534-69D2-0FF7-346AD67AAC43}"/>
                  </a:ext>
                </a:extLst>
              </p:cNvPr>
              <p:cNvSpPr txBox="1">
                <a:spLocks noRot="1" noChangeAspect="1" noMove="1" noResize="1" noEditPoints="1" noAdjustHandles="1" noChangeArrowheads="1" noChangeShapeType="1" noTextEdit="1"/>
              </p:cNvSpPr>
              <p:nvPr/>
            </p:nvSpPr>
            <p:spPr>
              <a:xfrm>
                <a:off x="33251" y="5174020"/>
                <a:ext cx="4576572" cy="794576"/>
              </a:xfrm>
              <a:prstGeom prst="rect">
                <a:avLst/>
              </a:prstGeom>
              <a:blipFill>
                <a:blip r:embed="rId6"/>
                <a:stretch>
                  <a:fillRect/>
                </a:stretch>
              </a:blipFill>
            </p:spPr>
            <p:txBody>
              <a:bodyPr/>
              <a:lstStyle/>
              <a:p>
                <a:r>
                  <a:rPr lang="en-GH">
                    <a:noFill/>
                  </a:rPr>
                  <a:t> </a:t>
                </a:r>
              </a:p>
            </p:txBody>
          </p:sp>
        </mc:Fallback>
      </mc:AlternateContent>
      <p:cxnSp>
        <p:nvCxnSpPr>
          <p:cNvPr id="16" name="Straight Connector 15">
            <a:extLst>
              <a:ext uri="{FF2B5EF4-FFF2-40B4-BE49-F238E27FC236}">
                <a16:creationId xmlns:a16="http://schemas.microsoft.com/office/drawing/2014/main" id="{CA1352E9-0978-9544-549C-8C3C798EDA44}"/>
              </a:ext>
            </a:extLst>
          </p:cNvPr>
          <p:cNvCxnSpPr>
            <a:cxnSpLocks/>
          </p:cNvCxnSpPr>
          <p:nvPr/>
        </p:nvCxnSpPr>
        <p:spPr>
          <a:xfrm>
            <a:off x="4828032" y="511004"/>
            <a:ext cx="0" cy="5532349"/>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3C0678D-DFAE-F8D9-FDA8-A1CD62E1C56F}"/>
                  </a:ext>
                </a:extLst>
              </p:cNvPr>
              <p:cNvSpPr txBox="1"/>
              <p:nvPr/>
            </p:nvSpPr>
            <p:spPr>
              <a:xfrm>
                <a:off x="5128541" y="473368"/>
                <a:ext cx="3829852" cy="81804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𝜕𝜌</m:t>
                          </m:r>
                        </m:num>
                        <m:den>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den>
                      </m:f>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𝜌</m:t>
                              </m:r>
                            </m:e>
                            <m:sub>
                              <m:r>
                                <a:rPr lang="en-GB" i="1">
                                  <a:latin typeface="Cambria Math" panose="02040503050406030204" pitchFamily="18" charset="0"/>
                                  <a:ea typeface="Cambria Math" panose="02040503050406030204" pitchFamily="18" charset="0"/>
                                </a:rPr>
                                <m:t>1</m:t>
                              </m:r>
                            </m:sub>
                          </m:sSub>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𝑉</m:t>
                              </m:r>
                            </m:e>
                            <m:sub>
                              <m:r>
                                <a:rPr lang="en-GB" i="1">
                                  <a:latin typeface="Cambria Math" panose="02040503050406030204" pitchFamily="18" charset="0"/>
                                  <a:ea typeface="Cambria Math" panose="02040503050406030204" pitchFamily="18" charset="0"/>
                                </a:rPr>
                                <m:t>1</m:t>
                              </m:r>
                            </m:sub>
                          </m:sSub>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𝐴</m:t>
                              </m:r>
                            </m:e>
                            <m:sub>
                              <m:r>
                                <a:rPr lang="en-GB" i="1">
                                  <a:latin typeface="Cambria Math" panose="02040503050406030204" pitchFamily="18" charset="0"/>
                                  <a:ea typeface="Cambria Math" panose="02040503050406030204" pitchFamily="18" charset="0"/>
                                </a:rPr>
                                <m:t>1</m:t>
                              </m:r>
                            </m:sub>
                          </m:sSub>
                        </m:num>
                        <m:den>
                          <m:r>
                            <a:rPr lang="en-GB" i="1">
                              <a:latin typeface="Cambria Math" panose="02040503050406030204" pitchFamily="18" charset="0"/>
                              <a:ea typeface="Cambria Math" panose="02040503050406030204" pitchFamily="18" charset="0"/>
                            </a:rPr>
                            <m:t>∀</m:t>
                          </m:r>
                        </m:den>
                      </m:f>
                    </m:oMath>
                  </m:oMathPara>
                </a14:m>
                <a:endParaRPr lang="en-GH" dirty="0"/>
              </a:p>
            </p:txBody>
          </p:sp>
        </mc:Choice>
        <mc:Fallback xmlns="">
          <p:sp>
            <p:nvSpPr>
              <p:cNvPr id="17" name="TextBox 16">
                <a:extLst>
                  <a:ext uri="{FF2B5EF4-FFF2-40B4-BE49-F238E27FC236}">
                    <a16:creationId xmlns:a16="http://schemas.microsoft.com/office/drawing/2014/main" id="{A3C0678D-DFAE-F8D9-FDA8-A1CD62E1C56F}"/>
                  </a:ext>
                </a:extLst>
              </p:cNvPr>
              <p:cNvSpPr txBox="1">
                <a:spLocks noRot="1" noChangeAspect="1" noMove="1" noResize="1" noEditPoints="1" noAdjustHandles="1" noChangeArrowheads="1" noChangeShapeType="1" noTextEdit="1"/>
              </p:cNvSpPr>
              <p:nvPr/>
            </p:nvSpPr>
            <p:spPr>
              <a:xfrm>
                <a:off x="5128541" y="473368"/>
                <a:ext cx="3829852" cy="818044"/>
              </a:xfrm>
              <a:prstGeom prst="rect">
                <a:avLst/>
              </a:prstGeom>
              <a:blipFill>
                <a:blip r:embed="rId7"/>
                <a:stretch>
                  <a:fillRect/>
                </a:stretch>
              </a:blipFill>
            </p:spPr>
            <p:txBody>
              <a:bodyPr/>
              <a:lstStyle/>
              <a:p>
                <a:r>
                  <a:rPr lang="en-GH">
                    <a:noFill/>
                  </a:rPr>
                  <a:t> </a:t>
                </a:r>
              </a:p>
            </p:txBody>
          </p:sp>
        </mc:Fallback>
      </mc:AlternateContent>
      <p:sp>
        <p:nvSpPr>
          <p:cNvPr id="18" name="TextBox 17">
            <a:extLst>
              <a:ext uri="{FF2B5EF4-FFF2-40B4-BE49-F238E27FC236}">
                <a16:creationId xmlns:a16="http://schemas.microsoft.com/office/drawing/2014/main" id="{51B5850D-6DC7-C6F0-0D80-4ECD4FE0886F}"/>
              </a:ext>
            </a:extLst>
          </p:cNvPr>
          <p:cNvSpPr txBox="1"/>
          <p:nvPr/>
        </p:nvSpPr>
        <p:spPr>
          <a:xfrm>
            <a:off x="5128541" y="1338263"/>
            <a:ext cx="3829852" cy="1200329"/>
          </a:xfrm>
          <a:prstGeom prst="rect">
            <a:avLst/>
          </a:prstGeom>
          <a:noFill/>
        </p:spPr>
        <p:txBody>
          <a:bodyPr wrap="square">
            <a:spAutoFit/>
          </a:bodyPr>
          <a:lstStyle/>
          <a:p>
            <a:r>
              <a:rPr lang="en-US" dirty="0">
                <a:latin typeface="+mn-lt"/>
              </a:rPr>
              <a:t>Using the ideal gas equation, the density at </a:t>
            </a:r>
            <a:r>
              <a:rPr lang="en-US">
                <a:latin typeface="+mn-lt"/>
              </a:rPr>
              <a:t>Section 1 can </a:t>
            </a:r>
            <a:r>
              <a:rPr lang="en-US" dirty="0">
                <a:latin typeface="+mn-lt"/>
              </a:rPr>
              <a:t>be calculated as</a:t>
            </a:r>
            <a:endParaRPr lang="en-GH"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062F542-07BA-0A67-9D90-7886973E3E34}"/>
                  </a:ext>
                </a:extLst>
              </p:cNvPr>
              <p:cNvSpPr txBox="1"/>
              <p:nvPr/>
            </p:nvSpPr>
            <p:spPr>
              <a:xfrm>
                <a:off x="5224608" y="2604288"/>
                <a:ext cx="312350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𝑃</m:t>
                          </m:r>
                        </m:e>
                        <m:sub>
                          <m:r>
                            <a:rPr lang="en-GB" b="0" i="1" smtClean="0">
                              <a:latin typeface="Cambria Math" panose="02040503050406030204" pitchFamily="18" charset="0"/>
                              <a:ea typeface="Cambria Math" panose="02040503050406030204" pitchFamily="18" charset="0"/>
                            </a:rPr>
                            <m:t>1</m:t>
                          </m:r>
                        </m:sub>
                      </m:sSub>
                      <m:r>
                        <a:rPr lang="en-GB"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𝜌</m:t>
                          </m:r>
                        </m:e>
                        <m:sub>
                          <m:r>
                            <a:rPr lang="en-GB" i="1">
                              <a:latin typeface="Cambria Math" panose="02040503050406030204" pitchFamily="18" charset="0"/>
                              <a:ea typeface="Cambria Math" panose="02040503050406030204" pitchFamily="18" charset="0"/>
                            </a:rPr>
                            <m:t>1</m:t>
                          </m:r>
                        </m:sub>
                      </m:sSub>
                      <m:r>
                        <a:rPr lang="en-GB" b="0" i="1" smtClean="0">
                          <a:latin typeface="Cambria Math" panose="02040503050406030204" pitchFamily="18" charset="0"/>
                          <a:ea typeface="Cambria Math" panose="02040503050406030204" pitchFamily="18" charset="0"/>
                        </a:rPr>
                        <m:t>𝑅</m:t>
                      </m:r>
                      <m:sSub>
                        <m:sSubPr>
                          <m:ctrlPr>
                            <a:rPr lang="en-GB" i="1">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𝑇</m:t>
                          </m:r>
                        </m:e>
                        <m:sub>
                          <m:r>
                            <a:rPr lang="en-GB" i="1">
                              <a:latin typeface="Cambria Math" panose="02040503050406030204" pitchFamily="18" charset="0"/>
                              <a:ea typeface="Cambria Math" panose="02040503050406030204" pitchFamily="18" charset="0"/>
                            </a:rPr>
                            <m:t>1</m:t>
                          </m:r>
                        </m:sub>
                      </m:sSub>
                    </m:oMath>
                  </m:oMathPara>
                </a14:m>
                <a:endParaRPr lang="en-GH" dirty="0"/>
              </a:p>
            </p:txBody>
          </p:sp>
        </mc:Choice>
        <mc:Fallback xmlns="">
          <p:sp>
            <p:nvSpPr>
              <p:cNvPr id="20" name="TextBox 19">
                <a:extLst>
                  <a:ext uri="{FF2B5EF4-FFF2-40B4-BE49-F238E27FC236}">
                    <a16:creationId xmlns:a16="http://schemas.microsoft.com/office/drawing/2014/main" id="{7062F542-07BA-0A67-9D90-7886973E3E34}"/>
                  </a:ext>
                </a:extLst>
              </p:cNvPr>
              <p:cNvSpPr txBox="1">
                <a:spLocks noRot="1" noChangeAspect="1" noMove="1" noResize="1" noEditPoints="1" noAdjustHandles="1" noChangeArrowheads="1" noChangeShapeType="1" noTextEdit="1"/>
              </p:cNvSpPr>
              <p:nvPr/>
            </p:nvSpPr>
            <p:spPr>
              <a:xfrm>
                <a:off x="5224608" y="2604288"/>
                <a:ext cx="3123508" cy="461665"/>
              </a:xfrm>
              <a:prstGeom prst="rect">
                <a:avLst/>
              </a:prstGeom>
              <a:blipFill>
                <a:blip r:embed="rId8"/>
                <a:stretch>
                  <a:fillRect l="-391" b="-11842"/>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43CE7BC-CBCB-0EFC-16B4-A4668D01FE2F}"/>
                  </a:ext>
                </a:extLst>
              </p:cNvPr>
              <p:cNvSpPr txBox="1"/>
              <p:nvPr/>
            </p:nvSpPr>
            <p:spPr>
              <a:xfrm>
                <a:off x="4940670" y="3052215"/>
                <a:ext cx="4180471" cy="16508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𝜌</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𝑃</m:t>
                              </m:r>
                            </m:e>
                            <m:sub>
                              <m:r>
                                <a:rPr lang="en-GB" i="1">
                                  <a:latin typeface="Cambria Math" panose="02040503050406030204" pitchFamily="18" charset="0"/>
                                  <a:ea typeface="Cambria Math" panose="02040503050406030204" pitchFamily="18" charset="0"/>
                                </a:rPr>
                                <m:t>1</m:t>
                              </m:r>
                            </m:sub>
                          </m:sSub>
                        </m:num>
                        <m:den>
                          <m:r>
                            <a:rPr lang="en-GB" i="1">
                              <a:latin typeface="Cambria Math" panose="02040503050406030204" pitchFamily="18" charset="0"/>
                              <a:ea typeface="Cambria Math" panose="02040503050406030204" pitchFamily="18" charset="0"/>
                            </a:rPr>
                            <m:t>𝑅</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𝑇</m:t>
                              </m:r>
                            </m:e>
                            <m:sub>
                              <m:r>
                                <a:rPr lang="en-GB" i="1">
                                  <a:latin typeface="Cambria Math" panose="02040503050406030204" pitchFamily="18" charset="0"/>
                                  <a:ea typeface="Cambria Math" panose="02040503050406030204" pitchFamily="18" charset="0"/>
                                </a:rPr>
                                <m:t>1</m:t>
                              </m:r>
                            </m:sub>
                          </m:sSub>
                        </m:den>
                      </m:f>
                      <m:r>
                        <a:rPr lang="en-GB" b="0" i="1" smtClean="0">
                          <a:latin typeface="Cambria Math" panose="02040503050406030204" pitchFamily="18" charset="0"/>
                          <a:ea typeface="Cambria Math" panose="02040503050406030204" pitchFamily="18" charset="0"/>
                        </a:rPr>
                        <m:t>  =</m:t>
                      </m:r>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300×</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10</m:t>
                              </m:r>
                            </m:e>
                            <m:sup>
                              <m:r>
                                <a:rPr lang="en-GB" b="0" i="1" smtClean="0">
                                  <a:latin typeface="Cambria Math" panose="02040503050406030204" pitchFamily="18" charset="0"/>
                                  <a:ea typeface="Cambria Math" panose="02040503050406030204" pitchFamily="18" charset="0"/>
                                </a:rPr>
                                <m:t>3</m:t>
                              </m:r>
                            </m:sup>
                          </m:sSup>
                        </m:num>
                        <m:den>
                          <m:r>
                            <a:rPr lang="en-GB" b="0" i="1" smtClean="0">
                              <a:latin typeface="Cambria Math" panose="02040503050406030204" pitchFamily="18" charset="0"/>
                              <a:ea typeface="Cambria Math" panose="02040503050406030204" pitchFamily="18" charset="0"/>
                            </a:rPr>
                            <m:t>287×(273.15−20)</m:t>
                          </m:r>
                        </m:den>
                      </m:f>
                    </m:oMath>
                  </m:oMathPara>
                </a14:m>
                <a:endParaRPr lang="en-GB" b="0" dirty="0">
                  <a:ea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243CE7BC-CBCB-0EFC-16B4-A4668D01FE2F}"/>
                  </a:ext>
                </a:extLst>
              </p:cNvPr>
              <p:cNvSpPr txBox="1">
                <a:spLocks noRot="1" noChangeAspect="1" noMove="1" noResize="1" noEditPoints="1" noAdjustHandles="1" noChangeArrowheads="1" noChangeShapeType="1" noTextEdit="1"/>
              </p:cNvSpPr>
              <p:nvPr/>
            </p:nvSpPr>
            <p:spPr>
              <a:xfrm>
                <a:off x="4940670" y="3052215"/>
                <a:ext cx="4180471" cy="1650837"/>
              </a:xfrm>
              <a:prstGeom prst="rect">
                <a:avLst/>
              </a:prstGeom>
              <a:blipFill>
                <a:blip r:embed="rId9"/>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193334B-5EE1-86A9-50BF-DBC7BE9ABE63}"/>
                  </a:ext>
                </a:extLst>
              </p:cNvPr>
              <p:cNvSpPr txBox="1"/>
              <p:nvPr/>
            </p:nvSpPr>
            <p:spPr>
              <a:xfrm>
                <a:off x="5046242" y="4802037"/>
                <a:ext cx="3380188" cy="461665"/>
              </a:xfrm>
              <a:prstGeom prst="rect">
                <a:avLst/>
              </a:prstGeom>
              <a:noFill/>
            </p:spPr>
            <p:txBody>
              <a:bodyPr wrap="square">
                <a:spAutoFit/>
              </a:bodyPr>
              <a:lstStyle/>
              <a:p>
                <a14:m>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𝜌</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=4.13</m:t>
                    </m:r>
                  </m:oMath>
                </a14:m>
                <a:r>
                  <a:rPr lang="en-GB" dirty="0"/>
                  <a:t> kg/m</a:t>
                </a:r>
                <a:r>
                  <a:rPr lang="en-GB" baseline="30000" dirty="0"/>
                  <a:t>3</a:t>
                </a:r>
                <a:endParaRPr lang="en-GH" baseline="30000" dirty="0"/>
              </a:p>
            </p:txBody>
          </p:sp>
        </mc:Choice>
        <mc:Fallback xmlns="">
          <p:sp>
            <p:nvSpPr>
              <p:cNvPr id="24" name="TextBox 23">
                <a:extLst>
                  <a:ext uri="{FF2B5EF4-FFF2-40B4-BE49-F238E27FC236}">
                    <a16:creationId xmlns:a16="http://schemas.microsoft.com/office/drawing/2014/main" id="{9193334B-5EE1-86A9-50BF-DBC7BE9ABE63}"/>
                  </a:ext>
                </a:extLst>
              </p:cNvPr>
              <p:cNvSpPr txBox="1">
                <a:spLocks noRot="1" noChangeAspect="1" noMove="1" noResize="1" noEditPoints="1" noAdjustHandles="1" noChangeArrowheads="1" noChangeShapeType="1" noTextEdit="1"/>
              </p:cNvSpPr>
              <p:nvPr/>
            </p:nvSpPr>
            <p:spPr>
              <a:xfrm>
                <a:off x="5046242" y="4802037"/>
                <a:ext cx="3380188" cy="461665"/>
              </a:xfrm>
              <a:prstGeom prst="rect">
                <a:avLst/>
              </a:prstGeom>
              <a:blipFill>
                <a:blip r:embed="rId10"/>
                <a:stretch>
                  <a:fillRect l="-542" t="-10667" b="-3066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09AE387-1EE1-4E6F-7D6B-C6BE794982CD}"/>
                  </a:ext>
                </a:extLst>
              </p:cNvPr>
              <p:cNvSpPr txBox="1"/>
              <p:nvPr/>
            </p:nvSpPr>
            <p:spPr>
              <a:xfrm>
                <a:off x="5046243" y="5261426"/>
                <a:ext cx="1953074" cy="7945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𝜕𝜌</m:t>
                          </m:r>
                        </m:num>
                        <m:den>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den>
                      </m:f>
                      <m:r>
                        <a:rPr lang="en-GB" b="0" i="1" smtClean="0">
                          <a:latin typeface="Cambria Math" panose="02040503050406030204" pitchFamily="18" charset="0"/>
                          <a:ea typeface="Cambria Math" panose="02040503050406030204" pitchFamily="18" charset="0"/>
                        </a:rPr>
                        <m:t>=−0.258 </m:t>
                      </m:r>
                    </m:oMath>
                  </m:oMathPara>
                </a14:m>
                <a:endParaRPr lang="en-GH" dirty="0"/>
              </a:p>
            </p:txBody>
          </p:sp>
        </mc:Choice>
        <mc:Fallback xmlns="">
          <p:sp>
            <p:nvSpPr>
              <p:cNvPr id="25" name="TextBox 24">
                <a:extLst>
                  <a:ext uri="{FF2B5EF4-FFF2-40B4-BE49-F238E27FC236}">
                    <a16:creationId xmlns:a16="http://schemas.microsoft.com/office/drawing/2014/main" id="{909AE387-1EE1-4E6F-7D6B-C6BE794982CD}"/>
                  </a:ext>
                </a:extLst>
              </p:cNvPr>
              <p:cNvSpPr txBox="1">
                <a:spLocks noRot="1" noChangeAspect="1" noMove="1" noResize="1" noEditPoints="1" noAdjustHandles="1" noChangeArrowheads="1" noChangeShapeType="1" noTextEdit="1"/>
              </p:cNvSpPr>
              <p:nvPr/>
            </p:nvSpPr>
            <p:spPr>
              <a:xfrm>
                <a:off x="5046243" y="5261426"/>
                <a:ext cx="1953074" cy="794576"/>
              </a:xfrm>
              <a:prstGeom prst="rect">
                <a:avLst/>
              </a:prstGeom>
              <a:blipFill>
                <a:blip r:embed="rId11"/>
                <a:stretch>
                  <a:fillRect/>
                </a:stretch>
              </a:blipFill>
            </p:spPr>
            <p:txBody>
              <a:bodyPr/>
              <a:lstStyle/>
              <a:p>
                <a:r>
                  <a:rPr lang="en-GH">
                    <a:noFill/>
                  </a:rPr>
                  <a:t> </a:t>
                </a:r>
              </a:p>
            </p:txBody>
          </p:sp>
        </mc:Fallback>
      </mc:AlternateContent>
      <p:sp>
        <p:nvSpPr>
          <p:cNvPr id="27" name="TextBox 26">
            <a:extLst>
              <a:ext uri="{FF2B5EF4-FFF2-40B4-BE49-F238E27FC236}">
                <a16:creationId xmlns:a16="http://schemas.microsoft.com/office/drawing/2014/main" id="{81948FCB-447C-5095-C6EC-81E0C1927CC1}"/>
              </a:ext>
            </a:extLst>
          </p:cNvPr>
          <p:cNvSpPr txBox="1"/>
          <p:nvPr/>
        </p:nvSpPr>
        <p:spPr>
          <a:xfrm>
            <a:off x="6871777" y="5455401"/>
            <a:ext cx="1476339" cy="461665"/>
          </a:xfrm>
          <a:prstGeom prst="rect">
            <a:avLst/>
          </a:prstGeom>
          <a:noFill/>
        </p:spPr>
        <p:txBody>
          <a:bodyPr wrap="square">
            <a:spAutoFit/>
          </a:bodyPr>
          <a:lstStyle/>
          <a:p>
            <a:r>
              <a:rPr lang="en-GB" dirty="0"/>
              <a:t>(kg/m</a:t>
            </a:r>
            <a:r>
              <a:rPr lang="en-GB" baseline="30000" dirty="0"/>
              <a:t>3</a:t>
            </a:r>
            <a:r>
              <a:rPr lang="en-GB" dirty="0"/>
              <a:t>)/s</a:t>
            </a:r>
            <a:endParaRPr lang="en-GH" dirty="0"/>
          </a:p>
        </p:txBody>
      </p:sp>
      <p:sp>
        <p:nvSpPr>
          <p:cNvPr id="2" name="Slide Number Placeholder 1">
            <a:extLst>
              <a:ext uri="{FF2B5EF4-FFF2-40B4-BE49-F238E27FC236}">
                <a16:creationId xmlns:a16="http://schemas.microsoft.com/office/drawing/2014/main" id="{34425520-8627-E178-3CEC-E81CC983D339}"/>
              </a:ext>
            </a:extLst>
          </p:cNvPr>
          <p:cNvSpPr>
            <a:spLocks noGrp="1"/>
          </p:cNvSpPr>
          <p:nvPr>
            <p:ph type="sldNum" sz="quarter" idx="12"/>
          </p:nvPr>
        </p:nvSpPr>
        <p:spPr/>
        <p:txBody>
          <a:bodyPr/>
          <a:lstStyle/>
          <a:p>
            <a:fld id="{49FCB85E-0F77-4855-90A7-7A1B61BB679B}" type="slidenum">
              <a:rPr lang="en-CA" smtClean="0"/>
              <a:t>27</a:t>
            </a:fld>
            <a:endParaRPr lang="en-CA"/>
          </a:p>
        </p:txBody>
      </p:sp>
    </p:spTree>
    <p:extLst>
      <p:ext uri="{BB962C8B-B14F-4D97-AF65-F5344CB8AC3E}">
        <p14:creationId xmlns:p14="http://schemas.microsoft.com/office/powerpoint/2010/main" val="824163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19083"/>
            <a:ext cx="8823960" cy="1692349"/>
          </a:xfrm>
        </p:spPr>
        <p:txBody>
          <a:bodyPr>
            <a:normAutofit/>
          </a:bodyPr>
          <a:lstStyle/>
          <a:p>
            <a:pPr marL="0" indent="0" algn="just">
              <a:lnSpc>
                <a:spcPct val="110000"/>
              </a:lnSpc>
              <a:buNone/>
            </a:pPr>
            <a:r>
              <a:rPr lang="en-CA" dirty="0">
                <a:latin typeface="+mn-lt"/>
              </a:rPr>
              <a:t>1. A 0.3 m by 0.5 m rectangular air duct carries a flow of 0.45 m</a:t>
            </a:r>
            <a:r>
              <a:rPr lang="en-CA" baseline="30000" dirty="0">
                <a:latin typeface="+mn-lt"/>
              </a:rPr>
              <a:t>3</a:t>
            </a:r>
            <a:r>
              <a:rPr lang="en-CA" dirty="0">
                <a:latin typeface="+mn-lt"/>
              </a:rPr>
              <a:t>/s at a density of 2 kg/m</a:t>
            </a:r>
            <a:r>
              <a:rPr lang="en-CA" baseline="30000" dirty="0">
                <a:latin typeface="+mn-lt"/>
              </a:rPr>
              <a:t>3</a:t>
            </a:r>
            <a:r>
              <a:rPr lang="en-CA" dirty="0">
                <a:latin typeface="+mn-lt"/>
              </a:rPr>
              <a:t>. Calculate the mean velocity of the air in the duct. If the duct tapers to 0.15 m by 0.5 m size, what is the mean velocity in this section if the density is 1.5 kg/m</a:t>
            </a:r>
            <a:r>
              <a:rPr lang="en-CA" baseline="30000" dirty="0">
                <a:latin typeface="+mn-lt"/>
              </a:rPr>
              <a:t>3 </a:t>
            </a:r>
            <a:r>
              <a:rPr lang="en-CA" dirty="0">
                <a:latin typeface="+mn-lt"/>
              </a:rPr>
              <a:t>there?</a:t>
            </a:r>
            <a:endParaRPr lang="en-CA" dirty="0"/>
          </a:p>
        </p:txBody>
      </p:sp>
      <p:sp>
        <p:nvSpPr>
          <p:cNvPr id="4" name="TextBox 3"/>
          <p:cNvSpPr txBox="1"/>
          <p:nvPr/>
        </p:nvSpPr>
        <p:spPr>
          <a:xfrm>
            <a:off x="3337175" y="-43289"/>
            <a:ext cx="2469650" cy="461665"/>
          </a:xfrm>
          <a:prstGeom prst="rect">
            <a:avLst/>
          </a:prstGeom>
          <a:noFill/>
        </p:spPr>
        <p:txBody>
          <a:bodyPr wrap="none" rtlCol="0">
            <a:spAutoFit/>
          </a:bodyPr>
          <a:lstStyle/>
          <a:p>
            <a:r>
              <a:rPr lang="en-CA" b="1" dirty="0">
                <a:latin typeface="+mn-lt"/>
                <a:ea typeface="Verdana" panose="020B0604030504040204" pitchFamily="34" charset="0"/>
                <a:cs typeface="Verdana" panose="020B0604030504040204" pitchFamily="34" charset="0"/>
              </a:rPr>
              <a:t>Practice Problems</a:t>
            </a:r>
            <a:endParaRPr lang="en-CA" b="1" dirty="0">
              <a:latin typeface="+mn-lt"/>
            </a:endParaRPr>
          </a:p>
        </p:txBody>
      </p:sp>
      <p:sp>
        <p:nvSpPr>
          <p:cNvPr id="5" name="Content Placeholder 2">
            <a:extLst>
              <a:ext uri="{FF2B5EF4-FFF2-40B4-BE49-F238E27FC236}">
                <a16:creationId xmlns:a16="http://schemas.microsoft.com/office/drawing/2014/main" id="{A499E9AC-1D6E-FA81-4210-7E92C80CF960}"/>
              </a:ext>
            </a:extLst>
          </p:cNvPr>
          <p:cNvSpPr txBox="1">
            <a:spLocks/>
          </p:cNvSpPr>
          <p:nvPr/>
        </p:nvSpPr>
        <p:spPr>
          <a:xfrm>
            <a:off x="0" y="2261062"/>
            <a:ext cx="8823960" cy="19618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ct val="110000"/>
              </a:lnSpc>
              <a:spcAft>
                <a:spcPts val="0"/>
              </a:spcAft>
              <a:buFont typeface="Arial" panose="020B0604020202020204" pitchFamily="34" charset="0"/>
              <a:buNone/>
            </a:pPr>
            <a:r>
              <a:rPr lang="en-CA" dirty="0">
                <a:latin typeface="+mn-lt"/>
              </a:rPr>
              <a:t>2. Water from a pipe 500 mm in diameter flows into two smaller branches at a T-junction. If the diameters of the smaller branches are 300 mm and 200 mm, and the flow mean velocities inside them are 1.5 m/s and 3.5 m/s, respectively, what is the mean velocity of the flow in the pipe?</a:t>
            </a:r>
            <a:endParaRPr lang="en-CA" dirty="0"/>
          </a:p>
        </p:txBody>
      </p:sp>
      <p:sp>
        <p:nvSpPr>
          <p:cNvPr id="9" name="Content Placeholder 2">
            <a:extLst>
              <a:ext uri="{FF2B5EF4-FFF2-40B4-BE49-F238E27FC236}">
                <a16:creationId xmlns:a16="http://schemas.microsoft.com/office/drawing/2014/main" id="{E7742BDD-0D90-DB42-27BD-9A3D7E2DBFCF}"/>
              </a:ext>
            </a:extLst>
          </p:cNvPr>
          <p:cNvSpPr txBox="1">
            <a:spLocks/>
          </p:cNvSpPr>
          <p:nvPr/>
        </p:nvSpPr>
        <p:spPr>
          <a:xfrm>
            <a:off x="0" y="4314309"/>
            <a:ext cx="8823960" cy="17955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ct val="110000"/>
              </a:lnSpc>
              <a:spcAft>
                <a:spcPts val="0"/>
              </a:spcAft>
              <a:buFont typeface="Arial" panose="020B0604020202020204" pitchFamily="34" charset="0"/>
              <a:buNone/>
            </a:pPr>
            <a:r>
              <a:rPr lang="en-CA" dirty="0">
                <a:latin typeface="+mn-lt"/>
              </a:rPr>
              <a:t>3. Water from a cylindrical tank, 500 mm in diameter, drains through a small circular hole of diameter 80 mm. Calculate the rate of change of the liquid level in the tank at the instant when the average velocity through the drain is 2.5 m/s. </a:t>
            </a:r>
            <a:endParaRPr lang="en-CA" dirty="0"/>
          </a:p>
        </p:txBody>
      </p:sp>
      <p:sp>
        <p:nvSpPr>
          <p:cNvPr id="2" name="Slide Number Placeholder 1">
            <a:extLst>
              <a:ext uri="{FF2B5EF4-FFF2-40B4-BE49-F238E27FC236}">
                <a16:creationId xmlns:a16="http://schemas.microsoft.com/office/drawing/2014/main" id="{F678D608-40AB-118A-BF06-E9BD8A40540F}"/>
              </a:ext>
            </a:extLst>
          </p:cNvPr>
          <p:cNvSpPr>
            <a:spLocks noGrp="1"/>
          </p:cNvSpPr>
          <p:nvPr>
            <p:ph type="sldNum" sz="quarter" idx="12"/>
          </p:nvPr>
        </p:nvSpPr>
        <p:spPr/>
        <p:txBody>
          <a:bodyPr/>
          <a:lstStyle/>
          <a:p>
            <a:fld id="{49FCB85E-0F77-4855-90A7-7A1B61BB679B}" type="slidenum">
              <a:rPr lang="en-CA" smtClean="0"/>
              <a:t>28</a:t>
            </a:fld>
            <a:endParaRPr lang="en-CA"/>
          </a:p>
        </p:txBody>
      </p:sp>
    </p:spTree>
    <p:extLst>
      <p:ext uri="{BB962C8B-B14F-4D97-AF65-F5344CB8AC3E}">
        <p14:creationId xmlns:p14="http://schemas.microsoft.com/office/powerpoint/2010/main" val="4213836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419082"/>
                <a:ext cx="9144000" cy="2531935"/>
              </a:xfrm>
            </p:spPr>
            <p:txBody>
              <a:bodyPr>
                <a:normAutofit fontScale="92500"/>
              </a:bodyPr>
              <a:lstStyle/>
              <a:p>
                <a:pPr marL="0" indent="0" algn="just">
                  <a:lnSpc>
                    <a:spcPct val="100000"/>
                  </a:lnSpc>
                  <a:spcBef>
                    <a:spcPts val="0"/>
                  </a:spcBef>
                  <a:buNone/>
                </a:pPr>
                <a:r>
                  <a:rPr lang="en-CA" dirty="0">
                    <a:latin typeface="+mn-lt"/>
                  </a:rPr>
                  <a:t>4. A cylindrical tank of height 1 m and diameter 500 mm is completely filled with water. A small hole of radius 40 mm at the centre of the base is opened to allow the water to drain from the tank. The average velocity of the water through the hole can be approximated by the expression </a:t>
                </a:r>
                <a14:m>
                  <m:oMath xmlns:m="http://schemas.openxmlformats.org/officeDocument/2006/math">
                    <m:r>
                      <a:rPr lang="en-GB" b="0" i="1" smtClean="0">
                        <a:latin typeface="Cambria Math" panose="02040503050406030204" pitchFamily="18" charset="0"/>
                      </a:rPr>
                      <m:t>𝑉</m:t>
                    </m:r>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r>
                          <a:rPr lang="en-GB" b="0" i="1" smtClean="0">
                            <a:latin typeface="Cambria Math" panose="02040503050406030204" pitchFamily="18" charset="0"/>
                          </a:rPr>
                          <m:t>𝑔h</m:t>
                        </m:r>
                      </m:e>
                    </m:rad>
                  </m:oMath>
                </a14:m>
                <a:r>
                  <a:rPr lang="en-CA" dirty="0"/>
                  <a:t>, where </a:t>
                </a:r>
                <a:r>
                  <a:rPr lang="en-CA" i="1" dirty="0"/>
                  <a:t>h</a:t>
                </a:r>
                <a:r>
                  <a:rPr lang="en-CA" dirty="0"/>
                  <a:t> is the height of the water measured from the bottom, and </a:t>
                </a:r>
                <a:r>
                  <a:rPr lang="en-CA" i="1" dirty="0"/>
                  <a:t>g</a:t>
                </a:r>
                <a:r>
                  <a:rPr lang="en-CA" dirty="0"/>
                  <a:t> is the acceleration due to gravity. Calculate the time taken for the water level to drop to 0.4 m from the bottom of the tank.</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419082"/>
                <a:ext cx="9144000" cy="2531935"/>
              </a:xfrm>
              <a:blipFill>
                <a:blip r:embed="rId2"/>
                <a:stretch>
                  <a:fillRect l="-867" t="-1687" r="-867" b="-4096"/>
                </a:stretch>
              </a:blipFill>
            </p:spPr>
            <p:txBody>
              <a:bodyPr/>
              <a:lstStyle/>
              <a:p>
                <a:r>
                  <a:rPr lang="en-GH">
                    <a:noFill/>
                  </a:rPr>
                  <a:t> </a:t>
                </a:r>
              </a:p>
            </p:txBody>
          </p:sp>
        </mc:Fallback>
      </mc:AlternateContent>
      <p:sp>
        <p:nvSpPr>
          <p:cNvPr id="4" name="TextBox 3"/>
          <p:cNvSpPr txBox="1"/>
          <p:nvPr/>
        </p:nvSpPr>
        <p:spPr>
          <a:xfrm>
            <a:off x="3337175" y="-43289"/>
            <a:ext cx="2469650" cy="461665"/>
          </a:xfrm>
          <a:prstGeom prst="rect">
            <a:avLst/>
          </a:prstGeom>
          <a:noFill/>
        </p:spPr>
        <p:txBody>
          <a:bodyPr wrap="none" rtlCol="0">
            <a:spAutoFit/>
          </a:bodyPr>
          <a:lstStyle/>
          <a:p>
            <a:r>
              <a:rPr lang="en-CA" b="1" dirty="0">
                <a:latin typeface="+mn-lt"/>
                <a:ea typeface="Verdana" panose="020B0604030504040204" pitchFamily="34" charset="0"/>
                <a:cs typeface="Verdana" panose="020B0604030504040204" pitchFamily="34" charset="0"/>
              </a:rPr>
              <a:t>Practice Problems</a:t>
            </a:r>
            <a:endParaRPr lang="en-CA" b="1" dirty="0">
              <a:latin typeface="+mn-lt"/>
            </a:endParaRPr>
          </a:p>
        </p:txBody>
      </p:sp>
      <p:sp>
        <p:nvSpPr>
          <p:cNvPr id="2" name="Slide Number Placeholder 1">
            <a:extLst>
              <a:ext uri="{FF2B5EF4-FFF2-40B4-BE49-F238E27FC236}">
                <a16:creationId xmlns:a16="http://schemas.microsoft.com/office/drawing/2014/main" id="{091DFF6B-225A-9313-BA57-9A327835BDB9}"/>
              </a:ext>
            </a:extLst>
          </p:cNvPr>
          <p:cNvSpPr>
            <a:spLocks noGrp="1"/>
          </p:cNvSpPr>
          <p:nvPr>
            <p:ph type="sldNum" sz="quarter" idx="12"/>
          </p:nvPr>
        </p:nvSpPr>
        <p:spPr/>
        <p:txBody>
          <a:bodyPr/>
          <a:lstStyle/>
          <a:p>
            <a:fld id="{49FCB85E-0F77-4855-90A7-7A1B61BB679B}" type="slidenum">
              <a:rPr lang="en-CA" smtClean="0"/>
              <a:t>29</a:t>
            </a:fld>
            <a:endParaRPr lang="en-CA"/>
          </a:p>
        </p:txBody>
      </p:sp>
    </p:spTree>
    <p:extLst>
      <p:ext uri="{BB962C8B-B14F-4D97-AF65-F5344CB8AC3E}">
        <p14:creationId xmlns:p14="http://schemas.microsoft.com/office/powerpoint/2010/main" val="884056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071" y="76244"/>
            <a:ext cx="9144000" cy="568940"/>
          </a:xfrm>
        </p:spPr>
        <p:txBody>
          <a:bodyPr>
            <a:normAutofit/>
          </a:bodyPr>
          <a:lstStyle/>
          <a:p>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Momentum Equation</a:t>
            </a:r>
            <a:endParaRPr lang="en-CA"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271368" y="676539"/>
            <a:ext cx="8142126" cy="5469642"/>
          </a:xfrm>
        </p:spPr>
        <p:txBody>
          <a:bodyPr>
            <a:normAutofit/>
          </a:bodyPr>
          <a:lstStyle/>
          <a:p>
            <a:pPr marL="0" indent="0">
              <a:lnSpc>
                <a:spcPct val="120000"/>
              </a:lnSpc>
              <a:buNone/>
            </a:pPr>
            <a:endParaRPr lang="en-CA" dirty="0"/>
          </a:p>
          <a:p>
            <a:pPr marL="0" indent="0">
              <a:lnSpc>
                <a:spcPct val="120000"/>
              </a:lnSpc>
              <a:buNone/>
            </a:pPr>
            <a:endParaRPr lang="en-CA" dirty="0"/>
          </a:p>
          <a:p>
            <a:pPr marL="0" indent="0">
              <a:lnSpc>
                <a:spcPct val="120000"/>
              </a:lnSpc>
              <a:buNone/>
            </a:pPr>
            <a:endParaRPr lang="en-CA" dirty="0"/>
          </a:p>
        </p:txBody>
      </p:sp>
      <p:grpSp>
        <p:nvGrpSpPr>
          <p:cNvPr id="4" name="Group 3"/>
          <p:cNvGrpSpPr/>
          <p:nvPr/>
        </p:nvGrpSpPr>
        <p:grpSpPr>
          <a:xfrm>
            <a:off x="586228" y="1121039"/>
            <a:ext cx="2998141" cy="1808559"/>
            <a:chOff x="2106754" y="3120014"/>
            <a:chExt cx="5434448" cy="2855535"/>
          </a:xfrm>
        </p:grpSpPr>
        <p:pic>
          <p:nvPicPr>
            <p:cNvPr id="5" name="Picture 4" descr="mm.jpg"/>
            <p:cNvPicPr/>
            <p:nvPr/>
          </p:nvPicPr>
          <p:blipFill>
            <a:blip r:embed="rId3" cstate="print"/>
            <a:srcRect l="51527" t="13730" r="16376" b="63675"/>
            <a:stretch>
              <a:fillRect/>
            </a:stretch>
          </p:blipFill>
          <p:spPr bwMode="auto">
            <a:xfrm>
              <a:off x="2501178" y="3283526"/>
              <a:ext cx="4065877" cy="2621261"/>
            </a:xfrm>
            <a:prstGeom prst="rect">
              <a:avLst/>
            </a:prstGeom>
            <a:noFill/>
            <a:ln w="9525">
              <a:noFill/>
              <a:miter lim="800000"/>
              <a:headEnd/>
              <a:tailEnd/>
            </a:ln>
          </p:spPr>
        </p:pic>
        <p:sp>
          <p:nvSpPr>
            <p:cNvPr id="6" name="Rectangle 5"/>
            <p:cNvSpPr/>
            <p:nvPr/>
          </p:nvSpPr>
          <p:spPr>
            <a:xfrm>
              <a:off x="4582391" y="5153891"/>
              <a:ext cx="290946" cy="2862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7" name="TextBox 6"/>
                <p:cNvSpPr txBox="1"/>
                <p:nvPr/>
              </p:nvSpPr>
              <p:spPr>
                <a:xfrm>
                  <a:off x="4348512" y="5087400"/>
                  <a:ext cx="519547" cy="4130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100" b="0" i="1" smtClean="0">
                            <a:latin typeface="Cambria Math" panose="02040503050406030204" pitchFamily="18" charset="0"/>
                          </a:rPr>
                          <m:t>60</m:t>
                        </m:r>
                        <m:r>
                          <a:rPr lang="en-CA" sz="1100" b="0" i="1" smtClean="0">
                            <a:latin typeface="Cambria Math" panose="02040503050406030204" pitchFamily="18" charset="0"/>
                            <a:ea typeface="Cambria Math" panose="02040503050406030204" pitchFamily="18" charset="0"/>
                          </a:rPr>
                          <m:t>°</m:t>
                        </m:r>
                      </m:oMath>
                    </m:oMathPara>
                  </a14:m>
                  <a:endParaRPr lang="en-CA" sz="1100" dirty="0"/>
                </a:p>
              </p:txBody>
            </p:sp>
          </mc:Choice>
          <mc:Fallback xmlns="">
            <p:sp>
              <p:nvSpPr>
                <p:cNvPr id="7" name="TextBox 6"/>
                <p:cNvSpPr txBox="1">
                  <a:spLocks noRot="1" noChangeAspect="1" noMove="1" noResize="1" noEditPoints="1" noAdjustHandles="1" noChangeArrowheads="1" noChangeShapeType="1" noTextEdit="1"/>
                </p:cNvSpPr>
                <p:nvPr/>
              </p:nvSpPr>
              <p:spPr>
                <a:xfrm>
                  <a:off x="4348512" y="5087400"/>
                  <a:ext cx="519547" cy="413056"/>
                </a:xfrm>
                <a:prstGeom prst="rect">
                  <a:avLst/>
                </a:prstGeom>
                <a:blipFill>
                  <a:blip r:embed="rId4"/>
                  <a:stretch>
                    <a:fillRect r="-2340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704608" y="3120014"/>
                  <a:ext cx="1724894" cy="437354"/>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1200" b="0" i="1" smtClean="0">
                                <a:latin typeface="Cambria Math" panose="02040503050406030204" pitchFamily="18" charset="0"/>
                              </a:rPr>
                            </m:ctrlPr>
                          </m:sSubPr>
                          <m:e>
                            <m:r>
                              <a:rPr lang="en-CA" sz="1200" b="0" i="1" smtClean="0">
                                <a:latin typeface="Cambria Math" panose="02040503050406030204" pitchFamily="18" charset="0"/>
                              </a:rPr>
                              <m:t>𝐷</m:t>
                            </m:r>
                          </m:e>
                          <m:sub>
                            <m:r>
                              <a:rPr lang="en-CA" sz="1200" b="0" i="1" smtClean="0">
                                <a:latin typeface="Cambria Math" panose="02040503050406030204" pitchFamily="18" charset="0"/>
                              </a:rPr>
                              <m:t>2</m:t>
                            </m:r>
                          </m:sub>
                        </m:sSub>
                      </m:oMath>
                    </m:oMathPara>
                  </a14:m>
                  <a:endParaRPr lang="en-CA" sz="1200" dirty="0"/>
                </a:p>
              </p:txBody>
            </p:sp>
          </mc:Choice>
          <mc:Fallback xmlns="">
            <p:sp>
              <p:nvSpPr>
                <p:cNvPr id="8" name="TextBox 7"/>
                <p:cNvSpPr txBox="1">
                  <a:spLocks noRot="1" noChangeAspect="1" noMove="1" noResize="1" noEditPoints="1" noAdjustHandles="1" noChangeArrowheads="1" noChangeShapeType="1" noTextEdit="1"/>
                </p:cNvSpPr>
                <p:nvPr/>
              </p:nvSpPr>
              <p:spPr>
                <a:xfrm>
                  <a:off x="5704608" y="3120014"/>
                  <a:ext cx="1724894" cy="437354"/>
                </a:xfrm>
                <a:prstGeom prst="rect">
                  <a:avLst/>
                </a:prstGeom>
                <a:blipFill>
                  <a:blip r:embed="rId5"/>
                  <a:stretch>
                    <a:fillRect/>
                  </a:stretch>
                </a:blipFill>
                <a:ln>
                  <a:solidFill>
                    <a:schemeClr val="bg1"/>
                  </a:solid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816308" y="5538195"/>
                  <a:ext cx="1724894" cy="437354"/>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1200" b="0" i="1" smtClean="0">
                                <a:latin typeface="Cambria Math" panose="02040503050406030204" pitchFamily="18" charset="0"/>
                              </a:rPr>
                            </m:ctrlPr>
                          </m:sSubPr>
                          <m:e>
                            <m:r>
                              <a:rPr lang="en-CA" sz="1200" b="0" i="1" smtClean="0">
                                <a:latin typeface="Cambria Math" panose="02040503050406030204" pitchFamily="18" charset="0"/>
                              </a:rPr>
                              <m:t>𝐷</m:t>
                            </m:r>
                          </m:e>
                          <m:sub>
                            <m:r>
                              <a:rPr lang="en-CA" sz="1200" b="0" i="1" smtClean="0">
                                <a:latin typeface="Cambria Math" panose="02040503050406030204" pitchFamily="18" charset="0"/>
                              </a:rPr>
                              <m:t>3</m:t>
                            </m:r>
                          </m:sub>
                        </m:sSub>
                      </m:oMath>
                    </m:oMathPara>
                  </a14:m>
                  <a:endParaRPr lang="en-CA" sz="1200" dirty="0"/>
                </a:p>
              </p:txBody>
            </p:sp>
          </mc:Choice>
          <mc:Fallback xmlns="">
            <p:sp>
              <p:nvSpPr>
                <p:cNvPr id="9" name="TextBox 8"/>
                <p:cNvSpPr txBox="1">
                  <a:spLocks noRot="1" noChangeAspect="1" noMove="1" noResize="1" noEditPoints="1" noAdjustHandles="1" noChangeArrowheads="1" noChangeShapeType="1" noTextEdit="1"/>
                </p:cNvSpPr>
                <p:nvPr/>
              </p:nvSpPr>
              <p:spPr>
                <a:xfrm>
                  <a:off x="5816308" y="5538195"/>
                  <a:ext cx="1724894" cy="437354"/>
                </a:xfrm>
                <a:prstGeom prst="rect">
                  <a:avLst/>
                </a:prstGeom>
                <a:blipFill>
                  <a:blip r:embed="rId6"/>
                  <a:stretch>
                    <a:fillRect/>
                  </a:stretch>
                </a:blipFill>
                <a:ln>
                  <a:solidFill>
                    <a:schemeClr val="bg1"/>
                  </a:solid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106754" y="4854924"/>
                  <a:ext cx="1724894" cy="437354"/>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1200" b="0" i="1" smtClean="0">
                                <a:latin typeface="Cambria Math" panose="02040503050406030204" pitchFamily="18" charset="0"/>
                              </a:rPr>
                            </m:ctrlPr>
                          </m:sSubPr>
                          <m:e>
                            <m:r>
                              <a:rPr lang="en-CA" sz="1200" b="0" i="1" smtClean="0">
                                <a:latin typeface="Cambria Math" panose="02040503050406030204" pitchFamily="18" charset="0"/>
                              </a:rPr>
                              <m:t>𝑃</m:t>
                            </m:r>
                          </m:e>
                          <m:sub>
                            <m:r>
                              <a:rPr lang="en-CA" sz="1200" b="0" i="1" smtClean="0">
                                <a:latin typeface="Cambria Math" panose="02040503050406030204" pitchFamily="18" charset="0"/>
                              </a:rPr>
                              <m:t>1</m:t>
                            </m:r>
                          </m:sub>
                        </m:sSub>
                      </m:oMath>
                    </m:oMathPara>
                  </a14:m>
                  <a:endParaRPr lang="en-CA" sz="1200" dirty="0"/>
                </a:p>
              </p:txBody>
            </p:sp>
          </mc:Choice>
          <mc:Fallback xmlns="">
            <p:sp>
              <p:nvSpPr>
                <p:cNvPr id="10" name="TextBox 9"/>
                <p:cNvSpPr txBox="1">
                  <a:spLocks noRot="1" noChangeAspect="1" noMove="1" noResize="1" noEditPoints="1" noAdjustHandles="1" noChangeArrowheads="1" noChangeShapeType="1" noTextEdit="1"/>
                </p:cNvSpPr>
                <p:nvPr/>
              </p:nvSpPr>
              <p:spPr>
                <a:xfrm>
                  <a:off x="2106754" y="4854924"/>
                  <a:ext cx="1724894" cy="437354"/>
                </a:xfrm>
                <a:prstGeom prst="rect">
                  <a:avLst/>
                </a:prstGeom>
                <a:blipFill>
                  <a:blip r:embed="rId7"/>
                  <a:stretch>
                    <a:fillRect/>
                  </a:stretch>
                </a:blipFill>
                <a:ln>
                  <a:solidFill>
                    <a:schemeClr val="bg1"/>
                  </a:solidFill>
                </a:ln>
              </p:spPr>
              <p:txBody>
                <a:bodyPr/>
                <a:lstStyle/>
                <a:p>
                  <a:r>
                    <a:rPr lang="en-CA">
                      <a:noFill/>
                    </a:rPr>
                    <a:t> </a:t>
                  </a:r>
                </a:p>
              </p:txBody>
            </p:sp>
          </mc:Fallback>
        </mc:AlternateContent>
      </p:grpSp>
      <p:pic>
        <p:nvPicPr>
          <p:cNvPr id="11" name="Picture 1" descr="unfig_04_32.jpg">
            <a:extLst>
              <a:ext uri="{FF2B5EF4-FFF2-40B4-BE49-F238E27FC236}">
                <a16:creationId xmlns:a16="http://schemas.microsoft.com/office/drawing/2014/main" id="{7D3B3BAB-C55D-4678-BF4A-E756AFAD5383}"/>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3108564" y="3109083"/>
            <a:ext cx="1807420" cy="262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Screen Clippi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99788" y="645184"/>
            <a:ext cx="3311645" cy="2671768"/>
          </a:xfrm>
          <a:prstGeom prst="rect">
            <a:avLst/>
          </a:prstGeom>
        </p:spPr>
      </p:pic>
      <p:sp>
        <p:nvSpPr>
          <p:cNvPr id="13" name="Slide Number Placeholder 12">
            <a:extLst>
              <a:ext uri="{FF2B5EF4-FFF2-40B4-BE49-F238E27FC236}">
                <a16:creationId xmlns:a16="http://schemas.microsoft.com/office/drawing/2014/main" id="{161FB6ED-B7FB-1A70-C98F-BB7DEB3EEDA2}"/>
              </a:ext>
            </a:extLst>
          </p:cNvPr>
          <p:cNvSpPr>
            <a:spLocks noGrp="1"/>
          </p:cNvSpPr>
          <p:nvPr>
            <p:ph type="sldNum" sz="quarter" idx="12"/>
          </p:nvPr>
        </p:nvSpPr>
        <p:spPr/>
        <p:txBody>
          <a:bodyPr/>
          <a:lstStyle/>
          <a:p>
            <a:fld id="{49FCB85E-0F77-4855-90A7-7A1B61BB679B}" type="slidenum">
              <a:rPr lang="en-CA" smtClean="0"/>
              <a:t>30</a:t>
            </a:fld>
            <a:endParaRPr lang="en-CA"/>
          </a:p>
        </p:txBody>
      </p:sp>
    </p:spTree>
    <p:extLst>
      <p:ext uri="{BB962C8B-B14F-4D97-AF65-F5344CB8AC3E}">
        <p14:creationId xmlns:p14="http://schemas.microsoft.com/office/powerpoint/2010/main" val="3747331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8940"/>
          </a:xfrm>
        </p:spPr>
        <p:txBody>
          <a:bodyPr>
            <a:normAutofit/>
          </a:bodyPr>
          <a:lstStyle/>
          <a:p>
            <a:r>
              <a:rPr lang="en-US" sz="2400" dirty="0">
                <a:solidFill>
                  <a:schemeClr val="tx1"/>
                </a:solidFill>
                <a:latin typeface="+mn-lt"/>
                <a:ea typeface="Verdana" panose="020B0604030504040204" pitchFamily="34" charset="0"/>
                <a:cs typeface="Verdana" panose="020B0604030504040204" pitchFamily="34" charset="0"/>
              </a:rPr>
              <a:t>Momentum Equation for Inertial Control Volume</a:t>
            </a:r>
            <a:endParaRPr lang="en-CA" sz="2400" dirty="0">
              <a:solidFill>
                <a:schemeClr val="tx1"/>
              </a:solidFill>
              <a:latin typeface="+mn-lt"/>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68940"/>
                <a:ext cx="9144000" cy="5617935"/>
              </a:xfrm>
            </p:spPr>
            <p:txBody>
              <a:bodyPr>
                <a:normAutofit fontScale="62500" lnSpcReduction="20000"/>
              </a:bodyPr>
              <a:lstStyle/>
              <a:p>
                <a:pPr marL="0" indent="0">
                  <a:lnSpc>
                    <a:spcPct val="120000"/>
                  </a:lnSpc>
                  <a:spcAft>
                    <a:spcPts val="600"/>
                  </a:spcAft>
                  <a:buNone/>
                </a:pPr>
                <a14:m>
                  <m:oMathPara xmlns:m="http://schemas.openxmlformats.org/officeDocument/2006/math">
                    <m:oMathParaPr>
                      <m:jc m:val="centerGroup"/>
                    </m:oMathParaPr>
                    <m:oMath xmlns:m="http://schemas.openxmlformats.org/officeDocument/2006/math">
                      <m:sSub>
                        <m:sSubPr>
                          <m:ctrlPr>
                            <a:rPr lang="en-CA" sz="2900" b="1" i="1" smtClean="0">
                              <a:solidFill>
                                <a:schemeClr val="tx1"/>
                              </a:solidFill>
                              <a:latin typeface="Cambria Math" panose="02040503050406030204" pitchFamily="18" charset="0"/>
                              <a:ea typeface="Times New Roman" panose="02020603050405020304" pitchFamily="18" charset="0"/>
                            </a:rPr>
                          </m:ctrlPr>
                        </m:sSubPr>
                        <m:e>
                          <m:d>
                            <m:dPr>
                              <m:begChr m:val=""/>
                              <m:ctrlPr>
                                <a:rPr lang="en-CA" sz="2900" b="1" i="1">
                                  <a:solidFill>
                                    <a:schemeClr val="tx1"/>
                                  </a:solidFill>
                                  <a:latin typeface="Cambria Math" panose="02040503050406030204" pitchFamily="18" charset="0"/>
                                  <a:ea typeface="Times New Roman" panose="02020603050405020304" pitchFamily="18" charset="0"/>
                                </a:rPr>
                              </m:ctrlPr>
                            </m:dPr>
                            <m:e>
                              <m:f>
                                <m:fPr>
                                  <m:ctrlPr>
                                    <a:rPr lang="en-CA" sz="2900" b="1" i="1">
                                      <a:solidFill>
                                        <a:schemeClr val="tx1"/>
                                      </a:solidFill>
                                      <a:latin typeface="Cambria Math" panose="02040503050406030204" pitchFamily="18" charset="0"/>
                                      <a:ea typeface="Times New Roman" panose="02020603050405020304" pitchFamily="18" charset="0"/>
                                    </a:rPr>
                                  </m:ctrlPr>
                                </m:fPr>
                                <m:num>
                                  <m:r>
                                    <a:rPr lang="en-CA" sz="2900" b="1" i="1">
                                      <a:solidFill>
                                        <a:schemeClr val="tx1"/>
                                      </a:solidFill>
                                      <a:latin typeface="Cambria Math" panose="02040503050406030204" pitchFamily="18" charset="0"/>
                                      <a:ea typeface="Times New Roman" panose="02020603050405020304" pitchFamily="18" charset="0"/>
                                    </a:rPr>
                                    <m:t>𝒅𝑷</m:t>
                                  </m:r>
                                </m:num>
                                <m:den>
                                  <m:r>
                                    <a:rPr lang="en-CA" sz="2900" b="1" i="1">
                                      <a:solidFill>
                                        <a:schemeClr val="tx1"/>
                                      </a:solidFill>
                                      <a:latin typeface="Cambria Math" panose="02040503050406030204" pitchFamily="18" charset="0"/>
                                      <a:ea typeface="Times New Roman" panose="02020603050405020304" pitchFamily="18" charset="0"/>
                                    </a:rPr>
                                    <m:t>𝒅𝒕</m:t>
                                  </m:r>
                                </m:den>
                              </m:f>
                            </m:e>
                          </m:d>
                        </m:e>
                        <m:sub>
                          <m:r>
                            <a:rPr lang="en-CA" sz="2900" b="1" i="1">
                              <a:solidFill>
                                <a:schemeClr val="tx1"/>
                              </a:solidFill>
                              <a:latin typeface="Cambria Math" panose="02040503050406030204" pitchFamily="18" charset="0"/>
                              <a:ea typeface="Times New Roman" panose="02020603050405020304" pitchFamily="18" charset="0"/>
                            </a:rPr>
                            <m:t>𝒔</m:t>
                          </m:r>
                        </m:sub>
                      </m:sSub>
                      <m:r>
                        <a:rPr lang="en-CA" sz="2900" b="1" i="1">
                          <a:solidFill>
                            <a:schemeClr val="tx1"/>
                          </a:solidFill>
                          <a:latin typeface="Cambria Math" panose="02040503050406030204" pitchFamily="18" charset="0"/>
                          <a:ea typeface="Times New Roman" panose="02020603050405020304" pitchFamily="18" charset="0"/>
                        </a:rPr>
                        <m:t>=</m:t>
                      </m:r>
                      <m:sSub>
                        <m:sSubPr>
                          <m:ctrlPr>
                            <a:rPr lang="en-CA" sz="2900" b="1" i="1">
                              <a:solidFill>
                                <a:schemeClr val="tx1"/>
                              </a:solidFill>
                              <a:latin typeface="Cambria Math" panose="02040503050406030204" pitchFamily="18" charset="0"/>
                            </a:rPr>
                          </m:ctrlPr>
                        </m:sSubPr>
                        <m:e>
                          <m:acc>
                            <m:accPr>
                              <m:chr m:val="⃗"/>
                              <m:ctrlPr>
                                <a:rPr lang="en-CA" sz="2900" b="1" i="1">
                                  <a:solidFill>
                                    <a:schemeClr val="tx1"/>
                                  </a:solidFill>
                                  <a:latin typeface="Cambria Math" panose="02040503050406030204" pitchFamily="18" charset="0"/>
                                </a:rPr>
                              </m:ctrlPr>
                            </m:accPr>
                            <m:e>
                              <m:r>
                                <a:rPr lang="en-CA" sz="2900" b="1" i="1">
                                  <a:solidFill>
                                    <a:schemeClr val="tx1"/>
                                  </a:solidFill>
                                  <a:latin typeface="Cambria Math" panose="02040503050406030204" pitchFamily="18" charset="0"/>
                                </a:rPr>
                                <m:t>𝑭</m:t>
                              </m:r>
                            </m:e>
                          </m:acc>
                          <m:r>
                            <a:rPr lang="en-CA" sz="2900" b="1" i="1">
                              <a:solidFill>
                                <a:schemeClr val="tx1"/>
                              </a:solidFill>
                              <a:latin typeface="Cambria Math" panose="02040503050406030204" pitchFamily="18" charset="0"/>
                            </a:rPr>
                            <m:t>)</m:t>
                          </m:r>
                        </m:e>
                        <m:sub>
                          <m:r>
                            <a:rPr lang="en-CA" sz="2900" b="1" i="1">
                              <a:solidFill>
                                <a:schemeClr val="tx1"/>
                              </a:solidFill>
                              <a:latin typeface="Cambria Math" panose="02040503050406030204" pitchFamily="18" charset="0"/>
                            </a:rPr>
                            <m:t>𝒔</m:t>
                          </m:r>
                        </m:sub>
                      </m:sSub>
                    </m:oMath>
                  </m:oMathPara>
                </a14:m>
                <a:endParaRPr lang="en-CA" sz="2900" b="1" dirty="0">
                  <a:solidFill>
                    <a:schemeClr val="tx1"/>
                  </a:solidFill>
                  <a:latin typeface="+mn-lt"/>
                </a:endParaRPr>
              </a:p>
              <a:p>
                <a:pPr marL="0" indent="0">
                  <a:lnSpc>
                    <a:spcPct val="120000"/>
                  </a:lnSpc>
                  <a:spcAft>
                    <a:spcPts val="600"/>
                  </a:spcAft>
                  <a:buNone/>
                </a:pPr>
                <a:r>
                  <a:rPr lang="en-CA" sz="3300" b="1" dirty="0">
                    <a:solidFill>
                      <a:schemeClr val="tx1"/>
                    </a:solidFill>
                    <a:latin typeface="+mn-lt"/>
                  </a:rPr>
                  <a:t>From RTT, Momentum (</a:t>
                </a:r>
                <a14:m>
                  <m:oMath xmlns:m="http://schemas.openxmlformats.org/officeDocument/2006/math">
                    <m:r>
                      <a:rPr lang="en-CA" sz="3300" b="1" i="1" dirty="0">
                        <a:solidFill>
                          <a:schemeClr val="tx1"/>
                        </a:solidFill>
                        <a:latin typeface="Cambria Math" panose="02040503050406030204" pitchFamily="18" charset="0"/>
                      </a:rPr>
                      <m:t>𝑵</m:t>
                    </m:r>
                    <m:r>
                      <a:rPr lang="en-CA" sz="3300" b="1" i="1" dirty="0">
                        <a:solidFill>
                          <a:schemeClr val="tx1"/>
                        </a:solidFill>
                        <a:latin typeface="Cambria Math" panose="02040503050406030204" pitchFamily="18" charset="0"/>
                      </a:rPr>
                      <m:t> =</m:t>
                    </m:r>
                    <m:r>
                      <a:rPr lang="en-CA" sz="3300" b="1" i="1" dirty="0">
                        <a:solidFill>
                          <a:schemeClr val="tx1"/>
                        </a:solidFill>
                        <a:latin typeface="Cambria Math" panose="02040503050406030204" pitchFamily="18" charset="0"/>
                      </a:rPr>
                      <m:t>𝑷</m:t>
                    </m:r>
                    <m:r>
                      <a:rPr lang="en-CA" sz="3300" b="1" i="1" dirty="0">
                        <a:solidFill>
                          <a:schemeClr val="tx1"/>
                        </a:solidFill>
                        <a:latin typeface="Cambria Math" panose="02040503050406030204" pitchFamily="18" charset="0"/>
                      </a:rPr>
                      <m:t>,</m:t>
                    </m:r>
                    <m:r>
                      <a:rPr lang="en-CA" sz="3300" b="1" i="1" dirty="0">
                        <a:solidFill>
                          <a:schemeClr val="tx1"/>
                        </a:solidFill>
                        <a:latin typeface="Cambria Math" panose="02040503050406030204" pitchFamily="18" charset="0"/>
                        <a:ea typeface="Cambria Math" panose="02040503050406030204" pitchFamily="18" charset="0"/>
                      </a:rPr>
                      <m:t>𝜼</m:t>
                    </m:r>
                    <m:r>
                      <a:rPr lang="en-CA" sz="3300" b="1" i="1" dirty="0">
                        <a:solidFill>
                          <a:schemeClr val="tx1"/>
                        </a:solidFill>
                        <a:latin typeface="Cambria Math" panose="02040503050406030204" pitchFamily="18" charset="0"/>
                        <a:ea typeface="Cambria Math" panose="02040503050406030204" pitchFamily="18" charset="0"/>
                      </a:rPr>
                      <m:t>=</m:t>
                    </m:r>
                    <m:acc>
                      <m:accPr>
                        <m:chr m:val="⃗"/>
                        <m:ctrlPr>
                          <a:rPr lang="en-CA" sz="3300" b="1" i="1">
                            <a:solidFill>
                              <a:schemeClr val="tx1"/>
                            </a:solidFill>
                            <a:latin typeface="Cambria Math" panose="02040503050406030204" pitchFamily="18" charset="0"/>
                            <a:ea typeface="Cambria Math" panose="02040503050406030204" pitchFamily="18" charset="0"/>
                          </a:rPr>
                        </m:ctrlPr>
                      </m:accPr>
                      <m:e>
                        <m:r>
                          <a:rPr lang="en-CA" sz="3300" b="1" i="1">
                            <a:solidFill>
                              <a:schemeClr val="tx1"/>
                            </a:solidFill>
                            <a:latin typeface="Cambria Math" panose="02040503050406030204" pitchFamily="18" charset="0"/>
                            <a:ea typeface="Cambria Math" panose="02040503050406030204" pitchFamily="18" charset="0"/>
                          </a:rPr>
                          <m:t>𝑽</m:t>
                        </m:r>
                      </m:e>
                    </m:acc>
                    <m:r>
                      <a:rPr lang="en-CA" sz="3300" b="1" i="1" dirty="0">
                        <a:solidFill>
                          <a:schemeClr val="tx1"/>
                        </a:solidFill>
                        <a:latin typeface="Cambria Math" panose="02040503050406030204" pitchFamily="18" charset="0"/>
                        <a:ea typeface="Cambria Math" panose="02040503050406030204" pitchFamily="18" charset="0"/>
                      </a:rPr>
                      <m:t>)</m:t>
                    </m:r>
                    <m:r>
                      <a:rPr lang="en-CA" sz="3300" b="1" i="1" dirty="0">
                        <a:solidFill>
                          <a:schemeClr val="tx1"/>
                        </a:solidFill>
                        <a:latin typeface="Cambria Math" panose="02040503050406030204" pitchFamily="18" charset="0"/>
                      </a:rPr>
                      <m:t> </m:t>
                    </m:r>
                  </m:oMath>
                </a14:m>
                <a:r>
                  <a:rPr lang="en-CA" sz="3300" b="1" dirty="0">
                    <a:solidFill>
                      <a:schemeClr val="tx1"/>
                    </a:solidFill>
                    <a:latin typeface="+mn-lt"/>
                  </a:rPr>
                  <a:t>:     </a:t>
                </a:r>
              </a:p>
              <a:p>
                <a:pPr marL="0" indent="0">
                  <a:lnSpc>
                    <a:spcPct val="120000"/>
                  </a:lnSpc>
                  <a:spcAft>
                    <a:spcPts val="600"/>
                  </a:spcAft>
                  <a:buNone/>
                </a:pPr>
                <a:r>
                  <a:rPr lang="en-CA" sz="3300" b="1" dirty="0">
                    <a:solidFill>
                      <a:schemeClr val="tx1"/>
                    </a:solidFill>
                    <a:latin typeface="+mn-lt"/>
                  </a:rPr>
                  <a:t>			 </a:t>
                </a:r>
                <a14:m>
                  <m:oMath xmlns:m="http://schemas.openxmlformats.org/officeDocument/2006/math">
                    <m:sSub>
                      <m:sSubPr>
                        <m:ctrlPr>
                          <a:rPr lang="en-CA" sz="3600" b="1" i="1">
                            <a:solidFill>
                              <a:schemeClr val="tx1"/>
                            </a:solidFill>
                            <a:latin typeface="Cambria Math" panose="02040503050406030204" pitchFamily="18" charset="0"/>
                            <a:ea typeface="Times New Roman" panose="02020603050405020304" pitchFamily="18" charset="0"/>
                          </a:rPr>
                        </m:ctrlPr>
                      </m:sSubPr>
                      <m:e>
                        <m:d>
                          <m:dPr>
                            <m:begChr m:val=""/>
                            <m:ctrlPr>
                              <a:rPr lang="en-CA" sz="3600" b="1" i="1">
                                <a:solidFill>
                                  <a:schemeClr val="tx1"/>
                                </a:solidFill>
                                <a:latin typeface="Cambria Math" panose="02040503050406030204" pitchFamily="18" charset="0"/>
                                <a:ea typeface="Times New Roman" panose="02020603050405020304" pitchFamily="18" charset="0"/>
                              </a:rPr>
                            </m:ctrlPr>
                          </m:dPr>
                          <m:e>
                            <m:f>
                              <m:fPr>
                                <m:ctrlPr>
                                  <a:rPr lang="en-CA" sz="3600" b="1" i="1">
                                    <a:solidFill>
                                      <a:schemeClr val="tx1"/>
                                    </a:solidFill>
                                    <a:latin typeface="Cambria Math" panose="02040503050406030204" pitchFamily="18" charset="0"/>
                                    <a:ea typeface="Times New Roman" panose="02020603050405020304" pitchFamily="18" charset="0"/>
                                  </a:rPr>
                                </m:ctrlPr>
                              </m:fPr>
                              <m:num>
                                <m:r>
                                  <a:rPr lang="en-CA" sz="3600" b="1" i="1">
                                    <a:solidFill>
                                      <a:schemeClr val="tx1"/>
                                    </a:solidFill>
                                    <a:latin typeface="Cambria Math" panose="02040503050406030204" pitchFamily="18" charset="0"/>
                                    <a:ea typeface="Times New Roman" panose="02020603050405020304" pitchFamily="18" charset="0"/>
                                  </a:rPr>
                                  <m:t>𝒅𝑷</m:t>
                                </m:r>
                              </m:num>
                              <m:den>
                                <m:r>
                                  <a:rPr lang="en-CA" sz="3600" b="1" i="1">
                                    <a:solidFill>
                                      <a:schemeClr val="tx1"/>
                                    </a:solidFill>
                                    <a:latin typeface="Cambria Math" panose="02040503050406030204" pitchFamily="18" charset="0"/>
                                    <a:ea typeface="Times New Roman" panose="02020603050405020304" pitchFamily="18" charset="0"/>
                                  </a:rPr>
                                  <m:t>𝒅𝒕</m:t>
                                </m:r>
                              </m:den>
                            </m:f>
                          </m:e>
                        </m:d>
                      </m:e>
                      <m:sub>
                        <m:r>
                          <a:rPr lang="en-CA" sz="3600" b="1" i="1">
                            <a:solidFill>
                              <a:schemeClr val="tx1"/>
                            </a:solidFill>
                            <a:latin typeface="Cambria Math" panose="02040503050406030204" pitchFamily="18" charset="0"/>
                            <a:ea typeface="Times New Roman" panose="02020603050405020304" pitchFamily="18" charset="0"/>
                          </a:rPr>
                          <m:t>𝒔</m:t>
                        </m:r>
                      </m:sub>
                    </m:sSub>
                    <m:r>
                      <a:rPr lang="en-CA" sz="3600" b="1" i="1">
                        <a:solidFill>
                          <a:schemeClr val="tx1"/>
                        </a:solidFill>
                        <a:latin typeface="Cambria Math" panose="02040503050406030204" pitchFamily="18" charset="0"/>
                        <a:ea typeface="Times New Roman" panose="02020603050405020304" pitchFamily="18" charset="0"/>
                      </a:rPr>
                      <m:t>=</m:t>
                    </m:r>
                    <m:f>
                      <m:fPr>
                        <m:ctrlPr>
                          <a:rPr lang="en-CA" sz="3600" b="1" i="1" smtClean="0">
                            <a:solidFill>
                              <a:schemeClr val="tx1"/>
                            </a:solidFill>
                            <a:latin typeface="Cambria Math" panose="02040503050406030204" pitchFamily="18" charset="0"/>
                          </a:rPr>
                        </m:ctrlPr>
                      </m:fPr>
                      <m:num>
                        <m:r>
                          <a:rPr lang="en-CA" sz="3600" b="1" i="1">
                            <a:solidFill>
                              <a:schemeClr val="tx1"/>
                            </a:solidFill>
                            <a:latin typeface="Cambria Math" panose="02040503050406030204" pitchFamily="18" charset="0"/>
                            <a:ea typeface="Cambria Math" panose="02040503050406030204" pitchFamily="18" charset="0"/>
                          </a:rPr>
                          <m:t>𝝏</m:t>
                        </m:r>
                      </m:num>
                      <m:den>
                        <m:r>
                          <a:rPr lang="en-CA" sz="3600" b="1" i="1">
                            <a:solidFill>
                              <a:schemeClr val="tx1"/>
                            </a:solidFill>
                            <a:latin typeface="Cambria Math" panose="02040503050406030204" pitchFamily="18" charset="0"/>
                            <a:ea typeface="Cambria Math" panose="02040503050406030204" pitchFamily="18" charset="0"/>
                          </a:rPr>
                          <m:t>𝝏</m:t>
                        </m:r>
                        <m:r>
                          <a:rPr lang="en-CA" sz="3600" b="1" i="1">
                            <a:solidFill>
                              <a:schemeClr val="tx1"/>
                            </a:solidFill>
                            <a:latin typeface="Cambria Math" panose="02040503050406030204" pitchFamily="18" charset="0"/>
                            <a:ea typeface="Cambria Math" panose="02040503050406030204" pitchFamily="18" charset="0"/>
                          </a:rPr>
                          <m:t>𝒕</m:t>
                        </m:r>
                      </m:den>
                    </m:f>
                    <m:nary>
                      <m:naryPr>
                        <m:ctrlPr>
                          <a:rPr lang="en-CA" sz="3600" b="1" i="1">
                            <a:solidFill>
                              <a:schemeClr val="tx1"/>
                            </a:solidFill>
                            <a:latin typeface="Cambria Math" panose="02040503050406030204" pitchFamily="18" charset="0"/>
                          </a:rPr>
                        </m:ctrlPr>
                      </m:naryPr>
                      <m:sub>
                        <m:r>
                          <m:rPr>
                            <m:brk m:alnAt="23"/>
                          </m:rPr>
                          <a:rPr lang="en-CA" sz="3600" b="1" i="1">
                            <a:solidFill>
                              <a:schemeClr val="tx1"/>
                            </a:solidFill>
                            <a:latin typeface="Cambria Math" panose="02040503050406030204" pitchFamily="18" charset="0"/>
                          </a:rPr>
                          <m:t>𝑪</m:t>
                        </m:r>
                        <m:r>
                          <a:rPr lang="en-CA" sz="3600" b="1" i="1">
                            <a:solidFill>
                              <a:schemeClr val="tx1"/>
                            </a:solidFill>
                            <a:latin typeface="Cambria Math" panose="02040503050406030204" pitchFamily="18" charset="0"/>
                          </a:rPr>
                          <m:t>𝑽</m:t>
                        </m:r>
                      </m:sub>
                      <m:sup/>
                      <m:e>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𝑽</m:t>
                            </m:r>
                          </m:e>
                        </m:acc>
                        <m:r>
                          <a:rPr lang="en-CA" sz="3600" b="1" i="1">
                            <a:solidFill>
                              <a:schemeClr val="tx1"/>
                            </a:solidFill>
                            <a:latin typeface="Cambria Math" panose="02040503050406030204" pitchFamily="18" charset="0"/>
                            <a:ea typeface="Cambria Math" panose="02040503050406030204" pitchFamily="18" charset="0"/>
                          </a:rPr>
                          <m:t>𝝆</m:t>
                        </m:r>
                        <m:r>
                          <a:rPr lang="en-CA" sz="3600" b="1" i="1">
                            <a:solidFill>
                              <a:schemeClr val="tx1"/>
                            </a:solidFill>
                            <a:latin typeface="Cambria Math" panose="02040503050406030204" pitchFamily="18" charset="0"/>
                            <a:ea typeface="Cambria Math" panose="02040503050406030204" pitchFamily="18" charset="0"/>
                          </a:rPr>
                          <m:t>𝒅</m:t>
                        </m:r>
                        <m:r>
                          <a:rPr lang="en-CA" sz="3600" b="1" i="1" smtClean="0">
                            <a:solidFill>
                              <a:schemeClr val="tx1"/>
                            </a:solidFill>
                            <a:latin typeface="Cambria Math" panose="02040503050406030204" pitchFamily="18" charset="0"/>
                            <a:ea typeface="Cambria Math" panose="02040503050406030204" pitchFamily="18" charset="0"/>
                          </a:rPr>
                          <m:t>∀</m:t>
                        </m:r>
                      </m:e>
                    </m:nary>
                    <m:r>
                      <a:rPr lang="en-CA" sz="3600" b="1">
                        <a:solidFill>
                          <a:schemeClr val="tx1"/>
                        </a:solidFill>
                        <a:latin typeface="Cambria Math" panose="02040503050406030204" pitchFamily="18" charset="0"/>
                        <a:ea typeface="Cambria Math" panose="02040503050406030204" pitchFamily="18" charset="0"/>
                      </a:rPr>
                      <m:t>+</m:t>
                    </m:r>
                    <m:nary>
                      <m:naryPr>
                        <m:ctrlPr>
                          <a:rPr lang="en-CA" sz="3600" b="1" i="1">
                            <a:solidFill>
                              <a:schemeClr val="tx1"/>
                            </a:solidFill>
                            <a:latin typeface="Cambria Math" panose="02040503050406030204" pitchFamily="18" charset="0"/>
                          </a:rPr>
                        </m:ctrlPr>
                      </m:naryPr>
                      <m:sub>
                        <m:r>
                          <m:rPr>
                            <m:brk m:alnAt="23"/>
                          </m:rPr>
                          <a:rPr lang="en-CA" sz="3600" b="1" i="1">
                            <a:solidFill>
                              <a:schemeClr val="tx1"/>
                            </a:solidFill>
                            <a:latin typeface="Cambria Math" panose="02040503050406030204" pitchFamily="18" charset="0"/>
                          </a:rPr>
                          <m:t>𝑪</m:t>
                        </m:r>
                        <m:r>
                          <a:rPr lang="en-CA" sz="3600" b="1" i="1">
                            <a:solidFill>
                              <a:schemeClr val="tx1"/>
                            </a:solidFill>
                            <a:latin typeface="Cambria Math" panose="02040503050406030204" pitchFamily="18" charset="0"/>
                          </a:rPr>
                          <m:t>𝑺</m:t>
                        </m:r>
                      </m:sub>
                      <m:sup/>
                      <m:e>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𝑽</m:t>
                            </m:r>
                          </m:e>
                        </m:acc>
                        <m:r>
                          <a:rPr lang="en-CA" sz="3600" b="1" i="1">
                            <a:solidFill>
                              <a:schemeClr val="tx1"/>
                            </a:solidFill>
                            <a:latin typeface="Cambria Math" panose="02040503050406030204" pitchFamily="18" charset="0"/>
                            <a:ea typeface="Cambria Math" panose="02040503050406030204" pitchFamily="18" charset="0"/>
                          </a:rPr>
                          <m:t>𝝆</m:t>
                        </m:r>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𝑽</m:t>
                            </m:r>
                          </m:e>
                        </m:acc>
                        <m:r>
                          <a:rPr lang="en-CA" sz="3600" b="1" i="1">
                            <a:solidFill>
                              <a:schemeClr val="tx1"/>
                            </a:solidFill>
                            <a:latin typeface="Cambria Math" panose="02040503050406030204" pitchFamily="18" charset="0"/>
                            <a:ea typeface="Cambria Math" panose="02040503050406030204" pitchFamily="18" charset="0"/>
                          </a:rPr>
                          <m:t>∙</m:t>
                        </m:r>
                        <m:r>
                          <a:rPr lang="en-CA" sz="3600" b="1" i="1">
                            <a:solidFill>
                              <a:schemeClr val="tx1"/>
                            </a:solidFill>
                            <a:latin typeface="Cambria Math" panose="02040503050406030204" pitchFamily="18" charset="0"/>
                            <a:ea typeface="Cambria Math" panose="02040503050406030204" pitchFamily="18" charset="0"/>
                          </a:rPr>
                          <m:t>𝒅</m:t>
                        </m:r>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𝑨</m:t>
                            </m:r>
                          </m:e>
                        </m:acc>
                      </m:e>
                    </m:nary>
                  </m:oMath>
                </a14:m>
                <a:endParaRPr lang="en-CA" sz="3600" b="1" dirty="0">
                  <a:solidFill>
                    <a:schemeClr val="tx1"/>
                  </a:solidFill>
                  <a:latin typeface="+mn-lt"/>
                </a:endParaRPr>
              </a:p>
              <a:p>
                <a:pPr marL="0" indent="0">
                  <a:lnSpc>
                    <a:spcPct val="120000"/>
                  </a:lnSpc>
                  <a:spcAft>
                    <a:spcPts val="600"/>
                  </a:spcAft>
                  <a:buNone/>
                </a:pPr>
                <a:r>
                  <a:rPr lang="en-CA" sz="3600" b="1" dirty="0">
                    <a:solidFill>
                      <a:schemeClr val="tx1"/>
                    </a:solidFill>
                    <a:latin typeface="+mn-lt"/>
                  </a:rPr>
                  <a:t>At </a:t>
                </a:r>
                <a14:m>
                  <m:oMath xmlns:m="http://schemas.openxmlformats.org/officeDocument/2006/math">
                    <m:r>
                      <a:rPr lang="en-CA" sz="3600" b="1" i="1" dirty="0" smtClean="0">
                        <a:solidFill>
                          <a:schemeClr val="tx1"/>
                        </a:solidFill>
                        <a:latin typeface="Cambria Math" panose="02040503050406030204" pitchFamily="18" charset="0"/>
                      </a:rPr>
                      <m:t>𝒕</m:t>
                    </m:r>
                    <m:r>
                      <a:rPr lang="en-CA" sz="3600" b="1" i="1" dirty="0" smtClean="0">
                        <a:solidFill>
                          <a:schemeClr val="tx1"/>
                        </a:solidFill>
                        <a:latin typeface="Cambria Math" panose="02040503050406030204" pitchFamily="18" charset="0"/>
                      </a:rPr>
                      <m:t> = </m:t>
                    </m:r>
                    <m:sSub>
                      <m:sSubPr>
                        <m:ctrlPr>
                          <a:rPr lang="en-CA" sz="3600" b="1" i="1" dirty="0" smtClean="0">
                            <a:solidFill>
                              <a:schemeClr val="tx1"/>
                            </a:solidFill>
                            <a:latin typeface="Cambria Math" panose="02040503050406030204" pitchFamily="18" charset="0"/>
                          </a:rPr>
                        </m:ctrlPr>
                      </m:sSubPr>
                      <m:e>
                        <m:r>
                          <a:rPr lang="en-CA" sz="3600" b="1" i="1" dirty="0">
                            <a:solidFill>
                              <a:schemeClr val="tx1"/>
                            </a:solidFill>
                            <a:latin typeface="Cambria Math" panose="02040503050406030204" pitchFamily="18" charset="0"/>
                          </a:rPr>
                          <m:t>𝒕</m:t>
                        </m:r>
                      </m:e>
                      <m:sub>
                        <m:r>
                          <a:rPr lang="en-CA" sz="3600" b="1" i="1" dirty="0">
                            <a:solidFill>
                              <a:schemeClr val="tx1"/>
                            </a:solidFill>
                            <a:latin typeface="Cambria Math" panose="02040503050406030204" pitchFamily="18" charset="0"/>
                          </a:rPr>
                          <m:t>𝒐</m:t>
                        </m:r>
                      </m:sub>
                    </m:sSub>
                  </m:oMath>
                </a14:m>
                <a:r>
                  <a:rPr lang="en-CA" sz="3600" b="1" dirty="0">
                    <a:solidFill>
                      <a:schemeClr val="tx1"/>
                    </a:solidFill>
                    <a:latin typeface="+mn-lt"/>
                  </a:rPr>
                  <a:t>:</a:t>
                </a:r>
                <a14:m>
                  <m:oMath xmlns:m="http://schemas.openxmlformats.org/officeDocument/2006/math">
                    <m:r>
                      <a:rPr lang="en-CA" sz="3600" b="1" i="0" smtClean="0">
                        <a:solidFill>
                          <a:schemeClr val="tx1"/>
                        </a:solidFill>
                        <a:latin typeface="Cambria Math" panose="02040503050406030204" pitchFamily="18" charset="0"/>
                      </a:rPr>
                      <m:t>                   </m:t>
                    </m:r>
                    <m:sSub>
                      <m:sSubPr>
                        <m:ctrlPr>
                          <a:rPr lang="en-CA" sz="3600" b="1" i="1" smtClean="0">
                            <a:solidFill>
                              <a:schemeClr val="tx1"/>
                            </a:solidFill>
                            <a:latin typeface="Cambria Math" panose="02040503050406030204" pitchFamily="18" charset="0"/>
                          </a:rPr>
                        </m:ctrlPr>
                      </m:sSubPr>
                      <m:e>
                        <m:acc>
                          <m:accPr>
                            <m:chr m:val="⃗"/>
                            <m:ctrlPr>
                              <a:rPr lang="en-CA" sz="3600" b="1" i="1">
                                <a:solidFill>
                                  <a:schemeClr val="tx1"/>
                                </a:solidFill>
                                <a:latin typeface="Cambria Math" panose="02040503050406030204" pitchFamily="18" charset="0"/>
                              </a:rPr>
                            </m:ctrlPr>
                          </m:accPr>
                          <m:e>
                            <m:r>
                              <a:rPr lang="en-CA" sz="3600" b="1" i="1">
                                <a:solidFill>
                                  <a:schemeClr val="tx1"/>
                                </a:solidFill>
                                <a:latin typeface="Cambria Math" panose="02040503050406030204" pitchFamily="18" charset="0"/>
                              </a:rPr>
                              <m:t>𝑭</m:t>
                            </m:r>
                          </m:e>
                        </m:acc>
                        <m:r>
                          <a:rPr lang="en-CA" sz="3600" b="1" i="1">
                            <a:solidFill>
                              <a:schemeClr val="tx1"/>
                            </a:solidFill>
                            <a:latin typeface="Cambria Math" panose="02040503050406030204" pitchFamily="18" charset="0"/>
                          </a:rPr>
                          <m:t>)</m:t>
                        </m:r>
                      </m:e>
                      <m:sub>
                        <m:r>
                          <a:rPr lang="en-CA" sz="3600" b="1" i="1">
                            <a:solidFill>
                              <a:schemeClr val="tx1"/>
                            </a:solidFill>
                            <a:latin typeface="Cambria Math" panose="02040503050406030204" pitchFamily="18" charset="0"/>
                          </a:rPr>
                          <m:t>𝒔</m:t>
                        </m:r>
                      </m:sub>
                    </m:sSub>
                    <m:r>
                      <a:rPr lang="en-CA" sz="3600" b="1" i="1" smtClean="0">
                        <a:solidFill>
                          <a:schemeClr val="tx1"/>
                        </a:solidFill>
                        <a:latin typeface="Cambria Math" panose="02040503050406030204" pitchFamily="18" charset="0"/>
                      </a:rPr>
                      <m:t>=</m:t>
                    </m:r>
                    <m:sSub>
                      <m:sSubPr>
                        <m:ctrlPr>
                          <a:rPr lang="en-CA" sz="3600" b="1" i="1">
                            <a:solidFill>
                              <a:schemeClr val="tx1"/>
                            </a:solidFill>
                            <a:latin typeface="Cambria Math" panose="02040503050406030204" pitchFamily="18" charset="0"/>
                          </a:rPr>
                        </m:ctrlPr>
                      </m:sSubPr>
                      <m:e>
                        <m:acc>
                          <m:accPr>
                            <m:chr m:val="⃗"/>
                            <m:ctrlPr>
                              <a:rPr lang="en-CA" sz="3600" b="1" i="1">
                                <a:solidFill>
                                  <a:schemeClr val="tx1"/>
                                </a:solidFill>
                                <a:latin typeface="Cambria Math" panose="02040503050406030204" pitchFamily="18" charset="0"/>
                              </a:rPr>
                            </m:ctrlPr>
                          </m:accPr>
                          <m:e>
                            <m:r>
                              <a:rPr lang="en-CA" sz="3600" b="1" i="1">
                                <a:solidFill>
                                  <a:schemeClr val="tx1"/>
                                </a:solidFill>
                                <a:latin typeface="Cambria Math" panose="02040503050406030204" pitchFamily="18" charset="0"/>
                              </a:rPr>
                              <m:t>𝑭</m:t>
                            </m:r>
                          </m:e>
                        </m:acc>
                        <m:r>
                          <a:rPr lang="en-CA" sz="3600" b="1" i="1">
                            <a:solidFill>
                              <a:schemeClr val="tx1"/>
                            </a:solidFill>
                            <a:latin typeface="Cambria Math" panose="02040503050406030204" pitchFamily="18" charset="0"/>
                          </a:rPr>
                          <m:t>)</m:t>
                        </m:r>
                      </m:e>
                      <m:sub>
                        <m:r>
                          <a:rPr lang="en-CA" sz="3600" b="1" i="1" smtClean="0">
                            <a:solidFill>
                              <a:schemeClr val="tx1"/>
                            </a:solidFill>
                            <a:latin typeface="Cambria Math" panose="02040503050406030204" pitchFamily="18" charset="0"/>
                          </a:rPr>
                          <m:t>𝑪𝑽</m:t>
                        </m:r>
                      </m:sub>
                    </m:sSub>
                  </m:oMath>
                </a14:m>
                <a:r>
                  <a:rPr lang="en-CA" sz="3600" b="1" dirty="0">
                    <a:solidFill>
                      <a:schemeClr val="tx1"/>
                    </a:solidFill>
                    <a:latin typeface="+mn-lt"/>
                  </a:rPr>
                  <a:t> = </a:t>
                </a:r>
                <a14:m>
                  <m:oMath xmlns:m="http://schemas.openxmlformats.org/officeDocument/2006/math">
                    <m:sSub>
                      <m:sSubPr>
                        <m:ctrlPr>
                          <a:rPr lang="en-CA" sz="3600" b="1" i="1">
                            <a:solidFill>
                              <a:schemeClr val="tx1"/>
                            </a:solidFill>
                            <a:latin typeface="Cambria Math" panose="02040503050406030204" pitchFamily="18" charset="0"/>
                          </a:rPr>
                        </m:ctrlPr>
                      </m:sSubPr>
                      <m:e>
                        <m:acc>
                          <m:accPr>
                            <m:chr m:val="⃗"/>
                            <m:ctrlPr>
                              <a:rPr lang="en-CA" sz="3600" b="1" i="1">
                                <a:solidFill>
                                  <a:schemeClr val="tx1"/>
                                </a:solidFill>
                                <a:latin typeface="Cambria Math" panose="02040503050406030204" pitchFamily="18" charset="0"/>
                              </a:rPr>
                            </m:ctrlPr>
                          </m:accPr>
                          <m:e>
                            <m:r>
                              <a:rPr lang="en-CA" sz="3600" b="1" i="1">
                                <a:solidFill>
                                  <a:schemeClr val="tx1"/>
                                </a:solidFill>
                                <a:latin typeface="Cambria Math" panose="02040503050406030204" pitchFamily="18" charset="0"/>
                              </a:rPr>
                              <m:t>𝑭</m:t>
                            </m:r>
                          </m:e>
                        </m:acc>
                      </m:e>
                      <m:sub>
                        <m:r>
                          <a:rPr lang="en-CA" sz="3600" b="1" i="1">
                            <a:solidFill>
                              <a:schemeClr val="tx1"/>
                            </a:solidFill>
                            <a:latin typeface="Cambria Math" panose="02040503050406030204" pitchFamily="18" charset="0"/>
                          </a:rPr>
                          <m:t>𝒔</m:t>
                        </m:r>
                      </m:sub>
                    </m:sSub>
                    <m:r>
                      <a:rPr lang="en-CA" sz="3600" b="1" i="1">
                        <a:solidFill>
                          <a:schemeClr val="tx1"/>
                        </a:solidFill>
                        <a:latin typeface="Cambria Math" panose="02040503050406030204" pitchFamily="18" charset="0"/>
                      </a:rPr>
                      <m:t>+</m:t>
                    </m:r>
                    <m:sSub>
                      <m:sSubPr>
                        <m:ctrlPr>
                          <a:rPr lang="en-CA" sz="3600" b="1" i="1">
                            <a:solidFill>
                              <a:schemeClr val="tx1"/>
                            </a:solidFill>
                            <a:latin typeface="Cambria Math" panose="02040503050406030204" pitchFamily="18" charset="0"/>
                          </a:rPr>
                        </m:ctrlPr>
                      </m:sSubPr>
                      <m:e>
                        <m:acc>
                          <m:accPr>
                            <m:chr m:val="⃗"/>
                            <m:ctrlPr>
                              <a:rPr lang="en-CA" sz="3600" b="1" i="1">
                                <a:solidFill>
                                  <a:schemeClr val="tx1"/>
                                </a:solidFill>
                                <a:latin typeface="Cambria Math" panose="02040503050406030204" pitchFamily="18" charset="0"/>
                              </a:rPr>
                            </m:ctrlPr>
                          </m:accPr>
                          <m:e>
                            <m:r>
                              <a:rPr lang="en-CA" sz="3600" b="1" i="1">
                                <a:solidFill>
                                  <a:schemeClr val="tx1"/>
                                </a:solidFill>
                                <a:latin typeface="Cambria Math" panose="02040503050406030204" pitchFamily="18" charset="0"/>
                              </a:rPr>
                              <m:t>𝑭</m:t>
                            </m:r>
                          </m:e>
                        </m:acc>
                      </m:e>
                      <m:sub>
                        <m:r>
                          <a:rPr lang="en-CA" sz="3600" b="1" i="1">
                            <a:solidFill>
                              <a:schemeClr val="tx1"/>
                            </a:solidFill>
                            <a:latin typeface="Cambria Math" panose="02040503050406030204" pitchFamily="18" charset="0"/>
                          </a:rPr>
                          <m:t>𝑩</m:t>
                        </m:r>
                      </m:sub>
                    </m:sSub>
                  </m:oMath>
                </a14:m>
                <a:endParaRPr lang="en-CA" sz="3600" b="1" dirty="0">
                  <a:solidFill>
                    <a:schemeClr val="tx1"/>
                  </a:solidFill>
                  <a:latin typeface="+mn-lt"/>
                </a:endParaRPr>
              </a:p>
              <a:p>
                <a:pPr marL="0" indent="0">
                  <a:lnSpc>
                    <a:spcPct val="120000"/>
                  </a:lnSpc>
                  <a:spcAft>
                    <a:spcPts val="600"/>
                  </a:spcAft>
                  <a:buNone/>
                </a:pPr>
                <a14:m>
                  <m:oMathPara xmlns:m="http://schemas.openxmlformats.org/officeDocument/2006/math">
                    <m:oMathParaPr>
                      <m:jc m:val="centerGroup"/>
                    </m:oMathParaPr>
                    <m:oMath xmlns:m="http://schemas.openxmlformats.org/officeDocument/2006/math">
                      <m:sSub>
                        <m:sSubPr>
                          <m:ctrlPr>
                            <a:rPr lang="en-CA" sz="3600" b="1" i="1" smtClean="0">
                              <a:solidFill>
                                <a:schemeClr val="tx1"/>
                              </a:solidFill>
                              <a:latin typeface="Cambria Math" panose="02040503050406030204" pitchFamily="18" charset="0"/>
                            </a:rPr>
                          </m:ctrlPr>
                        </m:sSubPr>
                        <m:e>
                          <m:acc>
                            <m:accPr>
                              <m:chr m:val="⃗"/>
                              <m:ctrlPr>
                                <a:rPr lang="en-CA" sz="3600" b="1" i="1">
                                  <a:solidFill>
                                    <a:schemeClr val="tx1"/>
                                  </a:solidFill>
                                  <a:latin typeface="Cambria Math" panose="02040503050406030204" pitchFamily="18" charset="0"/>
                                </a:rPr>
                              </m:ctrlPr>
                            </m:accPr>
                            <m:e>
                              <m:r>
                                <a:rPr lang="en-CA" sz="3600" b="1" i="1">
                                  <a:solidFill>
                                    <a:schemeClr val="tx1"/>
                                  </a:solidFill>
                                  <a:latin typeface="Cambria Math" panose="02040503050406030204" pitchFamily="18" charset="0"/>
                                </a:rPr>
                                <m:t>𝑭</m:t>
                              </m:r>
                            </m:e>
                          </m:acc>
                        </m:e>
                        <m:sub>
                          <m:r>
                            <a:rPr lang="en-CA" sz="3600" b="1" i="1">
                              <a:solidFill>
                                <a:schemeClr val="tx1"/>
                              </a:solidFill>
                              <a:latin typeface="Cambria Math" panose="02040503050406030204" pitchFamily="18" charset="0"/>
                            </a:rPr>
                            <m:t>𝒔</m:t>
                          </m:r>
                        </m:sub>
                      </m:sSub>
                      <m:r>
                        <a:rPr lang="en-CA" sz="3600" b="1" i="1" smtClean="0">
                          <a:solidFill>
                            <a:schemeClr val="tx1"/>
                          </a:solidFill>
                          <a:latin typeface="Cambria Math" panose="02040503050406030204" pitchFamily="18" charset="0"/>
                        </a:rPr>
                        <m:t>+</m:t>
                      </m:r>
                      <m:sSub>
                        <m:sSubPr>
                          <m:ctrlPr>
                            <a:rPr lang="en-CA" sz="3600" b="1" i="1">
                              <a:solidFill>
                                <a:schemeClr val="tx1"/>
                              </a:solidFill>
                              <a:latin typeface="Cambria Math" panose="02040503050406030204" pitchFamily="18" charset="0"/>
                            </a:rPr>
                          </m:ctrlPr>
                        </m:sSubPr>
                        <m:e>
                          <m:acc>
                            <m:accPr>
                              <m:chr m:val="⃗"/>
                              <m:ctrlPr>
                                <a:rPr lang="en-CA" sz="3600" b="1" i="1">
                                  <a:solidFill>
                                    <a:schemeClr val="tx1"/>
                                  </a:solidFill>
                                  <a:latin typeface="Cambria Math" panose="02040503050406030204" pitchFamily="18" charset="0"/>
                                </a:rPr>
                              </m:ctrlPr>
                            </m:accPr>
                            <m:e>
                              <m:r>
                                <a:rPr lang="en-CA" sz="3600" b="1" i="1">
                                  <a:solidFill>
                                    <a:schemeClr val="tx1"/>
                                  </a:solidFill>
                                  <a:latin typeface="Cambria Math" panose="02040503050406030204" pitchFamily="18" charset="0"/>
                                </a:rPr>
                                <m:t>𝑭</m:t>
                              </m:r>
                            </m:e>
                          </m:acc>
                        </m:e>
                        <m:sub>
                          <m:r>
                            <a:rPr lang="en-CA" sz="3600" b="1" i="1" smtClean="0">
                              <a:solidFill>
                                <a:schemeClr val="tx1"/>
                              </a:solidFill>
                              <a:latin typeface="Cambria Math" panose="02040503050406030204" pitchFamily="18" charset="0"/>
                            </a:rPr>
                            <m:t>𝑩</m:t>
                          </m:r>
                        </m:sub>
                      </m:sSub>
                      <m:r>
                        <a:rPr lang="en-CA" sz="3600" b="1" i="1" smtClean="0">
                          <a:solidFill>
                            <a:schemeClr val="tx1"/>
                          </a:solidFill>
                          <a:latin typeface="Cambria Math" panose="02040503050406030204" pitchFamily="18" charset="0"/>
                        </a:rPr>
                        <m:t>=</m:t>
                      </m:r>
                      <m:f>
                        <m:fPr>
                          <m:ctrlPr>
                            <a:rPr lang="en-CA" sz="3600" b="1" i="1" smtClean="0">
                              <a:solidFill>
                                <a:schemeClr val="tx1"/>
                              </a:solidFill>
                              <a:latin typeface="Cambria Math" panose="02040503050406030204" pitchFamily="18" charset="0"/>
                            </a:rPr>
                          </m:ctrlPr>
                        </m:fPr>
                        <m:num>
                          <m:r>
                            <a:rPr lang="en-CA" sz="3600" b="1" i="1">
                              <a:solidFill>
                                <a:schemeClr val="tx1"/>
                              </a:solidFill>
                              <a:latin typeface="Cambria Math" panose="02040503050406030204" pitchFamily="18" charset="0"/>
                              <a:ea typeface="Cambria Math" panose="02040503050406030204" pitchFamily="18" charset="0"/>
                            </a:rPr>
                            <m:t>𝝏</m:t>
                          </m:r>
                        </m:num>
                        <m:den>
                          <m:r>
                            <a:rPr lang="en-CA" sz="3600" b="1" i="1">
                              <a:solidFill>
                                <a:schemeClr val="tx1"/>
                              </a:solidFill>
                              <a:latin typeface="Cambria Math" panose="02040503050406030204" pitchFamily="18" charset="0"/>
                              <a:ea typeface="Cambria Math" panose="02040503050406030204" pitchFamily="18" charset="0"/>
                            </a:rPr>
                            <m:t>𝝏</m:t>
                          </m:r>
                          <m:r>
                            <a:rPr lang="en-CA" sz="3600" b="1" i="1">
                              <a:solidFill>
                                <a:schemeClr val="tx1"/>
                              </a:solidFill>
                              <a:latin typeface="Cambria Math" panose="02040503050406030204" pitchFamily="18" charset="0"/>
                              <a:ea typeface="Cambria Math" panose="02040503050406030204" pitchFamily="18" charset="0"/>
                            </a:rPr>
                            <m:t>𝒕</m:t>
                          </m:r>
                        </m:den>
                      </m:f>
                      <m:nary>
                        <m:naryPr>
                          <m:ctrlPr>
                            <a:rPr lang="en-CA" sz="3600" b="1" i="1">
                              <a:solidFill>
                                <a:schemeClr val="tx1"/>
                              </a:solidFill>
                              <a:latin typeface="Cambria Math" panose="02040503050406030204" pitchFamily="18" charset="0"/>
                            </a:rPr>
                          </m:ctrlPr>
                        </m:naryPr>
                        <m:sub>
                          <m:r>
                            <m:rPr>
                              <m:brk m:alnAt="23"/>
                            </m:rPr>
                            <a:rPr lang="en-CA" sz="3600" b="1" i="1">
                              <a:solidFill>
                                <a:schemeClr val="tx1"/>
                              </a:solidFill>
                              <a:latin typeface="Cambria Math" panose="02040503050406030204" pitchFamily="18" charset="0"/>
                            </a:rPr>
                            <m:t>𝑪</m:t>
                          </m:r>
                          <m:r>
                            <a:rPr lang="en-CA" sz="3600" b="1" i="1">
                              <a:solidFill>
                                <a:schemeClr val="tx1"/>
                              </a:solidFill>
                              <a:latin typeface="Cambria Math" panose="02040503050406030204" pitchFamily="18" charset="0"/>
                            </a:rPr>
                            <m:t>𝑽</m:t>
                          </m:r>
                        </m:sub>
                        <m:sup/>
                        <m:e>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𝑽</m:t>
                              </m:r>
                            </m:e>
                          </m:acc>
                          <m:r>
                            <a:rPr lang="en-CA" sz="3600" b="1" i="1">
                              <a:solidFill>
                                <a:schemeClr val="tx1"/>
                              </a:solidFill>
                              <a:latin typeface="Cambria Math" panose="02040503050406030204" pitchFamily="18" charset="0"/>
                              <a:ea typeface="Cambria Math" panose="02040503050406030204" pitchFamily="18" charset="0"/>
                            </a:rPr>
                            <m:t>𝝆</m:t>
                          </m:r>
                          <m:r>
                            <a:rPr lang="en-CA" sz="3600" b="1" i="1">
                              <a:solidFill>
                                <a:schemeClr val="tx1"/>
                              </a:solidFill>
                              <a:latin typeface="Cambria Math" panose="02040503050406030204" pitchFamily="18" charset="0"/>
                              <a:ea typeface="Cambria Math" panose="02040503050406030204" pitchFamily="18" charset="0"/>
                            </a:rPr>
                            <m:t>𝒅</m:t>
                          </m:r>
                          <m:r>
                            <a:rPr lang="en-CA" sz="3600" b="1" i="1" smtClean="0">
                              <a:solidFill>
                                <a:schemeClr val="tx1"/>
                              </a:solidFill>
                              <a:latin typeface="Cambria Math" panose="02040503050406030204" pitchFamily="18" charset="0"/>
                              <a:ea typeface="Cambria Math" panose="02040503050406030204" pitchFamily="18" charset="0"/>
                            </a:rPr>
                            <m:t>∀</m:t>
                          </m:r>
                        </m:e>
                      </m:nary>
                      <m:r>
                        <a:rPr lang="en-CA" sz="3600" b="1">
                          <a:solidFill>
                            <a:schemeClr val="tx1"/>
                          </a:solidFill>
                          <a:latin typeface="Cambria Math" panose="02040503050406030204" pitchFamily="18" charset="0"/>
                          <a:ea typeface="Cambria Math" panose="02040503050406030204" pitchFamily="18" charset="0"/>
                        </a:rPr>
                        <m:t>+</m:t>
                      </m:r>
                      <m:nary>
                        <m:naryPr>
                          <m:ctrlPr>
                            <a:rPr lang="en-CA" sz="3600" b="1" i="1">
                              <a:solidFill>
                                <a:schemeClr val="tx1"/>
                              </a:solidFill>
                              <a:latin typeface="Cambria Math" panose="02040503050406030204" pitchFamily="18" charset="0"/>
                            </a:rPr>
                          </m:ctrlPr>
                        </m:naryPr>
                        <m:sub>
                          <m:r>
                            <m:rPr>
                              <m:brk m:alnAt="23"/>
                            </m:rPr>
                            <a:rPr lang="en-CA" sz="3600" b="1" i="1">
                              <a:solidFill>
                                <a:schemeClr val="tx1"/>
                              </a:solidFill>
                              <a:latin typeface="Cambria Math" panose="02040503050406030204" pitchFamily="18" charset="0"/>
                            </a:rPr>
                            <m:t>𝑪</m:t>
                          </m:r>
                          <m:r>
                            <a:rPr lang="en-CA" sz="3600" b="1" i="1">
                              <a:solidFill>
                                <a:schemeClr val="tx1"/>
                              </a:solidFill>
                              <a:latin typeface="Cambria Math" panose="02040503050406030204" pitchFamily="18" charset="0"/>
                            </a:rPr>
                            <m:t>𝑺</m:t>
                          </m:r>
                        </m:sub>
                        <m:sup/>
                        <m:e>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𝑽</m:t>
                              </m:r>
                            </m:e>
                          </m:acc>
                          <m:r>
                            <a:rPr lang="en-CA" sz="3600" b="1" i="1">
                              <a:solidFill>
                                <a:schemeClr val="tx1"/>
                              </a:solidFill>
                              <a:latin typeface="Cambria Math" panose="02040503050406030204" pitchFamily="18" charset="0"/>
                              <a:ea typeface="Cambria Math" panose="02040503050406030204" pitchFamily="18" charset="0"/>
                            </a:rPr>
                            <m:t>𝝆</m:t>
                          </m:r>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𝑽</m:t>
                              </m:r>
                            </m:e>
                          </m:acc>
                          <m:r>
                            <a:rPr lang="en-CA" sz="3600" b="1" i="1">
                              <a:solidFill>
                                <a:schemeClr val="tx1"/>
                              </a:solidFill>
                              <a:latin typeface="Cambria Math" panose="02040503050406030204" pitchFamily="18" charset="0"/>
                              <a:ea typeface="Cambria Math" panose="02040503050406030204" pitchFamily="18" charset="0"/>
                            </a:rPr>
                            <m:t>∙</m:t>
                          </m:r>
                          <m:r>
                            <a:rPr lang="en-CA" sz="3600" b="1" i="1">
                              <a:solidFill>
                                <a:schemeClr val="tx1"/>
                              </a:solidFill>
                              <a:latin typeface="Cambria Math" panose="02040503050406030204" pitchFamily="18" charset="0"/>
                              <a:ea typeface="Cambria Math" panose="02040503050406030204" pitchFamily="18" charset="0"/>
                            </a:rPr>
                            <m:t>𝒅</m:t>
                          </m:r>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3600" b="1" dirty="0">
                  <a:solidFill>
                    <a:schemeClr val="tx1"/>
                  </a:solidFill>
                  <a:latin typeface="+mn-lt"/>
                </a:endParaRPr>
              </a:p>
              <a:p>
                <a:pPr marL="0" indent="0">
                  <a:lnSpc>
                    <a:spcPct val="120000"/>
                  </a:lnSpc>
                  <a:spcAft>
                    <a:spcPts val="600"/>
                  </a:spcAft>
                  <a:buNone/>
                </a:pPr>
                <a:r>
                  <a:rPr lang="en-CA" sz="3600" b="1" dirty="0">
                    <a:solidFill>
                      <a:schemeClr val="tx1"/>
                    </a:solidFill>
                    <a:latin typeface="+mn-lt"/>
                  </a:rPr>
                  <a:t>For uniform flow at each inlet and exit:</a:t>
                </a:r>
              </a:p>
              <a:p>
                <a:pPr marL="0" indent="0">
                  <a:lnSpc>
                    <a:spcPct val="120000"/>
                  </a:lnSpc>
                  <a:spcAft>
                    <a:spcPts val="600"/>
                  </a:spcAft>
                  <a:buNone/>
                </a:pPr>
                <a14:m>
                  <m:oMathPara xmlns:m="http://schemas.openxmlformats.org/officeDocument/2006/math">
                    <m:oMathParaPr>
                      <m:jc m:val="centerGroup"/>
                    </m:oMathParaPr>
                    <m:oMath xmlns:m="http://schemas.openxmlformats.org/officeDocument/2006/math">
                      <m:sSub>
                        <m:sSubPr>
                          <m:ctrlPr>
                            <a:rPr lang="en-CA" sz="3600" b="1" i="1">
                              <a:solidFill>
                                <a:schemeClr val="tx1"/>
                              </a:solidFill>
                              <a:latin typeface="Cambria Math" panose="02040503050406030204" pitchFamily="18" charset="0"/>
                            </a:rPr>
                          </m:ctrlPr>
                        </m:sSubPr>
                        <m:e>
                          <m:acc>
                            <m:accPr>
                              <m:chr m:val="⃗"/>
                              <m:ctrlPr>
                                <a:rPr lang="en-CA" sz="3600" b="1" i="1">
                                  <a:solidFill>
                                    <a:schemeClr val="tx1"/>
                                  </a:solidFill>
                                  <a:latin typeface="Cambria Math" panose="02040503050406030204" pitchFamily="18" charset="0"/>
                                </a:rPr>
                              </m:ctrlPr>
                            </m:accPr>
                            <m:e>
                              <m:r>
                                <a:rPr lang="en-CA" sz="3600" b="1" i="1">
                                  <a:solidFill>
                                    <a:schemeClr val="tx1"/>
                                  </a:solidFill>
                                  <a:latin typeface="Cambria Math" panose="02040503050406030204" pitchFamily="18" charset="0"/>
                                </a:rPr>
                                <m:t>𝑭</m:t>
                              </m:r>
                            </m:e>
                          </m:acc>
                        </m:e>
                        <m:sub>
                          <m:r>
                            <a:rPr lang="en-CA" sz="3600" b="1" i="1">
                              <a:solidFill>
                                <a:schemeClr val="tx1"/>
                              </a:solidFill>
                              <a:latin typeface="Cambria Math" panose="02040503050406030204" pitchFamily="18" charset="0"/>
                            </a:rPr>
                            <m:t>𝒔</m:t>
                          </m:r>
                        </m:sub>
                      </m:sSub>
                      <m:r>
                        <a:rPr lang="en-CA" sz="3600" b="1" i="1">
                          <a:solidFill>
                            <a:schemeClr val="tx1"/>
                          </a:solidFill>
                          <a:latin typeface="Cambria Math" panose="02040503050406030204" pitchFamily="18" charset="0"/>
                        </a:rPr>
                        <m:t>+</m:t>
                      </m:r>
                      <m:sSub>
                        <m:sSubPr>
                          <m:ctrlPr>
                            <a:rPr lang="en-CA" sz="3600" b="1" i="1">
                              <a:solidFill>
                                <a:schemeClr val="tx1"/>
                              </a:solidFill>
                              <a:latin typeface="Cambria Math" panose="02040503050406030204" pitchFamily="18" charset="0"/>
                            </a:rPr>
                          </m:ctrlPr>
                        </m:sSubPr>
                        <m:e>
                          <m:acc>
                            <m:accPr>
                              <m:chr m:val="⃗"/>
                              <m:ctrlPr>
                                <a:rPr lang="en-CA" sz="3600" b="1" i="1">
                                  <a:solidFill>
                                    <a:schemeClr val="tx1"/>
                                  </a:solidFill>
                                  <a:latin typeface="Cambria Math" panose="02040503050406030204" pitchFamily="18" charset="0"/>
                                </a:rPr>
                              </m:ctrlPr>
                            </m:accPr>
                            <m:e>
                              <m:r>
                                <a:rPr lang="en-CA" sz="3600" b="1" i="1">
                                  <a:solidFill>
                                    <a:schemeClr val="tx1"/>
                                  </a:solidFill>
                                  <a:latin typeface="Cambria Math" panose="02040503050406030204" pitchFamily="18" charset="0"/>
                                </a:rPr>
                                <m:t>𝑭</m:t>
                              </m:r>
                            </m:e>
                          </m:acc>
                        </m:e>
                        <m:sub>
                          <m:r>
                            <a:rPr lang="en-CA" sz="3600" b="1" i="1">
                              <a:solidFill>
                                <a:schemeClr val="tx1"/>
                              </a:solidFill>
                              <a:latin typeface="Cambria Math" panose="02040503050406030204" pitchFamily="18" charset="0"/>
                            </a:rPr>
                            <m:t>𝑩</m:t>
                          </m:r>
                        </m:sub>
                      </m:sSub>
                      <m:r>
                        <a:rPr lang="en-CA" sz="3600" b="1" i="1">
                          <a:solidFill>
                            <a:schemeClr val="tx1"/>
                          </a:solidFill>
                          <a:latin typeface="Cambria Math" panose="02040503050406030204" pitchFamily="18" charset="0"/>
                        </a:rPr>
                        <m:t>=</m:t>
                      </m:r>
                      <m:f>
                        <m:fPr>
                          <m:ctrlPr>
                            <a:rPr lang="en-CA" sz="3600" b="1" i="1">
                              <a:solidFill>
                                <a:schemeClr val="tx1"/>
                              </a:solidFill>
                              <a:latin typeface="Cambria Math" panose="02040503050406030204" pitchFamily="18" charset="0"/>
                            </a:rPr>
                          </m:ctrlPr>
                        </m:fPr>
                        <m:num>
                          <m:r>
                            <a:rPr lang="en-CA" sz="3600" b="1" i="1">
                              <a:solidFill>
                                <a:schemeClr val="tx1"/>
                              </a:solidFill>
                              <a:latin typeface="Cambria Math" panose="02040503050406030204" pitchFamily="18" charset="0"/>
                              <a:ea typeface="Cambria Math" panose="02040503050406030204" pitchFamily="18" charset="0"/>
                            </a:rPr>
                            <m:t>𝝏</m:t>
                          </m:r>
                        </m:num>
                        <m:den>
                          <m:r>
                            <a:rPr lang="en-CA" sz="3600" b="1" i="1">
                              <a:solidFill>
                                <a:schemeClr val="tx1"/>
                              </a:solidFill>
                              <a:latin typeface="Cambria Math" panose="02040503050406030204" pitchFamily="18" charset="0"/>
                              <a:ea typeface="Cambria Math" panose="02040503050406030204" pitchFamily="18" charset="0"/>
                            </a:rPr>
                            <m:t>𝝏</m:t>
                          </m:r>
                          <m:r>
                            <a:rPr lang="en-CA" sz="3600" b="1" i="1">
                              <a:solidFill>
                                <a:schemeClr val="tx1"/>
                              </a:solidFill>
                              <a:latin typeface="Cambria Math" panose="02040503050406030204" pitchFamily="18" charset="0"/>
                              <a:ea typeface="Cambria Math" panose="02040503050406030204" pitchFamily="18" charset="0"/>
                            </a:rPr>
                            <m:t>𝒕</m:t>
                          </m:r>
                        </m:den>
                      </m:f>
                      <m:nary>
                        <m:naryPr>
                          <m:ctrlPr>
                            <a:rPr lang="en-CA" sz="3600" b="1" i="1">
                              <a:solidFill>
                                <a:schemeClr val="tx1"/>
                              </a:solidFill>
                              <a:latin typeface="Cambria Math" panose="02040503050406030204" pitchFamily="18" charset="0"/>
                            </a:rPr>
                          </m:ctrlPr>
                        </m:naryPr>
                        <m:sub>
                          <m:r>
                            <m:rPr>
                              <m:brk m:alnAt="23"/>
                            </m:rPr>
                            <a:rPr lang="en-CA" sz="3600" b="1" i="1">
                              <a:solidFill>
                                <a:schemeClr val="tx1"/>
                              </a:solidFill>
                              <a:latin typeface="Cambria Math" panose="02040503050406030204" pitchFamily="18" charset="0"/>
                            </a:rPr>
                            <m:t>𝑪</m:t>
                          </m:r>
                          <m:r>
                            <a:rPr lang="en-CA" sz="3600" b="1" i="1">
                              <a:solidFill>
                                <a:schemeClr val="tx1"/>
                              </a:solidFill>
                              <a:latin typeface="Cambria Math" panose="02040503050406030204" pitchFamily="18" charset="0"/>
                            </a:rPr>
                            <m:t>𝑽</m:t>
                          </m:r>
                        </m:sub>
                        <m:sup/>
                        <m:e>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𝑽</m:t>
                              </m:r>
                            </m:e>
                          </m:acc>
                          <m:r>
                            <a:rPr lang="en-CA" sz="3600" b="1" i="1">
                              <a:solidFill>
                                <a:schemeClr val="tx1"/>
                              </a:solidFill>
                              <a:latin typeface="Cambria Math" panose="02040503050406030204" pitchFamily="18" charset="0"/>
                              <a:ea typeface="Cambria Math" panose="02040503050406030204" pitchFamily="18" charset="0"/>
                            </a:rPr>
                            <m:t>𝝆</m:t>
                          </m:r>
                          <m:r>
                            <a:rPr lang="en-CA" sz="3600" b="1" i="1">
                              <a:solidFill>
                                <a:schemeClr val="tx1"/>
                              </a:solidFill>
                              <a:latin typeface="Cambria Math" panose="02040503050406030204" pitchFamily="18" charset="0"/>
                              <a:ea typeface="Cambria Math" panose="02040503050406030204" pitchFamily="18" charset="0"/>
                            </a:rPr>
                            <m:t>𝒅</m:t>
                          </m:r>
                          <m:r>
                            <a:rPr lang="en-CA" sz="3600" b="1" i="1" smtClean="0">
                              <a:solidFill>
                                <a:schemeClr val="tx1"/>
                              </a:solidFill>
                              <a:latin typeface="Cambria Math" panose="02040503050406030204" pitchFamily="18" charset="0"/>
                              <a:ea typeface="Cambria Math" panose="02040503050406030204" pitchFamily="18" charset="0"/>
                            </a:rPr>
                            <m:t>∀</m:t>
                          </m:r>
                        </m:e>
                      </m:nary>
                      <m:r>
                        <a:rPr lang="en-CA" sz="3600" b="1">
                          <a:solidFill>
                            <a:schemeClr val="tx1"/>
                          </a:solidFill>
                          <a:latin typeface="Cambria Math" panose="02040503050406030204" pitchFamily="18" charset="0"/>
                          <a:ea typeface="Cambria Math" panose="02040503050406030204" pitchFamily="18" charset="0"/>
                        </a:rPr>
                        <m:t>+</m:t>
                      </m:r>
                      <m:nary>
                        <m:naryPr>
                          <m:chr m:val="∑"/>
                          <m:limLoc m:val="subSup"/>
                          <m:ctrlPr>
                            <a:rPr lang="en-CA" sz="3600" b="1" i="1" smtClean="0">
                              <a:solidFill>
                                <a:schemeClr val="tx1"/>
                              </a:solidFill>
                              <a:latin typeface="Cambria Math" panose="02040503050406030204" pitchFamily="18" charset="0"/>
                              <a:ea typeface="Cambria Math" panose="02040503050406030204" pitchFamily="18" charset="0"/>
                            </a:rPr>
                          </m:ctrlPr>
                        </m:naryPr>
                        <m:sub>
                          <m:r>
                            <m:rPr>
                              <m:brk m:alnAt="25"/>
                            </m:rPr>
                            <a:rPr lang="en-CA" sz="3600" b="1" i="1" smtClean="0">
                              <a:solidFill>
                                <a:schemeClr val="tx1"/>
                              </a:solidFill>
                              <a:latin typeface="Cambria Math" panose="02040503050406030204" pitchFamily="18" charset="0"/>
                              <a:ea typeface="Cambria Math" panose="02040503050406030204" pitchFamily="18" charset="0"/>
                            </a:rPr>
                            <m:t>𝑪</m:t>
                          </m:r>
                          <m:r>
                            <a:rPr lang="en-CA" sz="3600" b="1" i="1" smtClean="0">
                              <a:solidFill>
                                <a:schemeClr val="tx1"/>
                              </a:solidFill>
                              <a:latin typeface="Cambria Math" panose="02040503050406030204" pitchFamily="18" charset="0"/>
                              <a:ea typeface="Cambria Math" panose="02040503050406030204" pitchFamily="18" charset="0"/>
                            </a:rPr>
                            <m:t>𝑺</m:t>
                          </m:r>
                        </m:sub>
                        <m:sup/>
                        <m:e>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𝑽</m:t>
                              </m:r>
                            </m:e>
                          </m:acc>
                          <m:r>
                            <a:rPr lang="en-CA" sz="3600" b="1" i="1">
                              <a:solidFill>
                                <a:schemeClr val="tx1"/>
                              </a:solidFill>
                              <a:latin typeface="Cambria Math" panose="02040503050406030204" pitchFamily="18" charset="0"/>
                              <a:ea typeface="Cambria Math" panose="02040503050406030204" pitchFamily="18" charset="0"/>
                            </a:rPr>
                            <m:t>𝝆</m:t>
                          </m:r>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𝑽</m:t>
                              </m:r>
                            </m:e>
                          </m:acc>
                          <m:r>
                            <a:rPr lang="en-CA" sz="3600" b="1" i="1">
                              <a:solidFill>
                                <a:schemeClr val="tx1"/>
                              </a:solidFill>
                              <a:latin typeface="Cambria Math" panose="02040503050406030204" pitchFamily="18" charset="0"/>
                              <a:ea typeface="Cambria Math" panose="02040503050406030204" pitchFamily="18" charset="0"/>
                            </a:rPr>
                            <m:t>∙</m:t>
                          </m:r>
                          <m:acc>
                            <m:accPr>
                              <m:chr m:val="⃗"/>
                              <m:ctrlPr>
                                <a:rPr lang="en-CA" sz="3600" b="1" i="1">
                                  <a:solidFill>
                                    <a:schemeClr val="tx1"/>
                                  </a:solidFill>
                                  <a:latin typeface="Cambria Math" panose="02040503050406030204" pitchFamily="18" charset="0"/>
                                  <a:ea typeface="Cambria Math" panose="02040503050406030204" pitchFamily="18" charset="0"/>
                                </a:rPr>
                              </m:ctrlPr>
                            </m:accPr>
                            <m:e>
                              <m:r>
                                <a:rPr lang="en-CA" sz="36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3600" b="1" dirty="0">
                  <a:latin typeface="+mn-lt"/>
                </a:endParaRPr>
              </a:p>
              <a:p>
                <a:pPr marL="0" indent="0">
                  <a:lnSpc>
                    <a:spcPct val="120000"/>
                  </a:lnSpc>
                  <a:buNone/>
                </a:pPr>
                <a:endParaRPr lang="en-CA" sz="2900" dirty="0"/>
              </a:p>
              <a:p>
                <a:pPr marL="0" indent="0">
                  <a:lnSpc>
                    <a:spcPct val="120000"/>
                  </a:lnSpc>
                  <a:buNone/>
                </a:pPr>
                <a:endParaRPr lang="en-CA" dirty="0"/>
              </a:p>
              <a:p>
                <a:pPr marL="0" indent="0">
                  <a:lnSpc>
                    <a:spcPct val="120000"/>
                  </a:lnSpc>
                  <a:buNone/>
                </a:pPr>
                <a:endParaRPr lang="en-CA" dirty="0"/>
              </a:p>
              <a:p>
                <a:pPr marL="0" indent="0">
                  <a:lnSpc>
                    <a:spcPct val="120000"/>
                  </a:lnSpc>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68940"/>
                <a:ext cx="9144000" cy="5617935"/>
              </a:xfrm>
              <a:blipFill>
                <a:blip r:embed="rId2"/>
                <a:stretch>
                  <a:fillRect l="-933"/>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DE0EDCF9-211A-632D-5F8D-C91BD227009B}"/>
              </a:ext>
            </a:extLst>
          </p:cNvPr>
          <p:cNvSpPr>
            <a:spLocks noGrp="1"/>
          </p:cNvSpPr>
          <p:nvPr>
            <p:ph type="sldNum" sz="quarter" idx="12"/>
          </p:nvPr>
        </p:nvSpPr>
        <p:spPr/>
        <p:txBody>
          <a:bodyPr/>
          <a:lstStyle/>
          <a:p>
            <a:fld id="{49FCB85E-0F77-4855-90A7-7A1B61BB679B}" type="slidenum">
              <a:rPr lang="en-CA" smtClean="0"/>
              <a:t>31</a:t>
            </a:fld>
            <a:endParaRPr lang="en-CA"/>
          </a:p>
        </p:txBody>
      </p:sp>
    </p:spTree>
    <p:extLst>
      <p:ext uri="{BB962C8B-B14F-4D97-AF65-F5344CB8AC3E}">
        <p14:creationId xmlns:p14="http://schemas.microsoft.com/office/powerpoint/2010/main" val="355244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p:cNvSpPr txBox="1">
                <a:spLocks/>
              </p:cNvSpPr>
              <p:nvPr/>
            </p:nvSpPr>
            <p:spPr>
              <a:xfrm>
                <a:off x="-507989" y="2701158"/>
                <a:ext cx="9358604" cy="328816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yriad Web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yriad Web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yriad Web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Aft>
                    <a:spcPts val="0"/>
                  </a:spcAft>
                  <a:buNone/>
                </a:pPr>
                <a14:m>
                  <m:oMathPara xmlns:m="http://schemas.openxmlformats.org/officeDocument/2006/math">
                    <m:oMathParaPr>
                      <m:jc m:val="centerGroup"/>
                    </m:oMathParaPr>
                    <m:oMath xmlns:m="http://schemas.openxmlformats.org/officeDocument/2006/math">
                      <m:sSub>
                        <m:sSubPr>
                          <m:ctrlPr>
                            <a:rPr lang="en-CA" sz="2000" b="1" i="1" smtClean="0">
                              <a:solidFill>
                                <a:schemeClr val="tx1"/>
                              </a:solidFill>
                              <a:latin typeface="Cambria Math" panose="02040503050406030204" pitchFamily="18" charset="0"/>
                            </a:rPr>
                          </m:ctrlPr>
                        </m:sSubPr>
                        <m:e>
                          <m:r>
                            <a:rPr lang="en-CA" sz="2000" b="1" i="1" smtClean="0">
                              <a:solidFill>
                                <a:schemeClr val="tx1"/>
                              </a:solidFill>
                              <a:latin typeface="Cambria Math" panose="02040503050406030204" pitchFamily="18" charset="0"/>
                            </a:rPr>
                            <m:t>𝑭</m:t>
                          </m:r>
                        </m:e>
                        <m:sub>
                          <m:r>
                            <a:rPr lang="en-CA" sz="2000" b="1" i="1" smtClean="0">
                              <a:solidFill>
                                <a:schemeClr val="tx1"/>
                              </a:solidFill>
                              <a:latin typeface="Cambria Math" panose="02040503050406030204" pitchFamily="18" charset="0"/>
                            </a:rPr>
                            <m:t>𝒔𝒙</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smtClean="0">
                              <a:solidFill>
                                <a:schemeClr val="tx1"/>
                              </a:solidFill>
                              <a:latin typeface="Cambria Math" panose="02040503050406030204" pitchFamily="18" charset="0"/>
                            </a:rPr>
                            <m:t>𝑩𝒙</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𝒖</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smtClean="0">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r>
                            <a:rPr lang="en-CA" sz="2000" b="1" i="1">
                              <a:solidFill>
                                <a:schemeClr val="tx1"/>
                              </a:solidFill>
                              <a:latin typeface="Cambria Math" panose="02040503050406030204" pitchFamily="18" charset="0"/>
                              <a:ea typeface="Cambria Math" panose="02040503050406030204" pitchFamily="18" charset="0"/>
                            </a:rPr>
                            <m:t>𝒖</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𝒅</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solidFill>
                    <a:schemeClr val="tx1"/>
                  </a:solidFill>
                </a:endParaRPr>
              </a:p>
              <a:p>
                <a:pPr marL="0" indent="0" fontAlgn="auto">
                  <a:lnSpc>
                    <a:spcPct val="100000"/>
                  </a:lnSpc>
                  <a:spcAft>
                    <a:spcPts val="0"/>
                  </a:spcAft>
                  <a:buFont typeface="Arial" panose="020B0604020202020204" pitchFamily="34" charset="0"/>
                  <a:buNone/>
                </a:pPr>
                <a:endParaRPr lang="en-CA" sz="2000" dirty="0">
                  <a:solidFill>
                    <a:schemeClr val="tx1"/>
                  </a:solidFill>
                </a:endParaRPr>
              </a:p>
              <a:p>
                <a:pPr marL="0" indent="0" fontAlgn="auto">
                  <a:lnSpc>
                    <a:spcPct val="100000"/>
                  </a:lnSpc>
                  <a:spcBef>
                    <a:spcPts val="3000"/>
                  </a:spcBef>
                  <a:spcAft>
                    <a:spcPts val="0"/>
                  </a:spcAft>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m:t>
                          </m:r>
                          <m:r>
                            <a:rPr lang="en-CA" sz="2000" b="1" i="1" smtClean="0">
                              <a:solidFill>
                                <a:schemeClr val="tx1"/>
                              </a:solidFill>
                              <a:latin typeface="Cambria Math" panose="02040503050406030204" pitchFamily="18" charset="0"/>
                            </a:rPr>
                            <m:t>𝒚</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m:t>
                          </m:r>
                          <m:r>
                            <a:rPr lang="en-CA" sz="2000" b="1" i="1" smtClean="0">
                              <a:solidFill>
                                <a:schemeClr val="tx1"/>
                              </a:solidFill>
                              <a:latin typeface="Cambria Math" panose="02040503050406030204" pitchFamily="18" charset="0"/>
                            </a:rPr>
                            <m:t>𝒚</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𝒗</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smtClean="0">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r>
                            <a:rPr lang="en-CA" sz="2000" b="1" i="1">
                              <a:solidFill>
                                <a:schemeClr val="tx1"/>
                              </a:solidFill>
                              <a:latin typeface="Cambria Math" panose="02040503050406030204" pitchFamily="18" charset="0"/>
                              <a:ea typeface="Cambria Math" panose="02040503050406030204" pitchFamily="18" charset="0"/>
                            </a:rPr>
                            <m:t>𝒗</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𝒅</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solidFill>
                    <a:schemeClr val="tx1"/>
                  </a:solidFill>
                </a:endParaRPr>
              </a:p>
              <a:p>
                <a:pPr marL="0" indent="0" fontAlgn="auto">
                  <a:lnSpc>
                    <a:spcPct val="100000"/>
                  </a:lnSpc>
                  <a:spcBef>
                    <a:spcPts val="3000"/>
                  </a:spcBef>
                  <a:spcAft>
                    <a:spcPts val="0"/>
                  </a:spcAft>
                  <a:buNone/>
                </a:pPr>
                <a:endParaRPr lang="en-CA" sz="2000" dirty="0">
                  <a:solidFill>
                    <a:schemeClr val="tx1"/>
                  </a:solidFill>
                </a:endParaRPr>
              </a:p>
              <a:p>
                <a:pPr marL="0" indent="0" fontAlgn="auto">
                  <a:lnSpc>
                    <a:spcPct val="100000"/>
                  </a:lnSpc>
                  <a:spcBef>
                    <a:spcPts val="3000"/>
                  </a:spcBef>
                  <a:spcAft>
                    <a:spcPts val="0"/>
                  </a:spcAft>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m:t>
                          </m:r>
                          <m:r>
                            <a:rPr lang="en-CA" sz="2000" b="1" i="1" smtClean="0">
                              <a:solidFill>
                                <a:schemeClr val="tx1"/>
                              </a:solidFill>
                              <a:latin typeface="Cambria Math" panose="02040503050406030204" pitchFamily="18" charset="0"/>
                            </a:rPr>
                            <m:t>𝒛</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m:t>
                          </m:r>
                          <m:r>
                            <a:rPr lang="en-CA" sz="2000" b="1" i="1" smtClean="0">
                              <a:solidFill>
                                <a:schemeClr val="tx1"/>
                              </a:solidFill>
                              <a:latin typeface="Cambria Math" panose="02040503050406030204" pitchFamily="18" charset="0"/>
                            </a:rPr>
                            <m:t>𝒛</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𝒘</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smtClean="0">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r>
                            <a:rPr lang="en-CA" sz="2000" b="1" i="1">
                              <a:solidFill>
                                <a:schemeClr val="tx1"/>
                              </a:solidFill>
                              <a:latin typeface="Cambria Math" panose="02040503050406030204" pitchFamily="18" charset="0"/>
                              <a:ea typeface="Cambria Math" panose="02040503050406030204" pitchFamily="18" charset="0"/>
                            </a:rPr>
                            <m:t>𝒘</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𝒅</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p>
              <a:p>
                <a:pPr marL="0" indent="0" fontAlgn="auto">
                  <a:spcAft>
                    <a:spcPts val="0"/>
                  </a:spcAft>
                  <a:buFont typeface="Arial" panose="020B0604020202020204" pitchFamily="34" charset="0"/>
                  <a:buNone/>
                </a:pPr>
                <a:endParaRPr lang="en-CA" dirty="0"/>
              </a:p>
              <a:p>
                <a:pPr marL="0" indent="0" fontAlgn="auto">
                  <a:spcAft>
                    <a:spcPts val="0"/>
                  </a:spcAft>
                  <a:buFont typeface="Arial" panose="020B0604020202020204" pitchFamily="34" charset="0"/>
                  <a:buNone/>
                </a:pPr>
                <a:endParaRPr lang="en-CA"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507989" y="2701158"/>
                <a:ext cx="9358604" cy="3288162"/>
              </a:xfrm>
              <a:prstGeom prst="rect">
                <a:avLst/>
              </a:prstGeom>
              <a:blipFill>
                <a:blip r:embed="rId2"/>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423634" y="565297"/>
                <a:ext cx="8481526" cy="81118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A" sz="2000" b="1" i="1" smtClean="0">
                              <a:solidFill>
                                <a:schemeClr val="tx1"/>
                              </a:solidFill>
                              <a:latin typeface="Cambria Math" panose="02040503050406030204" pitchFamily="18" charset="0"/>
                            </a:rPr>
                          </m:ctrlPr>
                        </m:sSubPr>
                        <m:e>
                          <m:acc>
                            <m:accPr>
                              <m:chr m:val="⃗"/>
                              <m:ctrlPr>
                                <a:rPr lang="en-CA" sz="2000" b="1" i="1">
                                  <a:solidFill>
                                    <a:schemeClr val="tx1"/>
                                  </a:solidFill>
                                  <a:latin typeface="Cambria Math" panose="02040503050406030204" pitchFamily="18" charset="0"/>
                                </a:rPr>
                              </m:ctrlPr>
                            </m:accPr>
                            <m:e>
                              <m:r>
                                <a:rPr lang="en-CA" sz="2000" b="1" i="1">
                                  <a:solidFill>
                                    <a:schemeClr val="tx1"/>
                                  </a:solidFill>
                                  <a:latin typeface="Cambria Math" panose="02040503050406030204" pitchFamily="18" charset="0"/>
                                </a:rPr>
                                <m:t>𝑭</m:t>
                              </m:r>
                            </m:e>
                          </m:acc>
                        </m:e>
                        <m:sub>
                          <m:r>
                            <a:rPr lang="en-CA" sz="2000" b="1" i="1">
                              <a:solidFill>
                                <a:schemeClr val="tx1"/>
                              </a:solidFill>
                              <a:latin typeface="Cambria Math" panose="02040503050406030204" pitchFamily="18" charset="0"/>
                            </a:rPr>
                            <m:t>𝒔</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acc>
                            <m:accPr>
                              <m:chr m:val="⃗"/>
                              <m:ctrlPr>
                                <a:rPr lang="en-CA" sz="2000" b="1" i="1">
                                  <a:solidFill>
                                    <a:schemeClr val="tx1"/>
                                  </a:solidFill>
                                  <a:latin typeface="Cambria Math" panose="02040503050406030204" pitchFamily="18" charset="0"/>
                                </a:rPr>
                              </m:ctrlPr>
                            </m:accPr>
                            <m:e>
                              <m:r>
                                <a:rPr lang="en-CA" sz="2000" b="1" i="1">
                                  <a:solidFill>
                                    <a:schemeClr val="tx1"/>
                                  </a:solidFill>
                                  <a:latin typeface="Cambria Math" panose="02040503050406030204" pitchFamily="18" charset="0"/>
                                </a:rPr>
                                <m:t>𝑭</m:t>
                              </m:r>
                            </m:e>
                          </m:acc>
                        </m:e>
                        <m:sub>
                          <m:r>
                            <a:rPr lang="en-CA" sz="2000" b="1" i="1">
                              <a:solidFill>
                                <a:schemeClr val="tx1"/>
                              </a:solidFill>
                              <a:latin typeface="Cambria Math" panose="02040503050406030204" pitchFamily="18" charset="0"/>
                            </a:rPr>
                            <m:t>𝑩</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𝑺</m:t>
                          </m:r>
                        </m:sub>
                        <m:sup/>
                        <m:e>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smtClean="0">
                                  <a:solidFill>
                                    <a:schemeClr val="tx1"/>
                                  </a:solidFill>
                                  <a:latin typeface="Cambria Math" panose="02040503050406030204" pitchFamily="18" charset="0"/>
                                  <a:ea typeface="Cambria Math" panose="02040503050406030204" pitchFamily="18" charset="0"/>
                                </a:rPr>
                                <m:t>𝑽</m:t>
                              </m:r>
                            </m:e>
                          </m:acc>
                          <m:r>
                            <a:rPr lang="en-CA" sz="2000" b="1" i="1" smtClean="0">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smtClean="0">
                              <a:solidFill>
                                <a:schemeClr val="tx1"/>
                              </a:solidFill>
                              <a:latin typeface="Cambria Math" panose="02040503050406030204" pitchFamily="18" charset="0"/>
                              <a:ea typeface="Cambria Math" panose="02040503050406030204" pitchFamily="18" charset="0"/>
                            </a:rPr>
                            <m:t>∙</m:t>
                          </m:r>
                          <m:r>
                            <a:rPr lang="en-CA" sz="2000" b="1" i="1" smtClean="0">
                              <a:solidFill>
                                <a:schemeClr val="tx1"/>
                              </a:solidFill>
                              <a:latin typeface="Cambria Math" panose="02040503050406030204" pitchFamily="18" charset="0"/>
                              <a:ea typeface="Cambria Math" panose="02040503050406030204" pitchFamily="18" charset="0"/>
                            </a:rPr>
                            <m:t>𝒅</m:t>
                          </m:r>
                          <m:acc>
                            <m:accPr>
                              <m:chr m:val="⃗"/>
                              <m:ctrlPr>
                                <a:rPr lang="en-CA" sz="2000" b="1" i="1" smtClean="0">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dirty="0"/>
              </a:p>
            </p:txBody>
          </p:sp>
        </mc:Choice>
        <mc:Fallback xmlns="">
          <p:sp>
            <p:nvSpPr>
              <p:cNvPr id="7" name="Rectangle 6"/>
              <p:cNvSpPr>
                <a:spLocks noRot="1" noChangeAspect="1" noMove="1" noResize="1" noEditPoints="1" noAdjustHandles="1" noChangeArrowheads="1" noChangeShapeType="1" noTextEdit="1"/>
              </p:cNvSpPr>
              <p:nvPr/>
            </p:nvSpPr>
            <p:spPr>
              <a:xfrm>
                <a:off x="-423634" y="565297"/>
                <a:ext cx="8481526" cy="811184"/>
              </a:xfrm>
              <a:prstGeom prst="rect">
                <a:avLst/>
              </a:prstGeom>
              <a:blipFill>
                <a:blip r:embed="rId3"/>
                <a:stretch>
                  <a:fillRect/>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203345" y="1607876"/>
                <a:ext cx="1699183" cy="310598"/>
              </a:xfrm>
              <a:prstGeom prst="rect">
                <a:avLst/>
              </a:prstGeom>
              <a:noFill/>
            </p:spPr>
            <p:txBody>
              <a:bodyPr wrap="none" lIns="0" tIns="0" rIns="0" bIns="0" rtlCol="0">
                <a:spAutoFit/>
              </a:bodyPr>
              <a:lstStyle/>
              <a:p>
                <a14:m>
                  <m:oMath xmlns:m="http://schemas.openxmlformats.org/officeDocument/2006/math">
                    <m:acc>
                      <m:accPr>
                        <m:chr m:val="⃗"/>
                        <m:ctrlPr>
                          <a:rPr lang="en-CA" sz="1800" b="1" i="1" smtClean="0">
                            <a:solidFill>
                              <a:schemeClr val="tx1"/>
                            </a:solidFill>
                            <a:latin typeface="Cambria Math" panose="02040503050406030204" pitchFamily="18" charset="0"/>
                          </a:rPr>
                        </m:ctrlPr>
                      </m:accPr>
                      <m:e>
                        <m:r>
                          <a:rPr lang="en-CA" sz="1800" b="1" i="1" smtClean="0">
                            <a:solidFill>
                              <a:schemeClr val="tx1"/>
                            </a:solidFill>
                            <a:latin typeface="Cambria Math" panose="02040503050406030204" pitchFamily="18" charset="0"/>
                          </a:rPr>
                          <m:t>𝑽</m:t>
                        </m:r>
                      </m:e>
                    </m:acc>
                    <m:r>
                      <a:rPr lang="en-CA" sz="1800" b="1" i="1" smtClean="0">
                        <a:solidFill>
                          <a:schemeClr val="tx1"/>
                        </a:solidFill>
                        <a:latin typeface="Cambria Math" panose="02040503050406030204" pitchFamily="18" charset="0"/>
                      </a:rPr>
                      <m:t>=</m:t>
                    </m:r>
                    <m:r>
                      <a:rPr lang="en-CA" sz="1800" b="1" i="1" smtClean="0">
                        <a:solidFill>
                          <a:schemeClr val="tx1"/>
                        </a:solidFill>
                        <a:latin typeface="Cambria Math" panose="02040503050406030204" pitchFamily="18" charset="0"/>
                      </a:rPr>
                      <m:t>𝒖</m:t>
                    </m:r>
                    <m:acc>
                      <m:accPr>
                        <m:chr m:val="̂"/>
                        <m:ctrlPr>
                          <a:rPr lang="en-CA" sz="1800" b="1" i="1" smtClean="0">
                            <a:solidFill>
                              <a:schemeClr val="tx1"/>
                            </a:solidFill>
                            <a:latin typeface="Cambria Math" panose="02040503050406030204" pitchFamily="18" charset="0"/>
                          </a:rPr>
                        </m:ctrlPr>
                      </m:accPr>
                      <m:e>
                        <m:r>
                          <a:rPr lang="en-CA" sz="1800" b="1" i="1" smtClean="0">
                            <a:solidFill>
                              <a:schemeClr val="tx1"/>
                            </a:solidFill>
                            <a:latin typeface="Cambria Math" panose="02040503050406030204" pitchFamily="18" charset="0"/>
                          </a:rPr>
                          <m:t>𝒊</m:t>
                        </m:r>
                      </m:e>
                    </m:acc>
                    <m:r>
                      <a:rPr lang="en-CA" sz="1800" b="1" i="1" smtClean="0">
                        <a:solidFill>
                          <a:schemeClr val="tx1"/>
                        </a:solidFill>
                        <a:latin typeface="Cambria Math" panose="02040503050406030204" pitchFamily="18" charset="0"/>
                      </a:rPr>
                      <m:t>+</m:t>
                    </m:r>
                    <m:r>
                      <a:rPr lang="en-CA" sz="1800" b="1" i="1" smtClean="0">
                        <a:solidFill>
                          <a:schemeClr val="tx1"/>
                        </a:solidFill>
                        <a:latin typeface="Cambria Math" panose="02040503050406030204" pitchFamily="18" charset="0"/>
                      </a:rPr>
                      <m:t>𝒗</m:t>
                    </m:r>
                    <m:acc>
                      <m:accPr>
                        <m:chr m:val="̂"/>
                        <m:ctrlPr>
                          <a:rPr lang="en-CA" sz="1800" b="1" i="1">
                            <a:solidFill>
                              <a:schemeClr val="tx1"/>
                            </a:solidFill>
                            <a:latin typeface="Cambria Math" panose="02040503050406030204" pitchFamily="18" charset="0"/>
                          </a:rPr>
                        </m:ctrlPr>
                      </m:accPr>
                      <m:e>
                        <m:r>
                          <a:rPr lang="en-CA" sz="1800" b="1" i="1" smtClean="0">
                            <a:solidFill>
                              <a:schemeClr val="tx1"/>
                            </a:solidFill>
                            <a:latin typeface="Cambria Math" panose="02040503050406030204" pitchFamily="18" charset="0"/>
                          </a:rPr>
                          <m:t>𝒋</m:t>
                        </m:r>
                      </m:e>
                    </m:acc>
                  </m:oMath>
                </a14:m>
                <a:r>
                  <a:rPr lang="en-CA" sz="1800" b="1" dirty="0">
                    <a:solidFill>
                      <a:schemeClr val="tx1"/>
                    </a:solidFill>
                  </a:rPr>
                  <a:t> +</a:t>
                </a:r>
                <a14:m>
                  <m:oMath xmlns:m="http://schemas.openxmlformats.org/officeDocument/2006/math">
                    <m:r>
                      <a:rPr lang="en-CA" sz="1800" b="1" i="1" smtClean="0">
                        <a:solidFill>
                          <a:schemeClr val="tx1"/>
                        </a:solidFill>
                        <a:latin typeface="Cambria Math" panose="02040503050406030204" pitchFamily="18" charset="0"/>
                      </a:rPr>
                      <m:t>𝒘</m:t>
                    </m:r>
                    <m:acc>
                      <m:accPr>
                        <m:chr m:val="̂"/>
                        <m:ctrlPr>
                          <a:rPr lang="en-CA" sz="1800" b="1" i="1">
                            <a:latin typeface="Cambria Math" panose="02040503050406030204" pitchFamily="18" charset="0"/>
                          </a:rPr>
                        </m:ctrlPr>
                      </m:accPr>
                      <m:e>
                        <m:r>
                          <a:rPr lang="en-CA" sz="1800" b="1" i="1" smtClean="0">
                            <a:latin typeface="Cambria Math" panose="02040503050406030204" pitchFamily="18" charset="0"/>
                          </a:rPr>
                          <m:t>𝒌</m:t>
                        </m:r>
                      </m:e>
                    </m:acc>
                  </m:oMath>
                </a14:m>
                <a:endParaRPr lang="en-CA" sz="1800" b="1" dirty="0"/>
              </a:p>
            </p:txBody>
          </p:sp>
        </mc:Choice>
        <mc:Fallback xmlns="">
          <p:sp>
            <p:nvSpPr>
              <p:cNvPr id="8" name="TextBox 7"/>
              <p:cNvSpPr txBox="1">
                <a:spLocks noRot="1" noChangeAspect="1" noMove="1" noResize="1" noEditPoints="1" noAdjustHandles="1" noChangeArrowheads="1" noChangeShapeType="1" noTextEdit="1"/>
              </p:cNvSpPr>
              <p:nvPr/>
            </p:nvSpPr>
            <p:spPr>
              <a:xfrm>
                <a:off x="3203345" y="1607876"/>
                <a:ext cx="1699183" cy="310598"/>
              </a:xfrm>
              <a:prstGeom prst="rect">
                <a:avLst/>
              </a:prstGeom>
              <a:blipFill>
                <a:blip r:embed="rId4"/>
                <a:stretch>
                  <a:fillRect l="-4659" t="-13725" r="-25448" b="-45098"/>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44623" y="1570748"/>
                <a:ext cx="2491388" cy="369332"/>
              </a:xfrm>
              <a:prstGeom prst="rect">
                <a:avLst/>
              </a:prstGeom>
            </p:spPr>
            <p:txBody>
              <a:bodyPr wrap="none">
                <a:spAutoFit/>
              </a:bodyPr>
              <a:lstStyle/>
              <a:p>
                <a:pPr marL="0" indent="0" fontAlgn="auto">
                  <a:lnSpc>
                    <a:spcPct val="100000"/>
                  </a:lnSpc>
                  <a:spcBef>
                    <a:spcPts val="1200"/>
                  </a:spcBef>
                  <a:spcAft>
                    <a:spcPts val="1200"/>
                  </a:spcAft>
                  <a:buFont typeface="Arial" panose="020B0604020202020204" pitchFamily="34" charset="0"/>
                  <a:buNone/>
                </a:pPr>
                <a:r>
                  <a:rPr lang="en-CA" sz="1800" b="1" dirty="0"/>
                  <a:t>In the </a:t>
                </a:r>
                <a14:m>
                  <m:oMath xmlns:m="http://schemas.openxmlformats.org/officeDocument/2006/math">
                    <m:r>
                      <a:rPr lang="en-CA" sz="1800" b="1" i="1" dirty="0" smtClean="0">
                        <a:solidFill>
                          <a:schemeClr val="tx1"/>
                        </a:solidFill>
                        <a:latin typeface="Cambria Math" panose="02040503050406030204" pitchFamily="18" charset="0"/>
                      </a:rPr>
                      <m:t>𝒙𝒚𝒛</m:t>
                    </m:r>
                  </m:oMath>
                </a14:m>
                <a:r>
                  <a:rPr lang="en-CA" sz="1800" b="1" dirty="0"/>
                  <a:t> coordinates:</a:t>
                </a:r>
              </a:p>
            </p:txBody>
          </p:sp>
        </mc:Choice>
        <mc:Fallback xmlns="">
          <p:sp>
            <p:nvSpPr>
              <p:cNvPr id="9" name="Rectangle 8"/>
              <p:cNvSpPr>
                <a:spLocks noRot="1" noChangeAspect="1" noMove="1" noResize="1" noEditPoints="1" noAdjustHandles="1" noChangeArrowheads="1" noChangeShapeType="1" noTextEdit="1"/>
              </p:cNvSpPr>
              <p:nvPr/>
            </p:nvSpPr>
            <p:spPr>
              <a:xfrm>
                <a:off x="144623" y="1570748"/>
                <a:ext cx="2491388" cy="369332"/>
              </a:xfrm>
              <a:prstGeom prst="rect">
                <a:avLst/>
              </a:prstGeom>
              <a:blipFill>
                <a:blip r:embed="rId5"/>
                <a:stretch>
                  <a:fillRect l="-2206" t="-10000" r="-1716" b="-26667"/>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9845" y="2122743"/>
                <a:ext cx="7151915" cy="402931"/>
              </a:xfrm>
              <a:prstGeom prst="rect">
                <a:avLst/>
              </a:prstGeom>
            </p:spPr>
            <p:txBody>
              <a:bodyPr wrap="square">
                <a:spAutoFit/>
              </a:bodyPr>
              <a:lstStyle/>
              <a:p>
                <a:r>
                  <a:rPr lang="en-CA" sz="1800" b="1" dirty="0">
                    <a:solidFill>
                      <a:schemeClr val="tx1"/>
                    </a:solidFill>
                  </a:rPr>
                  <a:t>where </a:t>
                </a:r>
                <a14:m>
                  <m:oMath xmlns:m="http://schemas.openxmlformats.org/officeDocument/2006/math">
                    <m:r>
                      <a:rPr lang="en-CA" sz="1800" b="1" i="1" dirty="0">
                        <a:solidFill>
                          <a:schemeClr val="tx1"/>
                        </a:solidFill>
                        <a:latin typeface="Cambria Math" panose="02040503050406030204" pitchFamily="18" charset="0"/>
                      </a:rPr>
                      <m:t>𝒖</m:t>
                    </m:r>
                    <m:r>
                      <a:rPr lang="en-CA" sz="1800" b="1" i="1" dirty="0">
                        <a:solidFill>
                          <a:schemeClr val="tx1"/>
                        </a:solidFill>
                        <a:latin typeface="Cambria Math" panose="02040503050406030204" pitchFamily="18" charset="0"/>
                      </a:rPr>
                      <m:t>, </m:t>
                    </m:r>
                    <m:r>
                      <a:rPr lang="en-CA" sz="1800" b="1" i="1" dirty="0">
                        <a:solidFill>
                          <a:schemeClr val="tx1"/>
                        </a:solidFill>
                        <a:latin typeface="Cambria Math" panose="02040503050406030204" pitchFamily="18" charset="0"/>
                      </a:rPr>
                      <m:t>𝒗</m:t>
                    </m:r>
                    <m:r>
                      <a:rPr lang="en-CA" sz="1800" b="1" i="1" dirty="0">
                        <a:solidFill>
                          <a:schemeClr val="tx1"/>
                        </a:solidFill>
                        <a:latin typeface="Cambria Math" panose="02040503050406030204" pitchFamily="18" charset="0"/>
                      </a:rPr>
                      <m:t> </m:t>
                    </m:r>
                  </m:oMath>
                </a14:m>
                <a:r>
                  <a:rPr lang="en-CA" sz="1800" b="1" dirty="0">
                    <a:solidFill>
                      <a:schemeClr val="tx1"/>
                    </a:solidFill>
                  </a:rPr>
                  <a:t>and </a:t>
                </a:r>
                <a14:m>
                  <m:oMath xmlns:m="http://schemas.openxmlformats.org/officeDocument/2006/math">
                    <m:r>
                      <a:rPr lang="en-CA" sz="1800" b="1" i="1" dirty="0">
                        <a:solidFill>
                          <a:schemeClr val="tx1"/>
                        </a:solidFill>
                        <a:latin typeface="Cambria Math" panose="02040503050406030204" pitchFamily="18" charset="0"/>
                      </a:rPr>
                      <m:t>𝒘</m:t>
                    </m:r>
                  </m:oMath>
                </a14:m>
                <a:r>
                  <a:rPr lang="en-CA" sz="1800" b="1" dirty="0">
                    <a:solidFill>
                      <a:schemeClr val="tx1"/>
                    </a:solidFill>
                  </a:rPr>
                  <a:t> are scalar components of </a:t>
                </a:r>
                <a14:m>
                  <m:oMath xmlns:m="http://schemas.openxmlformats.org/officeDocument/2006/math">
                    <m:acc>
                      <m:accPr>
                        <m:chr m:val="⃗"/>
                        <m:ctrlPr>
                          <a:rPr lang="en-CA" sz="1800" b="1" i="1">
                            <a:solidFill>
                              <a:schemeClr val="tx1"/>
                            </a:solidFill>
                            <a:latin typeface="Cambria Math" panose="02040503050406030204" pitchFamily="18" charset="0"/>
                            <a:ea typeface="Cambria Math" panose="02040503050406030204" pitchFamily="18" charset="0"/>
                          </a:rPr>
                        </m:ctrlPr>
                      </m:accPr>
                      <m:e>
                        <m:r>
                          <a:rPr lang="en-CA" sz="1800" b="1" i="1">
                            <a:solidFill>
                              <a:schemeClr val="tx1"/>
                            </a:solidFill>
                            <a:latin typeface="Cambria Math" panose="02040503050406030204" pitchFamily="18" charset="0"/>
                            <a:ea typeface="Cambria Math" panose="02040503050406030204" pitchFamily="18" charset="0"/>
                          </a:rPr>
                          <m:t>𝑽</m:t>
                        </m:r>
                      </m:e>
                    </m:acc>
                  </m:oMath>
                </a14:m>
                <a:endParaRPr lang="en-CA" sz="1800" b="1" dirty="0">
                  <a:solidFill>
                    <a:schemeClr val="tx1"/>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59845" y="2122743"/>
                <a:ext cx="7151915" cy="402931"/>
              </a:xfrm>
              <a:prstGeom prst="rect">
                <a:avLst/>
              </a:prstGeom>
              <a:blipFill>
                <a:blip r:embed="rId6"/>
                <a:stretch>
                  <a:fillRect l="-767" b="-24242"/>
                </a:stretch>
              </a:blipFill>
            </p:spPr>
            <p:txBody>
              <a:bodyPr/>
              <a:lstStyle/>
              <a:p>
                <a:r>
                  <a:rPr lang="en-GH">
                    <a:noFill/>
                  </a:rPr>
                  <a:t> </a:t>
                </a:r>
              </a:p>
            </p:txBody>
          </p:sp>
        </mc:Fallback>
      </mc:AlternateContent>
      <p:sp>
        <p:nvSpPr>
          <p:cNvPr id="11" name="Title 1"/>
          <p:cNvSpPr>
            <a:spLocks noGrp="1"/>
          </p:cNvSpPr>
          <p:nvPr>
            <p:ph type="title"/>
          </p:nvPr>
        </p:nvSpPr>
        <p:spPr>
          <a:xfrm>
            <a:off x="16664" y="-1640"/>
            <a:ext cx="9144000" cy="515254"/>
          </a:xfrm>
        </p:spPr>
        <p:txBody>
          <a:bodyPr>
            <a:noAutofit/>
          </a:bodyPr>
          <a:lstStyle/>
          <a:p>
            <a:r>
              <a:rPr lang="en-US" sz="2400" dirty="0">
                <a:solidFill>
                  <a:schemeClr val="tx1"/>
                </a:solidFill>
                <a:latin typeface="+mn-lt"/>
                <a:ea typeface="Verdana" panose="020B0604030504040204" pitchFamily="34" charset="0"/>
                <a:cs typeface="Verdana" panose="020B0604030504040204" pitchFamily="34" charset="0"/>
              </a:rPr>
              <a:t>Momentum Equation for Inertial Control Volume</a:t>
            </a:r>
            <a:endParaRPr lang="en-CA" sz="2400" dirty="0">
              <a:solidFill>
                <a:schemeClr val="tx1"/>
              </a:solidFill>
              <a:latin typeface="+mn-lt"/>
              <a:ea typeface="Verdana" panose="020B0604030504040204" pitchFamily="34" charset="0"/>
              <a:cs typeface="Verdana" panose="020B0604030504040204" pitchFamily="34" charset="0"/>
            </a:endParaRPr>
          </a:p>
        </p:txBody>
      </p:sp>
      <p:sp>
        <p:nvSpPr>
          <p:cNvPr id="2" name="Slide Number Placeholder 1">
            <a:extLst>
              <a:ext uri="{FF2B5EF4-FFF2-40B4-BE49-F238E27FC236}">
                <a16:creationId xmlns:a16="http://schemas.microsoft.com/office/drawing/2014/main" id="{0897BFCC-9854-2511-C4A6-59F7FC3B107F}"/>
              </a:ext>
            </a:extLst>
          </p:cNvPr>
          <p:cNvSpPr>
            <a:spLocks noGrp="1"/>
          </p:cNvSpPr>
          <p:nvPr>
            <p:ph type="sldNum" sz="quarter" idx="12"/>
          </p:nvPr>
        </p:nvSpPr>
        <p:spPr/>
        <p:txBody>
          <a:bodyPr/>
          <a:lstStyle/>
          <a:p>
            <a:fld id="{49FCB85E-0F77-4855-90A7-7A1B61BB679B}" type="slidenum">
              <a:rPr lang="en-CA" smtClean="0"/>
              <a:t>32</a:t>
            </a:fld>
            <a:endParaRPr lang="en-CA"/>
          </a:p>
        </p:txBody>
      </p:sp>
    </p:spTree>
    <p:extLst>
      <p:ext uri="{BB962C8B-B14F-4D97-AF65-F5344CB8AC3E}">
        <p14:creationId xmlns:p14="http://schemas.microsoft.com/office/powerpoint/2010/main" val="112055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0656"/>
            <a:ext cx="9144000" cy="568940"/>
          </a:xfrm>
        </p:spPr>
        <p:txBody>
          <a:bodyPr>
            <a:noAutofit/>
          </a:bodyPr>
          <a:lstStyle/>
          <a:p>
            <a:r>
              <a:rPr lang="en-US" sz="2400" dirty="0">
                <a:solidFill>
                  <a:schemeClr val="tx1"/>
                </a:solidFill>
                <a:latin typeface="+mn-lt"/>
                <a:ea typeface="Verdana" panose="020B0604030504040204" pitchFamily="34" charset="0"/>
                <a:cs typeface="Verdana" panose="020B0604030504040204" pitchFamily="34" charset="0"/>
              </a:rPr>
              <a:t>Momentum Equation for Inertial Control Volume</a:t>
            </a:r>
            <a:endParaRPr lang="en-CA" sz="2400" dirty="0">
              <a:solidFill>
                <a:schemeClr val="tx1"/>
              </a:solidFill>
              <a:latin typeface="+mn-lt"/>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16703" y="946322"/>
                <a:ext cx="7886700" cy="4951558"/>
              </a:xfrm>
            </p:spPr>
            <p:txBody>
              <a:bodyPr>
                <a:normAutofit/>
              </a:bodyPr>
              <a:lstStyle/>
              <a:p>
                <a:pPr marL="0" indent="0">
                  <a:lnSpc>
                    <a:spcPct val="100000"/>
                  </a:lnSpc>
                  <a:spcBef>
                    <a:spcPts val="1200"/>
                  </a:spcBef>
                  <a:spcAft>
                    <a:spcPts val="1200"/>
                  </a:spcAft>
                  <a:buNone/>
                </a:pPr>
                <a:r>
                  <a:rPr lang="en-CA" dirty="0">
                    <a:solidFill>
                      <a:schemeClr val="tx1"/>
                    </a:solidFill>
                    <a:latin typeface="+mn-lt"/>
                  </a:rPr>
                  <a:t>For uniform flow at all sections</a:t>
                </a:r>
              </a:p>
              <a:p>
                <a:pPr marL="0" indent="0">
                  <a:lnSpc>
                    <a:spcPct val="100000"/>
                  </a:lnSpc>
                  <a:spcBef>
                    <a:spcPts val="3000"/>
                  </a:spcBef>
                  <a:spcAft>
                    <a:spcPts val="600"/>
                  </a:spcAft>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𝒔𝒙</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𝑩𝒙</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𝒖</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hr m:val="∑"/>
                          <m:limLoc m:val="subSup"/>
                          <m:ctrlPr>
                            <a:rPr lang="en-CA" sz="2000" b="1" i="1">
                              <a:solidFill>
                                <a:schemeClr val="tx1"/>
                              </a:solidFill>
                              <a:latin typeface="Cambria Math" panose="02040503050406030204" pitchFamily="18" charset="0"/>
                              <a:ea typeface="Cambria Math" panose="02040503050406030204" pitchFamily="18" charset="0"/>
                            </a:rPr>
                          </m:ctrlPr>
                        </m:naryPr>
                        <m:sub>
                          <m:r>
                            <m:rPr>
                              <m:brk m:alnAt="25"/>
                            </m:rPr>
                            <a:rPr lang="en-CA" sz="2000" b="1" i="1">
                              <a:solidFill>
                                <a:schemeClr val="tx1"/>
                              </a:solidFill>
                              <a:latin typeface="Cambria Math" panose="02040503050406030204" pitchFamily="18" charset="0"/>
                              <a:ea typeface="Cambria Math" panose="02040503050406030204" pitchFamily="18" charset="0"/>
                            </a:rPr>
                            <m:t>𝑪</m:t>
                          </m:r>
                          <m:r>
                            <a:rPr lang="en-CA" sz="2000" b="1" i="1">
                              <a:solidFill>
                                <a:schemeClr val="tx1"/>
                              </a:solidFill>
                              <a:latin typeface="Cambria Math" panose="02040503050406030204" pitchFamily="18" charset="0"/>
                              <a:ea typeface="Cambria Math" panose="02040503050406030204" pitchFamily="18" charset="0"/>
                            </a:rPr>
                            <m:t>𝑺</m:t>
                          </m:r>
                        </m:sub>
                        <m:sup/>
                        <m:e>
                          <m:r>
                            <a:rPr lang="en-CA" sz="2000" b="1" i="1" smtClean="0">
                              <a:solidFill>
                                <a:schemeClr val="tx1"/>
                              </a:solidFill>
                              <a:latin typeface="Cambria Math" panose="02040503050406030204" pitchFamily="18" charset="0"/>
                              <a:ea typeface="Cambria Math" panose="02040503050406030204" pitchFamily="18" charset="0"/>
                            </a:rPr>
                            <m:t>𝒖</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solidFill>
                    <a:schemeClr val="tx1"/>
                  </a:solidFill>
                </a:endParaRPr>
              </a:p>
              <a:p>
                <a:pPr marL="0" indent="0">
                  <a:lnSpc>
                    <a:spcPct val="100000"/>
                  </a:lnSpc>
                  <a:spcBef>
                    <a:spcPts val="3000"/>
                  </a:spcBef>
                  <a:spcAft>
                    <a:spcPts val="600"/>
                  </a:spcAft>
                  <a:buNone/>
                </a:pPr>
                <a:endParaRPr lang="en-CA" sz="1800" dirty="0">
                  <a:solidFill>
                    <a:schemeClr val="tx1"/>
                  </a:solidFill>
                </a:endParaRPr>
              </a:p>
              <a:p>
                <a:pPr marL="0" indent="0">
                  <a:lnSpc>
                    <a:spcPct val="100000"/>
                  </a:lnSpc>
                  <a:spcBef>
                    <a:spcPts val="3000"/>
                  </a:spcBef>
                  <a:spcAft>
                    <a:spcPts val="600"/>
                  </a:spcAft>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𝒔𝒚</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𝑩𝒚</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𝒗</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hr m:val="∑"/>
                          <m:limLoc m:val="subSup"/>
                          <m:ctrlPr>
                            <a:rPr lang="en-CA" sz="2000" b="1" i="1">
                              <a:solidFill>
                                <a:schemeClr val="tx1"/>
                              </a:solidFill>
                              <a:latin typeface="Cambria Math" panose="02040503050406030204" pitchFamily="18" charset="0"/>
                              <a:ea typeface="Cambria Math" panose="02040503050406030204" pitchFamily="18" charset="0"/>
                            </a:rPr>
                          </m:ctrlPr>
                        </m:naryPr>
                        <m:sub>
                          <m:r>
                            <m:rPr>
                              <m:brk m:alnAt="25"/>
                            </m:rPr>
                            <a:rPr lang="en-CA" sz="2000" b="1" i="1">
                              <a:solidFill>
                                <a:schemeClr val="tx1"/>
                              </a:solidFill>
                              <a:latin typeface="Cambria Math" panose="02040503050406030204" pitchFamily="18" charset="0"/>
                              <a:ea typeface="Cambria Math" panose="02040503050406030204" pitchFamily="18" charset="0"/>
                            </a:rPr>
                            <m:t>𝑪</m:t>
                          </m:r>
                          <m:r>
                            <a:rPr lang="en-CA" sz="2000" b="1" i="1">
                              <a:solidFill>
                                <a:schemeClr val="tx1"/>
                              </a:solidFill>
                              <a:latin typeface="Cambria Math" panose="02040503050406030204" pitchFamily="18" charset="0"/>
                              <a:ea typeface="Cambria Math" panose="02040503050406030204" pitchFamily="18" charset="0"/>
                            </a:rPr>
                            <m:t>𝑺</m:t>
                          </m:r>
                        </m:sub>
                        <m:sup/>
                        <m:e>
                          <m:r>
                            <a:rPr lang="en-CA" sz="2000" b="1" i="1" smtClean="0">
                              <a:solidFill>
                                <a:schemeClr val="tx1"/>
                              </a:solidFill>
                              <a:latin typeface="Cambria Math" panose="02040503050406030204" pitchFamily="18" charset="0"/>
                              <a:ea typeface="Cambria Math" panose="02040503050406030204" pitchFamily="18" charset="0"/>
                            </a:rPr>
                            <m:t>𝒗</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solidFill>
                    <a:schemeClr val="tx1"/>
                  </a:solidFill>
                </a:endParaRPr>
              </a:p>
              <a:p>
                <a:pPr marL="0" indent="0">
                  <a:lnSpc>
                    <a:spcPct val="100000"/>
                  </a:lnSpc>
                  <a:spcBef>
                    <a:spcPts val="3000"/>
                  </a:spcBef>
                  <a:spcAft>
                    <a:spcPts val="600"/>
                  </a:spcAft>
                  <a:buNone/>
                </a:pPr>
                <a:endParaRPr lang="en-CA" sz="1800" dirty="0">
                  <a:solidFill>
                    <a:schemeClr val="tx1"/>
                  </a:solidFill>
                </a:endParaRPr>
              </a:p>
              <a:p>
                <a:pPr marL="0" indent="0">
                  <a:lnSpc>
                    <a:spcPct val="100000"/>
                  </a:lnSpc>
                  <a:spcBef>
                    <a:spcPts val="3000"/>
                  </a:spcBef>
                  <a:spcAft>
                    <a:spcPts val="600"/>
                  </a:spcAft>
                  <a:buNone/>
                </a:pPr>
                <a14:m>
                  <m:oMathPara xmlns:m="http://schemas.openxmlformats.org/officeDocument/2006/math">
                    <m:oMathParaPr>
                      <m:jc m:val="centerGroup"/>
                    </m:oMathParaPr>
                    <m:oMath xmlns:m="http://schemas.openxmlformats.org/officeDocument/2006/math">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𝒔𝒛</m:t>
                          </m:r>
                        </m:sub>
                      </m:sSub>
                      <m:r>
                        <a:rPr lang="en-CA" sz="2000" b="1" i="1">
                          <a:solidFill>
                            <a:schemeClr val="tx1"/>
                          </a:solidFill>
                          <a:latin typeface="Cambria Math" panose="02040503050406030204" pitchFamily="18" charset="0"/>
                        </a:rPr>
                        <m:t>+</m:t>
                      </m:r>
                      <m:sSub>
                        <m:sSubPr>
                          <m:ctrlPr>
                            <a:rPr lang="en-CA" sz="2000" b="1" i="1">
                              <a:solidFill>
                                <a:schemeClr val="tx1"/>
                              </a:solidFill>
                              <a:latin typeface="Cambria Math" panose="02040503050406030204" pitchFamily="18" charset="0"/>
                            </a:rPr>
                          </m:ctrlPr>
                        </m:sSubPr>
                        <m:e>
                          <m:r>
                            <a:rPr lang="en-CA" sz="2000" b="1" i="1">
                              <a:solidFill>
                                <a:schemeClr val="tx1"/>
                              </a:solidFill>
                              <a:latin typeface="Cambria Math" panose="02040503050406030204" pitchFamily="18" charset="0"/>
                            </a:rPr>
                            <m:t>𝑭</m:t>
                          </m:r>
                        </m:e>
                        <m:sub>
                          <m:r>
                            <a:rPr lang="en-CA" sz="2000" b="1" i="1">
                              <a:solidFill>
                                <a:schemeClr val="tx1"/>
                              </a:solidFill>
                              <a:latin typeface="Cambria Math" panose="02040503050406030204" pitchFamily="18" charset="0"/>
                            </a:rPr>
                            <m:t>𝑩𝒛</m:t>
                          </m:r>
                        </m:sub>
                      </m:sSub>
                      <m:r>
                        <a:rPr lang="en-CA" sz="2000" b="1" i="1">
                          <a:solidFill>
                            <a:schemeClr val="tx1"/>
                          </a:solidFill>
                          <a:latin typeface="Cambria Math" panose="02040503050406030204" pitchFamily="18" charset="0"/>
                        </a:rPr>
                        <m:t>=</m:t>
                      </m:r>
                      <m:f>
                        <m:fPr>
                          <m:ctrlPr>
                            <a:rPr lang="en-CA" sz="2000" b="1" i="1">
                              <a:solidFill>
                                <a:schemeClr val="tx1"/>
                              </a:solidFill>
                              <a:latin typeface="Cambria Math" panose="02040503050406030204" pitchFamily="18" charset="0"/>
                            </a:rPr>
                          </m:ctrlPr>
                        </m:fPr>
                        <m:num>
                          <m:r>
                            <a:rPr lang="en-CA" sz="2000" b="1" i="1">
                              <a:solidFill>
                                <a:schemeClr val="tx1"/>
                              </a:solidFill>
                              <a:latin typeface="Cambria Math" panose="02040503050406030204" pitchFamily="18" charset="0"/>
                              <a:ea typeface="Cambria Math" panose="02040503050406030204" pitchFamily="18" charset="0"/>
                            </a:rPr>
                            <m:t>𝝏</m:t>
                          </m:r>
                        </m:num>
                        <m:den>
                          <m:r>
                            <a:rPr lang="en-CA" sz="2000" b="1" i="1">
                              <a:solidFill>
                                <a:schemeClr val="tx1"/>
                              </a:solidFill>
                              <a:latin typeface="Cambria Math" panose="02040503050406030204" pitchFamily="18" charset="0"/>
                              <a:ea typeface="Cambria Math" panose="02040503050406030204" pitchFamily="18" charset="0"/>
                            </a:rPr>
                            <m:t>𝝏</m:t>
                          </m:r>
                          <m:r>
                            <a:rPr lang="en-CA" sz="2000" b="1" i="1">
                              <a:solidFill>
                                <a:schemeClr val="tx1"/>
                              </a:solidFill>
                              <a:latin typeface="Cambria Math" panose="02040503050406030204" pitchFamily="18" charset="0"/>
                              <a:ea typeface="Cambria Math" panose="02040503050406030204" pitchFamily="18" charset="0"/>
                            </a:rPr>
                            <m:t>𝒕</m:t>
                          </m:r>
                        </m:den>
                      </m:f>
                      <m:nary>
                        <m:naryPr>
                          <m:ctrlPr>
                            <a:rPr lang="en-CA" sz="2000" b="1" i="1">
                              <a:solidFill>
                                <a:schemeClr val="tx1"/>
                              </a:solidFill>
                              <a:latin typeface="Cambria Math" panose="02040503050406030204" pitchFamily="18" charset="0"/>
                            </a:rPr>
                          </m:ctrlPr>
                        </m:naryPr>
                        <m:sub>
                          <m:r>
                            <m:rPr>
                              <m:brk m:alnAt="23"/>
                            </m:rPr>
                            <a:rPr lang="en-CA" sz="2000" b="1" i="1">
                              <a:solidFill>
                                <a:schemeClr val="tx1"/>
                              </a:solidFill>
                              <a:latin typeface="Cambria Math" panose="02040503050406030204" pitchFamily="18" charset="0"/>
                            </a:rPr>
                            <m:t>𝑪</m:t>
                          </m:r>
                          <m:r>
                            <a:rPr lang="en-CA" sz="2000" b="1" i="1">
                              <a:solidFill>
                                <a:schemeClr val="tx1"/>
                              </a:solidFill>
                              <a:latin typeface="Cambria Math" panose="02040503050406030204" pitchFamily="18" charset="0"/>
                            </a:rPr>
                            <m:t>𝑽</m:t>
                          </m:r>
                        </m:sub>
                        <m:sup/>
                        <m:e>
                          <m:r>
                            <a:rPr lang="en-CA" sz="2000" b="1" i="1" smtClean="0">
                              <a:solidFill>
                                <a:schemeClr val="tx1"/>
                              </a:solidFill>
                              <a:latin typeface="Cambria Math" panose="02040503050406030204" pitchFamily="18" charset="0"/>
                              <a:ea typeface="Cambria Math" panose="02040503050406030204" pitchFamily="18" charset="0"/>
                            </a:rPr>
                            <m:t>𝒘</m:t>
                          </m:r>
                          <m:r>
                            <a:rPr lang="en-CA" sz="2000" b="1" i="1">
                              <a:solidFill>
                                <a:schemeClr val="tx1"/>
                              </a:solidFill>
                              <a:latin typeface="Cambria Math" panose="02040503050406030204" pitchFamily="18" charset="0"/>
                              <a:ea typeface="Cambria Math" panose="02040503050406030204" pitchFamily="18" charset="0"/>
                            </a:rPr>
                            <m:t>𝝆</m:t>
                          </m:r>
                          <m:r>
                            <a:rPr lang="en-CA" sz="2000" b="1" i="1">
                              <a:solidFill>
                                <a:schemeClr val="tx1"/>
                              </a:solidFill>
                              <a:latin typeface="Cambria Math" panose="02040503050406030204" pitchFamily="18" charset="0"/>
                              <a:ea typeface="Cambria Math" panose="02040503050406030204" pitchFamily="18" charset="0"/>
                            </a:rPr>
                            <m:t>𝒅</m:t>
                          </m:r>
                          <m:r>
                            <a:rPr lang="en-CA" sz="2000" b="1" i="1" smtClean="0">
                              <a:solidFill>
                                <a:schemeClr val="tx1"/>
                              </a:solidFill>
                              <a:latin typeface="Cambria Math" panose="02040503050406030204" pitchFamily="18" charset="0"/>
                              <a:ea typeface="Cambria Math" panose="02040503050406030204" pitchFamily="18" charset="0"/>
                            </a:rPr>
                            <m:t>∀</m:t>
                          </m:r>
                        </m:e>
                      </m:nary>
                      <m:r>
                        <a:rPr lang="en-CA" sz="2000" b="1">
                          <a:solidFill>
                            <a:schemeClr val="tx1"/>
                          </a:solidFill>
                          <a:latin typeface="Cambria Math" panose="02040503050406030204" pitchFamily="18" charset="0"/>
                          <a:ea typeface="Cambria Math" panose="02040503050406030204" pitchFamily="18" charset="0"/>
                        </a:rPr>
                        <m:t>+</m:t>
                      </m:r>
                      <m:nary>
                        <m:naryPr>
                          <m:chr m:val="∑"/>
                          <m:limLoc m:val="subSup"/>
                          <m:ctrlPr>
                            <a:rPr lang="en-CA" sz="2000" b="1" i="1">
                              <a:solidFill>
                                <a:schemeClr val="tx1"/>
                              </a:solidFill>
                              <a:latin typeface="Cambria Math" panose="02040503050406030204" pitchFamily="18" charset="0"/>
                              <a:ea typeface="Cambria Math" panose="02040503050406030204" pitchFamily="18" charset="0"/>
                            </a:rPr>
                          </m:ctrlPr>
                        </m:naryPr>
                        <m:sub>
                          <m:r>
                            <m:rPr>
                              <m:brk m:alnAt="25"/>
                            </m:rPr>
                            <a:rPr lang="en-CA" sz="2000" b="1" i="1">
                              <a:solidFill>
                                <a:schemeClr val="tx1"/>
                              </a:solidFill>
                              <a:latin typeface="Cambria Math" panose="02040503050406030204" pitchFamily="18" charset="0"/>
                              <a:ea typeface="Cambria Math" panose="02040503050406030204" pitchFamily="18" charset="0"/>
                            </a:rPr>
                            <m:t>𝑪</m:t>
                          </m:r>
                          <m:r>
                            <a:rPr lang="en-CA" sz="2000" b="1" i="1">
                              <a:solidFill>
                                <a:schemeClr val="tx1"/>
                              </a:solidFill>
                              <a:latin typeface="Cambria Math" panose="02040503050406030204" pitchFamily="18" charset="0"/>
                              <a:ea typeface="Cambria Math" panose="02040503050406030204" pitchFamily="18" charset="0"/>
                            </a:rPr>
                            <m:t>𝑺</m:t>
                          </m:r>
                        </m:sub>
                        <m:sup/>
                        <m:e>
                          <m:r>
                            <a:rPr lang="en-CA" sz="2000" b="1" i="1" smtClean="0">
                              <a:solidFill>
                                <a:schemeClr val="tx1"/>
                              </a:solidFill>
                              <a:latin typeface="Cambria Math" panose="02040503050406030204" pitchFamily="18" charset="0"/>
                              <a:ea typeface="Cambria Math" panose="02040503050406030204" pitchFamily="18" charset="0"/>
                            </a:rPr>
                            <m:t>𝒘</m:t>
                          </m:r>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e>
                      </m:nary>
                    </m:oMath>
                  </m:oMathPara>
                </a14:m>
                <a:endParaRPr lang="en-CA" sz="2000" b="1" dirty="0"/>
              </a:p>
              <a:p>
                <a:pPr marL="0" indent="0">
                  <a:lnSpc>
                    <a:spcPct val="100000"/>
                  </a:lnSpc>
                  <a:spcBef>
                    <a:spcPts val="2400"/>
                  </a:spcBef>
                  <a:spcAft>
                    <a:spcPts val="600"/>
                  </a:spcAft>
                  <a:buNone/>
                </a:pPr>
                <a:endParaRPr lang="en-CA" sz="1800" dirty="0"/>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16703" y="946322"/>
                <a:ext cx="7886700" cy="4951558"/>
              </a:xfrm>
              <a:blipFill>
                <a:blip r:embed="rId2"/>
                <a:stretch>
                  <a:fillRect l="-1159" t="-984"/>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35158386-B376-A05E-4EC4-485B0C9FB3F3}"/>
              </a:ext>
            </a:extLst>
          </p:cNvPr>
          <p:cNvSpPr>
            <a:spLocks noGrp="1"/>
          </p:cNvSpPr>
          <p:nvPr>
            <p:ph type="sldNum" sz="quarter" idx="12"/>
          </p:nvPr>
        </p:nvSpPr>
        <p:spPr/>
        <p:txBody>
          <a:bodyPr/>
          <a:lstStyle/>
          <a:p>
            <a:fld id="{49FCB85E-0F77-4855-90A7-7A1B61BB679B}" type="slidenum">
              <a:rPr lang="en-CA" smtClean="0"/>
              <a:t>33</a:t>
            </a:fld>
            <a:endParaRPr lang="en-CA"/>
          </a:p>
        </p:txBody>
      </p:sp>
    </p:spTree>
    <p:extLst>
      <p:ext uri="{BB962C8B-B14F-4D97-AF65-F5344CB8AC3E}">
        <p14:creationId xmlns:p14="http://schemas.microsoft.com/office/powerpoint/2010/main" val="12201353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36"/>
            <a:ext cx="9144000" cy="568940"/>
          </a:xfrm>
        </p:spPr>
        <p:txBody>
          <a:bodyPr>
            <a:noAutofit/>
          </a:bodyPr>
          <a:lstStyle/>
          <a:p>
            <a:r>
              <a:rPr lang="en-US" sz="2400" dirty="0">
                <a:solidFill>
                  <a:schemeClr val="tx1"/>
                </a:solidFill>
                <a:latin typeface="+mn-lt"/>
                <a:ea typeface="Verdana" panose="020B0604030504040204" pitchFamily="34" charset="0"/>
                <a:cs typeface="Verdana" panose="020B0604030504040204" pitchFamily="34" charset="0"/>
              </a:rPr>
              <a:t>Momentum Equation for Inertial Control Volume</a:t>
            </a:r>
            <a:endParaRPr lang="en-CA" sz="2400" dirty="0">
              <a:solidFill>
                <a:schemeClr val="tx1"/>
              </a:solidFill>
              <a:latin typeface="+mn-lt"/>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040" y="563186"/>
                <a:ext cx="8824359" cy="5060038"/>
              </a:xfrm>
            </p:spPr>
            <p:txBody>
              <a:bodyPr>
                <a:normAutofit fontScale="92500"/>
              </a:bodyPr>
              <a:lstStyle/>
              <a:p>
                <a:pPr marL="0" indent="0">
                  <a:lnSpc>
                    <a:spcPct val="100000"/>
                  </a:lnSpc>
                  <a:buNone/>
                </a:pPr>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Body forces (Gravity)</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rPr>
                              </m:ctrlPr>
                            </m:accPr>
                            <m:e>
                              <m:r>
                                <a:rPr lang="en-CA" b="0" i="1" smtClean="0">
                                  <a:solidFill>
                                    <a:schemeClr val="tx1"/>
                                  </a:solidFill>
                                  <a:latin typeface="Cambria Math" panose="02040503050406030204" pitchFamily="18" charset="0"/>
                                </a:rPr>
                                <m:t>𝐹</m:t>
                              </m:r>
                            </m:e>
                          </m:acc>
                        </m:e>
                        <m:sub>
                          <m:r>
                            <a:rPr lang="en-CA" b="0" i="1" smtClean="0">
                              <a:solidFill>
                                <a:schemeClr val="tx1"/>
                              </a:solidFill>
                              <a:latin typeface="Cambria Math" panose="02040503050406030204" pitchFamily="18" charset="0"/>
                            </a:rPr>
                            <m:t>𝐵</m:t>
                          </m:r>
                        </m:sub>
                      </m:sSub>
                      <m:r>
                        <a:rPr lang="en-CA" b="0" i="1" smtClean="0">
                          <a:solidFill>
                            <a:schemeClr val="tx1"/>
                          </a:solidFill>
                          <a:latin typeface="Cambria Math" panose="02040503050406030204" pitchFamily="18" charset="0"/>
                        </a:rPr>
                        <m:t>=</m:t>
                      </m:r>
                      <m:nary>
                        <m:naryPr>
                          <m:ctrlPr>
                            <a:rPr lang="en-CA" i="1" smtClean="0">
                              <a:solidFill>
                                <a:schemeClr val="tx1"/>
                              </a:solidFill>
                              <a:latin typeface="Cambria Math" panose="02040503050406030204" pitchFamily="18" charset="0"/>
                            </a:rPr>
                          </m:ctrlPr>
                        </m:naryPr>
                        <m:sub>
                          <m:r>
                            <m:rPr>
                              <m:brk m:alnAt="23"/>
                            </m:rPr>
                            <a:rPr lang="en-CA" b="0" i="1" smtClean="0">
                              <a:solidFill>
                                <a:schemeClr val="tx1"/>
                              </a:solidFill>
                              <a:latin typeface="Cambria Math" panose="02040503050406030204" pitchFamily="18" charset="0"/>
                            </a:rPr>
                            <m:t>𝐶</m:t>
                          </m:r>
                          <m:r>
                            <a:rPr lang="en-CA" b="0" i="1" smtClean="0">
                              <a:solidFill>
                                <a:schemeClr val="tx1"/>
                              </a:solidFill>
                              <a:latin typeface="Cambria Math" panose="02040503050406030204" pitchFamily="18" charset="0"/>
                            </a:rPr>
                            <m:t>𝑉</m:t>
                          </m:r>
                        </m:sub>
                        <m:sup/>
                        <m:e>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𝑔</m:t>
                              </m:r>
                            </m:e>
                          </m:acc>
                          <m:r>
                            <a:rPr lang="en-CA" b="0" i="1" smtClean="0">
                              <a:solidFill>
                                <a:schemeClr val="tx1"/>
                              </a:solidFill>
                              <a:latin typeface="Cambria Math" panose="02040503050406030204" pitchFamily="18" charset="0"/>
                              <a:ea typeface="Cambria Math" panose="02040503050406030204" pitchFamily="18" charset="0"/>
                            </a:rPr>
                            <m:t>𝜌</m:t>
                          </m:r>
                          <m:r>
                            <a:rPr lang="en-CA" b="0" i="1" smtClean="0">
                              <a:solidFill>
                                <a:schemeClr val="tx1"/>
                              </a:solidFill>
                              <a:latin typeface="Cambria Math" panose="02040503050406030204" pitchFamily="18" charset="0"/>
                              <a:ea typeface="Cambria Math" panose="02040503050406030204" pitchFamily="18" charset="0"/>
                            </a:rPr>
                            <m:t>𝑑</m:t>
                          </m:r>
                          <m:r>
                            <a:rPr lang="en-CA" b="0" i="1" smtClean="0">
                              <a:solidFill>
                                <a:schemeClr val="tx1"/>
                              </a:solidFill>
                              <a:latin typeface="Cambria Math" panose="02040503050406030204" pitchFamily="18" charset="0"/>
                              <a:ea typeface="Cambria Math" panose="02040503050406030204" pitchFamily="18" charset="0"/>
                            </a:rPr>
                            <m:t>∀</m:t>
                          </m:r>
                        </m:e>
                      </m:nary>
                      <m:r>
                        <a:rPr lang="en-CA" b="0" i="1" smtClean="0">
                          <a:solidFill>
                            <a:schemeClr val="tx1"/>
                          </a:solidFill>
                          <a:latin typeface="Cambria Math" panose="02040503050406030204" pitchFamily="18" charset="0"/>
                          <a:ea typeface="Cambria Math" panose="02040503050406030204" pitchFamily="18" charset="0"/>
                        </a:rPr>
                        <m:t>=</m:t>
                      </m:r>
                      <m:sSub>
                        <m:sSubPr>
                          <m:ctrlPr>
                            <a:rPr lang="en-CA" i="1">
                              <a:solidFill>
                                <a:schemeClr val="tx1"/>
                              </a:solidFill>
                              <a:latin typeface="Cambria Math" panose="02040503050406030204" pitchFamily="18" charset="0"/>
                            </a:rPr>
                          </m:ctrlPr>
                        </m:sSubPr>
                        <m:e>
                          <m:acc>
                            <m:accPr>
                              <m:chr m:val="⃗"/>
                              <m:ctrlPr>
                                <a:rPr lang="en-CA" i="1" smtClean="0">
                                  <a:solidFill>
                                    <a:schemeClr val="tx1"/>
                                  </a:solidFill>
                                  <a:latin typeface="Cambria Math" panose="02040503050406030204" pitchFamily="18" charset="0"/>
                                </a:rPr>
                              </m:ctrlPr>
                            </m:accPr>
                            <m:e>
                              <m:r>
                                <a:rPr lang="en-CA" b="0" i="1" smtClean="0">
                                  <a:solidFill>
                                    <a:schemeClr val="tx1"/>
                                  </a:solidFill>
                                  <a:latin typeface="Cambria Math" panose="02040503050406030204" pitchFamily="18" charset="0"/>
                                </a:rPr>
                                <m:t>𝑊</m:t>
                              </m:r>
                            </m:e>
                          </m:acc>
                        </m:e>
                        <m:sub>
                          <m:r>
                            <a:rPr lang="en-CA" b="0" i="1" smtClean="0">
                              <a:solidFill>
                                <a:schemeClr val="tx1"/>
                              </a:solidFill>
                              <a:latin typeface="Cambria Math" panose="02040503050406030204" pitchFamily="18" charset="0"/>
                            </a:rPr>
                            <m:t>𝐶𝑉</m:t>
                          </m:r>
                        </m:sub>
                      </m:sSub>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𝑀</m:t>
                      </m:r>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𝑔</m:t>
                          </m:r>
                        </m:e>
                      </m:acc>
                    </m:oMath>
                  </m:oMathPara>
                </a14:m>
                <a:endParaRPr lang="en-CA"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buNone/>
                </a:pPr>
                <a14:m>
                  <m:oMath xmlns:m="http://schemas.openxmlformats.org/officeDocument/2006/math">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𝑔</m:t>
                        </m:r>
                      </m:e>
                    </m:acc>
                  </m:oMath>
                </a14:m>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 = body force per unit mass. </a:t>
                </a:r>
              </a:p>
              <a:p>
                <a:pPr marL="0" indent="0">
                  <a:lnSpc>
                    <a:spcPct val="100000"/>
                  </a:lnSpc>
                  <a:spcBef>
                    <a:spcPts val="1800"/>
                  </a:spcBef>
                  <a:spcAft>
                    <a:spcPts val="1200"/>
                  </a:spcAft>
                  <a:buNone/>
                </a:pPr>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It acts through the mass/volume not at a control surface. </a:t>
                </a:r>
              </a:p>
              <a:p>
                <a:pPr marL="0" indent="0">
                  <a:lnSpc>
                    <a:spcPct val="100000"/>
                  </a:lnSpc>
                  <a:spcBef>
                    <a:spcPts val="1800"/>
                  </a:spcBef>
                  <a:buNone/>
                </a:pPr>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𝑔</m:t>
                        </m:r>
                      </m:e>
                    </m:acc>
                    <m:r>
                      <a:rPr lang="en-CA" b="0" i="1" smtClean="0">
                        <a:solidFill>
                          <a:schemeClr val="tx1"/>
                        </a:solidFill>
                        <a:latin typeface="Cambria Math" panose="02040503050406030204" pitchFamily="18" charset="0"/>
                        <a:ea typeface="Cambria Math" panose="02040503050406030204" pitchFamily="18" charset="0"/>
                      </a:rPr>
                      <m:t>=</m:t>
                    </m:r>
                    <m:sSub>
                      <m:sSubPr>
                        <m:ctrlPr>
                          <a:rPr lang="en-CA" i="1" smtClean="0">
                            <a:solidFill>
                              <a:schemeClr val="tx1"/>
                            </a:solidFill>
                            <a:latin typeface="Cambria Math" panose="02040503050406030204" pitchFamily="18" charset="0"/>
                            <a:ea typeface="Cambria Math" panose="02040503050406030204" pitchFamily="18" charset="0"/>
                          </a:rPr>
                        </m:ctrlPr>
                      </m:sSubPr>
                      <m:e>
                        <m:r>
                          <a:rPr lang="en-CA" b="0" i="1" smtClean="0">
                            <a:solidFill>
                              <a:schemeClr val="tx1"/>
                            </a:solidFill>
                            <a:latin typeface="Cambria Math" panose="02040503050406030204" pitchFamily="18" charset="0"/>
                            <a:ea typeface="Cambria Math" panose="02040503050406030204" pitchFamily="18" charset="0"/>
                          </a:rPr>
                          <m:t>𝑔</m:t>
                        </m:r>
                      </m:e>
                      <m:sub>
                        <m:r>
                          <a:rPr lang="en-CA" b="0" i="1" smtClean="0">
                            <a:solidFill>
                              <a:schemeClr val="tx1"/>
                            </a:solidFill>
                            <a:latin typeface="Cambria Math" panose="02040503050406030204" pitchFamily="18" charset="0"/>
                            <a:ea typeface="Cambria Math" panose="02040503050406030204" pitchFamily="18" charset="0"/>
                          </a:rPr>
                          <m:t>𝑥</m:t>
                        </m:r>
                      </m:sub>
                    </m:sSub>
                    <m:acc>
                      <m:accPr>
                        <m:chr m:val="̂"/>
                        <m:ctrlPr>
                          <a:rPr lang="en-CA" i="1" smtClean="0">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𝑖</m:t>
                        </m:r>
                      </m:e>
                    </m:acc>
                    <m:r>
                      <a:rPr lang="en-CA" b="0" i="1" smtClean="0">
                        <a:solidFill>
                          <a:schemeClr val="tx1"/>
                        </a:solidFill>
                        <a:latin typeface="Cambria Math" panose="02040503050406030204" pitchFamily="18" charset="0"/>
                        <a:ea typeface="Cambria Math" panose="02040503050406030204" pitchFamily="18" charset="0"/>
                      </a:rPr>
                      <m:t>+</m:t>
                    </m:r>
                    <m:sSub>
                      <m:sSubPr>
                        <m:ctrlPr>
                          <a:rPr lang="en-CA" i="1">
                            <a:solidFill>
                              <a:schemeClr val="tx1"/>
                            </a:solidFill>
                            <a:latin typeface="Cambria Math" panose="02040503050406030204" pitchFamily="18" charset="0"/>
                            <a:ea typeface="Cambria Math" panose="02040503050406030204" pitchFamily="18" charset="0"/>
                          </a:rPr>
                        </m:ctrlPr>
                      </m:sSubPr>
                      <m:e>
                        <m:r>
                          <a:rPr lang="en-CA" b="0" i="1" smtClean="0">
                            <a:solidFill>
                              <a:schemeClr val="tx1"/>
                            </a:solidFill>
                            <a:latin typeface="Cambria Math" panose="02040503050406030204" pitchFamily="18" charset="0"/>
                            <a:ea typeface="Cambria Math" panose="02040503050406030204" pitchFamily="18" charset="0"/>
                          </a:rPr>
                          <m:t>𝑔</m:t>
                        </m:r>
                      </m:e>
                      <m:sub>
                        <m:r>
                          <a:rPr lang="en-CA" b="0" i="1" smtClean="0">
                            <a:solidFill>
                              <a:schemeClr val="tx1"/>
                            </a:solidFill>
                            <a:latin typeface="Cambria Math" panose="02040503050406030204" pitchFamily="18" charset="0"/>
                            <a:ea typeface="Cambria Math" panose="02040503050406030204" pitchFamily="18" charset="0"/>
                          </a:rPr>
                          <m:t>𝑦</m:t>
                        </m:r>
                      </m:sub>
                    </m:sSub>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𝑗</m:t>
                        </m:r>
                      </m:e>
                    </m:acc>
                    <m:r>
                      <a:rPr lang="en-CA" b="0" i="1" smtClean="0">
                        <a:solidFill>
                          <a:schemeClr val="tx1"/>
                        </a:solidFill>
                        <a:latin typeface="Cambria Math" panose="02040503050406030204" pitchFamily="18" charset="0"/>
                        <a:ea typeface="Cambria Math" panose="02040503050406030204" pitchFamily="18" charset="0"/>
                      </a:rPr>
                      <m:t>+</m:t>
                    </m:r>
                    <m:sSub>
                      <m:sSubPr>
                        <m:ctrlPr>
                          <a:rPr lang="en-CA" i="1">
                            <a:solidFill>
                              <a:schemeClr val="tx1"/>
                            </a:solidFill>
                            <a:latin typeface="Cambria Math" panose="02040503050406030204" pitchFamily="18" charset="0"/>
                            <a:ea typeface="Cambria Math" panose="02040503050406030204" pitchFamily="18" charset="0"/>
                          </a:rPr>
                        </m:ctrlPr>
                      </m:sSubPr>
                      <m:e>
                        <m:r>
                          <a:rPr lang="en-CA" b="0" i="1" smtClean="0">
                            <a:solidFill>
                              <a:schemeClr val="tx1"/>
                            </a:solidFill>
                            <a:latin typeface="Cambria Math" panose="02040503050406030204" pitchFamily="18" charset="0"/>
                            <a:ea typeface="Cambria Math" panose="02040503050406030204" pitchFamily="18" charset="0"/>
                          </a:rPr>
                          <m:t>𝑔</m:t>
                        </m:r>
                      </m:e>
                      <m:sub>
                        <m:r>
                          <a:rPr lang="en-CA" b="0" i="1" smtClean="0">
                            <a:solidFill>
                              <a:schemeClr val="tx1"/>
                            </a:solidFill>
                            <a:latin typeface="Cambria Math" panose="02040503050406030204" pitchFamily="18" charset="0"/>
                            <a:ea typeface="Cambria Math" panose="02040503050406030204" pitchFamily="18" charset="0"/>
                          </a:rPr>
                          <m:t>𝑧</m:t>
                        </m:r>
                      </m:sub>
                    </m:sSub>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smtClean="0">
                            <a:solidFill>
                              <a:schemeClr val="tx1"/>
                            </a:solidFill>
                            <a:latin typeface="Cambria Math" panose="02040503050406030204" pitchFamily="18" charset="0"/>
                            <a:ea typeface="Cambria Math" panose="02040503050406030204" pitchFamily="18" charset="0"/>
                          </a:rPr>
                          <m:t>𝑘</m:t>
                        </m:r>
                      </m:e>
                    </m:acc>
                  </m:oMath>
                </a14:m>
                <a:endParaRPr lang="en-CA"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1800"/>
                  </a:spcBef>
                  <a:buNone/>
                </a:pPr>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CA" i="1">
                            <a:solidFill>
                              <a:schemeClr val="tx1"/>
                            </a:solidFill>
                            <a:latin typeface="Cambria Math" panose="02040503050406030204" pitchFamily="18" charset="0"/>
                            <a:ea typeface="Cambria Math" panose="02040503050406030204" pitchFamily="18" charset="0"/>
                          </a:rPr>
                        </m:ctrlPr>
                      </m:sSubPr>
                      <m:e>
                        <m:r>
                          <a:rPr lang="en-CA" b="0" i="1" smtClean="0">
                            <a:solidFill>
                              <a:schemeClr val="tx1"/>
                            </a:solidFill>
                            <a:latin typeface="Cambria Math" panose="02040503050406030204" pitchFamily="18" charset="0"/>
                            <a:ea typeface="Cambria Math" panose="02040503050406030204" pitchFamily="18" charset="0"/>
                          </a:rPr>
                          <m:t>𝑔</m:t>
                        </m:r>
                      </m:e>
                      <m:sub>
                        <m:r>
                          <a:rPr lang="en-CA" b="0" i="1" smtClean="0">
                            <a:solidFill>
                              <a:schemeClr val="tx1"/>
                            </a:solidFill>
                            <a:latin typeface="Cambria Math" panose="02040503050406030204" pitchFamily="18" charset="0"/>
                            <a:ea typeface="Cambria Math" panose="02040503050406030204" pitchFamily="18" charset="0"/>
                          </a:rPr>
                          <m:t>𝑥</m:t>
                        </m:r>
                      </m:sub>
                    </m:sSub>
                    <m:r>
                      <a:rPr lang="en-CA" b="0" i="0" smtClean="0">
                        <a:solidFill>
                          <a:schemeClr val="tx1"/>
                        </a:solidFill>
                        <a:latin typeface="Cambria Math" panose="02040503050406030204" pitchFamily="18" charset="0"/>
                        <a:ea typeface="Cambria Math" panose="02040503050406030204" pitchFamily="18" charset="0"/>
                      </a:rPr>
                      <m:t>=</m:t>
                    </m:r>
                    <m:sSub>
                      <m:sSubPr>
                        <m:ctrlPr>
                          <a:rPr lang="en-CA" i="1">
                            <a:solidFill>
                              <a:schemeClr val="tx1"/>
                            </a:solidFill>
                            <a:latin typeface="Cambria Math" panose="02040503050406030204" pitchFamily="18" charset="0"/>
                            <a:ea typeface="Cambria Math" panose="02040503050406030204" pitchFamily="18" charset="0"/>
                          </a:rPr>
                        </m:ctrlPr>
                      </m:sSubPr>
                      <m:e>
                        <m:r>
                          <a:rPr lang="en-CA" b="0" i="1" smtClean="0">
                            <a:solidFill>
                              <a:schemeClr val="tx1"/>
                            </a:solidFill>
                            <a:latin typeface="Cambria Math" panose="02040503050406030204" pitchFamily="18" charset="0"/>
                            <a:ea typeface="Cambria Math" panose="02040503050406030204" pitchFamily="18" charset="0"/>
                          </a:rPr>
                          <m:t>𝑔</m:t>
                        </m:r>
                      </m:e>
                      <m:sub>
                        <m:r>
                          <a:rPr lang="en-CA" b="0" i="1" smtClean="0">
                            <a:solidFill>
                              <a:schemeClr val="tx1"/>
                            </a:solidFill>
                            <a:latin typeface="Cambria Math" panose="02040503050406030204" pitchFamily="18" charset="0"/>
                            <a:ea typeface="Cambria Math" panose="02040503050406030204" pitchFamily="18" charset="0"/>
                          </a:rPr>
                          <m:t>𝑧</m:t>
                        </m:r>
                      </m:sub>
                    </m:sSub>
                    <m:r>
                      <a:rPr lang="en-CA" b="0" i="1" smtClean="0">
                        <a:solidFill>
                          <a:schemeClr val="tx1"/>
                        </a:solidFill>
                        <a:latin typeface="Cambria Math" panose="02040503050406030204" pitchFamily="18" charset="0"/>
                        <a:ea typeface="Cambria Math" panose="02040503050406030204" pitchFamily="18" charset="0"/>
                      </a:rPr>
                      <m:t>=</m:t>
                    </m:r>
                    <m:r>
                      <a:rPr lang="en-CA" b="0" i="0" smtClean="0">
                        <a:solidFill>
                          <a:schemeClr val="tx1"/>
                        </a:solidFill>
                        <a:latin typeface="Cambria Math" panose="02040503050406030204" pitchFamily="18" charset="0"/>
                        <a:ea typeface="Cambria Math" panose="02040503050406030204" pitchFamily="18" charset="0"/>
                      </a:rPr>
                      <m:t>0,</m:t>
                    </m:r>
                    <m:sSub>
                      <m:sSubPr>
                        <m:ctrlPr>
                          <a:rPr lang="en-CA" i="1" smtClean="0">
                            <a:solidFill>
                              <a:schemeClr val="tx1"/>
                            </a:solidFill>
                            <a:latin typeface="Cambria Math" panose="02040503050406030204" pitchFamily="18" charset="0"/>
                            <a:ea typeface="Cambria Math" panose="02040503050406030204" pitchFamily="18" charset="0"/>
                          </a:rPr>
                        </m:ctrlPr>
                      </m:sSubPr>
                      <m:e>
                        <m:r>
                          <a:rPr lang="en-CA" b="0" i="1" smtClean="0">
                            <a:solidFill>
                              <a:schemeClr val="tx1"/>
                            </a:solidFill>
                            <a:latin typeface="Cambria Math" panose="02040503050406030204" pitchFamily="18" charset="0"/>
                            <a:ea typeface="Cambria Math" panose="02040503050406030204" pitchFamily="18" charset="0"/>
                          </a:rPr>
                          <m:t> </m:t>
                        </m:r>
                        <m:r>
                          <m:rPr>
                            <m:sty m:val="p"/>
                          </m:rPr>
                          <a:rPr lang="en-CA" b="0" i="0" smtClean="0">
                            <a:solidFill>
                              <a:schemeClr val="tx1"/>
                            </a:solidFill>
                            <a:latin typeface="Cambria Math" panose="02040503050406030204" pitchFamily="18" charset="0"/>
                            <a:ea typeface="Cambria Math" panose="02040503050406030204" pitchFamily="18" charset="0"/>
                          </a:rPr>
                          <m:t>and</m:t>
                        </m:r>
                        <m:r>
                          <a:rPr lang="en-CA" b="0" i="1" smtClean="0">
                            <a:solidFill>
                              <a:schemeClr val="tx1"/>
                            </a:solidFill>
                            <a:latin typeface="Cambria Math" panose="02040503050406030204" pitchFamily="18" charset="0"/>
                            <a:ea typeface="Cambria Math" panose="02040503050406030204" pitchFamily="18" charset="0"/>
                          </a:rPr>
                          <m:t> </m:t>
                        </m:r>
                        <m:r>
                          <a:rPr lang="en-CA" b="0" i="1" smtClean="0">
                            <a:solidFill>
                              <a:schemeClr val="tx1"/>
                            </a:solidFill>
                            <a:latin typeface="Cambria Math" panose="02040503050406030204" pitchFamily="18" charset="0"/>
                            <a:ea typeface="Cambria Math" panose="02040503050406030204" pitchFamily="18" charset="0"/>
                          </a:rPr>
                          <m:t>𝑔</m:t>
                        </m:r>
                      </m:e>
                      <m:sub>
                        <m:r>
                          <a:rPr lang="en-CA" b="0" i="1" smtClean="0">
                            <a:solidFill>
                              <a:schemeClr val="tx1"/>
                            </a:solidFill>
                            <a:latin typeface="Cambria Math" panose="02040503050406030204" pitchFamily="18" charset="0"/>
                            <a:ea typeface="Cambria Math" panose="02040503050406030204" pitchFamily="18" charset="0"/>
                          </a:rPr>
                          <m:t>𝑦</m:t>
                        </m:r>
                      </m:sub>
                    </m:sSub>
                    <m:r>
                      <a:rPr lang="en-CA" b="0" i="1" smtClean="0">
                        <a:solidFill>
                          <a:schemeClr val="tx1"/>
                        </a:solidFill>
                        <a:latin typeface="Cambria Math" panose="02040503050406030204" pitchFamily="18" charset="0"/>
                        <a:ea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𝑔</m:t>
                    </m:r>
                  </m:oMath>
                </a14:m>
                <a:endParaRPr lang="en-CA"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2400"/>
                  </a:spcBef>
                  <a:spcAft>
                    <a:spcPts val="1200"/>
                  </a:spcAft>
                  <a:buNone/>
                </a:pPr>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If mass, </a:t>
                </a:r>
                <a:r>
                  <a:rPr lang="en-CA" i="1" dirty="0">
                    <a:solidFill>
                      <a:schemeClr val="tx1"/>
                    </a:solidFill>
                    <a:latin typeface="Calibri" panose="020F0502020204030204" pitchFamily="34" charset="0"/>
                    <a:ea typeface="Calibri" panose="020F0502020204030204" pitchFamily="34" charset="0"/>
                    <a:cs typeface="Calibri" panose="020F0502020204030204" pitchFamily="34" charset="0"/>
                  </a:rPr>
                  <a:t>M</a:t>
                </a:r>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 of control volume and internal volume (</a:t>
                </a:r>
                <a14:m>
                  <m:oMath xmlns:m="http://schemas.openxmlformats.org/officeDocument/2006/math">
                    <m:r>
                      <a:rPr lang="en-CA" b="0" i="1" smtClean="0">
                        <a:solidFill>
                          <a:schemeClr val="tx1"/>
                        </a:solidFill>
                        <a:latin typeface="Cambria Math" panose="02040503050406030204" pitchFamily="18" charset="0"/>
                        <a:ea typeface="Cambria Math" panose="02040503050406030204" pitchFamily="18" charset="0"/>
                      </a:rPr>
                      <m:t>∀</m:t>
                    </m:r>
                  </m:oMath>
                </a14:m>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 of the CV, are given</a:t>
                </a:r>
              </a:p>
              <a:p>
                <a:pPr marL="0" indent="0" algn="ctr">
                  <a:lnSpc>
                    <a:spcPct val="100000"/>
                  </a:lnSpc>
                  <a:buNone/>
                </a:pPr>
                <a14:m>
                  <m:oMath xmlns:m="http://schemas.openxmlformats.org/officeDocument/2006/math">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rPr>
                            </m:ctrlPr>
                          </m:accPr>
                          <m:e>
                            <m:r>
                              <a:rPr lang="en-CA" b="0" i="1" smtClean="0">
                                <a:solidFill>
                                  <a:schemeClr val="tx1"/>
                                </a:solidFill>
                                <a:latin typeface="Cambria Math" panose="02040503050406030204" pitchFamily="18" charset="0"/>
                              </a:rPr>
                              <m:t>𝐹</m:t>
                            </m:r>
                          </m:e>
                        </m:acc>
                      </m:e>
                      <m:sub>
                        <m:r>
                          <a:rPr lang="en-CA" b="0" i="1" smtClean="0">
                            <a:solidFill>
                              <a:schemeClr val="tx1"/>
                            </a:solidFill>
                            <a:latin typeface="Cambria Math" panose="02040503050406030204" pitchFamily="18" charset="0"/>
                          </a:rPr>
                          <m:t>𝐵</m:t>
                        </m:r>
                      </m:sub>
                    </m:sSub>
                    <m:r>
                      <a:rPr lang="en-CA"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𝐹</m:t>
                        </m:r>
                      </m:e>
                      <m:sub>
                        <m:r>
                          <a:rPr lang="en-CA" b="0" i="1" smtClean="0">
                            <a:solidFill>
                              <a:schemeClr val="tx1"/>
                            </a:solidFill>
                            <a:latin typeface="Cambria Math" panose="02040503050406030204" pitchFamily="18" charset="0"/>
                          </a:rPr>
                          <m:t>𝐵𝑦</m:t>
                        </m:r>
                      </m:sub>
                    </m:sSub>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𝑀𝑔</m:t>
                    </m:r>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𝜌</m:t>
                    </m:r>
                    <m:r>
                      <a:rPr lang="en-CA" b="0" i="1" smtClean="0">
                        <a:solidFill>
                          <a:schemeClr val="tx1"/>
                        </a:solidFill>
                        <a:latin typeface="Cambria Math" panose="02040503050406030204" pitchFamily="18" charset="0"/>
                        <a:ea typeface="Cambria Math" panose="02040503050406030204" pitchFamily="18" charset="0"/>
                      </a:rPr>
                      <m:t>∀</m:t>
                    </m:r>
                    <m:r>
                      <a:rPr lang="en-CA" b="0" i="1" smtClean="0">
                        <a:solidFill>
                          <a:schemeClr val="tx1"/>
                        </a:solidFill>
                        <a:latin typeface="Cambria Math" panose="02040503050406030204" pitchFamily="18" charset="0"/>
                      </a:rPr>
                      <m:t>𝑔</m:t>
                    </m:r>
                  </m:oMath>
                </a14:m>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a:rPr lang="en-CA" b="0" i="0"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𝑀</m:t>
                    </m:r>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𝜌</m:t>
                    </m:r>
                    <m:r>
                      <a:rPr lang="en-CA" b="0" i="1" smtClean="0">
                        <a:solidFill>
                          <a:schemeClr val="tx1"/>
                        </a:solidFill>
                        <a:latin typeface="Cambria Math" panose="02040503050406030204" pitchFamily="18" charset="0"/>
                        <a:ea typeface="Cambria Math" panose="02040503050406030204" pitchFamily="18" charset="0"/>
                      </a:rPr>
                      <m:t>∀)</m:t>
                    </m:r>
                    <m:r>
                      <a:rPr lang="en-CA" b="0" i="1" smtClean="0">
                        <a:solidFill>
                          <a:schemeClr val="tx1"/>
                        </a:solidFill>
                        <a:latin typeface="Cambria Math" panose="02040503050406030204" pitchFamily="18" charset="0"/>
                      </a:rPr>
                      <m:t>𝑔</m:t>
                    </m:r>
                  </m:oMath>
                </a14:m>
                <a:endParaRPr lang="en-CA"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buNone/>
                </a:pPr>
                <a:endParaRPr lang="en-CA" sz="1600" b="1" dirty="0">
                  <a:solidFill>
                    <a:schemeClr val="tx1"/>
                  </a:solidFill>
                  <a:latin typeface="+mn-lt"/>
                </a:endParaRPr>
              </a:p>
              <a:p>
                <a:pPr marL="0" indent="0">
                  <a:lnSpc>
                    <a:spcPct val="100000"/>
                  </a:lnSpc>
                  <a:buNone/>
                </a:pPr>
                <a:endParaRPr lang="en-CA" sz="1600" b="1"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040" y="563186"/>
                <a:ext cx="8824359" cy="5060038"/>
              </a:xfrm>
              <a:blipFill>
                <a:blip r:embed="rId2"/>
                <a:stretch>
                  <a:fillRect l="-898" t="-723"/>
                </a:stretch>
              </a:blipFill>
            </p:spPr>
            <p:txBody>
              <a:bodyPr/>
              <a:lstStyle/>
              <a:p>
                <a:r>
                  <a:rPr lang="en-GH">
                    <a:noFill/>
                  </a:rPr>
                  <a:t> </a:t>
                </a:r>
              </a:p>
            </p:txBody>
          </p:sp>
        </mc:Fallback>
      </mc:AlternateContent>
      <p:grpSp>
        <p:nvGrpSpPr>
          <p:cNvPr id="11" name="Group 10"/>
          <p:cNvGrpSpPr/>
          <p:nvPr/>
        </p:nvGrpSpPr>
        <p:grpSpPr>
          <a:xfrm>
            <a:off x="6254572" y="1128361"/>
            <a:ext cx="1075217" cy="755001"/>
            <a:chOff x="7135776" y="2881334"/>
            <a:chExt cx="1075217" cy="755001"/>
          </a:xfrm>
        </p:grpSpPr>
        <p:cxnSp>
          <p:nvCxnSpPr>
            <p:cNvPr id="5" name="Straight Arrow Connector 4"/>
            <p:cNvCxnSpPr/>
            <p:nvPr/>
          </p:nvCxnSpPr>
          <p:spPr>
            <a:xfrm flipV="1">
              <a:off x="7825563" y="2987749"/>
              <a:ext cx="0" cy="6485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7607595" y="3636335"/>
              <a:ext cx="43593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876067" y="2974795"/>
              <a:ext cx="334926" cy="461665"/>
            </a:xfrm>
            <a:prstGeom prst="rect">
              <a:avLst/>
            </a:prstGeom>
            <a:noFill/>
          </p:spPr>
          <p:txBody>
            <a:bodyPr wrap="square" rtlCol="0">
              <a:spAutoFit/>
            </a:bodyPr>
            <a:lstStyle/>
            <a:p>
              <a:r>
                <a:rPr lang="en-CA" i="1" dirty="0"/>
                <a:t>y</a:t>
              </a:r>
            </a:p>
          </p:txBody>
        </p:sp>
        <p:cxnSp>
          <p:nvCxnSpPr>
            <p:cNvPr id="9" name="Straight Arrow Connector 8"/>
            <p:cNvCxnSpPr>
              <a:cxnSpLocks/>
            </p:cNvCxnSpPr>
            <p:nvPr/>
          </p:nvCxnSpPr>
          <p:spPr>
            <a:xfrm>
              <a:off x="7474689" y="2881334"/>
              <a:ext cx="0" cy="6485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135776" y="2972474"/>
              <a:ext cx="334926" cy="461665"/>
            </a:xfrm>
            <a:prstGeom prst="rect">
              <a:avLst/>
            </a:prstGeom>
            <a:noFill/>
          </p:spPr>
          <p:txBody>
            <a:bodyPr wrap="square" rtlCol="0">
              <a:spAutoFit/>
            </a:bodyPr>
            <a:lstStyle/>
            <a:p>
              <a:r>
                <a:rPr lang="en-CA" dirty="0"/>
                <a:t>g</a:t>
              </a:r>
            </a:p>
          </p:txBody>
        </p:sp>
      </p:grpSp>
      <p:sp>
        <p:nvSpPr>
          <p:cNvPr id="4" name="Slide Number Placeholder 3">
            <a:extLst>
              <a:ext uri="{FF2B5EF4-FFF2-40B4-BE49-F238E27FC236}">
                <a16:creationId xmlns:a16="http://schemas.microsoft.com/office/drawing/2014/main" id="{42FD518E-3174-5477-7716-A17F0AA927FE}"/>
              </a:ext>
            </a:extLst>
          </p:cNvPr>
          <p:cNvSpPr>
            <a:spLocks noGrp="1"/>
          </p:cNvSpPr>
          <p:nvPr>
            <p:ph type="sldNum" sz="quarter" idx="12"/>
          </p:nvPr>
        </p:nvSpPr>
        <p:spPr/>
        <p:txBody>
          <a:bodyPr/>
          <a:lstStyle/>
          <a:p>
            <a:fld id="{49FCB85E-0F77-4855-90A7-7A1B61BB679B}" type="slidenum">
              <a:rPr lang="en-CA" smtClean="0"/>
              <a:t>34</a:t>
            </a:fld>
            <a:endParaRPr lang="en-CA"/>
          </a:p>
        </p:txBody>
      </p:sp>
    </p:spTree>
    <p:extLst>
      <p:ext uri="{BB962C8B-B14F-4D97-AF65-F5344CB8AC3E}">
        <p14:creationId xmlns:p14="http://schemas.microsoft.com/office/powerpoint/2010/main" val="570809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4892"/>
            <a:ext cx="9144000" cy="568940"/>
          </a:xfrm>
        </p:spPr>
        <p:txBody>
          <a:bodyPr>
            <a:noAutofit/>
          </a:bodyPr>
          <a:lstStyle/>
          <a:p>
            <a:r>
              <a:rPr lang="en-US" sz="2400" dirty="0">
                <a:solidFill>
                  <a:schemeClr val="tx1"/>
                </a:solidFill>
                <a:latin typeface="+mn-lt"/>
                <a:ea typeface="Verdana" panose="020B0604030504040204" pitchFamily="34" charset="0"/>
                <a:cs typeface="Verdana" panose="020B0604030504040204" pitchFamily="34" charset="0"/>
              </a:rPr>
              <a:t>Momentum Equation for Inertial Control Volume</a:t>
            </a:r>
            <a:endParaRPr lang="en-CA" sz="2400" dirty="0">
              <a:solidFill>
                <a:schemeClr val="tx1"/>
              </a:solidFill>
              <a:latin typeface="+mn-lt"/>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65575"/>
                <a:ext cx="9144000" cy="5207985"/>
              </a:xfrm>
            </p:spPr>
            <p:txBody>
              <a:bodyPr>
                <a:normAutofit/>
              </a:bodyPr>
              <a:lstStyle/>
              <a:p>
                <a:pPr marL="0" indent="0">
                  <a:buNone/>
                </a:pPr>
                <a:r>
                  <a:rPr lang="en-CA" sz="2000" dirty="0">
                    <a:solidFill>
                      <a:schemeClr val="tx1"/>
                    </a:solidFill>
                    <a:latin typeface="+mn-lt"/>
                  </a:rPr>
                  <a:t>Surface forces (</a:t>
                </a:r>
                <a14:m>
                  <m:oMath xmlns:m="http://schemas.openxmlformats.org/officeDocument/2006/math">
                    <m:sSub>
                      <m:sSubPr>
                        <m:ctrlPr>
                          <a:rPr lang="en-CA" sz="2000" i="1">
                            <a:solidFill>
                              <a:schemeClr val="tx1"/>
                            </a:solidFill>
                            <a:latin typeface="Cambria Math" panose="02040503050406030204" pitchFamily="18" charset="0"/>
                          </a:rPr>
                        </m:ctrlPr>
                      </m:sSubPr>
                      <m:e>
                        <m:acc>
                          <m:accPr>
                            <m:chr m:val="⃗"/>
                            <m:ctrlPr>
                              <a:rPr lang="en-CA" sz="2000" i="1">
                                <a:solidFill>
                                  <a:schemeClr val="tx1"/>
                                </a:solidFill>
                                <a:latin typeface="Cambria Math" panose="02040503050406030204" pitchFamily="18" charset="0"/>
                              </a:rPr>
                            </m:ctrlPr>
                          </m:accPr>
                          <m:e>
                            <m:r>
                              <a:rPr lang="en-CA" sz="2000" b="0" i="1">
                                <a:solidFill>
                                  <a:schemeClr val="tx1"/>
                                </a:solidFill>
                                <a:latin typeface="Cambria Math" panose="02040503050406030204" pitchFamily="18" charset="0"/>
                              </a:rPr>
                              <m:t>𝐹</m:t>
                            </m:r>
                          </m:e>
                        </m:acc>
                      </m:e>
                      <m:sub>
                        <m:r>
                          <a:rPr lang="en-CA" sz="2000" b="0" i="1">
                            <a:solidFill>
                              <a:schemeClr val="tx1"/>
                            </a:solidFill>
                            <a:latin typeface="Cambria Math" panose="02040503050406030204" pitchFamily="18" charset="0"/>
                          </a:rPr>
                          <m:t>𝑆</m:t>
                        </m:r>
                      </m:sub>
                    </m:sSub>
                  </m:oMath>
                </a14:m>
                <a:r>
                  <a:rPr lang="en-CA" sz="2000" dirty="0">
                    <a:solidFill>
                      <a:schemeClr val="tx1"/>
                    </a:solidFill>
                    <a:latin typeface="+mn-lt"/>
                  </a:rPr>
                  <a:t>) = Pressure Force + Viscous Force + Reaction Force</a:t>
                </a:r>
              </a:p>
              <a:p>
                <a:pPr marL="0" indent="0">
                  <a:lnSpc>
                    <a:spcPct val="100000"/>
                  </a:lnSpc>
                  <a:spcBef>
                    <a:spcPts val="2400"/>
                  </a:spcBef>
                  <a:spcAft>
                    <a:spcPts val="1200"/>
                  </a:spcAft>
                  <a:buNone/>
                </a:pPr>
                <a:r>
                  <a:rPr lang="en-CA" u="sng" dirty="0">
                    <a:solidFill>
                      <a:schemeClr val="tx1"/>
                    </a:solidFill>
                    <a:latin typeface="+mn-lt"/>
                  </a:rPr>
                  <a:t>Pressure Force:</a:t>
                </a:r>
                <a:r>
                  <a:rPr lang="en-CA" dirty="0">
                    <a:solidFill>
                      <a:schemeClr val="tx1"/>
                    </a:solidFill>
                    <a:latin typeface="+mn-lt"/>
                  </a:rPr>
                  <a:t>         </a:t>
                </a:r>
                <a14:m>
                  <m:oMath xmlns:m="http://schemas.openxmlformats.org/officeDocument/2006/math">
                    <m:sSub>
                      <m:sSubPr>
                        <m:ctrlPr>
                          <a:rPr lang="en-CA" i="1">
                            <a:solidFill>
                              <a:schemeClr val="tx1"/>
                            </a:solidFill>
                            <a:latin typeface="Cambria Math" panose="02040503050406030204" pitchFamily="18" charset="0"/>
                          </a:rPr>
                        </m:ctrlPr>
                      </m:sSubPr>
                      <m:e>
                        <m:acc>
                          <m:accPr>
                            <m:chr m:val="⃗"/>
                            <m:ctrlPr>
                              <a:rPr lang="en-CA" i="1">
                                <a:solidFill>
                                  <a:schemeClr val="tx1"/>
                                </a:solidFill>
                                <a:latin typeface="Cambria Math" panose="02040503050406030204" pitchFamily="18" charset="0"/>
                              </a:rPr>
                            </m:ctrlPr>
                          </m:accPr>
                          <m:e>
                            <m:r>
                              <a:rPr lang="en-CA" b="0" i="1">
                                <a:solidFill>
                                  <a:schemeClr val="tx1"/>
                                </a:solidFill>
                                <a:latin typeface="Cambria Math" panose="02040503050406030204" pitchFamily="18" charset="0"/>
                              </a:rPr>
                              <m:t>𝐹</m:t>
                            </m:r>
                          </m:e>
                        </m:acc>
                      </m:e>
                      <m:sub>
                        <m:r>
                          <a:rPr lang="en-CA" b="0" i="1">
                            <a:solidFill>
                              <a:schemeClr val="tx1"/>
                            </a:solidFill>
                            <a:latin typeface="Cambria Math" panose="02040503050406030204" pitchFamily="18" charset="0"/>
                          </a:rPr>
                          <m:t>𝑆</m:t>
                        </m:r>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𝑃</m:t>
                        </m:r>
                      </m:sub>
                    </m:sSub>
                    <m:r>
                      <a:rPr lang="en-CA" b="0" i="1">
                        <a:solidFill>
                          <a:schemeClr val="tx1"/>
                        </a:solidFill>
                        <a:latin typeface="Cambria Math" panose="02040503050406030204" pitchFamily="18" charset="0"/>
                      </a:rPr>
                      <m:t>=</m:t>
                    </m:r>
                    <m:nary>
                      <m:naryPr>
                        <m:ctrlPr>
                          <a:rPr lang="en-CA" i="1">
                            <a:solidFill>
                              <a:schemeClr val="tx1"/>
                            </a:solidFill>
                            <a:latin typeface="Cambria Math" panose="02040503050406030204" pitchFamily="18" charset="0"/>
                          </a:rPr>
                        </m:ctrlPr>
                      </m:naryPr>
                      <m:sub>
                        <m:r>
                          <a:rPr lang="en-CA" b="0" i="1">
                            <a:solidFill>
                              <a:schemeClr val="tx1"/>
                            </a:solidFill>
                            <a:latin typeface="Cambria Math" panose="02040503050406030204" pitchFamily="18" charset="0"/>
                          </a:rPr>
                          <m:t>𝐴</m:t>
                        </m:r>
                      </m:sub>
                      <m:sup/>
                      <m:e>
                        <m:r>
                          <a:rPr lang="en-CA" b="0" i="1">
                            <a:solidFill>
                              <a:schemeClr val="tx1"/>
                            </a:solidFill>
                            <a:latin typeface="Cambria Math" panose="02040503050406030204" pitchFamily="18" charset="0"/>
                            <a:ea typeface="Cambria Math" panose="02040503050406030204" pitchFamily="18" charset="0"/>
                          </a:rPr>
                          <m:t>−</m:t>
                        </m:r>
                        <m:r>
                          <a:rPr lang="en-CA" b="0" i="1">
                            <a:solidFill>
                              <a:schemeClr val="tx1"/>
                            </a:solidFill>
                            <a:latin typeface="Cambria Math" panose="02040503050406030204" pitchFamily="18" charset="0"/>
                            <a:ea typeface="Cambria Math" panose="02040503050406030204" pitchFamily="18" charset="0"/>
                          </a:rPr>
                          <m:t>𝑝𝑑</m:t>
                        </m:r>
                        <m:acc>
                          <m:accPr>
                            <m:chr m:val="⃗"/>
                            <m:ctrlPr>
                              <a:rPr lang="en-CA" i="1">
                                <a:solidFill>
                                  <a:schemeClr val="tx1"/>
                                </a:solidFill>
                                <a:latin typeface="Cambria Math" panose="02040503050406030204" pitchFamily="18" charset="0"/>
                                <a:ea typeface="Cambria Math" panose="02040503050406030204" pitchFamily="18" charset="0"/>
                              </a:rPr>
                            </m:ctrlPr>
                          </m:accPr>
                          <m:e>
                            <m:r>
                              <a:rPr lang="en-CA" b="0" i="1">
                                <a:solidFill>
                                  <a:schemeClr val="tx1"/>
                                </a:solidFill>
                                <a:latin typeface="Cambria Math" panose="02040503050406030204" pitchFamily="18" charset="0"/>
                                <a:ea typeface="Cambria Math" panose="02040503050406030204" pitchFamily="18" charset="0"/>
                              </a:rPr>
                              <m:t>𝐴</m:t>
                            </m:r>
                          </m:e>
                        </m:acc>
                      </m:e>
                    </m:nary>
                    <m:r>
                      <a:rPr lang="en-CA" b="0" i="1" smtClean="0">
                        <a:solidFill>
                          <a:schemeClr val="tx1"/>
                        </a:solidFill>
                        <a:latin typeface="Cambria Math" panose="02040503050406030204" pitchFamily="18" charset="0"/>
                        <a:ea typeface="Cambria Math" panose="02040503050406030204" pitchFamily="18" charset="0"/>
                      </a:rPr>
                      <m:t>≡</m:t>
                    </m:r>
                    <m:r>
                      <a:rPr lang="en-CA" b="0" i="1" smtClean="0">
                        <a:solidFill>
                          <a:schemeClr val="tx1"/>
                        </a:solidFill>
                        <a:latin typeface="Cambria Math" panose="02040503050406030204" pitchFamily="18" charset="0"/>
                        <a:ea typeface="Cambria Math" panose="02040503050406030204" pitchFamily="18" charset="0"/>
                      </a:rPr>
                      <m:t>𝑝𝐴</m:t>
                    </m:r>
                  </m:oMath>
                </a14:m>
                <a:endParaRPr lang="en-CA" dirty="0">
                  <a:solidFill>
                    <a:schemeClr val="tx1"/>
                  </a:solidFill>
                  <a:latin typeface="+mn-lt"/>
                  <a:ea typeface="Cambria Math" panose="02040503050406030204" pitchFamily="18" charset="0"/>
                </a:endParaRPr>
              </a:p>
              <a:p>
                <a:pPr marL="0" indent="0">
                  <a:lnSpc>
                    <a:spcPct val="100000"/>
                  </a:lnSpc>
                  <a:spcBef>
                    <a:spcPts val="1800"/>
                  </a:spcBef>
                  <a:spcAft>
                    <a:spcPts val="1200"/>
                  </a:spcAft>
                  <a:buNone/>
                </a:pPr>
                <a:r>
                  <a:rPr lang="en-CA" sz="2000" dirty="0">
                    <a:solidFill>
                      <a:schemeClr val="tx1"/>
                    </a:solidFill>
                    <a:latin typeface="+mn-lt"/>
                  </a:rPr>
                  <a:t>The negative sign ensures that pressure forces are always acting onto the control surface. </a:t>
                </a:r>
              </a:p>
              <a:p>
                <a:pPr marL="0" indent="0">
                  <a:buNone/>
                </a:pPr>
                <a:endParaRPr lang="en-CA" sz="2000" dirty="0">
                  <a:solidFill>
                    <a:schemeClr val="tx1"/>
                  </a:solidFill>
                  <a:latin typeface="+mn-lt"/>
                </a:endParaRPr>
              </a:p>
              <a:p>
                <a:pPr marL="0" indent="0">
                  <a:buNone/>
                </a:pPr>
                <a:endParaRPr lang="en-CA" dirty="0">
                  <a:solidFill>
                    <a:schemeClr val="tx1"/>
                  </a:solidFill>
                  <a:latin typeface="+mn-lt"/>
                </a:endParaRPr>
              </a:p>
              <a:p>
                <a:pPr marL="0" indent="0">
                  <a:lnSpc>
                    <a:spcPct val="100000"/>
                  </a:lnSpc>
                  <a:spcBef>
                    <a:spcPts val="2400"/>
                  </a:spcBef>
                  <a:buNone/>
                </a:pPr>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Use gauge pressure, </a:t>
                </a:r>
                <a14:m>
                  <m:oMath xmlns:m="http://schemas.openxmlformats.org/officeDocument/2006/math">
                    <m:sSub>
                      <m:sSubPr>
                        <m:ctrlPr>
                          <a:rPr lang="en-CA" i="1" smtClean="0">
                            <a:solidFill>
                              <a:schemeClr val="tx1"/>
                            </a:solidFill>
                            <a:latin typeface="Cambria Math" panose="02040503050406030204" pitchFamily="18" charset="0"/>
                          </a:rPr>
                        </m:ctrlPr>
                      </m:sSubPr>
                      <m:e>
                        <m:r>
                          <a:rPr lang="en-CA" b="0" i="1">
                            <a:solidFill>
                              <a:schemeClr val="tx1"/>
                            </a:solidFill>
                            <a:latin typeface="Cambria Math" panose="02040503050406030204" pitchFamily="18" charset="0"/>
                          </a:rPr>
                          <m:t>𝑃</m:t>
                        </m:r>
                      </m:e>
                      <m:sub>
                        <m:r>
                          <a:rPr lang="en-CA" b="0" i="1">
                            <a:solidFill>
                              <a:schemeClr val="tx1"/>
                            </a:solidFill>
                            <a:latin typeface="Cambria Math" panose="02040503050406030204" pitchFamily="18" charset="0"/>
                          </a:rPr>
                          <m:t>𝑔𝑎</m:t>
                        </m:r>
                        <m:r>
                          <a:rPr lang="en-GB" b="0" i="1" smtClean="0">
                            <a:solidFill>
                              <a:schemeClr val="tx1"/>
                            </a:solidFill>
                            <a:latin typeface="Cambria Math" panose="02040503050406030204" pitchFamily="18" charset="0"/>
                          </a:rPr>
                          <m:t>𝑢</m:t>
                        </m:r>
                        <m:r>
                          <a:rPr lang="en-CA" b="0" i="1">
                            <a:solidFill>
                              <a:schemeClr val="tx1"/>
                            </a:solidFill>
                            <a:latin typeface="Cambria Math" panose="02040503050406030204" pitchFamily="18" charset="0"/>
                          </a:rPr>
                          <m:t>𝑔𝑒</m:t>
                        </m:r>
                      </m:sub>
                    </m:sSub>
                  </m:oMath>
                </a14:m>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 in calculations for simplicity. </a:t>
                </a:r>
              </a:p>
              <a:p>
                <a:pPr marL="0" indent="0">
                  <a:lnSpc>
                    <a:spcPct val="100000"/>
                  </a:lnSpc>
                  <a:spcBef>
                    <a:spcPts val="2400"/>
                  </a:spcBef>
                  <a:buNone/>
                </a:pPr>
                <a:r>
                  <a:rPr lang="en-CA" u="sng" dirty="0">
                    <a:solidFill>
                      <a:schemeClr val="tx1"/>
                    </a:solidFill>
                    <a:latin typeface="+mn-lt"/>
                  </a:rPr>
                  <a:t>Viscous Force:</a:t>
                </a:r>
                <a:r>
                  <a:rPr lang="en-CA" dirty="0">
                    <a:solidFill>
                      <a:schemeClr val="tx1"/>
                    </a:solidFill>
                    <a:latin typeface="+mn-lt"/>
                  </a:rPr>
                  <a:t> Resistance/Frictional Force/Drag</a:t>
                </a:r>
              </a:p>
              <a:p>
                <a:pPr marL="0" indent="0">
                  <a:buNone/>
                </a:pPr>
                <a:r>
                  <a:rPr lang="en-CA" dirty="0">
                    <a:latin typeface="+mn-lt"/>
                  </a:rPr>
                  <a:t>Reaction Force: </a:t>
                </a:r>
              </a:p>
              <a:p>
                <a:endParaRPr lang="en-CA"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65575"/>
                <a:ext cx="9144000" cy="5207985"/>
              </a:xfrm>
              <a:blipFill>
                <a:blip r:embed="rId2"/>
                <a:stretch>
                  <a:fillRect l="-1000" t="-2225"/>
                </a:stretch>
              </a:blipFill>
            </p:spPr>
            <p:txBody>
              <a:bodyPr/>
              <a:lstStyle/>
              <a:p>
                <a:r>
                  <a:rPr lang="en-GH">
                    <a:noFill/>
                  </a:rPr>
                  <a:t> </a:t>
                </a:r>
              </a:p>
            </p:txBody>
          </p:sp>
        </mc:Fallback>
      </mc:AlternateContent>
      <p:grpSp>
        <p:nvGrpSpPr>
          <p:cNvPr id="25" name="Group 24"/>
          <p:cNvGrpSpPr/>
          <p:nvPr/>
        </p:nvGrpSpPr>
        <p:grpSpPr>
          <a:xfrm>
            <a:off x="1417007" y="2826677"/>
            <a:ext cx="4044802" cy="1293651"/>
            <a:chOff x="2018413" y="3487864"/>
            <a:chExt cx="4874142" cy="1575183"/>
          </a:xfrm>
        </p:grpSpPr>
        <p:grpSp>
          <p:nvGrpSpPr>
            <p:cNvPr id="18" name="Group 17"/>
            <p:cNvGrpSpPr/>
            <p:nvPr/>
          </p:nvGrpSpPr>
          <p:grpSpPr>
            <a:xfrm>
              <a:off x="2860158" y="3872585"/>
              <a:ext cx="446567" cy="566921"/>
              <a:chOff x="2860158" y="3872585"/>
              <a:chExt cx="446567" cy="566921"/>
            </a:xfrm>
          </p:grpSpPr>
          <p:cxnSp>
            <p:nvCxnSpPr>
              <p:cNvPr id="12" name="Straight Arrow Connector 11"/>
              <p:cNvCxnSpPr/>
              <p:nvPr/>
            </p:nvCxnSpPr>
            <p:spPr>
              <a:xfrm>
                <a:off x="2860158" y="3872585"/>
                <a:ext cx="4465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860158" y="4042706"/>
                <a:ext cx="4465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860158" y="4244724"/>
                <a:ext cx="4465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860158" y="4439506"/>
                <a:ext cx="4465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2860158" y="3872585"/>
                <a:ext cx="0" cy="5669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2018413" y="3487864"/>
              <a:ext cx="4874142" cy="1575183"/>
              <a:chOff x="2018413" y="3487864"/>
              <a:chExt cx="4874142" cy="1575183"/>
            </a:xfrm>
          </p:grpSpPr>
          <p:grpSp>
            <p:nvGrpSpPr>
              <p:cNvPr id="6" name="Group 5"/>
              <p:cNvGrpSpPr/>
              <p:nvPr/>
            </p:nvGrpSpPr>
            <p:grpSpPr>
              <a:xfrm>
                <a:off x="3200400" y="3487864"/>
                <a:ext cx="3692155" cy="1575183"/>
                <a:chOff x="3200400" y="3487864"/>
                <a:chExt cx="3692155" cy="1575183"/>
              </a:xfrm>
            </p:grpSpPr>
            <p:grpSp>
              <p:nvGrpSpPr>
                <p:cNvPr id="31" name="Group 30"/>
                <p:cNvGrpSpPr/>
                <p:nvPr/>
              </p:nvGrpSpPr>
              <p:grpSpPr>
                <a:xfrm>
                  <a:off x="3200400" y="3487864"/>
                  <a:ext cx="2817628" cy="1575183"/>
                  <a:chOff x="3200400" y="3487864"/>
                  <a:chExt cx="2817628" cy="1575183"/>
                </a:xfrm>
              </p:grpSpPr>
              <p:sp>
                <p:nvSpPr>
                  <p:cNvPr id="4" name="Rectangle 3"/>
                  <p:cNvSpPr/>
                  <p:nvPr/>
                </p:nvSpPr>
                <p:spPr>
                  <a:xfrm>
                    <a:off x="3393558" y="3863015"/>
                    <a:ext cx="2126511" cy="58479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p:cNvSpPr/>
                  <p:nvPr/>
                </p:nvSpPr>
                <p:spPr>
                  <a:xfrm>
                    <a:off x="3306725" y="3781347"/>
                    <a:ext cx="2296633" cy="748126"/>
                  </a:xfrm>
                  <a:prstGeom prst="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7" name="Straight Arrow Connector 6"/>
                  <p:cNvCxnSpPr/>
                  <p:nvPr/>
                </p:nvCxnSpPr>
                <p:spPr>
                  <a:xfrm>
                    <a:off x="4114800" y="4146701"/>
                    <a:ext cx="76554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200400" y="4678326"/>
                    <a:ext cx="829340" cy="384721"/>
                  </a:xfrm>
                  <a:prstGeom prst="rect">
                    <a:avLst/>
                  </a:prstGeom>
                  <a:noFill/>
                </p:spPr>
                <p:txBody>
                  <a:bodyPr wrap="square" rtlCol="0">
                    <a:spAutoFit/>
                  </a:bodyPr>
                  <a:lstStyle/>
                  <a:p>
                    <a:r>
                      <a:rPr lang="en-CA" sz="1400" dirty="0">
                        <a:latin typeface="Myriad Web Pro"/>
                      </a:rPr>
                      <a:t>inlet</a:t>
                    </a:r>
                  </a:p>
                </p:txBody>
              </p:sp>
              <p:sp>
                <p:nvSpPr>
                  <p:cNvPr id="9" name="TextBox 8"/>
                  <p:cNvSpPr txBox="1"/>
                  <p:nvPr/>
                </p:nvSpPr>
                <p:spPr>
                  <a:xfrm>
                    <a:off x="5188688" y="4678326"/>
                    <a:ext cx="829340" cy="374757"/>
                  </a:xfrm>
                  <a:prstGeom prst="rect">
                    <a:avLst/>
                  </a:prstGeom>
                  <a:noFill/>
                </p:spPr>
                <p:txBody>
                  <a:bodyPr wrap="square" rtlCol="0">
                    <a:spAutoFit/>
                  </a:bodyPr>
                  <a:lstStyle/>
                  <a:p>
                    <a:r>
                      <a:rPr lang="en-CA" sz="1400" dirty="0">
                        <a:latin typeface="Myriad Web Pro"/>
                      </a:rPr>
                      <a:t>outlet</a:t>
                    </a:r>
                  </a:p>
                </p:txBody>
              </p:sp>
              <p:sp>
                <p:nvSpPr>
                  <p:cNvPr id="10" name="TextBox 9"/>
                  <p:cNvSpPr txBox="1"/>
                  <p:nvPr/>
                </p:nvSpPr>
                <p:spPr>
                  <a:xfrm>
                    <a:off x="4732374" y="3487864"/>
                    <a:ext cx="829340" cy="384721"/>
                  </a:xfrm>
                  <a:prstGeom prst="rect">
                    <a:avLst/>
                  </a:prstGeom>
                  <a:noFill/>
                </p:spPr>
                <p:txBody>
                  <a:bodyPr wrap="square" rtlCol="0">
                    <a:spAutoFit/>
                  </a:bodyPr>
                  <a:lstStyle/>
                  <a:p>
                    <a:r>
                      <a:rPr lang="en-CA" sz="1400" dirty="0">
                        <a:latin typeface="Myriad Web Pro"/>
                      </a:rPr>
                      <a:t>CV</a:t>
                    </a:r>
                  </a:p>
                </p:txBody>
              </p:sp>
            </p:grpSp>
            <p:grpSp>
              <p:nvGrpSpPr>
                <p:cNvPr id="30" name="Group 29"/>
                <p:cNvGrpSpPr/>
                <p:nvPr/>
              </p:nvGrpSpPr>
              <p:grpSpPr>
                <a:xfrm>
                  <a:off x="5616648" y="3872585"/>
                  <a:ext cx="1275907" cy="566921"/>
                  <a:chOff x="5616648" y="3872585"/>
                  <a:chExt cx="1275907" cy="566921"/>
                </a:xfrm>
              </p:grpSpPr>
              <p:grpSp>
                <p:nvGrpSpPr>
                  <p:cNvPr id="19" name="Group 18"/>
                  <p:cNvGrpSpPr/>
                  <p:nvPr/>
                </p:nvGrpSpPr>
                <p:grpSpPr>
                  <a:xfrm flipH="1">
                    <a:off x="5616648" y="3872585"/>
                    <a:ext cx="446567" cy="566921"/>
                    <a:chOff x="2860158" y="3872585"/>
                    <a:chExt cx="446567" cy="566921"/>
                  </a:xfrm>
                </p:grpSpPr>
                <p:cxnSp>
                  <p:nvCxnSpPr>
                    <p:cNvPr id="20" name="Straight Arrow Connector 19"/>
                    <p:cNvCxnSpPr/>
                    <p:nvPr/>
                  </p:nvCxnSpPr>
                  <p:spPr>
                    <a:xfrm>
                      <a:off x="2860158" y="3872585"/>
                      <a:ext cx="4465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2860158" y="4042706"/>
                      <a:ext cx="4465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860158" y="4244724"/>
                      <a:ext cx="4465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860158" y="4439506"/>
                      <a:ext cx="4465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2860158" y="3872585"/>
                      <a:ext cx="0" cy="5669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7" name="TextBox 26"/>
                      <p:cNvSpPr txBox="1"/>
                      <p:nvPr/>
                    </p:nvSpPr>
                    <p:spPr>
                      <a:xfrm>
                        <a:off x="6134036" y="3954340"/>
                        <a:ext cx="758519" cy="3847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400" b="1" i="1" dirty="0" smtClean="0">
                                  <a:solidFill>
                                    <a:schemeClr val="tx1"/>
                                  </a:solidFill>
                                  <a:latin typeface="Cambria Math" panose="02040503050406030204" pitchFamily="18" charset="0"/>
                                </a:rPr>
                                <m:t>−</m:t>
                              </m:r>
                              <m:sSub>
                                <m:sSubPr>
                                  <m:ctrlPr>
                                    <a:rPr lang="en-CA" sz="1400" b="1" i="1" dirty="0" smtClean="0">
                                      <a:solidFill>
                                        <a:schemeClr val="tx1"/>
                                      </a:solidFill>
                                      <a:latin typeface="Cambria Math" panose="02040503050406030204" pitchFamily="18" charset="0"/>
                                    </a:rPr>
                                  </m:ctrlPr>
                                </m:sSubPr>
                                <m:e>
                                  <m:d>
                                    <m:dPr>
                                      <m:begChr m:val=""/>
                                      <m:ctrlPr>
                                        <a:rPr lang="en-CA" sz="1400" b="1" i="1" dirty="0" smtClean="0">
                                          <a:solidFill>
                                            <a:schemeClr val="tx1"/>
                                          </a:solidFill>
                                          <a:latin typeface="Cambria Math" panose="02040503050406030204" pitchFamily="18" charset="0"/>
                                        </a:rPr>
                                      </m:ctrlPr>
                                    </m:dPr>
                                    <m:e>
                                      <m:r>
                                        <a:rPr lang="en-CA" sz="1400" b="1" i="1" dirty="0">
                                          <a:solidFill>
                                            <a:schemeClr val="tx1"/>
                                          </a:solidFill>
                                          <a:latin typeface="Cambria Math" panose="02040503050406030204" pitchFamily="18" charset="0"/>
                                        </a:rPr>
                                        <m:t>𝒑𝑨</m:t>
                                      </m:r>
                                    </m:e>
                                  </m:d>
                                </m:e>
                                <m:sub>
                                  <m:r>
                                    <a:rPr lang="en-CA" sz="1400" b="1" i="1" dirty="0" smtClean="0">
                                      <a:solidFill>
                                        <a:schemeClr val="tx1"/>
                                      </a:solidFill>
                                      <a:latin typeface="Cambria Math" panose="02040503050406030204" pitchFamily="18" charset="0"/>
                                    </a:rPr>
                                    <m:t>𝒐</m:t>
                                  </m:r>
                                </m:sub>
                              </m:sSub>
                            </m:oMath>
                          </m:oMathPara>
                        </a14:m>
                        <a:endParaRPr lang="en-CA" sz="1400" b="1" dirty="0">
                          <a:latin typeface="Myriad Web Pro"/>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6134036" y="3954340"/>
                        <a:ext cx="758519" cy="384721"/>
                      </a:xfrm>
                      <a:prstGeom prst="rect">
                        <a:avLst/>
                      </a:prstGeom>
                      <a:blipFill>
                        <a:blip r:embed="rId3"/>
                        <a:stretch>
                          <a:fillRect t="-101961" r="-61165" b="-156863"/>
                        </a:stretch>
                      </a:blipFill>
                    </p:spPr>
                    <p:txBody>
                      <a:bodyPr/>
                      <a:lstStyle/>
                      <a:p>
                        <a:r>
                          <a:rPr lang="en-GH">
                            <a:noFill/>
                          </a:rPr>
                          <a:t> </a:t>
                        </a:r>
                      </a:p>
                    </p:txBody>
                  </p:sp>
                </mc:Fallback>
              </mc:AlternateContent>
            </p:grpSp>
          </p:grpSp>
          <mc:AlternateContent xmlns:mc="http://schemas.openxmlformats.org/markup-compatibility/2006" xmlns:a14="http://schemas.microsoft.com/office/drawing/2010/main">
            <mc:Choice Requires="a14">
              <p:sp>
                <p:nvSpPr>
                  <p:cNvPr id="28" name="TextBox 27"/>
                  <p:cNvSpPr txBox="1"/>
                  <p:nvPr/>
                </p:nvSpPr>
                <p:spPr>
                  <a:xfrm>
                    <a:off x="2018413" y="3942582"/>
                    <a:ext cx="758455" cy="3847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1400" b="1" i="1" dirty="0" smtClean="0">
                                  <a:solidFill>
                                    <a:schemeClr val="tx1"/>
                                  </a:solidFill>
                                  <a:latin typeface="Cambria Math" panose="02040503050406030204" pitchFamily="18" charset="0"/>
                                </a:rPr>
                              </m:ctrlPr>
                            </m:sSubPr>
                            <m:e>
                              <m:d>
                                <m:dPr>
                                  <m:begChr m:val=""/>
                                  <m:ctrlPr>
                                    <a:rPr lang="en-CA" sz="1400" b="1" i="1" dirty="0" smtClean="0">
                                      <a:solidFill>
                                        <a:schemeClr val="tx1"/>
                                      </a:solidFill>
                                      <a:latin typeface="Cambria Math" panose="02040503050406030204" pitchFamily="18" charset="0"/>
                                    </a:rPr>
                                  </m:ctrlPr>
                                </m:dPr>
                                <m:e>
                                  <m:r>
                                    <a:rPr lang="en-CA" sz="1400" b="1" i="1" dirty="0">
                                      <a:solidFill>
                                        <a:schemeClr val="tx1"/>
                                      </a:solidFill>
                                      <a:latin typeface="Cambria Math" panose="02040503050406030204" pitchFamily="18" charset="0"/>
                                    </a:rPr>
                                    <m:t>𝒑𝑨</m:t>
                                  </m:r>
                                </m:e>
                              </m:d>
                            </m:e>
                            <m:sub>
                              <m:r>
                                <a:rPr lang="en-CA" sz="1400" b="1" i="1" dirty="0" smtClean="0">
                                  <a:solidFill>
                                    <a:schemeClr val="tx1"/>
                                  </a:solidFill>
                                  <a:latin typeface="Cambria Math" panose="02040503050406030204" pitchFamily="18" charset="0"/>
                                </a:rPr>
                                <m:t>𝒊</m:t>
                              </m:r>
                            </m:sub>
                          </m:sSub>
                        </m:oMath>
                      </m:oMathPara>
                    </a14:m>
                    <a:endParaRPr lang="en-CA" sz="1400" b="1" dirty="0">
                      <a:latin typeface="Myriad Web Pro"/>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2018413" y="3942582"/>
                    <a:ext cx="758455" cy="384721"/>
                  </a:xfrm>
                  <a:prstGeom prst="rect">
                    <a:avLst/>
                  </a:prstGeom>
                  <a:blipFill>
                    <a:blip r:embed="rId4"/>
                    <a:stretch>
                      <a:fillRect t="-100000" r="-46154" b="-151923"/>
                    </a:stretch>
                  </a:blipFill>
                </p:spPr>
                <p:txBody>
                  <a:bodyPr/>
                  <a:lstStyle/>
                  <a:p>
                    <a:r>
                      <a:rPr lang="en-GH">
                        <a:noFill/>
                      </a:rPr>
                      <a:t> </a:t>
                    </a:r>
                  </a:p>
                </p:txBody>
              </p:sp>
            </mc:Fallback>
          </mc:AlternateContent>
        </p:grpSp>
      </p:grpSp>
      <p:sp>
        <p:nvSpPr>
          <p:cNvPr id="11" name="Slide Number Placeholder 10">
            <a:extLst>
              <a:ext uri="{FF2B5EF4-FFF2-40B4-BE49-F238E27FC236}">
                <a16:creationId xmlns:a16="http://schemas.microsoft.com/office/drawing/2014/main" id="{2F85C604-F0B7-47A8-A8C4-95AA2C751984}"/>
              </a:ext>
            </a:extLst>
          </p:cNvPr>
          <p:cNvSpPr>
            <a:spLocks noGrp="1"/>
          </p:cNvSpPr>
          <p:nvPr>
            <p:ph type="sldNum" sz="quarter" idx="12"/>
          </p:nvPr>
        </p:nvSpPr>
        <p:spPr/>
        <p:txBody>
          <a:bodyPr/>
          <a:lstStyle/>
          <a:p>
            <a:fld id="{49FCB85E-0F77-4855-90A7-7A1B61BB679B}" type="slidenum">
              <a:rPr lang="en-CA" smtClean="0"/>
              <a:t>35</a:t>
            </a:fld>
            <a:endParaRPr lang="en-CA"/>
          </a:p>
        </p:txBody>
      </p:sp>
    </p:spTree>
    <p:extLst>
      <p:ext uri="{BB962C8B-B14F-4D97-AF65-F5344CB8AC3E}">
        <p14:creationId xmlns:p14="http://schemas.microsoft.com/office/powerpoint/2010/main" val="28567585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434" y="36010"/>
            <a:ext cx="9144000" cy="467038"/>
          </a:xfrm>
        </p:spPr>
        <p:txBody>
          <a:bodyPr>
            <a:normAutofit/>
          </a:bodyPr>
          <a:lstStyle/>
          <a:p>
            <a:r>
              <a:rPr lang="en-CA" sz="2400" dirty="0">
                <a:solidFill>
                  <a:schemeClr val="tx1"/>
                </a:solidFill>
                <a:latin typeface="+mn-lt"/>
                <a:ea typeface="Verdana" panose="020B0604030504040204" pitchFamily="34" charset="0"/>
                <a:cs typeface="Verdana" panose="020B0604030504040204" pitchFamily="34" charset="0"/>
              </a:rPr>
              <a:t>Example problems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1739" y="517568"/>
                <a:ext cx="7886700" cy="4931901"/>
              </a:xfrm>
            </p:spPr>
            <p:txBody>
              <a:bodyPr>
                <a:normAutofit/>
              </a:bodyPr>
              <a:lstStyle/>
              <a:p>
                <a:pPr marL="0" indent="0" algn="just">
                  <a:buNone/>
                </a:pPr>
                <a:r>
                  <a:rPr lang="en-US" sz="2000" dirty="0">
                    <a:latin typeface="+mn-lt"/>
                  </a:rPr>
                  <a:t>Consider the Y-section shown below. The mass of the section is M kg, and its internal volume is V m</a:t>
                </a:r>
                <a:r>
                  <a:rPr lang="en-US" sz="2000" baseline="30000" dirty="0">
                    <a:latin typeface="+mn-lt"/>
                  </a:rPr>
                  <a:t>3</a:t>
                </a:r>
                <a:r>
                  <a:rPr lang="en-US" sz="2000" dirty="0">
                    <a:latin typeface="+mn-lt"/>
                  </a:rPr>
                  <a:t>. Assume the flow is incompressible, steady and uniform. If the fluid density is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𝜌</m:t>
                    </m:r>
                  </m:oMath>
                </a14:m>
                <a:r>
                  <a:rPr lang="en-US" sz="2000" dirty="0">
                    <a:latin typeface="+mn-lt"/>
                  </a:rPr>
                  <a:t>,</a:t>
                </a:r>
                <a:endParaRPr lang="en-CA" sz="2000" dirty="0">
                  <a:latin typeface="+mn-lt"/>
                </a:endParaRPr>
              </a:p>
              <a:p>
                <a:pPr marL="514350" lvl="0" indent="-514350" algn="just">
                  <a:buFont typeface="+mj-lt"/>
                  <a:buAutoNum type="romanLcPeriod"/>
                </a:pPr>
                <a:r>
                  <a:rPr lang="en-US" sz="2000" dirty="0">
                    <a:latin typeface="+mn-lt"/>
                  </a:rPr>
                  <a:t>Determine the components of velocity (</a:t>
                </a:r>
                <a:r>
                  <a:rPr lang="en-US" sz="2000" i="1" dirty="0">
                    <a:latin typeface="+mn-lt"/>
                  </a:rPr>
                  <a:t>u</a:t>
                </a:r>
                <a:r>
                  <a:rPr lang="en-US" sz="2000" dirty="0">
                    <a:latin typeface="+mn-lt"/>
                  </a:rPr>
                  <a:t> and </a:t>
                </a:r>
                <a:r>
                  <a:rPr lang="en-US" sz="2000" i="1" dirty="0">
                    <a:latin typeface="+mn-lt"/>
                  </a:rPr>
                  <a:t>v</a:t>
                </a:r>
                <a:r>
                  <a:rPr lang="en-US" sz="2000" dirty="0">
                    <a:latin typeface="+mn-lt"/>
                  </a:rPr>
                  <a:t>) at each section</a:t>
                </a:r>
                <a:endParaRPr lang="en-CA" sz="2000" dirty="0">
                  <a:latin typeface="+mn-lt"/>
                </a:endParaRPr>
              </a:p>
              <a:p>
                <a:pPr marL="514350" lvl="0" indent="-514350" algn="just">
                  <a:buFont typeface="+mj-lt"/>
                  <a:buAutoNum type="romanLcPeriod"/>
                </a:pPr>
                <a:r>
                  <a:rPr lang="en-US" sz="2000" dirty="0">
                    <a:latin typeface="+mn-lt"/>
                  </a:rPr>
                  <a:t>Determine the mass flux, </a:t>
                </a:r>
                <a14:m>
                  <m:oMath xmlns:m="http://schemas.openxmlformats.org/officeDocument/2006/math">
                    <m:r>
                      <a:rPr lang="en-CA" sz="2000" b="1" i="1">
                        <a:solidFill>
                          <a:schemeClr val="tx1"/>
                        </a:solidFill>
                        <a:latin typeface="Cambria Math" panose="02040503050406030204" pitchFamily="18" charset="0"/>
                        <a:ea typeface="Cambria Math" panose="02040503050406030204" pitchFamily="18" charset="0"/>
                      </a:rPr>
                      <m:t>𝝆</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𝑽</m:t>
                        </m:r>
                      </m:e>
                    </m:acc>
                    <m:r>
                      <a:rPr lang="en-CA" sz="2000" b="1" i="1">
                        <a:solidFill>
                          <a:schemeClr val="tx1"/>
                        </a:solidFill>
                        <a:latin typeface="Cambria Math" panose="02040503050406030204" pitchFamily="18" charset="0"/>
                        <a:ea typeface="Cambria Math" panose="02040503050406030204" pitchFamily="18" charset="0"/>
                      </a:rPr>
                      <m:t>∙</m:t>
                    </m:r>
                    <m:acc>
                      <m:accPr>
                        <m:chr m:val="⃗"/>
                        <m:ctrlPr>
                          <a:rPr lang="en-CA" sz="2000" b="1" i="1">
                            <a:solidFill>
                              <a:schemeClr val="tx1"/>
                            </a:solidFill>
                            <a:latin typeface="Cambria Math" panose="02040503050406030204" pitchFamily="18" charset="0"/>
                            <a:ea typeface="Cambria Math" panose="02040503050406030204" pitchFamily="18" charset="0"/>
                          </a:rPr>
                        </m:ctrlPr>
                      </m:accPr>
                      <m:e>
                        <m:r>
                          <a:rPr lang="en-CA" sz="2000" b="1" i="1">
                            <a:solidFill>
                              <a:schemeClr val="tx1"/>
                            </a:solidFill>
                            <a:latin typeface="Cambria Math" panose="02040503050406030204" pitchFamily="18" charset="0"/>
                            <a:ea typeface="Cambria Math" panose="02040503050406030204" pitchFamily="18" charset="0"/>
                          </a:rPr>
                          <m:t>𝑨</m:t>
                        </m:r>
                      </m:e>
                    </m:acc>
                    <m:r>
                      <a:rPr lang="en-GB" sz="2000" b="1" i="1" smtClean="0">
                        <a:solidFill>
                          <a:schemeClr val="tx1"/>
                        </a:solidFill>
                        <a:latin typeface="Cambria Math" panose="02040503050406030204" pitchFamily="18" charset="0"/>
                        <a:ea typeface="Cambria Math" panose="02040503050406030204" pitchFamily="18" charset="0"/>
                      </a:rPr>
                      <m:t> </m:t>
                    </m:r>
                    <m:r>
                      <m:rPr>
                        <m:sty m:val="p"/>
                      </m:rPr>
                      <a:rPr lang="en-GB" sz="2000" b="0" i="0" smtClean="0">
                        <a:solidFill>
                          <a:schemeClr val="tx1"/>
                        </a:solidFill>
                        <a:latin typeface="Cambria Math" panose="02040503050406030204" pitchFamily="18" charset="0"/>
                        <a:ea typeface="Cambria Math" panose="02040503050406030204" pitchFamily="18" charset="0"/>
                      </a:rPr>
                      <m:t>at</m:t>
                    </m:r>
                    <m:r>
                      <a:rPr lang="en-GB" sz="2000" b="0" i="0" smtClean="0">
                        <a:solidFill>
                          <a:schemeClr val="tx1"/>
                        </a:solidFill>
                        <a:latin typeface="Cambria Math" panose="02040503050406030204" pitchFamily="18" charset="0"/>
                        <a:ea typeface="Cambria Math" panose="02040503050406030204" pitchFamily="18" charset="0"/>
                      </a:rPr>
                      <m:t> </m:t>
                    </m:r>
                    <m:r>
                      <m:rPr>
                        <m:sty m:val="p"/>
                      </m:rPr>
                      <a:rPr lang="en-GB" sz="2000" b="0" i="0" smtClean="0">
                        <a:solidFill>
                          <a:schemeClr val="tx1"/>
                        </a:solidFill>
                        <a:latin typeface="Cambria Math" panose="02040503050406030204" pitchFamily="18" charset="0"/>
                        <a:ea typeface="Cambria Math" panose="02040503050406030204" pitchFamily="18" charset="0"/>
                      </a:rPr>
                      <m:t>each</m:t>
                    </m:r>
                    <m:r>
                      <a:rPr lang="en-GB" sz="2000" b="0" i="0" smtClean="0">
                        <a:solidFill>
                          <a:schemeClr val="tx1"/>
                        </a:solidFill>
                        <a:latin typeface="Cambria Math" panose="02040503050406030204" pitchFamily="18" charset="0"/>
                        <a:ea typeface="Cambria Math" panose="02040503050406030204" pitchFamily="18" charset="0"/>
                      </a:rPr>
                      <m:t> </m:t>
                    </m:r>
                    <m:r>
                      <m:rPr>
                        <m:sty m:val="p"/>
                      </m:rPr>
                      <a:rPr lang="en-GB" sz="2000" b="0" i="0" smtClean="0">
                        <a:solidFill>
                          <a:schemeClr val="tx1"/>
                        </a:solidFill>
                        <a:latin typeface="Cambria Math" panose="02040503050406030204" pitchFamily="18" charset="0"/>
                        <a:ea typeface="Cambria Math" panose="02040503050406030204" pitchFamily="18" charset="0"/>
                      </a:rPr>
                      <m:t>section</m:t>
                    </m:r>
                  </m:oMath>
                </a14:m>
                <a:endParaRPr lang="en-CA" sz="2000" dirty="0">
                  <a:latin typeface="Calibri" panose="020F0502020204030204" pitchFamily="34" charset="0"/>
                  <a:ea typeface="Calibri" panose="020F0502020204030204" pitchFamily="34" charset="0"/>
                  <a:cs typeface="Calibri" panose="020F0502020204030204" pitchFamily="34" charset="0"/>
                </a:endParaRPr>
              </a:p>
              <a:p>
                <a:pPr marL="514350" indent="-514350" algn="just">
                  <a:buFont typeface="+mj-lt"/>
                  <a:buAutoNum type="romanLcPeriod"/>
                </a:pPr>
                <a:r>
                  <a:rPr lang="en-US" sz="2000" dirty="0">
                    <a:latin typeface="+mn-lt"/>
                  </a:rPr>
                  <a:t>Determine the surface (pressure) and body forces</a:t>
                </a:r>
                <a:endParaRPr lang="en-CA" sz="2000"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1739" y="517568"/>
                <a:ext cx="7886700" cy="4931901"/>
              </a:xfrm>
              <a:blipFill>
                <a:blip r:embed="rId2"/>
                <a:stretch>
                  <a:fillRect l="-851" t="-1360" r="-851"/>
                </a:stretch>
              </a:blipFill>
            </p:spPr>
            <p:txBody>
              <a:bodyPr/>
              <a:lstStyle/>
              <a:p>
                <a:r>
                  <a:rPr lang="en-GH">
                    <a:noFill/>
                  </a:rPr>
                  <a:t> </a:t>
                </a:r>
              </a:p>
            </p:txBody>
          </p:sp>
        </mc:Fallback>
      </mc:AlternateContent>
      <p:grpSp>
        <p:nvGrpSpPr>
          <p:cNvPr id="34" name="Group 33"/>
          <p:cNvGrpSpPr/>
          <p:nvPr/>
        </p:nvGrpSpPr>
        <p:grpSpPr>
          <a:xfrm>
            <a:off x="630087" y="2745454"/>
            <a:ext cx="7030342" cy="3178754"/>
            <a:chOff x="883494" y="1444157"/>
            <a:chExt cx="7785816" cy="3178754"/>
          </a:xfrm>
        </p:grpSpPr>
        <mc:AlternateContent xmlns:mc="http://schemas.openxmlformats.org/markup-compatibility/2006" xmlns:a14="http://schemas.microsoft.com/office/drawing/2010/main">
          <mc:Choice Requires="a14">
            <p:sp>
              <p:nvSpPr>
                <p:cNvPr id="35" name="TextBox 34"/>
                <p:cNvSpPr txBox="1"/>
                <p:nvPr/>
              </p:nvSpPr>
              <p:spPr>
                <a:xfrm>
                  <a:off x="7488818" y="1643586"/>
                  <a:ext cx="435952" cy="1107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b="1" i="1" smtClean="0">
                                <a:latin typeface="Cambria Math" panose="02040503050406030204" pitchFamily="18" charset="0"/>
                              </a:rPr>
                            </m:ctrlPr>
                          </m:sSubPr>
                          <m:e>
                            <m:r>
                              <a:rPr lang="en-CA" b="1" i="1" smtClean="0">
                                <a:latin typeface="Cambria Math" panose="02040503050406030204" pitchFamily="18" charset="0"/>
                              </a:rPr>
                              <m:t>𝑽</m:t>
                            </m:r>
                          </m:e>
                          <m:sub>
                            <m:r>
                              <a:rPr lang="en-CA" b="1" i="1" smtClean="0">
                                <a:latin typeface="Cambria Math" panose="02040503050406030204" pitchFamily="18" charset="0"/>
                              </a:rPr>
                              <m:t>𝟐</m:t>
                            </m:r>
                          </m:sub>
                        </m:sSub>
                      </m:oMath>
                    </m:oMathPara>
                  </a14:m>
                  <a:endParaRPr lang="en-CA" b="1" dirty="0"/>
                </a:p>
                <a:p>
                  <a:pPr/>
                  <a14:m>
                    <m:oMathPara xmlns:m="http://schemas.openxmlformats.org/officeDocument/2006/math">
                      <m:oMathParaPr>
                        <m:jc m:val="centerGroup"/>
                      </m:oMathParaPr>
                      <m:oMath xmlns:m="http://schemas.openxmlformats.org/officeDocument/2006/math">
                        <m:sSub>
                          <m:sSubPr>
                            <m:ctrlPr>
                              <a:rPr lang="en-CA" b="1" i="1">
                                <a:latin typeface="Cambria Math" panose="02040503050406030204" pitchFamily="18" charset="0"/>
                              </a:rPr>
                            </m:ctrlPr>
                          </m:sSubPr>
                          <m:e>
                            <m:r>
                              <a:rPr lang="en-CA" b="1" i="1" smtClean="0">
                                <a:latin typeface="Cambria Math" panose="02040503050406030204" pitchFamily="18" charset="0"/>
                              </a:rPr>
                              <m:t>𝑨</m:t>
                            </m:r>
                          </m:e>
                          <m:sub>
                            <m:r>
                              <a:rPr lang="en-CA" b="1" i="1" smtClean="0">
                                <a:latin typeface="Cambria Math" panose="02040503050406030204" pitchFamily="18" charset="0"/>
                              </a:rPr>
                              <m:t>𝟐</m:t>
                            </m:r>
                          </m:sub>
                        </m:sSub>
                      </m:oMath>
                    </m:oMathPara>
                  </a14:m>
                  <a:endParaRPr lang="en-CA" b="1" dirty="0"/>
                </a:p>
                <a:p>
                  <a:pPr/>
                  <a14:m>
                    <m:oMathPara xmlns:m="http://schemas.openxmlformats.org/officeDocument/2006/math">
                      <m:oMathParaPr>
                        <m:jc m:val="centerGroup"/>
                      </m:oMathParaPr>
                      <m:oMath xmlns:m="http://schemas.openxmlformats.org/officeDocument/2006/math">
                        <m:sSub>
                          <m:sSubPr>
                            <m:ctrlPr>
                              <a:rPr lang="en-CA" b="1" i="1" smtClean="0">
                                <a:latin typeface="Cambria Math" panose="02040503050406030204" pitchFamily="18" charset="0"/>
                              </a:rPr>
                            </m:ctrlPr>
                          </m:sSubPr>
                          <m:e>
                            <m:r>
                              <a:rPr lang="en-CA" b="1" i="1" smtClean="0">
                                <a:latin typeface="Cambria Math" panose="02040503050406030204" pitchFamily="18" charset="0"/>
                              </a:rPr>
                              <m:t>𝑷</m:t>
                            </m:r>
                          </m:e>
                          <m:sub>
                            <m:r>
                              <a:rPr lang="en-CA" b="1" i="1" smtClean="0">
                                <a:latin typeface="Cambria Math" panose="02040503050406030204" pitchFamily="18" charset="0"/>
                              </a:rPr>
                              <m:t>𝟐</m:t>
                            </m:r>
                          </m:sub>
                        </m:sSub>
                      </m:oMath>
                    </m:oMathPara>
                  </a14:m>
                  <a:endParaRPr lang="en-CA" b="1" dirty="0"/>
                </a:p>
              </p:txBody>
            </p:sp>
          </mc:Choice>
          <mc:Fallback xmlns="">
            <p:sp>
              <p:nvSpPr>
                <p:cNvPr id="35" name="TextBox 34"/>
                <p:cNvSpPr txBox="1">
                  <a:spLocks noRot="1" noChangeAspect="1" noMove="1" noResize="1" noEditPoints="1" noAdjustHandles="1" noChangeArrowheads="1" noChangeShapeType="1" noTextEdit="1"/>
                </p:cNvSpPr>
                <p:nvPr/>
              </p:nvSpPr>
              <p:spPr>
                <a:xfrm>
                  <a:off x="7488818" y="1643586"/>
                  <a:ext cx="435952" cy="1107996"/>
                </a:xfrm>
                <a:prstGeom prst="rect">
                  <a:avLst/>
                </a:prstGeom>
                <a:blipFill>
                  <a:blip r:embed="rId3"/>
                  <a:stretch>
                    <a:fillRect l="-23438" r="-12500" b="-4945"/>
                  </a:stretch>
                </a:blipFill>
              </p:spPr>
              <p:txBody>
                <a:bodyPr/>
                <a:lstStyle/>
                <a:p>
                  <a:r>
                    <a:rPr lang="en-CA">
                      <a:noFill/>
                    </a:rPr>
                    <a:t> </a:t>
                  </a:r>
                </a:p>
              </p:txBody>
            </p:sp>
          </mc:Fallback>
        </mc:AlternateContent>
        <p:grpSp>
          <p:nvGrpSpPr>
            <p:cNvPr id="36" name="Group 35"/>
            <p:cNvGrpSpPr/>
            <p:nvPr/>
          </p:nvGrpSpPr>
          <p:grpSpPr>
            <a:xfrm>
              <a:off x="883494" y="1444157"/>
              <a:ext cx="7785816" cy="3178754"/>
              <a:chOff x="883494" y="1444157"/>
              <a:chExt cx="7785816" cy="3178754"/>
            </a:xfrm>
          </p:grpSpPr>
          <p:grpSp>
            <p:nvGrpSpPr>
              <p:cNvPr id="37" name="Group 36"/>
              <p:cNvGrpSpPr/>
              <p:nvPr/>
            </p:nvGrpSpPr>
            <p:grpSpPr>
              <a:xfrm>
                <a:off x="883494" y="1444157"/>
                <a:ext cx="7130463" cy="3074912"/>
                <a:chOff x="883494" y="1444157"/>
                <a:chExt cx="7130463" cy="3074912"/>
              </a:xfrm>
            </p:grpSpPr>
            <p:grpSp>
              <p:nvGrpSpPr>
                <p:cNvPr id="39" name="Group 38"/>
                <p:cNvGrpSpPr>
                  <a:grpSpLocks/>
                </p:cNvGrpSpPr>
                <p:nvPr/>
              </p:nvGrpSpPr>
              <p:grpSpPr bwMode="auto">
                <a:xfrm>
                  <a:off x="914119" y="1444157"/>
                  <a:ext cx="7099838" cy="3074912"/>
                  <a:chOff x="1950" y="2280"/>
                  <a:chExt cx="12135" cy="6660"/>
                </a:xfrm>
              </p:grpSpPr>
              <p:cxnSp>
                <p:nvCxnSpPr>
                  <p:cNvPr id="41" name="AutoShape 55"/>
                  <p:cNvCxnSpPr>
                    <a:cxnSpLocks noChangeShapeType="1"/>
                  </p:cNvCxnSpPr>
                  <p:nvPr/>
                </p:nvCxnSpPr>
                <p:spPr bwMode="auto">
                  <a:xfrm>
                    <a:off x="1950" y="5655"/>
                    <a:ext cx="1380"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2" name="AutoShape 56"/>
                  <p:cNvCxnSpPr>
                    <a:cxnSpLocks noChangeShapeType="1"/>
                  </p:cNvCxnSpPr>
                  <p:nvPr/>
                </p:nvCxnSpPr>
                <p:spPr bwMode="auto">
                  <a:xfrm flipV="1">
                    <a:off x="11835" y="2280"/>
                    <a:ext cx="1650" cy="975"/>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3" name="AutoShape 57"/>
                  <p:cNvCxnSpPr>
                    <a:cxnSpLocks noChangeShapeType="1"/>
                  </p:cNvCxnSpPr>
                  <p:nvPr/>
                </p:nvCxnSpPr>
                <p:spPr bwMode="auto">
                  <a:xfrm>
                    <a:off x="12465" y="7845"/>
                    <a:ext cx="1620" cy="78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44" name="Group 43"/>
                  <p:cNvGrpSpPr>
                    <a:grpSpLocks/>
                  </p:cNvGrpSpPr>
                  <p:nvPr/>
                </p:nvGrpSpPr>
                <p:grpSpPr bwMode="auto">
                  <a:xfrm>
                    <a:off x="3330" y="2505"/>
                    <a:ext cx="9420" cy="6435"/>
                    <a:chOff x="3330" y="2505"/>
                    <a:chExt cx="9420" cy="6435"/>
                  </a:xfrm>
                </p:grpSpPr>
                <p:grpSp>
                  <p:nvGrpSpPr>
                    <p:cNvPr id="45" name="Group 44"/>
                    <p:cNvGrpSpPr>
                      <a:grpSpLocks/>
                    </p:cNvGrpSpPr>
                    <p:nvPr/>
                  </p:nvGrpSpPr>
                  <p:grpSpPr bwMode="auto">
                    <a:xfrm>
                      <a:off x="3330" y="2505"/>
                      <a:ext cx="9420" cy="6435"/>
                      <a:chOff x="2730" y="2505"/>
                      <a:chExt cx="9420" cy="6435"/>
                    </a:xfrm>
                  </p:grpSpPr>
                  <p:grpSp>
                    <p:nvGrpSpPr>
                      <p:cNvPr id="52" name="Group 51"/>
                      <p:cNvGrpSpPr>
                        <a:grpSpLocks/>
                      </p:cNvGrpSpPr>
                      <p:nvPr/>
                    </p:nvGrpSpPr>
                    <p:grpSpPr bwMode="auto">
                      <a:xfrm>
                        <a:off x="2730" y="2790"/>
                        <a:ext cx="9405" cy="5685"/>
                        <a:chOff x="2730" y="1875"/>
                        <a:chExt cx="9405" cy="5685"/>
                      </a:xfrm>
                    </p:grpSpPr>
                    <p:grpSp>
                      <p:nvGrpSpPr>
                        <p:cNvPr id="60" name="Group 59"/>
                        <p:cNvGrpSpPr>
                          <a:grpSpLocks/>
                        </p:cNvGrpSpPr>
                        <p:nvPr/>
                      </p:nvGrpSpPr>
                      <p:grpSpPr bwMode="auto">
                        <a:xfrm>
                          <a:off x="8175" y="1875"/>
                          <a:ext cx="3960" cy="5685"/>
                          <a:chOff x="8175" y="1875"/>
                          <a:chExt cx="3960" cy="5685"/>
                        </a:xfrm>
                      </p:grpSpPr>
                      <p:grpSp>
                        <p:nvGrpSpPr>
                          <p:cNvPr id="64" name="Group 63"/>
                          <p:cNvGrpSpPr>
                            <a:grpSpLocks/>
                          </p:cNvGrpSpPr>
                          <p:nvPr/>
                        </p:nvGrpSpPr>
                        <p:grpSpPr bwMode="auto">
                          <a:xfrm>
                            <a:off x="8175" y="1875"/>
                            <a:ext cx="3405" cy="2745"/>
                            <a:chOff x="8175" y="1875"/>
                            <a:chExt cx="3405" cy="2745"/>
                          </a:xfrm>
                        </p:grpSpPr>
                        <p:cxnSp>
                          <p:nvCxnSpPr>
                            <p:cNvPr id="68" name="AutoShape 63"/>
                            <p:cNvCxnSpPr>
                              <a:cxnSpLocks noChangeShapeType="1"/>
                            </p:cNvCxnSpPr>
                            <p:nvPr/>
                          </p:nvCxnSpPr>
                          <p:spPr bwMode="auto">
                            <a:xfrm flipV="1">
                              <a:off x="8175" y="1875"/>
                              <a:ext cx="2790" cy="169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69" name="AutoShape 64"/>
                            <p:cNvCxnSpPr>
                              <a:cxnSpLocks noChangeShapeType="1"/>
                            </p:cNvCxnSpPr>
                            <p:nvPr/>
                          </p:nvCxnSpPr>
                          <p:spPr bwMode="auto">
                            <a:xfrm flipV="1">
                              <a:off x="8790" y="2925"/>
                              <a:ext cx="2790" cy="169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65" name="Group 64"/>
                          <p:cNvGrpSpPr>
                            <a:grpSpLocks/>
                          </p:cNvGrpSpPr>
                          <p:nvPr/>
                        </p:nvGrpSpPr>
                        <p:grpSpPr bwMode="auto">
                          <a:xfrm>
                            <a:off x="8235" y="4620"/>
                            <a:ext cx="3900" cy="2940"/>
                            <a:chOff x="8235" y="4620"/>
                            <a:chExt cx="3900" cy="2940"/>
                          </a:xfrm>
                        </p:grpSpPr>
                        <p:cxnSp>
                          <p:nvCxnSpPr>
                            <p:cNvPr id="66" name="AutoShape 66"/>
                            <p:cNvCxnSpPr>
                              <a:cxnSpLocks noChangeShapeType="1"/>
                            </p:cNvCxnSpPr>
                            <p:nvPr/>
                          </p:nvCxnSpPr>
                          <p:spPr bwMode="auto">
                            <a:xfrm>
                              <a:off x="8790" y="4620"/>
                              <a:ext cx="3345" cy="17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67" name="AutoShape 67"/>
                            <p:cNvCxnSpPr>
                              <a:cxnSpLocks noChangeShapeType="1"/>
                            </p:cNvCxnSpPr>
                            <p:nvPr/>
                          </p:nvCxnSpPr>
                          <p:spPr bwMode="auto">
                            <a:xfrm>
                              <a:off x="8235" y="5820"/>
                              <a:ext cx="3345" cy="17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grpSp>
                      <p:nvGrpSpPr>
                        <p:cNvPr id="61" name="Group 60"/>
                        <p:cNvGrpSpPr>
                          <a:grpSpLocks/>
                        </p:cNvGrpSpPr>
                        <p:nvPr/>
                      </p:nvGrpSpPr>
                      <p:grpSpPr bwMode="auto">
                        <a:xfrm>
                          <a:off x="2730" y="3570"/>
                          <a:ext cx="5505" cy="2250"/>
                          <a:chOff x="2730" y="3570"/>
                          <a:chExt cx="5505" cy="2250"/>
                        </a:xfrm>
                      </p:grpSpPr>
                      <p:cxnSp>
                        <p:nvCxnSpPr>
                          <p:cNvPr id="62" name="AutoShape 69"/>
                          <p:cNvCxnSpPr>
                            <a:cxnSpLocks noChangeShapeType="1"/>
                          </p:cNvCxnSpPr>
                          <p:nvPr/>
                        </p:nvCxnSpPr>
                        <p:spPr bwMode="auto">
                          <a:xfrm>
                            <a:off x="2730" y="3570"/>
                            <a:ext cx="544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63" name="AutoShape 70"/>
                          <p:cNvCxnSpPr>
                            <a:cxnSpLocks noChangeShapeType="1"/>
                          </p:cNvCxnSpPr>
                          <p:nvPr/>
                        </p:nvCxnSpPr>
                        <p:spPr bwMode="auto">
                          <a:xfrm>
                            <a:off x="2790" y="5820"/>
                            <a:ext cx="544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grpSp>
                    <p:nvGrpSpPr>
                      <p:cNvPr id="53" name="Group 52"/>
                      <p:cNvGrpSpPr>
                        <a:grpSpLocks/>
                      </p:cNvGrpSpPr>
                      <p:nvPr/>
                    </p:nvGrpSpPr>
                    <p:grpSpPr bwMode="auto">
                      <a:xfrm>
                        <a:off x="2745" y="2505"/>
                        <a:ext cx="9405" cy="6435"/>
                        <a:chOff x="2730" y="2505"/>
                        <a:chExt cx="9405" cy="6435"/>
                      </a:xfrm>
                    </p:grpSpPr>
                    <p:cxnSp>
                      <p:nvCxnSpPr>
                        <p:cNvPr id="54" name="AutoShape 72"/>
                        <p:cNvCxnSpPr>
                          <a:cxnSpLocks noChangeShapeType="1"/>
                        </p:cNvCxnSpPr>
                        <p:nvPr/>
                      </p:nvCxnSpPr>
                      <p:spPr bwMode="auto">
                        <a:xfrm>
                          <a:off x="2730" y="2505"/>
                          <a:ext cx="30" cy="6435"/>
                        </a:xfrm>
                        <a:prstGeom prst="straightConnector1">
                          <a:avLst/>
                        </a:prstGeom>
                        <a:noFill/>
                        <a:ln w="19050">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55" name="AutoShape 73"/>
                        <p:cNvCxnSpPr>
                          <a:cxnSpLocks noChangeShapeType="1"/>
                        </p:cNvCxnSpPr>
                        <p:nvPr/>
                      </p:nvCxnSpPr>
                      <p:spPr bwMode="auto">
                        <a:xfrm>
                          <a:off x="10770" y="2505"/>
                          <a:ext cx="1365" cy="2265"/>
                        </a:xfrm>
                        <a:prstGeom prst="straightConnector1">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56" name="AutoShape 74"/>
                        <p:cNvCxnSpPr>
                          <a:cxnSpLocks noChangeShapeType="1"/>
                        </p:cNvCxnSpPr>
                        <p:nvPr/>
                      </p:nvCxnSpPr>
                      <p:spPr bwMode="auto">
                        <a:xfrm flipH="1">
                          <a:off x="11475" y="7230"/>
                          <a:ext cx="660" cy="1470"/>
                        </a:xfrm>
                        <a:prstGeom prst="straightConnector1">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57" name="AutoShape 75"/>
                        <p:cNvCxnSpPr>
                          <a:cxnSpLocks noChangeShapeType="1"/>
                        </p:cNvCxnSpPr>
                        <p:nvPr/>
                      </p:nvCxnSpPr>
                      <p:spPr bwMode="auto">
                        <a:xfrm>
                          <a:off x="2730" y="2505"/>
                          <a:ext cx="8040" cy="1"/>
                        </a:xfrm>
                        <a:prstGeom prst="straightConnector1">
                          <a:avLst/>
                        </a:prstGeom>
                        <a:noFill/>
                        <a:ln w="19050">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58" name="AutoShape 76"/>
                        <p:cNvCxnSpPr>
                          <a:cxnSpLocks noChangeShapeType="1"/>
                        </p:cNvCxnSpPr>
                        <p:nvPr/>
                      </p:nvCxnSpPr>
                      <p:spPr bwMode="auto">
                        <a:xfrm flipH="1">
                          <a:off x="2760" y="8700"/>
                          <a:ext cx="8715" cy="240"/>
                        </a:xfrm>
                        <a:prstGeom prst="straightConnector1">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59" name="AutoShape 77"/>
                        <p:cNvCxnSpPr>
                          <a:cxnSpLocks noChangeShapeType="1"/>
                        </p:cNvCxnSpPr>
                        <p:nvPr/>
                      </p:nvCxnSpPr>
                      <p:spPr bwMode="auto">
                        <a:xfrm flipV="1">
                          <a:off x="12135" y="4770"/>
                          <a:ext cx="0" cy="2460"/>
                        </a:xfrm>
                        <a:prstGeom prst="straightConnector1">
                          <a:avLst/>
                        </a:prstGeom>
                        <a:noFill/>
                        <a:ln w="28575">
                          <a:solidFill>
                            <a:srgbClr val="000000"/>
                          </a:solidFill>
                          <a:prstDash val="sysDot"/>
                          <a:round/>
                          <a:headEnd/>
                          <a:tailEnd/>
                        </a:ln>
                        <a:extLst>
                          <a:ext uri="{909E8E84-426E-40DD-AFC4-6F175D3DCCD1}">
                            <a14:hiddenFill xmlns:a14="http://schemas.microsoft.com/office/drawing/2010/main">
                              <a:noFill/>
                            </a14:hiddenFill>
                          </a:ext>
                        </a:extLst>
                      </p:spPr>
                    </p:cxnSp>
                  </p:grpSp>
                </p:grpSp>
                <p:grpSp>
                  <p:nvGrpSpPr>
                    <p:cNvPr id="46" name="Group 45"/>
                    <p:cNvGrpSpPr>
                      <a:grpSpLocks/>
                    </p:cNvGrpSpPr>
                    <p:nvPr/>
                  </p:nvGrpSpPr>
                  <p:grpSpPr bwMode="auto">
                    <a:xfrm>
                      <a:off x="8775" y="2865"/>
                      <a:ext cx="735" cy="1620"/>
                      <a:chOff x="8775" y="2865"/>
                      <a:chExt cx="735" cy="1620"/>
                    </a:xfrm>
                  </p:grpSpPr>
                  <p:cxnSp>
                    <p:nvCxnSpPr>
                      <p:cNvPr id="50" name="AutoShape 79"/>
                      <p:cNvCxnSpPr>
                        <a:cxnSpLocks noChangeShapeType="1"/>
                      </p:cNvCxnSpPr>
                      <p:nvPr/>
                    </p:nvCxnSpPr>
                    <p:spPr bwMode="auto">
                      <a:xfrm>
                        <a:off x="8775" y="2865"/>
                        <a:ext cx="0" cy="16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51" name="Arc 80"/>
                      <p:cNvSpPr>
                        <a:spLocks/>
                      </p:cNvSpPr>
                      <p:nvPr/>
                    </p:nvSpPr>
                    <p:spPr bwMode="auto">
                      <a:xfrm>
                        <a:off x="8775" y="3840"/>
                        <a:ext cx="735" cy="1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CA"/>
                      </a:p>
                    </p:txBody>
                  </p:sp>
                </p:grpSp>
                <p:grpSp>
                  <p:nvGrpSpPr>
                    <p:cNvPr id="47" name="Group 46"/>
                    <p:cNvGrpSpPr>
                      <a:grpSpLocks/>
                    </p:cNvGrpSpPr>
                    <p:nvPr/>
                  </p:nvGrpSpPr>
                  <p:grpSpPr bwMode="auto">
                    <a:xfrm>
                      <a:off x="9390" y="5535"/>
                      <a:ext cx="1530" cy="675"/>
                      <a:chOff x="9390" y="5535"/>
                      <a:chExt cx="1530" cy="675"/>
                    </a:xfrm>
                  </p:grpSpPr>
                  <p:cxnSp>
                    <p:nvCxnSpPr>
                      <p:cNvPr id="48" name="AutoShape 82"/>
                      <p:cNvCxnSpPr>
                        <a:cxnSpLocks noChangeShapeType="1"/>
                      </p:cNvCxnSpPr>
                      <p:nvPr/>
                    </p:nvCxnSpPr>
                    <p:spPr bwMode="auto">
                      <a:xfrm>
                        <a:off x="9390" y="5535"/>
                        <a:ext cx="153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49" name="Arc 83"/>
                      <p:cNvSpPr>
                        <a:spLocks/>
                      </p:cNvSpPr>
                      <p:nvPr/>
                    </p:nvSpPr>
                    <p:spPr bwMode="auto">
                      <a:xfrm>
                        <a:off x="10500" y="5535"/>
                        <a:ext cx="143" cy="6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CA"/>
                      </a:p>
                    </p:txBody>
                  </p:sp>
                </p:grpSp>
              </p:grpSp>
            </p:grpSp>
            <mc:AlternateContent xmlns:mc="http://schemas.openxmlformats.org/markup-compatibility/2006" xmlns:a14="http://schemas.microsoft.com/office/drawing/2010/main">
              <mc:Choice Requires="a14">
                <p:sp>
                  <p:nvSpPr>
                    <p:cNvPr id="40" name="TextBox 39"/>
                    <p:cNvSpPr txBox="1"/>
                    <p:nvPr/>
                  </p:nvSpPr>
                  <p:spPr>
                    <a:xfrm>
                      <a:off x="883494" y="1760497"/>
                      <a:ext cx="435952" cy="1107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b="1" i="1" smtClean="0">
                                    <a:latin typeface="Cambria Math" panose="02040503050406030204" pitchFamily="18" charset="0"/>
                                  </a:rPr>
                                </m:ctrlPr>
                              </m:sSubPr>
                              <m:e>
                                <m:r>
                                  <a:rPr lang="en-CA" b="1" i="1" smtClean="0">
                                    <a:latin typeface="Cambria Math" panose="02040503050406030204" pitchFamily="18" charset="0"/>
                                  </a:rPr>
                                  <m:t>𝑽</m:t>
                                </m:r>
                              </m:e>
                              <m:sub>
                                <m:r>
                                  <a:rPr lang="en-CA" b="1" i="1" smtClean="0">
                                    <a:latin typeface="Cambria Math" panose="02040503050406030204" pitchFamily="18" charset="0"/>
                                  </a:rPr>
                                  <m:t>𝟏</m:t>
                                </m:r>
                              </m:sub>
                            </m:sSub>
                          </m:oMath>
                        </m:oMathPara>
                      </a14:m>
                      <a:endParaRPr lang="en-CA" b="1" dirty="0"/>
                    </a:p>
                    <a:p>
                      <a:pPr/>
                      <a14:m>
                        <m:oMathPara xmlns:m="http://schemas.openxmlformats.org/officeDocument/2006/math">
                          <m:oMathParaPr>
                            <m:jc m:val="centerGroup"/>
                          </m:oMathParaPr>
                          <m:oMath xmlns:m="http://schemas.openxmlformats.org/officeDocument/2006/math">
                            <m:sSub>
                              <m:sSubPr>
                                <m:ctrlPr>
                                  <a:rPr lang="en-CA" b="1" i="1">
                                    <a:latin typeface="Cambria Math" panose="02040503050406030204" pitchFamily="18" charset="0"/>
                                  </a:rPr>
                                </m:ctrlPr>
                              </m:sSubPr>
                              <m:e>
                                <m:r>
                                  <a:rPr lang="en-CA" b="1" i="1" smtClean="0">
                                    <a:latin typeface="Cambria Math" panose="02040503050406030204" pitchFamily="18" charset="0"/>
                                  </a:rPr>
                                  <m:t>𝑨</m:t>
                                </m:r>
                              </m:e>
                              <m:sub>
                                <m:r>
                                  <a:rPr lang="en-CA" b="1" i="1">
                                    <a:latin typeface="Cambria Math" panose="02040503050406030204" pitchFamily="18" charset="0"/>
                                  </a:rPr>
                                  <m:t>𝟏</m:t>
                                </m:r>
                              </m:sub>
                            </m:sSub>
                          </m:oMath>
                        </m:oMathPara>
                      </a14:m>
                      <a:endParaRPr lang="en-CA" b="1" dirty="0"/>
                    </a:p>
                    <a:p>
                      <a:pPr/>
                      <a14:m>
                        <m:oMathPara xmlns:m="http://schemas.openxmlformats.org/officeDocument/2006/math">
                          <m:oMathParaPr>
                            <m:jc m:val="centerGroup"/>
                          </m:oMathParaPr>
                          <m:oMath xmlns:m="http://schemas.openxmlformats.org/officeDocument/2006/math">
                            <m:sSub>
                              <m:sSubPr>
                                <m:ctrlPr>
                                  <a:rPr lang="en-CA" b="1" i="1" smtClean="0">
                                    <a:latin typeface="Cambria Math" panose="02040503050406030204" pitchFamily="18" charset="0"/>
                                  </a:rPr>
                                </m:ctrlPr>
                              </m:sSubPr>
                              <m:e>
                                <m:r>
                                  <a:rPr lang="en-CA" b="1" i="1" smtClean="0">
                                    <a:latin typeface="Cambria Math" panose="02040503050406030204" pitchFamily="18" charset="0"/>
                                  </a:rPr>
                                  <m:t>𝑷</m:t>
                                </m:r>
                              </m:e>
                              <m:sub>
                                <m:r>
                                  <a:rPr lang="en-CA" b="1" i="1">
                                    <a:latin typeface="Cambria Math" panose="02040503050406030204" pitchFamily="18" charset="0"/>
                                  </a:rPr>
                                  <m:t>𝟏</m:t>
                                </m:r>
                              </m:sub>
                            </m:sSub>
                          </m:oMath>
                        </m:oMathPara>
                      </a14:m>
                      <a:endParaRPr lang="en-CA" b="1" dirty="0"/>
                    </a:p>
                  </p:txBody>
                </p:sp>
              </mc:Choice>
              <mc:Fallback xmlns="">
                <p:sp>
                  <p:nvSpPr>
                    <p:cNvPr id="40" name="TextBox 39"/>
                    <p:cNvSpPr txBox="1">
                      <a:spLocks noRot="1" noChangeAspect="1" noMove="1" noResize="1" noEditPoints="1" noAdjustHandles="1" noChangeArrowheads="1" noChangeShapeType="1" noTextEdit="1"/>
                    </p:cNvSpPr>
                    <p:nvPr/>
                  </p:nvSpPr>
                  <p:spPr>
                    <a:xfrm>
                      <a:off x="883494" y="1760497"/>
                      <a:ext cx="435952" cy="1107996"/>
                    </a:xfrm>
                    <a:prstGeom prst="rect">
                      <a:avLst/>
                    </a:prstGeom>
                    <a:blipFill>
                      <a:blip r:embed="rId4"/>
                      <a:stretch>
                        <a:fillRect l="-21538" r="-10769" b="-4945"/>
                      </a:stretch>
                    </a:blipFill>
                  </p:spPr>
                  <p:txBody>
                    <a:bodyPr/>
                    <a:lstStyle/>
                    <a:p>
                      <a:r>
                        <a:rPr lang="en-CA">
                          <a:noFill/>
                        </a:rPr>
                        <a:t> </a:t>
                      </a:r>
                    </a:p>
                  </p:txBody>
                </p:sp>
              </mc:Fallback>
            </mc:AlternateContent>
          </p:grpSp>
          <mc:AlternateContent xmlns:mc="http://schemas.openxmlformats.org/markup-compatibility/2006" xmlns:a14="http://schemas.microsoft.com/office/drawing/2010/main">
            <mc:Choice Requires="a14">
              <p:sp>
                <p:nvSpPr>
                  <p:cNvPr id="38" name="TextBox 37"/>
                  <p:cNvSpPr txBox="1"/>
                  <p:nvPr/>
                </p:nvSpPr>
                <p:spPr>
                  <a:xfrm>
                    <a:off x="8233358" y="3514915"/>
                    <a:ext cx="435952" cy="1107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b="1" i="1" smtClean="0">
                                  <a:latin typeface="Cambria Math" panose="02040503050406030204" pitchFamily="18" charset="0"/>
                                </a:rPr>
                              </m:ctrlPr>
                            </m:sSubPr>
                            <m:e>
                              <m:r>
                                <a:rPr lang="en-CA" b="1" i="1" smtClean="0">
                                  <a:latin typeface="Cambria Math" panose="02040503050406030204" pitchFamily="18" charset="0"/>
                                </a:rPr>
                                <m:t>𝑽</m:t>
                              </m:r>
                            </m:e>
                            <m:sub>
                              <m:r>
                                <a:rPr lang="en-CA" b="1" i="1" smtClean="0">
                                  <a:latin typeface="Cambria Math" panose="02040503050406030204" pitchFamily="18" charset="0"/>
                                </a:rPr>
                                <m:t>𝟑</m:t>
                              </m:r>
                            </m:sub>
                          </m:sSub>
                        </m:oMath>
                      </m:oMathPara>
                    </a14:m>
                    <a:endParaRPr lang="en-CA" b="1" dirty="0"/>
                  </a:p>
                  <a:p>
                    <a:pPr/>
                    <a14:m>
                      <m:oMathPara xmlns:m="http://schemas.openxmlformats.org/officeDocument/2006/math">
                        <m:oMathParaPr>
                          <m:jc m:val="centerGroup"/>
                        </m:oMathParaPr>
                        <m:oMath xmlns:m="http://schemas.openxmlformats.org/officeDocument/2006/math">
                          <m:sSub>
                            <m:sSubPr>
                              <m:ctrlPr>
                                <a:rPr lang="en-CA" b="1" i="1">
                                  <a:latin typeface="Cambria Math" panose="02040503050406030204" pitchFamily="18" charset="0"/>
                                </a:rPr>
                              </m:ctrlPr>
                            </m:sSubPr>
                            <m:e>
                              <m:r>
                                <a:rPr lang="en-CA" b="1" i="1" smtClean="0">
                                  <a:latin typeface="Cambria Math" panose="02040503050406030204" pitchFamily="18" charset="0"/>
                                </a:rPr>
                                <m:t>𝑨</m:t>
                              </m:r>
                            </m:e>
                            <m:sub>
                              <m:r>
                                <a:rPr lang="en-CA" b="1" i="1" smtClean="0">
                                  <a:latin typeface="Cambria Math" panose="02040503050406030204" pitchFamily="18" charset="0"/>
                                </a:rPr>
                                <m:t>𝟑</m:t>
                              </m:r>
                            </m:sub>
                          </m:sSub>
                        </m:oMath>
                      </m:oMathPara>
                    </a14:m>
                    <a:endParaRPr lang="en-CA" b="1" dirty="0"/>
                  </a:p>
                  <a:p>
                    <a:pPr/>
                    <a14:m>
                      <m:oMathPara xmlns:m="http://schemas.openxmlformats.org/officeDocument/2006/math">
                        <m:oMathParaPr>
                          <m:jc m:val="centerGroup"/>
                        </m:oMathParaPr>
                        <m:oMath xmlns:m="http://schemas.openxmlformats.org/officeDocument/2006/math">
                          <m:sSub>
                            <m:sSubPr>
                              <m:ctrlPr>
                                <a:rPr lang="en-CA" b="1" i="1" smtClean="0">
                                  <a:latin typeface="Cambria Math" panose="02040503050406030204" pitchFamily="18" charset="0"/>
                                </a:rPr>
                              </m:ctrlPr>
                            </m:sSubPr>
                            <m:e>
                              <m:r>
                                <a:rPr lang="en-CA" b="1" i="1" smtClean="0">
                                  <a:latin typeface="Cambria Math" panose="02040503050406030204" pitchFamily="18" charset="0"/>
                                </a:rPr>
                                <m:t>𝑷</m:t>
                              </m:r>
                            </m:e>
                            <m:sub>
                              <m:r>
                                <a:rPr lang="en-CA" b="1" i="1" smtClean="0">
                                  <a:latin typeface="Cambria Math" panose="02040503050406030204" pitchFamily="18" charset="0"/>
                                </a:rPr>
                                <m:t>𝟑</m:t>
                              </m:r>
                            </m:sub>
                          </m:sSub>
                        </m:oMath>
                      </m:oMathPara>
                    </a14:m>
                    <a:endParaRPr lang="en-CA" b="1" dirty="0"/>
                  </a:p>
                </p:txBody>
              </p:sp>
            </mc:Choice>
            <mc:Fallback xmlns="">
              <p:sp>
                <p:nvSpPr>
                  <p:cNvPr id="38" name="TextBox 37"/>
                  <p:cNvSpPr txBox="1">
                    <a:spLocks noRot="1" noChangeAspect="1" noMove="1" noResize="1" noEditPoints="1" noAdjustHandles="1" noChangeArrowheads="1" noChangeShapeType="1" noTextEdit="1"/>
                  </p:cNvSpPr>
                  <p:nvPr/>
                </p:nvSpPr>
                <p:spPr>
                  <a:xfrm>
                    <a:off x="8233358" y="3514915"/>
                    <a:ext cx="435952" cy="1107996"/>
                  </a:xfrm>
                  <a:prstGeom prst="rect">
                    <a:avLst/>
                  </a:prstGeom>
                  <a:blipFill>
                    <a:blip r:embed="rId5"/>
                    <a:stretch>
                      <a:fillRect l="-23438" r="-12500" b="-4945"/>
                    </a:stretch>
                  </a:blipFill>
                </p:spPr>
                <p:txBody>
                  <a:bodyPr/>
                  <a:lstStyle/>
                  <a:p>
                    <a:r>
                      <a:rPr lang="en-CA">
                        <a:noFill/>
                      </a:rPr>
                      <a:t> </a:t>
                    </a:r>
                  </a:p>
                </p:txBody>
              </p:sp>
            </mc:Fallback>
          </mc:AlternateContent>
        </p:grpSp>
      </p:grpSp>
      <p:sp>
        <p:nvSpPr>
          <p:cNvPr id="4" name="TextBox 3">
            <a:extLst>
              <a:ext uri="{FF2B5EF4-FFF2-40B4-BE49-F238E27FC236}">
                <a16:creationId xmlns:a16="http://schemas.microsoft.com/office/drawing/2014/main" id="{FC88599B-F1AB-6C01-9E39-B834A7955935}"/>
              </a:ext>
            </a:extLst>
          </p:cNvPr>
          <p:cNvSpPr txBox="1"/>
          <p:nvPr/>
        </p:nvSpPr>
        <p:spPr>
          <a:xfrm>
            <a:off x="4304301" y="3081368"/>
            <a:ext cx="393651" cy="461665"/>
          </a:xfrm>
          <a:prstGeom prst="rect">
            <a:avLst/>
          </a:prstGeom>
          <a:noFill/>
        </p:spPr>
        <p:txBody>
          <a:bodyPr wrap="square" rtlCol="0">
            <a:spAutoFit/>
          </a:bodyPr>
          <a:lstStyle/>
          <a:p>
            <a:r>
              <a:rPr lang="el-GR" b="1" i="1" dirty="0">
                <a:latin typeface="+mn-lt"/>
              </a:rPr>
              <a:t>α</a:t>
            </a:r>
            <a:endParaRPr lang="en-GH" b="1" i="1" dirty="0">
              <a:latin typeface="+mn-lt"/>
            </a:endParaRPr>
          </a:p>
        </p:txBody>
      </p:sp>
      <p:sp>
        <p:nvSpPr>
          <p:cNvPr id="5" name="TextBox 4">
            <a:extLst>
              <a:ext uri="{FF2B5EF4-FFF2-40B4-BE49-F238E27FC236}">
                <a16:creationId xmlns:a16="http://schemas.microsoft.com/office/drawing/2014/main" id="{452242BF-AB62-EC9A-6BE9-5EFE01561A1E}"/>
              </a:ext>
            </a:extLst>
          </p:cNvPr>
          <p:cNvSpPr txBox="1"/>
          <p:nvPr/>
        </p:nvSpPr>
        <p:spPr>
          <a:xfrm>
            <a:off x="5239956" y="4200825"/>
            <a:ext cx="393651" cy="461665"/>
          </a:xfrm>
          <a:prstGeom prst="rect">
            <a:avLst/>
          </a:prstGeom>
          <a:noFill/>
        </p:spPr>
        <p:txBody>
          <a:bodyPr wrap="square" rtlCol="0">
            <a:spAutoFit/>
          </a:bodyPr>
          <a:lstStyle/>
          <a:p>
            <a:r>
              <a:rPr lang="el-GR" b="1" dirty="0">
                <a:latin typeface="+mn-lt"/>
              </a:rPr>
              <a:t>θ</a:t>
            </a:r>
            <a:endParaRPr lang="en-GH" b="1" dirty="0">
              <a:latin typeface="+mn-lt"/>
            </a:endParaRPr>
          </a:p>
        </p:txBody>
      </p:sp>
      <p:sp>
        <p:nvSpPr>
          <p:cNvPr id="6" name="Slide Number Placeholder 5">
            <a:extLst>
              <a:ext uri="{FF2B5EF4-FFF2-40B4-BE49-F238E27FC236}">
                <a16:creationId xmlns:a16="http://schemas.microsoft.com/office/drawing/2014/main" id="{C668C73C-35EF-657E-C2ED-56DE9D2012EB}"/>
              </a:ext>
            </a:extLst>
          </p:cNvPr>
          <p:cNvSpPr>
            <a:spLocks noGrp="1"/>
          </p:cNvSpPr>
          <p:nvPr>
            <p:ph type="sldNum" sz="quarter" idx="12"/>
          </p:nvPr>
        </p:nvSpPr>
        <p:spPr/>
        <p:txBody>
          <a:bodyPr/>
          <a:lstStyle/>
          <a:p>
            <a:fld id="{49FCB85E-0F77-4855-90A7-7A1B61BB679B}" type="slidenum">
              <a:rPr lang="en-CA" smtClean="0"/>
              <a:t>36</a:t>
            </a:fld>
            <a:endParaRPr lang="en-CA"/>
          </a:p>
        </p:txBody>
      </p:sp>
    </p:spTree>
    <p:extLst>
      <p:ext uri="{BB962C8B-B14F-4D97-AF65-F5344CB8AC3E}">
        <p14:creationId xmlns:p14="http://schemas.microsoft.com/office/powerpoint/2010/main" val="1323394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1147802799"/>
                  </p:ext>
                </p:extLst>
              </p:nvPr>
            </p:nvGraphicFramePr>
            <p:xfrm>
              <a:off x="436879" y="182879"/>
              <a:ext cx="8169911" cy="4667108"/>
            </p:xfrm>
            <a:graphic>
              <a:graphicData uri="http://schemas.openxmlformats.org/drawingml/2006/table">
                <a:tbl>
                  <a:tblPr firstRow="1" bandRow="1">
                    <a:tableStyleId>{5940675A-B579-460E-94D1-54222C63F5DA}</a:tableStyleId>
                  </a:tblPr>
                  <a:tblGrid>
                    <a:gridCol w="1211673">
                      <a:extLst>
                        <a:ext uri="{9D8B030D-6E8A-4147-A177-3AD203B41FA5}">
                          <a16:colId xmlns:a16="http://schemas.microsoft.com/office/drawing/2014/main" val="413565764"/>
                        </a:ext>
                      </a:extLst>
                    </a:gridCol>
                    <a:gridCol w="2130968">
                      <a:extLst>
                        <a:ext uri="{9D8B030D-6E8A-4147-A177-3AD203B41FA5}">
                          <a16:colId xmlns:a16="http://schemas.microsoft.com/office/drawing/2014/main" val="1407388995"/>
                        </a:ext>
                      </a:extLst>
                    </a:gridCol>
                    <a:gridCol w="2346960">
                      <a:extLst>
                        <a:ext uri="{9D8B030D-6E8A-4147-A177-3AD203B41FA5}">
                          <a16:colId xmlns:a16="http://schemas.microsoft.com/office/drawing/2014/main" val="761770925"/>
                        </a:ext>
                      </a:extLst>
                    </a:gridCol>
                    <a:gridCol w="2480310">
                      <a:extLst>
                        <a:ext uri="{9D8B030D-6E8A-4147-A177-3AD203B41FA5}">
                          <a16:colId xmlns:a16="http://schemas.microsoft.com/office/drawing/2014/main" val="1638402665"/>
                        </a:ext>
                      </a:extLst>
                    </a:gridCol>
                  </a:tblGrid>
                  <a:tr h="391528">
                    <a:tc>
                      <a:txBody>
                        <a:bodyPr/>
                        <a:lstStyle/>
                        <a:p>
                          <a:pPr algn="ctr"/>
                          <a:endParaRPr lang="en-CA" sz="2000" b="1" dirty="0">
                            <a:latin typeface="Myriad Web Pro"/>
                          </a:endParaRPr>
                        </a:p>
                      </a:txBody>
                      <a:tcPr/>
                    </a:tc>
                    <a:tc>
                      <a:txBody>
                        <a:bodyPr/>
                        <a:lstStyle/>
                        <a:p>
                          <a:pPr algn="ctr"/>
                          <a:r>
                            <a:rPr lang="en-CA" sz="2000" b="1" dirty="0">
                              <a:latin typeface="Myriad Web Pro"/>
                            </a:rPr>
                            <a:t>Section 1</a:t>
                          </a:r>
                        </a:p>
                      </a:txBody>
                      <a:tcPr/>
                    </a:tc>
                    <a:tc>
                      <a:txBody>
                        <a:bodyPr/>
                        <a:lstStyle/>
                        <a:p>
                          <a:pPr algn="ctr"/>
                          <a:r>
                            <a:rPr lang="en-CA" sz="2000" b="1" dirty="0">
                              <a:latin typeface="Myriad Web Pro"/>
                            </a:rPr>
                            <a:t>Section 2</a:t>
                          </a:r>
                        </a:p>
                      </a:txBody>
                      <a:tcPr/>
                    </a:tc>
                    <a:tc>
                      <a:txBody>
                        <a:bodyPr/>
                        <a:lstStyle/>
                        <a:p>
                          <a:pPr algn="ctr"/>
                          <a:r>
                            <a:rPr lang="en-CA" sz="2000" b="1" dirty="0">
                              <a:latin typeface="Myriad Web Pro"/>
                            </a:rPr>
                            <a:t>Section 3</a:t>
                          </a:r>
                        </a:p>
                      </a:txBody>
                      <a:tcPr/>
                    </a:tc>
                    <a:extLst>
                      <a:ext uri="{0D108BD9-81ED-4DB2-BD59-A6C34878D82A}">
                        <a16:rowId xmlns:a16="http://schemas.microsoft.com/office/drawing/2014/main" val="932439137"/>
                      </a:ext>
                    </a:extLst>
                  </a:tr>
                  <a:tr h="6101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CA" sz="3000" b="0" i="1" smtClean="0">
                                    <a:latin typeface="Cambria Math" panose="02040503050406030204" pitchFamily="18" charset="0"/>
                                  </a:rPr>
                                  <m:t>𝑢</m:t>
                                </m:r>
                              </m:oMath>
                            </m:oMathPara>
                          </a14:m>
                          <a:endParaRPr lang="en-CA" sz="3000" dirty="0"/>
                        </a:p>
                      </a:txBody>
                      <a:tcPr/>
                    </a:tc>
                    <a:tc>
                      <a:txBody>
                        <a:bodyPr/>
                        <a:lstStyle/>
                        <a:p>
                          <a:pPr algn="ctr"/>
                          <a:endParaRPr lang="en-CA" sz="3000"/>
                        </a:p>
                      </a:txBody>
                      <a:tcPr/>
                    </a:tc>
                    <a:tc>
                      <a:txBody>
                        <a:bodyPr/>
                        <a:lstStyle/>
                        <a:p>
                          <a:pPr algn="ctr"/>
                          <a:endParaRPr lang="en-CA" sz="3000"/>
                        </a:p>
                      </a:txBody>
                      <a:tcPr/>
                    </a:tc>
                    <a:tc>
                      <a:txBody>
                        <a:bodyPr/>
                        <a:lstStyle/>
                        <a:p>
                          <a:pPr algn="ctr"/>
                          <a:endParaRPr lang="en-CA" sz="3000"/>
                        </a:p>
                      </a:txBody>
                      <a:tcPr/>
                    </a:tc>
                    <a:extLst>
                      <a:ext uri="{0D108BD9-81ED-4DB2-BD59-A6C34878D82A}">
                        <a16:rowId xmlns:a16="http://schemas.microsoft.com/office/drawing/2014/main" val="2056799819"/>
                      </a:ext>
                    </a:extLst>
                  </a:tr>
                  <a:tr h="610124">
                    <a:tc>
                      <a:txBody>
                        <a:bodyPr/>
                        <a:lstStyle/>
                        <a:p>
                          <a:pPr algn="ctr"/>
                          <a14:m>
                            <m:oMathPara xmlns:m="http://schemas.openxmlformats.org/officeDocument/2006/math">
                              <m:oMathParaPr>
                                <m:jc m:val="centerGroup"/>
                              </m:oMathParaPr>
                              <m:oMath xmlns:m="http://schemas.openxmlformats.org/officeDocument/2006/math">
                                <m:r>
                                  <a:rPr lang="en-GB" sz="3000" b="0" i="1" smtClean="0">
                                    <a:latin typeface="Cambria Math" panose="02040503050406030204" pitchFamily="18" charset="0"/>
                                  </a:rPr>
                                  <m:t>𝑣</m:t>
                                </m:r>
                              </m:oMath>
                            </m:oMathPara>
                          </a14:m>
                          <a:endParaRPr lang="en-CA" sz="3000" dirty="0"/>
                        </a:p>
                      </a:txBody>
                      <a:tcPr/>
                    </a:tc>
                    <a:tc>
                      <a:txBody>
                        <a:bodyPr/>
                        <a:lstStyle/>
                        <a:p>
                          <a:pPr algn="ctr"/>
                          <a:endParaRPr lang="en-CA" sz="3000" dirty="0"/>
                        </a:p>
                      </a:txBody>
                      <a:tcPr/>
                    </a:tc>
                    <a:tc>
                      <a:txBody>
                        <a:bodyPr/>
                        <a:lstStyle/>
                        <a:p>
                          <a:pPr algn="ctr"/>
                          <a:endParaRPr lang="en-CA" sz="3000"/>
                        </a:p>
                      </a:txBody>
                      <a:tcPr/>
                    </a:tc>
                    <a:tc>
                      <a:txBody>
                        <a:bodyPr/>
                        <a:lstStyle/>
                        <a:p>
                          <a:pPr algn="ctr"/>
                          <a:endParaRPr lang="en-CA" sz="3000"/>
                        </a:p>
                      </a:txBody>
                      <a:tcPr/>
                    </a:tc>
                    <a:extLst>
                      <a:ext uri="{0D108BD9-81ED-4DB2-BD59-A6C34878D82A}">
                        <a16:rowId xmlns:a16="http://schemas.microsoft.com/office/drawing/2014/main" val="1285064057"/>
                      </a:ext>
                    </a:extLst>
                  </a:tr>
                  <a:tr h="6101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CA" sz="3000" b="0" i="1" smtClean="0">
                                    <a:solidFill>
                                      <a:schemeClr val="tx1"/>
                                    </a:solidFill>
                                    <a:latin typeface="Cambria Math" panose="02040503050406030204" pitchFamily="18" charset="0"/>
                                    <a:ea typeface="Cambria Math" panose="02040503050406030204" pitchFamily="18" charset="0"/>
                                  </a:rPr>
                                  <m:t>𝜌</m:t>
                                </m:r>
                                <m:acc>
                                  <m:accPr>
                                    <m:chr m:val="⃗"/>
                                    <m:ctrlPr>
                                      <a:rPr lang="en-CA" sz="3000" b="0" i="1">
                                        <a:solidFill>
                                          <a:schemeClr val="tx1"/>
                                        </a:solidFill>
                                        <a:latin typeface="Cambria Math" panose="02040503050406030204" pitchFamily="18" charset="0"/>
                                        <a:ea typeface="Cambria Math" panose="02040503050406030204" pitchFamily="18" charset="0"/>
                                      </a:rPr>
                                    </m:ctrlPr>
                                  </m:accPr>
                                  <m:e>
                                    <m:r>
                                      <a:rPr lang="en-CA" sz="3000" b="0" i="1">
                                        <a:solidFill>
                                          <a:schemeClr val="tx1"/>
                                        </a:solidFill>
                                        <a:latin typeface="Cambria Math" panose="02040503050406030204" pitchFamily="18" charset="0"/>
                                        <a:ea typeface="Cambria Math" panose="02040503050406030204" pitchFamily="18" charset="0"/>
                                      </a:rPr>
                                      <m:t>𝑉</m:t>
                                    </m:r>
                                  </m:e>
                                </m:acc>
                                <m:r>
                                  <a:rPr lang="en-CA" sz="3000" b="0" i="1">
                                    <a:solidFill>
                                      <a:schemeClr val="tx1"/>
                                    </a:solidFill>
                                    <a:latin typeface="Cambria Math" panose="02040503050406030204" pitchFamily="18" charset="0"/>
                                    <a:ea typeface="Cambria Math" panose="02040503050406030204" pitchFamily="18" charset="0"/>
                                  </a:rPr>
                                  <m:t>∙</m:t>
                                </m:r>
                                <m:acc>
                                  <m:accPr>
                                    <m:chr m:val="⃗"/>
                                    <m:ctrlPr>
                                      <a:rPr lang="en-CA" sz="3000" b="0" i="1">
                                        <a:solidFill>
                                          <a:schemeClr val="tx1"/>
                                        </a:solidFill>
                                        <a:latin typeface="Cambria Math" panose="02040503050406030204" pitchFamily="18" charset="0"/>
                                        <a:ea typeface="Cambria Math" panose="02040503050406030204" pitchFamily="18" charset="0"/>
                                      </a:rPr>
                                    </m:ctrlPr>
                                  </m:accPr>
                                  <m:e>
                                    <m:r>
                                      <a:rPr lang="en-CA" sz="3000" b="0" i="1">
                                        <a:solidFill>
                                          <a:schemeClr val="tx1"/>
                                        </a:solidFill>
                                        <a:latin typeface="Cambria Math" panose="02040503050406030204" pitchFamily="18" charset="0"/>
                                        <a:ea typeface="Cambria Math" panose="02040503050406030204" pitchFamily="18" charset="0"/>
                                      </a:rPr>
                                      <m:t>𝐴</m:t>
                                    </m:r>
                                  </m:e>
                                </m:acc>
                              </m:oMath>
                            </m:oMathPara>
                          </a14:m>
                          <a:endParaRPr lang="en-CA" sz="3000" b="0" dirty="0"/>
                        </a:p>
                      </a:txBody>
                      <a:tcPr/>
                    </a:tc>
                    <a:tc>
                      <a:txBody>
                        <a:bodyPr/>
                        <a:lstStyle/>
                        <a:p>
                          <a:pPr algn="ctr"/>
                          <a:endParaRPr lang="en-CA" sz="3000" dirty="0"/>
                        </a:p>
                      </a:txBody>
                      <a:tcPr/>
                    </a:tc>
                    <a:tc>
                      <a:txBody>
                        <a:bodyPr/>
                        <a:lstStyle/>
                        <a:p>
                          <a:pPr algn="ctr"/>
                          <a:endParaRPr lang="en-CA" sz="3000"/>
                        </a:p>
                      </a:txBody>
                      <a:tcPr/>
                    </a:tc>
                    <a:tc>
                      <a:txBody>
                        <a:bodyPr/>
                        <a:lstStyle/>
                        <a:p>
                          <a:pPr algn="ctr"/>
                          <a:endParaRPr lang="en-CA" sz="3000"/>
                        </a:p>
                      </a:txBody>
                      <a:tcPr/>
                    </a:tc>
                    <a:extLst>
                      <a:ext uri="{0D108BD9-81ED-4DB2-BD59-A6C34878D82A}">
                        <a16:rowId xmlns:a16="http://schemas.microsoft.com/office/drawing/2014/main" val="1799741004"/>
                      </a:ext>
                    </a:extLst>
                  </a:tr>
                  <a:tr h="610124">
                    <a:tc>
                      <a:txBody>
                        <a:bodyPr/>
                        <a:lstStyle/>
                        <a:p>
                          <a:pPr algn="ctr"/>
                          <a14:m>
                            <m:oMathPara xmlns:m="http://schemas.openxmlformats.org/officeDocument/2006/math">
                              <m:oMathParaPr>
                                <m:jc m:val="centerGroup"/>
                              </m:oMathParaPr>
                              <m:oMath xmlns:m="http://schemas.openxmlformats.org/officeDocument/2006/math">
                                <m:sSub>
                                  <m:sSubPr>
                                    <m:ctrlPr>
                                      <a:rPr lang="en-CA" sz="3000" b="0" i="1" smtClean="0">
                                        <a:latin typeface="Cambria Math" panose="02040503050406030204" pitchFamily="18" charset="0"/>
                                      </a:rPr>
                                    </m:ctrlPr>
                                  </m:sSubPr>
                                  <m:e>
                                    <m:r>
                                      <a:rPr lang="en-CA" sz="3000" b="0" i="1" smtClean="0">
                                        <a:latin typeface="Cambria Math" panose="02040503050406030204" pitchFamily="18" charset="0"/>
                                      </a:rPr>
                                      <m:t>𝐹</m:t>
                                    </m:r>
                                  </m:e>
                                  <m:sub>
                                    <m:r>
                                      <a:rPr lang="en-CA" sz="3000" b="0" i="1" smtClean="0">
                                        <a:latin typeface="Cambria Math" panose="02040503050406030204" pitchFamily="18" charset="0"/>
                                      </a:rPr>
                                      <m:t>𝑠𝑥</m:t>
                                    </m:r>
                                  </m:sub>
                                </m:sSub>
                              </m:oMath>
                            </m:oMathPara>
                          </a14:m>
                          <a:endParaRPr lang="en-CA" sz="3000" dirty="0"/>
                        </a:p>
                      </a:txBody>
                      <a:tcPr/>
                    </a:tc>
                    <a:tc>
                      <a:txBody>
                        <a:bodyPr/>
                        <a:lstStyle/>
                        <a:p>
                          <a:pPr algn="ctr"/>
                          <a:endParaRPr lang="en-CA" sz="3000" dirty="0"/>
                        </a:p>
                      </a:txBody>
                      <a:tcPr/>
                    </a:tc>
                    <a:tc>
                      <a:txBody>
                        <a:bodyPr/>
                        <a:lstStyle/>
                        <a:p>
                          <a:pPr algn="ctr"/>
                          <a:endParaRPr lang="en-CA" sz="3000" dirty="0"/>
                        </a:p>
                      </a:txBody>
                      <a:tcPr/>
                    </a:tc>
                    <a:tc>
                      <a:txBody>
                        <a:bodyPr/>
                        <a:lstStyle/>
                        <a:p>
                          <a:pPr algn="ctr"/>
                          <a:endParaRPr lang="en-CA" sz="3000" dirty="0"/>
                        </a:p>
                      </a:txBody>
                      <a:tcPr/>
                    </a:tc>
                    <a:extLst>
                      <a:ext uri="{0D108BD9-81ED-4DB2-BD59-A6C34878D82A}">
                        <a16:rowId xmlns:a16="http://schemas.microsoft.com/office/drawing/2014/main" val="3751886580"/>
                      </a:ext>
                    </a:extLst>
                  </a:tr>
                  <a:tr h="610124">
                    <a:tc>
                      <a:txBody>
                        <a:bodyPr/>
                        <a:lstStyle/>
                        <a:p>
                          <a:pPr algn="ctr"/>
                          <a14:m>
                            <m:oMathPara xmlns:m="http://schemas.openxmlformats.org/officeDocument/2006/math">
                              <m:oMathParaPr>
                                <m:jc m:val="centerGroup"/>
                              </m:oMathParaPr>
                              <m:oMath xmlns:m="http://schemas.openxmlformats.org/officeDocument/2006/math">
                                <m:sSub>
                                  <m:sSubPr>
                                    <m:ctrlPr>
                                      <a:rPr lang="en-CA" sz="3000" b="0" i="1" smtClean="0">
                                        <a:latin typeface="Cambria Math" panose="02040503050406030204" pitchFamily="18" charset="0"/>
                                      </a:rPr>
                                    </m:ctrlPr>
                                  </m:sSubPr>
                                  <m:e>
                                    <m:r>
                                      <a:rPr lang="en-CA" sz="3000" b="0" i="1" smtClean="0">
                                        <a:latin typeface="Cambria Math" panose="02040503050406030204" pitchFamily="18" charset="0"/>
                                      </a:rPr>
                                      <m:t>𝐹</m:t>
                                    </m:r>
                                  </m:e>
                                  <m:sub>
                                    <m:r>
                                      <a:rPr lang="en-CA" sz="3000" b="0" i="1" smtClean="0">
                                        <a:latin typeface="Cambria Math" panose="02040503050406030204" pitchFamily="18" charset="0"/>
                                      </a:rPr>
                                      <m:t>𝑠𝑦</m:t>
                                    </m:r>
                                  </m:sub>
                                </m:sSub>
                              </m:oMath>
                            </m:oMathPara>
                          </a14:m>
                          <a:endParaRPr lang="en-CA" sz="3000" dirty="0"/>
                        </a:p>
                      </a:txBody>
                      <a:tcPr/>
                    </a:tc>
                    <a:tc>
                      <a:txBody>
                        <a:bodyPr/>
                        <a:lstStyle/>
                        <a:p>
                          <a:pPr algn="ctr"/>
                          <a:endParaRPr lang="en-CA" sz="3000"/>
                        </a:p>
                      </a:txBody>
                      <a:tcPr/>
                    </a:tc>
                    <a:tc>
                      <a:txBody>
                        <a:bodyPr/>
                        <a:lstStyle/>
                        <a:p>
                          <a:pPr algn="ctr"/>
                          <a:endParaRPr lang="en-CA" sz="3000" dirty="0"/>
                        </a:p>
                      </a:txBody>
                      <a:tcPr/>
                    </a:tc>
                    <a:tc>
                      <a:txBody>
                        <a:bodyPr/>
                        <a:lstStyle/>
                        <a:p>
                          <a:pPr algn="ctr"/>
                          <a:endParaRPr lang="en-CA" sz="3000" dirty="0"/>
                        </a:p>
                      </a:txBody>
                      <a:tcPr/>
                    </a:tc>
                    <a:extLst>
                      <a:ext uri="{0D108BD9-81ED-4DB2-BD59-A6C34878D82A}">
                        <a16:rowId xmlns:a16="http://schemas.microsoft.com/office/drawing/2014/main" val="166420519"/>
                      </a:ext>
                    </a:extLst>
                  </a:tr>
                  <a:tr h="610124">
                    <a:tc>
                      <a:txBody>
                        <a:bodyPr/>
                        <a:lstStyle/>
                        <a:p>
                          <a:pPr algn="ctr"/>
                          <a14:m>
                            <m:oMathPara xmlns:m="http://schemas.openxmlformats.org/officeDocument/2006/math">
                              <m:oMathParaPr>
                                <m:jc m:val="centerGroup"/>
                              </m:oMathParaPr>
                              <m:oMath xmlns:m="http://schemas.openxmlformats.org/officeDocument/2006/math">
                                <m:sSub>
                                  <m:sSubPr>
                                    <m:ctrlPr>
                                      <a:rPr lang="en-CA" sz="3000" b="0" i="1" smtClean="0">
                                        <a:latin typeface="Cambria Math" panose="02040503050406030204" pitchFamily="18" charset="0"/>
                                      </a:rPr>
                                    </m:ctrlPr>
                                  </m:sSubPr>
                                  <m:e>
                                    <m:r>
                                      <a:rPr lang="en-CA" sz="3000" b="0" i="1" smtClean="0">
                                        <a:latin typeface="Cambria Math" panose="02040503050406030204" pitchFamily="18" charset="0"/>
                                      </a:rPr>
                                      <m:t>𝐹</m:t>
                                    </m:r>
                                  </m:e>
                                  <m:sub>
                                    <m:r>
                                      <a:rPr lang="en-CA" sz="3000" b="0" i="1" smtClean="0">
                                        <a:latin typeface="Cambria Math" panose="02040503050406030204" pitchFamily="18" charset="0"/>
                                      </a:rPr>
                                      <m:t>𝐵𝑥</m:t>
                                    </m:r>
                                  </m:sub>
                                </m:sSub>
                              </m:oMath>
                            </m:oMathPara>
                          </a14:m>
                          <a:endParaRPr lang="en-CA" sz="3000" dirty="0"/>
                        </a:p>
                      </a:txBody>
                      <a:tcPr/>
                    </a:tc>
                    <a:tc gridSpan="3">
                      <a:txBody>
                        <a:bodyPr/>
                        <a:lstStyle/>
                        <a:p>
                          <a:pPr algn="ctr"/>
                          <a:endParaRPr lang="en-CA" sz="3000" dirty="0"/>
                        </a:p>
                      </a:txBody>
                      <a:tcPr/>
                    </a:tc>
                    <a:tc hMerge="1">
                      <a:txBody>
                        <a:bodyPr/>
                        <a:lstStyle/>
                        <a:p>
                          <a:endParaRPr lang="en-CA" sz="3000" dirty="0"/>
                        </a:p>
                      </a:txBody>
                      <a:tcPr/>
                    </a:tc>
                    <a:tc hMerge="1">
                      <a:txBody>
                        <a:bodyPr/>
                        <a:lstStyle/>
                        <a:p>
                          <a:endParaRPr lang="en-CA" sz="3000" dirty="0"/>
                        </a:p>
                      </a:txBody>
                      <a:tcPr/>
                    </a:tc>
                    <a:extLst>
                      <a:ext uri="{0D108BD9-81ED-4DB2-BD59-A6C34878D82A}">
                        <a16:rowId xmlns:a16="http://schemas.microsoft.com/office/drawing/2014/main" val="1050005715"/>
                      </a:ext>
                    </a:extLst>
                  </a:tr>
                  <a:tr h="610124">
                    <a:tc>
                      <a:txBody>
                        <a:bodyPr/>
                        <a:lstStyle/>
                        <a:p>
                          <a:pPr algn="ctr"/>
                          <a14:m>
                            <m:oMathPara xmlns:m="http://schemas.openxmlformats.org/officeDocument/2006/math">
                              <m:oMathParaPr>
                                <m:jc m:val="centerGroup"/>
                              </m:oMathParaPr>
                              <m:oMath xmlns:m="http://schemas.openxmlformats.org/officeDocument/2006/math">
                                <m:sSub>
                                  <m:sSubPr>
                                    <m:ctrlPr>
                                      <a:rPr lang="en-CA" sz="3000" b="0" i="1" smtClean="0">
                                        <a:latin typeface="Cambria Math" panose="02040503050406030204" pitchFamily="18" charset="0"/>
                                      </a:rPr>
                                    </m:ctrlPr>
                                  </m:sSubPr>
                                  <m:e>
                                    <m:r>
                                      <a:rPr lang="en-CA" sz="3000" b="0" i="1" smtClean="0">
                                        <a:latin typeface="Cambria Math" panose="02040503050406030204" pitchFamily="18" charset="0"/>
                                      </a:rPr>
                                      <m:t>𝐹</m:t>
                                    </m:r>
                                  </m:e>
                                  <m:sub>
                                    <m:r>
                                      <a:rPr lang="en-CA" sz="3000" b="0" i="1" smtClean="0">
                                        <a:latin typeface="Cambria Math" panose="02040503050406030204" pitchFamily="18" charset="0"/>
                                      </a:rPr>
                                      <m:t>𝐵𝑦</m:t>
                                    </m:r>
                                  </m:sub>
                                </m:sSub>
                              </m:oMath>
                            </m:oMathPara>
                          </a14:m>
                          <a:endParaRPr lang="en-CA" sz="3000" dirty="0"/>
                        </a:p>
                      </a:txBody>
                      <a:tcPr/>
                    </a:tc>
                    <a:tc gridSpan="3">
                      <a:txBody>
                        <a:bodyPr/>
                        <a:lstStyle/>
                        <a:p>
                          <a:pPr algn="ctr"/>
                          <a:endParaRPr lang="en-CA" sz="3000" dirty="0"/>
                        </a:p>
                      </a:txBody>
                      <a:tcPr/>
                    </a:tc>
                    <a:tc hMerge="1">
                      <a:txBody>
                        <a:bodyPr/>
                        <a:lstStyle/>
                        <a:p>
                          <a:endParaRPr lang="en-CA" sz="3000" dirty="0"/>
                        </a:p>
                      </a:txBody>
                      <a:tcPr/>
                    </a:tc>
                    <a:tc hMerge="1">
                      <a:txBody>
                        <a:bodyPr/>
                        <a:lstStyle/>
                        <a:p>
                          <a:endParaRPr lang="en-CA" sz="3000" dirty="0"/>
                        </a:p>
                      </a:txBody>
                      <a:tcPr/>
                    </a:tc>
                    <a:extLst>
                      <a:ext uri="{0D108BD9-81ED-4DB2-BD59-A6C34878D82A}">
                        <a16:rowId xmlns:a16="http://schemas.microsoft.com/office/drawing/2014/main" val="2799978449"/>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1147802799"/>
                  </p:ext>
                </p:extLst>
              </p:nvPr>
            </p:nvGraphicFramePr>
            <p:xfrm>
              <a:off x="436879" y="182879"/>
              <a:ext cx="8169911" cy="4667108"/>
            </p:xfrm>
            <a:graphic>
              <a:graphicData uri="http://schemas.openxmlformats.org/drawingml/2006/table">
                <a:tbl>
                  <a:tblPr firstRow="1" bandRow="1">
                    <a:tableStyleId>{5940675A-B579-460E-94D1-54222C63F5DA}</a:tableStyleId>
                  </a:tblPr>
                  <a:tblGrid>
                    <a:gridCol w="1211673">
                      <a:extLst>
                        <a:ext uri="{9D8B030D-6E8A-4147-A177-3AD203B41FA5}">
                          <a16:colId xmlns:a16="http://schemas.microsoft.com/office/drawing/2014/main" val="413565764"/>
                        </a:ext>
                      </a:extLst>
                    </a:gridCol>
                    <a:gridCol w="2130968">
                      <a:extLst>
                        <a:ext uri="{9D8B030D-6E8A-4147-A177-3AD203B41FA5}">
                          <a16:colId xmlns:a16="http://schemas.microsoft.com/office/drawing/2014/main" val="1407388995"/>
                        </a:ext>
                      </a:extLst>
                    </a:gridCol>
                    <a:gridCol w="2346960">
                      <a:extLst>
                        <a:ext uri="{9D8B030D-6E8A-4147-A177-3AD203B41FA5}">
                          <a16:colId xmlns:a16="http://schemas.microsoft.com/office/drawing/2014/main" val="761770925"/>
                        </a:ext>
                      </a:extLst>
                    </a:gridCol>
                    <a:gridCol w="2480310">
                      <a:extLst>
                        <a:ext uri="{9D8B030D-6E8A-4147-A177-3AD203B41FA5}">
                          <a16:colId xmlns:a16="http://schemas.microsoft.com/office/drawing/2014/main" val="1638402665"/>
                        </a:ext>
                      </a:extLst>
                    </a:gridCol>
                  </a:tblGrid>
                  <a:tr h="396240">
                    <a:tc>
                      <a:txBody>
                        <a:bodyPr/>
                        <a:lstStyle/>
                        <a:p>
                          <a:pPr algn="ctr"/>
                          <a:endParaRPr lang="en-CA" sz="2000" b="1" dirty="0">
                            <a:latin typeface="Myriad Web Pro"/>
                          </a:endParaRPr>
                        </a:p>
                      </a:txBody>
                      <a:tcPr/>
                    </a:tc>
                    <a:tc>
                      <a:txBody>
                        <a:bodyPr/>
                        <a:lstStyle/>
                        <a:p>
                          <a:pPr algn="ctr"/>
                          <a:r>
                            <a:rPr lang="en-CA" sz="2000" b="1" dirty="0">
                              <a:latin typeface="Myriad Web Pro"/>
                            </a:rPr>
                            <a:t>Section 1</a:t>
                          </a:r>
                        </a:p>
                      </a:txBody>
                      <a:tcPr/>
                    </a:tc>
                    <a:tc>
                      <a:txBody>
                        <a:bodyPr/>
                        <a:lstStyle/>
                        <a:p>
                          <a:pPr algn="ctr"/>
                          <a:r>
                            <a:rPr lang="en-CA" sz="2000" b="1" dirty="0">
                              <a:latin typeface="Myriad Web Pro"/>
                            </a:rPr>
                            <a:t>Section 2</a:t>
                          </a:r>
                        </a:p>
                      </a:txBody>
                      <a:tcPr/>
                    </a:tc>
                    <a:tc>
                      <a:txBody>
                        <a:bodyPr/>
                        <a:lstStyle/>
                        <a:p>
                          <a:pPr algn="ctr"/>
                          <a:r>
                            <a:rPr lang="en-CA" sz="2000" b="1" dirty="0">
                              <a:latin typeface="Myriad Web Pro"/>
                            </a:rPr>
                            <a:t>Section 3</a:t>
                          </a:r>
                        </a:p>
                      </a:txBody>
                      <a:tcPr/>
                    </a:tc>
                    <a:extLst>
                      <a:ext uri="{0D108BD9-81ED-4DB2-BD59-A6C34878D82A}">
                        <a16:rowId xmlns:a16="http://schemas.microsoft.com/office/drawing/2014/main" val="932439137"/>
                      </a:ext>
                    </a:extLst>
                  </a:tr>
                  <a:tr h="610124">
                    <a:tc>
                      <a:txBody>
                        <a:bodyPr/>
                        <a:lstStyle/>
                        <a:p>
                          <a:endParaRPr lang="en-GH"/>
                        </a:p>
                      </a:txBody>
                      <a:tcPr>
                        <a:blipFill>
                          <a:blip r:embed="rId3"/>
                          <a:stretch>
                            <a:fillRect l="-503" t="-69000" r="-574874" b="-604000"/>
                          </a:stretch>
                        </a:blipFill>
                      </a:tcPr>
                    </a:tc>
                    <a:tc>
                      <a:txBody>
                        <a:bodyPr/>
                        <a:lstStyle/>
                        <a:p>
                          <a:pPr algn="ctr"/>
                          <a:endParaRPr lang="en-CA" sz="3000"/>
                        </a:p>
                      </a:txBody>
                      <a:tcPr/>
                    </a:tc>
                    <a:tc>
                      <a:txBody>
                        <a:bodyPr/>
                        <a:lstStyle/>
                        <a:p>
                          <a:pPr algn="ctr"/>
                          <a:endParaRPr lang="en-CA" sz="3000"/>
                        </a:p>
                      </a:txBody>
                      <a:tcPr/>
                    </a:tc>
                    <a:tc>
                      <a:txBody>
                        <a:bodyPr/>
                        <a:lstStyle/>
                        <a:p>
                          <a:pPr algn="ctr"/>
                          <a:endParaRPr lang="en-CA" sz="3000"/>
                        </a:p>
                      </a:txBody>
                      <a:tcPr/>
                    </a:tc>
                    <a:extLst>
                      <a:ext uri="{0D108BD9-81ED-4DB2-BD59-A6C34878D82A}">
                        <a16:rowId xmlns:a16="http://schemas.microsoft.com/office/drawing/2014/main" val="2056799819"/>
                      </a:ext>
                    </a:extLst>
                  </a:tr>
                  <a:tr h="610124">
                    <a:tc>
                      <a:txBody>
                        <a:bodyPr/>
                        <a:lstStyle/>
                        <a:p>
                          <a:endParaRPr lang="en-GH"/>
                        </a:p>
                      </a:txBody>
                      <a:tcPr>
                        <a:blipFill>
                          <a:blip r:embed="rId3"/>
                          <a:stretch>
                            <a:fillRect l="-503" t="-167327" r="-574874" b="-498020"/>
                          </a:stretch>
                        </a:blipFill>
                      </a:tcPr>
                    </a:tc>
                    <a:tc>
                      <a:txBody>
                        <a:bodyPr/>
                        <a:lstStyle/>
                        <a:p>
                          <a:pPr algn="ctr"/>
                          <a:endParaRPr lang="en-CA" sz="3000" dirty="0"/>
                        </a:p>
                      </a:txBody>
                      <a:tcPr/>
                    </a:tc>
                    <a:tc>
                      <a:txBody>
                        <a:bodyPr/>
                        <a:lstStyle/>
                        <a:p>
                          <a:pPr algn="ctr"/>
                          <a:endParaRPr lang="en-CA" sz="3000"/>
                        </a:p>
                      </a:txBody>
                      <a:tcPr/>
                    </a:tc>
                    <a:tc>
                      <a:txBody>
                        <a:bodyPr/>
                        <a:lstStyle/>
                        <a:p>
                          <a:pPr algn="ctr"/>
                          <a:endParaRPr lang="en-CA" sz="3000"/>
                        </a:p>
                      </a:txBody>
                      <a:tcPr/>
                    </a:tc>
                    <a:extLst>
                      <a:ext uri="{0D108BD9-81ED-4DB2-BD59-A6C34878D82A}">
                        <a16:rowId xmlns:a16="http://schemas.microsoft.com/office/drawing/2014/main" val="1285064057"/>
                      </a:ext>
                    </a:extLst>
                  </a:tr>
                  <a:tr h="610124">
                    <a:tc>
                      <a:txBody>
                        <a:bodyPr/>
                        <a:lstStyle/>
                        <a:p>
                          <a:endParaRPr lang="en-GH"/>
                        </a:p>
                      </a:txBody>
                      <a:tcPr>
                        <a:blipFill>
                          <a:blip r:embed="rId3"/>
                          <a:stretch>
                            <a:fillRect l="-503" t="-270000" r="-574874" b="-403000"/>
                          </a:stretch>
                        </a:blipFill>
                      </a:tcPr>
                    </a:tc>
                    <a:tc>
                      <a:txBody>
                        <a:bodyPr/>
                        <a:lstStyle/>
                        <a:p>
                          <a:pPr algn="ctr"/>
                          <a:endParaRPr lang="en-CA" sz="3000" dirty="0"/>
                        </a:p>
                      </a:txBody>
                      <a:tcPr/>
                    </a:tc>
                    <a:tc>
                      <a:txBody>
                        <a:bodyPr/>
                        <a:lstStyle/>
                        <a:p>
                          <a:pPr algn="ctr"/>
                          <a:endParaRPr lang="en-CA" sz="3000"/>
                        </a:p>
                      </a:txBody>
                      <a:tcPr/>
                    </a:tc>
                    <a:tc>
                      <a:txBody>
                        <a:bodyPr/>
                        <a:lstStyle/>
                        <a:p>
                          <a:pPr algn="ctr"/>
                          <a:endParaRPr lang="en-CA" sz="3000"/>
                        </a:p>
                      </a:txBody>
                      <a:tcPr/>
                    </a:tc>
                    <a:extLst>
                      <a:ext uri="{0D108BD9-81ED-4DB2-BD59-A6C34878D82A}">
                        <a16:rowId xmlns:a16="http://schemas.microsoft.com/office/drawing/2014/main" val="1799741004"/>
                      </a:ext>
                    </a:extLst>
                  </a:tr>
                  <a:tr h="610124">
                    <a:tc>
                      <a:txBody>
                        <a:bodyPr/>
                        <a:lstStyle/>
                        <a:p>
                          <a:endParaRPr lang="en-GH"/>
                        </a:p>
                      </a:txBody>
                      <a:tcPr>
                        <a:blipFill>
                          <a:blip r:embed="rId3"/>
                          <a:stretch>
                            <a:fillRect l="-503" t="-370000" r="-574874" b="-303000"/>
                          </a:stretch>
                        </a:blipFill>
                      </a:tcPr>
                    </a:tc>
                    <a:tc>
                      <a:txBody>
                        <a:bodyPr/>
                        <a:lstStyle/>
                        <a:p>
                          <a:pPr algn="ctr"/>
                          <a:endParaRPr lang="en-CA" sz="3000" dirty="0"/>
                        </a:p>
                      </a:txBody>
                      <a:tcPr/>
                    </a:tc>
                    <a:tc>
                      <a:txBody>
                        <a:bodyPr/>
                        <a:lstStyle/>
                        <a:p>
                          <a:pPr algn="ctr"/>
                          <a:endParaRPr lang="en-CA" sz="3000" dirty="0"/>
                        </a:p>
                      </a:txBody>
                      <a:tcPr/>
                    </a:tc>
                    <a:tc>
                      <a:txBody>
                        <a:bodyPr/>
                        <a:lstStyle/>
                        <a:p>
                          <a:pPr algn="ctr"/>
                          <a:endParaRPr lang="en-CA" sz="3000" dirty="0"/>
                        </a:p>
                      </a:txBody>
                      <a:tcPr/>
                    </a:tc>
                    <a:extLst>
                      <a:ext uri="{0D108BD9-81ED-4DB2-BD59-A6C34878D82A}">
                        <a16:rowId xmlns:a16="http://schemas.microsoft.com/office/drawing/2014/main" val="3751886580"/>
                      </a:ext>
                    </a:extLst>
                  </a:tr>
                  <a:tr h="610124">
                    <a:tc>
                      <a:txBody>
                        <a:bodyPr/>
                        <a:lstStyle/>
                        <a:p>
                          <a:endParaRPr lang="en-GH"/>
                        </a:p>
                      </a:txBody>
                      <a:tcPr>
                        <a:blipFill>
                          <a:blip r:embed="rId3"/>
                          <a:stretch>
                            <a:fillRect l="-503" t="-470000" r="-574874" b="-203000"/>
                          </a:stretch>
                        </a:blipFill>
                      </a:tcPr>
                    </a:tc>
                    <a:tc>
                      <a:txBody>
                        <a:bodyPr/>
                        <a:lstStyle/>
                        <a:p>
                          <a:pPr algn="ctr"/>
                          <a:endParaRPr lang="en-CA" sz="3000"/>
                        </a:p>
                      </a:txBody>
                      <a:tcPr/>
                    </a:tc>
                    <a:tc>
                      <a:txBody>
                        <a:bodyPr/>
                        <a:lstStyle/>
                        <a:p>
                          <a:pPr algn="ctr"/>
                          <a:endParaRPr lang="en-CA" sz="3000" dirty="0"/>
                        </a:p>
                      </a:txBody>
                      <a:tcPr/>
                    </a:tc>
                    <a:tc>
                      <a:txBody>
                        <a:bodyPr/>
                        <a:lstStyle/>
                        <a:p>
                          <a:pPr algn="ctr"/>
                          <a:endParaRPr lang="en-CA" sz="3000" dirty="0"/>
                        </a:p>
                      </a:txBody>
                      <a:tcPr/>
                    </a:tc>
                    <a:extLst>
                      <a:ext uri="{0D108BD9-81ED-4DB2-BD59-A6C34878D82A}">
                        <a16:rowId xmlns:a16="http://schemas.microsoft.com/office/drawing/2014/main" val="166420519"/>
                      </a:ext>
                    </a:extLst>
                  </a:tr>
                  <a:tr h="610124">
                    <a:tc>
                      <a:txBody>
                        <a:bodyPr/>
                        <a:lstStyle/>
                        <a:p>
                          <a:endParaRPr lang="en-GH"/>
                        </a:p>
                      </a:txBody>
                      <a:tcPr>
                        <a:blipFill>
                          <a:blip r:embed="rId3"/>
                          <a:stretch>
                            <a:fillRect l="-503" t="-564356" r="-574874" b="-100990"/>
                          </a:stretch>
                        </a:blipFill>
                      </a:tcPr>
                    </a:tc>
                    <a:tc gridSpan="3">
                      <a:txBody>
                        <a:bodyPr/>
                        <a:lstStyle/>
                        <a:p>
                          <a:pPr algn="ctr"/>
                          <a:endParaRPr lang="en-CA" sz="3000" dirty="0"/>
                        </a:p>
                      </a:txBody>
                      <a:tcPr/>
                    </a:tc>
                    <a:tc hMerge="1">
                      <a:txBody>
                        <a:bodyPr/>
                        <a:lstStyle/>
                        <a:p>
                          <a:endParaRPr lang="en-CA" sz="3000" dirty="0"/>
                        </a:p>
                      </a:txBody>
                      <a:tcPr/>
                    </a:tc>
                    <a:tc hMerge="1">
                      <a:txBody>
                        <a:bodyPr/>
                        <a:lstStyle/>
                        <a:p>
                          <a:endParaRPr lang="en-CA" sz="3000" dirty="0"/>
                        </a:p>
                      </a:txBody>
                      <a:tcPr/>
                    </a:tc>
                    <a:extLst>
                      <a:ext uri="{0D108BD9-81ED-4DB2-BD59-A6C34878D82A}">
                        <a16:rowId xmlns:a16="http://schemas.microsoft.com/office/drawing/2014/main" val="1050005715"/>
                      </a:ext>
                    </a:extLst>
                  </a:tr>
                  <a:tr h="610124">
                    <a:tc>
                      <a:txBody>
                        <a:bodyPr/>
                        <a:lstStyle/>
                        <a:p>
                          <a:endParaRPr lang="en-GH"/>
                        </a:p>
                      </a:txBody>
                      <a:tcPr>
                        <a:blipFill>
                          <a:blip r:embed="rId3"/>
                          <a:stretch>
                            <a:fillRect l="-503" t="-671000" r="-574874" b="-2000"/>
                          </a:stretch>
                        </a:blipFill>
                      </a:tcPr>
                    </a:tc>
                    <a:tc gridSpan="3">
                      <a:txBody>
                        <a:bodyPr/>
                        <a:lstStyle/>
                        <a:p>
                          <a:pPr algn="ctr"/>
                          <a:endParaRPr lang="en-CA" sz="3000" dirty="0"/>
                        </a:p>
                      </a:txBody>
                      <a:tcPr/>
                    </a:tc>
                    <a:tc hMerge="1">
                      <a:txBody>
                        <a:bodyPr/>
                        <a:lstStyle/>
                        <a:p>
                          <a:endParaRPr lang="en-CA" sz="3000" dirty="0"/>
                        </a:p>
                      </a:txBody>
                      <a:tcPr/>
                    </a:tc>
                    <a:tc hMerge="1">
                      <a:txBody>
                        <a:bodyPr/>
                        <a:lstStyle/>
                        <a:p>
                          <a:endParaRPr lang="en-CA" sz="3000" dirty="0"/>
                        </a:p>
                      </a:txBody>
                      <a:tcPr/>
                    </a:tc>
                    <a:extLst>
                      <a:ext uri="{0D108BD9-81ED-4DB2-BD59-A6C34878D82A}">
                        <a16:rowId xmlns:a16="http://schemas.microsoft.com/office/drawing/2014/main" val="2799978449"/>
                      </a:ext>
                    </a:extLst>
                  </a:tr>
                </a:tbl>
              </a:graphicData>
            </a:graphic>
          </p:graphicFrame>
        </mc:Fallback>
      </mc:AlternateContent>
      <p:sp>
        <p:nvSpPr>
          <p:cNvPr id="2" name="Slide Number Placeholder 1">
            <a:extLst>
              <a:ext uri="{FF2B5EF4-FFF2-40B4-BE49-F238E27FC236}">
                <a16:creationId xmlns:a16="http://schemas.microsoft.com/office/drawing/2014/main" id="{40A1324D-5F33-7F0F-3292-7BFDD1FBC56E}"/>
              </a:ext>
            </a:extLst>
          </p:cNvPr>
          <p:cNvSpPr>
            <a:spLocks noGrp="1"/>
          </p:cNvSpPr>
          <p:nvPr>
            <p:ph type="sldNum" sz="quarter" idx="12"/>
          </p:nvPr>
        </p:nvSpPr>
        <p:spPr/>
        <p:txBody>
          <a:bodyPr/>
          <a:lstStyle/>
          <a:p>
            <a:fld id="{49FCB85E-0F77-4855-90A7-7A1B61BB679B}" type="slidenum">
              <a:rPr lang="en-CA" smtClean="0"/>
              <a:t>37</a:t>
            </a:fld>
            <a:endParaRPr lang="en-CA"/>
          </a:p>
        </p:txBody>
      </p:sp>
    </p:spTree>
    <p:extLst>
      <p:ext uri="{BB962C8B-B14F-4D97-AF65-F5344CB8AC3E}">
        <p14:creationId xmlns:p14="http://schemas.microsoft.com/office/powerpoint/2010/main" val="36703110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847" y="0"/>
            <a:ext cx="7886700" cy="367015"/>
          </a:xfrm>
        </p:spPr>
        <p:txBody>
          <a:bodyPr>
            <a:normAutofit fontScale="90000"/>
          </a:bodyPr>
          <a:lstStyle/>
          <a:p>
            <a:r>
              <a:rPr lang="en-US" sz="2800" b="1" dirty="0">
                <a:solidFill>
                  <a:schemeClr val="tx1"/>
                </a:solidFill>
              </a:rPr>
              <a:t>Force Exerted by a Flowing Fluid on a Pipe Bend</a:t>
            </a:r>
            <a:endParaRPr lang="en-US" sz="2800" dirty="0">
              <a:solidFill>
                <a:schemeClr val="tx1"/>
              </a:solidFill>
            </a:endParaRPr>
          </a:p>
        </p:txBody>
      </p:sp>
      <p:sp>
        <p:nvSpPr>
          <p:cNvPr id="3" name="Content Placeholder 2"/>
          <p:cNvSpPr>
            <a:spLocks noGrp="1"/>
          </p:cNvSpPr>
          <p:nvPr>
            <p:ph sz="half" idx="1"/>
          </p:nvPr>
        </p:nvSpPr>
        <p:spPr>
          <a:xfrm>
            <a:off x="0" y="3786373"/>
            <a:ext cx="9143999" cy="2135220"/>
          </a:xfrm>
        </p:spPr>
        <p:txBody>
          <a:bodyPr>
            <a:noAutofit/>
          </a:bodyPr>
          <a:lstStyle/>
          <a:p>
            <a:r>
              <a:rPr lang="en-US" sz="2000" dirty="0"/>
              <a:t>Let </a:t>
            </a:r>
            <a:r>
              <a:rPr lang="en-US" sz="2000" dirty="0" err="1"/>
              <a:t>F</a:t>
            </a:r>
            <a:r>
              <a:rPr lang="en-US" sz="2000" baseline="-25000" dirty="0" err="1"/>
              <a:t>x</a:t>
            </a:r>
            <a:r>
              <a:rPr lang="en-US" sz="2000" dirty="0"/>
              <a:t> and </a:t>
            </a:r>
            <a:r>
              <a:rPr lang="en-US" sz="2000" dirty="0" err="1"/>
              <a:t>F</a:t>
            </a:r>
            <a:r>
              <a:rPr lang="en-US" sz="2000" baseline="-25000" dirty="0" err="1"/>
              <a:t>y</a:t>
            </a:r>
            <a:r>
              <a:rPr lang="en-US" sz="2000" dirty="0"/>
              <a:t> be the components of the force exerted by the flowing fluid on the bend in the x and y –directions respectively, </a:t>
            </a:r>
          </a:p>
          <a:p>
            <a:r>
              <a:rPr lang="en-US" sz="2000" dirty="0"/>
              <a:t>then the force exerted by the bend on the fluid in the direction of  x and y will be equal to </a:t>
            </a:r>
            <a:r>
              <a:rPr lang="en-US" sz="2000" dirty="0" err="1"/>
              <a:t>F</a:t>
            </a:r>
            <a:r>
              <a:rPr lang="en-US" sz="2000" baseline="-25000" dirty="0" err="1"/>
              <a:t>x</a:t>
            </a:r>
            <a:r>
              <a:rPr lang="en-US" sz="2000" dirty="0"/>
              <a:t> and </a:t>
            </a:r>
            <a:r>
              <a:rPr lang="en-US" sz="2000" dirty="0" err="1"/>
              <a:t>F</a:t>
            </a:r>
            <a:r>
              <a:rPr lang="en-US" sz="2000" baseline="-25000" dirty="0" err="1"/>
              <a:t>y</a:t>
            </a:r>
            <a:r>
              <a:rPr lang="en-US" sz="2000" dirty="0"/>
              <a:t> but in the opposite </a:t>
            </a:r>
            <a:r>
              <a:rPr lang="en-US" sz="2000" dirty="0" err="1"/>
              <a:t>i.e</a:t>
            </a:r>
            <a:r>
              <a:rPr lang="en-US" sz="2000" dirty="0"/>
              <a:t> in x – direction = - </a:t>
            </a:r>
            <a:r>
              <a:rPr lang="en-US" sz="2000" dirty="0" err="1"/>
              <a:t>F</a:t>
            </a:r>
            <a:r>
              <a:rPr lang="en-US" sz="2000" baseline="-25000" dirty="0" err="1"/>
              <a:t>x</a:t>
            </a:r>
            <a:r>
              <a:rPr lang="en-US" sz="2000" dirty="0"/>
              <a:t> and y – direction = -</a:t>
            </a:r>
            <a:r>
              <a:rPr lang="en-US" sz="2000" dirty="0" err="1"/>
              <a:t>F</a:t>
            </a:r>
            <a:r>
              <a:rPr lang="en-US" sz="2000" baseline="-25000" dirty="0" err="1"/>
              <a:t>y</a:t>
            </a:r>
            <a:endParaRPr lang="en-US" sz="2000" baseline="-25000" dirty="0"/>
          </a:p>
          <a:p>
            <a:r>
              <a:rPr lang="en-US" sz="2000" dirty="0"/>
              <a:t>The other external forces on the fluid are P</a:t>
            </a:r>
            <a:r>
              <a:rPr lang="en-US" sz="2000" baseline="-25000" dirty="0"/>
              <a:t>1</a:t>
            </a:r>
            <a:r>
              <a:rPr lang="en-US" sz="2000" dirty="0"/>
              <a:t> A</a:t>
            </a:r>
            <a:r>
              <a:rPr lang="en-US" sz="2000" baseline="-25000" dirty="0"/>
              <a:t>1</a:t>
            </a:r>
            <a:r>
              <a:rPr lang="en-US" sz="2000" dirty="0"/>
              <a:t> and P</a:t>
            </a:r>
            <a:r>
              <a:rPr lang="en-US" sz="2000" baseline="-25000" dirty="0"/>
              <a:t>2</a:t>
            </a:r>
            <a:r>
              <a:rPr lang="en-US" sz="2000" dirty="0"/>
              <a:t> A</a:t>
            </a:r>
            <a:r>
              <a:rPr lang="en-US" sz="2000" baseline="-25000" dirty="0"/>
              <a:t>2</a:t>
            </a:r>
            <a:r>
              <a:rPr lang="en-US" sz="2000" dirty="0"/>
              <a:t> on section 1 and 2 respectively</a:t>
            </a:r>
          </a:p>
        </p:txBody>
      </p:sp>
      <p:pic>
        <p:nvPicPr>
          <p:cNvPr id="5" name="Content Placeholder 4" descr="C:\Users\KOFI\Documents\My Scans\scan0013.jpg"/>
          <p:cNvPicPr>
            <a:picLocks noGrp="1"/>
          </p:cNvPicPr>
          <p:nvPr>
            <p:ph sz="half" idx="2"/>
          </p:nvPr>
        </p:nvPicPr>
        <p:blipFill rotWithShape="1">
          <a:blip r:embed="rId3" cstate="print">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7865" t="6840" r="9551" b="7832"/>
          <a:stretch/>
        </p:blipFill>
        <p:spPr bwMode="auto">
          <a:xfrm>
            <a:off x="1225296" y="413492"/>
            <a:ext cx="5522976" cy="3280684"/>
          </a:xfrm>
          <a:prstGeom prst="rect">
            <a:avLst/>
          </a:prstGeom>
          <a:noFill/>
          <a:ln>
            <a:noFill/>
          </a:ln>
          <a:extLst>
            <a:ext uri="{53640926-AAD7-44D8-BBD7-CCE9431645EC}">
              <a14:shadowObscured xmlns:a14="http://schemas.microsoft.com/office/drawing/2010/main"/>
            </a:ext>
          </a:extLst>
        </p:spPr>
      </p:pic>
      <p:sp>
        <p:nvSpPr>
          <p:cNvPr id="4" name="Slide Number Placeholder 3">
            <a:extLst>
              <a:ext uri="{FF2B5EF4-FFF2-40B4-BE49-F238E27FC236}">
                <a16:creationId xmlns:a16="http://schemas.microsoft.com/office/drawing/2014/main" id="{464BCB17-85B7-EB87-F5EB-EB9E310894B6}"/>
              </a:ext>
            </a:extLst>
          </p:cNvPr>
          <p:cNvSpPr>
            <a:spLocks noGrp="1"/>
          </p:cNvSpPr>
          <p:nvPr>
            <p:ph type="sldNum" sz="quarter" idx="12"/>
          </p:nvPr>
        </p:nvSpPr>
        <p:spPr/>
        <p:txBody>
          <a:bodyPr/>
          <a:lstStyle/>
          <a:p>
            <a:fld id="{49FCB85E-0F77-4855-90A7-7A1B61BB679B}" type="slidenum">
              <a:rPr lang="en-CA" smtClean="0"/>
              <a:t>38</a:t>
            </a:fld>
            <a:endParaRPr lang="en-CA"/>
          </a:p>
        </p:txBody>
      </p:sp>
    </p:spTree>
    <p:extLst>
      <p:ext uri="{BB962C8B-B14F-4D97-AF65-F5344CB8AC3E}">
        <p14:creationId xmlns:p14="http://schemas.microsoft.com/office/powerpoint/2010/main" val="38733718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050" y="0"/>
            <a:ext cx="7886700" cy="476250"/>
          </a:xfrm>
        </p:spPr>
        <p:txBody>
          <a:bodyPr>
            <a:normAutofit fontScale="90000"/>
          </a:bodyPr>
          <a:lstStyle/>
          <a:p>
            <a:r>
              <a:rPr lang="en-US" sz="3200" b="1" dirty="0">
                <a:solidFill>
                  <a:schemeClr val="tx1"/>
                </a:solidFill>
              </a:rPr>
              <a:t>Force Exerted by a Flowing Fluid on a Pipe Bend</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6042" y="476250"/>
                <a:ext cx="7886700" cy="5348478"/>
              </a:xfrm>
            </p:spPr>
            <p:txBody>
              <a:bodyPr>
                <a:normAutofit/>
              </a:bodyPr>
              <a:lstStyle/>
              <a:p>
                <a:pPr marL="0" indent="0">
                  <a:buNone/>
                </a:pPr>
                <a14:m>
                  <m:oMathPara xmlns:m="http://schemas.openxmlformats.org/officeDocument/2006/math">
                    <m:oMathParaPr>
                      <m:jc m:val="left"/>
                    </m:oMathParaPr>
                    <m:oMath xmlns:m="http://schemas.openxmlformats.org/officeDocument/2006/math">
                      <m:sSub>
                        <m:sSubPr>
                          <m:ctrlPr>
                            <a:rPr lang="en-CA" sz="2400" b="1" i="1" smtClean="0">
                              <a:solidFill>
                                <a:schemeClr val="tx1"/>
                              </a:solidFill>
                              <a:latin typeface="Cambria Math" panose="02040503050406030204" pitchFamily="18" charset="0"/>
                            </a:rPr>
                          </m:ctrlPr>
                        </m:sSubPr>
                        <m:e>
                          <m:r>
                            <a:rPr lang="en-CA" sz="2400" b="1" i="1" smtClean="0">
                              <a:solidFill>
                                <a:schemeClr val="tx1"/>
                              </a:solidFill>
                              <a:latin typeface="Cambria Math" panose="02040503050406030204" pitchFamily="18" charset="0"/>
                            </a:rPr>
                            <m:t>∑</m:t>
                          </m:r>
                          <m:r>
                            <a:rPr lang="en-GB" sz="2400" b="1" i="1" smtClean="0">
                              <a:solidFill>
                                <a:schemeClr val="tx1"/>
                              </a:solidFill>
                              <a:latin typeface="Cambria Math" panose="02040503050406030204" pitchFamily="18" charset="0"/>
                            </a:rPr>
                            <m:t>𝑭</m:t>
                          </m:r>
                          <m:r>
                            <a:rPr lang="en-GB" sz="2400" b="1" i="1" baseline="-25000" smtClean="0">
                              <a:solidFill>
                                <a:schemeClr val="tx1"/>
                              </a:solidFill>
                              <a:latin typeface="Cambria Math" panose="02040503050406030204" pitchFamily="18" charset="0"/>
                            </a:rPr>
                            <m:t>𝒙</m:t>
                          </m:r>
                          <m:r>
                            <a:rPr lang="en-GB" sz="2400" b="1" i="1" smtClean="0">
                              <a:solidFill>
                                <a:schemeClr val="tx1"/>
                              </a:solidFill>
                              <a:latin typeface="Cambria Math" panose="02040503050406030204" pitchFamily="18" charset="0"/>
                            </a:rPr>
                            <m:t>=</m:t>
                          </m:r>
                          <m:r>
                            <a:rPr lang="en-CA" sz="2400" b="1" i="1">
                              <a:solidFill>
                                <a:schemeClr val="tx1"/>
                              </a:solidFill>
                              <a:latin typeface="Cambria Math" panose="02040503050406030204" pitchFamily="18" charset="0"/>
                            </a:rPr>
                            <m:t>𝑭</m:t>
                          </m:r>
                        </m:e>
                        <m:sub>
                          <m:r>
                            <a:rPr lang="en-CA" sz="2400" b="1" i="1">
                              <a:solidFill>
                                <a:schemeClr val="tx1"/>
                              </a:solidFill>
                              <a:latin typeface="Cambria Math" panose="02040503050406030204" pitchFamily="18" charset="0"/>
                            </a:rPr>
                            <m:t>𝒔𝒙</m:t>
                          </m:r>
                        </m:sub>
                      </m:sSub>
                      <m:r>
                        <a:rPr lang="en-CA" sz="2400" b="1" i="1">
                          <a:solidFill>
                            <a:schemeClr val="tx1"/>
                          </a:solidFill>
                          <a:latin typeface="Cambria Math" panose="02040503050406030204" pitchFamily="18" charset="0"/>
                        </a:rPr>
                        <m:t>+</m:t>
                      </m:r>
                      <m:sSub>
                        <m:sSubPr>
                          <m:ctrlPr>
                            <a:rPr lang="en-CA" sz="2400" b="1" i="1">
                              <a:solidFill>
                                <a:schemeClr val="tx1"/>
                              </a:solidFill>
                              <a:latin typeface="Cambria Math" panose="02040503050406030204" pitchFamily="18" charset="0"/>
                            </a:rPr>
                          </m:ctrlPr>
                        </m:sSubPr>
                        <m:e>
                          <m:r>
                            <a:rPr lang="en-CA" sz="2400" b="1" i="1">
                              <a:solidFill>
                                <a:schemeClr val="tx1"/>
                              </a:solidFill>
                              <a:latin typeface="Cambria Math" panose="02040503050406030204" pitchFamily="18" charset="0"/>
                            </a:rPr>
                            <m:t>𝑭</m:t>
                          </m:r>
                        </m:e>
                        <m:sub>
                          <m:r>
                            <a:rPr lang="en-CA" sz="2400" b="1" i="1">
                              <a:solidFill>
                                <a:schemeClr val="tx1"/>
                              </a:solidFill>
                              <a:latin typeface="Cambria Math" panose="02040503050406030204" pitchFamily="18" charset="0"/>
                            </a:rPr>
                            <m:t>𝑩𝒙</m:t>
                          </m:r>
                        </m:sub>
                      </m:sSub>
                      <m:r>
                        <a:rPr lang="en-CA" sz="2400" b="1" i="1">
                          <a:solidFill>
                            <a:schemeClr val="tx1"/>
                          </a:solidFill>
                          <a:latin typeface="Cambria Math" panose="02040503050406030204" pitchFamily="18" charset="0"/>
                        </a:rPr>
                        <m:t>=</m:t>
                      </m:r>
                      <m:f>
                        <m:fPr>
                          <m:ctrlPr>
                            <a:rPr lang="en-CA" sz="2400" b="1" i="1">
                              <a:solidFill>
                                <a:schemeClr val="tx1"/>
                              </a:solidFill>
                              <a:latin typeface="Cambria Math" panose="02040503050406030204" pitchFamily="18" charset="0"/>
                            </a:rPr>
                          </m:ctrlPr>
                        </m:fPr>
                        <m:num>
                          <m:r>
                            <a:rPr lang="en-CA" sz="2400" b="1" i="1">
                              <a:solidFill>
                                <a:schemeClr val="tx1"/>
                              </a:solidFill>
                              <a:latin typeface="Cambria Math" panose="02040503050406030204" pitchFamily="18" charset="0"/>
                              <a:ea typeface="Cambria Math" panose="02040503050406030204" pitchFamily="18" charset="0"/>
                            </a:rPr>
                            <m:t>𝝏</m:t>
                          </m:r>
                        </m:num>
                        <m:den>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𝒕</m:t>
                          </m:r>
                        </m:den>
                      </m:f>
                      <m:nary>
                        <m:naryPr>
                          <m:ctrlPr>
                            <a:rPr lang="en-CA" sz="2400" b="1" i="1">
                              <a:solidFill>
                                <a:schemeClr val="tx1"/>
                              </a:solidFill>
                              <a:latin typeface="Cambria Math" panose="02040503050406030204" pitchFamily="18" charset="0"/>
                            </a:rPr>
                          </m:ctrlPr>
                        </m:naryPr>
                        <m:sub>
                          <m:r>
                            <m:rPr>
                              <m:brk m:alnAt="23"/>
                            </m:rPr>
                            <a:rPr lang="en-CA" sz="2400" b="1" i="1">
                              <a:solidFill>
                                <a:schemeClr val="tx1"/>
                              </a:solidFill>
                              <a:latin typeface="Cambria Math" panose="02040503050406030204" pitchFamily="18" charset="0"/>
                            </a:rPr>
                            <m:t>𝑪</m:t>
                          </m:r>
                          <m:r>
                            <a:rPr lang="en-CA" sz="2400" b="1" i="1">
                              <a:solidFill>
                                <a:schemeClr val="tx1"/>
                              </a:solidFill>
                              <a:latin typeface="Cambria Math" panose="02040503050406030204" pitchFamily="18" charset="0"/>
                            </a:rPr>
                            <m:t>𝑽</m:t>
                          </m:r>
                        </m:sub>
                        <m:sup/>
                        <m:e>
                          <m:r>
                            <a:rPr lang="en-CA" sz="2400" b="1" i="1" smtClean="0">
                              <a:solidFill>
                                <a:schemeClr val="tx1"/>
                              </a:solidFill>
                              <a:latin typeface="Cambria Math" panose="02040503050406030204" pitchFamily="18" charset="0"/>
                              <a:ea typeface="Cambria Math" panose="02040503050406030204" pitchFamily="18" charset="0"/>
                            </a:rPr>
                            <m:t>𝒖</m:t>
                          </m:r>
                          <m:r>
                            <a:rPr lang="en-CA" sz="2400" b="1" i="1">
                              <a:solidFill>
                                <a:schemeClr val="tx1"/>
                              </a:solidFill>
                              <a:latin typeface="Cambria Math" panose="02040503050406030204" pitchFamily="18" charset="0"/>
                              <a:ea typeface="Cambria Math" panose="02040503050406030204" pitchFamily="18" charset="0"/>
                            </a:rPr>
                            <m:t>𝝆</m:t>
                          </m:r>
                          <m:r>
                            <a:rPr lang="en-CA" sz="2400" b="1" i="1">
                              <a:solidFill>
                                <a:schemeClr val="tx1"/>
                              </a:solidFill>
                              <a:latin typeface="Cambria Math" panose="02040503050406030204" pitchFamily="18" charset="0"/>
                              <a:ea typeface="Cambria Math" panose="02040503050406030204" pitchFamily="18" charset="0"/>
                            </a:rPr>
                            <m:t>𝒅</m:t>
                          </m:r>
                          <m:r>
                            <a:rPr lang="en-CA" sz="2400" b="1" i="1" smtClean="0">
                              <a:solidFill>
                                <a:schemeClr val="tx1"/>
                              </a:solidFill>
                              <a:latin typeface="Cambria Math" panose="02040503050406030204" pitchFamily="18" charset="0"/>
                              <a:ea typeface="Cambria Math" panose="02040503050406030204" pitchFamily="18" charset="0"/>
                            </a:rPr>
                            <m:t>∀</m:t>
                          </m:r>
                        </m:e>
                      </m:nary>
                      <m:r>
                        <a:rPr lang="en-CA" sz="2400" b="1">
                          <a:solidFill>
                            <a:schemeClr val="tx1"/>
                          </a:solidFill>
                          <a:latin typeface="Cambria Math" panose="02040503050406030204" pitchFamily="18" charset="0"/>
                          <a:ea typeface="Cambria Math" panose="02040503050406030204" pitchFamily="18" charset="0"/>
                        </a:rPr>
                        <m:t>+</m:t>
                      </m:r>
                      <m:nary>
                        <m:naryPr>
                          <m:chr m:val="∑"/>
                          <m:limLoc m:val="subSup"/>
                          <m:ctrlPr>
                            <a:rPr lang="en-CA" sz="2400" b="1" i="1">
                              <a:solidFill>
                                <a:schemeClr val="tx1"/>
                              </a:solidFill>
                              <a:latin typeface="Cambria Math" panose="02040503050406030204" pitchFamily="18" charset="0"/>
                              <a:ea typeface="Cambria Math" panose="02040503050406030204" pitchFamily="18" charset="0"/>
                            </a:rPr>
                          </m:ctrlPr>
                        </m:naryPr>
                        <m:sub>
                          <m:r>
                            <m:rPr>
                              <m:brk m:alnAt="25"/>
                            </m:rPr>
                            <a:rPr lang="en-CA" sz="2400" b="1" i="1">
                              <a:solidFill>
                                <a:schemeClr val="tx1"/>
                              </a:solidFill>
                              <a:latin typeface="Cambria Math" panose="02040503050406030204" pitchFamily="18" charset="0"/>
                              <a:ea typeface="Cambria Math" panose="02040503050406030204" pitchFamily="18" charset="0"/>
                            </a:rPr>
                            <m:t>𝑪</m:t>
                          </m:r>
                          <m:r>
                            <a:rPr lang="en-CA" sz="2400" b="1" i="1">
                              <a:solidFill>
                                <a:schemeClr val="tx1"/>
                              </a:solidFill>
                              <a:latin typeface="Cambria Math" panose="02040503050406030204" pitchFamily="18" charset="0"/>
                              <a:ea typeface="Cambria Math" panose="02040503050406030204" pitchFamily="18" charset="0"/>
                            </a:rPr>
                            <m:t>𝑺</m:t>
                          </m:r>
                        </m:sub>
                        <m:sup/>
                        <m:e>
                          <m:r>
                            <a:rPr lang="en-CA" sz="2400" b="1" i="1" smtClean="0">
                              <a:solidFill>
                                <a:schemeClr val="tx1"/>
                              </a:solidFill>
                              <a:latin typeface="Cambria Math" panose="02040503050406030204" pitchFamily="18" charset="0"/>
                              <a:ea typeface="Cambria Math" panose="02040503050406030204" pitchFamily="18" charset="0"/>
                            </a:rPr>
                            <m:t>𝒖</m:t>
                          </m:r>
                          <m:r>
                            <a:rPr lang="en-CA" sz="2400" b="1" i="1">
                              <a:solidFill>
                                <a:schemeClr val="tx1"/>
                              </a:solidFill>
                              <a:latin typeface="Cambria Math" panose="02040503050406030204" pitchFamily="18" charset="0"/>
                              <a:ea typeface="Cambria Math" panose="02040503050406030204" pitchFamily="18" charset="0"/>
                            </a:rPr>
                            <m:t>𝝆</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𝑽</m:t>
                              </m:r>
                            </m:e>
                          </m:acc>
                          <m:r>
                            <a:rPr lang="en-CA" sz="2400" b="1" i="1">
                              <a:solidFill>
                                <a:schemeClr val="tx1"/>
                              </a:solidFill>
                              <a:latin typeface="Cambria Math" panose="02040503050406030204" pitchFamily="18" charset="0"/>
                              <a:ea typeface="Cambria Math" panose="02040503050406030204" pitchFamily="18" charset="0"/>
                            </a:rPr>
                            <m:t>∙</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𝑨</m:t>
                              </m:r>
                            </m:e>
                          </m:acc>
                        </m:e>
                      </m:nary>
                    </m:oMath>
                  </m:oMathPara>
                </a14:m>
                <a:endParaRPr lang="en-US" dirty="0"/>
              </a:p>
              <a:p>
                <a:pPr marL="0" indent="0">
                  <a:buNone/>
                </a:pPr>
                <a:r>
                  <a:rPr lang="en-US" dirty="0"/>
                  <a:t>Net force acting on the fluid in the </a:t>
                </a:r>
                <a:r>
                  <a:rPr lang="en-US" i="1" dirty="0"/>
                  <a:t>x</a:t>
                </a:r>
                <a:r>
                  <a:rPr lang="en-US" dirty="0"/>
                  <a:t>- direction = rate of change of momentum in x- direction</a:t>
                </a:r>
              </a:p>
              <a:p>
                <a:pPr marL="0" indent="0">
                  <a:buNone/>
                </a:pPr>
                <a14:m>
                  <m:oMathPara xmlns:m="http://schemas.openxmlformats.org/officeDocument/2006/math">
                    <m:oMathParaPr>
                      <m:jc m:val="left"/>
                    </m:oMathParaPr>
                    <m:oMath xmlns:m="http://schemas.openxmlformats.org/officeDocument/2006/math">
                      <m:r>
                        <a:rPr lang="en-CA" b="1" i="1">
                          <a:latin typeface="Cambria Math" panose="02040503050406030204" pitchFamily="18" charset="0"/>
                        </a:rPr>
                        <m:t>∑</m:t>
                      </m:r>
                      <m:r>
                        <a:rPr lang="en-GB" b="1" i="1">
                          <a:latin typeface="Cambria Math" panose="02040503050406030204" pitchFamily="18" charset="0"/>
                        </a:rPr>
                        <m:t>𝑭</m:t>
                      </m:r>
                      <m:r>
                        <a:rPr lang="en-GB" b="1" i="1" baseline="-25000">
                          <a:latin typeface="Cambria Math" panose="02040503050406030204" pitchFamily="18" charset="0"/>
                        </a:rPr>
                        <m:t>𝒙</m:t>
                      </m:r>
                      <m:r>
                        <a:rPr lang="en-GB" b="1" i="1" baseline="-25000">
                          <a:latin typeface="Cambria Math" panose="02040503050406030204" pitchFamily="18" charset="0"/>
                        </a:rPr>
                        <m:t> </m:t>
                      </m:r>
                      <m:sSub>
                        <m:sSubPr>
                          <m:ctrlPr>
                            <a:rPr lang="en-US" i="1" smtClean="0">
                              <a:latin typeface="Cambria Math" panose="02040503050406030204" pitchFamily="18" charset="0"/>
                            </a:rPr>
                          </m:ctrlPr>
                        </m:sSubPr>
                        <m:e>
                          <m:r>
                            <a:rPr lang="en-GB" b="0" i="1" smtClean="0">
                              <a:latin typeface="Cambria Math" panose="02040503050406030204" pitchFamily="18" charset="0"/>
                            </a:rPr>
                            <m:t>=</m:t>
                          </m:r>
                          <m:r>
                            <a:rPr lang="en-US" i="1">
                              <a:latin typeface="Cambria Math" panose="02040503050406030204" pitchFamily="18" charset="0"/>
                            </a:rPr>
                            <m:t>𝑃</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2</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ea typeface="Cambria Math" panose="02040503050406030204" pitchFamily="18" charset="0"/>
                            </a:rPr>
                            <m:t>𝜃</m:t>
                          </m:r>
                        </m:e>
                      </m:func>
                      <m:r>
                        <a:rPr lang="en-US" i="1">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𝑥</m:t>
                          </m:r>
                        </m:sub>
                      </m:sSub>
                    </m:oMath>
                  </m:oMathPara>
                </a14:m>
                <a:endParaRPr lang="en-GB" i="1" dirty="0">
                  <a:latin typeface="Cambria Math" panose="02040503050406030204" pitchFamily="18" charset="0"/>
                </a:endParaRPr>
              </a:p>
              <a:p>
                <a:pPr marL="0" indent="0">
                  <a:buNone/>
                </a:pPr>
                <a14:m>
                  <m:oMath xmlns:m="http://schemas.openxmlformats.org/officeDocument/2006/math">
                    <m:nary>
                      <m:naryPr>
                        <m:chr m:val="∑"/>
                        <m:limLoc m:val="subSup"/>
                        <m:ctrlPr>
                          <a:rPr lang="en-CA" sz="2400" b="1" i="1" smtClean="0">
                            <a:solidFill>
                              <a:schemeClr val="tx1"/>
                            </a:solidFill>
                            <a:latin typeface="Cambria Math" panose="02040503050406030204" pitchFamily="18" charset="0"/>
                            <a:ea typeface="Cambria Math" panose="02040503050406030204" pitchFamily="18" charset="0"/>
                          </a:rPr>
                        </m:ctrlPr>
                      </m:naryPr>
                      <m:sub>
                        <m:r>
                          <m:rPr>
                            <m:brk m:alnAt="25"/>
                          </m:rPr>
                          <a:rPr lang="en-CA" sz="2400" b="1" i="1">
                            <a:solidFill>
                              <a:schemeClr val="tx1"/>
                            </a:solidFill>
                            <a:latin typeface="Cambria Math" panose="02040503050406030204" pitchFamily="18" charset="0"/>
                            <a:ea typeface="Cambria Math" panose="02040503050406030204" pitchFamily="18" charset="0"/>
                          </a:rPr>
                          <m:t>𝑪</m:t>
                        </m:r>
                        <m:r>
                          <a:rPr lang="en-CA" sz="2400" b="1" i="1">
                            <a:solidFill>
                              <a:schemeClr val="tx1"/>
                            </a:solidFill>
                            <a:latin typeface="Cambria Math" panose="02040503050406030204" pitchFamily="18" charset="0"/>
                            <a:ea typeface="Cambria Math" panose="02040503050406030204" pitchFamily="18" charset="0"/>
                          </a:rPr>
                          <m:t>𝑺</m:t>
                        </m:r>
                      </m:sub>
                      <m:sup/>
                      <m:e>
                        <m:r>
                          <a:rPr lang="en-CA" sz="2400" b="1" i="1" smtClean="0">
                            <a:solidFill>
                              <a:schemeClr val="tx1"/>
                            </a:solidFill>
                            <a:latin typeface="Cambria Math" panose="02040503050406030204" pitchFamily="18" charset="0"/>
                            <a:ea typeface="Cambria Math" panose="02040503050406030204" pitchFamily="18" charset="0"/>
                          </a:rPr>
                          <m:t>𝒖</m:t>
                        </m:r>
                        <m:r>
                          <a:rPr lang="en-CA" sz="2400" b="1" i="1">
                            <a:solidFill>
                              <a:schemeClr val="tx1"/>
                            </a:solidFill>
                            <a:latin typeface="Cambria Math" panose="02040503050406030204" pitchFamily="18" charset="0"/>
                            <a:ea typeface="Cambria Math" panose="02040503050406030204" pitchFamily="18" charset="0"/>
                          </a:rPr>
                          <m:t>𝝆</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𝑽</m:t>
                            </m:r>
                          </m:e>
                        </m:acc>
                        <m:r>
                          <a:rPr lang="en-CA" sz="2400" b="1" i="1">
                            <a:solidFill>
                              <a:schemeClr val="tx1"/>
                            </a:solidFill>
                            <a:latin typeface="Cambria Math" panose="02040503050406030204" pitchFamily="18" charset="0"/>
                            <a:ea typeface="Cambria Math" panose="02040503050406030204" pitchFamily="18" charset="0"/>
                          </a:rPr>
                          <m:t>∙</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𝑨</m:t>
                            </m:r>
                          </m:e>
                        </m:acc>
                      </m:e>
                    </m:nary>
                  </m:oMath>
                </a14:m>
                <a:r>
                  <a:rPr lang="en-US" dirty="0">
                    <a:solidFill>
                      <a:schemeClr val="tx1"/>
                    </a:solidFill>
                  </a:rPr>
                  <a:t>=?</a:t>
                </a:r>
              </a:p>
              <a:p>
                <a:pPr lvl="0"/>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36042" y="476250"/>
                <a:ext cx="7886700" cy="5348478"/>
              </a:xfrm>
              <a:blipFill>
                <a:blip r:embed="rId3"/>
                <a:stretch>
                  <a:fillRect l="-1159"/>
                </a:stretch>
              </a:blipFill>
            </p:spPr>
            <p:txBody>
              <a:bodyPr/>
              <a:lstStyle/>
              <a:p>
                <a:r>
                  <a:rPr lang="en-GH">
                    <a:noFill/>
                  </a:rPr>
                  <a:t> </a:t>
                </a:r>
              </a:p>
            </p:txBody>
          </p:sp>
        </mc:Fallback>
      </mc:AlternateContent>
      <p:pic>
        <p:nvPicPr>
          <p:cNvPr id="7" name="Picture 6">
            <a:extLst>
              <a:ext uri="{FF2B5EF4-FFF2-40B4-BE49-F238E27FC236}">
                <a16:creationId xmlns:a16="http://schemas.microsoft.com/office/drawing/2014/main" id="{6BDAD408-278B-D129-C0AB-CD2C066403C1}"/>
              </a:ext>
            </a:extLst>
          </p:cNvPr>
          <p:cNvPicPr>
            <a:picLocks noChangeAspect="1"/>
          </p:cNvPicPr>
          <p:nvPr/>
        </p:nvPicPr>
        <p:blipFill>
          <a:blip r:embed="rId4"/>
          <a:stretch>
            <a:fillRect/>
          </a:stretch>
        </p:blipFill>
        <p:spPr>
          <a:xfrm>
            <a:off x="423338" y="3190947"/>
            <a:ext cx="7712108" cy="2371550"/>
          </a:xfrm>
          <a:prstGeom prst="rect">
            <a:avLst/>
          </a:prstGeom>
        </p:spPr>
      </p:pic>
      <p:sp>
        <p:nvSpPr>
          <p:cNvPr id="4" name="Slide Number Placeholder 3">
            <a:extLst>
              <a:ext uri="{FF2B5EF4-FFF2-40B4-BE49-F238E27FC236}">
                <a16:creationId xmlns:a16="http://schemas.microsoft.com/office/drawing/2014/main" id="{00C69ED2-429B-F454-D0A6-F9766A5CA15D}"/>
              </a:ext>
            </a:extLst>
          </p:cNvPr>
          <p:cNvSpPr>
            <a:spLocks noGrp="1"/>
          </p:cNvSpPr>
          <p:nvPr>
            <p:ph type="sldNum" sz="quarter" idx="12"/>
          </p:nvPr>
        </p:nvSpPr>
        <p:spPr/>
        <p:txBody>
          <a:bodyPr/>
          <a:lstStyle/>
          <a:p>
            <a:fld id="{49FCB85E-0F77-4855-90A7-7A1B61BB679B}" type="slidenum">
              <a:rPr lang="en-CA" smtClean="0"/>
              <a:t>39</a:t>
            </a:fld>
            <a:endParaRPr lang="en-CA"/>
          </a:p>
        </p:txBody>
      </p:sp>
    </p:spTree>
    <p:extLst>
      <p:ext uri="{BB962C8B-B14F-4D97-AF65-F5344CB8AC3E}">
        <p14:creationId xmlns:p14="http://schemas.microsoft.com/office/powerpoint/2010/main" val="10671782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050" y="0"/>
            <a:ext cx="7886700" cy="476250"/>
          </a:xfrm>
        </p:spPr>
        <p:txBody>
          <a:bodyPr>
            <a:normAutofit fontScale="90000"/>
          </a:bodyPr>
          <a:lstStyle/>
          <a:p>
            <a:r>
              <a:rPr lang="en-US" sz="3200" b="1" dirty="0">
                <a:solidFill>
                  <a:schemeClr val="tx1"/>
                </a:solidFill>
              </a:rPr>
              <a:t>Force Exerted by a Flowing Fluid on a Pipe Bend</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6042" y="476250"/>
                <a:ext cx="8407908" cy="3748278"/>
              </a:xfrm>
            </p:spPr>
            <p:txBody>
              <a:bodyPr>
                <a:normAutofit/>
              </a:bodyPr>
              <a:lstStyle/>
              <a:p>
                <a:pPr marL="0" indent="0">
                  <a:lnSpc>
                    <a:spcPct val="120000"/>
                  </a:lnSpc>
                  <a:spcBef>
                    <a:spcPts val="0"/>
                  </a:spcBef>
                  <a:buNone/>
                </a:pPr>
                <a14:m>
                  <m:oMathPara xmlns:m="http://schemas.openxmlformats.org/officeDocument/2006/math">
                    <m:oMathParaPr>
                      <m:jc m:val="left"/>
                    </m:oMathParaPr>
                    <m:oMath xmlns:m="http://schemas.openxmlformats.org/officeDocument/2006/math">
                      <m:nary>
                        <m:naryPr>
                          <m:chr m:val="∑"/>
                          <m:limLoc m:val="subSup"/>
                          <m:ctrlPr>
                            <a:rPr lang="en-CA" sz="2400" b="1" i="1" smtClean="0">
                              <a:solidFill>
                                <a:schemeClr val="tx1"/>
                              </a:solidFill>
                              <a:latin typeface="Cambria Math" panose="02040503050406030204" pitchFamily="18" charset="0"/>
                              <a:ea typeface="Cambria Math" panose="02040503050406030204" pitchFamily="18" charset="0"/>
                            </a:rPr>
                          </m:ctrlPr>
                        </m:naryPr>
                        <m:sub>
                          <m:r>
                            <m:rPr>
                              <m:brk m:alnAt="25"/>
                            </m:rPr>
                            <a:rPr lang="en-CA" sz="2400" b="1" i="1">
                              <a:solidFill>
                                <a:schemeClr val="tx1"/>
                              </a:solidFill>
                              <a:latin typeface="Cambria Math" panose="02040503050406030204" pitchFamily="18" charset="0"/>
                              <a:ea typeface="Cambria Math" panose="02040503050406030204" pitchFamily="18" charset="0"/>
                            </a:rPr>
                            <m:t>𝑪</m:t>
                          </m:r>
                          <m:r>
                            <a:rPr lang="en-CA" sz="2400" b="1" i="1">
                              <a:solidFill>
                                <a:schemeClr val="tx1"/>
                              </a:solidFill>
                              <a:latin typeface="Cambria Math" panose="02040503050406030204" pitchFamily="18" charset="0"/>
                              <a:ea typeface="Cambria Math" panose="02040503050406030204" pitchFamily="18" charset="0"/>
                            </a:rPr>
                            <m:t>𝑺</m:t>
                          </m:r>
                        </m:sub>
                        <m:sup/>
                        <m:e>
                          <m:r>
                            <a:rPr lang="en-CA" sz="2400" b="1" i="1" smtClean="0">
                              <a:solidFill>
                                <a:schemeClr val="tx1"/>
                              </a:solidFill>
                              <a:latin typeface="Cambria Math" panose="02040503050406030204" pitchFamily="18" charset="0"/>
                              <a:ea typeface="Cambria Math" panose="02040503050406030204" pitchFamily="18" charset="0"/>
                            </a:rPr>
                            <m:t>𝒖</m:t>
                          </m:r>
                          <m:r>
                            <a:rPr lang="en-CA" sz="2400" b="1" i="1">
                              <a:solidFill>
                                <a:schemeClr val="tx1"/>
                              </a:solidFill>
                              <a:latin typeface="Cambria Math" panose="02040503050406030204" pitchFamily="18" charset="0"/>
                              <a:ea typeface="Cambria Math" panose="02040503050406030204" pitchFamily="18" charset="0"/>
                            </a:rPr>
                            <m:t>𝝆</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𝑽</m:t>
                              </m:r>
                            </m:e>
                          </m:acc>
                          <m:r>
                            <a:rPr lang="en-CA" sz="2400" b="1" i="1">
                              <a:solidFill>
                                <a:schemeClr val="tx1"/>
                              </a:solidFill>
                              <a:latin typeface="Cambria Math" panose="02040503050406030204" pitchFamily="18" charset="0"/>
                              <a:ea typeface="Cambria Math" panose="02040503050406030204" pitchFamily="18" charset="0"/>
                            </a:rPr>
                            <m:t>∙</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𝑨</m:t>
                              </m:r>
                            </m:e>
                          </m:acc>
                          <m:r>
                            <a:rPr lang="en-GB" sz="2400" b="1" i="1" smtClean="0">
                              <a:solidFill>
                                <a:schemeClr val="tx1"/>
                              </a:solidFill>
                              <a:latin typeface="Cambria Math" panose="02040503050406030204" pitchFamily="18" charset="0"/>
                              <a:ea typeface="Cambria Math" panose="02040503050406030204" pitchFamily="18" charset="0"/>
                            </a:rPr>
                            <m:t>=</m:t>
                          </m:r>
                        </m:e>
                      </m:nary>
                      <m:sSub>
                        <m:sSubPr>
                          <m:ctrlPr>
                            <a:rPr lang="en-CA" sz="240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𝑉</m:t>
                          </m:r>
                        </m:e>
                        <m:sub>
                          <m:r>
                            <a:rPr lang="en-GB" sz="2400" b="0" i="1" smtClean="0">
                              <a:solidFill>
                                <a:schemeClr val="tx1"/>
                              </a:solidFill>
                              <a:latin typeface="Cambria Math" panose="02040503050406030204" pitchFamily="18" charset="0"/>
                              <a:ea typeface="Cambria Math" panose="02040503050406030204" pitchFamily="18" charset="0"/>
                            </a:rPr>
                            <m:t>1</m:t>
                          </m:r>
                        </m:sub>
                      </m:sSub>
                      <m:d>
                        <m:dPr>
                          <m:ctrlPr>
                            <a:rPr lang="en-CA" sz="2400" b="1" i="1" smtClean="0">
                              <a:solidFill>
                                <a:schemeClr val="tx1"/>
                              </a:solidFill>
                              <a:latin typeface="Cambria Math" panose="02040503050406030204" pitchFamily="18" charset="0"/>
                              <a:ea typeface="Cambria Math" panose="02040503050406030204" pitchFamily="18" charset="0"/>
                            </a:rPr>
                          </m:ctrlPr>
                        </m:dPr>
                        <m:e>
                          <m:r>
                            <a:rPr lang="en-GB" sz="2400" b="0" i="1" smtClean="0">
                              <a:solidFill>
                                <a:schemeClr val="tx1"/>
                              </a:solidFill>
                              <a:latin typeface="Cambria Math" panose="02040503050406030204" pitchFamily="18" charset="0"/>
                              <a:ea typeface="Cambria Math" panose="02040503050406030204" pitchFamily="18" charset="0"/>
                            </a:rPr>
                            <m:t>−</m:t>
                          </m:r>
                          <m:r>
                            <a:rPr lang="en-GB" sz="2400" b="0" i="1" smtClean="0">
                              <a:solidFill>
                                <a:schemeClr val="tx1"/>
                              </a:solidFill>
                              <a:latin typeface="Cambria Math" panose="02040503050406030204" pitchFamily="18" charset="0"/>
                              <a:ea typeface="Cambria Math" panose="02040503050406030204" pitchFamily="18" charset="0"/>
                            </a:rPr>
                            <m:t>𝜌</m:t>
                          </m:r>
                          <m:sSub>
                            <m:sSubPr>
                              <m:ctrlPr>
                                <a:rPr lang="en-GB" sz="240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𝑉</m:t>
                              </m:r>
                            </m:e>
                            <m:sub>
                              <m:r>
                                <a:rPr lang="en-GB" sz="2400" b="0" i="1" smtClean="0">
                                  <a:solidFill>
                                    <a:schemeClr val="tx1"/>
                                  </a:solidFill>
                                  <a:latin typeface="Cambria Math" panose="02040503050406030204" pitchFamily="18" charset="0"/>
                                  <a:ea typeface="Cambria Math" panose="02040503050406030204" pitchFamily="18" charset="0"/>
                                </a:rPr>
                                <m:t>1</m:t>
                              </m:r>
                            </m:sub>
                          </m:sSub>
                          <m:sSub>
                            <m:sSubPr>
                              <m:ctrlPr>
                                <a:rPr lang="en-GB" sz="240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𝐴</m:t>
                              </m:r>
                            </m:e>
                            <m:sub>
                              <m:r>
                                <a:rPr lang="en-GB" sz="2400" b="0" i="1" smtClean="0">
                                  <a:solidFill>
                                    <a:schemeClr val="tx1"/>
                                  </a:solidFill>
                                  <a:latin typeface="Cambria Math" panose="02040503050406030204" pitchFamily="18" charset="0"/>
                                  <a:ea typeface="Cambria Math" panose="02040503050406030204" pitchFamily="18" charset="0"/>
                                </a:rPr>
                                <m:t>1</m:t>
                              </m:r>
                            </m:sub>
                          </m:sSub>
                        </m:e>
                      </m:d>
                      <m:r>
                        <a:rPr lang="en-GB" sz="2400" b="1" i="1" smtClean="0">
                          <a:solidFill>
                            <a:schemeClr val="tx1"/>
                          </a:solidFill>
                          <a:latin typeface="Cambria Math" panose="02040503050406030204" pitchFamily="18" charset="0"/>
                          <a:ea typeface="Cambria Math" panose="02040503050406030204" pitchFamily="18" charset="0"/>
                        </a:rPr>
                        <m:t>+</m:t>
                      </m:r>
                      <m:sSub>
                        <m:sSubPr>
                          <m:ctrlPr>
                            <a:rPr lang="en-GB" sz="240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𝑉</m:t>
                          </m:r>
                        </m:e>
                        <m:sub>
                          <m:r>
                            <a:rPr lang="en-GB" sz="2400" b="0" i="1" smtClean="0">
                              <a:solidFill>
                                <a:schemeClr val="tx1"/>
                              </a:solidFill>
                              <a:latin typeface="Cambria Math" panose="02040503050406030204" pitchFamily="18" charset="0"/>
                              <a:ea typeface="Cambria Math" panose="02040503050406030204" pitchFamily="18" charset="0"/>
                            </a:rPr>
                            <m:t>2</m:t>
                          </m:r>
                        </m:sub>
                      </m:sSub>
                      <m:r>
                        <a:rPr lang="en-GB" sz="2400" b="0" i="1" smtClean="0">
                          <a:solidFill>
                            <a:schemeClr val="tx1"/>
                          </a:solidFill>
                          <a:latin typeface="Cambria Math" panose="02040503050406030204" pitchFamily="18" charset="0"/>
                          <a:ea typeface="Cambria Math" panose="02040503050406030204" pitchFamily="18" charset="0"/>
                        </a:rPr>
                        <m:t>𝑐𝑜𝑠</m:t>
                      </m:r>
                      <m:r>
                        <a:rPr lang="en-GB" sz="2400" b="0" i="1" smtClean="0">
                          <a:solidFill>
                            <a:schemeClr val="tx1"/>
                          </a:solidFill>
                          <a:latin typeface="Cambria Math" panose="02040503050406030204" pitchFamily="18" charset="0"/>
                          <a:ea typeface="Cambria Math" panose="02040503050406030204" pitchFamily="18" charset="0"/>
                        </a:rPr>
                        <m:t>𝜃</m:t>
                      </m:r>
                      <m:d>
                        <m:dPr>
                          <m:ctrlPr>
                            <a:rPr lang="en-GB" sz="2400" i="1" smtClean="0">
                              <a:solidFill>
                                <a:schemeClr val="tx1"/>
                              </a:solidFill>
                              <a:latin typeface="Cambria Math" panose="02040503050406030204" pitchFamily="18" charset="0"/>
                              <a:ea typeface="Cambria Math" panose="02040503050406030204" pitchFamily="18" charset="0"/>
                            </a:rPr>
                          </m:ctrlPr>
                        </m:dPr>
                        <m:e>
                          <m:r>
                            <a:rPr lang="en-GB" sz="2400" b="0" i="1" smtClean="0">
                              <a:solidFill>
                                <a:schemeClr val="tx1"/>
                              </a:solidFill>
                              <a:latin typeface="Cambria Math" panose="02040503050406030204" pitchFamily="18" charset="0"/>
                              <a:ea typeface="Cambria Math" panose="02040503050406030204" pitchFamily="18" charset="0"/>
                            </a:rPr>
                            <m:t>𝜌</m:t>
                          </m:r>
                          <m:sSub>
                            <m:sSubPr>
                              <m:ctrlPr>
                                <a:rPr lang="en-GB" sz="240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𝑉</m:t>
                              </m:r>
                            </m:e>
                            <m:sub>
                              <m:r>
                                <a:rPr lang="en-GB" sz="2400" b="0" i="1" smtClean="0">
                                  <a:solidFill>
                                    <a:schemeClr val="tx1"/>
                                  </a:solidFill>
                                  <a:latin typeface="Cambria Math" panose="02040503050406030204" pitchFamily="18" charset="0"/>
                                  <a:ea typeface="Cambria Math" panose="02040503050406030204" pitchFamily="18" charset="0"/>
                                </a:rPr>
                                <m:t>2</m:t>
                              </m:r>
                            </m:sub>
                          </m:sSub>
                          <m:sSub>
                            <m:sSubPr>
                              <m:ctrlPr>
                                <a:rPr lang="en-GB" sz="240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𝐴</m:t>
                              </m:r>
                            </m:e>
                            <m:sub>
                              <m:r>
                                <a:rPr lang="en-GB" sz="2400" b="0" i="1" smtClean="0">
                                  <a:solidFill>
                                    <a:schemeClr val="tx1"/>
                                  </a:solidFill>
                                  <a:latin typeface="Cambria Math" panose="02040503050406030204" pitchFamily="18" charset="0"/>
                                  <a:ea typeface="Cambria Math" panose="02040503050406030204" pitchFamily="18" charset="0"/>
                                </a:rPr>
                                <m:t>2</m:t>
                              </m:r>
                            </m:sub>
                          </m:sSub>
                        </m:e>
                      </m:d>
                    </m:oMath>
                  </m:oMathPara>
                </a14:m>
                <a:endParaRPr lang="en-US" dirty="0"/>
              </a:p>
              <a:p>
                <a:pPr marL="0" indent="0">
                  <a:lnSpc>
                    <a:spcPct val="120000"/>
                  </a:lnSpc>
                  <a:buNone/>
                </a:pPr>
                <a14:m>
                  <m:oMath xmlns:m="http://schemas.openxmlformats.org/officeDocument/2006/math">
                    <m:r>
                      <a:rPr lang="en-GB" sz="2400" b="0" i="1" smtClean="0">
                        <a:solidFill>
                          <a:schemeClr val="tx1"/>
                        </a:solidFill>
                        <a:latin typeface="Cambria Math" panose="02040503050406030204" pitchFamily="18" charset="0"/>
                        <a:ea typeface="Cambria Math" panose="02040503050406030204" pitchFamily="18" charset="0"/>
                      </a:rPr>
                      <m:t>                          =</m:t>
                    </m:r>
                    <m:sSub>
                      <m:sSubPr>
                        <m:ctrlPr>
                          <a:rPr lang="en-GB" sz="240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𝑉</m:t>
                        </m:r>
                      </m:e>
                      <m:sub>
                        <m:r>
                          <a:rPr lang="en-GB" sz="2400" b="0" i="1" smtClean="0">
                            <a:solidFill>
                              <a:schemeClr val="tx1"/>
                            </a:solidFill>
                            <a:latin typeface="Cambria Math" panose="02040503050406030204" pitchFamily="18" charset="0"/>
                            <a:ea typeface="Cambria Math" panose="02040503050406030204" pitchFamily="18" charset="0"/>
                          </a:rPr>
                          <m:t>2</m:t>
                        </m:r>
                      </m:sub>
                    </m:sSub>
                    <m:r>
                      <a:rPr lang="en-GB" sz="2400" b="0" i="1" smtClean="0">
                        <a:solidFill>
                          <a:schemeClr val="tx1"/>
                        </a:solidFill>
                        <a:latin typeface="Cambria Math" panose="02040503050406030204" pitchFamily="18" charset="0"/>
                        <a:ea typeface="Cambria Math" panose="02040503050406030204" pitchFamily="18" charset="0"/>
                      </a:rPr>
                      <m:t>𝑐𝑜𝑠</m:t>
                    </m:r>
                    <m:r>
                      <a:rPr lang="en-GB" sz="2400" b="0" i="1" smtClean="0">
                        <a:solidFill>
                          <a:schemeClr val="tx1"/>
                        </a:solidFill>
                        <a:latin typeface="Cambria Math" panose="02040503050406030204" pitchFamily="18" charset="0"/>
                        <a:ea typeface="Cambria Math" panose="02040503050406030204" pitchFamily="18" charset="0"/>
                      </a:rPr>
                      <m:t>𝜃</m:t>
                    </m:r>
                    <m:d>
                      <m:dPr>
                        <m:ctrlPr>
                          <a:rPr lang="en-GB" sz="2400" i="1" smtClean="0">
                            <a:solidFill>
                              <a:schemeClr val="tx1"/>
                            </a:solidFill>
                            <a:latin typeface="Cambria Math" panose="02040503050406030204" pitchFamily="18" charset="0"/>
                            <a:ea typeface="Cambria Math" panose="02040503050406030204" pitchFamily="18" charset="0"/>
                          </a:rPr>
                        </m:ctrlPr>
                      </m:dPr>
                      <m:e>
                        <m:r>
                          <a:rPr lang="en-GB" sz="2400" b="0" i="1" smtClean="0">
                            <a:solidFill>
                              <a:schemeClr val="tx1"/>
                            </a:solidFill>
                            <a:latin typeface="Cambria Math" panose="02040503050406030204" pitchFamily="18" charset="0"/>
                            <a:ea typeface="Cambria Math" panose="02040503050406030204" pitchFamily="18" charset="0"/>
                          </a:rPr>
                          <m:t>𝜌</m:t>
                        </m:r>
                        <m:sSub>
                          <m:sSubPr>
                            <m:ctrlPr>
                              <a:rPr lang="en-GB" sz="240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𝑉</m:t>
                            </m:r>
                          </m:e>
                          <m:sub>
                            <m:r>
                              <a:rPr lang="en-GB" sz="2400" b="0" i="1" smtClean="0">
                                <a:solidFill>
                                  <a:schemeClr val="tx1"/>
                                </a:solidFill>
                                <a:latin typeface="Cambria Math" panose="02040503050406030204" pitchFamily="18" charset="0"/>
                                <a:ea typeface="Cambria Math" panose="02040503050406030204" pitchFamily="18" charset="0"/>
                              </a:rPr>
                              <m:t>2</m:t>
                            </m:r>
                          </m:sub>
                        </m:sSub>
                        <m:sSub>
                          <m:sSubPr>
                            <m:ctrlPr>
                              <a:rPr lang="en-GB" sz="240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𝐴</m:t>
                            </m:r>
                          </m:e>
                          <m:sub>
                            <m:r>
                              <a:rPr lang="en-GB" sz="2400" b="0" i="1" smtClean="0">
                                <a:solidFill>
                                  <a:schemeClr val="tx1"/>
                                </a:solidFill>
                                <a:latin typeface="Cambria Math" panose="02040503050406030204" pitchFamily="18" charset="0"/>
                                <a:ea typeface="Cambria Math" panose="02040503050406030204" pitchFamily="18" charset="0"/>
                              </a:rPr>
                              <m:t>2</m:t>
                            </m:r>
                          </m:sub>
                        </m:sSub>
                      </m:e>
                    </m:d>
                  </m:oMath>
                </a14:m>
                <a:r>
                  <a:rPr lang="en-CA" dirty="0">
                    <a:ea typeface="Cambria Math" panose="02040503050406030204" pitchFamily="18" charset="0"/>
                  </a:rPr>
                  <a:t> </a:t>
                </a:r>
                <a14:m>
                  <m:oMath xmlns:m="http://schemas.openxmlformats.org/officeDocument/2006/math">
                    <m:sSub>
                      <m:sSubPr>
                        <m:ctrlPr>
                          <a:rPr lang="en-CA"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GB" i="1">
                            <a:latin typeface="Cambria Math" panose="02040503050406030204" pitchFamily="18" charset="0"/>
                            <a:ea typeface="Cambria Math" panose="02040503050406030204" pitchFamily="18" charset="0"/>
                          </a:rPr>
                          <m:t>𝑉</m:t>
                        </m:r>
                      </m:e>
                      <m:sub>
                        <m:r>
                          <a:rPr lang="en-GB" i="1">
                            <a:latin typeface="Cambria Math" panose="02040503050406030204" pitchFamily="18" charset="0"/>
                            <a:ea typeface="Cambria Math" panose="02040503050406030204" pitchFamily="18" charset="0"/>
                          </a:rPr>
                          <m:t>1</m:t>
                        </m:r>
                      </m:sub>
                    </m:sSub>
                    <m:d>
                      <m:dPr>
                        <m:ctrlPr>
                          <a:rPr lang="en-CA" b="1"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𝜌</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𝑉</m:t>
                            </m:r>
                          </m:e>
                          <m:sub>
                            <m:r>
                              <a:rPr lang="en-GB" i="1">
                                <a:latin typeface="Cambria Math" panose="02040503050406030204" pitchFamily="18" charset="0"/>
                                <a:ea typeface="Cambria Math" panose="02040503050406030204" pitchFamily="18" charset="0"/>
                              </a:rPr>
                              <m:t>1</m:t>
                            </m:r>
                          </m:sub>
                        </m:sSub>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𝐴</m:t>
                            </m:r>
                          </m:e>
                          <m:sub>
                            <m:r>
                              <a:rPr lang="en-GB" i="1">
                                <a:latin typeface="Cambria Math" panose="02040503050406030204" pitchFamily="18" charset="0"/>
                                <a:ea typeface="Cambria Math" panose="02040503050406030204" pitchFamily="18" charset="0"/>
                              </a:rPr>
                              <m:t>1</m:t>
                            </m:r>
                          </m:sub>
                        </m:sSub>
                      </m:e>
                    </m:d>
                  </m:oMath>
                </a14:m>
                <a:endParaRPr lang="en-US" dirty="0"/>
              </a:p>
              <a:p>
                <a:pPr marL="0" indent="0">
                  <a:lnSpc>
                    <a:spcPct val="120000"/>
                  </a:lnSpc>
                  <a:spcBef>
                    <a:spcPts val="0"/>
                  </a:spcBef>
                  <a:buNone/>
                </a:pPr>
                <a14:m>
                  <m:oMath xmlns:m="http://schemas.openxmlformats.org/officeDocument/2006/math">
                    <m:r>
                      <a:rPr lang="en-GB" sz="2400" b="0" i="1" smtClean="0">
                        <a:solidFill>
                          <a:schemeClr val="tx1"/>
                        </a:solidFill>
                        <a:latin typeface="Cambria Math" panose="02040503050406030204" pitchFamily="18" charset="0"/>
                        <a:ea typeface="Cambria Math" panose="02040503050406030204" pitchFamily="18" charset="0"/>
                      </a:rPr>
                      <m:t>                          =</m:t>
                    </m:r>
                    <m:sSub>
                      <m:sSubPr>
                        <m:ctrlPr>
                          <a:rPr lang="en-GB" sz="2400" i="1" smtClean="0">
                            <a:solidFill>
                              <a:schemeClr val="tx1"/>
                            </a:solidFill>
                            <a:latin typeface="Cambria Math" panose="02040503050406030204" pitchFamily="18" charset="0"/>
                            <a:ea typeface="Cambria Math" panose="02040503050406030204" pitchFamily="18" charset="0"/>
                          </a:rPr>
                        </m:ctrlPr>
                      </m:sSubPr>
                      <m:e>
                        <m:r>
                          <a:rPr lang="en-GB" sz="2400" b="0" i="1" smtClean="0">
                            <a:solidFill>
                              <a:schemeClr val="tx1"/>
                            </a:solidFill>
                            <a:latin typeface="Cambria Math" panose="02040503050406030204" pitchFamily="18" charset="0"/>
                            <a:ea typeface="Cambria Math" panose="02040503050406030204" pitchFamily="18" charset="0"/>
                          </a:rPr>
                          <m:t>𝑉</m:t>
                        </m:r>
                      </m:e>
                      <m:sub>
                        <m:r>
                          <a:rPr lang="en-GB" sz="2400" b="0" i="1" smtClean="0">
                            <a:solidFill>
                              <a:schemeClr val="tx1"/>
                            </a:solidFill>
                            <a:latin typeface="Cambria Math" panose="02040503050406030204" pitchFamily="18" charset="0"/>
                            <a:ea typeface="Cambria Math" panose="02040503050406030204" pitchFamily="18" charset="0"/>
                          </a:rPr>
                          <m:t>2</m:t>
                        </m:r>
                      </m:sub>
                    </m:sSub>
                    <m:r>
                      <a:rPr lang="en-GB" sz="2400" b="0" i="1" smtClean="0">
                        <a:solidFill>
                          <a:schemeClr val="tx1"/>
                        </a:solidFill>
                        <a:latin typeface="Cambria Math" panose="02040503050406030204" pitchFamily="18" charset="0"/>
                        <a:ea typeface="Cambria Math" panose="02040503050406030204" pitchFamily="18" charset="0"/>
                      </a:rPr>
                      <m:t>𝑐𝑜𝑠</m:t>
                    </m:r>
                    <m:r>
                      <a:rPr lang="en-GB" sz="2400" b="0" i="1" smtClean="0">
                        <a:solidFill>
                          <a:schemeClr val="tx1"/>
                        </a:solidFill>
                        <a:latin typeface="Cambria Math" panose="02040503050406030204" pitchFamily="18" charset="0"/>
                        <a:ea typeface="Cambria Math" panose="02040503050406030204" pitchFamily="18" charset="0"/>
                      </a:rPr>
                      <m:t>𝜃</m:t>
                    </m:r>
                    <m:d>
                      <m:dPr>
                        <m:ctrlPr>
                          <a:rPr lang="en-GB" sz="2400" i="1" smtClean="0">
                            <a:solidFill>
                              <a:schemeClr val="tx1"/>
                            </a:solidFill>
                            <a:latin typeface="Cambria Math" panose="02040503050406030204" pitchFamily="18" charset="0"/>
                            <a:ea typeface="Cambria Math" panose="02040503050406030204" pitchFamily="18" charset="0"/>
                          </a:rPr>
                        </m:ctrlPr>
                      </m:dPr>
                      <m:e>
                        <m:r>
                          <a:rPr lang="en-GB" sz="2400" b="0" i="1" smtClean="0">
                            <a:solidFill>
                              <a:schemeClr val="tx1"/>
                            </a:solidFill>
                            <a:latin typeface="Cambria Math" panose="02040503050406030204" pitchFamily="18" charset="0"/>
                            <a:ea typeface="Cambria Math" panose="02040503050406030204" pitchFamily="18" charset="0"/>
                          </a:rPr>
                          <m:t>𝜌</m:t>
                        </m:r>
                        <m:r>
                          <a:rPr lang="en-GB" sz="2400" i="1" smtClean="0">
                            <a:solidFill>
                              <a:schemeClr val="tx1"/>
                            </a:solidFill>
                            <a:latin typeface="Cambria Math" panose="02040503050406030204" pitchFamily="18" charset="0"/>
                            <a:ea typeface="Cambria Math" panose="02040503050406030204" pitchFamily="18" charset="0"/>
                          </a:rPr>
                          <m:t>𝑄</m:t>
                        </m:r>
                      </m:e>
                    </m:d>
                  </m:oMath>
                </a14:m>
                <a:r>
                  <a:rPr lang="en-CA" dirty="0">
                    <a:ea typeface="Cambria Math" panose="02040503050406030204" pitchFamily="18" charset="0"/>
                  </a:rPr>
                  <a:t> </a:t>
                </a:r>
                <a14:m>
                  <m:oMath xmlns:m="http://schemas.openxmlformats.org/officeDocument/2006/math">
                    <m:sSub>
                      <m:sSubPr>
                        <m:ctrlPr>
                          <a:rPr lang="en-CA"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GB" i="1">
                            <a:latin typeface="Cambria Math" panose="02040503050406030204" pitchFamily="18" charset="0"/>
                            <a:ea typeface="Cambria Math" panose="02040503050406030204" pitchFamily="18" charset="0"/>
                          </a:rPr>
                          <m:t>𝑉</m:t>
                        </m:r>
                      </m:e>
                      <m:sub>
                        <m:r>
                          <a:rPr lang="en-GB" i="1">
                            <a:latin typeface="Cambria Math" panose="02040503050406030204" pitchFamily="18" charset="0"/>
                            <a:ea typeface="Cambria Math" panose="02040503050406030204" pitchFamily="18" charset="0"/>
                          </a:rPr>
                          <m:t>1</m:t>
                        </m:r>
                      </m:sub>
                    </m:sSub>
                    <m:d>
                      <m:dPr>
                        <m:ctrlPr>
                          <a:rPr lang="en-CA" b="1"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𝜌</m:t>
                        </m:r>
                        <m:r>
                          <a:rPr lang="en-GB" b="0" i="1" smtClean="0">
                            <a:latin typeface="Cambria Math" panose="02040503050406030204" pitchFamily="18" charset="0"/>
                            <a:ea typeface="Cambria Math" panose="02040503050406030204" pitchFamily="18" charset="0"/>
                          </a:rPr>
                          <m:t>𝑄</m:t>
                        </m:r>
                      </m:e>
                    </m:d>
                  </m:oMath>
                </a14:m>
                <a:endParaRPr lang="en-GB" i="1" dirty="0">
                  <a:latin typeface="Cambria Math" panose="020405030504060302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rPr>
                            <m:t>𝑃</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𝑄</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2</m:t>
                              </m:r>
                            </m:sub>
                          </m:sSub>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1</m:t>
                              </m:r>
                            </m:sub>
                          </m:sSub>
                        </m:e>
                      </m:d>
                    </m:oMath>
                  </m:oMathPara>
                </a14:m>
                <a:endParaRPr lang="en-US" b="0" dirty="0">
                  <a:ea typeface="Cambria Math" panose="02040503050406030204" pitchFamily="18" charset="0"/>
                </a:endParaRPr>
              </a:p>
              <a:p>
                <a:pPr marL="0" indent="0">
                  <a:lnSpc>
                    <a:spcPct val="120000"/>
                  </a:lnSpc>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𝑥</m:t>
                        </m:r>
                      </m:sub>
                    </m:sSub>
                    <m:r>
                      <a:rPr lang="en-US" i="1">
                        <a:latin typeface="Cambria Math" panose="02040503050406030204" pitchFamily="18" charset="0"/>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𝑃</m:t>
                        </m:r>
                      </m:e>
                      <m:sub>
                        <m:r>
                          <a:rPr lang="en-US" i="1">
                            <a:solidFill>
                              <a:prstClr val="black"/>
                            </a:solidFill>
                            <a:latin typeface="Cambria Math" panose="02040503050406030204" pitchFamily="18" charset="0"/>
                          </a:rPr>
                          <m:t>1</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𝐴</m:t>
                        </m:r>
                      </m:e>
                      <m:sub>
                        <m:r>
                          <a:rPr lang="en-US" i="1">
                            <a:solidFill>
                              <a:prstClr val="black"/>
                            </a:solidFill>
                            <a:latin typeface="Cambria Math" panose="02040503050406030204" pitchFamily="18" charset="0"/>
                          </a:rPr>
                          <m:t>1</m:t>
                        </m:r>
                      </m:sub>
                    </m:sSub>
                    <m:r>
                      <a:rPr lang="en-US">
                        <a:solidFill>
                          <a:prstClr val="black"/>
                        </a:solidFill>
                        <a:latin typeface="Cambria Math" panose="02040503050406030204" pitchFamily="18" charset="0"/>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𝑃</m:t>
                        </m:r>
                      </m:e>
                      <m:sub>
                        <m:r>
                          <a:rPr lang="en-US" i="1">
                            <a:solidFill>
                              <a:prstClr val="black"/>
                            </a:solidFill>
                            <a:latin typeface="Cambria Math" panose="02040503050406030204" pitchFamily="18" charset="0"/>
                          </a:rPr>
                          <m:t>2</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𝐴</m:t>
                        </m:r>
                      </m:e>
                      <m:sub>
                        <m:r>
                          <a:rPr lang="en-US" i="1">
                            <a:solidFill>
                              <a:prstClr val="black"/>
                            </a:solidFill>
                            <a:latin typeface="Cambria Math" panose="02040503050406030204" pitchFamily="18" charset="0"/>
                          </a:rPr>
                          <m:t>2</m:t>
                        </m:r>
                      </m:sub>
                    </m:sSub>
                    <m:func>
                      <m:funcPr>
                        <m:ctrlPr>
                          <a:rPr lang="en-US" i="1">
                            <a:solidFill>
                              <a:prstClr val="black"/>
                            </a:solidFill>
                            <a:latin typeface="Cambria Math" panose="02040503050406030204" pitchFamily="18" charset="0"/>
                          </a:rPr>
                        </m:ctrlPr>
                      </m:funcPr>
                      <m:fName>
                        <m:r>
                          <m:rPr>
                            <m:sty m:val="p"/>
                          </m:rPr>
                          <a:rPr lang="en-US">
                            <a:solidFill>
                              <a:prstClr val="black"/>
                            </a:solidFill>
                            <a:latin typeface="Cambria Math" panose="02040503050406030204" pitchFamily="18" charset="0"/>
                          </a:rPr>
                          <m:t>cos</m:t>
                        </m:r>
                      </m:fName>
                      <m:e>
                        <m:r>
                          <a:rPr lang="en-US" i="1">
                            <a:solidFill>
                              <a:prstClr val="black"/>
                            </a:solidFill>
                            <a:latin typeface="Cambria Math" panose="02040503050406030204" pitchFamily="18" charset="0"/>
                            <a:ea typeface="Cambria Math" panose="02040503050406030204" pitchFamily="18" charset="0"/>
                          </a:rPr>
                          <m:t>𝜃</m:t>
                        </m:r>
                      </m:e>
                    </m:func>
                  </m:oMath>
                </a14:m>
                <a:r>
                  <a:rPr lang="en-US" dirty="0">
                    <a:solidFill>
                      <a:prstClr val="black"/>
                    </a:solidFill>
                  </a:rPr>
                  <a:t> +</a:t>
                </a:r>
                <a14:m>
                  <m:oMath xmlns:m="http://schemas.openxmlformats.org/officeDocument/2006/math">
                    <m:r>
                      <a:rPr lang="en-US" i="1">
                        <a:solidFill>
                          <a:prstClr val="black"/>
                        </a:solidFill>
                        <a:latin typeface="Cambria Math" panose="02040503050406030204" pitchFamily="18" charset="0"/>
                        <a:ea typeface="Cambria Math" panose="02040503050406030204" pitchFamily="18" charset="0"/>
                      </a:rPr>
                      <m:t>𝜌</m:t>
                    </m:r>
                    <m:r>
                      <a:rPr lang="en-US" i="1">
                        <a:solidFill>
                          <a:prstClr val="black"/>
                        </a:solidFill>
                        <a:latin typeface="Cambria Math" panose="02040503050406030204" pitchFamily="18" charset="0"/>
                        <a:ea typeface="Cambria Math" panose="02040503050406030204" pitchFamily="18" charset="0"/>
                      </a:rPr>
                      <m:t>𝑄</m:t>
                    </m:r>
                    <m:d>
                      <m:dPr>
                        <m:ctrlPr>
                          <a:rPr lang="en-US" i="1">
                            <a:solidFill>
                              <a:prstClr val="black"/>
                            </a:solidFill>
                            <a:latin typeface="Cambria Math" panose="02040503050406030204" pitchFamily="18" charset="0"/>
                            <a:ea typeface="Cambria Math" panose="02040503050406030204" pitchFamily="18" charset="0"/>
                          </a:rPr>
                        </m:ctrlPr>
                      </m:dPr>
                      <m:e>
                        <m:sSub>
                          <m:sSubPr>
                            <m:ctrlPr>
                              <a:rPr lang="en-US" i="1">
                                <a:solidFill>
                                  <a:prstClr val="black"/>
                                </a:solidFill>
                                <a:latin typeface="Cambria Math" panose="02040503050406030204" pitchFamily="18" charset="0"/>
                                <a:ea typeface="Cambria Math" panose="02040503050406030204" pitchFamily="18" charset="0"/>
                              </a:rPr>
                            </m:ctrlPr>
                          </m:sSubPr>
                          <m:e>
                            <m:sSub>
                              <m:sSubPr>
                                <m:ctrlPr>
                                  <a:rPr lang="en-US" i="1">
                                    <a:solidFill>
                                      <a:prstClr val="black"/>
                                    </a:solidFill>
                                    <a:latin typeface="Cambria Math" panose="02040503050406030204" pitchFamily="18" charset="0"/>
                                    <a:ea typeface="Cambria Math" panose="02040503050406030204" pitchFamily="18" charset="0"/>
                                  </a:rPr>
                                </m:ctrlPr>
                              </m:sSubPr>
                              <m:e>
                                <m:r>
                                  <a:rPr lang="en-US" i="1">
                                    <a:solidFill>
                                      <a:prstClr val="black"/>
                                    </a:solidFill>
                                    <a:latin typeface="Cambria Math" panose="02040503050406030204" pitchFamily="18" charset="0"/>
                                    <a:ea typeface="Cambria Math" panose="02040503050406030204" pitchFamily="18" charset="0"/>
                                  </a:rPr>
                                  <m:t>𝑉</m:t>
                                </m:r>
                              </m:e>
                              <m:sub>
                                <m:r>
                                  <a:rPr lang="en-US" i="1">
                                    <a:solidFill>
                                      <a:prstClr val="black"/>
                                    </a:solidFill>
                                    <a:latin typeface="Cambria Math" panose="02040503050406030204" pitchFamily="18" charset="0"/>
                                    <a:ea typeface="Cambria Math" panose="02040503050406030204" pitchFamily="18" charset="0"/>
                                  </a:rPr>
                                  <m:t>1</m:t>
                                </m:r>
                              </m:sub>
                            </m:sSub>
                            <m:r>
                              <a:rPr lang="en-US" i="1">
                                <a:solidFill>
                                  <a:prstClr val="black"/>
                                </a:solidFill>
                                <a:latin typeface="Cambria Math" panose="02040503050406030204" pitchFamily="18" charset="0"/>
                                <a:ea typeface="Cambria Math" panose="02040503050406030204" pitchFamily="18" charset="0"/>
                              </a:rPr>
                              <m:t>−</m:t>
                            </m:r>
                            <m:r>
                              <a:rPr lang="en-US" i="1">
                                <a:solidFill>
                                  <a:prstClr val="black"/>
                                </a:solidFill>
                                <a:latin typeface="Cambria Math" panose="02040503050406030204" pitchFamily="18" charset="0"/>
                                <a:ea typeface="Cambria Math" panose="02040503050406030204" pitchFamily="18" charset="0"/>
                              </a:rPr>
                              <m:t>𝑉</m:t>
                            </m:r>
                          </m:e>
                          <m:sub>
                            <m:r>
                              <a:rPr lang="en-US" i="1">
                                <a:solidFill>
                                  <a:prstClr val="black"/>
                                </a:solidFill>
                                <a:latin typeface="Cambria Math" panose="02040503050406030204" pitchFamily="18" charset="0"/>
                                <a:ea typeface="Cambria Math" panose="02040503050406030204" pitchFamily="18" charset="0"/>
                              </a:rPr>
                              <m:t>2</m:t>
                            </m:r>
                          </m:sub>
                        </m:sSub>
                        <m:func>
                          <m:funcPr>
                            <m:ctrlPr>
                              <a:rPr lang="en-US" i="1">
                                <a:solidFill>
                                  <a:prstClr val="black"/>
                                </a:solidFill>
                                <a:latin typeface="Cambria Math" panose="02040503050406030204" pitchFamily="18" charset="0"/>
                                <a:ea typeface="Cambria Math" panose="02040503050406030204" pitchFamily="18" charset="0"/>
                              </a:rPr>
                            </m:ctrlPr>
                          </m:funcPr>
                          <m:fName>
                            <m:r>
                              <m:rPr>
                                <m:sty m:val="p"/>
                              </m:rPr>
                              <a:rPr lang="en-US">
                                <a:solidFill>
                                  <a:prstClr val="black"/>
                                </a:solidFill>
                                <a:latin typeface="Cambria Math" panose="02040503050406030204" pitchFamily="18" charset="0"/>
                                <a:ea typeface="Cambria Math" panose="02040503050406030204" pitchFamily="18" charset="0"/>
                              </a:rPr>
                              <m:t>cos</m:t>
                            </m:r>
                          </m:fName>
                          <m:e>
                            <m:r>
                              <a:rPr lang="en-US" i="1">
                                <a:solidFill>
                                  <a:prstClr val="black"/>
                                </a:solidFill>
                                <a:latin typeface="Cambria Math" panose="02040503050406030204" pitchFamily="18" charset="0"/>
                                <a:ea typeface="Cambria Math" panose="02040503050406030204" pitchFamily="18" charset="0"/>
                              </a:rPr>
                              <m:t>𝜃</m:t>
                            </m:r>
                          </m:e>
                        </m:func>
                      </m:e>
                    </m:d>
                  </m:oMath>
                </a14:m>
                <a:endParaRPr lang="en-US" b="0" dirty="0">
                  <a:ea typeface="Cambria Math" panose="02040503050406030204" pitchFamily="18" charset="0"/>
                </a:endParaRPr>
              </a:p>
              <a:p>
                <a:pPr marL="0" indent="0">
                  <a:lnSpc>
                    <a:spcPct val="120000"/>
                  </a:lnSpc>
                  <a:spcBef>
                    <a:spcPts val="0"/>
                  </a:spcBef>
                  <a:buNone/>
                </a:pPr>
                <a:endParaRPr lang="en-US" dirty="0">
                  <a:solidFill>
                    <a:prstClr val="black"/>
                  </a:solidFill>
                </a:endParaRPr>
              </a:p>
              <a:p>
                <a:pPr lvl="0"/>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36042" y="476250"/>
                <a:ext cx="8407908" cy="3748278"/>
              </a:xfrm>
              <a:blipFill>
                <a:blip r:embed="rId3"/>
                <a:stretch>
                  <a:fillRect l="-145"/>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2D90EE53-2920-006D-449E-D9FC8582DE3F}"/>
              </a:ext>
            </a:extLst>
          </p:cNvPr>
          <p:cNvSpPr>
            <a:spLocks noGrp="1"/>
          </p:cNvSpPr>
          <p:nvPr>
            <p:ph type="sldNum" sz="quarter" idx="12"/>
          </p:nvPr>
        </p:nvSpPr>
        <p:spPr/>
        <p:txBody>
          <a:bodyPr/>
          <a:lstStyle/>
          <a:p>
            <a:fld id="{49FCB85E-0F77-4855-90A7-7A1B61BB679B}" type="slidenum">
              <a:rPr lang="en-CA" smtClean="0"/>
              <a:t>40</a:t>
            </a:fld>
            <a:endParaRPr lang="en-CA"/>
          </a:p>
        </p:txBody>
      </p:sp>
    </p:spTree>
    <p:extLst>
      <p:ext uri="{BB962C8B-B14F-4D97-AF65-F5344CB8AC3E}">
        <p14:creationId xmlns:p14="http://schemas.microsoft.com/office/powerpoint/2010/main" val="5989741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050" y="0"/>
            <a:ext cx="7886700" cy="476250"/>
          </a:xfrm>
        </p:spPr>
        <p:txBody>
          <a:bodyPr>
            <a:normAutofit fontScale="90000"/>
          </a:bodyPr>
          <a:lstStyle/>
          <a:p>
            <a:r>
              <a:rPr lang="en-US" sz="3200" b="1" dirty="0">
                <a:solidFill>
                  <a:schemeClr val="tx1"/>
                </a:solidFill>
              </a:rPr>
              <a:t>Force Exerted by a Flowing Fluid on a Pipe Bend</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6042" y="604266"/>
                <a:ext cx="8407908" cy="4863846"/>
              </a:xfrm>
            </p:spPr>
            <p:txBody>
              <a:bodyPr>
                <a:normAutofit lnSpcReduction="10000"/>
              </a:bodyPr>
              <a:lstStyle/>
              <a:p>
                <a:pPr marL="0" indent="0">
                  <a:lnSpc>
                    <a:spcPct val="120000"/>
                  </a:lnSpc>
                  <a:spcBef>
                    <a:spcPts val="0"/>
                  </a:spcBef>
                  <a:buNone/>
                </a:pPr>
                <a:r>
                  <a:rPr lang="en-US" dirty="0"/>
                  <a:t>A similar analysis in the y- direction yields</a:t>
                </a:r>
              </a:p>
              <a:p>
                <a:pPr marL="0" indent="0">
                  <a:lnSpc>
                    <a:spcPct val="150000"/>
                  </a:lnSpc>
                  <a:spcBef>
                    <a:spcPts val="0"/>
                  </a:spcBef>
                  <a:buNone/>
                </a:pPr>
                <a14:m>
                  <m:oMathPara xmlns:m="http://schemas.openxmlformats.org/officeDocument/2006/math">
                    <m:oMathParaPr>
                      <m:jc m:val="left"/>
                    </m:oMathParaPr>
                    <m:oMath xmlns:m="http://schemas.openxmlformats.org/officeDocument/2006/math">
                      <m:sSub>
                        <m:sSubPr>
                          <m:ctrlPr>
                            <a:rPr lang="en-CA" sz="2400" b="1" i="1" smtClean="0">
                              <a:solidFill>
                                <a:schemeClr val="tx1"/>
                              </a:solidFill>
                              <a:latin typeface="Cambria Math" panose="02040503050406030204" pitchFamily="18" charset="0"/>
                            </a:rPr>
                          </m:ctrlPr>
                        </m:sSubPr>
                        <m:e>
                          <m:r>
                            <a:rPr lang="en-CA" sz="2400" b="1" i="1" smtClean="0">
                              <a:solidFill>
                                <a:schemeClr val="tx1"/>
                              </a:solidFill>
                              <a:latin typeface="Cambria Math" panose="02040503050406030204" pitchFamily="18" charset="0"/>
                            </a:rPr>
                            <m:t>∑</m:t>
                          </m:r>
                          <m:r>
                            <a:rPr lang="en-GB" sz="2400" b="1" i="1" smtClean="0">
                              <a:solidFill>
                                <a:schemeClr val="tx1"/>
                              </a:solidFill>
                              <a:latin typeface="Cambria Math" panose="02040503050406030204" pitchFamily="18" charset="0"/>
                            </a:rPr>
                            <m:t>𝑭</m:t>
                          </m:r>
                          <m:r>
                            <a:rPr lang="en-GB" sz="2400" b="1" i="1" baseline="-25000" smtClean="0">
                              <a:solidFill>
                                <a:schemeClr val="tx1"/>
                              </a:solidFill>
                              <a:latin typeface="Cambria Math" panose="02040503050406030204" pitchFamily="18" charset="0"/>
                            </a:rPr>
                            <m:t>𝒚</m:t>
                          </m:r>
                          <m:r>
                            <a:rPr lang="en-GB" sz="2400" b="1" i="1" smtClean="0">
                              <a:solidFill>
                                <a:schemeClr val="tx1"/>
                              </a:solidFill>
                              <a:latin typeface="Cambria Math" panose="02040503050406030204" pitchFamily="18" charset="0"/>
                            </a:rPr>
                            <m:t>=</m:t>
                          </m:r>
                          <m:r>
                            <a:rPr lang="en-CA" sz="2400" b="1" i="1">
                              <a:solidFill>
                                <a:schemeClr val="tx1"/>
                              </a:solidFill>
                              <a:latin typeface="Cambria Math" panose="02040503050406030204" pitchFamily="18" charset="0"/>
                            </a:rPr>
                            <m:t>𝑭</m:t>
                          </m:r>
                        </m:e>
                        <m:sub>
                          <m:r>
                            <a:rPr lang="en-GB" sz="2400" b="1" i="1" smtClean="0">
                              <a:solidFill>
                                <a:schemeClr val="tx1"/>
                              </a:solidFill>
                              <a:latin typeface="Cambria Math" panose="02040503050406030204" pitchFamily="18" charset="0"/>
                            </a:rPr>
                            <m:t>𝒔𝒚</m:t>
                          </m:r>
                        </m:sub>
                      </m:sSub>
                      <m:r>
                        <a:rPr lang="en-CA" sz="2400" b="1" i="1">
                          <a:solidFill>
                            <a:schemeClr val="tx1"/>
                          </a:solidFill>
                          <a:latin typeface="Cambria Math" panose="02040503050406030204" pitchFamily="18" charset="0"/>
                        </a:rPr>
                        <m:t>+</m:t>
                      </m:r>
                      <m:sSub>
                        <m:sSubPr>
                          <m:ctrlPr>
                            <a:rPr lang="en-CA" sz="2400" b="1" i="1">
                              <a:solidFill>
                                <a:schemeClr val="tx1"/>
                              </a:solidFill>
                              <a:latin typeface="Cambria Math" panose="02040503050406030204" pitchFamily="18" charset="0"/>
                            </a:rPr>
                          </m:ctrlPr>
                        </m:sSubPr>
                        <m:e>
                          <m:r>
                            <a:rPr lang="en-CA" sz="2400" b="1" i="1">
                              <a:solidFill>
                                <a:schemeClr val="tx1"/>
                              </a:solidFill>
                              <a:latin typeface="Cambria Math" panose="02040503050406030204" pitchFamily="18" charset="0"/>
                            </a:rPr>
                            <m:t>𝑭</m:t>
                          </m:r>
                        </m:e>
                        <m:sub>
                          <m:r>
                            <a:rPr lang="en-GB" sz="2400" b="1" i="1" smtClean="0">
                              <a:solidFill>
                                <a:schemeClr val="tx1"/>
                              </a:solidFill>
                              <a:latin typeface="Cambria Math" panose="02040503050406030204" pitchFamily="18" charset="0"/>
                            </a:rPr>
                            <m:t>𝑩𝒚</m:t>
                          </m:r>
                        </m:sub>
                      </m:sSub>
                      <m:r>
                        <a:rPr lang="en-CA" sz="2400" b="1" i="1">
                          <a:solidFill>
                            <a:schemeClr val="tx1"/>
                          </a:solidFill>
                          <a:latin typeface="Cambria Math" panose="02040503050406030204" pitchFamily="18" charset="0"/>
                        </a:rPr>
                        <m:t>=</m:t>
                      </m:r>
                      <m:f>
                        <m:fPr>
                          <m:ctrlPr>
                            <a:rPr lang="en-CA" sz="2400" b="1" i="1">
                              <a:solidFill>
                                <a:schemeClr val="tx1"/>
                              </a:solidFill>
                              <a:latin typeface="Cambria Math" panose="02040503050406030204" pitchFamily="18" charset="0"/>
                            </a:rPr>
                          </m:ctrlPr>
                        </m:fPr>
                        <m:num>
                          <m:r>
                            <a:rPr lang="en-CA" sz="2400" b="1" i="1">
                              <a:solidFill>
                                <a:schemeClr val="tx1"/>
                              </a:solidFill>
                              <a:latin typeface="Cambria Math" panose="02040503050406030204" pitchFamily="18" charset="0"/>
                              <a:ea typeface="Cambria Math" panose="02040503050406030204" pitchFamily="18" charset="0"/>
                            </a:rPr>
                            <m:t>𝝏</m:t>
                          </m:r>
                        </m:num>
                        <m:den>
                          <m:r>
                            <a:rPr lang="en-CA" sz="2400" b="1" i="1">
                              <a:solidFill>
                                <a:schemeClr val="tx1"/>
                              </a:solidFill>
                              <a:latin typeface="Cambria Math" panose="02040503050406030204" pitchFamily="18" charset="0"/>
                              <a:ea typeface="Cambria Math" panose="02040503050406030204" pitchFamily="18" charset="0"/>
                            </a:rPr>
                            <m:t>𝝏</m:t>
                          </m:r>
                          <m:r>
                            <a:rPr lang="en-CA" sz="2400" b="1" i="1">
                              <a:solidFill>
                                <a:schemeClr val="tx1"/>
                              </a:solidFill>
                              <a:latin typeface="Cambria Math" panose="02040503050406030204" pitchFamily="18" charset="0"/>
                              <a:ea typeface="Cambria Math" panose="02040503050406030204" pitchFamily="18" charset="0"/>
                            </a:rPr>
                            <m:t>𝒕</m:t>
                          </m:r>
                        </m:den>
                      </m:f>
                      <m:nary>
                        <m:naryPr>
                          <m:ctrlPr>
                            <a:rPr lang="en-CA" sz="2400" b="1" i="1">
                              <a:solidFill>
                                <a:schemeClr val="tx1"/>
                              </a:solidFill>
                              <a:latin typeface="Cambria Math" panose="02040503050406030204" pitchFamily="18" charset="0"/>
                            </a:rPr>
                          </m:ctrlPr>
                        </m:naryPr>
                        <m:sub>
                          <m:r>
                            <m:rPr>
                              <m:brk m:alnAt="23"/>
                            </m:rPr>
                            <a:rPr lang="en-CA" sz="2400" b="1" i="1">
                              <a:solidFill>
                                <a:schemeClr val="tx1"/>
                              </a:solidFill>
                              <a:latin typeface="Cambria Math" panose="02040503050406030204" pitchFamily="18" charset="0"/>
                            </a:rPr>
                            <m:t>𝑪</m:t>
                          </m:r>
                          <m:r>
                            <a:rPr lang="en-CA" sz="2400" b="1" i="1">
                              <a:solidFill>
                                <a:schemeClr val="tx1"/>
                              </a:solidFill>
                              <a:latin typeface="Cambria Math" panose="02040503050406030204" pitchFamily="18" charset="0"/>
                            </a:rPr>
                            <m:t>𝑽</m:t>
                          </m:r>
                        </m:sub>
                        <m:sup/>
                        <m:e>
                          <m:r>
                            <a:rPr lang="en-GB" sz="2400" b="1" i="1" smtClean="0">
                              <a:solidFill>
                                <a:schemeClr val="tx1"/>
                              </a:solidFill>
                              <a:latin typeface="Cambria Math" panose="02040503050406030204" pitchFamily="18" charset="0"/>
                              <a:ea typeface="Cambria Math" panose="02040503050406030204" pitchFamily="18" charset="0"/>
                            </a:rPr>
                            <m:t>𝒗</m:t>
                          </m:r>
                          <m:r>
                            <a:rPr lang="en-CA" sz="2400" b="1" i="1">
                              <a:solidFill>
                                <a:schemeClr val="tx1"/>
                              </a:solidFill>
                              <a:latin typeface="Cambria Math" panose="02040503050406030204" pitchFamily="18" charset="0"/>
                              <a:ea typeface="Cambria Math" panose="02040503050406030204" pitchFamily="18" charset="0"/>
                            </a:rPr>
                            <m:t>𝝆</m:t>
                          </m:r>
                          <m:r>
                            <a:rPr lang="en-CA" sz="2400" b="1" i="1">
                              <a:solidFill>
                                <a:schemeClr val="tx1"/>
                              </a:solidFill>
                              <a:latin typeface="Cambria Math" panose="02040503050406030204" pitchFamily="18" charset="0"/>
                              <a:ea typeface="Cambria Math" panose="02040503050406030204" pitchFamily="18" charset="0"/>
                            </a:rPr>
                            <m:t>𝒅</m:t>
                          </m:r>
                          <m:r>
                            <a:rPr lang="en-CA" sz="2400" b="1" i="1" smtClean="0">
                              <a:solidFill>
                                <a:schemeClr val="tx1"/>
                              </a:solidFill>
                              <a:latin typeface="Cambria Math" panose="02040503050406030204" pitchFamily="18" charset="0"/>
                              <a:ea typeface="Cambria Math" panose="02040503050406030204" pitchFamily="18" charset="0"/>
                            </a:rPr>
                            <m:t>∀</m:t>
                          </m:r>
                        </m:e>
                      </m:nary>
                      <m:r>
                        <a:rPr lang="en-CA" sz="2400" b="1">
                          <a:solidFill>
                            <a:schemeClr val="tx1"/>
                          </a:solidFill>
                          <a:latin typeface="Cambria Math" panose="02040503050406030204" pitchFamily="18" charset="0"/>
                          <a:ea typeface="Cambria Math" panose="02040503050406030204" pitchFamily="18" charset="0"/>
                        </a:rPr>
                        <m:t>+</m:t>
                      </m:r>
                      <m:nary>
                        <m:naryPr>
                          <m:chr m:val="∑"/>
                          <m:limLoc m:val="subSup"/>
                          <m:ctrlPr>
                            <a:rPr lang="en-CA" sz="2400" b="1" i="1">
                              <a:solidFill>
                                <a:schemeClr val="tx1"/>
                              </a:solidFill>
                              <a:latin typeface="Cambria Math" panose="02040503050406030204" pitchFamily="18" charset="0"/>
                              <a:ea typeface="Cambria Math" panose="02040503050406030204" pitchFamily="18" charset="0"/>
                            </a:rPr>
                          </m:ctrlPr>
                        </m:naryPr>
                        <m:sub>
                          <m:r>
                            <m:rPr>
                              <m:brk m:alnAt="25"/>
                            </m:rPr>
                            <a:rPr lang="en-CA" sz="2400" b="1" i="1">
                              <a:solidFill>
                                <a:schemeClr val="tx1"/>
                              </a:solidFill>
                              <a:latin typeface="Cambria Math" panose="02040503050406030204" pitchFamily="18" charset="0"/>
                              <a:ea typeface="Cambria Math" panose="02040503050406030204" pitchFamily="18" charset="0"/>
                            </a:rPr>
                            <m:t>𝑪</m:t>
                          </m:r>
                          <m:r>
                            <a:rPr lang="en-CA" sz="2400" b="1" i="1">
                              <a:solidFill>
                                <a:schemeClr val="tx1"/>
                              </a:solidFill>
                              <a:latin typeface="Cambria Math" panose="02040503050406030204" pitchFamily="18" charset="0"/>
                              <a:ea typeface="Cambria Math" panose="02040503050406030204" pitchFamily="18" charset="0"/>
                            </a:rPr>
                            <m:t>𝑺</m:t>
                          </m:r>
                        </m:sub>
                        <m:sup/>
                        <m:e>
                          <m:r>
                            <a:rPr lang="en-GB" sz="2400" b="1" i="1" smtClean="0">
                              <a:solidFill>
                                <a:schemeClr val="tx1"/>
                              </a:solidFill>
                              <a:latin typeface="Cambria Math" panose="02040503050406030204" pitchFamily="18" charset="0"/>
                              <a:ea typeface="Cambria Math" panose="02040503050406030204" pitchFamily="18" charset="0"/>
                            </a:rPr>
                            <m:t>𝒗</m:t>
                          </m:r>
                          <m:r>
                            <a:rPr lang="en-CA" sz="2400" b="1" i="1">
                              <a:solidFill>
                                <a:schemeClr val="tx1"/>
                              </a:solidFill>
                              <a:latin typeface="Cambria Math" panose="02040503050406030204" pitchFamily="18" charset="0"/>
                              <a:ea typeface="Cambria Math" panose="02040503050406030204" pitchFamily="18" charset="0"/>
                            </a:rPr>
                            <m:t>𝝆</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𝑽</m:t>
                              </m:r>
                            </m:e>
                          </m:acc>
                          <m:r>
                            <a:rPr lang="en-CA" sz="2400" b="1" i="1">
                              <a:solidFill>
                                <a:schemeClr val="tx1"/>
                              </a:solidFill>
                              <a:latin typeface="Cambria Math" panose="02040503050406030204" pitchFamily="18" charset="0"/>
                              <a:ea typeface="Cambria Math" panose="02040503050406030204" pitchFamily="18" charset="0"/>
                            </a:rPr>
                            <m:t>∙</m:t>
                          </m:r>
                          <m:acc>
                            <m:accPr>
                              <m:chr m:val="⃗"/>
                              <m:ctrlPr>
                                <a:rPr lang="en-CA" sz="2400" b="1" i="1">
                                  <a:solidFill>
                                    <a:schemeClr val="tx1"/>
                                  </a:solidFill>
                                  <a:latin typeface="Cambria Math" panose="02040503050406030204" pitchFamily="18" charset="0"/>
                                  <a:ea typeface="Cambria Math" panose="02040503050406030204" pitchFamily="18" charset="0"/>
                                </a:rPr>
                              </m:ctrlPr>
                            </m:accPr>
                            <m:e>
                              <m:r>
                                <a:rPr lang="en-CA" sz="2400" b="1" i="1">
                                  <a:solidFill>
                                    <a:schemeClr val="tx1"/>
                                  </a:solidFill>
                                  <a:latin typeface="Cambria Math" panose="02040503050406030204" pitchFamily="18" charset="0"/>
                                  <a:ea typeface="Cambria Math" panose="02040503050406030204" pitchFamily="18" charset="0"/>
                                </a:rPr>
                                <m:t>𝑨</m:t>
                              </m:r>
                            </m:e>
                          </m:acc>
                        </m:e>
                      </m:nary>
                    </m:oMath>
                  </m:oMathPara>
                </a14:m>
                <a:endParaRPr lang="en-US" dirty="0"/>
              </a:p>
              <a:p>
                <a:pPr marL="0" indent="0">
                  <a:lnSpc>
                    <a:spcPct val="150000"/>
                  </a:lnSpc>
                  <a:spcBef>
                    <a:spcPts val="0"/>
                  </a:spcBef>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GB" b="0" i="1" smtClean="0">
                              <a:latin typeface="Cambria Math" panose="02040503050406030204" pitchFamily="18" charset="0"/>
                            </a:rPr>
                            <m:t>𝑦</m:t>
                          </m:r>
                        </m:sub>
                      </m:sSub>
                      <m:r>
                        <a:rPr lang="en-US" b="0" i="1" smtClean="0">
                          <a:latin typeface="Cambria Math" panose="02040503050406030204" pitchFamily="18" charset="0"/>
                        </a:rPr>
                        <m:t>=</m:t>
                      </m:r>
                      <m:r>
                        <a:rPr lang="en-US" i="1">
                          <a:solidFill>
                            <a:prstClr val="black"/>
                          </a:solidFill>
                          <a:latin typeface="Cambria Math" panose="02040503050406030204" pitchFamily="18" charset="0"/>
                          <a:ea typeface="Cambria Math" panose="02040503050406030204" pitchFamily="18" charset="0"/>
                        </a:rPr>
                        <m:t>𝜌</m:t>
                      </m:r>
                      <m:r>
                        <a:rPr lang="en-US" i="1">
                          <a:solidFill>
                            <a:prstClr val="black"/>
                          </a:solidFill>
                          <a:latin typeface="Cambria Math" panose="02040503050406030204" pitchFamily="18" charset="0"/>
                          <a:ea typeface="Cambria Math" panose="02040503050406030204" pitchFamily="18" charset="0"/>
                        </a:rPr>
                        <m:t>𝑄</m:t>
                      </m:r>
                      <m:d>
                        <m:dPr>
                          <m:ctrlPr>
                            <a:rPr lang="en-US" i="1">
                              <a:solidFill>
                                <a:prstClr val="black"/>
                              </a:solidFill>
                              <a:latin typeface="Cambria Math" panose="02040503050406030204" pitchFamily="18" charset="0"/>
                              <a:ea typeface="Cambria Math" panose="02040503050406030204" pitchFamily="18" charset="0"/>
                            </a:rPr>
                          </m:ctrlPr>
                        </m:dPr>
                        <m:e>
                          <m:sSub>
                            <m:sSubPr>
                              <m:ctrlPr>
                                <a:rPr lang="en-US" i="1">
                                  <a:solidFill>
                                    <a:prstClr val="black"/>
                                  </a:solidFill>
                                  <a:latin typeface="Cambria Math" panose="02040503050406030204" pitchFamily="18" charset="0"/>
                                  <a:ea typeface="Cambria Math" panose="02040503050406030204" pitchFamily="18" charset="0"/>
                                </a:rPr>
                              </m:ctrlPr>
                            </m:sSubPr>
                            <m:e>
                              <m:r>
                                <a:rPr lang="en-US" i="1">
                                  <a:solidFill>
                                    <a:prstClr val="black"/>
                                  </a:solidFill>
                                  <a:latin typeface="Cambria Math" panose="02040503050406030204" pitchFamily="18" charset="0"/>
                                  <a:ea typeface="Cambria Math" panose="02040503050406030204" pitchFamily="18" charset="0"/>
                                </a:rPr>
                                <m:t>𝑉</m:t>
                              </m:r>
                            </m:e>
                            <m:sub>
                              <m:r>
                                <a:rPr lang="en-US" i="1">
                                  <a:solidFill>
                                    <a:prstClr val="black"/>
                                  </a:solidFill>
                                  <a:latin typeface="Cambria Math" panose="02040503050406030204" pitchFamily="18" charset="0"/>
                                  <a:ea typeface="Cambria Math" panose="02040503050406030204" pitchFamily="18" charset="0"/>
                                </a:rPr>
                                <m:t>2</m:t>
                              </m:r>
                            </m:sub>
                          </m:sSub>
                          <m:func>
                            <m:funcPr>
                              <m:ctrlPr>
                                <a:rPr lang="en-US" i="1">
                                  <a:solidFill>
                                    <a:prstClr val="black"/>
                                  </a:solidFill>
                                  <a:latin typeface="Cambria Math" panose="02040503050406030204" pitchFamily="18" charset="0"/>
                                  <a:ea typeface="Cambria Math" panose="02040503050406030204" pitchFamily="18" charset="0"/>
                                </a:rPr>
                              </m:ctrlPr>
                            </m:funcPr>
                            <m:fName>
                              <m:r>
                                <m:rPr>
                                  <m:sty m:val="p"/>
                                </m:rPr>
                                <a:rPr lang="en-GB" b="0" i="0" smtClean="0">
                                  <a:solidFill>
                                    <a:prstClr val="black"/>
                                  </a:solidFill>
                                  <a:latin typeface="Cambria Math" panose="02040503050406030204" pitchFamily="18" charset="0"/>
                                  <a:ea typeface="Cambria Math" panose="02040503050406030204" pitchFamily="18" charset="0"/>
                                </a:rPr>
                                <m:t>sin</m:t>
                              </m:r>
                            </m:fName>
                            <m:e>
                              <m:r>
                                <a:rPr lang="en-US" i="1">
                                  <a:solidFill>
                                    <a:prstClr val="black"/>
                                  </a:solidFill>
                                  <a:latin typeface="Cambria Math" panose="02040503050406030204" pitchFamily="18" charset="0"/>
                                  <a:ea typeface="Cambria Math" panose="02040503050406030204" pitchFamily="18" charset="0"/>
                                </a:rPr>
                                <m:t>𝜃</m:t>
                              </m:r>
                            </m:e>
                          </m:func>
                          <m:r>
                            <a:rPr lang="en-US" i="1">
                              <a:solidFill>
                                <a:prstClr val="black"/>
                              </a:solidFill>
                              <a:latin typeface="Cambria Math" panose="02040503050406030204" pitchFamily="18" charset="0"/>
                              <a:ea typeface="Cambria Math" panose="02040503050406030204" pitchFamily="18" charset="0"/>
                            </a:rPr>
                            <m:t>−0</m:t>
                          </m:r>
                        </m:e>
                      </m:d>
                    </m:oMath>
                  </m:oMathPara>
                </a14:m>
                <a:endParaRPr lang="en-US" dirty="0">
                  <a:solidFill>
                    <a:prstClr val="black"/>
                  </a:solidFill>
                </a:endParaRPr>
              </a:p>
              <a:p>
                <a:pPr marL="0" lvl="0" indent="0">
                  <a:lnSpc>
                    <a:spcPct val="150000"/>
                  </a:lnSpc>
                  <a:spcBef>
                    <a:spcPts val="0"/>
                  </a:spcBef>
                  <a:buNone/>
                </a:pPr>
                <a14:m>
                  <m:oMathPara xmlns:m="http://schemas.openxmlformats.org/officeDocument/2006/math">
                    <m:oMathParaPr>
                      <m:jc m:val="left"/>
                    </m:oMathParaPr>
                    <m:oMath xmlns:m="http://schemas.openxmlformats.org/officeDocument/2006/math">
                      <m:sSub>
                        <m:sSubPr>
                          <m:ctrlPr>
                            <a:rPr lang="en-US" b="0" i="1" smtClean="0">
                              <a:solidFill>
                                <a:prstClr val="black"/>
                              </a:solidFill>
                              <a:latin typeface="Cambria Math" panose="02040503050406030204" pitchFamily="18" charset="0"/>
                            </a:rPr>
                          </m:ctrlPr>
                        </m:sSubPr>
                        <m:e>
                          <m:r>
                            <a:rPr lang="en-US" b="0" i="1" smtClean="0">
                              <a:solidFill>
                                <a:prstClr val="black"/>
                              </a:solidFill>
                              <a:latin typeface="Cambria Math" panose="02040503050406030204" pitchFamily="18" charset="0"/>
                            </a:rPr>
                            <m:t>𝐹</m:t>
                          </m:r>
                        </m:e>
                        <m:sub>
                          <m:r>
                            <a:rPr lang="en-US" b="0" i="1" smtClean="0">
                              <a:solidFill>
                                <a:prstClr val="black"/>
                              </a:solidFill>
                              <a:latin typeface="Cambria Math" panose="02040503050406030204" pitchFamily="18" charset="0"/>
                            </a:rPr>
                            <m:t>𝑦</m:t>
                          </m:r>
                        </m:sub>
                      </m:sSub>
                      <m:r>
                        <a:rPr lang="en-US"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𝑃</m:t>
                          </m:r>
                        </m:e>
                        <m:sub>
                          <m:r>
                            <a:rPr lang="en-US" i="1">
                              <a:solidFill>
                                <a:prstClr val="black"/>
                              </a:solidFill>
                              <a:latin typeface="Cambria Math" panose="02040503050406030204" pitchFamily="18" charset="0"/>
                            </a:rPr>
                            <m:t>2</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𝐴</m:t>
                          </m:r>
                        </m:e>
                        <m:sub>
                          <m:r>
                            <a:rPr lang="en-US" i="1">
                              <a:solidFill>
                                <a:prstClr val="black"/>
                              </a:solidFill>
                              <a:latin typeface="Cambria Math" panose="02040503050406030204" pitchFamily="18" charset="0"/>
                            </a:rPr>
                            <m:t>2</m:t>
                          </m:r>
                        </m:sub>
                      </m:sSub>
                      <m:func>
                        <m:funcPr>
                          <m:ctrlPr>
                            <a:rPr lang="en-US" i="1">
                              <a:solidFill>
                                <a:prstClr val="black"/>
                              </a:solidFill>
                              <a:latin typeface="Cambria Math" panose="02040503050406030204" pitchFamily="18" charset="0"/>
                            </a:rPr>
                          </m:ctrlPr>
                        </m:funcPr>
                        <m:fName>
                          <m:r>
                            <m:rPr>
                              <m:sty m:val="p"/>
                            </m:rPr>
                            <a:rPr lang="en-US">
                              <a:solidFill>
                                <a:prstClr val="black"/>
                              </a:solidFill>
                              <a:latin typeface="Cambria Math" panose="02040503050406030204" pitchFamily="18" charset="0"/>
                            </a:rPr>
                            <m:t>sin</m:t>
                          </m:r>
                        </m:fName>
                        <m:e>
                          <m:r>
                            <a:rPr lang="en-US" i="1">
                              <a:solidFill>
                                <a:prstClr val="black"/>
                              </a:solidFill>
                              <a:latin typeface="Cambria Math" panose="02040503050406030204" pitchFamily="18" charset="0"/>
                              <a:ea typeface="Cambria Math" panose="02040503050406030204" pitchFamily="18" charset="0"/>
                            </a:rPr>
                            <m:t>𝜃</m:t>
                          </m:r>
                        </m:e>
                      </m:func>
                      <m:r>
                        <a:rPr lang="en-GB" b="0" i="1" smtClean="0">
                          <a:solidFill>
                            <a:prstClr val="black"/>
                          </a:solidFill>
                          <a:latin typeface="Cambria Math" panose="02040503050406030204" pitchFamily="18" charset="0"/>
                          <a:ea typeface="Cambria Math" panose="02040503050406030204" pitchFamily="18" charset="0"/>
                        </a:rPr>
                        <m:t>−</m:t>
                      </m:r>
                      <m:r>
                        <a:rPr lang="en-US" i="1">
                          <a:solidFill>
                            <a:prstClr val="black"/>
                          </a:solidFill>
                          <a:latin typeface="Cambria Math" panose="02040503050406030204" pitchFamily="18" charset="0"/>
                          <a:ea typeface="Cambria Math" panose="02040503050406030204" pitchFamily="18" charset="0"/>
                        </a:rPr>
                        <m:t>𝜌</m:t>
                      </m:r>
                      <m:r>
                        <a:rPr lang="en-US" i="1">
                          <a:solidFill>
                            <a:prstClr val="black"/>
                          </a:solidFill>
                          <a:latin typeface="Cambria Math" panose="02040503050406030204" pitchFamily="18" charset="0"/>
                          <a:ea typeface="Cambria Math" panose="02040503050406030204" pitchFamily="18" charset="0"/>
                        </a:rPr>
                        <m:t>𝑄</m:t>
                      </m:r>
                      <m:d>
                        <m:dPr>
                          <m:ctrlPr>
                            <a:rPr lang="en-US" i="1">
                              <a:solidFill>
                                <a:prstClr val="black"/>
                              </a:solidFill>
                              <a:latin typeface="Cambria Math" panose="02040503050406030204" pitchFamily="18" charset="0"/>
                              <a:ea typeface="Cambria Math" panose="02040503050406030204" pitchFamily="18" charset="0"/>
                            </a:rPr>
                          </m:ctrlPr>
                        </m:dPr>
                        <m:e>
                          <m:sSub>
                            <m:sSubPr>
                              <m:ctrlPr>
                                <a:rPr lang="en-US" i="1">
                                  <a:solidFill>
                                    <a:prstClr val="black"/>
                                  </a:solidFill>
                                  <a:latin typeface="Cambria Math" panose="02040503050406030204" pitchFamily="18" charset="0"/>
                                  <a:ea typeface="Cambria Math" panose="02040503050406030204" pitchFamily="18" charset="0"/>
                                </a:rPr>
                              </m:ctrlPr>
                            </m:sSubPr>
                            <m:e>
                              <m:r>
                                <a:rPr lang="en-US" i="1">
                                  <a:solidFill>
                                    <a:prstClr val="black"/>
                                  </a:solidFill>
                                  <a:latin typeface="Cambria Math" panose="02040503050406030204" pitchFamily="18" charset="0"/>
                                  <a:ea typeface="Cambria Math" panose="02040503050406030204" pitchFamily="18" charset="0"/>
                                </a:rPr>
                                <m:t>𝑉</m:t>
                              </m:r>
                            </m:e>
                            <m:sub>
                              <m:r>
                                <a:rPr lang="en-US" i="1">
                                  <a:solidFill>
                                    <a:prstClr val="black"/>
                                  </a:solidFill>
                                  <a:latin typeface="Cambria Math" panose="02040503050406030204" pitchFamily="18" charset="0"/>
                                  <a:ea typeface="Cambria Math" panose="02040503050406030204" pitchFamily="18" charset="0"/>
                                </a:rPr>
                                <m:t>2</m:t>
                              </m:r>
                            </m:sub>
                          </m:sSub>
                          <m:func>
                            <m:funcPr>
                              <m:ctrlPr>
                                <a:rPr lang="en-US" i="1">
                                  <a:solidFill>
                                    <a:prstClr val="black"/>
                                  </a:solidFill>
                                  <a:latin typeface="Cambria Math" panose="02040503050406030204" pitchFamily="18" charset="0"/>
                                  <a:ea typeface="Cambria Math" panose="02040503050406030204" pitchFamily="18" charset="0"/>
                                </a:rPr>
                              </m:ctrlPr>
                            </m:funcPr>
                            <m:fName>
                              <m:r>
                                <m:rPr>
                                  <m:sty m:val="p"/>
                                </m:rPr>
                                <a:rPr lang="en-US">
                                  <a:solidFill>
                                    <a:prstClr val="black"/>
                                  </a:solidFill>
                                  <a:latin typeface="Cambria Math" panose="02040503050406030204" pitchFamily="18" charset="0"/>
                                  <a:ea typeface="Cambria Math" panose="02040503050406030204" pitchFamily="18" charset="0"/>
                                </a:rPr>
                                <m:t>sin</m:t>
                              </m:r>
                            </m:fName>
                            <m:e>
                              <m:r>
                                <a:rPr lang="en-US" i="1">
                                  <a:solidFill>
                                    <a:prstClr val="black"/>
                                  </a:solidFill>
                                  <a:latin typeface="Cambria Math" panose="02040503050406030204" pitchFamily="18" charset="0"/>
                                  <a:ea typeface="Cambria Math" panose="02040503050406030204" pitchFamily="18" charset="0"/>
                                </a:rPr>
                                <m:t>𝜃</m:t>
                              </m:r>
                            </m:e>
                          </m:func>
                        </m:e>
                      </m:d>
                    </m:oMath>
                  </m:oMathPara>
                </a14:m>
                <a:endParaRPr lang="en-US" dirty="0">
                  <a:solidFill>
                    <a:prstClr val="black"/>
                  </a:solidFill>
                </a:endParaRPr>
              </a:p>
              <a:p>
                <a:pPr marL="0" lvl="0" indent="0">
                  <a:lnSpc>
                    <a:spcPct val="150000"/>
                  </a:lnSpc>
                  <a:spcBef>
                    <a:spcPts val="0"/>
                  </a:spcBef>
                  <a:buNone/>
                </a:pPr>
                <a:r>
                  <a:rPr lang="en-US" dirty="0">
                    <a:solidFill>
                      <a:prstClr val="black"/>
                    </a:solidFill>
                  </a:rPr>
                  <a:t>The magnitude of the resultant force F=</a:t>
                </a:r>
                <a14:m>
                  <m:oMath xmlns:m="http://schemas.openxmlformats.org/officeDocument/2006/math">
                    <m:rad>
                      <m:radPr>
                        <m:degHide m:val="on"/>
                        <m:ctrlPr>
                          <a:rPr lang="en-US" i="1" smtClean="0">
                            <a:solidFill>
                              <a:prstClr val="black"/>
                            </a:solidFill>
                            <a:latin typeface="Cambria Math" panose="02040503050406030204" pitchFamily="18" charset="0"/>
                          </a:rPr>
                        </m:ctrlPr>
                      </m:radPr>
                      <m:deg/>
                      <m:e>
                        <m:sSubSup>
                          <m:sSubSupPr>
                            <m:ctrlPr>
                              <a:rPr lang="en-US" i="1" smtClean="0">
                                <a:solidFill>
                                  <a:prstClr val="black"/>
                                </a:solidFill>
                                <a:latin typeface="Cambria Math" panose="02040503050406030204" pitchFamily="18" charset="0"/>
                              </a:rPr>
                            </m:ctrlPr>
                          </m:sSubSupPr>
                          <m:e>
                            <m:r>
                              <a:rPr lang="en-US" b="0" i="1" smtClean="0">
                                <a:solidFill>
                                  <a:prstClr val="black"/>
                                </a:solidFill>
                                <a:latin typeface="Cambria Math" panose="02040503050406030204" pitchFamily="18" charset="0"/>
                              </a:rPr>
                              <m:t>𝐹</m:t>
                            </m:r>
                          </m:e>
                          <m:sub>
                            <m:r>
                              <a:rPr lang="en-US" b="0" i="1" smtClean="0">
                                <a:solidFill>
                                  <a:prstClr val="black"/>
                                </a:solidFill>
                                <a:latin typeface="Cambria Math" panose="02040503050406030204" pitchFamily="18" charset="0"/>
                              </a:rPr>
                              <m:t>𝑥</m:t>
                            </m:r>
                          </m:sub>
                          <m:sup>
                            <m:r>
                              <a:rPr lang="en-US" b="0" i="1" smtClean="0">
                                <a:solidFill>
                                  <a:prstClr val="black"/>
                                </a:solidFill>
                                <a:latin typeface="Cambria Math" panose="02040503050406030204" pitchFamily="18" charset="0"/>
                              </a:rPr>
                              <m:t>2</m:t>
                            </m:r>
                          </m:sup>
                        </m:sSubSup>
                        <m:r>
                          <a:rPr lang="en-US" b="0" i="1" smtClean="0">
                            <a:solidFill>
                              <a:prstClr val="black"/>
                            </a:solidFill>
                            <a:latin typeface="Cambria Math" panose="02040503050406030204" pitchFamily="18" charset="0"/>
                          </a:rPr>
                          <m:t>+</m:t>
                        </m:r>
                        <m:sSubSup>
                          <m:sSubSupPr>
                            <m:ctrlPr>
                              <a:rPr lang="en-US" b="0" i="1" smtClean="0">
                                <a:solidFill>
                                  <a:prstClr val="black"/>
                                </a:solidFill>
                                <a:latin typeface="Cambria Math" panose="02040503050406030204" pitchFamily="18" charset="0"/>
                              </a:rPr>
                            </m:ctrlPr>
                          </m:sSubSupPr>
                          <m:e>
                            <m:r>
                              <a:rPr lang="en-US" b="0" i="1" smtClean="0">
                                <a:solidFill>
                                  <a:prstClr val="black"/>
                                </a:solidFill>
                                <a:latin typeface="Cambria Math" panose="02040503050406030204" pitchFamily="18" charset="0"/>
                              </a:rPr>
                              <m:t>𝐹</m:t>
                            </m:r>
                          </m:e>
                          <m:sub>
                            <m:r>
                              <a:rPr lang="en-US" b="0" i="1" smtClean="0">
                                <a:solidFill>
                                  <a:prstClr val="black"/>
                                </a:solidFill>
                                <a:latin typeface="Cambria Math" panose="02040503050406030204" pitchFamily="18" charset="0"/>
                              </a:rPr>
                              <m:t>𝑦</m:t>
                            </m:r>
                          </m:sub>
                          <m:sup>
                            <m:r>
                              <a:rPr lang="en-US" b="0" i="1" smtClean="0">
                                <a:solidFill>
                                  <a:prstClr val="black"/>
                                </a:solidFill>
                                <a:latin typeface="Cambria Math" panose="02040503050406030204" pitchFamily="18" charset="0"/>
                              </a:rPr>
                              <m:t>2</m:t>
                            </m:r>
                          </m:sup>
                        </m:sSubSup>
                      </m:e>
                    </m:rad>
                  </m:oMath>
                </a14:m>
                <a:endParaRPr lang="en-US" dirty="0">
                  <a:solidFill>
                    <a:prstClr val="black"/>
                  </a:solidFill>
                </a:endParaRPr>
              </a:p>
              <a:p>
                <a:pPr marL="0" lvl="0" indent="0">
                  <a:buNone/>
                </a:pPr>
                <a:r>
                  <a:rPr lang="en-US" dirty="0"/>
                  <a:t>The angle made by the resultant force with the horizontal direction is given by </a:t>
                </a:r>
                <a14:m>
                  <m:oMath xmlns:m="http://schemas.openxmlformats.org/officeDocument/2006/math">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tan</m:t>
                        </m:r>
                      </m:fName>
                      <m:e>
                        <m:r>
                          <a:rPr lang="en-US"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rPr>
                      <m:t>=</m:t>
                    </m:r>
                    <m:f>
                      <m:fPr>
                        <m:type m:val="lin"/>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𝑦</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𝑥</m:t>
                            </m:r>
                          </m:sub>
                        </m:sSub>
                      </m:den>
                    </m:f>
                  </m:oMath>
                </a14:m>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36042" y="604266"/>
                <a:ext cx="8407908" cy="4863846"/>
              </a:xfrm>
              <a:blipFill>
                <a:blip r:embed="rId3"/>
                <a:stretch>
                  <a:fillRect l="-1088" t="-627" b="-15539"/>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5A2C13F0-983F-B2A9-7E3E-049139DD0D3D}"/>
              </a:ext>
            </a:extLst>
          </p:cNvPr>
          <p:cNvSpPr>
            <a:spLocks noGrp="1"/>
          </p:cNvSpPr>
          <p:nvPr>
            <p:ph type="sldNum" sz="quarter" idx="12"/>
          </p:nvPr>
        </p:nvSpPr>
        <p:spPr/>
        <p:txBody>
          <a:bodyPr/>
          <a:lstStyle/>
          <a:p>
            <a:fld id="{49FCB85E-0F77-4855-90A7-7A1B61BB679B}" type="slidenum">
              <a:rPr lang="en-CA" smtClean="0"/>
              <a:t>41</a:t>
            </a:fld>
            <a:endParaRPr lang="en-CA"/>
          </a:p>
        </p:txBody>
      </p:sp>
    </p:spTree>
    <p:extLst>
      <p:ext uri="{BB962C8B-B14F-4D97-AF65-F5344CB8AC3E}">
        <p14:creationId xmlns:p14="http://schemas.microsoft.com/office/powerpoint/2010/main" val="18709141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228" y="429134"/>
            <a:ext cx="7886700" cy="568940"/>
          </a:xfrm>
        </p:spPr>
        <p:txBody>
          <a:bodyPr>
            <a:normAutofit/>
          </a:bodyPr>
          <a:lstStyle/>
          <a:p>
            <a:r>
              <a:rPr lang="en-US" sz="2800" b="1" dirty="0">
                <a:solidFill>
                  <a:schemeClr val="tx1"/>
                </a:solidFill>
              </a:rPr>
              <a:t>Momentum Equation Example 3</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097579"/>
                <a:ext cx="9144000" cy="1685378"/>
              </a:xfrm>
            </p:spPr>
            <p:txBody>
              <a:bodyPr/>
              <a:lstStyle/>
              <a:p>
                <a:pPr marL="0" indent="0">
                  <a:buNone/>
                </a:pPr>
                <a:r>
                  <a:rPr lang="en-US" dirty="0">
                    <a:latin typeface="+mn-lt"/>
                  </a:rPr>
                  <a:t>A nozzle of exit diameter 20 mm is fitted to a pipe of diameter 40 mm. Find the force exerted by the nozzle on the water which is flowing through the pipe at a rate of </a:t>
                </a:r>
                <a14:m>
                  <m:oMath xmlns:m="http://schemas.openxmlformats.org/officeDocument/2006/math">
                    <m:r>
                      <a:rPr lang="en-US" b="0" i="1" smtClean="0">
                        <a:latin typeface="Cambria Math" panose="02040503050406030204" pitchFamily="18" charset="0"/>
                      </a:rPr>
                      <m:t>1.2</m:t>
                    </m:r>
                    <m:f>
                      <m:fPr>
                        <m:type m:val="lin"/>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num>
                      <m:den>
                        <m:r>
                          <a:rPr lang="en-US" b="0" i="1" smtClean="0">
                            <a:latin typeface="Cambria Math" panose="02040503050406030204" pitchFamily="18" charset="0"/>
                          </a:rPr>
                          <m:t>𝑚𝑖𝑛𝑢𝑡𝑒</m:t>
                        </m:r>
                      </m:den>
                    </m:f>
                  </m:oMath>
                </a14:m>
                <a:r>
                  <a:rPr lang="en-US" dirty="0">
                    <a:latin typeface="+mn-lt"/>
                  </a:rPr>
                  <a:t>. Assume pressure at the exit of the nozzle to be atmospheric.</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097579"/>
                <a:ext cx="9144000" cy="1685378"/>
              </a:xfrm>
              <a:blipFill>
                <a:blip r:embed="rId3"/>
                <a:stretch>
                  <a:fillRect l="-1000" t="-5054" b="-16968"/>
                </a:stretch>
              </a:blipFill>
            </p:spPr>
            <p:txBody>
              <a:bodyPr/>
              <a:lstStyle/>
              <a:p>
                <a:r>
                  <a:rPr lang="en-GH">
                    <a:noFill/>
                  </a:rPr>
                  <a:t> </a:t>
                </a:r>
              </a:p>
            </p:txBody>
          </p:sp>
        </mc:Fallback>
      </mc:AlternateContent>
      <p:grpSp>
        <p:nvGrpSpPr>
          <p:cNvPr id="22" name="Group 21">
            <a:extLst>
              <a:ext uri="{FF2B5EF4-FFF2-40B4-BE49-F238E27FC236}">
                <a16:creationId xmlns:a16="http://schemas.microsoft.com/office/drawing/2014/main" id="{FE205352-D8C2-CAD8-6E3E-AE2E551D959F}"/>
              </a:ext>
            </a:extLst>
          </p:cNvPr>
          <p:cNvGrpSpPr/>
          <p:nvPr/>
        </p:nvGrpSpPr>
        <p:grpSpPr>
          <a:xfrm>
            <a:off x="2404077" y="3494134"/>
            <a:ext cx="3540143" cy="1045464"/>
            <a:chOff x="1357993" y="2926080"/>
            <a:chExt cx="3540143" cy="1045464"/>
          </a:xfrm>
        </p:grpSpPr>
        <p:cxnSp>
          <p:nvCxnSpPr>
            <p:cNvPr id="5" name="Straight Connector 4">
              <a:extLst>
                <a:ext uri="{FF2B5EF4-FFF2-40B4-BE49-F238E27FC236}">
                  <a16:creationId xmlns:a16="http://schemas.microsoft.com/office/drawing/2014/main" id="{87FA1A58-A33C-3BBD-C4EB-6D221154794A}"/>
                </a:ext>
              </a:extLst>
            </p:cNvPr>
            <p:cNvCxnSpPr/>
            <p:nvPr/>
          </p:nvCxnSpPr>
          <p:spPr>
            <a:xfrm>
              <a:off x="1362456" y="2926080"/>
              <a:ext cx="235915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3B696636-6FA8-0E9E-90AD-90D11D8F7388}"/>
                </a:ext>
              </a:extLst>
            </p:cNvPr>
            <p:cNvCxnSpPr/>
            <p:nvPr/>
          </p:nvCxnSpPr>
          <p:spPr>
            <a:xfrm>
              <a:off x="1362456" y="3971544"/>
              <a:ext cx="235915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92B996F-DB23-0B5B-9B81-98CFA0FB9490}"/>
                </a:ext>
              </a:extLst>
            </p:cNvPr>
            <p:cNvCxnSpPr>
              <a:cxnSpLocks/>
            </p:cNvCxnSpPr>
            <p:nvPr/>
          </p:nvCxnSpPr>
          <p:spPr>
            <a:xfrm flipV="1">
              <a:off x="4898136" y="3169920"/>
              <a:ext cx="0" cy="539496"/>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E52A1B81-D029-72B5-5959-A655B1E3BFA6}"/>
                </a:ext>
              </a:extLst>
            </p:cNvPr>
            <p:cNvCxnSpPr>
              <a:cxnSpLocks/>
            </p:cNvCxnSpPr>
            <p:nvPr/>
          </p:nvCxnSpPr>
          <p:spPr>
            <a:xfrm>
              <a:off x="3721608" y="2926080"/>
              <a:ext cx="1176528" cy="24384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FD50FDD-2713-9F8A-D052-0349186E292C}"/>
                </a:ext>
              </a:extLst>
            </p:cNvPr>
            <p:cNvCxnSpPr>
              <a:cxnSpLocks/>
            </p:cNvCxnSpPr>
            <p:nvPr/>
          </p:nvCxnSpPr>
          <p:spPr>
            <a:xfrm flipV="1">
              <a:off x="3721608" y="3709416"/>
              <a:ext cx="1176528" cy="262128"/>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338B65F9-89DF-56C6-6566-229C4CEDBE4F}"/>
                </a:ext>
              </a:extLst>
            </p:cNvPr>
            <p:cNvCxnSpPr>
              <a:cxnSpLocks/>
            </p:cNvCxnSpPr>
            <p:nvPr/>
          </p:nvCxnSpPr>
          <p:spPr>
            <a:xfrm>
              <a:off x="1357993" y="2926080"/>
              <a:ext cx="0" cy="1045464"/>
            </a:xfrm>
            <a:prstGeom prst="line">
              <a:avLst/>
            </a:prstGeom>
            <a:ln w="28575"/>
          </p:spPr>
          <p:style>
            <a:lnRef idx="1">
              <a:schemeClr val="dk1"/>
            </a:lnRef>
            <a:fillRef idx="0">
              <a:schemeClr val="dk1"/>
            </a:fillRef>
            <a:effectRef idx="0">
              <a:schemeClr val="dk1"/>
            </a:effectRef>
            <a:fontRef idx="minor">
              <a:schemeClr val="tx1"/>
            </a:fontRef>
          </p:style>
        </p:cxnSp>
      </p:grpSp>
      <p:sp>
        <p:nvSpPr>
          <p:cNvPr id="23" name="TextBox 22">
            <a:extLst>
              <a:ext uri="{FF2B5EF4-FFF2-40B4-BE49-F238E27FC236}">
                <a16:creationId xmlns:a16="http://schemas.microsoft.com/office/drawing/2014/main" id="{FDB68A59-3D11-7671-C578-E5E0A0675147}"/>
              </a:ext>
            </a:extLst>
          </p:cNvPr>
          <p:cNvSpPr txBox="1"/>
          <p:nvPr/>
        </p:nvSpPr>
        <p:spPr>
          <a:xfrm>
            <a:off x="159731" y="3573667"/>
            <a:ext cx="2321292" cy="830997"/>
          </a:xfrm>
          <a:prstGeom prst="rect">
            <a:avLst/>
          </a:prstGeom>
          <a:noFill/>
        </p:spPr>
        <p:txBody>
          <a:bodyPr wrap="square" rtlCol="0">
            <a:spAutoFit/>
          </a:bodyPr>
          <a:lstStyle/>
          <a:p>
            <a:r>
              <a:rPr lang="en-GB" i="1" dirty="0"/>
              <a:t>D</a:t>
            </a:r>
            <a:r>
              <a:rPr lang="en-GB" baseline="-25000" dirty="0"/>
              <a:t>1</a:t>
            </a:r>
            <a:r>
              <a:rPr lang="en-GB" dirty="0"/>
              <a:t> = 40 mm</a:t>
            </a:r>
          </a:p>
          <a:p>
            <a:r>
              <a:rPr lang="en-GB" i="1" dirty="0"/>
              <a:t>Q</a:t>
            </a:r>
            <a:r>
              <a:rPr lang="en-GB" baseline="-25000" dirty="0"/>
              <a:t>1</a:t>
            </a:r>
            <a:r>
              <a:rPr lang="en-GB" dirty="0"/>
              <a:t> = 1.2 m</a:t>
            </a:r>
            <a:r>
              <a:rPr lang="en-GB" baseline="30000" dirty="0"/>
              <a:t>3</a:t>
            </a:r>
            <a:r>
              <a:rPr lang="en-GB" dirty="0"/>
              <a:t>/min</a:t>
            </a:r>
            <a:endParaRPr lang="en-GH" dirty="0"/>
          </a:p>
        </p:txBody>
      </p:sp>
      <p:sp>
        <p:nvSpPr>
          <p:cNvPr id="24" name="TextBox 23">
            <a:extLst>
              <a:ext uri="{FF2B5EF4-FFF2-40B4-BE49-F238E27FC236}">
                <a16:creationId xmlns:a16="http://schemas.microsoft.com/office/drawing/2014/main" id="{4209C9AD-BF00-15DB-7C0B-C2297CEC315E}"/>
              </a:ext>
            </a:extLst>
          </p:cNvPr>
          <p:cNvSpPr txBox="1"/>
          <p:nvPr/>
        </p:nvSpPr>
        <p:spPr>
          <a:xfrm>
            <a:off x="6021167" y="3577537"/>
            <a:ext cx="2359152" cy="830997"/>
          </a:xfrm>
          <a:prstGeom prst="rect">
            <a:avLst/>
          </a:prstGeom>
          <a:noFill/>
        </p:spPr>
        <p:txBody>
          <a:bodyPr wrap="square" rtlCol="0">
            <a:spAutoFit/>
          </a:bodyPr>
          <a:lstStyle/>
          <a:p>
            <a:r>
              <a:rPr lang="en-GB" i="1" dirty="0"/>
              <a:t>D</a:t>
            </a:r>
            <a:r>
              <a:rPr lang="en-GB" baseline="-25000" dirty="0"/>
              <a:t>2</a:t>
            </a:r>
            <a:r>
              <a:rPr lang="en-GB" dirty="0"/>
              <a:t> = 20 mm</a:t>
            </a:r>
          </a:p>
          <a:p>
            <a:r>
              <a:rPr lang="en-GB" i="1" dirty="0"/>
              <a:t>Q</a:t>
            </a:r>
            <a:r>
              <a:rPr lang="en-GB" baseline="-25000" dirty="0"/>
              <a:t>2</a:t>
            </a:r>
            <a:r>
              <a:rPr lang="en-GB" dirty="0"/>
              <a:t> = 1.2 m</a:t>
            </a:r>
            <a:r>
              <a:rPr lang="en-GB" baseline="30000" dirty="0"/>
              <a:t>3</a:t>
            </a:r>
            <a:r>
              <a:rPr lang="en-GB" dirty="0"/>
              <a:t>/min</a:t>
            </a:r>
            <a:endParaRPr lang="en-GH" dirty="0"/>
          </a:p>
        </p:txBody>
      </p:sp>
      <p:sp>
        <p:nvSpPr>
          <p:cNvPr id="4" name="Slide Number Placeholder 3">
            <a:extLst>
              <a:ext uri="{FF2B5EF4-FFF2-40B4-BE49-F238E27FC236}">
                <a16:creationId xmlns:a16="http://schemas.microsoft.com/office/drawing/2014/main" id="{5573D88D-C400-9C36-72D1-36C12DC936F2}"/>
              </a:ext>
            </a:extLst>
          </p:cNvPr>
          <p:cNvSpPr>
            <a:spLocks noGrp="1"/>
          </p:cNvSpPr>
          <p:nvPr>
            <p:ph type="sldNum" sz="quarter" idx="12"/>
          </p:nvPr>
        </p:nvSpPr>
        <p:spPr/>
        <p:txBody>
          <a:bodyPr/>
          <a:lstStyle/>
          <a:p>
            <a:fld id="{49FCB85E-0F77-4855-90A7-7A1B61BB679B}" type="slidenum">
              <a:rPr lang="en-CA" smtClean="0"/>
              <a:t>42</a:t>
            </a:fld>
            <a:endParaRPr lang="en-CA"/>
          </a:p>
        </p:txBody>
      </p:sp>
    </p:spTree>
    <p:extLst>
      <p:ext uri="{BB962C8B-B14F-4D97-AF65-F5344CB8AC3E}">
        <p14:creationId xmlns:p14="http://schemas.microsoft.com/office/powerpoint/2010/main" val="32524667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111" y="150440"/>
            <a:ext cx="7886700" cy="568940"/>
          </a:xfrm>
        </p:spPr>
        <p:txBody>
          <a:bodyPr>
            <a:normAutofit/>
          </a:bodyPr>
          <a:lstStyle/>
          <a:p>
            <a:r>
              <a:rPr lang="en-US" sz="2800" b="1" dirty="0">
                <a:solidFill>
                  <a:schemeClr val="tx1"/>
                </a:solidFill>
              </a:rPr>
              <a:t>Momentum Equation Example 3</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234" y="1107707"/>
                <a:ext cx="7886700" cy="3424536"/>
              </a:xfrm>
            </p:spPr>
            <p:txBody>
              <a:bodyPr>
                <a:normAutofit/>
              </a:bodyPr>
              <a:lstStyle/>
              <a:p>
                <a:pPr marL="0" indent="0">
                  <a:buNone/>
                </a:pPr>
                <a:r>
                  <a:rPr lang="en-US" dirty="0"/>
                  <a:t>Given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r>
                      <a:rPr lang="en-US" b="0" i="1" smtClean="0">
                        <a:latin typeface="Cambria Math" panose="02040503050406030204" pitchFamily="18" charset="0"/>
                      </a:rPr>
                      <m:t>=40 </m:t>
                    </m:r>
                    <m:r>
                      <a:rPr lang="en-US" b="0" i="1" smtClean="0">
                        <a:latin typeface="Cambria Math" panose="02040503050406030204" pitchFamily="18" charset="0"/>
                      </a:rPr>
                      <m:t>𝑚𝑚</m:t>
                    </m:r>
                    <m:r>
                      <a:rPr lang="en-US" b="0" i="1" smtClean="0">
                        <a:latin typeface="Cambria Math" panose="02040503050406030204" pitchFamily="18" charset="0"/>
                      </a:rPr>
                      <m:t>=0.04 </m:t>
                    </m:r>
                    <m:r>
                      <a:rPr lang="en-US" b="0" i="1" smtClean="0">
                        <a:latin typeface="Cambria Math" panose="02040503050406030204" pitchFamily="18" charset="0"/>
                      </a:rPr>
                      <m:t>𝑚</m:t>
                    </m:r>
                  </m:oMath>
                </a14:m>
                <a:r>
                  <a:rPr lang="en-US" b="0"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2</m:t>
                        </m:r>
                      </m:sub>
                    </m:sSub>
                    <m:r>
                      <a:rPr lang="en-US" i="1">
                        <a:latin typeface="Cambria Math" panose="02040503050406030204" pitchFamily="18" charset="0"/>
                      </a:rPr>
                      <m:t>=20</m:t>
                    </m:r>
                    <m:r>
                      <a:rPr lang="en-US" i="1">
                        <a:latin typeface="Cambria Math"/>
                      </a:rPr>
                      <m:t> </m:t>
                    </m:r>
                    <m:r>
                      <a:rPr lang="en-US" i="1">
                        <a:latin typeface="Cambria Math" panose="02040503050406030204" pitchFamily="18" charset="0"/>
                      </a:rPr>
                      <m:t>𝑚𝑚</m:t>
                    </m:r>
                    <m:r>
                      <a:rPr lang="en-US" i="1">
                        <a:latin typeface="Cambria Math" panose="02040503050406030204" pitchFamily="18" charset="0"/>
                      </a:rPr>
                      <m:t>=0.02 </m:t>
                    </m:r>
                    <m:r>
                      <a:rPr lang="en-US" i="1">
                        <a:latin typeface="Cambria Math" panose="02040503050406030204" pitchFamily="18" charset="0"/>
                      </a:rPr>
                      <m:t>𝑚</m:t>
                    </m:r>
                  </m:oMath>
                </a14:m>
                <a:r>
                  <a:rPr lang="en-US" b="0" dirty="0"/>
                  <a:t> and</a:t>
                </a:r>
              </a:p>
              <a:p>
                <a:pPr marL="0" indent="0">
                  <a:buNone/>
                </a:pPr>
                <a:r>
                  <a:rPr lang="en-US" dirty="0"/>
                  <a:t>Discharge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=1.2</m:t>
                    </m:r>
                    <m:f>
                      <m:fPr>
                        <m:type m:val="lin"/>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num>
                      <m:den>
                        <m:r>
                          <a:rPr lang="en-US" b="0" i="1" smtClean="0">
                            <a:latin typeface="Cambria Math" panose="02040503050406030204" pitchFamily="18" charset="0"/>
                          </a:rPr>
                          <m:t>𝑚𝑖𝑛</m:t>
                        </m:r>
                      </m:den>
                    </m:f>
                    <m:r>
                      <a:rPr lang="en-US" b="0" i="1" smtClean="0">
                        <a:latin typeface="Cambria Math" panose="02040503050406030204" pitchFamily="18" charset="0"/>
                      </a:rPr>
                      <m:t>=0.02</m:t>
                    </m:r>
                    <m:f>
                      <m:fPr>
                        <m:type m:val="lin"/>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num>
                      <m:den>
                        <m:r>
                          <a:rPr lang="en-US" b="0" i="1" smtClean="0">
                            <a:latin typeface="Cambria Math" panose="02040503050406030204" pitchFamily="18" charset="0"/>
                          </a:rPr>
                          <m:t>𝑠</m:t>
                        </m:r>
                      </m:den>
                    </m:f>
                  </m:oMath>
                </a14:m>
                <a:r>
                  <a:rPr lang="en-US" b="0" dirty="0"/>
                  <a:t> </a:t>
                </a:r>
              </a:p>
              <a:p>
                <a:pPr marL="0" indent="0">
                  <a:buNone/>
                </a:pPr>
                <a:r>
                  <a:rPr lang="en-US" dirty="0"/>
                  <a:t>Inlet Area,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sSubSup>
                          <m:sSubSupPr>
                            <m:ctrlPr>
                              <a:rPr lang="en-US" b="0" i="1" smtClean="0">
                                <a:latin typeface="Cambria Math" panose="02040503050406030204" pitchFamily="18" charset="0"/>
                                <a:ea typeface="Cambria Math" panose="02040503050406030204" pitchFamily="18" charset="0"/>
                              </a:rPr>
                            </m:ctrlPr>
                          </m:sSubSupPr>
                          <m:e>
                            <m:r>
                              <a:rPr lang="en-GB" b="0" i="1" smtClean="0">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1</m:t>
                            </m:r>
                          </m:sub>
                          <m:sup>
                            <m:r>
                              <a:rPr lang="en-GB" b="0" i="1" smtClean="0">
                                <a:latin typeface="Cambria Math" panose="02040503050406030204" pitchFamily="18" charset="0"/>
                                <a:ea typeface="Cambria Math" panose="02040503050406030204" pitchFamily="18" charset="0"/>
                              </a:rPr>
                              <m:t>2</m:t>
                            </m:r>
                          </m:sup>
                        </m:sSubSup>
                      </m:num>
                      <m:den>
                        <m:r>
                          <a:rPr lang="en-US" b="0" i="1" smtClean="0">
                            <a:latin typeface="Cambria Math" panose="02040503050406030204" pitchFamily="18" charset="0"/>
                          </a:rPr>
                          <m:t>4</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(0.04)</m:t>
                            </m:r>
                          </m:e>
                          <m:sup>
                            <m:r>
                              <a:rPr lang="en-US" b="0" i="1" smtClean="0">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rPr>
                          <m:t>4</m:t>
                        </m:r>
                      </m:den>
                    </m:f>
                    <m:r>
                      <a:rPr lang="en-US" b="0" i="1" smtClean="0">
                        <a:latin typeface="Cambria Math" panose="02040503050406030204" pitchFamily="18" charset="0"/>
                      </a:rPr>
                      <m:t>=1.256 </m:t>
                    </m:r>
                    <m:r>
                      <a:rPr lang="en-US" b="0" i="1" smtClean="0">
                        <a:latin typeface="Cambria Math" panose="02040503050406030204" pitchFamily="18" charset="0"/>
                      </a:rPr>
                      <m:t>𝑥</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−3</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oMath>
                </a14:m>
                <a:endParaRPr lang="en-US" dirty="0"/>
              </a:p>
              <a:p>
                <a:pPr marL="0" indent="0">
                  <a:buNone/>
                </a:pPr>
                <a:r>
                  <a:rPr lang="en-US" dirty="0"/>
                  <a:t>Outlet Area,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sSubSup>
                          <m:sSubSupPr>
                            <m:ctrlPr>
                              <a:rPr lang="en-US"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2</m:t>
                            </m:r>
                          </m:sub>
                          <m:sup>
                            <m:r>
                              <a:rPr lang="en-GB" i="1">
                                <a:latin typeface="Cambria Math" panose="02040503050406030204" pitchFamily="18" charset="0"/>
                                <a:ea typeface="Cambria Math" panose="02040503050406030204" pitchFamily="18" charset="0"/>
                              </a:rPr>
                              <m:t>2</m:t>
                            </m:r>
                          </m:sup>
                        </m:sSubSup>
                      </m:num>
                      <m:den>
                        <m:r>
                          <a:rPr lang="en-US" b="0" i="1" smtClean="0">
                            <a:latin typeface="Cambria Math" panose="02040503050406030204" pitchFamily="18" charset="0"/>
                          </a:rPr>
                          <m:t>4</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(0.02)</m:t>
                            </m:r>
                          </m:e>
                          <m:sup>
                            <m:r>
                              <a:rPr lang="en-US" b="0" i="1" smtClean="0">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rPr>
                          <m:t>4</m:t>
                        </m:r>
                      </m:den>
                    </m:f>
                    <m:r>
                      <a:rPr lang="en-US" b="0" i="1" smtClean="0">
                        <a:latin typeface="Cambria Math" panose="02040503050406030204" pitchFamily="18" charset="0"/>
                      </a:rPr>
                      <m:t>=3.14 </m:t>
                    </m:r>
                    <m:r>
                      <a:rPr lang="en-US" b="0" i="1" smtClean="0">
                        <a:latin typeface="Cambria Math" panose="02040503050406030204" pitchFamily="18" charset="0"/>
                      </a:rPr>
                      <m:t>𝑥</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−4</m:t>
                        </m:r>
                      </m:sup>
                    </m:sSup>
                    <m:sSup>
                      <m:sSupPr>
                        <m:ctrlPr>
                          <a:rPr lang="en-US" b="0" i="1" smtClean="0">
                            <a:latin typeface="Cambria Math" panose="02040503050406030204" pitchFamily="18" charset="0"/>
                          </a:rPr>
                        </m:ctrlPr>
                      </m:sSupPr>
                      <m:e>
                        <m:r>
                          <a:rPr lang="en-US" b="0" i="1" smtClean="0">
                            <a:latin typeface="Cambria Math"/>
                          </a:rPr>
                          <m:t> </m:t>
                        </m:r>
                        <m:r>
                          <a:rPr lang="en-US" b="0" i="1" smtClean="0">
                            <a:latin typeface="Cambria Math" panose="02040503050406030204" pitchFamily="18" charset="0"/>
                          </a:rPr>
                          <m:t>𝑚</m:t>
                        </m:r>
                      </m:e>
                      <m:sup>
                        <m:r>
                          <a:rPr lang="en-US" b="0" i="1" smtClean="0">
                            <a:latin typeface="Cambria Math" panose="02040503050406030204" pitchFamily="18" charset="0"/>
                          </a:rPr>
                          <m:t>2</m:t>
                        </m:r>
                      </m:sup>
                    </m:sSup>
                  </m:oMath>
                </a14:m>
                <a:endParaRPr lang="en-US" dirty="0"/>
              </a:p>
              <a:p>
                <a:pPr marL="0" indent="0">
                  <a:buNone/>
                </a:pPr>
                <a:r>
                  <a:rPr lang="en-US" dirty="0"/>
                  <a:t>Applying continuity equation at (1) and (2),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𝑄</m:t>
                    </m:r>
                  </m:oMath>
                </a14:m>
                <a:endParaRPr lang="en-US" dirty="0"/>
              </a:p>
              <a:p>
                <a:pPr marL="0" indent="0">
                  <a:buNone/>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𝑄</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0.02</m:t>
                          </m:r>
                        </m:num>
                        <m:den>
                          <m:r>
                            <a:rPr lang="en-US" b="0" i="1" smtClean="0">
                              <a:latin typeface="Cambria Math" panose="02040503050406030204" pitchFamily="18" charset="0"/>
                            </a:rPr>
                            <m:t>1.256 </m:t>
                          </m:r>
                          <m:r>
                            <a:rPr lang="en-US" b="0" i="1" smtClean="0">
                              <a:latin typeface="Cambria Math" panose="02040503050406030204" pitchFamily="18" charset="0"/>
                            </a:rPr>
                            <m:t>𝑥</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−5</m:t>
                              </m:r>
                            </m:sup>
                          </m:sSup>
                        </m:den>
                      </m:f>
                      <m:r>
                        <a:rPr lang="en-US" b="0" i="1" smtClean="0">
                          <a:latin typeface="Cambria Math" panose="02040503050406030204" pitchFamily="18" charset="0"/>
                        </a:rPr>
                        <m:t>=15.92</m:t>
                      </m:r>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𝑚</m:t>
                          </m:r>
                        </m:num>
                        <m:den>
                          <m:r>
                            <a:rPr lang="en-US" b="0" i="1" smtClean="0">
                              <a:latin typeface="Cambria Math" panose="02040503050406030204" pitchFamily="18" charset="0"/>
                            </a:rPr>
                            <m:t>𝑠</m:t>
                          </m:r>
                        </m:den>
                      </m:f>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234" y="1107707"/>
                <a:ext cx="7886700" cy="3424536"/>
              </a:xfrm>
              <a:blipFill>
                <a:blip r:embed="rId3"/>
                <a:stretch>
                  <a:fillRect l="-1159" t="-4635"/>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4BF8ADB8-F2F0-23AB-7C36-46F7D80651C7}"/>
              </a:ext>
            </a:extLst>
          </p:cNvPr>
          <p:cNvSpPr>
            <a:spLocks noGrp="1"/>
          </p:cNvSpPr>
          <p:nvPr>
            <p:ph type="sldNum" sz="quarter" idx="12"/>
          </p:nvPr>
        </p:nvSpPr>
        <p:spPr/>
        <p:txBody>
          <a:bodyPr/>
          <a:lstStyle/>
          <a:p>
            <a:fld id="{49FCB85E-0F77-4855-90A7-7A1B61BB679B}" type="slidenum">
              <a:rPr lang="en-CA" smtClean="0"/>
              <a:t>43</a:t>
            </a:fld>
            <a:endParaRPr lang="en-CA"/>
          </a:p>
        </p:txBody>
      </p:sp>
    </p:spTree>
    <p:extLst>
      <p:ext uri="{BB962C8B-B14F-4D97-AF65-F5344CB8AC3E}">
        <p14:creationId xmlns:p14="http://schemas.microsoft.com/office/powerpoint/2010/main" val="335584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088" y="-62467"/>
            <a:ext cx="7886700" cy="568940"/>
          </a:xfrm>
        </p:spPr>
        <p:txBody>
          <a:bodyPr>
            <a:normAutofit/>
          </a:bodyPr>
          <a:lstStyle/>
          <a:p>
            <a:r>
              <a:rPr lang="en-US" sz="2800" b="1" dirty="0">
                <a:solidFill>
                  <a:schemeClr val="tx1"/>
                </a:solidFill>
              </a:rPr>
              <a:t>Momentum Equation Example 3</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1429" y="535867"/>
                <a:ext cx="7886700" cy="5059441"/>
              </a:xfrm>
            </p:spPr>
            <p:txBody>
              <a:bodyPr>
                <a:normAutofit fontScale="85000" lnSpcReduction="10000"/>
              </a:bodyPr>
              <a:lstStyle/>
              <a:p>
                <a:pPr marL="0" indent="0">
                  <a:lnSpc>
                    <a:spcPct val="150000"/>
                  </a:lnSpc>
                  <a:spcBef>
                    <a:spcPts val="0"/>
                  </a:spcBef>
                  <a:buNone/>
                </a:pPr>
                <a14:m>
                  <m:oMathPara xmlns:m="http://schemas.openxmlformats.org/officeDocument/2006/math">
                    <m:oMathParaPr>
                      <m:jc m:val="left"/>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𝑉</m:t>
                          </m:r>
                        </m:e>
                        <m:sub>
                          <m:r>
                            <a:rPr lang="en-US" b="0" i="1" smtClean="0">
                              <a:solidFill>
                                <a:prstClr val="black"/>
                              </a:solidFill>
                              <a:latin typeface="Cambria Math" panose="02040503050406030204" pitchFamily="18" charset="0"/>
                            </a:rPr>
                            <m:t>2</m:t>
                          </m:r>
                        </m:sub>
                      </m:sSub>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𝑄</m:t>
                          </m:r>
                        </m:num>
                        <m:den>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𝐴</m:t>
                              </m:r>
                            </m:e>
                            <m:sub>
                              <m:r>
                                <a:rPr lang="en-US" b="0" i="1" smtClean="0">
                                  <a:solidFill>
                                    <a:prstClr val="black"/>
                                  </a:solidFill>
                                  <a:latin typeface="Cambria Math" panose="02040503050406030204" pitchFamily="18" charset="0"/>
                                </a:rPr>
                                <m:t>2</m:t>
                              </m:r>
                            </m:sub>
                          </m:sSub>
                        </m:den>
                      </m:f>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0.02</m:t>
                          </m:r>
                        </m:num>
                        <m:den>
                          <m:r>
                            <a:rPr lang="en-US" b="0" i="1" smtClean="0">
                              <a:solidFill>
                                <a:prstClr val="black"/>
                              </a:solidFill>
                              <a:latin typeface="Cambria Math" panose="02040503050406030204" pitchFamily="18" charset="0"/>
                            </a:rPr>
                            <m:t>3.14</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𝑥</m:t>
                          </m:r>
                          <m:r>
                            <a:rPr lang="en-US" i="1">
                              <a:solidFill>
                                <a:prstClr val="black"/>
                              </a:solidFill>
                              <a:latin typeface="Cambria Math" panose="02040503050406030204" pitchFamily="18" charset="0"/>
                            </a:rPr>
                            <m:t> </m:t>
                          </m:r>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10</m:t>
                              </m:r>
                            </m:e>
                            <m:sup>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4</m:t>
                              </m:r>
                            </m:sup>
                          </m:sSup>
                        </m:den>
                      </m:f>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63</m:t>
                      </m:r>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6</m:t>
                      </m:r>
                      <m:r>
                        <a:rPr lang="en-US" i="1">
                          <a:solidFill>
                            <a:prstClr val="black"/>
                          </a:solidFill>
                          <a:latin typeface="Cambria Math" panose="02040503050406030204" pitchFamily="18" charset="0"/>
                        </a:rPr>
                        <m:t>9</m:t>
                      </m:r>
                      <m:f>
                        <m:fPr>
                          <m:type m:val="lin"/>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𝑚</m:t>
                          </m:r>
                        </m:num>
                        <m:den>
                          <m:r>
                            <a:rPr lang="en-US" i="1">
                              <a:solidFill>
                                <a:prstClr val="black"/>
                              </a:solidFill>
                              <a:latin typeface="Cambria Math" panose="02040503050406030204" pitchFamily="18" charset="0"/>
                            </a:rPr>
                            <m:t>𝑠</m:t>
                          </m:r>
                        </m:den>
                      </m:f>
                    </m:oMath>
                  </m:oMathPara>
                </a14:m>
                <a:endParaRPr lang="en-US" dirty="0"/>
              </a:p>
              <a:p>
                <a:pPr marL="0" indent="0">
                  <a:lnSpc>
                    <a:spcPct val="150000"/>
                  </a:lnSpc>
                  <a:spcBef>
                    <a:spcPts val="0"/>
                  </a:spcBef>
                  <a:buNone/>
                </a:pPr>
                <a:r>
                  <a:rPr lang="en-US" dirty="0"/>
                  <a:t>Applying Bernoulli’s equation at section (1) and (2)</a:t>
                </a:r>
              </a:p>
              <a:p>
                <a:pPr marL="0" indent="0">
                  <a:lnSpc>
                    <a:spcPct val="150000"/>
                  </a:lnSpc>
                  <a:spcBef>
                    <a:spcPts val="0"/>
                  </a:spcBef>
                  <a:buNone/>
                </a:pPr>
                <a14:m>
                  <m:oMathPara xmlns:m="http://schemas.openxmlformats.org/officeDocument/2006/math">
                    <m:oMathParaPr>
                      <m:jc m:val="left"/>
                    </m:oMathParaPr>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num>
                        <m:den>
                          <m:r>
                            <a:rPr lang="en-US"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𝑔</m:t>
                          </m:r>
                        </m:den>
                      </m:f>
                      <m:r>
                        <a:rPr lang="en-US" b="0" i="1" smtClean="0">
                          <a:latin typeface="Cambria Math" panose="02040503050406030204" pitchFamily="18" charset="0"/>
                        </a:rPr>
                        <m:t>+</m:t>
                      </m:r>
                      <m:f>
                        <m:fPr>
                          <m:ctrlPr>
                            <a:rPr lang="en-US" i="1" smtClean="0">
                              <a:latin typeface="Cambria Math" panose="02040503050406030204" pitchFamily="18" charset="0"/>
                            </a:rPr>
                          </m:ctrlPr>
                        </m:fPr>
                        <m:num>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r>
                            <a:rPr lang="en-US" b="0" i="1" smtClean="0">
                              <a:latin typeface="Cambria Math" panose="02040503050406030204" pitchFamily="18" charset="0"/>
                            </a:rPr>
                            <m:t>𝑔</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num>
                        <m:den>
                          <m:r>
                            <a:rPr lang="en-US" i="1">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rPr>
                            <m:t>𝑔</m:t>
                          </m:r>
                        </m:den>
                      </m:f>
                      <m:r>
                        <a:rPr lang="en-US" b="0" i="1" smtClean="0">
                          <a:latin typeface="Cambria Math" panose="02040503050406030204" pitchFamily="18" charset="0"/>
                        </a:rPr>
                        <m:t>+</m:t>
                      </m:r>
                      <m:f>
                        <m:fPr>
                          <m:ctrlPr>
                            <a:rPr lang="en-US" i="1" smtClean="0">
                              <a:latin typeface="Cambria Math" panose="02040503050406030204" pitchFamily="18" charset="0"/>
                            </a:rPr>
                          </m:ctrlPr>
                        </m:fPr>
                        <m:num>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r>
                            <a:rPr lang="en-US" b="0" i="1" smtClean="0">
                              <a:latin typeface="Cambria Math" panose="02040503050406030204" pitchFamily="18" charset="0"/>
                            </a:rPr>
                            <m:t>𝑔</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1 </m:t>
                          </m:r>
                        </m:sub>
                      </m:sSub>
                    </m:oMath>
                  </m:oMathPara>
                </a14:m>
                <a:endParaRPr lang="en-US" b="0" dirty="0"/>
              </a:p>
              <a:p>
                <a:pPr marL="0" indent="0">
                  <a:lnSpc>
                    <a:spcPct val="150000"/>
                  </a:lnSpc>
                  <a:spcBef>
                    <a:spcPts val="0"/>
                  </a:spcBef>
                  <a:buNone/>
                </a:pPr>
                <a:r>
                  <a:rPr lang="en-US" dirty="0"/>
                  <a:t>But z1 = z2 and atmospheric pressure at exit implies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b="0" dirty="0"/>
                  <a:t> 0</a:t>
                </a:r>
              </a:p>
              <a:p>
                <a:pPr marL="0" indent="0">
                  <a:lnSpc>
                    <a:spcPct val="150000"/>
                  </a:lnSpc>
                  <a:spcBef>
                    <a:spcPts val="0"/>
                  </a:spcBef>
                  <a:buNone/>
                </a:pPr>
                <a14:m>
                  <m:oMathPara xmlns:m="http://schemas.openxmlformats.org/officeDocument/2006/math">
                    <m:oMathParaPr>
                      <m:jc m:val="left"/>
                    </m:oMathParaPr>
                    <m:oMath xmlns:m="http://schemas.openxmlformats.org/officeDocument/2006/math">
                      <m:r>
                        <a:rPr lang="en-US" i="1" smtClean="0">
                          <a:solidFill>
                            <a:prstClr val="black"/>
                          </a:solidFill>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 </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𝑃</m:t>
                              </m:r>
                            </m:e>
                            <m:sub>
                              <m:r>
                                <a:rPr lang="en-US" i="1">
                                  <a:solidFill>
                                    <a:prstClr val="black"/>
                                  </a:solidFill>
                                  <a:latin typeface="Cambria Math" panose="02040503050406030204" pitchFamily="18" charset="0"/>
                                </a:rPr>
                                <m:t>1</m:t>
                              </m:r>
                            </m:sub>
                          </m:sSub>
                        </m:num>
                        <m:den>
                          <m:r>
                            <a:rPr lang="en-US" i="1">
                              <a:solidFill>
                                <a:prstClr val="black"/>
                              </a:solidFill>
                              <a:latin typeface="Cambria Math" panose="02040503050406030204" pitchFamily="18" charset="0"/>
                              <a:ea typeface="Cambria Math" panose="02040503050406030204" pitchFamily="18" charset="0"/>
                            </a:rPr>
                            <m:t>𝜌</m:t>
                          </m:r>
                          <m:r>
                            <a:rPr lang="en-US" i="1">
                              <a:solidFill>
                                <a:prstClr val="black"/>
                              </a:solidFill>
                              <a:latin typeface="Cambria Math" panose="02040503050406030204" pitchFamily="18" charset="0"/>
                              <a:ea typeface="Cambria Math" panose="02040503050406030204" pitchFamily="18" charset="0"/>
                            </a:rPr>
                            <m:t>𝑔</m:t>
                          </m:r>
                        </m:den>
                      </m:f>
                      <m:r>
                        <a:rPr lang="en-GB" b="0" i="1" smtClean="0">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𝑉</m:t>
                              </m:r>
                            </m:e>
                            <m:sub>
                              <m:r>
                                <a:rPr lang="en-US" b="0" i="1" smtClean="0">
                                  <a:solidFill>
                                    <a:prstClr val="black"/>
                                  </a:solidFill>
                                  <a:latin typeface="Cambria Math" panose="02040503050406030204" pitchFamily="18" charset="0"/>
                                </a:rPr>
                                <m:t>2</m:t>
                              </m:r>
                            </m:sub>
                            <m:sup>
                              <m:r>
                                <a:rPr lang="en-US" i="1">
                                  <a:solidFill>
                                    <a:prstClr val="black"/>
                                  </a:solidFill>
                                  <a:latin typeface="Cambria Math" panose="02040503050406030204" pitchFamily="18" charset="0"/>
                                </a:rPr>
                                <m:t>2</m:t>
                              </m:r>
                            </m:sup>
                          </m:sSubSup>
                        </m:num>
                        <m:den>
                          <m:r>
                            <a:rPr lang="en-US" i="1">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𝑔</m:t>
                          </m:r>
                        </m:den>
                      </m:f>
                      <m:r>
                        <a:rPr lang="en-US" b="0" i="1" smtClean="0">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Sup>
                            <m:sSubSupPr>
                              <m:ctrlPr>
                                <a:rPr lang="en-US" i="1">
                                  <a:solidFill>
                                    <a:prstClr val="black"/>
                                  </a:solidFill>
                                  <a:latin typeface="Cambria Math" panose="02040503050406030204" pitchFamily="18" charset="0"/>
                                </a:rPr>
                              </m:ctrlPr>
                            </m:sSubSupPr>
                            <m:e>
                              <m:r>
                                <a:rPr lang="en-US" i="1">
                                  <a:solidFill>
                                    <a:prstClr val="black"/>
                                  </a:solidFill>
                                  <a:latin typeface="Cambria Math" panose="02040503050406030204" pitchFamily="18" charset="0"/>
                                </a:rPr>
                                <m:t>𝑉</m:t>
                              </m:r>
                            </m:e>
                            <m:sub>
                              <m:r>
                                <a:rPr lang="en-US" b="0" i="1" smtClean="0">
                                  <a:solidFill>
                                    <a:prstClr val="black"/>
                                  </a:solidFill>
                                  <a:latin typeface="Cambria Math" panose="02040503050406030204" pitchFamily="18" charset="0"/>
                                </a:rPr>
                                <m:t>1</m:t>
                              </m:r>
                            </m:sub>
                            <m:sup>
                              <m:r>
                                <a:rPr lang="en-US" i="1">
                                  <a:solidFill>
                                    <a:prstClr val="black"/>
                                  </a:solidFill>
                                  <a:latin typeface="Cambria Math" panose="02040503050406030204" pitchFamily="18" charset="0"/>
                                </a:rPr>
                                <m:t>2</m:t>
                              </m:r>
                            </m:sup>
                          </m:sSubSup>
                        </m:num>
                        <m:den>
                          <m:r>
                            <a:rPr lang="en-US" i="1">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𝑔</m:t>
                          </m:r>
                        </m:den>
                      </m:f>
                      <m:r>
                        <a:rPr lang="en-US" b="0" i="1" smtClean="0">
                          <a:solidFill>
                            <a:prstClr val="black"/>
                          </a:solidFill>
                          <a:latin typeface="Cambria Math" panose="02040503050406030204" pitchFamily="18" charset="0"/>
                        </a:rPr>
                        <m:t>=</m:t>
                      </m:r>
                      <m:f>
                        <m:fPr>
                          <m:ctrlPr>
                            <a:rPr lang="en-US" b="0" i="1" smtClean="0">
                              <a:solidFill>
                                <a:prstClr val="black"/>
                              </a:solidFill>
                              <a:latin typeface="Cambria Math" panose="02040503050406030204" pitchFamily="18" charset="0"/>
                            </a:rPr>
                          </m:ctrlPr>
                        </m:fPr>
                        <m:num>
                          <m:sSup>
                            <m:sSupPr>
                              <m:ctrlPr>
                                <a:rPr lang="en-US" b="0" i="1" smtClean="0">
                                  <a:solidFill>
                                    <a:prstClr val="black"/>
                                  </a:solidFill>
                                  <a:latin typeface="Cambria Math" panose="02040503050406030204" pitchFamily="18" charset="0"/>
                                </a:rPr>
                              </m:ctrlPr>
                            </m:sSupPr>
                            <m:e>
                              <m:r>
                                <a:rPr lang="en-US" b="0" i="1" smtClean="0">
                                  <a:solidFill>
                                    <a:prstClr val="black"/>
                                  </a:solidFill>
                                  <a:latin typeface="Cambria Math" panose="02040503050406030204" pitchFamily="18" charset="0"/>
                                </a:rPr>
                                <m:t>63.69</m:t>
                              </m:r>
                            </m:e>
                            <m:sup>
                              <m:r>
                                <a:rPr lang="en-US" b="0" i="1" smtClean="0">
                                  <a:solidFill>
                                    <a:prstClr val="black"/>
                                  </a:solidFill>
                                  <a:latin typeface="Cambria Math" panose="02040503050406030204" pitchFamily="18" charset="0"/>
                                </a:rPr>
                                <m:t>2</m:t>
                              </m:r>
                            </m:sup>
                          </m:sSup>
                        </m:num>
                        <m:den>
                          <m:r>
                            <a:rPr lang="en-US" b="0" i="1" smtClean="0">
                              <a:solidFill>
                                <a:prstClr val="black"/>
                              </a:solidFill>
                              <a:latin typeface="Cambria Math" panose="02040503050406030204" pitchFamily="18" charset="0"/>
                            </a:rPr>
                            <m:t>2 </m:t>
                          </m:r>
                          <m:r>
                            <a:rPr lang="en-US" b="0" i="1" smtClean="0">
                              <a:solidFill>
                                <a:prstClr val="black"/>
                              </a:solidFill>
                              <a:latin typeface="Cambria Math" panose="02040503050406030204" pitchFamily="18" charset="0"/>
                            </a:rPr>
                            <m:t>𝑥</m:t>
                          </m:r>
                          <m:r>
                            <a:rPr lang="en-US" b="0" i="1" smtClean="0">
                              <a:solidFill>
                                <a:prstClr val="black"/>
                              </a:solidFill>
                              <a:latin typeface="Cambria Math" panose="02040503050406030204" pitchFamily="18" charset="0"/>
                            </a:rPr>
                            <m:t> 9.81</m:t>
                          </m:r>
                        </m:den>
                      </m:f>
                      <m:r>
                        <a:rPr lang="en-US" b="0" i="1" smtClean="0">
                          <a:solidFill>
                            <a:prstClr val="black"/>
                          </a:solidFill>
                          <a:latin typeface="Cambria Math" panose="02040503050406030204" pitchFamily="18" charset="0"/>
                        </a:rPr>
                        <m:t>−</m:t>
                      </m:r>
                      <m:f>
                        <m:fPr>
                          <m:ctrlPr>
                            <a:rPr lang="en-US" b="0" i="1" smtClean="0">
                              <a:solidFill>
                                <a:prstClr val="black"/>
                              </a:solidFill>
                              <a:latin typeface="Cambria Math" panose="02040503050406030204" pitchFamily="18" charset="0"/>
                            </a:rPr>
                          </m:ctrlPr>
                        </m:fPr>
                        <m:num>
                          <m:sSup>
                            <m:sSupPr>
                              <m:ctrlPr>
                                <a:rPr lang="en-US" b="0" i="1" smtClean="0">
                                  <a:solidFill>
                                    <a:prstClr val="black"/>
                                  </a:solidFill>
                                  <a:latin typeface="Cambria Math" panose="02040503050406030204" pitchFamily="18" charset="0"/>
                                </a:rPr>
                              </m:ctrlPr>
                            </m:sSupPr>
                            <m:e>
                              <m:r>
                                <a:rPr lang="en-US" b="0" i="1" smtClean="0">
                                  <a:solidFill>
                                    <a:prstClr val="black"/>
                                  </a:solidFill>
                                  <a:latin typeface="Cambria Math" panose="02040503050406030204" pitchFamily="18" charset="0"/>
                                </a:rPr>
                                <m:t>15.92</m:t>
                              </m:r>
                            </m:e>
                            <m:sup>
                              <m:r>
                                <a:rPr lang="en-US" b="0" i="1" smtClean="0">
                                  <a:solidFill>
                                    <a:prstClr val="black"/>
                                  </a:solidFill>
                                  <a:latin typeface="Cambria Math" panose="02040503050406030204" pitchFamily="18" charset="0"/>
                                </a:rPr>
                                <m:t>2</m:t>
                              </m:r>
                            </m:sup>
                          </m:sSup>
                        </m:num>
                        <m:den>
                          <m:r>
                            <a:rPr lang="en-US" b="0" i="1" smtClean="0">
                              <a:solidFill>
                                <a:prstClr val="black"/>
                              </a:solidFill>
                              <a:latin typeface="Cambria Math" panose="02040503050406030204" pitchFamily="18" charset="0"/>
                            </a:rPr>
                            <m:t>2 </m:t>
                          </m:r>
                          <m:r>
                            <a:rPr lang="en-US" b="0" i="1" smtClean="0">
                              <a:solidFill>
                                <a:prstClr val="black"/>
                              </a:solidFill>
                              <a:latin typeface="Cambria Math" panose="02040503050406030204" pitchFamily="18" charset="0"/>
                            </a:rPr>
                            <m:t>𝑥</m:t>
                          </m:r>
                          <m:r>
                            <a:rPr lang="en-US" b="0" i="1" smtClean="0">
                              <a:solidFill>
                                <a:prstClr val="black"/>
                              </a:solidFill>
                              <a:latin typeface="Cambria Math" panose="02040503050406030204" pitchFamily="18" charset="0"/>
                            </a:rPr>
                            <m:t> 9.81</m:t>
                          </m:r>
                        </m:den>
                      </m:f>
                    </m:oMath>
                  </m:oMathPara>
                </a14:m>
                <a:endParaRPr lang="en-US" b="0" dirty="0">
                  <a:solidFill>
                    <a:prstClr val="black"/>
                  </a:solidFill>
                </a:endParaRPr>
              </a:p>
              <a:p>
                <a:pPr marL="0" indent="0">
                  <a:lnSpc>
                    <a:spcPct val="150000"/>
                  </a:lnSpc>
                  <a:spcBef>
                    <a:spcPts val="0"/>
                  </a:spcBef>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=1000 × 9.81</m:t>
                      </m:r>
                      <m:d>
                        <m:dPr>
                          <m:begChr m:val="["/>
                          <m:endChr m:val="]"/>
                          <m:ctrlPr>
                            <a:rPr lang="en-US" b="0" i="1" smtClean="0">
                              <a:latin typeface="Cambria Math" panose="02040503050406030204" pitchFamily="18" charset="0"/>
                            </a:rPr>
                          </m:ctrlPr>
                        </m:dPr>
                        <m:e>
                          <m:f>
                            <m:fPr>
                              <m:ctrlPr>
                                <a:rPr lang="en-US" i="1">
                                  <a:solidFill>
                                    <a:prstClr val="black"/>
                                  </a:solidFill>
                                  <a:latin typeface="Cambria Math" panose="02040503050406030204" pitchFamily="18" charset="0"/>
                                </a:rPr>
                              </m:ctrlPr>
                            </m:fPr>
                            <m:num>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63.69</m:t>
                                  </m:r>
                                </m:e>
                                <m:sup>
                                  <m:r>
                                    <a:rPr lang="en-US" i="1">
                                      <a:solidFill>
                                        <a:prstClr val="black"/>
                                      </a:solidFill>
                                      <a:latin typeface="Cambria Math" panose="02040503050406030204" pitchFamily="18" charset="0"/>
                                    </a:rPr>
                                    <m:t>2</m:t>
                                  </m:r>
                                </m:sup>
                              </m:sSup>
                            </m:num>
                            <m:den>
                              <m:r>
                                <a:rPr lang="en-US" i="1">
                                  <a:solidFill>
                                    <a:prstClr val="black"/>
                                  </a:solidFill>
                                  <a:latin typeface="Cambria Math" panose="02040503050406030204" pitchFamily="18" charset="0"/>
                                </a:rPr>
                                <m:t>2 </m:t>
                              </m:r>
                              <m:r>
                                <a:rPr lang="en-US" i="1">
                                  <a:solidFill>
                                    <a:prstClr val="black"/>
                                  </a:solidFill>
                                  <a:latin typeface="Cambria Math" panose="02040503050406030204" pitchFamily="18" charset="0"/>
                                </a:rPr>
                                <m:t>𝑥</m:t>
                              </m:r>
                              <m:r>
                                <a:rPr lang="en-US" i="1">
                                  <a:solidFill>
                                    <a:prstClr val="black"/>
                                  </a:solidFill>
                                  <a:latin typeface="Cambria Math" panose="02040503050406030204" pitchFamily="18" charset="0"/>
                                </a:rPr>
                                <m:t> 9.81</m:t>
                              </m:r>
                            </m:den>
                          </m:f>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15.92</m:t>
                                  </m:r>
                                </m:e>
                                <m:sup>
                                  <m:r>
                                    <a:rPr lang="en-US" i="1">
                                      <a:solidFill>
                                        <a:prstClr val="black"/>
                                      </a:solidFill>
                                      <a:latin typeface="Cambria Math" panose="02040503050406030204" pitchFamily="18" charset="0"/>
                                    </a:rPr>
                                    <m:t>2</m:t>
                                  </m:r>
                                </m:sup>
                              </m:sSup>
                            </m:num>
                            <m:den>
                              <m:r>
                                <a:rPr lang="en-US" i="1">
                                  <a:solidFill>
                                    <a:prstClr val="black"/>
                                  </a:solidFill>
                                  <a:latin typeface="Cambria Math" panose="02040503050406030204" pitchFamily="18" charset="0"/>
                                </a:rPr>
                                <m:t>2 </m:t>
                              </m:r>
                              <m:r>
                                <a:rPr lang="en-US" i="1">
                                  <a:solidFill>
                                    <a:prstClr val="black"/>
                                  </a:solidFill>
                                  <a:latin typeface="Cambria Math" panose="02040503050406030204" pitchFamily="18" charset="0"/>
                                </a:rPr>
                                <m:t>𝑥</m:t>
                              </m:r>
                              <m:r>
                                <a:rPr lang="en-US" i="1">
                                  <a:solidFill>
                                    <a:prstClr val="black"/>
                                  </a:solidFill>
                                  <a:latin typeface="Cambria Math" panose="02040503050406030204" pitchFamily="18" charset="0"/>
                                </a:rPr>
                                <m:t> 9.81</m:t>
                              </m:r>
                            </m:den>
                          </m:f>
                        </m:e>
                      </m:d>
                      <m:r>
                        <a:rPr lang="en-GB" b="0" i="1"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190.1472 × </m:t>
                      </m:r>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10</m:t>
                          </m:r>
                        </m:e>
                        <m:sup>
                          <m:r>
                            <a:rPr lang="en-US" i="1">
                              <a:solidFill>
                                <a:prstClr val="black"/>
                              </a:solidFill>
                              <a:latin typeface="Cambria Math" panose="02040503050406030204" pitchFamily="18" charset="0"/>
                            </a:rPr>
                            <m:t>4</m:t>
                          </m:r>
                        </m:sup>
                      </m:sSup>
                      <m:f>
                        <m:fPr>
                          <m:type m:val="lin"/>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𝑁</m:t>
                          </m:r>
                        </m:num>
                        <m:den>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𝑚</m:t>
                              </m:r>
                            </m:e>
                            <m:sup>
                              <m:r>
                                <a:rPr lang="en-US" i="1">
                                  <a:solidFill>
                                    <a:prstClr val="black"/>
                                  </a:solidFill>
                                  <a:latin typeface="Cambria Math" panose="02040503050406030204" pitchFamily="18" charset="0"/>
                                </a:rPr>
                                <m:t>2</m:t>
                              </m:r>
                            </m:sup>
                          </m:sSup>
                        </m:den>
                      </m:f>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1429" y="535867"/>
                <a:ext cx="7886700" cy="5059441"/>
              </a:xfrm>
              <a:blipFill>
                <a:blip r:embed="rId3"/>
                <a:stretch>
                  <a:fillRect l="-773"/>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F8593E1F-1499-70BE-95A9-CC9042CA5E8A}"/>
              </a:ext>
            </a:extLst>
          </p:cNvPr>
          <p:cNvSpPr>
            <a:spLocks noGrp="1"/>
          </p:cNvSpPr>
          <p:nvPr>
            <p:ph type="sldNum" sz="quarter" idx="12"/>
          </p:nvPr>
        </p:nvSpPr>
        <p:spPr/>
        <p:txBody>
          <a:bodyPr/>
          <a:lstStyle/>
          <a:p>
            <a:fld id="{49FCB85E-0F77-4855-90A7-7A1B61BB679B}" type="slidenum">
              <a:rPr lang="en-CA" smtClean="0"/>
              <a:t>44</a:t>
            </a:fld>
            <a:endParaRPr lang="en-CA"/>
          </a:p>
        </p:txBody>
      </p:sp>
    </p:spTree>
    <p:extLst>
      <p:ext uri="{BB962C8B-B14F-4D97-AF65-F5344CB8AC3E}">
        <p14:creationId xmlns:p14="http://schemas.microsoft.com/office/powerpoint/2010/main" val="15765390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283" y="80656"/>
            <a:ext cx="7886700" cy="568940"/>
          </a:xfrm>
        </p:spPr>
        <p:txBody>
          <a:bodyPr>
            <a:normAutofit/>
          </a:bodyPr>
          <a:lstStyle/>
          <a:p>
            <a:r>
              <a:rPr lang="en-US" sz="2800" b="1" dirty="0">
                <a:solidFill>
                  <a:schemeClr val="tx1"/>
                </a:solidFill>
              </a:rPr>
              <a:t>Momentum Equation Example 3</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06734" y="715915"/>
                <a:ext cx="8937266" cy="4931901"/>
              </a:xfrm>
            </p:spPr>
            <p:txBody>
              <a:bodyPr>
                <a:normAutofit lnSpcReduction="10000"/>
              </a:bodyPr>
              <a:lstStyle/>
              <a:p>
                <a:pPr marL="0" indent="0">
                  <a:lnSpc>
                    <a:spcPct val="150000"/>
                  </a:lnSpc>
                  <a:spcBef>
                    <a:spcPts val="0"/>
                  </a:spcBef>
                  <a:buNone/>
                </a:pPr>
                <a:r>
                  <a:rPr lang="en-US" dirty="0">
                    <a:latin typeface="+mn-lt"/>
                  </a:rPr>
                  <a:t>Let the force exerted on the water be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𝑥</m:t>
                        </m:r>
                      </m:sub>
                    </m:sSub>
                  </m:oMath>
                </a14:m>
                <a:endParaRPr lang="en-US" dirty="0">
                  <a:latin typeface="+mn-lt"/>
                </a:endParaRPr>
              </a:p>
              <a:p>
                <a:pPr marL="0" indent="0">
                  <a:lnSpc>
                    <a:spcPct val="150000"/>
                  </a:lnSpc>
                  <a:spcBef>
                    <a:spcPts val="0"/>
                  </a:spcBef>
                  <a:buNone/>
                </a:pPr>
                <a:r>
                  <a:rPr lang="en-GB" dirty="0">
                    <a:latin typeface="+mn-lt"/>
                    <a:ea typeface="Cambria Math" panose="02040503050406030204" pitchFamily="18" charset="0"/>
                  </a:rPr>
                  <a:t>Applying the momentum equation in the x-direction leads to</a:t>
                </a:r>
              </a:p>
              <a:p>
                <a:pPr marL="0" indent="0">
                  <a:lnSpc>
                    <a:spcPct val="150000"/>
                  </a:lnSpc>
                  <a:spcBef>
                    <a:spcPts val="0"/>
                  </a:spcBef>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1</m:t>
                          </m:r>
                        </m:sub>
                      </m:sSub>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2</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𝐹</m:t>
                          </m:r>
                        </m:e>
                        <m:sub>
                          <m:r>
                            <a:rPr lang="en-US" b="0" i="1" smtClean="0">
                              <a:latin typeface="Cambria Math" panose="02040503050406030204" pitchFamily="18" charset="0"/>
                              <a:ea typeface="Cambria Math" panose="02040503050406030204" pitchFamily="18" charset="0"/>
                            </a:rPr>
                            <m:t>𝑥</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GB" b="0" i="1" smtClean="0">
                          <a:latin typeface="Cambria Math" panose="02040503050406030204" pitchFamily="18" charset="0"/>
                          <a:ea typeface="Cambria Math" panose="02040503050406030204" pitchFamily="18" charset="0"/>
                        </a:rPr>
                        <m:t>𝑄</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1</m:t>
                              </m:r>
                            </m:sub>
                          </m:sSub>
                        </m:e>
                      </m:d>
                    </m:oMath>
                  </m:oMathPara>
                </a14:m>
                <a:endParaRPr lang="en-US" b="0" dirty="0">
                  <a:latin typeface="+mn-lt"/>
                  <a:ea typeface="Cambria Math" panose="02040503050406030204" pitchFamily="18" charset="0"/>
                </a:endParaRPr>
              </a:p>
              <a:p>
                <a:pPr marL="0" indent="0">
                  <a:lnSpc>
                    <a:spcPct val="150000"/>
                  </a:lnSpc>
                  <a:spcBef>
                    <a:spcPts val="0"/>
                  </a:spcBef>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rPr>
                      <m:t>190.1472 </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oMath>
                </a14:m>
                <a:r>
                  <a:rPr lang="en-US" b="0" dirty="0">
                    <a:latin typeface="+mn-lt"/>
                  </a:rPr>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GB" b="0" i="1" smtClean="0">
                            <a:latin typeface="Cambria Math" panose="02040503050406030204" pitchFamily="18" charset="0"/>
                          </a:rPr>
                          <m:t>2</m:t>
                        </m:r>
                      </m:sub>
                    </m:sSub>
                    <m:r>
                      <a:rPr lang="en-US" i="1">
                        <a:latin typeface="Cambria Math" panose="02040503050406030204" pitchFamily="18" charset="0"/>
                      </a:rPr>
                      <m:t>=</m:t>
                    </m:r>
                    <m:r>
                      <a:rPr lang="en-GB" b="0" i="1" smtClean="0">
                        <a:latin typeface="Cambria Math" panose="02040503050406030204" pitchFamily="18" charset="0"/>
                      </a:rPr>
                      <m:t>0</m:t>
                    </m:r>
                    <m:r>
                      <a:rPr lang="en-US" i="1">
                        <a:latin typeface="Cambria Math" panose="02040503050406030204" pitchFamily="18" charset="0"/>
                      </a:rPr>
                      <m:t> </m:t>
                    </m:r>
                  </m:oMath>
                </a14:m>
                <a:endParaRPr lang="en-US" b="0" dirty="0">
                  <a:latin typeface="+mn-lt"/>
                </a:endParaRPr>
              </a:p>
              <a:p>
                <a:pPr marL="0" indent="0">
                  <a:lnSpc>
                    <a:spcPct val="150000"/>
                  </a:lnSpc>
                  <a:spcBef>
                    <a:spcPts val="0"/>
                  </a:spcBef>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190.1472 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4</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 1.256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−3</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𝑥</m:t>
                          </m:r>
                        </m:sub>
                      </m:sSub>
                      <m:r>
                        <a:rPr lang="en-US" b="0" i="1" smtClean="0">
                          <a:latin typeface="Cambria Math" panose="02040503050406030204" pitchFamily="18" charset="0"/>
                        </a:rPr>
                        <m:t>=1000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 0.02(63</m:t>
                      </m:r>
                      <m:r>
                        <a:rPr lang="en-GB" b="0" i="1" smtClean="0">
                          <a:latin typeface="Cambria Math" panose="02040503050406030204" pitchFamily="18" charset="0"/>
                        </a:rPr>
                        <m:t>.</m:t>
                      </m:r>
                      <m:r>
                        <a:rPr lang="en-US" b="0" i="1" smtClean="0">
                          <a:latin typeface="Cambria Math" panose="02040503050406030204" pitchFamily="18" charset="0"/>
                        </a:rPr>
                        <m:t>64−15.92)</m:t>
                      </m:r>
                    </m:oMath>
                  </m:oMathPara>
                </a14:m>
                <a:endParaRPr lang="en-US" dirty="0">
                  <a:latin typeface="+mn-lt"/>
                </a:endParaRPr>
              </a:p>
              <a:p>
                <a:pPr marL="0" indent="0">
                  <a:lnSpc>
                    <a:spcPct val="150000"/>
                  </a:lnSpc>
                  <a:spcBef>
                    <a:spcPts val="0"/>
                  </a:spcBef>
                  <a:buNone/>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𝑥</m:t>
                          </m:r>
                        </m:sub>
                      </m:sSub>
                      <m:r>
                        <a:rPr lang="en-US" b="0" i="1" smtClean="0">
                          <a:latin typeface="Cambria Math" panose="02040503050406030204" pitchFamily="18" charset="0"/>
                        </a:rPr>
                        <m:t>=916.15−2388.24=−1472.1</m:t>
                      </m:r>
                      <m:r>
                        <a:rPr lang="en-US" b="0" i="1" smtClean="0">
                          <a:latin typeface="Cambria Math" panose="02040503050406030204" pitchFamily="18" charset="0"/>
                        </a:rPr>
                        <m:t>𝑁</m:t>
                      </m:r>
                    </m:oMath>
                  </m:oMathPara>
                </a14:m>
                <a:endParaRPr lang="en-US" b="0" dirty="0">
                  <a:latin typeface="+mn-lt"/>
                </a:endParaRPr>
              </a:p>
              <a:p>
                <a:pPr marL="0" indent="0">
                  <a:lnSpc>
                    <a:spcPct val="150000"/>
                  </a:lnSpc>
                  <a:spcBef>
                    <a:spcPts val="0"/>
                  </a:spcBef>
                  <a:buNone/>
                </a:pPr>
                <a:r>
                  <a:rPr lang="en-US" dirty="0">
                    <a:latin typeface="+mn-lt"/>
                  </a:rPr>
                  <a:t>-Negative sign means the force exerted by nozzle on the water is from right to left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06734" y="715915"/>
                <a:ext cx="8937266" cy="4931901"/>
              </a:xfrm>
              <a:blipFill>
                <a:blip r:embed="rId3"/>
                <a:stretch>
                  <a:fillRect l="-1091" r="-205" b="-618"/>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DDFDBE92-D493-995C-6C0C-C5C16978550F}"/>
              </a:ext>
            </a:extLst>
          </p:cNvPr>
          <p:cNvSpPr>
            <a:spLocks noGrp="1"/>
          </p:cNvSpPr>
          <p:nvPr>
            <p:ph type="sldNum" sz="quarter" idx="12"/>
          </p:nvPr>
        </p:nvSpPr>
        <p:spPr/>
        <p:txBody>
          <a:bodyPr/>
          <a:lstStyle/>
          <a:p>
            <a:fld id="{49FCB85E-0F77-4855-90A7-7A1B61BB679B}" type="slidenum">
              <a:rPr lang="en-CA" smtClean="0"/>
              <a:t>45</a:t>
            </a:fld>
            <a:endParaRPr lang="en-CA"/>
          </a:p>
        </p:txBody>
      </p:sp>
    </p:spTree>
    <p:extLst>
      <p:ext uri="{BB962C8B-B14F-4D97-AF65-F5344CB8AC3E}">
        <p14:creationId xmlns:p14="http://schemas.microsoft.com/office/powerpoint/2010/main" val="1793596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227" y="0"/>
            <a:ext cx="7886700" cy="568940"/>
          </a:xfrm>
        </p:spPr>
        <p:txBody>
          <a:bodyPr>
            <a:normAutofit/>
          </a:bodyPr>
          <a:lstStyle/>
          <a:p>
            <a:r>
              <a:rPr lang="en-US" sz="2800" b="1" dirty="0">
                <a:solidFill>
                  <a:schemeClr val="tx1"/>
                </a:solidFill>
              </a:rPr>
              <a:t>Practice Problems</a:t>
            </a:r>
            <a:endParaRPr lang="en-US" sz="2800" dirty="0"/>
          </a:p>
        </p:txBody>
      </p:sp>
      <p:sp>
        <p:nvSpPr>
          <p:cNvPr id="3" name="Content Placeholder 2"/>
          <p:cNvSpPr>
            <a:spLocks noGrp="1"/>
          </p:cNvSpPr>
          <p:nvPr>
            <p:ph idx="1"/>
          </p:nvPr>
        </p:nvSpPr>
        <p:spPr>
          <a:xfrm>
            <a:off x="0" y="591439"/>
            <a:ext cx="9144000" cy="5405650"/>
          </a:xfrm>
        </p:spPr>
        <p:txBody>
          <a:bodyPr/>
          <a:lstStyle/>
          <a:p>
            <a:pPr marL="0" indent="0">
              <a:buNone/>
            </a:pPr>
            <a:r>
              <a:rPr lang="en-US" dirty="0">
                <a:latin typeface="+mn-lt"/>
              </a:rPr>
              <a:t>(1) </a:t>
            </a:r>
            <a:r>
              <a:rPr lang="en-US" sz="2400" dirty="0">
                <a:solidFill>
                  <a:srgbClr val="000000"/>
                </a:solidFill>
                <a:effectLst/>
                <a:latin typeface="+mn-lt"/>
                <a:ea typeface="Times New Roman" panose="02020603050405020304" pitchFamily="18" charset="0"/>
              </a:rPr>
              <a:t>A pipe of 300 mm diameter conveying 0.3 m</a:t>
            </a:r>
            <a:r>
              <a:rPr lang="en-US" sz="2400" baseline="30000" dirty="0">
                <a:solidFill>
                  <a:srgbClr val="000000"/>
                </a:solidFill>
                <a:effectLst/>
                <a:latin typeface="+mn-lt"/>
                <a:ea typeface="Times New Roman" panose="02020603050405020304" pitchFamily="18" charset="0"/>
              </a:rPr>
              <a:t>3</a:t>
            </a:r>
            <a:r>
              <a:rPr lang="en-US" sz="2400" dirty="0">
                <a:solidFill>
                  <a:srgbClr val="000000"/>
                </a:solidFill>
                <a:effectLst/>
                <a:latin typeface="+mn-lt"/>
                <a:ea typeface="Times New Roman" panose="02020603050405020304" pitchFamily="18" charset="0"/>
              </a:rPr>
              <a:t>/s of water has a right angled bend in a horizontal plane. Find the resultant force exerted on the bend if the pressure at inlet and outlet of the bend are 24.525 N/cm</a:t>
            </a:r>
            <a:r>
              <a:rPr lang="en-US" sz="2400" baseline="30000" dirty="0">
                <a:solidFill>
                  <a:srgbClr val="000000"/>
                </a:solidFill>
                <a:effectLst/>
                <a:latin typeface="+mn-lt"/>
                <a:ea typeface="Times New Roman" panose="02020603050405020304" pitchFamily="18" charset="0"/>
              </a:rPr>
              <a:t>2</a:t>
            </a:r>
            <a:r>
              <a:rPr lang="en-US" sz="2400" dirty="0">
                <a:solidFill>
                  <a:srgbClr val="000000"/>
                </a:solidFill>
                <a:effectLst/>
                <a:latin typeface="+mn-lt"/>
                <a:ea typeface="Times New Roman" panose="02020603050405020304" pitchFamily="18" charset="0"/>
              </a:rPr>
              <a:t> and 23.544 N/cm</a:t>
            </a:r>
            <a:r>
              <a:rPr lang="en-US" sz="2400" baseline="30000" dirty="0">
                <a:solidFill>
                  <a:srgbClr val="000000"/>
                </a:solidFill>
                <a:effectLst/>
                <a:latin typeface="+mn-lt"/>
                <a:ea typeface="Times New Roman" panose="02020603050405020304" pitchFamily="18" charset="0"/>
              </a:rPr>
              <a:t>2</a:t>
            </a:r>
            <a:r>
              <a:rPr lang="en-US" sz="2400" dirty="0">
                <a:solidFill>
                  <a:srgbClr val="000000"/>
                </a:solidFill>
                <a:effectLst/>
                <a:latin typeface="+mn-lt"/>
                <a:ea typeface="Times New Roman" panose="02020603050405020304" pitchFamily="18" charset="0"/>
              </a:rPr>
              <a:t> respectively.</a:t>
            </a:r>
          </a:p>
          <a:p>
            <a:pPr marL="0" indent="0">
              <a:buNone/>
            </a:pPr>
            <a:r>
              <a:rPr lang="en-US" dirty="0">
                <a:latin typeface="+mn-lt"/>
              </a:rPr>
              <a:t>(2) </a:t>
            </a:r>
            <a:r>
              <a:rPr lang="en-US" sz="2400" dirty="0">
                <a:solidFill>
                  <a:srgbClr val="000000"/>
                </a:solidFill>
                <a:effectLst/>
                <a:latin typeface="+mn-lt"/>
                <a:ea typeface="Times New Roman" panose="02020603050405020304" pitchFamily="18" charset="0"/>
              </a:rPr>
              <a:t>A 45 ° reducing bend, with 0.6096 m diameter upstream and 0.3048 m diameter downstream, has water flowing through it at the rate of 0.4445 m</a:t>
            </a:r>
            <a:r>
              <a:rPr lang="en-US" sz="2400" baseline="30000" dirty="0">
                <a:solidFill>
                  <a:srgbClr val="000000"/>
                </a:solidFill>
                <a:effectLst/>
                <a:latin typeface="+mn-lt"/>
                <a:ea typeface="Times New Roman" panose="02020603050405020304" pitchFamily="18" charset="0"/>
              </a:rPr>
              <a:t>3</a:t>
            </a:r>
            <a:r>
              <a:rPr lang="en-US" sz="2400" dirty="0">
                <a:solidFill>
                  <a:srgbClr val="000000"/>
                </a:solidFill>
                <a:effectLst/>
                <a:latin typeface="+mn-lt"/>
                <a:ea typeface="Times New Roman" panose="02020603050405020304" pitchFamily="18" charset="0"/>
              </a:rPr>
              <a:t>/s under a pressure of 144.7899 kPa. Neglecting any loss in the bend, calculate the force exerted by the water on the reducing bend</a:t>
            </a:r>
            <a:endParaRPr lang="en-US" dirty="0">
              <a:latin typeface="+mn-lt"/>
            </a:endParaRPr>
          </a:p>
          <a:p>
            <a:endParaRPr lang="en-US" dirty="0"/>
          </a:p>
        </p:txBody>
      </p:sp>
      <p:pic>
        <p:nvPicPr>
          <p:cNvPr id="4" name="Picture 3">
            <a:extLst>
              <a:ext uri="{FF2B5EF4-FFF2-40B4-BE49-F238E27FC236}">
                <a16:creationId xmlns:a16="http://schemas.microsoft.com/office/drawing/2014/main" id="{841800D6-AC01-2EDC-DDDA-ECD13CB8A6D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8634"/>
          <a:stretch/>
        </p:blipFill>
        <p:spPr bwMode="auto">
          <a:xfrm>
            <a:off x="2100008" y="3429000"/>
            <a:ext cx="3706432" cy="2490005"/>
          </a:xfrm>
          <a:prstGeom prst="rect">
            <a:avLst/>
          </a:prstGeom>
          <a:noFill/>
          <a:ln>
            <a:noFill/>
          </a:ln>
        </p:spPr>
      </p:pic>
      <p:sp>
        <p:nvSpPr>
          <p:cNvPr id="5" name="Slide Number Placeholder 4">
            <a:extLst>
              <a:ext uri="{FF2B5EF4-FFF2-40B4-BE49-F238E27FC236}">
                <a16:creationId xmlns:a16="http://schemas.microsoft.com/office/drawing/2014/main" id="{90C76E16-681E-2B2E-D6C4-9D58777F2837}"/>
              </a:ext>
            </a:extLst>
          </p:cNvPr>
          <p:cNvSpPr>
            <a:spLocks noGrp="1"/>
          </p:cNvSpPr>
          <p:nvPr>
            <p:ph type="sldNum" sz="quarter" idx="12"/>
          </p:nvPr>
        </p:nvSpPr>
        <p:spPr/>
        <p:txBody>
          <a:bodyPr/>
          <a:lstStyle/>
          <a:p>
            <a:fld id="{49FCB85E-0F77-4855-90A7-7A1B61BB679B}" type="slidenum">
              <a:rPr lang="en-CA" smtClean="0"/>
              <a:t>46</a:t>
            </a:fld>
            <a:endParaRPr lang="en-CA"/>
          </a:p>
        </p:txBody>
      </p:sp>
    </p:spTree>
    <p:extLst>
      <p:ext uri="{BB962C8B-B14F-4D97-AF65-F5344CB8AC3E}">
        <p14:creationId xmlns:p14="http://schemas.microsoft.com/office/powerpoint/2010/main" val="10032626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227" y="0"/>
            <a:ext cx="7886700" cy="568940"/>
          </a:xfrm>
        </p:spPr>
        <p:txBody>
          <a:bodyPr>
            <a:normAutofit/>
          </a:bodyPr>
          <a:lstStyle/>
          <a:p>
            <a:r>
              <a:rPr lang="en-US" sz="2800" b="1" dirty="0">
                <a:solidFill>
                  <a:schemeClr val="tx1"/>
                </a:solidFill>
              </a:rPr>
              <a:t>Practice Problems</a:t>
            </a:r>
            <a:endParaRPr lang="en-US" sz="2800" dirty="0"/>
          </a:p>
        </p:txBody>
      </p:sp>
      <p:sp>
        <p:nvSpPr>
          <p:cNvPr id="3" name="Content Placeholder 2"/>
          <p:cNvSpPr>
            <a:spLocks noGrp="1"/>
          </p:cNvSpPr>
          <p:nvPr>
            <p:ph idx="1"/>
          </p:nvPr>
        </p:nvSpPr>
        <p:spPr>
          <a:xfrm>
            <a:off x="0" y="591439"/>
            <a:ext cx="9144000" cy="5405650"/>
          </a:xfrm>
        </p:spPr>
        <p:txBody>
          <a:bodyPr/>
          <a:lstStyle/>
          <a:p>
            <a:pPr marL="0" indent="0">
              <a:buNone/>
            </a:pPr>
            <a:r>
              <a:rPr lang="en-US" dirty="0">
                <a:latin typeface="+mn-lt"/>
              </a:rPr>
              <a:t>(3) In a</a:t>
            </a:r>
            <a:r>
              <a:rPr lang="en-US" sz="2400" dirty="0">
                <a:solidFill>
                  <a:srgbClr val="000000"/>
                </a:solidFill>
                <a:effectLst/>
                <a:latin typeface="+mn-lt"/>
                <a:ea typeface="Times New Roman" panose="02020603050405020304" pitchFamily="18" charset="0"/>
              </a:rPr>
              <a:t> 45° reducing bend</a:t>
            </a:r>
            <a:r>
              <a:rPr lang="en-US" dirty="0">
                <a:solidFill>
                  <a:srgbClr val="000000"/>
                </a:solidFill>
                <a:latin typeface="+mn-lt"/>
                <a:ea typeface="Times New Roman" panose="02020603050405020304" pitchFamily="18" charset="0"/>
              </a:rPr>
              <a:t> a 0.5 m</a:t>
            </a:r>
            <a:r>
              <a:rPr lang="en-US" baseline="30000" dirty="0">
                <a:solidFill>
                  <a:srgbClr val="000000"/>
                </a:solidFill>
                <a:latin typeface="+mn-lt"/>
                <a:ea typeface="Times New Roman" panose="02020603050405020304" pitchFamily="18" charset="0"/>
              </a:rPr>
              <a:t>2</a:t>
            </a:r>
            <a:r>
              <a:rPr lang="en-US" dirty="0">
                <a:solidFill>
                  <a:srgbClr val="000000"/>
                </a:solidFill>
                <a:latin typeface="+mn-lt"/>
                <a:ea typeface="Times New Roman" panose="02020603050405020304" pitchFamily="18" charset="0"/>
              </a:rPr>
              <a:t> area. Find the magnitude and direction of the force required to hold the duct in position if the velocity of the flow at the 1 m</a:t>
            </a:r>
            <a:r>
              <a:rPr lang="en-US" baseline="30000" dirty="0">
                <a:solidFill>
                  <a:srgbClr val="000000"/>
                </a:solidFill>
                <a:latin typeface="+mn-lt"/>
                <a:ea typeface="Times New Roman" panose="02020603050405020304" pitchFamily="18" charset="0"/>
              </a:rPr>
              <a:t>2</a:t>
            </a:r>
            <a:r>
              <a:rPr lang="en-US" dirty="0">
                <a:solidFill>
                  <a:srgbClr val="000000"/>
                </a:solidFill>
                <a:latin typeface="+mn-lt"/>
                <a:ea typeface="Times New Roman" panose="02020603050405020304" pitchFamily="18" charset="0"/>
              </a:rPr>
              <a:t> section is 10 m/s, and pressure is 300 N/mm</a:t>
            </a:r>
            <a:r>
              <a:rPr lang="en-US" baseline="30000" dirty="0">
                <a:solidFill>
                  <a:srgbClr val="000000"/>
                </a:solidFill>
                <a:latin typeface="+mn-lt"/>
                <a:ea typeface="Times New Roman" panose="02020603050405020304" pitchFamily="18" charset="0"/>
              </a:rPr>
              <a:t>2</a:t>
            </a:r>
            <a:r>
              <a:rPr lang="en-US" dirty="0">
                <a:solidFill>
                  <a:srgbClr val="000000"/>
                </a:solidFill>
                <a:latin typeface="+mn-lt"/>
                <a:ea typeface="Times New Roman" panose="02020603050405020304" pitchFamily="18" charset="0"/>
              </a:rPr>
              <a:t>. Take density of air as 1.2 kg/m</a:t>
            </a:r>
            <a:r>
              <a:rPr lang="en-US" baseline="30000" dirty="0">
                <a:solidFill>
                  <a:srgbClr val="000000"/>
                </a:solidFill>
                <a:latin typeface="+mn-lt"/>
                <a:ea typeface="Times New Roman" panose="02020603050405020304" pitchFamily="18" charset="0"/>
              </a:rPr>
              <a:t>3</a:t>
            </a:r>
            <a:r>
              <a:rPr lang="en-US" dirty="0">
                <a:solidFill>
                  <a:srgbClr val="000000"/>
                </a:solidFill>
                <a:latin typeface="+mn-lt"/>
                <a:ea typeface="Times New Roman" panose="02020603050405020304" pitchFamily="18" charset="0"/>
              </a:rPr>
              <a:t>.</a:t>
            </a:r>
          </a:p>
          <a:p>
            <a:pPr marL="0" indent="0">
              <a:buNone/>
            </a:pPr>
            <a:endParaRPr lang="en-US" dirty="0">
              <a:solidFill>
                <a:srgbClr val="000000"/>
              </a:solidFill>
              <a:latin typeface="+mn-lt"/>
              <a:ea typeface="Times New Roman" panose="02020603050405020304" pitchFamily="18" charset="0"/>
            </a:endParaRPr>
          </a:p>
          <a:p>
            <a:pPr marL="0" indent="0">
              <a:buNone/>
            </a:pPr>
            <a:r>
              <a:rPr lang="en-US" dirty="0">
                <a:solidFill>
                  <a:srgbClr val="000000"/>
                </a:solidFill>
                <a:latin typeface="+mn-lt"/>
              </a:rPr>
              <a:t>(4) The diameter of a pipe-bend is 300 mm at inlet and 150 mm at outlet and the flow is turned through </a:t>
            </a:r>
            <a:r>
              <a:rPr lang="en-US" sz="2400" dirty="0">
                <a:solidFill>
                  <a:srgbClr val="000000"/>
                </a:solidFill>
                <a:effectLst/>
                <a:latin typeface="+mn-lt"/>
                <a:ea typeface="Times New Roman" panose="02020603050405020304" pitchFamily="18" charset="0"/>
              </a:rPr>
              <a:t>120° in a vertical plane. The axis at inlet is horizontal and the </a:t>
            </a:r>
            <a:r>
              <a:rPr lang="en-US" sz="2400" dirty="0" err="1">
                <a:solidFill>
                  <a:srgbClr val="000000"/>
                </a:solidFill>
                <a:effectLst/>
                <a:latin typeface="+mn-lt"/>
                <a:ea typeface="Times New Roman" panose="02020603050405020304" pitchFamily="18" charset="0"/>
              </a:rPr>
              <a:t>centre</a:t>
            </a:r>
            <a:r>
              <a:rPr lang="en-US" sz="2400" dirty="0">
                <a:solidFill>
                  <a:srgbClr val="000000"/>
                </a:solidFill>
                <a:effectLst/>
                <a:latin typeface="+mn-lt"/>
                <a:ea typeface="Times New Roman" panose="02020603050405020304" pitchFamily="18" charset="0"/>
              </a:rPr>
              <a:t> of the outlet section is 1.4 m below the </a:t>
            </a:r>
            <a:r>
              <a:rPr lang="en-US" sz="2400" dirty="0" err="1">
                <a:solidFill>
                  <a:srgbClr val="000000"/>
                </a:solidFill>
                <a:effectLst/>
                <a:latin typeface="+mn-lt"/>
                <a:ea typeface="Times New Roman" panose="02020603050405020304" pitchFamily="18" charset="0"/>
              </a:rPr>
              <a:t>centre</a:t>
            </a:r>
            <a:r>
              <a:rPr lang="en-US" sz="2400" dirty="0">
                <a:solidFill>
                  <a:srgbClr val="000000"/>
                </a:solidFill>
                <a:effectLst/>
                <a:latin typeface="+mn-lt"/>
                <a:ea typeface="Times New Roman" panose="02020603050405020304" pitchFamily="18" charset="0"/>
              </a:rPr>
              <a:t> of the inlet section. The total volume of fluid contained in the bend is 0.085 </a:t>
            </a:r>
            <a:r>
              <a:rPr lang="en-US" dirty="0">
                <a:solidFill>
                  <a:srgbClr val="000000"/>
                </a:solidFill>
                <a:latin typeface="+mn-lt"/>
                <a:ea typeface="Times New Roman" panose="02020603050405020304" pitchFamily="18" charset="0"/>
              </a:rPr>
              <a:t>m</a:t>
            </a:r>
            <a:r>
              <a:rPr lang="en-US" baseline="30000" dirty="0">
                <a:solidFill>
                  <a:srgbClr val="000000"/>
                </a:solidFill>
                <a:latin typeface="+mn-lt"/>
                <a:ea typeface="Times New Roman" panose="02020603050405020304" pitchFamily="18" charset="0"/>
              </a:rPr>
              <a:t>3</a:t>
            </a:r>
            <a:r>
              <a:rPr lang="en-US" sz="2400" dirty="0">
                <a:solidFill>
                  <a:srgbClr val="000000"/>
                </a:solidFill>
                <a:effectLst/>
                <a:latin typeface="+mn-lt"/>
                <a:ea typeface="Times New Roman" panose="02020603050405020304" pitchFamily="18" charset="0"/>
              </a:rPr>
              <a:t>. Neglecting friction, calculate the magnitude and direction of the net force exerted on the bend by water flowing through it at 0.23 m</a:t>
            </a:r>
            <a:r>
              <a:rPr lang="en-US" sz="2400" baseline="30000" dirty="0">
                <a:solidFill>
                  <a:srgbClr val="000000"/>
                </a:solidFill>
                <a:effectLst/>
                <a:latin typeface="+mn-lt"/>
                <a:ea typeface="Times New Roman" panose="02020603050405020304" pitchFamily="18" charset="0"/>
              </a:rPr>
              <a:t>3</a:t>
            </a:r>
            <a:r>
              <a:rPr lang="en-US" sz="2400" dirty="0">
                <a:solidFill>
                  <a:srgbClr val="000000"/>
                </a:solidFill>
                <a:effectLst/>
                <a:latin typeface="+mn-lt"/>
                <a:ea typeface="Times New Roman" panose="02020603050405020304" pitchFamily="18" charset="0"/>
              </a:rPr>
              <a:t>/s when the inlet gauge pressure 140 kPa.</a:t>
            </a:r>
          </a:p>
          <a:p>
            <a:pPr marL="0" indent="0">
              <a:buNone/>
            </a:pPr>
            <a:endParaRPr lang="en-US" dirty="0">
              <a:latin typeface="+mn-lt"/>
            </a:endParaRPr>
          </a:p>
        </p:txBody>
      </p:sp>
      <p:sp>
        <p:nvSpPr>
          <p:cNvPr id="4" name="Slide Number Placeholder 3">
            <a:extLst>
              <a:ext uri="{FF2B5EF4-FFF2-40B4-BE49-F238E27FC236}">
                <a16:creationId xmlns:a16="http://schemas.microsoft.com/office/drawing/2014/main" id="{2458DB4F-0AE3-482C-B939-A33299E79F92}"/>
              </a:ext>
            </a:extLst>
          </p:cNvPr>
          <p:cNvSpPr>
            <a:spLocks noGrp="1"/>
          </p:cNvSpPr>
          <p:nvPr>
            <p:ph type="sldNum" sz="quarter" idx="12"/>
          </p:nvPr>
        </p:nvSpPr>
        <p:spPr/>
        <p:txBody>
          <a:bodyPr/>
          <a:lstStyle/>
          <a:p>
            <a:fld id="{49FCB85E-0F77-4855-90A7-7A1B61BB679B}" type="slidenum">
              <a:rPr lang="en-CA" smtClean="0"/>
              <a:t>47</a:t>
            </a:fld>
            <a:endParaRPr lang="en-CA"/>
          </a:p>
        </p:txBody>
      </p:sp>
    </p:spTree>
    <p:extLst>
      <p:ext uri="{BB962C8B-B14F-4D97-AF65-F5344CB8AC3E}">
        <p14:creationId xmlns:p14="http://schemas.microsoft.com/office/powerpoint/2010/main" val="5458641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Box 2"/>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16723</TotalTime>
  <Words>3182</Words>
  <Application>Microsoft Office PowerPoint</Application>
  <PresentationFormat>On-screen Show (4:3)</PresentationFormat>
  <Paragraphs>423</Paragraphs>
  <Slides>47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Calibri</vt:lpstr>
      <vt:lpstr>Cambria Math</vt:lpstr>
      <vt:lpstr>Myriad Web Pro</vt:lpstr>
      <vt:lpstr>Times</vt:lpstr>
      <vt:lpstr>Times New Roman</vt:lpstr>
      <vt:lpstr>Wingdings</vt:lpstr>
      <vt:lpstr>Custom Design</vt:lpstr>
      <vt:lpstr>ME 352 FLUID DYNAMICS 2</vt:lpstr>
      <vt:lpstr>Course Outline</vt:lpstr>
      <vt:lpstr>Assessment</vt:lpstr>
      <vt:lpstr>PowerPoint Presentation</vt:lpstr>
      <vt:lpstr>Main Topics</vt:lpstr>
      <vt:lpstr>System vs. Control Volume</vt:lpstr>
      <vt:lpstr>System vs. Control Volume</vt:lpstr>
      <vt:lpstr>Extensive and Intensive Properties</vt:lpstr>
      <vt:lpstr>Basic Laws of a Thermodynamic System</vt:lpstr>
      <vt:lpstr>Basic Laws of a Control Volume</vt:lpstr>
      <vt:lpstr>Reynolds Transport Theorem (RTT)</vt:lpstr>
      <vt:lpstr>Reynolds Transport Theorem (RTT)</vt:lpstr>
      <vt:lpstr>Derivation of RTT</vt:lpstr>
      <vt:lpstr>Derivation of RTT</vt:lpstr>
      <vt:lpstr>Reynolds Transport Theorem (RTT)</vt:lpstr>
      <vt:lpstr>PowerPoint Presentation</vt:lpstr>
      <vt:lpstr>Mass/Volume Flux</vt:lpstr>
      <vt:lpstr>Conservation Mass</vt:lpstr>
      <vt:lpstr>Conservation Mass</vt:lpstr>
      <vt:lpstr>Conservation Mass</vt:lpstr>
      <vt:lpstr>Conservation Mass</vt:lpstr>
      <vt:lpstr>Example 1 (Steady Flow)</vt:lpstr>
      <vt:lpstr>Example 1 - Solution</vt:lpstr>
      <vt:lpstr>Example 1 - Solution</vt:lpstr>
      <vt:lpstr>PowerPoint Presentation</vt:lpstr>
      <vt:lpstr>PowerPoint Presentation</vt:lpstr>
      <vt:lpstr>PowerPoint Presentation</vt:lpstr>
      <vt:lpstr>PowerPoint Presentation</vt:lpstr>
      <vt:lpstr>PowerPoint Presentation</vt:lpstr>
      <vt:lpstr>Momentum Equation</vt:lpstr>
      <vt:lpstr>Momentum Equation for Inertial Control Volume</vt:lpstr>
      <vt:lpstr>Momentum Equation for Inertial Control Volume</vt:lpstr>
      <vt:lpstr>Momentum Equation for Inertial Control Volume</vt:lpstr>
      <vt:lpstr>Momentum Equation for Inertial Control Volume</vt:lpstr>
      <vt:lpstr>Momentum Equation for Inertial Control Volume</vt:lpstr>
      <vt:lpstr>Example problems</vt:lpstr>
      <vt:lpstr>PowerPoint Presentation</vt:lpstr>
      <vt:lpstr>Force Exerted by a Flowing Fluid on a Pipe Bend</vt:lpstr>
      <vt:lpstr>Force Exerted by a Flowing Fluid on a Pipe Bend</vt:lpstr>
      <vt:lpstr>Force Exerted by a Flowing Fluid on a Pipe Bend</vt:lpstr>
      <vt:lpstr>Force Exerted by a Flowing Fluid on a Pipe Bend</vt:lpstr>
      <vt:lpstr>Momentum Equation Example 3</vt:lpstr>
      <vt:lpstr>Momentum Equation Example 3</vt:lpstr>
      <vt:lpstr>Momentum Equation Example 3</vt:lpstr>
      <vt:lpstr>Momentum Equation Example 3</vt:lpstr>
      <vt:lpstr>Practice Problems</vt:lpstr>
      <vt:lpstr>Practice Problems</vt:lpstr>
    </vt:vector>
  </TitlesOfParts>
  <Company>UofM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ekow</dc:creator>
  <cp:lastModifiedBy>Godwin Tay</cp:lastModifiedBy>
  <cp:revision>1182</cp:revision>
  <cp:lastPrinted>2019-10-29T17:44:08Z</cp:lastPrinted>
  <dcterms:created xsi:type="dcterms:W3CDTF">2007-10-23T20:40:42Z</dcterms:created>
  <dcterms:modified xsi:type="dcterms:W3CDTF">2024-05-28T03:29:04Z</dcterms:modified>
</cp:coreProperties>
</file>