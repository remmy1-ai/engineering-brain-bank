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2" r:id="rId1"/>
  </p:sldMasterIdLst>
  <p:notesMasterIdLst>
    <p:notesMasterId r:id="rId44"/>
  </p:notesMasterIdLst>
  <p:handoutMasterIdLst>
    <p:handoutMasterId r:id="rId45"/>
  </p:handoutMasterIdLst>
  <p:sldIdLst>
    <p:sldId id="548" r:id="rId2"/>
    <p:sldId id="556" r:id="rId3"/>
    <p:sldId id="549" r:id="rId4"/>
    <p:sldId id="545" r:id="rId5"/>
    <p:sldId id="557" r:id="rId6"/>
    <p:sldId id="558" r:id="rId7"/>
    <p:sldId id="559" r:id="rId8"/>
    <p:sldId id="560" r:id="rId9"/>
    <p:sldId id="561" r:id="rId10"/>
    <p:sldId id="596" r:id="rId11"/>
    <p:sldId id="597" r:id="rId12"/>
    <p:sldId id="318" r:id="rId13"/>
    <p:sldId id="612" r:id="rId14"/>
    <p:sldId id="259" r:id="rId15"/>
    <p:sldId id="260" r:id="rId16"/>
    <p:sldId id="261" r:id="rId17"/>
    <p:sldId id="262" r:id="rId18"/>
    <p:sldId id="263" r:id="rId19"/>
    <p:sldId id="264" r:id="rId20"/>
    <p:sldId id="265" r:id="rId21"/>
    <p:sldId id="266" r:id="rId22"/>
    <p:sldId id="316" r:id="rId23"/>
    <p:sldId id="317" r:id="rId24"/>
    <p:sldId id="613" r:id="rId25"/>
    <p:sldId id="614" r:id="rId26"/>
    <p:sldId id="615" r:id="rId27"/>
    <p:sldId id="616" r:id="rId28"/>
    <p:sldId id="267" r:id="rId29"/>
    <p:sldId id="268" r:id="rId30"/>
    <p:sldId id="610" r:id="rId31"/>
    <p:sldId id="269" r:id="rId32"/>
    <p:sldId id="611" r:id="rId33"/>
    <p:sldId id="564" r:id="rId34"/>
    <p:sldId id="566" r:id="rId35"/>
    <p:sldId id="567" r:id="rId36"/>
    <p:sldId id="568" r:id="rId37"/>
    <p:sldId id="606" r:id="rId38"/>
    <p:sldId id="565" r:id="rId39"/>
    <p:sldId id="607" r:id="rId40"/>
    <p:sldId id="608" r:id="rId41"/>
    <p:sldId id="617" r:id="rId42"/>
    <p:sldId id="609" r:id="rId43"/>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793">
          <p15:clr>
            <a:srgbClr val="A4A3A4"/>
          </p15:clr>
        </p15:guide>
        <p15:guide id="2" orient="horz" pos="2160">
          <p15:clr>
            <a:srgbClr val="A4A3A4"/>
          </p15:clr>
        </p15:guide>
        <p15:guide id="3" orient="horz" pos="3816">
          <p15:clr>
            <a:srgbClr val="A4A3A4"/>
          </p15:clr>
        </p15:guide>
        <p15:guide id="4" orient="horz" pos="1226">
          <p15:clr>
            <a:srgbClr val="A4A3A4"/>
          </p15:clr>
        </p15:guide>
        <p15:guide id="5" orient="horz" pos="1646">
          <p15:clr>
            <a:srgbClr val="A4A3A4"/>
          </p15:clr>
        </p15:guide>
        <p15:guide id="6" orient="horz" pos="486">
          <p15:clr>
            <a:srgbClr val="A4A3A4"/>
          </p15:clr>
        </p15:guide>
        <p15:guide id="7" orient="horz" pos="3808">
          <p15:clr>
            <a:srgbClr val="A4A3A4"/>
          </p15:clr>
        </p15:guide>
        <p15:guide id="8" pos="3030">
          <p15:clr>
            <a:srgbClr val="A4A3A4"/>
          </p15:clr>
        </p15:guide>
        <p15:guide id="9" pos="5478">
          <p15:clr>
            <a:srgbClr val="A4A3A4"/>
          </p15:clr>
        </p15:guide>
        <p15:guide id="10" pos="294">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0000FF"/>
    <a:srgbClr val="008000"/>
    <a:srgbClr val="3333FF"/>
    <a:srgbClr val="340000"/>
    <a:srgbClr val="0000CC"/>
    <a:srgbClr val="51260B"/>
    <a:srgbClr val="000000"/>
    <a:srgbClr val="F1AB00"/>
    <a:srgbClr val="E8A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848" autoAdjust="0"/>
  </p:normalViewPr>
  <p:slideViewPr>
    <p:cSldViewPr snapToGrid="0" snapToObjects="1">
      <p:cViewPr varScale="1">
        <p:scale>
          <a:sx n="54" d="100"/>
          <a:sy n="54" d="100"/>
        </p:scale>
        <p:origin x="1197" y="45"/>
      </p:cViewPr>
      <p:guideLst>
        <p:guide orient="horz" pos="793"/>
        <p:guide orient="horz" pos="2160"/>
        <p:guide orient="horz" pos="3816"/>
        <p:guide orient="horz" pos="1226"/>
        <p:guide orient="horz" pos="1646"/>
        <p:guide orient="horz" pos="486"/>
        <p:guide orient="horz" pos="3808"/>
        <p:guide pos="3030"/>
        <p:guide pos="5478"/>
        <p:guide pos="29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5" d="100"/>
          <a:sy n="85" d="100"/>
        </p:scale>
        <p:origin x="-3810" y="-84"/>
      </p:cViewPr>
      <p:guideLst>
        <p:guide orient="horz" pos="2909"/>
        <p:guide pos="2208"/>
      </p:guideLst>
    </p:cSldViewPr>
  </p:notesViewPr>
  <p:gridSpacing cx="457200" cy="457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1"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l" eaLnBrk="0" hangingPunct="0">
              <a:defRPr sz="1200"/>
            </a:lvl1pPr>
          </a:lstStyle>
          <a:p>
            <a:pPr>
              <a:defRPr/>
            </a:pPr>
            <a:endParaRPr lang="en-US"/>
          </a:p>
        </p:txBody>
      </p:sp>
      <p:sp>
        <p:nvSpPr>
          <p:cNvPr id="49155" name="Rectangle 3"/>
          <p:cNvSpPr>
            <a:spLocks noGrp="1" noChangeArrowheads="1"/>
          </p:cNvSpPr>
          <p:nvPr>
            <p:ph type="dt" sz="quarter" idx="1"/>
          </p:nvPr>
        </p:nvSpPr>
        <p:spPr bwMode="auto">
          <a:xfrm>
            <a:off x="3970339"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r" eaLnBrk="0" hangingPunct="0">
              <a:defRPr sz="1200"/>
            </a:lvl1pPr>
          </a:lstStyle>
          <a:p>
            <a:pPr>
              <a:defRPr/>
            </a:pPr>
            <a:endParaRPr lang="en-US"/>
          </a:p>
        </p:txBody>
      </p:sp>
      <p:sp>
        <p:nvSpPr>
          <p:cNvPr id="49156" name="Rectangle 4"/>
          <p:cNvSpPr>
            <a:spLocks noGrp="1" noChangeArrowheads="1"/>
          </p:cNvSpPr>
          <p:nvPr>
            <p:ph type="ftr" sz="quarter" idx="2"/>
          </p:nvPr>
        </p:nvSpPr>
        <p:spPr bwMode="auto">
          <a:xfrm>
            <a:off x="1"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l" eaLnBrk="0" hangingPunct="0">
              <a:defRPr sz="1200"/>
            </a:lvl1pPr>
          </a:lstStyle>
          <a:p>
            <a:pPr>
              <a:defRPr/>
            </a:pPr>
            <a:endParaRPr lang="en-US"/>
          </a:p>
        </p:txBody>
      </p:sp>
      <p:sp>
        <p:nvSpPr>
          <p:cNvPr id="49157" name="Rectangle 5"/>
          <p:cNvSpPr>
            <a:spLocks noGrp="1" noChangeArrowheads="1"/>
          </p:cNvSpPr>
          <p:nvPr>
            <p:ph type="sldNum" sz="quarter" idx="3"/>
          </p:nvPr>
        </p:nvSpPr>
        <p:spPr bwMode="auto">
          <a:xfrm>
            <a:off x="3970339"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r" eaLnBrk="0" hangingPunct="0">
              <a:defRPr sz="1200"/>
            </a:lvl1pPr>
          </a:lstStyle>
          <a:p>
            <a:pPr>
              <a:defRPr/>
            </a:pPr>
            <a:fld id="{09B0AA77-6275-4340-A71B-5EB3090E896B}" type="slidenum">
              <a:rPr lang="en-US" altLang="en-US"/>
              <a:pPr>
                <a:defRPr/>
              </a:pPr>
              <a:t>‹#›</a:t>
            </a:fld>
            <a:endParaRPr lang="en-US" altLang="en-US"/>
          </a:p>
        </p:txBody>
      </p:sp>
    </p:spTree>
    <p:extLst>
      <p:ext uri="{BB962C8B-B14F-4D97-AF65-F5344CB8AC3E}">
        <p14:creationId xmlns:p14="http://schemas.microsoft.com/office/powerpoint/2010/main" val="617762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2120"/>
          </a:xfrm>
          <a:prstGeom prst="rect">
            <a:avLst/>
          </a:prstGeom>
        </p:spPr>
        <p:txBody>
          <a:bodyPr vert="horz" lIns="92226" tIns="46113" rIns="92226" bIns="46113" rtlCol="0"/>
          <a:lstStyle>
            <a:lvl1pPr algn="l" eaLnBrk="1" hangingPunct="1">
              <a:defRPr sz="1200"/>
            </a:lvl1pPr>
          </a:lstStyle>
          <a:p>
            <a:pPr>
              <a:defRPr/>
            </a:pPr>
            <a:endParaRPr lang="en-CA"/>
          </a:p>
        </p:txBody>
      </p:sp>
      <p:sp>
        <p:nvSpPr>
          <p:cNvPr id="3" name="Date Placeholder 2"/>
          <p:cNvSpPr>
            <a:spLocks noGrp="1"/>
          </p:cNvSpPr>
          <p:nvPr>
            <p:ph type="dt" idx="1"/>
          </p:nvPr>
        </p:nvSpPr>
        <p:spPr>
          <a:xfrm>
            <a:off x="3970339" y="0"/>
            <a:ext cx="3038475" cy="462120"/>
          </a:xfrm>
          <a:prstGeom prst="rect">
            <a:avLst/>
          </a:prstGeom>
        </p:spPr>
        <p:txBody>
          <a:bodyPr vert="horz" lIns="92226" tIns="46113" rIns="92226" bIns="46113" rtlCol="0"/>
          <a:lstStyle>
            <a:lvl1pPr algn="r" eaLnBrk="1" hangingPunct="1">
              <a:defRPr sz="1200"/>
            </a:lvl1pPr>
          </a:lstStyle>
          <a:p>
            <a:pPr>
              <a:defRPr/>
            </a:pPr>
            <a:fld id="{32B4C607-C522-456D-8358-CEABE5DE2EDF}" type="datetimeFigureOut">
              <a:rPr lang="en-CA"/>
              <a:pPr>
                <a:defRPr/>
              </a:pPr>
              <a:t>2024-06-09</a:t>
            </a:fld>
            <a:endParaRPr lang="en-CA"/>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226" tIns="46113" rIns="92226" bIns="46113" rtlCol="0" anchor="ctr"/>
          <a:lstStyle/>
          <a:p>
            <a:pPr lvl="0"/>
            <a:endParaRPr lang="en-CA" noProof="0"/>
          </a:p>
        </p:txBody>
      </p:sp>
      <p:sp>
        <p:nvSpPr>
          <p:cNvPr id="5" name="Notes Placeholder 4"/>
          <p:cNvSpPr>
            <a:spLocks noGrp="1"/>
          </p:cNvSpPr>
          <p:nvPr>
            <p:ph type="body" sz="quarter" idx="3"/>
          </p:nvPr>
        </p:nvSpPr>
        <p:spPr>
          <a:xfrm>
            <a:off x="701675" y="4387767"/>
            <a:ext cx="5607050" cy="4155919"/>
          </a:xfrm>
          <a:prstGeom prst="rect">
            <a:avLst/>
          </a:prstGeom>
        </p:spPr>
        <p:txBody>
          <a:bodyPr vert="horz" lIns="92226" tIns="46113" rIns="92226" bIns="4611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1" y="8772378"/>
            <a:ext cx="3038475" cy="462120"/>
          </a:xfrm>
          <a:prstGeom prst="rect">
            <a:avLst/>
          </a:prstGeom>
        </p:spPr>
        <p:txBody>
          <a:bodyPr vert="horz" lIns="92226" tIns="46113" rIns="92226" bIns="46113" rtlCol="0" anchor="b"/>
          <a:lstStyle>
            <a:lvl1pPr algn="l" eaLnBrk="1" hangingPunct="1">
              <a:defRPr sz="1200"/>
            </a:lvl1pPr>
          </a:lstStyle>
          <a:p>
            <a:pPr>
              <a:defRPr/>
            </a:pPr>
            <a:endParaRPr lang="en-CA"/>
          </a:p>
        </p:txBody>
      </p:sp>
      <p:sp>
        <p:nvSpPr>
          <p:cNvPr id="7" name="Slide Number Placeholder 6"/>
          <p:cNvSpPr>
            <a:spLocks noGrp="1"/>
          </p:cNvSpPr>
          <p:nvPr>
            <p:ph type="sldNum" sz="quarter" idx="5"/>
          </p:nvPr>
        </p:nvSpPr>
        <p:spPr>
          <a:xfrm>
            <a:off x="3970339" y="8772378"/>
            <a:ext cx="3038475" cy="462120"/>
          </a:xfrm>
          <a:prstGeom prst="rect">
            <a:avLst/>
          </a:prstGeom>
        </p:spPr>
        <p:txBody>
          <a:bodyPr vert="horz" wrap="square" lIns="92226" tIns="46113" rIns="92226" bIns="46113" numCol="1" anchor="b" anchorCtr="0" compatLnSpc="1">
            <a:prstTxWarp prst="textNoShape">
              <a:avLst/>
            </a:prstTxWarp>
          </a:bodyPr>
          <a:lstStyle>
            <a:lvl1pPr algn="r" eaLnBrk="1" hangingPunct="1">
              <a:defRPr sz="1200"/>
            </a:lvl1pPr>
          </a:lstStyle>
          <a:p>
            <a:pPr>
              <a:defRPr/>
            </a:pPr>
            <a:fld id="{34781C02-6DE5-4322-A2AC-958FAC418BF6}" type="slidenum">
              <a:rPr lang="en-CA" altLang="en-US"/>
              <a:pPr>
                <a:defRPr/>
              </a:pPr>
              <a:t>‹#›</a:t>
            </a:fld>
            <a:endParaRPr lang="en-CA" altLang="en-US"/>
          </a:p>
        </p:txBody>
      </p:sp>
    </p:spTree>
    <p:extLst>
      <p:ext uri="{BB962C8B-B14F-4D97-AF65-F5344CB8AC3E}">
        <p14:creationId xmlns:p14="http://schemas.microsoft.com/office/powerpoint/2010/main" val="19392903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12</a:t>
            </a:fld>
            <a:endParaRPr lang="en-US"/>
          </a:p>
        </p:txBody>
      </p:sp>
    </p:spTree>
    <p:extLst>
      <p:ext uri="{BB962C8B-B14F-4D97-AF65-F5344CB8AC3E}">
        <p14:creationId xmlns:p14="http://schemas.microsoft.com/office/powerpoint/2010/main" val="131888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13</a:t>
            </a:fld>
            <a:endParaRPr lang="en-US"/>
          </a:p>
        </p:txBody>
      </p:sp>
    </p:spTree>
    <p:extLst>
      <p:ext uri="{BB962C8B-B14F-4D97-AF65-F5344CB8AC3E}">
        <p14:creationId xmlns:p14="http://schemas.microsoft.com/office/powerpoint/2010/main" val="2647600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14</a:t>
            </a:fld>
            <a:endParaRPr lang="en-US"/>
          </a:p>
        </p:txBody>
      </p:sp>
    </p:spTree>
    <p:extLst>
      <p:ext uri="{BB962C8B-B14F-4D97-AF65-F5344CB8AC3E}">
        <p14:creationId xmlns:p14="http://schemas.microsoft.com/office/powerpoint/2010/main" val="1798855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15</a:t>
            </a:fld>
            <a:endParaRPr lang="en-US"/>
          </a:p>
        </p:txBody>
      </p:sp>
    </p:spTree>
    <p:extLst>
      <p:ext uri="{BB962C8B-B14F-4D97-AF65-F5344CB8AC3E}">
        <p14:creationId xmlns:p14="http://schemas.microsoft.com/office/powerpoint/2010/main" val="2201634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16</a:t>
            </a:fld>
            <a:endParaRPr lang="en-US"/>
          </a:p>
        </p:txBody>
      </p:sp>
    </p:spTree>
    <p:extLst>
      <p:ext uri="{BB962C8B-B14F-4D97-AF65-F5344CB8AC3E}">
        <p14:creationId xmlns:p14="http://schemas.microsoft.com/office/powerpoint/2010/main" val="913105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17</a:t>
            </a:fld>
            <a:endParaRPr lang="en-US"/>
          </a:p>
        </p:txBody>
      </p:sp>
    </p:spTree>
    <p:extLst>
      <p:ext uri="{BB962C8B-B14F-4D97-AF65-F5344CB8AC3E}">
        <p14:creationId xmlns:p14="http://schemas.microsoft.com/office/powerpoint/2010/main" val="2881613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18</a:t>
            </a:fld>
            <a:endParaRPr lang="en-US"/>
          </a:p>
        </p:txBody>
      </p:sp>
    </p:spTree>
    <p:extLst>
      <p:ext uri="{BB962C8B-B14F-4D97-AF65-F5344CB8AC3E}">
        <p14:creationId xmlns:p14="http://schemas.microsoft.com/office/powerpoint/2010/main" val="334150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19</a:t>
            </a:fld>
            <a:endParaRPr lang="en-US"/>
          </a:p>
        </p:txBody>
      </p:sp>
    </p:spTree>
    <p:extLst>
      <p:ext uri="{BB962C8B-B14F-4D97-AF65-F5344CB8AC3E}">
        <p14:creationId xmlns:p14="http://schemas.microsoft.com/office/powerpoint/2010/main" val="2088091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20</a:t>
            </a:fld>
            <a:endParaRPr lang="en-US"/>
          </a:p>
        </p:txBody>
      </p:sp>
    </p:spTree>
    <p:extLst>
      <p:ext uri="{BB962C8B-B14F-4D97-AF65-F5344CB8AC3E}">
        <p14:creationId xmlns:p14="http://schemas.microsoft.com/office/powerpoint/2010/main" val="1695161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21</a:t>
            </a:fld>
            <a:endParaRPr lang="en-US"/>
          </a:p>
        </p:txBody>
      </p:sp>
    </p:spTree>
    <p:extLst>
      <p:ext uri="{BB962C8B-B14F-4D97-AF65-F5344CB8AC3E}">
        <p14:creationId xmlns:p14="http://schemas.microsoft.com/office/powerpoint/2010/main" val="356928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22</a:t>
            </a:fld>
            <a:endParaRPr lang="en-US"/>
          </a:p>
        </p:txBody>
      </p:sp>
    </p:spTree>
    <p:extLst>
      <p:ext uri="{BB962C8B-B14F-4D97-AF65-F5344CB8AC3E}">
        <p14:creationId xmlns:p14="http://schemas.microsoft.com/office/powerpoint/2010/main" val="1472857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23</a:t>
            </a:fld>
            <a:endParaRPr lang="en-US"/>
          </a:p>
        </p:txBody>
      </p:sp>
    </p:spTree>
    <p:extLst>
      <p:ext uri="{BB962C8B-B14F-4D97-AF65-F5344CB8AC3E}">
        <p14:creationId xmlns:p14="http://schemas.microsoft.com/office/powerpoint/2010/main" val="2022555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24</a:t>
            </a:fld>
            <a:endParaRPr lang="en-US"/>
          </a:p>
        </p:txBody>
      </p:sp>
    </p:spTree>
    <p:extLst>
      <p:ext uri="{BB962C8B-B14F-4D97-AF65-F5344CB8AC3E}">
        <p14:creationId xmlns:p14="http://schemas.microsoft.com/office/powerpoint/2010/main" val="3814480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25</a:t>
            </a:fld>
            <a:endParaRPr lang="en-US"/>
          </a:p>
        </p:txBody>
      </p:sp>
    </p:spTree>
    <p:extLst>
      <p:ext uri="{BB962C8B-B14F-4D97-AF65-F5344CB8AC3E}">
        <p14:creationId xmlns:p14="http://schemas.microsoft.com/office/powerpoint/2010/main" val="4207696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26</a:t>
            </a:fld>
            <a:endParaRPr lang="en-US"/>
          </a:p>
        </p:txBody>
      </p:sp>
    </p:spTree>
    <p:extLst>
      <p:ext uri="{BB962C8B-B14F-4D97-AF65-F5344CB8AC3E}">
        <p14:creationId xmlns:p14="http://schemas.microsoft.com/office/powerpoint/2010/main" val="453440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27</a:t>
            </a:fld>
            <a:endParaRPr lang="en-US"/>
          </a:p>
        </p:txBody>
      </p:sp>
    </p:spTree>
    <p:extLst>
      <p:ext uri="{BB962C8B-B14F-4D97-AF65-F5344CB8AC3E}">
        <p14:creationId xmlns:p14="http://schemas.microsoft.com/office/powerpoint/2010/main" val="2206931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28</a:t>
            </a:fld>
            <a:endParaRPr lang="en-US"/>
          </a:p>
        </p:txBody>
      </p:sp>
    </p:spTree>
    <p:extLst>
      <p:ext uri="{BB962C8B-B14F-4D97-AF65-F5344CB8AC3E}">
        <p14:creationId xmlns:p14="http://schemas.microsoft.com/office/powerpoint/2010/main" val="2034287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29</a:t>
            </a:fld>
            <a:endParaRPr lang="en-US"/>
          </a:p>
        </p:txBody>
      </p:sp>
    </p:spTree>
    <p:extLst>
      <p:ext uri="{BB962C8B-B14F-4D97-AF65-F5344CB8AC3E}">
        <p14:creationId xmlns:p14="http://schemas.microsoft.com/office/powerpoint/2010/main" val="1516837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30</a:t>
            </a:fld>
            <a:endParaRPr lang="en-US"/>
          </a:p>
        </p:txBody>
      </p:sp>
    </p:spTree>
    <p:extLst>
      <p:ext uri="{BB962C8B-B14F-4D97-AF65-F5344CB8AC3E}">
        <p14:creationId xmlns:p14="http://schemas.microsoft.com/office/powerpoint/2010/main" val="1283867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31</a:t>
            </a:fld>
            <a:endParaRPr lang="en-US"/>
          </a:p>
        </p:txBody>
      </p:sp>
    </p:spTree>
    <p:extLst>
      <p:ext uri="{BB962C8B-B14F-4D97-AF65-F5344CB8AC3E}">
        <p14:creationId xmlns:p14="http://schemas.microsoft.com/office/powerpoint/2010/main" val="1641578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32</a:t>
            </a:fld>
            <a:endParaRPr lang="en-US"/>
          </a:p>
        </p:txBody>
      </p:sp>
    </p:spTree>
    <p:extLst>
      <p:ext uri="{BB962C8B-B14F-4D97-AF65-F5344CB8AC3E}">
        <p14:creationId xmlns:p14="http://schemas.microsoft.com/office/powerpoint/2010/main" val="3207441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33</a:t>
            </a:fld>
            <a:endParaRPr lang="en-CA" altLang="en-US"/>
          </a:p>
        </p:txBody>
      </p:sp>
    </p:spTree>
    <p:extLst>
      <p:ext uri="{BB962C8B-B14F-4D97-AF65-F5344CB8AC3E}">
        <p14:creationId xmlns:p14="http://schemas.microsoft.com/office/powerpoint/2010/main" val="505731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34</a:t>
            </a:fld>
            <a:endParaRPr lang="en-CA" altLang="en-US"/>
          </a:p>
        </p:txBody>
      </p:sp>
    </p:spTree>
    <p:extLst>
      <p:ext uri="{BB962C8B-B14F-4D97-AF65-F5344CB8AC3E}">
        <p14:creationId xmlns:p14="http://schemas.microsoft.com/office/powerpoint/2010/main" val="2592838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36</a:t>
            </a:fld>
            <a:endParaRPr lang="en-CA" altLang="en-US"/>
          </a:p>
        </p:txBody>
      </p:sp>
    </p:spTree>
    <p:extLst>
      <p:ext uri="{BB962C8B-B14F-4D97-AF65-F5344CB8AC3E}">
        <p14:creationId xmlns:p14="http://schemas.microsoft.com/office/powerpoint/2010/main" val="2878083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37</a:t>
            </a:fld>
            <a:endParaRPr lang="en-CA" altLang="en-US"/>
          </a:p>
        </p:txBody>
      </p:sp>
    </p:spTree>
    <p:extLst>
      <p:ext uri="{BB962C8B-B14F-4D97-AF65-F5344CB8AC3E}">
        <p14:creationId xmlns:p14="http://schemas.microsoft.com/office/powerpoint/2010/main" val="12890596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40</a:t>
            </a:fld>
            <a:endParaRPr lang="en-CA" altLang="en-US"/>
          </a:p>
        </p:txBody>
      </p:sp>
    </p:spTree>
    <p:extLst>
      <p:ext uri="{BB962C8B-B14F-4D97-AF65-F5344CB8AC3E}">
        <p14:creationId xmlns:p14="http://schemas.microsoft.com/office/powerpoint/2010/main" val="4044489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41</a:t>
            </a:fld>
            <a:endParaRPr lang="en-CA" altLang="en-US"/>
          </a:p>
        </p:txBody>
      </p:sp>
    </p:spTree>
    <p:extLst>
      <p:ext uri="{BB962C8B-B14F-4D97-AF65-F5344CB8AC3E}">
        <p14:creationId xmlns:p14="http://schemas.microsoft.com/office/powerpoint/2010/main" val="3293834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42</a:t>
            </a:fld>
            <a:endParaRPr lang="en-CA" altLang="en-US"/>
          </a:p>
        </p:txBody>
      </p:sp>
    </p:spTree>
    <p:extLst>
      <p:ext uri="{BB962C8B-B14F-4D97-AF65-F5344CB8AC3E}">
        <p14:creationId xmlns:p14="http://schemas.microsoft.com/office/powerpoint/2010/main" val="364306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ctr">
            <a:normAutofit/>
          </a:bodyPr>
          <a:lstStyle>
            <a:lvl1pPr algn="ctr">
              <a:defRPr sz="3200"/>
            </a:lvl1pPr>
          </a:lstStyle>
          <a:p>
            <a:r>
              <a:rPr lang="en-US" dirty="0"/>
              <a:t>Click to edit Master title style</a:t>
            </a:r>
            <a:endParaRPr lang="en-CA"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369219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dirty="0"/>
              <a:t>Click to edit Master title style</a:t>
            </a:r>
            <a:endParaRPr lang="en-CA" dirty="0"/>
          </a:p>
        </p:txBody>
      </p:sp>
      <p:sp>
        <p:nvSpPr>
          <p:cNvPr id="3" name="Content Placeholder 2"/>
          <p:cNvSpPr>
            <a:spLocks noGrp="1"/>
          </p:cNvSpPr>
          <p:nvPr>
            <p:ph idx="1"/>
          </p:nvPr>
        </p:nvSpPr>
        <p:spPr/>
        <p:txBody>
          <a:bodyPr/>
          <a:lstStyle>
            <a:lvl1pPr>
              <a:defRPr sz="2400"/>
            </a:lvl1pPr>
            <a:lvl2pPr>
              <a:defRPr sz="2000"/>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44202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ctr">
            <a:normAutofit/>
          </a:bodyPr>
          <a:lstStyle>
            <a:lvl1pPr>
              <a:defRPr sz="3200"/>
            </a:lvl1pPr>
          </a:lstStyle>
          <a:p>
            <a:r>
              <a:rPr lang="en-US" dirty="0"/>
              <a:t>Click to edit Master title style</a:t>
            </a:r>
            <a:endParaRPr lang="en-CA" dirty="0"/>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626184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528867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8" name="Footer Placeholder 7"/>
          <p:cNvSpPr>
            <a:spLocks noGrp="1"/>
          </p:cNvSpPr>
          <p:nvPr>
            <p:ph type="ftr" sz="quarter" idx="11"/>
          </p:nvPr>
        </p:nvSpPr>
        <p:spPr>
          <a:xfrm>
            <a:off x="3028950" y="6356350"/>
            <a:ext cx="3086100" cy="365125"/>
          </a:xfrm>
          <a:prstGeom prst="rect">
            <a:avLst/>
          </a:prstGeom>
        </p:spPr>
        <p:txBody>
          <a:bodyPr/>
          <a:lstStyle/>
          <a:p>
            <a:endParaRPr lang="en-CA"/>
          </a:p>
        </p:txBody>
      </p:sp>
      <p:sp>
        <p:nvSpPr>
          <p:cNvPr id="9" name="Slide Number Placeholder 8"/>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47204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endParaRPr lang="en-CA"/>
          </a:p>
        </p:txBody>
      </p:sp>
      <p:sp>
        <p:nvSpPr>
          <p:cNvPr id="5" name="Slide Number Placeholder 4"/>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84449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p>
            <a:endParaRPr lang="en-CA"/>
          </a:p>
        </p:txBody>
      </p:sp>
      <p:sp>
        <p:nvSpPr>
          <p:cNvPr id="4" name="Slide Number Placeholder 3"/>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725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38536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468483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88394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64AC767B-FE5D-4327-81C4-4D88058C29EB}" type="datetimeFigureOut">
              <a:rPr lang="en-CA" smtClean="0"/>
              <a:t>2024-06-09</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a:xfrm>
            <a:off x="6457950" y="6356350"/>
            <a:ext cx="2057400" cy="365125"/>
          </a:xfrm>
          <a:prstGeom prst="rect">
            <a:avLst/>
          </a:prstGeom>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50305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568940"/>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p:cNvSpPr>
            <a:spLocks noGrp="1"/>
          </p:cNvSpPr>
          <p:nvPr>
            <p:ph type="body" idx="1"/>
          </p:nvPr>
        </p:nvSpPr>
        <p:spPr>
          <a:xfrm>
            <a:off x="628650" y="1097578"/>
            <a:ext cx="7886700" cy="49319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cxnSp>
        <p:nvCxnSpPr>
          <p:cNvPr id="7" name="Straight Connector 6"/>
          <p:cNvCxnSpPr/>
          <p:nvPr userDrawn="1"/>
        </p:nvCxnSpPr>
        <p:spPr bwMode="auto">
          <a:xfrm>
            <a:off x="0" y="6048375"/>
            <a:ext cx="9144000" cy="0"/>
          </a:xfrm>
          <a:prstGeom prst="line">
            <a:avLst/>
          </a:prstGeom>
          <a:ln>
            <a:solidFill>
              <a:srgbClr val="F1AB00"/>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9" name="Picture 8"/>
          <p:cNvPicPr>
            <a:picLocks noChangeAspect="1"/>
          </p:cNvPicPr>
          <p:nvPr userDrawn="1"/>
        </p:nvPicPr>
        <p:blipFill>
          <a:blip r:embed="rId13"/>
          <a:stretch>
            <a:fillRect/>
          </a:stretch>
        </p:blipFill>
        <p:spPr>
          <a:xfrm>
            <a:off x="8013103" y="6141815"/>
            <a:ext cx="502247" cy="579660"/>
          </a:xfrm>
          <a:prstGeom prst="rect">
            <a:avLst/>
          </a:prstGeom>
        </p:spPr>
      </p:pic>
    </p:spTree>
    <p:extLst>
      <p:ext uri="{BB962C8B-B14F-4D97-AF65-F5344CB8AC3E}">
        <p14:creationId xmlns:p14="http://schemas.microsoft.com/office/powerpoint/2010/main" val="58214681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defTabSz="914400" rtl="0" eaLnBrk="1" latinLnBrk="0" hangingPunct="1">
        <a:lnSpc>
          <a:spcPct val="90000"/>
        </a:lnSpc>
        <a:spcBef>
          <a:spcPct val="0"/>
        </a:spcBef>
        <a:buNone/>
        <a:defRPr sz="2000" b="1" kern="1200">
          <a:solidFill>
            <a:srgbClr val="0000FF"/>
          </a:solidFill>
          <a:latin typeface="Myriad Web Pro"/>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5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35.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17104" y="345123"/>
            <a:ext cx="6858000" cy="1977453"/>
          </a:xfrm>
        </p:spPr>
        <p:txBody>
          <a:bodyPr>
            <a:normAutofit/>
          </a:bodyPr>
          <a:lstStyle/>
          <a:p>
            <a:pPr>
              <a:lnSpc>
                <a:spcPct val="200000"/>
              </a:lnSpc>
            </a:pPr>
            <a:r>
              <a:rPr lang="en-US" dirty="0">
                <a:solidFill>
                  <a:schemeClr val="tx1"/>
                </a:solidFill>
              </a:rPr>
              <a:t>ME 352</a:t>
            </a:r>
            <a:br>
              <a:rPr lang="en-US" dirty="0">
                <a:solidFill>
                  <a:schemeClr val="tx1"/>
                </a:solidFill>
              </a:rPr>
            </a:br>
            <a:r>
              <a:rPr lang="en-US" dirty="0">
                <a:solidFill>
                  <a:schemeClr val="tx1"/>
                </a:solidFill>
              </a:rPr>
              <a:t>FLUID DYNAMICS 2</a:t>
            </a:r>
            <a:endParaRPr lang="en-CA" dirty="0">
              <a:solidFill>
                <a:schemeClr val="tx1"/>
              </a:solidFill>
            </a:endParaRPr>
          </a:p>
        </p:txBody>
      </p:sp>
      <p:sp>
        <p:nvSpPr>
          <p:cNvPr id="3" name="Subtitle 2"/>
          <p:cNvSpPr>
            <a:spLocks noGrp="1"/>
          </p:cNvSpPr>
          <p:nvPr>
            <p:ph type="subTitle" idx="1"/>
          </p:nvPr>
        </p:nvSpPr>
        <p:spPr>
          <a:xfrm>
            <a:off x="1017104" y="2544912"/>
            <a:ext cx="6858000" cy="975528"/>
          </a:xfrm>
        </p:spPr>
        <p:txBody>
          <a:bodyPr anchor="ctr">
            <a:normAutofit/>
          </a:bodyPr>
          <a:lstStyle/>
          <a:p>
            <a:r>
              <a:rPr lang="en-US" sz="2800" b="1" dirty="0"/>
              <a:t>Chapter 2: Dimensional and Model Analysis</a:t>
            </a:r>
            <a:endParaRPr lang="en-CA" sz="2800" b="1" dirty="0"/>
          </a:p>
        </p:txBody>
      </p:sp>
    </p:spTree>
    <p:extLst>
      <p:ext uri="{BB962C8B-B14F-4D97-AF65-F5344CB8AC3E}">
        <p14:creationId xmlns:p14="http://schemas.microsoft.com/office/powerpoint/2010/main" val="43228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Main Topics</a:t>
            </a:r>
          </a:p>
        </p:txBody>
      </p:sp>
      <p:sp>
        <p:nvSpPr>
          <p:cNvPr id="3" name="Content Placeholder 2"/>
          <p:cNvSpPr>
            <a:spLocks noGrp="1"/>
          </p:cNvSpPr>
          <p:nvPr>
            <p:ph idx="1"/>
          </p:nvPr>
        </p:nvSpPr>
        <p:spPr>
          <a:xfrm>
            <a:off x="628650" y="1097579"/>
            <a:ext cx="7886700" cy="3410414"/>
          </a:xfrm>
        </p:spPr>
        <p:txBody>
          <a:bodyPr>
            <a:noAutofit/>
          </a:bodyPr>
          <a:lstStyle/>
          <a:p>
            <a:pPr>
              <a:lnSpc>
                <a:spcPct val="100000"/>
              </a:lnSpc>
              <a:spcAft>
                <a:spcPts val="1200"/>
              </a:spcAft>
            </a:pPr>
            <a:r>
              <a:rPr lang="en-CA" b="1" dirty="0">
                <a:latin typeface="+mn-lt"/>
              </a:rPr>
              <a:t>Nature of Dimensional Analysis</a:t>
            </a:r>
          </a:p>
          <a:p>
            <a:pPr>
              <a:lnSpc>
                <a:spcPct val="100000"/>
              </a:lnSpc>
              <a:spcAft>
                <a:spcPts val="1200"/>
              </a:spcAft>
            </a:pPr>
            <a:r>
              <a:rPr lang="en-CA" b="1" dirty="0">
                <a:latin typeface="+mn-lt"/>
              </a:rPr>
              <a:t>Methods of Dimensional Analysis</a:t>
            </a:r>
          </a:p>
          <a:p>
            <a:pPr lvl="1">
              <a:lnSpc>
                <a:spcPct val="100000"/>
              </a:lnSpc>
              <a:spcAft>
                <a:spcPts val="1200"/>
              </a:spcAft>
              <a:buFont typeface="Wingdings" panose="05000000000000000000" pitchFamily="2" charset="2"/>
              <a:buChar char="Ø"/>
            </a:pPr>
            <a:r>
              <a:rPr lang="en-CA" sz="2400" b="1" dirty="0">
                <a:latin typeface="+mn-lt"/>
              </a:rPr>
              <a:t> The Rayleigh Method</a:t>
            </a:r>
          </a:p>
          <a:p>
            <a:pPr lvl="1">
              <a:lnSpc>
                <a:spcPct val="100000"/>
              </a:lnSpc>
              <a:spcAft>
                <a:spcPts val="1200"/>
              </a:spcAft>
              <a:buFont typeface="Wingdings" panose="05000000000000000000" pitchFamily="2" charset="2"/>
              <a:buChar char="Ø"/>
            </a:pPr>
            <a:r>
              <a:rPr lang="en-CA" sz="2400" b="1" dirty="0">
                <a:latin typeface="+mn-lt"/>
              </a:rPr>
              <a:t> Buckingham Pi Theorem</a:t>
            </a:r>
          </a:p>
          <a:p>
            <a:pPr>
              <a:lnSpc>
                <a:spcPct val="100000"/>
              </a:lnSpc>
              <a:spcAft>
                <a:spcPts val="1200"/>
              </a:spcAft>
            </a:pPr>
            <a:r>
              <a:rPr lang="en-CA" b="1" dirty="0">
                <a:latin typeface="+mn-lt"/>
              </a:rPr>
              <a:t>Significant Dimensionless Groups in Fluid Mechanics</a:t>
            </a:r>
          </a:p>
          <a:p>
            <a:pPr>
              <a:lnSpc>
                <a:spcPct val="100000"/>
              </a:lnSpc>
              <a:spcAft>
                <a:spcPts val="1200"/>
              </a:spcAft>
            </a:pPr>
            <a:r>
              <a:rPr lang="en-CA" b="1" dirty="0">
                <a:latin typeface="+mn-lt"/>
              </a:rPr>
              <a:t>Flow Similarity and Model Studies</a:t>
            </a:r>
          </a:p>
        </p:txBody>
      </p:sp>
    </p:spTree>
    <p:extLst>
      <p:ext uri="{BB962C8B-B14F-4D97-AF65-F5344CB8AC3E}">
        <p14:creationId xmlns:p14="http://schemas.microsoft.com/office/powerpoint/2010/main" val="129666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362"/>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Dimensional and Model Analysis</a:t>
            </a:r>
          </a:p>
        </p:txBody>
      </p:sp>
      <p:sp>
        <p:nvSpPr>
          <p:cNvPr id="3" name="Content Placeholder 2"/>
          <p:cNvSpPr>
            <a:spLocks noGrp="1"/>
          </p:cNvSpPr>
          <p:nvPr>
            <p:ph idx="1"/>
          </p:nvPr>
        </p:nvSpPr>
        <p:spPr>
          <a:xfrm>
            <a:off x="144417" y="629775"/>
            <a:ext cx="8999583" cy="4931901"/>
          </a:xfrm>
        </p:spPr>
        <p:txBody>
          <a:bodyPr>
            <a:normAutofit/>
          </a:bodyPr>
          <a:lstStyle/>
          <a:p>
            <a:pPr algn="just">
              <a:lnSpc>
                <a:spcPct val="100000"/>
              </a:lnSpc>
            </a:pPr>
            <a:r>
              <a:rPr lang="en-CA" dirty="0">
                <a:latin typeface="+mn-lt"/>
              </a:rPr>
              <a:t>Flow phenomena depend in a complex way on the geometric and fluid/flow parameters.</a:t>
            </a:r>
          </a:p>
          <a:p>
            <a:pPr algn="just">
              <a:lnSpc>
                <a:spcPct val="100000"/>
              </a:lnSpc>
            </a:pPr>
            <a:r>
              <a:rPr lang="en-CA" dirty="0">
                <a:latin typeface="+mn-lt"/>
              </a:rPr>
              <a:t>Detailed flow information will require exact solutions to the Continuity and Navier-Stokes Equations.</a:t>
            </a:r>
          </a:p>
        </p:txBody>
      </p:sp>
      <p:grpSp>
        <p:nvGrpSpPr>
          <p:cNvPr id="7" name="Group 6"/>
          <p:cNvGrpSpPr/>
          <p:nvPr/>
        </p:nvGrpSpPr>
        <p:grpSpPr>
          <a:xfrm>
            <a:off x="603140" y="2527298"/>
            <a:ext cx="7663035" cy="3260853"/>
            <a:chOff x="356318" y="2444912"/>
            <a:chExt cx="7087364" cy="2992558"/>
          </a:xfrm>
        </p:grpSpPr>
        <p:pic>
          <p:nvPicPr>
            <p:cNvPr id="4" name="Picture 3" descr="F6&amp;M1I3T3F9M1.8D.pdf - Adobe Reader"/>
            <p:cNvPicPr>
              <a:picLocks noChangeAspect="1"/>
            </p:cNvPicPr>
            <p:nvPr/>
          </p:nvPicPr>
          <p:blipFill rotWithShape="1">
            <a:blip r:embed="rId2">
              <a:extLst>
                <a:ext uri="{28A0092B-C50C-407E-A947-70E740481C1C}">
                  <a14:useLocalDpi xmlns:a14="http://schemas.microsoft.com/office/drawing/2010/main" val="0"/>
                </a:ext>
              </a:extLst>
            </a:blip>
            <a:srcRect l="33960" t="64242" r="18020" b="28305"/>
            <a:stretch/>
          </p:blipFill>
          <p:spPr>
            <a:xfrm>
              <a:off x="356318" y="3394075"/>
              <a:ext cx="7087364" cy="695738"/>
            </a:xfrm>
            <a:prstGeom prst="rect">
              <a:avLst/>
            </a:prstGeom>
          </p:spPr>
        </p:pic>
        <p:pic>
          <p:nvPicPr>
            <p:cNvPr id="5" name="Picture 4" descr="F6&amp;M1I3T3F9M1.8D.pdf - Adobe Reader"/>
            <p:cNvPicPr>
              <a:picLocks noChangeAspect="1"/>
            </p:cNvPicPr>
            <p:nvPr/>
          </p:nvPicPr>
          <p:blipFill rotWithShape="1">
            <a:blip r:embed="rId3">
              <a:extLst>
                <a:ext uri="{28A0092B-C50C-407E-A947-70E740481C1C}">
                  <a14:useLocalDpi xmlns:a14="http://schemas.microsoft.com/office/drawing/2010/main" val="0"/>
                </a:ext>
              </a:extLst>
            </a:blip>
            <a:srcRect l="19896" t="21349" r="30312" b="63249"/>
            <a:stretch/>
          </p:blipFill>
          <p:spPr>
            <a:xfrm>
              <a:off x="356318" y="4058548"/>
              <a:ext cx="7087364" cy="1378922"/>
            </a:xfrm>
            <a:prstGeom prst="rect">
              <a:avLst/>
            </a:prstGeom>
          </p:spPr>
        </p:pic>
        <p:pic>
          <p:nvPicPr>
            <p:cNvPr id="6" name="Picture 5" descr="F6&amp;M1I3T3F9M1.8D.pdf - Adobe Reader"/>
            <p:cNvPicPr>
              <a:picLocks noChangeAspect="1"/>
            </p:cNvPicPr>
            <p:nvPr/>
          </p:nvPicPr>
          <p:blipFill rotWithShape="1">
            <a:blip r:embed="rId4">
              <a:extLst>
                <a:ext uri="{28A0092B-C50C-407E-A947-70E740481C1C}">
                  <a14:useLocalDpi xmlns:a14="http://schemas.microsoft.com/office/drawing/2010/main" val="0"/>
                </a:ext>
              </a:extLst>
            </a:blip>
            <a:srcRect l="19688" t="23006" r="30521" b="70539"/>
            <a:stretch/>
          </p:blipFill>
          <p:spPr>
            <a:xfrm>
              <a:off x="356318" y="2444912"/>
              <a:ext cx="7087364" cy="577940"/>
            </a:xfrm>
            <a:prstGeom prst="rect">
              <a:avLst/>
            </a:prstGeom>
          </p:spPr>
        </p:pic>
      </p:grpSp>
      <p:sp>
        <p:nvSpPr>
          <p:cNvPr id="8" name="Rectangle 7">
            <a:extLst>
              <a:ext uri="{FF2B5EF4-FFF2-40B4-BE49-F238E27FC236}">
                <a16:creationId xmlns:a16="http://schemas.microsoft.com/office/drawing/2014/main" id="{39765074-9E52-B988-E1C7-F022A63FE0D8}"/>
              </a:ext>
            </a:extLst>
          </p:cNvPr>
          <p:cNvSpPr/>
          <p:nvPr/>
        </p:nvSpPr>
        <p:spPr>
          <a:xfrm>
            <a:off x="7488936" y="2377440"/>
            <a:ext cx="859536" cy="3483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3925426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773"/>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CA" sz="1800" b="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21989"/>
                <a:ext cx="9144000" cy="5357603"/>
              </a:xfrm>
            </p:spPr>
            <p:txBody>
              <a:bodyPr>
                <a:noAutofit/>
              </a:bodyPr>
              <a:lstStyle/>
              <a:p>
                <a:pPr>
                  <a:lnSpc>
                    <a:spcPct val="100000"/>
                  </a:lnSpc>
                </a:pPr>
                <a:r>
                  <a:rPr lang="en-CA" dirty="0">
                    <a:solidFill>
                      <a:schemeClr val="tx1"/>
                    </a:solidFill>
                    <a:latin typeface="+mn-lt"/>
                  </a:rPr>
                  <a:t>In fluid mechanics, very few exact solutions exist</a:t>
                </a:r>
              </a:p>
              <a:p>
                <a:pPr>
                  <a:lnSpc>
                    <a:spcPct val="100000"/>
                  </a:lnSpc>
                  <a:spcBef>
                    <a:spcPts val="1800"/>
                  </a:spcBef>
                  <a:spcAft>
                    <a:spcPts val="1800"/>
                  </a:spcAft>
                </a:pPr>
                <a:r>
                  <a:rPr lang="en-CA" dirty="0">
                    <a:solidFill>
                      <a:schemeClr val="tx1"/>
                    </a:solidFill>
                    <a:latin typeface="+mn-lt"/>
                  </a:rPr>
                  <a:t>We therefore resort to simplified analysis and experiments</a:t>
                </a:r>
              </a:p>
              <a:p>
                <a:pPr marL="0" indent="0">
                  <a:lnSpc>
                    <a:spcPct val="100000"/>
                  </a:lnSpc>
                  <a:buNone/>
                </a:pPr>
                <a:r>
                  <a:rPr lang="en-CA" dirty="0">
                    <a:solidFill>
                      <a:schemeClr val="tx1"/>
                    </a:solidFill>
                    <a:latin typeface="+mn-lt"/>
                  </a:rPr>
                  <a:t>Consider the problem of the drag force </a:t>
                </a:r>
                <a14:m>
                  <m:oMath xmlns:m="http://schemas.openxmlformats.org/officeDocument/2006/math">
                    <m:sSub>
                      <m:sSubPr>
                        <m:ctrlPr>
                          <a:rPr lang="en-CA" i="1" dirty="0">
                            <a:solidFill>
                              <a:schemeClr val="tx1"/>
                            </a:solidFill>
                            <a:latin typeface="Cambria Math" panose="02040503050406030204" pitchFamily="18" charset="0"/>
                          </a:rPr>
                        </m:ctrlPr>
                      </m:sSubPr>
                      <m:e>
                        <m:r>
                          <a:rPr lang="en-CA" b="0" i="1" dirty="0" smtClean="0">
                            <a:solidFill>
                              <a:schemeClr val="tx1"/>
                            </a:solidFill>
                            <a:latin typeface="Cambria Math" panose="02040503050406030204" pitchFamily="18" charset="0"/>
                          </a:rPr>
                          <m:t>𝐹</m:t>
                        </m:r>
                      </m:e>
                      <m:sub>
                        <m:r>
                          <a:rPr lang="en-CA" b="0" i="1" dirty="0" smtClean="0">
                            <a:solidFill>
                              <a:schemeClr val="tx1"/>
                            </a:solidFill>
                            <a:latin typeface="Cambria Math" panose="02040503050406030204" pitchFamily="18" charset="0"/>
                          </a:rPr>
                          <m:t>𝐷</m:t>
                        </m:r>
                      </m:sub>
                    </m:sSub>
                  </m:oMath>
                </a14:m>
                <a:r>
                  <a:rPr lang="en-CA" dirty="0">
                    <a:solidFill>
                      <a:schemeClr val="tx1"/>
                    </a:solidFill>
                    <a:latin typeface="+mn-lt"/>
                  </a:rPr>
                  <a:t> on a sphere:</a:t>
                </a:r>
              </a:p>
              <a:p>
                <a:pPr>
                  <a:lnSpc>
                    <a:spcPct val="100000"/>
                  </a:lnSpc>
                </a:pPr>
                <a:r>
                  <a:rPr lang="en-CA" dirty="0">
                    <a:solidFill>
                      <a:schemeClr val="tx1"/>
                    </a:solidFill>
                    <a:latin typeface="+mn-lt"/>
                  </a:rPr>
                  <a:t>The drag </a:t>
                </a:r>
                <a14:m>
                  <m:oMath xmlns:m="http://schemas.openxmlformats.org/officeDocument/2006/math">
                    <m:sSub>
                      <m:sSubPr>
                        <m:ctrlPr>
                          <a:rPr lang="en-CA" i="1" dirty="0" smtClean="0">
                            <a:solidFill>
                              <a:schemeClr val="tx1"/>
                            </a:solidFill>
                            <a:latin typeface="Cambria Math" panose="02040503050406030204" pitchFamily="18" charset="0"/>
                          </a:rPr>
                        </m:ctrlPr>
                      </m:sSubPr>
                      <m:e>
                        <m:r>
                          <a:rPr lang="en-CA" b="0" i="1" dirty="0" smtClean="0">
                            <a:solidFill>
                              <a:schemeClr val="tx1"/>
                            </a:solidFill>
                            <a:latin typeface="Cambria Math" panose="02040503050406030204" pitchFamily="18" charset="0"/>
                          </a:rPr>
                          <m:t>𝐹</m:t>
                        </m:r>
                      </m:e>
                      <m:sub>
                        <m:r>
                          <a:rPr lang="en-CA" b="0" i="1" dirty="0" smtClean="0">
                            <a:solidFill>
                              <a:schemeClr val="tx1"/>
                            </a:solidFill>
                            <a:latin typeface="Cambria Math" panose="02040503050406030204" pitchFamily="18" charset="0"/>
                          </a:rPr>
                          <m:t>𝐷</m:t>
                        </m:r>
                      </m:sub>
                    </m:sSub>
                  </m:oMath>
                </a14:m>
                <a:r>
                  <a:rPr lang="en-CA" dirty="0">
                    <a:solidFill>
                      <a:schemeClr val="tx1"/>
                    </a:solidFill>
                    <a:latin typeface="+mn-lt"/>
                  </a:rPr>
                  <a:t>, will depend on:</a:t>
                </a:r>
              </a:p>
              <a:p>
                <a:pPr marL="0" indent="0">
                  <a:lnSpc>
                    <a:spcPct val="100000"/>
                  </a:lnSpc>
                  <a:spcBef>
                    <a:spcPts val="1200"/>
                  </a:spcBef>
                  <a:spcAft>
                    <a:spcPts val="1200"/>
                  </a:spcAft>
                  <a:buNone/>
                </a:pPr>
                <a:r>
                  <a:rPr lang="en-CA" dirty="0">
                    <a:solidFill>
                      <a:schemeClr val="tx1"/>
                    </a:solidFill>
                    <a:latin typeface="+mn-lt"/>
                  </a:rPr>
                  <a:t>	freestream velocity, </a:t>
                </a:r>
                <a14:m>
                  <m:oMath xmlns:m="http://schemas.openxmlformats.org/officeDocument/2006/math">
                    <m:r>
                      <a:rPr lang="en-CA" b="0" i="1" dirty="0" smtClean="0">
                        <a:solidFill>
                          <a:schemeClr val="tx1"/>
                        </a:solidFill>
                        <a:latin typeface="Cambria Math" panose="02040503050406030204" pitchFamily="18" charset="0"/>
                      </a:rPr>
                      <m:t>𝑉</m:t>
                    </m:r>
                  </m:oMath>
                </a14:m>
                <a:endParaRPr lang="en-CA" dirty="0">
                  <a:solidFill>
                    <a:schemeClr val="tx1"/>
                  </a:solidFill>
                  <a:latin typeface="+mn-lt"/>
                </a:endParaRPr>
              </a:p>
              <a:p>
                <a:pPr marL="0" indent="0">
                  <a:lnSpc>
                    <a:spcPct val="100000"/>
                  </a:lnSpc>
                  <a:spcBef>
                    <a:spcPts val="1200"/>
                  </a:spcBef>
                  <a:spcAft>
                    <a:spcPts val="1200"/>
                  </a:spcAft>
                  <a:buNone/>
                </a:pPr>
                <a:r>
                  <a:rPr lang="en-CA" dirty="0">
                    <a:solidFill>
                      <a:schemeClr val="tx1"/>
                    </a:solidFill>
                    <a:latin typeface="+mn-lt"/>
                  </a:rPr>
                  <a:t>	diameter, </a:t>
                </a:r>
                <a14:m>
                  <m:oMath xmlns:m="http://schemas.openxmlformats.org/officeDocument/2006/math">
                    <m:r>
                      <a:rPr lang="en-CA" b="0" i="1" dirty="0" smtClean="0">
                        <a:solidFill>
                          <a:schemeClr val="tx1"/>
                        </a:solidFill>
                        <a:latin typeface="Cambria Math" panose="02040503050406030204" pitchFamily="18" charset="0"/>
                      </a:rPr>
                      <m:t>𝐷</m:t>
                    </m:r>
                  </m:oMath>
                </a14:m>
                <a:endParaRPr lang="en-CA" dirty="0">
                  <a:solidFill>
                    <a:schemeClr val="tx1"/>
                  </a:solidFill>
                  <a:latin typeface="+mn-lt"/>
                </a:endParaRPr>
              </a:p>
              <a:p>
                <a:pPr marL="0" indent="0">
                  <a:lnSpc>
                    <a:spcPct val="100000"/>
                  </a:lnSpc>
                  <a:spcBef>
                    <a:spcPts val="1200"/>
                  </a:spcBef>
                  <a:spcAft>
                    <a:spcPts val="1200"/>
                  </a:spcAft>
                  <a:buNone/>
                </a:pPr>
                <a:r>
                  <a:rPr lang="en-CA" dirty="0">
                    <a:solidFill>
                      <a:schemeClr val="tx1"/>
                    </a:solidFill>
                    <a:latin typeface="+mn-lt"/>
                  </a:rPr>
                  <a:t>	fluid properties, i.e. density, </a:t>
                </a:r>
                <a14:m>
                  <m:oMath xmlns:m="http://schemas.openxmlformats.org/officeDocument/2006/math">
                    <m:r>
                      <a:rPr lang="en-CA" b="0" i="1" smtClean="0">
                        <a:solidFill>
                          <a:schemeClr val="tx1"/>
                        </a:solidFill>
                        <a:latin typeface="Cambria Math" panose="02040503050406030204" pitchFamily="18" charset="0"/>
                        <a:ea typeface="Cambria Math" panose="02040503050406030204" pitchFamily="18" charset="0"/>
                      </a:rPr>
                      <m:t>𝜌</m:t>
                    </m:r>
                  </m:oMath>
                </a14:m>
                <a:r>
                  <a:rPr lang="en-CA" dirty="0">
                    <a:solidFill>
                      <a:schemeClr val="tx1"/>
                    </a:solidFill>
                    <a:latin typeface="+mn-lt"/>
                  </a:rPr>
                  <a:t>; and viscosity, </a:t>
                </a:r>
                <a14:m>
                  <m:oMath xmlns:m="http://schemas.openxmlformats.org/officeDocument/2006/math">
                    <m:r>
                      <a:rPr lang="en-CA" b="0" i="1" smtClean="0">
                        <a:solidFill>
                          <a:schemeClr val="tx1"/>
                        </a:solidFill>
                        <a:latin typeface="Cambria Math" panose="02040503050406030204" pitchFamily="18" charset="0"/>
                        <a:ea typeface="Cambria Math" panose="02040503050406030204" pitchFamily="18" charset="0"/>
                      </a:rPr>
                      <m:t>𝜇</m:t>
                    </m:r>
                  </m:oMath>
                </a14:m>
                <a:endParaRPr lang="en-CA" dirty="0">
                  <a:solidFill>
                    <a:schemeClr val="tx1"/>
                  </a:solidFill>
                  <a:latin typeface="+mn-lt"/>
                </a:endParaRPr>
              </a:p>
              <a:p>
                <a:pPr>
                  <a:lnSpc>
                    <a:spcPct val="100000"/>
                  </a:lnSpc>
                </a:pPr>
                <a:r>
                  <a:rPr lang="en-CA" dirty="0">
                    <a:solidFill>
                      <a:schemeClr val="tx1"/>
                    </a:solidFill>
                    <a:latin typeface="+mn-lt"/>
                  </a:rPr>
                  <a:t>We can write: </a:t>
                </a:r>
                <a14:m>
                  <m:oMath xmlns:m="http://schemas.openxmlformats.org/officeDocument/2006/math">
                    <m:sSub>
                      <m:sSubPr>
                        <m:ctrlPr>
                          <a:rPr lang="en-CA" i="1" dirty="0" smtClean="0">
                            <a:solidFill>
                              <a:schemeClr val="tx1"/>
                            </a:solidFill>
                            <a:latin typeface="Cambria Math" panose="02040503050406030204" pitchFamily="18" charset="0"/>
                          </a:rPr>
                        </m:ctrlPr>
                      </m:sSubPr>
                      <m:e>
                        <m:r>
                          <a:rPr lang="en-CA" b="0" i="1" dirty="0" smtClean="0">
                            <a:solidFill>
                              <a:schemeClr val="tx1"/>
                            </a:solidFill>
                            <a:latin typeface="Cambria Math" panose="02040503050406030204" pitchFamily="18" charset="0"/>
                          </a:rPr>
                          <m:t>𝐹</m:t>
                        </m:r>
                      </m:e>
                      <m:sub>
                        <m:r>
                          <a:rPr lang="en-CA" b="0" i="1" dirty="0" smtClean="0">
                            <a:solidFill>
                              <a:schemeClr val="tx1"/>
                            </a:solidFill>
                            <a:latin typeface="Cambria Math" panose="02040503050406030204" pitchFamily="18" charset="0"/>
                          </a:rPr>
                          <m:t>𝐷</m:t>
                        </m:r>
                      </m:sub>
                    </m:sSub>
                    <m:r>
                      <a:rPr lang="en-CA" b="0" i="1" dirty="0" smtClean="0">
                        <a:solidFill>
                          <a:schemeClr val="tx1"/>
                        </a:solidFill>
                        <a:latin typeface="Cambria Math" panose="02040503050406030204" pitchFamily="18" charset="0"/>
                      </a:rPr>
                      <m:t> = </m:t>
                    </m:r>
                    <m:r>
                      <a:rPr lang="en-CA" b="0" i="1" dirty="0" smtClean="0">
                        <a:solidFill>
                          <a:schemeClr val="tx1"/>
                        </a:solidFill>
                        <a:latin typeface="Cambria Math" panose="02040503050406030204" pitchFamily="18" charset="0"/>
                      </a:rPr>
                      <m:t>𝑓</m:t>
                    </m:r>
                    <m:r>
                      <a:rPr lang="en-CA" b="0" i="1" dirty="0" smtClean="0">
                        <a:solidFill>
                          <a:schemeClr val="tx1"/>
                        </a:solidFill>
                        <a:latin typeface="Cambria Math" panose="02040503050406030204" pitchFamily="18" charset="0"/>
                      </a:rPr>
                      <m:t>(</m:t>
                    </m:r>
                    <m:r>
                      <a:rPr lang="en-CA" b="0" i="1" dirty="0" smtClean="0">
                        <a:solidFill>
                          <a:schemeClr val="tx1"/>
                        </a:solidFill>
                        <a:latin typeface="Cambria Math" panose="02040503050406030204" pitchFamily="18" charset="0"/>
                      </a:rPr>
                      <m:t>𝑉</m:t>
                    </m:r>
                    <m:r>
                      <a:rPr lang="en-CA" b="0" i="1" dirty="0" smtClean="0">
                        <a:solidFill>
                          <a:schemeClr val="tx1"/>
                        </a:solidFill>
                        <a:latin typeface="Cambria Math" panose="02040503050406030204" pitchFamily="18" charset="0"/>
                      </a:rPr>
                      <m:t>, </m:t>
                    </m:r>
                    <m:r>
                      <a:rPr lang="en-CA" b="0" i="1" dirty="0" smtClean="0">
                        <a:solidFill>
                          <a:schemeClr val="tx1"/>
                        </a:solidFill>
                        <a:latin typeface="Cambria Math" panose="02040503050406030204" pitchFamily="18" charset="0"/>
                      </a:rPr>
                      <m:t>𝐷</m:t>
                    </m:r>
                    <m:r>
                      <a:rPr lang="en-CA" b="0" i="1" dirty="0"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𝜇</m:t>
                    </m:r>
                    <m:r>
                      <a:rPr lang="en-CA" b="0" i="1" dirty="0" smtClean="0">
                        <a:solidFill>
                          <a:schemeClr val="tx1"/>
                        </a:solidFill>
                        <a:latin typeface="Cambria Math" panose="02040503050406030204" pitchFamily="18" charset="0"/>
                      </a:rPr>
                      <m:t>)</m:t>
                    </m:r>
                  </m:oMath>
                </a14:m>
                <a:endParaRPr lang="en-CA"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21989"/>
                <a:ext cx="9144000" cy="5357603"/>
              </a:xfrm>
              <a:blipFill>
                <a:blip r:embed="rId3"/>
                <a:stretch>
                  <a:fillRect l="-1000" t="-910"/>
                </a:stretch>
              </a:blipFill>
            </p:spPr>
            <p:txBody>
              <a:bodyPr/>
              <a:lstStyle/>
              <a:p>
                <a:r>
                  <a:rPr lang="en-GH">
                    <a:noFill/>
                  </a:rPr>
                  <a:t> </a:t>
                </a:r>
              </a:p>
            </p:txBody>
          </p:sp>
        </mc:Fallback>
      </mc:AlternateContent>
      <p:pic>
        <p:nvPicPr>
          <p:cNvPr id="4" name="Picture 1" descr="fig_02_14.jpg"/>
          <p:cNvPicPr>
            <a:picLocks noChangeAspect="1"/>
          </p:cNvPicPr>
          <p:nvPr>
            <p:custDataLst>
              <p:tags r:id="rId1"/>
            </p:custDataLst>
          </p:nvPr>
        </p:nvPicPr>
        <p:blipFill rotWithShape="1">
          <a:blip r:embed="rId4" cstate="print">
            <a:extLst>
              <a:ext uri="{28A0092B-C50C-407E-A947-70E740481C1C}">
                <a14:useLocalDpi xmlns:a14="http://schemas.microsoft.com/office/drawing/2010/main" val="0"/>
              </a:ext>
            </a:extLst>
          </a:blip>
          <a:srcRect l="54726" r="-3813" b="11430"/>
          <a:stretch/>
        </p:blipFill>
        <p:spPr bwMode="auto">
          <a:xfrm>
            <a:off x="5602886" y="2432304"/>
            <a:ext cx="2803014" cy="1749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242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451455"/>
                <a:ext cx="9144000" cy="5382735"/>
              </a:xfrm>
            </p:spPr>
            <p:txBody>
              <a:bodyPr>
                <a:noAutofit/>
              </a:bodyPr>
              <a:lstStyle/>
              <a:p>
                <a:pPr>
                  <a:lnSpc>
                    <a:spcPct val="100000"/>
                  </a:lnSpc>
                  <a:spcBef>
                    <a:spcPts val="1200"/>
                  </a:spcBef>
                </a:pPr>
                <a:r>
                  <a:rPr lang="en-CA" dirty="0">
                    <a:solidFill>
                      <a:schemeClr val="tx1"/>
                    </a:solidFill>
                    <a:latin typeface="+mn-lt"/>
                  </a:rPr>
                  <a:t>If we want to study this problem experimentally, we would have to vary each of the four (4) variables (</a:t>
                </a:r>
                <a14:m>
                  <m:oMath xmlns:m="http://schemas.openxmlformats.org/officeDocument/2006/math">
                    <m:r>
                      <a:rPr lang="en-CA" b="0" i="1" dirty="0">
                        <a:solidFill>
                          <a:schemeClr val="tx1"/>
                        </a:solidFill>
                        <a:latin typeface="Cambria Math" panose="02040503050406030204" pitchFamily="18" charset="0"/>
                      </a:rPr>
                      <m:t>𝑉</m:t>
                    </m:r>
                    <m:r>
                      <a:rPr lang="en-CA" b="0" i="1" dirty="0">
                        <a:solidFill>
                          <a:schemeClr val="tx1"/>
                        </a:solidFill>
                        <a:latin typeface="Cambria Math" panose="02040503050406030204" pitchFamily="18" charset="0"/>
                      </a:rPr>
                      <m:t>, </m:t>
                    </m:r>
                    <m:r>
                      <a:rPr lang="en-CA" b="0" i="1" dirty="0">
                        <a:solidFill>
                          <a:schemeClr val="tx1"/>
                        </a:solidFill>
                        <a:latin typeface="Cambria Math" panose="02040503050406030204" pitchFamily="18" charset="0"/>
                      </a:rPr>
                      <m:t>𝐷</m:t>
                    </m:r>
                    <m:r>
                      <a:rPr lang="en-CA" b="0" i="1" dirty="0">
                        <a:solidFill>
                          <a:schemeClr val="tx1"/>
                        </a:solidFill>
                        <a:latin typeface="Cambria Math" panose="02040503050406030204" pitchFamily="18" charset="0"/>
                      </a:rPr>
                      <m:t>,</m:t>
                    </m:r>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m:t>
                    </m:r>
                    <m:r>
                      <a:rPr lang="en-CA" b="0" i="1">
                        <a:solidFill>
                          <a:schemeClr val="tx1"/>
                        </a:solidFill>
                        <a:latin typeface="Cambria Math" panose="02040503050406030204" pitchFamily="18" charset="0"/>
                        <a:ea typeface="Cambria Math" panose="02040503050406030204" pitchFamily="18" charset="0"/>
                      </a:rPr>
                      <m:t>𝜇</m:t>
                    </m:r>
                  </m:oMath>
                </a14:m>
                <a:r>
                  <a:rPr lang="en-CA" dirty="0">
                    <a:solidFill>
                      <a:schemeClr val="tx1"/>
                    </a:solidFill>
                    <a:latin typeface="+mn-lt"/>
                  </a:rPr>
                  <a:t>) independently and measure </a:t>
                </a:r>
                <a14:m>
                  <m:oMath xmlns:m="http://schemas.openxmlformats.org/officeDocument/2006/math">
                    <m:sSub>
                      <m:sSubPr>
                        <m:ctrlPr>
                          <a:rPr lang="en-CA" i="1" dirty="0">
                            <a:solidFill>
                              <a:schemeClr val="tx1"/>
                            </a:solidFill>
                            <a:latin typeface="Cambria Math" panose="02040503050406030204" pitchFamily="18" charset="0"/>
                          </a:rPr>
                        </m:ctrlPr>
                      </m:sSubPr>
                      <m:e>
                        <m:r>
                          <a:rPr lang="en-CA" b="0" i="1" dirty="0">
                            <a:solidFill>
                              <a:schemeClr val="tx1"/>
                            </a:solidFill>
                            <a:latin typeface="Cambria Math" panose="02040503050406030204" pitchFamily="18" charset="0"/>
                          </a:rPr>
                          <m:t>𝐹</m:t>
                        </m:r>
                      </m:e>
                      <m:sub>
                        <m:r>
                          <a:rPr lang="en-CA" b="0" i="1" dirty="0">
                            <a:solidFill>
                              <a:schemeClr val="tx1"/>
                            </a:solidFill>
                            <a:latin typeface="Cambria Math" panose="02040503050406030204" pitchFamily="18" charset="0"/>
                          </a:rPr>
                          <m:t>𝐷</m:t>
                        </m:r>
                      </m:sub>
                    </m:sSub>
                  </m:oMath>
                </a14:m>
                <a:r>
                  <a:rPr lang="en-CA" dirty="0">
                    <a:solidFill>
                      <a:schemeClr val="tx1"/>
                    </a:solidFill>
                    <a:latin typeface="+mn-lt"/>
                  </a:rPr>
                  <a:t>.</a:t>
                </a:r>
              </a:p>
              <a:p>
                <a:pPr>
                  <a:lnSpc>
                    <a:spcPct val="100000"/>
                  </a:lnSpc>
                  <a:spcBef>
                    <a:spcPts val="1200"/>
                  </a:spcBef>
                </a:pPr>
                <a:r>
                  <a:rPr lang="en-CA" dirty="0">
                    <a:solidFill>
                      <a:schemeClr val="tx1"/>
                    </a:solidFill>
                    <a:latin typeface="+mn-lt"/>
                  </a:rPr>
                  <a:t>It is easy to change </a:t>
                </a:r>
                <a14:m>
                  <m:oMath xmlns:m="http://schemas.openxmlformats.org/officeDocument/2006/math">
                    <m:r>
                      <a:rPr lang="en-CA" b="0" i="1" dirty="0" smtClean="0">
                        <a:solidFill>
                          <a:schemeClr val="tx1"/>
                        </a:solidFill>
                        <a:latin typeface="Cambria Math" panose="02040503050406030204" pitchFamily="18" charset="0"/>
                      </a:rPr>
                      <m:t>𝑉</m:t>
                    </m:r>
                  </m:oMath>
                </a14:m>
                <a:r>
                  <a:rPr lang="en-CA" dirty="0">
                    <a:solidFill>
                      <a:schemeClr val="tx1"/>
                    </a:solidFill>
                    <a:latin typeface="+mn-lt"/>
                  </a:rPr>
                  <a:t> and </a:t>
                </a:r>
                <a:r>
                  <a:rPr lang="en-CA" i="1" dirty="0">
                    <a:solidFill>
                      <a:schemeClr val="tx1"/>
                    </a:solidFill>
                    <a:latin typeface="+mn-lt"/>
                  </a:rPr>
                  <a:t>D</a:t>
                </a:r>
                <a:r>
                  <a:rPr lang="en-CA" dirty="0">
                    <a:solidFill>
                      <a:schemeClr val="tx1"/>
                    </a:solidFill>
                    <a:latin typeface="+mn-lt"/>
                  </a:rPr>
                  <a:t>, harder to vary </a:t>
                </a:r>
                <a14:m>
                  <m:oMath xmlns:m="http://schemas.openxmlformats.org/officeDocument/2006/math">
                    <m:r>
                      <a:rPr lang="en-CA" b="0" i="1" smtClean="0">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 </m:t>
                    </m:r>
                  </m:oMath>
                </a14:m>
                <a:r>
                  <a:rPr lang="en-CA" dirty="0">
                    <a:solidFill>
                      <a:schemeClr val="tx1"/>
                    </a:solidFill>
                    <a:latin typeface="+mn-lt"/>
                  </a:rPr>
                  <a:t>and </a:t>
                </a:r>
                <a14:m>
                  <m:oMath xmlns:m="http://schemas.openxmlformats.org/officeDocument/2006/math">
                    <m:r>
                      <a:rPr lang="en-CA" b="0" i="1">
                        <a:solidFill>
                          <a:schemeClr val="tx1"/>
                        </a:solidFill>
                        <a:latin typeface="Cambria Math" panose="02040503050406030204" pitchFamily="18" charset="0"/>
                        <a:ea typeface="Cambria Math" panose="02040503050406030204" pitchFamily="18" charset="0"/>
                      </a:rPr>
                      <m:t>𝜇</m:t>
                    </m:r>
                  </m:oMath>
                </a14:m>
                <a:r>
                  <a:rPr lang="en-CA" dirty="0">
                    <a:solidFill>
                      <a:schemeClr val="tx1"/>
                    </a:solidFill>
                    <a:latin typeface="+mn-lt"/>
                  </a:rPr>
                  <a:t>.</a:t>
                </a:r>
              </a:p>
              <a:p>
                <a:pPr>
                  <a:lnSpc>
                    <a:spcPct val="100000"/>
                  </a:lnSpc>
                  <a:spcBef>
                    <a:spcPts val="1200"/>
                  </a:spcBef>
                </a:pPr>
                <a:r>
                  <a:rPr lang="en-CA" dirty="0">
                    <a:solidFill>
                      <a:schemeClr val="tx1"/>
                    </a:solidFill>
                    <a:latin typeface="+mn-lt"/>
                  </a:rPr>
                  <a:t>If we select 10 different values of each of the 4 variables, i.e. </a:t>
                </a:r>
                <a14:m>
                  <m:oMath xmlns:m="http://schemas.openxmlformats.org/officeDocument/2006/math">
                    <m:r>
                      <a:rPr lang="en-CA" b="0" i="1" dirty="0" smtClean="0">
                        <a:solidFill>
                          <a:schemeClr val="tx1"/>
                        </a:solidFill>
                        <a:latin typeface="Cambria Math" panose="02040503050406030204" pitchFamily="18" charset="0"/>
                      </a:rPr>
                      <m:t>𝑉</m:t>
                    </m:r>
                    <m:r>
                      <a:rPr lang="en-CA" b="0" i="1" dirty="0" smtClean="0">
                        <a:solidFill>
                          <a:schemeClr val="tx1"/>
                        </a:solidFill>
                        <a:latin typeface="Cambria Math" panose="02040503050406030204" pitchFamily="18" charset="0"/>
                      </a:rPr>
                      <m:t>, </m:t>
                    </m:r>
                    <m:r>
                      <a:rPr lang="en-CA" b="0" i="1" dirty="0" smtClean="0">
                        <a:solidFill>
                          <a:schemeClr val="tx1"/>
                        </a:solidFill>
                        <a:latin typeface="Cambria Math" panose="02040503050406030204" pitchFamily="18" charset="0"/>
                      </a:rPr>
                      <m:t>𝐷</m:t>
                    </m:r>
                    <m:r>
                      <a:rPr lang="en-CA" b="0" i="1" dirty="0" smtClean="0">
                        <a:solidFill>
                          <a:schemeClr val="tx1"/>
                        </a:solidFill>
                        <a:latin typeface="Cambria Math" panose="02040503050406030204" pitchFamily="18" charset="0"/>
                      </a:rPr>
                      <m:t>, </m:t>
                    </m:r>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m:t>
                    </m:r>
                    <m:r>
                      <a:rPr lang="en-CA" b="0" i="1">
                        <a:solidFill>
                          <a:schemeClr val="tx1"/>
                        </a:solidFill>
                        <a:latin typeface="Cambria Math" panose="02040503050406030204" pitchFamily="18" charset="0"/>
                        <a:ea typeface="Cambria Math" panose="02040503050406030204" pitchFamily="18" charset="0"/>
                      </a:rPr>
                      <m:t>𝜇</m:t>
                    </m:r>
                  </m:oMath>
                </a14:m>
                <a:r>
                  <a:rPr lang="en-CA" dirty="0">
                    <a:solidFill>
                      <a:schemeClr val="tx1"/>
                    </a:solidFill>
                    <a:latin typeface="+mn-lt"/>
                  </a:rPr>
                  <a:t>, we would perform a total of 10,000 experiments</a:t>
                </a:r>
              </a:p>
              <a:p>
                <a:pPr>
                  <a:lnSpc>
                    <a:spcPct val="100000"/>
                  </a:lnSpc>
                  <a:spcBef>
                    <a:spcPts val="1200"/>
                  </a:spcBef>
                </a:pPr>
                <a:r>
                  <a:rPr lang="en-CA" dirty="0">
                    <a:solidFill>
                      <a:schemeClr val="tx1"/>
                    </a:solidFill>
                    <a:latin typeface="+mn-lt"/>
                  </a:rPr>
                  <a:t>If each experiment took 30 minutes, about </a:t>
                </a:r>
                <a:r>
                  <a:rPr lang="en-CA" u="sng" dirty="0">
                    <a:solidFill>
                      <a:schemeClr val="tx1"/>
                    </a:solidFill>
                    <a:latin typeface="+mn-lt"/>
                  </a:rPr>
                  <a:t>2.4 years </a:t>
                </a:r>
                <a:r>
                  <a:rPr lang="en-CA" dirty="0">
                    <a:solidFill>
                      <a:schemeClr val="tx1"/>
                    </a:solidFill>
                    <a:latin typeface="+mn-lt"/>
                  </a:rPr>
                  <a:t>of experiments will be required.</a:t>
                </a:r>
              </a:p>
              <a:p>
                <a:pPr>
                  <a:lnSpc>
                    <a:spcPct val="100000"/>
                  </a:lnSpc>
                  <a:spcBef>
                    <a:spcPts val="1200"/>
                  </a:spcBef>
                </a:pPr>
                <a:r>
                  <a:rPr lang="en-CA" dirty="0">
                    <a:solidFill>
                      <a:schemeClr val="tx1"/>
                    </a:solidFill>
                    <a:latin typeface="+mn-lt"/>
                  </a:rPr>
                  <a:t>Furthermore we would generate a very large amount of data.</a:t>
                </a:r>
              </a:p>
              <a:p>
                <a:pPr>
                  <a:lnSpc>
                    <a:spcPct val="100000"/>
                  </a:lnSpc>
                  <a:spcBef>
                    <a:spcPts val="1200"/>
                  </a:spcBef>
                </a:pPr>
                <a:r>
                  <a:rPr lang="en-CA" dirty="0">
                    <a:solidFill>
                      <a:schemeClr val="tx1"/>
                    </a:solidFill>
                    <a:latin typeface="+mn-lt"/>
                  </a:rPr>
                  <a:t>For each fixed value of </a:t>
                </a:r>
                <a14:m>
                  <m:oMath xmlns:m="http://schemas.openxmlformats.org/officeDocument/2006/math">
                    <m:r>
                      <a:rPr lang="en-CA" b="0" i="1" dirty="0" smtClean="0">
                        <a:solidFill>
                          <a:schemeClr val="tx1"/>
                        </a:solidFill>
                        <a:latin typeface="Cambria Math" panose="02040503050406030204" pitchFamily="18" charset="0"/>
                      </a:rPr>
                      <m:t>𝐷</m:t>
                    </m:r>
                  </m:oMath>
                </a14:m>
                <a:r>
                  <a:rPr lang="en-CA" dirty="0">
                    <a:solidFill>
                      <a:schemeClr val="tx1"/>
                    </a:solidFill>
                    <a:latin typeface="+mn-lt"/>
                  </a:rPr>
                  <a:t>, </a:t>
                </a:r>
                <a14:m>
                  <m:oMath xmlns:m="http://schemas.openxmlformats.org/officeDocument/2006/math">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 </m:t>
                    </m:r>
                  </m:oMath>
                </a14:m>
                <a:r>
                  <a:rPr lang="en-CA" dirty="0">
                    <a:solidFill>
                      <a:schemeClr val="tx1"/>
                    </a:solidFill>
                    <a:latin typeface="+mn-lt"/>
                  </a:rPr>
                  <a:t>and</a:t>
                </a:r>
                <a:r>
                  <a:rPr lang="en-CA" dirty="0">
                    <a:solidFill>
                      <a:schemeClr val="tx1"/>
                    </a:solidFill>
                    <a:latin typeface="+mn-lt"/>
                    <a:ea typeface="Cambria Math" panose="02040503050406030204" pitchFamily="18" charset="0"/>
                  </a:rPr>
                  <a:t> </a:t>
                </a:r>
                <a14:m>
                  <m:oMath xmlns:m="http://schemas.openxmlformats.org/officeDocument/2006/math">
                    <m:r>
                      <a:rPr lang="en-CA" b="0" i="1">
                        <a:solidFill>
                          <a:schemeClr val="tx1"/>
                        </a:solidFill>
                        <a:latin typeface="Cambria Math" panose="02040503050406030204" pitchFamily="18" charset="0"/>
                        <a:ea typeface="Cambria Math" panose="02040503050406030204" pitchFamily="18" charset="0"/>
                      </a:rPr>
                      <m:t>𝜇</m:t>
                    </m:r>
                  </m:oMath>
                </a14:m>
                <a:r>
                  <a:rPr lang="en-CA" dirty="0">
                    <a:solidFill>
                      <a:schemeClr val="tx1"/>
                    </a:solidFill>
                    <a:latin typeface="+mn-lt"/>
                  </a:rPr>
                  <a:t>, we would have one (1) graph of </a:t>
                </a:r>
                <a14:m>
                  <m:oMath xmlns:m="http://schemas.openxmlformats.org/officeDocument/2006/math">
                    <m:r>
                      <a:rPr lang="en-CA" b="0" i="1" dirty="0" smtClean="0">
                        <a:solidFill>
                          <a:schemeClr val="tx1"/>
                        </a:solidFill>
                        <a:latin typeface="Cambria Math" panose="02040503050406030204" pitchFamily="18" charset="0"/>
                      </a:rPr>
                      <m:t>𝐹</m:t>
                    </m:r>
                    <m:r>
                      <a:rPr lang="en-CA" b="0" i="1" baseline="-25000" dirty="0">
                        <a:solidFill>
                          <a:schemeClr val="tx1"/>
                        </a:solidFill>
                        <a:latin typeface="Cambria Math" panose="02040503050406030204" pitchFamily="18" charset="0"/>
                      </a:rPr>
                      <m:t>𝐷</m:t>
                    </m:r>
                  </m:oMath>
                </a14:m>
                <a:r>
                  <a:rPr lang="en-CA" dirty="0">
                    <a:solidFill>
                      <a:schemeClr val="tx1"/>
                    </a:solidFill>
                    <a:latin typeface="+mn-lt"/>
                  </a:rPr>
                  <a:t> vs. </a:t>
                </a:r>
                <a14:m>
                  <m:oMath xmlns:m="http://schemas.openxmlformats.org/officeDocument/2006/math">
                    <m:r>
                      <a:rPr lang="en-CA" b="0" i="1" dirty="0" smtClean="0">
                        <a:solidFill>
                          <a:schemeClr val="tx1"/>
                        </a:solidFill>
                        <a:latin typeface="Cambria Math" panose="02040503050406030204" pitchFamily="18" charset="0"/>
                      </a:rPr>
                      <m:t>𝑉</m:t>
                    </m:r>
                  </m:oMath>
                </a14:m>
                <a:r>
                  <a:rPr lang="en-CA" dirty="0">
                    <a:solidFill>
                      <a:schemeClr val="tx1"/>
                    </a:solidFill>
                    <a:latin typeface="+mn-lt"/>
                  </a:rPr>
                  <a:t>.</a:t>
                </a:r>
              </a:p>
              <a:p>
                <a:pPr>
                  <a:lnSpc>
                    <a:spcPct val="100000"/>
                  </a:lnSpc>
                  <a:spcBef>
                    <a:spcPts val="1200"/>
                  </a:spcBef>
                </a:pPr>
                <a:r>
                  <a:rPr lang="en-CA" dirty="0">
                    <a:solidFill>
                      <a:schemeClr val="tx1"/>
                    </a:solidFill>
                    <a:latin typeface="+mn-lt"/>
                  </a:rPr>
                  <a:t>A total of 1,000 graphs will be plotted.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451455"/>
                <a:ext cx="9144000" cy="5382735"/>
              </a:xfrm>
              <a:blipFill>
                <a:blip r:embed="rId2"/>
                <a:stretch>
                  <a:fillRect l="-867" t="-906" r="-1600" b="-2831"/>
                </a:stretch>
              </a:blipFill>
            </p:spPr>
            <p:txBody>
              <a:bodyPr/>
              <a:lstStyle/>
              <a:p>
                <a:r>
                  <a:rPr lang="en-GH">
                    <a:noFill/>
                  </a:rPr>
                  <a:t> </a:t>
                </a:r>
              </a:p>
            </p:txBody>
          </p:sp>
        </mc:Fallback>
      </mc:AlternateContent>
      <p:sp>
        <p:nvSpPr>
          <p:cNvPr id="5" name="Title 4">
            <a:extLst>
              <a:ext uri="{FF2B5EF4-FFF2-40B4-BE49-F238E27FC236}">
                <a16:creationId xmlns:a16="http://schemas.microsoft.com/office/drawing/2014/main" id="{2DC6D9B9-1880-786B-0C95-76913E23074B}"/>
              </a:ext>
            </a:extLst>
          </p:cNvPr>
          <p:cNvSpPr>
            <a:spLocks noGrp="1"/>
          </p:cNvSpPr>
          <p:nvPr>
            <p:ph type="title"/>
          </p:nvPr>
        </p:nvSpPr>
        <p:spPr>
          <a:xfrm>
            <a:off x="628650" y="-634"/>
            <a:ext cx="7886700" cy="457834"/>
          </a:xfrm>
        </p:spPr>
        <p:txBody>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GH" dirty="0"/>
          </a:p>
        </p:txBody>
      </p:sp>
    </p:spTree>
    <p:extLst>
      <p:ext uri="{BB962C8B-B14F-4D97-AF65-F5344CB8AC3E}">
        <p14:creationId xmlns:p14="http://schemas.microsoft.com/office/powerpoint/2010/main" val="159563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CA" sz="16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68940"/>
                <a:ext cx="9153144" cy="4931901"/>
              </a:xfrm>
            </p:spPr>
            <p:txBody>
              <a:bodyPr>
                <a:normAutofit/>
              </a:bodyPr>
              <a:lstStyle/>
              <a:p>
                <a:pPr algn="just">
                  <a:lnSpc>
                    <a:spcPct val="100000"/>
                  </a:lnSpc>
                  <a:spcBef>
                    <a:spcPts val="0"/>
                  </a:spcBef>
                </a:pPr>
                <a:r>
                  <a:rPr lang="en-CA" dirty="0">
                    <a:solidFill>
                      <a:schemeClr val="tx1"/>
                    </a:solidFill>
                    <a:latin typeface="+mn-lt"/>
                  </a:rPr>
                  <a:t>Dimensional analysis allows us to reduce the size of the problem.</a:t>
                </a:r>
              </a:p>
              <a:p>
                <a:pPr algn="just">
                  <a:lnSpc>
                    <a:spcPct val="100000"/>
                  </a:lnSpc>
                  <a:spcBef>
                    <a:spcPts val="0"/>
                  </a:spcBef>
                </a:pPr>
                <a:r>
                  <a:rPr lang="en-CA" dirty="0">
                    <a:solidFill>
                      <a:schemeClr val="tx1"/>
                    </a:solidFill>
                    <a:latin typeface="+mn-lt"/>
                  </a:rPr>
                  <a:t>We can show that: </a:t>
                </a:r>
                <a14:m>
                  <m:oMath xmlns:m="http://schemas.openxmlformats.org/officeDocument/2006/math">
                    <m:f>
                      <m:fPr>
                        <m:ctrlPr>
                          <a:rPr lang="en-CA" i="1" smtClean="0">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𝐹</m:t>
                        </m:r>
                      </m:num>
                      <m:den>
                        <m:r>
                          <a:rPr lang="en-CA" b="0" i="1" smtClean="0">
                            <a:solidFill>
                              <a:schemeClr val="tx1"/>
                            </a:solidFill>
                            <a:latin typeface="Cambria Math" panose="02040503050406030204" pitchFamily="18" charset="0"/>
                            <a:ea typeface="Cambria Math" panose="02040503050406030204" pitchFamily="18" charset="0"/>
                          </a:rPr>
                          <m:t>𝜌</m:t>
                        </m:r>
                        <m:sSup>
                          <m:sSupPr>
                            <m:ctrlPr>
                              <a:rPr lang="en-CA" i="1" smtClean="0">
                                <a:solidFill>
                                  <a:schemeClr val="tx1"/>
                                </a:solidFill>
                                <a:latin typeface="Cambria Math" panose="02040503050406030204" pitchFamily="18" charset="0"/>
                                <a:ea typeface="Cambria Math" panose="02040503050406030204" pitchFamily="18" charset="0"/>
                              </a:rPr>
                            </m:ctrlPr>
                          </m:sSupPr>
                          <m:e>
                            <m:r>
                              <a:rPr lang="en-CA" b="0" i="1" smtClean="0">
                                <a:solidFill>
                                  <a:schemeClr val="tx1"/>
                                </a:solidFill>
                                <a:latin typeface="Cambria Math" panose="02040503050406030204" pitchFamily="18" charset="0"/>
                                <a:ea typeface="Cambria Math" panose="02040503050406030204" pitchFamily="18" charset="0"/>
                              </a:rPr>
                              <m:t>𝑉</m:t>
                            </m:r>
                          </m:e>
                          <m:sup>
                            <m:r>
                              <a:rPr lang="en-CA" b="0" i="1" smtClean="0">
                                <a:solidFill>
                                  <a:schemeClr val="tx1"/>
                                </a:solidFill>
                                <a:latin typeface="Cambria Math" panose="02040503050406030204" pitchFamily="18" charset="0"/>
                                <a:ea typeface="Cambria Math" panose="02040503050406030204" pitchFamily="18" charset="0"/>
                              </a:rPr>
                              <m:t>2</m:t>
                            </m:r>
                          </m:sup>
                        </m:sSup>
                        <m:sSup>
                          <m:sSupPr>
                            <m:ctrlPr>
                              <a:rPr lang="en-CA" i="1" smtClean="0">
                                <a:solidFill>
                                  <a:schemeClr val="tx1"/>
                                </a:solidFill>
                                <a:latin typeface="Cambria Math" panose="02040503050406030204" pitchFamily="18" charset="0"/>
                                <a:ea typeface="Cambria Math" panose="02040503050406030204" pitchFamily="18" charset="0"/>
                              </a:rPr>
                            </m:ctrlPr>
                          </m:sSupPr>
                          <m:e>
                            <m:r>
                              <a:rPr lang="en-CA" b="0" i="1" smtClean="0">
                                <a:solidFill>
                                  <a:schemeClr val="tx1"/>
                                </a:solidFill>
                                <a:latin typeface="Cambria Math" panose="02040503050406030204" pitchFamily="18" charset="0"/>
                                <a:ea typeface="Cambria Math" panose="02040503050406030204" pitchFamily="18" charset="0"/>
                              </a:rPr>
                              <m:t>𝐷</m:t>
                            </m:r>
                          </m:e>
                          <m:sup>
                            <m:r>
                              <a:rPr lang="en-CA" b="0" i="1" smtClean="0">
                                <a:solidFill>
                                  <a:schemeClr val="tx1"/>
                                </a:solidFill>
                                <a:latin typeface="Cambria Math" panose="02040503050406030204" pitchFamily="18" charset="0"/>
                                <a:ea typeface="Cambria Math" panose="02040503050406030204" pitchFamily="18" charset="0"/>
                              </a:rPr>
                              <m:t>2</m:t>
                            </m:r>
                          </m:sup>
                        </m:sSup>
                      </m:den>
                    </m:f>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𝑓</m:t>
                    </m:r>
                    <m:d>
                      <m:dPr>
                        <m:ctrlPr>
                          <a:rPr lang="en-CA" i="1" smtClean="0">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𝑉𝐷</m:t>
                            </m:r>
                          </m:num>
                          <m:den>
                            <m:r>
                              <a:rPr lang="en-CA" b="0" i="1" smtClean="0">
                                <a:solidFill>
                                  <a:schemeClr val="tx1"/>
                                </a:solidFill>
                                <a:latin typeface="Cambria Math" panose="02040503050406030204" pitchFamily="18" charset="0"/>
                                <a:ea typeface="Cambria Math" panose="02040503050406030204" pitchFamily="18" charset="0"/>
                              </a:rPr>
                              <m:t>𝜇</m:t>
                            </m:r>
                          </m:den>
                        </m:f>
                      </m:e>
                    </m:d>
                  </m:oMath>
                </a14:m>
                <a:endParaRPr lang="en-CA" dirty="0">
                  <a:solidFill>
                    <a:schemeClr val="tx1"/>
                  </a:solidFill>
                  <a:latin typeface="+mn-lt"/>
                </a:endParaRPr>
              </a:p>
              <a:p>
                <a:pPr lvl="1" algn="just">
                  <a:lnSpc>
                    <a:spcPct val="100000"/>
                  </a:lnSpc>
                  <a:spcBef>
                    <a:spcPts val="0"/>
                  </a:spcBef>
                </a:pPr>
                <a:r>
                  <a:rPr lang="en-CA" sz="2400" dirty="0">
                    <a:solidFill>
                      <a:schemeClr val="tx1"/>
                    </a:solidFill>
                    <a:latin typeface="+mn-lt"/>
                  </a:rPr>
                  <a:t>Only one dependent and one independent non-dimensional parameters</a:t>
                </a:r>
              </a:p>
              <a:p>
                <a:pPr lvl="1" algn="just">
                  <a:lnSpc>
                    <a:spcPct val="100000"/>
                  </a:lnSpc>
                  <a:spcBef>
                    <a:spcPts val="0"/>
                  </a:spcBef>
                </a:pPr>
                <a:r>
                  <a:rPr lang="en-CA" sz="2400" dirty="0">
                    <a:solidFill>
                      <a:schemeClr val="tx1"/>
                    </a:solidFill>
                    <a:latin typeface="+mn-lt"/>
                  </a:rPr>
                  <a:t>Easy to set up experiments to determine dependency</a:t>
                </a:r>
              </a:p>
              <a:p>
                <a:pPr lvl="1" algn="just">
                  <a:lnSpc>
                    <a:spcPct val="100000"/>
                  </a:lnSpc>
                  <a:spcBef>
                    <a:spcPts val="0"/>
                  </a:spcBef>
                </a:pPr>
                <a:r>
                  <a:rPr lang="en-CA" sz="2400" dirty="0">
                    <a:solidFill>
                      <a:schemeClr val="tx1"/>
                    </a:solidFill>
                    <a:latin typeface="+mn-lt"/>
                  </a:rPr>
                  <a:t>Easy to present results (one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68940"/>
                <a:ext cx="9153144" cy="4931901"/>
              </a:xfrm>
              <a:blipFill>
                <a:blip r:embed="rId2"/>
                <a:stretch>
                  <a:fillRect l="-866" t="-989" r="-932"/>
                </a:stretch>
              </a:blipFill>
            </p:spPr>
            <p:txBody>
              <a:bodyPr/>
              <a:lstStyle/>
              <a:p>
                <a:r>
                  <a:rPr lang="en-GH">
                    <a:noFill/>
                  </a:rPr>
                  <a:t> </a:t>
                </a:r>
              </a:p>
            </p:txBody>
          </p:sp>
        </mc:Fallback>
      </mc:AlternateContent>
      <p:pic>
        <p:nvPicPr>
          <p:cNvPr id="4" name="Picture 2" descr="Z:\NewMedia\Ebook-Novella\Wiley\jira\bcs2793\Fox9e\Work\Image_gallery\Ch07\images\fox_9e_fig_07_0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4994" y="3124332"/>
            <a:ext cx="5486400" cy="363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54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42"/>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p:cNvSpPr>
            <a:spLocks noGrp="1"/>
          </p:cNvSpPr>
          <p:nvPr>
            <p:ph idx="1"/>
          </p:nvPr>
        </p:nvSpPr>
        <p:spPr>
          <a:xfrm>
            <a:off x="0" y="691962"/>
            <a:ext cx="9144000" cy="4931901"/>
          </a:xfrm>
        </p:spPr>
        <p:txBody>
          <a:bodyPr>
            <a:noAutofit/>
          </a:bodyPr>
          <a:lstStyle/>
          <a:p>
            <a:pPr algn="just">
              <a:lnSpc>
                <a:spcPct val="100000"/>
              </a:lnSpc>
              <a:spcBef>
                <a:spcPts val="600"/>
              </a:spcBef>
              <a:spcAft>
                <a:spcPts val="600"/>
              </a:spcAft>
            </a:pPr>
            <a:r>
              <a:rPr lang="en-CA" dirty="0">
                <a:latin typeface="+mn-lt"/>
              </a:rPr>
              <a:t>Another factor to consider is experimental modeling.</a:t>
            </a:r>
          </a:p>
          <a:p>
            <a:pPr algn="just">
              <a:lnSpc>
                <a:spcPct val="100000"/>
              </a:lnSpc>
              <a:spcBef>
                <a:spcPts val="600"/>
              </a:spcBef>
              <a:spcAft>
                <a:spcPts val="600"/>
              </a:spcAft>
            </a:pPr>
            <a:r>
              <a:rPr lang="en-CA" dirty="0">
                <a:latin typeface="+mn-lt"/>
              </a:rPr>
              <a:t>Suppose we want to build a hydraulic turbine for use in a hydroelectric power generating station.</a:t>
            </a:r>
          </a:p>
          <a:p>
            <a:pPr algn="just">
              <a:lnSpc>
                <a:spcPct val="100000"/>
              </a:lnSpc>
              <a:spcBef>
                <a:spcPts val="600"/>
              </a:spcBef>
              <a:spcAft>
                <a:spcPts val="600"/>
              </a:spcAft>
            </a:pPr>
            <a:r>
              <a:rPr lang="en-CA" dirty="0">
                <a:latin typeface="+mn-lt"/>
              </a:rPr>
              <a:t>These turbines are physically very large (of order 10 m), and they handle large flow rates.</a:t>
            </a:r>
          </a:p>
          <a:p>
            <a:pPr algn="just">
              <a:lnSpc>
                <a:spcPct val="100000"/>
              </a:lnSpc>
              <a:spcBef>
                <a:spcPts val="600"/>
              </a:spcBef>
              <a:spcAft>
                <a:spcPts val="600"/>
              </a:spcAft>
            </a:pPr>
            <a:r>
              <a:rPr lang="en-CA" dirty="0">
                <a:latin typeface="+mn-lt"/>
              </a:rPr>
              <a:t>A full-scale test facility would be extremely expensive! (millions of dollars, about the same cost as the power station)</a:t>
            </a:r>
          </a:p>
          <a:p>
            <a:pPr algn="just">
              <a:lnSpc>
                <a:spcPct val="100000"/>
              </a:lnSpc>
              <a:spcBef>
                <a:spcPts val="600"/>
              </a:spcBef>
              <a:spcAft>
                <a:spcPts val="600"/>
              </a:spcAft>
            </a:pPr>
            <a:r>
              <a:rPr lang="en-CA" dirty="0">
                <a:latin typeface="+mn-lt"/>
              </a:rPr>
              <a:t>The turbine designer would want to perform tests on smaller turbine models that require lower flow rates, produce less power, cost less, etc.</a:t>
            </a:r>
          </a:p>
          <a:p>
            <a:pPr algn="just">
              <a:lnSpc>
                <a:spcPct val="100000"/>
              </a:lnSpc>
              <a:spcBef>
                <a:spcPts val="600"/>
              </a:spcBef>
              <a:spcAft>
                <a:spcPts val="600"/>
              </a:spcAft>
            </a:pPr>
            <a:r>
              <a:rPr lang="en-CA" dirty="0">
                <a:latin typeface="+mn-lt"/>
              </a:rPr>
              <a:t>Dimensional analysis is a tool that is invaluable in scale model testing.</a:t>
            </a:r>
          </a:p>
        </p:txBody>
      </p:sp>
    </p:spTree>
    <p:extLst>
      <p:ext uri="{BB962C8B-B14F-4D97-AF65-F5344CB8AC3E}">
        <p14:creationId xmlns:p14="http://schemas.microsoft.com/office/powerpoint/2010/main" val="1952276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p:cNvSpPr>
            <a:spLocks noGrp="1"/>
          </p:cNvSpPr>
          <p:nvPr>
            <p:ph idx="1"/>
          </p:nvPr>
        </p:nvSpPr>
        <p:spPr>
          <a:xfrm>
            <a:off x="516006" y="702983"/>
            <a:ext cx="7886700" cy="3777578"/>
          </a:xfrm>
        </p:spPr>
        <p:txBody>
          <a:bodyPr>
            <a:normAutofit/>
          </a:bodyPr>
          <a:lstStyle/>
          <a:p>
            <a:pPr marL="0" indent="0">
              <a:lnSpc>
                <a:spcPct val="100000"/>
              </a:lnSpc>
              <a:spcBef>
                <a:spcPts val="1200"/>
              </a:spcBef>
              <a:spcAft>
                <a:spcPts val="1200"/>
              </a:spcAft>
              <a:buNone/>
            </a:pPr>
            <a:r>
              <a:rPr lang="en-CA" sz="2800" dirty="0">
                <a:latin typeface="+mn-lt"/>
              </a:rPr>
              <a:t>Benefits</a:t>
            </a:r>
          </a:p>
          <a:p>
            <a:pPr lvl="1">
              <a:lnSpc>
                <a:spcPct val="100000"/>
              </a:lnSpc>
              <a:spcBef>
                <a:spcPts val="1200"/>
              </a:spcBef>
              <a:spcAft>
                <a:spcPts val="1200"/>
              </a:spcAft>
            </a:pPr>
            <a:r>
              <a:rPr lang="en-CA" sz="2800" dirty="0">
                <a:latin typeface="+mn-lt"/>
              </a:rPr>
              <a:t>Reduce number of experiments and facilitates interpretation of experimental results</a:t>
            </a:r>
          </a:p>
          <a:p>
            <a:pPr lvl="1">
              <a:lnSpc>
                <a:spcPct val="100000"/>
              </a:lnSpc>
              <a:spcBef>
                <a:spcPts val="1200"/>
              </a:spcBef>
              <a:spcAft>
                <a:spcPts val="1200"/>
              </a:spcAft>
            </a:pPr>
            <a:r>
              <a:rPr lang="en-CA" sz="2800" dirty="0">
                <a:latin typeface="+mn-lt"/>
              </a:rPr>
              <a:t>Enormous saving of time</a:t>
            </a:r>
          </a:p>
          <a:p>
            <a:pPr lvl="1">
              <a:lnSpc>
                <a:spcPct val="100000"/>
              </a:lnSpc>
              <a:spcBef>
                <a:spcPts val="1200"/>
              </a:spcBef>
              <a:spcAft>
                <a:spcPts val="1200"/>
              </a:spcAft>
            </a:pPr>
            <a:r>
              <a:rPr lang="en-CA" sz="2800" dirty="0">
                <a:latin typeface="+mn-lt"/>
              </a:rPr>
              <a:t>Enormous saving of money</a:t>
            </a:r>
          </a:p>
        </p:txBody>
      </p:sp>
    </p:spTree>
    <p:extLst>
      <p:ext uri="{BB962C8B-B14F-4D97-AF65-F5344CB8AC3E}">
        <p14:creationId xmlns:p14="http://schemas.microsoft.com/office/powerpoint/2010/main" val="2241458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Dimensional and Model Analysis</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78382"/>
                <a:ext cx="9144000" cy="4931901"/>
              </a:xfrm>
            </p:spPr>
            <p:txBody>
              <a:bodyPr>
                <a:noAutofit/>
              </a:bodyPr>
              <a:lstStyle/>
              <a:p>
                <a:pPr algn="just">
                  <a:lnSpc>
                    <a:spcPct val="100000"/>
                  </a:lnSpc>
                  <a:spcBef>
                    <a:spcPts val="0"/>
                  </a:spcBef>
                  <a:spcAft>
                    <a:spcPts val="600"/>
                  </a:spcAft>
                </a:pPr>
                <a:r>
                  <a:rPr lang="en-CA" dirty="0">
                    <a:solidFill>
                      <a:schemeClr val="tx1"/>
                    </a:solidFill>
                    <a:latin typeface="+mn-lt"/>
                  </a:rPr>
                  <a:t>Dimensional Analysis is a method of reducing the number and complexity of experimental variables which affect a given physical phenomenon.</a:t>
                </a:r>
              </a:p>
              <a:p>
                <a:pPr algn="just">
                  <a:lnSpc>
                    <a:spcPct val="100000"/>
                  </a:lnSpc>
                  <a:spcBef>
                    <a:spcPts val="0"/>
                  </a:spcBef>
                  <a:spcAft>
                    <a:spcPts val="600"/>
                  </a:spcAft>
                </a:pPr>
                <a:r>
                  <a:rPr lang="en-CA" u="sng" dirty="0">
                    <a:solidFill>
                      <a:schemeClr val="tx1"/>
                    </a:solidFill>
                    <a:latin typeface="+mn-lt"/>
                  </a:rPr>
                  <a:t>Dimensional Homogeneity</a:t>
                </a:r>
                <a:r>
                  <a:rPr lang="en-CA" dirty="0">
                    <a:solidFill>
                      <a:schemeClr val="tx1"/>
                    </a:solidFill>
                    <a:latin typeface="+mn-lt"/>
                  </a:rPr>
                  <a:t>: An equation is dimensionally</a:t>
                </a:r>
              </a:p>
              <a:p>
                <a:pPr marL="0" indent="0" algn="just">
                  <a:lnSpc>
                    <a:spcPct val="100000"/>
                  </a:lnSpc>
                  <a:spcBef>
                    <a:spcPts val="0"/>
                  </a:spcBef>
                  <a:spcAft>
                    <a:spcPts val="600"/>
                  </a:spcAft>
                  <a:buNone/>
                </a:pPr>
                <a:r>
                  <a:rPr lang="en-CA" dirty="0">
                    <a:solidFill>
                      <a:schemeClr val="tx1"/>
                    </a:solidFill>
                    <a:latin typeface="+mn-lt"/>
                  </a:rPr>
                  <a:t>homogeneous if all the terms have the same dimensions.</a:t>
                </a:r>
              </a:p>
              <a:p>
                <a:pPr marL="0" indent="0" algn="just">
                  <a:lnSpc>
                    <a:spcPct val="10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CA" b="0" i="1" smtClean="0">
                          <a:solidFill>
                            <a:schemeClr val="tx1"/>
                          </a:solidFill>
                          <a:latin typeface="Cambria Math" panose="02040503050406030204" pitchFamily="18" charset="0"/>
                        </a:rPr>
                        <m:t>𝑋</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𝐴</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𝐵</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𝐶</m:t>
                      </m:r>
                      <m:r>
                        <a:rPr lang="en-CA" b="0" i="1" smtClean="0">
                          <a:solidFill>
                            <a:schemeClr val="tx1"/>
                          </a:solidFill>
                          <a:latin typeface="Cambria Math" panose="02040503050406030204" pitchFamily="18" charset="0"/>
                        </a:rPr>
                        <m:t>+…</m:t>
                      </m:r>
                    </m:oMath>
                  </m:oMathPara>
                </a14:m>
                <a:endParaRPr lang="en-CA" dirty="0">
                  <a:solidFill>
                    <a:schemeClr val="tx1"/>
                  </a:solidFill>
                  <a:latin typeface="+mn-lt"/>
                </a:endParaRPr>
              </a:p>
              <a:p>
                <a:pPr marL="0" indent="0" algn="just">
                  <a:lnSpc>
                    <a:spcPct val="100000"/>
                  </a:lnSpc>
                  <a:spcBef>
                    <a:spcPts val="0"/>
                  </a:spcBef>
                  <a:spcAft>
                    <a:spcPts val="600"/>
                  </a:spcAft>
                  <a:buNone/>
                </a:pPr>
                <a:endParaRPr lang="en-CA"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78382"/>
                <a:ext cx="9144000" cy="4931901"/>
              </a:xfrm>
              <a:blipFill>
                <a:blip r:embed="rId2"/>
                <a:stretch>
                  <a:fillRect l="-1000" t="-989" r="-1000"/>
                </a:stretch>
              </a:blipFill>
            </p:spPr>
            <p:txBody>
              <a:bodyPr/>
              <a:lstStyle/>
              <a:p>
                <a:r>
                  <a:rPr lang="en-GH">
                    <a:noFill/>
                  </a:rPr>
                  <a:t> </a:t>
                </a:r>
              </a:p>
            </p:txBody>
          </p:sp>
        </mc:Fallback>
      </mc:AlternateContent>
    </p:spTree>
    <p:extLst>
      <p:ext uri="{BB962C8B-B14F-4D97-AF65-F5344CB8AC3E}">
        <p14:creationId xmlns:p14="http://schemas.microsoft.com/office/powerpoint/2010/main" val="1886456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34"/>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Dimensional Homogeneity</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02870" y="568307"/>
                <a:ext cx="9041130" cy="757574"/>
              </a:xfrm>
            </p:spPr>
            <p:txBody>
              <a:bodyPr>
                <a:normAutofit/>
              </a:bodyPr>
              <a:lstStyle/>
              <a:p>
                <a:pPr marL="0" indent="0">
                  <a:buNone/>
                </a:pPr>
                <a:r>
                  <a:rPr lang="en-CA" b="1" dirty="0">
                    <a:solidFill>
                      <a:schemeClr val="tx1"/>
                    </a:solidFill>
                    <a:latin typeface="+mn-lt"/>
                  </a:rPr>
                  <a:t>Bernoulli’s equation: </a:t>
                </a:r>
                <a14:m>
                  <m:oMath xmlns:m="http://schemas.openxmlformats.org/officeDocument/2006/math">
                    <m:r>
                      <a:rPr lang="en-CA" b="1" i="0" smtClean="0">
                        <a:solidFill>
                          <a:schemeClr val="tx1"/>
                        </a:solidFill>
                        <a:latin typeface="Cambria Math" panose="02040503050406030204" pitchFamily="18" charset="0"/>
                      </a:rPr>
                      <m:t>  </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𝑷</m:t>
                        </m:r>
                      </m:num>
                      <m:den>
                        <m:r>
                          <a:rPr lang="en-CA" b="1" i="1" smtClean="0">
                            <a:solidFill>
                              <a:schemeClr val="tx1"/>
                            </a:solidFill>
                            <a:latin typeface="Cambria Math" panose="02040503050406030204" pitchFamily="18" charset="0"/>
                            <a:ea typeface="Cambria Math" panose="02040503050406030204" pitchFamily="18" charset="0"/>
                          </a:rPr>
                          <m:t>𝝆</m:t>
                        </m:r>
                      </m:den>
                    </m:f>
                    <m:r>
                      <a:rPr lang="en-CA" b="1" i="1" smtClean="0">
                        <a:solidFill>
                          <a:schemeClr val="tx1"/>
                        </a:solidFill>
                        <a:latin typeface="Cambria Math" panose="02040503050406030204" pitchFamily="18" charset="0"/>
                      </a:rPr>
                      <m:t>+</m:t>
                    </m:r>
                    <m:f>
                      <m:fPr>
                        <m:ctrlPr>
                          <a:rPr lang="en-CA" b="1" i="1" smtClean="0">
                            <a:solidFill>
                              <a:schemeClr val="tx1"/>
                            </a:solidFill>
                            <a:latin typeface="Cambria Math" panose="02040503050406030204" pitchFamily="18" charset="0"/>
                          </a:rPr>
                        </m:ctrlPr>
                      </m:fPr>
                      <m:num>
                        <m:sSup>
                          <m:sSupPr>
                            <m:ctrlPr>
                              <a:rPr lang="en-CA" b="1" i="1" smtClean="0">
                                <a:solidFill>
                                  <a:schemeClr val="tx1"/>
                                </a:solidFill>
                                <a:latin typeface="Cambria Math" panose="02040503050406030204" pitchFamily="18" charset="0"/>
                              </a:rPr>
                            </m:ctrlPr>
                          </m:sSupPr>
                          <m:e>
                            <m:r>
                              <a:rPr lang="en-CA" b="1" i="1" smtClean="0">
                                <a:solidFill>
                                  <a:schemeClr val="tx1"/>
                                </a:solidFill>
                                <a:latin typeface="Cambria Math" panose="02040503050406030204" pitchFamily="18" charset="0"/>
                              </a:rPr>
                              <m:t>𝑽</m:t>
                            </m:r>
                          </m:e>
                          <m:sup>
                            <m:r>
                              <a:rPr lang="en-CA" b="1" i="1" smtClean="0">
                                <a:solidFill>
                                  <a:schemeClr val="tx1"/>
                                </a:solidFill>
                                <a:latin typeface="Cambria Math" panose="02040503050406030204" pitchFamily="18" charset="0"/>
                              </a:rPr>
                              <m:t>𝟐</m:t>
                            </m:r>
                          </m:sup>
                        </m:sSup>
                      </m:num>
                      <m:den>
                        <m:r>
                          <a:rPr lang="en-CA" b="1" i="1" smtClean="0">
                            <a:solidFill>
                              <a:schemeClr val="tx1"/>
                            </a:solidFill>
                            <a:latin typeface="Cambria Math" panose="02040503050406030204" pitchFamily="18" charset="0"/>
                          </a:rPr>
                          <m:t>𝟐</m:t>
                        </m:r>
                      </m:den>
                    </m:f>
                    <m:r>
                      <a:rPr lang="en-CA" b="1" i="1" smtClean="0">
                        <a:solidFill>
                          <a:schemeClr val="tx1"/>
                        </a:solidFill>
                        <a:latin typeface="Cambria Math" panose="02040503050406030204" pitchFamily="18" charset="0"/>
                      </a:rPr>
                      <m:t>+</m:t>
                    </m:r>
                    <m:r>
                      <a:rPr lang="en-CA" b="1" i="1" smtClean="0">
                        <a:solidFill>
                          <a:schemeClr val="tx1"/>
                        </a:solidFill>
                        <a:latin typeface="Cambria Math" panose="02040503050406030204" pitchFamily="18" charset="0"/>
                      </a:rPr>
                      <m:t>𝒈𝒛</m:t>
                    </m:r>
                    <m:r>
                      <a:rPr lang="en-CA" b="1" i="1" smtClean="0">
                        <a:solidFill>
                          <a:schemeClr val="tx1"/>
                        </a:solidFill>
                        <a:latin typeface="Cambria Math" panose="02040503050406030204" pitchFamily="18" charset="0"/>
                      </a:rPr>
                      <m:t>=</m:t>
                    </m:r>
                    <m:r>
                      <a:rPr lang="en-CA" b="1" i="1" smtClean="0">
                        <a:solidFill>
                          <a:schemeClr val="tx1"/>
                        </a:solidFill>
                        <a:latin typeface="Cambria Math" panose="02040503050406030204" pitchFamily="18" charset="0"/>
                      </a:rPr>
                      <m:t>𝒄𝒐𝒏𝒔𝒕𝒂𝒏𝒕</m:t>
                    </m:r>
                  </m:oMath>
                </a14:m>
                <a:endParaRPr lang="en-GB" b="1" i="1" dirty="0">
                  <a:solidFill>
                    <a:schemeClr val="tx1"/>
                  </a:solidFill>
                  <a:latin typeface="+mn-lt"/>
                </a:endParaRPr>
              </a:p>
              <a:p>
                <a:pPr marL="0" indent="0">
                  <a:buNone/>
                </a:pPr>
                <a:endParaRPr lang="en-CA" sz="2000" b="1" i="1" dirty="0">
                  <a:solidFill>
                    <a:schemeClr val="tx1"/>
                  </a:solidFill>
                  <a:latin typeface="Cambria Math" panose="02040503050406030204" pitchFamily="18"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02870" y="568307"/>
                <a:ext cx="9041130" cy="757574"/>
              </a:xfrm>
              <a:blipFill>
                <a:blip r:embed="rId2"/>
                <a:stretch>
                  <a:fillRect l="-1079"/>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283B639-9E74-5A31-FB3F-3F374895798F}"/>
                  </a:ext>
                </a:extLst>
              </p:cNvPr>
              <p:cNvSpPr txBox="1"/>
              <p:nvPr/>
            </p:nvSpPr>
            <p:spPr>
              <a:xfrm>
                <a:off x="251460" y="1815934"/>
                <a:ext cx="3666172" cy="3770776"/>
              </a:xfrm>
              <a:prstGeom prst="rect">
                <a:avLst/>
              </a:prstGeom>
              <a:noFill/>
              <a:ln w="19050">
                <a:solidFill>
                  <a:schemeClr val="tx1"/>
                </a:solidFill>
              </a:ln>
            </p:spPr>
            <p:txBody>
              <a:bodyPr wrap="square">
                <a:spAutoFit/>
              </a:bodyPr>
              <a:lstStyle/>
              <a:p>
                <a:pPr marL="0" indent="0">
                  <a:spcAft>
                    <a:spcPts val="1200"/>
                  </a:spcAft>
                  <a:buNone/>
                </a:pPr>
                <a:r>
                  <a:rPr lang="en-CA" sz="2400" b="1" i="1" dirty="0">
                    <a:solidFill>
                      <a:schemeClr val="tx1"/>
                    </a:solidFill>
                    <a:latin typeface="Cambria Math" panose="02040503050406030204" pitchFamily="18" charset="0"/>
                  </a:rPr>
                  <a:t>                </a:t>
                </a:r>
                <a:r>
                  <a:rPr lang="en-CA" sz="2400" b="1" dirty="0">
                    <a:solidFill>
                      <a:schemeClr val="tx1"/>
                    </a:solidFill>
                    <a:latin typeface="Cambria Math" panose="02040503050406030204" pitchFamily="18" charset="0"/>
                  </a:rPr>
                  <a:t>MLt System</a:t>
                </a:r>
              </a:p>
              <a:p>
                <a:pPr marL="0" indent="0">
                  <a:buNone/>
                </a:pPr>
                <a14:m>
                  <m:oMathPara xmlns:m="http://schemas.openxmlformats.org/officeDocument/2006/math">
                    <m:oMathParaPr>
                      <m:jc m:val="centerGroup"/>
                    </m:oMathParaPr>
                    <m:oMath xmlns:m="http://schemas.openxmlformats.org/officeDocument/2006/math">
                      <m:f>
                        <m:fPr>
                          <m:ctrlPr>
                            <a:rPr lang="en-CA" sz="2400" b="1" i="1" smtClean="0">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rPr>
                            <m:t>𝑷</m:t>
                          </m:r>
                        </m:num>
                        <m:den>
                          <m:r>
                            <a:rPr lang="en-CA" sz="2400" b="1" i="1">
                              <a:solidFill>
                                <a:schemeClr val="tx1"/>
                              </a:solidFill>
                              <a:latin typeface="Cambria Math" panose="02040503050406030204" pitchFamily="18" charset="0"/>
                              <a:ea typeface="Cambria Math" panose="02040503050406030204" pitchFamily="18" charset="0"/>
                            </a:rPr>
                            <m:t>𝝆</m:t>
                          </m:r>
                        </m:den>
                      </m:f>
                      <m:r>
                        <a:rPr lang="en-CA" sz="2400" b="1" i="1" smtClean="0">
                          <a:solidFill>
                            <a:schemeClr val="tx1"/>
                          </a:solidFill>
                          <a:latin typeface="Cambria Math" panose="02040503050406030204" pitchFamily="18" charset="0"/>
                          <a:ea typeface="Cambria Math" panose="02040503050406030204" pitchFamily="18" charset="0"/>
                        </a:rPr>
                        <m:t>:  </m:t>
                      </m:r>
                      <m:f>
                        <m:fPr>
                          <m:ctrlPr>
                            <a:rPr lang="en-CA" sz="2400" b="1" i="1">
                              <a:solidFill>
                                <a:schemeClr val="tx1"/>
                              </a:solidFill>
                              <a:latin typeface="Cambria Math" panose="02040503050406030204" pitchFamily="18" charset="0"/>
                            </a:rPr>
                          </m:ctrlPr>
                        </m:fPr>
                        <m:num>
                          <m:r>
                            <a:rPr lang="en-CA" sz="2400" b="1" i="1" smtClean="0">
                              <a:solidFill>
                                <a:schemeClr val="tx1"/>
                              </a:solidFill>
                              <a:latin typeface="Cambria Math" panose="02040503050406030204" pitchFamily="18" charset="0"/>
                            </a:rPr>
                            <m:t>𝑴</m:t>
                          </m:r>
                          <m:sSup>
                            <m:sSupPr>
                              <m:ctrlPr>
                                <a:rPr lang="en-CA" sz="2400" b="1" i="1" smtClean="0">
                                  <a:solidFill>
                                    <a:schemeClr val="tx1"/>
                                  </a:solidFill>
                                  <a:latin typeface="Cambria Math" panose="02040503050406030204" pitchFamily="18" charset="0"/>
                                </a:rPr>
                              </m:ctrlPr>
                            </m:sSupPr>
                            <m:e>
                              <m:r>
                                <a:rPr lang="en-CA" sz="2400" b="1" i="1" smtClean="0">
                                  <a:solidFill>
                                    <a:schemeClr val="tx1"/>
                                  </a:solidFill>
                                  <a:latin typeface="Cambria Math" panose="02040503050406030204" pitchFamily="18" charset="0"/>
                                </a:rPr>
                                <m:t>𝑳</m:t>
                              </m:r>
                            </m:e>
                            <m:sup>
                              <m:r>
                                <a:rPr lang="en-CA" sz="2400" b="1" i="1" smtClean="0">
                                  <a:solidFill>
                                    <a:schemeClr val="tx1"/>
                                  </a:solidFill>
                                  <a:latin typeface="Cambria Math" panose="02040503050406030204" pitchFamily="18" charset="0"/>
                                </a:rPr>
                                <m:t>−</m:t>
                              </m:r>
                              <m:r>
                                <a:rPr lang="en-CA" sz="2400" b="1" i="1" smtClean="0">
                                  <a:solidFill>
                                    <a:schemeClr val="tx1"/>
                                  </a:solidFill>
                                  <a:latin typeface="Cambria Math" panose="02040503050406030204" pitchFamily="18" charset="0"/>
                                </a:rPr>
                                <m:t>𝟏</m:t>
                              </m:r>
                            </m:sup>
                          </m:sSup>
                          <m:sSup>
                            <m:sSupPr>
                              <m:ctrlPr>
                                <a:rPr lang="en-CA" sz="2400" b="1" i="1" smtClean="0">
                                  <a:solidFill>
                                    <a:schemeClr val="tx1"/>
                                  </a:solidFill>
                                  <a:latin typeface="Cambria Math" panose="02040503050406030204" pitchFamily="18" charset="0"/>
                                </a:rPr>
                              </m:ctrlPr>
                            </m:sSupPr>
                            <m:e>
                              <m:r>
                                <a:rPr lang="en-CA" sz="2400" b="1" i="1" smtClean="0">
                                  <a:solidFill>
                                    <a:schemeClr val="tx1"/>
                                  </a:solidFill>
                                  <a:latin typeface="Cambria Math" panose="02040503050406030204" pitchFamily="18" charset="0"/>
                                </a:rPr>
                                <m:t>𝒕</m:t>
                              </m:r>
                            </m:e>
                            <m:sup>
                              <m:r>
                                <a:rPr lang="en-CA" sz="2400" b="1" i="1" smtClean="0">
                                  <a:solidFill>
                                    <a:schemeClr val="tx1"/>
                                  </a:solidFill>
                                  <a:latin typeface="Cambria Math" panose="02040503050406030204" pitchFamily="18" charset="0"/>
                                </a:rPr>
                                <m:t>−</m:t>
                              </m:r>
                              <m:r>
                                <a:rPr lang="en-CA" sz="2400" b="1" i="1" smtClean="0">
                                  <a:solidFill>
                                    <a:schemeClr val="tx1"/>
                                  </a:solidFill>
                                  <a:latin typeface="Cambria Math" panose="02040503050406030204" pitchFamily="18" charset="0"/>
                                </a:rPr>
                                <m:t>𝟐</m:t>
                              </m:r>
                            </m:sup>
                          </m:sSup>
                        </m:num>
                        <m:den>
                          <m:r>
                            <a:rPr lang="en-CA" sz="2400" b="1" i="1" smtClean="0">
                              <a:solidFill>
                                <a:schemeClr val="tx1"/>
                              </a:solidFill>
                              <a:latin typeface="Cambria Math" panose="02040503050406030204" pitchFamily="18" charset="0"/>
                              <a:ea typeface="Cambria Math" panose="02040503050406030204" pitchFamily="18" charset="0"/>
                            </a:rPr>
                            <m:t>𝑴</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𝑳</m:t>
                              </m:r>
                            </m:e>
                            <m:sup>
                              <m:r>
                                <a:rPr lang="en-CA" sz="2400" b="1" i="1" smtClean="0">
                                  <a:solidFill>
                                    <a:schemeClr val="tx1"/>
                                  </a:solidFill>
                                  <a:latin typeface="Cambria Math" panose="02040503050406030204" pitchFamily="18" charset="0"/>
                                  <a:ea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𝟑</m:t>
                              </m:r>
                            </m:sup>
                          </m:sSup>
                        </m:den>
                      </m:f>
                      <m:r>
                        <a:rPr lang="en-CA" sz="2400" b="1" i="1" smtClean="0">
                          <a:solidFill>
                            <a:schemeClr val="tx1"/>
                          </a:solidFill>
                          <a:latin typeface="Cambria Math" panose="02040503050406030204" pitchFamily="18" charset="0"/>
                          <a:ea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𝑳</m:t>
                          </m:r>
                        </m:e>
                        <m:sup>
                          <m:r>
                            <a:rPr lang="en-CA" sz="2400" b="1" i="1" smtClean="0">
                              <a:solidFill>
                                <a:schemeClr val="tx1"/>
                              </a:solidFill>
                              <a:latin typeface="Cambria Math" panose="02040503050406030204" pitchFamily="18" charset="0"/>
                              <a:ea typeface="Cambria Math" panose="02040503050406030204" pitchFamily="18" charset="0"/>
                            </a:rPr>
                            <m:t>𝟐</m:t>
                          </m:r>
                        </m:sup>
                      </m:sSup>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𝒕</m:t>
                          </m:r>
                        </m:e>
                        <m:sup>
                          <m:r>
                            <a:rPr lang="en-CA" sz="2400" b="1" i="1" smtClean="0">
                              <a:solidFill>
                                <a:schemeClr val="tx1"/>
                              </a:solidFill>
                              <a:latin typeface="Cambria Math" panose="02040503050406030204" pitchFamily="18" charset="0"/>
                              <a:ea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solidFill>
                    <a:schemeClr val="tx1"/>
                  </a:solidFill>
                </a:endParaRPr>
              </a:p>
              <a:p>
                <a:pPr marL="0" indent="0">
                  <a:lnSpc>
                    <a:spcPct val="100000"/>
                  </a:lnSpc>
                  <a:buNone/>
                </a:pPr>
                <a:endParaRPr lang="en-CA" sz="24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f>
                        <m:fPr>
                          <m:ctrlPr>
                            <a:rPr lang="en-CA" sz="2400" b="1" i="1" smtClean="0">
                              <a:solidFill>
                                <a:schemeClr val="tx1"/>
                              </a:solidFill>
                              <a:latin typeface="Cambria Math" panose="02040503050406030204" pitchFamily="18" charset="0"/>
                            </a:rPr>
                          </m:ctrlPr>
                        </m:fPr>
                        <m:num>
                          <m:sSup>
                            <m:sSupPr>
                              <m:ctrlPr>
                                <a:rPr lang="en-CA" sz="2400" b="1" i="1">
                                  <a:solidFill>
                                    <a:schemeClr val="tx1"/>
                                  </a:solidFill>
                                  <a:latin typeface="Cambria Math" panose="02040503050406030204" pitchFamily="18" charset="0"/>
                                </a:rPr>
                              </m:ctrlPr>
                            </m:sSupPr>
                            <m:e>
                              <m:r>
                                <a:rPr lang="en-CA" sz="2400" b="1" i="1">
                                  <a:solidFill>
                                    <a:schemeClr val="tx1"/>
                                  </a:solidFill>
                                  <a:latin typeface="Cambria Math" panose="02040503050406030204" pitchFamily="18" charset="0"/>
                                </a:rPr>
                                <m:t>𝑽</m:t>
                              </m:r>
                            </m:e>
                            <m:sup>
                              <m:r>
                                <a:rPr lang="en-CA" sz="2400" b="1" i="1">
                                  <a:solidFill>
                                    <a:schemeClr val="tx1"/>
                                  </a:solidFill>
                                  <a:latin typeface="Cambria Math" panose="02040503050406030204" pitchFamily="18" charset="0"/>
                                </a:rPr>
                                <m:t>𝟐</m:t>
                              </m:r>
                            </m:sup>
                          </m:sSup>
                        </m:num>
                        <m:den>
                          <m:r>
                            <a:rPr lang="en-CA" sz="2400" b="1" i="1">
                              <a:solidFill>
                                <a:schemeClr val="tx1"/>
                              </a:solidFill>
                              <a:latin typeface="Cambria Math" panose="02040503050406030204" pitchFamily="18" charset="0"/>
                            </a:rPr>
                            <m:t>𝟐</m:t>
                          </m:r>
                        </m:den>
                      </m:f>
                      <m:r>
                        <a:rPr lang="en-CA" sz="2400" b="1" i="1" smtClean="0">
                          <a:solidFill>
                            <a:schemeClr val="tx1"/>
                          </a:solidFill>
                          <a:latin typeface="Cambria Math" panose="02040503050406030204" pitchFamily="18" charset="0"/>
                        </a:rPr>
                        <m:t>:        </m:t>
                      </m:r>
                      <m:sSup>
                        <m:sSupPr>
                          <m:ctrlPr>
                            <a:rPr lang="en-CA" sz="2400" b="1" i="1" smtClean="0">
                              <a:solidFill>
                                <a:schemeClr val="tx1"/>
                              </a:solidFill>
                              <a:latin typeface="Cambria Math" panose="02040503050406030204" pitchFamily="18" charset="0"/>
                            </a:rPr>
                          </m:ctrlPr>
                        </m:sSupPr>
                        <m:e>
                          <m:d>
                            <m:dPr>
                              <m:ctrlPr>
                                <a:rPr lang="en-CA" sz="2400" b="1" i="1">
                                  <a:solidFill>
                                    <a:schemeClr val="tx1"/>
                                  </a:solidFill>
                                  <a:latin typeface="Cambria Math" panose="02040503050406030204" pitchFamily="18" charset="0"/>
                                </a:rPr>
                              </m:ctrlPr>
                            </m:dPr>
                            <m:e>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rPr>
                                    <m:t>𝑳</m:t>
                                  </m:r>
                                </m:num>
                                <m:den>
                                  <m:r>
                                    <a:rPr lang="en-CA" sz="2400" b="1" i="1">
                                      <a:solidFill>
                                        <a:schemeClr val="tx1"/>
                                      </a:solidFill>
                                      <a:latin typeface="Cambria Math" panose="02040503050406030204" pitchFamily="18" charset="0"/>
                                    </a:rPr>
                                    <m:t>𝒕</m:t>
                                  </m:r>
                                </m:den>
                              </m:f>
                            </m:e>
                          </m:d>
                        </m:e>
                        <m:sup>
                          <m:r>
                            <a:rPr lang="en-CA" sz="2400" b="1" i="1" smtClean="0">
                              <a:solidFill>
                                <a:schemeClr val="tx1"/>
                              </a:solidFill>
                              <a:latin typeface="Cambria Math" panose="02040503050406030204" pitchFamily="18" charset="0"/>
                            </a:rPr>
                            <m:t>𝟐</m:t>
                          </m:r>
                        </m:sup>
                      </m:sSup>
                      <m:r>
                        <a:rPr lang="en-CA" sz="2400" b="1" i="1" smtClean="0">
                          <a:solidFill>
                            <a:schemeClr val="tx1"/>
                          </a:solidFill>
                          <a:latin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𝑳</m:t>
                          </m:r>
                        </m:e>
                        <m:sup>
                          <m:r>
                            <a:rPr lang="en-CA" sz="2400" b="1" i="1">
                              <a:solidFill>
                                <a:schemeClr val="tx1"/>
                              </a:solidFill>
                              <a:latin typeface="Cambria Math" panose="02040503050406030204" pitchFamily="18" charset="0"/>
                              <a:ea typeface="Cambria Math" panose="02040503050406030204" pitchFamily="18" charset="0"/>
                            </a:rPr>
                            <m:t>𝟐</m:t>
                          </m:r>
                        </m:sup>
                      </m:sSup>
                      <m:sSup>
                        <m:sSupPr>
                          <m:ctrlPr>
                            <a:rPr lang="en-CA" sz="2400" b="1" i="1">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𝒕</m:t>
                          </m:r>
                        </m:e>
                        <m:sup>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solidFill>
                    <a:schemeClr val="tx1"/>
                  </a:solidFill>
                </a:endParaRPr>
              </a:p>
              <a:p>
                <a:pPr marL="0" indent="0">
                  <a:lnSpc>
                    <a:spcPct val="100000"/>
                  </a:lnSpc>
                  <a:buNone/>
                </a:pPr>
                <a:endParaRPr lang="en-CA" sz="24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CA" sz="2400" b="1" i="1">
                          <a:solidFill>
                            <a:schemeClr val="tx1"/>
                          </a:solidFill>
                          <a:latin typeface="Cambria Math" panose="02040503050406030204" pitchFamily="18" charset="0"/>
                        </a:rPr>
                        <m:t>𝒈𝒛</m:t>
                      </m:r>
                      <m:r>
                        <a:rPr lang="en-CA" sz="2400" b="1" i="1" smtClean="0">
                          <a:solidFill>
                            <a:schemeClr val="tx1"/>
                          </a:solidFill>
                          <a:latin typeface="Cambria Math" panose="02040503050406030204" pitchFamily="18" charset="0"/>
                        </a:rPr>
                        <m:t>:        </m:t>
                      </m:r>
                      <m:f>
                        <m:fPr>
                          <m:ctrlPr>
                            <a:rPr lang="en-CA" sz="2400" b="1" i="1" smtClean="0">
                              <a:solidFill>
                                <a:schemeClr val="tx1"/>
                              </a:solidFill>
                              <a:latin typeface="Cambria Math" panose="02040503050406030204" pitchFamily="18" charset="0"/>
                            </a:rPr>
                          </m:ctrlPr>
                        </m:fPr>
                        <m:num>
                          <m:r>
                            <a:rPr lang="en-CA" sz="2400" b="1" i="1" smtClean="0">
                              <a:solidFill>
                                <a:schemeClr val="tx1"/>
                              </a:solidFill>
                              <a:latin typeface="Cambria Math" panose="02040503050406030204" pitchFamily="18" charset="0"/>
                            </a:rPr>
                            <m:t>𝑳</m:t>
                          </m:r>
                        </m:num>
                        <m:den>
                          <m:sSup>
                            <m:sSupPr>
                              <m:ctrlPr>
                                <a:rPr lang="en-CA" sz="2400" b="1" i="1" smtClean="0">
                                  <a:solidFill>
                                    <a:schemeClr val="tx1"/>
                                  </a:solidFill>
                                  <a:latin typeface="Cambria Math" panose="02040503050406030204" pitchFamily="18" charset="0"/>
                                </a:rPr>
                              </m:ctrlPr>
                            </m:sSupPr>
                            <m:e>
                              <m:r>
                                <a:rPr lang="en-CA" sz="2400" b="1" i="1" smtClean="0">
                                  <a:solidFill>
                                    <a:schemeClr val="tx1"/>
                                  </a:solidFill>
                                  <a:latin typeface="Cambria Math" panose="02040503050406030204" pitchFamily="18" charset="0"/>
                                </a:rPr>
                                <m:t>𝒕</m:t>
                              </m:r>
                            </m:e>
                            <m:sup>
                              <m:r>
                                <a:rPr lang="en-CA" sz="2400" b="1" i="1" smtClean="0">
                                  <a:solidFill>
                                    <a:schemeClr val="tx1"/>
                                  </a:solidFill>
                                  <a:latin typeface="Cambria Math" panose="02040503050406030204" pitchFamily="18" charset="0"/>
                                </a:rPr>
                                <m:t>𝟐</m:t>
                              </m:r>
                            </m:sup>
                          </m:sSup>
                        </m:den>
                      </m:f>
                      <m:r>
                        <a:rPr lang="en-CA" sz="2400" b="1" i="1" smtClean="0">
                          <a:solidFill>
                            <a:schemeClr val="tx1"/>
                          </a:solidFill>
                          <a:latin typeface="Cambria Math" panose="02040503050406030204" pitchFamily="18" charset="0"/>
                          <a:ea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𝑳</m:t>
                      </m:r>
                      <m:r>
                        <a:rPr lang="en-CA" sz="2400" b="1" i="1" smtClean="0">
                          <a:solidFill>
                            <a:schemeClr val="tx1"/>
                          </a:solidFill>
                          <a:latin typeface="Cambria Math" panose="02040503050406030204" pitchFamily="18" charset="0"/>
                          <a:ea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𝑳</m:t>
                          </m:r>
                        </m:e>
                        <m:sup>
                          <m:r>
                            <a:rPr lang="en-CA" sz="2400" b="1" i="1">
                              <a:solidFill>
                                <a:schemeClr val="tx1"/>
                              </a:solidFill>
                              <a:latin typeface="Cambria Math" panose="02040503050406030204" pitchFamily="18" charset="0"/>
                              <a:ea typeface="Cambria Math" panose="02040503050406030204" pitchFamily="18" charset="0"/>
                            </a:rPr>
                            <m:t>𝟐</m:t>
                          </m:r>
                        </m:sup>
                      </m:sSup>
                      <m:sSup>
                        <m:sSupPr>
                          <m:ctrlPr>
                            <a:rPr lang="en-CA" sz="2400" b="1" i="1">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𝒕</m:t>
                          </m:r>
                        </m:e>
                        <m:sup>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p>
            </p:txBody>
          </p:sp>
        </mc:Choice>
        <mc:Fallback xmlns="">
          <p:sp>
            <p:nvSpPr>
              <p:cNvPr id="4" name="TextBox 3">
                <a:extLst>
                  <a:ext uri="{FF2B5EF4-FFF2-40B4-BE49-F238E27FC236}">
                    <a16:creationId xmlns:a16="http://schemas.microsoft.com/office/drawing/2014/main" id="{1283B639-9E74-5A31-FB3F-3F374895798F}"/>
                  </a:ext>
                </a:extLst>
              </p:cNvPr>
              <p:cNvSpPr txBox="1">
                <a:spLocks noRot="1" noChangeAspect="1" noMove="1" noResize="1" noEditPoints="1" noAdjustHandles="1" noChangeArrowheads="1" noChangeShapeType="1" noTextEdit="1"/>
              </p:cNvSpPr>
              <p:nvPr/>
            </p:nvSpPr>
            <p:spPr>
              <a:xfrm>
                <a:off x="251460" y="1815934"/>
                <a:ext cx="3666172" cy="3770776"/>
              </a:xfrm>
              <a:prstGeom prst="rect">
                <a:avLst/>
              </a:prstGeom>
              <a:blipFill>
                <a:blip r:embed="rId3"/>
                <a:stretch>
                  <a:fillRect t="-1127"/>
                </a:stretch>
              </a:blipFill>
              <a:ln w="19050">
                <a:solidFill>
                  <a:schemeClr val="tx1"/>
                </a:solidFill>
              </a:ln>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360E30F-B8E2-1A0E-8EF7-008727AAFB8C}"/>
                  </a:ext>
                </a:extLst>
              </p:cNvPr>
              <p:cNvSpPr txBox="1"/>
              <p:nvPr/>
            </p:nvSpPr>
            <p:spPr>
              <a:xfrm>
                <a:off x="4472940" y="1815934"/>
                <a:ext cx="3666172" cy="3770776"/>
              </a:xfrm>
              <a:prstGeom prst="rect">
                <a:avLst/>
              </a:prstGeom>
              <a:noFill/>
              <a:ln w="19050">
                <a:solidFill>
                  <a:schemeClr val="tx1"/>
                </a:solidFill>
              </a:ln>
            </p:spPr>
            <p:txBody>
              <a:bodyPr wrap="square">
                <a:spAutoFit/>
              </a:bodyPr>
              <a:lstStyle/>
              <a:p>
                <a:pPr marL="0" indent="0">
                  <a:spcAft>
                    <a:spcPts val="1200"/>
                  </a:spcAft>
                  <a:buNone/>
                </a:pPr>
                <a:r>
                  <a:rPr lang="en-CA" sz="2400" b="1" i="1" dirty="0">
                    <a:solidFill>
                      <a:schemeClr val="tx1"/>
                    </a:solidFill>
                    <a:latin typeface="Cambria Math" panose="02040503050406030204" pitchFamily="18" charset="0"/>
                  </a:rPr>
                  <a:t>                </a:t>
                </a:r>
                <a:r>
                  <a:rPr lang="en-CA" sz="2400" b="1" dirty="0">
                    <a:solidFill>
                      <a:schemeClr val="tx1"/>
                    </a:solidFill>
                    <a:latin typeface="Cambria Math" panose="02040503050406030204" pitchFamily="18" charset="0"/>
                  </a:rPr>
                  <a:t>FLt System</a:t>
                </a:r>
              </a:p>
              <a:p>
                <a:pPr marL="0" indent="0">
                  <a:buNone/>
                </a:pPr>
                <a14:m>
                  <m:oMathPara xmlns:m="http://schemas.openxmlformats.org/officeDocument/2006/math">
                    <m:oMathParaPr>
                      <m:jc m:val="centerGroup"/>
                    </m:oMathParaPr>
                    <m:oMath xmlns:m="http://schemas.openxmlformats.org/officeDocument/2006/math">
                      <m:f>
                        <m:fPr>
                          <m:ctrlPr>
                            <a:rPr lang="en-CA" sz="2400" b="1" i="1" smtClean="0">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rPr>
                            <m:t>𝑷</m:t>
                          </m:r>
                        </m:num>
                        <m:den>
                          <m:r>
                            <a:rPr lang="en-CA" sz="2400" b="1" i="1">
                              <a:solidFill>
                                <a:schemeClr val="tx1"/>
                              </a:solidFill>
                              <a:latin typeface="Cambria Math" panose="02040503050406030204" pitchFamily="18" charset="0"/>
                              <a:ea typeface="Cambria Math" panose="02040503050406030204" pitchFamily="18" charset="0"/>
                            </a:rPr>
                            <m:t>𝝆</m:t>
                          </m:r>
                        </m:den>
                      </m:f>
                      <m:r>
                        <a:rPr lang="en-CA" sz="2400" b="1" i="1" smtClean="0">
                          <a:solidFill>
                            <a:schemeClr val="tx1"/>
                          </a:solidFill>
                          <a:latin typeface="Cambria Math" panose="02040503050406030204" pitchFamily="18" charset="0"/>
                          <a:ea typeface="Cambria Math" panose="02040503050406030204" pitchFamily="18" charset="0"/>
                        </a:rPr>
                        <m:t>:  </m:t>
                      </m:r>
                      <m:f>
                        <m:fPr>
                          <m:ctrlPr>
                            <a:rPr lang="en-CA" sz="2400" b="1" i="1">
                              <a:solidFill>
                                <a:schemeClr val="tx1"/>
                              </a:solidFill>
                              <a:latin typeface="Cambria Math" panose="02040503050406030204" pitchFamily="18" charset="0"/>
                            </a:rPr>
                          </m:ctrlPr>
                        </m:fPr>
                        <m:num>
                          <m:r>
                            <a:rPr lang="en-GB" sz="2400" b="1" i="1" smtClean="0">
                              <a:solidFill>
                                <a:schemeClr val="tx1"/>
                              </a:solidFill>
                              <a:latin typeface="Cambria Math" panose="02040503050406030204" pitchFamily="18" charset="0"/>
                            </a:rPr>
                            <m:t>𝑭</m:t>
                          </m:r>
                          <m:sSup>
                            <m:sSupPr>
                              <m:ctrlPr>
                                <a:rPr lang="en-CA" sz="2400" b="1" i="1" smtClean="0">
                                  <a:solidFill>
                                    <a:schemeClr val="tx1"/>
                                  </a:solidFill>
                                  <a:latin typeface="Cambria Math" panose="02040503050406030204" pitchFamily="18" charset="0"/>
                                </a:rPr>
                              </m:ctrlPr>
                            </m:sSupPr>
                            <m:e>
                              <m:r>
                                <a:rPr lang="en-CA" sz="2400" b="1" i="1" smtClean="0">
                                  <a:solidFill>
                                    <a:schemeClr val="tx1"/>
                                  </a:solidFill>
                                  <a:latin typeface="Cambria Math" panose="02040503050406030204" pitchFamily="18" charset="0"/>
                                </a:rPr>
                                <m:t>𝑳</m:t>
                              </m:r>
                            </m:e>
                            <m:sup>
                              <m:r>
                                <a:rPr lang="en-CA" sz="2400" b="1" i="1" smtClean="0">
                                  <a:solidFill>
                                    <a:schemeClr val="tx1"/>
                                  </a:solidFill>
                                  <a:latin typeface="Cambria Math" panose="02040503050406030204" pitchFamily="18" charset="0"/>
                                </a:rPr>
                                <m:t>−</m:t>
                              </m:r>
                              <m:r>
                                <a:rPr lang="en-GB" sz="2400" b="1" i="1" smtClean="0">
                                  <a:solidFill>
                                    <a:schemeClr val="tx1"/>
                                  </a:solidFill>
                                  <a:latin typeface="Cambria Math" panose="02040503050406030204" pitchFamily="18" charset="0"/>
                                </a:rPr>
                                <m:t>𝟐</m:t>
                              </m:r>
                            </m:sup>
                          </m:sSup>
                        </m:num>
                        <m:den>
                          <m:r>
                            <a:rPr lang="en-GB" sz="2400" b="1" i="1" smtClean="0">
                              <a:solidFill>
                                <a:schemeClr val="tx1"/>
                              </a:solidFill>
                              <a:latin typeface="Cambria Math" panose="02040503050406030204" pitchFamily="18" charset="0"/>
                              <a:ea typeface="Cambria Math" panose="02040503050406030204" pitchFamily="18" charset="0"/>
                            </a:rPr>
                            <m:t>𝑭</m:t>
                          </m:r>
                          <m:sSup>
                            <m:sSupPr>
                              <m:ctrlPr>
                                <a:rPr lang="en-GB" sz="2400" b="1" i="1" smtClean="0">
                                  <a:solidFill>
                                    <a:schemeClr val="tx1"/>
                                  </a:solidFill>
                                  <a:latin typeface="Cambria Math" panose="02040503050406030204" pitchFamily="18" charset="0"/>
                                  <a:ea typeface="Cambria Math" panose="02040503050406030204" pitchFamily="18" charset="0"/>
                                </a:rPr>
                              </m:ctrlPr>
                            </m:sSupPr>
                            <m:e>
                              <m:r>
                                <a:rPr lang="en-GB" sz="2400" b="1" i="1" smtClean="0">
                                  <a:solidFill>
                                    <a:schemeClr val="tx1"/>
                                  </a:solidFill>
                                  <a:latin typeface="Cambria Math" panose="02040503050406030204" pitchFamily="18" charset="0"/>
                                  <a:ea typeface="Cambria Math" panose="02040503050406030204" pitchFamily="18" charset="0"/>
                                </a:rPr>
                                <m:t>𝒕</m:t>
                              </m:r>
                            </m:e>
                            <m:sup>
                              <m:r>
                                <a:rPr lang="en-GB" sz="2400" b="1" i="1" smtClean="0">
                                  <a:solidFill>
                                    <a:schemeClr val="tx1"/>
                                  </a:solidFill>
                                  <a:latin typeface="Cambria Math" panose="02040503050406030204" pitchFamily="18" charset="0"/>
                                  <a:ea typeface="Cambria Math" panose="02040503050406030204" pitchFamily="18" charset="0"/>
                                </a:rPr>
                                <m:t>𝟐</m:t>
                              </m:r>
                            </m:sup>
                          </m:sSup>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𝑳</m:t>
                              </m:r>
                            </m:e>
                            <m:sup>
                              <m:r>
                                <a:rPr lang="en-CA" sz="2400" b="1" i="1" smtClean="0">
                                  <a:solidFill>
                                    <a:schemeClr val="tx1"/>
                                  </a:solidFill>
                                  <a:latin typeface="Cambria Math" panose="02040503050406030204" pitchFamily="18" charset="0"/>
                                  <a:ea typeface="Cambria Math" panose="02040503050406030204" pitchFamily="18" charset="0"/>
                                </a:rPr>
                                <m:t>−</m:t>
                              </m:r>
                              <m:r>
                                <a:rPr lang="en-GB" sz="2400" b="1" i="1" smtClean="0">
                                  <a:solidFill>
                                    <a:schemeClr val="tx1"/>
                                  </a:solidFill>
                                  <a:latin typeface="Cambria Math" panose="02040503050406030204" pitchFamily="18" charset="0"/>
                                  <a:ea typeface="Cambria Math" panose="02040503050406030204" pitchFamily="18" charset="0"/>
                                </a:rPr>
                                <m:t>𝟒</m:t>
                              </m:r>
                            </m:sup>
                          </m:sSup>
                        </m:den>
                      </m:f>
                      <m:r>
                        <a:rPr lang="en-CA" sz="2400" b="1" i="1" smtClean="0">
                          <a:solidFill>
                            <a:schemeClr val="tx1"/>
                          </a:solidFill>
                          <a:latin typeface="Cambria Math" panose="02040503050406030204" pitchFamily="18" charset="0"/>
                          <a:ea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𝑳</m:t>
                          </m:r>
                        </m:e>
                        <m:sup>
                          <m:r>
                            <a:rPr lang="en-CA" sz="2400" b="1" i="1" smtClean="0">
                              <a:solidFill>
                                <a:schemeClr val="tx1"/>
                              </a:solidFill>
                              <a:latin typeface="Cambria Math" panose="02040503050406030204" pitchFamily="18" charset="0"/>
                              <a:ea typeface="Cambria Math" panose="02040503050406030204" pitchFamily="18" charset="0"/>
                            </a:rPr>
                            <m:t>𝟐</m:t>
                          </m:r>
                        </m:sup>
                      </m:sSup>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smtClean="0">
                              <a:solidFill>
                                <a:schemeClr val="tx1"/>
                              </a:solidFill>
                              <a:latin typeface="Cambria Math" panose="02040503050406030204" pitchFamily="18" charset="0"/>
                              <a:ea typeface="Cambria Math" panose="02040503050406030204" pitchFamily="18" charset="0"/>
                            </a:rPr>
                            <m:t>𝒕</m:t>
                          </m:r>
                        </m:e>
                        <m:sup>
                          <m:r>
                            <a:rPr lang="en-CA" sz="2400" b="1" i="1" smtClean="0">
                              <a:solidFill>
                                <a:schemeClr val="tx1"/>
                              </a:solidFill>
                              <a:latin typeface="Cambria Math" panose="02040503050406030204" pitchFamily="18" charset="0"/>
                              <a:ea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solidFill>
                    <a:schemeClr val="tx1"/>
                  </a:solidFill>
                </a:endParaRPr>
              </a:p>
              <a:p>
                <a:pPr marL="0" indent="0">
                  <a:lnSpc>
                    <a:spcPct val="100000"/>
                  </a:lnSpc>
                  <a:buNone/>
                </a:pPr>
                <a:endParaRPr lang="en-CA" sz="24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f>
                        <m:fPr>
                          <m:ctrlPr>
                            <a:rPr lang="en-CA" sz="2400" b="1" i="1" smtClean="0">
                              <a:solidFill>
                                <a:schemeClr val="tx1"/>
                              </a:solidFill>
                              <a:latin typeface="Cambria Math" panose="02040503050406030204" pitchFamily="18" charset="0"/>
                            </a:rPr>
                          </m:ctrlPr>
                        </m:fPr>
                        <m:num>
                          <m:sSup>
                            <m:sSupPr>
                              <m:ctrlPr>
                                <a:rPr lang="en-CA" sz="2400" b="1" i="1">
                                  <a:solidFill>
                                    <a:schemeClr val="tx1"/>
                                  </a:solidFill>
                                  <a:latin typeface="Cambria Math" panose="02040503050406030204" pitchFamily="18" charset="0"/>
                                </a:rPr>
                              </m:ctrlPr>
                            </m:sSupPr>
                            <m:e>
                              <m:r>
                                <a:rPr lang="en-CA" sz="2400" b="1" i="1">
                                  <a:solidFill>
                                    <a:schemeClr val="tx1"/>
                                  </a:solidFill>
                                  <a:latin typeface="Cambria Math" panose="02040503050406030204" pitchFamily="18" charset="0"/>
                                </a:rPr>
                                <m:t>𝑽</m:t>
                              </m:r>
                            </m:e>
                            <m:sup>
                              <m:r>
                                <a:rPr lang="en-CA" sz="2400" b="1" i="1">
                                  <a:solidFill>
                                    <a:schemeClr val="tx1"/>
                                  </a:solidFill>
                                  <a:latin typeface="Cambria Math" panose="02040503050406030204" pitchFamily="18" charset="0"/>
                                </a:rPr>
                                <m:t>𝟐</m:t>
                              </m:r>
                            </m:sup>
                          </m:sSup>
                        </m:num>
                        <m:den>
                          <m:r>
                            <a:rPr lang="en-CA" sz="2400" b="1" i="1">
                              <a:solidFill>
                                <a:schemeClr val="tx1"/>
                              </a:solidFill>
                              <a:latin typeface="Cambria Math" panose="02040503050406030204" pitchFamily="18" charset="0"/>
                            </a:rPr>
                            <m:t>𝟐</m:t>
                          </m:r>
                        </m:den>
                      </m:f>
                      <m:r>
                        <a:rPr lang="en-CA" sz="2400" b="1" i="1" smtClean="0">
                          <a:solidFill>
                            <a:schemeClr val="tx1"/>
                          </a:solidFill>
                          <a:latin typeface="Cambria Math" panose="02040503050406030204" pitchFamily="18" charset="0"/>
                        </a:rPr>
                        <m:t>:        </m:t>
                      </m:r>
                      <m:sSup>
                        <m:sSupPr>
                          <m:ctrlPr>
                            <a:rPr lang="en-CA" sz="2400" b="1" i="1" smtClean="0">
                              <a:solidFill>
                                <a:schemeClr val="tx1"/>
                              </a:solidFill>
                              <a:latin typeface="Cambria Math" panose="02040503050406030204" pitchFamily="18" charset="0"/>
                            </a:rPr>
                          </m:ctrlPr>
                        </m:sSupPr>
                        <m:e>
                          <m:d>
                            <m:dPr>
                              <m:ctrlPr>
                                <a:rPr lang="en-CA" sz="2400" b="1" i="1">
                                  <a:solidFill>
                                    <a:schemeClr val="tx1"/>
                                  </a:solidFill>
                                  <a:latin typeface="Cambria Math" panose="02040503050406030204" pitchFamily="18" charset="0"/>
                                </a:rPr>
                              </m:ctrlPr>
                            </m:dPr>
                            <m:e>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rPr>
                                    <m:t>𝑳</m:t>
                                  </m:r>
                                </m:num>
                                <m:den>
                                  <m:r>
                                    <a:rPr lang="en-CA" sz="2400" b="1" i="1">
                                      <a:solidFill>
                                        <a:schemeClr val="tx1"/>
                                      </a:solidFill>
                                      <a:latin typeface="Cambria Math" panose="02040503050406030204" pitchFamily="18" charset="0"/>
                                    </a:rPr>
                                    <m:t>𝒕</m:t>
                                  </m:r>
                                </m:den>
                              </m:f>
                            </m:e>
                          </m:d>
                        </m:e>
                        <m:sup>
                          <m:r>
                            <a:rPr lang="en-CA" sz="2400" b="1" i="1" smtClean="0">
                              <a:solidFill>
                                <a:schemeClr val="tx1"/>
                              </a:solidFill>
                              <a:latin typeface="Cambria Math" panose="02040503050406030204" pitchFamily="18" charset="0"/>
                            </a:rPr>
                            <m:t>𝟐</m:t>
                          </m:r>
                        </m:sup>
                      </m:sSup>
                      <m:r>
                        <a:rPr lang="en-CA" sz="2400" b="1" i="1" smtClean="0">
                          <a:solidFill>
                            <a:schemeClr val="tx1"/>
                          </a:solidFill>
                          <a:latin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𝑳</m:t>
                          </m:r>
                        </m:e>
                        <m:sup>
                          <m:r>
                            <a:rPr lang="en-CA" sz="2400" b="1" i="1">
                              <a:solidFill>
                                <a:schemeClr val="tx1"/>
                              </a:solidFill>
                              <a:latin typeface="Cambria Math" panose="02040503050406030204" pitchFamily="18" charset="0"/>
                              <a:ea typeface="Cambria Math" panose="02040503050406030204" pitchFamily="18" charset="0"/>
                            </a:rPr>
                            <m:t>𝟐</m:t>
                          </m:r>
                        </m:sup>
                      </m:sSup>
                      <m:sSup>
                        <m:sSupPr>
                          <m:ctrlPr>
                            <a:rPr lang="en-CA" sz="2400" b="1" i="1">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𝒕</m:t>
                          </m:r>
                        </m:e>
                        <m:sup>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solidFill>
                    <a:schemeClr val="tx1"/>
                  </a:solidFill>
                </a:endParaRPr>
              </a:p>
              <a:p>
                <a:pPr marL="0" indent="0">
                  <a:lnSpc>
                    <a:spcPct val="100000"/>
                  </a:lnSpc>
                  <a:buNone/>
                </a:pPr>
                <a:endParaRPr lang="en-CA" sz="24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CA" sz="2400" b="1" i="1">
                          <a:solidFill>
                            <a:schemeClr val="tx1"/>
                          </a:solidFill>
                          <a:latin typeface="Cambria Math" panose="02040503050406030204" pitchFamily="18" charset="0"/>
                        </a:rPr>
                        <m:t>𝒈𝒛</m:t>
                      </m:r>
                      <m:r>
                        <a:rPr lang="en-CA" sz="2400" b="1" i="1" smtClean="0">
                          <a:solidFill>
                            <a:schemeClr val="tx1"/>
                          </a:solidFill>
                          <a:latin typeface="Cambria Math" panose="02040503050406030204" pitchFamily="18" charset="0"/>
                        </a:rPr>
                        <m:t>:        </m:t>
                      </m:r>
                      <m:f>
                        <m:fPr>
                          <m:ctrlPr>
                            <a:rPr lang="en-CA" sz="2400" b="1" i="1" smtClean="0">
                              <a:solidFill>
                                <a:schemeClr val="tx1"/>
                              </a:solidFill>
                              <a:latin typeface="Cambria Math" panose="02040503050406030204" pitchFamily="18" charset="0"/>
                            </a:rPr>
                          </m:ctrlPr>
                        </m:fPr>
                        <m:num>
                          <m:r>
                            <a:rPr lang="en-CA" sz="2400" b="1" i="1" smtClean="0">
                              <a:solidFill>
                                <a:schemeClr val="tx1"/>
                              </a:solidFill>
                              <a:latin typeface="Cambria Math" panose="02040503050406030204" pitchFamily="18" charset="0"/>
                            </a:rPr>
                            <m:t>𝑳</m:t>
                          </m:r>
                        </m:num>
                        <m:den>
                          <m:sSup>
                            <m:sSupPr>
                              <m:ctrlPr>
                                <a:rPr lang="en-CA" sz="2400" b="1" i="1" smtClean="0">
                                  <a:solidFill>
                                    <a:schemeClr val="tx1"/>
                                  </a:solidFill>
                                  <a:latin typeface="Cambria Math" panose="02040503050406030204" pitchFamily="18" charset="0"/>
                                </a:rPr>
                              </m:ctrlPr>
                            </m:sSupPr>
                            <m:e>
                              <m:r>
                                <a:rPr lang="en-CA" sz="2400" b="1" i="1" smtClean="0">
                                  <a:solidFill>
                                    <a:schemeClr val="tx1"/>
                                  </a:solidFill>
                                  <a:latin typeface="Cambria Math" panose="02040503050406030204" pitchFamily="18" charset="0"/>
                                </a:rPr>
                                <m:t>𝒕</m:t>
                              </m:r>
                            </m:e>
                            <m:sup>
                              <m:r>
                                <a:rPr lang="en-CA" sz="2400" b="1" i="1" smtClean="0">
                                  <a:solidFill>
                                    <a:schemeClr val="tx1"/>
                                  </a:solidFill>
                                  <a:latin typeface="Cambria Math" panose="02040503050406030204" pitchFamily="18" charset="0"/>
                                </a:rPr>
                                <m:t>𝟐</m:t>
                              </m:r>
                            </m:sup>
                          </m:sSup>
                        </m:den>
                      </m:f>
                      <m:r>
                        <a:rPr lang="en-CA" sz="2400" b="1" i="1" smtClean="0">
                          <a:solidFill>
                            <a:schemeClr val="tx1"/>
                          </a:solidFill>
                          <a:latin typeface="Cambria Math" panose="02040503050406030204" pitchFamily="18" charset="0"/>
                          <a:ea typeface="Cambria Math" panose="02040503050406030204" pitchFamily="18" charset="0"/>
                        </a:rPr>
                        <m:t>∙</m:t>
                      </m:r>
                      <m:r>
                        <a:rPr lang="en-CA" sz="2400" b="1" i="1" smtClean="0">
                          <a:solidFill>
                            <a:schemeClr val="tx1"/>
                          </a:solidFill>
                          <a:latin typeface="Cambria Math" panose="02040503050406030204" pitchFamily="18" charset="0"/>
                          <a:ea typeface="Cambria Math" panose="02040503050406030204" pitchFamily="18" charset="0"/>
                        </a:rPr>
                        <m:t>𝑳</m:t>
                      </m:r>
                      <m:r>
                        <a:rPr lang="en-CA" sz="2400" b="1" i="1" smtClean="0">
                          <a:solidFill>
                            <a:schemeClr val="tx1"/>
                          </a:solidFill>
                          <a:latin typeface="Cambria Math" panose="02040503050406030204" pitchFamily="18" charset="0"/>
                          <a:ea typeface="Cambria Math" panose="02040503050406030204" pitchFamily="18" charset="0"/>
                        </a:rPr>
                        <m:t>=</m:t>
                      </m:r>
                      <m:sSup>
                        <m:sSupPr>
                          <m:ctrlPr>
                            <a:rPr lang="en-CA" sz="2400" b="1" i="1" smtClean="0">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𝑳</m:t>
                          </m:r>
                        </m:e>
                        <m:sup>
                          <m:r>
                            <a:rPr lang="en-CA" sz="2400" b="1" i="1">
                              <a:solidFill>
                                <a:schemeClr val="tx1"/>
                              </a:solidFill>
                              <a:latin typeface="Cambria Math" panose="02040503050406030204" pitchFamily="18" charset="0"/>
                              <a:ea typeface="Cambria Math" panose="02040503050406030204" pitchFamily="18" charset="0"/>
                            </a:rPr>
                            <m:t>𝟐</m:t>
                          </m:r>
                        </m:sup>
                      </m:sSup>
                      <m:sSup>
                        <m:sSupPr>
                          <m:ctrlPr>
                            <a:rPr lang="en-CA" sz="2400" b="1" i="1">
                              <a:solidFill>
                                <a:schemeClr val="tx1"/>
                              </a:solidFill>
                              <a:latin typeface="Cambria Math" panose="02040503050406030204" pitchFamily="18" charset="0"/>
                              <a:ea typeface="Cambria Math" panose="02040503050406030204" pitchFamily="18" charset="0"/>
                            </a:rPr>
                          </m:ctrlPr>
                        </m:sSupPr>
                        <m:e>
                          <m:r>
                            <a:rPr lang="en-CA" sz="2400" b="1" i="1">
                              <a:solidFill>
                                <a:schemeClr val="tx1"/>
                              </a:solidFill>
                              <a:latin typeface="Cambria Math" panose="02040503050406030204" pitchFamily="18" charset="0"/>
                              <a:ea typeface="Cambria Math" panose="02040503050406030204" pitchFamily="18" charset="0"/>
                            </a:rPr>
                            <m:t>𝒕</m:t>
                          </m:r>
                        </m:e>
                        <m:sup>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𝟐</m:t>
                          </m:r>
                        </m:sup>
                      </m:sSup>
                    </m:oMath>
                  </m:oMathPara>
                </a14:m>
                <a:endParaRPr lang="en-CA" sz="2400" b="1" dirty="0"/>
              </a:p>
            </p:txBody>
          </p:sp>
        </mc:Choice>
        <mc:Fallback xmlns="">
          <p:sp>
            <p:nvSpPr>
              <p:cNvPr id="6" name="TextBox 5">
                <a:extLst>
                  <a:ext uri="{FF2B5EF4-FFF2-40B4-BE49-F238E27FC236}">
                    <a16:creationId xmlns:a16="http://schemas.microsoft.com/office/drawing/2014/main" id="{4360E30F-B8E2-1A0E-8EF7-008727AAFB8C}"/>
                  </a:ext>
                </a:extLst>
              </p:cNvPr>
              <p:cNvSpPr txBox="1">
                <a:spLocks noRot="1" noChangeAspect="1" noMove="1" noResize="1" noEditPoints="1" noAdjustHandles="1" noChangeArrowheads="1" noChangeShapeType="1" noTextEdit="1"/>
              </p:cNvSpPr>
              <p:nvPr/>
            </p:nvSpPr>
            <p:spPr>
              <a:xfrm>
                <a:off x="4472940" y="1815934"/>
                <a:ext cx="3666172" cy="3770776"/>
              </a:xfrm>
              <a:prstGeom prst="rect">
                <a:avLst/>
              </a:prstGeom>
              <a:blipFill>
                <a:blip r:embed="rId4"/>
                <a:stretch>
                  <a:fillRect t="-1127"/>
                </a:stretch>
              </a:blipFill>
              <a:ln w="19050">
                <a:solidFill>
                  <a:schemeClr val="tx1"/>
                </a:solidFill>
              </a:ln>
            </p:spPr>
            <p:txBody>
              <a:bodyPr/>
              <a:lstStyle/>
              <a:p>
                <a:r>
                  <a:rPr lang="en-GH">
                    <a:noFill/>
                  </a:rPr>
                  <a:t> </a:t>
                </a:r>
              </a:p>
            </p:txBody>
          </p:sp>
        </mc:Fallback>
      </mc:AlternateContent>
    </p:spTree>
    <p:extLst>
      <p:ext uri="{BB962C8B-B14F-4D97-AF65-F5344CB8AC3E}">
        <p14:creationId xmlns:p14="http://schemas.microsoft.com/office/powerpoint/2010/main" val="2699214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306"/>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Dimensional Homogeneity</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a:bodyPr>
              <a:lstStyle/>
              <a:p>
                <a:pPr marL="0" indent="0">
                  <a:spcAft>
                    <a:spcPts val="1200"/>
                  </a:spcAft>
                  <a:buNone/>
                </a:pPr>
                <a:r>
                  <a:rPr lang="en-CA" sz="2200" b="1" dirty="0">
                    <a:latin typeface="+mn-lt"/>
                  </a:rPr>
                  <a:t>Conservation of mass</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lang="en-CA" sz="2000" b="1" i="1" smtClean="0">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r>
                        <a:rPr lang="en-CA" sz="2000" b="1" i="1" smtClean="0">
                          <a:solidFill>
                            <a:schemeClr val="tx1"/>
                          </a:solidFill>
                          <a:latin typeface="Cambria Math" panose="02040503050406030204" pitchFamily="18" charset="0"/>
                          <a:ea typeface="Cambria Math" panose="02040503050406030204" pitchFamily="18" charset="0"/>
                        </a:rPr>
                        <m:t>=</m:t>
                      </m:r>
                      <m:r>
                        <a:rPr lang="en-CA" sz="2000" b="1" i="1" smtClean="0">
                          <a:solidFill>
                            <a:schemeClr val="tx1"/>
                          </a:solidFill>
                          <a:latin typeface="Cambria Math" panose="02040503050406030204" pitchFamily="18" charset="0"/>
                          <a:ea typeface="Cambria Math" panose="02040503050406030204" pitchFamily="18" charset="0"/>
                        </a:rPr>
                        <m:t>𝟎</m:t>
                      </m:r>
                    </m:oMath>
                  </m:oMathPara>
                </a14:m>
                <a:endParaRPr lang="en-CA" sz="2000" b="1" dirty="0">
                  <a:solidFill>
                    <a:schemeClr val="tx1"/>
                  </a:solidFill>
                </a:endParaRPr>
              </a:p>
              <a:p>
                <a:pPr marL="0" indent="0">
                  <a:lnSpc>
                    <a:spcPct val="100000"/>
                  </a:lnSpc>
                  <a:buNone/>
                </a:pPr>
                <a:endParaRPr lang="en-CA" sz="20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f>
                        <m:fPr>
                          <m:ctrlPr>
                            <a:rPr lang="en-CA" sz="2000" b="1" i="1" smtClean="0">
                              <a:solidFill>
                                <a:schemeClr val="tx1"/>
                              </a:solidFill>
                              <a:latin typeface="Cambria Math" panose="02040503050406030204" pitchFamily="18" charset="0"/>
                            </a:rPr>
                          </m:ctrlPr>
                        </m:fPr>
                        <m:num>
                          <m:r>
                            <a:rPr lang="en-CA" sz="2000" b="1" i="1" smtClean="0">
                              <a:solidFill>
                                <a:schemeClr val="tx1"/>
                              </a:solidFill>
                              <a:latin typeface="Cambria Math" panose="02040503050406030204" pitchFamily="18" charset="0"/>
                            </a:rPr>
                            <m:t>𝟏</m:t>
                          </m:r>
                        </m:num>
                        <m:den>
                          <m:r>
                            <a:rPr lang="en-CA" sz="2000" b="1" i="1" smtClean="0">
                              <a:solidFill>
                                <a:schemeClr val="tx1"/>
                              </a:solidFill>
                              <a:latin typeface="Cambria Math" panose="02040503050406030204" pitchFamily="18" charset="0"/>
                              <a:ea typeface="Cambria Math" panose="02040503050406030204" pitchFamily="18" charset="0"/>
                            </a:rPr>
                            <m:t>𝒕</m:t>
                          </m:r>
                        </m:den>
                      </m:f>
                      <m:r>
                        <a:rPr lang="en-CA" sz="2000" b="1" i="1" smtClean="0">
                          <a:solidFill>
                            <a:schemeClr val="tx1"/>
                          </a:solidFill>
                          <a:latin typeface="Cambria Math" panose="02040503050406030204" pitchFamily="18" charset="0"/>
                          <a:ea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smtClean="0">
                              <a:solidFill>
                                <a:schemeClr val="tx1"/>
                              </a:solidFill>
                              <a:latin typeface="Cambria Math" panose="02040503050406030204" pitchFamily="18" charset="0"/>
                            </a:rPr>
                            <m:t>𝑴</m:t>
                          </m:r>
                        </m:num>
                        <m:den>
                          <m:sSup>
                            <m:sSupPr>
                              <m:ctrlPr>
                                <a:rPr lang="en-CA" sz="2000" b="1" i="1" smtClean="0">
                                  <a:solidFill>
                                    <a:schemeClr val="tx1"/>
                                  </a:solidFill>
                                  <a:latin typeface="Cambria Math" panose="02040503050406030204" pitchFamily="18" charset="0"/>
                                  <a:ea typeface="Cambria Math" panose="02040503050406030204" pitchFamily="18" charset="0"/>
                                </a:rPr>
                              </m:ctrlPr>
                            </m:sSupPr>
                            <m:e>
                              <m:r>
                                <a:rPr lang="en-CA" sz="2000" b="1" i="1" smtClean="0">
                                  <a:solidFill>
                                    <a:schemeClr val="tx1"/>
                                  </a:solidFill>
                                  <a:latin typeface="Cambria Math" panose="02040503050406030204" pitchFamily="18" charset="0"/>
                                  <a:ea typeface="Cambria Math" panose="02040503050406030204" pitchFamily="18" charset="0"/>
                                </a:rPr>
                                <m:t>𝑳</m:t>
                              </m:r>
                            </m:e>
                            <m:sup>
                              <m:r>
                                <a:rPr lang="en-CA" sz="2000" b="1" i="1" smtClean="0">
                                  <a:solidFill>
                                    <a:schemeClr val="tx1"/>
                                  </a:solidFill>
                                  <a:latin typeface="Cambria Math" panose="02040503050406030204" pitchFamily="18" charset="0"/>
                                  <a:ea typeface="Cambria Math" panose="02040503050406030204" pitchFamily="18" charset="0"/>
                                </a:rPr>
                                <m:t>𝟑</m:t>
                              </m:r>
                            </m:sup>
                          </m:sSup>
                        </m:den>
                      </m:f>
                      <m:r>
                        <a:rPr lang="en-CA" sz="2000" b="1" i="1" smtClean="0">
                          <a:solidFill>
                            <a:schemeClr val="tx1"/>
                          </a:solidFill>
                          <a:latin typeface="Cambria Math" panose="02040503050406030204" pitchFamily="18" charset="0"/>
                          <a:ea typeface="Cambria Math" panose="02040503050406030204" pitchFamily="18" charset="0"/>
                        </a:rPr>
                        <m:t>∙</m:t>
                      </m:r>
                      <m:sSup>
                        <m:sSupPr>
                          <m:ctrlPr>
                            <a:rPr lang="en-CA" sz="2000" b="1" i="1" smtClean="0">
                              <a:solidFill>
                                <a:schemeClr val="tx1"/>
                              </a:solidFill>
                              <a:latin typeface="Cambria Math" panose="02040503050406030204" pitchFamily="18" charset="0"/>
                              <a:ea typeface="Cambria Math" panose="02040503050406030204" pitchFamily="18" charset="0"/>
                            </a:rPr>
                          </m:ctrlPr>
                        </m:sSupPr>
                        <m:e>
                          <m:r>
                            <a:rPr lang="en-CA" sz="2000" b="1" i="1" smtClean="0">
                              <a:solidFill>
                                <a:schemeClr val="tx1"/>
                              </a:solidFill>
                              <a:latin typeface="Cambria Math" panose="02040503050406030204" pitchFamily="18" charset="0"/>
                              <a:ea typeface="Cambria Math" panose="02040503050406030204" pitchFamily="18" charset="0"/>
                            </a:rPr>
                            <m:t>𝑳</m:t>
                          </m:r>
                        </m:e>
                        <m:sup>
                          <m:r>
                            <a:rPr lang="en-CA" sz="2000" b="1" i="1" smtClean="0">
                              <a:solidFill>
                                <a:schemeClr val="tx1"/>
                              </a:solidFill>
                              <a:latin typeface="Cambria Math" panose="02040503050406030204" pitchFamily="18" charset="0"/>
                              <a:ea typeface="Cambria Math" panose="02040503050406030204" pitchFamily="18" charset="0"/>
                            </a:rPr>
                            <m:t>𝟑</m:t>
                          </m:r>
                        </m:sup>
                      </m:sSup>
                      <m:r>
                        <a:rPr lang="en-CA" sz="2000" b="1" i="1" smtClean="0">
                          <a:solidFill>
                            <a:schemeClr val="tx1"/>
                          </a:solidFill>
                          <a:latin typeface="Cambria Math" panose="02040503050406030204" pitchFamily="18" charset="0"/>
                          <a:ea typeface="Cambria Math" panose="02040503050406030204" pitchFamily="18" charset="0"/>
                        </a:rPr>
                        <m:t>          </m:t>
                      </m:r>
                      <m:f>
                        <m:fPr>
                          <m:ctrlPr>
                            <a:rPr lang="en-CA" sz="2000" b="1" i="1" smtClean="0">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rPr>
                            <m:t>𝑴</m:t>
                          </m:r>
                        </m:num>
                        <m:den>
                          <m:sSup>
                            <m:sSupPr>
                              <m:ctrlPr>
                                <a:rPr lang="en-CA" sz="2000" b="1" i="1">
                                  <a:solidFill>
                                    <a:schemeClr val="tx1"/>
                                  </a:solidFill>
                                  <a:latin typeface="Cambria Math" panose="02040503050406030204" pitchFamily="18" charset="0"/>
                                  <a:ea typeface="Cambria Math" panose="02040503050406030204" pitchFamily="18" charset="0"/>
                                </a:rPr>
                              </m:ctrlPr>
                            </m:sSupPr>
                            <m:e>
                              <m:r>
                                <a:rPr lang="en-CA" sz="2000" b="1" i="1">
                                  <a:solidFill>
                                    <a:schemeClr val="tx1"/>
                                  </a:solidFill>
                                  <a:latin typeface="Cambria Math" panose="02040503050406030204" pitchFamily="18" charset="0"/>
                                  <a:ea typeface="Cambria Math" panose="02040503050406030204" pitchFamily="18" charset="0"/>
                                </a:rPr>
                                <m:t>𝑳</m:t>
                              </m:r>
                            </m:e>
                            <m:sup>
                              <m:r>
                                <a:rPr lang="en-CA" sz="2000" b="1" i="1">
                                  <a:solidFill>
                                    <a:schemeClr val="tx1"/>
                                  </a:solidFill>
                                  <a:latin typeface="Cambria Math" panose="02040503050406030204" pitchFamily="18" charset="0"/>
                                  <a:ea typeface="Cambria Math" panose="02040503050406030204" pitchFamily="18" charset="0"/>
                                </a:rPr>
                                <m:t>𝟑</m:t>
                              </m:r>
                            </m:sup>
                          </m:sSup>
                        </m:den>
                      </m:f>
                      <m:r>
                        <a:rPr lang="en-CA" sz="2000" b="1" i="1" smtClean="0">
                          <a:solidFill>
                            <a:schemeClr val="tx1"/>
                          </a:solidFill>
                          <a:latin typeface="Cambria Math" panose="02040503050406030204" pitchFamily="18" charset="0"/>
                          <a:ea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smtClean="0">
                              <a:solidFill>
                                <a:schemeClr val="tx1"/>
                              </a:solidFill>
                              <a:latin typeface="Cambria Math" panose="02040503050406030204" pitchFamily="18" charset="0"/>
                            </a:rPr>
                            <m:t>𝑳</m:t>
                          </m:r>
                        </m:num>
                        <m:den>
                          <m:r>
                            <a:rPr lang="en-CA" sz="2000" b="1" i="1">
                              <a:solidFill>
                                <a:schemeClr val="tx1"/>
                              </a:solidFill>
                              <a:latin typeface="Cambria Math" panose="02040503050406030204" pitchFamily="18" charset="0"/>
                              <a:ea typeface="Cambria Math" panose="02040503050406030204" pitchFamily="18" charset="0"/>
                            </a:rPr>
                            <m:t>𝒕</m:t>
                          </m:r>
                        </m:den>
                      </m:f>
                      <m:r>
                        <a:rPr lang="en-CA" sz="2000" b="1" i="1" smtClean="0">
                          <a:solidFill>
                            <a:schemeClr val="tx1"/>
                          </a:solidFill>
                          <a:latin typeface="Cambria Math" panose="02040503050406030204" pitchFamily="18" charset="0"/>
                          <a:ea typeface="Cambria Math" panose="02040503050406030204" pitchFamily="18" charset="0"/>
                        </a:rPr>
                        <m:t>∙</m:t>
                      </m:r>
                      <m:sSup>
                        <m:sSupPr>
                          <m:ctrlPr>
                            <a:rPr lang="en-CA" sz="2000" b="1" i="1" smtClean="0">
                              <a:solidFill>
                                <a:schemeClr val="tx1"/>
                              </a:solidFill>
                              <a:latin typeface="Cambria Math" panose="02040503050406030204" pitchFamily="18" charset="0"/>
                              <a:ea typeface="Cambria Math" panose="02040503050406030204" pitchFamily="18" charset="0"/>
                            </a:rPr>
                          </m:ctrlPr>
                        </m:sSupPr>
                        <m:e>
                          <m:r>
                            <a:rPr lang="en-CA" sz="2000" b="1" i="1" smtClean="0">
                              <a:solidFill>
                                <a:schemeClr val="tx1"/>
                              </a:solidFill>
                              <a:latin typeface="Cambria Math" panose="02040503050406030204" pitchFamily="18" charset="0"/>
                              <a:ea typeface="Cambria Math" panose="02040503050406030204" pitchFamily="18" charset="0"/>
                            </a:rPr>
                            <m:t>𝑳</m:t>
                          </m:r>
                        </m:e>
                        <m:sup>
                          <m:r>
                            <a:rPr lang="en-CA" sz="2000" b="1" i="1" smtClean="0">
                              <a:solidFill>
                                <a:schemeClr val="tx1"/>
                              </a:solidFill>
                              <a:latin typeface="Cambria Math" panose="02040503050406030204" pitchFamily="18" charset="0"/>
                              <a:ea typeface="Cambria Math" panose="02040503050406030204" pitchFamily="18" charset="0"/>
                            </a:rPr>
                            <m:t>𝟐</m:t>
                          </m:r>
                        </m:sup>
                      </m:sSup>
                    </m:oMath>
                  </m:oMathPara>
                </a14:m>
                <a:endParaRPr lang="en-CA" sz="2000" b="1" dirty="0">
                  <a:solidFill>
                    <a:schemeClr val="tx1"/>
                  </a:solidFill>
                </a:endParaRPr>
              </a:p>
              <a:p>
                <a:pPr marL="0" indent="0">
                  <a:lnSpc>
                    <a:spcPct val="100000"/>
                  </a:lnSpc>
                  <a:buNone/>
                </a:pPr>
                <a:endParaRPr lang="en-CA" sz="2000" b="1" dirty="0">
                  <a:solidFill>
                    <a:schemeClr val="tx1"/>
                  </a:solidFill>
                </a:endParaRPr>
              </a:p>
              <a:p>
                <a:pPr marL="0" indent="0">
                  <a:lnSpc>
                    <a:spcPct val="100000"/>
                  </a:lnSpc>
                  <a:buNone/>
                </a:pPr>
                <a14:m>
                  <m:oMathPara xmlns:m="http://schemas.openxmlformats.org/officeDocument/2006/math">
                    <m:oMathParaPr>
                      <m:jc m:val="centerGroup"/>
                    </m:oMathParaPr>
                    <m:oMath xmlns:m="http://schemas.openxmlformats.org/officeDocument/2006/math">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rPr>
                            <m:t>𝑴</m:t>
                          </m:r>
                        </m:num>
                        <m:den>
                          <m:r>
                            <a:rPr lang="en-CA" sz="2000" b="1" i="1" smtClean="0">
                              <a:solidFill>
                                <a:schemeClr val="tx1"/>
                              </a:solidFill>
                              <a:latin typeface="Cambria Math" panose="02040503050406030204" pitchFamily="18" charset="0"/>
                              <a:ea typeface="Cambria Math" panose="02040503050406030204" pitchFamily="18" charset="0"/>
                            </a:rPr>
                            <m:t>𝒕</m:t>
                          </m:r>
                        </m:den>
                      </m:f>
                      <m:r>
                        <a:rPr lang="en-CA" sz="2000" b="1" i="1" smtClean="0">
                          <a:solidFill>
                            <a:schemeClr val="tx1"/>
                          </a:solidFill>
                          <a:latin typeface="Cambria Math" panose="02040503050406030204" pitchFamily="18" charset="0"/>
                          <a:ea typeface="Cambria Math" panose="02040503050406030204" pitchFamily="18" charset="0"/>
                        </a:rPr>
                        <m:t>                         </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rPr>
                            <m:t>𝑴</m:t>
                          </m:r>
                        </m:num>
                        <m:den>
                          <m:r>
                            <a:rPr lang="en-CA" sz="2000" b="1" i="1" smtClean="0">
                              <a:solidFill>
                                <a:schemeClr val="tx1"/>
                              </a:solidFill>
                              <a:latin typeface="Cambria Math" panose="02040503050406030204" pitchFamily="18" charset="0"/>
                              <a:ea typeface="Cambria Math" panose="02040503050406030204" pitchFamily="18" charset="0"/>
                            </a:rPr>
                            <m:t>𝒕</m:t>
                          </m:r>
                        </m:den>
                      </m:f>
                    </m:oMath>
                  </m:oMathPara>
                </a14:m>
                <a:endParaRPr lang="en-CA" sz="2000" b="1" dirty="0">
                  <a:solidFill>
                    <a:schemeClr val="tx1"/>
                  </a:solidFill>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1005" t="-1607"/>
                </a:stretch>
              </a:blipFill>
            </p:spPr>
            <p:txBody>
              <a:bodyPr/>
              <a:lstStyle/>
              <a:p>
                <a:r>
                  <a:rPr lang="en-GH">
                    <a:noFill/>
                  </a:rPr>
                  <a:t> </a:t>
                </a:r>
              </a:p>
            </p:txBody>
          </p:sp>
        </mc:Fallback>
      </mc:AlternateContent>
    </p:spTree>
    <p:extLst>
      <p:ext uri="{BB962C8B-B14F-4D97-AF65-F5344CB8AC3E}">
        <p14:creationId xmlns:p14="http://schemas.microsoft.com/office/powerpoint/2010/main" val="3873614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697857113"/>
                  </p:ext>
                </p:extLst>
              </p:nvPr>
            </p:nvGraphicFramePr>
            <p:xfrm>
              <a:off x="791852" y="533400"/>
              <a:ext cx="7285347" cy="6191123"/>
            </p:xfrm>
            <a:graphic>
              <a:graphicData uri="http://schemas.openxmlformats.org/drawingml/2006/table">
                <a:tbl>
                  <a:tblPr firstRow="1" firstCol="1" bandRow="1"/>
                  <a:tblGrid>
                    <a:gridCol w="2428449">
                      <a:extLst>
                        <a:ext uri="{9D8B030D-6E8A-4147-A177-3AD203B41FA5}">
                          <a16:colId xmlns:a16="http://schemas.microsoft.com/office/drawing/2014/main" val="20000"/>
                        </a:ext>
                      </a:extLst>
                    </a:gridCol>
                    <a:gridCol w="2428449">
                      <a:extLst>
                        <a:ext uri="{9D8B030D-6E8A-4147-A177-3AD203B41FA5}">
                          <a16:colId xmlns:a16="http://schemas.microsoft.com/office/drawing/2014/main" val="20001"/>
                        </a:ext>
                      </a:extLst>
                    </a:gridCol>
                    <a:gridCol w="2428449">
                      <a:extLst>
                        <a:ext uri="{9D8B030D-6E8A-4147-A177-3AD203B41FA5}">
                          <a16:colId xmlns:a16="http://schemas.microsoft.com/office/drawing/2014/main" val="20002"/>
                        </a:ext>
                      </a:extLst>
                    </a:gridCol>
                  </a:tblGrid>
                  <a:tr h="174812">
                    <a:tc>
                      <a:txBody>
                        <a:bodyPr/>
                        <a:lstStyle/>
                        <a:p>
                          <a:pPr marL="0" marR="0">
                            <a:lnSpc>
                              <a:spcPct val="115000"/>
                            </a:lnSpc>
                            <a:spcBef>
                              <a:spcPts val="0"/>
                            </a:spcBef>
                            <a:spcAft>
                              <a:spcPts val="0"/>
                            </a:spcAft>
                          </a:pPr>
                          <a:r>
                            <a:rPr lang="en-US" sz="1200" i="1" dirty="0">
                              <a:effectLst/>
                              <a:latin typeface="Times New Roman"/>
                              <a:ea typeface="Times New Roman"/>
                              <a:cs typeface="Times New Roman"/>
                            </a:rPr>
                            <a:t>Physical quantity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Symbol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Dimensions</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4812">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Length</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4812">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Mass</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M</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M</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4812">
                    <a:tc>
                      <a:txBody>
                        <a:bodyPr/>
                        <a:lstStyle/>
                        <a:p>
                          <a:pPr marL="342900" marR="0" lvl="0" indent="-342900">
                            <a:lnSpc>
                              <a:spcPct val="115000"/>
                            </a:lnSpc>
                            <a:spcBef>
                              <a:spcPts val="0"/>
                            </a:spcBef>
                            <a:spcAft>
                              <a:spcPts val="0"/>
                            </a:spcAft>
                            <a:buFont typeface="+mj-lt"/>
                            <a:buAutoNum type="arabicPeriod"/>
                          </a:pPr>
                          <a:r>
                            <a:rPr lang="en-GB" sz="1200">
                              <a:effectLst/>
                              <a:latin typeface="Times New Roman"/>
                              <a:ea typeface="Times New Roman"/>
                              <a:cs typeface="Times New Roman"/>
                            </a:rPr>
                            <a:t>Time</a:t>
                          </a:r>
                          <a:endParaRPr lang="en-US" sz="110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4433">
                    <a:tc>
                      <a:txBody>
                        <a:bodyPr/>
                        <a:lstStyle/>
                        <a:p>
                          <a:pPr marL="0" marR="0">
                            <a:lnSpc>
                              <a:spcPct val="115000"/>
                            </a:lnSpc>
                            <a:spcBef>
                              <a:spcPts val="0"/>
                            </a:spcBef>
                            <a:spcAft>
                              <a:spcPts val="0"/>
                            </a:spcAft>
                          </a:pPr>
                          <a:r>
                            <a:rPr lang="en-US" sz="1200" b="1" i="1">
                              <a:effectLst/>
                              <a:latin typeface="Times New Roman"/>
                              <a:ea typeface="Times New Roman"/>
                              <a:cs typeface="Times New Roman"/>
                            </a:rPr>
                            <a:t>b) Geometric</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4. Area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5. volume</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Ɐ</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573302">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c) Kinematic</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6.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7. Angular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8.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9. Angular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10. Discharge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11. Acceleration due to gravity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12. Kinematic viscosity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v</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𝜔</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a</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Q</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g</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v</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22170">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d) Dynamic quantities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13. Force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14.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15. Density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16. Dynamic viscosity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17. Pressure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18. Modules of elasticity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19. Surface tension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20. Specific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b="1" i="1" dirty="0">
                              <a:effectLst/>
                              <a:latin typeface="Times New Roman"/>
                              <a:ea typeface="Times New Roman"/>
                              <a:cs typeface="Times New Roman"/>
                            </a:rPr>
                            <a:t>e) Physical quantity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21. Shear stress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22. Work, Energy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23. Power</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24. Torque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25. Momentum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ρ</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µ</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p</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E, K</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𝜎</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τ</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 or 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P</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697857113"/>
                  </p:ext>
                </p:extLst>
              </p:nvPr>
            </p:nvGraphicFramePr>
            <p:xfrm>
              <a:off x="791852" y="533400"/>
              <a:ext cx="7285347" cy="6191123"/>
            </p:xfrm>
            <a:graphic>
              <a:graphicData uri="http://schemas.openxmlformats.org/drawingml/2006/table">
                <a:tbl>
                  <a:tblPr firstRow="1" firstCol="1" bandRow="1"/>
                  <a:tblGrid>
                    <a:gridCol w="2428449">
                      <a:extLst>
                        <a:ext uri="{9D8B030D-6E8A-4147-A177-3AD203B41FA5}">
                          <a16:colId xmlns:a16="http://schemas.microsoft.com/office/drawing/2014/main" val="20000"/>
                        </a:ext>
                      </a:extLst>
                    </a:gridCol>
                    <a:gridCol w="2428449">
                      <a:extLst>
                        <a:ext uri="{9D8B030D-6E8A-4147-A177-3AD203B41FA5}">
                          <a16:colId xmlns:a16="http://schemas.microsoft.com/office/drawing/2014/main" val="20001"/>
                        </a:ext>
                      </a:extLst>
                    </a:gridCol>
                    <a:gridCol w="2428449">
                      <a:extLst>
                        <a:ext uri="{9D8B030D-6E8A-4147-A177-3AD203B41FA5}">
                          <a16:colId xmlns:a16="http://schemas.microsoft.com/office/drawing/2014/main" val="20002"/>
                        </a:ext>
                      </a:extLst>
                    </a:gridCol>
                  </a:tblGrid>
                  <a:tr h="193421">
                    <a:tc>
                      <a:txBody>
                        <a:bodyPr/>
                        <a:lstStyle/>
                        <a:p>
                          <a:pPr marL="0" marR="0">
                            <a:lnSpc>
                              <a:spcPct val="115000"/>
                            </a:lnSpc>
                            <a:spcBef>
                              <a:spcPts val="0"/>
                            </a:spcBef>
                            <a:spcAft>
                              <a:spcPts val="0"/>
                            </a:spcAft>
                          </a:pPr>
                          <a:r>
                            <a:rPr lang="en-US" sz="1200" i="1" dirty="0">
                              <a:effectLst/>
                              <a:latin typeface="Times New Roman"/>
                              <a:ea typeface="Times New Roman"/>
                              <a:cs typeface="Times New Roman"/>
                            </a:rPr>
                            <a:t>Physical quantity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Symbol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Dimensions</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3421">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Length</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3421">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Mass</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M</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M</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3421">
                    <a:tc>
                      <a:txBody>
                        <a:bodyPr/>
                        <a:lstStyle/>
                        <a:p>
                          <a:pPr marL="342900" marR="0" lvl="0" indent="-342900">
                            <a:lnSpc>
                              <a:spcPct val="115000"/>
                            </a:lnSpc>
                            <a:spcBef>
                              <a:spcPts val="0"/>
                            </a:spcBef>
                            <a:spcAft>
                              <a:spcPts val="0"/>
                            </a:spcAft>
                            <a:buFont typeface="+mj-lt"/>
                            <a:buAutoNum type="arabicPeriod"/>
                          </a:pPr>
                          <a:r>
                            <a:rPr lang="en-GB" sz="1200">
                              <a:effectLst/>
                              <a:latin typeface="Times New Roman"/>
                              <a:ea typeface="Times New Roman"/>
                              <a:cs typeface="Times New Roman"/>
                            </a:rPr>
                            <a:t>Time</a:t>
                          </a:r>
                          <a:endParaRPr lang="en-US" sz="110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4045">
                    <a:tc>
                      <a:txBody>
                        <a:bodyPr/>
                        <a:lstStyle/>
                        <a:p>
                          <a:pPr marL="0" marR="0">
                            <a:lnSpc>
                              <a:spcPct val="115000"/>
                            </a:lnSpc>
                            <a:spcBef>
                              <a:spcPts val="0"/>
                            </a:spcBef>
                            <a:spcAft>
                              <a:spcPts val="0"/>
                            </a:spcAft>
                          </a:pPr>
                          <a:r>
                            <a:rPr lang="en-US" sz="1200" b="1" i="1">
                              <a:effectLst/>
                              <a:latin typeface="Times New Roman"/>
                              <a:ea typeface="Times New Roman"/>
                              <a:cs typeface="Times New Roman"/>
                            </a:rPr>
                            <a:t>b) Geometric</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4. Area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5. volume</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Ɐ</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665605">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c) Kinematic</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6.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7. Angular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8.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9. Angular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10. Discharge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11. Acceleration due to gravity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12. Kinematic viscosity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GH"/>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03" t="-85036" r="-101005" b="-193431"/>
                          </a:stretch>
                        </a:blipFill>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37789">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d) Dynamic quantities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13. Force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14.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15. Density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16. Dynamic viscosity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17. Pressure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18. Modules of elasticity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19. Surface tension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20. Specific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b="1" i="1" dirty="0">
                              <a:effectLst/>
                              <a:latin typeface="Times New Roman"/>
                              <a:ea typeface="Times New Roman"/>
                              <a:cs typeface="Times New Roman"/>
                            </a:rPr>
                            <a:t>e) Physical quantity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21. Shear stress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22. Work, Energy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23. Power</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24. Torque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25. Momentum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GH"/>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03" t="-98447" r="-101005" b="-2913"/>
                          </a:stretch>
                        </a:blipFill>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6" name="Rectangle 5"/>
              <p:cNvSpPr/>
              <p:nvPr/>
            </p:nvSpPr>
            <p:spPr>
              <a:xfrm>
                <a:off x="194310" y="26670"/>
                <a:ext cx="8332470" cy="461665"/>
              </a:xfrm>
              <a:prstGeom prst="rect">
                <a:avLst/>
              </a:prstGeom>
            </p:spPr>
            <p:txBody>
              <a:bodyPr wrap="square">
                <a:spAutoFit/>
              </a:bodyPr>
              <a:lstStyle/>
              <a:p>
                <a:pPr algn="ctr"/>
                <a:r>
                  <a:rPr lang="en-US" b="0" dirty="0"/>
                  <a:t>Table</a:t>
                </a:r>
                <a14:m>
                  <m:oMath xmlns:m="http://schemas.openxmlformats.org/officeDocument/2006/math">
                    <m:r>
                      <a:rPr lang="en-US" b="0" i="1" smtClean="0">
                        <a:latin typeface="Cambria Math"/>
                      </a:rPr>
                      <m:t> 2.1 </m:t>
                    </m:r>
                    <m:r>
                      <a:rPr lang="en-US" b="0" i="1" smtClean="0">
                        <a:latin typeface="Cambria Math"/>
                      </a:rPr>
                      <m:t>𝑃h𝑦𝑠𝑖𝑐𝑎𝑙</m:t>
                    </m:r>
                    <m:r>
                      <a:rPr lang="en-US" b="0" i="1" smtClean="0">
                        <a:latin typeface="Cambria Math"/>
                      </a:rPr>
                      <m:t> </m:t>
                    </m:r>
                    <m:r>
                      <a:rPr lang="en-US" b="0" i="1" smtClean="0">
                        <a:latin typeface="Cambria Math"/>
                      </a:rPr>
                      <m:t>𝑞𝑢𝑎𝑛𝑡𝑖𝑡𝑖𝑒𝑠</m:t>
                    </m:r>
                    <m:r>
                      <a:rPr lang="en-US" b="0" i="1" smtClean="0">
                        <a:latin typeface="Cambria Math"/>
                      </a:rPr>
                      <m:t> </m:t>
                    </m:r>
                    <m:r>
                      <a:rPr lang="en-US" b="0" i="1" smtClean="0">
                        <a:latin typeface="Cambria Math"/>
                      </a:rPr>
                      <m:t>𝑎𝑛𝑑</m:t>
                    </m:r>
                    <m:r>
                      <a:rPr lang="en-US" b="0" i="1" smtClean="0">
                        <a:latin typeface="Cambria Math"/>
                      </a:rPr>
                      <m:t> </m:t>
                    </m:r>
                    <m:r>
                      <a:rPr lang="en-US" b="0" i="1" smtClean="0">
                        <a:latin typeface="Cambria Math"/>
                      </a:rPr>
                      <m:t>𝑑𝑖𝑚𝑒𝑛𝑠𝑖𝑜𝑛𝑠</m:t>
                    </m:r>
                  </m:oMath>
                </a14:m>
                <a:r>
                  <a:rPr lang="en-US" dirty="0"/>
                  <a:t> (</a:t>
                </a:r>
                <a:r>
                  <a:rPr lang="en-US" dirty="0" err="1"/>
                  <a:t>MLt</a:t>
                </a:r>
                <a:r>
                  <a:rPr lang="en-US" dirty="0"/>
                  <a:t> System)</a:t>
                </a:r>
              </a:p>
            </p:txBody>
          </p:sp>
        </mc:Choice>
        <mc:Fallback xmlns="">
          <p:sp>
            <p:nvSpPr>
              <p:cNvPr id="6" name="Rectangle 5"/>
              <p:cNvSpPr>
                <a:spLocks noRot="1" noChangeAspect="1" noMove="1" noResize="1" noEditPoints="1" noAdjustHandles="1" noChangeArrowheads="1" noChangeShapeType="1" noTextEdit="1"/>
              </p:cNvSpPr>
              <p:nvPr/>
            </p:nvSpPr>
            <p:spPr>
              <a:xfrm>
                <a:off x="194310" y="26670"/>
                <a:ext cx="8332470" cy="461665"/>
              </a:xfrm>
              <a:prstGeom prst="rect">
                <a:avLst/>
              </a:prstGeom>
              <a:blipFill>
                <a:blip r:embed="rId4"/>
                <a:stretch>
                  <a:fillRect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3370321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074766443"/>
                  </p:ext>
                </p:extLst>
              </p:nvPr>
            </p:nvGraphicFramePr>
            <p:xfrm>
              <a:off x="791852" y="533400"/>
              <a:ext cx="7285347" cy="5980811"/>
            </p:xfrm>
            <a:graphic>
              <a:graphicData uri="http://schemas.openxmlformats.org/drawingml/2006/table">
                <a:tbl>
                  <a:tblPr firstRow="1" firstCol="1" bandRow="1"/>
                  <a:tblGrid>
                    <a:gridCol w="2428449">
                      <a:extLst>
                        <a:ext uri="{9D8B030D-6E8A-4147-A177-3AD203B41FA5}">
                          <a16:colId xmlns:a16="http://schemas.microsoft.com/office/drawing/2014/main" val="20000"/>
                        </a:ext>
                      </a:extLst>
                    </a:gridCol>
                    <a:gridCol w="2428449">
                      <a:extLst>
                        <a:ext uri="{9D8B030D-6E8A-4147-A177-3AD203B41FA5}">
                          <a16:colId xmlns:a16="http://schemas.microsoft.com/office/drawing/2014/main" val="20001"/>
                        </a:ext>
                      </a:extLst>
                    </a:gridCol>
                    <a:gridCol w="2428449">
                      <a:extLst>
                        <a:ext uri="{9D8B030D-6E8A-4147-A177-3AD203B41FA5}">
                          <a16:colId xmlns:a16="http://schemas.microsoft.com/office/drawing/2014/main" val="20002"/>
                        </a:ext>
                      </a:extLst>
                    </a:gridCol>
                  </a:tblGrid>
                  <a:tr h="174812">
                    <a:tc>
                      <a:txBody>
                        <a:bodyPr/>
                        <a:lstStyle/>
                        <a:p>
                          <a:pPr marL="0" marR="0">
                            <a:lnSpc>
                              <a:spcPct val="115000"/>
                            </a:lnSpc>
                            <a:spcBef>
                              <a:spcPts val="0"/>
                            </a:spcBef>
                            <a:spcAft>
                              <a:spcPts val="0"/>
                            </a:spcAft>
                          </a:pPr>
                          <a:r>
                            <a:rPr lang="en-US" sz="1200" i="1" dirty="0">
                              <a:effectLst/>
                              <a:latin typeface="Times New Roman"/>
                              <a:ea typeface="Times New Roman"/>
                              <a:cs typeface="Times New Roman"/>
                            </a:rPr>
                            <a:t>Physical quantity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Symbol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Dimensions</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4812">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Length</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4812">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Force</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4812">
                    <a:tc>
                      <a:txBody>
                        <a:bodyPr/>
                        <a:lstStyle/>
                        <a:p>
                          <a:pPr marL="342900" marR="0" lvl="0" indent="-342900">
                            <a:lnSpc>
                              <a:spcPct val="115000"/>
                            </a:lnSpc>
                            <a:spcBef>
                              <a:spcPts val="0"/>
                            </a:spcBef>
                            <a:spcAft>
                              <a:spcPts val="0"/>
                            </a:spcAft>
                            <a:buFont typeface="+mj-lt"/>
                            <a:buAutoNum type="arabicPeriod"/>
                          </a:pPr>
                          <a:r>
                            <a:rPr lang="en-GB" sz="1200">
                              <a:effectLst/>
                              <a:latin typeface="Times New Roman"/>
                              <a:ea typeface="Times New Roman"/>
                              <a:cs typeface="Times New Roman"/>
                            </a:rPr>
                            <a:t>Time</a:t>
                          </a:r>
                          <a:endParaRPr lang="en-US" sz="110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4433">
                    <a:tc>
                      <a:txBody>
                        <a:bodyPr/>
                        <a:lstStyle/>
                        <a:p>
                          <a:pPr marL="0" marR="0">
                            <a:lnSpc>
                              <a:spcPct val="115000"/>
                            </a:lnSpc>
                            <a:spcBef>
                              <a:spcPts val="0"/>
                            </a:spcBef>
                            <a:spcAft>
                              <a:spcPts val="0"/>
                            </a:spcAft>
                          </a:pPr>
                          <a:r>
                            <a:rPr lang="en-US" sz="1200" b="1" i="1">
                              <a:effectLst/>
                              <a:latin typeface="Times New Roman"/>
                              <a:ea typeface="Times New Roman"/>
                              <a:cs typeface="Times New Roman"/>
                            </a:rPr>
                            <a:t>b) Geometric</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4. Area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5. volume</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Ɐ</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L</a:t>
                          </a:r>
                          <a:r>
                            <a:rPr lang="en-US" sz="1200" baseline="30000">
                              <a:effectLst/>
                              <a:latin typeface="Times New Roman"/>
                              <a:ea typeface="Times New Roman"/>
                              <a:cs typeface="Times New Roman"/>
                            </a:rPr>
                            <a:t>2</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L</a:t>
                          </a:r>
                          <a:r>
                            <a:rPr lang="en-US" sz="1200" baseline="30000">
                              <a:effectLst/>
                              <a:latin typeface="Times New Roman"/>
                              <a:ea typeface="Times New Roman"/>
                              <a:cs typeface="Times New Roman"/>
                            </a:rPr>
                            <a:t>3</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573302">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c) Kinematic</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6.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7. Angular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8.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9. Angular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10. Discharge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11. Acceleration due to gravity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12. Kinematic viscosity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v</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𝜔</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a</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Q</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g</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v</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22170">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d) Dynamic quantities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13. Mass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14.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15. Density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16. Dynamic viscosity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17. Pressure and Stress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18. Modules of elasticity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19. Surface tension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20. Specific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b="1" i="1" dirty="0">
                              <a:effectLst/>
                              <a:latin typeface="Times New Roman"/>
                              <a:ea typeface="Times New Roman"/>
                              <a:cs typeface="Times New Roman"/>
                            </a:rPr>
                            <a:t>e) Physical quantity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22. Work, Energy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23. Power</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24. Torque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25. Momentum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ρ</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µ</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p</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E, K</a:t>
                          </a:r>
                          <a:endParaRPr lang="en-US" sz="1100" dirty="0">
                            <a:effectLst/>
                            <a:latin typeface="Times New Roman"/>
                            <a:ea typeface="Times New Roman"/>
                            <a:cs typeface="Times New Roman"/>
                          </a:endParaRPr>
                        </a:p>
                        <a:p>
                          <a:pPr marL="0" marR="0">
                            <a:lnSpc>
                              <a:spcPct val="115000"/>
                            </a:lnSpc>
                            <a:spcBef>
                              <a:spcPts val="0"/>
                            </a:spcBef>
                            <a:spcAft>
                              <a:spcPts val="0"/>
                            </a:spcAft>
                          </a:pPr>
                          <a14:m>
                            <m:oMath xmlns:m="http://schemas.openxmlformats.org/officeDocument/2006/math">
                              <m:r>
                                <a:rPr lang="en-US" sz="1200" i="1">
                                  <a:effectLst/>
                                  <a:latin typeface="Cambria Math"/>
                                  <a:ea typeface="Times New Roman"/>
                                  <a:cs typeface="Times New Roman"/>
                                </a:rPr>
                                <m:t>𝜎</m:t>
                              </m:r>
                            </m:oMath>
                          </a14:m>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W or 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P</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baseline="300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-4</a:t>
                          </a:r>
                          <a:r>
                            <a:rPr lang="en-US" sz="1200" baseline="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baseline="300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074766443"/>
                  </p:ext>
                </p:extLst>
              </p:nvPr>
            </p:nvGraphicFramePr>
            <p:xfrm>
              <a:off x="791852" y="533400"/>
              <a:ext cx="7285347" cy="5980811"/>
            </p:xfrm>
            <a:graphic>
              <a:graphicData uri="http://schemas.openxmlformats.org/drawingml/2006/table">
                <a:tbl>
                  <a:tblPr firstRow="1" firstCol="1" bandRow="1"/>
                  <a:tblGrid>
                    <a:gridCol w="2428449">
                      <a:extLst>
                        <a:ext uri="{9D8B030D-6E8A-4147-A177-3AD203B41FA5}">
                          <a16:colId xmlns:a16="http://schemas.microsoft.com/office/drawing/2014/main" val="20000"/>
                        </a:ext>
                      </a:extLst>
                    </a:gridCol>
                    <a:gridCol w="2428449">
                      <a:extLst>
                        <a:ext uri="{9D8B030D-6E8A-4147-A177-3AD203B41FA5}">
                          <a16:colId xmlns:a16="http://schemas.microsoft.com/office/drawing/2014/main" val="20001"/>
                        </a:ext>
                      </a:extLst>
                    </a:gridCol>
                    <a:gridCol w="2428449">
                      <a:extLst>
                        <a:ext uri="{9D8B030D-6E8A-4147-A177-3AD203B41FA5}">
                          <a16:colId xmlns:a16="http://schemas.microsoft.com/office/drawing/2014/main" val="20002"/>
                        </a:ext>
                      </a:extLst>
                    </a:gridCol>
                  </a:tblGrid>
                  <a:tr h="193421">
                    <a:tc>
                      <a:txBody>
                        <a:bodyPr/>
                        <a:lstStyle/>
                        <a:p>
                          <a:pPr marL="0" marR="0">
                            <a:lnSpc>
                              <a:spcPct val="115000"/>
                            </a:lnSpc>
                            <a:spcBef>
                              <a:spcPts val="0"/>
                            </a:spcBef>
                            <a:spcAft>
                              <a:spcPts val="0"/>
                            </a:spcAft>
                          </a:pPr>
                          <a:r>
                            <a:rPr lang="en-US" sz="1200" i="1" dirty="0">
                              <a:effectLst/>
                              <a:latin typeface="Times New Roman"/>
                              <a:ea typeface="Times New Roman"/>
                              <a:cs typeface="Times New Roman"/>
                            </a:rPr>
                            <a:t>Physical quantity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Symbol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i="1">
                              <a:effectLst/>
                              <a:latin typeface="Times New Roman"/>
                              <a:ea typeface="Times New Roman"/>
                              <a:cs typeface="Times New Roman"/>
                            </a:rPr>
                            <a:t>Dimensions</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3421">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Length</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L</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3421">
                    <a:tc>
                      <a:txBody>
                        <a:bodyPr/>
                        <a:lstStyle/>
                        <a:p>
                          <a:pPr marL="342900" marR="0" lvl="0" indent="-342900">
                            <a:lnSpc>
                              <a:spcPct val="115000"/>
                            </a:lnSpc>
                            <a:spcBef>
                              <a:spcPts val="0"/>
                            </a:spcBef>
                            <a:spcAft>
                              <a:spcPts val="0"/>
                            </a:spcAft>
                            <a:buFont typeface="+mj-lt"/>
                            <a:buAutoNum type="arabicPeriod"/>
                          </a:pPr>
                          <a:r>
                            <a:rPr lang="en-GB" sz="1200" dirty="0">
                              <a:effectLst/>
                              <a:latin typeface="Times New Roman"/>
                              <a:ea typeface="Times New Roman"/>
                              <a:cs typeface="Times New Roman"/>
                            </a:rPr>
                            <a:t>Force</a:t>
                          </a:r>
                          <a:endParaRPr lang="en-US" sz="1100" dirty="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3421">
                    <a:tc>
                      <a:txBody>
                        <a:bodyPr/>
                        <a:lstStyle/>
                        <a:p>
                          <a:pPr marL="342900" marR="0" lvl="0" indent="-342900">
                            <a:lnSpc>
                              <a:spcPct val="115000"/>
                            </a:lnSpc>
                            <a:spcBef>
                              <a:spcPts val="0"/>
                            </a:spcBef>
                            <a:spcAft>
                              <a:spcPts val="0"/>
                            </a:spcAft>
                            <a:buFont typeface="+mj-lt"/>
                            <a:buAutoNum type="arabicPeriod"/>
                          </a:pPr>
                          <a:r>
                            <a:rPr lang="en-GB" sz="1200">
                              <a:effectLst/>
                              <a:latin typeface="Times New Roman"/>
                              <a:ea typeface="Times New Roman"/>
                              <a:cs typeface="Times New Roman"/>
                            </a:rPr>
                            <a:t>Time</a:t>
                          </a:r>
                          <a:endParaRPr lang="en-US" sz="1100">
                            <a:effectLst/>
                            <a:latin typeface="Arial"/>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4045">
                    <a:tc>
                      <a:txBody>
                        <a:bodyPr/>
                        <a:lstStyle/>
                        <a:p>
                          <a:pPr marL="0" marR="0">
                            <a:lnSpc>
                              <a:spcPct val="115000"/>
                            </a:lnSpc>
                            <a:spcBef>
                              <a:spcPts val="0"/>
                            </a:spcBef>
                            <a:spcAft>
                              <a:spcPts val="0"/>
                            </a:spcAft>
                          </a:pPr>
                          <a:r>
                            <a:rPr lang="en-US" sz="1200" b="1" i="1">
                              <a:effectLst/>
                              <a:latin typeface="Times New Roman"/>
                              <a:ea typeface="Times New Roman"/>
                              <a:cs typeface="Times New Roman"/>
                            </a:rPr>
                            <a:t>b) Geometric</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4. Area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5. volume</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A</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Ɐ</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latin typeface="Times New Roman"/>
                              <a:ea typeface="Times New Roman"/>
                              <a:cs typeface="Times New Roman"/>
                            </a:rPr>
                            <a:t> </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L</a:t>
                          </a:r>
                          <a:r>
                            <a:rPr lang="en-US" sz="1200" baseline="30000">
                              <a:effectLst/>
                              <a:latin typeface="Times New Roman"/>
                              <a:ea typeface="Times New Roman"/>
                              <a:cs typeface="Times New Roman"/>
                            </a:rPr>
                            <a:t>2</a:t>
                          </a:r>
                          <a:endParaRPr lang="en-US" sz="1100">
                            <a:effectLst/>
                            <a:latin typeface="Times New Roman"/>
                            <a:ea typeface="Times New Roman"/>
                            <a:cs typeface="Times New Roman"/>
                          </a:endParaRPr>
                        </a:p>
                        <a:p>
                          <a:pPr marL="0" marR="0">
                            <a:lnSpc>
                              <a:spcPct val="115000"/>
                            </a:lnSpc>
                            <a:spcBef>
                              <a:spcPts val="0"/>
                            </a:spcBef>
                            <a:spcAft>
                              <a:spcPts val="0"/>
                            </a:spcAft>
                          </a:pPr>
                          <a:r>
                            <a:rPr lang="en-US" sz="1200">
                              <a:effectLst/>
                              <a:latin typeface="Times New Roman"/>
                              <a:ea typeface="Times New Roman"/>
                              <a:cs typeface="Times New Roman"/>
                            </a:rPr>
                            <a:t>L</a:t>
                          </a:r>
                          <a:r>
                            <a:rPr lang="en-US" sz="1200" baseline="30000">
                              <a:effectLst/>
                              <a:latin typeface="Times New Roman"/>
                              <a:ea typeface="Times New Roman"/>
                              <a:cs typeface="Times New Roman"/>
                            </a:rPr>
                            <a:t>3</a:t>
                          </a:r>
                          <a:endParaRPr lang="en-US" sz="110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665605">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c) Kinematic</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6.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7. Angular Velocity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8.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9. Angular acceleration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10. Discharge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11. Acceleration due to gravity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12. Kinematic viscosity</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GH"/>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03" t="-85348" r="-101005" b="-181685"/>
                          </a:stretch>
                        </a:blipFill>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3</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Lt</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27477">
                    <a:tc>
                      <a:txBody>
                        <a:bodyPr/>
                        <a:lstStyle/>
                        <a:p>
                          <a:pPr marL="0" marR="0">
                            <a:lnSpc>
                              <a:spcPct val="115000"/>
                            </a:lnSpc>
                            <a:spcBef>
                              <a:spcPts val="0"/>
                            </a:spcBef>
                            <a:spcAft>
                              <a:spcPts val="0"/>
                            </a:spcAft>
                          </a:pPr>
                          <a:r>
                            <a:rPr lang="en-US" sz="1200" b="1" i="1" dirty="0">
                              <a:effectLst/>
                              <a:latin typeface="Times New Roman"/>
                              <a:ea typeface="Times New Roman"/>
                              <a:cs typeface="Times New Roman"/>
                            </a:rPr>
                            <a:t>d) Dynamic quantities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13. Mass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14.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15. Density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16. Dynamic viscosity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17. Pressure and Stress</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18. Modules of elasticity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19. Surface tension</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20. Specific weight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b="1" i="1" dirty="0">
                              <a:effectLst/>
                              <a:latin typeface="Times New Roman"/>
                              <a:ea typeface="Times New Roman"/>
                              <a:cs typeface="Times New Roman"/>
                            </a:rPr>
                            <a:t>e) Physical quantity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22. Work, Energy</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23. Power</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24. Torque</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25. Momentum</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GH"/>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03" t="-105198" r="-101005" b="-3119"/>
                          </a:stretch>
                        </a:blipFill>
                      </a:tcPr>
                    </a:tc>
                    <a:tc>
                      <a:txBody>
                        <a:bodyPr/>
                        <a:lstStyle/>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-1</a:t>
                          </a:r>
                          <a:r>
                            <a:rPr lang="en-US" sz="120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baseline="300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-4</a:t>
                          </a:r>
                          <a:r>
                            <a:rPr lang="en-US" sz="1200" baseline="0" dirty="0">
                              <a:effectLst/>
                              <a:latin typeface="Times New Roman"/>
                              <a:ea typeface="Times New Roman"/>
                              <a:cs typeface="Times New Roman"/>
                            </a:rPr>
                            <a:t>t</a:t>
                          </a:r>
                          <a:r>
                            <a:rPr lang="en-US" sz="1200" baseline="30000" dirty="0">
                              <a:effectLst/>
                              <a:latin typeface="Times New Roman"/>
                              <a:ea typeface="Times New Roman"/>
                              <a:cs typeface="Times New Roman"/>
                            </a:rPr>
                            <a:t>2</a:t>
                          </a:r>
                          <a:endParaRPr lang="en-US" sz="1100" baseline="300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r>
                            <a:rPr lang="en-US" sz="1200" dirty="0">
                              <a:effectLst/>
                              <a:latin typeface="Times New Roman"/>
                              <a:ea typeface="Times New Roman"/>
                              <a:cs typeface="Times New Roman"/>
                            </a:rPr>
                            <a:t>t</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-2</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r>
                            <a:rPr lang="en-US" sz="1200" baseline="30000" dirty="0">
                              <a:effectLst/>
                              <a:latin typeface="Times New Roman"/>
                              <a:ea typeface="Times New Roman"/>
                              <a:cs typeface="Times New Roman"/>
                            </a:rPr>
                            <a:t>-3</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 </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FLt</a:t>
                          </a:r>
                          <a:r>
                            <a:rPr lang="en-US" sz="1200" baseline="30000" dirty="0">
                              <a:effectLst/>
                              <a:latin typeface="Times New Roman"/>
                              <a:ea typeface="Times New Roman"/>
                              <a:cs typeface="Times New Roman"/>
                            </a:rPr>
                            <a:t>-1</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FL</a:t>
                          </a:r>
                          <a:endParaRPr lang="en-US" sz="1100" dirty="0">
                            <a:effectLst/>
                            <a:latin typeface="Times New Roman"/>
                            <a:ea typeface="Times New Roman"/>
                            <a:cs typeface="Times New Roman"/>
                          </a:endParaRPr>
                        </a:p>
                        <a:p>
                          <a:pPr marL="0" marR="0">
                            <a:lnSpc>
                              <a:spcPct val="115000"/>
                            </a:lnSpc>
                            <a:spcBef>
                              <a:spcPts val="0"/>
                            </a:spcBef>
                            <a:spcAft>
                              <a:spcPts val="0"/>
                            </a:spcAft>
                          </a:pPr>
                          <a:r>
                            <a:rPr lang="en-US" sz="1200" dirty="0">
                              <a:effectLst/>
                              <a:latin typeface="Times New Roman"/>
                              <a:ea typeface="Times New Roman"/>
                              <a:cs typeface="Times New Roman"/>
                            </a:rPr>
                            <a:t>FT</a:t>
                          </a:r>
                          <a:endParaRPr lang="en-US" sz="1100" dirty="0">
                            <a:effectLst/>
                            <a:latin typeface="Times New Roman"/>
                            <a:ea typeface="Times New Roman"/>
                            <a:cs typeface="Times New Roman"/>
                          </a:endParaRPr>
                        </a:p>
                      </a:txBody>
                      <a:tcPr marL="47608" marR="476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6" name="Rectangle 5"/>
              <p:cNvSpPr/>
              <p:nvPr/>
            </p:nvSpPr>
            <p:spPr>
              <a:xfrm>
                <a:off x="194310" y="26670"/>
                <a:ext cx="8332470" cy="461665"/>
              </a:xfrm>
              <a:prstGeom prst="rect">
                <a:avLst/>
              </a:prstGeom>
            </p:spPr>
            <p:txBody>
              <a:bodyPr wrap="square">
                <a:spAutoFit/>
              </a:bodyPr>
              <a:lstStyle/>
              <a:p>
                <a:pPr algn="ctr"/>
                <a:r>
                  <a:rPr lang="en-US" b="0" dirty="0"/>
                  <a:t>Table</a:t>
                </a:r>
                <a14:m>
                  <m:oMath xmlns:m="http://schemas.openxmlformats.org/officeDocument/2006/math">
                    <m:r>
                      <a:rPr lang="en-US" b="0" i="1" smtClean="0">
                        <a:latin typeface="Cambria Math"/>
                      </a:rPr>
                      <m:t> 2.</m:t>
                    </m:r>
                    <m:r>
                      <a:rPr lang="en-GB" b="0" i="1" smtClean="0">
                        <a:latin typeface="Cambria Math" panose="02040503050406030204" pitchFamily="18" charset="0"/>
                      </a:rPr>
                      <m:t>2</m:t>
                    </m:r>
                    <m:r>
                      <a:rPr lang="en-US" b="0" i="1" smtClean="0">
                        <a:latin typeface="Cambria Math"/>
                      </a:rPr>
                      <m:t> </m:t>
                    </m:r>
                    <m:r>
                      <a:rPr lang="en-US" b="0" i="1" smtClean="0">
                        <a:latin typeface="Cambria Math"/>
                      </a:rPr>
                      <m:t>𝑃h𝑦𝑠𝑖𝑐𝑎𝑙</m:t>
                    </m:r>
                    <m:r>
                      <a:rPr lang="en-US" b="0" i="1" smtClean="0">
                        <a:latin typeface="Cambria Math"/>
                      </a:rPr>
                      <m:t> </m:t>
                    </m:r>
                    <m:r>
                      <a:rPr lang="en-US" b="0" i="1" smtClean="0">
                        <a:latin typeface="Cambria Math"/>
                      </a:rPr>
                      <m:t>𝑞𝑢𝑎𝑛𝑡𝑖𝑡𝑖𝑒𝑠</m:t>
                    </m:r>
                    <m:r>
                      <a:rPr lang="en-US" b="0" i="1" smtClean="0">
                        <a:latin typeface="Cambria Math"/>
                      </a:rPr>
                      <m:t> </m:t>
                    </m:r>
                    <m:r>
                      <a:rPr lang="en-US" b="0" i="1" smtClean="0">
                        <a:latin typeface="Cambria Math"/>
                      </a:rPr>
                      <m:t>𝑎𝑛𝑑</m:t>
                    </m:r>
                    <m:r>
                      <a:rPr lang="en-US" b="0" i="1" smtClean="0">
                        <a:latin typeface="Cambria Math"/>
                      </a:rPr>
                      <m:t> </m:t>
                    </m:r>
                    <m:r>
                      <a:rPr lang="en-US" b="0" i="1" smtClean="0">
                        <a:latin typeface="Cambria Math"/>
                      </a:rPr>
                      <m:t>𝑑𝑖𝑚𝑒𝑛𝑠𝑖𝑜𝑛𝑠</m:t>
                    </m:r>
                  </m:oMath>
                </a14:m>
                <a:r>
                  <a:rPr lang="en-US" dirty="0"/>
                  <a:t> (FLt System)</a:t>
                </a:r>
              </a:p>
            </p:txBody>
          </p:sp>
        </mc:Choice>
        <mc:Fallback xmlns="">
          <p:sp>
            <p:nvSpPr>
              <p:cNvPr id="6" name="Rectangle 5"/>
              <p:cNvSpPr>
                <a:spLocks noRot="1" noChangeAspect="1" noMove="1" noResize="1" noEditPoints="1" noAdjustHandles="1" noChangeArrowheads="1" noChangeShapeType="1" noTextEdit="1"/>
              </p:cNvSpPr>
              <p:nvPr/>
            </p:nvSpPr>
            <p:spPr>
              <a:xfrm>
                <a:off x="194310" y="26670"/>
                <a:ext cx="8332470" cy="461665"/>
              </a:xfrm>
              <a:prstGeom prst="rect">
                <a:avLst/>
              </a:prstGeom>
              <a:blipFill>
                <a:blip r:embed="rId4"/>
                <a:stretch>
                  <a:fillRect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3969029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990601"/>
                <a:ext cx="8763000" cy="4486656"/>
              </a:xfrm>
            </p:spPr>
            <p:txBody>
              <a:bodyPr/>
              <a:lstStyle/>
              <a:p>
                <a:pPr marL="0" indent="0" algn="just">
                  <a:lnSpc>
                    <a:spcPct val="100000"/>
                  </a:lnSpc>
                  <a:buNone/>
                </a:pPr>
                <a:r>
                  <a:rPr lang="en-US" sz="2800" dirty="0">
                    <a:latin typeface="+mn-lt"/>
                  </a:rPr>
                  <a:t>If the number of variables involved in a physical phenomenon is known, then the relation among the variables can be determined by the following two methods</a:t>
                </a:r>
              </a:p>
              <a:p>
                <a:pPr lvl="0">
                  <a:lnSpc>
                    <a:spcPct val="150000"/>
                  </a:lnSpc>
                </a:pPr>
                <a:r>
                  <a:rPr lang="en-GB" sz="2800" dirty="0">
                    <a:latin typeface="+mn-lt"/>
                  </a:rPr>
                  <a:t>Rayleigh’s method</a:t>
                </a:r>
                <a:endParaRPr lang="en-US" sz="2800" dirty="0">
                  <a:latin typeface="+mn-lt"/>
                </a:endParaRPr>
              </a:p>
              <a:p>
                <a:pPr lvl="0">
                  <a:lnSpc>
                    <a:spcPct val="150000"/>
                  </a:lnSpc>
                </a:pPr>
                <a:r>
                  <a:rPr lang="en-GB" sz="2800" dirty="0">
                    <a:latin typeface="+mn-lt"/>
                  </a:rPr>
                  <a:t>Buckingham’s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Π</m:t>
                    </m:r>
                  </m:oMath>
                </a14:m>
                <a:r>
                  <a:rPr lang="en-GB" sz="2800" dirty="0">
                    <a:latin typeface="+mn-lt"/>
                  </a:rPr>
                  <a:t>-theorem</a:t>
                </a:r>
                <a:endParaRPr lang="en-US" sz="2800" dirty="0">
                  <a:latin typeface="+mn-lt"/>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990601"/>
                <a:ext cx="8763000" cy="4486656"/>
              </a:xfrm>
              <a:blipFill>
                <a:blip r:embed="rId3"/>
                <a:stretch>
                  <a:fillRect l="-1461" t="-1359" r="-1392"/>
                </a:stretch>
              </a:blipFill>
            </p:spPr>
            <p:txBody>
              <a:bodyPr/>
              <a:lstStyle/>
              <a:p>
                <a:r>
                  <a:rPr lang="en-GH">
                    <a:noFill/>
                  </a:rPr>
                  <a:t> </a:t>
                </a:r>
              </a:p>
            </p:txBody>
          </p:sp>
        </mc:Fallback>
      </mc:AlternateContent>
      <p:sp>
        <p:nvSpPr>
          <p:cNvPr id="6" name="Title 1">
            <a:extLst>
              <a:ext uri="{FF2B5EF4-FFF2-40B4-BE49-F238E27FC236}">
                <a16:creationId xmlns:a16="http://schemas.microsoft.com/office/drawing/2014/main" id="{BDC82034-3D43-CFB5-0C58-58854A59DB19}"/>
              </a:ext>
            </a:extLst>
          </p:cNvPr>
          <p:cNvSpPr>
            <a:spLocks noGrp="1"/>
          </p:cNvSpPr>
          <p:nvPr>
            <p:ph type="title"/>
          </p:nvPr>
        </p:nvSpPr>
        <p:spPr>
          <a:xfrm>
            <a:off x="0" y="9306"/>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Methods of Dimensional Analysis</a:t>
            </a:r>
          </a:p>
        </p:txBody>
      </p:sp>
    </p:spTree>
    <p:extLst>
      <p:ext uri="{BB962C8B-B14F-4D97-AF65-F5344CB8AC3E}">
        <p14:creationId xmlns:p14="http://schemas.microsoft.com/office/powerpoint/2010/main" val="241044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957"/>
            <a:ext cx="8229600" cy="487362"/>
          </a:xfrm>
        </p:spPr>
        <p:txBody>
          <a:bodyPr>
            <a:noAutofit/>
          </a:bodyPr>
          <a:lstStyle/>
          <a:p>
            <a:r>
              <a:rPr lang="en-US" sz="2400" b="1" dirty="0">
                <a:solidFill>
                  <a:schemeClr val="tx1"/>
                </a:solidFill>
              </a:rPr>
              <a:t>THE RAYLEIGH METHOD</a:t>
            </a:r>
            <a:endParaRPr lang="en-US" sz="2400" dirty="0">
              <a:solidFill>
                <a:schemeClr val="tx1"/>
              </a:solidFill>
            </a:endParaRPr>
          </a:p>
        </p:txBody>
      </p:sp>
      <p:sp>
        <p:nvSpPr>
          <p:cNvPr id="3" name="Content Placeholder 2"/>
          <p:cNvSpPr>
            <a:spLocks noGrp="1"/>
          </p:cNvSpPr>
          <p:nvPr>
            <p:ph idx="1"/>
          </p:nvPr>
        </p:nvSpPr>
        <p:spPr>
          <a:xfrm>
            <a:off x="0" y="621189"/>
            <a:ext cx="9144000" cy="5211763"/>
          </a:xfrm>
        </p:spPr>
        <p:txBody>
          <a:bodyPr>
            <a:normAutofit/>
          </a:bodyPr>
          <a:lstStyle/>
          <a:p>
            <a:r>
              <a:rPr lang="en-US" sz="2600" dirty="0">
                <a:latin typeface="+mn-lt"/>
              </a:rPr>
              <a:t>Used for determining the expression for a variable which depends on maximum of three variables only. If the number of independent variables becomes more than three then it is very difficult to find the expression for the dependent variable.</a:t>
            </a:r>
          </a:p>
          <a:p>
            <a:r>
              <a:rPr lang="en-US" sz="2600" dirty="0">
                <a:latin typeface="+mn-lt"/>
              </a:rPr>
              <a:t>Let X be a variable, which depends on X</a:t>
            </a:r>
            <a:r>
              <a:rPr lang="en-US" sz="2600" baseline="-25000" dirty="0">
                <a:latin typeface="+mn-lt"/>
              </a:rPr>
              <a:t>1</a:t>
            </a:r>
            <a:r>
              <a:rPr lang="en-US" sz="2600" dirty="0">
                <a:latin typeface="+mn-lt"/>
              </a:rPr>
              <a:t>, X</a:t>
            </a:r>
            <a:r>
              <a:rPr lang="en-US" sz="2600" baseline="-25000" dirty="0">
                <a:latin typeface="+mn-lt"/>
              </a:rPr>
              <a:t>2</a:t>
            </a:r>
            <a:r>
              <a:rPr lang="en-US" sz="2600" dirty="0">
                <a:latin typeface="+mn-lt"/>
              </a:rPr>
              <a:t>, and X</a:t>
            </a:r>
            <a:r>
              <a:rPr lang="en-US" sz="2600" baseline="-25000" dirty="0">
                <a:latin typeface="+mn-lt"/>
              </a:rPr>
              <a:t>3</a:t>
            </a:r>
            <a:r>
              <a:rPr lang="en-US" sz="2600" dirty="0">
                <a:latin typeface="+mn-lt"/>
              </a:rPr>
              <a:t> variables. </a:t>
            </a:r>
          </a:p>
          <a:p>
            <a:r>
              <a:rPr lang="en-US" sz="2600" dirty="0">
                <a:latin typeface="+mn-lt"/>
              </a:rPr>
              <a:t>Then according to Rayleigh’s method X is a function of X</a:t>
            </a:r>
            <a:r>
              <a:rPr lang="en-US" sz="2600" baseline="-25000" dirty="0">
                <a:latin typeface="+mn-lt"/>
              </a:rPr>
              <a:t>1</a:t>
            </a:r>
            <a:r>
              <a:rPr lang="en-US" sz="2600" dirty="0">
                <a:latin typeface="+mn-lt"/>
              </a:rPr>
              <a:t>, X</a:t>
            </a:r>
            <a:r>
              <a:rPr lang="en-US" sz="2600" baseline="-25000" dirty="0">
                <a:latin typeface="+mn-lt"/>
              </a:rPr>
              <a:t>2</a:t>
            </a:r>
            <a:r>
              <a:rPr lang="en-US" sz="2600" dirty="0">
                <a:latin typeface="+mn-lt"/>
              </a:rPr>
              <a:t>, and X</a:t>
            </a:r>
            <a:r>
              <a:rPr lang="en-US" sz="2600" baseline="-25000" dirty="0">
                <a:latin typeface="+mn-lt"/>
              </a:rPr>
              <a:t>3</a:t>
            </a:r>
            <a:r>
              <a:rPr lang="en-US" sz="2600" dirty="0">
                <a:latin typeface="+mn-lt"/>
              </a:rPr>
              <a:t>. </a:t>
            </a:r>
          </a:p>
          <a:p>
            <a:r>
              <a:rPr lang="en-US" sz="2600" dirty="0">
                <a:latin typeface="+mn-lt"/>
              </a:rPr>
              <a:t>Mathematically, X = f(X</a:t>
            </a:r>
            <a:r>
              <a:rPr lang="en-US" sz="2600" baseline="-25000" dirty="0">
                <a:latin typeface="+mn-lt"/>
              </a:rPr>
              <a:t>1</a:t>
            </a:r>
            <a:r>
              <a:rPr lang="en-US" sz="2600" dirty="0">
                <a:latin typeface="+mn-lt"/>
              </a:rPr>
              <a:t>,X</a:t>
            </a:r>
            <a:r>
              <a:rPr lang="en-US" sz="2600" baseline="-25000" dirty="0">
                <a:latin typeface="+mn-lt"/>
              </a:rPr>
              <a:t>2</a:t>
            </a:r>
            <a:r>
              <a:rPr lang="en-US" sz="2600" dirty="0">
                <a:latin typeface="+mn-lt"/>
              </a:rPr>
              <a:t>,X</a:t>
            </a:r>
            <a:r>
              <a:rPr lang="en-US" sz="2600" baseline="-25000" dirty="0">
                <a:latin typeface="+mn-lt"/>
              </a:rPr>
              <a:t>3</a:t>
            </a:r>
            <a:r>
              <a:rPr lang="en-US" sz="2600" dirty="0">
                <a:latin typeface="+mn-lt"/>
              </a:rPr>
              <a:t>). Or X= KX</a:t>
            </a:r>
            <a:r>
              <a:rPr lang="en-US" sz="2600" baseline="-25000" dirty="0">
                <a:latin typeface="+mn-lt"/>
              </a:rPr>
              <a:t>1</a:t>
            </a:r>
            <a:r>
              <a:rPr lang="en-US" sz="2600" baseline="30000" dirty="0">
                <a:latin typeface="+mn-lt"/>
              </a:rPr>
              <a:t>a</a:t>
            </a:r>
            <a:r>
              <a:rPr lang="en-US" sz="2600" dirty="0">
                <a:latin typeface="+mn-lt"/>
              </a:rPr>
              <a:t>. X</a:t>
            </a:r>
            <a:r>
              <a:rPr lang="en-US" sz="2600" baseline="-25000" dirty="0">
                <a:latin typeface="+mn-lt"/>
              </a:rPr>
              <a:t>2</a:t>
            </a:r>
            <a:r>
              <a:rPr lang="en-US" sz="2600" baseline="30000" dirty="0">
                <a:latin typeface="+mn-lt"/>
              </a:rPr>
              <a:t>b</a:t>
            </a:r>
            <a:r>
              <a:rPr lang="en-US" sz="2600" dirty="0">
                <a:latin typeface="+mn-lt"/>
              </a:rPr>
              <a:t>. X</a:t>
            </a:r>
            <a:r>
              <a:rPr lang="en-US" sz="2600" baseline="-25000" dirty="0">
                <a:latin typeface="+mn-lt"/>
              </a:rPr>
              <a:t>3</a:t>
            </a:r>
            <a:r>
              <a:rPr lang="en-US" sz="2600" baseline="30000" dirty="0">
                <a:latin typeface="+mn-lt"/>
              </a:rPr>
              <a:t>c</a:t>
            </a:r>
            <a:r>
              <a:rPr lang="en-US" sz="2600" dirty="0">
                <a:latin typeface="+mn-lt"/>
              </a:rPr>
              <a:t>. </a:t>
            </a:r>
          </a:p>
          <a:p>
            <a:pPr lvl="1"/>
            <a:r>
              <a:rPr lang="en-US" sz="2600" dirty="0">
                <a:latin typeface="+mn-lt"/>
              </a:rPr>
              <a:t>where K is a constant and a, b and c are arbitrary powers.</a:t>
            </a:r>
          </a:p>
          <a:p>
            <a:pPr lvl="1"/>
            <a:r>
              <a:rPr lang="en-US" sz="2600" dirty="0">
                <a:latin typeface="+mn-lt"/>
              </a:rPr>
              <a:t>The variables of a, b and c are obtained by comparing the powers of the fundamental dimensions on both sides. Thus the expression is obtained for the dependent variable.</a:t>
            </a:r>
          </a:p>
          <a:p>
            <a:endParaRPr lang="en-US" dirty="0"/>
          </a:p>
        </p:txBody>
      </p:sp>
    </p:spTree>
    <p:extLst>
      <p:ext uri="{BB962C8B-B14F-4D97-AF65-F5344CB8AC3E}">
        <p14:creationId xmlns:p14="http://schemas.microsoft.com/office/powerpoint/2010/main" val="2353182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057"/>
            <a:ext cx="8229600" cy="411162"/>
          </a:xfrm>
        </p:spPr>
        <p:txBody>
          <a:bodyPr>
            <a:noAutofit/>
          </a:bodyPr>
          <a:lstStyle/>
          <a:p>
            <a:r>
              <a:rPr lang="en-US" sz="2400" b="1" dirty="0">
                <a:solidFill>
                  <a:schemeClr val="tx1"/>
                </a:solidFill>
              </a:rPr>
              <a:t>RAYLEIGH METHOD</a:t>
            </a:r>
            <a:endParaRPr lang="en-US" sz="2400"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914400"/>
                <a:ext cx="9144000" cy="5562600"/>
              </a:xfrm>
            </p:spPr>
            <p:txBody>
              <a:bodyPr>
                <a:normAutofit fontScale="62500" lnSpcReduction="20000"/>
              </a:bodyPr>
              <a:lstStyle/>
              <a:p>
                <a:pPr marL="0" indent="0">
                  <a:buNone/>
                </a:pPr>
                <a:r>
                  <a:rPr lang="en-US" sz="3800" b="1" dirty="0"/>
                  <a:t>Examples</a:t>
                </a:r>
              </a:p>
              <a:p>
                <a:pPr marL="0" indent="0" algn="just">
                  <a:buNone/>
                </a:pPr>
                <a:r>
                  <a:rPr lang="en-US" sz="3800" dirty="0"/>
                  <a:t>(1) The time period (t) of a pendulum depends on the length (L) of the pendulum and acceleration due to gravity. Derive an expression for the time period.</a:t>
                </a:r>
              </a:p>
              <a:p>
                <a:pPr marL="0" indent="0">
                  <a:buNone/>
                </a:pPr>
                <a:endParaRPr lang="en-US" sz="3800" b="1" u="sng" dirty="0"/>
              </a:p>
              <a:p>
                <a:pPr marL="0" indent="0">
                  <a:buNone/>
                </a:pPr>
                <a:r>
                  <a:rPr lang="en-US" sz="3800" b="1" u="sng" dirty="0"/>
                  <a:t>Solution</a:t>
                </a:r>
                <a:endParaRPr lang="en-US" sz="3800" dirty="0"/>
              </a:p>
              <a:p>
                <a:r>
                  <a:rPr lang="en-US" sz="3800" dirty="0"/>
                  <a:t>Time period T is a function of (i) L and (ii) g </a:t>
                </a:r>
                <a14:m>
                  <m:oMath xmlns:m="http://schemas.openxmlformats.org/officeDocument/2006/math">
                    <m:r>
                      <a:rPr lang="en-US" sz="3800" i="1">
                        <a:latin typeface="Cambria Math" panose="02040503050406030204" pitchFamily="18" charset="0"/>
                      </a:rPr>
                      <m:t>⇒</m:t>
                    </m:r>
                  </m:oMath>
                </a14:m>
                <a:r>
                  <a:rPr lang="en-US" sz="3800" dirty="0"/>
                  <a:t> t = KL</a:t>
                </a:r>
                <a:r>
                  <a:rPr lang="en-US" sz="3800" baseline="30000" dirty="0"/>
                  <a:t>a</a:t>
                </a:r>
                <a:r>
                  <a:rPr lang="en-US" sz="3800" dirty="0"/>
                  <a:t>.g</a:t>
                </a:r>
                <a:r>
                  <a:rPr lang="en-US" sz="3800" baseline="30000" dirty="0"/>
                  <a:t>b</a:t>
                </a:r>
                <a:r>
                  <a:rPr lang="en-US" sz="3800" dirty="0"/>
                  <a:t> </a:t>
                </a:r>
              </a:p>
              <a:p>
                <a:pPr lvl="1"/>
                <a:r>
                  <a:rPr lang="en-US" sz="3400" dirty="0"/>
                  <a:t>where K is a constant substitute the dimensions on both sides T= </a:t>
                </a:r>
                <a:r>
                  <a:rPr lang="en-US" sz="3400" dirty="0" err="1"/>
                  <a:t>KL</a:t>
                </a:r>
                <a:r>
                  <a:rPr lang="en-US" sz="3400" baseline="30000" dirty="0" err="1"/>
                  <a:t>a</a:t>
                </a:r>
                <a:r>
                  <a:rPr lang="en-US" sz="3400" dirty="0"/>
                  <a:t>. (LT</a:t>
                </a:r>
                <a:r>
                  <a:rPr lang="en-US" sz="3400" baseline="30000" dirty="0"/>
                  <a:t>-2</a:t>
                </a:r>
                <a:r>
                  <a:rPr lang="en-US" sz="3400" dirty="0"/>
                  <a:t>)</a:t>
                </a:r>
                <a:r>
                  <a:rPr lang="en-US" sz="3400" baseline="30000" dirty="0"/>
                  <a:t> b</a:t>
                </a:r>
                <a:endParaRPr lang="en-US" sz="3400" dirty="0"/>
              </a:p>
              <a:p>
                <a:r>
                  <a:rPr lang="en-US" sz="3800" dirty="0"/>
                  <a:t>Equating that powers of the dimensions M,L,T, on both sides we have</a:t>
                </a:r>
              </a:p>
              <a:p>
                <a:r>
                  <a:rPr lang="en-US" sz="3800" dirty="0"/>
                  <a:t>Powers of t: 	1= -2b,      b = </a:t>
                </a:r>
                <a14:m>
                  <m:oMath xmlns:m="http://schemas.openxmlformats.org/officeDocument/2006/math">
                    <m:r>
                      <a:rPr lang="en-US" sz="3800" i="1">
                        <a:latin typeface="Cambria Math" panose="02040503050406030204" pitchFamily="18" charset="0"/>
                      </a:rPr>
                      <m:t>−</m:t>
                    </m:r>
                    <m:f>
                      <m:fPr>
                        <m:ctrlPr>
                          <a:rPr lang="en-US" sz="3800" i="1">
                            <a:latin typeface="Cambria Math" panose="02040503050406030204" pitchFamily="18" charset="0"/>
                          </a:rPr>
                        </m:ctrlPr>
                      </m:fPr>
                      <m:num>
                        <m:r>
                          <a:rPr lang="en-US" sz="3800" i="1">
                            <a:latin typeface="Cambria Math" panose="02040503050406030204" pitchFamily="18" charset="0"/>
                          </a:rPr>
                          <m:t>1</m:t>
                        </m:r>
                      </m:num>
                      <m:den>
                        <m:r>
                          <a:rPr lang="en-US" sz="3800" i="1">
                            <a:latin typeface="Cambria Math" panose="02040503050406030204" pitchFamily="18" charset="0"/>
                          </a:rPr>
                          <m:t>2</m:t>
                        </m:r>
                      </m:den>
                    </m:f>
                  </m:oMath>
                </a14:m>
                <a:r>
                  <a:rPr lang="en-US" sz="3800" dirty="0"/>
                  <a:t> </a:t>
                </a:r>
              </a:p>
              <a:p>
                <a:r>
                  <a:rPr lang="en-US" sz="3800" dirty="0"/>
                  <a:t>Powers of L:	0= </a:t>
                </a:r>
                <a:r>
                  <a:rPr lang="en-US" sz="3800" dirty="0" err="1"/>
                  <a:t>a+b</a:t>
                </a:r>
                <a:endParaRPr lang="en-US" sz="3800" dirty="0"/>
              </a:p>
              <a:p>
                <a:r>
                  <a:rPr lang="en-US" sz="3800" dirty="0"/>
                  <a:t>		a= -b</a:t>
                </a:r>
              </a:p>
              <a:p>
                <a:r>
                  <a:rPr lang="en-US" sz="3800" dirty="0"/>
                  <a:t>		a= </a:t>
                </a:r>
                <a14:m>
                  <m:oMath xmlns:m="http://schemas.openxmlformats.org/officeDocument/2006/math">
                    <m:r>
                      <a:rPr lang="en-US" sz="3800" i="1">
                        <a:latin typeface="Cambria Math" panose="02040503050406030204" pitchFamily="18" charset="0"/>
                      </a:rPr>
                      <m:t>−</m:t>
                    </m:r>
                    <m:d>
                      <m:dPr>
                        <m:ctrlPr>
                          <a:rPr lang="en-US" sz="3800" b="0" i="1" smtClean="0">
                            <a:latin typeface="Cambria Math" panose="02040503050406030204" pitchFamily="18" charset="0"/>
                          </a:rPr>
                        </m:ctrlPr>
                      </m:dPr>
                      <m:e>
                        <m:r>
                          <a:rPr lang="en-US" sz="3800" b="0" i="1" smtClean="0">
                            <a:latin typeface="Cambria Math" panose="02040503050406030204" pitchFamily="18" charset="0"/>
                          </a:rPr>
                          <m:t>−</m:t>
                        </m:r>
                        <m:f>
                          <m:fPr>
                            <m:ctrlPr>
                              <a:rPr lang="en-US" sz="3800" i="1">
                                <a:latin typeface="Cambria Math" panose="02040503050406030204" pitchFamily="18" charset="0"/>
                              </a:rPr>
                            </m:ctrlPr>
                          </m:fPr>
                          <m:num>
                            <m:r>
                              <a:rPr lang="en-US" sz="3800" i="1">
                                <a:latin typeface="Cambria Math" panose="02040503050406030204" pitchFamily="18" charset="0"/>
                              </a:rPr>
                              <m:t>1</m:t>
                            </m:r>
                          </m:num>
                          <m:den>
                            <m:r>
                              <a:rPr lang="en-US" sz="3800" i="1">
                                <a:latin typeface="Cambria Math" panose="02040503050406030204" pitchFamily="18" charset="0"/>
                              </a:rPr>
                              <m:t>2</m:t>
                            </m:r>
                          </m:den>
                        </m:f>
                      </m:e>
                    </m:d>
                    <m:r>
                      <a:rPr lang="en-US" sz="3800" b="0" i="1" smtClean="0">
                        <a:latin typeface="Cambria Math" panose="02040503050406030204" pitchFamily="18" charset="0"/>
                      </a:rPr>
                      <m:t>=</m:t>
                    </m:r>
                    <m:f>
                      <m:fPr>
                        <m:ctrlPr>
                          <a:rPr lang="en-US" sz="3800" b="0" i="1" smtClean="0">
                            <a:latin typeface="Cambria Math" panose="02040503050406030204" pitchFamily="18" charset="0"/>
                          </a:rPr>
                        </m:ctrlPr>
                      </m:fPr>
                      <m:num>
                        <m:r>
                          <a:rPr lang="en-US" sz="3800" b="0" i="1" smtClean="0">
                            <a:latin typeface="Cambria Math" panose="02040503050406030204" pitchFamily="18" charset="0"/>
                          </a:rPr>
                          <m:t>1</m:t>
                        </m:r>
                      </m:num>
                      <m:den>
                        <m:r>
                          <a:rPr lang="en-US" sz="3800" b="0" i="1" smtClean="0">
                            <a:latin typeface="Cambria Math" panose="02040503050406030204" pitchFamily="18" charset="0"/>
                          </a:rPr>
                          <m:t>2</m:t>
                        </m:r>
                      </m:den>
                    </m:f>
                  </m:oMath>
                </a14:m>
                <a:r>
                  <a:rPr lang="en-US" sz="3800" dirty="0"/>
                  <a:t>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914400"/>
                <a:ext cx="9144000" cy="5562600"/>
              </a:xfrm>
              <a:blipFill>
                <a:blip r:embed="rId3"/>
                <a:stretch>
                  <a:fillRect l="-1000" t="-2519" r="-1000"/>
                </a:stretch>
              </a:blipFill>
            </p:spPr>
            <p:txBody>
              <a:bodyPr/>
              <a:lstStyle/>
              <a:p>
                <a:r>
                  <a:rPr lang="en-GH">
                    <a:noFill/>
                  </a:rPr>
                  <a:t> </a:t>
                </a:r>
              </a:p>
            </p:txBody>
          </p:sp>
        </mc:Fallback>
      </mc:AlternateContent>
    </p:spTree>
    <p:extLst>
      <p:ext uri="{BB962C8B-B14F-4D97-AF65-F5344CB8AC3E}">
        <p14:creationId xmlns:p14="http://schemas.microsoft.com/office/powerpoint/2010/main" val="2304107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658" y="122421"/>
            <a:ext cx="7886700" cy="568940"/>
          </a:xfrm>
        </p:spPr>
        <p:txBody>
          <a:bodyPr/>
          <a:lstStyle/>
          <a:p>
            <a:r>
              <a:rPr lang="en-US" dirty="0">
                <a:solidFill>
                  <a:schemeClr val="tx1"/>
                </a:solidFill>
              </a:rPr>
              <a:t>Solution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98457"/>
                <a:ext cx="9144000" cy="4931901"/>
              </a:xfrm>
            </p:spPr>
            <p:txBody>
              <a:bodyPr>
                <a:normAutofit/>
              </a:bodyPr>
              <a:lstStyle/>
              <a:p>
                <a:r>
                  <a:rPr lang="en-US" dirty="0"/>
                  <a:t>Substitute the values of a and b </a:t>
                </a:r>
              </a:p>
              <a:p>
                <a:r>
                  <a:rPr lang="en-US" dirty="0"/>
                  <a:t>t = KL</a:t>
                </a:r>
                <a:r>
                  <a:rPr lang="en-US" baseline="30000" dirty="0"/>
                  <a:t>1/2</a:t>
                </a:r>
                <a:r>
                  <a:rPr lang="en-US" dirty="0"/>
                  <a:t>. g</a:t>
                </a:r>
                <a:r>
                  <a:rPr lang="en-US" baseline="30000" dirty="0"/>
                  <a:t>-1/2</a:t>
                </a:r>
                <a:endParaRPr lang="en-US" dirty="0"/>
              </a:p>
              <a:p>
                <a:r>
                  <a:rPr lang="en-US" dirty="0"/>
                  <a:t>t = </a:t>
                </a:r>
                <a14:m>
                  <m:oMath xmlns:m="http://schemas.openxmlformats.org/officeDocument/2006/math">
                    <m:r>
                      <a:rPr lang="en-US" i="1">
                        <a:latin typeface="Cambria Math"/>
                      </a:rPr>
                      <m:t>𝐾</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a:rPr>
                              <m:t>𝐿</m:t>
                            </m:r>
                          </m:num>
                          <m:den>
                            <m:r>
                              <a:rPr lang="en-US" i="1">
                                <a:latin typeface="Cambria Math"/>
                              </a:rPr>
                              <m:t>𝑔</m:t>
                            </m:r>
                          </m:den>
                        </m:f>
                      </m:e>
                    </m:rad>
                  </m:oMath>
                </a14:m>
                <a:r>
                  <a:rPr lang="en-US" dirty="0"/>
                  <a:t> </a:t>
                </a:r>
              </a:p>
              <a:p>
                <a:r>
                  <a:rPr lang="en-US" dirty="0"/>
                  <a:t>The value of K is determined from experiment from which k= 2π</a:t>
                </a:r>
              </a:p>
              <a:p>
                <a:pPr marL="0" indent="0">
                  <a:buNone/>
                </a:pPr>
                <a:r>
                  <a:rPr lang="en-US" dirty="0"/>
                  <a:t>		t = 2π</a:t>
                </a:r>
                <a14:m>
                  <m:oMath xmlns:m="http://schemas.openxmlformats.org/officeDocument/2006/math">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a:rPr>
                              <m:t>𝐿</m:t>
                            </m:r>
                          </m:num>
                          <m:den>
                            <m:r>
                              <a:rPr lang="en-US" i="1">
                                <a:latin typeface="Cambria Math"/>
                              </a:rPr>
                              <m:t>𝑔</m:t>
                            </m:r>
                          </m:den>
                        </m:f>
                      </m:e>
                    </m:rad>
                  </m:oMath>
                </a14:m>
                <a:r>
                  <a:rPr lang="en-US"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98457"/>
                <a:ext cx="9144000" cy="4931901"/>
              </a:xfrm>
              <a:blipFill>
                <a:blip r:embed="rId3"/>
                <a:stretch>
                  <a:fillRect l="-867" t="-1731"/>
                </a:stretch>
              </a:blipFill>
            </p:spPr>
            <p:txBody>
              <a:bodyPr/>
              <a:lstStyle/>
              <a:p>
                <a:r>
                  <a:rPr lang="en-GH">
                    <a:noFill/>
                  </a:rPr>
                  <a:t> </a:t>
                </a:r>
              </a:p>
            </p:txBody>
          </p:sp>
        </mc:Fallback>
      </mc:AlternateContent>
    </p:spTree>
    <p:extLst>
      <p:ext uri="{BB962C8B-B14F-4D97-AF65-F5344CB8AC3E}">
        <p14:creationId xmlns:p14="http://schemas.microsoft.com/office/powerpoint/2010/main" val="3599022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14400"/>
                <a:ext cx="8534400" cy="5943600"/>
              </a:xfrm>
            </p:spPr>
            <p:txBody>
              <a:bodyPr>
                <a:normAutofit/>
              </a:bodyPr>
              <a:lstStyle/>
              <a:p>
                <a:pPr marL="0" indent="0">
                  <a:buNone/>
                </a:pPr>
                <a:r>
                  <a:rPr lang="en-US" b="1" dirty="0"/>
                  <a:t>Example 2:</a:t>
                </a:r>
                <a:r>
                  <a:rPr lang="en-US" dirty="0"/>
                  <a:t> Find an expression for the drag force on smooth sphere of diameter D, moving with uniform velocity v in a fluid of density </a:t>
                </a:r>
                <a14:m>
                  <m:oMath xmlns:m="http://schemas.openxmlformats.org/officeDocument/2006/math">
                    <m:r>
                      <a:rPr lang="en-US" i="1">
                        <a:latin typeface="Cambria Math" panose="02040503050406030204" pitchFamily="18" charset="0"/>
                      </a:rPr>
                      <m:t>𝜌</m:t>
                    </m:r>
                  </m:oMath>
                </a14:m>
                <a:r>
                  <a:rPr lang="en-US" dirty="0"/>
                  <a:t> and dynamic viscosity </a:t>
                </a:r>
                <a14:m>
                  <m:oMath xmlns:m="http://schemas.openxmlformats.org/officeDocument/2006/math">
                    <m:r>
                      <a:rPr lang="en-US" i="1">
                        <a:latin typeface="Cambria Math" panose="02040503050406030204" pitchFamily="18" charset="0"/>
                      </a:rPr>
                      <m:t>𝜇</m:t>
                    </m:r>
                  </m:oMath>
                </a14:m>
                <a:r>
                  <a:rPr lang="en-US" dirty="0"/>
                  <a:t>.</a:t>
                </a:r>
              </a:p>
              <a:p>
                <a:pPr marL="0" indent="0">
                  <a:buNone/>
                </a:pPr>
                <a:r>
                  <a:rPr lang="en-US" b="1" u="sng" dirty="0"/>
                  <a:t>Solution</a:t>
                </a:r>
                <a:endParaRPr lang="en-US" dirty="0"/>
              </a:p>
              <a:p>
                <a:pPr marL="0" indent="0">
                  <a:buNone/>
                </a:pPr>
                <a:r>
                  <a:rPr lang="en-US" dirty="0"/>
                  <a:t>Drag force is a function of (i) Diameter D, (ii) Velocity V (iii) Density </a:t>
                </a:r>
                <a14:m>
                  <m:oMath xmlns:m="http://schemas.openxmlformats.org/officeDocument/2006/math">
                    <m:r>
                      <a:rPr lang="en-US" i="1">
                        <a:latin typeface="Cambria Math" panose="02040503050406030204" pitchFamily="18" charset="0"/>
                      </a:rPr>
                      <m:t>𝜌</m:t>
                    </m:r>
                  </m:oMath>
                </a14:m>
                <a:r>
                  <a:rPr lang="en-US" dirty="0"/>
                  <a:t> (iv) dynamic viscosity </a:t>
                </a:r>
                <a14:m>
                  <m:oMath xmlns:m="http://schemas.openxmlformats.org/officeDocument/2006/math">
                    <m:r>
                      <a:rPr lang="en-US" i="1">
                        <a:latin typeface="Cambria Math" panose="02040503050406030204" pitchFamily="18" charset="0"/>
                      </a:rPr>
                      <m:t>𝜇</m:t>
                    </m:r>
                  </m:oMath>
                </a14:m>
                <a:endParaRPr lang="en-US" dirty="0"/>
              </a:p>
              <a:p>
                <a:pPr marL="0" indent="0">
                  <a:buNone/>
                </a:pPr>
                <a:r>
                  <a:rPr lang="en-US" dirty="0"/>
                  <a:t>Drag force F = K D</a:t>
                </a:r>
                <a:r>
                  <a:rPr lang="en-US" baseline="30000" dirty="0"/>
                  <a:t>a</a:t>
                </a:r>
                <a:r>
                  <a:rPr lang="en-US" dirty="0"/>
                  <a:t> </a:t>
                </a:r>
                <a:r>
                  <a:rPr lang="en-US" dirty="0" err="1"/>
                  <a:t>V</a:t>
                </a:r>
                <a:r>
                  <a:rPr lang="en-US" baseline="30000" dirty="0" err="1"/>
                  <a:t>b</a:t>
                </a:r>
                <a:r>
                  <a:rPr lang="en-US" dirty="0"/>
                  <a:t> </a:t>
                </a:r>
                <a14:m>
                  <m:oMath xmlns:m="http://schemas.openxmlformats.org/officeDocument/2006/math">
                    <m:r>
                      <a:rPr lang="en-US" i="1">
                        <a:latin typeface="Cambria Math" panose="02040503050406030204" pitchFamily="18" charset="0"/>
                      </a:rPr>
                      <m:t>𝜌</m:t>
                    </m:r>
                  </m:oMath>
                </a14:m>
                <a:r>
                  <a:rPr lang="en-US" baseline="30000" dirty="0"/>
                  <a:t>c</a:t>
                </a:r>
                <a:r>
                  <a:rPr lang="en-US" dirty="0"/>
                  <a:t> </a:t>
                </a:r>
                <a14:m>
                  <m:oMath xmlns:m="http://schemas.openxmlformats.org/officeDocument/2006/math">
                    <m:r>
                      <a:rPr lang="en-US" i="1">
                        <a:latin typeface="Cambria Math" panose="02040503050406030204" pitchFamily="18" charset="0"/>
                      </a:rPr>
                      <m:t>𝜇</m:t>
                    </m:r>
                  </m:oMath>
                </a14:m>
                <a:r>
                  <a:rPr lang="en-US" baseline="30000" dirty="0"/>
                  <a:t>d</a:t>
                </a:r>
                <a:endParaRPr lang="en-US" dirty="0"/>
              </a:p>
              <a:p>
                <a:pPr marL="0" marR="0" indent="0">
                  <a:lnSpc>
                    <a:spcPct val="150000"/>
                  </a:lnSpc>
                  <a:spcBef>
                    <a:spcPts val="0"/>
                  </a:spcBef>
                  <a:spcAft>
                    <a:spcPts val="0"/>
                  </a:spcAft>
                  <a:buNone/>
                </a:pPr>
                <a:r>
                  <a:rPr lang="en-US" dirty="0"/>
                  <a:t>Where K is a constant. Substituting the dimensions on both side </a:t>
                </a:r>
                <a:r>
                  <a:rPr lang="en-US" dirty="0">
                    <a:latin typeface="Times New Roman" panose="02020603050405020304" pitchFamily="18" charset="0"/>
                    <a:ea typeface="Times New Roman" panose="02020603050405020304" pitchFamily="18" charset="0"/>
                  </a:rPr>
                  <a:t> </a:t>
                </a:r>
                <a14:m>
                  <m:oMath xmlns:m="http://schemas.openxmlformats.org/officeDocument/2006/math">
                    <m:r>
                      <a:rPr lang="en-US" i="1">
                        <a:effectLst/>
                        <a:latin typeface="Cambria Math" panose="02040503050406030204" pitchFamily="18" charset="0"/>
                        <a:ea typeface="Times New Roman" panose="02020603050405020304" pitchFamily="18" charset="0"/>
                      </a:rPr>
                      <m:t>𝑀𝐿</m:t>
                    </m:r>
                    <m:sSup>
                      <m:sSupPr>
                        <m:ctrlPr>
                          <a:rPr lang="en-US" i="1">
                            <a:effectLst/>
                            <a:latin typeface="Cambria Math" panose="02040503050406030204" pitchFamily="18" charset="0"/>
                            <a:ea typeface="Times New Roman" panose="02020603050405020304" pitchFamily="18" charset="0"/>
                          </a:rPr>
                        </m:ctrlPr>
                      </m:sSupPr>
                      <m:e>
                        <m:r>
                          <a:rPr lang="en-GB" b="0" i="1" smtClean="0">
                            <a:effectLst/>
                            <a:latin typeface="Cambria Math" panose="02040503050406030204" pitchFamily="18" charset="0"/>
                            <a:ea typeface="Times New Roman" panose="02020603050405020304" pitchFamily="18" charset="0"/>
                          </a:rPr>
                          <m:t>𝑡</m:t>
                        </m:r>
                      </m:e>
                      <m:sup>
                        <m:r>
                          <a:rPr lang="en-US" i="1">
                            <a:effectLst/>
                            <a:latin typeface="Cambria Math" panose="02040503050406030204" pitchFamily="18" charset="0"/>
                            <a:ea typeface="Times New Roman" panose="02020603050405020304" pitchFamily="18" charset="0"/>
                          </a:rPr>
                          <m:t>−2</m:t>
                        </m:r>
                      </m:sup>
                    </m:sSup>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𝐾</m:t>
                    </m:r>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𝐿</m:t>
                        </m:r>
                      </m:e>
                      <m:sup>
                        <m:r>
                          <a:rPr lang="en-US" i="1">
                            <a:effectLst/>
                            <a:latin typeface="Cambria Math" panose="02040503050406030204" pitchFamily="18" charset="0"/>
                            <a:ea typeface="Times New Roman" panose="02020603050405020304" pitchFamily="18" charset="0"/>
                          </a:rPr>
                          <m:t>𝑎</m:t>
                        </m:r>
                      </m:sup>
                    </m:sSup>
                    <m:sSup>
                      <m:sSupPr>
                        <m:ctrlPr>
                          <a:rPr lang="en-US" i="1">
                            <a:effectLst/>
                            <a:latin typeface="Cambria Math" panose="02040503050406030204" pitchFamily="18" charset="0"/>
                            <a:ea typeface="Times New Roman" panose="02020603050405020304" pitchFamily="18" charset="0"/>
                          </a:rPr>
                        </m:ctrlPr>
                      </m:sSupPr>
                      <m:e>
                        <m:d>
                          <m:dPr>
                            <m:ctrlPr>
                              <a:rPr lang="en-US" i="1">
                                <a:effectLst/>
                                <a:latin typeface="Cambria Math" panose="02040503050406030204" pitchFamily="18" charset="0"/>
                                <a:ea typeface="Times New Roman" panose="02020603050405020304" pitchFamily="18" charset="0"/>
                              </a:rPr>
                            </m:ctrlPr>
                          </m:dPr>
                          <m:e>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𝐿</m:t>
                                </m:r>
                                <m:r>
                                  <a:rPr lang="en-GB" b="0" i="1" smtClean="0">
                                    <a:effectLst/>
                                    <a:latin typeface="Cambria Math" panose="02040503050406030204" pitchFamily="18" charset="0"/>
                                    <a:ea typeface="Times New Roman" panose="02020603050405020304" pitchFamily="18" charset="0"/>
                                  </a:rPr>
                                  <m:t>𝑡</m:t>
                                </m:r>
                              </m:e>
                              <m:sup>
                                <m:r>
                                  <a:rPr lang="en-US" i="1">
                                    <a:effectLst/>
                                    <a:latin typeface="Cambria Math" panose="02040503050406030204" pitchFamily="18" charset="0"/>
                                    <a:ea typeface="Times New Roman" panose="02020603050405020304" pitchFamily="18" charset="0"/>
                                  </a:rPr>
                                  <m:t>−1</m:t>
                                </m:r>
                              </m:sup>
                            </m:sSup>
                          </m:e>
                        </m:d>
                      </m:e>
                      <m:sup>
                        <m:r>
                          <a:rPr lang="en-US" i="1">
                            <a:effectLst/>
                            <a:latin typeface="Cambria Math" panose="02040503050406030204" pitchFamily="18" charset="0"/>
                            <a:ea typeface="Times New Roman" panose="02020603050405020304" pitchFamily="18" charset="0"/>
                          </a:rPr>
                          <m:t>𝑏</m:t>
                        </m:r>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rPr>
                              <m:t>𝑀</m:t>
                            </m:r>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𝐿</m:t>
                                </m:r>
                              </m:e>
                              <m:sup>
                                <m:r>
                                  <a:rPr lang="en-US" i="1">
                                    <a:effectLst/>
                                    <a:latin typeface="Cambria Math" panose="02040503050406030204" pitchFamily="18" charset="0"/>
                                    <a:ea typeface="Times New Roman" panose="02020603050405020304" pitchFamily="18" charset="0"/>
                                  </a:rPr>
                                  <m:t>−3</m:t>
                                </m:r>
                              </m:sup>
                            </m:sSup>
                          </m:e>
                        </m:d>
                      </m:e>
                      <m:sup>
                        <m:r>
                          <a:rPr lang="en-US" i="1">
                            <a:effectLst/>
                            <a:latin typeface="Cambria Math" panose="02040503050406030204" pitchFamily="18" charset="0"/>
                            <a:ea typeface="Times New Roman" panose="02020603050405020304" pitchFamily="18" charset="0"/>
                          </a:rPr>
                          <m:t>𝑐</m:t>
                        </m:r>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d>
                          <m:dPr>
                            <m:ctrlPr>
                              <a:rPr lang="en-US" i="1">
                                <a:effectLst/>
                                <a:latin typeface="Cambria Math" panose="02040503050406030204" pitchFamily="18" charset="0"/>
                                <a:ea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rPr>
                              <m:t>𝑀</m:t>
                            </m:r>
                            <m:sSup>
                              <m:sSupPr>
                                <m:ctrlPr>
                                  <a:rPr lang="en-US" i="1">
                                    <a:effectLst/>
                                    <a:latin typeface="Cambria Math" panose="02040503050406030204" pitchFamily="18" charset="0"/>
                                    <a:ea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rPr>
                                  <m:t>𝐿</m:t>
                                </m:r>
                              </m:e>
                              <m:sup>
                                <m:r>
                                  <a:rPr lang="en-US" i="1">
                                    <a:effectLst/>
                                    <a:latin typeface="Cambria Math" panose="02040503050406030204" pitchFamily="18" charset="0"/>
                                    <a:ea typeface="Times New Roman" panose="02020603050405020304" pitchFamily="18" charset="0"/>
                                  </a:rPr>
                                  <m:t>−1</m:t>
                                </m:r>
                              </m:sup>
                            </m:sSup>
                            <m:sSup>
                              <m:sSupPr>
                                <m:ctrlPr>
                                  <a:rPr lang="en-US" i="1">
                                    <a:effectLst/>
                                    <a:latin typeface="Cambria Math" panose="02040503050406030204" pitchFamily="18" charset="0"/>
                                    <a:ea typeface="Times New Roman" panose="02020603050405020304" pitchFamily="18" charset="0"/>
                                  </a:rPr>
                                </m:ctrlPr>
                              </m:sSupPr>
                              <m:e>
                                <m:r>
                                  <a:rPr lang="en-GB" b="0" i="1" smtClean="0">
                                    <a:effectLst/>
                                    <a:latin typeface="Cambria Math" panose="02040503050406030204" pitchFamily="18" charset="0"/>
                                    <a:ea typeface="Times New Roman" panose="02020603050405020304" pitchFamily="18" charset="0"/>
                                  </a:rPr>
                                  <m:t>𝑡</m:t>
                                </m:r>
                              </m:e>
                              <m:sup>
                                <m:r>
                                  <a:rPr lang="en-US" i="1">
                                    <a:effectLst/>
                                    <a:latin typeface="Cambria Math" panose="02040503050406030204" pitchFamily="18" charset="0"/>
                                    <a:ea typeface="Times New Roman" panose="02020603050405020304" pitchFamily="18" charset="0"/>
                                  </a:rPr>
                                  <m:t>−1</m:t>
                                </m:r>
                              </m:sup>
                            </m:sSup>
                          </m:e>
                        </m:d>
                      </m:e>
                      <m:sup>
                        <m:r>
                          <a:rPr lang="en-US" i="1">
                            <a:effectLst/>
                            <a:latin typeface="Cambria Math" panose="02040503050406030204" pitchFamily="18" charset="0"/>
                            <a:ea typeface="Times New Roman" panose="02020603050405020304" pitchFamily="18" charset="0"/>
                          </a:rPr>
                          <m:t>𝑑</m:t>
                        </m:r>
                      </m:sup>
                    </m:sSup>
                  </m:oMath>
                </a14:m>
                <a:endParaRPr lang="en-US" dirty="0"/>
              </a:p>
              <a:p>
                <a:pPr marL="0" indent="0">
                  <a:buNone/>
                </a:pPr>
                <a:r>
                  <a:rPr lang="en-US" dirty="0"/>
                  <a:t>Power of M</a:t>
                </a:r>
                <a14:m>
                  <m:oMath xmlns:m="http://schemas.openxmlformats.org/officeDocument/2006/math">
                    <m:r>
                      <a:rPr lang="en-US" i="1">
                        <a:latin typeface="Cambria Math" panose="02040503050406030204" pitchFamily="18" charset="0"/>
                      </a:rPr>
                      <m:t>⇒</m:t>
                    </m:r>
                  </m:oMath>
                </a14:m>
                <a:r>
                  <a:rPr lang="en-US" dirty="0"/>
                  <a:t> 1 = c + d</a:t>
                </a:r>
              </a:p>
              <a:p>
                <a:pPr marL="0" indent="0">
                  <a:buNone/>
                </a:pPr>
                <a:r>
                  <a:rPr lang="en-US" dirty="0"/>
                  <a:t>Power of L, </a:t>
                </a:r>
                <a14:m>
                  <m:oMath xmlns:m="http://schemas.openxmlformats.org/officeDocument/2006/math">
                    <m:r>
                      <a:rPr lang="en-US" i="1">
                        <a:latin typeface="Cambria Math" panose="02040503050406030204" pitchFamily="18" charset="0"/>
                      </a:rPr>
                      <m:t>⇒</m:t>
                    </m:r>
                  </m:oMath>
                </a14:m>
                <a:r>
                  <a:rPr lang="en-US" dirty="0"/>
                  <a:t> 1 = a + b – 3c – d</a:t>
                </a:r>
              </a:p>
              <a:p>
                <a:pPr marL="0" indent="0">
                  <a:buNone/>
                </a:pPr>
                <a:r>
                  <a:rPr lang="en-US" dirty="0"/>
                  <a:t>Power of t </a:t>
                </a:r>
                <a14:m>
                  <m:oMath xmlns:m="http://schemas.openxmlformats.org/officeDocument/2006/math">
                    <m:r>
                      <a:rPr lang="en-US" i="1">
                        <a:latin typeface="Cambria Math" panose="02040503050406030204" pitchFamily="18" charset="0"/>
                      </a:rPr>
                      <m:t>⇒</m:t>
                    </m:r>
                  </m:oMath>
                </a14:m>
                <a:r>
                  <a:rPr lang="en-US" dirty="0"/>
                  <a:t> -2 = -b – 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14400"/>
                <a:ext cx="8534400" cy="5943600"/>
              </a:xfrm>
              <a:blipFill>
                <a:blip r:embed="rId3"/>
                <a:stretch>
                  <a:fillRect l="-1071" t="-1436" r="-1071"/>
                </a:stretch>
              </a:blipFill>
            </p:spPr>
            <p:txBody>
              <a:bodyPr/>
              <a:lstStyle/>
              <a:p>
                <a:r>
                  <a:rPr lang="en-GH">
                    <a:noFill/>
                  </a:rPr>
                  <a:t> </a:t>
                </a:r>
              </a:p>
            </p:txBody>
          </p:sp>
        </mc:Fallback>
      </mc:AlternateContent>
      <p:sp>
        <p:nvSpPr>
          <p:cNvPr id="6" name="Title 1">
            <a:extLst>
              <a:ext uri="{FF2B5EF4-FFF2-40B4-BE49-F238E27FC236}">
                <a16:creationId xmlns:a16="http://schemas.microsoft.com/office/drawing/2014/main" id="{99760F7C-F682-D4FB-919A-F1D3D47C561A}"/>
              </a:ext>
            </a:extLst>
          </p:cNvPr>
          <p:cNvSpPr>
            <a:spLocks noGrp="1"/>
          </p:cNvSpPr>
          <p:nvPr>
            <p:ph type="title"/>
          </p:nvPr>
        </p:nvSpPr>
        <p:spPr>
          <a:xfrm>
            <a:off x="457200" y="69057"/>
            <a:ext cx="8229600" cy="411162"/>
          </a:xfrm>
        </p:spPr>
        <p:txBody>
          <a:bodyPr>
            <a:noAutofit/>
          </a:bodyPr>
          <a:lstStyle/>
          <a:p>
            <a:r>
              <a:rPr lang="en-US" sz="2400" b="1" dirty="0">
                <a:solidFill>
                  <a:schemeClr val="tx1"/>
                </a:solidFill>
              </a:rPr>
              <a:t>RAYLEIGH METHOD</a:t>
            </a:r>
            <a:endParaRPr lang="en-US" sz="2400" dirty="0">
              <a:solidFill>
                <a:schemeClr val="tx1"/>
              </a:solidFill>
            </a:endParaRPr>
          </a:p>
        </p:txBody>
      </p:sp>
    </p:spTree>
    <p:extLst>
      <p:ext uri="{BB962C8B-B14F-4D97-AF65-F5344CB8AC3E}">
        <p14:creationId xmlns:p14="http://schemas.microsoft.com/office/powerpoint/2010/main" val="2512649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solidFill>
                  <a:schemeClr val="tx1"/>
                </a:solidFill>
              </a:rPr>
              <a:t>Solution 2 </a:t>
            </a:r>
            <a:r>
              <a:rPr lang="en-US" dirty="0" err="1">
                <a:solidFill>
                  <a:schemeClr val="tx1"/>
                </a:solidFill>
              </a:rPr>
              <a:t>contd</a:t>
            </a:r>
            <a:endParaRPr lang="en-US" dirty="0">
              <a:solidFill>
                <a:schemeClr val="tx1"/>
              </a:solidFill>
            </a:endParaRPr>
          </a:p>
        </p:txBody>
      </p:sp>
      <p:sp>
        <p:nvSpPr>
          <p:cNvPr id="3" name="Content Placeholder 2"/>
          <p:cNvSpPr>
            <a:spLocks noGrp="1"/>
          </p:cNvSpPr>
          <p:nvPr>
            <p:ph idx="1"/>
          </p:nvPr>
        </p:nvSpPr>
        <p:spPr>
          <a:xfrm>
            <a:off x="457200" y="990600"/>
            <a:ext cx="8229600" cy="5410200"/>
          </a:xfrm>
        </p:spPr>
        <p:txBody>
          <a:bodyPr>
            <a:normAutofit/>
          </a:bodyPr>
          <a:lstStyle/>
          <a:p>
            <a:r>
              <a:rPr lang="en-US" dirty="0"/>
              <a:t>We have 3 unknowns. It is impossible to find all unknowns. However we can express three of the variables in terms of the fourth variable.</a:t>
            </a:r>
          </a:p>
          <a:p>
            <a:pPr marL="0" indent="0">
              <a:buNone/>
            </a:pPr>
            <a:r>
              <a:rPr lang="en-US" dirty="0"/>
              <a:t>c = 1 – d</a:t>
            </a:r>
          </a:p>
          <a:p>
            <a:pPr marL="0" indent="0">
              <a:buNone/>
            </a:pPr>
            <a:r>
              <a:rPr lang="en-US" dirty="0"/>
              <a:t>b = 2 – d</a:t>
            </a:r>
          </a:p>
          <a:p>
            <a:pPr marL="0" indent="0">
              <a:buNone/>
            </a:pPr>
            <a:r>
              <a:rPr lang="en-US" dirty="0"/>
              <a:t>a = 1 – b + 3c + d</a:t>
            </a:r>
          </a:p>
          <a:p>
            <a:pPr marL="0" indent="0">
              <a:buNone/>
            </a:pPr>
            <a:r>
              <a:rPr lang="en-US" dirty="0"/>
              <a:t>      = 1 – (2 – d) + 3(1 – d) + d</a:t>
            </a:r>
          </a:p>
          <a:p>
            <a:pPr marL="0" indent="0">
              <a:buNone/>
            </a:pPr>
            <a:r>
              <a:rPr lang="en-US" dirty="0"/>
              <a:t>      = 1 - 2 + d + 3 – 3d + d</a:t>
            </a:r>
          </a:p>
          <a:p>
            <a:pPr marL="0" indent="0">
              <a:buNone/>
            </a:pPr>
            <a:r>
              <a:rPr lang="en-US" dirty="0"/>
              <a:t>a = 2 – d</a:t>
            </a:r>
          </a:p>
          <a:p>
            <a:endParaRPr lang="en-US" dirty="0"/>
          </a:p>
        </p:txBody>
      </p:sp>
    </p:spTree>
    <p:extLst>
      <p:ext uri="{BB962C8B-B14F-4D97-AF65-F5344CB8AC3E}">
        <p14:creationId xmlns:p14="http://schemas.microsoft.com/office/powerpoint/2010/main" val="2098955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2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Substitute values of a, b, c</a:t>
                </a:r>
              </a:p>
              <a:p>
                <a:r>
                  <a:rPr lang="en-US" dirty="0"/>
                  <a:t>F=KD</a:t>
                </a:r>
                <a:r>
                  <a:rPr lang="en-US" baseline="30000" dirty="0"/>
                  <a:t>2-d</a:t>
                </a:r>
                <a:r>
                  <a:rPr lang="en-US" dirty="0"/>
                  <a:t> V</a:t>
                </a:r>
                <a:r>
                  <a:rPr lang="en-US" baseline="30000" dirty="0"/>
                  <a:t>2-d</a:t>
                </a:r>
                <a:r>
                  <a:rPr lang="en-US" dirty="0"/>
                  <a:t> ρ</a:t>
                </a:r>
                <a:r>
                  <a:rPr lang="en-US" baseline="30000" dirty="0"/>
                  <a:t>1-d</a:t>
                </a:r>
                <a:r>
                  <a:rPr lang="en-US" dirty="0"/>
                  <a:t> </a:t>
                </a:r>
                <a:r>
                  <a:rPr lang="en-US" dirty="0" err="1"/>
                  <a:t>μ</a:t>
                </a:r>
                <a:r>
                  <a:rPr lang="en-US" baseline="30000" dirty="0" err="1"/>
                  <a:t>d</a:t>
                </a:r>
                <a:r>
                  <a:rPr lang="en-US" dirty="0"/>
                  <a:t> </a:t>
                </a:r>
              </a:p>
              <a:p>
                <a:r>
                  <a:rPr lang="en-US" dirty="0"/>
                  <a:t>F=KD</a:t>
                </a:r>
                <a:r>
                  <a:rPr lang="en-US" baseline="30000" dirty="0"/>
                  <a:t>2</a:t>
                </a:r>
                <a:r>
                  <a:rPr lang="en-US" dirty="0"/>
                  <a:t> V</a:t>
                </a:r>
                <a:r>
                  <a:rPr lang="en-US" baseline="30000" dirty="0"/>
                  <a:t>2</a:t>
                </a:r>
                <a:r>
                  <a:rPr lang="en-US" dirty="0"/>
                  <a:t> ρ (D</a:t>
                </a:r>
                <a:r>
                  <a:rPr lang="en-US" baseline="30000" dirty="0"/>
                  <a:t>-d</a:t>
                </a:r>
                <a:r>
                  <a:rPr lang="en-US" dirty="0"/>
                  <a:t> V</a:t>
                </a:r>
                <a:r>
                  <a:rPr lang="en-US" baseline="30000" dirty="0"/>
                  <a:t>-d</a:t>
                </a:r>
                <a:r>
                  <a:rPr lang="en-US" dirty="0"/>
                  <a:t> ρ</a:t>
                </a:r>
                <a:r>
                  <a:rPr lang="en-US" baseline="30000" dirty="0"/>
                  <a:t>-d</a:t>
                </a:r>
                <a:r>
                  <a:rPr lang="en-US" dirty="0"/>
                  <a:t> </a:t>
                </a:r>
                <a:r>
                  <a:rPr lang="en-US" dirty="0" err="1"/>
                  <a:t>μ</a:t>
                </a:r>
                <a:r>
                  <a:rPr lang="en-US" baseline="30000" dirty="0" err="1"/>
                  <a:t>d</a:t>
                </a:r>
                <a:r>
                  <a:rPr lang="en-US" dirty="0"/>
                  <a:t>)</a:t>
                </a:r>
              </a:p>
              <a:p>
                <a:r>
                  <a:rPr lang="en-US" dirty="0"/>
                  <a:t>W</a:t>
                </a:r>
              </a:p>
              <a:p>
                <a:r>
                  <a:rPr lang="en-US" dirty="0"/>
                  <a:t>F=KρD</a:t>
                </a:r>
                <a:r>
                  <a:rPr lang="en-US" baseline="30000" dirty="0"/>
                  <a:t>2 </a:t>
                </a:r>
                <a:r>
                  <a:rPr lang="en-US" dirty="0"/>
                  <a:t>V</a:t>
                </a:r>
                <a:r>
                  <a:rPr lang="en-US" baseline="30000" dirty="0"/>
                  <a:t>2</a:t>
                </a: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𝜇</m:t>
                        </m:r>
                      </m:num>
                      <m:den>
                        <m:r>
                          <a:rPr lang="en-US" i="1">
                            <a:latin typeface="Cambria Math" panose="02040503050406030204" pitchFamily="18" charset="0"/>
                          </a:rPr>
                          <m:t>𝜌</m:t>
                        </m:r>
                        <m:r>
                          <a:rPr lang="en-US" i="1">
                            <a:latin typeface="Cambria Math" panose="02040503050406030204" pitchFamily="18" charset="0"/>
                          </a:rPr>
                          <m:t>𝑉𝐷</m:t>
                        </m:r>
                      </m:den>
                    </m:f>
                  </m:oMath>
                </a14:m>
                <a:r>
                  <a:rPr lang="en-US" dirty="0"/>
                  <a:t>)</a:t>
                </a:r>
              </a:p>
              <a:p>
                <a:r>
                  <a:rPr lang="en-US" dirty="0"/>
                  <a:t>F= ρD</a:t>
                </a:r>
                <a:r>
                  <a:rPr lang="en-US" baseline="30000" dirty="0"/>
                  <a:t>2 </a:t>
                </a:r>
                <a:r>
                  <a:rPr lang="en-US" dirty="0"/>
                  <a:t>V</a:t>
                </a:r>
                <a:r>
                  <a:rPr lang="en-US" baseline="30000" dirty="0"/>
                  <a:t>2</a:t>
                </a:r>
                <a:r>
                  <a:rPr lang="en-US" i="1" dirty="0"/>
                  <a:t> ϕ</a:t>
                </a: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𝜇</m:t>
                        </m:r>
                      </m:num>
                      <m:den>
                        <m:r>
                          <a:rPr lang="en-US" i="1">
                            <a:latin typeface="Cambria Math" panose="02040503050406030204" pitchFamily="18" charset="0"/>
                          </a:rPr>
                          <m:t>𝜌</m:t>
                        </m:r>
                        <m:r>
                          <a:rPr lang="en-US" i="1">
                            <a:latin typeface="Cambria Math" panose="02040503050406030204" pitchFamily="18" charset="0"/>
                          </a:rPr>
                          <m:t>𝑉𝐷</m:t>
                        </m:r>
                      </m:den>
                    </m:f>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05" t="-1731"/>
                </a:stretch>
              </a:blipFill>
            </p:spPr>
            <p:txBody>
              <a:bodyPr/>
              <a:lstStyle/>
              <a:p>
                <a:r>
                  <a:rPr lang="en-GH">
                    <a:noFill/>
                  </a:rPr>
                  <a:t> </a:t>
                </a:r>
              </a:p>
            </p:txBody>
          </p:sp>
        </mc:Fallback>
      </mc:AlternateContent>
    </p:spTree>
    <p:extLst>
      <p:ext uri="{BB962C8B-B14F-4D97-AF65-F5344CB8AC3E}">
        <p14:creationId xmlns:p14="http://schemas.microsoft.com/office/powerpoint/2010/main" val="1583355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22674"/>
                <a:ext cx="9144000" cy="4931901"/>
              </a:xfrm>
            </p:spPr>
            <p:txBody>
              <a:bodyPr/>
              <a:lstStyle/>
              <a:p>
                <a:pPr marL="0" lvl="0" indent="0">
                  <a:buNone/>
                </a:pPr>
                <a:r>
                  <a:rPr lang="en-GB" dirty="0"/>
                  <a:t>Example 3. Find the expression for the power P, developed by a pump when p depends on the head H, discharge Q and specific weight of the fluid.</a:t>
                </a:r>
                <a:endParaRPr lang="en-US" dirty="0"/>
              </a:p>
              <a:p>
                <a:pPr marL="0" indent="0">
                  <a:buNone/>
                </a:pPr>
                <a:endParaRPr lang="en-GB" u="sng" dirty="0"/>
              </a:p>
              <a:p>
                <a:pPr marL="0" indent="0" algn="ctr">
                  <a:buNone/>
                </a:pPr>
                <a:r>
                  <a:rPr lang="en-GB" dirty="0"/>
                  <a:t>Solution</a:t>
                </a:r>
                <a:endParaRPr lang="en-US" dirty="0"/>
              </a:p>
              <a:p>
                <a:pPr marL="0" indent="0">
                  <a:buNone/>
                </a:pPr>
                <a14:m>
                  <m:oMath xmlns:m="http://schemas.openxmlformats.org/officeDocument/2006/math">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𝐾𝐻</m:t>
                    </m:r>
                    <m:r>
                      <a:rPr lang="en-GB" i="1">
                        <a:latin typeface="Cambria Math" panose="02040503050406030204" pitchFamily="18" charset="0"/>
                      </a:rPr>
                      <m:t>ᵃ.</m:t>
                    </m:r>
                    <m:r>
                      <a:rPr lang="en-GB" i="1">
                        <a:latin typeface="Cambria Math" panose="02040503050406030204" pitchFamily="18" charset="0"/>
                      </a:rPr>
                      <m:t>𝑄</m:t>
                    </m:r>
                    <m:r>
                      <a:rPr lang="en-GB" i="1">
                        <a:latin typeface="Cambria Math" panose="02040503050406030204" pitchFamily="18" charset="0"/>
                      </a:rPr>
                      <m:t>ᵇ.</m:t>
                    </m:r>
                    <m:r>
                      <a:rPr lang="en-GB" b="0" i="1" smtClean="0">
                        <a:latin typeface="Cambria Math" panose="02040503050406030204" pitchFamily="18" charset="0"/>
                      </a:rPr>
                      <m:t>𝑤</m:t>
                    </m:r>
                    <m:r>
                      <a:rPr lang="en-GB" i="1">
                        <a:latin typeface="Cambria Math" panose="02040503050406030204" pitchFamily="18" charset="0"/>
                      </a:rPr>
                      <m:t>ᶜ</m:t>
                    </m:r>
                  </m:oMath>
                </a14:m>
                <a:r>
                  <a:rPr lang="en-GB" dirty="0"/>
                  <a:t> ……………(i)</a:t>
                </a:r>
                <a:endParaRPr lang="en-US" dirty="0"/>
              </a:p>
              <a:p>
                <a:pPr marL="0" indent="0">
                  <a:buNone/>
                </a:pPr>
                <a:r>
                  <a:rPr lang="en-GB" dirty="0"/>
                  <a:t>ML</a:t>
                </a:r>
                <a:r>
                  <a:rPr lang="en-GB" baseline="30000" dirty="0"/>
                  <a:t>2</a:t>
                </a:r>
                <a:r>
                  <a:rPr lang="en-GB" dirty="0"/>
                  <a:t>t</a:t>
                </a:r>
                <a:r>
                  <a:rPr lang="en-GB" baseline="30000" dirty="0"/>
                  <a:t>-3</a:t>
                </a:r>
                <a:r>
                  <a:rPr lang="en-GB" dirty="0"/>
                  <a:t> = K L</a:t>
                </a:r>
                <a:r>
                  <a:rPr lang="en-GB" baseline="30000" dirty="0"/>
                  <a:t>a</a:t>
                </a:r>
                <a:r>
                  <a:rPr lang="en-GB" dirty="0"/>
                  <a:t>. (L</a:t>
                </a:r>
                <a:r>
                  <a:rPr lang="en-GB" baseline="30000" dirty="0"/>
                  <a:t>3</a:t>
                </a:r>
                <a:r>
                  <a:rPr lang="en-GB" dirty="0"/>
                  <a:t>t</a:t>
                </a:r>
                <a:r>
                  <a:rPr lang="en-GB" baseline="30000" dirty="0"/>
                  <a:t>-1</a:t>
                </a:r>
                <a:r>
                  <a:rPr lang="en-GB" dirty="0"/>
                  <a:t>)</a:t>
                </a:r>
                <a:r>
                  <a:rPr lang="en-GB" baseline="30000" dirty="0"/>
                  <a:t>b </a:t>
                </a:r>
                <a:r>
                  <a:rPr lang="en-GB" dirty="0"/>
                  <a:t>. (ML</a:t>
                </a:r>
                <a:r>
                  <a:rPr lang="en-GB" baseline="30000" dirty="0"/>
                  <a:t>-2</a:t>
                </a:r>
                <a:r>
                  <a:rPr lang="en-GB" dirty="0"/>
                  <a:t>t</a:t>
                </a:r>
                <a:r>
                  <a:rPr lang="en-GB" baseline="30000" dirty="0"/>
                  <a:t>-2</a:t>
                </a:r>
                <a:r>
                  <a:rPr lang="en-GB" dirty="0"/>
                  <a:t>)</a:t>
                </a:r>
                <a:r>
                  <a:rPr lang="en-GB" baseline="30000" dirty="0"/>
                  <a:t>c</a:t>
                </a: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22674"/>
                <a:ext cx="9144000" cy="4931901"/>
              </a:xfrm>
              <a:blipFill>
                <a:blip r:embed="rId3"/>
                <a:stretch>
                  <a:fillRect l="-1000" t="-1731"/>
                </a:stretch>
              </a:blipFill>
            </p:spPr>
            <p:txBody>
              <a:bodyPr/>
              <a:lstStyle/>
              <a:p>
                <a:r>
                  <a:rPr lang="en-GH">
                    <a:noFill/>
                  </a:rPr>
                  <a:t> </a:t>
                </a:r>
              </a:p>
            </p:txBody>
          </p:sp>
        </mc:Fallback>
      </mc:AlternateContent>
      <p:sp>
        <p:nvSpPr>
          <p:cNvPr id="6" name="Title 1">
            <a:extLst>
              <a:ext uri="{FF2B5EF4-FFF2-40B4-BE49-F238E27FC236}">
                <a16:creationId xmlns:a16="http://schemas.microsoft.com/office/drawing/2014/main" id="{922F4EB1-3219-C310-EDFC-437776144E77}"/>
              </a:ext>
            </a:extLst>
          </p:cNvPr>
          <p:cNvSpPr>
            <a:spLocks noGrp="1"/>
          </p:cNvSpPr>
          <p:nvPr>
            <p:ph type="title"/>
          </p:nvPr>
        </p:nvSpPr>
        <p:spPr>
          <a:xfrm>
            <a:off x="457200" y="69057"/>
            <a:ext cx="8229600" cy="411162"/>
          </a:xfrm>
        </p:spPr>
        <p:txBody>
          <a:bodyPr>
            <a:noAutofit/>
          </a:bodyPr>
          <a:lstStyle/>
          <a:p>
            <a:r>
              <a:rPr lang="en-US" sz="2400" b="1" dirty="0">
                <a:solidFill>
                  <a:schemeClr val="tx1"/>
                </a:solidFill>
              </a:rPr>
              <a:t>RAYLEIGH METHOD</a:t>
            </a:r>
            <a:endParaRPr lang="en-US" sz="2400" dirty="0">
              <a:solidFill>
                <a:schemeClr val="tx1"/>
              </a:solidFill>
            </a:endParaRPr>
          </a:p>
        </p:txBody>
      </p:sp>
    </p:spTree>
    <p:extLst>
      <p:ext uri="{BB962C8B-B14F-4D97-AF65-F5344CB8AC3E}">
        <p14:creationId xmlns:p14="http://schemas.microsoft.com/office/powerpoint/2010/main" val="158471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3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457200" marR="0">
                  <a:lnSpc>
                    <a:spcPct val="150000"/>
                  </a:lnSpc>
                  <a:spcBef>
                    <a:spcPts val="0"/>
                  </a:spcBef>
                  <a:spcAft>
                    <a:spcPts val="0"/>
                  </a:spcAft>
                </a:pPr>
                <a:r>
                  <a:rPr lang="en-GB" dirty="0">
                    <a:latin typeface="Times New Roman" panose="02020603050405020304" pitchFamily="18" charset="0"/>
                    <a:ea typeface="Times New Roman" panose="02020603050405020304" pitchFamily="18" charset="0"/>
                  </a:rPr>
                  <a:t>Equating the powers of M, L, and t on both sides</a:t>
                </a:r>
                <a:endParaRPr lang="en-US" sz="2000" dirty="0">
                  <a:effectLst/>
                  <a:latin typeface="Arial" panose="020B0604020202020204" pitchFamily="34" charset="0"/>
                  <a:ea typeface="Times New Roman" panose="02020603050405020304" pitchFamily="18" charset="0"/>
                </a:endParaRPr>
              </a:p>
              <a:p>
                <a:pPr marL="457200" marR="0">
                  <a:lnSpc>
                    <a:spcPct val="150000"/>
                  </a:lnSpc>
                  <a:spcBef>
                    <a:spcPts val="0"/>
                  </a:spcBef>
                  <a:spcAft>
                    <a:spcPts val="0"/>
                  </a:spcAft>
                </a:pPr>
                <a:r>
                  <a:rPr lang="en-GB" dirty="0">
                    <a:effectLst/>
                    <a:latin typeface="Times New Roman" panose="02020603050405020304" pitchFamily="18" charset="0"/>
                    <a:ea typeface="Times New Roman" panose="02020603050405020304" pitchFamily="18" charset="0"/>
                  </a:rPr>
                  <a:t>Powers of M: 1= c </a:t>
                </a:r>
                <a14:m>
                  <m:oMath xmlns:m="http://schemas.openxmlformats.org/officeDocument/2006/math">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GB"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US" sz="2000" dirty="0">
                  <a:effectLst/>
                  <a:latin typeface="Arial" panose="020B0604020202020204" pitchFamily="34" charset="0"/>
                  <a:ea typeface="Times New Roman" panose="02020603050405020304" pitchFamily="18" charset="0"/>
                </a:endParaRPr>
              </a:p>
              <a:p>
                <a:pPr marL="457200" marR="0">
                  <a:lnSpc>
                    <a:spcPct val="150000"/>
                  </a:lnSpc>
                  <a:spcBef>
                    <a:spcPts val="0"/>
                  </a:spcBef>
                  <a:spcAft>
                    <a:spcPts val="0"/>
                  </a:spcAft>
                </a:pPr>
                <a:r>
                  <a:rPr lang="en-GB" dirty="0">
                    <a:effectLst/>
                    <a:latin typeface="Times New Roman" panose="02020603050405020304" pitchFamily="18" charset="0"/>
                    <a:ea typeface="Times New Roman" panose="02020603050405020304" pitchFamily="18" charset="0"/>
                  </a:rPr>
                  <a:t>Powers of L: </a:t>
                </a:r>
                <a14:m>
                  <m:oMath xmlns:m="http://schemas.openxmlformats.org/officeDocument/2006/math">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GB" i="1">
                        <a:effectLst/>
                        <a:latin typeface="Cambria Math" panose="02040503050406030204" pitchFamily="18" charset="0"/>
                        <a:ea typeface="Times New Roman" panose="02020603050405020304" pitchFamily="18" charset="0"/>
                        <a:cs typeface="Times New Roman" panose="02020603050405020304" pitchFamily="18" charset="0"/>
                      </a:rPr>
                      <m:t>+3</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GB" i="1">
                        <a:effectLst/>
                        <a:latin typeface="Cambria Math" panose="02040503050406030204" pitchFamily="18" charset="0"/>
                        <a:ea typeface="Times New Roman" panose="02020603050405020304" pitchFamily="18" charset="0"/>
                        <a:cs typeface="Times New Roman" panose="02020603050405020304" pitchFamily="18" charset="0"/>
                      </a:rPr>
                      <m:t>=2−3</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𝑐</m:t>
                    </m:r>
                  </m:oMath>
                </a14:m>
                <a:endParaRPr lang="en-US" sz="2000" dirty="0">
                  <a:effectLst/>
                  <a:latin typeface="Arial" panose="020B0604020202020204" pitchFamily="34" charset="0"/>
                  <a:ea typeface="Times New Roman" panose="02020603050405020304" pitchFamily="18" charset="0"/>
                </a:endParaRPr>
              </a:p>
              <a:p>
                <a:pPr marL="457200" marR="0">
                  <a:lnSpc>
                    <a:spcPct val="150000"/>
                  </a:lnSpc>
                  <a:spcBef>
                    <a:spcPts val="0"/>
                  </a:spcBef>
                  <a:spcAft>
                    <a:spcPts val="0"/>
                  </a:spcAft>
                </a:pPr>
                <a:r>
                  <a:rPr lang="en-GB" dirty="0">
                    <a:effectLst/>
                    <a:latin typeface="Times New Roman" panose="02020603050405020304" pitchFamily="18" charset="0"/>
                    <a:ea typeface="Times New Roman" panose="02020603050405020304" pitchFamily="18" charset="0"/>
                  </a:rPr>
                  <a:t>Powers of </a:t>
                </a:r>
                <a:r>
                  <a:rPr lang="en-GB" dirty="0">
                    <a:latin typeface="Times New Roman" panose="02020603050405020304" pitchFamily="18" charset="0"/>
                    <a:ea typeface="Times New Roman" panose="02020603050405020304" pitchFamily="18" charset="0"/>
                  </a:rPr>
                  <a:t>t:</a:t>
                </a:r>
                <a:r>
                  <a:rPr lang="en-GB" dirty="0">
                    <a:effectLst/>
                    <a:latin typeface="Times New Roman" panose="02020603050405020304" pitchFamily="18" charset="0"/>
                    <a:ea typeface="Times New Roman" panose="02020603050405020304" pitchFamily="18" charset="0"/>
                  </a:rPr>
                  <a:t> </a:t>
                </a:r>
                <a14:m>
                  <m:oMath xmlns:m="http://schemas.openxmlformats.org/officeDocument/2006/math">
                    <m:r>
                      <a:rPr lang="en-GB" i="1">
                        <a:effectLst/>
                        <a:latin typeface="Cambria Math" panose="02040503050406030204" pitchFamily="18" charset="0"/>
                        <a:ea typeface="Times New Roman" panose="02020603050405020304" pitchFamily="18" charset="0"/>
                        <a:cs typeface="Times New Roman" panose="02020603050405020304" pitchFamily="18" charset="0"/>
                      </a:rPr>
                      <m:t>−3=−</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GB" i="1">
                        <a:effectLst/>
                        <a:latin typeface="Cambria Math" panose="02040503050406030204" pitchFamily="18" charset="0"/>
                        <a:ea typeface="Times New Roman" panose="02020603050405020304" pitchFamily="18" charset="0"/>
                        <a:cs typeface="Times New Roman" panose="02020603050405020304" pitchFamily="18" charset="0"/>
                      </a:rPr>
                      <m:t>=3−2</m:t>
                    </m:r>
                    <m:d>
                      <m:dPr>
                        <m:ctrlPr>
                          <a:rPr lang="en-US"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GB"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US" sz="2000" dirty="0">
                  <a:effectLst/>
                  <a:latin typeface="Arial" panose="020B0604020202020204" pitchFamily="34" charset="0"/>
                  <a:ea typeface="Times New Roman" panose="02020603050405020304" pitchFamily="18" charset="0"/>
                </a:endParaRPr>
              </a:p>
              <a:p>
                <a:pPr marL="457200" marR="0">
                  <a:lnSpc>
                    <a:spcPct val="150000"/>
                  </a:lnSpc>
                  <a:spcBef>
                    <a:spcPts val="0"/>
                  </a:spcBef>
                  <a:spcAft>
                    <a:spcPts val="0"/>
                  </a:spcAft>
                </a:pPr>
                <a14:m>
                  <m:oMath xmlns:m="http://schemas.openxmlformats.org/officeDocument/2006/math">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GB" i="1">
                        <a:effectLst/>
                        <a:latin typeface="Cambria Math" panose="02040503050406030204" pitchFamily="18" charset="0"/>
                        <a:ea typeface="Times New Roman" panose="02020603050405020304" pitchFamily="18" charset="0"/>
                        <a:cs typeface="Times New Roman" panose="02020603050405020304" pitchFamily="18" charset="0"/>
                      </a:rPr>
                      <m:t>=2−3+2=1</m:t>
                    </m:r>
                  </m:oMath>
                </a14:m>
                <a:r>
                  <a:rPr lang="en-GB" dirty="0">
                    <a:effectLst/>
                    <a:latin typeface="Times New Roman" panose="02020603050405020304" pitchFamily="18" charset="0"/>
                    <a:ea typeface="Times New Roman" panose="02020603050405020304" pitchFamily="18" charset="0"/>
                  </a:rPr>
                  <a:t> </a:t>
                </a:r>
                <a:endParaRPr lang="en-GB" dirty="0">
                  <a:latin typeface="Times New Roman" panose="02020603050405020304" pitchFamily="18" charset="0"/>
                  <a:ea typeface="Times New Roman" panose="02020603050405020304" pitchFamily="18" charset="0"/>
                </a:endParaRPr>
              </a:p>
              <a:p>
                <a:pPr marL="457200" marR="0">
                  <a:lnSpc>
                    <a:spcPct val="150000"/>
                  </a:lnSpc>
                  <a:spcBef>
                    <a:spcPts val="0"/>
                  </a:spcBef>
                  <a:spcAft>
                    <a:spcPts val="0"/>
                  </a:spcAft>
                </a:pPr>
                <a:r>
                  <a:rPr kumimoji="0" lang="en-US" sz="2400" b="0" i="0" u="none" strike="noStrike" kern="1200" cap="none" spc="0" normalizeH="0" baseline="0" noProof="0" dirty="0">
                    <a:ln>
                      <a:noFill/>
                    </a:ln>
                    <a:solidFill>
                      <a:prstClr val="black"/>
                    </a:solidFill>
                    <a:effectLst/>
                    <a:uLnTx/>
                    <a:uFillTx/>
                    <a:latin typeface="Myriad Web Pro"/>
                    <a:ea typeface="+mn-ea"/>
                    <a:cs typeface="+mn-cs"/>
                  </a:rPr>
                  <a:t>Substituting the values of a, b and c into (</a:t>
                </a:r>
                <a:r>
                  <a:rPr kumimoji="0" lang="en-US" sz="2400" b="0" i="0" u="none" strike="noStrike" kern="1200" cap="none" spc="0" normalizeH="0" baseline="0" noProof="0" dirty="0" err="1">
                    <a:ln>
                      <a:noFill/>
                    </a:ln>
                    <a:solidFill>
                      <a:prstClr val="black"/>
                    </a:solidFill>
                    <a:effectLst/>
                    <a:uLnTx/>
                    <a:uFillTx/>
                    <a:latin typeface="Myriad Web Pro"/>
                    <a:ea typeface="+mn-ea"/>
                    <a:cs typeface="+mn-cs"/>
                  </a:rPr>
                  <a:t>i</a:t>
                </a:r>
                <a:r>
                  <a:rPr kumimoji="0" lang="en-US" sz="2400" b="0" i="0" u="none" strike="noStrike" kern="1200" cap="none" spc="0" normalizeH="0" baseline="0" noProof="0" dirty="0">
                    <a:ln>
                      <a:noFill/>
                    </a:ln>
                    <a:solidFill>
                      <a:prstClr val="black"/>
                    </a:solidFill>
                    <a:effectLst/>
                    <a:uLnTx/>
                    <a:uFillTx/>
                    <a:latin typeface="Myriad Web Pro"/>
                    <a:ea typeface="+mn-ea"/>
                    <a:cs typeface="+mn-cs"/>
                  </a:rPr>
                  <a:t>)</a:t>
                </a:r>
              </a:p>
              <a:p>
                <a:pPr marL="457200" marR="0">
                  <a:lnSpc>
                    <a:spcPct val="150000"/>
                  </a:lnSpc>
                  <a:spcBef>
                    <a:spcPts val="0"/>
                  </a:spcBef>
                  <a:spcAft>
                    <a:spcPts val="0"/>
                  </a:spcAft>
                </a:pP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𝑃</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𝐾</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𝐻</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1</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𝑄</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1</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t>.</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pPr>
                      <m:e>
                        <m:r>
                          <a:rPr kumimoji="0" lang="en-GB" sz="24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mn-cs"/>
                          </a:rPr>
                          <m:t>𝑤</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mn-cs"/>
                          </a:rPr>
                          <m:t>1</m:t>
                        </m:r>
                      </m:sup>
                    </m:sSup>
                  </m:oMath>
                </a14:m>
                <a:endParaRPr kumimoji="0" lang="en-GB" sz="2400" b="0" i="1"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mn-cs"/>
                </a:endParaRPr>
              </a:p>
              <a:p>
                <a:pPr marL="457200" marR="0">
                  <a:lnSpc>
                    <a:spcPct val="150000"/>
                  </a:lnSpc>
                  <a:spcBef>
                    <a:spcPts val="0"/>
                  </a:spcBef>
                  <a:spcAft>
                    <a:spcPts val="0"/>
                  </a:spcAft>
                </a:pPr>
                <a14:m>
                  <m:oMath xmlns:m="http://schemas.openxmlformats.org/officeDocument/2006/math">
                    <m:r>
                      <a:rPr kumimoji="0" lang="en-GB" sz="24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𝐾𝐻𝑄𝑤</m:t>
                    </m:r>
                  </m:oMath>
                </a14:m>
                <a:endParaRPr kumimoji="0" lang="en-US" sz="2400" b="0" i="0" u="none" strike="noStrike" kern="1200" cap="none" spc="0" normalizeH="0" baseline="0" noProof="0" dirty="0">
                  <a:ln>
                    <a:noFill/>
                  </a:ln>
                  <a:solidFill>
                    <a:prstClr val="black"/>
                  </a:solidFill>
                  <a:effectLst/>
                  <a:uLnTx/>
                  <a:uFillTx/>
                  <a:latin typeface="Myriad Web Pro"/>
                  <a:ea typeface="+mn-ea"/>
                  <a:cs typeface="+mn-cs"/>
                </a:endParaRPr>
              </a:p>
              <a:p>
                <a:pPr marR="0" indent="0">
                  <a:lnSpc>
                    <a:spcPct val="150000"/>
                  </a:lnSpc>
                  <a:spcBef>
                    <a:spcPts val="0"/>
                  </a:spcBef>
                  <a:spcAft>
                    <a:spcPts val="0"/>
                  </a:spcAft>
                  <a:buNone/>
                </a:pPr>
                <a:endParaRPr lang="en-US" sz="2000" dirty="0">
                  <a:effectLst/>
                  <a:latin typeface="Arial" panose="020B0604020202020204" pitchFamily="34" charset="0"/>
                  <a:ea typeface="Times New Roman" panose="02020603050405020304"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998262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10" y="914400"/>
            <a:ext cx="8972550" cy="5115079"/>
          </a:xfrm>
        </p:spPr>
        <p:txBody>
          <a:bodyPr>
            <a:normAutofit/>
          </a:bodyPr>
          <a:lstStyle/>
          <a:p>
            <a:pPr marL="0" indent="0">
              <a:buNone/>
            </a:pPr>
            <a:r>
              <a:rPr lang="en-US" sz="2800" b="1" dirty="0">
                <a:latin typeface="+mn-lt"/>
              </a:rPr>
              <a:t>Self-Assessment</a:t>
            </a:r>
            <a:r>
              <a:rPr lang="en-US" sz="2800" dirty="0">
                <a:latin typeface="+mn-lt"/>
              </a:rPr>
              <a:t>: Repeat Example 3 using the </a:t>
            </a:r>
            <a:r>
              <a:rPr lang="en-US" sz="2800" dirty="0" err="1">
                <a:latin typeface="+mn-lt"/>
              </a:rPr>
              <a:t>FLt</a:t>
            </a:r>
            <a:r>
              <a:rPr lang="en-US" sz="2800" dirty="0">
                <a:latin typeface="+mn-lt"/>
              </a:rPr>
              <a:t> system of fundamental dimensions</a:t>
            </a:r>
          </a:p>
        </p:txBody>
      </p:sp>
      <p:sp>
        <p:nvSpPr>
          <p:cNvPr id="4" name="Title 1">
            <a:extLst>
              <a:ext uri="{FF2B5EF4-FFF2-40B4-BE49-F238E27FC236}">
                <a16:creationId xmlns:a16="http://schemas.microsoft.com/office/drawing/2014/main" id="{776195C5-DB19-D632-23CC-95628C9D3747}"/>
              </a:ext>
            </a:extLst>
          </p:cNvPr>
          <p:cNvSpPr txBox="1">
            <a:spLocks/>
          </p:cNvSpPr>
          <p:nvPr/>
        </p:nvSpPr>
        <p:spPr>
          <a:xfrm>
            <a:off x="628650" y="135114"/>
            <a:ext cx="7886700" cy="5689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rgbClr val="0000FF"/>
                </a:solidFill>
                <a:latin typeface="Myriad Web Pro"/>
                <a:ea typeface="+mj-ea"/>
                <a:cs typeface="+mj-cs"/>
              </a:defRPr>
            </a:lvl1pPr>
          </a:lstStyle>
          <a:p>
            <a:pPr fontAlgn="auto">
              <a:spcAft>
                <a:spcPts val="0"/>
              </a:spcAft>
            </a:pPr>
            <a:r>
              <a:rPr lang="en-US" dirty="0">
                <a:solidFill>
                  <a:schemeClr val="tx1"/>
                </a:solidFill>
              </a:rPr>
              <a:t>The </a:t>
            </a:r>
            <a:r>
              <a:rPr lang="en-US" dirty="0" err="1">
                <a:solidFill>
                  <a:schemeClr val="tx1"/>
                </a:solidFill>
              </a:rPr>
              <a:t>FLt</a:t>
            </a:r>
            <a:r>
              <a:rPr lang="en-US" dirty="0">
                <a:solidFill>
                  <a:schemeClr val="tx1"/>
                </a:solidFill>
              </a:rPr>
              <a:t> system of Fundamental Dimensions</a:t>
            </a:r>
          </a:p>
        </p:txBody>
      </p:sp>
    </p:spTree>
    <p:extLst>
      <p:ext uri="{BB962C8B-B14F-4D97-AF65-F5344CB8AC3E}">
        <p14:creationId xmlns:p14="http://schemas.microsoft.com/office/powerpoint/2010/main" val="1933659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67513"/>
            <a:ext cx="9144000" cy="3207026"/>
          </a:xfrm>
        </p:spPr>
        <p:txBody>
          <a:bodyPr>
            <a:normAutofit/>
          </a:bodyPr>
          <a:lstStyle/>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This is a technique that arranges the exponents of the</a:t>
            </a:r>
          </a:p>
          <a:p>
            <a:pPr marL="0" marR="0" lvl="0" indent="0" algn="l" defTabSz="914400" rtl="0" eaLnBrk="1" fontAlgn="auto" latinLnBrk="0" hangingPunct="1">
              <a:lnSpc>
                <a:spcPct val="90000"/>
              </a:lnSpc>
              <a:spcBef>
                <a:spcPts val="0"/>
              </a:spcBef>
              <a:spcAft>
                <a:spcPts val="0"/>
              </a:spcAft>
              <a:buClrTx/>
              <a:buSz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dimensions of the variables in a table, forming a matrix.</a:t>
            </a:r>
          </a:p>
          <a:p>
            <a:pPr marL="0" marR="0" lvl="0" indent="0" algn="l" defTabSz="914400" rtl="0" eaLnBrk="1" fontAlgn="auto" latinLnBrk="0" hangingPunct="1">
              <a:lnSpc>
                <a:spcPct val="90000"/>
              </a:lnSpc>
              <a:spcBef>
                <a:spcPts val="1000"/>
              </a:spcBef>
              <a:spcAft>
                <a:spcPts val="0"/>
              </a:spcAft>
              <a:buClrTx/>
              <a:buSzTx/>
              <a:buNone/>
              <a:tabLst/>
              <a:defRPr/>
            </a:pPr>
            <a:r>
              <a:rPr lang="en-US" sz="2600" b="1" dirty="0">
                <a:solidFill>
                  <a:prstClr val="black"/>
                </a:solidFill>
                <a:latin typeface="+mn-lt"/>
              </a:rPr>
              <a:t>Example</a:t>
            </a:r>
            <a:r>
              <a:rPr lang="en-US" sz="2600" dirty="0">
                <a:solidFill>
                  <a:prstClr val="black"/>
                </a:solidFill>
                <a:latin typeface="+mn-lt"/>
              </a:rPr>
              <a:t>: The thrust </a:t>
            </a:r>
            <a:r>
              <a:rPr lang="en-US" sz="2600" i="1" dirty="0">
                <a:solidFill>
                  <a:prstClr val="black"/>
                </a:solidFill>
                <a:latin typeface="+mn-lt"/>
              </a:rPr>
              <a:t>F</a:t>
            </a:r>
            <a:r>
              <a:rPr lang="en-US" sz="2600" dirty="0">
                <a:solidFill>
                  <a:prstClr val="black"/>
                </a:solidFill>
                <a:latin typeface="+mn-lt"/>
              </a:rPr>
              <a:t> of a propeller depends upon its diameter, </a:t>
            </a:r>
            <a:r>
              <a:rPr lang="en-US" sz="2600" i="1" dirty="0">
                <a:solidFill>
                  <a:prstClr val="black"/>
                </a:solidFill>
                <a:latin typeface="+mn-lt"/>
              </a:rPr>
              <a:t>D</a:t>
            </a:r>
            <a:r>
              <a:rPr lang="en-US" sz="2600" dirty="0">
                <a:solidFill>
                  <a:prstClr val="black"/>
                </a:solidFill>
                <a:latin typeface="+mn-lt"/>
              </a:rPr>
              <a:t>, speed of advance, </a:t>
            </a:r>
            <a:r>
              <a:rPr lang="en-US" sz="2600" i="1" dirty="0">
                <a:solidFill>
                  <a:prstClr val="black"/>
                </a:solidFill>
                <a:latin typeface="+mn-lt"/>
              </a:rPr>
              <a:t>V</a:t>
            </a:r>
            <a:r>
              <a:rPr lang="en-US" sz="2600" dirty="0">
                <a:solidFill>
                  <a:prstClr val="black"/>
                </a:solidFill>
                <a:latin typeface="+mn-lt"/>
              </a:rPr>
              <a:t>, number of revolutions per second, </a:t>
            </a:r>
            <a:r>
              <a:rPr lang="en-US" sz="2600" i="1" dirty="0">
                <a:solidFill>
                  <a:prstClr val="black"/>
                </a:solidFill>
                <a:latin typeface="+mn-lt"/>
              </a:rPr>
              <a:t>N</a:t>
            </a:r>
            <a:r>
              <a:rPr lang="en-US" sz="2600" dirty="0">
                <a:solidFill>
                  <a:prstClr val="black"/>
                </a:solidFill>
                <a:latin typeface="+mn-lt"/>
              </a:rPr>
              <a:t>, the fluid density, </a:t>
            </a:r>
            <a:r>
              <a:rPr lang="el-GR" sz="2600" i="1" dirty="0">
                <a:solidFill>
                  <a:prstClr val="black"/>
                </a:solidFill>
                <a:latin typeface="+mn-lt"/>
                <a:cs typeface="Times New Roman" panose="02020603050405020304" pitchFamily="18" charset="0"/>
              </a:rPr>
              <a:t>ρ</a:t>
            </a:r>
            <a:r>
              <a:rPr lang="en-GB" sz="2600" dirty="0">
                <a:solidFill>
                  <a:prstClr val="black"/>
                </a:solidFill>
                <a:latin typeface="+mn-lt"/>
                <a:cs typeface="Times New Roman" panose="02020603050405020304" pitchFamily="18" charset="0"/>
              </a:rPr>
              <a:t>, and dynamic viscosity, </a:t>
            </a:r>
            <a:r>
              <a:rPr lang="el-GR" sz="2600" i="1" dirty="0">
                <a:solidFill>
                  <a:prstClr val="black"/>
                </a:solidFill>
                <a:latin typeface="+mn-lt"/>
                <a:cs typeface="Times New Roman" panose="02020603050405020304" pitchFamily="18" charset="0"/>
              </a:rPr>
              <a:t>μ</a:t>
            </a:r>
            <a:r>
              <a:rPr lang="en-GB" sz="2600" dirty="0">
                <a:solidFill>
                  <a:prstClr val="black"/>
                </a:solidFill>
                <a:latin typeface="+mn-lt"/>
                <a:cs typeface="Times New Roman" panose="02020603050405020304" pitchFamily="18" charset="0"/>
              </a:rPr>
              <a:t>. Find an expression for </a:t>
            </a:r>
            <a:r>
              <a:rPr lang="en-GB" sz="2600" i="1" dirty="0">
                <a:solidFill>
                  <a:prstClr val="black"/>
                </a:solidFill>
                <a:latin typeface="+mn-lt"/>
                <a:cs typeface="Times New Roman" panose="02020603050405020304" pitchFamily="18" charset="0"/>
              </a:rPr>
              <a:t>F</a:t>
            </a:r>
            <a:r>
              <a:rPr lang="en-GB" sz="2600" dirty="0">
                <a:solidFill>
                  <a:prstClr val="black"/>
                </a:solidFill>
                <a:latin typeface="+mn-lt"/>
                <a:cs typeface="Times New Roman" panose="02020603050405020304" pitchFamily="18" charset="0"/>
              </a:rPr>
              <a:t> in terms of these quantities.</a:t>
            </a:r>
            <a:endParaRPr kumimoji="0" lang="en-US" sz="2600" b="0" i="0" u="none" strike="noStrike" kern="1200" cap="none" spc="0" normalizeH="0" baseline="0" noProof="0" dirty="0">
              <a:ln>
                <a:noFill/>
              </a:ln>
              <a:solidFill>
                <a:prstClr val="black"/>
              </a:solidFill>
              <a:effectLst/>
              <a:uLnTx/>
              <a:uFillTx/>
              <a:latin typeface="+mn-lt"/>
              <a:ea typeface="+mn-ea"/>
              <a:cs typeface="+mn-cs"/>
            </a:endParaRPr>
          </a:p>
          <a:p>
            <a:pPr marL="0" indent="0">
              <a:buNone/>
            </a:pPr>
            <a:r>
              <a:rPr lang="en-US" sz="2600" b="1" dirty="0">
                <a:latin typeface="+mn-lt"/>
              </a:rPr>
              <a:t>Solution</a:t>
            </a:r>
            <a:r>
              <a:rPr lang="en-US" sz="2600" dirty="0">
                <a:latin typeface="+mn-lt"/>
              </a:rPr>
              <a:t>:</a:t>
            </a:r>
          </a:p>
          <a:p>
            <a:pPr marL="0" indent="0">
              <a:spcBef>
                <a:spcPts val="0"/>
              </a:spcBef>
              <a:buNone/>
            </a:pPr>
            <a:r>
              <a:rPr lang="en-US" sz="2600" dirty="0">
                <a:latin typeface="+mn-lt"/>
              </a:rPr>
              <a:t>Propeller thrust, </a:t>
            </a:r>
            <a:r>
              <a:rPr lang="en-US" sz="2600" i="1" dirty="0">
                <a:latin typeface="+mn-lt"/>
              </a:rPr>
              <a:t>F</a:t>
            </a:r>
            <a:r>
              <a:rPr lang="en-US" sz="2600" dirty="0">
                <a:latin typeface="+mn-lt"/>
              </a:rPr>
              <a:t> = </a:t>
            </a:r>
            <a:r>
              <a:rPr lang="en-US" sz="2600" i="1" dirty="0">
                <a:latin typeface="+mn-lt"/>
              </a:rPr>
              <a:t>f </a:t>
            </a:r>
            <a:r>
              <a:rPr lang="en-US" sz="2600" dirty="0">
                <a:latin typeface="+mn-lt"/>
              </a:rPr>
              <a:t>(</a:t>
            </a:r>
            <a:r>
              <a:rPr lang="en-US" sz="2600" i="1" dirty="0">
                <a:latin typeface="+mn-lt"/>
              </a:rPr>
              <a:t>V</a:t>
            </a:r>
            <a:r>
              <a:rPr lang="en-US" sz="2600" dirty="0">
                <a:latin typeface="+mn-lt"/>
              </a:rPr>
              <a:t>, </a:t>
            </a:r>
            <a:r>
              <a:rPr lang="en-US" sz="2600" i="1" dirty="0">
                <a:latin typeface="+mn-lt"/>
              </a:rPr>
              <a:t>D</a:t>
            </a:r>
            <a:r>
              <a:rPr lang="en-US" sz="2600" dirty="0">
                <a:latin typeface="+mn-lt"/>
              </a:rPr>
              <a:t>, </a:t>
            </a:r>
            <a:r>
              <a:rPr lang="en-US" sz="2600" i="1" dirty="0">
                <a:latin typeface="+mn-lt"/>
              </a:rPr>
              <a:t>N</a:t>
            </a:r>
            <a:r>
              <a:rPr lang="en-US" sz="2600" dirty="0">
                <a:latin typeface="+mn-lt"/>
              </a:rPr>
              <a:t>, </a:t>
            </a:r>
            <a:r>
              <a:rPr lang="el-GR" sz="2600" dirty="0">
                <a:solidFill>
                  <a:prstClr val="black"/>
                </a:solidFill>
                <a:latin typeface="+mn-lt"/>
                <a:cs typeface="Times New Roman" panose="02020603050405020304" pitchFamily="18" charset="0"/>
              </a:rPr>
              <a:t>ρ</a:t>
            </a:r>
            <a:r>
              <a:rPr lang="en-GB" sz="2600" i="1" dirty="0">
                <a:solidFill>
                  <a:prstClr val="black"/>
                </a:solidFill>
                <a:latin typeface="+mn-lt"/>
                <a:cs typeface="Times New Roman" panose="02020603050405020304" pitchFamily="18" charset="0"/>
              </a:rPr>
              <a:t>, </a:t>
            </a:r>
            <a:r>
              <a:rPr lang="el-GR" sz="2600" i="1" dirty="0">
                <a:solidFill>
                  <a:prstClr val="black"/>
                </a:solidFill>
                <a:latin typeface="+mn-lt"/>
                <a:cs typeface="Times New Roman" panose="02020603050405020304" pitchFamily="18" charset="0"/>
              </a:rPr>
              <a:t>μ</a:t>
            </a:r>
            <a:r>
              <a:rPr lang="en-US" sz="2600" dirty="0">
                <a:latin typeface="+mn-lt"/>
              </a:rPr>
              <a:t>)</a:t>
            </a:r>
          </a:p>
        </p:txBody>
      </p:sp>
      <p:sp>
        <p:nvSpPr>
          <p:cNvPr id="6" name="Title 1">
            <a:extLst>
              <a:ext uri="{FF2B5EF4-FFF2-40B4-BE49-F238E27FC236}">
                <a16:creationId xmlns:a16="http://schemas.microsoft.com/office/drawing/2014/main" id="{A8A98835-59E8-6B9B-FE4A-1C577F650BCF}"/>
              </a:ext>
            </a:extLst>
          </p:cNvPr>
          <p:cNvSpPr>
            <a:spLocks noGrp="1"/>
          </p:cNvSpPr>
          <p:nvPr>
            <p:ph type="title"/>
          </p:nvPr>
        </p:nvSpPr>
        <p:spPr>
          <a:xfrm>
            <a:off x="372618" y="61996"/>
            <a:ext cx="7886700" cy="568940"/>
          </a:xfrm>
        </p:spPr>
        <p:txBody>
          <a:bodyPr/>
          <a:lstStyle/>
          <a:p>
            <a:r>
              <a:rPr lang="en-US" dirty="0">
                <a:solidFill>
                  <a:schemeClr val="tx1"/>
                </a:solidFill>
              </a:rPr>
              <a:t>The Dimension Matrix Approach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2C501F-60D2-4DB5-3A1F-321BFA8C9D88}"/>
                  </a:ext>
                </a:extLst>
              </p:cNvPr>
              <p:cNvSpPr txBox="1"/>
              <p:nvPr/>
            </p:nvSpPr>
            <p:spPr>
              <a:xfrm>
                <a:off x="18288" y="3987619"/>
                <a:ext cx="4677156" cy="464679"/>
              </a:xfrm>
              <a:prstGeom prst="rect">
                <a:avLst/>
              </a:prstGeom>
              <a:noFill/>
            </p:spPr>
            <p:txBody>
              <a:bodyPr wrap="square">
                <a:spAutoFit/>
              </a:bodyPr>
              <a:lstStyle/>
              <a:p>
                <a14:m>
                  <m:oMath xmlns:m="http://schemas.openxmlformats.org/officeDocument/2006/math">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rPr>
                      <m:t>𝐹</m:t>
                    </m:r>
                    <m:r>
                      <a:rPr lang="en-GB" i="1" smtClean="0">
                        <a:latin typeface="Cambria Math" panose="02040503050406030204" pitchFamily="18" charset="0"/>
                      </a:rPr>
                      <m:t>=</m:t>
                    </m:r>
                    <m:r>
                      <a:rPr lang="en-GB" i="1" smtClean="0">
                        <a:latin typeface="Cambria Math" panose="02040503050406030204" pitchFamily="18" charset="0"/>
                      </a:rPr>
                      <m:t>𝐾𝑉</m:t>
                    </m:r>
                    <m:r>
                      <a:rPr lang="en-GB" i="1" smtClean="0">
                        <a:latin typeface="Cambria Math" panose="02040503050406030204" pitchFamily="18" charset="0"/>
                      </a:rPr>
                      <m:t>ᵃ.</m:t>
                    </m:r>
                    <m:r>
                      <a:rPr lang="en-GB" b="0" i="1" smtClean="0">
                        <a:latin typeface="Cambria Math" panose="02040503050406030204" pitchFamily="18" charset="0"/>
                      </a:rPr>
                      <m:t>𝐷</m:t>
                    </m:r>
                    <m:r>
                      <a:rPr lang="en-GB" i="1" smtClean="0">
                        <a:latin typeface="Cambria Math" panose="02040503050406030204" pitchFamily="18" charset="0"/>
                      </a:rPr>
                      <m:t>ᵇ.</m:t>
                    </m:r>
                    <m:r>
                      <a:rPr lang="en-GB" b="0" i="1" smtClean="0">
                        <a:latin typeface="Cambria Math" panose="02040503050406030204" pitchFamily="18" charset="0"/>
                      </a:rPr>
                      <m:t>𝑁</m:t>
                    </m:r>
                    <m:r>
                      <a:rPr lang="en-GB" i="1">
                        <a:latin typeface="Cambria Math" panose="02040503050406030204" pitchFamily="18" charset="0"/>
                      </a:rPr>
                      <m:t>ᶜ</m:t>
                    </m:r>
                    <m:r>
                      <a:rPr lang="en-GB" i="1">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𝜌</m:t>
                    </m:r>
                    <m:r>
                      <a:rPr lang="en-GB" b="0" i="1" baseline="30000" smtClean="0">
                        <a:latin typeface="Cambria Math" panose="02040503050406030204" pitchFamily="18" charset="0"/>
                        <a:ea typeface="Cambria Math" panose="02040503050406030204" pitchFamily="18" charset="0"/>
                      </a:rPr>
                      <m:t>𝑑</m:t>
                    </m:r>
                    <m:r>
                      <a:rPr lang="en-GB" i="1">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𝜇</m:t>
                    </m:r>
                    <m:r>
                      <a:rPr lang="en-GB" b="0" i="1" baseline="30000" smtClean="0">
                        <a:latin typeface="Cambria Math" panose="02040503050406030204" pitchFamily="18" charset="0"/>
                        <a:ea typeface="Cambria Math" panose="02040503050406030204" pitchFamily="18" charset="0"/>
                      </a:rPr>
                      <m:t>𝑒</m:t>
                    </m:r>
                  </m:oMath>
                </a14:m>
                <a:r>
                  <a:rPr lang="en-GB" dirty="0"/>
                  <a:t> </a:t>
                </a:r>
                <a:endParaRPr lang="en-GH" dirty="0"/>
              </a:p>
            </p:txBody>
          </p:sp>
        </mc:Choice>
        <mc:Fallback xmlns="">
          <p:sp>
            <p:nvSpPr>
              <p:cNvPr id="8" name="TextBox 7">
                <a:extLst>
                  <a:ext uri="{FF2B5EF4-FFF2-40B4-BE49-F238E27FC236}">
                    <a16:creationId xmlns:a16="http://schemas.microsoft.com/office/drawing/2014/main" id="{442C501F-60D2-4DB5-3A1F-321BFA8C9D88}"/>
                  </a:ext>
                </a:extLst>
              </p:cNvPr>
              <p:cNvSpPr txBox="1">
                <a:spLocks noRot="1" noChangeAspect="1" noMove="1" noResize="1" noEditPoints="1" noAdjustHandles="1" noChangeArrowheads="1" noChangeShapeType="1" noTextEdit="1"/>
              </p:cNvSpPr>
              <p:nvPr/>
            </p:nvSpPr>
            <p:spPr>
              <a:xfrm>
                <a:off x="18288" y="3987619"/>
                <a:ext cx="4677156" cy="464679"/>
              </a:xfrm>
              <a:prstGeom prst="rect">
                <a:avLst/>
              </a:prstGeom>
              <a:blipFill>
                <a:blip r:embed="rId3"/>
                <a:stretch>
                  <a:fillRect b="-13158"/>
                </a:stretch>
              </a:blipFill>
            </p:spPr>
            <p:txBody>
              <a:bodyPr/>
              <a:lstStyle/>
              <a:p>
                <a:r>
                  <a:rPr lang="en-GH">
                    <a:noFill/>
                  </a:rPr>
                  <a:t> </a:t>
                </a:r>
              </a:p>
            </p:txBody>
          </p:sp>
        </mc:Fallback>
      </mc:AlternateContent>
      <p:sp>
        <p:nvSpPr>
          <p:cNvPr id="10" name="TextBox 9">
            <a:extLst>
              <a:ext uri="{FF2B5EF4-FFF2-40B4-BE49-F238E27FC236}">
                <a16:creationId xmlns:a16="http://schemas.microsoft.com/office/drawing/2014/main" id="{9F53BDA0-3082-3144-B039-2EF50A4F9794}"/>
              </a:ext>
            </a:extLst>
          </p:cNvPr>
          <p:cNvSpPr txBox="1"/>
          <p:nvPr/>
        </p:nvSpPr>
        <p:spPr>
          <a:xfrm>
            <a:off x="18288" y="4601954"/>
            <a:ext cx="3895344" cy="757130"/>
          </a:xfrm>
          <a:prstGeom prst="rect">
            <a:avLst/>
          </a:prstGeom>
          <a:noFill/>
        </p:spPr>
        <p:txBody>
          <a:bodyPr wrap="square">
            <a:spAutoFit/>
          </a:bodyPr>
          <a:lstStyle/>
          <a:p>
            <a:pPr lvl="0" eaLnBrk="1" fontAlgn="auto" hangingPunct="1">
              <a:lnSpc>
                <a:spcPct val="90000"/>
              </a:lnSpc>
              <a:spcBef>
                <a:spcPts val="1000"/>
              </a:spcBef>
              <a:spcAft>
                <a:spcPts val="0"/>
              </a:spcAft>
              <a:defRPr/>
            </a:pPr>
            <a:r>
              <a:rPr lang="en-GB" dirty="0">
                <a:solidFill>
                  <a:prstClr val="black"/>
                </a:solidFill>
                <a:latin typeface="+mn-lt"/>
                <a:cs typeface="Times New Roman" panose="02020603050405020304" pitchFamily="18" charset="0"/>
              </a:rPr>
              <a:t>Let’s use primary dimensions </a:t>
            </a:r>
          </a:p>
          <a:p>
            <a:pPr lvl="0" eaLnBrk="1" fontAlgn="auto" hangingPunct="1">
              <a:lnSpc>
                <a:spcPct val="90000"/>
              </a:lnSpc>
              <a:spcBef>
                <a:spcPts val="0"/>
              </a:spcBef>
              <a:spcAft>
                <a:spcPts val="0"/>
              </a:spcAft>
              <a:defRPr/>
            </a:pPr>
            <a:r>
              <a:rPr lang="en-GB" i="1" dirty="0">
                <a:solidFill>
                  <a:prstClr val="black"/>
                </a:solidFill>
                <a:latin typeface="+mn-lt"/>
                <a:cs typeface="Times New Roman" panose="02020603050405020304" pitchFamily="18" charset="0"/>
              </a:rPr>
              <a:t>M</a:t>
            </a:r>
            <a:r>
              <a:rPr lang="en-GB" dirty="0">
                <a:solidFill>
                  <a:prstClr val="black"/>
                </a:solidFill>
                <a:latin typeface="+mn-lt"/>
                <a:cs typeface="Times New Roman" panose="02020603050405020304" pitchFamily="18" charset="0"/>
              </a:rPr>
              <a:t>. </a:t>
            </a:r>
            <a:r>
              <a:rPr lang="en-GB" i="1" dirty="0">
                <a:solidFill>
                  <a:prstClr val="black"/>
                </a:solidFill>
                <a:latin typeface="+mn-lt"/>
                <a:cs typeface="Times New Roman" panose="02020603050405020304" pitchFamily="18" charset="0"/>
              </a:rPr>
              <a:t>L</a:t>
            </a:r>
            <a:r>
              <a:rPr lang="en-GB" dirty="0">
                <a:solidFill>
                  <a:prstClr val="black"/>
                </a:solidFill>
                <a:latin typeface="+mn-lt"/>
                <a:cs typeface="Times New Roman" panose="02020603050405020304" pitchFamily="18" charset="0"/>
              </a:rPr>
              <a:t>. </a:t>
            </a:r>
            <a:r>
              <a:rPr lang="en-GB" i="1" dirty="0">
                <a:solidFill>
                  <a:prstClr val="black"/>
                </a:solidFill>
                <a:latin typeface="+mn-lt"/>
                <a:cs typeface="Times New Roman" panose="02020603050405020304" pitchFamily="18" charset="0"/>
              </a:rPr>
              <a:t>t</a:t>
            </a:r>
            <a:r>
              <a:rPr lang="en-GB" dirty="0">
                <a:solidFill>
                  <a:prstClr val="black"/>
                </a:solidFill>
                <a:latin typeface="+mn-lt"/>
                <a:cs typeface="Times New Roman" panose="02020603050405020304" pitchFamily="18" charset="0"/>
              </a:rPr>
              <a:t> to solve the problem. </a:t>
            </a:r>
            <a:endParaRPr kumimoji="0" lang="en-US" sz="2400" b="0" i="0" u="none" strike="noStrike" kern="1200" cap="none" spc="0" normalizeH="0" baseline="0" noProof="0" dirty="0">
              <a:ln>
                <a:noFill/>
              </a:ln>
              <a:solidFill>
                <a:prstClr val="black"/>
              </a:solidFill>
              <a:effectLst/>
              <a:uLnTx/>
              <a:uFillTx/>
              <a:latin typeface="+mn-lt"/>
              <a:ea typeface="+mn-ea"/>
              <a:cs typeface="+mn-cs"/>
            </a:endParaRPr>
          </a:p>
        </p:txBody>
      </p:sp>
      <p:grpSp>
        <p:nvGrpSpPr>
          <p:cNvPr id="23" name="Group 22">
            <a:extLst>
              <a:ext uri="{FF2B5EF4-FFF2-40B4-BE49-F238E27FC236}">
                <a16:creationId xmlns:a16="http://schemas.microsoft.com/office/drawing/2014/main" id="{9EB88074-1125-3AF6-D00F-2322352384FE}"/>
              </a:ext>
            </a:extLst>
          </p:cNvPr>
          <p:cNvGrpSpPr/>
          <p:nvPr/>
        </p:nvGrpSpPr>
        <p:grpSpPr>
          <a:xfrm>
            <a:off x="4453128" y="4219958"/>
            <a:ext cx="4233672" cy="1467610"/>
            <a:chOff x="4453128" y="4219958"/>
            <a:chExt cx="4233672" cy="1467610"/>
          </a:xfrm>
        </p:grpSpPr>
        <p:sp>
          <p:nvSpPr>
            <p:cNvPr id="12" name="TextBox 11">
              <a:extLst>
                <a:ext uri="{FF2B5EF4-FFF2-40B4-BE49-F238E27FC236}">
                  <a16:creationId xmlns:a16="http://schemas.microsoft.com/office/drawing/2014/main" id="{C9E2B70E-33DB-9933-AB5A-77FF0EDB2BEB}"/>
                </a:ext>
              </a:extLst>
            </p:cNvPr>
            <p:cNvSpPr txBox="1"/>
            <p:nvPr/>
          </p:nvSpPr>
          <p:spPr>
            <a:xfrm>
              <a:off x="4572000" y="4219958"/>
              <a:ext cx="4114800" cy="461665"/>
            </a:xfrm>
            <a:prstGeom prst="rect">
              <a:avLst/>
            </a:prstGeom>
            <a:noFill/>
          </p:spPr>
          <p:txBody>
            <a:bodyPr wrap="square">
              <a:spAutoFit/>
            </a:bodyPr>
            <a:lstStyle/>
            <a:p>
              <a:r>
                <a:rPr lang="en-US" sz="2400" i="1" dirty="0">
                  <a:latin typeface="+mn-lt"/>
                </a:rPr>
                <a:t>F</a:t>
              </a:r>
              <a:r>
                <a:rPr lang="en-US" sz="2400" dirty="0">
                  <a:latin typeface="+mn-lt"/>
                </a:rPr>
                <a:t> </a:t>
              </a:r>
              <a:r>
                <a:rPr lang="en-US" dirty="0">
                  <a:latin typeface="+mn-lt"/>
                </a:rPr>
                <a:t>       </a:t>
              </a:r>
              <a:r>
                <a:rPr lang="en-US" sz="2400" i="1" dirty="0">
                  <a:latin typeface="+mn-lt"/>
                </a:rPr>
                <a:t>V</a:t>
              </a:r>
              <a:r>
                <a:rPr lang="en-US" i="1" dirty="0">
                  <a:latin typeface="+mn-lt"/>
                </a:rPr>
                <a:t>        </a:t>
              </a:r>
              <a:r>
                <a:rPr lang="en-US" sz="2400" i="1" dirty="0">
                  <a:latin typeface="+mn-lt"/>
                </a:rPr>
                <a:t>D</a:t>
              </a:r>
              <a:r>
                <a:rPr lang="en-US" i="1" dirty="0">
                  <a:latin typeface="+mn-lt"/>
                </a:rPr>
                <a:t>        </a:t>
              </a:r>
              <a:r>
                <a:rPr lang="en-US" sz="2400" i="1" dirty="0">
                  <a:latin typeface="+mn-lt"/>
                </a:rPr>
                <a:t>N</a:t>
              </a:r>
              <a:r>
                <a:rPr lang="en-US" i="1" dirty="0">
                  <a:latin typeface="+mn-lt"/>
                </a:rPr>
                <a:t>        </a:t>
              </a:r>
              <a:r>
                <a:rPr lang="el-GR" sz="2400" dirty="0">
                  <a:solidFill>
                    <a:prstClr val="black"/>
                  </a:solidFill>
                  <a:latin typeface="+mn-lt"/>
                  <a:cs typeface="Times New Roman" panose="02020603050405020304" pitchFamily="18" charset="0"/>
                </a:rPr>
                <a:t>ρ</a:t>
              </a:r>
              <a:r>
                <a:rPr lang="en-GB" i="1" dirty="0">
                  <a:solidFill>
                    <a:prstClr val="black"/>
                  </a:solidFill>
                  <a:latin typeface="+mn-lt"/>
                  <a:cs typeface="Times New Roman" panose="02020603050405020304" pitchFamily="18" charset="0"/>
                </a:rPr>
                <a:t>         </a:t>
              </a:r>
              <a:r>
                <a:rPr lang="el-GR" sz="2400" i="1" dirty="0">
                  <a:solidFill>
                    <a:prstClr val="black"/>
                  </a:solidFill>
                  <a:latin typeface="+mn-lt"/>
                  <a:cs typeface="Times New Roman" panose="02020603050405020304" pitchFamily="18" charset="0"/>
                </a:rPr>
                <a:t>μ</a:t>
              </a:r>
              <a:endParaRPr lang="en-GH"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D33FCEE-5549-6F5B-7C93-CED7FF35683B}"/>
                    </a:ext>
                  </a:extLst>
                </p:cNvPr>
                <p:cNvSpPr txBox="1"/>
                <p:nvPr/>
              </p:nvSpPr>
              <p:spPr>
                <a:xfrm>
                  <a:off x="4453128" y="4790209"/>
                  <a:ext cx="594360"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𝑀𝐿</m:t>
                            </m:r>
                          </m:num>
                          <m:den>
                            <m:sSup>
                              <m:sSupPr>
                                <m:ctrlPr>
                                  <a:rPr lang="en-GH"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den>
                        </m:f>
                      </m:oMath>
                    </m:oMathPara>
                  </a14:m>
                  <a:endParaRPr lang="en-GH" dirty="0"/>
                </a:p>
              </p:txBody>
            </p:sp>
          </mc:Choice>
          <mc:Fallback xmlns="">
            <p:sp>
              <p:nvSpPr>
                <p:cNvPr id="14" name="TextBox 13">
                  <a:extLst>
                    <a:ext uri="{FF2B5EF4-FFF2-40B4-BE49-F238E27FC236}">
                      <a16:creationId xmlns:a16="http://schemas.microsoft.com/office/drawing/2014/main" id="{DD33FCEE-5549-6F5B-7C93-CED7FF35683B}"/>
                    </a:ext>
                  </a:extLst>
                </p:cNvPr>
                <p:cNvSpPr txBox="1">
                  <a:spLocks noRot="1" noChangeAspect="1" noMove="1" noResize="1" noEditPoints="1" noAdjustHandles="1" noChangeArrowheads="1" noChangeShapeType="1" noTextEdit="1"/>
                </p:cNvSpPr>
                <p:nvPr/>
              </p:nvSpPr>
              <p:spPr>
                <a:xfrm>
                  <a:off x="4453128" y="4790209"/>
                  <a:ext cx="594360" cy="806183"/>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3E2D35-D220-3D44-65A2-5EB54C7D88E2}"/>
                    </a:ext>
                  </a:extLst>
                </p:cNvPr>
                <p:cNvSpPr txBox="1"/>
                <p:nvPr/>
              </p:nvSpPr>
              <p:spPr>
                <a:xfrm>
                  <a:off x="5282184" y="4790208"/>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𝐿</m:t>
                            </m:r>
                          </m:num>
                          <m:den>
                            <m:r>
                              <a:rPr lang="en-GB" b="0" i="1" smtClean="0">
                                <a:latin typeface="Cambria Math" panose="02040503050406030204" pitchFamily="18" charset="0"/>
                              </a:rPr>
                              <m:t>𝑡</m:t>
                            </m:r>
                          </m:den>
                        </m:f>
                      </m:oMath>
                    </m:oMathPara>
                  </a14:m>
                  <a:endParaRPr lang="en-GH" dirty="0"/>
                </a:p>
              </p:txBody>
            </p:sp>
          </mc:Choice>
          <mc:Fallback xmlns="">
            <p:sp>
              <p:nvSpPr>
                <p:cNvPr id="15" name="TextBox 14">
                  <a:extLst>
                    <a:ext uri="{FF2B5EF4-FFF2-40B4-BE49-F238E27FC236}">
                      <a16:creationId xmlns:a16="http://schemas.microsoft.com/office/drawing/2014/main" id="{E73E2D35-D220-3D44-65A2-5EB54C7D88E2}"/>
                    </a:ext>
                  </a:extLst>
                </p:cNvPr>
                <p:cNvSpPr txBox="1">
                  <a:spLocks noRot="1" noChangeAspect="1" noMove="1" noResize="1" noEditPoints="1" noAdjustHandles="1" noChangeArrowheads="1" noChangeShapeType="1" noTextEdit="1"/>
                </p:cNvSpPr>
                <p:nvPr/>
              </p:nvSpPr>
              <p:spPr>
                <a:xfrm>
                  <a:off x="5282184" y="4790208"/>
                  <a:ext cx="387096" cy="806183"/>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26F49A8-080D-8ED6-32D1-74793D03463B}"/>
                    </a:ext>
                  </a:extLst>
                </p:cNvPr>
                <p:cNvSpPr txBox="1"/>
                <p:nvPr/>
              </p:nvSpPr>
              <p:spPr>
                <a:xfrm>
                  <a:off x="5974080" y="4790207"/>
                  <a:ext cx="38709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smtClean="0">
                            <a:latin typeface="Cambria Math" panose="02040503050406030204" pitchFamily="18" charset="0"/>
                          </a:rPr>
                          <m:t>𝐿</m:t>
                        </m:r>
                      </m:oMath>
                    </m:oMathPara>
                  </a14:m>
                  <a:endParaRPr lang="en-GH" dirty="0"/>
                </a:p>
              </p:txBody>
            </p:sp>
          </mc:Choice>
          <mc:Fallback xmlns="">
            <p:sp>
              <p:nvSpPr>
                <p:cNvPr id="16" name="TextBox 15">
                  <a:extLst>
                    <a:ext uri="{FF2B5EF4-FFF2-40B4-BE49-F238E27FC236}">
                      <a16:creationId xmlns:a16="http://schemas.microsoft.com/office/drawing/2014/main" id="{C26F49A8-080D-8ED6-32D1-74793D03463B}"/>
                    </a:ext>
                  </a:extLst>
                </p:cNvPr>
                <p:cNvSpPr txBox="1">
                  <a:spLocks noRot="1" noChangeAspect="1" noMove="1" noResize="1" noEditPoints="1" noAdjustHandles="1" noChangeArrowheads="1" noChangeShapeType="1" noTextEdit="1"/>
                </p:cNvSpPr>
                <p:nvPr/>
              </p:nvSpPr>
              <p:spPr>
                <a:xfrm>
                  <a:off x="5974080" y="4790207"/>
                  <a:ext cx="387096" cy="461665"/>
                </a:xfrm>
                <a:prstGeom prst="rect">
                  <a:avLst/>
                </a:prstGeom>
                <a:blipFill>
                  <a:blip r:embed="rId6"/>
                  <a:stretch>
                    <a:fillRect l="-312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4269AB1-7D87-854D-9FA2-907175FA0267}"/>
                    </a:ext>
                  </a:extLst>
                </p:cNvPr>
                <p:cNvSpPr txBox="1"/>
                <p:nvPr/>
              </p:nvSpPr>
              <p:spPr>
                <a:xfrm>
                  <a:off x="6720840" y="4790209"/>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𝑡</m:t>
                            </m:r>
                          </m:den>
                        </m:f>
                      </m:oMath>
                    </m:oMathPara>
                  </a14:m>
                  <a:endParaRPr lang="en-GH" dirty="0"/>
                </a:p>
              </p:txBody>
            </p:sp>
          </mc:Choice>
          <mc:Fallback xmlns="">
            <p:sp>
              <p:nvSpPr>
                <p:cNvPr id="17" name="TextBox 16">
                  <a:extLst>
                    <a:ext uri="{FF2B5EF4-FFF2-40B4-BE49-F238E27FC236}">
                      <a16:creationId xmlns:a16="http://schemas.microsoft.com/office/drawing/2014/main" id="{C4269AB1-7D87-854D-9FA2-907175FA0267}"/>
                    </a:ext>
                  </a:extLst>
                </p:cNvPr>
                <p:cNvSpPr txBox="1">
                  <a:spLocks noRot="1" noChangeAspect="1" noMove="1" noResize="1" noEditPoints="1" noAdjustHandles="1" noChangeArrowheads="1" noChangeShapeType="1" noTextEdit="1"/>
                </p:cNvSpPr>
                <p:nvPr/>
              </p:nvSpPr>
              <p:spPr>
                <a:xfrm>
                  <a:off x="6720840" y="4790209"/>
                  <a:ext cx="387096" cy="806183"/>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EB030D0-824C-473F-BFEA-D38EE0EBF8C0}"/>
                    </a:ext>
                  </a:extLst>
                </p:cNvPr>
                <p:cNvSpPr txBox="1"/>
                <p:nvPr/>
              </p:nvSpPr>
              <p:spPr>
                <a:xfrm>
                  <a:off x="7382256" y="4809621"/>
                  <a:ext cx="569214" cy="8038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m:t>
                            </m:r>
                          </m:num>
                          <m:den>
                            <m:sSup>
                              <m:sSupPr>
                                <m:ctrlPr>
                                  <a:rPr lang="en-GH" i="1" smtClean="0">
                                    <a:latin typeface="Cambria Math" panose="02040503050406030204" pitchFamily="18" charset="0"/>
                                  </a:rPr>
                                </m:ctrlPr>
                              </m:sSupPr>
                              <m:e>
                                <m:r>
                                  <a:rPr lang="en-GB" b="0" i="1" smtClean="0">
                                    <a:latin typeface="Cambria Math" panose="02040503050406030204" pitchFamily="18" charset="0"/>
                                  </a:rPr>
                                  <m:t>𝐿</m:t>
                                </m:r>
                              </m:e>
                              <m:sup>
                                <m:r>
                                  <a:rPr lang="en-GB" b="0" i="1" smtClean="0">
                                    <a:latin typeface="Cambria Math" panose="02040503050406030204" pitchFamily="18" charset="0"/>
                                  </a:rPr>
                                  <m:t>3</m:t>
                                </m:r>
                              </m:sup>
                            </m:sSup>
                          </m:den>
                        </m:f>
                      </m:oMath>
                    </m:oMathPara>
                  </a14:m>
                  <a:endParaRPr lang="en-GH" dirty="0"/>
                </a:p>
              </p:txBody>
            </p:sp>
          </mc:Choice>
          <mc:Fallback xmlns="">
            <p:sp>
              <p:nvSpPr>
                <p:cNvPr id="19" name="TextBox 18">
                  <a:extLst>
                    <a:ext uri="{FF2B5EF4-FFF2-40B4-BE49-F238E27FC236}">
                      <a16:creationId xmlns:a16="http://schemas.microsoft.com/office/drawing/2014/main" id="{DEB030D0-824C-473F-BFEA-D38EE0EBF8C0}"/>
                    </a:ext>
                  </a:extLst>
                </p:cNvPr>
                <p:cNvSpPr txBox="1">
                  <a:spLocks noRot="1" noChangeAspect="1" noMove="1" noResize="1" noEditPoints="1" noAdjustHandles="1" noChangeArrowheads="1" noChangeShapeType="1" noTextEdit="1"/>
                </p:cNvSpPr>
                <p:nvPr/>
              </p:nvSpPr>
              <p:spPr>
                <a:xfrm>
                  <a:off x="7382256" y="4809621"/>
                  <a:ext cx="569214" cy="803810"/>
                </a:xfrm>
                <a:prstGeom prst="rect">
                  <a:avLst/>
                </a:prstGeom>
                <a:blipFill>
                  <a:blip r:embed="rId8"/>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DE390CA-8036-DA87-22F3-8BA9C703B2DA}"/>
                    </a:ext>
                  </a:extLst>
                </p:cNvPr>
                <p:cNvSpPr txBox="1"/>
                <p:nvPr/>
              </p:nvSpPr>
              <p:spPr>
                <a:xfrm>
                  <a:off x="8180070" y="4809621"/>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m:t>
                            </m:r>
                          </m:num>
                          <m:den>
                            <m:r>
                              <a:rPr lang="en-GB" b="0" i="1" smtClean="0">
                                <a:latin typeface="Cambria Math" panose="02040503050406030204" pitchFamily="18" charset="0"/>
                              </a:rPr>
                              <m:t>𝐿𝑡</m:t>
                            </m:r>
                          </m:den>
                        </m:f>
                      </m:oMath>
                    </m:oMathPara>
                  </a14:m>
                  <a:endParaRPr lang="en-GH" dirty="0"/>
                </a:p>
              </p:txBody>
            </p:sp>
          </mc:Choice>
          <mc:Fallback xmlns="">
            <p:sp>
              <p:nvSpPr>
                <p:cNvPr id="21" name="TextBox 20">
                  <a:extLst>
                    <a:ext uri="{FF2B5EF4-FFF2-40B4-BE49-F238E27FC236}">
                      <a16:creationId xmlns:a16="http://schemas.microsoft.com/office/drawing/2014/main" id="{1DE390CA-8036-DA87-22F3-8BA9C703B2DA}"/>
                    </a:ext>
                  </a:extLst>
                </p:cNvPr>
                <p:cNvSpPr txBox="1">
                  <a:spLocks noRot="1" noChangeAspect="1" noMove="1" noResize="1" noEditPoints="1" noAdjustHandles="1" noChangeArrowheads="1" noChangeShapeType="1" noTextEdit="1"/>
                </p:cNvSpPr>
                <p:nvPr/>
              </p:nvSpPr>
              <p:spPr>
                <a:xfrm>
                  <a:off x="8180070" y="4809621"/>
                  <a:ext cx="387096" cy="806183"/>
                </a:xfrm>
                <a:prstGeom prst="rect">
                  <a:avLst/>
                </a:prstGeom>
                <a:blipFill>
                  <a:blip r:embed="rId9"/>
                  <a:stretch>
                    <a:fillRect/>
                  </a:stretch>
                </a:blipFill>
              </p:spPr>
              <p:txBody>
                <a:bodyPr/>
                <a:lstStyle/>
                <a:p>
                  <a:r>
                    <a:rPr lang="en-GH">
                      <a:noFill/>
                    </a:rPr>
                    <a:t> </a:t>
                  </a:r>
                </a:p>
              </p:txBody>
            </p:sp>
          </mc:Fallback>
        </mc:AlternateContent>
        <p:sp>
          <p:nvSpPr>
            <p:cNvPr id="22" name="Rectangle 21">
              <a:extLst>
                <a:ext uri="{FF2B5EF4-FFF2-40B4-BE49-F238E27FC236}">
                  <a16:creationId xmlns:a16="http://schemas.microsoft.com/office/drawing/2014/main" id="{1ACFF02A-6100-FCA1-B344-CE8606299C26}"/>
                </a:ext>
              </a:extLst>
            </p:cNvPr>
            <p:cNvSpPr/>
            <p:nvPr/>
          </p:nvSpPr>
          <p:spPr>
            <a:xfrm>
              <a:off x="4453128" y="4219958"/>
              <a:ext cx="4233672" cy="14676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grpSp>
    </p:spTree>
    <p:extLst>
      <p:ext uri="{BB962C8B-B14F-4D97-AF65-F5344CB8AC3E}">
        <p14:creationId xmlns:p14="http://schemas.microsoft.com/office/powerpoint/2010/main" val="1888335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40081"/>
            <a:ext cx="9144000" cy="941831"/>
          </a:xfrm>
        </p:spPr>
        <p:txBody>
          <a:bodyPr>
            <a:normAutofit/>
          </a:bodyPr>
          <a:lstStyle/>
          <a:p>
            <a:pPr marL="0" indent="0">
              <a:spcAft>
                <a:spcPts val="1000"/>
              </a:spcAft>
              <a:buNone/>
            </a:pPr>
            <a:r>
              <a:rPr lang="en-US" sz="2600" b="1" dirty="0">
                <a:latin typeface="+mn-lt"/>
              </a:rPr>
              <a:t>Solution </a:t>
            </a:r>
            <a:r>
              <a:rPr lang="en-US" sz="2600" b="1" dirty="0" err="1">
                <a:latin typeface="+mn-lt"/>
              </a:rPr>
              <a:t>contd</a:t>
            </a:r>
            <a:r>
              <a:rPr lang="en-US" sz="2600" dirty="0">
                <a:latin typeface="+mn-lt"/>
              </a:rPr>
              <a:t>:</a:t>
            </a:r>
          </a:p>
          <a:p>
            <a:pPr marL="0" indent="0">
              <a:spcBef>
                <a:spcPts val="0"/>
              </a:spcBef>
              <a:buNone/>
            </a:pPr>
            <a:r>
              <a:rPr lang="en-GB" sz="2600" dirty="0">
                <a:latin typeface="+mn-lt"/>
              </a:rPr>
              <a:t>The dimension matrix of exponents is shown in the table below.</a:t>
            </a:r>
            <a:endParaRPr lang="en-US" sz="2600" dirty="0">
              <a:latin typeface="+mn-lt"/>
            </a:endParaRPr>
          </a:p>
        </p:txBody>
      </p:sp>
      <p:sp>
        <p:nvSpPr>
          <p:cNvPr id="6" name="Title 1">
            <a:extLst>
              <a:ext uri="{FF2B5EF4-FFF2-40B4-BE49-F238E27FC236}">
                <a16:creationId xmlns:a16="http://schemas.microsoft.com/office/drawing/2014/main" id="{A8A98835-59E8-6B9B-FE4A-1C577F650BCF}"/>
              </a:ext>
            </a:extLst>
          </p:cNvPr>
          <p:cNvSpPr>
            <a:spLocks noGrp="1"/>
          </p:cNvSpPr>
          <p:nvPr>
            <p:ph type="title"/>
          </p:nvPr>
        </p:nvSpPr>
        <p:spPr>
          <a:xfrm>
            <a:off x="372618" y="61996"/>
            <a:ext cx="7886700" cy="568940"/>
          </a:xfrm>
        </p:spPr>
        <p:txBody>
          <a:bodyPr/>
          <a:lstStyle/>
          <a:p>
            <a:r>
              <a:rPr lang="en-US" dirty="0">
                <a:solidFill>
                  <a:schemeClr val="tx1"/>
                </a:solidFill>
              </a:rPr>
              <a:t>The Dimension Matrix Approach</a:t>
            </a:r>
          </a:p>
        </p:txBody>
      </p:sp>
      <p:graphicFrame>
        <p:nvGraphicFramePr>
          <p:cNvPr id="2" name="Table 3">
            <a:extLst>
              <a:ext uri="{FF2B5EF4-FFF2-40B4-BE49-F238E27FC236}">
                <a16:creationId xmlns:a16="http://schemas.microsoft.com/office/drawing/2014/main" id="{289477BA-CE52-C47F-E725-FF5D02C16D1E}"/>
              </a:ext>
            </a:extLst>
          </p:cNvPr>
          <p:cNvGraphicFramePr>
            <a:graphicFrameLocks noGrp="1"/>
          </p:cNvGraphicFramePr>
          <p:nvPr>
            <p:extLst>
              <p:ext uri="{D42A27DB-BD31-4B8C-83A1-F6EECF244321}">
                <p14:modId xmlns:p14="http://schemas.microsoft.com/office/powerpoint/2010/main" val="1244524616"/>
              </p:ext>
            </p:extLst>
          </p:nvPr>
        </p:nvGraphicFramePr>
        <p:xfrm>
          <a:off x="445008" y="1808480"/>
          <a:ext cx="7501130" cy="18288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555997551"/>
                    </a:ext>
                  </a:extLst>
                </a:gridCol>
                <a:gridCol w="923980">
                  <a:extLst>
                    <a:ext uri="{9D8B030D-6E8A-4147-A177-3AD203B41FA5}">
                      <a16:colId xmlns:a16="http://schemas.microsoft.com/office/drawing/2014/main" val="3896180884"/>
                    </a:ext>
                  </a:extLst>
                </a:gridCol>
                <a:gridCol w="1071590">
                  <a:extLst>
                    <a:ext uri="{9D8B030D-6E8A-4147-A177-3AD203B41FA5}">
                      <a16:colId xmlns:a16="http://schemas.microsoft.com/office/drawing/2014/main" val="1259244705"/>
                    </a:ext>
                  </a:extLst>
                </a:gridCol>
                <a:gridCol w="1071590">
                  <a:extLst>
                    <a:ext uri="{9D8B030D-6E8A-4147-A177-3AD203B41FA5}">
                      <a16:colId xmlns:a16="http://schemas.microsoft.com/office/drawing/2014/main" val="148178311"/>
                    </a:ext>
                  </a:extLst>
                </a:gridCol>
                <a:gridCol w="1071590">
                  <a:extLst>
                    <a:ext uri="{9D8B030D-6E8A-4147-A177-3AD203B41FA5}">
                      <a16:colId xmlns:a16="http://schemas.microsoft.com/office/drawing/2014/main" val="2217358254"/>
                    </a:ext>
                  </a:extLst>
                </a:gridCol>
                <a:gridCol w="1071590">
                  <a:extLst>
                    <a:ext uri="{9D8B030D-6E8A-4147-A177-3AD203B41FA5}">
                      <a16:colId xmlns:a16="http://schemas.microsoft.com/office/drawing/2014/main" val="811198357"/>
                    </a:ext>
                  </a:extLst>
                </a:gridCol>
                <a:gridCol w="1071590">
                  <a:extLst>
                    <a:ext uri="{9D8B030D-6E8A-4147-A177-3AD203B41FA5}">
                      <a16:colId xmlns:a16="http://schemas.microsoft.com/office/drawing/2014/main" val="2686429842"/>
                    </a:ext>
                  </a:extLst>
                </a:gridCol>
              </a:tblGrid>
              <a:tr h="370840">
                <a:tc>
                  <a:txBody>
                    <a:bodyPr/>
                    <a:lstStyle/>
                    <a:p>
                      <a:r>
                        <a:rPr lang="en-GB" sz="2400" b="0" dirty="0">
                          <a:solidFill>
                            <a:schemeClr val="tx1"/>
                          </a:solidFill>
                          <a:latin typeface="+mn-lt"/>
                        </a:rPr>
                        <a:t>Variable</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b="0" dirty="0">
                          <a:solidFill>
                            <a:schemeClr val="tx1"/>
                          </a:solidFill>
                          <a:latin typeface="+mn-lt"/>
                        </a:rPr>
                        <a:t>F</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b="0" dirty="0">
                          <a:solidFill>
                            <a:schemeClr val="tx1"/>
                          </a:solidFill>
                          <a:latin typeface="+mn-lt"/>
                        </a:rPr>
                        <a:t>V</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b="0" dirty="0">
                          <a:solidFill>
                            <a:schemeClr val="tx1"/>
                          </a:solidFill>
                          <a:latin typeface="+mn-lt"/>
                        </a:rPr>
                        <a:t>D</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b="0" dirty="0">
                          <a:solidFill>
                            <a:schemeClr val="tx1"/>
                          </a:solidFill>
                          <a:latin typeface="+mn-lt"/>
                        </a:rPr>
                        <a:t>N</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sz="2400" b="0" dirty="0">
                          <a:solidFill>
                            <a:schemeClr val="tx1"/>
                          </a:solidFill>
                          <a:latin typeface="+mn-lt"/>
                          <a:cs typeface="Times New Roman" panose="02020603050405020304" pitchFamily="18" charset="0"/>
                        </a:rPr>
                        <a:t>ρ</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sz="2400" b="0" dirty="0">
                          <a:solidFill>
                            <a:schemeClr val="tx1"/>
                          </a:solidFill>
                          <a:latin typeface="+mn-lt"/>
                          <a:cs typeface="Times New Roman" panose="02020603050405020304" pitchFamily="18" charset="0"/>
                        </a:rPr>
                        <a:t>μ</a:t>
                      </a:r>
                      <a:endParaRPr lang="en-GH" sz="24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3913367"/>
                  </a:ext>
                </a:extLst>
              </a:tr>
              <a:tr h="370840">
                <a:tc>
                  <a:txBody>
                    <a:bodyPr/>
                    <a:lstStyle/>
                    <a:p>
                      <a:r>
                        <a:rPr lang="en-GB" sz="2400" dirty="0">
                          <a:solidFill>
                            <a:schemeClr val="tx1"/>
                          </a:solidFill>
                        </a:rPr>
                        <a:t>M</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1183134"/>
                  </a:ext>
                </a:extLst>
              </a:tr>
              <a:tr h="370840">
                <a:tc>
                  <a:txBody>
                    <a:bodyPr/>
                    <a:lstStyle/>
                    <a:p>
                      <a:r>
                        <a:rPr lang="en-GB" sz="2400" dirty="0">
                          <a:solidFill>
                            <a:schemeClr val="tx1"/>
                          </a:solidFill>
                        </a:rPr>
                        <a:t>L</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-3</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6416867"/>
                  </a:ext>
                </a:extLst>
              </a:tr>
              <a:tr h="370840">
                <a:tc>
                  <a:txBody>
                    <a:bodyPr/>
                    <a:lstStyle/>
                    <a:p>
                      <a:r>
                        <a:rPr lang="en-GB" sz="2400" dirty="0">
                          <a:solidFill>
                            <a:schemeClr val="tx1"/>
                          </a:solidFill>
                        </a:rPr>
                        <a:t>t</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-2</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0</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400" dirty="0">
                          <a:solidFill>
                            <a:schemeClr val="tx1"/>
                          </a:solidFill>
                        </a:rPr>
                        <a:t>-1</a:t>
                      </a:r>
                      <a:endParaRPr lang="en-GH"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6435443"/>
                  </a:ext>
                </a:extLst>
              </a:tr>
            </a:tbl>
          </a:graphicData>
        </a:graphic>
      </p:graphicFrame>
      <p:sp>
        <p:nvSpPr>
          <p:cNvPr id="5" name="TextBox 4">
            <a:extLst>
              <a:ext uri="{FF2B5EF4-FFF2-40B4-BE49-F238E27FC236}">
                <a16:creationId xmlns:a16="http://schemas.microsoft.com/office/drawing/2014/main" id="{A76DD1CF-C34C-A93D-0CF4-A3351C159FBB}"/>
              </a:ext>
            </a:extLst>
          </p:cNvPr>
          <p:cNvSpPr txBox="1"/>
          <p:nvPr/>
        </p:nvSpPr>
        <p:spPr>
          <a:xfrm>
            <a:off x="36576" y="3863848"/>
            <a:ext cx="8714232" cy="461665"/>
          </a:xfrm>
          <a:prstGeom prst="rect">
            <a:avLst/>
          </a:prstGeom>
          <a:noFill/>
        </p:spPr>
        <p:txBody>
          <a:bodyPr wrap="square">
            <a:spAutoFit/>
          </a:bodyPr>
          <a:lstStyle/>
          <a:p>
            <a:r>
              <a:rPr lang="en-GB" sz="2400" dirty="0">
                <a:latin typeface="+mn-lt"/>
              </a:rPr>
              <a:t>Substituting the dimensions for the variables and neglecting </a:t>
            </a:r>
            <a:r>
              <a:rPr lang="en-GB" sz="2400" i="1" dirty="0">
                <a:latin typeface="+mn-lt"/>
              </a:rPr>
              <a:t>K</a:t>
            </a:r>
            <a:r>
              <a:rPr lang="en-GB" sz="2400" dirty="0">
                <a:latin typeface="+mn-lt"/>
              </a:rPr>
              <a:t> yields </a:t>
            </a:r>
            <a:endParaRPr lang="en-GH"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1873AD-3B79-B070-388F-706289E4FEEA}"/>
                  </a:ext>
                </a:extLst>
              </p:cNvPr>
              <p:cNvSpPr txBox="1"/>
              <p:nvPr/>
            </p:nvSpPr>
            <p:spPr>
              <a:xfrm>
                <a:off x="274320" y="4452298"/>
                <a:ext cx="6876288" cy="464679"/>
              </a:xfrm>
              <a:prstGeom prst="rect">
                <a:avLst/>
              </a:prstGeom>
              <a:noFill/>
            </p:spPr>
            <p:txBody>
              <a:bodyPr wrap="square">
                <a:spAutoFit/>
              </a:bodyPr>
              <a:lstStyle/>
              <a:p>
                <a14:m>
                  <m:oMath xmlns:m="http://schemas.openxmlformats.org/officeDocument/2006/math">
                    <m:r>
                      <a:rPr lang="en-GB" b="0" i="1" smtClean="0">
                        <a:latin typeface="Cambria Math" panose="02040503050406030204" pitchFamily="18" charset="0"/>
                      </a:rPr>
                      <m:t>𝑀𝐿</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r>
                      <a:rPr lang="en-GB" i="1" smtClean="0">
                        <a:latin typeface="Cambria Math" panose="02040503050406030204" pitchFamily="18" charset="0"/>
                      </a:rPr>
                      <m:t>=</m:t>
                    </m:r>
                    <m:r>
                      <a:rPr lang="en-GB" b="0" i="1" smtClean="0">
                        <a:latin typeface="Cambria Math" panose="02040503050406030204" pitchFamily="18" charset="0"/>
                      </a:rPr>
                      <m:t>(</m:t>
                    </m:r>
                    <m:r>
                      <a:rPr lang="en-GB" b="0" i="1" smtClean="0">
                        <a:latin typeface="Cambria Math" panose="02040503050406030204" pitchFamily="18" charset="0"/>
                      </a:rPr>
                      <m:t>𝐿</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−1</m:t>
                        </m:r>
                      </m:sup>
                    </m:sSup>
                    <m:r>
                      <a:rPr lang="en-GB" b="0" i="1" smtClean="0">
                        <a:latin typeface="Cambria Math" panose="02040503050406030204" pitchFamily="18" charset="0"/>
                      </a:rPr>
                      <m:t>)</m:t>
                    </m:r>
                    <m:r>
                      <a:rPr lang="en-GB" i="1" smtClean="0">
                        <a:latin typeface="Cambria Math" panose="02040503050406030204" pitchFamily="18" charset="0"/>
                      </a:rPr>
                      <m:t>ᵃ.</m:t>
                    </m:r>
                    <m:r>
                      <a:rPr lang="en-GB" b="0" i="1" smtClean="0">
                        <a:latin typeface="Cambria Math" panose="02040503050406030204" pitchFamily="18" charset="0"/>
                      </a:rPr>
                      <m:t>𝐿</m:t>
                    </m:r>
                    <m:r>
                      <a:rPr lang="en-GB" i="1" smtClean="0">
                        <a:latin typeface="Cambria Math" panose="02040503050406030204" pitchFamily="18" charset="0"/>
                      </a:rPr>
                      <m:t>ᵇ.</m:t>
                    </m:r>
                    <m:r>
                      <a:rPr lang="en-GB" b="0" i="1" smtClean="0">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−1</m:t>
                        </m:r>
                      </m:sup>
                    </m:sSup>
                    <m:r>
                      <a:rPr lang="en-GB" b="0" i="1" smtClean="0">
                        <a:latin typeface="Cambria Math" panose="02040503050406030204" pitchFamily="18" charset="0"/>
                      </a:rPr>
                      <m:t>)</m:t>
                    </m:r>
                    <m:r>
                      <a:rPr lang="en-GB" i="1">
                        <a:latin typeface="Cambria Math" panose="02040503050406030204" pitchFamily="18" charset="0"/>
                      </a:rPr>
                      <m:t>ᶜ</m:t>
                    </m:r>
                    <m:r>
                      <a:rPr lang="en-GB" i="1">
                        <a:latin typeface="Cambria Math" panose="02040503050406030204" pitchFamily="18" charset="0"/>
                      </a:rPr>
                      <m:t>.(</m:t>
                    </m:r>
                    <m:r>
                      <a:rPr lang="en-GB" b="0" i="1" smtClean="0">
                        <a:latin typeface="Cambria Math" panose="02040503050406030204" pitchFamily="18" charset="0"/>
                      </a:rPr>
                      <m:t>𝑀</m:t>
                    </m:r>
                    <m:sSup>
                      <m:sSupPr>
                        <m:ctrlPr>
                          <a:rPr lang="en-GB" i="1">
                            <a:latin typeface="Cambria Math" panose="02040503050406030204" pitchFamily="18" charset="0"/>
                          </a:rPr>
                        </m:ctrlPr>
                      </m:sSupPr>
                      <m:e>
                        <m:r>
                          <a:rPr lang="en-GB" b="0" i="1" smtClean="0">
                            <a:latin typeface="Cambria Math" panose="02040503050406030204" pitchFamily="18" charset="0"/>
                          </a:rPr>
                          <m:t>𝐿</m:t>
                        </m:r>
                      </m:e>
                      <m:sup>
                        <m:r>
                          <a:rPr lang="en-GB" i="1">
                            <a:latin typeface="Cambria Math" panose="02040503050406030204" pitchFamily="18" charset="0"/>
                          </a:rPr>
                          <m:t>−</m:t>
                        </m:r>
                        <m:r>
                          <a:rPr lang="en-GB" b="0" i="1" smtClean="0">
                            <a:latin typeface="Cambria Math" panose="02040503050406030204" pitchFamily="18" charset="0"/>
                          </a:rPr>
                          <m:t>3</m:t>
                        </m:r>
                      </m:sup>
                    </m:sSup>
                    <m:r>
                      <a:rPr lang="en-GB" i="1">
                        <a:latin typeface="Cambria Math" panose="02040503050406030204" pitchFamily="18" charset="0"/>
                      </a:rPr>
                      <m:t>)</m:t>
                    </m:r>
                    <m:r>
                      <a:rPr lang="en-GB" b="0" i="1" baseline="30000" smtClean="0">
                        <a:latin typeface="Cambria Math" panose="02040503050406030204" pitchFamily="18" charset="0"/>
                        <a:ea typeface="Cambria Math" panose="02040503050406030204" pitchFamily="18" charset="0"/>
                      </a:rPr>
                      <m:t>𝑑</m:t>
                    </m:r>
                    <m:r>
                      <a:rPr lang="en-GB" i="1">
                        <a:latin typeface="Cambria Math" panose="02040503050406030204" pitchFamily="18" charset="0"/>
                      </a:rPr>
                      <m:t>.</m:t>
                    </m:r>
                    <m:r>
                      <a:rPr lang="en-GB" b="0" i="1" smtClean="0">
                        <a:latin typeface="Cambria Math" panose="02040503050406030204" pitchFamily="18" charset="0"/>
                      </a:rPr>
                      <m:t>(</m:t>
                    </m:r>
                    <m:r>
                      <a:rPr lang="en-GB" b="0" i="1" smtClean="0">
                        <a:latin typeface="Cambria Math" panose="02040503050406030204" pitchFamily="18" charset="0"/>
                      </a:rPr>
                      <m:t>𝑀</m:t>
                    </m:r>
                    <m:sSup>
                      <m:sSupPr>
                        <m:ctrlPr>
                          <a:rPr lang="en-GB"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m:t>
                        </m:r>
                        <m:r>
                          <a:rPr lang="en-GB" b="0" i="1" smtClean="0">
                            <a:latin typeface="Cambria Math" panose="02040503050406030204" pitchFamily="18" charset="0"/>
                          </a:rPr>
                          <m:t>1</m:t>
                        </m:r>
                      </m:sup>
                    </m:sSup>
                    <m:sSup>
                      <m:sSupPr>
                        <m:ctrlPr>
                          <a:rPr lang="en-GB" i="1" smtClean="0">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−1</m:t>
                        </m:r>
                      </m:sup>
                    </m:sSup>
                    <m:r>
                      <a:rPr lang="en-GB" b="0" i="1" smtClean="0">
                        <a:latin typeface="Cambria Math" panose="02040503050406030204" pitchFamily="18" charset="0"/>
                      </a:rPr>
                      <m:t>)</m:t>
                    </m:r>
                    <m:r>
                      <a:rPr lang="en-GB" b="0" i="1" baseline="30000" smtClean="0">
                        <a:latin typeface="Cambria Math" panose="02040503050406030204" pitchFamily="18" charset="0"/>
                        <a:ea typeface="Cambria Math" panose="02040503050406030204" pitchFamily="18" charset="0"/>
                      </a:rPr>
                      <m:t>𝑒</m:t>
                    </m:r>
                  </m:oMath>
                </a14:m>
                <a:r>
                  <a:rPr lang="en-GB" dirty="0"/>
                  <a:t> </a:t>
                </a:r>
                <a:endParaRPr lang="en-GH" dirty="0"/>
              </a:p>
            </p:txBody>
          </p:sp>
        </mc:Choice>
        <mc:Fallback xmlns="">
          <p:sp>
            <p:nvSpPr>
              <p:cNvPr id="7" name="TextBox 6">
                <a:extLst>
                  <a:ext uri="{FF2B5EF4-FFF2-40B4-BE49-F238E27FC236}">
                    <a16:creationId xmlns:a16="http://schemas.microsoft.com/office/drawing/2014/main" id="{D91873AD-3B79-B070-388F-706289E4FEEA}"/>
                  </a:ext>
                </a:extLst>
              </p:cNvPr>
              <p:cNvSpPr txBox="1">
                <a:spLocks noRot="1" noChangeAspect="1" noMove="1" noResize="1" noEditPoints="1" noAdjustHandles="1" noChangeArrowheads="1" noChangeShapeType="1" noTextEdit="1"/>
              </p:cNvSpPr>
              <p:nvPr/>
            </p:nvSpPr>
            <p:spPr>
              <a:xfrm>
                <a:off x="274320" y="4452298"/>
                <a:ext cx="6876288" cy="464679"/>
              </a:xfrm>
              <a:prstGeom prst="rect">
                <a:avLst/>
              </a:prstGeom>
              <a:blipFill>
                <a:blip r:embed="rId3"/>
                <a:stretch>
                  <a:fillRect l="-177" b="-1818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249BDB-901B-C2FE-6580-F6BBCE3DEAED}"/>
                  </a:ext>
                </a:extLst>
              </p:cNvPr>
              <p:cNvSpPr txBox="1"/>
              <p:nvPr/>
            </p:nvSpPr>
            <p:spPr>
              <a:xfrm>
                <a:off x="36576" y="4970610"/>
                <a:ext cx="4631436" cy="461665"/>
              </a:xfrm>
              <a:prstGeom prst="rect">
                <a:avLst/>
              </a:prstGeom>
              <a:noFill/>
            </p:spPr>
            <p:txBody>
              <a:bodyPr wrap="square">
                <a:spAutoFit/>
              </a:bodyPr>
              <a:lstStyle/>
              <a:p>
                <a:r>
                  <a:rPr lang="en-GB" sz="2400" dirty="0">
                    <a:latin typeface="+mn-lt"/>
                  </a:rPr>
                  <a:t>Powers of M: </a:t>
                </a:r>
                <a14:m>
                  <m:oMath xmlns:m="http://schemas.openxmlformats.org/officeDocument/2006/math">
                    <m:r>
                      <a:rPr lang="en-GB" sz="2400" b="0" i="1" smtClean="0">
                        <a:latin typeface="Cambria Math" panose="02040503050406030204" pitchFamily="18" charset="0"/>
                      </a:rPr>
                      <m:t>1=</m:t>
                    </m:r>
                    <m:r>
                      <a:rPr lang="en-GB" sz="2400" b="0" i="1" smtClean="0">
                        <a:latin typeface="Cambria Math" panose="02040503050406030204" pitchFamily="18" charset="0"/>
                      </a:rPr>
                      <m:t>𝑑</m:t>
                    </m:r>
                    <m:r>
                      <a:rPr lang="en-GB" sz="2400" b="0" i="1" smtClean="0">
                        <a:latin typeface="Cambria Math" panose="02040503050406030204" pitchFamily="18" charset="0"/>
                      </a:rPr>
                      <m:t>+</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18" name="TextBox 17">
                <a:extLst>
                  <a:ext uri="{FF2B5EF4-FFF2-40B4-BE49-F238E27FC236}">
                    <a16:creationId xmlns:a16="http://schemas.microsoft.com/office/drawing/2014/main" id="{0D249BDB-901B-C2FE-6580-F6BBCE3DEAED}"/>
                  </a:ext>
                </a:extLst>
              </p:cNvPr>
              <p:cNvSpPr txBox="1">
                <a:spLocks noRot="1" noChangeAspect="1" noMove="1" noResize="1" noEditPoints="1" noAdjustHandles="1" noChangeArrowheads="1" noChangeShapeType="1" noTextEdit="1"/>
              </p:cNvSpPr>
              <p:nvPr/>
            </p:nvSpPr>
            <p:spPr>
              <a:xfrm>
                <a:off x="36576" y="4970610"/>
                <a:ext cx="4631436" cy="461665"/>
              </a:xfrm>
              <a:prstGeom prst="rect">
                <a:avLst/>
              </a:prstGeom>
              <a:blipFill>
                <a:blip r:embed="rId4"/>
                <a:stretch>
                  <a:fillRect l="-1974" t="-10526" b="-2894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32BA24-584F-057E-7909-9A04732F2796}"/>
                  </a:ext>
                </a:extLst>
              </p:cNvPr>
              <p:cNvSpPr txBox="1"/>
              <p:nvPr/>
            </p:nvSpPr>
            <p:spPr>
              <a:xfrm>
                <a:off x="36576" y="5505427"/>
                <a:ext cx="4631436" cy="461665"/>
              </a:xfrm>
              <a:prstGeom prst="rect">
                <a:avLst/>
              </a:prstGeom>
              <a:noFill/>
            </p:spPr>
            <p:txBody>
              <a:bodyPr wrap="square">
                <a:spAutoFit/>
              </a:bodyPr>
              <a:lstStyle/>
              <a:p>
                <a:r>
                  <a:rPr lang="en-GB" sz="2400" dirty="0">
                    <a:latin typeface="+mn-lt"/>
                  </a:rPr>
                  <a:t>Powers of L: </a:t>
                </a:r>
                <a14:m>
                  <m:oMath xmlns:m="http://schemas.openxmlformats.org/officeDocument/2006/math">
                    <m:r>
                      <a:rPr lang="en-GB" sz="2400" b="0" i="1" smtClean="0">
                        <a:latin typeface="Cambria Math" panose="02040503050406030204" pitchFamily="18" charset="0"/>
                      </a:rPr>
                      <m:t>1=</m:t>
                    </m:r>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𝑏</m:t>
                    </m:r>
                    <m:r>
                      <a:rPr lang="en-GB" sz="2400" b="0" i="1" smtClean="0">
                        <a:latin typeface="Cambria Math" panose="02040503050406030204" pitchFamily="18" charset="0"/>
                      </a:rPr>
                      <m:t>−3</m:t>
                    </m:r>
                    <m:r>
                      <a:rPr lang="en-GB" sz="2400" b="0" i="1" smtClean="0">
                        <a:latin typeface="Cambria Math" panose="02040503050406030204" pitchFamily="18" charset="0"/>
                      </a:rPr>
                      <m:t>𝑑</m:t>
                    </m:r>
                    <m:r>
                      <a:rPr lang="en-GB" sz="2400" b="0" i="1" smtClean="0">
                        <a:latin typeface="Cambria Math" panose="02040503050406030204" pitchFamily="18" charset="0"/>
                      </a:rPr>
                      <m:t>−</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20" name="TextBox 19">
                <a:extLst>
                  <a:ext uri="{FF2B5EF4-FFF2-40B4-BE49-F238E27FC236}">
                    <a16:creationId xmlns:a16="http://schemas.microsoft.com/office/drawing/2014/main" id="{2F32BA24-584F-057E-7909-9A04732F2796}"/>
                  </a:ext>
                </a:extLst>
              </p:cNvPr>
              <p:cNvSpPr txBox="1">
                <a:spLocks noRot="1" noChangeAspect="1" noMove="1" noResize="1" noEditPoints="1" noAdjustHandles="1" noChangeArrowheads="1" noChangeShapeType="1" noTextEdit="1"/>
              </p:cNvSpPr>
              <p:nvPr/>
            </p:nvSpPr>
            <p:spPr>
              <a:xfrm>
                <a:off x="36576" y="5505427"/>
                <a:ext cx="4631436" cy="461665"/>
              </a:xfrm>
              <a:prstGeom prst="rect">
                <a:avLst/>
              </a:prstGeom>
              <a:blipFill>
                <a:blip r:embed="rId5"/>
                <a:stretch>
                  <a:fillRect l="-1974" t="-10526" b="-28947"/>
                </a:stretch>
              </a:blipFill>
            </p:spPr>
            <p:txBody>
              <a:bodyPr/>
              <a:lstStyle/>
              <a:p>
                <a:r>
                  <a:rPr lang="en-GH">
                    <a:noFill/>
                  </a:rPr>
                  <a:t> </a:t>
                </a:r>
              </a:p>
            </p:txBody>
          </p:sp>
        </mc:Fallback>
      </mc:AlternateContent>
    </p:spTree>
    <p:extLst>
      <p:ext uri="{BB962C8B-B14F-4D97-AF65-F5344CB8AC3E}">
        <p14:creationId xmlns:p14="http://schemas.microsoft.com/office/powerpoint/2010/main" val="2119508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012" y="136210"/>
            <a:ext cx="9144000" cy="461665"/>
          </a:xfrm>
        </p:spPr>
        <p:txBody>
          <a:bodyPr>
            <a:normAutofit/>
          </a:bodyPr>
          <a:lstStyle/>
          <a:p>
            <a:pPr marL="0" indent="0">
              <a:spcAft>
                <a:spcPts val="1000"/>
              </a:spcAft>
              <a:buNone/>
            </a:pPr>
            <a:r>
              <a:rPr lang="en-US" sz="2600" b="1" dirty="0">
                <a:latin typeface="+mn-lt"/>
              </a:rPr>
              <a:t>Solution </a:t>
            </a:r>
            <a:r>
              <a:rPr lang="en-US" sz="2600" b="1" dirty="0" err="1">
                <a:latin typeface="+mn-lt"/>
              </a:rPr>
              <a:t>contd</a:t>
            </a:r>
            <a:r>
              <a:rPr lang="en-US" sz="2600" b="1" dirty="0">
                <a:latin typeface="+mn-lt"/>
              </a:rPr>
              <a:t>:</a:t>
            </a:r>
            <a:endParaRPr lang="en-US" sz="2600" dirty="0">
              <a:latin typeface="+mn-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1873AD-3B79-B070-388F-706289E4FEEA}"/>
                  </a:ext>
                </a:extLst>
              </p:cNvPr>
              <p:cNvSpPr txBox="1"/>
              <p:nvPr/>
            </p:nvSpPr>
            <p:spPr>
              <a:xfrm>
                <a:off x="1229868" y="699568"/>
                <a:ext cx="6876288" cy="464679"/>
              </a:xfrm>
              <a:prstGeom prst="rect">
                <a:avLst/>
              </a:prstGeom>
              <a:noFill/>
            </p:spPr>
            <p:txBody>
              <a:bodyPr wrap="square">
                <a:spAutoFit/>
              </a:bodyPr>
              <a:lstStyle/>
              <a:p>
                <a14:m>
                  <m:oMath xmlns:m="http://schemas.openxmlformats.org/officeDocument/2006/math">
                    <m:r>
                      <a:rPr lang="en-GB" b="0" i="1" smtClean="0">
                        <a:latin typeface="Cambria Math" panose="02040503050406030204" pitchFamily="18" charset="0"/>
                      </a:rPr>
                      <m:t>𝑀𝐿</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r>
                      <a:rPr lang="en-GB" i="1" smtClean="0">
                        <a:latin typeface="Cambria Math" panose="02040503050406030204" pitchFamily="18" charset="0"/>
                      </a:rPr>
                      <m:t>=</m:t>
                    </m:r>
                    <m:r>
                      <a:rPr lang="en-GB" b="0" i="1" smtClean="0">
                        <a:latin typeface="Cambria Math" panose="02040503050406030204" pitchFamily="18" charset="0"/>
                      </a:rPr>
                      <m:t>(</m:t>
                    </m:r>
                    <m:r>
                      <a:rPr lang="en-GB" b="0" i="1" smtClean="0">
                        <a:latin typeface="Cambria Math" panose="02040503050406030204" pitchFamily="18" charset="0"/>
                      </a:rPr>
                      <m:t>𝐿</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−1</m:t>
                        </m:r>
                      </m:sup>
                    </m:sSup>
                    <m:r>
                      <a:rPr lang="en-GB" b="0" i="1" smtClean="0">
                        <a:latin typeface="Cambria Math" panose="02040503050406030204" pitchFamily="18" charset="0"/>
                      </a:rPr>
                      <m:t>)</m:t>
                    </m:r>
                    <m:r>
                      <a:rPr lang="en-GB" i="1" smtClean="0">
                        <a:latin typeface="Cambria Math" panose="02040503050406030204" pitchFamily="18" charset="0"/>
                      </a:rPr>
                      <m:t>ᵃ.</m:t>
                    </m:r>
                    <m:r>
                      <a:rPr lang="en-GB" b="0" i="1" smtClean="0">
                        <a:latin typeface="Cambria Math" panose="02040503050406030204" pitchFamily="18" charset="0"/>
                      </a:rPr>
                      <m:t>𝐿</m:t>
                    </m:r>
                    <m:r>
                      <a:rPr lang="en-GB" i="1" smtClean="0">
                        <a:latin typeface="Cambria Math" panose="02040503050406030204" pitchFamily="18" charset="0"/>
                      </a:rPr>
                      <m:t>ᵇ.</m:t>
                    </m:r>
                    <m:r>
                      <a:rPr lang="en-GB" b="0" i="1" smtClean="0">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−1</m:t>
                        </m:r>
                      </m:sup>
                    </m:sSup>
                    <m:r>
                      <a:rPr lang="en-GB" b="0" i="1" smtClean="0">
                        <a:latin typeface="Cambria Math" panose="02040503050406030204" pitchFamily="18" charset="0"/>
                      </a:rPr>
                      <m:t>)</m:t>
                    </m:r>
                    <m:r>
                      <a:rPr lang="en-GB" i="1">
                        <a:latin typeface="Cambria Math" panose="02040503050406030204" pitchFamily="18" charset="0"/>
                      </a:rPr>
                      <m:t>ᶜ</m:t>
                    </m:r>
                    <m:r>
                      <a:rPr lang="en-GB" i="1">
                        <a:latin typeface="Cambria Math" panose="02040503050406030204" pitchFamily="18" charset="0"/>
                      </a:rPr>
                      <m:t>.(</m:t>
                    </m:r>
                    <m:r>
                      <a:rPr lang="en-GB" b="0" i="1" smtClean="0">
                        <a:latin typeface="Cambria Math" panose="02040503050406030204" pitchFamily="18" charset="0"/>
                      </a:rPr>
                      <m:t>𝑀</m:t>
                    </m:r>
                    <m:sSup>
                      <m:sSupPr>
                        <m:ctrlPr>
                          <a:rPr lang="en-GB" i="1">
                            <a:latin typeface="Cambria Math" panose="02040503050406030204" pitchFamily="18" charset="0"/>
                          </a:rPr>
                        </m:ctrlPr>
                      </m:sSupPr>
                      <m:e>
                        <m:r>
                          <a:rPr lang="en-GB" b="0" i="1" smtClean="0">
                            <a:latin typeface="Cambria Math" panose="02040503050406030204" pitchFamily="18" charset="0"/>
                          </a:rPr>
                          <m:t>𝐿</m:t>
                        </m:r>
                      </m:e>
                      <m:sup>
                        <m:r>
                          <a:rPr lang="en-GB" i="1">
                            <a:latin typeface="Cambria Math" panose="02040503050406030204" pitchFamily="18" charset="0"/>
                          </a:rPr>
                          <m:t>−</m:t>
                        </m:r>
                        <m:r>
                          <a:rPr lang="en-GB" b="0" i="1" smtClean="0">
                            <a:latin typeface="Cambria Math" panose="02040503050406030204" pitchFamily="18" charset="0"/>
                          </a:rPr>
                          <m:t>3</m:t>
                        </m:r>
                      </m:sup>
                    </m:sSup>
                    <m:r>
                      <a:rPr lang="en-GB" i="1">
                        <a:latin typeface="Cambria Math" panose="02040503050406030204" pitchFamily="18" charset="0"/>
                      </a:rPr>
                      <m:t>)</m:t>
                    </m:r>
                    <m:r>
                      <a:rPr lang="en-GB" b="0" i="1" baseline="30000" smtClean="0">
                        <a:latin typeface="Cambria Math" panose="02040503050406030204" pitchFamily="18" charset="0"/>
                        <a:ea typeface="Cambria Math" panose="02040503050406030204" pitchFamily="18" charset="0"/>
                      </a:rPr>
                      <m:t>𝑑</m:t>
                    </m:r>
                    <m:r>
                      <a:rPr lang="en-GB" i="1">
                        <a:latin typeface="Cambria Math" panose="02040503050406030204" pitchFamily="18" charset="0"/>
                      </a:rPr>
                      <m:t>.</m:t>
                    </m:r>
                    <m:r>
                      <a:rPr lang="en-GB" b="0" i="1" smtClean="0">
                        <a:latin typeface="Cambria Math" panose="02040503050406030204" pitchFamily="18" charset="0"/>
                      </a:rPr>
                      <m:t>(</m:t>
                    </m:r>
                    <m:r>
                      <a:rPr lang="en-GB" b="0" i="1" smtClean="0">
                        <a:latin typeface="Cambria Math" panose="02040503050406030204" pitchFamily="18" charset="0"/>
                      </a:rPr>
                      <m:t>𝑀</m:t>
                    </m:r>
                    <m:sSup>
                      <m:sSupPr>
                        <m:ctrlPr>
                          <a:rPr lang="en-GB"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m:t>
                        </m:r>
                        <m:r>
                          <a:rPr lang="en-GB" b="0" i="1" smtClean="0">
                            <a:latin typeface="Cambria Math" panose="02040503050406030204" pitchFamily="18" charset="0"/>
                          </a:rPr>
                          <m:t>1</m:t>
                        </m:r>
                      </m:sup>
                    </m:sSup>
                    <m:sSup>
                      <m:sSupPr>
                        <m:ctrlPr>
                          <a:rPr lang="en-GB" i="1" smtClean="0">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−1</m:t>
                        </m:r>
                      </m:sup>
                    </m:sSup>
                    <m:r>
                      <a:rPr lang="en-GB" b="0" i="1" smtClean="0">
                        <a:latin typeface="Cambria Math" panose="02040503050406030204" pitchFamily="18" charset="0"/>
                      </a:rPr>
                      <m:t>)</m:t>
                    </m:r>
                    <m:r>
                      <a:rPr lang="en-GB" b="0" i="1" baseline="30000" smtClean="0">
                        <a:latin typeface="Cambria Math" panose="02040503050406030204" pitchFamily="18" charset="0"/>
                        <a:ea typeface="Cambria Math" panose="02040503050406030204" pitchFamily="18" charset="0"/>
                      </a:rPr>
                      <m:t>𝑒</m:t>
                    </m:r>
                  </m:oMath>
                </a14:m>
                <a:r>
                  <a:rPr lang="en-GB" dirty="0"/>
                  <a:t> </a:t>
                </a:r>
                <a:endParaRPr lang="en-GH" dirty="0"/>
              </a:p>
            </p:txBody>
          </p:sp>
        </mc:Choice>
        <mc:Fallback xmlns="">
          <p:sp>
            <p:nvSpPr>
              <p:cNvPr id="7" name="TextBox 6">
                <a:extLst>
                  <a:ext uri="{FF2B5EF4-FFF2-40B4-BE49-F238E27FC236}">
                    <a16:creationId xmlns:a16="http://schemas.microsoft.com/office/drawing/2014/main" id="{D91873AD-3B79-B070-388F-706289E4FEEA}"/>
                  </a:ext>
                </a:extLst>
              </p:cNvPr>
              <p:cNvSpPr txBox="1">
                <a:spLocks noRot="1" noChangeAspect="1" noMove="1" noResize="1" noEditPoints="1" noAdjustHandles="1" noChangeArrowheads="1" noChangeShapeType="1" noTextEdit="1"/>
              </p:cNvSpPr>
              <p:nvPr/>
            </p:nvSpPr>
            <p:spPr>
              <a:xfrm>
                <a:off x="1229868" y="699568"/>
                <a:ext cx="6876288" cy="464679"/>
              </a:xfrm>
              <a:prstGeom prst="rect">
                <a:avLst/>
              </a:prstGeom>
              <a:blipFill>
                <a:blip r:embed="rId3"/>
                <a:stretch>
                  <a:fillRect l="-266" b="-1973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249BDB-901B-C2FE-6580-F6BBCE3DEAED}"/>
                  </a:ext>
                </a:extLst>
              </p:cNvPr>
              <p:cNvSpPr txBox="1"/>
              <p:nvPr/>
            </p:nvSpPr>
            <p:spPr>
              <a:xfrm>
                <a:off x="27432" y="1197097"/>
                <a:ext cx="4631436" cy="461665"/>
              </a:xfrm>
              <a:prstGeom prst="rect">
                <a:avLst/>
              </a:prstGeom>
              <a:noFill/>
            </p:spPr>
            <p:txBody>
              <a:bodyPr wrap="square">
                <a:spAutoFit/>
              </a:bodyPr>
              <a:lstStyle/>
              <a:p>
                <a:r>
                  <a:rPr lang="en-GB" sz="2400" dirty="0">
                    <a:latin typeface="+mn-lt"/>
                  </a:rPr>
                  <a:t>Powers of t: </a:t>
                </a:r>
                <a14:m>
                  <m:oMath xmlns:m="http://schemas.openxmlformats.org/officeDocument/2006/math">
                    <m:r>
                      <a:rPr lang="en-GB" sz="2400" b="0" i="1" smtClean="0">
                        <a:latin typeface="Cambria Math" panose="02040503050406030204" pitchFamily="18" charset="0"/>
                      </a:rPr>
                      <m:t>−2=−</m:t>
                    </m:r>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𝑐</m:t>
                    </m:r>
                    <m:r>
                      <a:rPr lang="en-GB" sz="2400" b="0" i="1" smtClean="0">
                        <a:latin typeface="Cambria Math" panose="02040503050406030204" pitchFamily="18" charset="0"/>
                      </a:rPr>
                      <m:t>−</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18" name="TextBox 17">
                <a:extLst>
                  <a:ext uri="{FF2B5EF4-FFF2-40B4-BE49-F238E27FC236}">
                    <a16:creationId xmlns:a16="http://schemas.microsoft.com/office/drawing/2014/main" id="{0D249BDB-901B-C2FE-6580-F6BBCE3DEAED}"/>
                  </a:ext>
                </a:extLst>
              </p:cNvPr>
              <p:cNvSpPr txBox="1">
                <a:spLocks noRot="1" noChangeAspect="1" noMove="1" noResize="1" noEditPoints="1" noAdjustHandles="1" noChangeArrowheads="1" noChangeShapeType="1" noTextEdit="1"/>
              </p:cNvSpPr>
              <p:nvPr/>
            </p:nvSpPr>
            <p:spPr>
              <a:xfrm>
                <a:off x="27432" y="1197097"/>
                <a:ext cx="4631436" cy="461665"/>
              </a:xfrm>
              <a:prstGeom prst="rect">
                <a:avLst/>
              </a:prstGeom>
              <a:blipFill>
                <a:blip r:embed="rId4"/>
                <a:stretch>
                  <a:fillRect l="-2108" t="-10526" b="-28947"/>
                </a:stretch>
              </a:blipFill>
            </p:spPr>
            <p:txBody>
              <a:bodyPr/>
              <a:lstStyle/>
              <a:p>
                <a:r>
                  <a:rPr lang="en-GH">
                    <a:noFill/>
                  </a:rPr>
                  <a:t> </a:t>
                </a:r>
              </a:p>
            </p:txBody>
          </p:sp>
        </mc:Fallback>
      </mc:AlternateContent>
      <p:sp>
        <p:nvSpPr>
          <p:cNvPr id="8" name="TextBox 7">
            <a:extLst>
              <a:ext uri="{FF2B5EF4-FFF2-40B4-BE49-F238E27FC236}">
                <a16:creationId xmlns:a16="http://schemas.microsoft.com/office/drawing/2014/main" id="{BF269A95-943C-C831-CE0D-B89999269E2C}"/>
              </a:ext>
            </a:extLst>
          </p:cNvPr>
          <p:cNvSpPr txBox="1"/>
          <p:nvPr/>
        </p:nvSpPr>
        <p:spPr>
          <a:xfrm>
            <a:off x="18288" y="1658762"/>
            <a:ext cx="9098280" cy="830997"/>
          </a:xfrm>
          <a:prstGeom prst="rect">
            <a:avLst/>
          </a:prstGeom>
          <a:noFill/>
        </p:spPr>
        <p:txBody>
          <a:bodyPr wrap="square">
            <a:spAutoFit/>
          </a:bodyPr>
          <a:lstStyle/>
          <a:p>
            <a:r>
              <a:rPr lang="en-GB" sz="2400" dirty="0">
                <a:latin typeface="+mn-lt"/>
              </a:rPr>
              <a:t>These result in three equations in five variables. Expressing </a:t>
            </a:r>
            <a:r>
              <a:rPr lang="en-GB" sz="2400" i="1" dirty="0">
                <a:latin typeface="+mn-lt"/>
              </a:rPr>
              <a:t>a</a:t>
            </a:r>
            <a:r>
              <a:rPr lang="en-GB" sz="2400" dirty="0">
                <a:latin typeface="+mn-lt"/>
              </a:rPr>
              <a:t>, </a:t>
            </a:r>
            <a:r>
              <a:rPr lang="en-GB" sz="2400" i="1" dirty="0">
                <a:latin typeface="+mn-lt"/>
              </a:rPr>
              <a:t>b</a:t>
            </a:r>
            <a:r>
              <a:rPr lang="en-GB" sz="2400" dirty="0">
                <a:latin typeface="+mn-lt"/>
              </a:rPr>
              <a:t> and </a:t>
            </a:r>
            <a:r>
              <a:rPr lang="en-GB" sz="2400" i="1" dirty="0">
                <a:latin typeface="+mn-lt"/>
              </a:rPr>
              <a:t>d</a:t>
            </a:r>
            <a:r>
              <a:rPr lang="en-GB" sz="2400" dirty="0">
                <a:latin typeface="+mn-lt"/>
              </a:rPr>
              <a:t> in terms of </a:t>
            </a:r>
            <a:r>
              <a:rPr lang="en-GB" sz="2400" i="1" dirty="0">
                <a:latin typeface="+mn-lt"/>
              </a:rPr>
              <a:t>c</a:t>
            </a:r>
            <a:r>
              <a:rPr lang="en-GB" sz="2400" dirty="0">
                <a:latin typeface="+mn-lt"/>
              </a:rPr>
              <a:t> and </a:t>
            </a:r>
            <a:r>
              <a:rPr lang="en-GB" sz="2400" i="1" dirty="0">
                <a:latin typeface="+mn-lt"/>
              </a:rPr>
              <a:t>e</a:t>
            </a:r>
            <a:r>
              <a:rPr lang="en-GB" sz="2400" dirty="0">
                <a:latin typeface="+mn-lt"/>
              </a:rPr>
              <a:t>, yields </a:t>
            </a:r>
            <a:endParaRPr lang="en-GH"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16CEB1-EAC1-50F5-90A2-355267A1E57D}"/>
                  </a:ext>
                </a:extLst>
              </p:cNvPr>
              <p:cNvSpPr txBox="1"/>
              <p:nvPr/>
            </p:nvSpPr>
            <p:spPr>
              <a:xfrm>
                <a:off x="45720" y="2533246"/>
                <a:ext cx="4631436" cy="461665"/>
              </a:xfrm>
              <a:prstGeom prst="rect">
                <a:avLst/>
              </a:prstGeom>
              <a:noFill/>
            </p:spPr>
            <p:txBody>
              <a:bodyPr wrap="square">
                <a:spAutoFit/>
              </a:bodyPr>
              <a:lstStyle/>
              <a:p>
                <a14:m>
                  <m:oMath xmlns:m="http://schemas.openxmlformats.org/officeDocument/2006/math">
                    <m:r>
                      <a:rPr lang="en-GB" sz="2400" b="0" i="1" smtClean="0">
                        <a:latin typeface="Cambria Math" panose="02040503050406030204" pitchFamily="18" charset="0"/>
                      </a:rPr>
                      <m:t>𝑑</m:t>
                    </m:r>
                    <m:r>
                      <a:rPr lang="en-GB" sz="2400" b="0" i="1" smtClean="0">
                        <a:latin typeface="Cambria Math" panose="02040503050406030204" pitchFamily="18" charset="0"/>
                      </a:rPr>
                      <m:t>=1−</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9" name="TextBox 8">
                <a:extLst>
                  <a:ext uri="{FF2B5EF4-FFF2-40B4-BE49-F238E27FC236}">
                    <a16:creationId xmlns:a16="http://schemas.microsoft.com/office/drawing/2014/main" id="{7E16CEB1-EAC1-50F5-90A2-355267A1E57D}"/>
                  </a:ext>
                </a:extLst>
              </p:cNvPr>
              <p:cNvSpPr txBox="1">
                <a:spLocks noRot="1" noChangeAspect="1" noMove="1" noResize="1" noEditPoints="1" noAdjustHandles="1" noChangeArrowheads="1" noChangeShapeType="1" noTextEdit="1"/>
              </p:cNvSpPr>
              <p:nvPr/>
            </p:nvSpPr>
            <p:spPr>
              <a:xfrm>
                <a:off x="45720" y="2533246"/>
                <a:ext cx="4631436" cy="461665"/>
              </a:xfrm>
              <a:prstGeom prst="rect">
                <a:avLst/>
              </a:prstGeom>
              <a:blipFill>
                <a:blip r:embed="rId5"/>
                <a:stretch>
                  <a:fillRect l="-39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489A15-DA29-A0B9-412B-F0CA2274BADF}"/>
                  </a:ext>
                </a:extLst>
              </p:cNvPr>
              <p:cNvSpPr txBox="1"/>
              <p:nvPr/>
            </p:nvSpPr>
            <p:spPr>
              <a:xfrm>
                <a:off x="45720" y="2941096"/>
                <a:ext cx="4631436" cy="461665"/>
              </a:xfrm>
              <a:prstGeom prst="rect">
                <a:avLst/>
              </a:prstGeom>
              <a:noFill/>
            </p:spPr>
            <p:txBody>
              <a:bodyPr wrap="square">
                <a:spAutoFit/>
              </a:bodyPr>
              <a:lstStyle/>
              <a:p>
                <a14:m>
                  <m:oMath xmlns:m="http://schemas.openxmlformats.org/officeDocument/2006/math">
                    <m:r>
                      <a:rPr lang="en-GB" sz="2400" b="0" i="1" smtClean="0">
                        <a:latin typeface="Cambria Math" panose="02040503050406030204" pitchFamily="18" charset="0"/>
                      </a:rPr>
                      <m:t>𝑎</m:t>
                    </m:r>
                    <m:r>
                      <a:rPr lang="en-GB" sz="2400" b="0" i="1" smtClean="0">
                        <a:latin typeface="Cambria Math" panose="02040503050406030204" pitchFamily="18" charset="0"/>
                      </a:rPr>
                      <m:t>=2−</m:t>
                    </m:r>
                    <m:r>
                      <a:rPr lang="en-GB" sz="2400" b="0" i="1" smtClean="0">
                        <a:latin typeface="Cambria Math" panose="02040503050406030204" pitchFamily="18" charset="0"/>
                      </a:rPr>
                      <m:t>𝑐</m:t>
                    </m:r>
                    <m:r>
                      <a:rPr lang="en-GB" sz="2400" b="0" i="1" smtClean="0">
                        <a:latin typeface="Cambria Math" panose="02040503050406030204" pitchFamily="18" charset="0"/>
                      </a:rPr>
                      <m:t>−</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10" name="TextBox 9">
                <a:extLst>
                  <a:ext uri="{FF2B5EF4-FFF2-40B4-BE49-F238E27FC236}">
                    <a16:creationId xmlns:a16="http://schemas.microsoft.com/office/drawing/2014/main" id="{F9489A15-DA29-A0B9-412B-F0CA2274BADF}"/>
                  </a:ext>
                </a:extLst>
              </p:cNvPr>
              <p:cNvSpPr txBox="1">
                <a:spLocks noRot="1" noChangeAspect="1" noMove="1" noResize="1" noEditPoints="1" noAdjustHandles="1" noChangeArrowheads="1" noChangeShapeType="1" noTextEdit="1"/>
              </p:cNvSpPr>
              <p:nvPr/>
            </p:nvSpPr>
            <p:spPr>
              <a:xfrm>
                <a:off x="45720" y="2941096"/>
                <a:ext cx="4631436" cy="461665"/>
              </a:xfrm>
              <a:prstGeom prst="rect">
                <a:avLst/>
              </a:prstGeom>
              <a:blipFill>
                <a:blip r:embed="rId6"/>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665C503-4E34-ABB6-8B28-B31E971498DC}"/>
                  </a:ext>
                </a:extLst>
              </p:cNvPr>
              <p:cNvSpPr txBox="1"/>
              <p:nvPr/>
            </p:nvSpPr>
            <p:spPr>
              <a:xfrm>
                <a:off x="45720" y="3352479"/>
                <a:ext cx="8631936" cy="461665"/>
              </a:xfrm>
              <a:prstGeom prst="rect">
                <a:avLst/>
              </a:prstGeom>
              <a:noFill/>
            </p:spPr>
            <p:txBody>
              <a:bodyPr wrap="square">
                <a:spAutoFit/>
              </a:bodyPr>
              <a:lstStyle/>
              <a:p>
                <a14:m>
                  <m:oMath xmlns:m="http://schemas.openxmlformats.org/officeDocument/2006/math">
                    <m:r>
                      <a:rPr lang="en-GB" sz="2400" b="0" i="1" smtClean="0">
                        <a:latin typeface="Cambria Math" panose="02040503050406030204" pitchFamily="18" charset="0"/>
                      </a:rPr>
                      <m:t>𝑏</m:t>
                    </m:r>
                    <m:r>
                      <a:rPr lang="en-GB" sz="2400" b="0" i="1" smtClean="0">
                        <a:latin typeface="Cambria Math" panose="02040503050406030204" pitchFamily="18" charset="0"/>
                      </a:rPr>
                      <m:t>=1−</m:t>
                    </m:r>
                    <m:r>
                      <a:rPr lang="en-GB" sz="2400" b="0" i="1" smtClean="0">
                        <a:latin typeface="Cambria Math" panose="02040503050406030204" pitchFamily="18" charset="0"/>
                      </a:rPr>
                      <m:t>𝑎</m:t>
                    </m:r>
                    <m:r>
                      <a:rPr lang="en-GB" sz="2400" b="0" i="1" smtClean="0">
                        <a:latin typeface="Cambria Math" panose="02040503050406030204" pitchFamily="18" charset="0"/>
                      </a:rPr>
                      <m:t>+3</m:t>
                    </m:r>
                    <m:r>
                      <a:rPr lang="en-GB" sz="2400" b="0" i="1" smtClean="0">
                        <a:latin typeface="Cambria Math" panose="02040503050406030204" pitchFamily="18" charset="0"/>
                      </a:rPr>
                      <m:t>𝑑</m:t>
                    </m:r>
                    <m:r>
                      <a:rPr lang="en-GB" sz="2400" b="0" i="1" smtClean="0">
                        <a:latin typeface="Cambria Math" panose="02040503050406030204" pitchFamily="18" charset="0"/>
                      </a:rPr>
                      <m:t>+</m:t>
                    </m:r>
                    <m:r>
                      <a:rPr lang="en-GB" sz="2400" b="0" i="1" smtClean="0">
                        <a:latin typeface="Cambria Math" panose="02040503050406030204" pitchFamily="18" charset="0"/>
                      </a:rPr>
                      <m:t>𝑒</m:t>
                    </m:r>
                    <m:r>
                      <a:rPr lang="en-GB" sz="2400" b="0" i="1" smtClean="0">
                        <a:latin typeface="Cambria Math" panose="02040503050406030204" pitchFamily="18" charset="0"/>
                      </a:rPr>
                      <m:t>=1−</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2−</m:t>
                        </m:r>
                        <m:r>
                          <a:rPr lang="en-GB" sz="2400" b="0" i="1" smtClean="0">
                            <a:latin typeface="Cambria Math" panose="02040503050406030204" pitchFamily="18" charset="0"/>
                          </a:rPr>
                          <m:t>𝑐</m:t>
                        </m:r>
                        <m:r>
                          <a:rPr lang="en-GB" sz="2400" b="0" i="1" smtClean="0">
                            <a:latin typeface="Cambria Math" panose="02040503050406030204" pitchFamily="18" charset="0"/>
                          </a:rPr>
                          <m:t>−</m:t>
                        </m:r>
                        <m:r>
                          <a:rPr lang="en-GB" sz="2400" b="0" i="1" smtClean="0">
                            <a:latin typeface="Cambria Math" panose="02040503050406030204" pitchFamily="18" charset="0"/>
                          </a:rPr>
                          <m:t>𝑒</m:t>
                        </m:r>
                      </m:e>
                    </m:d>
                    <m:r>
                      <a:rPr lang="en-GB" sz="2400" b="0" i="1" smtClean="0">
                        <a:latin typeface="Cambria Math" panose="02040503050406030204" pitchFamily="18" charset="0"/>
                      </a:rPr>
                      <m:t>+3</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1−</m:t>
                        </m:r>
                        <m:r>
                          <a:rPr lang="en-GB" sz="2400" b="0" i="1" smtClean="0">
                            <a:latin typeface="Cambria Math" panose="02040503050406030204" pitchFamily="18" charset="0"/>
                          </a:rPr>
                          <m:t>𝑒</m:t>
                        </m:r>
                      </m:e>
                    </m:d>
                    <m:r>
                      <a:rPr lang="en-GB" sz="2400" b="0" i="1" smtClean="0">
                        <a:latin typeface="Cambria Math" panose="02040503050406030204" pitchFamily="18" charset="0"/>
                      </a:rPr>
                      <m:t>+</m:t>
                    </m:r>
                    <m:r>
                      <a:rPr lang="en-GB" sz="2400" b="0" i="1" smtClean="0">
                        <a:latin typeface="Cambria Math" panose="02040503050406030204" pitchFamily="18" charset="0"/>
                      </a:rPr>
                      <m:t>𝑒</m:t>
                    </m:r>
                  </m:oMath>
                </a14:m>
                <a:r>
                  <a:rPr lang="en-GB" sz="2400" dirty="0">
                    <a:latin typeface="+mn-lt"/>
                  </a:rPr>
                  <a:t> </a:t>
                </a:r>
                <a:endParaRPr lang="en-GH" dirty="0"/>
              </a:p>
            </p:txBody>
          </p:sp>
        </mc:Choice>
        <mc:Fallback xmlns="">
          <p:sp>
            <p:nvSpPr>
              <p:cNvPr id="11" name="TextBox 10">
                <a:extLst>
                  <a:ext uri="{FF2B5EF4-FFF2-40B4-BE49-F238E27FC236}">
                    <a16:creationId xmlns:a16="http://schemas.microsoft.com/office/drawing/2014/main" id="{A665C503-4E34-ABB6-8B28-B31E971498DC}"/>
                  </a:ext>
                </a:extLst>
              </p:cNvPr>
              <p:cNvSpPr txBox="1">
                <a:spLocks noRot="1" noChangeAspect="1" noMove="1" noResize="1" noEditPoints="1" noAdjustHandles="1" noChangeArrowheads="1" noChangeShapeType="1" noTextEdit="1"/>
              </p:cNvSpPr>
              <p:nvPr/>
            </p:nvSpPr>
            <p:spPr>
              <a:xfrm>
                <a:off x="45720" y="3352479"/>
                <a:ext cx="8631936" cy="461665"/>
              </a:xfrm>
              <a:prstGeom prst="rect">
                <a:avLst/>
              </a:prstGeom>
              <a:blipFill>
                <a:blip r:embed="rId7"/>
                <a:stretch>
                  <a:fillRect l="-21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B9D5CB8-B053-B3D3-CA9A-25EF455D4208}"/>
                  </a:ext>
                </a:extLst>
              </p:cNvPr>
              <p:cNvSpPr txBox="1"/>
              <p:nvPr/>
            </p:nvSpPr>
            <p:spPr>
              <a:xfrm>
                <a:off x="326898" y="3835247"/>
                <a:ext cx="467715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rPr>
                        <m:t>=2+</m:t>
                      </m:r>
                      <m:r>
                        <a:rPr lang="en-GB" sz="2400" b="0" i="1" smtClean="0">
                          <a:latin typeface="Cambria Math" panose="02040503050406030204" pitchFamily="18" charset="0"/>
                        </a:rPr>
                        <m:t>𝑐</m:t>
                      </m:r>
                      <m:r>
                        <a:rPr lang="en-GB" sz="2400" b="0" i="1" smtClean="0">
                          <a:latin typeface="Cambria Math" panose="02040503050406030204" pitchFamily="18" charset="0"/>
                        </a:rPr>
                        <m:t>−</m:t>
                      </m:r>
                      <m:r>
                        <a:rPr lang="en-GB" sz="2400" b="0" i="1" smtClean="0">
                          <a:latin typeface="Cambria Math" panose="02040503050406030204" pitchFamily="18" charset="0"/>
                        </a:rPr>
                        <m:t>𝑒</m:t>
                      </m:r>
                    </m:oMath>
                  </m:oMathPara>
                </a14:m>
                <a:endParaRPr lang="en-GH" dirty="0"/>
              </a:p>
            </p:txBody>
          </p:sp>
        </mc:Choice>
        <mc:Fallback xmlns="">
          <p:sp>
            <p:nvSpPr>
              <p:cNvPr id="13" name="TextBox 12">
                <a:extLst>
                  <a:ext uri="{FF2B5EF4-FFF2-40B4-BE49-F238E27FC236}">
                    <a16:creationId xmlns:a16="http://schemas.microsoft.com/office/drawing/2014/main" id="{AB9D5CB8-B053-B3D3-CA9A-25EF455D4208}"/>
                  </a:ext>
                </a:extLst>
              </p:cNvPr>
              <p:cNvSpPr txBox="1">
                <a:spLocks noRot="1" noChangeAspect="1" noMove="1" noResize="1" noEditPoints="1" noAdjustHandles="1" noChangeArrowheads="1" noChangeShapeType="1" noTextEdit="1"/>
              </p:cNvSpPr>
              <p:nvPr/>
            </p:nvSpPr>
            <p:spPr>
              <a:xfrm>
                <a:off x="326898" y="3835247"/>
                <a:ext cx="4677156" cy="461665"/>
              </a:xfrm>
              <a:prstGeom prst="rect">
                <a:avLst/>
              </a:prstGeom>
              <a:blipFill>
                <a:blip r:embed="rId8"/>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2290805-6D78-EB64-5AC6-32BDCA4C703E}"/>
                  </a:ext>
                </a:extLst>
              </p:cNvPr>
              <p:cNvSpPr txBox="1"/>
              <p:nvPr/>
            </p:nvSpPr>
            <p:spPr>
              <a:xfrm>
                <a:off x="45720" y="4345447"/>
                <a:ext cx="4677156" cy="464679"/>
              </a:xfrm>
              <a:prstGeom prst="rect">
                <a:avLst/>
              </a:prstGeom>
              <a:noFill/>
            </p:spPr>
            <p:txBody>
              <a:bodyPr wrap="square">
                <a:spAutoFit/>
              </a:bodyPr>
              <a:lstStyle/>
              <a:p>
                <a14:m>
                  <m:oMath xmlns:m="http://schemas.openxmlformats.org/officeDocument/2006/math">
                    <m:r>
                      <a:rPr lang="en-GB" b="0" i="1" smtClean="0">
                        <a:latin typeface="Cambria Math" panose="02040503050406030204" pitchFamily="18" charset="0"/>
                      </a:rPr>
                      <m:t>𝐹</m:t>
                    </m:r>
                    <m:r>
                      <a:rPr lang="en-GB" i="1" smtClean="0">
                        <a:latin typeface="Cambria Math" panose="02040503050406030204" pitchFamily="18" charset="0"/>
                      </a:rPr>
                      <m:t>=</m:t>
                    </m:r>
                    <m:r>
                      <a:rPr lang="en-GB" i="1" smtClean="0">
                        <a:latin typeface="Cambria Math" panose="02040503050406030204" pitchFamily="18" charset="0"/>
                      </a:rPr>
                      <m:t>𝐾𝑉</m:t>
                    </m:r>
                    <m:r>
                      <a:rPr lang="en-GB" i="1" smtClean="0">
                        <a:latin typeface="Cambria Math" panose="02040503050406030204" pitchFamily="18" charset="0"/>
                      </a:rPr>
                      <m:t>ᵃ.</m:t>
                    </m:r>
                    <m:r>
                      <a:rPr lang="en-GB" b="0" i="1" smtClean="0">
                        <a:latin typeface="Cambria Math" panose="02040503050406030204" pitchFamily="18" charset="0"/>
                      </a:rPr>
                      <m:t>𝐷</m:t>
                    </m:r>
                    <m:r>
                      <a:rPr lang="en-GB" i="1" smtClean="0">
                        <a:latin typeface="Cambria Math" panose="02040503050406030204" pitchFamily="18" charset="0"/>
                      </a:rPr>
                      <m:t>ᵇ.</m:t>
                    </m:r>
                    <m:r>
                      <a:rPr lang="en-GB" b="0" i="1" smtClean="0">
                        <a:latin typeface="Cambria Math" panose="02040503050406030204" pitchFamily="18" charset="0"/>
                      </a:rPr>
                      <m:t>𝑁</m:t>
                    </m:r>
                    <m:r>
                      <a:rPr lang="en-GB" i="1">
                        <a:latin typeface="Cambria Math" panose="02040503050406030204" pitchFamily="18" charset="0"/>
                      </a:rPr>
                      <m:t>ᶜ</m:t>
                    </m:r>
                    <m:r>
                      <a:rPr lang="en-GB" i="1">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𝜌</m:t>
                    </m:r>
                    <m:r>
                      <a:rPr lang="en-GB" b="0" i="1" baseline="30000" smtClean="0">
                        <a:latin typeface="Cambria Math" panose="02040503050406030204" pitchFamily="18" charset="0"/>
                        <a:ea typeface="Cambria Math" panose="02040503050406030204" pitchFamily="18" charset="0"/>
                      </a:rPr>
                      <m:t>𝑑</m:t>
                    </m:r>
                    <m:r>
                      <a:rPr lang="en-GB" i="1">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𝜇</m:t>
                    </m:r>
                    <m:r>
                      <a:rPr lang="en-GB" b="0" i="1" baseline="30000" smtClean="0">
                        <a:latin typeface="Cambria Math" panose="02040503050406030204" pitchFamily="18" charset="0"/>
                        <a:ea typeface="Cambria Math" panose="02040503050406030204" pitchFamily="18" charset="0"/>
                      </a:rPr>
                      <m:t>𝑒</m:t>
                    </m:r>
                  </m:oMath>
                </a14:m>
                <a:r>
                  <a:rPr lang="en-GB" dirty="0"/>
                  <a:t> </a:t>
                </a:r>
                <a:endParaRPr lang="en-GH" dirty="0"/>
              </a:p>
            </p:txBody>
          </p:sp>
        </mc:Choice>
        <mc:Fallback xmlns="">
          <p:sp>
            <p:nvSpPr>
              <p:cNvPr id="14" name="TextBox 13">
                <a:extLst>
                  <a:ext uri="{FF2B5EF4-FFF2-40B4-BE49-F238E27FC236}">
                    <a16:creationId xmlns:a16="http://schemas.microsoft.com/office/drawing/2014/main" id="{F2290805-6D78-EB64-5AC6-32BDCA4C703E}"/>
                  </a:ext>
                </a:extLst>
              </p:cNvPr>
              <p:cNvSpPr txBox="1">
                <a:spLocks noRot="1" noChangeAspect="1" noMove="1" noResize="1" noEditPoints="1" noAdjustHandles="1" noChangeArrowheads="1" noChangeShapeType="1" noTextEdit="1"/>
              </p:cNvSpPr>
              <p:nvPr/>
            </p:nvSpPr>
            <p:spPr>
              <a:xfrm>
                <a:off x="45720" y="4345447"/>
                <a:ext cx="4677156" cy="464679"/>
              </a:xfrm>
              <a:prstGeom prst="rect">
                <a:avLst/>
              </a:prstGeom>
              <a:blipFill>
                <a:blip r:embed="rId9"/>
                <a:stretch>
                  <a:fillRect l="-391" b="-1184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EF116A-9687-DEB5-ABDD-832E5B7D9129}"/>
                  </a:ext>
                </a:extLst>
              </p:cNvPr>
              <p:cNvSpPr txBox="1"/>
              <p:nvPr/>
            </p:nvSpPr>
            <p:spPr>
              <a:xfrm>
                <a:off x="45720" y="4846504"/>
                <a:ext cx="8906256" cy="9650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rPr>
                        <m:t>𝐹</m:t>
                      </m:r>
                      <m:r>
                        <a:rPr lang="en-GB" i="1" smtClean="0">
                          <a:latin typeface="Cambria Math" panose="02040503050406030204" pitchFamily="18" charset="0"/>
                        </a:rPr>
                        <m:t>=</m:t>
                      </m:r>
                      <m:r>
                        <a:rPr lang="en-GB" i="1" smtClean="0">
                          <a:latin typeface="Cambria Math" panose="02040503050406030204" pitchFamily="18" charset="0"/>
                        </a:rPr>
                        <m:t>𝐾</m:t>
                      </m:r>
                      <m:sSup>
                        <m:sSupPr>
                          <m:ctrlPr>
                            <a:rPr lang="en-GB" i="1" smtClean="0">
                              <a:latin typeface="Cambria Math" panose="02040503050406030204" pitchFamily="18" charset="0"/>
                            </a:rPr>
                          </m:ctrlPr>
                        </m:sSupPr>
                        <m:e>
                          <m:r>
                            <a:rPr lang="en-GB" b="0" i="1" smtClean="0">
                              <a:latin typeface="Cambria Math" panose="02040503050406030204" pitchFamily="18" charset="0"/>
                            </a:rPr>
                            <m:t>𝑉</m:t>
                          </m:r>
                        </m:e>
                        <m:sup>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𝑒</m:t>
                              </m:r>
                            </m:e>
                          </m:d>
                        </m:sup>
                      </m:sSup>
                      <m:sSup>
                        <m:sSupPr>
                          <m:ctrlPr>
                            <a:rPr lang="en-GB" i="1" smtClean="0">
                              <a:latin typeface="Cambria Math" panose="02040503050406030204" pitchFamily="18" charset="0"/>
                            </a:rPr>
                          </m:ctrlPr>
                        </m:sSupPr>
                        <m:e>
                          <m:r>
                            <a:rPr lang="en-GB" b="0" i="1" smtClean="0">
                              <a:latin typeface="Cambria Math" panose="02040503050406030204" pitchFamily="18" charset="0"/>
                            </a:rPr>
                            <m:t>𝐷</m:t>
                          </m:r>
                        </m:e>
                        <m:sup>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𝑒</m:t>
                              </m:r>
                            </m:e>
                          </m:d>
                        </m:sup>
                      </m:sSup>
                      <m:sSup>
                        <m:sSupPr>
                          <m:ctrlPr>
                            <a:rPr lang="en-GB" i="1" smtClean="0">
                              <a:latin typeface="Cambria Math" panose="02040503050406030204" pitchFamily="18" charset="0"/>
                            </a:rPr>
                          </m:ctrlPr>
                        </m:sSupPr>
                        <m:e>
                          <m:r>
                            <a:rPr lang="en-GB" b="0" i="1" smtClean="0">
                              <a:latin typeface="Cambria Math" panose="02040503050406030204" pitchFamily="18" charset="0"/>
                            </a:rPr>
                            <m:t>𝑁</m:t>
                          </m:r>
                        </m:e>
                        <m:sup>
                          <m:r>
                            <a:rPr lang="en-GB" b="0" i="1" smtClean="0">
                              <a:latin typeface="Cambria Math" panose="02040503050406030204" pitchFamily="18" charset="0"/>
                            </a:rPr>
                            <m:t>𝑐</m:t>
                          </m:r>
                        </m:sup>
                      </m:sSup>
                      <m:sSup>
                        <m:sSupPr>
                          <m:ctrlPr>
                            <a:rPr lang="en-GB" i="1" smtClean="0">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𝜌</m:t>
                          </m:r>
                        </m:e>
                        <m:sup>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𝑒</m:t>
                              </m:r>
                            </m:e>
                          </m:d>
                        </m:sup>
                      </m:sSup>
                      <m:sSup>
                        <m:sSupPr>
                          <m:ctrlPr>
                            <a:rPr lang="en-GB" i="1" smtClean="0">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𝜇</m:t>
                          </m:r>
                        </m:e>
                        <m:sup>
                          <m:r>
                            <a:rPr lang="en-GB" b="0" i="1" smtClean="0">
                              <a:latin typeface="Cambria Math" panose="02040503050406030204" pitchFamily="18" charset="0"/>
                            </a:rPr>
                            <m:t>𝑒</m:t>
                          </m:r>
                        </m:sup>
                      </m:sSup>
                      <m:r>
                        <a:rPr lang="en-GB" b="0" i="1" smtClean="0">
                          <a:latin typeface="Cambria Math" panose="02040503050406030204" pitchFamily="18" charset="0"/>
                        </a:rPr>
                        <m:t>=</m:t>
                      </m:r>
                      <m:r>
                        <a:rPr lang="en-GB" b="0" i="1" smtClean="0">
                          <a:latin typeface="Cambria Math" panose="02040503050406030204" pitchFamily="18" charset="0"/>
                        </a:rPr>
                        <m:t>𝐾</m:t>
                      </m:r>
                      <m:r>
                        <a:rPr lang="en-GB" b="0" i="1" smtClean="0">
                          <a:latin typeface="Cambria Math" panose="02040503050406030204" pitchFamily="18" charset="0"/>
                          <a:ea typeface="Cambria Math" panose="02040503050406030204" pitchFamily="18" charset="0"/>
                        </a:rPr>
                        <m:t>𝜌</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𝑉</m:t>
                          </m:r>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𝐷</m:t>
                          </m:r>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𝐷𝑁</m:t>
                                  </m:r>
                                </m:num>
                                <m:den>
                                  <m:r>
                                    <a:rPr lang="en-GB" b="0" i="1" smtClean="0">
                                      <a:latin typeface="Cambria Math" panose="02040503050406030204" pitchFamily="18" charset="0"/>
                                    </a:rPr>
                                    <m:t>𝑉</m:t>
                                  </m:r>
                                </m:den>
                              </m:f>
                            </m:e>
                          </m:d>
                        </m:e>
                        <m:sup>
                          <m:r>
                            <a:rPr lang="en-GB" b="0" i="1" smtClean="0">
                              <a:latin typeface="Cambria Math" panose="02040503050406030204" pitchFamily="18" charset="0"/>
                            </a:rPr>
                            <m:t>𝑐</m:t>
                          </m:r>
                        </m:sup>
                      </m:sSup>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smtClean="0">
                                      <a:latin typeface="Cambria Math" panose="02040503050406030204" pitchFamily="18" charset="0"/>
                                      <a:ea typeface="Cambria Math" panose="02040503050406030204" pitchFamily="18" charset="0"/>
                                    </a:rPr>
                                    <m:t>𝜇</m:t>
                                  </m:r>
                                </m:num>
                                <m:den>
                                  <m:r>
                                    <a:rPr lang="en-GB" i="1" smtClean="0">
                                      <a:latin typeface="Cambria Math" panose="02040503050406030204" pitchFamily="18" charset="0"/>
                                      <a:ea typeface="Cambria Math" panose="02040503050406030204" pitchFamily="18" charset="0"/>
                                    </a:rPr>
                                    <m:t>𝜌</m:t>
                                  </m:r>
                                  <m:r>
                                    <a:rPr lang="en-GB" i="1">
                                      <a:latin typeface="Cambria Math" panose="02040503050406030204" pitchFamily="18" charset="0"/>
                                    </a:rPr>
                                    <m:t>𝑉</m:t>
                                  </m:r>
                                  <m:r>
                                    <a:rPr lang="en-GB" b="0" i="1" smtClean="0">
                                      <a:latin typeface="Cambria Math" panose="02040503050406030204" pitchFamily="18" charset="0"/>
                                    </a:rPr>
                                    <m:t>𝐷</m:t>
                                  </m:r>
                                </m:den>
                              </m:f>
                            </m:e>
                          </m:d>
                        </m:e>
                        <m:sup>
                          <m:r>
                            <a:rPr lang="en-GB" b="0" i="1" smtClean="0">
                              <a:latin typeface="Cambria Math" panose="02040503050406030204" pitchFamily="18" charset="0"/>
                            </a:rPr>
                            <m:t>𝑒</m:t>
                          </m:r>
                        </m:sup>
                      </m:sSup>
                    </m:oMath>
                  </m:oMathPara>
                </a14:m>
                <a:endParaRPr lang="en-GH" dirty="0"/>
              </a:p>
            </p:txBody>
          </p:sp>
        </mc:Choice>
        <mc:Fallback xmlns="">
          <p:sp>
            <p:nvSpPr>
              <p:cNvPr id="15" name="TextBox 14">
                <a:extLst>
                  <a:ext uri="{FF2B5EF4-FFF2-40B4-BE49-F238E27FC236}">
                    <a16:creationId xmlns:a16="http://schemas.microsoft.com/office/drawing/2014/main" id="{8EEF116A-9687-DEB5-ABDD-832E5B7D9129}"/>
                  </a:ext>
                </a:extLst>
              </p:cNvPr>
              <p:cNvSpPr txBox="1">
                <a:spLocks noRot="1" noChangeAspect="1" noMove="1" noResize="1" noEditPoints="1" noAdjustHandles="1" noChangeArrowheads="1" noChangeShapeType="1" noTextEdit="1"/>
              </p:cNvSpPr>
              <p:nvPr/>
            </p:nvSpPr>
            <p:spPr>
              <a:xfrm>
                <a:off x="45720" y="4846504"/>
                <a:ext cx="8906256" cy="965072"/>
              </a:xfrm>
              <a:prstGeom prst="rect">
                <a:avLst/>
              </a:prstGeom>
              <a:blipFill>
                <a:blip r:embed="rId10"/>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319491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012" y="81346"/>
            <a:ext cx="9144000" cy="461665"/>
          </a:xfrm>
        </p:spPr>
        <p:txBody>
          <a:bodyPr>
            <a:normAutofit/>
          </a:bodyPr>
          <a:lstStyle/>
          <a:p>
            <a:pPr marL="0" indent="0">
              <a:spcAft>
                <a:spcPts val="1000"/>
              </a:spcAft>
              <a:buNone/>
            </a:pPr>
            <a:r>
              <a:rPr lang="en-US" sz="2600" b="1" dirty="0">
                <a:latin typeface="+mn-lt"/>
              </a:rPr>
              <a:t>Solution </a:t>
            </a:r>
            <a:r>
              <a:rPr lang="en-US" sz="2600" b="1" dirty="0" err="1">
                <a:latin typeface="+mn-lt"/>
              </a:rPr>
              <a:t>contd</a:t>
            </a:r>
            <a:r>
              <a:rPr lang="en-US" sz="2600" b="1" dirty="0">
                <a:latin typeface="+mn-lt"/>
              </a:rPr>
              <a:t>:</a:t>
            </a:r>
            <a:endParaRPr lang="en-US" sz="2600" dirty="0">
              <a:latin typeface="+mn-lt"/>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EF116A-9687-DEB5-ABDD-832E5B7D9129}"/>
                  </a:ext>
                </a:extLst>
              </p:cNvPr>
              <p:cNvSpPr txBox="1"/>
              <p:nvPr/>
            </p:nvSpPr>
            <p:spPr>
              <a:xfrm>
                <a:off x="45720" y="422090"/>
                <a:ext cx="5861304" cy="9650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rPr>
                        <m:t>𝐹</m:t>
                      </m:r>
                      <m:r>
                        <a:rPr lang="en-GB" i="1" smtClean="0">
                          <a:latin typeface="Cambria Math" panose="02040503050406030204" pitchFamily="18" charset="0"/>
                        </a:rPr>
                        <m:t>=</m:t>
                      </m:r>
                      <m:r>
                        <a:rPr lang="en-GB" b="0" i="1" smtClean="0">
                          <a:latin typeface="Cambria Math" panose="02040503050406030204" pitchFamily="18" charset="0"/>
                        </a:rPr>
                        <m:t>𝐾</m:t>
                      </m:r>
                      <m:r>
                        <a:rPr lang="en-GB" b="0" i="1" smtClean="0">
                          <a:latin typeface="Cambria Math" panose="02040503050406030204" pitchFamily="18" charset="0"/>
                          <a:ea typeface="Cambria Math" panose="02040503050406030204" pitchFamily="18" charset="0"/>
                        </a:rPr>
                        <m:t>𝜌</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𝑉</m:t>
                          </m:r>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𝐷</m:t>
                          </m:r>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𝐷𝑁</m:t>
                                  </m:r>
                                </m:num>
                                <m:den>
                                  <m:r>
                                    <a:rPr lang="en-GB" b="0" i="1" smtClean="0">
                                      <a:latin typeface="Cambria Math" panose="02040503050406030204" pitchFamily="18" charset="0"/>
                                    </a:rPr>
                                    <m:t>𝑉</m:t>
                                  </m:r>
                                </m:den>
                              </m:f>
                            </m:e>
                          </m:d>
                        </m:e>
                        <m:sup>
                          <m:r>
                            <a:rPr lang="en-GB" b="0" i="1" smtClean="0">
                              <a:latin typeface="Cambria Math" panose="02040503050406030204" pitchFamily="18" charset="0"/>
                            </a:rPr>
                            <m:t>𝑐</m:t>
                          </m:r>
                        </m:sup>
                      </m:sSup>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𝜌</m:t>
                                  </m:r>
                                  <m:r>
                                    <a:rPr lang="en-GB" i="1">
                                      <a:latin typeface="Cambria Math" panose="02040503050406030204" pitchFamily="18" charset="0"/>
                                    </a:rPr>
                                    <m:t>𝑉</m:t>
                                  </m:r>
                                  <m:r>
                                    <a:rPr lang="en-GB" b="0" i="1" smtClean="0">
                                      <a:latin typeface="Cambria Math" panose="02040503050406030204" pitchFamily="18" charset="0"/>
                                    </a:rPr>
                                    <m:t>𝐷</m:t>
                                  </m:r>
                                </m:num>
                                <m:den>
                                  <m:r>
                                    <a:rPr lang="en-GB" i="1">
                                      <a:latin typeface="Cambria Math" panose="02040503050406030204" pitchFamily="18" charset="0"/>
                                      <a:ea typeface="Cambria Math" panose="02040503050406030204" pitchFamily="18" charset="0"/>
                                    </a:rPr>
                                    <m:t>𝜇</m:t>
                                  </m:r>
                                </m:den>
                              </m:f>
                            </m:e>
                          </m:d>
                        </m:e>
                        <m:sup>
                          <m:r>
                            <a:rPr lang="en-GB" b="0" i="1" smtClean="0">
                              <a:latin typeface="Cambria Math" panose="02040503050406030204" pitchFamily="18" charset="0"/>
                            </a:rPr>
                            <m:t>−</m:t>
                          </m:r>
                          <m:r>
                            <a:rPr lang="en-GB" b="0" i="1" smtClean="0">
                              <a:latin typeface="Cambria Math" panose="02040503050406030204" pitchFamily="18" charset="0"/>
                            </a:rPr>
                            <m:t>𝑒</m:t>
                          </m:r>
                        </m:sup>
                      </m:sSup>
                    </m:oMath>
                  </m:oMathPara>
                </a14:m>
                <a:endParaRPr lang="en-GH" dirty="0"/>
              </a:p>
            </p:txBody>
          </p:sp>
        </mc:Choice>
        <mc:Fallback xmlns="">
          <p:sp>
            <p:nvSpPr>
              <p:cNvPr id="15" name="TextBox 14">
                <a:extLst>
                  <a:ext uri="{FF2B5EF4-FFF2-40B4-BE49-F238E27FC236}">
                    <a16:creationId xmlns:a16="http://schemas.microsoft.com/office/drawing/2014/main" id="{8EEF116A-9687-DEB5-ABDD-832E5B7D9129}"/>
                  </a:ext>
                </a:extLst>
              </p:cNvPr>
              <p:cNvSpPr txBox="1">
                <a:spLocks noRot="1" noChangeAspect="1" noMove="1" noResize="1" noEditPoints="1" noAdjustHandles="1" noChangeArrowheads="1" noChangeShapeType="1" noTextEdit="1"/>
              </p:cNvSpPr>
              <p:nvPr/>
            </p:nvSpPr>
            <p:spPr>
              <a:xfrm>
                <a:off x="45720" y="422090"/>
                <a:ext cx="5861304" cy="965072"/>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D104308-E536-7FF5-D47F-98A9450E07FC}"/>
                  </a:ext>
                </a:extLst>
              </p:cNvPr>
              <p:cNvSpPr txBox="1"/>
              <p:nvPr/>
            </p:nvSpPr>
            <p:spPr>
              <a:xfrm>
                <a:off x="45720" y="1436252"/>
                <a:ext cx="5861304" cy="9221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  </m:t>
                      </m:r>
                      <m:f>
                        <m:fPr>
                          <m:ctrlPr>
                            <a:rPr lang="en-GB" i="1">
                              <a:latin typeface="Cambria Math" panose="02040503050406030204" pitchFamily="18" charset="0"/>
                            </a:rPr>
                          </m:ctrlPr>
                        </m:fPr>
                        <m:num>
                          <m:r>
                            <a:rPr lang="en-GB" b="0" i="1" smtClean="0">
                              <a:latin typeface="Cambria Math" panose="02040503050406030204" pitchFamily="18" charset="0"/>
                            </a:rPr>
                            <m:t>𝐹</m:t>
                          </m:r>
                        </m:num>
                        <m:den>
                          <m:r>
                            <a:rPr lang="en-GB" i="1">
                              <a:latin typeface="Cambria Math" panose="02040503050406030204" pitchFamily="18" charset="0"/>
                              <a:ea typeface="Cambria Math" panose="02040503050406030204" pitchFamily="18" charset="0"/>
                            </a:rPr>
                            <m:t>𝜌</m:t>
                          </m:r>
                          <m:sSup>
                            <m:sSupPr>
                              <m:ctrlPr>
                                <a:rPr lang="en-GB" i="1">
                                  <a:latin typeface="Cambria Math" panose="02040503050406030204" pitchFamily="18" charset="0"/>
                                </a:rPr>
                              </m:ctrlPr>
                            </m:sSupPr>
                            <m:e>
                              <m:r>
                                <a:rPr lang="en-GB" i="1">
                                  <a:latin typeface="Cambria Math" panose="02040503050406030204" pitchFamily="18" charset="0"/>
                                </a:rPr>
                                <m:t>𝑉</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𝐷</m:t>
                              </m:r>
                            </m:e>
                            <m:sup>
                              <m:r>
                                <a:rPr lang="en-GB" i="1">
                                  <a:latin typeface="Cambria Math" panose="02040503050406030204" pitchFamily="18" charset="0"/>
                                </a:rPr>
                                <m:t>2</m:t>
                              </m:r>
                            </m:sup>
                          </m:sSup>
                        </m:den>
                      </m:f>
                      <m:r>
                        <a:rPr lang="en-GB" i="1" smtClean="0">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𝜙</m:t>
                      </m:r>
                      <m:d>
                        <m:dPr>
                          <m:ctrlPr>
                            <a:rPr lang="en-GB" i="1" smtClean="0">
                              <a:latin typeface="Cambria Math" panose="02040503050406030204" pitchFamily="18" charset="0"/>
                              <a:ea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𝜌</m:t>
                              </m:r>
                              <m:r>
                                <a:rPr lang="en-GB" i="1">
                                  <a:latin typeface="Cambria Math" panose="02040503050406030204" pitchFamily="18" charset="0"/>
                                </a:rPr>
                                <m:t>𝑉𝐷</m:t>
                              </m:r>
                            </m:num>
                            <m:den>
                              <m:r>
                                <a:rPr lang="en-GB" i="1">
                                  <a:latin typeface="Cambria Math" panose="02040503050406030204" pitchFamily="18" charset="0"/>
                                  <a:ea typeface="Cambria Math" panose="02040503050406030204" pitchFamily="18" charset="0"/>
                                </a:rPr>
                                <m:t>𝜇</m:t>
                              </m:r>
                            </m:den>
                          </m:f>
                          <m:r>
                            <a:rPr lang="en-GB" b="0" i="1" smtClean="0">
                              <a:latin typeface="Cambria Math" panose="02040503050406030204" pitchFamily="18" charset="0"/>
                              <a:ea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𝐷𝑁</m:t>
                              </m:r>
                            </m:num>
                            <m:den>
                              <m:r>
                                <a:rPr lang="en-GB" i="1">
                                  <a:latin typeface="Cambria Math" panose="02040503050406030204" pitchFamily="18" charset="0"/>
                                </a:rPr>
                                <m:t>𝑉</m:t>
                              </m:r>
                            </m:den>
                          </m:f>
                        </m:e>
                      </m:d>
                    </m:oMath>
                  </m:oMathPara>
                </a14:m>
                <a:endParaRPr lang="en-GH" dirty="0"/>
              </a:p>
            </p:txBody>
          </p:sp>
        </mc:Choice>
        <mc:Fallback xmlns="">
          <p:sp>
            <p:nvSpPr>
              <p:cNvPr id="2" name="TextBox 1">
                <a:extLst>
                  <a:ext uri="{FF2B5EF4-FFF2-40B4-BE49-F238E27FC236}">
                    <a16:creationId xmlns:a16="http://schemas.microsoft.com/office/drawing/2014/main" id="{DD104308-E536-7FF5-D47F-98A9450E07FC}"/>
                  </a:ext>
                </a:extLst>
              </p:cNvPr>
              <p:cNvSpPr txBox="1">
                <a:spLocks noRot="1" noChangeAspect="1" noMove="1" noResize="1" noEditPoints="1" noAdjustHandles="1" noChangeArrowheads="1" noChangeShapeType="1" noTextEdit="1"/>
              </p:cNvSpPr>
              <p:nvPr/>
            </p:nvSpPr>
            <p:spPr>
              <a:xfrm>
                <a:off x="45720" y="1436252"/>
                <a:ext cx="5861304" cy="922176"/>
              </a:xfrm>
              <a:prstGeom prst="rect">
                <a:avLst/>
              </a:prstGeom>
              <a:blipFill>
                <a:blip r:embed="rId4"/>
                <a:stretch>
                  <a:fillRect/>
                </a:stretch>
              </a:blipFill>
            </p:spPr>
            <p:txBody>
              <a:bodyPr/>
              <a:lstStyle/>
              <a:p>
                <a:r>
                  <a:rPr lang="en-GH">
                    <a:noFill/>
                  </a:rPr>
                  <a:t> </a:t>
                </a:r>
              </a:p>
            </p:txBody>
          </p:sp>
        </mc:Fallback>
      </mc:AlternateContent>
    </p:spTree>
    <p:extLst>
      <p:ext uri="{BB962C8B-B14F-4D97-AF65-F5344CB8AC3E}">
        <p14:creationId xmlns:p14="http://schemas.microsoft.com/office/powerpoint/2010/main" val="2583373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46038"/>
            <a:ext cx="8229600" cy="487362"/>
          </a:xfrm>
        </p:spPr>
        <p:txBody>
          <a:bodyPr>
            <a:normAutofit/>
          </a:bodyPr>
          <a:lstStyle/>
          <a:p>
            <a:r>
              <a:rPr lang="en-US" sz="2800" b="1" dirty="0">
                <a:solidFill>
                  <a:schemeClr val="tx1"/>
                </a:solidFill>
              </a:rPr>
              <a:t>BUCKINGHAM </a:t>
            </a:r>
            <a:r>
              <a:rPr lang="en-US" sz="2800" dirty="0">
                <a:solidFill>
                  <a:schemeClr val="tx1"/>
                </a:solidFill>
              </a:rPr>
              <a:t>Pi</a:t>
            </a:r>
            <a:r>
              <a:rPr lang="en-US" sz="2800" b="1" dirty="0">
                <a:solidFill>
                  <a:schemeClr val="tx1"/>
                </a:solidFill>
              </a:rPr>
              <a:t>-Theorem</a:t>
            </a:r>
            <a:endParaRPr lang="en-US" sz="2800" dirty="0">
              <a:solidFill>
                <a:schemeClr val="tx1"/>
              </a:solidFill>
            </a:endParaRPr>
          </a:p>
        </p:txBody>
      </p:sp>
      <p:sp>
        <p:nvSpPr>
          <p:cNvPr id="3" name="Content Placeholder 2"/>
          <p:cNvSpPr>
            <a:spLocks noGrp="1"/>
          </p:cNvSpPr>
          <p:nvPr>
            <p:ph idx="1"/>
          </p:nvPr>
        </p:nvSpPr>
        <p:spPr>
          <a:xfrm>
            <a:off x="0" y="762000"/>
            <a:ext cx="9144000" cy="5204460"/>
          </a:xfrm>
        </p:spPr>
        <p:txBody>
          <a:bodyPr>
            <a:normAutofit/>
          </a:bodyPr>
          <a:lstStyle/>
          <a:p>
            <a:r>
              <a:rPr lang="en-US" sz="2800" dirty="0">
                <a:latin typeface="+mn-lt"/>
              </a:rPr>
              <a:t>The Rayleigh’s method becomes difficult if the variables are more than the fundamental dimensions (M, L, T).</a:t>
            </a:r>
          </a:p>
          <a:p>
            <a:r>
              <a:rPr lang="en-US" sz="2800" dirty="0">
                <a:latin typeface="+mn-lt"/>
              </a:rPr>
              <a:t>This difficulty is overcome by the Buckingham </a:t>
            </a:r>
            <a:r>
              <a:rPr lang="el-GR" sz="2800" dirty="0">
                <a:latin typeface="Times New Roman" panose="02020603050405020304" pitchFamily="18" charset="0"/>
                <a:cs typeface="Times New Roman" panose="02020603050405020304" pitchFamily="18" charset="0"/>
              </a:rPr>
              <a:t>Π</a:t>
            </a:r>
            <a:r>
              <a:rPr lang="en-US" sz="2800" dirty="0">
                <a:latin typeface="+mn-lt"/>
              </a:rPr>
              <a:t>-Theorem, which states that “if there are </a:t>
            </a:r>
            <a:r>
              <a:rPr lang="en-US" sz="2800" i="1" dirty="0">
                <a:latin typeface="+mn-lt"/>
              </a:rPr>
              <a:t>n</a:t>
            </a:r>
            <a:r>
              <a:rPr lang="en-US" sz="2800" dirty="0">
                <a:latin typeface="+mn-lt"/>
              </a:rPr>
              <a:t> variables (independent and dependent variables) in a given flow phenomenon, the relationship between these variables can be transformed into a corresponding relationship between (</a:t>
            </a:r>
            <a:r>
              <a:rPr lang="en-US" sz="2800" i="1" dirty="0">
                <a:latin typeface="+mn-lt"/>
              </a:rPr>
              <a:t>n-m</a:t>
            </a:r>
            <a:r>
              <a:rPr lang="en-US" sz="2800" dirty="0">
                <a:latin typeface="+mn-lt"/>
              </a:rPr>
              <a:t>) independent dimensionless terms”. </a:t>
            </a:r>
          </a:p>
          <a:p>
            <a:r>
              <a:rPr lang="en-US" sz="2800" dirty="0">
                <a:latin typeface="+mn-lt"/>
              </a:rPr>
              <a:t>Each dimensionless term is called a </a:t>
            </a:r>
            <a:r>
              <a:rPr lang="el-GR" sz="2800" dirty="0">
                <a:latin typeface="Times New Roman" panose="02020603050405020304" pitchFamily="18" charset="0"/>
                <a:cs typeface="Times New Roman" panose="02020603050405020304" pitchFamily="18" charset="0"/>
              </a:rPr>
              <a:t>Π</a:t>
            </a:r>
            <a:r>
              <a:rPr lang="en-US" sz="2800" dirty="0">
                <a:latin typeface="+mn-lt"/>
              </a:rPr>
              <a:t>-term. Let X</a:t>
            </a:r>
            <a:r>
              <a:rPr lang="en-US" sz="2800" baseline="-25000" dirty="0">
                <a:latin typeface="+mn-lt"/>
              </a:rPr>
              <a:t>1</a:t>
            </a:r>
            <a:r>
              <a:rPr lang="en-US" sz="2800" dirty="0">
                <a:latin typeface="+mn-lt"/>
              </a:rPr>
              <a:t>, X</a:t>
            </a:r>
            <a:r>
              <a:rPr lang="en-US" sz="2800" baseline="-25000" dirty="0">
                <a:latin typeface="+mn-lt"/>
              </a:rPr>
              <a:t>2</a:t>
            </a:r>
            <a:r>
              <a:rPr lang="en-US" sz="2800" dirty="0">
                <a:latin typeface="+mn-lt"/>
              </a:rPr>
              <a:t>, X</a:t>
            </a:r>
            <a:r>
              <a:rPr lang="en-US" sz="2800" baseline="-25000" dirty="0">
                <a:latin typeface="+mn-lt"/>
              </a:rPr>
              <a:t>3,</a:t>
            </a:r>
            <a:r>
              <a:rPr lang="en-US" sz="2800" dirty="0">
                <a:latin typeface="+mn-lt"/>
              </a:rPr>
              <a:t>….., </a:t>
            </a:r>
            <a:r>
              <a:rPr lang="en-US" sz="2800" dirty="0" err="1">
                <a:latin typeface="+mn-lt"/>
              </a:rPr>
              <a:t>X</a:t>
            </a:r>
            <a:r>
              <a:rPr lang="en-US" sz="2800" baseline="-25000" dirty="0" err="1">
                <a:latin typeface="+mn-lt"/>
              </a:rPr>
              <a:t>n</a:t>
            </a:r>
            <a:r>
              <a:rPr lang="en-US" sz="2800" dirty="0">
                <a:latin typeface="+mn-lt"/>
              </a:rPr>
              <a:t> be the variables involved in the physical problem. </a:t>
            </a:r>
          </a:p>
        </p:txBody>
      </p:sp>
    </p:spTree>
    <p:extLst>
      <p:ext uri="{BB962C8B-B14F-4D97-AF65-F5344CB8AC3E}">
        <p14:creationId xmlns:p14="http://schemas.microsoft.com/office/powerpoint/2010/main" val="1693303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42950"/>
            <a:ext cx="9144000" cy="5200650"/>
          </a:xfrm>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Let X</a:t>
            </a:r>
            <a:r>
              <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rPr>
              <a:t>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be the dependent variable and X</a:t>
            </a:r>
            <a:r>
              <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rPr>
              <a:t>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X</a:t>
            </a:r>
            <a:r>
              <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rPr>
              <a:t>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X</a:t>
            </a:r>
            <a:r>
              <a:rPr kumimoji="0" lang="en-US" sz="2800" b="0" i="0" u="none" strike="noStrike" kern="1200" cap="none" spc="0" normalizeH="0" baseline="-25000" noProof="0" dirty="0" err="1">
                <a:ln>
                  <a:noFill/>
                </a:ln>
                <a:solidFill>
                  <a:prstClr val="black"/>
                </a:solidFill>
                <a:effectLst/>
                <a:uLnTx/>
                <a:uFillTx/>
                <a:latin typeface="Calibri" panose="020F0502020204030204"/>
                <a:ea typeface="+mn-ea"/>
                <a:cs typeface="+mn-cs"/>
              </a:rPr>
              <a:t>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be the</a:t>
            </a:r>
          </a:p>
          <a:p>
            <a:pPr marL="0" marR="0" lvl="0" indent="0" algn="l" defTabSz="914400" rtl="0" eaLnBrk="1" fontAlgn="auto" latinLnBrk="0" hangingPunct="1">
              <a:lnSpc>
                <a:spcPct val="90000"/>
              </a:lnSpc>
              <a:spcBef>
                <a:spcPts val="0"/>
              </a:spcBef>
              <a:spcAft>
                <a:spcPts val="0"/>
              </a:spcAft>
              <a:buClrTx/>
              <a:buSz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independent variables on which X</a:t>
            </a:r>
            <a:r>
              <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rPr>
              <a:t>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depends. </a:t>
            </a:r>
            <a:endParaRPr lang="en-US" sz="2800" dirty="0">
              <a:latin typeface="+mn-lt"/>
            </a:endParaRPr>
          </a:p>
          <a:p>
            <a:pPr marL="0" indent="0">
              <a:buNone/>
            </a:pPr>
            <a:r>
              <a:rPr lang="en-US" sz="2800" dirty="0">
                <a:latin typeface="+mn-lt"/>
              </a:rPr>
              <a:t>Then X</a:t>
            </a:r>
            <a:r>
              <a:rPr lang="en-US" sz="2800" baseline="-25000" dirty="0">
                <a:latin typeface="+mn-lt"/>
              </a:rPr>
              <a:t>1</a:t>
            </a:r>
            <a:r>
              <a:rPr lang="en-US" sz="2800" dirty="0">
                <a:latin typeface="+mn-lt"/>
              </a:rPr>
              <a:t> is a function of X</a:t>
            </a:r>
            <a:r>
              <a:rPr lang="en-US" sz="2800" baseline="-25000" dirty="0">
                <a:latin typeface="+mn-lt"/>
              </a:rPr>
              <a:t>2</a:t>
            </a:r>
            <a:r>
              <a:rPr lang="en-US" sz="2800" dirty="0">
                <a:latin typeface="+mn-lt"/>
              </a:rPr>
              <a:t>,X</a:t>
            </a:r>
            <a:r>
              <a:rPr lang="en-US" sz="2800" baseline="-25000" dirty="0">
                <a:latin typeface="+mn-lt"/>
              </a:rPr>
              <a:t>3</a:t>
            </a:r>
            <a:r>
              <a:rPr lang="en-US" sz="2800" dirty="0">
                <a:latin typeface="+mn-lt"/>
              </a:rPr>
              <a:t>……</a:t>
            </a:r>
            <a:r>
              <a:rPr lang="en-US" sz="2800" dirty="0" err="1">
                <a:latin typeface="+mn-lt"/>
              </a:rPr>
              <a:t>X</a:t>
            </a:r>
            <a:r>
              <a:rPr lang="en-US" sz="2800" baseline="-25000" dirty="0" err="1">
                <a:latin typeface="+mn-lt"/>
              </a:rPr>
              <a:t>n</a:t>
            </a:r>
            <a:r>
              <a:rPr lang="en-US" sz="2800" dirty="0">
                <a:latin typeface="+mn-lt"/>
              </a:rPr>
              <a:t> and mathematically </a:t>
            </a:r>
          </a:p>
          <a:p>
            <a:pPr marL="0" indent="0" algn="ctr">
              <a:spcAft>
                <a:spcPts val="1000"/>
              </a:spcAft>
              <a:buNone/>
            </a:pPr>
            <a:r>
              <a:rPr lang="en-US" sz="2800" dirty="0">
                <a:latin typeface="+mn-lt"/>
              </a:rPr>
              <a:t>X</a:t>
            </a:r>
            <a:r>
              <a:rPr lang="en-US" sz="2800" baseline="-25000" dirty="0">
                <a:latin typeface="+mn-lt"/>
              </a:rPr>
              <a:t>1</a:t>
            </a:r>
            <a:r>
              <a:rPr lang="en-US" sz="2800" dirty="0">
                <a:latin typeface="+mn-lt"/>
              </a:rPr>
              <a:t>= </a:t>
            </a:r>
            <a:r>
              <a:rPr lang="en-US" sz="2800" i="1" dirty="0">
                <a:latin typeface="+mn-lt"/>
              </a:rPr>
              <a:t>f</a:t>
            </a:r>
            <a:r>
              <a:rPr lang="en-US" sz="2800" dirty="0">
                <a:latin typeface="+mn-lt"/>
              </a:rPr>
              <a:t>(X</a:t>
            </a:r>
            <a:r>
              <a:rPr lang="en-US" sz="2800" baseline="-25000" dirty="0">
                <a:latin typeface="+mn-lt"/>
              </a:rPr>
              <a:t>2</a:t>
            </a:r>
            <a:r>
              <a:rPr lang="en-US" sz="2800" dirty="0">
                <a:latin typeface="+mn-lt"/>
              </a:rPr>
              <a:t>,X</a:t>
            </a:r>
            <a:r>
              <a:rPr lang="en-US" sz="2800" baseline="-25000" dirty="0">
                <a:latin typeface="+mn-lt"/>
              </a:rPr>
              <a:t>3</a:t>
            </a:r>
            <a:r>
              <a:rPr lang="en-US" sz="2800" dirty="0">
                <a:latin typeface="+mn-lt"/>
              </a:rPr>
              <a:t>……</a:t>
            </a:r>
            <a:r>
              <a:rPr lang="en-US" sz="2800" dirty="0" err="1">
                <a:latin typeface="+mn-lt"/>
              </a:rPr>
              <a:t>X</a:t>
            </a:r>
            <a:r>
              <a:rPr lang="en-US" sz="2800" baseline="-25000" dirty="0" err="1">
                <a:latin typeface="+mn-lt"/>
              </a:rPr>
              <a:t>n</a:t>
            </a:r>
            <a:r>
              <a:rPr lang="en-US" sz="2800" dirty="0">
                <a:latin typeface="+mn-lt"/>
              </a:rPr>
              <a:t>), 			(1)</a:t>
            </a:r>
          </a:p>
          <a:p>
            <a:pPr marL="0" indent="0">
              <a:spcAft>
                <a:spcPts val="1000"/>
              </a:spcAft>
              <a:buNone/>
            </a:pPr>
            <a:r>
              <a:rPr lang="en-US" sz="2800" dirty="0">
                <a:latin typeface="+mn-lt"/>
              </a:rPr>
              <a:t>or                     </a:t>
            </a:r>
            <a:r>
              <a:rPr lang="en-US" sz="2800" i="1" dirty="0">
                <a:latin typeface="+mn-lt"/>
              </a:rPr>
              <a:t>g</a:t>
            </a:r>
            <a:r>
              <a:rPr lang="en-US" sz="2800" dirty="0">
                <a:latin typeface="+mn-lt"/>
              </a:rPr>
              <a:t>(X</a:t>
            </a:r>
            <a:r>
              <a:rPr lang="en-US" sz="2800" baseline="-25000" dirty="0">
                <a:latin typeface="+mn-lt"/>
              </a:rPr>
              <a:t>1</a:t>
            </a:r>
            <a:r>
              <a:rPr lang="en-US" sz="2800" dirty="0">
                <a:latin typeface="+mn-lt"/>
              </a:rPr>
              <a:t>,X</a:t>
            </a:r>
            <a:r>
              <a:rPr lang="en-US" sz="2800" baseline="-25000" dirty="0">
                <a:latin typeface="+mn-lt"/>
              </a:rPr>
              <a:t>2</a:t>
            </a:r>
            <a:r>
              <a:rPr lang="en-US" sz="2800" dirty="0">
                <a:latin typeface="+mn-lt"/>
              </a:rPr>
              <a:t>,X</a:t>
            </a:r>
            <a:r>
              <a:rPr lang="en-US" sz="2800" baseline="-25000" dirty="0">
                <a:latin typeface="+mn-lt"/>
              </a:rPr>
              <a:t>3</a:t>
            </a:r>
            <a:r>
              <a:rPr lang="en-US" sz="2800" dirty="0">
                <a:latin typeface="+mn-lt"/>
              </a:rPr>
              <a:t>……</a:t>
            </a:r>
            <a:r>
              <a:rPr lang="en-US" sz="2800" dirty="0" err="1">
                <a:latin typeface="+mn-lt"/>
              </a:rPr>
              <a:t>X</a:t>
            </a:r>
            <a:r>
              <a:rPr lang="en-US" sz="2800" baseline="-25000" dirty="0" err="1">
                <a:latin typeface="+mn-lt"/>
              </a:rPr>
              <a:t>n</a:t>
            </a:r>
            <a:r>
              <a:rPr lang="en-US" sz="2800" dirty="0">
                <a:latin typeface="+mn-lt"/>
              </a:rPr>
              <a:t>) = 0		  (2) </a:t>
            </a:r>
          </a:p>
          <a:p>
            <a:pPr marL="0" indent="0">
              <a:spcAft>
                <a:spcPts val="600"/>
              </a:spcAft>
              <a:buNone/>
            </a:pPr>
            <a:r>
              <a:rPr lang="en-US" sz="2800" dirty="0">
                <a:latin typeface="+mn-lt"/>
              </a:rPr>
              <a:t>The above equation, containing </a:t>
            </a:r>
            <a:r>
              <a:rPr lang="en-US" sz="2800" i="1" dirty="0">
                <a:latin typeface="+mn-lt"/>
              </a:rPr>
              <a:t>n</a:t>
            </a:r>
            <a:r>
              <a:rPr lang="en-US" sz="2800" dirty="0">
                <a:latin typeface="+mn-lt"/>
              </a:rPr>
              <a:t> variables, is dimensionally homogeneous.</a:t>
            </a:r>
          </a:p>
          <a:p>
            <a:pPr marL="0" indent="0">
              <a:buNone/>
            </a:pPr>
            <a:r>
              <a:rPr lang="en-US" sz="2800" dirty="0">
                <a:latin typeface="+mn-lt"/>
              </a:rPr>
              <a:t>According to the Buckingham </a:t>
            </a:r>
            <a:r>
              <a:rPr lang="el-GR" sz="2800" dirty="0">
                <a:latin typeface="Times New Roman" panose="02020603050405020304" pitchFamily="18" charset="0"/>
                <a:cs typeface="Times New Roman" panose="02020603050405020304" pitchFamily="18" charset="0"/>
              </a:rPr>
              <a:t>Π</a:t>
            </a:r>
            <a:r>
              <a:rPr lang="en-US" sz="2800" dirty="0">
                <a:latin typeface="+mn-lt"/>
              </a:rPr>
              <a:t> theorem, the equation</a:t>
            </a:r>
          </a:p>
          <a:p>
            <a:pPr marL="0" indent="0" algn="ctr">
              <a:spcAft>
                <a:spcPts val="1000"/>
              </a:spcAft>
              <a:buNone/>
            </a:pPr>
            <a:r>
              <a:rPr lang="en-US" sz="2800" i="1" dirty="0">
                <a:latin typeface="+mn-lt"/>
              </a:rPr>
              <a:t>g</a:t>
            </a:r>
            <a:r>
              <a:rPr lang="en-US" sz="2800" dirty="0">
                <a:latin typeface="+mn-lt"/>
              </a:rPr>
              <a:t>(X</a:t>
            </a:r>
            <a:r>
              <a:rPr lang="en-US" sz="2800" baseline="-25000" dirty="0">
                <a:latin typeface="+mn-lt"/>
              </a:rPr>
              <a:t>1</a:t>
            </a:r>
            <a:r>
              <a:rPr lang="en-US" sz="2800" dirty="0">
                <a:latin typeface="+mn-lt"/>
              </a:rPr>
              <a:t>,X</a:t>
            </a:r>
            <a:r>
              <a:rPr lang="en-US" sz="2800" baseline="-25000" dirty="0">
                <a:latin typeface="+mn-lt"/>
              </a:rPr>
              <a:t>2</a:t>
            </a:r>
            <a:r>
              <a:rPr lang="en-US" sz="2800" dirty="0">
                <a:latin typeface="+mn-lt"/>
              </a:rPr>
              <a:t>,X</a:t>
            </a:r>
            <a:r>
              <a:rPr lang="en-US" sz="2800" baseline="-25000" dirty="0">
                <a:latin typeface="+mn-lt"/>
              </a:rPr>
              <a:t>3</a:t>
            </a:r>
            <a:r>
              <a:rPr lang="en-US" sz="2800" dirty="0">
                <a:latin typeface="+mn-lt"/>
              </a:rPr>
              <a:t>……</a:t>
            </a:r>
            <a:r>
              <a:rPr lang="en-US" sz="2800" dirty="0" err="1">
                <a:latin typeface="+mn-lt"/>
              </a:rPr>
              <a:t>X</a:t>
            </a:r>
            <a:r>
              <a:rPr lang="en-US" sz="2800" baseline="-25000" dirty="0" err="1">
                <a:latin typeface="+mn-lt"/>
              </a:rPr>
              <a:t>n</a:t>
            </a:r>
            <a:r>
              <a:rPr lang="en-US" sz="2800" dirty="0">
                <a:latin typeface="+mn-lt"/>
              </a:rPr>
              <a:t>) = 0.</a:t>
            </a:r>
          </a:p>
          <a:p>
            <a:pPr marL="0" indent="0">
              <a:spcBef>
                <a:spcPts val="0"/>
              </a:spcBef>
              <a:buNone/>
            </a:pPr>
            <a:r>
              <a:rPr lang="en-US" sz="2800" dirty="0">
                <a:latin typeface="+mn-lt"/>
              </a:rPr>
              <a:t>can be written in terms of a smaller number of dimensionless groups or </a:t>
            </a:r>
            <a:r>
              <a:rPr lang="el-GR" sz="2800" dirty="0">
                <a:latin typeface="+mn-lt"/>
                <a:cs typeface="Times New Roman" panose="02020603050405020304" pitchFamily="18" charset="0"/>
              </a:rPr>
              <a:t>Π</a:t>
            </a:r>
            <a:r>
              <a:rPr lang="en-US" sz="2800" dirty="0">
                <a:latin typeface="+mn-lt"/>
              </a:rPr>
              <a:t> terms equal to (</a:t>
            </a:r>
            <a:r>
              <a:rPr lang="en-US" sz="2800" i="1" dirty="0">
                <a:latin typeface="+mn-lt"/>
              </a:rPr>
              <a:t>n-m</a:t>
            </a:r>
            <a:r>
              <a:rPr lang="en-US" sz="2800" dirty="0">
                <a:latin typeface="+mn-lt"/>
              </a:rPr>
              <a:t>)</a:t>
            </a:r>
            <a:r>
              <a:rPr lang="en-US" sz="2800" i="1" dirty="0">
                <a:latin typeface="+mn-lt"/>
              </a:rPr>
              <a:t>.</a:t>
            </a:r>
            <a:r>
              <a:rPr lang="en-US" sz="2800" dirty="0">
                <a:latin typeface="+mn-lt"/>
              </a:rPr>
              <a:t> </a:t>
            </a:r>
          </a:p>
        </p:txBody>
      </p:sp>
      <p:sp>
        <p:nvSpPr>
          <p:cNvPr id="2" name="Title 1">
            <a:extLst>
              <a:ext uri="{FF2B5EF4-FFF2-40B4-BE49-F238E27FC236}">
                <a16:creationId xmlns:a16="http://schemas.microsoft.com/office/drawing/2014/main" id="{4B3B0E9E-16C7-C8F8-3314-A57A430253C5}"/>
              </a:ext>
            </a:extLst>
          </p:cNvPr>
          <p:cNvSpPr>
            <a:spLocks noGrp="1"/>
          </p:cNvSpPr>
          <p:nvPr>
            <p:ph type="title"/>
          </p:nvPr>
        </p:nvSpPr>
        <p:spPr>
          <a:xfrm>
            <a:off x="365760" y="46038"/>
            <a:ext cx="8229600" cy="487362"/>
          </a:xfrm>
        </p:spPr>
        <p:txBody>
          <a:bodyPr>
            <a:normAutofit/>
          </a:bodyPr>
          <a:lstStyle/>
          <a:p>
            <a:r>
              <a:rPr lang="en-US" sz="2800" b="1" dirty="0">
                <a:solidFill>
                  <a:schemeClr val="tx1"/>
                </a:solidFill>
              </a:rPr>
              <a:t>BUCKINGHAM </a:t>
            </a:r>
            <a:r>
              <a:rPr lang="en-US" sz="2800" dirty="0">
                <a:solidFill>
                  <a:schemeClr val="tx1"/>
                </a:solidFill>
              </a:rPr>
              <a:t>Pi</a:t>
            </a:r>
            <a:r>
              <a:rPr lang="en-US" sz="2800" b="1" dirty="0">
                <a:solidFill>
                  <a:schemeClr val="tx1"/>
                </a:solidFill>
              </a:rPr>
              <a:t>-Theorem</a:t>
            </a:r>
            <a:endParaRPr lang="en-US" sz="2800" dirty="0">
              <a:solidFill>
                <a:schemeClr val="tx1"/>
              </a:solidFill>
            </a:endParaRPr>
          </a:p>
        </p:txBody>
      </p:sp>
    </p:spTree>
    <p:extLst>
      <p:ext uri="{BB962C8B-B14F-4D97-AF65-F5344CB8AC3E}">
        <p14:creationId xmlns:p14="http://schemas.microsoft.com/office/powerpoint/2010/main" val="286504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93420"/>
            <a:ext cx="9144000" cy="5353050"/>
          </a:xfrm>
        </p:spPr>
        <p:txBody>
          <a:bodyPr>
            <a:normAutofit/>
          </a:bodyPr>
          <a:lstStyle/>
          <a:p>
            <a:r>
              <a:rPr lang="en-US" sz="2800" dirty="0">
                <a:latin typeface="+mn-lt"/>
              </a:rPr>
              <a:t>That is, equation (2) is equivalent to </a:t>
            </a:r>
          </a:p>
          <a:p>
            <a:pPr marL="0" indent="0" algn="ctr">
              <a:buNone/>
            </a:pPr>
            <a:r>
              <a:rPr lang="en-US" sz="2800" dirty="0">
                <a:latin typeface="+mn-lt"/>
              </a:rPr>
              <a:t> </a:t>
            </a:r>
            <a:r>
              <a:rPr lang="en-US" sz="2800" i="1" dirty="0">
                <a:latin typeface="+mn-lt"/>
              </a:rPr>
              <a:t>g</a:t>
            </a:r>
            <a:r>
              <a:rPr lang="en-US" sz="2800" dirty="0">
                <a:latin typeface="+mn-lt"/>
              </a:rPr>
              <a:t>(</a:t>
            </a:r>
            <a:r>
              <a:rPr lang="el-GR" sz="2800" dirty="0">
                <a:latin typeface="Times New Roman" panose="02020603050405020304" pitchFamily="18" charset="0"/>
                <a:cs typeface="Times New Roman" panose="02020603050405020304" pitchFamily="18" charset="0"/>
              </a:rPr>
              <a:t>Π</a:t>
            </a:r>
            <a:r>
              <a:rPr lang="en-US" sz="2800" baseline="-25000" dirty="0">
                <a:latin typeface="+mn-lt"/>
              </a:rPr>
              <a:t>1</a:t>
            </a:r>
            <a:r>
              <a:rPr lang="en-US" sz="2800" dirty="0">
                <a:latin typeface="+mn-lt"/>
              </a:rPr>
              <a:t>,</a:t>
            </a:r>
            <a:r>
              <a:rPr lang="el-GR" sz="2800" dirty="0">
                <a:latin typeface="Times New Roman" panose="02020603050405020304" pitchFamily="18" charset="0"/>
                <a:cs typeface="Times New Roman" panose="02020603050405020304" pitchFamily="18" charset="0"/>
              </a:rPr>
              <a:t> Π</a:t>
            </a:r>
            <a:r>
              <a:rPr lang="en-US" sz="2800" baseline="-25000" dirty="0">
                <a:latin typeface="+mn-lt"/>
              </a:rPr>
              <a:t>2</a:t>
            </a:r>
            <a:r>
              <a:rPr lang="en-US" sz="2800" dirty="0">
                <a:latin typeface="+mn-lt"/>
              </a:rPr>
              <a:t>,……</a:t>
            </a:r>
            <a:r>
              <a:rPr lang="el-GR" sz="2800" dirty="0">
                <a:latin typeface="Times New Roman" panose="02020603050405020304" pitchFamily="18" charset="0"/>
                <a:cs typeface="Times New Roman" panose="02020603050405020304" pitchFamily="18" charset="0"/>
              </a:rPr>
              <a:t> Π</a:t>
            </a:r>
            <a:r>
              <a:rPr lang="en-US" sz="2800" baseline="-25000" dirty="0">
                <a:latin typeface="+mn-lt"/>
              </a:rPr>
              <a:t>n-m</a:t>
            </a:r>
            <a:r>
              <a:rPr lang="en-US" sz="2800" dirty="0">
                <a:latin typeface="+mn-lt"/>
              </a:rPr>
              <a:t>) = 0		(3)</a:t>
            </a:r>
          </a:p>
          <a:p>
            <a:pPr marL="0" indent="0">
              <a:buNone/>
            </a:pPr>
            <a:r>
              <a:rPr lang="en-US" sz="2800" dirty="0">
                <a:latin typeface="+mn-lt"/>
              </a:rPr>
              <a:t>where </a:t>
            </a:r>
            <a:r>
              <a:rPr lang="el-GR" sz="2800" dirty="0">
                <a:latin typeface="Times New Roman" panose="02020603050405020304" pitchFamily="18" charset="0"/>
                <a:cs typeface="Times New Roman" panose="02020603050405020304" pitchFamily="18" charset="0"/>
              </a:rPr>
              <a:t>Π</a:t>
            </a:r>
            <a:r>
              <a:rPr lang="en-US" sz="2800" baseline="-25000" dirty="0">
                <a:latin typeface="+mn-lt"/>
              </a:rPr>
              <a:t>1</a:t>
            </a:r>
            <a:r>
              <a:rPr lang="en-US" sz="2800" dirty="0">
                <a:latin typeface="+mn-lt"/>
              </a:rPr>
              <a:t> is the dimensionless group or </a:t>
            </a:r>
            <a:r>
              <a:rPr lang="el-GR" sz="2800" dirty="0">
                <a:latin typeface="Times New Roman" panose="02020603050405020304" pitchFamily="18" charset="0"/>
                <a:cs typeface="Times New Roman" panose="02020603050405020304" pitchFamily="18" charset="0"/>
              </a:rPr>
              <a:t>Π</a:t>
            </a:r>
            <a:r>
              <a:rPr lang="en-GB" sz="2800" dirty="0">
                <a:latin typeface="Times New Roman" panose="02020603050405020304" pitchFamily="18" charset="0"/>
                <a:cs typeface="Times New Roman" panose="02020603050405020304" pitchFamily="18" charset="0"/>
              </a:rPr>
              <a:t>-term corresponding to the dependent variable. This implies that equation (3) can be rewritten in the form</a:t>
            </a:r>
            <a:endParaRPr lang="en-US" sz="2800" dirty="0">
              <a:latin typeface="+mn-lt"/>
            </a:endParaRPr>
          </a:p>
          <a:p>
            <a:pPr marL="0" indent="0" algn="ctr">
              <a:buNone/>
            </a:pPr>
            <a:r>
              <a:rPr lang="el-GR" sz="2800" dirty="0">
                <a:latin typeface="Times New Roman" panose="02020603050405020304" pitchFamily="18" charset="0"/>
                <a:cs typeface="Times New Roman" panose="02020603050405020304" pitchFamily="18" charset="0"/>
              </a:rPr>
              <a:t>Π</a:t>
            </a:r>
            <a:r>
              <a:rPr lang="en-US" sz="2800" baseline="-25000" dirty="0">
                <a:latin typeface="+mn-lt"/>
              </a:rPr>
              <a:t>1</a:t>
            </a:r>
            <a:r>
              <a:rPr lang="en-US" sz="2800" dirty="0">
                <a:latin typeface="+mn-lt"/>
              </a:rPr>
              <a:t> = </a:t>
            </a:r>
            <a:r>
              <a:rPr lang="en-US" sz="2800" i="1" dirty="0">
                <a:latin typeface="+mn-lt"/>
              </a:rPr>
              <a:t>g</a:t>
            </a:r>
            <a:r>
              <a:rPr lang="en-US" sz="2800" baseline="-25000" dirty="0">
                <a:latin typeface="+mn-lt"/>
              </a:rPr>
              <a:t>1</a:t>
            </a:r>
            <a:r>
              <a:rPr lang="en-US" sz="2800" dirty="0">
                <a:latin typeface="+mn-lt"/>
              </a:rPr>
              <a:t>(</a:t>
            </a:r>
            <a:r>
              <a:rPr lang="el-GR" sz="2800" dirty="0">
                <a:latin typeface="Times New Roman" panose="02020603050405020304" pitchFamily="18" charset="0"/>
                <a:cs typeface="Times New Roman" panose="02020603050405020304" pitchFamily="18" charset="0"/>
              </a:rPr>
              <a:t>Π</a:t>
            </a:r>
            <a:r>
              <a:rPr lang="en-US" sz="2800" baseline="-25000" dirty="0">
                <a:latin typeface="+mn-lt"/>
              </a:rPr>
              <a:t>2</a:t>
            </a:r>
            <a:r>
              <a:rPr lang="en-US" sz="2800" dirty="0">
                <a:latin typeface="+mn-lt"/>
              </a:rPr>
              <a:t>,……</a:t>
            </a:r>
            <a:r>
              <a:rPr lang="el-GR" sz="2800" dirty="0">
                <a:latin typeface="Times New Roman" panose="02020603050405020304" pitchFamily="18" charset="0"/>
                <a:cs typeface="Times New Roman" panose="02020603050405020304" pitchFamily="18" charset="0"/>
              </a:rPr>
              <a:t> Π</a:t>
            </a:r>
            <a:r>
              <a:rPr lang="en-US" sz="2800" baseline="-25000" dirty="0">
                <a:latin typeface="+mn-lt"/>
              </a:rPr>
              <a:t>n-m</a:t>
            </a:r>
            <a:r>
              <a:rPr lang="en-US" sz="2800" dirty="0">
                <a:latin typeface="+mn-lt"/>
              </a:rPr>
              <a:t>)		(4)</a:t>
            </a:r>
          </a:p>
          <a:p>
            <a:pPr marL="0" indent="0">
              <a:buNone/>
            </a:pPr>
            <a:r>
              <a:rPr lang="en-US" sz="2800" dirty="0">
                <a:latin typeface="+mn-lt"/>
              </a:rPr>
              <a:t>where </a:t>
            </a:r>
            <a:r>
              <a:rPr lang="el-GR" sz="2800" dirty="0">
                <a:latin typeface="Times New Roman" panose="02020603050405020304" pitchFamily="18" charset="0"/>
                <a:cs typeface="Times New Roman" panose="02020603050405020304" pitchFamily="18" charset="0"/>
              </a:rPr>
              <a:t>Π</a:t>
            </a:r>
            <a:r>
              <a:rPr lang="en-US" sz="2800" baseline="-25000" dirty="0">
                <a:latin typeface="+mn-lt"/>
              </a:rPr>
              <a:t>2</a:t>
            </a:r>
            <a:r>
              <a:rPr lang="en-US" sz="2800" dirty="0">
                <a:latin typeface="+mn-lt"/>
              </a:rPr>
              <a:t>,……</a:t>
            </a:r>
            <a:r>
              <a:rPr lang="el-GR" sz="2800" dirty="0">
                <a:latin typeface="Times New Roman" panose="02020603050405020304" pitchFamily="18" charset="0"/>
                <a:cs typeface="Times New Roman" panose="02020603050405020304" pitchFamily="18" charset="0"/>
              </a:rPr>
              <a:t> Π</a:t>
            </a:r>
            <a:r>
              <a:rPr lang="en-US" sz="2800" baseline="-25000" dirty="0">
                <a:latin typeface="+mn-lt"/>
              </a:rPr>
              <a:t>n-m</a:t>
            </a:r>
            <a:r>
              <a:rPr lang="en-US" sz="2800" dirty="0">
                <a:latin typeface="+mn-lt"/>
              </a:rPr>
              <a:t> are Pi- or dimensionless groups formed from various combinations of the remaining independent variables.</a:t>
            </a:r>
          </a:p>
          <a:p>
            <a:pPr marL="0" indent="0">
              <a:buNone/>
            </a:pPr>
            <a:r>
              <a:rPr lang="en-US" sz="2800" dirty="0">
                <a:latin typeface="+mn-lt"/>
              </a:rPr>
              <a:t>Usually, </a:t>
            </a:r>
            <a:r>
              <a:rPr lang="en-US" sz="2800" i="1" dirty="0">
                <a:latin typeface="+mn-lt"/>
              </a:rPr>
              <a:t>m</a:t>
            </a:r>
            <a:r>
              <a:rPr lang="en-US" sz="2800" dirty="0">
                <a:latin typeface="+mn-lt"/>
              </a:rPr>
              <a:t> is the minimum number </a:t>
            </a:r>
            <a:r>
              <a:rPr lang="en-US" sz="2800" i="1" dirty="0" err="1">
                <a:latin typeface="+mn-lt"/>
              </a:rPr>
              <a:t>i</a:t>
            </a:r>
            <a:r>
              <a:rPr lang="en-US" sz="2800" dirty="0">
                <a:latin typeface="+mn-lt"/>
              </a:rPr>
              <a:t> of independent or fundamental dimensions (</a:t>
            </a:r>
            <a:r>
              <a:rPr lang="en-US" sz="2800" dirty="0" err="1">
                <a:latin typeface="+mn-lt"/>
              </a:rPr>
              <a:t>eg.</a:t>
            </a:r>
            <a:r>
              <a:rPr lang="en-US" sz="2800" dirty="0">
                <a:latin typeface="+mn-lt"/>
              </a:rPr>
              <a:t>, M, L and t) required to define the dimensions of all the </a:t>
            </a:r>
            <a:r>
              <a:rPr lang="en-US" sz="2800" i="1" dirty="0">
                <a:latin typeface="+mn-lt"/>
              </a:rPr>
              <a:t>n</a:t>
            </a:r>
            <a:r>
              <a:rPr lang="en-US" sz="2800" dirty="0">
                <a:latin typeface="+mn-lt"/>
              </a:rPr>
              <a:t> variables, X</a:t>
            </a:r>
            <a:r>
              <a:rPr lang="en-US" sz="2800" baseline="-25000" dirty="0">
                <a:latin typeface="+mn-lt"/>
              </a:rPr>
              <a:t>1</a:t>
            </a:r>
            <a:r>
              <a:rPr lang="en-US" sz="2800" dirty="0">
                <a:latin typeface="+mn-lt"/>
              </a:rPr>
              <a:t>,X</a:t>
            </a:r>
            <a:r>
              <a:rPr lang="en-US" sz="2800" baseline="-25000" dirty="0">
                <a:latin typeface="+mn-lt"/>
              </a:rPr>
              <a:t>2</a:t>
            </a:r>
            <a:r>
              <a:rPr lang="en-US" sz="2800" dirty="0">
                <a:latin typeface="+mn-lt"/>
              </a:rPr>
              <a:t>,X</a:t>
            </a:r>
            <a:r>
              <a:rPr lang="en-US" sz="2800" baseline="-25000" dirty="0">
                <a:latin typeface="+mn-lt"/>
              </a:rPr>
              <a:t>3</a:t>
            </a:r>
            <a:r>
              <a:rPr lang="en-US" sz="2800" dirty="0">
                <a:latin typeface="+mn-lt"/>
              </a:rPr>
              <a:t>,…</a:t>
            </a:r>
            <a:r>
              <a:rPr lang="en-US" sz="2800" dirty="0" err="1">
                <a:latin typeface="+mn-lt"/>
              </a:rPr>
              <a:t>X</a:t>
            </a:r>
            <a:r>
              <a:rPr lang="en-US" sz="2800" baseline="-25000" dirty="0" err="1">
                <a:latin typeface="+mn-lt"/>
              </a:rPr>
              <a:t>n</a:t>
            </a:r>
            <a:r>
              <a:rPr lang="en-US" sz="2800" dirty="0">
                <a:latin typeface="+mn-lt"/>
              </a:rPr>
              <a:t>.</a:t>
            </a:r>
          </a:p>
        </p:txBody>
      </p:sp>
      <p:sp>
        <p:nvSpPr>
          <p:cNvPr id="2" name="Title 1">
            <a:extLst>
              <a:ext uri="{FF2B5EF4-FFF2-40B4-BE49-F238E27FC236}">
                <a16:creationId xmlns:a16="http://schemas.microsoft.com/office/drawing/2014/main" id="{00DC08E1-78E1-B28F-8611-CF48CE731B49}"/>
              </a:ext>
            </a:extLst>
          </p:cNvPr>
          <p:cNvSpPr>
            <a:spLocks noGrp="1"/>
          </p:cNvSpPr>
          <p:nvPr>
            <p:ph type="title"/>
          </p:nvPr>
        </p:nvSpPr>
        <p:spPr>
          <a:xfrm>
            <a:off x="365760" y="57468"/>
            <a:ext cx="8229600" cy="487362"/>
          </a:xfrm>
        </p:spPr>
        <p:txBody>
          <a:bodyPr>
            <a:normAutofit/>
          </a:bodyPr>
          <a:lstStyle/>
          <a:p>
            <a:r>
              <a:rPr lang="en-US" sz="2800" b="1" dirty="0">
                <a:solidFill>
                  <a:schemeClr val="tx1"/>
                </a:solidFill>
              </a:rPr>
              <a:t>BUCKINGHAM </a:t>
            </a:r>
            <a:r>
              <a:rPr lang="en-US" sz="2800" dirty="0">
                <a:solidFill>
                  <a:schemeClr val="tx1"/>
                </a:solidFill>
              </a:rPr>
              <a:t>Pi</a:t>
            </a:r>
            <a:r>
              <a:rPr lang="en-US" sz="2800" b="1" dirty="0">
                <a:solidFill>
                  <a:schemeClr val="tx1"/>
                </a:solidFill>
              </a:rPr>
              <a:t>-Theorem</a:t>
            </a:r>
            <a:endParaRPr lang="en-US" sz="2800" dirty="0">
              <a:solidFill>
                <a:schemeClr val="tx1"/>
              </a:solidFill>
            </a:endParaRPr>
          </a:p>
        </p:txBody>
      </p:sp>
    </p:spTree>
    <p:extLst>
      <p:ext uri="{BB962C8B-B14F-4D97-AF65-F5344CB8AC3E}">
        <p14:creationId xmlns:p14="http://schemas.microsoft.com/office/powerpoint/2010/main" val="1135185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7210"/>
            <a:ext cx="9144000" cy="5463540"/>
          </a:xfrm>
        </p:spPr>
        <p:txBody>
          <a:bodyPr>
            <a:noAutofit/>
          </a:bodyPr>
          <a:lstStyle/>
          <a:p>
            <a:r>
              <a:rPr lang="en-GB" sz="2600" dirty="0">
                <a:latin typeface="+mn-lt"/>
              </a:rPr>
              <a:t>The purpose of the Buckingham theorem is to reduce the number of original dimensional parameters to a smaller set of dimensionless parameters</a:t>
            </a:r>
            <a:r>
              <a:rPr lang="en-US" sz="2600" dirty="0">
                <a:latin typeface="+mn-lt"/>
              </a:rPr>
              <a:t>.</a:t>
            </a:r>
          </a:p>
          <a:p>
            <a:r>
              <a:rPr lang="en-US" sz="2600" dirty="0">
                <a:latin typeface="+mn-lt"/>
              </a:rPr>
              <a:t>The dimensionality reduction (</a:t>
            </a:r>
            <a:r>
              <a:rPr lang="en-US" sz="2600" i="1" dirty="0">
                <a:latin typeface="+mn-lt"/>
              </a:rPr>
              <a:t>n</a:t>
            </a:r>
            <a:r>
              <a:rPr lang="en-US" sz="2600" dirty="0">
                <a:latin typeface="+mn-lt"/>
              </a:rPr>
              <a:t> - </a:t>
            </a:r>
            <a:r>
              <a:rPr lang="en-US" sz="2600" i="1" dirty="0">
                <a:latin typeface="+mn-lt"/>
              </a:rPr>
              <a:t>m</a:t>
            </a:r>
            <a:r>
              <a:rPr lang="en-US" sz="2600" dirty="0">
                <a:latin typeface="+mn-lt"/>
              </a:rPr>
              <a:t>) is obtained by selecting a set of </a:t>
            </a:r>
            <a:r>
              <a:rPr lang="en-US" sz="2600" i="1" dirty="0">
                <a:latin typeface="+mn-lt"/>
              </a:rPr>
              <a:t>r</a:t>
            </a:r>
            <a:r>
              <a:rPr lang="en-US" sz="2600" dirty="0">
                <a:latin typeface="+mn-lt"/>
              </a:rPr>
              <a:t> repeating parameters, setting </a:t>
            </a:r>
            <a:r>
              <a:rPr lang="en-US" sz="2600" i="1" dirty="0">
                <a:latin typeface="+mn-lt"/>
              </a:rPr>
              <a:t>m</a:t>
            </a:r>
            <a:r>
              <a:rPr lang="en-US" sz="2600" dirty="0">
                <a:latin typeface="+mn-lt"/>
              </a:rPr>
              <a:t> = </a:t>
            </a:r>
            <a:r>
              <a:rPr lang="en-US" sz="2600" i="1" dirty="0">
                <a:latin typeface="+mn-lt"/>
              </a:rPr>
              <a:t>r</a:t>
            </a:r>
            <a:r>
              <a:rPr lang="en-US" sz="2600" dirty="0">
                <a:latin typeface="+mn-lt"/>
              </a:rPr>
              <a:t>, and forming the Pi terms from the remaining variables and various combinations of the repeating variables.</a:t>
            </a:r>
          </a:p>
          <a:p>
            <a:r>
              <a:rPr lang="en-US" sz="2600" dirty="0">
                <a:latin typeface="+mn-lt"/>
              </a:rPr>
              <a:t>But earlier, we said </a:t>
            </a:r>
            <a:r>
              <a:rPr lang="en-US" sz="2600" i="1" dirty="0">
                <a:latin typeface="+mn-lt"/>
              </a:rPr>
              <a:t>m = </a:t>
            </a:r>
            <a:r>
              <a:rPr lang="en-US" sz="2600" i="1" dirty="0" err="1">
                <a:latin typeface="+mn-lt"/>
              </a:rPr>
              <a:t>i</a:t>
            </a:r>
            <a:r>
              <a:rPr lang="en-US" sz="2600" dirty="0">
                <a:latin typeface="+mn-lt"/>
              </a:rPr>
              <a:t>, where </a:t>
            </a:r>
            <a:r>
              <a:rPr lang="en-US" sz="2600" i="1" dirty="0" err="1">
                <a:latin typeface="+mn-lt"/>
              </a:rPr>
              <a:t>i</a:t>
            </a:r>
            <a:r>
              <a:rPr lang="en-US" sz="2600" dirty="0">
                <a:latin typeface="+mn-lt"/>
              </a:rPr>
              <a:t> is the number of independent or fundamental dimensions in the problem. This is because in the majority of dimensionless analysis problems, </a:t>
            </a:r>
            <a:r>
              <a:rPr lang="en-US" sz="2600" i="1" dirty="0">
                <a:latin typeface="+mn-lt"/>
              </a:rPr>
              <a:t>r = </a:t>
            </a:r>
            <a:r>
              <a:rPr lang="en-US" sz="2600" i="1" dirty="0" err="1">
                <a:latin typeface="+mn-lt"/>
              </a:rPr>
              <a:t>i</a:t>
            </a:r>
            <a:r>
              <a:rPr lang="en-US" sz="2600" dirty="0">
                <a:latin typeface="+mn-lt"/>
              </a:rPr>
              <a:t>. However, this is not always true.</a:t>
            </a:r>
          </a:p>
          <a:p>
            <a:r>
              <a:rPr lang="en-US" sz="2600" dirty="0">
                <a:latin typeface="+mn-lt"/>
              </a:rPr>
              <a:t>The rule of setting </a:t>
            </a:r>
            <a:r>
              <a:rPr lang="en-US" sz="2600" i="1" dirty="0">
                <a:latin typeface="+mn-lt"/>
              </a:rPr>
              <a:t>r = </a:t>
            </a:r>
            <a:r>
              <a:rPr lang="en-US" sz="2600" i="1" dirty="0" err="1">
                <a:latin typeface="+mn-lt"/>
              </a:rPr>
              <a:t>i</a:t>
            </a:r>
            <a:r>
              <a:rPr lang="en-US" sz="2600" dirty="0">
                <a:latin typeface="+mn-lt"/>
              </a:rPr>
              <a:t> (or </a:t>
            </a:r>
            <a:r>
              <a:rPr lang="en-US" sz="2600" i="1" dirty="0">
                <a:latin typeface="+mn-lt"/>
              </a:rPr>
              <a:t>m = </a:t>
            </a:r>
            <a:r>
              <a:rPr lang="en-US" sz="2600" i="1" dirty="0" err="1">
                <a:latin typeface="+mn-lt"/>
              </a:rPr>
              <a:t>i</a:t>
            </a:r>
            <a:r>
              <a:rPr lang="en-US" sz="2600" dirty="0">
                <a:latin typeface="+mn-lt"/>
              </a:rPr>
              <a:t>), spectacularly breaks down when different systems of fundamental dimensions yield different values of </a:t>
            </a:r>
            <a:r>
              <a:rPr lang="en-US" sz="2600" i="1" dirty="0" err="1">
                <a:latin typeface="+mn-lt"/>
              </a:rPr>
              <a:t>i</a:t>
            </a:r>
            <a:r>
              <a:rPr lang="en-US" sz="2600" i="1" dirty="0">
                <a:latin typeface="+mn-lt"/>
              </a:rPr>
              <a:t> </a:t>
            </a:r>
            <a:r>
              <a:rPr lang="en-US" sz="2600" dirty="0">
                <a:latin typeface="+mn-lt"/>
              </a:rPr>
              <a:t>(e.g., using </a:t>
            </a:r>
            <a:r>
              <a:rPr lang="en-US" sz="2600" dirty="0" err="1">
                <a:latin typeface="+mn-lt"/>
              </a:rPr>
              <a:t>MLt</a:t>
            </a:r>
            <a:r>
              <a:rPr lang="en-US" sz="2600" dirty="0">
                <a:latin typeface="+mn-lt"/>
              </a:rPr>
              <a:t> or </a:t>
            </a:r>
            <a:r>
              <a:rPr lang="en-US" sz="2600" dirty="0" err="1">
                <a:latin typeface="+mn-lt"/>
              </a:rPr>
              <a:t>FLt</a:t>
            </a:r>
            <a:r>
              <a:rPr lang="en-US" sz="2600" dirty="0">
                <a:latin typeface="+mn-lt"/>
              </a:rPr>
              <a:t> systems).</a:t>
            </a:r>
          </a:p>
        </p:txBody>
      </p:sp>
      <p:sp>
        <p:nvSpPr>
          <p:cNvPr id="2" name="Title 1">
            <a:extLst>
              <a:ext uri="{FF2B5EF4-FFF2-40B4-BE49-F238E27FC236}">
                <a16:creationId xmlns:a16="http://schemas.microsoft.com/office/drawing/2014/main" id="{7C233C69-1019-2174-BCB8-99B056232641}"/>
              </a:ext>
            </a:extLst>
          </p:cNvPr>
          <p:cNvSpPr>
            <a:spLocks noGrp="1"/>
          </p:cNvSpPr>
          <p:nvPr>
            <p:ph type="title"/>
          </p:nvPr>
        </p:nvSpPr>
        <p:spPr>
          <a:xfrm>
            <a:off x="365760" y="34608"/>
            <a:ext cx="8229600" cy="487362"/>
          </a:xfrm>
        </p:spPr>
        <p:txBody>
          <a:bodyPr>
            <a:normAutofit/>
          </a:bodyPr>
          <a:lstStyle/>
          <a:p>
            <a:r>
              <a:rPr lang="en-US" sz="2800" b="1" dirty="0">
                <a:solidFill>
                  <a:schemeClr val="tx1"/>
                </a:solidFill>
              </a:rPr>
              <a:t>How are the </a:t>
            </a:r>
            <a:r>
              <a:rPr lang="el-GR" sz="2800" dirty="0">
                <a:solidFill>
                  <a:schemeClr val="tx1"/>
                </a:solidFill>
                <a:latin typeface="Times New Roman" panose="02020603050405020304" pitchFamily="18" charset="0"/>
                <a:cs typeface="Times New Roman" panose="02020603050405020304" pitchFamily="18" charset="0"/>
              </a:rPr>
              <a:t>Π</a:t>
            </a:r>
            <a:r>
              <a:rPr lang="en-GB" sz="2800" dirty="0">
                <a:solidFill>
                  <a:schemeClr val="tx1"/>
                </a:solidFill>
                <a:latin typeface="Times New Roman" panose="02020603050405020304" pitchFamily="18" charset="0"/>
                <a:cs typeface="Times New Roman" panose="02020603050405020304" pitchFamily="18" charset="0"/>
              </a:rPr>
              <a:t>-</a:t>
            </a:r>
            <a:r>
              <a:rPr lang="en-US" sz="2800" b="1" dirty="0">
                <a:solidFill>
                  <a:schemeClr val="tx1"/>
                </a:solidFill>
              </a:rPr>
              <a:t>Groups Determined?</a:t>
            </a:r>
            <a:endParaRPr lang="en-US" sz="2800" dirty="0">
              <a:solidFill>
                <a:schemeClr val="tx1"/>
              </a:solidFill>
            </a:endParaRPr>
          </a:p>
        </p:txBody>
      </p:sp>
    </p:spTree>
    <p:extLst>
      <p:ext uri="{BB962C8B-B14F-4D97-AF65-F5344CB8AC3E}">
        <p14:creationId xmlns:p14="http://schemas.microsoft.com/office/powerpoint/2010/main" val="3584383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05790"/>
                <a:ext cx="9144000" cy="5234940"/>
              </a:xfrm>
            </p:spPr>
            <p:txBody>
              <a:bodyPr>
                <a:normAutofit/>
              </a:bodyPr>
              <a:lstStyle/>
              <a:p>
                <a:r>
                  <a:rPr lang="en-GB" dirty="0">
                    <a:latin typeface="+mn-lt"/>
                  </a:rPr>
                  <a:t>Consider an example of a flow problem governed by five variables X</a:t>
                </a:r>
                <a:r>
                  <a:rPr lang="en-GB" baseline="-25000" dirty="0">
                    <a:latin typeface="+mn-lt"/>
                  </a:rPr>
                  <a:t>1</a:t>
                </a:r>
                <a:r>
                  <a:rPr lang="en-GB" dirty="0">
                    <a:latin typeface="+mn-lt"/>
                  </a:rPr>
                  <a:t>, X</a:t>
                </a:r>
                <a:r>
                  <a:rPr lang="en-GB" baseline="-25000" dirty="0">
                    <a:latin typeface="+mn-lt"/>
                  </a:rPr>
                  <a:t>2</a:t>
                </a:r>
                <a:r>
                  <a:rPr lang="en-GB" dirty="0">
                    <a:latin typeface="+mn-lt"/>
                  </a:rPr>
                  <a:t>, X</a:t>
                </a:r>
                <a:r>
                  <a:rPr lang="en-GB" baseline="-25000" dirty="0">
                    <a:latin typeface="+mn-lt"/>
                  </a:rPr>
                  <a:t>3</a:t>
                </a:r>
                <a:r>
                  <a:rPr lang="en-GB" dirty="0">
                    <a:latin typeface="+mn-lt"/>
                  </a:rPr>
                  <a:t>, X</a:t>
                </a:r>
                <a:r>
                  <a:rPr lang="en-GB" baseline="-25000" dirty="0">
                    <a:latin typeface="+mn-lt"/>
                  </a:rPr>
                  <a:t>4</a:t>
                </a:r>
                <a:r>
                  <a:rPr lang="en-GB" dirty="0">
                    <a:latin typeface="+mn-lt"/>
                  </a:rPr>
                  <a:t> and X</a:t>
                </a:r>
                <a:r>
                  <a:rPr lang="en-GB" baseline="-25000" dirty="0">
                    <a:latin typeface="+mn-lt"/>
                  </a:rPr>
                  <a:t>5</a:t>
                </a:r>
                <a:r>
                  <a:rPr lang="en-GB" dirty="0">
                    <a:latin typeface="+mn-lt"/>
                  </a:rPr>
                  <a:t>, where </a:t>
                </a:r>
                <a:r>
                  <a:rPr lang="en-US" sz="2400" dirty="0">
                    <a:latin typeface="+mn-lt"/>
                  </a:rPr>
                  <a:t>X</a:t>
                </a:r>
                <a:r>
                  <a:rPr lang="en-US" sz="2400" baseline="-25000" dirty="0">
                    <a:latin typeface="+mn-lt"/>
                  </a:rPr>
                  <a:t>1</a:t>
                </a:r>
                <a:r>
                  <a:rPr lang="en-US" sz="2400" dirty="0">
                    <a:latin typeface="+mn-lt"/>
                  </a:rPr>
                  <a:t>= </a:t>
                </a:r>
                <a:r>
                  <a:rPr lang="en-US" sz="2400" i="1" dirty="0">
                    <a:latin typeface="+mn-lt"/>
                  </a:rPr>
                  <a:t>f</a:t>
                </a:r>
                <a:r>
                  <a:rPr lang="en-US" sz="2400" dirty="0">
                    <a:latin typeface="+mn-lt"/>
                  </a:rPr>
                  <a:t>(X</a:t>
                </a:r>
                <a:r>
                  <a:rPr lang="en-US" sz="2400" baseline="-25000" dirty="0">
                    <a:latin typeface="+mn-lt"/>
                  </a:rPr>
                  <a:t>2</a:t>
                </a:r>
                <a:r>
                  <a:rPr lang="en-US" sz="2400" dirty="0">
                    <a:latin typeface="+mn-lt"/>
                  </a:rPr>
                  <a:t>, X</a:t>
                </a:r>
                <a:r>
                  <a:rPr lang="en-US" sz="2400" baseline="-25000" dirty="0">
                    <a:latin typeface="+mn-lt"/>
                  </a:rPr>
                  <a:t>3</a:t>
                </a:r>
                <a:r>
                  <a:rPr lang="en-US" sz="2400" dirty="0">
                    <a:latin typeface="+mn-lt"/>
                  </a:rPr>
                  <a:t>, X</a:t>
                </a:r>
                <a:r>
                  <a:rPr lang="en-US" sz="2400" baseline="-25000" dirty="0">
                    <a:latin typeface="+mn-lt"/>
                  </a:rPr>
                  <a:t>4</a:t>
                </a:r>
                <a:r>
                  <a:rPr lang="en-US" sz="2400" dirty="0">
                    <a:latin typeface="+mn-lt"/>
                  </a:rPr>
                  <a:t>,</a:t>
                </a:r>
                <a:r>
                  <a:rPr lang="en-US" sz="2400" baseline="-25000" dirty="0">
                    <a:latin typeface="+mn-lt"/>
                  </a:rPr>
                  <a:t> </a:t>
                </a:r>
                <a:r>
                  <a:rPr lang="en-US" sz="2400" dirty="0">
                    <a:latin typeface="+mn-lt"/>
                  </a:rPr>
                  <a:t>X</a:t>
                </a:r>
                <a:r>
                  <a:rPr lang="en-US" sz="2400" baseline="-25000" dirty="0">
                    <a:latin typeface="+mn-lt"/>
                  </a:rPr>
                  <a:t>5</a:t>
                </a:r>
                <a:r>
                  <a:rPr lang="en-US" sz="2400" dirty="0">
                    <a:latin typeface="+mn-lt"/>
                  </a:rPr>
                  <a:t>)</a:t>
                </a:r>
                <a:r>
                  <a:rPr lang="en-GB" dirty="0">
                    <a:latin typeface="+mn-lt"/>
                  </a:rPr>
                  <a:t>.</a:t>
                </a:r>
                <a:endParaRPr lang="en-US" dirty="0">
                  <a:latin typeface="+mn-lt"/>
                </a:endParaRPr>
              </a:p>
              <a:p>
                <a:r>
                  <a:rPr lang="en-US" dirty="0">
                    <a:latin typeface="+mn-lt"/>
                  </a:rPr>
                  <a:t>Assume the fundamental dimensions are M. L and t. Then </a:t>
                </a:r>
                <a:r>
                  <a:rPr lang="en-US" i="1" dirty="0">
                    <a:latin typeface="+mn-lt"/>
                  </a:rPr>
                  <a:t>r</a:t>
                </a:r>
                <a:r>
                  <a:rPr lang="en-US" dirty="0">
                    <a:latin typeface="+mn-lt"/>
                  </a:rPr>
                  <a:t> = </a:t>
                </a:r>
                <a:r>
                  <a:rPr lang="en-US" i="1" dirty="0" err="1">
                    <a:latin typeface="+mn-lt"/>
                  </a:rPr>
                  <a:t>i</a:t>
                </a:r>
                <a:r>
                  <a:rPr lang="en-US" dirty="0">
                    <a:latin typeface="+mn-lt"/>
                  </a:rPr>
                  <a:t> = 3.</a:t>
                </a:r>
              </a:p>
              <a:p>
                <a:r>
                  <a:rPr lang="en-US" dirty="0">
                    <a:latin typeface="+mn-lt"/>
                  </a:rPr>
                  <a:t>Setting m = r = 3, three repeating parameters are required in constructing the Pi groups. Let X</a:t>
                </a:r>
                <a:r>
                  <a:rPr lang="en-US" baseline="-25000" dirty="0">
                    <a:latin typeface="+mn-lt"/>
                  </a:rPr>
                  <a:t>2</a:t>
                </a:r>
                <a:r>
                  <a:rPr lang="en-US" dirty="0">
                    <a:latin typeface="+mn-lt"/>
                  </a:rPr>
                  <a:t>, X</a:t>
                </a:r>
                <a:r>
                  <a:rPr lang="en-US" baseline="-25000" dirty="0">
                    <a:latin typeface="+mn-lt"/>
                  </a:rPr>
                  <a:t>3</a:t>
                </a:r>
                <a:r>
                  <a:rPr lang="en-US" dirty="0">
                    <a:latin typeface="+mn-lt"/>
                  </a:rPr>
                  <a:t>, and X</a:t>
                </a:r>
                <a:r>
                  <a:rPr lang="en-US" baseline="-25000" dirty="0">
                    <a:latin typeface="+mn-lt"/>
                  </a:rPr>
                  <a:t>4</a:t>
                </a:r>
                <a:r>
                  <a:rPr lang="en-US" dirty="0">
                    <a:latin typeface="+mn-lt"/>
                  </a:rPr>
                  <a:t>, for example, be the repeating variables. </a:t>
                </a:r>
              </a:p>
              <a:p>
                <a:r>
                  <a:rPr lang="en-US" dirty="0">
                    <a:latin typeface="+mn-lt"/>
                  </a:rPr>
                  <a:t>The number of </a:t>
                </a:r>
                <a:r>
                  <a:rPr lang="el-GR" dirty="0">
                    <a:latin typeface="Times New Roman" panose="02020603050405020304" pitchFamily="18" charset="0"/>
                    <a:cs typeface="Times New Roman" panose="02020603050405020304" pitchFamily="18" charset="0"/>
                  </a:rPr>
                  <a:t>Π</a:t>
                </a:r>
                <a:r>
                  <a:rPr lang="en-GB" dirty="0">
                    <a:latin typeface="Times New Roman" panose="02020603050405020304" pitchFamily="18" charset="0"/>
                    <a:cs typeface="Times New Roman" panose="02020603050405020304" pitchFamily="18" charset="0"/>
                  </a:rPr>
                  <a:t> groups required will be (</a:t>
                </a:r>
                <a:r>
                  <a:rPr lang="en-GB" i="1" dirty="0">
                    <a:latin typeface="Times New Roman" panose="02020603050405020304" pitchFamily="18" charset="0"/>
                    <a:cs typeface="Times New Roman" panose="02020603050405020304" pitchFamily="18" charset="0"/>
                  </a:rPr>
                  <a:t>n</a:t>
                </a:r>
                <a:r>
                  <a:rPr lang="en-GB" dirty="0">
                    <a:latin typeface="Times New Roman" panose="02020603050405020304" pitchFamily="18" charset="0"/>
                    <a:cs typeface="Times New Roman" panose="02020603050405020304" pitchFamily="18" charset="0"/>
                  </a:rPr>
                  <a:t> – </a:t>
                </a:r>
                <a:r>
                  <a:rPr lang="en-GB" i="1" dirty="0">
                    <a:latin typeface="Times New Roman" panose="02020603050405020304" pitchFamily="18" charset="0"/>
                    <a:cs typeface="Times New Roman" panose="02020603050405020304" pitchFamily="18" charset="0"/>
                  </a:rPr>
                  <a:t>m</a:t>
                </a:r>
                <a:r>
                  <a:rPr lang="en-GB" dirty="0">
                    <a:latin typeface="Times New Roman" panose="02020603050405020304" pitchFamily="18" charset="0"/>
                    <a:cs typeface="Times New Roman" panose="02020603050405020304" pitchFamily="18" charset="0"/>
                  </a:rPr>
                  <a:t>) = 5 – 3 = 2. The terms are formed as follows</a:t>
                </a:r>
                <a:endParaRPr lang="en-US" dirty="0">
                  <a:latin typeface="+mn-lt"/>
                </a:endParaRPr>
              </a:p>
              <a:p>
                <a:pPr marL="0" marR="0">
                  <a:lnSpc>
                    <a:spcPct val="150000"/>
                  </a:lnSpc>
                  <a:spcBef>
                    <a:spcPts val="0"/>
                  </a:spcBef>
                  <a:spcAft>
                    <a:spcPts val="0"/>
                  </a:spcAft>
                </a:pPr>
                <a:r>
                  <a:rPr lang="el-GR" dirty="0">
                    <a:latin typeface="Times New Roman" panose="02020603050405020304" pitchFamily="18" charset="0"/>
                    <a:cs typeface="Times New Roman" panose="02020603050405020304" pitchFamily="18" charset="0"/>
                  </a:rPr>
                  <a:t>Π</a:t>
                </a:r>
                <a:r>
                  <a:rPr lang="en-US" baseline="-25000" dirty="0">
                    <a:latin typeface="+mn-lt"/>
                  </a:rPr>
                  <a:t>1</a:t>
                </a:r>
                <a:r>
                  <a:rPr lang="en-US" dirty="0">
                    <a:latin typeface="+mn-lt"/>
                  </a:rPr>
                  <a:t>=</a:t>
                </a:r>
                <a14:m>
                  <m:oMath xmlns:m="http://schemas.openxmlformats.org/officeDocument/2006/math">
                    <m:sSup>
                      <m:sSupPr>
                        <m:ctrlPr>
                          <a:rPr lang="en-US" i="1">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2</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𝑎</m:t>
                            </m:r>
                          </m:e>
                          <m:sub>
                            <m:r>
                              <a:rPr lang="en-US" i="1">
                                <a:effectLst/>
                                <a:latin typeface="Cambria Math" panose="02040503050406030204" pitchFamily="18" charset="0"/>
                                <a:ea typeface="Times New Roman" panose="02020603050405020304" pitchFamily="18" charset="0"/>
                              </a:rPr>
                              <m:t>1</m:t>
                            </m:r>
                          </m:sub>
                        </m:sSub>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3</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𝑏</m:t>
                            </m:r>
                          </m:e>
                          <m:sub>
                            <m:r>
                              <a:rPr lang="en-US" i="1">
                                <a:effectLst/>
                                <a:latin typeface="Cambria Math" panose="02040503050406030204" pitchFamily="18" charset="0"/>
                                <a:ea typeface="Times New Roman" panose="02020603050405020304" pitchFamily="18" charset="0"/>
                              </a:rPr>
                              <m:t>1</m:t>
                            </m:r>
                          </m:sub>
                        </m:sSub>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4</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𝑐</m:t>
                            </m:r>
                          </m:e>
                          <m:sub>
                            <m:r>
                              <a:rPr lang="en-US" i="1">
                                <a:effectLst/>
                                <a:latin typeface="Cambria Math" panose="02040503050406030204" pitchFamily="18" charset="0"/>
                                <a:ea typeface="Times New Roman" panose="02020603050405020304" pitchFamily="18" charset="0"/>
                              </a:rPr>
                              <m:t>1</m:t>
                            </m:r>
                          </m:sub>
                        </m:sSub>
                      </m:sup>
                    </m:sSup>
                    <m:r>
                      <a:rPr lang="en-US" i="1">
                        <a:effectLst/>
                        <a:latin typeface="Cambria Math" panose="02040503050406030204" pitchFamily="18" charset="0"/>
                        <a:ea typeface="Times New Roman" panose="02020603050405020304" pitchFamily="18" charset="0"/>
                      </a:rPr>
                      <m:t>.</m:t>
                    </m:r>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1</m:t>
                        </m:r>
                      </m:sub>
                    </m:sSub>
                  </m:oMath>
                </a14:m>
                <a:r>
                  <a:rPr lang="en-US" dirty="0">
                    <a:effectLst/>
                    <a:latin typeface="+mn-lt"/>
                    <a:ea typeface="Times New Roman" panose="02020603050405020304" pitchFamily="18" charset="0"/>
                  </a:rPr>
                  <a:t> </a:t>
                </a:r>
              </a:p>
              <a:p>
                <a:pPr marL="0" marR="0">
                  <a:lnSpc>
                    <a:spcPct val="150000"/>
                  </a:lnSpc>
                  <a:spcBef>
                    <a:spcPts val="0"/>
                  </a:spcBef>
                  <a:spcAft>
                    <a:spcPts val="0"/>
                  </a:spcAft>
                </a:pPr>
                <a14:m>
                  <m:oMath xmlns:m="http://schemas.openxmlformats.org/officeDocument/2006/math">
                    <m:sSub>
                      <m:sSubPr>
                        <m:ctrlPr>
                          <a:rPr lang="en-US" i="1">
                            <a:effectLst/>
                            <a:latin typeface="Cambria Math" panose="02040503050406030204" pitchFamily="18" charset="0"/>
                            <a:ea typeface="Times New Roman" panose="02020603050405020304" pitchFamily="18" charset="0"/>
                          </a:rPr>
                        </m:ctrlPr>
                      </m:sSubPr>
                      <m:e>
                        <m:r>
                          <m:rPr>
                            <m:nor/>
                          </m:rPr>
                          <a:rPr lang="el-GR" dirty="0">
                            <a:latin typeface="Times New Roman" panose="02020603050405020304" pitchFamily="18" charset="0"/>
                            <a:cs typeface="Times New Roman" panose="02020603050405020304" pitchFamily="18" charset="0"/>
                          </a:rPr>
                          <m:t>Π</m:t>
                        </m:r>
                      </m:e>
                      <m:sub>
                        <m:r>
                          <a:rPr lang="en-US" i="1">
                            <a:effectLst/>
                            <a:latin typeface="Cambria Math" panose="02040503050406030204" pitchFamily="18" charset="0"/>
                            <a:ea typeface="Times New Roman" panose="02020603050405020304" pitchFamily="18" charset="0"/>
                          </a:rPr>
                          <m:t>2</m:t>
                        </m:r>
                      </m:sub>
                    </m:sSub>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2</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𝑎</m:t>
                            </m:r>
                          </m:e>
                          <m:sub>
                            <m:r>
                              <a:rPr lang="en-US" i="1">
                                <a:effectLst/>
                                <a:latin typeface="Cambria Math" panose="02040503050406030204" pitchFamily="18" charset="0"/>
                                <a:ea typeface="Times New Roman" panose="02020603050405020304" pitchFamily="18" charset="0"/>
                              </a:rPr>
                              <m:t>2</m:t>
                            </m:r>
                          </m:sub>
                        </m:sSub>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3</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𝑏</m:t>
                            </m:r>
                          </m:e>
                          <m:sub>
                            <m:r>
                              <a:rPr lang="en-US" i="1">
                                <a:effectLst/>
                                <a:latin typeface="Cambria Math" panose="02040503050406030204" pitchFamily="18" charset="0"/>
                                <a:ea typeface="Times New Roman" panose="02020603050405020304" pitchFamily="18" charset="0"/>
                              </a:rPr>
                              <m:t>2</m:t>
                            </m:r>
                          </m:sub>
                        </m:sSub>
                      </m:sup>
                    </m:sSup>
                    <m:r>
                      <a:rPr lang="en-US" i="1">
                        <a:effectLst/>
                        <a:latin typeface="Cambria Math" panose="02040503050406030204" pitchFamily="18" charset="0"/>
                        <a:ea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rPr>
                        </m:ctrlPr>
                      </m:sSupPr>
                      <m:e>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4</m:t>
                            </m:r>
                          </m:sub>
                        </m:sSub>
                      </m:e>
                      <m:sup>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𝑐</m:t>
                            </m:r>
                          </m:e>
                          <m:sub>
                            <m:r>
                              <a:rPr lang="en-US" i="1">
                                <a:effectLst/>
                                <a:latin typeface="Cambria Math" panose="02040503050406030204" pitchFamily="18" charset="0"/>
                                <a:ea typeface="Times New Roman" panose="02020603050405020304" pitchFamily="18" charset="0"/>
                              </a:rPr>
                              <m:t>2</m:t>
                            </m:r>
                          </m:sub>
                        </m:sSub>
                      </m:sup>
                    </m:sSup>
                    <m:r>
                      <a:rPr lang="en-US" i="1">
                        <a:effectLst/>
                        <a:latin typeface="Cambria Math" panose="02040503050406030204" pitchFamily="18" charset="0"/>
                        <a:ea typeface="Times New Roman" panose="02020603050405020304" pitchFamily="18" charset="0"/>
                      </a:rPr>
                      <m:t>.</m:t>
                    </m:r>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𝑋</m:t>
                        </m:r>
                      </m:e>
                      <m:sub>
                        <m:r>
                          <a:rPr lang="en-US" i="1">
                            <a:effectLst/>
                            <a:latin typeface="Cambria Math" panose="02040503050406030204" pitchFamily="18" charset="0"/>
                            <a:ea typeface="Times New Roman" panose="02020603050405020304" pitchFamily="18" charset="0"/>
                          </a:rPr>
                          <m:t>5</m:t>
                        </m:r>
                      </m:sub>
                    </m:sSub>
                  </m:oMath>
                </a14:m>
                <a:r>
                  <a:rPr lang="en-US" dirty="0">
                    <a:effectLst/>
                    <a:latin typeface="+mn-lt"/>
                    <a:ea typeface="Times New Roman" panose="02020603050405020304" pitchFamily="18" charset="0"/>
                  </a:rPr>
                  <a:t> </a:t>
                </a:r>
                <a:endParaRPr lang="en-US" dirty="0">
                  <a:latin typeface="+mn-lt"/>
                </a:endParaRPr>
              </a:p>
              <a:p>
                <a:r>
                  <a:rPr lang="en-US" dirty="0">
                    <a:latin typeface="+mn-lt"/>
                  </a:rPr>
                  <a:t>Each equation is solved by the principle of dimensional homogeneity and the values of the exponents are obtained.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05790"/>
                <a:ext cx="9144000" cy="5234940"/>
              </a:xfrm>
              <a:blipFill>
                <a:blip r:embed="rId3"/>
                <a:stretch>
                  <a:fillRect l="-867" t="-1630"/>
                </a:stretch>
              </a:blipFill>
            </p:spPr>
            <p:txBody>
              <a:bodyPr/>
              <a:lstStyle/>
              <a:p>
                <a:r>
                  <a:rPr lang="en-GH">
                    <a:noFill/>
                  </a:rPr>
                  <a:t> </a:t>
                </a:r>
              </a:p>
            </p:txBody>
          </p:sp>
        </mc:Fallback>
      </mc:AlternateContent>
      <p:sp>
        <p:nvSpPr>
          <p:cNvPr id="2" name="Title 1">
            <a:extLst>
              <a:ext uri="{FF2B5EF4-FFF2-40B4-BE49-F238E27FC236}">
                <a16:creationId xmlns:a16="http://schemas.microsoft.com/office/drawing/2014/main" id="{7C233C69-1019-2174-BCB8-99B056232641}"/>
              </a:ext>
            </a:extLst>
          </p:cNvPr>
          <p:cNvSpPr>
            <a:spLocks noGrp="1"/>
          </p:cNvSpPr>
          <p:nvPr>
            <p:ph type="title"/>
          </p:nvPr>
        </p:nvSpPr>
        <p:spPr>
          <a:xfrm>
            <a:off x="365760" y="34608"/>
            <a:ext cx="8229600" cy="487362"/>
          </a:xfrm>
        </p:spPr>
        <p:txBody>
          <a:bodyPr>
            <a:normAutofit/>
          </a:bodyPr>
          <a:lstStyle/>
          <a:p>
            <a:r>
              <a:rPr lang="en-US" sz="2800" b="1" dirty="0">
                <a:solidFill>
                  <a:schemeClr val="tx1"/>
                </a:solidFill>
              </a:rPr>
              <a:t>How are the </a:t>
            </a:r>
            <a:r>
              <a:rPr lang="el-GR" sz="2800" dirty="0">
                <a:solidFill>
                  <a:schemeClr val="tx1"/>
                </a:solidFill>
                <a:latin typeface="Times New Roman" panose="02020603050405020304" pitchFamily="18" charset="0"/>
                <a:cs typeface="Times New Roman" panose="02020603050405020304" pitchFamily="18" charset="0"/>
              </a:rPr>
              <a:t>Π</a:t>
            </a:r>
            <a:r>
              <a:rPr lang="en-GB" sz="2800" dirty="0">
                <a:solidFill>
                  <a:schemeClr val="tx1"/>
                </a:solidFill>
                <a:latin typeface="Times New Roman" panose="02020603050405020304" pitchFamily="18" charset="0"/>
                <a:cs typeface="Times New Roman" panose="02020603050405020304" pitchFamily="18" charset="0"/>
              </a:rPr>
              <a:t>-</a:t>
            </a:r>
            <a:r>
              <a:rPr lang="en-US" sz="2800" b="1" dirty="0">
                <a:solidFill>
                  <a:schemeClr val="tx1"/>
                </a:solidFill>
              </a:rPr>
              <a:t>Groups Determined?</a:t>
            </a:r>
            <a:endParaRPr lang="en-US" sz="2800" dirty="0">
              <a:solidFill>
                <a:schemeClr val="tx1"/>
              </a:solidFill>
            </a:endParaRPr>
          </a:p>
        </p:txBody>
      </p:sp>
    </p:spTree>
    <p:extLst>
      <p:ext uri="{BB962C8B-B14F-4D97-AF65-F5344CB8AC3E}">
        <p14:creationId xmlns:p14="http://schemas.microsoft.com/office/powerpoint/2010/main" val="1488104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57" y="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Application of the Pi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965"/>
                <a:ext cx="9144000" cy="4931901"/>
              </a:xfrm>
            </p:spPr>
            <p:txBody>
              <a:bodyPr>
                <a:normAutofit fontScale="92500" lnSpcReduction="20000"/>
              </a:bodyPr>
              <a:lstStyle/>
              <a:p>
                <a:pPr marL="0" indent="0" algn="just">
                  <a:lnSpc>
                    <a:spcPct val="100000"/>
                  </a:lnSpc>
                  <a:spcAft>
                    <a:spcPts val="1200"/>
                  </a:spcAft>
                  <a:buNone/>
                </a:pPr>
                <a:r>
                  <a:rPr lang="en-CA" dirty="0">
                    <a:solidFill>
                      <a:schemeClr val="tx1"/>
                    </a:solidFill>
                  </a:rPr>
                  <a:t>Step-by-step method to determine dimensionless Pi groups</a:t>
                </a:r>
              </a:p>
              <a:p>
                <a:pPr marL="0" indent="0" algn="just">
                  <a:lnSpc>
                    <a:spcPct val="100000"/>
                  </a:lnSpc>
                  <a:spcAft>
                    <a:spcPts val="1200"/>
                  </a:spcAft>
                  <a:buNone/>
                </a:pPr>
                <a:r>
                  <a:rPr lang="en-CA" dirty="0">
                    <a:solidFill>
                      <a:schemeClr val="tx1"/>
                    </a:solidFill>
                    <a:latin typeface="+mn-lt"/>
                  </a:rPr>
                  <a:t>Let consider the problem of the drag force, </a:t>
                </a:r>
                <a14:m>
                  <m:oMath xmlns:m="http://schemas.openxmlformats.org/officeDocument/2006/math">
                    <m:r>
                      <a:rPr lang="en-CA" b="0" i="1" dirty="0" smtClean="0">
                        <a:solidFill>
                          <a:schemeClr val="tx1"/>
                        </a:solidFill>
                        <a:latin typeface="Cambria Math" panose="02040503050406030204" pitchFamily="18" charset="0"/>
                      </a:rPr>
                      <m:t>𝐹</m:t>
                    </m:r>
                  </m:oMath>
                </a14:m>
                <a:r>
                  <a:rPr lang="en-CA" dirty="0">
                    <a:solidFill>
                      <a:schemeClr val="tx1"/>
                    </a:solidFill>
                    <a:latin typeface="+mn-lt"/>
                  </a:rPr>
                  <a:t> on a sphere to illustrate the step-by-step method of determining the</a:t>
                </a:r>
                <a14:m>
                  <m:oMath xmlns:m="http://schemas.openxmlformats.org/officeDocument/2006/math">
                    <m:r>
                      <a:rPr lang="en-CA" b="0" i="0" smtClean="0">
                        <a:solidFill>
                          <a:schemeClr val="tx1"/>
                        </a:solidFill>
                        <a:latin typeface="Cambria Math" panose="02040503050406030204" pitchFamily="18" charset="0"/>
                        <a:ea typeface="Cambria Math" panose="02040503050406030204" pitchFamily="18" charset="0"/>
                      </a:rPr>
                      <m:t>  </m:t>
                    </m:r>
                    <m:r>
                      <a:rPr lang="el-GR" b="0" i="1" smtClean="0">
                        <a:solidFill>
                          <a:schemeClr val="tx1"/>
                        </a:solidFill>
                        <a:latin typeface="Cambria Math" panose="02040503050406030204" pitchFamily="18" charset="0"/>
                        <a:ea typeface="Cambria Math" panose="02040503050406030204" pitchFamily="18" charset="0"/>
                      </a:rPr>
                      <m:t>𝛱</m:t>
                    </m:r>
                  </m:oMath>
                </a14:m>
                <a:r>
                  <a:rPr lang="en-CA" dirty="0">
                    <a:solidFill>
                      <a:schemeClr val="tx1"/>
                    </a:solidFill>
                    <a:latin typeface="+mn-lt"/>
                  </a:rPr>
                  <a:t>– parameters of a given problem.  </a:t>
                </a:r>
              </a:p>
              <a:p>
                <a:pPr marL="0" indent="0" algn="just">
                  <a:lnSpc>
                    <a:spcPct val="100000"/>
                  </a:lnSpc>
                  <a:spcAft>
                    <a:spcPts val="1200"/>
                  </a:spcAft>
                  <a:buNone/>
                </a:pPr>
                <a:r>
                  <a:rPr lang="en-CA" b="1" dirty="0">
                    <a:solidFill>
                      <a:schemeClr val="tx1"/>
                    </a:solidFill>
                    <a:latin typeface="+mn-lt"/>
                  </a:rPr>
                  <a:t>Step 1</a:t>
                </a:r>
                <a:r>
                  <a:rPr lang="en-CA" dirty="0">
                    <a:solidFill>
                      <a:schemeClr val="tx1"/>
                    </a:solidFill>
                    <a:latin typeface="+mn-lt"/>
                  </a:rPr>
                  <a:t>: List all the dimensional parameters involved</a:t>
                </a:r>
              </a:p>
              <a:p>
                <a:pPr marL="0" indent="0" algn="just">
                  <a:lnSpc>
                    <a:spcPct val="100000"/>
                  </a:lnSpc>
                  <a:spcAft>
                    <a:spcPts val="1200"/>
                  </a:spcAft>
                  <a:buNone/>
                </a:pPr>
                <a:r>
                  <a:rPr lang="en-CA" dirty="0">
                    <a:solidFill>
                      <a:schemeClr val="tx1"/>
                    </a:solidFill>
                    <a:latin typeface="+mn-lt"/>
                  </a:rPr>
                  <a:t>	Let </a:t>
                </a:r>
                <a14:m>
                  <m:oMath xmlns:m="http://schemas.openxmlformats.org/officeDocument/2006/math">
                    <m:r>
                      <a:rPr lang="en-CA" b="0" i="1" dirty="0" smtClean="0">
                        <a:solidFill>
                          <a:schemeClr val="tx1"/>
                        </a:solidFill>
                        <a:latin typeface="Cambria Math" panose="02040503050406030204" pitchFamily="18" charset="0"/>
                      </a:rPr>
                      <m:t>𝑛</m:t>
                    </m:r>
                  </m:oMath>
                </a14:m>
                <a:r>
                  <a:rPr lang="en-CA" dirty="0">
                    <a:solidFill>
                      <a:schemeClr val="tx1"/>
                    </a:solidFill>
                    <a:latin typeface="+mn-lt"/>
                  </a:rPr>
                  <a:t> be the number of parameters</a:t>
                </a:r>
              </a:p>
              <a:p>
                <a:pPr marL="0" indent="0" algn="just">
                  <a:lnSpc>
                    <a:spcPct val="100000"/>
                  </a:lnSpc>
                  <a:spcAft>
                    <a:spcPts val="1200"/>
                  </a:spcAft>
                  <a:buNone/>
                </a:pPr>
                <a:r>
                  <a:rPr lang="en-CA" dirty="0">
                    <a:solidFill>
                      <a:schemeClr val="tx1"/>
                    </a:solidFill>
                    <a:latin typeface="+mn-lt"/>
                  </a:rPr>
                  <a:t>	For drag on a sphere: </a:t>
                </a:r>
                <a14:m>
                  <m:oMath xmlns:m="http://schemas.openxmlformats.org/officeDocument/2006/math">
                    <m:r>
                      <a:rPr lang="en-CA" b="0" i="1" dirty="0" smtClean="0">
                        <a:solidFill>
                          <a:schemeClr val="tx1"/>
                        </a:solidFill>
                        <a:latin typeface="Cambria Math" panose="02040503050406030204" pitchFamily="18" charset="0"/>
                      </a:rPr>
                      <m:t>𝐹</m:t>
                    </m:r>
                    <m:r>
                      <a:rPr lang="en-CA" b="0" i="0" dirty="0" smtClean="0">
                        <a:solidFill>
                          <a:schemeClr val="tx1"/>
                        </a:solidFill>
                        <a:latin typeface="Cambria Math" panose="02040503050406030204" pitchFamily="18" charset="0"/>
                      </a:rPr>
                      <m:t>, </m:t>
                    </m:r>
                    <m:r>
                      <a:rPr lang="en-CA" b="0" i="1" dirty="0" smtClean="0">
                        <a:solidFill>
                          <a:schemeClr val="tx1"/>
                        </a:solidFill>
                        <a:latin typeface="Cambria Math" panose="02040503050406030204" pitchFamily="18" charset="0"/>
                      </a:rPr>
                      <m:t>𝑉</m:t>
                    </m:r>
                    <m:r>
                      <a:rPr lang="en-CA" b="0" i="1" dirty="0" smtClean="0">
                        <a:solidFill>
                          <a:schemeClr val="tx1"/>
                        </a:solidFill>
                        <a:latin typeface="Cambria Math" panose="02040503050406030204" pitchFamily="18" charset="0"/>
                      </a:rPr>
                      <m:t>, </m:t>
                    </m:r>
                    <m:r>
                      <a:rPr lang="en-CA" b="0" i="1" dirty="0" smtClean="0">
                        <a:solidFill>
                          <a:schemeClr val="tx1"/>
                        </a:solidFill>
                        <a:latin typeface="Cambria Math" panose="02040503050406030204" pitchFamily="18" charset="0"/>
                      </a:rPr>
                      <m:t>𝐷</m:t>
                    </m:r>
                    <m:r>
                      <a:rPr lang="en-CA" b="0" i="1" dirty="0"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𝜇</m:t>
                    </m:r>
                  </m:oMath>
                </a14:m>
                <a:r>
                  <a:rPr lang="en-CA" dirty="0">
                    <a:solidFill>
                      <a:schemeClr val="tx1"/>
                    </a:solidFill>
                    <a:latin typeface="+mn-lt"/>
                  </a:rPr>
                  <a:t>  </a:t>
                </a:r>
                <a:r>
                  <a:rPr lang="en-CA" dirty="0">
                    <a:solidFill>
                      <a:schemeClr val="tx1"/>
                    </a:solidFill>
                    <a:latin typeface="+mn-lt"/>
                    <a:sym typeface="Symbol" panose="05050102010706020507" pitchFamily="18" charset="2"/>
                  </a:rPr>
                  <a:t> </a:t>
                </a:r>
                <a14:m>
                  <m:oMath xmlns:m="http://schemas.openxmlformats.org/officeDocument/2006/math">
                    <m:r>
                      <a:rPr lang="en-CA" b="0" i="0" dirty="0" smtClean="0">
                        <a:solidFill>
                          <a:schemeClr val="tx1"/>
                        </a:solidFill>
                        <a:latin typeface="Cambria Math" panose="02040503050406030204" pitchFamily="18" charset="0"/>
                      </a:rPr>
                      <m:t> </m:t>
                    </m:r>
                    <m:r>
                      <a:rPr lang="en-CA" b="0" i="1" dirty="0" smtClean="0">
                        <a:solidFill>
                          <a:schemeClr val="tx1"/>
                        </a:solidFill>
                        <a:latin typeface="Cambria Math" panose="02040503050406030204" pitchFamily="18" charset="0"/>
                      </a:rPr>
                      <m:t>𝑛</m:t>
                    </m:r>
                    <m:r>
                      <a:rPr lang="en-CA" b="0" i="1" dirty="0" smtClean="0">
                        <a:solidFill>
                          <a:schemeClr val="tx1"/>
                        </a:solidFill>
                        <a:latin typeface="Cambria Math" panose="02040503050406030204" pitchFamily="18" charset="0"/>
                      </a:rPr>
                      <m:t> = 5</m:t>
                    </m:r>
                  </m:oMath>
                </a14:m>
                <a:endParaRPr lang="en-CA" dirty="0">
                  <a:solidFill>
                    <a:schemeClr val="tx1"/>
                  </a:solidFill>
                  <a:latin typeface="+mn-lt"/>
                </a:endParaRPr>
              </a:p>
              <a:p>
                <a:pPr marL="0" indent="0" algn="just">
                  <a:lnSpc>
                    <a:spcPct val="100000"/>
                  </a:lnSpc>
                  <a:spcAft>
                    <a:spcPts val="1200"/>
                  </a:spcAft>
                  <a:buNone/>
                </a:pPr>
                <a:endParaRPr lang="en-CA" dirty="0">
                  <a:solidFill>
                    <a:schemeClr val="tx1"/>
                  </a:solidFill>
                  <a:latin typeface="+mn-lt"/>
                </a:endParaRPr>
              </a:p>
              <a:p>
                <a:pPr marL="0" indent="0" algn="just">
                  <a:lnSpc>
                    <a:spcPct val="100000"/>
                  </a:lnSpc>
                  <a:spcBef>
                    <a:spcPts val="1800"/>
                  </a:spcBef>
                  <a:spcAft>
                    <a:spcPts val="1200"/>
                  </a:spcAft>
                  <a:buNone/>
                </a:pPr>
                <a:r>
                  <a:rPr lang="en-CA" b="1" dirty="0">
                    <a:solidFill>
                      <a:schemeClr val="tx1"/>
                    </a:solidFill>
                    <a:latin typeface="+mn-lt"/>
                  </a:rPr>
                  <a:t>Step 2</a:t>
                </a:r>
                <a:r>
                  <a:rPr lang="en-CA" dirty="0">
                    <a:solidFill>
                      <a:schemeClr val="tx1"/>
                    </a:solidFill>
                    <a:latin typeface="+mn-lt"/>
                  </a:rPr>
                  <a:t>: Select a set of fundamental (primary) dimensions</a:t>
                </a:r>
              </a:p>
              <a:p>
                <a:pPr marL="0" indent="0" algn="just">
                  <a:lnSpc>
                    <a:spcPct val="100000"/>
                  </a:lnSpc>
                  <a:spcAft>
                    <a:spcPts val="1200"/>
                  </a:spcAft>
                  <a:buNone/>
                </a:pPr>
                <a:r>
                  <a:rPr lang="en-CA" dirty="0">
                    <a:solidFill>
                      <a:schemeClr val="tx1"/>
                    </a:solidFill>
                    <a:latin typeface="+mn-lt"/>
                  </a:rPr>
                  <a:t>	For example </a:t>
                </a:r>
                <a14:m>
                  <m:oMath xmlns:m="http://schemas.openxmlformats.org/officeDocument/2006/math">
                    <m:r>
                      <a:rPr lang="en-CA" b="0" i="1" u="sng" dirty="0" smtClean="0">
                        <a:solidFill>
                          <a:schemeClr val="tx1"/>
                        </a:solidFill>
                        <a:latin typeface="Cambria Math" panose="02040503050406030204" pitchFamily="18" charset="0"/>
                      </a:rPr>
                      <m:t>𝑀𝐿𝑡</m:t>
                    </m:r>
                  </m:oMath>
                </a14:m>
                <a:r>
                  <a:rPr lang="en-CA" dirty="0">
                    <a:solidFill>
                      <a:schemeClr val="tx1"/>
                    </a:solidFill>
                    <a:latin typeface="+mn-lt"/>
                  </a:rPr>
                  <a:t> or </a:t>
                </a:r>
                <a14:m>
                  <m:oMath xmlns:m="http://schemas.openxmlformats.org/officeDocument/2006/math">
                    <m:r>
                      <a:rPr lang="en-CA" b="0" i="1" dirty="0" smtClean="0">
                        <a:solidFill>
                          <a:schemeClr val="tx1"/>
                        </a:solidFill>
                        <a:latin typeface="Cambria Math" panose="02040503050406030204" pitchFamily="18" charset="0"/>
                      </a:rPr>
                      <m:t>𝐹𝐿𝑡</m:t>
                    </m:r>
                  </m:oMath>
                </a14:m>
                <a:endParaRPr lang="en-CA" dirty="0">
                  <a:solidFill>
                    <a:schemeClr val="tx1"/>
                  </a:solidFill>
                  <a:latin typeface="+mn-lt"/>
                </a:endParaRPr>
              </a:p>
              <a:p>
                <a:pPr marL="0" indent="0" algn="just">
                  <a:lnSpc>
                    <a:spcPct val="100000"/>
                  </a:lnSpc>
                  <a:spcAft>
                    <a:spcPts val="1200"/>
                  </a:spcAft>
                  <a:buNone/>
                </a:pPr>
                <a:endParaRPr lang="en-CA" sz="2200" dirty="0">
                  <a:solidFill>
                    <a:srgbClr val="FF0000"/>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965"/>
                <a:ext cx="9144000" cy="4931901"/>
              </a:xfrm>
              <a:blipFill>
                <a:blip r:embed="rId3"/>
                <a:stretch>
                  <a:fillRect l="-867" t="-2101" r="-867"/>
                </a:stretch>
              </a:blipFill>
            </p:spPr>
            <p:txBody>
              <a:bodyPr/>
              <a:lstStyle/>
              <a:p>
                <a:r>
                  <a:rPr lang="en-GH">
                    <a:noFill/>
                  </a:rPr>
                  <a:t> </a:t>
                </a:r>
              </a:p>
            </p:txBody>
          </p:sp>
        </mc:Fallback>
      </mc:AlternateContent>
    </p:spTree>
    <p:extLst>
      <p:ext uri="{BB962C8B-B14F-4D97-AF65-F5344CB8AC3E}">
        <p14:creationId xmlns:p14="http://schemas.microsoft.com/office/powerpoint/2010/main" val="601669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Application of the Pi Theorem</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934066"/>
                <a:ext cx="9144000" cy="5046110"/>
              </a:xfrm>
            </p:spPr>
            <p:txBody>
              <a:bodyPr>
                <a:normAutofit fontScale="92500" lnSpcReduction="10000"/>
              </a:bodyPr>
              <a:lstStyle/>
              <a:p>
                <a:pPr marL="0" indent="0">
                  <a:lnSpc>
                    <a:spcPct val="100000"/>
                  </a:lnSpc>
                  <a:spcBef>
                    <a:spcPts val="600"/>
                  </a:spcBef>
                  <a:spcAft>
                    <a:spcPts val="600"/>
                  </a:spcAft>
                  <a:buNone/>
                </a:pPr>
                <a:r>
                  <a:rPr lang="en-CA" sz="2200" b="1" dirty="0">
                    <a:solidFill>
                      <a:schemeClr val="tx1"/>
                    </a:solidFill>
                    <a:latin typeface="+mn-lt"/>
                  </a:rPr>
                  <a:t>Step 3</a:t>
                </a:r>
                <a:r>
                  <a:rPr lang="en-CA" sz="2200" dirty="0">
                    <a:solidFill>
                      <a:schemeClr val="tx1"/>
                    </a:solidFill>
                    <a:latin typeface="+mn-lt"/>
                  </a:rPr>
                  <a:t>: List the dimensions of all parameters in terms of primary dimensions</a:t>
                </a:r>
              </a:p>
              <a:p>
                <a:pPr marL="0" indent="0">
                  <a:lnSpc>
                    <a:spcPct val="100000"/>
                  </a:lnSpc>
                  <a:spcBef>
                    <a:spcPts val="600"/>
                  </a:spcBef>
                  <a:spcAft>
                    <a:spcPts val="600"/>
                  </a:spcAft>
                  <a:buNone/>
                </a:pPr>
                <a:r>
                  <a:rPr lang="en-CA" sz="2200" dirty="0">
                    <a:solidFill>
                      <a:schemeClr val="tx1"/>
                    </a:solidFill>
                    <a:latin typeface="+mn-lt"/>
                  </a:rPr>
                  <a:t>	Let </a:t>
                </a:r>
                <a14:m>
                  <m:oMath xmlns:m="http://schemas.openxmlformats.org/officeDocument/2006/math">
                    <m:r>
                      <a:rPr lang="en-GB" sz="2200" b="0" i="1" dirty="0" smtClean="0">
                        <a:solidFill>
                          <a:schemeClr val="tx1"/>
                        </a:solidFill>
                        <a:latin typeface="Cambria Math" panose="02040503050406030204" pitchFamily="18" charset="0"/>
                      </a:rPr>
                      <m:t>𝑖</m:t>
                    </m:r>
                  </m:oMath>
                </a14:m>
                <a:r>
                  <a:rPr lang="en-CA" sz="2200" dirty="0">
                    <a:solidFill>
                      <a:schemeClr val="tx1"/>
                    </a:solidFill>
                    <a:latin typeface="+mn-lt"/>
                  </a:rPr>
                  <a:t> be the number of primary (fundamental) dimensions</a:t>
                </a:r>
              </a:p>
              <a:p>
                <a:pPr marL="0" indent="0">
                  <a:lnSpc>
                    <a:spcPct val="100000"/>
                  </a:lnSpc>
                  <a:spcBef>
                    <a:spcPts val="600"/>
                  </a:spcBef>
                  <a:spcAft>
                    <a:spcPts val="2400"/>
                  </a:spcAft>
                  <a:buNone/>
                </a:pPr>
                <a:r>
                  <a:rPr lang="en-CA" sz="2200" dirty="0">
                    <a:solidFill>
                      <a:schemeClr val="tx1"/>
                    </a:solidFill>
                    <a:latin typeface="+mn-lt"/>
                  </a:rPr>
                  <a:t>	For drag on a sphere, </a:t>
                </a:r>
                <a14:m>
                  <m:oMath xmlns:m="http://schemas.openxmlformats.org/officeDocument/2006/math">
                    <m:r>
                      <a:rPr lang="en-GB" sz="2200" b="0" i="1" dirty="0" smtClean="0">
                        <a:solidFill>
                          <a:schemeClr val="tx1"/>
                        </a:solidFill>
                        <a:latin typeface="Cambria Math" panose="02040503050406030204" pitchFamily="18" charset="0"/>
                      </a:rPr>
                      <m:t>𝑖</m:t>
                    </m:r>
                    <m:r>
                      <a:rPr lang="en-CA" sz="2200" b="0" i="1" dirty="0" smtClean="0">
                        <a:solidFill>
                          <a:schemeClr val="tx1"/>
                        </a:solidFill>
                        <a:latin typeface="Cambria Math" panose="02040503050406030204" pitchFamily="18" charset="0"/>
                      </a:rPr>
                      <m:t> =3</m:t>
                    </m:r>
                  </m:oMath>
                </a14:m>
                <a:endParaRPr lang="en-CA" dirty="0">
                  <a:solidFill>
                    <a:srgbClr val="FF0000"/>
                  </a:solidFill>
                  <a:latin typeface="+mn-lt"/>
                </a:endParaRPr>
              </a:p>
              <a:p>
                <a:pPr marL="0" indent="0">
                  <a:lnSpc>
                    <a:spcPct val="100000"/>
                  </a:lnSpc>
                  <a:buNone/>
                </a:pPr>
                <a:endParaRPr lang="en-CA" dirty="0">
                  <a:solidFill>
                    <a:srgbClr val="FF0000"/>
                  </a:solidFill>
                  <a:latin typeface="+mn-lt"/>
                </a:endParaRPr>
              </a:p>
              <a:p>
                <a:pPr marL="0" indent="0">
                  <a:lnSpc>
                    <a:spcPct val="100000"/>
                  </a:lnSpc>
                  <a:buNone/>
                </a:pPr>
                <a:endParaRPr lang="en-CA" dirty="0">
                  <a:solidFill>
                    <a:srgbClr val="FF0000"/>
                  </a:solidFill>
                  <a:latin typeface="+mn-lt"/>
                </a:endParaRPr>
              </a:p>
              <a:p>
                <a:pPr marL="0" indent="0">
                  <a:lnSpc>
                    <a:spcPct val="100000"/>
                  </a:lnSpc>
                  <a:spcBef>
                    <a:spcPts val="600"/>
                  </a:spcBef>
                  <a:buNone/>
                </a:pPr>
                <a:endParaRPr lang="en-CA" sz="2000" u="sng" dirty="0">
                  <a:solidFill>
                    <a:schemeClr val="tx1"/>
                  </a:solidFill>
                  <a:latin typeface="+mn-lt"/>
                </a:endParaRPr>
              </a:p>
              <a:p>
                <a:pPr marL="0" indent="0">
                  <a:lnSpc>
                    <a:spcPct val="100000"/>
                  </a:lnSpc>
                  <a:spcBef>
                    <a:spcPts val="600"/>
                  </a:spcBef>
                  <a:spcAft>
                    <a:spcPts val="600"/>
                  </a:spcAft>
                  <a:buNone/>
                </a:pPr>
                <a:r>
                  <a:rPr lang="en-CA" b="1" dirty="0">
                    <a:solidFill>
                      <a:schemeClr val="tx1"/>
                    </a:solidFill>
                    <a:latin typeface="+mn-lt"/>
                  </a:rPr>
                  <a:t>Step 4</a:t>
                </a:r>
                <a:r>
                  <a:rPr lang="en-CA" dirty="0">
                    <a:solidFill>
                      <a:schemeClr val="tx1"/>
                    </a:solidFill>
                    <a:latin typeface="+mn-lt"/>
                  </a:rPr>
                  <a:t>: Select a set of </a:t>
                </a:r>
                <a14:m>
                  <m:oMath xmlns:m="http://schemas.openxmlformats.org/officeDocument/2006/math">
                    <m:r>
                      <a:rPr lang="en-CA" b="0" i="1" dirty="0" smtClean="0">
                        <a:solidFill>
                          <a:schemeClr val="tx1"/>
                        </a:solidFill>
                        <a:latin typeface="Cambria Math" panose="02040503050406030204" pitchFamily="18" charset="0"/>
                      </a:rPr>
                      <m:t>𝑟</m:t>
                    </m:r>
                    <m:r>
                      <a:rPr lang="en-CA" b="0" i="1" dirty="0" smtClean="0">
                        <a:solidFill>
                          <a:schemeClr val="tx1"/>
                        </a:solidFill>
                        <a:latin typeface="Cambria Math" panose="02040503050406030204" pitchFamily="18" charset="0"/>
                      </a:rPr>
                      <m:t> </m:t>
                    </m:r>
                  </m:oMath>
                </a14:m>
                <a:r>
                  <a:rPr lang="en-CA" dirty="0">
                    <a:solidFill>
                      <a:schemeClr val="tx1"/>
                    </a:solidFill>
                    <a:latin typeface="+mn-lt"/>
                  </a:rPr>
                  <a:t>repeating dimensional parameters that includes all the primary dimensions. </a:t>
                </a:r>
                <a:r>
                  <a:rPr lang="en-GB" dirty="0">
                    <a:latin typeface="+mn-lt"/>
                  </a:rPr>
                  <a:t>These parameters will all be combined with each of the remaining parameters, one at a time.</a:t>
                </a:r>
                <a:endParaRPr lang="en-CA" dirty="0">
                  <a:solidFill>
                    <a:schemeClr val="tx1"/>
                  </a:solidFill>
                  <a:latin typeface="+mn-lt"/>
                </a:endParaRPr>
              </a:p>
              <a:p>
                <a:pPr marL="0" indent="0">
                  <a:lnSpc>
                    <a:spcPct val="100000"/>
                  </a:lnSpc>
                  <a:spcBef>
                    <a:spcPts val="600"/>
                  </a:spcBef>
                  <a:spcAft>
                    <a:spcPts val="600"/>
                  </a:spcAft>
                  <a:buNone/>
                </a:pPr>
                <a:r>
                  <a:rPr lang="en-CA" dirty="0">
                    <a:solidFill>
                      <a:schemeClr val="tx1"/>
                    </a:solidFill>
                    <a:latin typeface="+mn-lt"/>
                  </a:rPr>
                  <a:t>	Thus, for drag on a sphere, we set </a:t>
                </a:r>
                <a14:m>
                  <m:oMath xmlns:m="http://schemas.openxmlformats.org/officeDocument/2006/math">
                    <m:r>
                      <a:rPr lang="en-CA" b="0" i="1" dirty="0" smtClean="0">
                        <a:solidFill>
                          <a:schemeClr val="tx1"/>
                        </a:solidFill>
                        <a:latin typeface="Cambria Math" panose="02040503050406030204" pitchFamily="18" charset="0"/>
                      </a:rPr>
                      <m:t>𝑚</m:t>
                    </m:r>
                    <m:r>
                      <a:rPr lang="en-CA" b="0" i="0" dirty="0" smtClean="0">
                        <a:solidFill>
                          <a:schemeClr val="tx1"/>
                        </a:solidFill>
                        <a:latin typeface="Cambria Math" panose="02040503050406030204" pitchFamily="18" charset="0"/>
                      </a:rPr>
                      <m:t>=</m:t>
                    </m:r>
                    <m:r>
                      <a:rPr lang="en-CA" b="0" i="1" dirty="0">
                        <a:solidFill>
                          <a:schemeClr val="tx1"/>
                        </a:solidFill>
                        <a:latin typeface="Cambria Math" panose="02040503050406030204" pitchFamily="18" charset="0"/>
                      </a:rPr>
                      <m:t>𝑟</m:t>
                    </m:r>
                    <m:r>
                      <a:rPr lang="en-CA" b="0" i="1" dirty="0">
                        <a:solidFill>
                          <a:schemeClr val="tx1"/>
                        </a:solidFill>
                        <a:latin typeface="Cambria Math" panose="02040503050406030204" pitchFamily="18" charset="0"/>
                      </a:rPr>
                      <m:t> =</m:t>
                    </m:r>
                    <m:r>
                      <a:rPr lang="en-GB" b="0" i="0" dirty="0" smtClean="0">
                        <a:solidFill>
                          <a:schemeClr val="tx1"/>
                        </a:solidFill>
                        <a:latin typeface="Cambria Math" panose="02040503050406030204" pitchFamily="18" charset="0"/>
                      </a:rPr>
                      <m:t>3</m:t>
                    </m:r>
                  </m:oMath>
                </a14:m>
                <a:endParaRPr lang="en-CA" dirty="0">
                  <a:solidFill>
                    <a:schemeClr val="tx1"/>
                  </a:solidFill>
                  <a:latin typeface="+mn-lt"/>
                </a:endParaRPr>
              </a:p>
              <a:p>
                <a:pPr marL="0" indent="0">
                  <a:lnSpc>
                    <a:spcPct val="100000"/>
                  </a:lnSpc>
                  <a:buNone/>
                </a:pPr>
                <a:r>
                  <a:rPr lang="en-CA" dirty="0">
                    <a:latin typeface="+mn-lt"/>
                  </a:rPr>
                  <a:t>*But which variables out of the five should be selected as the repeating parameters?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934066"/>
                <a:ext cx="9144000" cy="5046110"/>
              </a:xfrm>
              <a:blipFill>
                <a:blip r:embed="rId3"/>
                <a:stretch>
                  <a:fillRect l="-867" t="-1208" r="-733" b="-84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35081010"/>
                  </p:ext>
                </p:extLst>
              </p:nvPr>
            </p:nvGraphicFramePr>
            <p:xfrm>
              <a:off x="1019586" y="2413282"/>
              <a:ext cx="6594090" cy="1058291"/>
            </p:xfrm>
            <a:graphic>
              <a:graphicData uri="http://schemas.openxmlformats.org/drawingml/2006/table">
                <a:tbl>
                  <a:tblPr firstRow="1" bandRow="1">
                    <a:tableStyleId>{2D5ABB26-0587-4C30-8999-92F81FD0307C}</a:tableStyleId>
                  </a:tblPr>
                  <a:tblGrid>
                    <a:gridCol w="1318818">
                      <a:extLst>
                        <a:ext uri="{9D8B030D-6E8A-4147-A177-3AD203B41FA5}">
                          <a16:colId xmlns:a16="http://schemas.microsoft.com/office/drawing/2014/main" val="3271038132"/>
                        </a:ext>
                      </a:extLst>
                    </a:gridCol>
                    <a:gridCol w="1318818">
                      <a:extLst>
                        <a:ext uri="{9D8B030D-6E8A-4147-A177-3AD203B41FA5}">
                          <a16:colId xmlns:a16="http://schemas.microsoft.com/office/drawing/2014/main" val="3348542177"/>
                        </a:ext>
                      </a:extLst>
                    </a:gridCol>
                    <a:gridCol w="1318818">
                      <a:extLst>
                        <a:ext uri="{9D8B030D-6E8A-4147-A177-3AD203B41FA5}">
                          <a16:colId xmlns:a16="http://schemas.microsoft.com/office/drawing/2014/main" val="2389667444"/>
                        </a:ext>
                      </a:extLst>
                    </a:gridCol>
                    <a:gridCol w="1318818">
                      <a:extLst>
                        <a:ext uri="{9D8B030D-6E8A-4147-A177-3AD203B41FA5}">
                          <a16:colId xmlns:a16="http://schemas.microsoft.com/office/drawing/2014/main" val="1907285225"/>
                        </a:ext>
                      </a:extLst>
                    </a:gridCol>
                    <a:gridCol w="1318818">
                      <a:extLst>
                        <a:ext uri="{9D8B030D-6E8A-4147-A177-3AD203B41FA5}">
                          <a16:colId xmlns:a16="http://schemas.microsoft.com/office/drawing/2014/main" val="93751179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CA" sz="2000" dirty="0" smtClean="0">
                                    <a:solidFill>
                                      <a:schemeClr val="tx1"/>
                                    </a:solidFill>
                                    <a:latin typeface="Cambria Math" panose="02040503050406030204" pitchFamily="18" charset="0"/>
                                  </a:rPr>
                                  <m:t>𝑭</m:t>
                                </m:r>
                              </m:oMath>
                            </m:oMathPara>
                          </a14:m>
                          <a:endParaRPr lang="en-CA" sz="2000" b="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CA" sz="2000" dirty="0" smtClean="0">
                                    <a:solidFill>
                                      <a:schemeClr val="tx1"/>
                                    </a:solidFill>
                                    <a:latin typeface="Cambria Math" panose="02040503050406030204" pitchFamily="18" charset="0"/>
                                  </a:rPr>
                                  <m:t>𝑽</m:t>
                                </m:r>
                              </m:oMath>
                            </m:oMathPara>
                          </a14:m>
                          <a:endParaRPr lang="en-CA" sz="2000" b="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CA" sz="2000" dirty="0" smtClean="0">
                                    <a:solidFill>
                                      <a:schemeClr val="tx1"/>
                                    </a:solidFill>
                                    <a:latin typeface="Cambria Math" panose="02040503050406030204" pitchFamily="18" charset="0"/>
                                  </a:rPr>
                                  <m:t>𝑫</m:t>
                                </m:r>
                              </m:oMath>
                            </m:oMathPara>
                          </a14:m>
                          <a:endParaRPr lang="en-CA" sz="2000" b="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CA" sz="2000" smtClean="0">
                                    <a:solidFill>
                                      <a:schemeClr val="tx1"/>
                                    </a:solidFill>
                                    <a:latin typeface="Cambria Math" panose="02040503050406030204" pitchFamily="18" charset="0"/>
                                  </a:rPr>
                                  <m:t>𝝆</m:t>
                                </m:r>
                              </m:oMath>
                            </m:oMathPara>
                          </a14:m>
                          <a:endParaRPr lang="en-CA" sz="2000" b="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CA" sz="2000" smtClean="0">
                                    <a:solidFill>
                                      <a:schemeClr val="tx1"/>
                                    </a:solidFill>
                                    <a:latin typeface="Cambria Math" panose="02040503050406030204" pitchFamily="18" charset="0"/>
                                  </a:rPr>
                                  <m:t>𝝁</m:t>
                                </m:r>
                              </m:oMath>
                            </m:oMathPara>
                          </a14:m>
                          <a:endParaRPr lang="en-CA" sz="2000" b="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260304"/>
                      </a:ext>
                    </a:extLst>
                  </a:tr>
                  <a:tr h="370840">
                    <a:tc>
                      <a:txBody>
                        <a:bodyPr/>
                        <a:lstStyle/>
                        <a:p>
                          <a:pPr algn="ctr"/>
                          <a14:m>
                            <m:oMathPara xmlns:m="http://schemas.openxmlformats.org/officeDocument/2006/math">
                              <m:oMathParaPr>
                                <m:jc m:val="centerGroup"/>
                              </m:oMathParaPr>
                              <m:oMath xmlns:m="http://schemas.openxmlformats.org/officeDocument/2006/math">
                                <m:f>
                                  <m:fPr>
                                    <m:ctrlPr>
                                      <a:rPr lang="en-CA" sz="2000" i="1" smtClean="0">
                                        <a:solidFill>
                                          <a:schemeClr val="tx1"/>
                                        </a:solidFill>
                                        <a:latin typeface="Cambria Math" panose="02040503050406030204" pitchFamily="18" charset="0"/>
                                      </a:rPr>
                                    </m:ctrlPr>
                                  </m:fPr>
                                  <m:num>
                                    <m:r>
                                      <a:rPr lang="en-CA" sz="2000" smtClean="0">
                                        <a:solidFill>
                                          <a:schemeClr val="tx1"/>
                                        </a:solidFill>
                                        <a:latin typeface="Cambria Math" panose="02040503050406030204" pitchFamily="18" charset="0"/>
                                      </a:rPr>
                                      <m:t>𝑀𝐿</m:t>
                                    </m:r>
                                  </m:num>
                                  <m:den>
                                    <m:sSup>
                                      <m:sSupPr>
                                        <m:ctrlPr>
                                          <a:rPr lang="en-CA" sz="2000" i="1" smtClean="0">
                                            <a:solidFill>
                                              <a:schemeClr val="tx1"/>
                                            </a:solidFill>
                                            <a:latin typeface="Cambria Math" panose="02040503050406030204" pitchFamily="18" charset="0"/>
                                          </a:rPr>
                                        </m:ctrlPr>
                                      </m:sSupPr>
                                      <m:e>
                                        <m:r>
                                          <a:rPr lang="en-CA" sz="2000" smtClean="0">
                                            <a:solidFill>
                                              <a:schemeClr val="tx1"/>
                                            </a:solidFill>
                                            <a:latin typeface="Cambria Math" panose="02040503050406030204" pitchFamily="18" charset="0"/>
                                          </a:rPr>
                                          <m:t>𝑡</m:t>
                                        </m:r>
                                      </m:e>
                                      <m:sup>
                                        <m:r>
                                          <a:rPr lang="en-CA" sz="2000" smtClean="0">
                                            <a:solidFill>
                                              <a:schemeClr val="tx1"/>
                                            </a:solidFill>
                                            <a:latin typeface="Cambria Math" panose="02040503050406030204" pitchFamily="18" charset="0"/>
                                          </a:rPr>
                                          <m:t>2</m:t>
                                        </m:r>
                                      </m:sup>
                                    </m:sSup>
                                  </m:den>
                                </m:f>
                              </m:oMath>
                            </m:oMathPara>
                          </a14:m>
                          <a:endParaRPr lang="en-CA" sz="2000" b="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CA" sz="2000" i="1" smtClean="0">
                                        <a:solidFill>
                                          <a:schemeClr val="tx1"/>
                                        </a:solidFill>
                                        <a:latin typeface="Cambria Math" panose="02040503050406030204" pitchFamily="18" charset="0"/>
                                      </a:rPr>
                                    </m:ctrlPr>
                                  </m:fPr>
                                  <m:num>
                                    <m:r>
                                      <a:rPr lang="en-CA" sz="2000" smtClean="0">
                                        <a:solidFill>
                                          <a:schemeClr val="tx1"/>
                                        </a:solidFill>
                                        <a:latin typeface="Cambria Math" panose="02040503050406030204" pitchFamily="18" charset="0"/>
                                      </a:rPr>
                                      <m:t>𝐿</m:t>
                                    </m:r>
                                  </m:num>
                                  <m:den>
                                    <m:r>
                                      <a:rPr lang="en-CA" sz="2000" smtClean="0">
                                        <a:solidFill>
                                          <a:schemeClr val="tx1"/>
                                        </a:solidFill>
                                        <a:latin typeface="Cambria Math" panose="02040503050406030204" pitchFamily="18" charset="0"/>
                                      </a:rPr>
                                      <m:t>𝑡</m:t>
                                    </m:r>
                                  </m:den>
                                </m:f>
                              </m:oMath>
                            </m:oMathPara>
                          </a14:m>
                          <a:endParaRPr lang="en-CA" sz="2000" b="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CA" sz="2000" dirty="0" smtClean="0">
                                    <a:solidFill>
                                      <a:schemeClr val="tx1"/>
                                    </a:solidFill>
                                    <a:latin typeface="Cambria Math" panose="02040503050406030204" pitchFamily="18" charset="0"/>
                                  </a:rPr>
                                  <m:t>𝐿</m:t>
                                </m:r>
                              </m:oMath>
                            </m:oMathPara>
                          </a14:m>
                          <a:endParaRPr lang="en-CA" sz="2000" b="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CA" sz="2000" i="1" smtClean="0">
                                        <a:solidFill>
                                          <a:schemeClr val="tx1"/>
                                        </a:solidFill>
                                        <a:latin typeface="Cambria Math" panose="02040503050406030204" pitchFamily="18" charset="0"/>
                                      </a:rPr>
                                    </m:ctrlPr>
                                  </m:fPr>
                                  <m:num>
                                    <m:r>
                                      <a:rPr lang="en-CA" sz="2000" smtClean="0">
                                        <a:solidFill>
                                          <a:schemeClr val="tx1"/>
                                        </a:solidFill>
                                        <a:latin typeface="Cambria Math" panose="02040503050406030204" pitchFamily="18" charset="0"/>
                                      </a:rPr>
                                      <m:t>𝑀</m:t>
                                    </m:r>
                                  </m:num>
                                  <m:den>
                                    <m:sSup>
                                      <m:sSupPr>
                                        <m:ctrlPr>
                                          <a:rPr lang="en-CA" sz="2000" i="1" smtClean="0">
                                            <a:solidFill>
                                              <a:schemeClr val="tx1"/>
                                            </a:solidFill>
                                            <a:latin typeface="Cambria Math" panose="02040503050406030204" pitchFamily="18" charset="0"/>
                                          </a:rPr>
                                        </m:ctrlPr>
                                      </m:sSupPr>
                                      <m:e>
                                        <m:r>
                                          <a:rPr lang="en-CA" sz="2000" smtClean="0">
                                            <a:solidFill>
                                              <a:schemeClr val="tx1"/>
                                            </a:solidFill>
                                            <a:latin typeface="Cambria Math" panose="02040503050406030204" pitchFamily="18" charset="0"/>
                                          </a:rPr>
                                          <m:t>𝐿</m:t>
                                        </m:r>
                                      </m:e>
                                      <m:sup>
                                        <m:r>
                                          <a:rPr lang="en-CA" sz="2000" smtClean="0">
                                            <a:solidFill>
                                              <a:schemeClr val="tx1"/>
                                            </a:solidFill>
                                            <a:latin typeface="Cambria Math" panose="02040503050406030204" pitchFamily="18" charset="0"/>
                                          </a:rPr>
                                          <m:t>3</m:t>
                                        </m:r>
                                      </m:sup>
                                    </m:sSup>
                                  </m:den>
                                </m:f>
                              </m:oMath>
                            </m:oMathPara>
                          </a14:m>
                          <a:endParaRPr lang="en-CA" sz="2000" b="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CA" sz="2000" i="1" smtClean="0">
                                        <a:solidFill>
                                          <a:schemeClr val="tx1"/>
                                        </a:solidFill>
                                        <a:latin typeface="Cambria Math" panose="02040503050406030204" pitchFamily="18" charset="0"/>
                                      </a:rPr>
                                    </m:ctrlPr>
                                  </m:fPr>
                                  <m:num>
                                    <m:r>
                                      <a:rPr lang="en-CA" sz="2000" smtClean="0">
                                        <a:solidFill>
                                          <a:schemeClr val="tx1"/>
                                        </a:solidFill>
                                        <a:latin typeface="Cambria Math" panose="02040503050406030204" pitchFamily="18" charset="0"/>
                                      </a:rPr>
                                      <m:t>𝑀</m:t>
                                    </m:r>
                                  </m:num>
                                  <m:den>
                                    <m:r>
                                      <a:rPr lang="en-CA" sz="2000" smtClean="0">
                                        <a:solidFill>
                                          <a:schemeClr val="tx1"/>
                                        </a:solidFill>
                                        <a:latin typeface="Cambria Math" panose="02040503050406030204" pitchFamily="18" charset="0"/>
                                      </a:rPr>
                                      <m:t>𝐿𝑡</m:t>
                                    </m:r>
                                  </m:den>
                                </m:f>
                              </m:oMath>
                            </m:oMathPara>
                          </a14:m>
                          <a:endParaRPr lang="en-CA" sz="2000" b="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24319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35081010"/>
                  </p:ext>
                </p:extLst>
              </p:nvPr>
            </p:nvGraphicFramePr>
            <p:xfrm>
              <a:off x="1019586" y="2413282"/>
              <a:ext cx="6594090" cy="1058291"/>
            </p:xfrm>
            <a:graphic>
              <a:graphicData uri="http://schemas.openxmlformats.org/drawingml/2006/table">
                <a:tbl>
                  <a:tblPr firstRow="1" bandRow="1">
                    <a:tableStyleId>{2D5ABB26-0587-4C30-8999-92F81FD0307C}</a:tableStyleId>
                  </a:tblPr>
                  <a:tblGrid>
                    <a:gridCol w="1318818">
                      <a:extLst>
                        <a:ext uri="{9D8B030D-6E8A-4147-A177-3AD203B41FA5}">
                          <a16:colId xmlns:a16="http://schemas.microsoft.com/office/drawing/2014/main" val="3271038132"/>
                        </a:ext>
                      </a:extLst>
                    </a:gridCol>
                    <a:gridCol w="1318818">
                      <a:extLst>
                        <a:ext uri="{9D8B030D-6E8A-4147-A177-3AD203B41FA5}">
                          <a16:colId xmlns:a16="http://schemas.microsoft.com/office/drawing/2014/main" val="3348542177"/>
                        </a:ext>
                      </a:extLst>
                    </a:gridCol>
                    <a:gridCol w="1318818">
                      <a:extLst>
                        <a:ext uri="{9D8B030D-6E8A-4147-A177-3AD203B41FA5}">
                          <a16:colId xmlns:a16="http://schemas.microsoft.com/office/drawing/2014/main" val="2389667444"/>
                        </a:ext>
                      </a:extLst>
                    </a:gridCol>
                    <a:gridCol w="1318818">
                      <a:extLst>
                        <a:ext uri="{9D8B030D-6E8A-4147-A177-3AD203B41FA5}">
                          <a16:colId xmlns:a16="http://schemas.microsoft.com/office/drawing/2014/main" val="1907285225"/>
                        </a:ext>
                      </a:extLst>
                    </a:gridCol>
                    <a:gridCol w="1318818">
                      <a:extLst>
                        <a:ext uri="{9D8B030D-6E8A-4147-A177-3AD203B41FA5}">
                          <a16:colId xmlns:a16="http://schemas.microsoft.com/office/drawing/2014/main" val="937511795"/>
                        </a:ext>
                      </a:extLst>
                    </a:gridCol>
                  </a:tblGrid>
                  <a:tr h="396240">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515" r="-401852" b="-16666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539" t="-1515" r="-300000" b="-16666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63" t="-1515" r="-201389" b="-16666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078" t="-1515" r="-100461" b="-16666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926" t="-1515" r="-926" b="-166667"/>
                          </a:stretch>
                        </a:blipFill>
                      </a:tcPr>
                    </a:tc>
                    <a:extLst>
                      <a:ext uri="{0D108BD9-81ED-4DB2-BD59-A6C34878D82A}">
                        <a16:rowId xmlns:a16="http://schemas.microsoft.com/office/drawing/2014/main" val="150260304"/>
                      </a:ext>
                    </a:extLst>
                  </a:tr>
                  <a:tr h="662051">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61468" r="-401852" b="-91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9539" t="-61468" r="-300000" b="-91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63" t="-61468" r="-201389" b="-91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078" t="-61468" r="-100461" b="-917"/>
                          </a:stretch>
                        </a:blipFill>
                      </a:tcPr>
                    </a:tc>
                    <a:tc>
                      <a:txBody>
                        <a:bodyPr/>
                        <a:lstStyle/>
                        <a:p>
                          <a:endParaRPr lang="en-GH"/>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926" t="-61468" r="-926" b="-917"/>
                          </a:stretch>
                        </a:blipFill>
                      </a:tcPr>
                    </a:tc>
                    <a:extLst>
                      <a:ext uri="{0D108BD9-81ED-4DB2-BD59-A6C34878D82A}">
                        <a16:rowId xmlns:a16="http://schemas.microsoft.com/office/drawing/2014/main" val="4186243193"/>
                      </a:ext>
                    </a:extLst>
                  </a:tr>
                </a:tbl>
              </a:graphicData>
            </a:graphic>
          </p:graphicFrame>
        </mc:Fallback>
      </mc:AlternateContent>
    </p:spTree>
    <p:extLst>
      <p:ext uri="{BB962C8B-B14F-4D97-AF65-F5344CB8AC3E}">
        <p14:creationId xmlns:p14="http://schemas.microsoft.com/office/powerpoint/2010/main" val="1328527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Tips for Selecting the Repeating Parameters</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80900"/>
                <a:ext cx="9144000" cy="5408420"/>
              </a:xfrm>
            </p:spPr>
            <p:txBody>
              <a:bodyPr>
                <a:noAutofit/>
              </a:bodyPr>
              <a:lstStyle/>
              <a:p>
                <a:pPr marL="288000" lvl="1">
                  <a:lnSpc>
                    <a:spcPct val="110000"/>
                  </a:lnSpc>
                  <a:spcBef>
                    <a:spcPts val="600"/>
                  </a:spcBef>
                  <a:spcAft>
                    <a:spcPts val="600"/>
                  </a:spcAft>
                  <a:buFont typeface="Wingdings" panose="05000000000000000000" pitchFamily="2" charset="2"/>
                  <a:buChar char="Ø"/>
                </a:pPr>
                <a:r>
                  <a:rPr lang="en-CA" sz="1800" dirty="0">
                    <a:solidFill>
                      <a:schemeClr val="tx1"/>
                    </a:solidFill>
                    <a:latin typeface="+mn-lt"/>
                  </a:rPr>
                  <a:t>Identify and exclude clearly defined </a:t>
                </a:r>
                <a:r>
                  <a:rPr lang="en-CA" sz="1800" u="sng" dirty="0">
                    <a:solidFill>
                      <a:schemeClr val="tx1"/>
                    </a:solidFill>
                    <a:latin typeface="+mn-lt"/>
                  </a:rPr>
                  <a:t>dependent parameters</a:t>
                </a:r>
                <a:r>
                  <a:rPr lang="en-CA" sz="1800" dirty="0">
                    <a:solidFill>
                      <a:schemeClr val="tx1"/>
                    </a:solidFill>
                    <a:latin typeface="+mn-lt"/>
                  </a:rPr>
                  <a:t>.      </a:t>
                </a:r>
              </a:p>
              <a:p>
                <a:pPr marL="457200" lvl="1" indent="0">
                  <a:lnSpc>
                    <a:spcPct val="110000"/>
                  </a:lnSpc>
                  <a:spcBef>
                    <a:spcPts val="600"/>
                  </a:spcBef>
                  <a:spcAft>
                    <a:spcPts val="600"/>
                  </a:spcAft>
                  <a:buNone/>
                </a:pPr>
                <a:r>
                  <a:rPr lang="en-CA" sz="1800" dirty="0">
                    <a:solidFill>
                      <a:schemeClr val="tx1"/>
                    </a:solidFill>
                    <a:latin typeface="+mn-lt"/>
                  </a:rPr>
                  <a:t>   	E.g. </a:t>
                </a:r>
                <a14:m>
                  <m:oMath xmlns:m="http://schemas.openxmlformats.org/officeDocument/2006/math">
                    <m:r>
                      <a:rPr lang="en-CA" sz="1800" b="0" i="1" dirty="0" smtClean="0">
                        <a:solidFill>
                          <a:schemeClr val="tx1"/>
                        </a:solidFill>
                        <a:latin typeface="Cambria Math" panose="02040503050406030204" pitchFamily="18" charset="0"/>
                      </a:rPr>
                      <m:t>𝐹</m:t>
                    </m:r>
                  </m:oMath>
                </a14:m>
                <a:r>
                  <a:rPr lang="en-CA" sz="1800" dirty="0">
                    <a:solidFill>
                      <a:schemeClr val="tx1"/>
                    </a:solidFill>
                    <a:latin typeface="+mn-lt"/>
                  </a:rPr>
                  <a:t> is a dependent parameter in the sphere problem.</a:t>
                </a:r>
              </a:p>
              <a:p>
                <a:pPr marL="288000" lvl="1">
                  <a:lnSpc>
                    <a:spcPct val="110000"/>
                  </a:lnSpc>
                  <a:spcBef>
                    <a:spcPts val="600"/>
                  </a:spcBef>
                  <a:spcAft>
                    <a:spcPts val="600"/>
                  </a:spcAft>
                  <a:buFont typeface="Wingdings" panose="05000000000000000000" pitchFamily="2" charset="2"/>
                  <a:buChar char="Ø"/>
                </a:pPr>
                <a:r>
                  <a:rPr lang="en-CA" sz="1800" dirty="0">
                    <a:solidFill>
                      <a:schemeClr val="tx1"/>
                    </a:solidFill>
                    <a:latin typeface="+mn-lt"/>
                  </a:rPr>
                  <a:t>Identify and exclude all parameters that have dimensions that are a power of the dimensions of another repeating parameter. </a:t>
                </a:r>
              </a:p>
              <a:p>
                <a:pPr marL="457200" lvl="1" indent="0">
                  <a:lnSpc>
                    <a:spcPct val="110000"/>
                  </a:lnSpc>
                  <a:spcBef>
                    <a:spcPts val="600"/>
                  </a:spcBef>
                  <a:spcAft>
                    <a:spcPts val="600"/>
                  </a:spcAft>
                  <a:buNone/>
                </a:pPr>
                <a:r>
                  <a:rPr lang="en-CA" sz="1800" dirty="0">
                    <a:solidFill>
                      <a:schemeClr val="tx1"/>
                    </a:solidFill>
                    <a:latin typeface="+mn-lt"/>
                  </a:rPr>
                  <a:t>	E.g. Diameter (</a:t>
                </a:r>
                <a14:m>
                  <m:oMath xmlns:m="http://schemas.openxmlformats.org/officeDocument/2006/math">
                    <m:r>
                      <a:rPr lang="en-CA" sz="1800" b="0" i="1" dirty="0">
                        <a:solidFill>
                          <a:schemeClr val="tx1"/>
                        </a:solidFill>
                        <a:latin typeface="Cambria Math" panose="02040503050406030204" pitchFamily="18" charset="0"/>
                      </a:rPr>
                      <m:t>𝐿</m:t>
                    </m:r>
                  </m:oMath>
                </a14:m>
                <a:r>
                  <a:rPr lang="en-CA" sz="1800" dirty="0">
                    <a:solidFill>
                      <a:schemeClr val="tx1"/>
                    </a:solidFill>
                    <a:latin typeface="+mn-lt"/>
                  </a:rPr>
                  <a:t>), Area (</a:t>
                </a:r>
                <a14:m>
                  <m:oMath xmlns:m="http://schemas.openxmlformats.org/officeDocument/2006/math">
                    <m:r>
                      <a:rPr lang="en-CA" sz="1800" b="0" i="1" dirty="0">
                        <a:solidFill>
                          <a:schemeClr val="tx1"/>
                        </a:solidFill>
                        <a:latin typeface="Cambria Math" panose="02040503050406030204" pitchFamily="18" charset="0"/>
                      </a:rPr>
                      <m:t>𝐿</m:t>
                    </m:r>
                    <m:r>
                      <a:rPr lang="en-CA" sz="1800" b="0" i="1" baseline="30000" dirty="0">
                        <a:solidFill>
                          <a:schemeClr val="tx1"/>
                        </a:solidFill>
                        <a:latin typeface="Cambria Math" panose="02040503050406030204" pitchFamily="18" charset="0"/>
                      </a:rPr>
                      <m:t>2</m:t>
                    </m:r>
                  </m:oMath>
                </a14:m>
                <a:r>
                  <a:rPr lang="en-CA" sz="1800" dirty="0">
                    <a:solidFill>
                      <a:schemeClr val="tx1"/>
                    </a:solidFill>
                    <a:latin typeface="+mn-lt"/>
                  </a:rPr>
                  <a:t>) and Volume (</a:t>
                </a:r>
                <a14:m>
                  <m:oMath xmlns:m="http://schemas.openxmlformats.org/officeDocument/2006/math">
                    <m:r>
                      <a:rPr lang="en-CA" sz="1800" b="0" i="1" dirty="0">
                        <a:solidFill>
                          <a:schemeClr val="tx1"/>
                        </a:solidFill>
                        <a:latin typeface="Cambria Math" panose="02040503050406030204" pitchFamily="18" charset="0"/>
                      </a:rPr>
                      <m:t>𝐿</m:t>
                    </m:r>
                    <m:r>
                      <a:rPr lang="en-CA" sz="1800" b="0" i="1" baseline="30000" dirty="0" smtClean="0">
                        <a:solidFill>
                          <a:schemeClr val="tx1"/>
                        </a:solidFill>
                        <a:latin typeface="Cambria Math" panose="02040503050406030204" pitchFamily="18" charset="0"/>
                      </a:rPr>
                      <m:t>3</m:t>
                    </m:r>
                  </m:oMath>
                </a14:m>
                <a:r>
                  <a:rPr lang="en-CA" sz="1800" dirty="0">
                    <a:solidFill>
                      <a:schemeClr val="tx1"/>
                    </a:solidFill>
                    <a:latin typeface="+mn-lt"/>
                  </a:rPr>
                  <a:t>) </a:t>
                </a:r>
              </a:p>
              <a:p>
                <a:pPr marL="288000" lvl="1">
                  <a:lnSpc>
                    <a:spcPct val="110000"/>
                  </a:lnSpc>
                  <a:spcBef>
                    <a:spcPts val="600"/>
                  </a:spcBef>
                  <a:spcAft>
                    <a:spcPts val="600"/>
                  </a:spcAft>
                  <a:buFont typeface="Wingdings" panose="05000000000000000000" pitchFamily="2" charset="2"/>
                  <a:buChar char="Ø"/>
                </a:pPr>
                <a:r>
                  <a:rPr lang="en-CA" sz="1800" dirty="0">
                    <a:solidFill>
                      <a:schemeClr val="tx1"/>
                    </a:solidFill>
                    <a:latin typeface="+mn-lt"/>
                  </a:rPr>
                  <a:t>Among the remaining parameters, consider those that are related to the following, and select one from each category.</a:t>
                </a:r>
              </a:p>
              <a:p>
                <a:pPr lvl="2">
                  <a:lnSpc>
                    <a:spcPct val="110000"/>
                  </a:lnSpc>
                  <a:spcBef>
                    <a:spcPts val="600"/>
                  </a:spcBef>
                  <a:spcAft>
                    <a:spcPts val="600"/>
                  </a:spcAft>
                </a:pPr>
                <a:r>
                  <a:rPr lang="en-CA" sz="1800" dirty="0">
                    <a:solidFill>
                      <a:schemeClr val="tx1"/>
                    </a:solidFill>
                    <a:latin typeface="+mn-lt"/>
                  </a:rPr>
                  <a:t>geometry (e.g. </a:t>
                </a:r>
                <a14:m>
                  <m:oMath xmlns:m="http://schemas.openxmlformats.org/officeDocument/2006/math">
                    <m:r>
                      <a:rPr lang="en-CA" sz="1800" b="0" i="1" dirty="0" smtClean="0">
                        <a:solidFill>
                          <a:schemeClr val="tx1"/>
                        </a:solidFill>
                        <a:latin typeface="Cambria Math" panose="02040503050406030204" pitchFamily="18" charset="0"/>
                      </a:rPr>
                      <m:t>𝐷</m:t>
                    </m:r>
                    <m:r>
                      <a:rPr lang="en-CA" sz="1800" b="0" i="0" dirty="0" smtClean="0">
                        <a:solidFill>
                          <a:schemeClr val="tx1"/>
                        </a:solidFill>
                        <a:latin typeface="Cambria Math" panose="02040503050406030204" pitchFamily="18" charset="0"/>
                      </a:rPr>
                      <m:t>, </m:t>
                    </m:r>
                    <m:r>
                      <a:rPr lang="en-CA" sz="1800" b="0" i="1" dirty="0" smtClean="0">
                        <a:solidFill>
                          <a:schemeClr val="tx1"/>
                        </a:solidFill>
                        <a:latin typeface="Cambria Math" panose="02040503050406030204" pitchFamily="18" charset="0"/>
                      </a:rPr>
                      <m:t>𝐿</m:t>
                    </m:r>
                  </m:oMath>
                </a14:m>
                <a:r>
                  <a:rPr lang="en-CA" sz="1800" dirty="0">
                    <a:solidFill>
                      <a:schemeClr val="tx1"/>
                    </a:solidFill>
                    <a:latin typeface="+mn-lt"/>
                  </a:rPr>
                  <a:t>), </a:t>
                </a:r>
              </a:p>
              <a:p>
                <a:pPr lvl="2">
                  <a:lnSpc>
                    <a:spcPct val="110000"/>
                  </a:lnSpc>
                  <a:spcBef>
                    <a:spcPts val="600"/>
                  </a:spcBef>
                  <a:spcAft>
                    <a:spcPts val="600"/>
                  </a:spcAft>
                </a:pPr>
                <a:r>
                  <a:rPr lang="en-CA" sz="1800" dirty="0">
                    <a:solidFill>
                      <a:schemeClr val="tx1"/>
                    </a:solidFill>
                    <a:latin typeface="+mn-lt"/>
                  </a:rPr>
                  <a:t>fluid properties (</a:t>
                </a:r>
                <a14:m>
                  <m:oMath xmlns:m="http://schemas.openxmlformats.org/officeDocument/2006/math">
                    <m:r>
                      <a:rPr lang="en-CA" sz="1800" b="0" i="1" smtClean="0">
                        <a:solidFill>
                          <a:schemeClr val="tx1"/>
                        </a:solidFill>
                        <a:latin typeface="Cambria Math" panose="02040503050406030204" pitchFamily="18" charset="0"/>
                        <a:ea typeface="Cambria Math" panose="02040503050406030204" pitchFamily="18" charset="0"/>
                      </a:rPr>
                      <m:t>𝜌</m:t>
                    </m:r>
                    <m:r>
                      <a:rPr lang="en-CA" sz="1800" b="0" i="1" smtClean="0">
                        <a:solidFill>
                          <a:schemeClr val="tx1"/>
                        </a:solidFill>
                        <a:latin typeface="Cambria Math" panose="02040503050406030204" pitchFamily="18" charset="0"/>
                        <a:ea typeface="Cambria Math" panose="02040503050406030204" pitchFamily="18" charset="0"/>
                      </a:rPr>
                      <m:t>, </m:t>
                    </m:r>
                    <m:r>
                      <a:rPr lang="en-CA" sz="1800" b="0" i="1">
                        <a:solidFill>
                          <a:schemeClr val="tx1"/>
                        </a:solidFill>
                        <a:latin typeface="Cambria Math" panose="02040503050406030204" pitchFamily="18" charset="0"/>
                        <a:ea typeface="Cambria Math" panose="02040503050406030204" pitchFamily="18" charset="0"/>
                      </a:rPr>
                      <m:t>𝜇</m:t>
                    </m:r>
                  </m:oMath>
                </a14:m>
                <a:r>
                  <a:rPr lang="en-CA" sz="1800" dirty="0">
                    <a:solidFill>
                      <a:schemeClr val="tx1"/>
                    </a:solidFill>
                    <a:latin typeface="+mn-lt"/>
                  </a:rPr>
                  <a:t>)</a:t>
                </a:r>
              </a:p>
              <a:p>
                <a:pPr lvl="2">
                  <a:lnSpc>
                    <a:spcPct val="110000"/>
                  </a:lnSpc>
                  <a:spcBef>
                    <a:spcPts val="600"/>
                  </a:spcBef>
                  <a:spcAft>
                    <a:spcPts val="600"/>
                  </a:spcAft>
                </a:pPr>
                <a:r>
                  <a:rPr lang="en-CA" sz="1800" dirty="0">
                    <a:solidFill>
                      <a:schemeClr val="tx1"/>
                    </a:solidFill>
                    <a:latin typeface="+mn-lt"/>
                  </a:rPr>
                  <a:t>flow (</a:t>
                </a:r>
                <a14:m>
                  <m:oMath xmlns:m="http://schemas.openxmlformats.org/officeDocument/2006/math">
                    <m:r>
                      <a:rPr lang="en-CA" sz="1800" b="0" i="1" dirty="0">
                        <a:solidFill>
                          <a:schemeClr val="tx1"/>
                        </a:solidFill>
                        <a:latin typeface="Cambria Math" panose="02040503050406030204" pitchFamily="18" charset="0"/>
                      </a:rPr>
                      <m:t>𝑉</m:t>
                    </m:r>
                    <m:r>
                      <a:rPr lang="en-CA" sz="1800" b="0" i="1" dirty="0" smtClean="0">
                        <a:solidFill>
                          <a:schemeClr val="tx1"/>
                        </a:solidFill>
                        <a:latin typeface="Cambria Math" panose="02040503050406030204" pitchFamily="18" charset="0"/>
                      </a:rPr>
                      <m:t>, </m:t>
                    </m:r>
                    <m:r>
                      <a:rPr lang="en-CA" sz="1800" b="0" i="1" dirty="0" smtClean="0">
                        <a:solidFill>
                          <a:schemeClr val="tx1"/>
                        </a:solidFill>
                        <a:latin typeface="Cambria Math" panose="02040503050406030204" pitchFamily="18" charset="0"/>
                        <a:ea typeface="Cambria Math" panose="02040503050406030204" pitchFamily="18" charset="0"/>
                      </a:rPr>
                      <m:t>𝜔</m:t>
                    </m:r>
                  </m:oMath>
                </a14:m>
                <a:r>
                  <a:rPr lang="en-CA" sz="1800" dirty="0">
                    <a:solidFill>
                      <a:schemeClr val="tx1"/>
                    </a:solidFill>
                    <a:latin typeface="+mn-lt"/>
                  </a:rPr>
                  <a:t>). </a:t>
                </a:r>
              </a:p>
              <a:p>
                <a:pPr marL="288000" lvl="1">
                  <a:lnSpc>
                    <a:spcPct val="110000"/>
                  </a:lnSpc>
                  <a:spcBef>
                    <a:spcPts val="600"/>
                  </a:spcBef>
                  <a:spcAft>
                    <a:spcPts val="600"/>
                  </a:spcAft>
                  <a:buFont typeface="Wingdings" panose="05000000000000000000" pitchFamily="2" charset="2"/>
                  <a:buChar char="Ø"/>
                </a:pPr>
                <a:r>
                  <a:rPr lang="en-CA" sz="1800" dirty="0">
                    <a:solidFill>
                      <a:schemeClr val="tx1"/>
                    </a:solidFill>
                    <a:latin typeface="+mn-lt"/>
                  </a:rPr>
                  <a:t>The order in which the repeating parameters are selected does not affect the </a:t>
                </a:r>
                <a14:m>
                  <m:oMath xmlns:m="http://schemas.openxmlformats.org/officeDocument/2006/math">
                    <m:r>
                      <a:rPr lang="el-GR" sz="1800" b="0" i="1">
                        <a:solidFill>
                          <a:schemeClr val="tx1"/>
                        </a:solidFill>
                        <a:latin typeface="Cambria Math" panose="02040503050406030204" pitchFamily="18" charset="0"/>
                        <a:ea typeface="Cambria Math" panose="02040503050406030204" pitchFamily="18" charset="0"/>
                      </a:rPr>
                      <m:t>𝛱</m:t>
                    </m:r>
                  </m:oMath>
                </a14:m>
                <a:r>
                  <a:rPr lang="en-CA" sz="1800" dirty="0">
                    <a:solidFill>
                      <a:schemeClr val="tx1"/>
                    </a:solidFill>
                    <a:latin typeface="+mn-lt"/>
                  </a:rPr>
                  <a:t>– groups that will be obtained</a:t>
                </a:r>
              </a:p>
              <a:p>
                <a:pPr marL="288000" lvl="1">
                  <a:lnSpc>
                    <a:spcPct val="110000"/>
                  </a:lnSpc>
                  <a:spcBef>
                    <a:spcPts val="600"/>
                  </a:spcBef>
                  <a:spcAft>
                    <a:spcPts val="600"/>
                  </a:spcAft>
                  <a:buFont typeface="Wingdings" panose="05000000000000000000" pitchFamily="2" charset="2"/>
                  <a:buChar char="Ø"/>
                </a:pPr>
                <a:r>
                  <a:rPr lang="en-CA" sz="1800" dirty="0">
                    <a:latin typeface="+mn-lt"/>
                  </a:rPr>
                  <a:t>For the drag on sphere problem, we select </a:t>
                </a:r>
                <a14:m>
                  <m:oMath xmlns:m="http://schemas.openxmlformats.org/officeDocument/2006/math">
                    <m:r>
                      <a:rPr lang="en-CA" sz="1800" b="0" i="1" smtClean="0">
                        <a:solidFill>
                          <a:schemeClr val="tx1"/>
                        </a:solidFill>
                        <a:latin typeface="Cambria Math" panose="02040503050406030204" pitchFamily="18" charset="0"/>
                        <a:ea typeface="Cambria Math" panose="02040503050406030204" pitchFamily="18" charset="0"/>
                      </a:rPr>
                      <m:t>𝜌</m:t>
                    </m:r>
                  </m:oMath>
                </a14:m>
                <a:r>
                  <a:rPr lang="en-CA" sz="1800" dirty="0">
                    <a:latin typeface="+mn-lt"/>
                  </a:rPr>
                  <a:t>, V, D. </a:t>
                </a:r>
                <a:r>
                  <a:rPr lang="en-CA" sz="1800" dirty="0">
                    <a:solidFill>
                      <a:schemeClr val="tx1"/>
                    </a:solidFill>
                    <a:latin typeface="+mn-lt"/>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80900"/>
                <a:ext cx="9144000" cy="5408420"/>
              </a:xfrm>
              <a:blipFill>
                <a:blip r:embed="rId2"/>
                <a:stretch>
                  <a:fillRect t="-338" r="-467" b="-1014"/>
                </a:stretch>
              </a:blipFill>
            </p:spPr>
            <p:txBody>
              <a:bodyPr/>
              <a:lstStyle/>
              <a:p>
                <a:r>
                  <a:rPr lang="en-GH">
                    <a:noFill/>
                  </a:rPr>
                  <a:t> </a:t>
                </a:r>
              </a:p>
            </p:txBody>
          </p:sp>
        </mc:Fallback>
      </mc:AlternateContent>
    </p:spTree>
    <p:extLst>
      <p:ext uri="{BB962C8B-B14F-4D97-AF65-F5344CB8AC3E}">
        <p14:creationId xmlns:p14="http://schemas.microsoft.com/office/powerpoint/2010/main" val="2807184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Application of the Pi Theorem</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801379"/>
                <a:ext cx="9143999" cy="4856418"/>
              </a:xfrm>
            </p:spPr>
            <p:txBody>
              <a:bodyPr>
                <a:noAutofit/>
              </a:bodyPr>
              <a:lstStyle/>
              <a:p>
                <a:pPr marL="0" indent="0">
                  <a:lnSpc>
                    <a:spcPct val="160000"/>
                  </a:lnSpc>
                  <a:spcBef>
                    <a:spcPts val="1800"/>
                  </a:spcBef>
                  <a:spcAft>
                    <a:spcPts val="1200"/>
                  </a:spcAft>
                  <a:buNone/>
                </a:pPr>
                <a:r>
                  <a:rPr lang="en-CA" sz="2200" b="1" dirty="0">
                    <a:solidFill>
                      <a:schemeClr val="tx1"/>
                    </a:solidFill>
                    <a:latin typeface="+mn-lt"/>
                  </a:rPr>
                  <a:t>Step 5</a:t>
                </a:r>
                <a:r>
                  <a:rPr lang="en-CA" sz="2200" dirty="0">
                    <a:solidFill>
                      <a:schemeClr val="tx1"/>
                    </a:solidFill>
                    <a:latin typeface="+mn-lt"/>
                  </a:rPr>
                  <a:t>: Set up dimensional equations, combining the (repeating parameters selected in Step 4 with each of the </a:t>
                </a:r>
                <a:r>
                  <a:rPr lang="en-CA" sz="2200" u="sng" dirty="0">
                    <a:solidFill>
                      <a:schemeClr val="tx1"/>
                    </a:solidFill>
                    <a:latin typeface="+mn-lt"/>
                  </a:rPr>
                  <a:t>other parameters </a:t>
                </a:r>
                <a:r>
                  <a:rPr lang="en-CA" sz="2200" dirty="0">
                    <a:solidFill>
                      <a:schemeClr val="tx1"/>
                    </a:solidFill>
                    <a:latin typeface="+mn-lt"/>
                  </a:rPr>
                  <a:t>in turn, to form dimensionless groups. </a:t>
                </a:r>
              </a:p>
              <a:p>
                <a:pPr marL="0" indent="0">
                  <a:lnSpc>
                    <a:spcPct val="100000"/>
                  </a:lnSpc>
                  <a:spcBef>
                    <a:spcPts val="1800"/>
                  </a:spcBef>
                  <a:spcAft>
                    <a:spcPts val="1200"/>
                  </a:spcAft>
                  <a:buNone/>
                </a:pPr>
                <a:r>
                  <a:rPr lang="en-CA" sz="2200" dirty="0">
                    <a:solidFill>
                      <a:schemeClr val="tx1"/>
                    </a:solidFill>
                    <a:latin typeface="+mn-lt"/>
                  </a:rPr>
                  <a:t>	There will be (</a:t>
                </a:r>
                <a14:m>
                  <m:oMath xmlns:m="http://schemas.openxmlformats.org/officeDocument/2006/math">
                    <m:r>
                      <a:rPr lang="en-CA" sz="2200" b="0" i="1" dirty="0" smtClean="0">
                        <a:solidFill>
                          <a:schemeClr val="tx1"/>
                        </a:solidFill>
                        <a:latin typeface="Cambria Math" panose="02040503050406030204" pitchFamily="18" charset="0"/>
                      </a:rPr>
                      <m:t>𝑛</m:t>
                    </m:r>
                    <m:r>
                      <a:rPr lang="en-CA" sz="2200" b="0" i="1" dirty="0" smtClean="0">
                        <a:solidFill>
                          <a:schemeClr val="tx1"/>
                        </a:solidFill>
                        <a:latin typeface="Cambria Math" panose="02040503050406030204" pitchFamily="18" charset="0"/>
                      </a:rPr>
                      <m:t>−</m:t>
                    </m:r>
                    <m:r>
                      <a:rPr lang="en-CA" sz="2200" b="0" i="1" dirty="0" smtClean="0">
                        <a:solidFill>
                          <a:schemeClr val="tx1"/>
                        </a:solidFill>
                        <a:latin typeface="Cambria Math" panose="02040503050406030204" pitchFamily="18" charset="0"/>
                      </a:rPr>
                      <m:t>𝑚</m:t>
                    </m:r>
                  </m:oMath>
                </a14:m>
                <a:r>
                  <a:rPr lang="en-CA" sz="2200" dirty="0">
                    <a:solidFill>
                      <a:schemeClr val="tx1"/>
                    </a:solidFill>
                    <a:latin typeface="+mn-lt"/>
                  </a:rPr>
                  <a:t>) equations</a:t>
                </a:r>
              </a:p>
              <a:p>
                <a:pPr marL="0" indent="0">
                  <a:lnSpc>
                    <a:spcPct val="100000"/>
                  </a:lnSpc>
                  <a:spcBef>
                    <a:spcPts val="1800"/>
                  </a:spcBef>
                  <a:spcAft>
                    <a:spcPts val="1200"/>
                  </a:spcAft>
                  <a:buNone/>
                </a:pPr>
                <a:r>
                  <a:rPr lang="en-CA" sz="2200" dirty="0">
                    <a:solidFill>
                      <a:schemeClr val="tx1"/>
                    </a:solidFill>
                    <a:latin typeface="+mn-lt"/>
                  </a:rPr>
                  <a:t>For drag on a sphere,</a:t>
                </a:r>
                <a14:m>
                  <m:oMath xmlns:m="http://schemas.openxmlformats.org/officeDocument/2006/math">
                    <m:r>
                      <a:rPr lang="en-CA" sz="2200" b="0" i="0" dirty="0" smtClean="0">
                        <a:solidFill>
                          <a:schemeClr val="tx1"/>
                        </a:solidFill>
                        <a:latin typeface="Cambria Math" panose="02040503050406030204" pitchFamily="18" charset="0"/>
                      </a:rPr>
                      <m:t>   </m:t>
                    </m:r>
                    <m:r>
                      <a:rPr lang="en-CA" sz="2200" b="0" i="1" dirty="0" smtClean="0">
                        <a:solidFill>
                          <a:schemeClr val="tx1"/>
                        </a:solidFill>
                        <a:latin typeface="Cambria Math" panose="02040503050406030204" pitchFamily="18" charset="0"/>
                      </a:rPr>
                      <m:t>𝑛</m:t>
                    </m:r>
                    <m:r>
                      <a:rPr lang="en-CA" sz="2200" b="0" i="1" dirty="0" smtClean="0">
                        <a:solidFill>
                          <a:schemeClr val="tx1"/>
                        </a:solidFill>
                        <a:latin typeface="Cambria Math" panose="02040503050406030204" pitchFamily="18" charset="0"/>
                      </a:rPr>
                      <m:t>−</m:t>
                    </m:r>
                    <m:r>
                      <a:rPr lang="en-CA" sz="2200" b="0" i="1" dirty="0" smtClean="0">
                        <a:solidFill>
                          <a:schemeClr val="tx1"/>
                        </a:solidFill>
                        <a:latin typeface="Cambria Math" panose="02040503050406030204" pitchFamily="18" charset="0"/>
                      </a:rPr>
                      <m:t>𝑚</m:t>
                    </m:r>
                    <m:r>
                      <a:rPr lang="en-CA" sz="2200" b="0" i="1" dirty="0" smtClean="0">
                        <a:solidFill>
                          <a:schemeClr val="tx1"/>
                        </a:solidFill>
                        <a:latin typeface="Cambria Math" panose="02040503050406030204" pitchFamily="18" charset="0"/>
                      </a:rPr>
                      <m:t>= 5−3 = 2 </m:t>
                    </m:r>
                  </m:oMath>
                </a14:m>
                <a:r>
                  <a:rPr lang="en-CA" sz="2200" dirty="0">
                    <a:solidFill>
                      <a:schemeClr val="tx1"/>
                    </a:solidFill>
                    <a:latin typeface="+mn-lt"/>
                  </a:rPr>
                  <a:t>equations or </a:t>
                </a:r>
                <a14:m>
                  <m:oMath xmlns:m="http://schemas.openxmlformats.org/officeDocument/2006/math">
                    <m:r>
                      <a:rPr lang="el-GR" sz="2200" b="0" i="1" smtClean="0">
                        <a:solidFill>
                          <a:schemeClr val="tx1"/>
                        </a:solidFill>
                        <a:latin typeface="Cambria Math" panose="02040503050406030204" pitchFamily="18" charset="0"/>
                        <a:ea typeface="Cambria Math" panose="02040503050406030204" pitchFamily="18" charset="0"/>
                      </a:rPr>
                      <m:t>𝛱</m:t>
                    </m:r>
                  </m:oMath>
                </a14:m>
                <a:r>
                  <a:rPr lang="en-CA" sz="2200" dirty="0">
                    <a:solidFill>
                      <a:schemeClr val="tx1"/>
                    </a:solidFill>
                    <a:latin typeface="+mn-lt"/>
                  </a:rPr>
                  <a:t>– groups </a:t>
                </a:r>
              </a:p>
              <a:p>
                <a:pPr marL="0" indent="0">
                  <a:lnSpc>
                    <a:spcPct val="100000"/>
                  </a:lnSpc>
                  <a:spcBef>
                    <a:spcPts val="1800"/>
                  </a:spcBef>
                  <a:spcAft>
                    <a:spcPts val="1200"/>
                  </a:spcAft>
                  <a:buNone/>
                </a:pPr>
                <a:r>
                  <a:rPr lang="en-CA" sz="2200" dirty="0">
                    <a:solidFill>
                      <a:schemeClr val="tx1"/>
                    </a:solidFill>
                    <a:latin typeface="+mn-lt"/>
                  </a:rPr>
                  <a:t>	</a:t>
                </a:r>
                <a14:m>
                  <m:oMath xmlns:m="http://schemas.openxmlformats.org/officeDocument/2006/math">
                    <m:sSub>
                      <m:sSubPr>
                        <m:ctrlPr>
                          <a:rPr lang="en-CA" sz="2200" i="1" smtClean="0">
                            <a:solidFill>
                              <a:schemeClr val="tx1"/>
                            </a:solidFill>
                            <a:latin typeface="Cambria Math" panose="02040503050406030204" pitchFamily="18" charset="0"/>
                          </a:rPr>
                        </m:ctrlPr>
                      </m:sSubPr>
                      <m:e>
                        <m:r>
                          <a:rPr lang="el-GR" sz="2200" b="0" i="1" smtClean="0">
                            <a:solidFill>
                              <a:schemeClr val="tx1"/>
                            </a:solidFill>
                            <a:latin typeface="Cambria Math" panose="02040503050406030204" pitchFamily="18" charset="0"/>
                            <a:ea typeface="Cambria Math" panose="02040503050406030204" pitchFamily="18" charset="0"/>
                          </a:rPr>
                          <m:t>𝛱</m:t>
                        </m:r>
                      </m:e>
                      <m:sub>
                        <m:r>
                          <a:rPr lang="en-CA" sz="2200" b="0" i="1" smtClean="0">
                            <a:solidFill>
                              <a:schemeClr val="tx1"/>
                            </a:solidFill>
                            <a:latin typeface="Cambria Math" panose="02040503050406030204" pitchFamily="18" charset="0"/>
                          </a:rPr>
                          <m:t>1</m:t>
                        </m:r>
                      </m:sub>
                    </m:sSub>
                    <m:r>
                      <a:rPr lang="en-CA" sz="2200" b="0" i="1" smtClean="0">
                        <a:solidFill>
                          <a:schemeClr val="tx1"/>
                        </a:solidFill>
                        <a:latin typeface="Cambria Math" panose="02040503050406030204" pitchFamily="18" charset="0"/>
                      </a:rPr>
                      <m:t>=</m:t>
                    </m:r>
                    <m:sSup>
                      <m:sSupPr>
                        <m:ctrlPr>
                          <a:rPr lang="en-CA" sz="2200" i="1" smtClean="0">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ea typeface="Cambria Math" panose="02040503050406030204" pitchFamily="18" charset="0"/>
                          </a:rPr>
                          <m:t>𝜌</m:t>
                        </m:r>
                      </m:e>
                      <m:sup>
                        <m:r>
                          <a:rPr lang="en-CA" sz="2200" b="0" i="1" smtClean="0">
                            <a:solidFill>
                              <a:schemeClr val="tx1"/>
                            </a:solidFill>
                            <a:latin typeface="Cambria Math" panose="02040503050406030204" pitchFamily="18" charset="0"/>
                          </a:rPr>
                          <m:t>𝑎</m:t>
                        </m:r>
                      </m:sup>
                    </m:sSup>
                    <m:sSup>
                      <m:sSupPr>
                        <m:ctrlPr>
                          <a:rPr lang="en-CA" sz="2200" i="1" smtClean="0">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rPr>
                          <m:t>𝑉</m:t>
                        </m:r>
                        <m:r>
                          <m:rPr>
                            <m:nor/>
                          </m:rPr>
                          <a:rPr lang="en-CA" sz="2200" dirty="0">
                            <a:solidFill>
                              <a:schemeClr val="tx1"/>
                            </a:solidFill>
                            <a:latin typeface="+mn-lt"/>
                          </a:rPr>
                          <m:t> </m:t>
                        </m:r>
                      </m:e>
                      <m:sup>
                        <m:r>
                          <a:rPr lang="en-CA" sz="2200" b="0" i="1" smtClean="0">
                            <a:solidFill>
                              <a:schemeClr val="tx1"/>
                            </a:solidFill>
                            <a:latin typeface="Cambria Math" panose="02040503050406030204" pitchFamily="18" charset="0"/>
                          </a:rPr>
                          <m:t>𝑏</m:t>
                        </m:r>
                      </m:sup>
                    </m:sSup>
                    <m:sSup>
                      <m:sSupPr>
                        <m:ctrlPr>
                          <a:rPr lang="en-CA" sz="2200" i="1" smtClean="0">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rPr>
                          <m:t>𝐷</m:t>
                        </m:r>
                      </m:e>
                      <m:sup>
                        <m:r>
                          <a:rPr lang="en-CA" sz="2200" b="0" i="1" smtClean="0">
                            <a:solidFill>
                              <a:schemeClr val="tx1"/>
                            </a:solidFill>
                            <a:latin typeface="Cambria Math" panose="02040503050406030204" pitchFamily="18" charset="0"/>
                          </a:rPr>
                          <m:t>𝑐</m:t>
                        </m:r>
                      </m:sup>
                    </m:sSup>
                    <m:r>
                      <a:rPr lang="en-CA" sz="2200" b="0" i="1" smtClean="0">
                        <a:solidFill>
                          <a:schemeClr val="tx1"/>
                        </a:solidFill>
                        <a:latin typeface="Cambria Math" panose="02040503050406030204" pitchFamily="18" charset="0"/>
                      </a:rPr>
                      <m:t>𝐹</m:t>
                    </m:r>
                  </m:oMath>
                </a14:m>
                <a:r>
                  <a:rPr lang="en-CA" sz="2200" dirty="0">
                    <a:solidFill>
                      <a:schemeClr val="tx1"/>
                    </a:solidFill>
                    <a:latin typeface="+mn-lt"/>
                  </a:rPr>
                  <a:t>       and          </a:t>
                </a:r>
                <a14:m>
                  <m:oMath xmlns:m="http://schemas.openxmlformats.org/officeDocument/2006/math">
                    <m:sSub>
                      <m:sSubPr>
                        <m:ctrlPr>
                          <a:rPr lang="en-CA" sz="2200" i="1">
                            <a:solidFill>
                              <a:schemeClr val="tx1"/>
                            </a:solidFill>
                            <a:latin typeface="Cambria Math" panose="02040503050406030204" pitchFamily="18" charset="0"/>
                          </a:rPr>
                        </m:ctrlPr>
                      </m:sSubPr>
                      <m:e>
                        <m:r>
                          <a:rPr lang="el-GR" sz="2200" b="0" i="1" smtClean="0">
                            <a:solidFill>
                              <a:schemeClr val="tx1"/>
                            </a:solidFill>
                            <a:latin typeface="Cambria Math" panose="02040503050406030204" pitchFamily="18" charset="0"/>
                            <a:ea typeface="Cambria Math" panose="02040503050406030204" pitchFamily="18" charset="0"/>
                          </a:rPr>
                          <m:t>𝛱</m:t>
                        </m:r>
                      </m:e>
                      <m:sub>
                        <m:r>
                          <a:rPr lang="en-CA" sz="2200" b="0" i="1" smtClean="0">
                            <a:solidFill>
                              <a:schemeClr val="tx1"/>
                            </a:solidFill>
                            <a:latin typeface="Cambria Math" panose="02040503050406030204" pitchFamily="18" charset="0"/>
                          </a:rPr>
                          <m:t>2</m:t>
                        </m:r>
                      </m:sub>
                    </m:sSub>
                    <m:r>
                      <a:rPr lang="en-CA" sz="2200" b="0" i="1" smtClean="0">
                        <a:solidFill>
                          <a:schemeClr val="tx1"/>
                        </a:solidFill>
                        <a:latin typeface="Cambria Math" panose="02040503050406030204" pitchFamily="18" charset="0"/>
                      </a:rPr>
                      <m:t>=</m:t>
                    </m:r>
                    <m:sSup>
                      <m:sSupPr>
                        <m:ctrlPr>
                          <a:rPr lang="en-CA" sz="2200" i="1" smtClean="0">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ea typeface="Cambria Math" panose="02040503050406030204" pitchFamily="18" charset="0"/>
                          </a:rPr>
                          <m:t>𝜌</m:t>
                        </m:r>
                      </m:e>
                      <m:sup>
                        <m:r>
                          <a:rPr lang="en-CA" sz="2200" b="0" i="1" smtClean="0">
                            <a:solidFill>
                              <a:schemeClr val="tx1"/>
                            </a:solidFill>
                            <a:latin typeface="Cambria Math" panose="02040503050406030204" pitchFamily="18" charset="0"/>
                          </a:rPr>
                          <m:t>𝑑</m:t>
                        </m:r>
                      </m:sup>
                    </m:sSup>
                    <m:sSup>
                      <m:sSupPr>
                        <m:ctrlPr>
                          <a:rPr lang="en-CA" sz="2200" i="1">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rPr>
                          <m:t>𝑉</m:t>
                        </m:r>
                        <m:r>
                          <m:rPr>
                            <m:nor/>
                          </m:rPr>
                          <a:rPr lang="en-CA" sz="2200" dirty="0">
                            <a:solidFill>
                              <a:schemeClr val="tx1"/>
                            </a:solidFill>
                            <a:latin typeface="+mn-lt"/>
                          </a:rPr>
                          <m:t> </m:t>
                        </m:r>
                      </m:e>
                      <m:sup>
                        <m:r>
                          <a:rPr lang="en-CA" sz="2200" b="0" i="1" smtClean="0">
                            <a:solidFill>
                              <a:schemeClr val="tx1"/>
                            </a:solidFill>
                            <a:latin typeface="Cambria Math" panose="02040503050406030204" pitchFamily="18" charset="0"/>
                          </a:rPr>
                          <m:t>𝑒</m:t>
                        </m:r>
                      </m:sup>
                    </m:sSup>
                    <m:sSup>
                      <m:sSupPr>
                        <m:ctrlPr>
                          <a:rPr lang="en-CA" sz="2200" i="1">
                            <a:solidFill>
                              <a:schemeClr val="tx1"/>
                            </a:solidFill>
                            <a:latin typeface="Cambria Math" panose="02040503050406030204" pitchFamily="18" charset="0"/>
                          </a:rPr>
                        </m:ctrlPr>
                      </m:sSupPr>
                      <m:e>
                        <m:r>
                          <a:rPr lang="en-CA" sz="2200" b="0" i="1" smtClean="0">
                            <a:solidFill>
                              <a:schemeClr val="tx1"/>
                            </a:solidFill>
                            <a:latin typeface="Cambria Math" panose="02040503050406030204" pitchFamily="18" charset="0"/>
                          </a:rPr>
                          <m:t>𝐷</m:t>
                        </m:r>
                      </m:e>
                      <m:sup>
                        <m:r>
                          <a:rPr lang="en-CA" sz="2200" b="0" i="1" smtClean="0">
                            <a:solidFill>
                              <a:schemeClr val="tx1"/>
                            </a:solidFill>
                            <a:latin typeface="Cambria Math" panose="02040503050406030204" pitchFamily="18" charset="0"/>
                          </a:rPr>
                          <m:t>𝑓</m:t>
                        </m:r>
                      </m:sup>
                    </m:sSup>
                    <m:r>
                      <a:rPr lang="en-CA" sz="2200" b="0" i="1" smtClean="0">
                        <a:solidFill>
                          <a:schemeClr val="tx1"/>
                        </a:solidFill>
                        <a:latin typeface="Cambria Math" panose="02040503050406030204" pitchFamily="18" charset="0"/>
                        <a:ea typeface="Cambria Math" panose="02040503050406030204" pitchFamily="18" charset="0"/>
                      </a:rPr>
                      <m:t>𝜇</m:t>
                    </m:r>
                  </m:oMath>
                </a14:m>
                <a:endParaRPr lang="en-CA" sz="220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801379"/>
                <a:ext cx="9143999" cy="4856418"/>
              </a:xfrm>
              <a:blipFill>
                <a:blip r:embed="rId3"/>
                <a:stretch>
                  <a:fillRect l="-867"/>
                </a:stretch>
              </a:blipFill>
            </p:spPr>
            <p:txBody>
              <a:bodyPr/>
              <a:lstStyle/>
              <a:p>
                <a:r>
                  <a:rPr lang="en-GH">
                    <a:noFill/>
                  </a:rPr>
                  <a:t> </a:t>
                </a:r>
              </a:p>
            </p:txBody>
          </p:sp>
        </mc:Fallback>
      </mc:AlternateContent>
    </p:spTree>
    <p:extLst>
      <p:ext uri="{BB962C8B-B14F-4D97-AF65-F5344CB8AC3E}">
        <p14:creationId xmlns:p14="http://schemas.microsoft.com/office/powerpoint/2010/main" val="1191784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387"/>
            <a:ext cx="9144000" cy="568940"/>
          </a:xfrm>
        </p:spPr>
        <p:txBody>
          <a:bodyPr>
            <a:normAutofit/>
          </a:bodyPr>
          <a:lstStyle/>
          <a:p>
            <a:r>
              <a:rPr kumimoji="0" lang="en-CA"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Application of the Pi Theorem</a:t>
            </a:r>
            <a:endParaRPr lang="en-CA" sz="16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49597"/>
                <a:ext cx="9144000" cy="5202564"/>
              </a:xfrm>
            </p:spPr>
            <p:txBody>
              <a:bodyPr>
                <a:noAutofit/>
              </a:bodyPr>
              <a:lstStyle/>
              <a:p>
                <a:pPr marL="0" indent="0">
                  <a:lnSpc>
                    <a:spcPct val="100000"/>
                  </a:lnSpc>
                  <a:spcBef>
                    <a:spcPts val="600"/>
                  </a:spcBef>
                  <a:spcAft>
                    <a:spcPts val="600"/>
                  </a:spcAft>
                  <a:buNone/>
                </a:pPr>
                <a:endParaRPr lang="en-CA" dirty="0">
                  <a:solidFill>
                    <a:schemeClr val="tx1"/>
                  </a:solidFill>
                  <a:latin typeface="+mn-lt"/>
                </a:endParaRPr>
              </a:p>
              <a:p>
                <a:pPr marL="0" indent="0">
                  <a:lnSpc>
                    <a:spcPct val="100000"/>
                  </a:lnSpc>
                  <a:spcBef>
                    <a:spcPts val="600"/>
                  </a:spcBef>
                  <a:spcAft>
                    <a:spcPts val="600"/>
                  </a:spcAft>
                  <a:buNone/>
                </a:pPr>
                <a:r>
                  <a:rPr lang="en-CA" dirty="0">
                    <a:solidFill>
                      <a:schemeClr val="tx1"/>
                    </a:solidFill>
                    <a:latin typeface="+mn-lt"/>
                  </a:rPr>
                  <a:t>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smtClean="0">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1</m:t>
                        </m:r>
                      </m:sub>
                    </m:sSub>
                    <m:r>
                      <a:rPr lang="en-CA" b="0" i="1" smtClean="0">
                        <a:solidFill>
                          <a:schemeClr val="tx1"/>
                        </a:solidFill>
                        <a:latin typeface="Cambria Math" panose="02040503050406030204" pitchFamily="18" charset="0"/>
                      </a:rPr>
                      <m:t>=</m:t>
                    </m:r>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ea typeface="Cambria Math" panose="02040503050406030204" pitchFamily="18" charset="0"/>
                          </a:rPr>
                          <m:t>𝜌</m:t>
                        </m:r>
                      </m:e>
                      <m:sup>
                        <m:r>
                          <a:rPr lang="en-CA" b="0" i="1" smtClean="0">
                            <a:solidFill>
                              <a:schemeClr val="tx1"/>
                            </a:solidFill>
                            <a:latin typeface="Cambria Math" panose="02040503050406030204" pitchFamily="18" charset="0"/>
                          </a:rPr>
                          <m:t>𝑎</m:t>
                        </m:r>
                      </m:sup>
                    </m:sSup>
                    <m:sSup>
                      <m:sSupPr>
                        <m:ctrlPr>
                          <a:rPr lang="en-CA" i="1" smtClean="0">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𝑉</m:t>
                        </m:r>
                        <m:r>
                          <m:rPr>
                            <m:nor/>
                          </m:rPr>
                          <a:rPr lang="en-CA" dirty="0">
                            <a:solidFill>
                              <a:schemeClr val="tx1"/>
                            </a:solidFill>
                            <a:latin typeface="+mn-lt"/>
                          </a:rPr>
                          <m:t> </m:t>
                        </m:r>
                      </m:e>
                      <m:sup>
                        <m:r>
                          <a:rPr lang="en-CA" b="0" i="1" smtClean="0">
                            <a:solidFill>
                              <a:schemeClr val="tx1"/>
                            </a:solidFill>
                            <a:latin typeface="Cambria Math" panose="02040503050406030204" pitchFamily="18" charset="0"/>
                          </a:rPr>
                          <m:t>𝑏</m:t>
                        </m:r>
                      </m:sup>
                    </m:sSup>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𝐷</m:t>
                        </m:r>
                      </m:e>
                      <m:sup>
                        <m:r>
                          <a:rPr lang="en-CA" b="0" i="1" smtClean="0">
                            <a:solidFill>
                              <a:schemeClr val="tx1"/>
                            </a:solidFill>
                            <a:latin typeface="Cambria Math" panose="02040503050406030204" pitchFamily="18" charset="0"/>
                          </a:rPr>
                          <m:t>𝑐</m:t>
                        </m:r>
                      </m:sup>
                    </m:sSup>
                    <m:r>
                      <a:rPr lang="en-CA" b="0" i="1" smtClean="0">
                        <a:solidFill>
                          <a:schemeClr val="tx1"/>
                        </a:solidFill>
                        <a:latin typeface="Cambria Math" panose="02040503050406030204" pitchFamily="18" charset="0"/>
                      </a:rPr>
                      <m:t>𝐹</m:t>
                    </m:r>
                  </m:oMath>
                </a14:m>
                <a:r>
                  <a:rPr lang="en-CA" dirty="0">
                    <a:solidFill>
                      <a:schemeClr val="tx1"/>
                    </a:solidFill>
                    <a:latin typeface="+mn-lt"/>
                  </a:rPr>
                  <a:t>       and          </a:t>
                </a:r>
                <a14:m>
                  <m:oMath xmlns:m="http://schemas.openxmlformats.org/officeDocument/2006/math">
                    <m:sSub>
                      <m:sSubPr>
                        <m:ctrlPr>
                          <a:rPr lang="en-CA" i="1">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2</m:t>
                        </m:r>
                      </m:sub>
                    </m:sSub>
                    <m:r>
                      <a:rPr lang="en-CA" b="0" i="1">
                        <a:solidFill>
                          <a:schemeClr val="tx1"/>
                        </a:solidFill>
                        <a:latin typeface="Cambria Math" panose="02040503050406030204" pitchFamily="18" charset="0"/>
                      </a:rPr>
                      <m:t>=</m:t>
                    </m:r>
                    <m:sSup>
                      <m:sSupPr>
                        <m:ctrlPr>
                          <a:rPr lang="en-CA" i="1" smtClean="0">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𝜌</m:t>
                        </m:r>
                      </m:e>
                      <m:sup>
                        <m:r>
                          <a:rPr lang="en-CA" b="0" i="1" smtClean="0">
                            <a:solidFill>
                              <a:schemeClr val="tx1"/>
                            </a:solidFill>
                            <a:latin typeface="Cambria Math" panose="02040503050406030204" pitchFamily="18" charset="0"/>
                          </a:rPr>
                          <m:t>𝑑</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𝑉</m:t>
                        </m:r>
                        <m:r>
                          <m:rPr>
                            <m:nor/>
                          </m:rPr>
                          <a:rPr lang="en-CA" dirty="0">
                            <a:solidFill>
                              <a:schemeClr val="tx1"/>
                            </a:solidFill>
                            <a:latin typeface="+mn-lt"/>
                          </a:rPr>
                          <m:t> </m:t>
                        </m:r>
                      </m:e>
                      <m:sup>
                        <m:r>
                          <a:rPr lang="en-CA" b="0" i="1" smtClean="0">
                            <a:solidFill>
                              <a:schemeClr val="tx1"/>
                            </a:solidFill>
                            <a:latin typeface="Cambria Math" panose="02040503050406030204" pitchFamily="18" charset="0"/>
                          </a:rPr>
                          <m:t>𝑒</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𝐷</m:t>
                        </m:r>
                      </m:e>
                      <m:sup>
                        <m:r>
                          <a:rPr lang="en-CA" b="0" i="1" smtClean="0">
                            <a:solidFill>
                              <a:schemeClr val="tx1"/>
                            </a:solidFill>
                            <a:latin typeface="Cambria Math" panose="02040503050406030204" pitchFamily="18" charset="0"/>
                          </a:rPr>
                          <m:t>𝑓</m:t>
                        </m:r>
                      </m:sup>
                    </m:sSup>
                    <m:r>
                      <a:rPr lang="en-CA" b="0" i="1" smtClean="0">
                        <a:solidFill>
                          <a:schemeClr val="tx1"/>
                        </a:solidFill>
                        <a:latin typeface="Cambria Math" panose="02040503050406030204" pitchFamily="18" charset="0"/>
                        <a:ea typeface="Cambria Math" panose="02040503050406030204" pitchFamily="18" charset="0"/>
                      </a:rPr>
                      <m:t>𝜇</m:t>
                    </m:r>
                  </m:oMath>
                </a14:m>
                <a:endParaRPr lang="en-CA" dirty="0">
                  <a:solidFill>
                    <a:schemeClr val="tx1"/>
                  </a:solidFill>
                  <a:latin typeface="+mn-lt"/>
                </a:endParaRPr>
              </a:p>
              <a:p>
                <a:pPr marL="0" indent="0">
                  <a:lnSpc>
                    <a:spcPct val="100000"/>
                  </a:lnSpc>
                  <a:spcBef>
                    <a:spcPts val="1800"/>
                  </a:spcBef>
                  <a:spcAft>
                    <a:spcPts val="1200"/>
                  </a:spcAft>
                  <a:buNone/>
                </a:pPr>
                <a:r>
                  <a:rPr lang="en-CA" dirty="0">
                    <a:solidFill>
                      <a:schemeClr val="tx1"/>
                    </a:solidFill>
                    <a:latin typeface="+mn-lt"/>
                  </a:rPr>
                  <a:t>For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a:solidFill>
                              <a:schemeClr val="tx1"/>
                            </a:solidFill>
                            <a:latin typeface="Cambria Math" panose="02040503050406030204" pitchFamily="18" charset="0"/>
                          </a:rPr>
                          <m:t>1</m:t>
                        </m:r>
                      </m:sub>
                    </m:sSub>
                  </m:oMath>
                </a14:m>
                <a:r>
                  <a:rPr lang="en-CA" dirty="0">
                    <a:solidFill>
                      <a:schemeClr val="tx1"/>
                    </a:solidFill>
                    <a:latin typeface="+mn-lt"/>
                  </a:rPr>
                  <a:t>, we have: </a:t>
                </a:r>
                <a14:m>
                  <m:oMath xmlns:m="http://schemas.openxmlformats.org/officeDocument/2006/math">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3</m:t>
                                    </m:r>
                                  </m:sup>
                                </m:sSup>
                              </m:den>
                            </m:f>
                          </m:e>
                        </m:d>
                      </m:e>
                      <m:sup>
                        <m:r>
                          <a:rPr lang="en-CA" b="0" i="1" smtClean="0">
                            <a:solidFill>
                              <a:schemeClr val="tx1"/>
                            </a:solidFill>
                            <a:latin typeface="Cambria Math" panose="02040503050406030204" pitchFamily="18" charset="0"/>
                          </a:rPr>
                          <m:t>𝑎</m:t>
                        </m:r>
                      </m:sup>
                    </m:sSup>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𝐿</m:t>
                                </m:r>
                              </m:num>
                              <m:den>
                                <m:r>
                                  <a:rPr lang="en-CA" b="0" i="1" smtClean="0">
                                    <a:solidFill>
                                      <a:schemeClr val="tx1"/>
                                    </a:solidFill>
                                    <a:latin typeface="Cambria Math" panose="02040503050406030204" pitchFamily="18" charset="0"/>
                                  </a:rPr>
                                  <m:t>𝑡</m:t>
                                </m:r>
                              </m:den>
                            </m:f>
                          </m:e>
                        </m:d>
                      </m:e>
                      <m:sup>
                        <m:r>
                          <a:rPr lang="en-CA" b="0" i="1" smtClean="0">
                            <a:solidFill>
                              <a:schemeClr val="tx1"/>
                            </a:solidFill>
                            <a:latin typeface="Cambria Math" panose="02040503050406030204" pitchFamily="18" charset="0"/>
                          </a:rPr>
                          <m:t>𝑏</m:t>
                        </m:r>
                      </m:sup>
                    </m:sSup>
                    <m:sSup>
                      <m:sSupPr>
                        <m:ctrlPr>
                          <a:rPr lang="en-CA" i="1" smtClean="0">
                            <a:solidFill>
                              <a:schemeClr val="tx1"/>
                            </a:solidFill>
                            <a:latin typeface="Cambria Math" panose="02040503050406030204" pitchFamily="18" charset="0"/>
                          </a:rPr>
                        </m:ctrlPr>
                      </m:sSupPr>
                      <m:e>
                        <m:d>
                          <m:dPr>
                            <m:ctrlPr>
                              <a:rPr lang="en-CA" i="1" smtClean="0">
                                <a:solidFill>
                                  <a:schemeClr val="tx1"/>
                                </a:solidFill>
                                <a:latin typeface="Cambria Math" panose="02040503050406030204" pitchFamily="18" charset="0"/>
                              </a:rPr>
                            </m:ctrlPr>
                          </m:dPr>
                          <m:e>
                            <m:r>
                              <a:rPr lang="en-CA" b="0" i="1" smtClean="0">
                                <a:solidFill>
                                  <a:schemeClr val="tx1"/>
                                </a:solidFill>
                                <a:latin typeface="Cambria Math" panose="02040503050406030204" pitchFamily="18" charset="0"/>
                              </a:rPr>
                              <m:t>𝐿</m:t>
                            </m:r>
                          </m:e>
                        </m:d>
                      </m:e>
                      <m:sup>
                        <m:r>
                          <a:rPr lang="en-CA" b="0" i="1" smtClean="0">
                            <a:solidFill>
                              <a:schemeClr val="tx1"/>
                            </a:solidFill>
                            <a:latin typeface="Cambria Math" panose="02040503050406030204" pitchFamily="18" charset="0"/>
                          </a:rPr>
                          <m:t>𝑐</m:t>
                        </m:r>
                      </m:sup>
                    </m:sSup>
                    <m:d>
                      <m:dPr>
                        <m:ctrlPr>
                          <a:rPr lang="en-CA" i="1" smtClean="0">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𝑀𝐿</m:t>
                            </m:r>
                          </m:num>
                          <m:den>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𝑡</m:t>
                                </m:r>
                              </m:e>
                              <m:sup>
                                <m:r>
                                  <a:rPr lang="en-CA" b="0" i="1" smtClean="0">
                                    <a:solidFill>
                                      <a:schemeClr val="tx1"/>
                                    </a:solidFill>
                                    <a:latin typeface="Cambria Math" panose="02040503050406030204" pitchFamily="18" charset="0"/>
                                  </a:rPr>
                                  <m:t>2</m:t>
                                </m:r>
                              </m:sup>
                            </m:sSup>
                          </m:den>
                        </m:f>
                      </m:e>
                    </m:d>
                    <m:r>
                      <a:rPr lang="en-CA" b="0" i="1" smtClean="0">
                        <a:solidFill>
                          <a:schemeClr val="tx1"/>
                        </a:solidFill>
                        <a:latin typeface="Cambria Math" panose="02040503050406030204" pitchFamily="18" charset="0"/>
                      </a:rPr>
                      <m:t>=</m:t>
                    </m:r>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𝑀</m:t>
                        </m:r>
                      </m:e>
                      <m:sup>
                        <m:r>
                          <a:rPr lang="en-CA" b="0" i="1" smtClean="0">
                            <a:solidFill>
                              <a:schemeClr val="tx1"/>
                            </a:solidFill>
                            <a:latin typeface="Cambria Math" panose="02040503050406030204" pitchFamily="18" charset="0"/>
                          </a:rPr>
                          <m:t>0</m:t>
                        </m:r>
                      </m:sup>
                    </m:sSup>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𝐿</m:t>
                        </m:r>
                      </m:e>
                      <m:sup>
                        <m:r>
                          <a:rPr lang="en-CA" b="0" i="1" smtClean="0">
                            <a:solidFill>
                              <a:schemeClr val="tx1"/>
                            </a:solidFill>
                            <a:latin typeface="Cambria Math" panose="02040503050406030204" pitchFamily="18" charset="0"/>
                          </a:rPr>
                          <m:t>0</m:t>
                        </m:r>
                      </m:sup>
                    </m:sSup>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𝑡</m:t>
                        </m:r>
                      </m:e>
                      <m:sup>
                        <m:r>
                          <a:rPr lang="en-CA" b="0" i="1" smtClean="0">
                            <a:solidFill>
                              <a:schemeClr val="tx1"/>
                            </a:solidFill>
                            <a:latin typeface="Cambria Math" panose="02040503050406030204" pitchFamily="18" charset="0"/>
                          </a:rPr>
                          <m:t>0</m:t>
                        </m:r>
                      </m:sup>
                    </m:sSup>
                  </m:oMath>
                </a14:m>
                <a:r>
                  <a:rPr lang="en-CA" dirty="0">
                    <a:solidFill>
                      <a:schemeClr val="tx1"/>
                    </a:solidFill>
                    <a:latin typeface="+mn-lt"/>
                  </a:rPr>
                  <a:t> </a:t>
                </a:r>
                <a14:m>
                  <m:oMath xmlns:m="http://schemas.openxmlformats.org/officeDocument/2006/math">
                    <m:r>
                      <a:rPr lang="en-CA" b="0" i="1" dirty="0" smtClean="0">
                        <a:solidFill>
                          <a:schemeClr val="tx1"/>
                        </a:solidFill>
                        <a:latin typeface="Cambria Math" panose="02040503050406030204" pitchFamily="18" charset="0"/>
                        <a:ea typeface="Cambria Math" panose="02040503050406030204" pitchFamily="18" charset="0"/>
                      </a:rPr>
                      <m:t>⟹</m:t>
                    </m:r>
                    <m:sSub>
                      <m:sSubPr>
                        <m:ctrlPr>
                          <a:rPr lang="en-CA" i="1" dirty="0" smtClean="0">
                            <a:solidFill>
                              <a:schemeClr val="tx1"/>
                            </a:solidFill>
                            <a:latin typeface="Cambria Math" panose="02040503050406030204" pitchFamily="18" charset="0"/>
                            <a:ea typeface="Cambria Math" panose="02040503050406030204" pitchFamily="18" charset="0"/>
                          </a:rPr>
                        </m:ctrlPr>
                      </m:sSubPr>
                      <m:e>
                        <m:r>
                          <a:rPr lang="el-GR" b="0" i="1" dirty="0" smtClean="0">
                            <a:solidFill>
                              <a:schemeClr val="tx1"/>
                            </a:solidFill>
                            <a:latin typeface="Cambria Math" panose="02040503050406030204" pitchFamily="18" charset="0"/>
                            <a:ea typeface="Cambria Math" panose="02040503050406030204" pitchFamily="18" charset="0"/>
                          </a:rPr>
                          <m:t>𝛱</m:t>
                        </m:r>
                      </m:e>
                      <m:sub>
                        <m:r>
                          <a:rPr lang="en-CA" b="0" i="1" dirty="0" smtClean="0">
                            <a:solidFill>
                              <a:schemeClr val="tx1"/>
                            </a:solidFill>
                            <a:latin typeface="Cambria Math" panose="02040503050406030204" pitchFamily="18" charset="0"/>
                            <a:ea typeface="Cambria Math" panose="02040503050406030204" pitchFamily="18" charset="0"/>
                          </a:rPr>
                          <m:t>1</m:t>
                        </m:r>
                      </m:sub>
                    </m:sSub>
                    <m:r>
                      <a:rPr lang="en-CA" b="0" i="1" dirty="0" smtClean="0">
                        <a:solidFill>
                          <a:schemeClr val="tx1"/>
                        </a:solidFill>
                        <a:latin typeface="Cambria Math" panose="02040503050406030204" pitchFamily="18" charset="0"/>
                        <a:ea typeface="Cambria Math" panose="02040503050406030204" pitchFamily="18" charset="0"/>
                      </a:rPr>
                      <m:t>=</m:t>
                    </m:r>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𝐹</m:t>
                        </m:r>
                      </m:num>
                      <m:den>
                        <m:r>
                          <a:rPr lang="en-CA" b="0" i="1">
                            <a:solidFill>
                              <a:schemeClr val="tx1"/>
                            </a:solidFill>
                            <a:latin typeface="Cambria Math" panose="02040503050406030204" pitchFamily="18" charset="0"/>
                            <a:ea typeface="Cambria Math" panose="02040503050406030204" pitchFamily="18" charset="0"/>
                          </a:rPr>
                          <m:t>𝜌</m:t>
                        </m:r>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𝑉</m:t>
                            </m:r>
                          </m:e>
                          <m:sup>
                            <m:r>
                              <a:rPr lang="en-CA" b="0" i="1">
                                <a:solidFill>
                                  <a:schemeClr val="tx1"/>
                                </a:solidFill>
                                <a:latin typeface="Cambria Math" panose="02040503050406030204" pitchFamily="18" charset="0"/>
                                <a:ea typeface="Cambria Math" panose="02040503050406030204" pitchFamily="18" charset="0"/>
                              </a:rPr>
                              <m:t>2</m:t>
                            </m:r>
                          </m:sup>
                        </m:sSup>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𝐷</m:t>
                            </m:r>
                          </m:e>
                          <m:sup>
                            <m:r>
                              <a:rPr lang="en-CA" b="0" i="1">
                                <a:solidFill>
                                  <a:schemeClr val="tx1"/>
                                </a:solidFill>
                                <a:latin typeface="Cambria Math" panose="02040503050406030204" pitchFamily="18" charset="0"/>
                                <a:ea typeface="Cambria Math" panose="02040503050406030204" pitchFamily="18" charset="0"/>
                              </a:rPr>
                              <m:t>2</m:t>
                            </m:r>
                          </m:sup>
                        </m:sSup>
                      </m:den>
                    </m:f>
                  </m:oMath>
                </a14:m>
                <a:endParaRPr lang="en-CA" dirty="0">
                  <a:solidFill>
                    <a:schemeClr val="tx1"/>
                  </a:solidFill>
                  <a:latin typeface="+mn-lt"/>
                </a:endParaRPr>
              </a:p>
              <a:p>
                <a:pPr marL="0" indent="0">
                  <a:lnSpc>
                    <a:spcPct val="100000"/>
                  </a:lnSpc>
                  <a:spcBef>
                    <a:spcPts val="600"/>
                  </a:spcBef>
                  <a:spcAft>
                    <a:spcPts val="1200"/>
                  </a:spcAft>
                  <a:buNone/>
                </a:pPr>
                <a:r>
                  <a:rPr lang="en-CA" dirty="0">
                    <a:solidFill>
                      <a:schemeClr val="tx1"/>
                    </a:solidFill>
                    <a:latin typeface="+mn-lt"/>
                  </a:rPr>
                  <a:t>For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2</m:t>
                        </m:r>
                      </m:sub>
                    </m:sSub>
                  </m:oMath>
                </a14:m>
                <a:r>
                  <a:rPr lang="en-CA" dirty="0">
                    <a:solidFill>
                      <a:schemeClr val="tx1"/>
                    </a:solidFill>
                    <a:latin typeface="+mn-lt"/>
                  </a:rPr>
                  <a:t>, we have: </a:t>
                </a:r>
                <a14:m>
                  <m:oMath xmlns:m="http://schemas.openxmlformats.org/officeDocument/2006/math">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3</m:t>
                                    </m:r>
                                  </m:sup>
                                </m:sSup>
                              </m:den>
                            </m:f>
                          </m:e>
                        </m:d>
                      </m:e>
                      <m:sup>
                        <m:r>
                          <a:rPr lang="en-CA" b="0" i="1" smtClean="0">
                            <a:solidFill>
                              <a:schemeClr val="tx1"/>
                            </a:solidFill>
                            <a:latin typeface="Cambria Math" panose="02040503050406030204" pitchFamily="18" charset="0"/>
                          </a:rPr>
                          <m:t>𝑑</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𝐿</m:t>
                                </m:r>
                              </m:num>
                              <m:den>
                                <m:r>
                                  <a:rPr lang="en-CA" b="0" i="1">
                                    <a:solidFill>
                                      <a:schemeClr val="tx1"/>
                                    </a:solidFill>
                                    <a:latin typeface="Cambria Math" panose="02040503050406030204" pitchFamily="18" charset="0"/>
                                  </a:rPr>
                                  <m:t>𝑡</m:t>
                                </m:r>
                              </m:den>
                            </m:f>
                          </m:e>
                        </m:d>
                      </m:e>
                      <m:sup>
                        <m:r>
                          <a:rPr lang="en-CA" b="0" i="1" smtClean="0">
                            <a:solidFill>
                              <a:schemeClr val="tx1"/>
                            </a:solidFill>
                            <a:latin typeface="Cambria Math" panose="02040503050406030204" pitchFamily="18" charset="0"/>
                          </a:rPr>
                          <m:t>𝑒</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r>
                              <a:rPr lang="en-CA" b="0" i="1">
                                <a:solidFill>
                                  <a:schemeClr val="tx1"/>
                                </a:solidFill>
                                <a:latin typeface="Cambria Math" panose="02040503050406030204" pitchFamily="18" charset="0"/>
                              </a:rPr>
                              <m:t>𝐿</m:t>
                            </m:r>
                          </m:e>
                        </m:d>
                      </m:e>
                      <m:sup>
                        <m:r>
                          <a:rPr lang="en-CA" b="0" i="1" smtClean="0">
                            <a:solidFill>
                              <a:schemeClr val="tx1"/>
                            </a:solidFill>
                            <a:latin typeface="Cambria Math" panose="02040503050406030204" pitchFamily="18" charset="0"/>
                          </a:rPr>
                          <m:t>𝑓</m:t>
                        </m:r>
                      </m:sup>
                    </m:sSup>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r>
                              <a:rPr lang="en-CA" b="0" i="1" smtClean="0">
                                <a:solidFill>
                                  <a:schemeClr val="tx1"/>
                                </a:solidFill>
                                <a:latin typeface="Cambria Math" panose="02040503050406030204" pitchFamily="18" charset="0"/>
                              </a:rPr>
                              <m:t>𝐿𝑡</m:t>
                            </m:r>
                          </m:den>
                        </m:f>
                      </m:e>
                    </m:d>
                    <m:r>
                      <a:rPr lang="en-CA" b="0" i="1">
                        <a:solidFill>
                          <a:schemeClr val="tx1"/>
                        </a:solidFill>
                        <a:latin typeface="Cambria Math" panose="02040503050406030204" pitchFamily="18" charset="0"/>
                      </a:rPr>
                      <m:t>=</m:t>
                    </m:r>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𝑀</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𝑡</m:t>
                        </m:r>
                      </m:e>
                      <m:sup>
                        <m:r>
                          <a:rPr lang="en-CA" b="0" i="1">
                            <a:solidFill>
                              <a:schemeClr val="tx1"/>
                            </a:solidFill>
                            <a:latin typeface="Cambria Math" panose="02040503050406030204" pitchFamily="18" charset="0"/>
                          </a:rPr>
                          <m:t>0</m:t>
                        </m:r>
                      </m:sup>
                    </m:sSup>
                  </m:oMath>
                </a14:m>
                <a:r>
                  <a:rPr lang="en-CA" dirty="0">
                    <a:solidFill>
                      <a:schemeClr val="tx1"/>
                    </a:solidFill>
                    <a:latin typeface="+mn-lt"/>
                  </a:rPr>
                  <a:t> </a:t>
                </a:r>
                <a14:m>
                  <m:oMath xmlns:m="http://schemas.openxmlformats.org/officeDocument/2006/math">
                    <m:r>
                      <a:rPr lang="en-CA" b="0" i="1" dirty="0">
                        <a:solidFill>
                          <a:schemeClr val="tx1"/>
                        </a:solidFill>
                        <a:latin typeface="Cambria Math" panose="02040503050406030204" pitchFamily="18" charset="0"/>
                        <a:ea typeface="Cambria Math" panose="02040503050406030204" pitchFamily="18" charset="0"/>
                      </a:rPr>
                      <m:t>⟹</m:t>
                    </m:r>
                    <m:sSub>
                      <m:sSubPr>
                        <m:ctrlPr>
                          <a:rPr lang="en-CA" i="1" dirty="0" smtClean="0">
                            <a:solidFill>
                              <a:schemeClr val="tx1"/>
                            </a:solidFill>
                            <a:latin typeface="Cambria Math" panose="02040503050406030204" pitchFamily="18" charset="0"/>
                            <a:ea typeface="Cambria Math" panose="02040503050406030204" pitchFamily="18" charset="0"/>
                          </a:rPr>
                        </m:ctrlPr>
                      </m:sSubPr>
                      <m:e>
                        <m:r>
                          <a:rPr lang="el-GR" b="0" i="1" dirty="0">
                            <a:solidFill>
                              <a:schemeClr val="tx1"/>
                            </a:solidFill>
                            <a:latin typeface="Cambria Math" panose="02040503050406030204" pitchFamily="18" charset="0"/>
                            <a:ea typeface="Cambria Math" panose="02040503050406030204" pitchFamily="18" charset="0"/>
                          </a:rPr>
                          <m:t>𝛱</m:t>
                        </m:r>
                      </m:e>
                      <m:sub>
                        <m:r>
                          <a:rPr lang="en-CA" b="0" i="1" dirty="0" smtClean="0">
                            <a:solidFill>
                              <a:schemeClr val="tx1"/>
                            </a:solidFill>
                            <a:latin typeface="Cambria Math" panose="02040503050406030204" pitchFamily="18" charset="0"/>
                            <a:ea typeface="Cambria Math" panose="02040503050406030204" pitchFamily="18" charset="0"/>
                          </a:rPr>
                          <m:t>2</m:t>
                        </m:r>
                      </m:sub>
                    </m:sSub>
                    <m:r>
                      <a:rPr lang="en-CA" b="0" i="1" dirty="0">
                        <a:solidFill>
                          <a:schemeClr val="tx1"/>
                        </a:solidFill>
                        <a:latin typeface="Cambria Math" panose="02040503050406030204" pitchFamily="18" charset="0"/>
                        <a:ea typeface="Cambria Math" panose="02040503050406030204" pitchFamily="18" charset="0"/>
                      </a:rPr>
                      <m:t>=</m:t>
                    </m:r>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ea typeface="Cambria Math" panose="02040503050406030204" pitchFamily="18" charset="0"/>
                          </a:rPr>
                          <m:t>𝜇</m:t>
                        </m:r>
                      </m:num>
                      <m:den>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𝑉𝐷</m:t>
                        </m:r>
                      </m:den>
                    </m:f>
                  </m:oMath>
                </a14:m>
                <a:endParaRPr lang="en-CA" dirty="0">
                  <a:solidFill>
                    <a:schemeClr val="tx1"/>
                  </a:solidFill>
                  <a:latin typeface="+mn-lt"/>
                </a:endParaRPr>
              </a:p>
              <a:p>
                <a:pPr marL="0" indent="0">
                  <a:lnSpc>
                    <a:spcPct val="100000"/>
                  </a:lnSpc>
                  <a:spcBef>
                    <a:spcPts val="600"/>
                  </a:spcBef>
                  <a:spcAft>
                    <a:spcPts val="1200"/>
                  </a:spcAft>
                  <a:buNone/>
                </a:pPr>
                <a:r>
                  <a:rPr lang="en-CA" dirty="0">
                    <a:solidFill>
                      <a:schemeClr val="tx1"/>
                    </a:solidFill>
                    <a:latin typeface="+mn-lt"/>
                  </a:rPr>
                  <a:t>Thus </a:t>
                </a:r>
                <a14:m>
                  <m:oMath xmlns:m="http://schemas.openxmlformats.org/officeDocument/2006/math">
                    <m:sSub>
                      <m:sSubPr>
                        <m:ctrlPr>
                          <a:rPr lang="en-CA" i="1">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a:solidFill>
                              <a:schemeClr val="tx1"/>
                            </a:solidFill>
                            <a:latin typeface="Cambria Math" panose="02040503050406030204" pitchFamily="18" charset="0"/>
                          </a:rPr>
                          <m:t>1</m:t>
                        </m:r>
                      </m:sub>
                    </m:sSub>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𝑓</m:t>
                    </m:r>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2</m:t>
                        </m:r>
                      </m:sub>
                    </m:sSub>
                    <m:r>
                      <a:rPr lang="en-CA" b="0" i="1" smtClean="0">
                        <a:solidFill>
                          <a:schemeClr val="tx1"/>
                        </a:solidFill>
                        <a:latin typeface="Cambria Math" panose="02040503050406030204" pitchFamily="18" charset="0"/>
                      </a:rPr>
                      <m:t>)</m:t>
                    </m:r>
                  </m:oMath>
                </a14:m>
                <a:r>
                  <a:rPr lang="en-CA" dirty="0">
                    <a:solidFill>
                      <a:schemeClr val="tx1"/>
                    </a:solidFill>
                    <a:latin typeface="+mn-lt"/>
                  </a:rPr>
                  <a:t> </a:t>
                </a:r>
                <a14:m>
                  <m:oMath xmlns:m="http://schemas.openxmlformats.org/officeDocument/2006/math">
                    <m:r>
                      <a:rPr lang="en-CA" b="0" i="1" dirty="0">
                        <a:solidFill>
                          <a:schemeClr val="tx1"/>
                        </a:solidFill>
                        <a:latin typeface="Cambria Math" panose="02040503050406030204" pitchFamily="18" charset="0"/>
                        <a:ea typeface="Cambria Math" panose="02040503050406030204" pitchFamily="18" charset="0"/>
                      </a:rPr>
                      <m:t>⟹</m:t>
                    </m:r>
                  </m:oMath>
                </a14:m>
                <a:r>
                  <a:rPr lang="en-CA" dirty="0">
                    <a:solidFill>
                      <a:schemeClr val="tx1"/>
                    </a:solidFill>
                    <a:latin typeface="+mn-lt"/>
                  </a:rPr>
                  <a:t> </a:t>
                </a:r>
                <a14:m>
                  <m:oMath xmlns:m="http://schemas.openxmlformats.org/officeDocument/2006/math">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𝐹</m:t>
                        </m:r>
                      </m:num>
                      <m:den>
                        <m:r>
                          <a:rPr lang="en-CA" b="0" i="1">
                            <a:solidFill>
                              <a:schemeClr val="tx1"/>
                            </a:solidFill>
                            <a:latin typeface="Cambria Math" panose="02040503050406030204" pitchFamily="18" charset="0"/>
                            <a:ea typeface="Cambria Math" panose="02040503050406030204" pitchFamily="18" charset="0"/>
                          </a:rPr>
                          <m:t>𝜌</m:t>
                        </m:r>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𝑉</m:t>
                            </m:r>
                          </m:e>
                          <m:sup>
                            <m:r>
                              <a:rPr lang="en-CA" b="0" i="1">
                                <a:solidFill>
                                  <a:schemeClr val="tx1"/>
                                </a:solidFill>
                                <a:latin typeface="Cambria Math" panose="02040503050406030204" pitchFamily="18" charset="0"/>
                                <a:ea typeface="Cambria Math" panose="02040503050406030204" pitchFamily="18" charset="0"/>
                              </a:rPr>
                              <m:t>2</m:t>
                            </m:r>
                          </m:sup>
                        </m:sSup>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𝐷</m:t>
                            </m:r>
                          </m:e>
                          <m:sup>
                            <m:r>
                              <a:rPr lang="en-CA" b="0" i="1">
                                <a:solidFill>
                                  <a:schemeClr val="tx1"/>
                                </a:solidFill>
                                <a:latin typeface="Cambria Math" panose="02040503050406030204" pitchFamily="18" charset="0"/>
                                <a:ea typeface="Cambria Math" panose="02040503050406030204" pitchFamily="18" charset="0"/>
                              </a:rPr>
                              <m:t>2</m:t>
                            </m:r>
                          </m:sup>
                        </m:sSup>
                      </m:den>
                    </m:f>
                    <m:r>
                      <a:rPr lang="en-CA" b="0" i="0"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𝑓</m:t>
                    </m:r>
                    <m:d>
                      <m:dPr>
                        <m:ctrlPr>
                          <a:rPr lang="en-CA" i="1" smtClean="0">
                            <a:solidFill>
                              <a:schemeClr val="tx1"/>
                            </a:solidFill>
                            <a:latin typeface="Cambria Math" panose="02040503050406030204" pitchFamily="18" charset="0"/>
                            <a:ea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ea typeface="Cambria Math" panose="02040503050406030204" pitchFamily="18" charset="0"/>
                              </a:rPr>
                              <m:t>𝜇</m:t>
                            </m:r>
                          </m:num>
                          <m:den>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𝑉𝐷</m:t>
                            </m:r>
                          </m:den>
                        </m:f>
                      </m:e>
                    </m:d>
                  </m:oMath>
                </a14:m>
                <a:endParaRPr lang="en-CA" dirty="0">
                  <a:solidFill>
                    <a:schemeClr val="tx1"/>
                  </a:solidFill>
                  <a:latin typeface="+mn-lt"/>
                </a:endParaRPr>
              </a:p>
              <a:p>
                <a:pPr marL="0" indent="0">
                  <a:lnSpc>
                    <a:spcPct val="110000"/>
                  </a:lnSpc>
                  <a:buNone/>
                </a:pPr>
                <a:r>
                  <a:rPr lang="en-CA" dirty="0">
                    <a:solidFill>
                      <a:schemeClr val="tx1"/>
                    </a:solidFill>
                    <a:latin typeface="+mn-lt"/>
                  </a:rPr>
                  <a:t>Step 6: Check to see that each group obtained is dimensionless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49597"/>
                <a:ext cx="9144000" cy="5202564"/>
              </a:xfrm>
              <a:blipFill>
                <a:blip r:embed="rId3"/>
                <a:stretch>
                  <a:fillRect l="-1000"/>
                </a:stretch>
              </a:blipFill>
            </p:spPr>
            <p:txBody>
              <a:bodyPr/>
              <a:lstStyle/>
              <a:p>
                <a:r>
                  <a:rPr lang="en-GH">
                    <a:noFill/>
                  </a:rPr>
                  <a:t> </a:t>
                </a:r>
              </a:p>
            </p:txBody>
          </p:sp>
        </mc:Fallback>
      </mc:AlternateContent>
    </p:spTree>
    <p:extLst>
      <p:ext uri="{BB962C8B-B14F-4D97-AF65-F5344CB8AC3E}">
        <p14:creationId xmlns:p14="http://schemas.microsoft.com/office/powerpoint/2010/main" val="3194423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Dimensionless Groups of Significance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21415"/>
                <a:ext cx="9144000" cy="3850585"/>
              </a:xfrm>
            </p:spPr>
            <p:txBody>
              <a:bodyPr>
                <a:normAutofit/>
              </a:bodyPr>
              <a:lstStyle/>
              <a:p>
                <a:pPr>
                  <a:lnSpc>
                    <a:spcPct val="150000"/>
                  </a:lnSpc>
                </a:pPr>
                <a:r>
                  <a:rPr lang="en-CA" b="1" dirty="0">
                    <a:solidFill>
                      <a:schemeClr val="tx1"/>
                    </a:solidFill>
                  </a:rPr>
                  <a:t>Reynolds number: </a:t>
                </a:r>
                <a14:m>
                  <m:oMath xmlns:m="http://schemas.openxmlformats.org/officeDocument/2006/math">
                    <m:r>
                      <a:rPr lang="en-CA" b="1" i="1" smtClean="0">
                        <a:solidFill>
                          <a:schemeClr val="tx1"/>
                        </a:solidFill>
                        <a:latin typeface="Cambria Math" panose="02040503050406030204" pitchFamily="18" charset="0"/>
                      </a:rPr>
                      <m:t>𝑹𝒆</m:t>
                    </m:r>
                    <m:r>
                      <a:rPr lang="en-CA" b="1" i="1" smtClean="0">
                        <a:solidFill>
                          <a:schemeClr val="tx1"/>
                        </a:solidFill>
                        <a:latin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𝑰𝒏𝒆𝒓𝒕𝒊𝒂</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num>
                      <m:den>
                        <m:r>
                          <a:rPr lang="en-CA" b="1" i="1" smtClean="0">
                            <a:solidFill>
                              <a:schemeClr val="tx1"/>
                            </a:solidFill>
                            <a:latin typeface="Cambria Math" panose="02040503050406030204" pitchFamily="18" charset="0"/>
                          </a:rPr>
                          <m:t>𝑽𝒊𝒔𝒄𝒐𝒖𝒔</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den>
                    </m:f>
                    <m:r>
                      <a:rPr lang="en-CA" b="1" i="1"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smtClean="0">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a:solidFill>
                              <a:schemeClr val="tx1"/>
                            </a:solidFill>
                            <a:latin typeface="Cambria Math" panose="02040503050406030204" pitchFamily="18" charset="0"/>
                            <a:ea typeface="Cambria Math" panose="02040503050406030204" pitchFamily="18" charset="0"/>
                          </a:rPr>
                          <m:t>𝝁</m:t>
                        </m:r>
                        <m:r>
                          <a:rPr lang="en-CA" b="1" i="1" smtClean="0">
                            <a:solidFill>
                              <a:schemeClr val="tx1"/>
                            </a:solidFill>
                            <a:latin typeface="Cambria Math" panose="02040503050406030204" pitchFamily="18" charset="0"/>
                            <a:ea typeface="Cambria Math" panose="02040503050406030204" pitchFamily="18" charset="0"/>
                          </a:rPr>
                          <m:t>𝑽𝑳</m:t>
                        </m:r>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𝝆</m:t>
                        </m:r>
                        <m:r>
                          <a:rPr lang="en-CA" b="1" i="1" smtClean="0">
                            <a:solidFill>
                              <a:schemeClr val="tx1"/>
                            </a:solidFill>
                            <a:latin typeface="Cambria Math" panose="02040503050406030204" pitchFamily="18" charset="0"/>
                            <a:ea typeface="Cambria Math" panose="02040503050406030204" pitchFamily="18" charset="0"/>
                          </a:rPr>
                          <m:t>𝑽𝑳</m:t>
                        </m:r>
                      </m:num>
                      <m:den>
                        <m:r>
                          <a:rPr lang="en-CA" b="1" i="1" smtClean="0">
                            <a:solidFill>
                              <a:schemeClr val="tx1"/>
                            </a:solidFill>
                            <a:latin typeface="Cambria Math" panose="02040503050406030204" pitchFamily="18" charset="0"/>
                            <a:ea typeface="Cambria Math" panose="02040503050406030204" pitchFamily="18" charset="0"/>
                          </a:rPr>
                          <m:t>𝝁</m:t>
                        </m:r>
                      </m:den>
                    </m:f>
                  </m:oMath>
                </a14:m>
                <a:r>
                  <a:rPr lang="en-CA" b="1" dirty="0">
                    <a:solidFill>
                      <a:schemeClr val="tx1"/>
                    </a:solidFill>
                  </a:rPr>
                  <a:t> (</a:t>
                </a:r>
                <a:r>
                  <a:rPr lang="en-CA" dirty="0">
                    <a:solidFill>
                      <a:schemeClr val="tx1"/>
                    </a:solidFill>
                  </a:rPr>
                  <a:t>or</a:t>
                </a:r>
                <a:r>
                  <a:rPr lang="en-CA" b="1" dirty="0">
                    <a:solidFill>
                      <a:schemeClr val="tx1"/>
                    </a:solidFill>
                  </a:rPr>
                  <a:t> </a:t>
                </a:r>
                <a14:m>
                  <m:oMath xmlns:m="http://schemas.openxmlformats.org/officeDocument/2006/math">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𝑽𝑫</m:t>
                        </m:r>
                      </m:num>
                      <m:den>
                        <m:r>
                          <a:rPr lang="en-CA" b="1" i="1">
                            <a:solidFill>
                              <a:schemeClr val="tx1"/>
                            </a:solidFill>
                            <a:latin typeface="Cambria Math" panose="02040503050406030204" pitchFamily="18" charset="0"/>
                            <a:ea typeface="Cambria Math" panose="02040503050406030204" pitchFamily="18" charset="0"/>
                          </a:rPr>
                          <m:t>𝝁</m:t>
                        </m:r>
                      </m:den>
                    </m:f>
                  </m:oMath>
                </a14:m>
                <a:r>
                  <a:rPr lang="en-CA" b="1" dirty="0">
                    <a:solidFill>
                      <a:schemeClr val="tx1"/>
                    </a:solidFill>
                  </a:rPr>
                  <a:t>)</a:t>
                </a:r>
              </a:p>
              <a:p>
                <a:pPr>
                  <a:lnSpc>
                    <a:spcPct val="150000"/>
                  </a:lnSpc>
                </a:pPr>
                <a:r>
                  <a:rPr lang="en-CA" b="1" dirty="0">
                    <a:solidFill>
                      <a:schemeClr val="tx1"/>
                    </a:solidFill>
                  </a:rPr>
                  <a:t>Froude number: </a:t>
                </a:r>
                <a14:m>
                  <m:oMath xmlns:m="http://schemas.openxmlformats.org/officeDocument/2006/math">
                    <m:r>
                      <a:rPr lang="en-CA" b="1" i="1" smtClean="0">
                        <a:solidFill>
                          <a:schemeClr val="tx1"/>
                        </a:solidFill>
                        <a:latin typeface="Cambria Math" panose="02040503050406030204" pitchFamily="18" charset="0"/>
                      </a:rPr>
                      <m:t>𝑭𝒓</m:t>
                    </m:r>
                    <m:r>
                      <a:rPr lang="en-CA" b="1" i="1" smtClean="0">
                        <a:solidFill>
                          <a:schemeClr val="tx1"/>
                        </a:solidFill>
                        <a:latin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𝑰𝒏𝒆𝒓𝒕𝒊𝒂</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num>
                      <m:den>
                        <m:r>
                          <a:rPr lang="en-CA" b="1" i="1" smtClean="0">
                            <a:solidFill>
                              <a:schemeClr val="tx1"/>
                            </a:solidFill>
                            <a:latin typeface="Cambria Math" panose="02040503050406030204" pitchFamily="18" charset="0"/>
                          </a:rPr>
                          <m:t>𝑮𝒓𝒂𝒗𝒊𝒕𝒚</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den>
                    </m:f>
                    <m:r>
                      <a:rPr lang="en-CA" b="1" i="1"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smtClean="0">
                            <a:solidFill>
                              <a:schemeClr val="tx1"/>
                            </a:solidFill>
                            <a:latin typeface="Cambria Math" panose="02040503050406030204" pitchFamily="18" charset="0"/>
                            <a:ea typeface="Cambria Math" panose="02040503050406030204" pitchFamily="18" charset="0"/>
                          </a:rPr>
                          <m:t>𝒈</m:t>
                        </m:r>
                        <m:r>
                          <a:rPr lang="en-CA" b="1" i="1">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smtClean="0">
                                <a:solidFill>
                                  <a:schemeClr val="tx1"/>
                                </a:solidFill>
                                <a:latin typeface="Cambria Math" panose="02040503050406030204" pitchFamily="18" charset="0"/>
                                <a:ea typeface="Cambria Math" panose="02040503050406030204" pitchFamily="18" charset="0"/>
                              </a:rPr>
                              <m:t>𝟑</m:t>
                            </m:r>
                          </m:sup>
                        </m:sSup>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a:solidFill>
                              <a:schemeClr val="tx1"/>
                            </a:solidFill>
                            <a:latin typeface="Cambria Math" panose="02040503050406030204" pitchFamily="18" charset="0"/>
                            <a:ea typeface="Cambria Math" panose="02040503050406030204" pitchFamily="18" charset="0"/>
                          </a:rPr>
                          <m:t>𝒈</m:t>
                        </m:r>
                        <m:r>
                          <a:rPr lang="en-CA" b="1" i="1">
                            <a:solidFill>
                              <a:schemeClr val="tx1"/>
                            </a:solidFill>
                            <a:latin typeface="Cambria Math" panose="02040503050406030204" pitchFamily="18" charset="0"/>
                          </a:rPr>
                          <m:t>𝑳</m:t>
                        </m:r>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𝑽</m:t>
                        </m:r>
                      </m:num>
                      <m:den>
                        <m:rad>
                          <m:radPr>
                            <m:degHide m:val="on"/>
                            <m:ctrlPr>
                              <a:rPr lang="en-CA" b="1" i="1" smtClean="0">
                                <a:solidFill>
                                  <a:schemeClr val="tx1"/>
                                </a:solidFill>
                                <a:latin typeface="Cambria Math" panose="02040503050406030204" pitchFamily="18" charset="0"/>
                              </a:rPr>
                            </m:ctrlPr>
                          </m:radPr>
                          <m:deg/>
                          <m:e>
                            <m:r>
                              <a:rPr lang="en-CA" b="1" i="1" smtClean="0">
                                <a:solidFill>
                                  <a:schemeClr val="tx1"/>
                                </a:solidFill>
                                <a:latin typeface="Cambria Math" panose="02040503050406030204" pitchFamily="18" charset="0"/>
                              </a:rPr>
                              <m:t>𝒈𝑳</m:t>
                            </m:r>
                          </m:e>
                        </m:rad>
                      </m:den>
                    </m:f>
                  </m:oMath>
                </a14:m>
                <a:endParaRPr lang="en-CA" b="1" dirty="0">
                  <a:solidFill>
                    <a:schemeClr val="tx1"/>
                  </a:solidFill>
                </a:endParaRPr>
              </a:p>
              <a:p>
                <a:pPr>
                  <a:lnSpc>
                    <a:spcPct val="150000"/>
                  </a:lnSpc>
                </a:pPr>
                <a:endParaRPr lang="en-CA" sz="1600" b="1" dirty="0"/>
              </a:p>
              <a:p>
                <a:pPr>
                  <a:lnSpc>
                    <a:spcPct val="150000"/>
                  </a:lnSpc>
                </a:pPr>
                <a:endParaRPr lang="en-CA" sz="1800" b="1"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21415"/>
                <a:ext cx="9144000" cy="3850585"/>
              </a:xfrm>
              <a:blipFill>
                <a:blip r:embed="rId2"/>
                <a:stretch>
                  <a:fillRect l="-867"/>
                </a:stretch>
              </a:blipFill>
            </p:spPr>
            <p:txBody>
              <a:bodyPr/>
              <a:lstStyle/>
              <a:p>
                <a:r>
                  <a:rPr lang="en-GH">
                    <a:noFill/>
                  </a:rPr>
                  <a:t> </a:t>
                </a:r>
              </a:p>
            </p:txBody>
          </p:sp>
        </mc:Fallback>
      </mc:AlternateContent>
    </p:spTree>
    <p:extLst>
      <p:ext uri="{BB962C8B-B14F-4D97-AF65-F5344CB8AC3E}">
        <p14:creationId xmlns:p14="http://schemas.microsoft.com/office/powerpoint/2010/main" val="4005303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78665"/>
                <a:ext cx="9144000" cy="4931901"/>
              </a:xfrm>
            </p:spPr>
            <p:txBody>
              <a:bodyPr>
                <a:normAutofit/>
              </a:bodyPr>
              <a:lstStyle/>
              <a:p>
                <a:pPr>
                  <a:lnSpc>
                    <a:spcPct val="150000"/>
                  </a:lnSpc>
                </a:pPr>
                <a:r>
                  <a:rPr lang="en-CA" b="1" dirty="0">
                    <a:solidFill>
                      <a:schemeClr val="tx1"/>
                    </a:solidFill>
                  </a:rPr>
                  <a:t>Mach number: </a:t>
                </a:r>
                <a14:m>
                  <m:oMath xmlns:m="http://schemas.openxmlformats.org/officeDocument/2006/math">
                    <m:r>
                      <a:rPr lang="en-CA" b="1" i="1" dirty="0" smtClean="0">
                        <a:solidFill>
                          <a:schemeClr val="tx1"/>
                        </a:solidFill>
                        <a:latin typeface="Cambria Math" panose="02040503050406030204" pitchFamily="18" charset="0"/>
                      </a:rPr>
                      <m:t>𝑴</m:t>
                    </m:r>
                    <m:r>
                      <a:rPr lang="en-CA" b="1" i="1" dirty="0" smtClean="0">
                        <a:solidFill>
                          <a:schemeClr val="tx1"/>
                        </a:solidFill>
                        <a:latin typeface="Cambria Math" panose="02040503050406030204" pitchFamily="18" charset="0"/>
                      </a:rPr>
                      <m:t>=</m:t>
                    </m:r>
                    <m:f>
                      <m:fPr>
                        <m:ctrlPr>
                          <a:rPr lang="en-CA" b="1" i="1" dirty="0" smtClean="0">
                            <a:solidFill>
                              <a:schemeClr val="tx1"/>
                            </a:solidFill>
                            <a:latin typeface="Cambria Math" panose="02040503050406030204" pitchFamily="18" charset="0"/>
                          </a:rPr>
                        </m:ctrlPr>
                      </m:fPr>
                      <m:num>
                        <m:r>
                          <a:rPr lang="en-CA" b="1" i="1" dirty="0" smtClean="0">
                            <a:solidFill>
                              <a:schemeClr val="tx1"/>
                            </a:solidFill>
                            <a:latin typeface="Cambria Math" panose="02040503050406030204" pitchFamily="18" charset="0"/>
                          </a:rPr>
                          <m:t>𝑰𝒏𝒆𝒓𝒕𝒊𝒂</m:t>
                        </m:r>
                        <m:r>
                          <a:rPr lang="en-CA" b="1" i="1" dirty="0" smtClean="0">
                            <a:solidFill>
                              <a:schemeClr val="tx1"/>
                            </a:solidFill>
                            <a:latin typeface="Cambria Math" panose="02040503050406030204" pitchFamily="18" charset="0"/>
                          </a:rPr>
                          <m:t> </m:t>
                        </m:r>
                        <m:r>
                          <a:rPr lang="en-CA" b="1" i="1" dirty="0" smtClean="0">
                            <a:solidFill>
                              <a:schemeClr val="tx1"/>
                            </a:solidFill>
                            <a:latin typeface="Cambria Math" panose="02040503050406030204" pitchFamily="18" charset="0"/>
                          </a:rPr>
                          <m:t>𝒇𝒐𝒓𝒄𝒆</m:t>
                        </m:r>
                      </m:num>
                      <m:den>
                        <m:r>
                          <a:rPr lang="en-CA" b="1" i="1" dirty="0" smtClean="0">
                            <a:solidFill>
                              <a:schemeClr val="tx1"/>
                            </a:solidFill>
                            <a:latin typeface="Cambria Math" panose="02040503050406030204" pitchFamily="18" charset="0"/>
                          </a:rPr>
                          <m:t>𝑪𝒐𝒎𝒑𝒓𝒆𝒔𝒔𝒊𝒃𝒊𝒍𝒊𝒕𝒚</m:t>
                        </m:r>
                        <m:r>
                          <a:rPr lang="en-CA" b="1" i="1" dirty="0" smtClean="0">
                            <a:solidFill>
                              <a:schemeClr val="tx1"/>
                            </a:solidFill>
                            <a:latin typeface="Cambria Math" panose="02040503050406030204" pitchFamily="18" charset="0"/>
                          </a:rPr>
                          <m:t> </m:t>
                        </m:r>
                        <m:r>
                          <a:rPr lang="en-CA" b="1" i="1" dirty="0" smtClean="0">
                            <a:solidFill>
                              <a:schemeClr val="tx1"/>
                            </a:solidFill>
                            <a:latin typeface="Cambria Math" panose="02040503050406030204" pitchFamily="18" charset="0"/>
                          </a:rPr>
                          <m:t>𝒇𝒐𝒓𝒄𝒆</m:t>
                        </m:r>
                      </m:den>
                    </m:f>
                    <m:r>
                      <a:rPr lang="en-CA" b="1" i="1" dirty="0"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sSub>
                          <m:sSubPr>
                            <m:ctrlPr>
                              <a:rPr lang="en-CA" b="1" i="1" smtClean="0">
                                <a:solidFill>
                                  <a:schemeClr val="tx1"/>
                                </a:solidFill>
                                <a:latin typeface="Cambria Math" panose="02040503050406030204" pitchFamily="18" charset="0"/>
                                <a:ea typeface="Cambria Math" panose="02040503050406030204" pitchFamily="18" charset="0"/>
                              </a:rPr>
                            </m:ctrlPr>
                          </m:sSubPr>
                          <m:e>
                            <m:r>
                              <a:rPr lang="en-CA" b="1" i="1" smtClean="0">
                                <a:solidFill>
                                  <a:schemeClr val="tx1"/>
                                </a:solidFill>
                                <a:latin typeface="Cambria Math" panose="02040503050406030204" pitchFamily="18" charset="0"/>
                                <a:ea typeface="Cambria Math" panose="02040503050406030204" pitchFamily="18" charset="0"/>
                              </a:rPr>
                              <m:t>𝑬</m:t>
                            </m:r>
                          </m:e>
                          <m:sub>
                            <m:r>
                              <a:rPr lang="en-CA" b="1" i="1" smtClean="0">
                                <a:solidFill>
                                  <a:schemeClr val="tx1"/>
                                </a:solidFill>
                                <a:latin typeface="Cambria Math" panose="02040503050406030204" pitchFamily="18" charset="0"/>
                                <a:ea typeface="Cambria Math" panose="02040503050406030204" pitchFamily="18" charset="0"/>
                              </a:rPr>
                              <m:t>𝒗</m:t>
                            </m:r>
                          </m:sub>
                        </m:sSub>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den>
                    </m:f>
                    <m:r>
                      <a:rPr lang="en-CA" b="1" i="1">
                        <a:solidFill>
                          <a:schemeClr val="tx1"/>
                        </a:solidFill>
                        <a:latin typeface="Cambria Math" panose="02040503050406030204" pitchFamily="18" charset="0"/>
                        <a:ea typeface="Cambria Math" panose="02040503050406030204" pitchFamily="18" charset="0"/>
                      </a:rPr>
                      <m:t>=</m:t>
                    </m:r>
                    <m:f>
                      <m:fPr>
                        <m:ctrlPr>
                          <a:rPr lang="en-CA" b="1" i="1" dirty="0" smtClean="0">
                            <a:solidFill>
                              <a:schemeClr val="tx1"/>
                            </a:solidFill>
                            <a:latin typeface="Cambria Math" panose="02040503050406030204" pitchFamily="18" charset="0"/>
                          </a:rPr>
                        </m:ctrlPr>
                      </m:fPr>
                      <m:num>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num>
                      <m:den>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smtClean="0">
                                <a:solidFill>
                                  <a:schemeClr val="tx1"/>
                                </a:solidFill>
                                <a:latin typeface="Cambria Math" panose="02040503050406030204" pitchFamily="18" charset="0"/>
                                <a:ea typeface="Cambria Math" panose="02040503050406030204" pitchFamily="18" charset="0"/>
                              </a:rPr>
                              <m:t>𝒄</m:t>
                            </m:r>
                          </m:e>
                          <m:sup>
                            <m:r>
                              <a:rPr lang="en-CA" b="1" i="1">
                                <a:solidFill>
                                  <a:schemeClr val="tx1"/>
                                </a:solidFill>
                                <a:latin typeface="Cambria Math" panose="02040503050406030204" pitchFamily="18" charset="0"/>
                                <a:ea typeface="Cambria Math" panose="02040503050406030204" pitchFamily="18" charset="0"/>
                              </a:rPr>
                              <m:t>𝟐</m:t>
                            </m:r>
                          </m:sup>
                        </m:sSup>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dirty="0" smtClean="0">
                            <a:solidFill>
                              <a:schemeClr val="tx1"/>
                            </a:solidFill>
                            <a:latin typeface="Cambria Math" panose="02040503050406030204" pitchFamily="18" charset="0"/>
                          </a:rPr>
                        </m:ctrlPr>
                      </m:fPr>
                      <m:num>
                        <m:r>
                          <a:rPr lang="en-CA" b="1" i="1" dirty="0" smtClean="0">
                            <a:solidFill>
                              <a:schemeClr val="tx1"/>
                            </a:solidFill>
                            <a:latin typeface="Cambria Math" panose="02040503050406030204" pitchFamily="18" charset="0"/>
                          </a:rPr>
                          <m:t>𝑽</m:t>
                        </m:r>
                      </m:num>
                      <m:den>
                        <m:r>
                          <a:rPr lang="en-CA" b="1" i="1" dirty="0" smtClean="0">
                            <a:solidFill>
                              <a:schemeClr val="tx1"/>
                            </a:solidFill>
                            <a:latin typeface="Cambria Math" panose="02040503050406030204" pitchFamily="18" charset="0"/>
                          </a:rPr>
                          <m:t>𝒄</m:t>
                        </m:r>
                      </m:den>
                    </m:f>
                  </m:oMath>
                </a14:m>
                <a:r>
                  <a:rPr lang="en-CA" b="1" dirty="0">
                    <a:solidFill>
                      <a:schemeClr val="tx1"/>
                    </a:solidFill>
                  </a:rPr>
                  <a:t> </a:t>
                </a:r>
              </a:p>
              <a:p>
                <a:pPr>
                  <a:lnSpc>
                    <a:spcPct val="150000"/>
                  </a:lnSpc>
                </a:pPr>
                <a:r>
                  <a:rPr lang="en-CA" b="1" dirty="0">
                    <a:solidFill>
                      <a:schemeClr val="tx1"/>
                    </a:solidFill>
                  </a:rPr>
                  <a:t>Weber number:</a:t>
                </a:r>
                <a14:m>
                  <m:oMath xmlns:m="http://schemas.openxmlformats.org/officeDocument/2006/math">
                    <m:r>
                      <a:rPr lang="en-CA" b="1">
                        <a:solidFill>
                          <a:schemeClr val="tx1"/>
                        </a:solidFill>
                        <a:latin typeface="Cambria Math" panose="02040503050406030204" pitchFamily="18" charset="0"/>
                      </a:rPr>
                      <m:t> </m:t>
                    </m:r>
                    <m:r>
                      <a:rPr lang="en-CA" b="1" i="1">
                        <a:solidFill>
                          <a:schemeClr val="tx1"/>
                        </a:solidFill>
                        <a:latin typeface="Cambria Math" panose="02040503050406030204" pitchFamily="18" charset="0"/>
                      </a:rPr>
                      <m:t>𝑾𝒆</m:t>
                    </m:r>
                    <m:r>
                      <a:rPr lang="en-CA" b="1" i="1">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rPr>
                          <m:t>𝑰𝒏𝒆𝒓𝒕𝒊𝒂</m:t>
                        </m:r>
                        <m:r>
                          <a:rPr lang="en-CA" b="1" i="1">
                            <a:solidFill>
                              <a:schemeClr val="tx1"/>
                            </a:solidFill>
                            <a:latin typeface="Cambria Math" panose="02040503050406030204" pitchFamily="18" charset="0"/>
                          </a:rPr>
                          <m:t> </m:t>
                        </m:r>
                        <m:r>
                          <a:rPr lang="en-CA" b="1" i="1">
                            <a:solidFill>
                              <a:schemeClr val="tx1"/>
                            </a:solidFill>
                            <a:latin typeface="Cambria Math" panose="02040503050406030204" pitchFamily="18" charset="0"/>
                          </a:rPr>
                          <m:t>𝒇𝒐𝒓𝒄𝒆</m:t>
                        </m:r>
                      </m:num>
                      <m:den>
                        <m:r>
                          <a:rPr lang="en-CA" b="1" i="1">
                            <a:solidFill>
                              <a:schemeClr val="tx1"/>
                            </a:solidFill>
                            <a:latin typeface="Cambria Math" panose="02040503050406030204" pitchFamily="18" charset="0"/>
                          </a:rPr>
                          <m:t>𝒔𝒖𝒓𝒇𝒂𝒄𝒆</m:t>
                        </m:r>
                        <m:r>
                          <a:rPr lang="en-CA" b="1" i="1">
                            <a:solidFill>
                              <a:schemeClr val="tx1"/>
                            </a:solidFill>
                            <a:latin typeface="Cambria Math" panose="02040503050406030204" pitchFamily="18" charset="0"/>
                          </a:rPr>
                          <m:t> </m:t>
                        </m:r>
                        <m:r>
                          <a:rPr lang="en-CA" b="1" i="1">
                            <a:solidFill>
                              <a:schemeClr val="tx1"/>
                            </a:solidFill>
                            <a:latin typeface="Cambria Math" panose="02040503050406030204" pitchFamily="18" charset="0"/>
                          </a:rPr>
                          <m:t>𝒕𝒆𝒏𝒔𝒊𝒐𝒏</m:t>
                        </m:r>
                      </m:den>
                    </m:f>
                    <m:r>
                      <a:rPr lang="en-CA" b="1" i="1">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a:solidFill>
                              <a:schemeClr val="tx1"/>
                            </a:solidFill>
                            <a:latin typeface="Cambria Math" panose="02040503050406030204" pitchFamily="18" charset="0"/>
                            <a:ea typeface="Cambria Math" panose="02040503050406030204" pitchFamily="18" charset="0"/>
                          </a:rPr>
                          <m:t>𝝈</m:t>
                        </m:r>
                        <m:r>
                          <a:rPr lang="en-CA" b="1" i="1">
                            <a:solidFill>
                              <a:schemeClr val="tx1"/>
                            </a:solidFill>
                            <a:latin typeface="Cambria Math" panose="02040503050406030204" pitchFamily="18" charset="0"/>
                            <a:ea typeface="Cambria Math" panose="02040503050406030204" pitchFamily="18" charset="0"/>
                          </a:rPr>
                          <m:t>𝑳</m:t>
                        </m:r>
                      </m:den>
                    </m:f>
                    <m:r>
                      <a:rPr lang="en-CA" b="1" i="1">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r>
                          <a:rPr lang="en-CA" b="1" i="1">
                            <a:solidFill>
                              <a:schemeClr val="tx1"/>
                            </a:solidFill>
                            <a:latin typeface="Cambria Math" panose="02040503050406030204" pitchFamily="18" charset="0"/>
                            <a:ea typeface="Cambria Math" panose="02040503050406030204" pitchFamily="18" charset="0"/>
                          </a:rPr>
                          <m:t>𝑳</m:t>
                        </m:r>
                      </m:num>
                      <m:den>
                        <m:r>
                          <a:rPr lang="en-CA" b="1" i="1">
                            <a:solidFill>
                              <a:schemeClr val="tx1"/>
                            </a:solidFill>
                            <a:latin typeface="Cambria Math" panose="02040503050406030204" pitchFamily="18" charset="0"/>
                            <a:ea typeface="Cambria Math" panose="02040503050406030204" pitchFamily="18" charset="0"/>
                          </a:rPr>
                          <m:t>𝝈</m:t>
                        </m:r>
                      </m:den>
                    </m:f>
                  </m:oMath>
                </a14:m>
                <a:endParaRPr lang="en-CA" b="1" dirty="0">
                  <a:solidFill>
                    <a:schemeClr val="tx1"/>
                  </a:solidFill>
                </a:endParaRPr>
              </a:p>
              <a:p>
                <a:pPr>
                  <a:lnSpc>
                    <a:spcPct val="150000"/>
                  </a:lnSpc>
                </a:pPr>
                <a:r>
                  <a:rPr lang="en-CA" b="1" dirty="0">
                    <a:solidFill>
                      <a:schemeClr val="tx1"/>
                    </a:solidFill>
                  </a:rPr>
                  <a:t>Euler number:</a:t>
                </a:r>
                <a14:m>
                  <m:oMath xmlns:m="http://schemas.openxmlformats.org/officeDocument/2006/math">
                    <m:r>
                      <a:rPr lang="en-CA" b="1" i="0"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𝑬𝒖</m:t>
                    </m:r>
                    <m:r>
                      <a:rPr lang="en-CA" b="1" i="1" smtClean="0">
                        <a:solidFill>
                          <a:schemeClr val="tx1"/>
                        </a:solidFill>
                        <a:latin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𝑷𝒓𝒆𝒔𝒔𝒖𝒓𝒆</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num>
                      <m:den>
                        <m:r>
                          <a:rPr lang="en-CA" b="1" i="1">
                            <a:solidFill>
                              <a:schemeClr val="tx1"/>
                            </a:solidFill>
                            <a:latin typeface="Cambria Math" panose="02040503050406030204" pitchFamily="18" charset="0"/>
                          </a:rPr>
                          <m:t>𝑰𝒏𝒆𝒓𝒕𝒊𝒂</m:t>
                        </m:r>
                        <m:r>
                          <a:rPr lang="en-CA" b="1" i="1">
                            <a:solidFill>
                              <a:schemeClr val="tx1"/>
                            </a:solidFill>
                            <a:latin typeface="Cambria Math" panose="02040503050406030204" pitchFamily="18" charset="0"/>
                          </a:rPr>
                          <m:t> </m:t>
                        </m:r>
                        <m:r>
                          <a:rPr lang="en-CA" b="1" i="1">
                            <a:solidFill>
                              <a:schemeClr val="tx1"/>
                            </a:solidFill>
                            <a:latin typeface="Cambria Math" panose="02040503050406030204" pitchFamily="18" charset="0"/>
                          </a:rPr>
                          <m:t>𝒇𝒐𝒓𝒄𝒆</m:t>
                        </m:r>
                      </m:den>
                    </m:f>
                    <m:r>
                      <a:rPr lang="en-CA" b="1" i="1"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l-GR" b="1" i="1">
                            <a:solidFill>
                              <a:schemeClr val="tx1"/>
                            </a:solidFill>
                            <a:latin typeface="Cambria Math" panose="02040503050406030204" pitchFamily="18" charset="0"/>
                            <a:ea typeface="Cambria Math" panose="02040503050406030204" pitchFamily="18" charset="0"/>
                          </a:rPr>
                          <m:t>𝜟</m:t>
                        </m:r>
                        <m:r>
                          <a:rPr lang="en-CA" b="1" i="1">
                            <a:solidFill>
                              <a:schemeClr val="tx1"/>
                            </a:solidFill>
                            <a:latin typeface="Cambria Math" panose="02040503050406030204" pitchFamily="18" charset="0"/>
                            <a:ea typeface="Cambria Math" panose="02040503050406030204" pitchFamily="18" charset="0"/>
                          </a:rPr>
                          <m:t>𝒑</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l-GR" b="1" i="1" smtClean="0">
                            <a:solidFill>
                              <a:schemeClr val="tx1"/>
                            </a:solidFill>
                            <a:latin typeface="Cambria Math" panose="02040503050406030204" pitchFamily="18" charset="0"/>
                            <a:ea typeface="Cambria Math" panose="02040503050406030204" pitchFamily="18" charset="0"/>
                          </a:rPr>
                          <m:t>𝜟</m:t>
                        </m:r>
                        <m:r>
                          <a:rPr lang="en-CA" b="1" i="1" smtClean="0">
                            <a:solidFill>
                              <a:schemeClr val="tx1"/>
                            </a:solidFill>
                            <a:latin typeface="Cambria Math" panose="02040503050406030204" pitchFamily="18" charset="0"/>
                            <a:ea typeface="Cambria Math" panose="02040503050406030204" pitchFamily="18" charset="0"/>
                          </a:rPr>
                          <m:t>𝒑</m:t>
                        </m:r>
                      </m:num>
                      <m:den>
                        <m:r>
                          <a:rPr lang="en-CA" b="1" i="1" smtClean="0">
                            <a:solidFill>
                              <a:schemeClr val="tx1"/>
                            </a:solidFill>
                            <a:latin typeface="Cambria Math" panose="02040503050406030204" pitchFamily="18" charset="0"/>
                          </a:rPr>
                          <m:t>𝟎</m:t>
                        </m:r>
                        <m:r>
                          <a:rPr lang="en-CA" b="1" i="1" smtClean="0">
                            <a:solidFill>
                              <a:schemeClr val="tx1"/>
                            </a:solidFill>
                            <a:latin typeface="Cambria Math" panose="02040503050406030204" pitchFamily="18" charset="0"/>
                          </a:rPr>
                          <m:t>.</m:t>
                        </m:r>
                        <m:r>
                          <a:rPr lang="en-CA" b="1" i="1" smtClean="0">
                            <a:solidFill>
                              <a:schemeClr val="tx1"/>
                            </a:solidFill>
                            <a:latin typeface="Cambria Math" panose="02040503050406030204" pitchFamily="18" charset="0"/>
                          </a:rPr>
                          <m:t>𝟓</m:t>
                        </m:r>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smtClean="0">
                                <a:solidFill>
                                  <a:schemeClr val="tx1"/>
                                </a:solidFill>
                                <a:latin typeface="Cambria Math" panose="02040503050406030204" pitchFamily="18" charset="0"/>
                                <a:ea typeface="Cambria Math" panose="02040503050406030204" pitchFamily="18" charset="0"/>
                              </a:rPr>
                            </m:ctrlPr>
                          </m:sSupPr>
                          <m:e>
                            <m:r>
                              <a:rPr lang="en-CA" b="1" i="1" smtClean="0">
                                <a:solidFill>
                                  <a:schemeClr val="tx1"/>
                                </a:solidFill>
                                <a:latin typeface="Cambria Math" panose="02040503050406030204" pitchFamily="18" charset="0"/>
                                <a:ea typeface="Cambria Math" panose="02040503050406030204" pitchFamily="18" charset="0"/>
                              </a:rPr>
                              <m:t>𝑽</m:t>
                            </m:r>
                          </m:e>
                          <m:sup>
                            <m:r>
                              <a:rPr lang="en-CA" b="1" i="1" smtClean="0">
                                <a:solidFill>
                                  <a:schemeClr val="tx1"/>
                                </a:solidFill>
                                <a:latin typeface="Cambria Math" panose="02040503050406030204" pitchFamily="18" charset="0"/>
                                <a:ea typeface="Cambria Math" panose="02040503050406030204" pitchFamily="18" charset="0"/>
                              </a:rPr>
                              <m:t>𝟐</m:t>
                            </m:r>
                          </m:sup>
                        </m:sSup>
                      </m:den>
                    </m:f>
                  </m:oMath>
                </a14:m>
                <a:endParaRPr lang="en-CA" b="1" dirty="0">
                  <a:solidFill>
                    <a:schemeClr val="tx1"/>
                  </a:solidFill>
                </a:endParaRPr>
              </a:p>
              <a:p>
                <a:pPr>
                  <a:lnSpc>
                    <a:spcPct val="150000"/>
                  </a:lnSpc>
                </a:pPr>
                <a:r>
                  <a:rPr lang="en-CA" b="1" dirty="0">
                    <a:solidFill>
                      <a:schemeClr val="tx1"/>
                    </a:solidFill>
                  </a:rPr>
                  <a:t>Cavitation number: </a:t>
                </a:r>
                <a14:m>
                  <m:oMath xmlns:m="http://schemas.openxmlformats.org/officeDocument/2006/math">
                    <m:r>
                      <a:rPr lang="en-CA" b="1" i="1" smtClean="0">
                        <a:solidFill>
                          <a:schemeClr val="tx1"/>
                        </a:solidFill>
                        <a:latin typeface="Cambria Math" panose="02040503050406030204" pitchFamily="18" charset="0"/>
                      </a:rPr>
                      <m:t>𝑪𝒂</m:t>
                    </m:r>
                    <m:r>
                      <a:rPr lang="en-CA" b="1" i="1" smtClean="0">
                        <a:solidFill>
                          <a:schemeClr val="tx1"/>
                        </a:solidFill>
                        <a:latin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𝑷𝒓𝒆𝒔𝒔𝒖𝒓𝒆</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num>
                      <m:den>
                        <m:r>
                          <a:rPr lang="en-CA" b="1" i="1" smtClean="0">
                            <a:solidFill>
                              <a:schemeClr val="tx1"/>
                            </a:solidFill>
                            <a:latin typeface="Cambria Math" panose="02040503050406030204" pitchFamily="18" charset="0"/>
                          </a:rPr>
                          <m:t>𝑰𝒏𝒆𝒓𝒕𝒊𝒂</m:t>
                        </m:r>
                        <m:r>
                          <a:rPr lang="en-CA" b="1" i="1" smtClean="0">
                            <a:solidFill>
                              <a:schemeClr val="tx1"/>
                            </a:solidFill>
                            <a:latin typeface="Cambria Math" panose="02040503050406030204" pitchFamily="18" charset="0"/>
                          </a:rPr>
                          <m:t> </m:t>
                        </m:r>
                        <m:r>
                          <a:rPr lang="en-CA" b="1" i="1" smtClean="0">
                            <a:solidFill>
                              <a:schemeClr val="tx1"/>
                            </a:solidFill>
                            <a:latin typeface="Cambria Math" panose="02040503050406030204" pitchFamily="18" charset="0"/>
                          </a:rPr>
                          <m:t>𝒇𝒐𝒓𝒄𝒆</m:t>
                        </m:r>
                      </m:den>
                    </m:f>
                    <m:r>
                      <a:rPr lang="en-CA" b="1" i="1" smtClean="0">
                        <a:solidFill>
                          <a:schemeClr val="tx1"/>
                        </a:solidFill>
                        <a:latin typeface="Cambria Math" panose="02040503050406030204" pitchFamily="18" charset="0"/>
                      </a:rPr>
                      <m:t>=</m:t>
                    </m:r>
                    <m:f>
                      <m:fPr>
                        <m:ctrlPr>
                          <a:rPr lang="en-CA" b="1" i="1">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rPr>
                          <m:t>𝒑</m:t>
                        </m:r>
                        <m:r>
                          <a:rPr lang="en-CA" b="1" i="1">
                            <a:solidFill>
                              <a:schemeClr val="tx1"/>
                            </a:solidFill>
                            <a:latin typeface="Cambria Math" panose="02040503050406030204" pitchFamily="18" charset="0"/>
                          </a:rPr>
                          <m:t>−</m:t>
                        </m:r>
                        <m:sSub>
                          <m:sSubPr>
                            <m:ctrlPr>
                              <a:rPr lang="en-CA" b="1" i="1">
                                <a:solidFill>
                                  <a:schemeClr val="tx1"/>
                                </a:solidFill>
                                <a:latin typeface="Cambria Math" panose="02040503050406030204" pitchFamily="18" charset="0"/>
                              </a:rPr>
                            </m:ctrlPr>
                          </m:sSubPr>
                          <m:e>
                            <m:r>
                              <a:rPr lang="en-CA" b="1" i="1">
                                <a:solidFill>
                                  <a:schemeClr val="tx1"/>
                                </a:solidFill>
                                <a:latin typeface="Cambria Math" panose="02040503050406030204" pitchFamily="18" charset="0"/>
                              </a:rPr>
                              <m:t>𝒑</m:t>
                            </m:r>
                          </m:e>
                          <m:sub>
                            <m:r>
                              <a:rPr lang="en-CA" b="1" i="1">
                                <a:solidFill>
                                  <a:schemeClr val="tx1"/>
                                </a:solidFill>
                                <a:latin typeface="Cambria Math" panose="02040503050406030204" pitchFamily="18" charset="0"/>
                              </a:rPr>
                              <m:t>𝒗</m:t>
                            </m:r>
                          </m:sub>
                        </m:sSub>
                        <m:r>
                          <a:rPr lang="en-CA" b="1" i="1" smtClean="0">
                            <a:solidFill>
                              <a:schemeClr val="tx1"/>
                            </a:solidFill>
                            <a:latin typeface="Cambria Math" panose="02040503050406030204" pitchFamily="18" charset="0"/>
                            <a:ea typeface="Cambria Math" panose="02040503050406030204" pitchFamily="18" charset="0"/>
                          </a:rPr>
                          <m:t>)</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num>
                      <m:den>
                        <m:r>
                          <a:rPr lang="en-CA" b="1" i="1" smtClean="0">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𝑳</m:t>
                            </m:r>
                          </m:e>
                          <m:sup>
                            <m:r>
                              <a:rPr lang="en-CA" b="1" i="1">
                                <a:solidFill>
                                  <a:schemeClr val="tx1"/>
                                </a:solidFill>
                                <a:latin typeface="Cambria Math" panose="02040503050406030204" pitchFamily="18" charset="0"/>
                                <a:ea typeface="Cambria Math" panose="02040503050406030204" pitchFamily="18" charset="0"/>
                              </a:rPr>
                              <m:t>𝟐</m:t>
                            </m:r>
                          </m:sup>
                        </m:sSup>
                      </m:den>
                    </m:f>
                    <m:r>
                      <a:rPr lang="en-CA" b="1" i="1" smtClean="0">
                        <a:solidFill>
                          <a:schemeClr val="tx1"/>
                        </a:solidFill>
                        <a:latin typeface="Cambria Math" panose="02040503050406030204" pitchFamily="18" charset="0"/>
                        <a:ea typeface="Cambria Math" panose="02040503050406030204" pitchFamily="18" charset="0"/>
                      </a:rPr>
                      <m:t>=</m:t>
                    </m:r>
                    <m:f>
                      <m:fPr>
                        <m:ctrlPr>
                          <a:rPr lang="en-CA" b="1" i="1" smtClean="0">
                            <a:solidFill>
                              <a:schemeClr val="tx1"/>
                            </a:solidFill>
                            <a:latin typeface="Cambria Math" panose="02040503050406030204" pitchFamily="18" charset="0"/>
                          </a:rPr>
                        </m:ctrlPr>
                      </m:fPr>
                      <m:num>
                        <m:r>
                          <a:rPr lang="en-CA" b="1" i="1" smtClean="0">
                            <a:solidFill>
                              <a:schemeClr val="tx1"/>
                            </a:solidFill>
                            <a:latin typeface="Cambria Math" panose="02040503050406030204" pitchFamily="18" charset="0"/>
                          </a:rPr>
                          <m:t>𝒑</m:t>
                        </m:r>
                        <m:r>
                          <a:rPr lang="en-CA" b="1" i="1" smtClean="0">
                            <a:solidFill>
                              <a:schemeClr val="tx1"/>
                            </a:solidFill>
                            <a:latin typeface="Cambria Math" panose="02040503050406030204" pitchFamily="18" charset="0"/>
                          </a:rPr>
                          <m:t>−</m:t>
                        </m:r>
                        <m:sSub>
                          <m:sSubPr>
                            <m:ctrlPr>
                              <a:rPr lang="en-CA" b="1" i="1" smtClean="0">
                                <a:solidFill>
                                  <a:schemeClr val="tx1"/>
                                </a:solidFill>
                                <a:latin typeface="Cambria Math" panose="02040503050406030204" pitchFamily="18" charset="0"/>
                              </a:rPr>
                            </m:ctrlPr>
                          </m:sSubPr>
                          <m:e>
                            <m:r>
                              <a:rPr lang="en-CA" b="1" i="1" smtClean="0">
                                <a:solidFill>
                                  <a:schemeClr val="tx1"/>
                                </a:solidFill>
                                <a:latin typeface="Cambria Math" panose="02040503050406030204" pitchFamily="18" charset="0"/>
                              </a:rPr>
                              <m:t>𝒑</m:t>
                            </m:r>
                          </m:e>
                          <m:sub>
                            <m:r>
                              <a:rPr lang="en-CA" b="1" i="1" smtClean="0">
                                <a:solidFill>
                                  <a:schemeClr val="tx1"/>
                                </a:solidFill>
                                <a:latin typeface="Cambria Math" panose="02040503050406030204" pitchFamily="18" charset="0"/>
                              </a:rPr>
                              <m:t>𝒗</m:t>
                            </m:r>
                          </m:sub>
                        </m:sSub>
                      </m:num>
                      <m:den>
                        <m:r>
                          <a:rPr lang="en-CA" b="1" i="1" smtClean="0">
                            <a:solidFill>
                              <a:schemeClr val="tx1"/>
                            </a:solidFill>
                            <a:latin typeface="Cambria Math" panose="02040503050406030204" pitchFamily="18" charset="0"/>
                          </a:rPr>
                          <m:t>𝟎</m:t>
                        </m:r>
                        <m:r>
                          <a:rPr lang="en-CA" b="1" i="1" smtClean="0">
                            <a:solidFill>
                              <a:schemeClr val="tx1"/>
                            </a:solidFill>
                            <a:latin typeface="Cambria Math" panose="02040503050406030204" pitchFamily="18" charset="0"/>
                          </a:rPr>
                          <m:t>.</m:t>
                        </m:r>
                        <m:r>
                          <a:rPr lang="en-CA" b="1" i="1" smtClean="0">
                            <a:solidFill>
                              <a:schemeClr val="tx1"/>
                            </a:solidFill>
                            <a:latin typeface="Cambria Math" panose="02040503050406030204" pitchFamily="18" charset="0"/>
                          </a:rPr>
                          <m:t>𝟓</m:t>
                        </m:r>
                        <m:r>
                          <a:rPr lang="en-CA" b="1" i="1">
                            <a:solidFill>
                              <a:schemeClr val="tx1"/>
                            </a:solidFill>
                            <a:latin typeface="Cambria Math" panose="02040503050406030204" pitchFamily="18" charset="0"/>
                            <a:ea typeface="Cambria Math" panose="02040503050406030204" pitchFamily="18" charset="0"/>
                          </a:rPr>
                          <m:t>𝝆</m:t>
                        </m:r>
                        <m:sSup>
                          <m:sSupPr>
                            <m:ctrlPr>
                              <a:rPr lang="en-CA" b="1" i="1">
                                <a:solidFill>
                                  <a:schemeClr val="tx1"/>
                                </a:solidFill>
                                <a:latin typeface="Cambria Math" panose="02040503050406030204" pitchFamily="18" charset="0"/>
                                <a:ea typeface="Cambria Math" panose="02040503050406030204" pitchFamily="18" charset="0"/>
                              </a:rPr>
                            </m:ctrlPr>
                          </m:sSupPr>
                          <m:e>
                            <m:r>
                              <a:rPr lang="en-CA" b="1" i="1">
                                <a:solidFill>
                                  <a:schemeClr val="tx1"/>
                                </a:solidFill>
                                <a:latin typeface="Cambria Math" panose="02040503050406030204" pitchFamily="18" charset="0"/>
                                <a:ea typeface="Cambria Math" panose="02040503050406030204" pitchFamily="18" charset="0"/>
                              </a:rPr>
                              <m:t>𝑽</m:t>
                            </m:r>
                          </m:e>
                          <m:sup>
                            <m:r>
                              <a:rPr lang="en-CA" b="1" i="1">
                                <a:solidFill>
                                  <a:schemeClr val="tx1"/>
                                </a:solidFill>
                                <a:latin typeface="Cambria Math" panose="02040503050406030204" pitchFamily="18" charset="0"/>
                                <a:ea typeface="Cambria Math" panose="02040503050406030204" pitchFamily="18" charset="0"/>
                              </a:rPr>
                              <m:t>𝟐</m:t>
                            </m:r>
                          </m:sup>
                        </m:sSup>
                      </m:den>
                    </m:f>
                  </m:oMath>
                </a14:m>
                <a:endParaRPr lang="en-CA" b="1" dirty="0">
                  <a:solidFill>
                    <a:schemeClr val="tx1"/>
                  </a:solidFill>
                </a:endParaRPr>
              </a:p>
              <a:p>
                <a:pPr>
                  <a:lnSpc>
                    <a:spcPct val="150000"/>
                  </a:lnSpc>
                </a:pPr>
                <a:endParaRPr lang="en-CA" sz="1800" b="1"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78665"/>
                <a:ext cx="9144000" cy="4931901"/>
              </a:xfrm>
              <a:blipFill>
                <a:blip r:embed="rId2"/>
                <a:stretch>
                  <a:fillRect l="-867"/>
                </a:stretch>
              </a:blipFill>
            </p:spPr>
            <p:txBody>
              <a:bodyPr/>
              <a:lstStyle/>
              <a:p>
                <a:r>
                  <a:rPr lang="en-GH">
                    <a:noFill/>
                  </a:rPr>
                  <a:t> </a:t>
                </a:r>
              </a:p>
            </p:txBody>
          </p:sp>
        </mc:Fallback>
      </mc:AlternateContent>
      <p:sp>
        <p:nvSpPr>
          <p:cNvPr id="4" name="Title 1">
            <a:extLst>
              <a:ext uri="{FF2B5EF4-FFF2-40B4-BE49-F238E27FC236}">
                <a16:creationId xmlns:a16="http://schemas.microsoft.com/office/drawing/2014/main" id="{9FFA3C58-BF5D-2866-33AF-2E0BF5ED6AE3}"/>
              </a:ext>
            </a:extLst>
          </p:cNvPr>
          <p:cNvSpPr>
            <a:spLocks noGrp="1"/>
          </p:cNvSpPr>
          <p:nvPr>
            <p:ph type="title"/>
          </p:nvPr>
        </p:nvSpPr>
        <p:spPr>
          <a:xfrm>
            <a:off x="0" y="-3175"/>
            <a:ext cx="9144000" cy="568325"/>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Dimensionless Groups of Significance</a:t>
            </a:r>
          </a:p>
        </p:txBody>
      </p:sp>
    </p:spTree>
    <p:extLst>
      <p:ext uri="{BB962C8B-B14F-4D97-AF65-F5344CB8AC3E}">
        <p14:creationId xmlns:p14="http://schemas.microsoft.com/office/powerpoint/2010/main" val="931169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57" y="36576"/>
            <a:ext cx="9144000" cy="466344"/>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Application of the Pi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39661"/>
                <a:ext cx="9144000" cy="1700619"/>
              </a:xfrm>
            </p:spPr>
            <p:txBody>
              <a:bodyPr>
                <a:normAutofit/>
              </a:bodyPr>
              <a:lstStyle/>
              <a:p>
                <a:pPr marL="0" indent="0" algn="just">
                  <a:lnSpc>
                    <a:spcPct val="100000"/>
                  </a:lnSpc>
                  <a:spcAft>
                    <a:spcPts val="1200"/>
                  </a:spcAft>
                  <a:buNone/>
                </a:pPr>
                <a:r>
                  <a:rPr lang="en-US" dirty="0">
                    <a:latin typeface="+mn-lt"/>
                  </a:rPr>
                  <a:t>Example 2: The resisting force </a:t>
                </a:r>
                <a:r>
                  <a:rPr lang="en-US" i="1" dirty="0">
                    <a:latin typeface="+mn-lt"/>
                  </a:rPr>
                  <a:t>R</a:t>
                </a:r>
                <a:r>
                  <a:rPr lang="en-US" dirty="0">
                    <a:latin typeface="+mn-lt"/>
                  </a:rPr>
                  <a:t> of a supersonic plane during flight can be considered as dependent on the length of the aircraft </a:t>
                </a:r>
                <a14:m>
                  <m:oMath xmlns:m="http://schemas.openxmlformats.org/officeDocument/2006/math">
                    <m:r>
                      <a:rPr lang="en-GB" b="0" i="1" smtClean="0">
                        <a:latin typeface="Cambria Math" panose="02040503050406030204" pitchFamily="18" charset="0"/>
                      </a:rPr>
                      <m:t>𝑙</m:t>
                    </m:r>
                  </m:oMath>
                </a14:m>
                <a:r>
                  <a:rPr lang="en-US" dirty="0">
                    <a:latin typeface="+mn-lt"/>
                  </a:rPr>
                  <a:t>, velocity </a:t>
                </a:r>
                <a:r>
                  <a:rPr lang="en-US" i="1" dirty="0">
                    <a:latin typeface="+mn-lt"/>
                  </a:rPr>
                  <a:t>V</a:t>
                </a:r>
                <a:r>
                  <a:rPr lang="en-US" dirty="0">
                    <a:latin typeface="+mn-lt"/>
                  </a:rPr>
                  <a:t>, air viscosity </a:t>
                </a:r>
                <a:r>
                  <a:rPr lang="en-US" i="1" dirty="0">
                    <a:latin typeface="+mn-lt"/>
                  </a:rPr>
                  <a:t>μ</a:t>
                </a:r>
                <a:r>
                  <a:rPr lang="en-US" dirty="0">
                    <a:latin typeface="+mn-lt"/>
                  </a:rPr>
                  <a:t>, air density </a:t>
                </a:r>
                <a:r>
                  <a:rPr lang="en-US" i="1" dirty="0">
                    <a:latin typeface="+mn-lt"/>
                  </a:rPr>
                  <a:t>ρ</a:t>
                </a:r>
                <a:r>
                  <a:rPr lang="en-US" dirty="0">
                    <a:latin typeface="+mn-lt"/>
                  </a:rPr>
                  <a:t> and bulk modulus of air, </a:t>
                </a:r>
                <a:r>
                  <a:rPr lang="en-US" i="1" dirty="0">
                    <a:latin typeface="+mn-lt"/>
                  </a:rPr>
                  <a:t>k</a:t>
                </a:r>
                <a:r>
                  <a:rPr lang="en-US" dirty="0">
                    <a:latin typeface="+mn-lt"/>
                  </a:rPr>
                  <a:t>. Determine the functional relationship between these variables and the resisting force.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39661"/>
                <a:ext cx="9144000" cy="1700619"/>
              </a:xfrm>
              <a:blipFill>
                <a:blip r:embed="rId3"/>
                <a:stretch>
                  <a:fillRect l="-1000" t="-2867" r="-1000"/>
                </a:stretch>
              </a:blipFill>
            </p:spPr>
            <p:txBody>
              <a:bodyPr/>
              <a:lstStyle/>
              <a:p>
                <a:r>
                  <a:rPr lang="en-GH">
                    <a:noFill/>
                  </a:rPr>
                  <a:t> </a:t>
                </a:r>
              </a:p>
            </p:txBody>
          </p:sp>
        </mc:Fallback>
      </mc:AlternateContent>
      <p:sp>
        <p:nvSpPr>
          <p:cNvPr id="5" name="TextBox 4">
            <a:extLst>
              <a:ext uri="{FF2B5EF4-FFF2-40B4-BE49-F238E27FC236}">
                <a16:creationId xmlns:a16="http://schemas.microsoft.com/office/drawing/2014/main" id="{C7CD23FF-3FAD-F902-5B54-9DED3D7A054D}"/>
              </a:ext>
            </a:extLst>
          </p:cNvPr>
          <p:cNvSpPr txBox="1"/>
          <p:nvPr/>
        </p:nvSpPr>
        <p:spPr>
          <a:xfrm>
            <a:off x="50557" y="2240280"/>
            <a:ext cx="4233672" cy="830997"/>
          </a:xfrm>
          <a:prstGeom prst="rect">
            <a:avLst/>
          </a:prstGeom>
          <a:noFill/>
        </p:spPr>
        <p:txBody>
          <a:bodyPr wrap="square">
            <a:spAutoFit/>
          </a:bodyPr>
          <a:lstStyle/>
          <a:p>
            <a:pPr marL="0" indent="0">
              <a:buNone/>
            </a:pPr>
            <a:r>
              <a:rPr lang="en-US" sz="2400" b="1" dirty="0">
                <a:latin typeface="+mn-lt"/>
              </a:rPr>
              <a:t>Solution</a:t>
            </a:r>
            <a:r>
              <a:rPr lang="en-US" sz="2400" dirty="0">
                <a:latin typeface="+mn-lt"/>
              </a:rPr>
              <a:t>:</a:t>
            </a:r>
          </a:p>
          <a:p>
            <a:pPr marL="0" indent="0">
              <a:spcBef>
                <a:spcPts val="0"/>
              </a:spcBef>
              <a:buNone/>
            </a:pPr>
            <a:r>
              <a:rPr lang="en-US" i="1" dirty="0">
                <a:latin typeface="+mn-lt"/>
              </a:rPr>
              <a:t>R</a:t>
            </a:r>
            <a:r>
              <a:rPr lang="en-US" sz="2400" dirty="0">
                <a:latin typeface="+mn-lt"/>
              </a:rPr>
              <a:t> = </a:t>
            </a:r>
            <a:r>
              <a:rPr lang="en-US" sz="2400" i="1" dirty="0">
                <a:latin typeface="+mn-lt"/>
              </a:rPr>
              <a:t>f </a:t>
            </a:r>
            <a:r>
              <a:rPr lang="en-US" sz="2400" dirty="0">
                <a:latin typeface="+mn-lt"/>
              </a:rPr>
              <a:t>(</a:t>
            </a:r>
            <a:r>
              <a:rPr lang="en-US" sz="2400" i="1" dirty="0">
                <a:latin typeface="+mn-lt"/>
              </a:rPr>
              <a:t>l</a:t>
            </a:r>
            <a:r>
              <a:rPr lang="en-US" sz="2400" dirty="0">
                <a:latin typeface="+mn-lt"/>
              </a:rPr>
              <a:t>, V, </a:t>
            </a:r>
            <a:r>
              <a:rPr lang="el-GR" sz="2400" dirty="0">
                <a:solidFill>
                  <a:prstClr val="black"/>
                </a:solidFill>
                <a:latin typeface="+mn-lt"/>
                <a:cs typeface="Times New Roman" panose="02020603050405020304" pitchFamily="18" charset="0"/>
              </a:rPr>
              <a:t>ρ</a:t>
            </a:r>
            <a:r>
              <a:rPr lang="en-GB" sz="2400" i="1" dirty="0">
                <a:solidFill>
                  <a:prstClr val="black"/>
                </a:solidFill>
                <a:latin typeface="+mn-lt"/>
                <a:cs typeface="Times New Roman" panose="02020603050405020304" pitchFamily="18" charset="0"/>
              </a:rPr>
              <a:t>, </a:t>
            </a:r>
            <a:r>
              <a:rPr lang="el-GR" sz="2400" i="1" dirty="0">
                <a:solidFill>
                  <a:prstClr val="black"/>
                </a:solidFill>
                <a:latin typeface="+mn-lt"/>
                <a:cs typeface="Times New Roman" panose="02020603050405020304" pitchFamily="18" charset="0"/>
              </a:rPr>
              <a:t>μ</a:t>
            </a:r>
            <a:r>
              <a:rPr lang="en-GB" sz="2400" i="1" dirty="0">
                <a:solidFill>
                  <a:prstClr val="black"/>
                </a:solidFill>
                <a:latin typeface="+mn-lt"/>
                <a:cs typeface="Times New Roman" panose="02020603050405020304" pitchFamily="18" charset="0"/>
              </a:rPr>
              <a:t>, k</a:t>
            </a:r>
            <a:r>
              <a:rPr lang="en-US" sz="2400" dirty="0">
                <a:latin typeface="+mn-lt"/>
              </a:rPr>
              <a:t>)</a:t>
            </a:r>
          </a:p>
        </p:txBody>
      </p:sp>
      <p:grpSp>
        <p:nvGrpSpPr>
          <p:cNvPr id="7" name="Group 6">
            <a:extLst>
              <a:ext uri="{FF2B5EF4-FFF2-40B4-BE49-F238E27FC236}">
                <a16:creationId xmlns:a16="http://schemas.microsoft.com/office/drawing/2014/main" id="{029D38F1-1692-836E-91E5-8EC1433C1A71}"/>
              </a:ext>
            </a:extLst>
          </p:cNvPr>
          <p:cNvGrpSpPr/>
          <p:nvPr/>
        </p:nvGrpSpPr>
        <p:grpSpPr>
          <a:xfrm>
            <a:off x="137160" y="3249694"/>
            <a:ext cx="4233672" cy="1467610"/>
            <a:chOff x="4453128" y="4219958"/>
            <a:chExt cx="4233672" cy="1467610"/>
          </a:xfrm>
        </p:grpSpPr>
        <p:sp>
          <p:nvSpPr>
            <p:cNvPr id="8" name="TextBox 7">
              <a:extLst>
                <a:ext uri="{FF2B5EF4-FFF2-40B4-BE49-F238E27FC236}">
                  <a16:creationId xmlns:a16="http://schemas.microsoft.com/office/drawing/2014/main" id="{5631551E-382D-F5ED-1D62-48A6466E97A6}"/>
                </a:ext>
              </a:extLst>
            </p:cNvPr>
            <p:cNvSpPr txBox="1"/>
            <p:nvPr/>
          </p:nvSpPr>
          <p:spPr>
            <a:xfrm>
              <a:off x="4572000" y="4219958"/>
              <a:ext cx="4114800" cy="461665"/>
            </a:xfrm>
            <a:prstGeom prst="rect">
              <a:avLst/>
            </a:prstGeom>
            <a:noFill/>
          </p:spPr>
          <p:txBody>
            <a:bodyPr wrap="square">
              <a:spAutoFit/>
            </a:bodyPr>
            <a:lstStyle/>
            <a:p>
              <a:r>
                <a:rPr lang="en-US" sz="2400" i="1" dirty="0">
                  <a:latin typeface="+mn-lt"/>
                </a:rPr>
                <a:t>R</a:t>
              </a:r>
              <a:r>
                <a:rPr lang="en-US" sz="2400" dirty="0">
                  <a:latin typeface="+mn-lt"/>
                </a:rPr>
                <a:t> </a:t>
              </a:r>
              <a:r>
                <a:rPr lang="en-US" dirty="0">
                  <a:latin typeface="+mn-lt"/>
                </a:rPr>
                <a:t>       </a:t>
              </a:r>
              <a:r>
                <a:rPr lang="en-US" sz="2400" i="1" dirty="0">
                  <a:latin typeface="+mn-lt"/>
                </a:rPr>
                <a:t>l</a:t>
              </a:r>
              <a:r>
                <a:rPr lang="en-US" i="1" dirty="0">
                  <a:latin typeface="+mn-lt"/>
                </a:rPr>
                <a:t>        </a:t>
              </a:r>
              <a:r>
                <a:rPr lang="en-US" sz="2400" i="1" dirty="0">
                  <a:latin typeface="+mn-lt"/>
                </a:rPr>
                <a:t>V</a:t>
              </a:r>
              <a:r>
                <a:rPr lang="en-US" i="1" dirty="0">
                  <a:latin typeface="+mn-lt"/>
                </a:rPr>
                <a:t>        </a:t>
              </a:r>
              <a:r>
                <a:rPr lang="el-GR" sz="2400" i="1" dirty="0">
                  <a:latin typeface="Times New Roman" panose="02020603050405020304" pitchFamily="18" charset="0"/>
                  <a:cs typeface="Times New Roman" panose="02020603050405020304" pitchFamily="18" charset="0"/>
                </a:rPr>
                <a:t>ρ</a:t>
              </a:r>
              <a:r>
                <a:rPr lang="en-US" i="1" dirty="0">
                  <a:latin typeface="+mn-lt"/>
                </a:rPr>
                <a:t>        </a:t>
              </a:r>
              <a:r>
                <a:rPr lang="el-GR" sz="2400" i="1" dirty="0">
                  <a:solidFill>
                    <a:prstClr val="black"/>
                  </a:solidFill>
                  <a:latin typeface="+mn-lt"/>
                  <a:cs typeface="Times New Roman" panose="02020603050405020304" pitchFamily="18" charset="0"/>
                </a:rPr>
                <a:t>μ</a:t>
              </a:r>
              <a:r>
                <a:rPr lang="en-GB" i="1" dirty="0">
                  <a:solidFill>
                    <a:prstClr val="black"/>
                  </a:solidFill>
                  <a:latin typeface="+mn-lt"/>
                  <a:cs typeface="Times New Roman" panose="02020603050405020304" pitchFamily="18" charset="0"/>
                </a:rPr>
                <a:t>         </a:t>
              </a:r>
              <a:r>
                <a:rPr lang="en-GB" sz="2400" i="1" dirty="0">
                  <a:solidFill>
                    <a:prstClr val="black"/>
                  </a:solidFill>
                  <a:latin typeface="+mn-lt"/>
                  <a:cs typeface="Times New Roman" panose="02020603050405020304" pitchFamily="18" charset="0"/>
                </a:rPr>
                <a:t>k</a:t>
              </a:r>
              <a:endParaRPr lang="en-GH"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27E76B-64A6-6D24-7089-624627AE19AB}"/>
                    </a:ext>
                  </a:extLst>
                </p:cNvPr>
                <p:cNvSpPr txBox="1"/>
                <p:nvPr/>
              </p:nvSpPr>
              <p:spPr>
                <a:xfrm>
                  <a:off x="4453128" y="4790209"/>
                  <a:ext cx="594360"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𝑀𝐿</m:t>
                            </m:r>
                          </m:num>
                          <m:den>
                            <m:sSup>
                              <m:sSupPr>
                                <m:ctrlPr>
                                  <a:rPr lang="en-GH"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den>
                        </m:f>
                      </m:oMath>
                    </m:oMathPara>
                  </a14:m>
                  <a:endParaRPr lang="en-GH" dirty="0"/>
                </a:p>
              </p:txBody>
            </p:sp>
          </mc:Choice>
          <mc:Fallback xmlns="">
            <p:sp>
              <p:nvSpPr>
                <p:cNvPr id="9" name="TextBox 8">
                  <a:extLst>
                    <a:ext uri="{FF2B5EF4-FFF2-40B4-BE49-F238E27FC236}">
                      <a16:creationId xmlns:a16="http://schemas.microsoft.com/office/drawing/2014/main" id="{EE27E76B-64A6-6D24-7089-624627AE19AB}"/>
                    </a:ext>
                  </a:extLst>
                </p:cNvPr>
                <p:cNvSpPr txBox="1">
                  <a:spLocks noRot="1" noChangeAspect="1" noMove="1" noResize="1" noEditPoints="1" noAdjustHandles="1" noChangeArrowheads="1" noChangeShapeType="1" noTextEdit="1"/>
                </p:cNvSpPr>
                <p:nvPr/>
              </p:nvSpPr>
              <p:spPr>
                <a:xfrm>
                  <a:off x="4453128" y="4790209"/>
                  <a:ext cx="594360" cy="806183"/>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346F2A8-1060-C8DE-9328-70D28841D809}"/>
                    </a:ext>
                  </a:extLst>
                </p:cNvPr>
                <p:cNvSpPr txBox="1"/>
                <p:nvPr/>
              </p:nvSpPr>
              <p:spPr>
                <a:xfrm>
                  <a:off x="5263896" y="4790208"/>
                  <a:ext cx="38709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smtClean="0">
                            <a:latin typeface="Cambria Math" panose="02040503050406030204" pitchFamily="18" charset="0"/>
                          </a:rPr>
                          <m:t>𝐿</m:t>
                        </m:r>
                      </m:oMath>
                    </m:oMathPara>
                  </a14:m>
                  <a:endParaRPr lang="en-GH" dirty="0"/>
                </a:p>
              </p:txBody>
            </p:sp>
          </mc:Choice>
          <mc:Fallback xmlns="">
            <p:sp>
              <p:nvSpPr>
                <p:cNvPr id="10" name="TextBox 9">
                  <a:extLst>
                    <a:ext uri="{FF2B5EF4-FFF2-40B4-BE49-F238E27FC236}">
                      <a16:creationId xmlns:a16="http://schemas.microsoft.com/office/drawing/2014/main" id="{9346F2A8-1060-C8DE-9328-70D28841D809}"/>
                    </a:ext>
                  </a:extLst>
                </p:cNvPr>
                <p:cNvSpPr txBox="1">
                  <a:spLocks noRot="1" noChangeAspect="1" noMove="1" noResize="1" noEditPoints="1" noAdjustHandles="1" noChangeArrowheads="1" noChangeShapeType="1" noTextEdit="1"/>
                </p:cNvSpPr>
                <p:nvPr/>
              </p:nvSpPr>
              <p:spPr>
                <a:xfrm>
                  <a:off x="5263896" y="4790208"/>
                  <a:ext cx="387096" cy="461665"/>
                </a:xfrm>
                <a:prstGeom prst="rect">
                  <a:avLst/>
                </a:prstGeom>
                <a:blipFill>
                  <a:blip r:embed="rId5"/>
                  <a:stretch>
                    <a:fillRect l="-476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770036F-9B33-72D5-3425-834F6ED6E7D9}"/>
                    </a:ext>
                  </a:extLst>
                </p:cNvPr>
                <p:cNvSpPr txBox="1"/>
                <p:nvPr/>
              </p:nvSpPr>
              <p:spPr>
                <a:xfrm>
                  <a:off x="8034718" y="4809621"/>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m:t>
                            </m:r>
                          </m:num>
                          <m:den>
                            <m:r>
                              <a:rPr lang="en-GB" b="0" i="1" smtClean="0">
                                <a:latin typeface="Cambria Math" panose="02040503050406030204" pitchFamily="18" charset="0"/>
                              </a:rPr>
                              <m:t>𝐿</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den>
                        </m:f>
                      </m:oMath>
                    </m:oMathPara>
                  </a14:m>
                  <a:endParaRPr lang="en-GH" dirty="0"/>
                </a:p>
              </p:txBody>
            </p:sp>
          </mc:Choice>
          <mc:Fallback xmlns="">
            <p:sp>
              <p:nvSpPr>
                <p:cNvPr id="14" name="TextBox 13">
                  <a:extLst>
                    <a:ext uri="{FF2B5EF4-FFF2-40B4-BE49-F238E27FC236}">
                      <a16:creationId xmlns:a16="http://schemas.microsoft.com/office/drawing/2014/main" id="{3770036F-9B33-72D5-3425-834F6ED6E7D9}"/>
                    </a:ext>
                  </a:extLst>
                </p:cNvPr>
                <p:cNvSpPr txBox="1">
                  <a:spLocks noRot="1" noChangeAspect="1" noMove="1" noResize="1" noEditPoints="1" noAdjustHandles="1" noChangeArrowheads="1" noChangeShapeType="1" noTextEdit="1"/>
                </p:cNvSpPr>
                <p:nvPr/>
              </p:nvSpPr>
              <p:spPr>
                <a:xfrm>
                  <a:off x="8034718" y="4809621"/>
                  <a:ext cx="387096" cy="806183"/>
                </a:xfrm>
                <a:prstGeom prst="rect">
                  <a:avLst/>
                </a:prstGeom>
                <a:blipFill>
                  <a:blip r:embed="rId6"/>
                  <a:stretch>
                    <a:fillRect r="-39063"/>
                  </a:stretch>
                </a:blipFill>
              </p:spPr>
              <p:txBody>
                <a:bodyPr/>
                <a:lstStyle/>
                <a:p>
                  <a:r>
                    <a:rPr lang="en-GH">
                      <a:noFill/>
                    </a:rPr>
                    <a:t> </a:t>
                  </a:r>
                </a:p>
              </p:txBody>
            </p:sp>
          </mc:Fallback>
        </mc:AlternateContent>
        <p:sp>
          <p:nvSpPr>
            <p:cNvPr id="15" name="Rectangle 14">
              <a:extLst>
                <a:ext uri="{FF2B5EF4-FFF2-40B4-BE49-F238E27FC236}">
                  <a16:creationId xmlns:a16="http://schemas.microsoft.com/office/drawing/2014/main" id="{47007048-9B90-CE8B-6998-8DB167BFD6A2}"/>
                </a:ext>
              </a:extLst>
            </p:cNvPr>
            <p:cNvSpPr/>
            <p:nvPr/>
          </p:nvSpPr>
          <p:spPr>
            <a:xfrm>
              <a:off x="4453128" y="4219958"/>
              <a:ext cx="4233672" cy="14676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58D82AC-F312-5872-FF97-98C5D7F6FEF1}"/>
                  </a:ext>
                </a:extLst>
              </p:cNvPr>
              <p:cNvSpPr txBox="1"/>
              <p:nvPr/>
            </p:nvSpPr>
            <p:spPr>
              <a:xfrm>
                <a:off x="1616964" y="3857373"/>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𝐿</m:t>
                          </m:r>
                        </m:num>
                        <m:den>
                          <m:r>
                            <a:rPr lang="en-GB" b="0" i="1" smtClean="0">
                              <a:latin typeface="Cambria Math" panose="02040503050406030204" pitchFamily="18" charset="0"/>
                            </a:rPr>
                            <m:t>𝑡</m:t>
                          </m:r>
                        </m:den>
                      </m:f>
                    </m:oMath>
                  </m:oMathPara>
                </a14:m>
                <a:endParaRPr lang="en-GH" dirty="0"/>
              </a:p>
            </p:txBody>
          </p:sp>
        </mc:Choice>
        <mc:Fallback xmlns="">
          <p:sp>
            <p:nvSpPr>
              <p:cNvPr id="16" name="TextBox 15">
                <a:extLst>
                  <a:ext uri="{FF2B5EF4-FFF2-40B4-BE49-F238E27FC236}">
                    <a16:creationId xmlns:a16="http://schemas.microsoft.com/office/drawing/2014/main" id="{B58D82AC-F312-5872-FF97-98C5D7F6FEF1}"/>
                  </a:ext>
                </a:extLst>
              </p:cNvPr>
              <p:cNvSpPr txBox="1">
                <a:spLocks noRot="1" noChangeAspect="1" noMove="1" noResize="1" noEditPoints="1" noAdjustHandles="1" noChangeArrowheads="1" noChangeShapeType="1" noTextEdit="1"/>
              </p:cNvSpPr>
              <p:nvPr/>
            </p:nvSpPr>
            <p:spPr>
              <a:xfrm>
                <a:off x="1616964" y="3857373"/>
                <a:ext cx="387096" cy="806183"/>
              </a:xfrm>
              <a:prstGeom prst="rect">
                <a:avLst/>
              </a:prstGeom>
              <a:blipFill>
                <a:blip r:embed="rId7"/>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DC44225-57C8-39DD-8E81-3B7D152740A0}"/>
                  </a:ext>
                </a:extLst>
              </p:cNvPr>
              <p:cNvSpPr txBox="1"/>
              <p:nvPr/>
            </p:nvSpPr>
            <p:spPr>
              <a:xfrm>
                <a:off x="2229993" y="3874536"/>
                <a:ext cx="569214" cy="8038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m:t>
                          </m:r>
                        </m:num>
                        <m:den>
                          <m:sSup>
                            <m:sSupPr>
                              <m:ctrlPr>
                                <a:rPr lang="en-GH" i="1" smtClean="0">
                                  <a:latin typeface="Cambria Math" panose="02040503050406030204" pitchFamily="18" charset="0"/>
                                </a:rPr>
                              </m:ctrlPr>
                            </m:sSupPr>
                            <m:e>
                              <m:r>
                                <a:rPr lang="en-GB" b="0" i="1" smtClean="0">
                                  <a:latin typeface="Cambria Math" panose="02040503050406030204" pitchFamily="18" charset="0"/>
                                </a:rPr>
                                <m:t>𝐿</m:t>
                              </m:r>
                            </m:e>
                            <m:sup>
                              <m:r>
                                <a:rPr lang="en-GB" b="0" i="1" smtClean="0">
                                  <a:latin typeface="Cambria Math" panose="02040503050406030204" pitchFamily="18" charset="0"/>
                                </a:rPr>
                                <m:t>3</m:t>
                              </m:r>
                            </m:sup>
                          </m:sSup>
                        </m:den>
                      </m:f>
                    </m:oMath>
                  </m:oMathPara>
                </a14:m>
                <a:endParaRPr lang="en-GH" dirty="0"/>
              </a:p>
            </p:txBody>
          </p:sp>
        </mc:Choice>
        <mc:Fallback xmlns="">
          <p:sp>
            <p:nvSpPr>
              <p:cNvPr id="17" name="TextBox 16">
                <a:extLst>
                  <a:ext uri="{FF2B5EF4-FFF2-40B4-BE49-F238E27FC236}">
                    <a16:creationId xmlns:a16="http://schemas.microsoft.com/office/drawing/2014/main" id="{3DC44225-57C8-39DD-8E81-3B7D152740A0}"/>
                  </a:ext>
                </a:extLst>
              </p:cNvPr>
              <p:cNvSpPr txBox="1">
                <a:spLocks noRot="1" noChangeAspect="1" noMove="1" noResize="1" noEditPoints="1" noAdjustHandles="1" noChangeArrowheads="1" noChangeShapeType="1" noTextEdit="1"/>
              </p:cNvSpPr>
              <p:nvPr/>
            </p:nvSpPr>
            <p:spPr>
              <a:xfrm>
                <a:off x="2229993" y="3874536"/>
                <a:ext cx="569214" cy="803810"/>
              </a:xfrm>
              <a:prstGeom prst="rect">
                <a:avLst/>
              </a:prstGeom>
              <a:blipFill>
                <a:blip r:embed="rId8"/>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5CEAC86-9FBD-6AA4-28AA-3D72573D6CB8}"/>
                  </a:ext>
                </a:extLst>
              </p:cNvPr>
              <p:cNvSpPr txBox="1"/>
              <p:nvPr/>
            </p:nvSpPr>
            <p:spPr>
              <a:xfrm>
                <a:off x="2944558" y="3889506"/>
                <a:ext cx="387096" cy="8061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H" i="1" smtClean="0">
                              <a:latin typeface="Cambria Math" panose="02040503050406030204" pitchFamily="18" charset="0"/>
                            </a:rPr>
                          </m:ctrlPr>
                        </m:fPr>
                        <m:num>
                          <m:r>
                            <a:rPr lang="en-GB" b="0" i="1" smtClean="0">
                              <a:latin typeface="Cambria Math" panose="02040503050406030204" pitchFamily="18" charset="0"/>
                            </a:rPr>
                            <m:t>𝑀</m:t>
                          </m:r>
                        </m:num>
                        <m:den>
                          <m:r>
                            <a:rPr lang="en-GB" b="0" i="1" smtClean="0">
                              <a:latin typeface="Cambria Math" panose="02040503050406030204" pitchFamily="18" charset="0"/>
                            </a:rPr>
                            <m:t>𝐿𝑡</m:t>
                          </m:r>
                        </m:den>
                      </m:f>
                    </m:oMath>
                  </m:oMathPara>
                </a14:m>
                <a:endParaRPr lang="en-GH" dirty="0"/>
              </a:p>
            </p:txBody>
          </p:sp>
        </mc:Choice>
        <mc:Fallback xmlns="">
          <p:sp>
            <p:nvSpPr>
              <p:cNvPr id="18" name="TextBox 17">
                <a:extLst>
                  <a:ext uri="{FF2B5EF4-FFF2-40B4-BE49-F238E27FC236}">
                    <a16:creationId xmlns:a16="http://schemas.microsoft.com/office/drawing/2014/main" id="{75CEAC86-9FBD-6AA4-28AA-3D72573D6CB8}"/>
                  </a:ext>
                </a:extLst>
              </p:cNvPr>
              <p:cNvSpPr txBox="1">
                <a:spLocks noRot="1" noChangeAspect="1" noMove="1" noResize="1" noEditPoints="1" noAdjustHandles="1" noChangeArrowheads="1" noChangeShapeType="1" noTextEdit="1"/>
              </p:cNvSpPr>
              <p:nvPr/>
            </p:nvSpPr>
            <p:spPr>
              <a:xfrm>
                <a:off x="2944558" y="3889506"/>
                <a:ext cx="387096" cy="806183"/>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A2DD82-CE33-80BD-D51A-CF7F031DBF9C}"/>
                  </a:ext>
                </a:extLst>
              </p:cNvPr>
              <p:cNvSpPr txBox="1"/>
              <p:nvPr/>
            </p:nvSpPr>
            <p:spPr>
              <a:xfrm>
                <a:off x="4685218" y="2395213"/>
                <a:ext cx="4304793" cy="3397148"/>
              </a:xfrm>
              <a:prstGeom prst="rect">
                <a:avLst/>
              </a:prstGeom>
              <a:noFill/>
            </p:spPr>
            <p:txBody>
              <a:bodyPr wrap="square">
                <a:spAutoFit/>
              </a:bodyPr>
              <a:lstStyle/>
              <a:p>
                <a:pPr marL="0" indent="0">
                  <a:lnSpc>
                    <a:spcPct val="100000"/>
                  </a:lnSpc>
                  <a:spcBef>
                    <a:spcPts val="0"/>
                  </a:spcBef>
                  <a:spcAft>
                    <a:spcPts val="0"/>
                  </a:spcAft>
                  <a:buNone/>
                </a:pPr>
                <a:r>
                  <a:rPr lang="en-CA" sz="2400" dirty="0">
                    <a:solidFill>
                      <a:schemeClr val="tx1"/>
                    </a:solidFill>
                    <a:latin typeface="+mn-lt"/>
                  </a:rPr>
                  <a:t>We choose, </a:t>
                </a:r>
                <a:r>
                  <a:rPr lang="el-GR" sz="2400" i="1" dirty="0">
                    <a:latin typeface="Times New Roman" panose="02020603050405020304" pitchFamily="18" charset="0"/>
                    <a:cs typeface="Times New Roman" panose="02020603050405020304" pitchFamily="18" charset="0"/>
                  </a:rPr>
                  <a:t>ρ</a:t>
                </a:r>
                <a:r>
                  <a:rPr lang="en-GB" sz="2400" i="1" dirty="0">
                    <a:latin typeface="Times New Roman" panose="02020603050405020304" pitchFamily="18" charset="0"/>
                    <a:cs typeface="Times New Roman" panose="02020603050405020304" pitchFamily="18" charset="0"/>
                  </a:rPr>
                  <a:t>, V, l </a:t>
                </a:r>
                <a:r>
                  <a:rPr lang="en-GB" sz="2400" dirty="0">
                    <a:latin typeface="Times New Roman" panose="02020603050405020304" pitchFamily="18" charset="0"/>
                    <a:cs typeface="Times New Roman" panose="02020603050405020304" pitchFamily="18" charset="0"/>
                  </a:rPr>
                  <a:t>as repeating parameters</a:t>
                </a:r>
                <a:r>
                  <a:rPr lang="en-CA" sz="2400" dirty="0">
                    <a:solidFill>
                      <a:schemeClr val="tx1"/>
                    </a:solidFill>
                    <a:latin typeface="+mn-lt"/>
                  </a:rPr>
                  <a:t> </a:t>
                </a:r>
              </a:p>
              <a:p>
                <a:pPr marL="0" indent="0">
                  <a:lnSpc>
                    <a:spcPct val="100000"/>
                  </a:lnSpc>
                  <a:spcBef>
                    <a:spcPts val="600"/>
                  </a:spcBef>
                  <a:spcAft>
                    <a:spcPts val="0"/>
                  </a:spcAft>
                  <a:buNone/>
                </a:pPr>
                <a:r>
                  <a:rPr lang="en-CA" dirty="0"/>
                  <a:t>Number of Pi-groups, (</a:t>
                </a:r>
                <a14:m>
                  <m:oMath xmlns:m="http://schemas.openxmlformats.org/officeDocument/2006/math">
                    <m:r>
                      <a:rPr lang="en-CA" sz="2400" b="0" i="1" dirty="0" smtClean="0">
                        <a:solidFill>
                          <a:schemeClr val="tx1"/>
                        </a:solidFill>
                        <a:latin typeface="Cambria Math" panose="02040503050406030204" pitchFamily="18" charset="0"/>
                      </a:rPr>
                      <m:t>𝑛</m:t>
                    </m:r>
                    <m:r>
                      <a:rPr lang="en-CA" sz="2400" b="0" i="1" dirty="0" smtClean="0">
                        <a:solidFill>
                          <a:schemeClr val="tx1"/>
                        </a:solidFill>
                        <a:latin typeface="Cambria Math" panose="02040503050406030204" pitchFamily="18" charset="0"/>
                      </a:rPr>
                      <m:t>−</m:t>
                    </m:r>
                    <m:r>
                      <a:rPr lang="en-CA" sz="2400" b="0" i="1" dirty="0" smtClean="0">
                        <a:solidFill>
                          <a:schemeClr val="tx1"/>
                        </a:solidFill>
                        <a:latin typeface="Cambria Math" panose="02040503050406030204" pitchFamily="18" charset="0"/>
                      </a:rPr>
                      <m:t>𝑚</m:t>
                    </m:r>
                    <m:r>
                      <a:rPr lang="en-GB" sz="2400" b="0" i="1" dirty="0" smtClean="0">
                        <a:solidFill>
                          <a:schemeClr val="tx1"/>
                        </a:solidFill>
                        <a:latin typeface="Cambria Math" panose="02040503050406030204" pitchFamily="18" charset="0"/>
                      </a:rPr>
                      <m:t>)</m:t>
                    </m:r>
                    <m:r>
                      <a:rPr lang="en-CA" sz="2400" b="0" i="1" dirty="0" smtClean="0">
                        <a:solidFill>
                          <a:schemeClr val="tx1"/>
                        </a:solidFill>
                        <a:latin typeface="Cambria Math" panose="02040503050406030204" pitchFamily="18" charset="0"/>
                      </a:rPr>
                      <m:t>=</m:t>
                    </m:r>
                    <m:r>
                      <a:rPr lang="en-GB" sz="2400" b="0" i="1" dirty="0" smtClean="0">
                        <a:solidFill>
                          <a:schemeClr val="tx1"/>
                        </a:solidFill>
                        <a:latin typeface="Cambria Math" panose="02040503050406030204" pitchFamily="18" charset="0"/>
                      </a:rPr>
                      <m:t>6</m:t>
                    </m:r>
                    <m:r>
                      <a:rPr lang="en-CA" sz="2400" b="0" i="1" dirty="0" smtClean="0">
                        <a:solidFill>
                          <a:schemeClr val="tx1"/>
                        </a:solidFill>
                        <a:latin typeface="Cambria Math" panose="02040503050406030204" pitchFamily="18" charset="0"/>
                      </a:rPr>
                      <m:t>−3</m:t>
                    </m:r>
                    <m:r>
                      <a:rPr lang="en-GB" sz="2400" b="0" i="1" dirty="0" smtClean="0">
                        <a:solidFill>
                          <a:schemeClr val="tx1"/>
                        </a:solidFill>
                        <a:latin typeface="Cambria Math" panose="02040503050406030204" pitchFamily="18" charset="0"/>
                      </a:rPr>
                      <m:t>=3</m:t>
                    </m:r>
                    <m:r>
                      <a:rPr lang="en-CA" sz="2400" b="0" i="1" dirty="0" smtClean="0">
                        <a:solidFill>
                          <a:schemeClr val="tx1"/>
                        </a:solidFill>
                        <a:latin typeface="Cambria Math" panose="02040503050406030204" pitchFamily="18" charset="0"/>
                      </a:rPr>
                      <m:t> </m:t>
                    </m:r>
                  </m:oMath>
                </a14:m>
                <a:endParaRPr lang="en-GB" sz="2400" b="0" dirty="0">
                  <a:solidFill>
                    <a:schemeClr val="tx1"/>
                  </a:solidFill>
                  <a:latin typeface="+mn-lt"/>
                </a:endParaRPr>
              </a:p>
              <a:p>
                <a:pPr marL="0" indent="0">
                  <a:lnSpc>
                    <a:spcPct val="100000"/>
                  </a:lnSpc>
                  <a:spcBef>
                    <a:spcPts val="600"/>
                  </a:spcBef>
                  <a:spcAft>
                    <a:spcPts val="800"/>
                  </a:spcAft>
                  <a:buNone/>
                </a:pPr>
                <a:r>
                  <a:rPr lang="en-GB" dirty="0">
                    <a:latin typeface="+mn-lt"/>
                  </a:rPr>
                  <a:t>The </a:t>
                </a:r>
                <a:r>
                  <a:rPr lang="el-GR" i="1" dirty="0">
                    <a:latin typeface="Times New Roman" panose="02020603050405020304" pitchFamily="18" charset="0"/>
                    <a:cs typeface="Times New Roman" panose="02020603050405020304" pitchFamily="18" charset="0"/>
                  </a:rPr>
                  <a:t>Π</a:t>
                </a:r>
                <a:r>
                  <a:rPr lang="en-GB" dirty="0">
                    <a:latin typeface="+mn-lt"/>
                  </a:rPr>
                  <a:t>-groups are as follows:</a:t>
                </a:r>
                <a:endParaRPr lang="en-GB" sz="2400" b="0" dirty="0">
                  <a:solidFill>
                    <a:schemeClr val="tx1"/>
                  </a:solidFill>
                  <a:latin typeface="+mn-lt"/>
                </a:endParaRPr>
              </a:p>
              <a:p>
                <a:pPr marL="0" indent="0" algn="ctr">
                  <a:lnSpc>
                    <a:spcPct val="100000"/>
                  </a:lnSpc>
                  <a:spcBef>
                    <a:spcPts val="0"/>
                  </a:spcBef>
                  <a:spcAft>
                    <a:spcPts val="600"/>
                  </a:spcAft>
                  <a:buNone/>
                </a:pPr>
                <a14:m>
                  <m:oMath xmlns:m="http://schemas.openxmlformats.org/officeDocument/2006/math">
                    <m:sSub>
                      <m:sSubPr>
                        <m:ctrlPr>
                          <a:rPr lang="en-CA" sz="2400" i="1" smtClean="0">
                            <a:solidFill>
                              <a:schemeClr val="tx1"/>
                            </a:solidFill>
                            <a:latin typeface="Cambria Math" panose="02040503050406030204" pitchFamily="18" charset="0"/>
                          </a:rPr>
                        </m:ctrlPr>
                      </m:sSubPr>
                      <m:e>
                        <m:r>
                          <a:rPr lang="el-GR" sz="2400" b="0" i="1" smtClean="0">
                            <a:solidFill>
                              <a:schemeClr val="tx1"/>
                            </a:solidFill>
                            <a:latin typeface="Cambria Math" panose="02040503050406030204" pitchFamily="18" charset="0"/>
                            <a:ea typeface="Cambria Math" panose="02040503050406030204" pitchFamily="18" charset="0"/>
                          </a:rPr>
                          <m:t>𝛱</m:t>
                        </m:r>
                      </m:e>
                      <m:sub>
                        <m:r>
                          <a:rPr lang="en-CA" sz="2400" b="0" i="1" smtClean="0">
                            <a:solidFill>
                              <a:schemeClr val="tx1"/>
                            </a:solidFill>
                            <a:latin typeface="Cambria Math" panose="02040503050406030204" pitchFamily="18" charset="0"/>
                          </a:rPr>
                          <m:t>1</m:t>
                        </m:r>
                      </m:sub>
                    </m:sSub>
                    <m:r>
                      <a:rPr lang="en-CA" sz="2400" b="0" i="1" smtClean="0">
                        <a:solidFill>
                          <a:schemeClr val="tx1"/>
                        </a:solidFill>
                        <a:latin typeface="Cambria Math" panose="02040503050406030204" pitchFamily="18" charset="0"/>
                      </a:rPr>
                      <m:t>=</m:t>
                    </m:r>
                    <m:sSup>
                      <m:sSupPr>
                        <m:ctrlPr>
                          <a:rPr lang="en-CA" sz="2400" i="1" smtClean="0">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ea typeface="Cambria Math" panose="02040503050406030204" pitchFamily="18" charset="0"/>
                          </a:rPr>
                          <m:t>𝜌</m:t>
                        </m:r>
                      </m:e>
                      <m:sup>
                        <m:r>
                          <a:rPr lang="en-CA" sz="2400" b="0" i="1" smtClean="0">
                            <a:solidFill>
                              <a:schemeClr val="tx1"/>
                            </a:solidFill>
                            <a:latin typeface="Cambria Math" panose="02040503050406030204" pitchFamily="18" charset="0"/>
                          </a:rPr>
                          <m:t>𝑎</m:t>
                        </m:r>
                      </m:sup>
                    </m:sSup>
                    <m:sSup>
                      <m:sSupPr>
                        <m:ctrlPr>
                          <a:rPr lang="en-CA" sz="2400" i="1" smtClean="0">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rPr>
                          <m:t>𝑉</m:t>
                        </m:r>
                        <m:r>
                          <m:rPr>
                            <m:nor/>
                          </m:rPr>
                          <a:rPr lang="en-CA" sz="2400" dirty="0">
                            <a:solidFill>
                              <a:schemeClr val="tx1"/>
                            </a:solidFill>
                            <a:latin typeface="+mn-lt"/>
                          </a:rPr>
                          <m:t> </m:t>
                        </m:r>
                      </m:e>
                      <m:sup>
                        <m:r>
                          <a:rPr lang="en-CA" sz="2400" b="0" i="1" smtClean="0">
                            <a:solidFill>
                              <a:schemeClr val="tx1"/>
                            </a:solidFill>
                            <a:latin typeface="Cambria Math" panose="02040503050406030204" pitchFamily="18" charset="0"/>
                          </a:rPr>
                          <m:t>𝑏</m:t>
                        </m:r>
                      </m:sup>
                    </m:sSup>
                    <m:sSup>
                      <m:sSupPr>
                        <m:ctrlPr>
                          <a:rPr lang="en-CA" sz="2400" i="1" smtClean="0">
                            <a:solidFill>
                              <a:schemeClr val="tx1"/>
                            </a:solidFill>
                            <a:latin typeface="Cambria Math" panose="02040503050406030204" pitchFamily="18" charset="0"/>
                          </a:rPr>
                        </m:ctrlPr>
                      </m:sSupPr>
                      <m:e>
                        <m:r>
                          <a:rPr lang="en-GB" sz="2400" b="0" i="1" smtClean="0">
                            <a:solidFill>
                              <a:schemeClr val="tx1"/>
                            </a:solidFill>
                            <a:latin typeface="Cambria Math" panose="02040503050406030204" pitchFamily="18" charset="0"/>
                          </a:rPr>
                          <m:t>𝑙</m:t>
                        </m:r>
                      </m:e>
                      <m:sup>
                        <m:r>
                          <a:rPr lang="en-CA" sz="2400" b="0" i="1" smtClean="0">
                            <a:solidFill>
                              <a:schemeClr val="tx1"/>
                            </a:solidFill>
                            <a:latin typeface="Cambria Math" panose="02040503050406030204" pitchFamily="18" charset="0"/>
                          </a:rPr>
                          <m:t>𝑐</m:t>
                        </m:r>
                      </m:sup>
                    </m:sSup>
                    <m:r>
                      <a:rPr lang="en-GB" sz="2400" b="0" i="1" smtClean="0">
                        <a:solidFill>
                          <a:schemeClr val="tx1"/>
                        </a:solidFill>
                        <a:latin typeface="Cambria Math" panose="02040503050406030204" pitchFamily="18" charset="0"/>
                      </a:rPr>
                      <m:t>𝑅</m:t>
                    </m:r>
                  </m:oMath>
                </a14:m>
                <a:r>
                  <a:rPr lang="en-CA" sz="2400" dirty="0">
                    <a:solidFill>
                      <a:schemeClr val="tx1"/>
                    </a:solidFill>
                    <a:latin typeface="+mn-lt"/>
                  </a:rPr>
                  <a:t>          </a:t>
                </a:r>
              </a:p>
              <a:p>
                <a:pPr marL="0" indent="0" algn="ctr">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2400" i="1">
                              <a:solidFill>
                                <a:schemeClr val="tx1"/>
                              </a:solidFill>
                              <a:latin typeface="Cambria Math" panose="02040503050406030204" pitchFamily="18" charset="0"/>
                            </a:rPr>
                          </m:ctrlPr>
                        </m:sSubPr>
                        <m:e>
                          <m:r>
                            <a:rPr lang="el-GR" sz="2400" b="0" i="1" smtClean="0">
                              <a:solidFill>
                                <a:schemeClr val="tx1"/>
                              </a:solidFill>
                              <a:latin typeface="Cambria Math" panose="02040503050406030204" pitchFamily="18" charset="0"/>
                              <a:ea typeface="Cambria Math" panose="02040503050406030204" pitchFamily="18" charset="0"/>
                            </a:rPr>
                            <m:t>𝛱</m:t>
                          </m:r>
                        </m:e>
                        <m:sub>
                          <m:r>
                            <a:rPr lang="en-CA" sz="2400" b="0" i="1" smtClean="0">
                              <a:solidFill>
                                <a:schemeClr val="tx1"/>
                              </a:solidFill>
                              <a:latin typeface="Cambria Math" panose="02040503050406030204" pitchFamily="18" charset="0"/>
                            </a:rPr>
                            <m:t>2</m:t>
                          </m:r>
                        </m:sub>
                      </m:sSub>
                      <m:r>
                        <a:rPr lang="en-CA" sz="2400" b="0" i="1" smtClean="0">
                          <a:solidFill>
                            <a:schemeClr val="tx1"/>
                          </a:solidFill>
                          <a:latin typeface="Cambria Math" panose="02040503050406030204" pitchFamily="18" charset="0"/>
                        </a:rPr>
                        <m:t>=</m:t>
                      </m:r>
                      <m:sSup>
                        <m:sSupPr>
                          <m:ctrlPr>
                            <a:rPr lang="en-CA" sz="2400" i="1" smtClean="0">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ea typeface="Cambria Math" panose="02040503050406030204" pitchFamily="18" charset="0"/>
                            </a:rPr>
                            <m:t>𝜌</m:t>
                          </m:r>
                        </m:e>
                        <m:sup>
                          <m:r>
                            <a:rPr lang="en-CA" sz="2400" b="0" i="1" smtClean="0">
                              <a:solidFill>
                                <a:schemeClr val="tx1"/>
                              </a:solidFill>
                              <a:latin typeface="Cambria Math" panose="02040503050406030204" pitchFamily="18" charset="0"/>
                            </a:rPr>
                            <m:t>𝑑</m:t>
                          </m:r>
                        </m:sup>
                      </m:sSup>
                      <m:sSup>
                        <m:sSupPr>
                          <m:ctrlPr>
                            <a:rPr lang="en-CA" sz="2400" i="1">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rPr>
                            <m:t>𝑉</m:t>
                          </m:r>
                          <m:r>
                            <m:rPr>
                              <m:nor/>
                            </m:rPr>
                            <a:rPr lang="en-CA" sz="2400" dirty="0">
                              <a:solidFill>
                                <a:schemeClr val="tx1"/>
                              </a:solidFill>
                              <a:latin typeface="+mn-lt"/>
                            </a:rPr>
                            <m:t> </m:t>
                          </m:r>
                        </m:e>
                        <m:sup>
                          <m:r>
                            <a:rPr lang="en-CA" sz="2400" b="0" i="1" smtClean="0">
                              <a:solidFill>
                                <a:schemeClr val="tx1"/>
                              </a:solidFill>
                              <a:latin typeface="Cambria Math" panose="02040503050406030204" pitchFamily="18" charset="0"/>
                            </a:rPr>
                            <m:t>𝑒</m:t>
                          </m:r>
                        </m:sup>
                      </m:sSup>
                      <m:sSup>
                        <m:sSupPr>
                          <m:ctrlPr>
                            <a:rPr lang="en-CA" sz="2400" i="1">
                              <a:solidFill>
                                <a:schemeClr val="tx1"/>
                              </a:solidFill>
                              <a:latin typeface="Cambria Math" panose="02040503050406030204" pitchFamily="18" charset="0"/>
                            </a:rPr>
                          </m:ctrlPr>
                        </m:sSupPr>
                        <m:e>
                          <m:r>
                            <a:rPr lang="en-GB" sz="2400" b="0" i="1" smtClean="0">
                              <a:solidFill>
                                <a:schemeClr val="tx1"/>
                              </a:solidFill>
                              <a:latin typeface="Cambria Math" panose="02040503050406030204" pitchFamily="18" charset="0"/>
                            </a:rPr>
                            <m:t>𝑙</m:t>
                          </m:r>
                        </m:e>
                        <m:sup>
                          <m:r>
                            <a:rPr lang="en-CA" sz="2400" b="0" i="1" smtClean="0">
                              <a:solidFill>
                                <a:schemeClr val="tx1"/>
                              </a:solidFill>
                              <a:latin typeface="Cambria Math" panose="02040503050406030204" pitchFamily="18" charset="0"/>
                            </a:rPr>
                            <m:t>𝑓</m:t>
                          </m:r>
                        </m:sup>
                      </m:sSup>
                      <m:r>
                        <a:rPr lang="en-CA" sz="2400" b="0" i="1" smtClean="0">
                          <a:solidFill>
                            <a:schemeClr val="tx1"/>
                          </a:solidFill>
                          <a:latin typeface="Cambria Math" panose="02040503050406030204" pitchFamily="18" charset="0"/>
                          <a:ea typeface="Cambria Math" panose="02040503050406030204" pitchFamily="18" charset="0"/>
                        </a:rPr>
                        <m:t>𝜇</m:t>
                      </m:r>
                    </m:oMath>
                  </m:oMathPara>
                </a14:m>
                <a:endParaRPr lang="en-CA" sz="2400" dirty="0">
                  <a:solidFill>
                    <a:schemeClr val="tx1"/>
                  </a:solidFill>
                  <a:latin typeface="+mn-lt"/>
                </a:endParaRPr>
              </a:p>
              <a:p>
                <a:pPr marL="0" indent="0" algn="ctr">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2400" i="1" smtClean="0">
                              <a:solidFill>
                                <a:schemeClr val="tx1"/>
                              </a:solidFill>
                              <a:latin typeface="Cambria Math" panose="02040503050406030204" pitchFamily="18" charset="0"/>
                            </a:rPr>
                          </m:ctrlPr>
                        </m:sSubPr>
                        <m:e>
                          <m:r>
                            <a:rPr lang="el-GR" sz="2400" b="0" i="1" smtClean="0">
                              <a:solidFill>
                                <a:schemeClr val="tx1"/>
                              </a:solidFill>
                              <a:latin typeface="Cambria Math" panose="02040503050406030204" pitchFamily="18" charset="0"/>
                              <a:ea typeface="Cambria Math" panose="02040503050406030204" pitchFamily="18" charset="0"/>
                            </a:rPr>
                            <m:t>𝛱</m:t>
                          </m:r>
                        </m:e>
                        <m:sub>
                          <m:r>
                            <a:rPr lang="en-GB" sz="2400" b="0" i="1" smtClean="0">
                              <a:solidFill>
                                <a:schemeClr val="tx1"/>
                              </a:solidFill>
                              <a:latin typeface="Cambria Math" panose="02040503050406030204" pitchFamily="18" charset="0"/>
                            </a:rPr>
                            <m:t>3</m:t>
                          </m:r>
                        </m:sub>
                      </m:sSub>
                      <m:r>
                        <a:rPr lang="en-CA" sz="2400" b="0" i="1" smtClean="0">
                          <a:solidFill>
                            <a:schemeClr val="tx1"/>
                          </a:solidFill>
                          <a:latin typeface="Cambria Math" panose="02040503050406030204" pitchFamily="18" charset="0"/>
                        </a:rPr>
                        <m:t>=</m:t>
                      </m:r>
                      <m:sSup>
                        <m:sSupPr>
                          <m:ctrlPr>
                            <a:rPr lang="en-CA" sz="2400" i="1" smtClean="0">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ea typeface="Cambria Math" panose="02040503050406030204" pitchFamily="18" charset="0"/>
                            </a:rPr>
                            <m:t>𝜌</m:t>
                          </m:r>
                        </m:e>
                        <m:sup>
                          <m:r>
                            <a:rPr lang="en-GB" sz="2400" b="0" i="1" smtClean="0">
                              <a:solidFill>
                                <a:schemeClr val="tx1"/>
                              </a:solidFill>
                              <a:latin typeface="Cambria Math" panose="02040503050406030204" pitchFamily="18" charset="0"/>
                              <a:ea typeface="Cambria Math" panose="02040503050406030204" pitchFamily="18" charset="0"/>
                            </a:rPr>
                            <m:t>𝑔</m:t>
                          </m:r>
                        </m:sup>
                      </m:sSup>
                      <m:sSup>
                        <m:sSupPr>
                          <m:ctrlPr>
                            <a:rPr lang="en-CA" sz="2400" i="1">
                              <a:solidFill>
                                <a:schemeClr val="tx1"/>
                              </a:solidFill>
                              <a:latin typeface="Cambria Math" panose="02040503050406030204" pitchFamily="18" charset="0"/>
                            </a:rPr>
                          </m:ctrlPr>
                        </m:sSupPr>
                        <m:e>
                          <m:r>
                            <a:rPr lang="en-CA" sz="2400" b="0" i="1" smtClean="0">
                              <a:solidFill>
                                <a:schemeClr val="tx1"/>
                              </a:solidFill>
                              <a:latin typeface="Cambria Math" panose="02040503050406030204" pitchFamily="18" charset="0"/>
                            </a:rPr>
                            <m:t>𝑉</m:t>
                          </m:r>
                          <m:r>
                            <m:rPr>
                              <m:nor/>
                            </m:rPr>
                            <a:rPr lang="en-CA" sz="2400" dirty="0">
                              <a:solidFill>
                                <a:schemeClr val="tx1"/>
                              </a:solidFill>
                              <a:latin typeface="+mn-lt"/>
                            </a:rPr>
                            <m:t> </m:t>
                          </m:r>
                        </m:e>
                        <m:sup>
                          <m:r>
                            <a:rPr lang="en-GB" sz="2400" b="0" i="1" dirty="0" smtClean="0">
                              <a:solidFill>
                                <a:schemeClr val="tx1"/>
                              </a:solidFill>
                              <a:latin typeface="Cambria Math" panose="02040503050406030204" pitchFamily="18" charset="0"/>
                            </a:rPr>
                            <m:t>h</m:t>
                          </m:r>
                        </m:sup>
                      </m:sSup>
                      <m:sSup>
                        <m:sSupPr>
                          <m:ctrlPr>
                            <a:rPr lang="en-CA" sz="2400" i="1">
                              <a:solidFill>
                                <a:schemeClr val="tx1"/>
                              </a:solidFill>
                              <a:latin typeface="Cambria Math" panose="02040503050406030204" pitchFamily="18" charset="0"/>
                            </a:rPr>
                          </m:ctrlPr>
                        </m:sSupPr>
                        <m:e>
                          <m:r>
                            <a:rPr lang="en-GB" sz="2400" b="0" i="1" smtClean="0">
                              <a:solidFill>
                                <a:schemeClr val="tx1"/>
                              </a:solidFill>
                              <a:latin typeface="Cambria Math" panose="02040503050406030204" pitchFamily="18" charset="0"/>
                            </a:rPr>
                            <m:t>𝑙</m:t>
                          </m:r>
                        </m:e>
                        <m:sup>
                          <m:r>
                            <a:rPr lang="en-GB" sz="2400" b="0" i="1" smtClean="0">
                              <a:solidFill>
                                <a:schemeClr val="tx1"/>
                              </a:solidFill>
                              <a:latin typeface="Cambria Math" panose="02040503050406030204" pitchFamily="18" charset="0"/>
                            </a:rPr>
                            <m:t>𝑖</m:t>
                          </m:r>
                        </m:sup>
                      </m:sSup>
                      <m:r>
                        <a:rPr lang="en-GB" sz="2400" b="0" i="1" smtClean="0">
                          <a:solidFill>
                            <a:schemeClr val="tx1"/>
                          </a:solidFill>
                          <a:latin typeface="Cambria Math" panose="02040503050406030204" pitchFamily="18" charset="0"/>
                        </a:rPr>
                        <m:t>𝑘</m:t>
                      </m:r>
                    </m:oMath>
                  </m:oMathPara>
                </a14:m>
                <a:endParaRPr lang="en-CA" sz="2400" dirty="0">
                  <a:solidFill>
                    <a:schemeClr val="tx1"/>
                  </a:solidFill>
                  <a:latin typeface="+mn-lt"/>
                </a:endParaRPr>
              </a:p>
            </p:txBody>
          </p:sp>
        </mc:Choice>
        <mc:Fallback xmlns="">
          <p:sp>
            <p:nvSpPr>
              <p:cNvPr id="20" name="TextBox 19">
                <a:extLst>
                  <a:ext uri="{FF2B5EF4-FFF2-40B4-BE49-F238E27FC236}">
                    <a16:creationId xmlns:a16="http://schemas.microsoft.com/office/drawing/2014/main" id="{B4A2DD82-CE33-80BD-D51A-CF7F031DBF9C}"/>
                  </a:ext>
                </a:extLst>
              </p:cNvPr>
              <p:cNvSpPr txBox="1">
                <a:spLocks noRot="1" noChangeAspect="1" noMove="1" noResize="1" noEditPoints="1" noAdjustHandles="1" noChangeArrowheads="1" noChangeShapeType="1" noTextEdit="1"/>
              </p:cNvSpPr>
              <p:nvPr/>
            </p:nvSpPr>
            <p:spPr>
              <a:xfrm>
                <a:off x="4685218" y="2395213"/>
                <a:ext cx="4304793" cy="3397148"/>
              </a:xfrm>
              <a:prstGeom prst="rect">
                <a:avLst/>
              </a:prstGeom>
              <a:blipFill>
                <a:blip r:embed="rId10"/>
                <a:stretch>
                  <a:fillRect l="-2266" t="-1616" b="-898"/>
                </a:stretch>
              </a:blipFill>
            </p:spPr>
            <p:txBody>
              <a:bodyPr/>
              <a:lstStyle/>
              <a:p>
                <a:r>
                  <a:rPr lang="en-GH">
                    <a:noFill/>
                  </a:rPr>
                  <a:t> </a:t>
                </a:r>
              </a:p>
            </p:txBody>
          </p:sp>
        </mc:Fallback>
      </mc:AlternateContent>
      <p:sp>
        <p:nvSpPr>
          <p:cNvPr id="22" name="TextBox 21">
            <a:extLst>
              <a:ext uri="{FF2B5EF4-FFF2-40B4-BE49-F238E27FC236}">
                <a16:creationId xmlns:a16="http://schemas.microsoft.com/office/drawing/2014/main" id="{8A4B9C63-7066-D340-948B-B0DFB868EB04}"/>
              </a:ext>
            </a:extLst>
          </p:cNvPr>
          <p:cNvSpPr txBox="1"/>
          <p:nvPr/>
        </p:nvSpPr>
        <p:spPr>
          <a:xfrm>
            <a:off x="81888" y="4828737"/>
            <a:ext cx="4320276" cy="461665"/>
          </a:xfrm>
          <a:prstGeom prst="rect">
            <a:avLst/>
          </a:prstGeom>
          <a:noFill/>
        </p:spPr>
        <p:txBody>
          <a:bodyPr wrap="square">
            <a:spAutoFit/>
          </a:bodyPr>
          <a:lstStyle/>
          <a:p>
            <a:pPr marL="0" indent="0">
              <a:lnSpc>
                <a:spcPct val="100000"/>
              </a:lnSpc>
              <a:spcBef>
                <a:spcPts val="1800"/>
              </a:spcBef>
              <a:spcAft>
                <a:spcPts val="1200"/>
              </a:spcAft>
              <a:buNone/>
            </a:pPr>
            <a:r>
              <a:rPr lang="en-CA" i="1" dirty="0">
                <a:latin typeface="+mn-lt"/>
              </a:rPr>
              <a:t>n</a:t>
            </a:r>
            <a:r>
              <a:rPr lang="en-CA" dirty="0">
                <a:latin typeface="+mn-lt"/>
              </a:rPr>
              <a:t> = 6, </a:t>
            </a:r>
            <a:r>
              <a:rPr lang="en-CA" i="1" dirty="0">
                <a:latin typeface="+mn-lt"/>
              </a:rPr>
              <a:t>r</a:t>
            </a:r>
            <a:r>
              <a:rPr lang="en-CA" dirty="0">
                <a:latin typeface="+mn-lt"/>
              </a:rPr>
              <a:t> = 3</a:t>
            </a:r>
            <a:endParaRPr lang="en-CA" sz="2400" dirty="0">
              <a:solidFill>
                <a:schemeClr val="tx1"/>
              </a:solidFill>
              <a:latin typeface="+mn-lt"/>
            </a:endParaRPr>
          </a:p>
        </p:txBody>
      </p:sp>
      <p:sp>
        <p:nvSpPr>
          <p:cNvPr id="23" name="TextBox 22">
            <a:extLst>
              <a:ext uri="{FF2B5EF4-FFF2-40B4-BE49-F238E27FC236}">
                <a16:creationId xmlns:a16="http://schemas.microsoft.com/office/drawing/2014/main" id="{D1338452-D097-8E50-E95A-D01605F49EAE}"/>
              </a:ext>
            </a:extLst>
          </p:cNvPr>
          <p:cNvSpPr txBox="1"/>
          <p:nvPr/>
        </p:nvSpPr>
        <p:spPr>
          <a:xfrm>
            <a:off x="50557" y="5198069"/>
            <a:ext cx="4320276" cy="830997"/>
          </a:xfrm>
          <a:prstGeom prst="rect">
            <a:avLst/>
          </a:prstGeom>
          <a:noFill/>
        </p:spPr>
        <p:txBody>
          <a:bodyPr wrap="square">
            <a:spAutoFit/>
          </a:bodyPr>
          <a:lstStyle/>
          <a:p>
            <a:pPr marL="0" indent="0">
              <a:lnSpc>
                <a:spcPct val="100000"/>
              </a:lnSpc>
              <a:spcBef>
                <a:spcPts val="0"/>
              </a:spcBef>
              <a:spcAft>
                <a:spcPts val="0"/>
              </a:spcAft>
              <a:buNone/>
            </a:pPr>
            <a:r>
              <a:rPr lang="en-CA" dirty="0">
                <a:latin typeface="+mn-lt"/>
              </a:rPr>
              <a:t>Number of repeating parameters </a:t>
            </a:r>
          </a:p>
          <a:p>
            <a:pPr marL="0" indent="0">
              <a:lnSpc>
                <a:spcPct val="100000"/>
              </a:lnSpc>
              <a:spcBef>
                <a:spcPts val="0"/>
              </a:spcBef>
              <a:spcAft>
                <a:spcPts val="0"/>
              </a:spcAft>
              <a:buNone/>
            </a:pPr>
            <a:r>
              <a:rPr lang="en-CA" i="1" dirty="0">
                <a:latin typeface="+mn-lt"/>
              </a:rPr>
              <a:t>m</a:t>
            </a:r>
            <a:r>
              <a:rPr lang="en-CA" dirty="0">
                <a:latin typeface="+mn-lt"/>
              </a:rPr>
              <a:t> = </a:t>
            </a:r>
            <a:r>
              <a:rPr lang="en-CA" i="1" dirty="0">
                <a:latin typeface="+mn-lt"/>
              </a:rPr>
              <a:t>r</a:t>
            </a:r>
            <a:r>
              <a:rPr lang="en-CA" dirty="0">
                <a:latin typeface="+mn-lt"/>
              </a:rPr>
              <a:t> = 3</a:t>
            </a:r>
            <a:endParaRPr lang="en-CA" sz="2400" dirty="0">
              <a:solidFill>
                <a:schemeClr val="tx1"/>
              </a:solidFill>
              <a:latin typeface="+mn-lt"/>
            </a:endParaRPr>
          </a:p>
        </p:txBody>
      </p:sp>
      <p:cxnSp>
        <p:nvCxnSpPr>
          <p:cNvPr id="25" name="Straight Connector 24">
            <a:extLst>
              <a:ext uri="{FF2B5EF4-FFF2-40B4-BE49-F238E27FC236}">
                <a16:creationId xmlns:a16="http://schemas.microsoft.com/office/drawing/2014/main" id="{711569AA-F867-6EBD-351E-33A15B9276B9}"/>
              </a:ext>
            </a:extLst>
          </p:cNvPr>
          <p:cNvCxnSpPr>
            <a:cxnSpLocks/>
          </p:cNvCxnSpPr>
          <p:nvPr/>
        </p:nvCxnSpPr>
        <p:spPr>
          <a:xfrm>
            <a:off x="4633415" y="2101755"/>
            <a:ext cx="0" cy="3927311"/>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16977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CD23FF-3FAD-F902-5B54-9DED3D7A054D}"/>
              </a:ext>
            </a:extLst>
          </p:cNvPr>
          <p:cNvSpPr txBox="1"/>
          <p:nvPr/>
        </p:nvSpPr>
        <p:spPr>
          <a:xfrm>
            <a:off x="0" y="142930"/>
            <a:ext cx="4233672" cy="461665"/>
          </a:xfrm>
          <a:prstGeom prst="rect">
            <a:avLst/>
          </a:prstGeom>
          <a:noFill/>
        </p:spPr>
        <p:txBody>
          <a:bodyPr wrap="square">
            <a:spAutoFit/>
          </a:bodyPr>
          <a:lstStyle/>
          <a:p>
            <a:pPr marL="0" indent="0">
              <a:buNone/>
            </a:pPr>
            <a:r>
              <a:rPr lang="en-US" sz="2400" b="1" dirty="0">
                <a:latin typeface="+mn-lt"/>
              </a:rPr>
              <a:t>Solution Contd.</a:t>
            </a:r>
            <a:r>
              <a:rPr lang="en-US" sz="2400" dirty="0">
                <a:latin typeface="+mn-lt"/>
              </a:rPr>
              <a: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8CA0B9D-207A-55EA-B0EC-1F8BB8DC7060}"/>
                  </a:ext>
                </a:extLst>
              </p:cNvPr>
              <p:cNvSpPr txBox="1"/>
              <p:nvPr/>
            </p:nvSpPr>
            <p:spPr>
              <a:xfrm>
                <a:off x="146091" y="690048"/>
                <a:ext cx="8390583" cy="3707233"/>
              </a:xfrm>
              <a:prstGeom prst="rect">
                <a:avLst/>
              </a:prstGeom>
              <a:noFill/>
            </p:spPr>
            <p:txBody>
              <a:bodyPr wrap="square">
                <a:spAutoFit/>
              </a:bodyPr>
              <a:lstStyle/>
              <a:p>
                <a:pPr marL="0" indent="0">
                  <a:lnSpc>
                    <a:spcPct val="100000"/>
                  </a:lnSpc>
                  <a:spcBef>
                    <a:spcPts val="600"/>
                  </a:spcBef>
                  <a:spcAft>
                    <a:spcPts val="600"/>
                  </a:spcAft>
                  <a:buNone/>
                </a:pPr>
                <a:r>
                  <a:rPr lang="en-CA" dirty="0">
                    <a:solidFill>
                      <a:schemeClr val="tx1"/>
                    </a:solidFill>
                    <a:latin typeface="+mn-lt"/>
                  </a:rPr>
                  <a:t>For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a:solidFill>
                              <a:schemeClr val="tx1"/>
                            </a:solidFill>
                            <a:latin typeface="Cambria Math" panose="02040503050406030204" pitchFamily="18" charset="0"/>
                          </a:rPr>
                          <m:t>1</m:t>
                        </m:r>
                      </m:sub>
                    </m:sSub>
                  </m:oMath>
                </a14:m>
                <a:r>
                  <a:rPr lang="en-CA" dirty="0">
                    <a:solidFill>
                      <a:schemeClr val="tx1"/>
                    </a:solidFill>
                    <a:latin typeface="+mn-lt"/>
                  </a:rPr>
                  <a:t>, we have: </a:t>
                </a:r>
                <a14:m>
                  <m:oMath xmlns:m="http://schemas.openxmlformats.org/officeDocument/2006/math">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3</m:t>
                                    </m:r>
                                  </m:sup>
                                </m:sSup>
                              </m:den>
                            </m:f>
                          </m:e>
                        </m:d>
                      </m:e>
                      <m:sup>
                        <m:r>
                          <a:rPr lang="en-CA" b="0" i="1" smtClean="0">
                            <a:solidFill>
                              <a:schemeClr val="tx1"/>
                            </a:solidFill>
                            <a:latin typeface="Cambria Math" panose="02040503050406030204" pitchFamily="18" charset="0"/>
                          </a:rPr>
                          <m:t>𝑎</m:t>
                        </m:r>
                      </m:sup>
                    </m:sSup>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𝐿</m:t>
                                </m:r>
                              </m:num>
                              <m:den>
                                <m:r>
                                  <a:rPr lang="en-CA" b="0" i="1" smtClean="0">
                                    <a:solidFill>
                                      <a:schemeClr val="tx1"/>
                                    </a:solidFill>
                                    <a:latin typeface="Cambria Math" panose="02040503050406030204" pitchFamily="18" charset="0"/>
                                  </a:rPr>
                                  <m:t>𝑡</m:t>
                                </m:r>
                              </m:den>
                            </m:f>
                          </m:e>
                        </m:d>
                      </m:e>
                      <m:sup>
                        <m:r>
                          <a:rPr lang="en-CA" b="0" i="1" smtClean="0">
                            <a:solidFill>
                              <a:schemeClr val="tx1"/>
                            </a:solidFill>
                            <a:latin typeface="Cambria Math" panose="02040503050406030204" pitchFamily="18" charset="0"/>
                          </a:rPr>
                          <m:t>𝑏</m:t>
                        </m:r>
                      </m:sup>
                    </m:sSup>
                    <m:sSup>
                      <m:sSupPr>
                        <m:ctrlPr>
                          <a:rPr lang="en-CA" i="1" smtClean="0">
                            <a:solidFill>
                              <a:schemeClr val="tx1"/>
                            </a:solidFill>
                            <a:latin typeface="Cambria Math" panose="02040503050406030204" pitchFamily="18" charset="0"/>
                          </a:rPr>
                        </m:ctrlPr>
                      </m:sSupPr>
                      <m:e>
                        <m:d>
                          <m:dPr>
                            <m:ctrlPr>
                              <a:rPr lang="en-CA" i="1" smtClean="0">
                                <a:solidFill>
                                  <a:schemeClr val="tx1"/>
                                </a:solidFill>
                                <a:latin typeface="Cambria Math" panose="02040503050406030204" pitchFamily="18" charset="0"/>
                              </a:rPr>
                            </m:ctrlPr>
                          </m:dPr>
                          <m:e>
                            <m:r>
                              <a:rPr lang="en-CA" b="0" i="1" smtClean="0">
                                <a:solidFill>
                                  <a:schemeClr val="tx1"/>
                                </a:solidFill>
                                <a:latin typeface="Cambria Math" panose="02040503050406030204" pitchFamily="18" charset="0"/>
                              </a:rPr>
                              <m:t>𝐿</m:t>
                            </m:r>
                          </m:e>
                        </m:d>
                      </m:e>
                      <m:sup>
                        <m:r>
                          <a:rPr lang="en-CA" b="0" i="1" smtClean="0">
                            <a:solidFill>
                              <a:schemeClr val="tx1"/>
                            </a:solidFill>
                            <a:latin typeface="Cambria Math" panose="02040503050406030204" pitchFamily="18" charset="0"/>
                          </a:rPr>
                          <m:t>𝑐</m:t>
                        </m:r>
                      </m:sup>
                    </m:sSup>
                    <m:d>
                      <m:dPr>
                        <m:ctrlPr>
                          <a:rPr lang="en-CA" i="1" smtClean="0">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smtClean="0">
                                <a:solidFill>
                                  <a:schemeClr val="tx1"/>
                                </a:solidFill>
                                <a:latin typeface="Cambria Math" panose="02040503050406030204" pitchFamily="18" charset="0"/>
                              </a:rPr>
                              <m:t>𝑀𝐿</m:t>
                            </m:r>
                          </m:num>
                          <m:den>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𝑡</m:t>
                                </m:r>
                              </m:e>
                              <m:sup>
                                <m:r>
                                  <a:rPr lang="en-CA" b="0" i="1" smtClean="0">
                                    <a:solidFill>
                                      <a:schemeClr val="tx1"/>
                                    </a:solidFill>
                                    <a:latin typeface="Cambria Math" panose="02040503050406030204" pitchFamily="18" charset="0"/>
                                  </a:rPr>
                                  <m:t>2</m:t>
                                </m:r>
                              </m:sup>
                            </m:sSup>
                          </m:den>
                        </m:f>
                      </m:e>
                    </m:d>
                    <m:r>
                      <a:rPr lang="en-CA" b="0" i="1" smtClean="0">
                        <a:solidFill>
                          <a:schemeClr val="tx1"/>
                        </a:solidFill>
                        <a:latin typeface="Cambria Math" panose="02040503050406030204" pitchFamily="18" charset="0"/>
                      </a:rPr>
                      <m:t>=</m:t>
                    </m:r>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𝑀</m:t>
                        </m:r>
                      </m:e>
                      <m:sup>
                        <m:r>
                          <a:rPr lang="en-CA" b="0" i="1" smtClean="0">
                            <a:solidFill>
                              <a:schemeClr val="tx1"/>
                            </a:solidFill>
                            <a:latin typeface="Cambria Math" panose="02040503050406030204" pitchFamily="18" charset="0"/>
                          </a:rPr>
                          <m:t>0</m:t>
                        </m:r>
                      </m:sup>
                    </m:sSup>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𝐿</m:t>
                        </m:r>
                      </m:e>
                      <m:sup>
                        <m:r>
                          <a:rPr lang="en-CA" b="0" i="1" smtClean="0">
                            <a:solidFill>
                              <a:schemeClr val="tx1"/>
                            </a:solidFill>
                            <a:latin typeface="Cambria Math" panose="02040503050406030204" pitchFamily="18" charset="0"/>
                          </a:rPr>
                          <m:t>0</m:t>
                        </m:r>
                      </m:sup>
                    </m:sSup>
                    <m:sSup>
                      <m:sSupPr>
                        <m:ctrlPr>
                          <a:rPr lang="en-CA"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𝑡</m:t>
                        </m:r>
                      </m:e>
                      <m:sup>
                        <m:r>
                          <a:rPr lang="en-CA" b="0" i="1" smtClean="0">
                            <a:solidFill>
                              <a:schemeClr val="tx1"/>
                            </a:solidFill>
                            <a:latin typeface="Cambria Math" panose="02040503050406030204" pitchFamily="18" charset="0"/>
                          </a:rPr>
                          <m:t>0</m:t>
                        </m:r>
                      </m:sup>
                    </m:sSup>
                  </m:oMath>
                </a14:m>
                <a:r>
                  <a:rPr lang="en-CA" dirty="0">
                    <a:solidFill>
                      <a:schemeClr val="tx1"/>
                    </a:solidFill>
                    <a:latin typeface="+mn-lt"/>
                  </a:rPr>
                  <a:t> </a:t>
                </a:r>
                <a14:m>
                  <m:oMath xmlns:m="http://schemas.openxmlformats.org/officeDocument/2006/math">
                    <m:r>
                      <a:rPr lang="en-CA" b="0" i="1" dirty="0" smtClean="0">
                        <a:solidFill>
                          <a:schemeClr val="tx1"/>
                        </a:solidFill>
                        <a:latin typeface="Cambria Math" panose="02040503050406030204" pitchFamily="18" charset="0"/>
                        <a:ea typeface="Cambria Math" panose="02040503050406030204" pitchFamily="18" charset="0"/>
                      </a:rPr>
                      <m:t>⟹</m:t>
                    </m:r>
                    <m:sSub>
                      <m:sSubPr>
                        <m:ctrlPr>
                          <a:rPr lang="en-CA" i="1" dirty="0" smtClean="0">
                            <a:solidFill>
                              <a:schemeClr val="tx1"/>
                            </a:solidFill>
                            <a:latin typeface="Cambria Math" panose="02040503050406030204" pitchFamily="18" charset="0"/>
                            <a:ea typeface="Cambria Math" panose="02040503050406030204" pitchFamily="18" charset="0"/>
                          </a:rPr>
                        </m:ctrlPr>
                      </m:sSubPr>
                      <m:e>
                        <m:r>
                          <a:rPr lang="el-GR" b="0" i="1" dirty="0" smtClean="0">
                            <a:solidFill>
                              <a:schemeClr val="tx1"/>
                            </a:solidFill>
                            <a:latin typeface="Cambria Math" panose="02040503050406030204" pitchFamily="18" charset="0"/>
                            <a:ea typeface="Cambria Math" panose="02040503050406030204" pitchFamily="18" charset="0"/>
                          </a:rPr>
                          <m:t>𝛱</m:t>
                        </m:r>
                      </m:e>
                      <m:sub>
                        <m:r>
                          <a:rPr lang="en-CA" b="0" i="1" dirty="0" smtClean="0">
                            <a:solidFill>
                              <a:schemeClr val="tx1"/>
                            </a:solidFill>
                            <a:latin typeface="Cambria Math" panose="02040503050406030204" pitchFamily="18" charset="0"/>
                            <a:ea typeface="Cambria Math" panose="02040503050406030204" pitchFamily="18" charset="0"/>
                          </a:rPr>
                          <m:t>1</m:t>
                        </m:r>
                      </m:sub>
                    </m:sSub>
                    <m:r>
                      <a:rPr lang="en-CA" b="0" i="1" dirty="0" smtClean="0">
                        <a:solidFill>
                          <a:schemeClr val="tx1"/>
                        </a:solidFill>
                        <a:latin typeface="Cambria Math" panose="02040503050406030204" pitchFamily="18" charset="0"/>
                        <a:ea typeface="Cambria Math" panose="02040503050406030204" pitchFamily="18" charset="0"/>
                      </a:rPr>
                      <m:t>=</m:t>
                    </m:r>
                    <m:f>
                      <m:fPr>
                        <m:ctrlPr>
                          <a:rPr lang="en-CA"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𝑅</m:t>
                        </m:r>
                      </m:num>
                      <m:den>
                        <m:r>
                          <a:rPr lang="en-CA" b="0" i="1">
                            <a:solidFill>
                              <a:schemeClr val="tx1"/>
                            </a:solidFill>
                            <a:latin typeface="Cambria Math" panose="02040503050406030204" pitchFamily="18" charset="0"/>
                            <a:ea typeface="Cambria Math" panose="02040503050406030204" pitchFamily="18" charset="0"/>
                          </a:rPr>
                          <m:t>𝜌</m:t>
                        </m:r>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𝑉</m:t>
                            </m:r>
                          </m:e>
                          <m:sup>
                            <m:r>
                              <a:rPr lang="en-CA" b="0" i="1">
                                <a:solidFill>
                                  <a:schemeClr val="tx1"/>
                                </a:solidFill>
                                <a:latin typeface="Cambria Math" panose="02040503050406030204" pitchFamily="18" charset="0"/>
                                <a:ea typeface="Cambria Math" panose="02040503050406030204" pitchFamily="18" charset="0"/>
                              </a:rPr>
                              <m:t>2</m:t>
                            </m:r>
                          </m:sup>
                        </m:sSup>
                        <m:sSup>
                          <m:sSupPr>
                            <m:ctrlPr>
                              <a:rPr lang="en-CA" i="1">
                                <a:solidFill>
                                  <a:schemeClr val="tx1"/>
                                </a:solidFill>
                                <a:latin typeface="Cambria Math" panose="02040503050406030204" pitchFamily="18" charset="0"/>
                                <a:ea typeface="Cambria Math" panose="02040503050406030204" pitchFamily="18" charset="0"/>
                              </a:rPr>
                            </m:ctrlPr>
                          </m:sSupPr>
                          <m:e>
                            <m:r>
                              <a:rPr lang="en-GB" b="0" i="1" smtClean="0">
                                <a:solidFill>
                                  <a:schemeClr val="tx1"/>
                                </a:solidFill>
                                <a:latin typeface="Cambria Math" panose="02040503050406030204" pitchFamily="18" charset="0"/>
                                <a:ea typeface="Cambria Math" panose="02040503050406030204" pitchFamily="18" charset="0"/>
                              </a:rPr>
                              <m:t>𝑙</m:t>
                            </m:r>
                          </m:e>
                          <m:sup>
                            <m:r>
                              <a:rPr lang="en-CA" b="0" i="1">
                                <a:solidFill>
                                  <a:schemeClr val="tx1"/>
                                </a:solidFill>
                                <a:latin typeface="Cambria Math" panose="02040503050406030204" pitchFamily="18" charset="0"/>
                                <a:ea typeface="Cambria Math" panose="02040503050406030204" pitchFamily="18" charset="0"/>
                              </a:rPr>
                              <m:t>2</m:t>
                            </m:r>
                          </m:sup>
                        </m:sSup>
                      </m:den>
                    </m:f>
                  </m:oMath>
                </a14:m>
                <a:endParaRPr lang="en-CA" dirty="0">
                  <a:solidFill>
                    <a:schemeClr val="tx1"/>
                  </a:solidFill>
                  <a:latin typeface="+mn-lt"/>
                </a:endParaRPr>
              </a:p>
              <a:p>
                <a:pPr marL="0" indent="0">
                  <a:lnSpc>
                    <a:spcPct val="100000"/>
                  </a:lnSpc>
                  <a:spcBef>
                    <a:spcPts val="600"/>
                  </a:spcBef>
                  <a:spcAft>
                    <a:spcPts val="1200"/>
                  </a:spcAft>
                  <a:buNone/>
                </a:pPr>
                <a:r>
                  <a:rPr lang="en-CA" dirty="0">
                    <a:solidFill>
                      <a:schemeClr val="tx1"/>
                    </a:solidFill>
                    <a:latin typeface="+mn-lt"/>
                  </a:rPr>
                  <a:t>For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2</m:t>
                        </m:r>
                      </m:sub>
                    </m:sSub>
                  </m:oMath>
                </a14:m>
                <a:r>
                  <a:rPr lang="en-CA" dirty="0">
                    <a:solidFill>
                      <a:schemeClr val="tx1"/>
                    </a:solidFill>
                    <a:latin typeface="+mn-lt"/>
                  </a:rPr>
                  <a:t>, we have: </a:t>
                </a:r>
                <a14:m>
                  <m:oMath xmlns:m="http://schemas.openxmlformats.org/officeDocument/2006/math">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3</m:t>
                                    </m:r>
                                  </m:sup>
                                </m:sSup>
                              </m:den>
                            </m:f>
                          </m:e>
                        </m:d>
                      </m:e>
                      <m:sup>
                        <m:r>
                          <a:rPr lang="en-CA" b="0" i="1" smtClean="0">
                            <a:solidFill>
                              <a:schemeClr val="tx1"/>
                            </a:solidFill>
                            <a:latin typeface="Cambria Math" panose="02040503050406030204" pitchFamily="18" charset="0"/>
                          </a:rPr>
                          <m:t>𝑑</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𝐿</m:t>
                                </m:r>
                              </m:num>
                              <m:den>
                                <m:r>
                                  <a:rPr lang="en-CA" b="0" i="1">
                                    <a:solidFill>
                                      <a:schemeClr val="tx1"/>
                                    </a:solidFill>
                                    <a:latin typeface="Cambria Math" panose="02040503050406030204" pitchFamily="18" charset="0"/>
                                  </a:rPr>
                                  <m:t>𝑡</m:t>
                                </m:r>
                              </m:den>
                            </m:f>
                          </m:e>
                        </m:d>
                      </m:e>
                      <m:sup>
                        <m:r>
                          <a:rPr lang="en-CA" b="0" i="1" smtClean="0">
                            <a:solidFill>
                              <a:schemeClr val="tx1"/>
                            </a:solidFill>
                            <a:latin typeface="Cambria Math" panose="02040503050406030204" pitchFamily="18" charset="0"/>
                          </a:rPr>
                          <m:t>𝑒</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r>
                              <a:rPr lang="en-CA" b="0" i="1">
                                <a:solidFill>
                                  <a:schemeClr val="tx1"/>
                                </a:solidFill>
                                <a:latin typeface="Cambria Math" panose="02040503050406030204" pitchFamily="18" charset="0"/>
                              </a:rPr>
                              <m:t>𝐿</m:t>
                            </m:r>
                          </m:e>
                        </m:d>
                      </m:e>
                      <m:sup>
                        <m:r>
                          <a:rPr lang="en-CA" b="0" i="1" smtClean="0">
                            <a:solidFill>
                              <a:schemeClr val="tx1"/>
                            </a:solidFill>
                            <a:latin typeface="Cambria Math" panose="02040503050406030204" pitchFamily="18" charset="0"/>
                          </a:rPr>
                          <m:t>𝑓</m:t>
                        </m:r>
                      </m:sup>
                    </m:sSup>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r>
                              <a:rPr lang="en-CA" b="0" i="1" smtClean="0">
                                <a:solidFill>
                                  <a:schemeClr val="tx1"/>
                                </a:solidFill>
                                <a:latin typeface="Cambria Math" panose="02040503050406030204" pitchFamily="18" charset="0"/>
                              </a:rPr>
                              <m:t>𝐿𝑡</m:t>
                            </m:r>
                          </m:den>
                        </m:f>
                      </m:e>
                    </m:d>
                    <m:r>
                      <a:rPr lang="en-CA" b="0" i="1">
                        <a:solidFill>
                          <a:schemeClr val="tx1"/>
                        </a:solidFill>
                        <a:latin typeface="Cambria Math" panose="02040503050406030204" pitchFamily="18" charset="0"/>
                      </a:rPr>
                      <m:t>=</m:t>
                    </m:r>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𝑀</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𝑡</m:t>
                        </m:r>
                      </m:e>
                      <m:sup>
                        <m:r>
                          <a:rPr lang="en-CA" b="0" i="1">
                            <a:solidFill>
                              <a:schemeClr val="tx1"/>
                            </a:solidFill>
                            <a:latin typeface="Cambria Math" panose="02040503050406030204" pitchFamily="18" charset="0"/>
                          </a:rPr>
                          <m:t>0</m:t>
                        </m:r>
                      </m:sup>
                    </m:sSup>
                  </m:oMath>
                </a14:m>
                <a:r>
                  <a:rPr lang="en-CA" dirty="0">
                    <a:solidFill>
                      <a:schemeClr val="tx1"/>
                    </a:solidFill>
                    <a:latin typeface="+mn-lt"/>
                  </a:rPr>
                  <a:t> </a:t>
                </a:r>
                <a14:m>
                  <m:oMath xmlns:m="http://schemas.openxmlformats.org/officeDocument/2006/math">
                    <m:r>
                      <a:rPr lang="en-CA" b="0" i="1" dirty="0">
                        <a:solidFill>
                          <a:schemeClr val="tx1"/>
                        </a:solidFill>
                        <a:latin typeface="Cambria Math" panose="02040503050406030204" pitchFamily="18" charset="0"/>
                        <a:ea typeface="Cambria Math" panose="02040503050406030204" pitchFamily="18" charset="0"/>
                      </a:rPr>
                      <m:t>⟹</m:t>
                    </m:r>
                    <m:sSub>
                      <m:sSubPr>
                        <m:ctrlPr>
                          <a:rPr lang="en-CA" i="1" dirty="0" smtClean="0">
                            <a:solidFill>
                              <a:schemeClr val="tx1"/>
                            </a:solidFill>
                            <a:latin typeface="Cambria Math" panose="02040503050406030204" pitchFamily="18" charset="0"/>
                            <a:ea typeface="Cambria Math" panose="02040503050406030204" pitchFamily="18" charset="0"/>
                          </a:rPr>
                        </m:ctrlPr>
                      </m:sSubPr>
                      <m:e>
                        <m:r>
                          <a:rPr lang="el-GR" b="0" i="1" dirty="0">
                            <a:solidFill>
                              <a:schemeClr val="tx1"/>
                            </a:solidFill>
                            <a:latin typeface="Cambria Math" panose="02040503050406030204" pitchFamily="18" charset="0"/>
                            <a:ea typeface="Cambria Math" panose="02040503050406030204" pitchFamily="18" charset="0"/>
                          </a:rPr>
                          <m:t>𝛱</m:t>
                        </m:r>
                      </m:e>
                      <m:sub>
                        <m:r>
                          <a:rPr lang="en-CA" b="0" i="1" dirty="0" smtClean="0">
                            <a:solidFill>
                              <a:schemeClr val="tx1"/>
                            </a:solidFill>
                            <a:latin typeface="Cambria Math" panose="02040503050406030204" pitchFamily="18" charset="0"/>
                            <a:ea typeface="Cambria Math" panose="02040503050406030204" pitchFamily="18" charset="0"/>
                          </a:rPr>
                          <m:t>2</m:t>
                        </m:r>
                      </m:sub>
                    </m:sSub>
                    <m:r>
                      <a:rPr lang="en-CA" b="0" i="1" dirty="0">
                        <a:solidFill>
                          <a:schemeClr val="tx1"/>
                        </a:solidFill>
                        <a:latin typeface="Cambria Math" panose="02040503050406030204" pitchFamily="18" charset="0"/>
                        <a:ea typeface="Cambria Math" panose="02040503050406030204" pitchFamily="18" charset="0"/>
                      </a:rPr>
                      <m:t>=</m:t>
                    </m:r>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ea typeface="Cambria Math" panose="02040503050406030204" pitchFamily="18" charset="0"/>
                          </a:rPr>
                          <m:t>𝜇</m:t>
                        </m:r>
                      </m:num>
                      <m:den>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𝑉𝑙</m:t>
                        </m:r>
                      </m:den>
                    </m:f>
                  </m:oMath>
                </a14:m>
                <a:endParaRPr lang="en-CA" dirty="0">
                  <a:solidFill>
                    <a:schemeClr val="tx1"/>
                  </a:solidFill>
                  <a:latin typeface="+mn-lt"/>
                </a:endParaRPr>
              </a:p>
              <a:p>
                <a:pPr marL="0" indent="0">
                  <a:lnSpc>
                    <a:spcPct val="100000"/>
                  </a:lnSpc>
                  <a:spcBef>
                    <a:spcPts val="600"/>
                  </a:spcBef>
                  <a:spcAft>
                    <a:spcPts val="1200"/>
                  </a:spcAft>
                  <a:buNone/>
                </a:pPr>
                <a:r>
                  <a:rPr lang="en-CA" dirty="0">
                    <a:solidFill>
                      <a:schemeClr val="tx1"/>
                    </a:solidFill>
                    <a:latin typeface="+mn-lt"/>
                  </a:rPr>
                  <a:t>For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GB" b="0" i="1" smtClean="0">
                            <a:solidFill>
                              <a:schemeClr val="tx1"/>
                            </a:solidFill>
                            <a:latin typeface="Cambria Math" panose="02040503050406030204" pitchFamily="18" charset="0"/>
                          </a:rPr>
                          <m:t>3</m:t>
                        </m:r>
                      </m:sub>
                    </m:sSub>
                  </m:oMath>
                </a14:m>
                <a:r>
                  <a:rPr lang="en-CA" dirty="0">
                    <a:solidFill>
                      <a:schemeClr val="tx1"/>
                    </a:solidFill>
                    <a:latin typeface="+mn-lt"/>
                  </a:rPr>
                  <a:t>, we have: </a:t>
                </a:r>
                <a14:m>
                  <m:oMath xmlns:m="http://schemas.openxmlformats.org/officeDocument/2006/math">
                    <m:sSup>
                      <m:sSupPr>
                        <m:ctrlPr>
                          <a:rPr lang="en-CA" i="1" smtClean="0">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3</m:t>
                                    </m:r>
                                  </m:sup>
                                </m:sSup>
                              </m:den>
                            </m:f>
                          </m:e>
                        </m:d>
                      </m:e>
                      <m:sup>
                        <m:r>
                          <a:rPr lang="en-GB" b="0" i="1" smtClean="0">
                            <a:solidFill>
                              <a:schemeClr val="tx1"/>
                            </a:solidFill>
                            <a:latin typeface="Cambria Math" panose="02040503050406030204" pitchFamily="18" charset="0"/>
                          </a:rPr>
                          <m:t>𝑔</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𝐿</m:t>
                                </m:r>
                              </m:num>
                              <m:den>
                                <m:r>
                                  <a:rPr lang="en-CA" b="0" i="1">
                                    <a:solidFill>
                                      <a:schemeClr val="tx1"/>
                                    </a:solidFill>
                                    <a:latin typeface="Cambria Math" panose="02040503050406030204" pitchFamily="18" charset="0"/>
                                  </a:rPr>
                                  <m:t>𝑡</m:t>
                                </m:r>
                              </m:den>
                            </m:f>
                          </m:e>
                        </m:d>
                      </m:e>
                      <m:sup>
                        <m:r>
                          <a:rPr lang="en-GB" b="0" i="1" smtClean="0">
                            <a:solidFill>
                              <a:schemeClr val="tx1"/>
                            </a:solidFill>
                            <a:latin typeface="Cambria Math" panose="02040503050406030204" pitchFamily="18" charset="0"/>
                          </a:rPr>
                          <m:t>h</m:t>
                        </m:r>
                      </m:sup>
                    </m:sSup>
                    <m:sSup>
                      <m:sSupPr>
                        <m:ctrlPr>
                          <a:rPr lang="en-CA" i="1">
                            <a:solidFill>
                              <a:schemeClr val="tx1"/>
                            </a:solidFill>
                            <a:latin typeface="Cambria Math" panose="02040503050406030204" pitchFamily="18" charset="0"/>
                          </a:rPr>
                        </m:ctrlPr>
                      </m:sSupPr>
                      <m:e>
                        <m:d>
                          <m:dPr>
                            <m:ctrlPr>
                              <a:rPr lang="en-CA" i="1">
                                <a:solidFill>
                                  <a:schemeClr val="tx1"/>
                                </a:solidFill>
                                <a:latin typeface="Cambria Math" panose="02040503050406030204" pitchFamily="18" charset="0"/>
                              </a:rPr>
                            </m:ctrlPr>
                          </m:dPr>
                          <m:e>
                            <m:r>
                              <a:rPr lang="en-CA" b="0" i="1">
                                <a:solidFill>
                                  <a:schemeClr val="tx1"/>
                                </a:solidFill>
                                <a:latin typeface="Cambria Math" panose="02040503050406030204" pitchFamily="18" charset="0"/>
                              </a:rPr>
                              <m:t>𝐿</m:t>
                            </m:r>
                          </m:e>
                        </m:d>
                      </m:e>
                      <m:sup>
                        <m:r>
                          <a:rPr lang="en-GB" b="0" i="1" smtClean="0">
                            <a:solidFill>
                              <a:schemeClr val="tx1"/>
                            </a:solidFill>
                            <a:latin typeface="Cambria Math" panose="02040503050406030204" pitchFamily="18" charset="0"/>
                          </a:rPr>
                          <m:t>𝑖</m:t>
                        </m:r>
                      </m:sup>
                    </m:sSup>
                    <m:d>
                      <m:dPr>
                        <m:ctrlPr>
                          <a:rPr lang="en-CA" i="1">
                            <a:solidFill>
                              <a:schemeClr val="tx1"/>
                            </a:solidFill>
                            <a:latin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rPr>
                              <m:t>𝑀</m:t>
                            </m:r>
                          </m:num>
                          <m:den>
                            <m:r>
                              <a:rPr lang="en-CA" b="0" i="1" smtClean="0">
                                <a:solidFill>
                                  <a:schemeClr val="tx1"/>
                                </a:solidFill>
                                <a:latin typeface="Cambria Math" panose="02040503050406030204" pitchFamily="18" charset="0"/>
                              </a:rPr>
                              <m:t>𝐿</m:t>
                            </m:r>
                            <m:sSup>
                              <m:sSupPr>
                                <m:ctrlPr>
                                  <a:rPr lang="en-CA"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𝑡</m:t>
                                </m:r>
                              </m:e>
                              <m:sup>
                                <m:r>
                                  <a:rPr lang="en-GB" b="0" i="1" smtClean="0">
                                    <a:solidFill>
                                      <a:schemeClr val="tx1"/>
                                    </a:solidFill>
                                    <a:latin typeface="Cambria Math" panose="02040503050406030204" pitchFamily="18" charset="0"/>
                                  </a:rPr>
                                  <m:t>2</m:t>
                                </m:r>
                              </m:sup>
                            </m:sSup>
                          </m:den>
                        </m:f>
                      </m:e>
                    </m:d>
                    <m:r>
                      <a:rPr lang="en-CA" b="0" i="1">
                        <a:solidFill>
                          <a:schemeClr val="tx1"/>
                        </a:solidFill>
                        <a:latin typeface="Cambria Math" panose="02040503050406030204" pitchFamily="18" charset="0"/>
                      </a:rPr>
                      <m:t>=</m:t>
                    </m:r>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𝑀</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𝐿</m:t>
                        </m:r>
                      </m:e>
                      <m:sup>
                        <m:r>
                          <a:rPr lang="en-CA" b="0" i="1">
                            <a:solidFill>
                              <a:schemeClr val="tx1"/>
                            </a:solidFill>
                            <a:latin typeface="Cambria Math" panose="02040503050406030204" pitchFamily="18" charset="0"/>
                          </a:rPr>
                          <m:t>0</m:t>
                        </m:r>
                      </m:sup>
                    </m:sSup>
                    <m:sSup>
                      <m:sSupPr>
                        <m:ctrlPr>
                          <a:rPr lang="en-CA" i="1">
                            <a:solidFill>
                              <a:schemeClr val="tx1"/>
                            </a:solidFill>
                            <a:latin typeface="Cambria Math" panose="02040503050406030204" pitchFamily="18" charset="0"/>
                          </a:rPr>
                        </m:ctrlPr>
                      </m:sSupPr>
                      <m:e>
                        <m:r>
                          <a:rPr lang="en-CA" b="0" i="1">
                            <a:solidFill>
                              <a:schemeClr val="tx1"/>
                            </a:solidFill>
                            <a:latin typeface="Cambria Math" panose="02040503050406030204" pitchFamily="18" charset="0"/>
                          </a:rPr>
                          <m:t>𝑡</m:t>
                        </m:r>
                      </m:e>
                      <m:sup>
                        <m:r>
                          <a:rPr lang="en-CA" b="0" i="1">
                            <a:solidFill>
                              <a:schemeClr val="tx1"/>
                            </a:solidFill>
                            <a:latin typeface="Cambria Math" panose="02040503050406030204" pitchFamily="18" charset="0"/>
                          </a:rPr>
                          <m:t>0</m:t>
                        </m:r>
                      </m:sup>
                    </m:sSup>
                  </m:oMath>
                </a14:m>
                <a:r>
                  <a:rPr lang="en-CA" dirty="0">
                    <a:solidFill>
                      <a:schemeClr val="tx1"/>
                    </a:solidFill>
                    <a:latin typeface="+mn-lt"/>
                  </a:rPr>
                  <a:t> </a:t>
                </a:r>
                <a14:m>
                  <m:oMath xmlns:m="http://schemas.openxmlformats.org/officeDocument/2006/math">
                    <m:r>
                      <a:rPr lang="en-CA" b="0" i="1" dirty="0">
                        <a:solidFill>
                          <a:schemeClr val="tx1"/>
                        </a:solidFill>
                        <a:latin typeface="Cambria Math" panose="02040503050406030204" pitchFamily="18" charset="0"/>
                        <a:ea typeface="Cambria Math" panose="02040503050406030204" pitchFamily="18" charset="0"/>
                      </a:rPr>
                      <m:t>⟹</m:t>
                    </m:r>
                    <m:sSub>
                      <m:sSubPr>
                        <m:ctrlPr>
                          <a:rPr lang="en-CA" i="1" dirty="0" smtClean="0">
                            <a:solidFill>
                              <a:schemeClr val="tx1"/>
                            </a:solidFill>
                            <a:latin typeface="Cambria Math" panose="02040503050406030204" pitchFamily="18" charset="0"/>
                            <a:ea typeface="Cambria Math" panose="02040503050406030204" pitchFamily="18" charset="0"/>
                          </a:rPr>
                        </m:ctrlPr>
                      </m:sSubPr>
                      <m:e>
                        <m:r>
                          <a:rPr lang="el-GR" b="0" i="1" dirty="0">
                            <a:solidFill>
                              <a:schemeClr val="tx1"/>
                            </a:solidFill>
                            <a:latin typeface="Cambria Math" panose="02040503050406030204" pitchFamily="18" charset="0"/>
                            <a:ea typeface="Cambria Math" panose="02040503050406030204" pitchFamily="18" charset="0"/>
                          </a:rPr>
                          <m:t>𝛱</m:t>
                        </m:r>
                      </m:e>
                      <m:sub>
                        <m:r>
                          <a:rPr lang="en-GB" b="0" i="1" dirty="0" smtClean="0">
                            <a:solidFill>
                              <a:schemeClr val="tx1"/>
                            </a:solidFill>
                            <a:latin typeface="Cambria Math" panose="02040503050406030204" pitchFamily="18" charset="0"/>
                            <a:ea typeface="Cambria Math" panose="02040503050406030204" pitchFamily="18" charset="0"/>
                          </a:rPr>
                          <m:t>3</m:t>
                        </m:r>
                      </m:sub>
                    </m:sSub>
                    <m:r>
                      <a:rPr lang="en-CA" b="0" i="1" dirty="0">
                        <a:solidFill>
                          <a:schemeClr val="tx1"/>
                        </a:solidFill>
                        <a:latin typeface="Cambria Math" panose="02040503050406030204" pitchFamily="18" charset="0"/>
                        <a:ea typeface="Cambria Math" panose="02040503050406030204" pitchFamily="18" charset="0"/>
                      </a:rPr>
                      <m:t>=</m:t>
                    </m:r>
                    <m:f>
                      <m:fPr>
                        <m:ctrlPr>
                          <a:rPr lang="en-CA"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ea typeface="Cambria Math" panose="02040503050406030204" pitchFamily="18" charset="0"/>
                          </a:rPr>
                          <m:t>𝑘</m:t>
                        </m:r>
                      </m:num>
                      <m:den>
                        <m:r>
                          <a:rPr lang="en-CA" b="0" i="1">
                            <a:solidFill>
                              <a:schemeClr val="tx1"/>
                            </a:solidFill>
                            <a:latin typeface="Cambria Math" panose="02040503050406030204" pitchFamily="18" charset="0"/>
                            <a:ea typeface="Cambria Math" panose="02040503050406030204" pitchFamily="18" charset="0"/>
                          </a:rPr>
                          <m:t>𝜌</m:t>
                        </m:r>
                        <m:sSup>
                          <m:sSupPr>
                            <m:ctrlPr>
                              <a:rPr lang="en-CA" b="0" i="1" smtClean="0">
                                <a:solidFill>
                                  <a:schemeClr val="tx1"/>
                                </a:solidFill>
                                <a:latin typeface="Cambria Math" panose="02040503050406030204" pitchFamily="18" charset="0"/>
                                <a:ea typeface="Cambria Math" panose="02040503050406030204" pitchFamily="18" charset="0"/>
                              </a:rPr>
                            </m:ctrlPr>
                          </m:sSupPr>
                          <m:e>
                            <m:r>
                              <a:rPr lang="en-GB" b="0" i="1" smtClean="0">
                                <a:solidFill>
                                  <a:schemeClr val="tx1"/>
                                </a:solidFill>
                                <a:latin typeface="Cambria Math" panose="02040503050406030204" pitchFamily="18" charset="0"/>
                                <a:ea typeface="Cambria Math" panose="02040503050406030204" pitchFamily="18" charset="0"/>
                              </a:rPr>
                              <m:t>𝑉</m:t>
                            </m:r>
                          </m:e>
                          <m:sup>
                            <m:r>
                              <a:rPr lang="en-GB" b="0" i="1" smtClean="0">
                                <a:solidFill>
                                  <a:schemeClr val="tx1"/>
                                </a:solidFill>
                                <a:latin typeface="Cambria Math" panose="02040503050406030204" pitchFamily="18" charset="0"/>
                                <a:ea typeface="Cambria Math" panose="02040503050406030204" pitchFamily="18" charset="0"/>
                              </a:rPr>
                              <m:t>2</m:t>
                            </m:r>
                          </m:sup>
                        </m:sSup>
                      </m:den>
                    </m:f>
                  </m:oMath>
                </a14:m>
                <a:endParaRPr lang="en-CA" dirty="0">
                  <a:solidFill>
                    <a:schemeClr val="tx1"/>
                  </a:solidFill>
                  <a:latin typeface="+mn-lt"/>
                </a:endParaRPr>
              </a:p>
              <a:p>
                <a:pPr marL="0" indent="0">
                  <a:lnSpc>
                    <a:spcPct val="100000"/>
                  </a:lnSpc>
                  <a:spcBef>
                    <a:spcPts val="600"/>
                  </a:spcBef>
                  <a:spcAft>
                    <a:spcPts val="0"/>
                  </a:spcAft>
                  <a:buNone/>
                </a:pPr>
                <a:r>
                  <a:rPr lang="en-CA" dirty="0">
                    <a:solidFill>
                      <a:schemeClr val="tx1"/>
                    </a:solidFill>
                    <a:latin typeface="+mn-lt"/>
                  </a:rPr>
                  <a:t>Thus, </a:t>
                </a:r>
                <a14:m>
                  <m:oMath xmlns:m="http://schemas.openxmlformats.org/officeDocument/2006/math">
                    <m:sSub>
                      <m:sSubPr>
                        <m:ctrlPr>
                          <a:rPr lang="en-CA" i="1">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a:solidFill>
                              <a:schemeClr val="tx1"/>
                            </a:solidFill>
                            <a:latin typeface="Cambria Math" panose="02040503050406030204" pitchFamily="18" charset="0"/>
                          </a:rPr>
                          <m:t>1</m:t>
                        </m:r>
                      </m:sub>
                    </m:sSub>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𝑓</m:t>
                    </m:r>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r>
                          <a:rPr lang="el-GR" b="0" i="1">
                            <a:solidFill>
                              <a:schemeClr val="tx1"/>
                            </a:solidFill>
                            <a:latin typeface="Cambria Math" panose="02040503050406030204" pitchFamily="18" charset="0"/>
                            <a:ea typeface="Cambria Math" panose="02040503050406030204" pitchFamily="18" charset="0"/>
                          </a:rPr>
                          <m:t>𝛱</m:t>
                        </m:r>
                      </m:e>
                      <m:sub>
                        <m:r>
                          <a:rPr lang="en-CA" b="0" i="1" smtClean="0">
                            <a:solidFill>
                              <a:schemeClr val="tx1"/>
                            </a:solidFill>
                            <a:latin typeface="Cambria Math" panose="02040503050406030204" pitchFamily="18" charset="0"/>
                          </a:rPr>
                          <m:t>2</m:t>
                        </m:r>
                      </m:sub>
                    </m:sSub>
                    <m:r>
                      <a:rPr lang="en-GB" b="0" i="1" smtClean="0">
                        <a:solidFill>
                          <a:schemeClr val="tx1"/>
                        </a:solidFill>
                        <a:latin typeface="Cambria Math" panose="02040503050406030204" pitchFamily="18" charset="0"/>
                      </a:rPr>
                      <m:t>,</m:t>
                    </m:r>
                    <m:sSub>
                      <m:sSubPr>
                        <m:ctrlPr>
                          <a:rPr lang="en-CA" i="1">
                            <a:latin typeface="Cambria Math" panose="02040503050406030204" pitchFamily="18" charset="0"/>
                          </a:rPr>
                        </m:ctrlPr>
                      </m:sSubPr>
                      <m:e>
                        <m:r>
                          <a:rPr lang="el-GR" i="1">
                            <a:latin typeface="Cambria Math" panose="02040503050406030204" pitchFamily="18" charset="0"/>
                            <a:ea typeface="Cambria Math" panose="02040503050406030204" pitchFamily="18" charset="0"/>
                          </a:rPr>
                          <m:t>𝛱</m:t>
                        </m:r>
                      </m:e>
                      <m:sub>
                        <m:r>
                          <a:rPr lang="en-GB" b="0" i="1" smtClean="0">
                            <a:latin typeface="Cambria Math" panose="02040503050406030204" pitchFamily="18" charset="0"/>
                            <a:ea typeface="Cambria Math" panose="02040503050406030204" pitchFamily="18" charset="0"/>
                          </a:rPr>
                          <m:t>3</m:t>
                        </m:r>
                      </m:sub>
                    </m:sSub>
                    <m:r>
                      <a:rPr lang="en-CA" b="0" i="1" smtClean="0">
                        <a:solidFill>
                          <a:schemeClr val="tx1"/>
                        </a:solidFill>
                        <a:latin typeface="Cambria Math" panose="02040503050406030204" pitchFamily="18" charset="0"/>
                      </a:rPr>
                      <m:t>)</m:t>
                    </m:r>
                  </m:oMath>
                </a14:m>
                <a:r>
                  <a:rPr lang="en-CA" dirty="0">
                    <a:solidFill>
                      <a:schemeClr val="tx1"/>
                    </a:solidFill>
                    <a:latin typeface="+mn-lt"/>
                  </a:rPr>
                  <a:t> </a:t>
                </a:r>
              </a:p>
              <a:p>
                <a:pPr marL="0" indent="0">
                  <a:lnSpc>
                    <a:spcPct val="100000"/>
                  </a:lnSpc>
                  <a:spcBef>
                    <a:spcPts val="600"/>
                  </a:spcBef>
                  <a:spcAft>
                    <a:spcPts val="1200"/>
                  </a:spcAft>
                  <a:buNone/>
                </a:pPr>
                <a14:m>
                  <m:oMath xmlns:m="http://schemas.openxmlformats.org/officeDocument/2006/math">
                    <m:r>
                      <a:rPr lang="en-CA" b="0" i="1" dirty="0">
                        <a:solidFill>
                          <a:schemeClr val="tx1"/>
                        </a:solidFill>
                        <a:latin typeface="Cambria Math" panose="02040503050406030204" pitchFamily="18" charset="0"/>
                        <a:ea typeface="Cambria Math" panose="02040503050406030204" pitchFamily="18" charset="0"/>
                      </a:rPr>
                      <m:t>⟹</m:t>
                    </m:r>
                  </m:oMath>
                </a14:m>
                <a:r>
                  <a:rPr lang="en-CA" dirty="0">
                    <a:solidFill>
                      <a:schemeClr val="tx1"/>
                    </a:solidFill>
                    <a:latin typeface="+mn-lt"/>
                  </a:rPr>
                  <a:t> </a:t>
                </a:r>
                <a14:m>
                  <m:oMath xmlns:m="http://schemas.openxmlformats.org/officeDocument/2006/math">
                    <m:f>
                      <m:fPr>
                        <m:ctrlPr>
                          <a:rPr lang="en-CA"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𝑅</m:t>
                        </m:r>
                      </m:num>
                      <m:den>
                        <m:r>
                          <a:rPr lang="en-CA" b="0" i="1">
                            <a:solidFill>
                              <a:schemeClr val="tx1"/>
                            </a:solidFill>
                            <a:latin typeface="Cambria Math" panose="02040503050406030204" pitchFamily="18" charset="0"/>
                            <a:ea typeface="Cambria Math" panose="02040503050406030204" pitchFamily="18" charset="0"/>
                          </a:rPr>
                          <m:t>𝜌</m:t>
                        </m:r>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𝑉</m:t>
                            </m:r>
                          </m:e>
                          <m:sup>
                            <m:r>
                              <a:rPr lang="en-CA" b="0" i="1">
                                <a:solidFill>
                                  <a:schemeClr val="tx1"/>
                                </a:solidFill>
                                <a:latin typeface="Cambria Math" panose="02040503050406030204" pitchFamily="18" charset="0"/>
                                <a:ea typeface="Cambria Math" panose="02040503050406030204" pitchFamily="18" charset="0"/>
                              </a:rPr>
                              <m:t>2</m:t>
                            </m:r>
                          </m:sup>
                        </m:sSup>
                        <m:sSup>
                          <m:sSupPr>
                            <m:ctrlPr>
                              <a:rPr lang="en-CA" i="1">
                                <a:solidFill>
                                  <a:schemeClr val="tx1"/>
                                </a:solidFill>
                                <a:latin typeface="Cambria Math" panose="02040503050406030204" pitchFamily="18" charset="0"/>
                                <a:ea typeface="Cambria Math" panose="02040503050406030204" pitchFamily="18" charset="0"/>
                              </a:rPr>
                            </m:ctrlPr>
                          </m:sSupPr>
                          <m:e>
                            <m:r>
                              <a:rPr lang="en-CA" b="0" i="1">
                                <a:solidFill>
                                  <a:schemeClr val="tx1"/>
                                </a:solidFill>
                                <a:latin typeface="Cambria Math" panose="02040503050406030204" pitchFamily="18" charset="0"/>
                                <a:ea typeface="Cambria Math" panose="02040503050406030204" pitchFamily="18" charset="0"/>
                              </a:rPr>
                              <m:t>𝐷</m:t>
                            </m:r>
                          </m:e>
                          <m:sup>
                            <m:r>
                              <a:rPr lang="en-CA" b="0" i="1">
                                <a:solidFill>
                                  <a:schemeClr val="tx1"/>
                                </a:solidFill>
                                <a:latin typeface="Cambria Math" panose="02040503050406030204" pitchFamily="18" charset="0"/>
                                <a:ea typeface="Cambria Math" panose="02040503050406030204" pitchFamily="18" charset="0"/>
                              </a:rPr>
                              <m:t>2</m:t>
                            </m:r>
                          </m:sup>
                        </m:sSup>
                      </m:den>
                    </m:f>
                    <m:r>
                      <a:rPr lang="en-CA" b="0" i="0"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𝑓</m:t>
                    </m:r>
                    <m:d>
                      <m:dPr>
                        <m:ctrlPr>
                          <a:rPr lang="en-CA" i="1" smtClean="0">
                            <a:solidFill>
                              <a:schemeClr val="tx1"/>
                            </a:solidFill>
                            <a:latin typeface="Cambria Math" panose="02040503050406030204" pitchFamily="18" charset="0"/>
                            <a:ea typeface="Cambria Math" panose="02040503050406030204" pitchFamily="18" charset="0"/>
                          </a:rPr>
                        </m:ctrlPr>
                      </m:dPr>
                      <m:e>
                        <m:f>
                          <m:fPr>
                            <m:ctrlPr>
                              <a:rPr lang="en-CA" i="1">
                                <a:solidFill>
                                  <a:schemeClr val="tx1"/>
                                </a:solidFill>
                                <a:latin typeface="Cambria Math" panose="02040503050406030204" pitchFamily="18" charset="0"/>
                              </a:rPr>
                            </m:ctrlPr>
                          </m:fPr>
                          <m:num>
                            <m:r>
                              <a:rPr lang="en-CA" b="0" i="1">
                                <a:solidFill>
                                  <a:schemeClr val="tx1"/>
                                </a:solidFill>
                                <a:latin typeface="Cambria Math" panose="02040503050406030204" pitchFamily="18" charset="0"/>
                                <a:ea typeface="Cambria Math" panose="02040503050406030204" pitchFamily="18" charset="0"/>
                              </a:rPr>
                              <m:t>𝜇</m:t>
                            </m:r>
                          </m:num>
                          <m:den>
                            <m:r>
                              <a:rPr lang="en-CA" b="0" i="1">
                                <a:solidFill>
                                  <a:schemeClr val="tx1"/>
                                </a:solidFill>
                                <a:latin typeface="Cambria Math" panose="02040503050406030204" pitchFamily="18" charset="0"/>
                                <a:ea typeface="Cambria Math" panose="02040503050406030204" pitchFamily="18" charset="0"/>
                              </a:rPr>
                              <m:t>𝜌</m:t>
                            </m:r>
                            <m:r>
                              <a:rPr lang="en-CA" b="0" i="1">
                                <a:solidFill>
                                  <a:schemeClr val="tx1"/>
                                </a:solidFill>
                                <a:latin typeface="Cambria Math" panose="02040503050406030204" pitchFamily="18" charset="0"/>
                                <a:ea typeface="Cambria Math" panose="02040503050406030204" pitchFamily="18" charset="0"/>
                              </a:rPr>
                              <m:t>𝑉𝑙</m:t>
                            </m:r>
                          </m:den>
                        </m:f>
                        <m:r>
                          <a:rPr lang="en-GB" b="0" i="1" smtClean="0">
                            <a:solidFill>
                              <a:schemeClr val="tx1"/>
                            </a:solidFill>
                            <a:latin typeface="Cambria Math" panose="02040503050406030204" pitchFamily="18" charset="0"/>
                            <a:ea typeface="Cambria Math" panose="02040503050406030204" pitchFamily="18" charset="0"/>
                          </a:rPr>
                          <m:t>,</m:t>
                        </m:r>
                        <m:f>
                          <m:fPr>
                            <m:ctrlPr>
                              <a:rPr lang="en-CA"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𝑘</m:t>
                            </m:r>
                          </m:num>
                          <m:den>
                            <m:r>
                              <a:rPr lang="en-CA" i="1">
                                <a:latin typeface="Cambria Math" panose="02040503050406030204" pitchFamily="18" charset="0"/>
                                <a:ea typeface="Cambria Math" panose="02040503050406030204" pitchFamily="18" charset="0"/>
                              </a:rPr>
                              <m:t>𝜌</m:t>
                            </m:r>
                            <m:sSup>
                              <m:sSupPr>
                                <m:ctrlPr>
                                  <a:rPr lang="en-CA"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𝑉</m:t>
                                </m:r>
                              </m:e>
                              <m:sup>
                                <m:r>
                                  <a:rPr lang="en-GB" i="1">
                                    <a:latin typeface="Cambria Math" panose="02040503050406030204" pitchFamily="18" charset="0"/>
                                    <a:ea typeface="Cambria Math" panose="02040503050406030204" pitchFamily="18" charset="0"/>
                                  </a:rPr>
                                  <m:t>2</m:t>
                                </m:r>
                              </m:sup>
                            </m:sSup>
                          </m:den>
                        </m:f>
                      </m:e>
                    </m:d>
                  </m:oMath>
                </a14:m>
                <a:endParaRPr lang="en-GH" dirty="0"/>
              </a:p>
            </p:txBody>
          </p:sp>
        </mc:Choice>
        <mc:Fallback xmlns="">
          <p:sp>
            <p:nvSpPr>
              <p:cNvPr id="12" name="TextBox 11">
                <a:extLst>
                  <a:ext uri="{FF2B5EF4-FFF2-40B4-BE49-F238E27FC236}">
                    <a16:creationId xmlns:a16="http://schemas.microsoft.com/office/drawing/2014/main" id="{28CA0B9D-207A-55EA-B0EC-1F8BB8DC7060}"/>
                  </a:ext>
                </a:extLst>
              </p:cNvPr>
              <p:cNvSpPr txBox="1">
                <a:spLocks noRot="1" noChangeAspect="1" noMove="1" noResize="1" noEditPoints="1" noAdjustHandles="1" noChangeArrowheads="1" noChangeShapeType="1" noTextEdit="1"/>
              </p:cNvSpPr>
              <p:nvPr/>
            </p:nvSpPr>
            <p:spPr>
              <a:xfrm>
                <a:off x="146091" y="690048"/>
                <a:ext cx="8390583" cy="3707233"/>
              </a:xfrm>
              <a:prstGeom prst="rect">
                <a:avLst/>
              </a:prstGeom>
              <a:blipFill>
                <a:blip r:embed="rId3"/>
                <a:stretch>
                  <a:fillRect l="-1163"/>
                </a:stretch>
              </a:blipFill>
            </p:spPr>
            <p:txBody>
              <a:bodyPr/>
              <a:lstStyle/>
              <a:p>
                <a:r>
                  <a:rPr lang="en-GH">
                    <a:noFill/>
                  </a:rPr>
                  <a:t> </a:t>
                </a:r>
              </a:p>
            </p:txBody>
          </p:sp>
        </mc:Fallback>
      </mc:AlternateContent>
    </p:spTree>
    <p:extLst>
      <p:ext uri="{BB962C8B-B14F-4D97-AF65-F5344CB8AC3E}">
        <p14:creationId xmlns:p14="http://schemas.microsoft.com/office/powerpoint/2010/main" val="114970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57" y="0"/>
            <a:ext cx="9144000" cy="568940"/>
          </a:xfrm>
        </p:spPr>
        <p:txBody>
          <a:bodyPr>
            <a:normAutofit/>
          </a:bodyPr>
          <a:lstStyle/>
          <a:p>
            <a:r>
              <a:rPr lang="en-CA" sz="2400" dirty="0">
                <a:solidFill>
                  <a:schemeClr val="tx1"/>
                </a:solidFill>
                <a:latin typeface="Verdana" panose="020B0604030504040204" pitchFamily="34" charset="0"/>
                <a:ea typeface="Verdana" panose="020B0604030504040204" pitchFamily="34" charset="0"/>
                <a:cs typeface="Verdana" panose="020B0604030504040204" pitchFamily="34" charset="0"/>
              </a:rPr>
              <a:t>Practice Problems on Buckingham Pi Theorem</a:t>
            </a:r>
          </a:p>
        </p:txBody>
      </p:sp>
      <p:sp>
        <p:nvSpPr>
          <p:cNvPr id="3" name="Content Placeholder 2"/>
          <p:cNvSpPr>
            <a:spLocks noGrp="1"/>
          </p:cNvSpPr>
          <p:nvPr>
            <p:ph idx="1"/>
          </p:nvPr>
        </p:nvSpPr>
        <p:spPr>
          <a:xfrm>
            <a:off x="0" y="568940"/>
            <a:ext cx="9144000" cy="5115353"/>
          </a:xfrm>
        </p:spPr>
        <p:txBody>
          <a:bodyPr>
            <a:normAutofit/>
          </a:bodyPr>
          <a:lstStyle/>
          <a:p>
            <a:pPr marL="0" indent="0" algn="just">
              <a:lnSpc>
                <a:spcPct val="100000"/>
              </a:lnSpc>
              <a:spcAft>
                <a:spcPts val="1200"/>
              </a:spcAft>
              <a:buNone/>
            </a:pPr>
            <a:r>
              <a:rPr lang="en-US" dirty="0">
                <a:latin typeface="+mn-lt"/>
              </a:rPr>
              <a:t>1. The pressure drop, </a:t>
            </a:r>
            <a:r>
              <a:rPr lang="en-US" i="1" dirty="0" err="1">
                <a:latin typeface="+mn-lt"/>
                <a:ea typeface="Calibri" panose="020F0502020204030204" pitchFamily="34" charset="0"/>
                <a:cs typeface="Calibri" panose="020F0502020204030204" pitchFamily="34" charset="0"/>
              </a:rPr>
              <a:t>Δp</a:t>
            </a:r>
            <a:r>
              <a:rPr lang="en-US" dirty="0">
                <a:latin typeface="+mn-lt"/>
                <a:ea typeface="Calibri" panose="020F0502020204030204" pitchFamily="34" charset="0"/>
                <a:cs typeface="Calibri" panose="020F0502020204030204" pitchFamily="34" charset="0"/>
              </a:rPr>
              <a:t>, for steady, incompressible flow through a straight horizontal pipe depends on the pipe length, </a:t>
            </a:r>
            <a:r>
              <a:rPr lang="en-US" i="1" dirty="0">
                <a:latin typeface="+mn-lt"/>
                <a:ea typeface="Calibri" panose="020F0502020204030204" pitchFamily="34" charset="0"/>
                <a:cs typeface="Calibri" panose="020F0502020204030204" pitchFamily="34" charset="0"/>
              </a:rPr>
              <a:t>L</a:t>
            </a:r>
            <a:r>
              <a:rPr lang="en-US" dirty="0">
                <a:latin typeface="+mn-lt"/>
                <a:ea typeface="Calibri" panose="020F0502020204030204" pitchFamily="34" charset="0"/>
                <a:cs typeface="Calibri" panose="020F0502020204030204" pitchFamily="34" charset="0"/>
              </a:rPr>
              <a:t>, the average velocity </a:t>
            </a:r>
            <a:r>
              <a:rPr lang="en-US" i="1" dirty="0">
                <a:latin typeface="+mn-lt"/>
                <a:ea typeface="Calibri" panose="020F0502020204030204" pitchFamily="34" charset="0"/>
                <a:cs typeface="Calibri" panose="020F0502020204030204" pitchFamily="34" charset="0"/>
              </a:rPr>
              <a:t>V</a:t>
            </a:r>
            <a:r>
              <a:rPr lang="en-US" dirty="0">
                <a:latin typeface="+mn-lt"/>
                <a:ea typeface="Calibri" panose="020F0502020204030204" pitchFamily="34" charset="0"/>
                <a:cs typeface="Calibri" panose="020F0502020204030204" pitchFamily="34" charset="0"/>
              </a:rPr>
              <a:t>, the fluid viscosity, </a:t>
            </a:r>
            <a:r>
              <a:rPr lang="el-GR" i="1" dirty="0">
                <a:latin typeface="+mn-lt"/>
                <a:ea typeface="Calibri" panose="020F0502020204030204" pitchFamily="34" charset="0"/>
                <a:cs typeface="Calibri" panose="020F0502020204030204" pitchFamily="34" charset="0"/>
              </a:rPr>
              <a:t>μ</a:t>
            </a:r>
            <a:r>
              <a:rPr lang="en-GB" dirty="0">
                <a:latin typeface="+mn-lt"/>
                <a:ea typeface="Calibri" panose="020F0502020204030204" pitchFamily="34" charset="0"/>
                <a:cs typeface="Calibri" panose="020F0502020204030204" pitchFamily="34" charset="0"/>
              </a:rPr>
              <a:t>, the pipe diameter, </a:t>
            </a:r>
            <a:r>
              <a:rPr lang="en-GB" i="1" dirty="0">
                <a:latin typeface="+mn-lt"/>
                <a:ea typeface="Calibri" panose="020F0502020204030204" pitchFamily="34" charset="0"/>
                <a:cs typeface="Calibri" panose="020F0502020204030204" pitchFamily="34" charset="0"/>
              </a:rPr>
              <a:t>D</a:t>
            </a:r>
            <a:r>
              <a:rPr lang="en-GB" dirty="0">
                <a:latin typeface="+mn-lt"/>
                <a:ea typeface="Calibri" panose="020F0502020204030204" pitchFamily="34" charset="0"/>
                <a:cs typeface="Calibri" panose="020F0502020204030204" pitchFamily="34" charset="0"/>
              </a:rPr>
              <a:t>, the fluid density, </a:t>
            </a:r>
            <a:r>
              <a:rPr lang="el-GR" dirty="0">
                <a:latin typeface="+mn-lt"/>
                <a:ea typeface="Calibri" panose="020F0502020204030204" pitchFamily="34" charset="0"/>
                <a:cs typeface="Times New Roman" panose="02020603050405020304" pitchFamily="18" charset="0"/>
              </a:rPr>
              <a:t>ρ</a:t>
            </a:r>
            <a:r>
              <a:rPr lang="en-GB" dirty="0">
                <a:latin typeface="+mn-lt"/>
                <a:ea typeface="Calibri" panose="020F0502020204030204" pitchFamily="34" charset="0"/>
                <a:cs typeface="Times New Roman" panose="02020603050405020304" pitchFamily="18" charset="0"/>
              </a:rPr>
              <a:t>,</a:t>
            </a:r>
            <a:r>
              <a:rPr lang="en-GB" dirty="0">
                <a:latin typeface="+mn-lt"/>
                <a:ea typeface="Calibri" panose="020F0502020204030204" pitchFamily="34" charset="0"/>
                <a:cs typeface="Calibri" panose="020F0502020204030204" pitchFamily="34" charset="0"/>
              </a:rPr>
              <a:t> and the </a:t>
            </a:r>
            <a:r>
              <a:rPr lang="en-US" dirty="0">
                <a:latin typeface="+mn-lt"/>
                <a:ea typeface="Calibri" panose="020F0502020204030204" pitchFamily="34" charset="0"/>
                <a:cs typeface="Calibri" panose="020F0502020204030204" pitchFamily="34" charset="0"/>
              </a:rPr>
              <a:t>average roughness height, </a:t>
            </a:r>
            <a:r>
              <a:rPr lang="en-US" i="1" dirty="0">
                <a:latin typeface="+mn-lt"/>
                <a:ea typeface="Calibri" panose="020F0502020204030204" pitchFamily="34" charset="0"/>
                <a:cs typeface="Calibri" panose="020F0502020204030204" pitchFamily="34" charset="0"/>
              </a:rPr>
              <a:t>e</a:t>
            </a:r>
            <a:r>
              <a:rPr lang="en-US" dirty="0">
                <a:latin typeface="+mn-lt"/>
                <a:ea typeface="Calibri" panose="020F0502020204030204" pitchFamily="34" charset="0"/>
                <a:cs typeface="Calibri" panose="020F0502020204030204" pitchFamily="34" charset="0"/>
              </a:rPr>
              <a:t>. Determine a set of dimensionless groups that can be used to correlate data.</a:t>
            </a:r>
            <a:endParaRPr lang="en-US" dirty="0">
              <a:latin typeface="+mn-lt"/>
            </a:endParaRPr>
          </a:p>
          <a:p>
            <a:pPr marL="0" indent="0" algn="just">
              <a:lnSpc>
                <a:spcPct val="100000"/>
              </a:lnSpc>
              <a:spcAft>
                <a:spcPts val="1200"/>
              </a:spcAft>
              <a:buNone/>
            </a:pPr>
            <a:r>
              <a:rPr lang="en-US" dirty="0">
                <a:latin typeface="+mn-lt"/>
              </a:rPr>
              <a:t>2. </a:t>
            </a:r>
            <a:r>
              <a:rPr lang="en-GB" dirty="0">
                <a:latin typeface="+mn-lt"/>
              </a:rPr>
              <a:t>The efficiency </a:t>
            </a:r>
            <a:r>
              <a:rPr lang="el-GR" i="1" dirty="0">
                <a:latin typeface="+mn-lt"/>
                <a:cs typeface="Times New Roman" panose="02020603050405020304" pitchFamily="18" charset="0"/>
              </a:rPr>
              <a:t>η</a:t>
            </a:r>
            <a:r>
              <a:rPr lang="en-GB" dirty="0">
                <a:latin typeface="+mn-lt"/>
                <a:cs typeface="Times New Roman" panose="02020603050405020304" pitchFamily="18" charset="0"/>
              </a:rPr>
              <a:t> </a:t>
            </a:r>
            <a:r>
              <a:rPr lang="en-GB" dirty="0">
                <a:latin typeface="+mn-lt"/>
              </a:rPr>
              <a:t>of a fan depends on density </a:t>
            </a:r>
            <a:r>
              <a:rPr lang="en-GB" i="1" dirty="0">
                <a:latin typeface="+mn-lt"/>
              </a:rPr>
              <a:t>ρ</a:t>
            </a:r>
            <a:r>
              <a:rPr lang="en-GB" dirty="0">
                <a:latin typeface="+mn-lt"/>
              </a:rPr>
              <a:t>, dynamic viscosity </a:t>
            </a:r>
            <a:r>
              <a:rPr lang="en-GB" i="1" dirty="0">
                <a:latin typeface="+mn-lt"/>
              </a:rPr>
              <a:t>μ</a:t>
            </a:r>
            <a:r>
              <a:rPr lang="en-GB" dirty="0">
                <a:latin typeface="+mn-lt"/>
              </a:rPr>
              <a:t> of the fluid, angular velocity </a:t>
            </a:r>
            <a:r>
              <a:rPr lang="en-GB" i="1" dirty="0">
                <a:latin typeface="+mn-lt"/>
              </a:rPr>
              <a:t>ω</a:t>
            </a:r>
            <a:r>
              <a:rPr lang="en-GB" dirty="0">
                <a:latin typeface="+mn-lt"/>
              </a:rPr>
              <a:t>, diameter </a:t>
            </a:r>
            <a:r>
              <a:rPr lang="en-GB" i="1" dirty="0">
                <a:latin typeface="+mn-lt"/>
              </a:rPr>
              <a:t>D</a:t>
            </a:r>
            <a:r>
              <a:rPr lang="en-GB" dirty="0">
                <a:latin typeface="+mn-lt"/>
              </a:rPr>
              <a:t> of the rotor and the discharge </a:t>
            </a:r>
            <a:r>
              <a:rPr lang="en-GB" i="1" dirty="0">
                <a:latin typeface="+mn-lt"/>
              </a:rPr>
              <a:t>Q</a:t>
            </a:r>
            <a:r>
              <a:rPr lang="en-GB" dirty="0">
                <a:latin typeface="+mn-lt"/>
              </a:rPr>
              <a:t>. Express </a:t>
            </a:r>
            <a:r>
              <a:rPr lang="el-GR" i="1" dirty="0">
                <a:latin typeface="+mn-lt"/>
                <a:cs typeface="Times New Roman" panose="02020603050405020304" pitchFamily="18" charset="0"/>
              </a:rPr>
              <a:t>η </a:t>
            </a:r>
            <a:r>
              <a:rPr lang="en-GB" dirty="0">
                <a:latin typeface="+mn-lt"/>
              </a:rPr>
              <a:t>in terms of dimensionless parameters.</a:t>
            </a:r>
            <a:endParaRPr lang="en-US" dirty="0">
              <a:latin typeface="+mn-lt"/>
            </a:endParaRPr>
          </a:p>
          <a:p>
            <a:pPr marL="0" indent="0" algn="just">
              <a:lnSpc>
                <a:spcPct val="100000"/>
              </a:lnSpc>
              <a:spcAft>
                <a:spcPts val="1200"/>
              </a:spcAft>
              <a:buNone/>
            </a:pPr>
            <a:r>
              <a:rPr lang="en-CA" dirty="0">
                <a:latin typeface="+mn-lt"/>
              </a:rPr>
              <a:t>3. The speed of shallow water waves in the ocean (e.g., seismic sea waves or tsunamis) depends only on the still water depth and the acceleration due to gravity. Using Buckingham </a:t>
            </a:r>
            <a:r>
              <a:rPr lang="el-GR" i="1" dirty="0">
                <a:latin typeface="Times New Roman" panose="02020603050405020304" pitchFamily="18" charset="0"/>
                <a:cs typeface="Times New Roman" panose="02020603050405020304" pitchFamily="18" charset="0"/>
              </a:rPr>
              <a:t>Π</a:t>
            </a:r>
            <a:r>
              <a:rPr lang="en-GB" dirty="0">
                <a:latin typeface="Times New Roman" panose="02020603050405020304" pitchFamily="18" charset="0"/>
                <a:cs typeface="Times New Roman" panose="02020603050405020304" pitchFamily="18" charset="0"/>
              </a:rPr>
              <a:t>-</a:t>
            </a:r>
            <a:r>
              <a:rPr lang="en-CA" dirty="0">
                <a:latin typeface="+mn-lt"/>
              </a:rPr>
              <a:t>theorem, derive an expression for the wave speed.</a:t>
            </a:r>
          </a:p>
        </p:txBody>
      </p:sp>
    </p:spTree>
    <p:extLst>
      <p:ext uri="{BB962C8B-B14F-4D97-AF65-F5344CB8AC3E}">
        <p14:creationId xmlns:p14="http://schemas.microsoft.com/office/powerpoint/2010/main" val="3161790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Box 2"/>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14663</TotalTime>
  <Words>3867</Words>
  <Application>Microsoft Office PowerPoint</Application>
  <PresentationFormat>On-screen Show (4:3)</PresentationFormat>
  <Paragraphs>539</Paragraphs>
  <Slides>42</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Calibri</vt:lpstr>
      <vt:lpstr>Cambria Math</vt:lpstr>
      <vt:lpstr>Myriad Web Pro</vt:lpstr>
      <vt:lpstr>Times</vt:lpstr>
      <vt:lpstr>Times New Roman</vt:lpstr>
      <vt:lpstr>Verdana</vt:lpstr>
      <vt:lpstr>Wingdings</vt:lpstr>
      <vt:lpstr>Custom Design</vt:lpstr>
      <vt:lpstr>ME 352 FLUID DYNAMICS 2</vt:lpstr>
      <vt:lpstr>Main Topics</vt:lpstr>
      <vt:lpstr>Dimensional and Model Analysis</vt:lpstr>
      <vt:lpstr>Dimensional and Model Analysis</vt:lpstr>
      <vt:lpstr>Dimensional and Model Analysis</vt:lpstr>
      <vt:lpstr>Dimensional and Model Analysis</vt:lpstr>
      <vt:lpstr>Dimensional and Model Analysis</vt:lpstr>
      <vt:lpstr>Dimensional and Model Analysis</vt:lpstr>
      <vt:lpstr>Dimensional and Model Analysis</vt:lpstr>
      <vt:lpstr>Dimensional Homogeneity</vt:lpstr>
      <vt:lpstr>Dimensional Homogeneity</vt:lpstr>
      <vt:lpstr>PowerPoint Presentation</vt:lpstr>
      <vt:lpstr>PowerPoint Presentation</vt:lpstr>
      <vt:lpstr>Methods of Dimensional Analysis</vt:lpstr>
      <vt:lpstr>THE RAYLEIGH METHOD</vt:lpstr>
      <vt:lpstr>RAYLEIGH METHOD</vt:lpstr>
      <vt:lpstr>Solution contd.</vt:lpstr>
      <vt:lpstr>RAYLEIGH METHOD</vt:lpstr>
      <vt:lpstr>Solution 2 contd</vt:lpstr>
      <vt:lpstr>Solution 2 contd.</vt:lpstr>
      <vt:lpstr>RAYLEIGH METHOD</vt:lpstr>
      <vt:lpstr>Solution 3 contd.</vt:lpstr>
      <vt:lpstr>PowerPoint Presentation</vt:lpstr>
      <vt:lpstr>The Dimension Matrix Approach</vt:lpstr>
      <vt:lpstr>The Dimension Matrix Approach</vt:lpstr>
      <vt:lpstr>PowerPoint Presentation</vt:lpstr>
      <vt:lpstr>PowerPoint Presentation</vt:lpstr>
      <vt:lpstr>BUCKINGHAM Pi-Theorem</vt:lpstr>
      <vt:lpstr>BUCKINGHAM Pi-Theorem</vt:lpstr>
      <vt:lpstr>BUCKINGHAM Pi-Theorem</vt:lpstr>
      <vt:lpstr>How are the Π-Groups Determined?</vt:lpstr>
      <vt:lpstr>How are the Π-Groups Determined?</vt:lpstr>
      <vt:lpstr>Application of the Pi Theorem</vt:lpstr>
      <vt:lpstr>Application of the Pi Theorem</vt:lpstr>
      <vt:lpstr>Tips for Selecting the Repeating Parameters</vt:lpstr>
      <vt:lpstr>Application of the Pi Theorem</vt:lpstr>
      <vt:lpstr>Application of the Pi Theorem</vt:lpstr>
      <vt:lpstr>Dimensionless Groups of Significance</vt:lpstr>
      <vt:lpstr>Dimensionless Groups of Significance</vt:lpstr>
      <vt:lpstr>Application of the Pi Theorem</vt:lpstr>
      <vt:lpstr>PowerPoint Presentation</vt:lpstr>
      <vt:lpstr>Practice Problems on Buckingham Pi Theorem</vt:lpstr>
    </vt:vector>
  </TitlesOfParts>
  <Company>UofM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 st.laurent</dc:creator>
  <cp:lastModifiedBy>Godwin Tay</cp:lastModifiedBy>
  <cp:revision>1149</cp:revision>
  <cp:lastPrinted>2017-03-24T14:02:27Z</cp:lastPrinted>
  <dcterms:created xsi:type="dcterms:W3CDTF">2007-10-23T20:40:42Z</dcterms:created>
  <dcterms:modified xsi:type="dcterms:W3CDTF">2024-06-09T23:34:57Z</dcterms:modified>
</cp:coreProperties>
</file>