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82" r:id="rId2"/>
    <p:sldId id="283" r:id="rId3"/>
    <p:sldId id="284" r:id="rId4"/>
    <p:sldId id="285" r:id="rId5"/>
    <p:sldId id="591" r:id="rId6"/>
    <p:sldId id="286" r:id="rId7"/>
    <p:sldId id="57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592" r:id="rId26"/>
    <p:sldId id="305" r:id="rId27"/>
    <p:sldId id="306" r:id="rId28"/>
    <p:sldId id="307" r:id="rId29"/>
    <p:sldId id="308" r:id="rId30"/>
    <p:sldId id="309" r:id="rId31"/>
    <p:sldId id="310" r:id="rId32"/>
    <p:sldId id="311" r:id="rId33"/>
    <p:sldId id="312"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1176" y="45"/>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7795114-7151-4DC1-9846-0C8C5BC92CDB}" type="datetimeFigureOut">
              <a:rPr lang="en-US" smtClean="0"/>
              <a:t>6/9/2024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5856DE-0F91-452C-B87E-CA1C9F5227F2}" type="slidenum">
              <a:rPr lang="en-US" smtClean="0"/>
              <a:t>‹#›</a:t>
            </a:fld>
            <a:endParaRPr lang="en-US"/>
          </a:p>
        </p:txBody>
      </p:sp>
    </p:spTree>
    <p:extLst>
      <p:ext uri="{BB962C8B-B14F-4D97-AF65-F5344CB8AC3E}">
        <p14:creationId xmlns:p14="http://schemas.microsoft.com/office/powerpoint/2010/main" val="4207277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a:t>
            </a:fld>
            <a:endParaRPr lang="en-US"/>
          </a:p>
        </p:txBody>
      </p:sp>
    </p:spTree>
    <p:extLst>
      <p:ext uri="{BB962C8B-B14F-4D97-AF65-F5344CB8AC3E}">
        <p14:creationId xmlns:p14="http://schemas.microsoft.com/office/powerpoint/2010/main" val="3024869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a:t>
            </a:fld>
            <a:endParaRPr lang="en-US"/>
          </a:p>
        </p:txBody>
      </p:sp>
    </p:spTree>
    <p:extLst>
      <p:ext uri="{BB962C8B-B14F-4D97-AF65-F5344CB8AC3E}">
        <p14:creationId xmlns:p14="http://schemas.microsoft.com/office/powerpoint/2010/main" val="2973547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a:t>
            </a:fld>
            <a:endParaRPr lang="en-US"/>
          </a:p>
        </p:txBody>
      </p:sp>
    </p:spTree>
    <p:extLst>
      <p:ext uri="{BB962C8B-B14F-4D97-AF65-F5344CB8AC3E}">
        <p14:creationId xmlns:p14="http://schemas.microsoft.com/office/powerpoint/2010/main" val="1735411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4</a:t>
            </a:fld>
            <a:endParaRPr lang="en-US"/>
          </a:p>
        </p:txBody>
      </p:sp>
    </p:spTree>
    <p:extLst>
      <p:ext uri="{BB962C8B-B14F-4D97-AF65-F5344CB8AC3E}">
        <p14:creationId xmlns:p14="http://schemas.microsoft.com/office/powerpoint/2010/main" val="328211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5</a:t>
            </a:fld>
            <a:endParaRPr lang="en-CA" altLang="en-US"/>
          </a:p>
        </p:txBody>
      </p:sp>
    </p:spTree>
    <p:extLst>
      <p:ext uri="{BB962C8B-B14F-4D97-AF65-F5344CB8AC3E}">
        <p14:creationId xmlns:p14="http://schemas.microsoft.com/office/powerpoint/2010/main" val="3371697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6</a:t>
            </a:fld>
            <a:endParaRPr lang="en-US"/>
          </a:p>
        </p:txBody>
      </p:sp>
    </p:spTree>
    <p:extLst>
      <p:ext uri="{BB962C8B-B14F-4D97-AF65-F5344CB8AC3E}">
        <p14:creationId xmlns:p14="http://schemas.microsoft.com/office/powerpoint/2010/main" val="1902852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Illustrate with </a:t>
            </a:r>
            <a:r>
              <a:rPr lang="en-CA" dirty="0" err="1"/>
              <a:t>pVd</a:t>
            </a:r>
            <a:endParaRPr lang="en-CA" dirty="0"/>
          </a:p>
        </p:txBody>
      </p:sp>
      <p:sp>
        <p:nvSpPr>
          <p:cNvPr id="4" name="Slide Number Placeholder 3"/>
          <p:cNvSpPr>
            <a:spLocks noGrp="1"/>
          </p:cNvSpPr>
          <p:nvPr>
            <p:ph type="sldNum" sz="quarter" idx="10"/>
          </p:nvPr>
        </p:nvSpPr>
        <p:spPr/>
        <p:txBody>
          <a:bodyPr/>
          <a:lstStyle/>
          <a:p>
            <a:pPr>
              <a:defRPr/>
            </a:pPr>
            <a:fld id="{34781C02-6DE5-4322-A2AC-958FAC418BF6}" type="slidenum">
              <a:rPr lang="en-CA" altLang="en-US" smtClean="0"/>
              <a:pPr>
                <a:defRPr/>
              </a:pPr>
              <a:t>7</a:t>
            </a:fld>
            <a:endParaRPr lang="en-CA" altLang="en-US"/>
          </a:p>
        </p:txBody>
      </p:sp>
    </p:spTree>
    <p:extLst>
      <p:ext uri="{BB962C8B-B14F-4D97-AF65-F5344CB8AC3E}">
        <p14:creationId xmlns:p14="http://schemas.microsoft.com/office/powerpoint/2010/main" val="989336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8</a:t>
            </a:fld>
            <a:endParaRPr lang="en-US"/>
          </a:p>
        </p:txBody>
      </p:sp>
    </p:spTree>
    <p:extLst>
      <p:ext uri="{BB962C8B-B14F-4D97-AF65-F5344CB8AC3E}">
        <p14:creationId xmlns:p14="http://schemas.microsoft.com/office/powerpoint/2010/main" val="3384872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9</a:t>
            </a:fld>
            <a:endParaRPr lang="en-US"/>
          </a:p>
        </p:txBody>
      </p:sp>
    </p:spTree>
    <p:extLst>
      <p:ext uri="{BB962C8B-B14F-4D97-AF65-F5344CB8AC3E}">
        <p14:creationId xmlns:p14="http://schemas.microsoft.com/office/powerpoint/2010/main" val="401053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10</a:t>
            </a:fld>
            <a:endParaRPr lang="en-US"/>
          </a:p>
        </p:txBody>
      </p:sp>
    </p:spTree>
    <p:extLst>
      <p:ext uri="{BB962C8B-B14F-4D97-AF65-F5344CB8AC3E}">
        <p14:creationId xmlns:p14="http://schemas.microsoft.com/office/powerpoint/2010/main" val="2603989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11</a:t>
            </a:fld>
            <a:endParaRPr lang="en-US"/>
          </a:p>
        </p:txBody>
      </p:sp>
    </p:spTree>
    <p:extLst>
      <p:ext uri="{BB962C8B-B14F-4D97-AF65-F5344CB8AC3E}">
        <p14:creationId xmlns:p14="http://schemas.microsoft.com/office/powerpoint/2010/main" val="1691127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12</a:t>
            </a:fld>
            <a:endParaRPr lang="en-US"/>
          </a:p>
        </p:txBody>
      </p:sp>
    </p:spTree>
    <p:extLst>
      <p:ext uri="{BB962C8B-B14F-4D97-AF65-F5344CB8AC3E}">
        <p14:creationId xmlns:p14="http://schemas.microsoft.com/office/powerpoint/2010/main" val="4079409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13</a:t>
            </a:fld>
            <a:endParaRPr lang="en-US"/>
          </a:p>
        </p:txBody>
      </p:sp>
    </p:spTree>
    <p:extLst>
      <p:ext uri="{BB962C8B-B14F-4D97-AF65-F5344CB8AC3E}">
        <p14:creationId xmlns:p14="http://schemas.microsoft.com/office/powerpoint/2010/main" val="2081029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14</a:t>
            </a:fld>
            <a:endParaRPr lang="en-US"/>
          </a:p>
        </p:txBody>
      </p:sp>
    </p:spTree>
    <p:extLst>
      <p:ext uri="{BB962C8B-B14F-4D97-AF65-F5344CB8AC3E}">
        <p14:creationId xmlns:p14="http://schemas.microsoft.com/office/powerpoint/2010/main" val="3448272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15</a:t>
            </a:fld>
            <a:endParaRPr lang="en-US"/>
          </a:p>
        </p:txBody>
      </p:sp>
    </p:spTree>
    <p:extLst>
      <p:ext uri="{BB962C8B-B14F-4D97-AF65-F5344CB8AC3E}">
        <p14:creationId xmlns:p14="http://schemas.microsoft.com/office/powerpoint/2010/main" val="625639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16</a:t>
            </a:fld>
            <a:endParaRPr lang="en-US"/>
          </a:p>
        </p:txBody>
      </p:sp>
    </p:spTree>
    <p:extLst>
      <p:ext uri="{BB962C8B-B14F-4D97-AF65-F5344CB8AC3E}">
        <p14:creationId xmlns:p14="http://schemas.microsoft.com/office/powerpoint/2010/main" val="3382536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17</a:t>
            </a:fld>
            <a:endParaRPr lang="en-US"/>
          </a:p>
        </p:txBody>
      </p:sp>
    </p:spTree>
    <p:extLst>
      <p:ext uri="{BB962C8B-B14F-4D97-AF65-F5344CB8AC3E}">
        <p14:creationId xmlns:p14="http://schemas.microsoft.com/office/powerpoint/2010/main" val="957566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18</a:t>
            </a:fld>
            <a:endParaRPr lang="en-US"/>
          </a:p>
        </p:txBody>
      </p:sp>
    </p:spTree>
    <p:extLst>
      <p:ext uri="{BB962C8B-B14F-4D97-AF65-F5344CB8AC3E}">
        <p14:creationId xmlns:p14="http://schemas.microsoft.com/office/powerpoint/2010/main" val="1844654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19</a:t>
            </a:fld>
            <a:endParaRPr lang="en-US"/>
          </a:p>
        </p:txBody>
      </p:sp>
    </p:spTree>
    <p:extLst>
      <p:ext uri="{BB962C8B-B14F-4D97-AF65-F5344CB8AC3E}">
        <p14:creationId xmlns:p14="http://schemas.microsoft.com/office/powerpoint/2010/main" val="5080131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20</a:t>
            </a:fld>
            <a:endParaRPr lang="en-US"/>
          </a:p>
        </p:txBody>
      </p:sp>
    </p:spTree>
    <p:extLst>
      <p:ext uri="{BB962C8B-B14F-4D97-AF65-F5344CB8AC3E}">
        <p14:creationId xmlns:p14="http://schemas.microsoft.com/office/powerpoint/2010/main" val="949080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21</a:t>
            </a:fld>
            <a:endParaRPr lang="en-US"/>
          </a:p>
        </p:txBody>
      </p:sp>
    </p:spTree>
    <p:extLst>
      <p:ext uri="{BB962C8B-B14F-4D97-AF65-F5344CB8AC3E}">
        <p14:creationId xmlns:p14="http://schemas.microsoft.com/office/powerpoint/2010/main" val="3950132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22</a:t>
            </a:fld>
            <a:endParaRPr lang="en-US"/>
          </a:p>
        </p:txBody>
      </p:sp>
    </p:spTree>
    <p:extLst>
      <p:ext uri="{BB962C8B-B14F-4D97-AF65-F5344CB8AC3E}">
        <p14:creationId xmlns:p14="http://schemas.microsoft.com/office/powerpoint/2010/main" val="3061425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23</a:t>
            </a:fld>
            <a:endParaRPr lang="en-US"/>
          </a:p>
        </p:txBody>
      </p:sp>
    </p:spTree>
    <p:extLst>
      <p:ext uri="{BB962C8B-B14F-4D97-AF65-F5344CB8AC3E}">
        <p14:creationId xmlns:p14="http://schemas.microsoft.com/office/powerpoint/2010/main" val="25076120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5856DE-0F91-452C-B87E-CA1C9F5227F2}" type="slidenum">
              <a:rPr lang="en-US" smtClean="0"/>
              <a:t>24</a:t>
            </a:fld>
            <a:endParaRPr lang="en-US"/>
          </a:p>
        </p:txBody>
      </p:sp>
    </p:spTree>
    <p:extLst>
      <p:ext uri="{BB962C8B-B14F-4D97-AF65-F5344CB8AC3E}">
        <p14:creationId xmlns:p14="http://schemas.microsoft.com/office/powerpoint/2010/main" val="11780693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25</a:t>
            </a:fld>
            <a:endParaRPr lang="en-US"/>
          </a:p>
        </p:txBody>
      </p:sp>
    </p:spTree>
    <p:extLst>
      <p:ext uri="{BB962C8B-B14F-4D97-AF65-F5344CB8AC3E}">
        <p14:creationId xmlns:p14="http://schemas.microsoft.com/office/powerpoint/2010/main" val="3312830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26</a:t>
            </a:fld>
            <a:endParaRPr lang="en-US"/>
          </a:p>
        </p:txBody>
      </p:sp>
    </p:spTree>
    <p:extLst>
      <p:ext uri="{BB962C8B-B14F-4D97-AF65-F5344CB8AC3E}">
        <p14:creationId xmlns:p14="http://schemas.microsoft.com/office/powerpoint/2010/main" val="2169722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27</a:t>
            </a:fld>
            <a:endParaRPr lang="en-US"/>
          </a:p>
        </p:txBody>
      </p:sp>
    </p:spTree>
    <p:extLst>
      <p:ext uri="{BB962C8B-B14F-4D97-AF65-F5344CB8AC3E}">
        <p14:creationId xmlns:p14="http://schemas.microsoft.com/office/powerpoint/2010/main" val="2758955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28</a:t>
            </a:fld>
            <a:endParaRPr lang="en-US"/>
          </a:p>
        </p:txBody>
      </p:sp>
    </p:spTree>
    <p:extLst>
      <p:ext uri="{BB962C8B-B14F-4D97-AF65-F5344CB8AC3E}">
        <p14:creationId xmlns:p14="http://schemas.microsoft.com/office/powerpoint/2010/main" val="2991197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29</a:t>
            </a:fld>
            <a:endParaRPr lang="en-US"/>
          </a:p>
        </p:txBody>
      </p:sp>
    </p:spTree>
    <p:extLst>
      <p:ext uri="{BB962C8B-B14F-4D97-AF65-F5344CB8AC3E}">
        <p14:creationId xmlns:p14="http://schemas.microsoft.com/office/powerpoint/2010/main" val="23309787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30</a:t>
            </a:fld>
            <a:endParaRPr lang="en-US"/>
          </a:p>
        </p:txBody>
      </p:sp>
    </p:spTree>
    <p:extLst>
      <p:ext uri="{BB962C8B-B14F-4D97-AF65-F5344CB8AC3E}">
        <p14:creationId xmlns:p14="http://schemas.microsoft.com/office/powerpoint/2010/main" val="29048190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31</a:t>
            </a:fld>
            <a:endParaRPr lang="en-US"/>
          </a:p>
        </p:txBody>
      </p:sp>
    </p:spTree>
    <p:extLst>
      <p:ext uri="{BB962C8B-B14F-4D97-AF65-F5344CB8AC3E}">
        <p14:creationId xmlns:p14="http://schemas.microsoft.com/office/powerpoint/2010/main" val="39128827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32</a:t>
            </a:fld>
            <a:endParaRPr lang="en-US"/>
          </a:p>
        </p:txBody>
      </p:sp>
    </p:spTree>
    <p:extLst>
      <p:ext uri="{BB962C8B-B14F-4D97-AF65-F5344CB8AC3E}">
        <p14:creationId xmlns:p14="http://schemas.microsoft.com/office/powerpoint/2010/main" val="24248111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5856DE-0F91-452C-B87E-CA1C9F5227F2}" type="slidenum">
              <a:rPr lang="en-US" smtClean="0"/>
              <a:t>33</a:t>
            </a:fld>
            <a:endParaRPr lang="en-US"/>
          </a:p>
        </p:txBody>
      </p:sp>
    </p:spTree>
    <p:extLst>
      <p:ext uri="{BB962C8B-B14F-4D97-AF65-F5344CB8AC3E}">
        <p14:creationId xmlns:p14="http://schemas.microsoft.com/office/powerpoint/2010/main" val="3564519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A8D1FC-F4AA-497A-9688-7879196AD0E6}"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2212399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8D1FC-F4AA-497A-9688-7879196AD0E6}"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2687410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8D1FC-F4AA-497A-9688-7879196AD0E6}"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4089480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A8D1FC-F4AA-497A-9688-7879196AD0E6}"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3010114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A8D1FC-F4AA-497A-9688-7879196AD0E6}" type="datetimeFigureOut">
              <a:rPr lang="en-US" smtClean="0"/>
              <a:t>6/9/2024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2044850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A8D1FC-F4AA-497A-9688-7879196AD0E6}" type="datetimeFigureOut">
              <a:rPr lang="en-US" smtClean="0"/>
              <a:t>6/9/2024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2142514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8D1FC-F4AA-497A-9688-7879196AD0E6}" type="datetimeFigureOut">
              <a:rPr lang="en-US" smtClean="0"/>
              <a:t>6/9/2024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2552022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8D1FC-F4AA-497A-9688-7879196AD0E6}"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2611716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8D1FC-F4AA-497A-9688-7879196AD0E6}"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2578060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8D1FC-F4AA-497A-9688-7879196AD0E6}"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1944969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8D1FC-F4AA-497A-9688-7879196AD0E6}"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938F4-1B65-4FD2-AE54-D4F96C74EFD5}" type="slidenum">
              <a:rPr lang="en-US" smtClean="0"/>
              <a:t>‹#›</a:t>
            </a:fld>
            <a:endParaRPr lang="en-US"/>
          </a:p>
        </p:txBody>
      </p:sp>
    </p:spTree>
    <p:extLst>
      <p:ext uri="{BB962C8B-B14F-4D97-AF65-F5344CB8AC3E}">
        <p14:creationId xmlns:p14="http://schemas.microsoft.com/office/powerpoint/2010/main" val="3206894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8D1FC-F4AA-497A-9688-7879196AD0E6}" type="datetimeFigureOut">
              <a:rPr lang="en-US" smtClean="0"/>
              <a:t>6/9/2024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E938F4-1B65-4FD2-AE54-D4F96C74EFD5}" type="slidenum">
              <a:rPr lang="en-US" smtClean="0"/>
              <a:t>‹#›</a:t>
            </a:fld>
            <a:endParaRPr lang="en-US"/>
          </a:p>
        </p:txBody>
      </p:sp>
    </p:spTree>
    <p:extLst>
      <p:ext uri="{BB962C8B-B14F-4D97-AF65-F5344CB8AC3E}">
        <p14:creationId xmlns:p14="http://schemas.microsoft.com/office/powerpoint/2010/main" val="452981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r>
              <a:rPr lang="en-US" sz="2400" dirty="0"/>
              <a:t>MODEL ANALYSIS</a:t>
            </a:r>
          </a:p>
        </p:txBody>
      </p:sp>
      <p:sp>
        <p:nvSpPr>
          <p:cNvPr id="3" name="Content Placeholder 2"/>
          <p:cNvSpPr>
            <a:spLocks noGrp="1"/>
          </p:cNvSpPr>
          <p:nvPr>
            <p:ph idx="1"/>
          </p:nvPr>
        </p:nvSpPr>
        <p:spPr>
          <a:xfrm>
            <a:off x="0" y="762000"/>
            <a:ext cx="9144000" cy="5791200"/>
          </a:xfrm>
        </p:spPr>
        <p:txBody>
          <a:bodyPr>
            <a:normAutofit fontScale="92500" lnSpcReduction="10000"/>
          </a:bodyPr>
          <a:lstStyle/>
          <a:p>
            <a:pPr algn="just">
              <a:spcAft>
                <a:spcPts val="1800"/>
              </a:spcAft>
            </a:pPr>
            <a:r>
              <a:rPr lang="en-US" b="1" dirty="0"/>
              <a:t>Model analysis</a:t>
            </a:r>
            <a:r>
              <a:rPr lang="en-US" dirty="0"/>
              <a:t> is an experimental method of solving complex flow problems that explores the similarity between the actual flow problem and a scaled replica of the problem.</a:t>
            </a:r>
          </a:p>
          <a:p>
            <a:pPr algn="just">
              <a:spcAft>
                <a:spcPts val="1800"/>
              </a:spcAft>
            </a:pPr>
            <a:r>
              <a:rPr lang="en-US" dirty="0"/>
              <a:t>A </a:t>
            </a:r>
            <a:r>
              <a:rPr lang="en-US" b="1" dirty="0"/>
              <a:t>model</a:t>
            </a:r>
            <a:r>
              <a:rPr lang="en-US" dirty="0"/>
              <a:t> is a scaled replica of the actual structure or system under study. The actual system is called a </a:t>
            </a:r>
            <a:r>
              <a:rPr lang="en-US" b="1" dirty="0"/>
              <a:t>prototype</a:t>
            </a:r>
            <a:r>
              <a:rPr lang="en-US" dirty="0"/>
              <a:t>. In most cases the model is smaller than the prototype but in some cases the model is larger than the prototype. </a:t>
            </a:r>
          </a:p>
          <a:p>
            <a:pPr marL="0" indent="0">
              <a:buNone/>
            </a:pPr>
            <a:r>
              <a:rPr lang="en-US" b="1" dirty="0"/>
              <a:t>Advantages of dimensional and model analysis</a:t>
            </a:r>
            <a:r>
              <a:rPr lang="en-US" dirty="0"/>
              <a:t>. </a:t>
            </a:r>
          </a:p>
          <a:p>
            <a:pPr marL="514350" lvl="0" indent="-514350" algn="just">
              <a:buAutoNum type="arabicPeriod"/>
            </a:pPr>
            <a:r>
              <a:rPr lang="en-GB" dirty="0"/>
              <a:t>The performance of the actual fluid system can be easily predicted in advance from its model.</a:t>
            </a:r>
          </a:p>
          <a:p>
            <a:pPr marL="0" lvl="0" indent="0">
              <a:buNone/>
            </a:pPr>
            <a:endParaRPr lang="en-US" dirty="0"/>
          </a:p>
          <a:p>
            <a:endParaRPr lang="en-US" dirty="0"/>
          </a:p>
        </p:txBody>
      </p:sp>
    </p:spTree>
    <p:extLst>
      <p:ext uri="{BB962C8B-B14F-4D97-AF65-F5344CB8AC3E}">
        <p14:creationId xmlns:p14="http://schemas.microsoft.com/office/powerpoint/2010/main" val="1591136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295400"/>
            <a:ext cx="8229600" cy="1143000"/>
          </a:xfrm>
        </p:spPr>
        <p:txBody>
          <a:bodyPr/>
          <a:lstStyle/>
          <a:p>
            <a:r>
              <a:rPr lang="en-US" dirty="0"/>
              <a:t> </a:t>
            </a:r>
          </a:p>
        </p:txBody>
      </p:sp>
      <p:sp>
        <p:nvSpPr>
          <p:cNvPr id="3" name="Content Placeholder 2"/>
          <p:cNvSpPr>
            <a:spLocks noGrp="1"/>
          </p:cNvSpPr>
          <p:nvPr>
            <p:ph idx="1"/>
          </p:nvPr>
        </p:nvSpPr>
        <p:spPr>
          <a:xfrm>
            <a:off x="0" y="228600"/>
            <a:ext cx="9144000" cy="6477000"/>
          </a:xfrm>
        </p:spPr>
        <p:txBody>
          <a:bodyPr>
            <a:normAutofit fontScale="92500"/>
          </a:bodyPr>
          <a:lstStyle/>
          <a:p>
            <a:pPr marL="0" indent="0" algn="just">
              <a:buNone/>
            </a:pPr>
            <a:r>
              <a:rPr lang="en-GB" dirty="0"/>
              <a:t>2. With the help of dimensional analysis, a relationship between the variables influencing a flow problem in terms of dimensionless parameters is obtained. This relationship helps in conduction of tests on the model.</a:t>
            </a:r>
            <a:endParaRPr lang="en-US" dirty="0"/>
          </a:p>
          <a:p>
            <a:pPr marL="0" lvl="0" indent="0">
              <a:buNone/>
            </a:pPr>
            <a:endParaRPr lang="en-GB" dirty="0"/>
          </a:p>
          <a:p>
            <a:pPr marL="0" lvl="0" indent="0" algn="just">
              <a:buNone/>
            </a:pPr>
            <a:r>
              <a:rPr lang="en-GB" dirty="0"/>
              <a:t>3. The merits of alternative designs can be predicted with the help of model testing. The most economical and safe design may be finally adopted.</a:t>
            </a:r>
          </a:p>
          <a:p>
            <a:pPr marL="0" lvl="0" indent="0">
              <a:buNone/>
            </a:pPr>
            <a:endParaRPr lang="en-US" dirty="0"/>
          </a:p>
          <a:p>
            <a:pPr marL="0" lvl="0" indent="0" algn="just">
              <a:buNone/>
            </a:pPr>
            <a:r>
              <a:rPr lang="en-GB" dirty="0"/>
              <a:t>NB: The tests performed on a model can be used to obtain in advance, useful information about the performance of the prototype only if a complete similarity exists between the model and the prototype.</a:t>
            </a:r>
            <a:endParaRPr lang="en-US" dirty="0"/>
          </a:p>
          <a:p>
            <a:endParaRPr lang="en-US" dirty="0"/>
          </a:p>
        </p:txBody>
      </p:sp>
    </p:spTree>
    <p:extLst>
      <p:ext uri="{BB962C8B-B14F-4D97-AF65-F5344CB8AC3E}">
        <p14:creationId xmlns:p14="http://schemas.microsoft.com/office/powerpoint/2010/main" val="3510161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248" y="76200"/>
            <a:ext cx="8229600" cy="533400"/>
          </a:xfrm>
        </p:spPr>
        <p:txBody>
          <a:bodyPr>
            <a:normAutofit fontScale="90000"/>
          </a:bodyPr>
          <a:lstStyle/>
          <a:p>
            <a:r>
              <a:rPr lang="en-US" dirty="0"/>
              <a:t>SIMILITUDE</a:t>
            </a:r>
          </a:p>
        </p:txBody>
      </p:sp>
      <p:sp>
        <p:nvSpPr>
          <p:cNvPr id="3" name="Content Placeholder 2"/>
          <p:cNvSpPr>
            <a:spLocks noGrp="1"/>
          </p:cNvSpPr>
          <p:nvPr>
            <p:ph idx="1"/>
          </p:nvPr>
        </p:nvSpPr>
        <p:spPr>
          <a:xfrm>
            <a:off x="0" y="838200"/>
            <a:ext cx="9144000" cy="4953000"/>
          </a:xfrm>
        </p:spPr>
        <p:txBody>
          <a:bodyPr>
            <a:normAutofit/>
          </a:bodyPr>
          <a:lstStyle/>
          <a:p>
            <a:pPr algn="just"/>
            <a:r>
              <a:rPr lang="en-US" dirty="0"/>
              <a:t>Similitude is defined as the similarity between the model and its prototype in every respect. That is the model and the prototype have similar properties or model and prototype are completely similar. Three types of similarities must exist between the model and the prototype. These are:</a:t>
            </a:r>
          </a:p>
          <a:p>
            <a:pPr marL="0" lvl="0" indent="0">
              <a:buNone/>
            </a:pPr>
            <a:r>
              <a:rPr lang="en-GB" dirty="0"/>
              <a:t>1. Geometric similarity  </a:t>
            </a:r>
            <a:endParaRPr lang="en-US" dirty="0"/>
          </a:p>
          <a:p>
            <a:pPr marL="0" lvl="0" indent="0">
              <a:buNone/>
            </a:pPr>
            <a:r>
              <a:rPr lang="en-GB" dirty="0"/>
              <a:t>2. Kinematic similarity</a:t>
            </a:r>
            <a:endParaRPr lang="en-US" dirty="0"/>
          </a:p>
          <a:p>
            <a:pPr marL="0" lvl="0" indent="0">
              <a:buNone/>
            </a:pPr>
            <a:r>
              <a:rPr lang="en-GB" dirty="0"/>
              <a:t>3. Dynamic similarity</a:t>
            </a:r>
            <a:endParaRPr lang="en-US" dirty="0"/>
          </a:p>
          <a:p>
            <a:endParaRPr lang="en-US" dirty="0"/>
          </a:p>
        </p:txBody>
      </p:sp>
    </p:spTree>
    <p:extLst>
      <p:ext uri="{BB962C8B-B14F-4D97-AF65-F5344CB8AC3E}">
        <p14:creationId xmlns:p14="http://schemas.microsoft.com/office/powerpoint/2010/main" val="375535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200" b="1" dirty="0"/>
              <a:t>Geometric Similarity</a:t>
            </a:r>
            <a:endParaRPr lang="en-US" sz="3200" dirty="0"/>
          </a:p>
        </p:txBody>
      </p:sp>
      <p:sp>
        <p:nvSpPr>
          <p:cNvPr id="3" name="Content Placeholder 2"/>
          <p:cNvSpPr>
            <a:spLocks noGrp="1"/>
          </p:cNvSpPr>
          <p:nvPr>
            <p:ph idx="1"/>
          </p:nvPr>
        </p:nvSpPr>
        <p:spPr>
          <a:xfrm>
            <a:off x="0" y="990600"/>
            <a:ext cx="9144000" cy="5135563"/>
          </a:xfrm>
        </p:spPr>
        <p:txBody>
          <a:bodyPr>
            <a:normAutofit lnSpcReduction="10000"/>
          </a:bodyPr>
          <a:lstStyle/>
          <a:p>
            <a:pPr marL="0" indent="0" algn="just">
              <a:spcAft>
                <a:spcPts val="2400"/>
              </a:spcAft>
              <a:buNone/>
            </a:pPr>
            <a:r>
              <a:rPr lang="en-US" b="1" dirty="0"/>
              <a:t>Geometric similarity</a:t>
            </a:r>
            <a:r>
              <a:rPr lang="en-US" dirty="0"/>
              <a:t> is said to exist between the model and its prototype if the ratio of all corresponding linear dimensions in the model and prototype are equal.</a:t>
            </a:r>
          </a:p>
          <a:p>
            <a:pPr marL="0" indent="0">
              <a:buNone/>
            </a:pPr>
            <a:r>
              <a:rPr lang="en-US" dirty="0"/>
              <a:t>Let  </a:t>
            </a:r>
            <a:r>
              <a:rPr lang="en-US" dirty="0" err="1"/>
              <a:t>L</a:t>
            </a:r>
            <a:r>
              <a:rPr lang="en-US" baseline="-25000" dirty="0" err="1"/>
              <a:t>m</a:t>
            </a:r>
            <a:r>
              <a:rPr lang="en-US" dirty="0"/>
              <a:t> = length of model</a:t>
            </a:r>
          </a:p>
          <a:p>
            <a:pPr marL="0" indent="0">
              <a:buNone/>
            </a:pPr>
            <a:r>
              <a:rPr lang="en-US" dirty="0"/>
              <a:t>       D</a:t>
            </a:r>
            <a:r>
              <a:rPr lang="en-US" baseline="-25000" dirty="0"/>
              <a:t>m </a:t>
            </a:r>
            <a:r>
              <a:rPr lang="en-US" dirty="0"/>
              <a:t>= Diameter of model</a:t>
            </a:r>
          </a:p>
          <a:p>
            <a:pPr marL="0" indent="0">
              <a:buNone/>
            </a:pPr>
            <a:r>
              <a:rPr lang="en-US" dirty="0"/>
              <a:t>       B</a:t>
            </a:r>
            <a:r>
              <a:rPr lang="en-US" baseline="-25000" dirty="0"/>
              <a:t>m </a:t>
            </a:r>
            <a:r>
              <a:rPr lang="en-US" dirty="0"/>
              <a:t>= Breadth of model</a:t>
            </a:r>
          </a:p>
          <a:p>
            <a:pPr marL="0" indent="0">
              <a:buNone/>
            </a:pPr>
            <a:r>
              <a:rPr lang="en-US" dirty="0"/>
              <a:t>       A</a:t>
            </a:r>
            <a:r>
              <a:rPr lang="en-US" baseline="-25000" dirty="0"/>
              <a:t>m </a:t>
            </a:r>
            <a:r>
              <a:rPr lang="en-US" dirty="0"/>
              <a:t>= area of model</a:t>
            </a:r>
          </a:p>
          <a:p>
            <a:pPr marL="0" indent="0">
              <a:buNone/>
            </a:pPr>
            <a:r>
              <a:rPr lang="en-US" dirty="0"/>
              <a:t>       </a:t>
            </a:r>
            <a:r>
              <a:rPr lang="en-US" dirty="0" err="1"/>
              <a:t>V</a:t>
            </a:r>
            <a:r>
              <a:rPr lang="en-US" baseline="-25000" dirty="0" err="1"/>
              <a:t>m</a:t>
            </a:r>
            <a:r>
              <a:rPr lang="en-US" baseline="-25000" dirty="0"/>
              <a:t> </a:t>
            </a:r>
            <a:r>
              <a:rPr lang="en-US" dirty="0"/>
              <a:t>= volume of model</a:t>
            </a:r>
          </a:p>
          <a:p>
            <a:endParaRPr lang="en-US" dirty="0"/>
          </a:p>
        </p:txBody>
      </p:sp>
    </p:spTree>
    <p:extLst>
      <p:ext uri="{BB962C8B-B14F-4D97-AF65-F5344CB8AC3E}">
        <p14:creationId xmlns:p14="http://schemas.microsoft.com/office/powerpoint/2010/main" val="3331835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4494" y="-10777"/>
            <a:ext cx="3321221" cy="2965602"/>
          </a:xfrm>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4210" t="11894" r="5658" b="18001"/>
          <a:stretch/>
        </p:blipFill>
        <p:spPr>
          <a:xfrm>
            <a:off x="4032432" y="923325"/>
            <a:ext cx="4454936" cy="2165684"/>
          </a:xfrm>
          <a:prstGeom prst="rect">
            <a:avLst/>
          </a:prstGeom>
        </p:spPr>
      </p:pic>
      <p:sp>
        <p:nvSpPr>
          <p:cNvPr id="9" name="TextBox 8"/>
          <p:cNvSpPr txBox="1"/>
          <p:nvPr/>
        </p:nvSpPr>
        <p:spPr>
          <a:xfrm>
            <a:off x="505074" y="2961994"/>
            <a:ext cx="2141621" cy="430887"/>
          </a:xfrm>
          <a:prstGeom prst="rect">
            <a:avLst/>
          </a:prstGeom>
          <a:noFill/>
        </p:spPr>
        <p:txBody>
          <a:bodyPr wrap="square" rtlCol="0">
            <a:spAutoFit/>
          </a:bodyPr>
          <a:lstStyle/>
          <a:p>
            <a:pPr algn="ctr"/>
            <a:r>
              <a:rPr lang="en-CA" sz="2200" dirty="0">
                <a:latin typeface="+mn-lt"/>
              </a:rPr>
              <a:t>Model</a:t>
            </a:r>
          </a:p>
        </p:txBody>
      </p:sp>
      <p:sp>
        <p:nvSpPr>
          <p:cNvPr id="10" name="TextBox 9"/>
          <p:cNvSpPr txBox="1"/>
          <p:nvPr/>
        </p:nvSpPr>
        <p:spPr>
          <a:xfrm>
            <a:off x="5904162" y="3024883"/>
            <a:ext cx="2141621" cy="430887"/>
          </a:xfrm>
          <a:prstGeom prst="rect">
            <a:avLst/>
          </a:prstGeom>
          <a:noFill/>
        </p:spPr>
        <p:txBody>
          <a:bodyPr wrap="square" rtlCol="0">
            <a:spAutoFit/>
          </a:bodyPr>
          <a:lstStyle/>
          <a:p>
            <a:pPr algn="ctr"/>
            <a:r>
              <a:rPr lang="en-CA" sz="2200" dirty="0">
                <a:latin typeface="+mn-lt"/>
              </a:rPr>
              <a:t>Prototype</a:t>
            </a:r>
          </a:p>
        </p:txBody>
      </p:sp>
      <p:sp>
        <p:nvSpPr>
          <p:cNvPr id="3" name="Title 2"/>
          <p:cNvSpPr>
            <a:spLocks noGrp="1"/>
          </p:cNvSpPr>
          <p:nvPr>
            <p:ph type="title"/>
          </p:nvPr>
        </p:nvSpPr>
        <p:spPr>
          <a:xfrm>
            <a:off x="159083" y="115577"/>
            <a:ext cx="7886700" cy="568940"/>
          </a:xfrm>
        </p:spPr>
        <p:txBody>
          <a:bodyPr>
            <a:noAutofit/>
          </a:bodyPr>
          <a:lstStyle/>
          <a:p>
            <a:r>
              <a:rPr lang="en-CA" sz="3200" b="1" dirty="0"/>
              <a:t>Geometric Similarity</a:t>
            </a:r>
          </a:p>
        </p:txBody>
      </p:sp>
      <p:grpSp>
        <p:nvGrpSpPr>
          <p:cNvPr id="2" name="Group 1"/>
          <p:cNvGrpSpPr/>
          <p:nvPr/>
        </p:nvGrpSpPr>
        <p:grpSpPr>
          <a:xfrm>
            <a:off x="39464" y="3445897"/>
            <a:ext cx="9104536" cy="2410593"/>
            <a:chOff x="39464" y="3669849"/>
            <a:chExt cx="9104536" cy="2410593"/>
          </a:xfrm>
        </p:grpSpPr>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9280" y="3669849"/>
              <a:ext cx="5544720" cy="2410593"/>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64" y="4219890"/>
              <a:ext cx="3346831" cy="1567622"/>
            </a:xfrm>
            <a:prstGeom prst="rect">
              <a:avLst/>
            </a:prstGeom>
          </p:spPr>
        </p:pic>
      </p:grpSp>
    </p:spTree>
    <p:extLst>
      <p:ext uri="{BB962C8B-B14F-4D97-AF65-F5344CB8AC3E}">
        <p14:creationId xmlns:p14="http://schemas.microsoft.com/office/powerpoint/2010/main" val="244273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533400"/>
                <a:ext cx="9144000" cy="6096000"/>
              </a:xfrm>
            </p:spPr>
            <p:txBody>
              <a:bodyPr>
                <a:normAutofit/>
              </a:bodyPr>
              <a:lstStyle/>
              <a:p>
                <a:pPr marL="0" indent="0">
                  <a:buNone/>
                </a:pPr>
                <a:r>
                  <a:rPr lang="en-US" dirty="0"/>
                  <a:t>Let </a:t>
                </a:r>
                <a:r>
                  <a:rPr lang="en-US" dirty="0" err="1"/>
                  <a:t>L</a:t>
                </a:r>
                <a:r>
                  <a:rPr lang="en-US" baseline="-25000" dirty="0" err="1"/>
                  <a:t>p</a:t>
                </a:r>
                <a:r>
                  <a:rPr lang="en-US" baseline="-25000" dirty="0"/>
                  <a:t> </a:t>
                </a:r>
                <a:r>
                  <a:rPr lang="en-US" dirty="0"/>
                  <a:t>,</a:t>
                </a:r>
                <a:r>
                  <a:rPr lang="en-US" dirty="0" err="1"/>
                  <a:t>D</a:t>
                </a:r>
                <a:r>
                  <a:rPr lang="en-US" baseline="-25000" dirty="0" err="1"/>
                  <a:t>p</a:t>
                </a:r>
                <a:r>
                  <a:rPr lang="en-US" baseline="-25000" dirty="0"/>
                  <a:t> , </a:t>
                </a:r>
                <a:r>
                  <a:rPr lang="en-US" dirty="0"/>
                  <a:t>B</a:t>
                </a:r>
                <a:r>
                  <a:rPr lang="en-US" baseline="-25000" dirty="0"/>
                  <a:t>p, </a:t>
                </a:r>
                <a:r>
                  <a:rPr lang="en-US" dirty="0"/>
                  <a:t>A</a:t>
                </a:r>
                <a:r>
                  <a:rPr lang="en-US" baseline="-25000" dirty="0"/>
                  <a:t>p</a:t>
                </a:r>
                <a:r>
                  <a:rPr lang="en-US" dirty="0"/>
                  <a:t>, </a:t>
                </a:r>
                <a:r>
                  <a:rPr lang="en-US" dirty="0" err="1"/>
                  <a:t>V</a:t>
                </a:r>
                <a:r>
                  <a:rPr lang="en-US" baseline="-25000" dirty="0" err="1"/>
                  <a:t>p</a:t>
                </a:r>
                <a:r>
                  <a:rPr lang="en-US" dirty="0"/>
                  <a:t>  denote the corresponding values for the prototype,  For geometric similarity between model and prototype , we must  have </a:t>
                </a:r>
                <a:r>
                  <a:rPr lang="en-US" dirty="0" err="1"/>
                  <a:t>L</a:t>
                </a:r>
                <a:r>
                  <a:rPr lang="en-US" baseline="-25000" dirty="0" err="1"/>
                  <a:t>p</a:t>
                </a:r>
                <a:r>
                  <a:rPr lang="en-US" dirty="0"/>
                  <a:t>/</a:t>
                </a:r>
                <a:r>
                  <a:rPr lang="en-US" dirty="0" err="1"/>
                  <a:t>L</a:t>
                </a:r>
                <a:r>
                  <a:rPr lang="en-US" baseline="-25000" dirty="0" err="1"/>
                  <a:t>m</a:t>
                </a:r>
                <a:r>
                  <a:rPr lang="en-US" dirty="0"/>
                  <a:t>=B</a:t>
                </a:r>
                <a:r>
                  <a:rPr lang="en-US" baseline="-25000" dirty="0"/>
                  <a:t>p</a:t>
                </a:r>
                <a:r>
                  <a:rPr lang="en-US" dirty="0"/>
                  <a:t>/B</a:t>
                </a:r>
                <a:r>
                  <a:rPr lang="en-US" baseline="-25000" dirty="0"/>
                  <a:t>m</a:t>
                </a:r>
                <a:r>
                  <a:rPr lang="en-US" dirty="0"/>
                  <a:t>= </a:t>
                </a:r>
                <a:r>
                  <a:rPr lang="en-US" dirty="0" err="1"/>
                  <a:t>D</a:t>
                </a:r>
                <a:r>
                  <a:rPr lang="en-US" baseline="-25000" dirty="0" err="1"/>
                  <a:t>p</a:t>
                </a:r>
                <a:r>
                  <a:rPr lang="en-US" dirty="0"/>
                  <a:t>/D</a:t>
                </a:r>
                <a:r>
                  <a:rPr lang="en-US" baseline="-25000" dirty="0"/>
                  <a:t>m</a:t>
                </a:r>
                <a:r>
                  <a:rPr lang="en-US" dirty="0"/>
                  <a:t>= L</a:t>
                </a:r>
                <a:r>
                  <a:rPr lang="en-US" baseline="-25000" dirty="0"/>
                  <a:t>r</a:t>
                </a:r>
                <a:r>
                  <a:rPr lang="en-US" dirty="0"/>
                  <a:t>, where L</a:t>
                </a:r>
                <a:r>
                  <a:rPr lang="en-US" baseline="-25000" dirty="0"/>
                  <a:t>r</a:t>
                </a:r>
                <a:r>
                  <a:rPr lang="en-US" dirty="0"/>
                  <a:t> is the scale ratio.</a:t>
                </a:r>
              </a:p>
              <a:p>
                <a:r>
                  <a:rPr lang="en-US" dirty="0"/>
                  <a:t>The area ratio is</a:t>
                </a:r>
              </a:p>
              <a:p>
                <a:pPr marL="0" indent="0" algn="ctr">
                  <a:spcAft>
                    <a:spcPts val="2400"/>
                  </a:spcAft>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𝑚</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𝑚</m:t>
                              </m:r>
                            </m:sub>
                          </m:sSub>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m:t>
                          </m:r>
                        </m:sub>
                      </m:sSub>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m:t>
                              </m:r>
                            </m:sub>
                          </m:sSub>
                        </m:e>
                        <m:sup>
                          <m:r>
                            <a:rPr lang="en-US" i="1">
                              <a:latin typeface="Cambria Math" panose="02040503050406030204" pitchFamily="18" charset="0"/>
                            </a:rPr>
                            <m:t>2</m:t>
                          </m:r>
                        </m:sup>
                      </m:sSup>
                    </m:oMath>
                  </m:oMathPara>
                </a14:m>
                <a:endParaRPr lang="en-US" dirty="0"/>
              </a:p>
              <a:p>
                <a:r>
                  <a:rPr lang="en-US" dirty="0"/>
                  <a:t>Volume ratio is </a:t>
                </a: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m:t>
                              </m:r>
                            </m:sub>
                          </m:sSub>
                        </m:den>
                      </m:f>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den>
                              </m:f>
                            </m:e>
                          </m:d>
                        </m:e>
                        <m:sup>
                          <m:r>
                            <a:rPr lang="en-US" i="1">
                              <a:latin typeface="Cambria Math" panose="02040503050406030204" pitchFamily="18" charset="0"/>
                            </a:rPr>
                            <m:t>3</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𝑚</m:t>
                                      </m:r>
                                    </m:sub>
                                  </m:sSub>
                                </m:den>
                              </m:f>
                            </m:e>
                          </m:d>
                        </m:e>
                        <m:sup>
                          <m:r>
                            <a:rPr lang="en-US" i="1">
                              <a:latin typeface="Cambria Math" panose="02040503050406030204" pitchFamily="18" charset="0"/>
                            </a:rPr>
                            <m:t>3</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𝑚</m:t>
                                      </m:r>
                                    </m:sub>
                                  </m:sSub>
                                </m:den>
                              </m:f>
                            </m:e>
                          </m:d>
                        </m:e>
                        <m:sup>
                          <m:r>
                            <a:rPr lang="en-US" i="1">
                              <a:latin typeface="Cambria Math" panose="02040503050406030204" pitchFamily="18" charset="0"/>
                            </a:rPr>
                            <m:t>3</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m:t>
                              </m:r>
                            </m:sub>
                          </m:sSub>
                        </m:e>
                        <m:sup>
                          <m:r>
                            <a:rPr lang="en-US" i="1">
                              <a:latin typeface="Cambria Math" panose="02040503050406030204" pitchFamily="18" charset="0"/>
                            </a:rPr>
                            <m:t>3</m:t>
                          </m:r>
                        </m:sup>
                      </m:sSup>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533400"/>
                <a:ext cx="9144000" cy="6096000"/>
              </a:xfrm>
              <a:blipFill>
                <a:blip r:embed="rId3"/>
                <a:stretch>
                  <a:fillRect l="-1667" t="-1300"/>
                </a:stretch>
              </a:blipFill>
            </p:spPr>
            <p:txBody>
              <a:bodyPr/>
              <a:lstStyle/>
              <a:p>
                <a:r>
                  <a:rPr lang="en-GH">
                    <a:noFill/>
                  </a:rPr>
                  <a:t> </a:t>
                </a:r>
              </a:p>
            </p:txBody>
          </p:sp>
        </mc:Fallback>
      </mc:AlternateContent>
    </p:spTree>
    <p:extLst>
      <p:ext uri="{BB962C8B-B14F-4D97-AF65-F5344CB8AC3E}">
        <p14:creationId xmlns:p14="http://schemas.microsoft.com/office/powerpoint/2010/main" val="202510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767"/>
            <a:ext cx="9144000" cy="568940"/>
          </a:xfrm>
        </p:spPr>
        <p:txBody>
          <a:bodyPr>
            <a:normAutofit fontScale="90000"/>
          </a:bodyPr>
          <a:lstStyle/>
          <a:p>
            <a:r>
              <a:rPr kumimoji="0" lang="en-US" sz="4000" b="1" i="0" u="none" strike="noStrike" kern="1200" cap="none" spc="0" normalizeH="0" baseline="0" noProof="0" dirty="0">
                <a:ln>
                  <a:noFill/>
                </a:ln>
                <a:solidFill>
                  <a:prstClr val="black"/>
                </a:solidFill>
                <a:effectLst/>
                <a:uLnTx/>
                <a:uFillTx/>
                <a:latin typeface="Calibri"/>
                <a:ea typeface="+mj-ea"/>
                <a:cs typeface="+mj-cs"/>
              </a:rPr>
              <a:t>Kinematic Similarity</a:t>
            </a:r>
            <a:endParaRPr lang="en-CA" sz="1800" u="sng"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096" y="582707"/>
                <a:ext cx="9144000" cy="6095295"/>
              </a:xfrm>
            </p:spPr>
            <p:txBody>
              <a:bodyPr>
                <a:noAutofit/>
              </a:bodyPr>
              <a:lstStyle/>
              <a:p>
                <a:pPr marL="0" indent="0" algn="just">
                  <a:spcAft>
                    <a:spcPts val="600"/>
                  </a:spcAft>
                  <a:buNone/>
                </a:pPr>
                <a:r>
                  <a:rPr lang="en-CA" dirty="0">
                    <a:solidFill>
                      <a:schemeClr val="tx1"/>
                    </a:solidFill>
                    <a:latin typeface="+mj-lt"/>
                  </a:rPr>
                  <a:t>A flow field is kinematically similar if, at corresponding points in the flow, the velocities (at corresponding times) are in a constant ratio. </a:t>
                </a:r>
              </a:p>
              <a:p>
                <a:pPr marL="0" indent="0" algn="just">
                  <a:buNone/>
                </a:pPr>
                <a:r>
                  <a:rPr lang="en-CA" dirty="0">
                    <a:solidFill>
                      <a:schemeClr val="tx1"/>
                    </a:solidFill>
                    <a:latin typeface="+mj-lt"/>
                  </a:rPr>
                  <a:t>For example, the flow over a model airfoil will be kinematically similar to the full-scale airfoil if:</a:t>
                </a:r>
              </a:p>
              <a:p>
                <a:pPr marL="0" indent="0" algn="just">
                  <a:spcBef>
                    <a:spcPts val="600"/>
                  </a:spcBef>
                  <a:spcAft>
                    <a:spcPts val="600"/>
                  </a:spcAft>
                  <a:buNone/>
                </a:pPr>
                <a14:m>
                  <m:oMathPara xmlns:m="http://schemas.openxmlformats.org/officeDocument/2006/math">
                    <m:oMathParaPr>
                      <m:jc m:val="centerGroup"/>
                    </m:oMathParaPr>
                    <m:oMath xmlns:m="http://schemas.openxmlformats.org/officeDocument/2006/math">
                      <m:f>
                        <m:fPr>
                          <m:ctrlPr>
                            <a:rPr lang="en-CA" i="1" smtClean="0">
                              <a:solidFill>
                                <a:schemeClr val="tx1"/>
                              </a:solidFill>
                              <a:latin typeface="Cambria Math" panose="02040503050406030204" pitchFamily="18" charset="0"/>
                            </a:rPr>
                          </m:ctrlPr>
                        </m:fPr>
                        <m:num>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𝑉</m:t>
                              </m:r>
                            </m:e>
                            <m:sub>
                              <m:r>
                                <a:rPr lang="en-CA" b="0" i="1" smtClean="0">
                                  <a:solidFill>
                                    <a:schemeClr val="tx1"/>
                                  </a:solidFill>
                                  <a:latin typeface="Cambria Math" panose="02040503050406030204" pitchFamily="18" charset="0"/>
                                </a:rPr>
                                <m:t>1</m:t>
                              </m:r>
                              <m:r>
                                <a:rPr lang="en-GB" b="0" i="1" smtClean="0">
                                  <a:solidFill>
                                    <a:schemeClr val="tx1"/>
                                  </a:solidFill>
                                  <a:latin typeface="Cambria Math" panose="02040503050406030204" pitchFamily="18" charset="0"/>
                                </a:rPr>
                                <m:t>𝑝</m:t>
                              </m:r>
                            </m:sub>
                          </m:sSub>
                        </m:num>
                        <m:den>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𝑉</m:t>
                              </m:r>
                            </m:e>
                            <m:sub>
                              <m:r>
                                <a:rPr lang="en-CA" b="0" i="1" smtClean="0">
                                  <a:solidFill>
                                    <a:schemeClr val="tx1"/>
                                  </a:solidFill>
                                  <a:latin typeface="Cambria Math" panose="02040503050406030204" pitchFamily="18" charset="0"/>
                                </a:rPr>
                                <m:t>1</m:t>
                              </m:r>
                              <m:r>
                                <a:rPr lang="en-GB" b="0" i="1" smtClean="0">
                                  <a:solidFill>
                                    <a:schemeClr val="tx1"/>
                                  </a:solidFill>
                                  <a:latin typeface="Cambria Math" panose="02040503050406030204" pitchFamily="18" charset="0"/>
                                </a:rPr>
                                <m:t>𝑚</m:t>
                              </m:r>
                            </m:sub>
                          </m:sSub>
                        </m:den>
                      </m:f>
                      <m:r>
                        <a:rPr lang="en-CA" b="0" i="1" smtClean="0">
                          <a:solidFill>
                            <a:schemeClr val="tx1"/>
                          </a:solidFill>
                          <a:latin typeface="Cambria Math" panose="02040503050406030204" pitchFamily="18" charset="0"/>
                        </a:rPr>
                        <m:t>=</m:t>
                      </m:r>
                      <m:f>
                        <m:fPr>
                          <m:ctrlPr>
                            <a:rPr lang="en-CA" i="1">
                              <a:solidFill>
                                <a:schemeClr val="tx1"/>
                              </a:solidFill>
                              <a:latin typeface="Cambria Math" panose="02040503050406030204" pitchFamily="18" charset="0"/>
                            </a:rPr>
                          </m:ctrlPr>
                        </m:fPr>
                        <m:num>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𝑉</m:t>
                              </m:r>
                            </m:e>
                            <m:sub>
                              <m:r>
                                <a:rPr lang="en-CA" b="0" i="1" smtClean="0">
                                  <a:solidFill>
                                    <a:schemeClr val="tx1"/>
                                  </a:solidFill>
                                  <a:latin typeface="Cambria Math" panose="02040503050406030204" pitchFamily="18" charset="0"/>
                                </a:rPr>
                                <m:t>2</m:t>
                              </m:r>
                              <m:r>
                                <a:rPr lang="en-GB" b="0" i="1" smtClean="0">
                                  <a:solidFill>
                                    <a:schemeClr val="tx1"/>
                                  </a:solidFill>
                                  <a:latin typeface="Cambria Math" panose="02040503050406030204" pitchFamily="18" charset="0"/>
                                </a:rPr>
                                <m:t>𝑝</m:t>
                              </m:r>
                            </m:sub>
                          </m:sSub>
                        </m:num>
                        <m:den>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𝑉</m:t>
                              </m:r>
                            </m:e>
                            <m:sub>
                              <m:r>
                                <a:rPr lang="en-CA" b="0" i="1" smtClean="0">
                                  <a:solidFill>
                                    <a:schemeClr val="tx1"/>
                                  </a:solidFill>
                                  <a:latin typeface="Cambria Math" panose="02040503050406030204" pitchFamily="18" charset="0"/>
                                </a:rPr>
                                <m:t>2</m:t>
                              </m:r>
                              <m:r>
                                <a:rPr lang="en-GB" b="0" i="1" smtClean="0">
                                  <a:solidFill>
                                    <a:schemeClr val="tx1"/>
                                  </a:solidFill>
                                  <a:latin typeface="Cambria Math" panose="02040503050406030204" pitchFamily="18" charset="0"/>
                                </a:rPr>
                                <m:t>𝑚</m:t>
                              </m:r>
                            </m:sub>
                          </m:sSub>
                        </m:den>
                      </m:f>
                      <m:r>
                        <a:rPr lang="en-CA" b="0" i="1" smtClean="0">
                          <a:solidFill>
                            <a:schemeClr val="tx1"/>
                          </a:solidFill>
                          <a:latin typeface="Cambria Math" panose="02040503050406030204" pitchFamily="18" charset="0"/>
                        </a:rPr>
                        <m:t>=</m:t>
                      </m:r>
                      <m:f>
                        <m:fPr>
                          <m:ctrlPr>
                            <a:rPr lang="en-CA" i="1">
                              <a:solidFill>
                                <a:schemeClr val="tx1"/>
                              </a:solidFill>
                              <a:latin typeface="Cambria Math" panose="02040503050406030204" pitchFamily="18" charset="0"/>
                            </a:rPr>
                          </m:ctrlPr>
                        </m:fPr>
                        <m:num>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𝑉</m:t>
                              </m:r>
                            </m:e>
                            <m:sub>
                              <m:r>
                                <a:rPr lang="en-CA" b="0" i="1" smtClean="0">
                                  <a:solidFill>
                                    <a:schemeClr val="tx1"/>
                                  </a:solidFill>
                                  <a:latin typeface="Cambria Math" panose="02040503050406030204" pitchFamily="18" charset="0"/>
                                </a:rPr>
                                <m:t>3</m:t>
                              </m:r>
                              <m:r>
                                <a:rPr lang="en-GB" b="0" i="1" smtClean="0">
                                  <a:solidFill>
                                    <a:schemeClr val="tx1"/>
                                  </a:solidFill>
                                  <a:latin typeface="Cambria Math" panose="02040503050406030204" pitchFamily="18" charset="0"/>
                                </a:rPr>
                                <m:t>𝑝</m:t>
                              </m:r>
                            </m:sub>
                          </m:sSub>
                        </m:num>
                        <m:den>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𝑉</m:t>
                              </m:r>
                            </m:e>
                            <m:sub>
                              <m:r>
                                <a:rPr lang="en-CA" b="0" i="1" smtClean="0">
                                  <a:solidFill>
                                    <a:schemeClr val="tx1"/>
                                  </a:solidFill>
                                  <a:latin typeface="Cambria Math" panose="02040503050406030204" pitchFamily="18" charset="0"/>
                                </a:rPr>
                                <m:t>3</m:t>
                              </m:r>
                              <m:r>
                                <a:rPr lang="en-GB" b="0" i="1" smtClean="0">
                                  <a:solidFill>
                                    <a:schemeClr val="tx1"/>
                                  </a:solidFill>
                                  <a:latin typeface="Cambria Math" panose="02040503050406030204" pitchFamily="18" charset="0"/>
                                </a:rPr>
                                <m:t>𝑚</m:t>
                              </m:r>
                            </m:sub>
                          </m:sSub>
                        </m:den>
                      </m:f>
                      <m:r>
                        <a:rPr lang="en-CA" b="0" i="1" smtClean="0">
                          <a:solidFill>
                            <a:schemeClr val="tx1"/>
                          </a:solidFill>
                          <a:latin typeface="Cambria Math" panose="02040503050406030204" pitchFamily="18" charset="0"/>
                        </a:rPr>
                        <m:t>=</m:t>
                      </m:r>
                      <m:r>
                        <a:rPr lang="en-CA" b="0" i="1" smtClean="0">
                          <a:solidFill>
                            <a:schemeClr val="tx1"/>
                          </a:solidFill>
                          <a:latin typeface="Cambria Math" panose="02040503050406030204" pitchFamily="18" charset="0"/>
                        </a:rPr>
                        <m:t>𝑐𝑜𝑛𝑠𝑡𝑎𝑛𝑡</m:t>
                      </m:r>
                      <m:r>
                        <a:rPr lang="en-CA" b="0" i="1" smtClean="0">
                          <a:solidFill>
                            <a:schemeClr val="tx1"/>
                          </a:solidFill>
                          <a:latin typeface="Cambria Math" panose="02040503050406030204" pitchFamily="18" charset="0"/>
                        </a:rPr>
                        <m:t>=</m:t>
                      </m:r>
                      <m:sSub>
                        <m:sSubPr>
                          <m:ctrlPr>
                            <a:rPr lang="en-CA" i="1" smtClean="0">
                              <a:solidFill>
                                <a:schemeClr val="tx1"/>
                              </a:solidFill>
                              <a:latin typeface="Cambria Math" panose="02040503050406030204" pitchFamily="18" charset="0"/>
                            </a:rPr>
                          </m:ctrlPr>
                        </m:sSubPr>
                        <m:e>
                          <m:r>
                            <a:rPr lang="en-CA" b="0" i="1" smtClean="0">
                              <a:solidFill>
                                <a:schemeClr val="tx1"/>
                              </a:solidFill>
                              <a:latin typeface="Cambria Math" panose="02040503050406030204" pitchFamily="18" charset="0"/>
                            </a:rPr>
                            <m:t>𝐶</m:t>
                          </m:r>
                        </m:e>
                        <m:sub>
                          <m:r>
                            <a:rPr lang="en-CA" b="0" i="1" smtClean="0">
                              <a:solidFill>
                                <a:schemeClr val="tx1"/>
                              </a:solidFill>
                              <a:latin typeface="Cambria Math" panose="02040503050406030204" pitchFamily="18" charset="0"/>
                            </a:rPr>
                            <m:t>𝑘</m:t>
                          </m:r>
                        </m:sub>
                      </m:sSub>
                    </m:oMath>
                  </m:oMathPara>
                </a14:m>
                <a:endParaRPr lang="en-CA" dirty="0">
                  <a:solidFill>
                    <a:schemeClr val="tx1"/>
                  </a:solidFill>
                  <a:latin typeface="+mj-lt"/>
                </a:endParaRPr>
              </a:p>
              <a:p>
                <a:pPr marL="0" indent="0" algn="just">
                  <a:spcAft>
                    <a:spcPts val="600"/>
                  </a:spcAft>
                  <a:buNone/>
                </a:pPr>
                <a:r>
                  <a:rPr lang="en-CA" dirty="0">
                    <a:solidFill>
                      <a:schemeClr val="tx1"/>
                    </a:solidFill>
                    <a:latin typeface="+mj-lt"/>
                  </a:rPr>
                  <a:t>where </a:t>
                </a:r>
                <a14:m>
                  <m:oMath xmlns:m="http://schemas.openxmlformats.org/officeDocument/2006/math">
                    <m:r>
                      <a:rPr lang="en-CA" b="0" i="1" dirty="0" smtClean="0">
                        <a:solidFill>
                          <a:schemeClr val="tx1"/>
                        </a:solidFill>
                        <a:latin typeface="Cambria Math" panose="02040503050406030204" pitchFamily="18" charset="0"/>
                      </a:rPr>
                      <m:t>1, 2 </m:t>
                    </m:r>
                  </m:oMath>
                </a14:m>
                <a:r>
                  <a:rPr lang="en-CA" dirty="0">
                    <a:solidFill>
                      <a:schemeClr val="tx1"/>
                    </a:solidFill>
                    <a:latin typeface="+mj-lt"/>
                  </a:rPr>
                  <a:t>and </a:t>
                </a:r>
                <a14:m>
                  <m:oMath xmlns:m="http://schemas.openxmlformats.org/officeDocument/2006/math">
                    <m:r>
                      <a:rPr lang="en-CA" b="0" i="1" dirty="0" smtClean="0">
                        <a:solidFill>
                          <a:schemeClr val="tx1"/>
                        </a:solidFill>
                        <a:latin typeface="Cambria Math" panose="02040503050406030204" pitchFamily="18" charset="0"/>
                      </a:rPr>
                      <m:t>3</m:t>
                    </m:r>
                  </m:oMath>
                </a14:m>
                <a:r>
                  <a:rPr lang="en-CA" dirty="0">
                    <a:solidFill>
                      <a:schemeClr val="tx1"/>
                    </a:solidFill>
                    <a:latin typeface="+mj-lt"/>
                  </a:rPr>
                  <a:t> denote velocities at corresponding points in the flow.</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096" y="582707"/>
                <a:ext cx="9144000" cy="6095295"/>
              </a:xfrm>
              <a:blipFill>
                <a:blip r:embed="rId3"/>
                <a:stretch>
                  <a:fillRect l="-1733" t="-1301" r="-1667"/>
                </a:stretch>
              </a:blipFill>
            </p:spPr>
            <p:txBody>
              <a:bodyPr/>
              <a:lstStyle/>
              <a:p>
                <a:r>
                  <a:rPr lang="en-GH">
                    <a:noFill/>
                  </a:rPr>
                  <a:t> </a:t>
                </a:r>
              </a:p>
            </p:txBody>
          </p:sp>
        </mc:Fallback>
      </mc:AlternateContent>
      <p:grpSp>
        <p:nvGrpSpPr>
          <p:cNvPr id="9" name="Group 8"/>
          <p:cNvGrpSpPr/>
          <p:nvPr/>
        </p:nvGrpSpPr>
        <p:grpSpPr>
          <a:xfrm>
            <a:off x="3502647" y="4981440"/>
            <a:ext cx="5541269" cy="1533850"/>
            <a:chOff x="1376624" y="4840044"/>
            <a:chExt cx="7606603" cy="1869900"/>
          </a:xfrm>
        </p:grpSpPr>
        <p:pic>
          <p:nvPicPr>
            <p:cNvPr id="4" name="Picture 3" descr="See the source image"/>
            <p:cNvPicPr/>
            <p:nvPr/>
          </p:nvPicPr>
          <p:blipFill rotWithShape="1">
            <a:blip r:embed="rId4">
              <a:extLst>
                <a:ext uri="{28A0092B-C50C-407E-A947-70E740481C1C}">
                  <a14:useLocalDpi xmlns:a14="http://schemas.microsoft.com/office/drawing/2010/main" val="0"/>
                </a:ext>
              </a:extLst>
            </a:blip>
            <a:srcRect l="1282" t="34623" r="1753" b="33654"/>
            <a:stretch/>
          </p:blipFill>
          <p:spPr bwMode="auto">
            <a:xfrm>
              <a:off x="1499769" y="4933742"/>
              <a:ext cx="7483458" cy="1776202"/>
            </a:xfrm>
            <a:prstGeom prst="rect">
              <a:avLst/>
            </a:prstGeom>
            <a:noFill/>
            <a:ln>
              <a:noFill/>
            </a:ln>
            <a:extLst>
              <a:ext uri="{53640926-AAD7-44D8-BBD7-CCE9431645EC}">
                <a14:shadowObscured xmlns:a14="http://schemas.microsoft.com/office/drawing/2010/main"/>
              </a:ext>
            </a:extLst>
          </p:spPr>
        </p:pic>
        <p:sp>
          <p:nvSpPr>
            <p:cNvPr id="5" name="TextBox 4"/>
            <p:cNvSpPr txBox="1"/>
            <p:nvPr/>
          </p:nvSpPr>
          <p:spPr>
            <a:xfrm>
              <a:off x="1376624" y="5526593"/>
              <a:ext cx="300926" cy="461665"/>
            </a:xfrm>
            <a:prstGeom prst="rect">
              <a:avLst/>
            </a:prstGeom>
            <a:noFill/>
          </p:spPr>
          <p:txBody>
            <a:bodyPr wrap="square" rtlCol="0">
              <a:spAutoFit/>
            </a:bodyPr>
            <a:lstStyle/>
            <a:p>
              <a:r>
                <a:rPr lang="en-CA" dirty="0">
                  <a:solidFill>
                    <a:srgbClr val="0000FF"/>
                  </a:solidFill>
                </a:rPr>
                <a:t>1</a:t>
              </a:r>
            </a:p>
          </p:txBody>
        </p:sp>
        <p:sp>
          <p:nvSpPr>
            <p:cNvPr id="6" name="TextBox 5"/>
            <p:cNvSpPr txBox="1"/>
            <p:nvPr/>
          </p:nvSpPr>
          <p:spPr>
            <a:xfrm>
              <a:off x="5091036" y="4840044"/>
              <a:ext cx="300926" cy="461664"/>
            </a:xfrm>
            <a:prstGeom prst="rect">
              <a:avLst/>
            </a:prstGeom>
            <a:noFill/>
          </p:spPr>
          <p:txBody>
            <a:bodyPr wrap="square" rtlCol="0">
              <a:spAutoFit/>
            </a:bodyPr>
            <a:lstStyle/>
            <a:p>
              <a:r>
                <a:rPr lang="en-CA" dirty="0">
                  <a:solidFill>
                    <a:srgbClr val="0000FF"/>
                  </a:solidFill>
                </a:rPr>
                <a:t>2</a:t>
              </a:r>
            </a:p>
          </p:txBody>
        </p:sp>
        <p:sp>
          <p:nvSpPr>
            <p:cNvPr id="7" name="TextBox 6"/>
            <p:cNvSpPr txBox="1"/>
            <p:nvPr/>
          </p:nvSpPr>
          <p:spPr>
            <a:xfrm>
              <a:off x="7849438" y="5757425"/>
              <a:ext cx="300926" cy="461665"/>
            </a:xfrm>
            <a:prstGeom prst="rect">
              <a:avLst/>
            </a:prstGeom>
            <a:noFill/>
          </p:spPr>
          <p:txBody>
            <a:bodyPr wrap="square" rtlCol="0">
              <a:spAutoFit/>
            </a:bodyPr>
            <a:lstStyle/>
            <a:p>
              <a:r>
                <a:rPr lang="en-CA" dirty="0">
                  <a:solidFill>
                    <a:srgbClr val="0000FF"/>
                  </a:solidFill>
                </a:rPr>
                <a:t>3</a:t>
              </a:r>
            </a:p>
          </p:txBody>
        </p:sp>
      </p:grpSp>
      <p:grpSp>
        <p:nvGrpSpPr>
          <p:cNvPr id="10" name="Group 9"/>
          <p:cNvGrpSpPr/>
          <p:nvPr/>
        </p:nvGrpSpPr>
        <p:grpSpPr>
          <a:xfrm>
            <a:off x="-15808" y="5664955"/>
            <a:ext cx="3717453" cy="1173449"/>
            <a:chOff x="1258964" y="4666127"/>
            <a:chExt cx="7724263" cy="2043817"/>
          </a:xfrm>
        </p:grpSpPr>
        <p:pic>
          <p:nvPicPr>
            <p:cNvPr id="11" name="Picture 10" descr="See the source image"/>
            <p:cNvPicPr/>
            <p:nvPr/>
          </p:nvPicPr>
          <p:blipFill rotWithShape="1">
            <a:blip r:embed="rId4" cstate="print">
              <a:extLst>
                <a:ext uri="{28A0092B-C50C-407E-A947-70E740481C1C}">
                  <a14:useLocalDpi xmlns:a14="http://schemas.microsoft.com/office/drawing/2010/main" val="0"/>
                </a:ext>
              </a:extLst>
            </a:blip>
            <a:srcRect l="1282" t="34623" r="1753" b="33654"/>
            <a:stretch/>
          </p:blipFill>
          <p:spPr bwMode="auto">
            <a:xfrm>
              <a:off x="1499769" y="4933742"/>
              <a:ext cx="7483458" cy="1776202"/>
            </a:xfrm>
            <a:prstGeom prst="rect">
              <a:avLst/>
            </a:prstGeom>
            <a:noFill/>
            <a:ln>
              <a:noFill/>
            </a:ln>
            <a:extLst>
              <a:ext uri="{53640926-AAD7-44D8-BBD7-CCE9431645EC}">
                <a14:shadowObscured xmlns:a14="http://schemas.microsoft.com/office/drawing/2010/main"/>
              </a:ext>
            </a:extLst>
          </p:spPr>
        </p:pic>
        <p:sp>
          <p:nvSpPr>
            <p:cNvPr id="12" name="TextBox 11"/>
            <p:cNvSpPr txBox="1"/>
            <p:nvPr/>
          </p:nvSpPr>
          <p:spPr>
            <a:xfrm>
              <a:off x="1258964" y="5492662"/>
              <a:ext cx="300926" cy="779493"/>
            </a:xfrm>
            <a:prstGeom prst="rect">
              <a:avLst/>
            </a:prstGeom>
            <a:noFill/>
          </p:spPr>
          <p:txBody>
            <a:bodyPr wrap="square" rtlCol="0">
              <a:spAutoFit/>
            </a:bodyPr>
            <a:lstStyle/>
            <a:p>
              <a:r>
                <a:rPr lang="en-CA" dirty="0">
                  <a:solidFill>
                    <a:srgbClr val="FF0000"/>
                  </a:solidFill>
                </a:rPr>
                <a:t>1</a:t>
              </a:r>
            </a:p>
          </p:txBody>
        </p:sp>
        <p:sp>
          <p:nvSpPr>
            <p:cNvPr id="13" name="TextBox 12"/>
            <p:cNvSpPr txBox="1"/>
            <p:nvPr/>
          </p:nvSpPr>
          <p:spPr>
            <a:xfrm>
              <a:off x="5122360" y="4666127"/>
              <a:ext cx="269601" cy="779494"/>
            </a:xfrm>
            <a:prstGeom prst="rect">
              <a:avLst/>
            </a:prstGeom>
            <a:noFill/>
          </p:spPr>
          <p:txBody>
            <a:bodyPr wrap="square" rtlCol="0">
              <a:spAutoFit/>
            </a:bodyPr>
            <a:lstStyle/>
            <a:p>
              <a:r>
                <a:rPr lang="en-CA" dirty="0">
                  <a:solidFill>
                    <a:srgbClr val="FF0000"/>
                  </a:solidFill>
                </a:rPr>
                <a:t>2</a:t>
              </a:r>
            </a:p>
          </p:txBody>
        </p:sp>
        <p:sp>
          <p:nvSpPr>
            <p:cNvPr id="14" name="TextBox 13"/>
            <p:cNvSpPr txBox="1"/>
            <p:nvPr/>
          </p:nvSpPr>
          <p:spPr>
            <a:xfrm>
              <a:off x="7849437" y="5757424"/>
              <a:ext cx="300926" cy="779493"/>
            </a:xfrm>
            <a:prstGeom prst="rect">
              <a:avLst/>
            </a:prstGeom>
            <a:noFill/>
          </p:spPr>
          <p:txBody>
            <a:bodyPr wrap="square" rtlCol="0">
              <a:spAutoFit/>
            </a:bodyPr>
            <a:lstStyle/>
            <a:p>
              <a:r>
                <a:rPr lang="en-CA" dirty="0">
                  <a:solidFill>
                    <a:srgbClr val="FF0000"/>
                  </a:solidFill>
                </a:rPr>
                <a:t>3</a:t>
              </a:r>
            </a:p>
          </p:txBody>
        </p:sp>
      </p:grpSp>
    </p:spTree>
    <p:extLst>
      <p:ext uri="{BB962C8B-B14F-4D97-AF65-F5344CB8AC3E}">
        <p14:creationId xmlns:p14="http://schemas.microsoft.com/office/powerpoint/2010/main" val="2869356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62"/>
            <a:ext cx="8229600" cy="563562"/>
          </a:xfrm>
        </p:spPr>
        <p:txBody>
          <a:bodyPr>
            <a:normAutofit fontScale="90000"/>
          </a:bodyPr>
          <a:lstStyle/>
          <a:p>
            <a:r>
              <a:rPr lang="en-US" b="1" dirty="0"/>
              <a:t>Dynamic Similarity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85800"/>
                <a:ext cx="9144000" cy="6172200"/>
              </a:xfrm>
            </p:spPr>
            <p:txBody>
              <a:bodyPr>
                <a:normAutofit fontScale="47500" lnSpcReduction="20000"/>
              </a:bodyPr>
              <a:lstStyle/>
              <a:p>
                <a:pPr marL="0" indent="0">
                  <a:buNone/>
                </a:pPr>
                <a:r>
                  <a:rPr lang="en-US" sz="5900" dirty="0"/>
                  <a:t>This implies similarity of forces between model and prototype</a:t>
                </a:r>
              </a:p>
              <a:p>
                <a:pPr>
                  <a:spcAft>
                    <a:spcPts val="1800"/>
                  </a:spcAft>
                </a:pPr>
                <a:r>
                  <a:rPr lang="en-US" sz="5900" dirty="0"/>
                  <a:t>For dynamic similarity we have </a:t>
                </a:r>
              </a:p>
              <a:p>
                <a:pPr marL="0" indent="0">
                  <a:spcAft>
                    <a:spcPts val="2400"/>
                  </a:spcAft>
                  <a:buNone/>
                </a:pPr>
                <a:r>
                  <a:rPr lang="en-US" dirty="0"/>
                  <a:t>	</a:t>
                </a:r>
                <a:r>
                  <a:rPr lang="en-US" sz="5900" dirty="0"/>
                  <a:t>  </a:t>
                </a:r>
                <a14:m>
                  <m:oMath xmlns:m="http://schemas.openxmlformats.org/officeDocument/2006/math">
                    <m:f>
                      <m:fPr>
                        <m:ctrlPr>
                          <a:rPr lang="en-US" sz="5900" i="1">
                            <a:latin typeface="Cambria Math" panose="02040503050406030204" pitchFamily="18" charset="0"/>
                          </a:rPr>
                        </m:ctrlPr>
                      </m:fPr>
                      <m:num>
                        <m:sSub>
                          <m:sSubPr>
                            <m:ctrlPr>
                              <a:rPr lang="en-US" sz="5900" i="1">
                                <a:latin typeface="Cambria Math" panose="02040503050406030204" pitchFamily="18" charset="0"/>
                              </a:rPr>
                            </m:ctrlPr>
                          </m:sSubPr>
                          <m:e>
                            <m:d>
                              <m:dPr>
                                <m:ctrlPr>
                                  <a:rPr lang="en-US" sz="5900" i="1">
                                    <a:latin typeface="Cambria Math" panose="02040503050406030204" pitchFamily="18" charset="0"/>
                                  </a:rPr>
                                </m:ctrlPr>
                              </m:dPr>
                              <m:e>
                                <m:sSub>
                                  <m:sSubPr>
                                    <m:ctrlPr>
                                      <a:rPr lang="en-US" sz="5900" i="1">
                                        <a:latin typeface="Cambria Math" panose="02040503050406030204" pitchFamily="18" charset="0"/>
                                      </a:rPr>
                                    </m:ctrlPr>
                                  </m:sSubPr>
                                  <m:e>
                                    <m:r>
                                      <a:rPr lang="en-US" sz="5900" i="1">
                                        <a:latin typeface="Cambria Math" panose="02040503050406030204" pitchFamily="18" charset="0"/>
                                      </a:rPr>
                                      <m:t>𝐹</m:t>
                                    </m:r>
                                  </m:e>
                                  <m:sub>
                                    <m:r>
                                      <a:rPr lang="en-US" sz="5900" i="1">
                                        <a:latin typeface="Cambria Math" panose="02040503050406030204" pitchFamily="18" charset="0"/>
                                      </a:rPr>
                                      <m:t>𝑖</m:t>
                                    </m:r>
                                  </m:sub>
                                </m:sSub>
                              </m:e>
                            </m:d>
                          </m:e>
                          <m:sub>
                            <m:r>
                              <a:rPr lang="en-US" sz="5900" i="1">
                                <a:latin typeface="Cambria Math" panose="02040503050406030204" pitchFamily="18" charset="0"/>
                              </a:rPr>
                              <m:t>𝑝</m:t>
                            </m:r>
                          </m:sub>
                        </m:sSub>
                      </m:num>
                      <m:den>
                        <m:sSub>
                          <m:sSubPr>
                            <m:ctrlPr>
                              <a:rPr lang="en-US" sz="5900" i="1">
                                <a:latin typeface="Cambria Math" panose="02040503050406030204" pitchFamily="18" charset="0"/>
                              </a:rPr>
                            </m:ctrlPr>
                          </m:sSubPr>
                          <m:e>
                            <m:d>
                              <m:dPr>
                                <m:ctrlPr>
                                  <a:rPr lang="en-US" sz="5900" i="1">
                                    <a:latin typeface="Cambria Math" panose="02040503050406030204" pitchFamily="18" charset="0"/>
                                  </a:rPr>
                                </m:ctrlPr>
                              </m:dPr>
                              <m:e>
                                <m:sSub>
                                  <m:sSubPr>
                                    <m:ctrlPr>
                                      <a:rPr lang="en-US" sz="5900" i="1">
                                        <a:latin typeface="Cambria Math" panose="02040503050406030204" pitchFamily="18" charset="0"/>
                                      </a:rPr>
                                    </m:ctrlPr>
                                  </m:sSubPr>
                                  <m:e>
                                    <m:r>
                                      <a:rPr lang="en-US" sz="5900" i="1">
                                        <a:latin typeface="Cambria Math" panose="02040503050406030204" pitchFamily="18" charset="0"/>
                                      </a:rPr>
                                      <m:t>𝐹</m:t>
                                    </m:r>
                                  </m:e>
                                  <m:sub>
                                    <m:r>
                                      <a:rPr lang="en-US" sz="5900" i="1">
                                        <a:latin typeface="Cambria Math" panose="02040503050406030204" pitchFamily="18" charset="0"/>
                                      </a:rPr>
                                      <m:t>𝑖</m:t>
                                    </m:r>
                                  </m:sub>
                                </m:sSub>
                              </m:e>
                            </m:d>
                          </m:e>
                          <m:sub>
                            <m:r>
                              <a:rPr lang="en-US" sz="5900" i="1">
                                <a:latin typeface="Cambria Math" panose="02040503050406030204" pitchFamily="18" charset="0"/>
                              </a:rPr>
                              <m:t>𝑚</m:t>
                            </m:r>
                          </m:sub>
                        </m:sSub>
                      </m:den>
                    </m:f>
                    <m:r>
                      <a:rPr lang="en-US" sz="5900" i="1">
                        <a:latin typeface="Cambria Math" panose="02040503050406030204" pitchFamily="18" charset="0"/>
                      </a:rPr>
                      <m:t>=</m:t>
                    </m:r>
                    <m:f>
                      <m:fPr>
                        <m:ctrlPr>
                          <a:rPr lang="en-US" sz="5900" i="1">
                            <a:latin typeface="Cambria Math" panose="02040503050406030204" pitchFamily="18" charset="0"/>
                          </a:rPr>
                        </m:ctrlPr>
                      </m:fPr>
                      <m:num>
                        <m:sSub>
                          <m:sSubPr>
                            <m:ctrlPr>
                              <a:rPr lang="en-US" sz="5900" i="1">
                                <a:latin typeface="Cambria Math" panose="02040503050406030204" pitchFamily="18" charset="0"/>
                              </a:rPr>
                            </m:ctrlPr>
                          </m:sSubPr>
                          <m:e>
                            <m:d>
                              <m:dPr>
                                <m:ctrlPr>
                                  <a:rPr lang="en-US" sz="5900" i="1">
                                    <a:latin typeface="Cambria Math" panose="02040503050406030204" pitchFamily="18" charset="0"/>
                                  </a:rPr>
                                </m:ctrlPr>
                              </m:dPr>
                              <m:e>
                                <m:sSub>
                                  <m:sSubPr>
                                    <m:ctrlPr>
                                      <a:rPr lang="en-US" sz="5900" i="1">
                                        <a:latin typeface="Cambria Math" panose="02040503050406030204" pitchFamily="18" charset="0"/>
                                      </a:rPr>
                                    </m:ctrlPr>
                                  </m:sSubPr>
                                  <m:e>
                                    <m:r>
                                      <a:rPr lang="en-US" sz="5900" i="1">
                                        <a:latin typeface="Cambria Math" panose="02040503050406030204" pitchFamily="18" charset="0"/>
                                      </a:rPr>
                                      <m:t>𝐹</m:t>
                                    </m:r>
                                  </m:e>
                                  <m:sub>
                                    <m:r>
                                      <a:rPr lang="en-US" sz="5900" i="1">
                                        <a:latin typeface="Cambria Math" panose="02040503050406030204" pitchFamily="18" charset="0"/>
                                      </a:rPr>
                                      <m:t>𝑣</m:t>
                                    </m:r>
                                  </m:sub>
                                </m:sSub>
                              </m:e>
                            </m:d>
                          </m:e>
                          <m:sub>
                            <m:r>
                              <a:rPr lang="en-US" sz="5900" i="1">
                                <a:latin typeface="Cambria Math" panose="02040503050406030204" pitchFamily="18" charset="0"/>
                              </a:rPr>
                              <m:t>𝑝</m:t>
                            </m:r>
                          </m:sub>
                        </m:sSub>
                      </m:num>
                      <m:den>
                        <m:sSub>
                          <m:sSubPr>
                            <m:ctrlPr>
                              <a:rPr lang="en-US" sz="5900" i="1">
                                <a:latin typeface="Cambria Math" panose="02040503050406030204" pitchFamily="18" charset="0"/>
                              </a:rPr>
                            </m:ctrlPr>
                          </m:sSubPr>
                          <m:e>
                            <m:d>
                              <m:dPr>
                                <m:ctrlPr>
                                  <a:rPr lang="en-US" sz="5900" i="1">
                                    <a:latin typeface="Cambria Math" panose="02040503050406030204" pitchFamily="18" charset="0"/>
                                  </a:rPr>
                                </m:ctrlPr>
                              </m:dPr>
                              <m:e>
                                <m:sSub>
                                  <m:sSubPr>
                                    <m:ctrlPr>
                                      <a:rPr lang="en-US" sz="5900" i="1">
                                        <a:latin typeface="Cambria Math" panose="02040503050406030204" pitchFamily="18" charset="0"/>
                                      </a:rPr>
                                    </m:ctrlPr>
                                  </m:sSubPr>
                                  <m:e>
                                    <m:r>
                                      <a:rPr lang="en-US" sz="5900" i="1">
                                        <a:latin typeface="Cambria Math" panose="02040503050406030204" pitchFamily="18" charset="0"/>
                                      </a:rPr>
                                      <m:t>𝐹</m:t>
                                    </m:r>
                                  </m:e>
                                  <m:sub>
                                    <m:r>
                                      <a:rPr lang="en-US" sz="5900" i="1">
                                        <a:latin typeface="Cambria Math" panose="02040503050406030204" pitchFamily="18" charset="0"/>
                                      </a:rPr>
                                      <m:t>𝑣</m:t>
                                    </m:r>
                                  </m:sub>
                                </m:sSub>
                              </m:e>
                            </m:d>
                          </m:e>
                          <m:sub>
                            <m:r>
                              <a:rPr lang="en-US" sz="5900" i="1">
                                <a:latin typeface="Cambria Math" panose="02040503050406030204" pitchFamily="18" charset="0"/>
                              </a:rPr>
                              <m:t>𝑚</m:t>
                            </m:r>
                          </m:sub>
                        </m:sSub>
                      </m:den>
                    </m:f>
                    <m:r>
                      <a:rPr lang="en-US" sz="5900" i="1">
                        <a:latin typeface="Cambria Math" panose="02040503050406030204" pitchFamily="18" charset="0"/>
                      </a:rPr>
                      <m:t>=</m:t>
                    </m:r>
                    <m:f>
                      <m:fPr>
                        <m:ctrlPr>
                          <a:rPr lang="en-US" sz="5900" i="1">
                            <a:latin typeface="Cambria Math" panose="02040503050406030204" pitchFamily="18" charset="0"/>
                          </a:rPr>
                        </m:ctrlPr>
                      </m:fPr>
                      <m:num>
                        <m:sSub>
                          <m:sSubPr>
                            <m:ctrlPr>
                              <a:rPr lang="en-US" sz="5900" i="1">
                                <a:latin typeface="Cambria Math" panose="02040503050406030204" pitchFamily="18" charset="0"/>
                              </a:rPr>
                            </m:ctrlPr>
                          </m:sSubPr>
                          <m:e>
                            <m:d>
                              <m:dPr>
                                <m:ctrlPr>
                                  <a:rPr lang="en-US" sz="5900" i="1">
                                    <a:latin typeface="Cambria Math" panose="02040503050406030204" pitchFamily="18" charset="0"/>
                                  </a:rPr>
                                </m:ctrlPr>
                              </m:dPr>
                              <m:e>
                                <m:sSub>
                                  <m:sSubPr>
                                    <m:ctrlPr>
                                      <a:rPr lang="en-US" sz="5900" i="1">
                                        <a:latin typeface="Cambria Math" panose="02040503050406030204" pitchFamily="18" charset="0"/>
                                      </a:rPr>
                                    </m:ctrlPr>
                                  </m:sSubPr>
                                  <m:e>
                                    <m:r>
                                      <a:rPr lang="en-US" sz="5900" i="1">
                                        <a:latin typeface="Cambria Math" panose="02040503050406030204" pitchFamily="18" charset="0"/>
                                      </a:rPr>
                                      <m:t>𝐹</m:t>
                                    </m:r>
                                  </m:e>
                                  <m:sub>
                                    <m:r>
                                      <a:rPr lang="en-US" sz="5900" i="1">
                                        <a:latin typeface="Cambria Math" panose="02040503050406030204" pitchFamily="18" charset="0"/>
                                      </a:rPr>
                                      <m:t>𝑔</m:t>
                                    </m:r>
                                  </m:sub>
                                </m:sSub>
                              </m:e>
                            </m:d>
                          </m:e>
                          <m:sub>
                            <m:r>
                              <a:rPr lang="en-US" sz="5900" i="1">
                                <a:latin typeface="Cambria Math" panose="02040503050406030204" pitchFamily="18" charset="0"/>
                              </a:rPr>
                              <m:t>𝑝</m:t>
                            </m:r>
                          </m:sub>
                        </m:sSub>
                      </m:num>
                      <m:den>
                        <m:sSub>
                          <m:sSubPr>
                            <m:ctrlPr>
                              <a:rPr lang="en-US" sz="5900" i="1">
                                <a:latin typeface="Cambria Math" panose="02040503050406030204" pitchFamily="18" charset="0"/>
                              </a:rPr>
                            </m:ctrlPr>
                          </m:sSubPr>
                          <m:e>
                            <m:d>
                              <m:dPr>
                                <m:ctrlPr>
                                  <a:rPr lang="en-US" sz="5900" i="1">
                                    <a:latin typeface="Cambria Math" panose="02040503050406030204" pitchFamily="18" charset="0"/>
                                  </a:rPr>
                                </m:ctrlPr>
                              </m:dPr>
                              <m:e>
                                <m:sSub>
                                  <m:sSubPr>
                                    <m:ctrlPr>
                                      <a:rPr lang="en-US" sz="5900" i="1">
                                        <a:latin typeface="Cambria Math" panose="02040503050406030204" pitchFamily="18" charset="0"/>
                                      </a:rPr>
                                    </m:ctrlPr>
                                  </m:sSubPr>
                                  <m:e>
                                    <m:r>
                                      <a:rPr lang="en-US" sz="5900" i="1">
                                        <a:latin typeface="Cambria Math" panose="02040503050406030204" pitchFamily="18" charset="0"/>
                                      </a:rPr>
                                      <m:t>𝐹</m:t>
                                    </m:r>
                                  </m:e>
                                  <m:sub>
                                    <m:r>
                                      <a:rPr lang="en-US" sz="5900" i="1">
                                        <a:latin typeface="Cambria Math" panose="02040503050406030204" pitchFamily="18" charset="0"/>
                                      </a:rPr>
                                      <m:t>𝑔</m:t>
                                    </m:r>
                                  </m:sub>
                                </m:sSub>
                              </m:e>
                            </m:d>
                          </m:e>
                          <m:sub>
                            <m:r>
                              <a:rPr lang="en-US" sz="5900" i="1">
                                <a:latin typeface="Cambria Math" panose="02040503050406030204" pitchFamily="18" charset="0"/>
                              </a:rPr>
                              <m:t>𝑚</m:t>
                            </m:r>
                          </m:sub>
                        </m:sSub>
                      </m:den>
                    </m:f>
                    <m:r>
                      <a:rPr lang="en-US" sz="5900" i="1">
                        <a:latin typeface="Cambria Math" panose="02040503050406030204" pitchFamily="18" charset="0"/>
                      </a:rPr>
                      <m:t>………=</m:t>
                    </m:r>
                    <m:sSub>
                      <m:sSubPr>
                        <m:ctrlPr>
                          <a:rPr lang="en-US" sz="5900" i="1">
                            <a:latin typeface="Cambria Math" panose="02040503050406030204" pitchFamily="18" charset="0"/>
                          </a:rPr>
                        </m:ctrlPr>
                      </m:sSubPr>
                      <m:e>
                        <m:r>
                          <a:rPr lang="en-US" sz="5900" i="1">
                            <a:latin typeface="Cambria Math" panose="02040503050406030204" pitchFamily="18" charset="0"/>
                          </a:rPr>
                          <m:t>𝐹</m:t>
                        </m:r>
                      </m:e>
                      <m:sub>
                        <m:r>
                          <a:rPr lang="en-US" sz="5900" i="1">
                            <a:latin typeface="Cambria Math" panose="02040503050406030204" pitchFamily="18" charset="0"/>
                          </a:rPr>
                          <m:t>𝑟</m:t>
                        </m:r>
                      </m:sub>
                    </m:sSub>
                    <m:r>
                      <a:rPr lang="en-US" sz="5900" i="1">
                        <a:latin typeface="Cambria Math" panose="02040503050406030204" pitchFamily="18" charset="0"/>
                      </a:rPr>
                      <m:t> .</m:t>
                    </m:r>
                  </m:oMath>
                </a14:m>
                <a:endParaRPr lang="en-US" sz="5900" dirty="0"/>
              </a:p>
              <a:p>
                <a:pPr marL="0" indent="0">
                  <a:spcAft>
                    <a:spcPts val="1200"/>
                  </a:spcAft>
                  <a:buNone/>
                </a:pPr>
                <a:r>
                  <a:rPr lang="en-US" sz="5100" dirty="0"/>
                  <a:t>Also direction of the corresponding forces at the corresponding points in the model of prototype should be the same.</a:t>
                </a:r>
              </a:p>
              <a:p>
                <a:pPr marL="0" indent="0">
                  <a:buNone/>
                </a:pPr>
                <a:r>
                  <a:rPr lang="en-US" sz="5100" b="1" dirty="0"/>
                  <a:t>Types of forces acting moving fluid</a:t>
                </a:r>
              </a:p>
              <a:p>
                <a:pPr lvl="0"/>
                <a:r>
                  <a:rPr lang="en-GB" sz="5100" dirty="0"/>
                  <a:t>Inertia forces, Fi</a:t>
                </a:r>
                <a:endParaRPr lang="en-US" sz="5100" dirty="0"/>
              </a:p>
              <a:p>
                <a:pPr lvl="0"/>
                <a:r>
                  <a:rPr lang="en-GB" sz="5100" dirty="0"/>
                  <a:t>Viscous force, </a:t>
                </a:r>
                <a:r>
                  <a:rPr lang="en-GB" sz="5100" dirty="0" err="1"/>
                  <a:t>Fv</a:t>
                </a:r>
                <a:endParaRPr lang="en-US" sz="5100" dirty="0"/>
              </a:p>
              <a:p>
                <a:pPr lvl="0"/>
                <a:r>
                  <a:rPr lang="en-GB" sz="5100" dirty="0"/>
                  <a:t>Gravity force, </a:t>
                </a:r>
                <a:r>
                  <a:rPr lang="en-GB" sz="5100" dirty="0" err="1"/>
                  <a:t>Fg</a:t>
                </a:r>
                <a:endParaRPr lang="en-US" sz="5100" dirty="0"/>
              </a:p>
              <a:p>
                <a:pPr lvl="0"/>
                <a:r>
                  <a:rPr lang="en-GB" sz="5100" dirty="0"/>
                  <a:t>Pressure force, </a:t>
                </a:r>
                <a:r>
                  <a:rPr lang="en-GB" sz="5100" dirty="0" err="1"/>
                  <a:t>Fp</a:t>
                </a:r>
                <a:endParaRPr lang="en-US" sz="5100" dirty="0"/>
              </a:p>
              <a:p>
                <a:pPr lvl="0"/>
                <a:r>
                  <a:rPr lang="en-GB" sz="5100" dirty="0"/>
                  <a:t>Surface tension forces, </a:t>
                </a:r>
                <a:r>
                  <a:rPr lang="en-GB" sz="5100" dirty="0" err="1"/>
                  <a:t>Fs</a:t>
                </a:r>
                <a:endParaRPr lang="en-US" sz="5100" dirty="0"/>
              </a:p>
              <a:p>
                <a:pPr lvl="0"/>
                <a:r>
                  <a:rPr lang="en-GB" sz="5100" dirty="0"/>
                  <a:t>Elastic force, Fe</a:t>
                </a:r>
                <a:endParaRPr lang="en-US" sz="51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85800"/>
                <a:ext cx="9144000" cy="6172200"/>
              </a:xfrm>
              <a:blipFill>
                <a:blip r:embed="rId3"/>
                <a:stretch>
                  <a:fillRect l="-1333" t="-2273" r="-1667"/>
                </a:stretch>
              </a:blipFill>
            </p:spPr>
            <p:txBody>
              <a:bodyPr/>
              <a:lstStyle/>
              <a:p>
                <a:r>
                  <a:rPr lang="en-GH">
                    <a:noFill/>
                  </a:rPr>
                  <a:t> </a:t>
                </a:r>
              </a:p>
            </p:txBody>
          </p:sp>
        </mc:Fallback>
      </mc:AlternateContent>
    </p:spTree>
    <p:extLst>
      <p:ext uri="{BB962C8B-B14F-4D97-AF65-F5344CB8AC3E}">
        <p14:creationId xmlns:p14="http://schemas.microsoft.com/office/powerpoint/2010/main" val="3333807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57200"/>
            <a:ext cx="9144000" cy="6400800"/>
          </a:xfrm>
        </p:spPr>
        <p:txBody>
          <a:bodyPr>
            <a:normAutofit fontScale="92500" lnSpcReduction="10000"/>
          </a:bodyPr>
          <a:lstStyle/>
          <a:p>
            <a:pPr lvl="0"/>
            <a:r>
              <a:rPr lang="en-GB" sz="3000" dirty="0"/>
              <a:t>Inertia force (F</a:t>
            </a:r>
            <a:r>
              <a:rPr lang="en-GB" sz="3000" baseline="-25000" dirty="0"/>
              <a:t>i</a:t>
            </a:r>
            <a:r>
              <a:rPr lang="en-GB" sz="3000" dirty="0"/>
              <a:t>): The product of mass and acceleration of the flowing fluid and acts in the direction opposite to the direction of acceleration.  It always existing in the fluid flow problems.</a:t>
            </a:r>
            <a:endParaRPr lang="en-US" sz="3000" dirty="0"/>
          </a:p>
          <a:p>
            <a:pPr lvl="0"/>
            <a:r>
              <a:rPr lang="en-GB" sz="3000" dirty="0"/>
              <a:t>Viscous force, (</a:t>
            </a:r>
            <a:r>
              <a:rPr lang="en-GB" sz="3000" dirty="0" err="1"/>
              <a:t>F</a:t>
            </a:r>
            <a:r>
              <a:rPr lang="en-GB" sz="3000" baseline="-25000" dirty="0" err="1"/>
              <a:t>v</a:t>
            </a:r>
            <a:r>
              <a:rPr lang="en-GB" sz="3000" dirty="0"/>
              <a:t>): The product of shear stress (t) due to viscosity and area.</a:t>
            </a:r>
            <a:endParaRPr lang="en-US" sz="3000" dirty="0"/>
          </a:p>
          <a:p>
            <a:pPr lvl="0"/>
            <a:r>
              <a:rPr lang="en-GB" sz="3000" dirty="0"/>
              <a:t>Gravity force (</a:t>
            </a:r>
            <a:r>
              <a:rPr lang="en-GB" sz="3000" dirty="0" err="1"/>
              <a:t>F</a:t>
            </a:r>
            <a:r>
              <a:rPr lang="en-GB" sz="3000" baseline="-25000" dirty="0" err="1"/>
              <a:t>g</a:t>
            </a:r>
            <a:r>
              <a:rPr lang="en-GB" sz="3000" dirty="0"/>
              <a:t>): The product of mass and acceleration due to gravity of the flowing fluid. It is present in case of open surface flow.</a:t>
            </a:r>
            <a:endParaRPr lang="en-US" sz="3000" dirty="0"/>
          </a:p>
          <a:p>
            <a:pPr lvl="0"/>
            <a:r>
              <a:rPr lang="en-GB" sz="3000" dirty="0"/>
              <a:t>Pressure force (</a:t>
            </a:r>
            <a:r>
              <a:rPr lang="en-GB" sz="3000" dirty="0" err="1"/>
              <a:t>F</a:t>
            </a:r>
            <a:r>
              <a:rPr lang="en-GB" sz="3000" baseline="-25000" dirty="0" err="1"/>
              <a:t>p</a:t>
            </a:r>
            <a:r>
              <a:rPr lang="en-GB" sz="3000" dirty="0"/>
              <a:t>): The product of pressure and cross-sectional area of the flowing fluid. It is present in pipe flow.</a:t>
            </a:r>
            <a:endParaRPr lang="en-US" sz="3000" dirty="0"/>
          </a:p>
          <a:p>
            <a:pPr lvl="0"/>
            <a:r>
              <a:rPr lang="en-GB" sz="3000" dirty="0"/>
              <a:t>Surface tension force (F</a:t>
            </a:r>
            <a:r>
              <a:rPr lang="en-GB" sz="3000" baseline="-25000" dirty="0"/>
              <a:t>s</a:t>
            </a:r>
            <a:r>
              <a:rPr lang="en-GB" sz="3000" dirty="0"/>
              <a:t>): The product of surface tension and length of surface of the flowing fluid.</a:t>
            </a:r>
            <a:endParaRPr lang="en-US" sz="3000" dirty="0"/>
          </a:p>
          <a:p>
            <a:pPr lvl="0"/>
            <a:r>
              <a:rPr lang="en-GB" sz="3000" dirty="0"/>
              <a:t>Elastic force (F</a:t>
            </a:r>
            <a:r>
              <a:rPr lang="en-GB" sz="3000" baseline="-25000" dirty="0"/>
              <a:t>e</a:t>
            </a:r>
            <a:r>
              <a:rPr lang="en-GB" sz="3000" dirty="0"/>
              <a:t>): The product of elastic stress and area of the flowing fluid.</a:t>
            </a:r>
            <a:endParaRPr lang="en-US" sz="3000" dirty="0"/>
          </a:p>
          <a:p>
            <a:endParaRPr lang="en-US" dirty="0"/>
          </a:p>
        </p:txBody>
      </p:sp>
    </p:spTree>
    <p:extLst>
      <p:ext uri="{BB962C8B-B14F-4D97-AF65-F5344CB8AC3E}">
        <p14:creationId xmlns:p14="http://schemas.microsoft.com/office/powerpoint/2010/main" val="3455486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418"/>
            <a:ext cx="8229600" cy="1127125"/>
          </a:xfrm>
        </p:spPr>
        <p:txBody>
          <a:bodyPr>
            <a:normAutofit fontScale="90000"/>
          </a:bodyPr>
          <a:lstStyle/>
          <a:p>
            <a:r>
              <a:rPr lang="en-US" b="1" dirty="0"/>
              <a:t>Significant Dimensionless Numbers in Fluid Mechanics</a:t>
            </a:r>
            <a:endParaRPr lang="en-US" dirty="0"/>
          </a:p>
        </p:txBody>
      </p:sp>
      <p:sp>
        <p:nvSpPr>
          <p:cNvPr id="3" name="Content Placeholder 2"/>
          <p:cNvSpPr>
            <a:spLocks noGrp="1"/>
          </p:cNvSpPr>
          <p:nvPr>
            <p:ph idx="1"/>
          </p:nvPr>
        </p:nvSpPr>
        <p:spPr>
          <a:xfrm>
            <a:off x="0" y="1371600"/>
            <a:ext cx="9144000" cy="5334000"/>
          </a:xfrm>
        </p:spPr>
        <p:txBody>
          <a:bodyPr>
            <a:normAutofit fontScale="92500" lnSpcReduction="20000"/>
          </a:bodyPr>
          <a:lstStyle/>
          <a:p>
            <a:pPr marL="0" indent="0" algn="just">
              <a:spcAft>
                <a:spcPts val="2400"/>
              </a:spcAft>
              <a:buNone/>
            </a:pPr>
            <a:r>
              <a:rPr lang="en-US" dirty="0"/>
              <a:t>These are dimensionless numbers obtained by dividing the inertia force by either the (i) viscous force, or (ii) gravity force, or (iii) pressure force, or (iv) surface tension force, or  (v) elastic force. As these are ratios they are dimensionless and are also called non-dimensional parameters.</a:t>
            </a:r>
          </a:p>
          <a:p>
            <a:pPr marL="0" indent="0">
              <a:buNone/>
            </a:pPr>
            <a:r>
              <a:rPr lang="en-US" dirty="0"/>
              <a:t>Important dimensionless numbers in fluid mechanics</a:t>
            </a:r>
          </a:p>
          <a:p>
            <a:pPr marL="0" indent="0">
              <a:buNone/>
            </a:pPr>
            <a:r>
              <a:rPr lang="en-US" dirty="0"/>
              <a:t>are  </a:t>
            </a:r>
          </a:p>
          <a:p>
            <a:pPr marL="0" indent="0">
              <a:buNone/>
            </a:pPr>
            <a:r>
              <a:rPr lang="en-US" dirty="0"/>
              <a:t>1. Reynolds number, Re</a:t>
            </a:r>
          </a:p>
          <a:p>
            <a:pPr marL="0" indent="0">
              <a:buNone/>
            </a:pPr>
            <a:r>
              <a:rPr lang="en-US" dirty="0"/>
              <a:t>2. Froude number, Fr</a:t>
            </a:r>
          </a:p>
          <a:p>
            <a:pPr marL="0" indent="0">
              <a:buNone/>
            </a:pPr>
            <a:r>
              <a:rPr lang="en-US" dirty="0"/>
              <a:t>3. Weber number, We</a:t>
            </a:r>
          </a:p>
          <a:p>
            <a:pPr marL="0" indent="0">
              <a:buNone/>
            </a:pPr>
            <a:r>
              <a:rPr lang="en-US" dirty="0"/>
              <a:t>4. Mach number, M</a:t>
            </a:r>
          </a:p>
          <a:p>
            <a:endParaRPr lang="en-US" dirty="0"/>
          </a:p>
        </p:txBody>
      </p:sp>
    </p:spTree>
    <p:extLst>
      <p:ext uri="{BB962C8B-B14F-4D97-AF65-F5344CB8AC3E}">
        <p14:creationId xmlns:p14="http://schemas.microsoft.com/office/powerpoint/2010/main" val="2895901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543"/>
            <a:ext cx="8229600" cy="718457"/>
          </a:xfrm>
        </p:spPr>
        <p:txBody>
          <a:bodyPr>
            <a:normAutofit fontScale="90000"/>
          </a:bodyPr>
          <a:lstStyle/>
          <a:p>
            <a:r>
              <a:rPr lang="en-US" dirty="0"/>
              <a:t>Reynolds Number (Re)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914399"/>
                <a:ext cx="9144000" cy="5900057"/>
              </a:xfrm>
            </p:spPr>
            <p:txBody>
              <a:bodyPr>
                <a:normAutofit fontScale="85000" lnSpcReduction="20000"/>
              </a:bodyPr>
              <a:lstStyle/>
              <a:p>
                <a:pPr lvl="0"/>
                <a:r>
                  <a:rPr lang="en-GB" dirty="0"/>
                  <a:t>Reynolds number, Re is defined as the ratio of inertia force of flowing fluid to the viscous force of the fluid. </a:t>
                </a:r>
                <a:endParaRPr lang="en-US" dirty="0"/>
              </a:p>
              <a:p>
                <a:r>
                  <a:rPr lang="en-GB" dirty="0"/>
                  <a:t>Inertia force (F</a:t>
                </a:r>
                <a:r>
                  <a:rPr lang="en-GB" baseline="-25000" dirty="0"/>
                  <a:t>i</a:t>
                </a:r>
                <a:r>
                  <a:rPr lang="en-GB" dirty="0"/>
                  <a:t>) = mass </a:t>
                </a:r>
                <a14:m>
                  <m:oMath xmlns:m="http://schemas.openxmlformats.org/officeDocument/2006/math">
                    <m:r>
                      <a:rPr lang="en-GB" i="1">
                        <a:latin typeface="Cambria Math" panose="02040503050406030204" pitchFamily="18" charset="0"/>
                      </a:rPr>
                      <m:t>×  </m:t>
                    </m:r>
                  </m:oMath>
                </a14:m>
                <a:r>
                  <a:rPr lang="en-GB" dirty="0"/>
                  <a:t>acceleration of lowing fluid.</a:t>
                </a:r>
                <a:endParaRPr lang="en-US" dirty="0"/>
              </a:p>
              <a:p>
                <a:r>
                  <a:rPr lang="en-US" dirty="0"/>
                  <a:t> </a:t>
                </a:r>
              </a:p>
              <a:p>
                <a:r>
                  <a:rPr lang="en-US" dirty="0"/>
                  <a:t>= (ρ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𝑣𝑜𝑙𝑢𝑚𝑒</m:t>
                    </m:r>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𝑣𝑒𝑙𝑜𝑐𝑖𝑡𝑦</m:t>
                        </m:r>
                      </m:num>
                      <m:den>
                        <m:r>
                          <a:rPr lang="en-US" i="1">
                            <a:latin typeface="Cambria Math" panose="02040503050406030204" pitchFamily="18" charset="0"/>
                          </a:rPr>
                          <m:t>𝑡𝑖𝑚𝑒</m:t>
                        </m:r>
                      </m:den>
                    </m:f>
                    <m:r>
                      <a:rPr lang="en-US" i="1">
                        <a:latin typeface="Cambria Math" panose="02040503050406030204" pitchFamily="18" charset="0"/>
                      </a:rPr>
                      <m:t>)</m:t>
                    </m:r>
                  </m:oMath>
                </a14:m>
                <a:endParaRPr lang="en-US" dirty="0"/>
              </a:p>
              <a:p>
                <a:r>
                  <a:rPr lang="en-US" dirty="0"/>
                  <a:t>= </a:t>
                </a:r>
                <a14:m>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𝑣𝑜𝑙𝑢𝑚𝑒</m:t>
                        </m:r>
                      </m:num>
                      <m:den>
                        <m:r>
                          <a:rPr lang="en-US" i="1">
                            <a:latin typeface="Cambria Math" panose="02040503050406030204" pitchFamily="18" charset="0"/>
                          </a:rPr>
                          <m:t>𝑡𝑖𝑚𝑒</m:t>
                        </m:r>
                      </m:den>
                    </m:f>
                    <m:r>
                      <a:rPr lang="en-US" i="1">
                        <a:latin typeface="Cambria Math" panose="02040503050406030204" pitchFamily="18" charset="0"/>
                      </a:rPr>
                      <m:t>×</m:t>
                    </m:r>
                    <m:r>
                      <a:rPr lang="en-US" i="1">
                        <a:latin typeface="Cambria Math" panose="02040503050406030204" pitchFamily="18" charset="0"/>
                      </a:rPr>
                      <m:t>𝑣𝑒𝑙𝑜𝑐𝑖𝑡𝑦</m:t>
                    </m:r>
                  </m:oMath>
                </a14:m>
                <a:endParaRPr lang="en-US" dirty="0"/>
              </a:p>
              <a:p>
                <a:r>
                  <a:rPr lang="en-US" dirty="0"/>
                  <a:t>= </a:t>
                </a:r>
                <a14:m>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oMath>
                </a14:m>
                <a:r>
                  <a:rPr lang="en-US" dirty="0"/>
                  <a:t> </a:t>
                </a:r>
              </a:p>
              <a:p>
                <a:r>
                  <a:rPr lang="en-US" dirty="0"/>
                  <a:t>Viscous force (</a:t>
                </a:r>
                <a:r>
                  <a:rPr lang="en-US" dirty="0" err="1"/>
                  <a:t>F</a:t>
                </a:r>
                <a:r>
                  <a:rPr lang="en-US" baseline="-25000" dirty="0" err="1"/>
                  <a:t>v</a:t>
                </a:r>
                <a:r>
                  <a:rPr lang="en-US" dirty="0"/>
                  <a:t>) = shear stress </a:t>
                </a:r>
                <a14:m>
                  <m:oMath xmlns:m="http://schemas.openxmlformats.org/officeDocument/2006/math">
                    <m:r>
                      <a:rPr lang="en-US" i="1">
                        <a:latin typeface="Cambria Math" panose="02040503050406030204" pitchFamily="18" charset="0"/>
                      </a:rPr>
                      <m:t>×</m:t>
                    </m:r>
                  </m:oMath>
                </a14:m>
                <a:r>
                  <a:rPr lang="en-US" dirty="0"/>
                  <a:t> area</a:t>
                </a:r>
              </a:p>
              <a:p>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𝜇</m:t>
                    </m:r>
                    <m:f>
                      <m:fPr>
                        <m:ctrlPr>
                          <a:rPr lang="en-US" i="1">
                            <a:latin typeface="Cambria Math" panose="02040503050406030204" pitchFamily="18" charset="0"/>
                          </a:rPr>
                        </m:ctrlPr>
                      </m:fPr>
                      <m:num>
                        <m:r>
                          <a:rPr lang="en-US" i="1">
                            <a:latin typeface="Cambria Math" panose="02040503050406030204" pitchFamily="18" charset="0"/>
                          </a:rPr>
                          <m:t>𝑑</m:t>
                        </m:r>
                        <m:r>
                          <a:rPr lang="en-GB" b="0" i="1" smtClean="0">
                            <a:latin typeface="Cambria Math" panose="02040503050406030204" pitchFamily="18" charset="0"/>
                          </a:rPr>
                          <m:t>𝑉</m:t>
                        </m:r>
                      </m:num>
                      <m:den>
                        <m:r>
                          <a:rPr lang="en-US" i="1">
                            <a:latin typeface="Cambria Math" panose="02040503050406030204" pitchFamily="18" charset="0"/>
                          </a:rPr>
                          <m:t>𝑑𝑦</m:t>
                        </m:r>
                      </m:den>
                    </m:f>
                    <m:r>
                      <a:rPr lang="en-US" i="1">
                        <a:latin typeface="Cambria Math" panose="02040503050406030204" pitchFamily="18" charset="0"/>
                      </a:rPr>
                      <m:t>×</m:t>
                    </m:r>
                    <m:r>
                      <a:rPr lang="en-US" i="1">
                        <a:latin typeface="Cambria Math" panose="02040503050406030204" pitchFamily="18" charset="0"/>
                      </a:rPr>
                      <m:t>𝐴𝑟𝑒𝑎</m:t>
                    </m:r>
                  </m:oMath>
                </a14:m>
                <a:r>
                  <a:rPr lang="en-US" dirty="0"/>
                  <a:t>  </a:t>
                </a:r>
              </a:p>
              <a:p>
                <a14:m>
                  <m:oMath xmlns:m="http://schemas.openxmlformats.org/officeDocument/2006/math">
                    <m:r>
                      <a:rPr lang="en-US" i="1">
                        <a:latin typeface="Cambria Math" panose="02040503050406030204" pitchFamily="18" charset="0"/>
                      </a:rPr>
                      <m:t>𝐹</m:t>
                    </m:r>
                    <m:r>
                      <a:rPr lang="en-US" i="1" baseline="-25000">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𝐴</m:t>
                    </m:r>
                  </m:oMath>
                </a14:m>
                <a:r>
                  <a:rPr lang="en-US" dirty="0"/>
                  <a:t> </a:t>
                </a:r>
              </a:p>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𝜇</m:t>
                    </m:r>
                    <m:f>
                      <m:fPr>
                        <m:ctrlPr>
                          <a:rPr lang="en-US" i="1">
                            <a:latin typeface="Cambria Math" panose="02040503050406030204" pitchFamily="18" charset="0"/>
                          </a:rPr>
                        </m:ctrlPr>
                      </m:fPr>
                      <m:num>
                        <m:r>
                          <a:rPr lang="en-US" i="1">
                            <a:latin typeface="Cambria Math" panose="02040503050406030204" pitchFamily="18" charset="0"/>
                          </a:rPr>
                          <m:t>𝑑𝑣</m:t>
                        </m:r>
                      </m:num>
                      <m:den>
                        <m:r>
                          <a:rPr lang="en-US" i="1">
                            <a:latin typeface="Cambria Math" panose="02040503050406030204" pitchFamily="18" charset="0"/>
                          </a:rPr>
                          <m:t>𝑑𝑦</m:t>
                        </m:r>
                      </m:den>
                    </m:f>
                    <m:r>
                      <a:rPr lang="en-US" i="1">
                        <a:latin typeface="Cambria Math" panose="02040503050406030204" pitchFamily="18" charset="0"/>
                      </a:rPr>
                      <m:t>×</m:t>
                    </m:r>
                    <m:r>
                      <a:rPr lang="en-US" i="1">
                        <a:latin typeface="Cambria Math" panose="02040503050406030204" pitchFamily="18" charset="0"/>
                      </a:rPr>
                      <m:t>𝐴</m:t>
                    </m:r>
                  </m:oMath>
                </a14:m>
                <a:r>
                  <a:rPr lang="en-US" dirty="0"/>
                  <a:t> </a:t>
                </a:r>
              </a:p>
              <a:p>
                <a14:m>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𝜇</m:t>
                        </m:r>
                        <m:r>
                          <a:rPr lang="en-US" i="1">
                            <a:latin typeface="Cambria Math" panose="02040503050406030204" pitchFamily="18" charset="0"/>
                          </a:rPr>
                          <m:t>𝑣</m:t>
                        </m:r>
                      </m:num>
                      <m:den>
                        <m:r>
                          <a:rPr lang="en-US" i="1">
                            <a:latin typeface="Cambria Math" panose="02040503050406030204" pitchFamily="18" charset="0"/>
                          </a:rPr>
                          <m:t>𝐿</m:t>
                        </m:r>
                      </m:den>
                    </m:f>
                    <m:r>
                      <a:rPr lang="en-US" i="1">
                        <a:latin typeface="Cambria Math" panose="02040503050406030204" pitchFamily="18" charset="0"/>
                      </a:rPr>
                      <m:t>𝐴</m:t>
                    </m:r>
                  </m:oMath>
                </a14:m>
                <a:r>
                  <a:rPr lang="en-US" dirty="0"/>
                  <a:t> </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914399"/>
                <a:ext cx="9144000" cy="5900057"/>
              </a:xfrm>
              <a:blipFill>
                <a:blip r:embed="rId3"/>
                <a:stretch>
                  <a:fillRect l="-1133" t="-2169" r="-600"/>
                </a:stretch>
              </a:blipFill>
            </p:spPr>
            <p:txBody>
              <a:bodyPr/>
              <a:lstStyle/>
              <a:p>
                <a:r>
                  <a:rPr lang="en-GH">
                    <a:noFill/>
                  </a:rPr>
                  <a:t> </a:t>
                </a:r>
              </a:p>
            </p:txBody>
          </p:sp>
        </mc:Fallback>
      </mc:AlternateContent>
    </p:spTree>
    <p:extLst>
      <p:ext uri="{BB962C8B-B14F-4D97-AF65-F5344CB8AC3E}">
        <p14:creationId xmlns:p14="http://schemas.microsoft.com/office/powerpoint/2010/main" val="866027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685800"/>
                <a:ext cx="8229600" cy="6019800"/>
              </a:xfrm>
            </p:spPr>
            <p:txBody>
              <a:bodyPr>
                <a:normAutofit fontScale="92500" lnSpcReduction="10000"/>
              </a:bodyPr>
              <a:lstStyle/>
              <a:p>
                <a:r>
                  <a:rPr lang="en-US" dirty="0"/>
                  <a:t>Therefore </a:t>
                </a:r>
                <a14:m>
                  <m:oMath xmlns:m="http://schemas.openxmlformats.org/officeDocument/2006/math">
                    <m:r>
                      <a:rPr lang="en-US" i="1">
                        <a:latin typeface="Cambria Math" panose="02040503050406030204" pitchFamily="18" charset="0"/>
                      </a:rPr>
                      <m:t>𝑅𝑒</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𝑣</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GB" b="0" i="1" smtClean="0">
                                <a:latin typeface="Cambria Math" panose="02040503050406030204" pitchFamily="18" charset="0"/>
                              </a:rPr>
                              <m:t>𝑉</m:t>
                            </m:r>
                          </m:e>
                          <m:sup>
                            <m:r>
                              <a:rPr lang="en-US" i="1">
                                <a:latin typeface="Cambria Math" panose="02040503050406030204" pitchFamily="18" charset="0"/>
                              </a:rPr>
                              <m:t>2</m:t>
                            </m:r>
                          </m:sup>
                        </m:sSup>
                      </m:num>
                      <m:den>
                        <m:f>
                          <m:fPr>
                            <m:ctrlPr>
                              <a:rPr lang="en-US" i="1">
                                <a:latin typeface="Cambria Math" panose="02040503050406030204" pitchFamily="18" charset="0"/>
                              </a:rPr>
                            </m:ctrlPr>
                          </m:fPr>
                          <m:num>
                            <m:r>
                              <a:rPr lang="en-US" i="1">
                                <a:latin typeface="Cambria Math" panose="02040503050406030204" pitchFamily="18" charset="0"/>
                              </a:rPr>
                              <m:t>𝜇</m:t>
                            </m:r>
                            <m:r>
                              <a:rPr lang="en-US" i="1">
                                <a:latin typeface="Cambria Math" panose="02040503050406030204" pitchFamily="18" charset="0"/>
                              </a:rPr>
                              <m:t>𝑣</m:t>
                            </m:r>
                          </m:num>
                          <m:den>
                            <m:r>
                              <a:rPr lang="en-US" i="1">
                                <a:latin typeface="Cambria Math" panose="02040503050406030204" pitchFamily="18" charset="0"/>
                              </a:rPr>
                              <m:t>𝐿</m:t>
                            </m:r>
                          </m:den>
                        </m:f>
                        <m:r>
                          <a:rPr lang="en-US" i="1">
                            <a:latin typeface="Cambria Math" panose="02040503050406030204" pitchFamily="18" charset="0"/>
                          </a:rPr>
                          <m:t>𝐴</m:t>
                        </m:r>
                        <m:r>
                          <a:rPr lang="en-US">
                            <a:latin typeface="Cambria Math" panose="02040503050406030204" pitchFamily="18" charset="0"/>
                          </a:rPr>
                          <m:t> </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𝜌</m:t>
                        </m:r>
                        <m:r>
                          <a:rPr lang="en-GB" b="0" i="1" smtClean="0">
                            <a:latin typeface="Cambria Math" panose="02040503050406030204" pitchFamily="18" charset="0"/>
                          </a:rPr>
                          <m:t>𝑉</m:t>
                        </m:r>
                        <m:r>
                          <a:rPr lang="en-US" i="1">
                            <a:latin typeface="Cambria Math" panose="02040503050406030204" pitchFamily="18" charset="0"/>
                          </a:rPr>
                          <m:t>𝐿</m:t>
                        </m:r>
                        <m:r>
                          <a:rPr lang="en-US" i="1">
                            <a:latin typeface="Cambria Math" panose="02040503050406030204" pitchFamily="18" charset="0"/>
                          </a:rPr>
                          <m:t> </m:t>
                        </m:r>
                      </m:num>
                      <m:den>
                        <m:r>
                          <a:rPr lang="en-US" i="1">
                            <a:latin typeface="Cambria Math" panose="02040503050406030204" pitchFamily="18" charset="0"/>
                          </a:rPr>
                          <m:t>𝜇</m:t>
                        </m:r>
                      </m:den>
                    </m:f>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𝑉</m:t>
                        </m:r>
                        <m:r>
                          <a:rPr lang="en-US" i="1">
                            <a:latin typeface="Cambria Math" panose="02040503050406030204" pitchFamily="18" charset="0"/>
                          </a:rPr>
                          <m:t>𝐿</m:t>
                        </m:r>
                      </m:num>
                      <m:den>
                        <m:r>
                          <a:rPr lang="en-US" i="1">
                            <a:latin typeface="Cambria Math" panose="02040503050406030204" pitchFamily="18" charset="0"/>
                          </a:rPr>
                          <m:t>ѵ</m:t>
                        </m:r>
                      </m:den>
                    </m:f>
                  </m:oMath>
                </a14:m>
                <a:r>
                  <a:rPr lang="en-US" dirty="0"/>
                  <a:t> </a:t>
                </a:r>
              </a:p>
              <a:p>
                <a:r>
                  <a:rPr lang="en-US" dirty="0"/>
                  <a:t>μ = absolute viscosity</a:t>
                </a:r>
              </a:p>
              <a:p>
                <a:r>
                  <a:rPr lang="en-US" dirty="0"/>
                  <a:t>ѵ =kinematic viscosity</a:t>
                </a:r>
              </a:p>
              <a:p>
                <a:r>
                  <a:rPr lang="en-US" dirty="0"/>
                  <a:t>V =velocity</a:t>
                </a:r>
              </a:p>
              <a:p>
                <a:r>
                  <a:rPr lang="en-US" dirty="0"/>
                  <a:t>A =velocity</a:t>
                </a:r>
              </a:p>
              <a:p>
                <a:r>
                  <a:rPr lang="en-US" dirty="0"/>
                  <a:t>L= length or linear dimension</a:t>
                </a:r>
              </a:p>
              <a:p>
                <a14:m>
                  <m:oMath xmlns:m="http://schemas.openxmlformats.org/officeDocument/2006/math">
                    <m:r>
                      <a:rPr lang="en-US" i="1">
                        <a:latin typeface="Cambria Math" panose="02040503050406030204" pitchFamily="18" charset="0"/>
                      </a:rPr>
                      <m:t>𝜌</m:t>
                    </m:r>
                  </m:oMath>
                </a14:m>
                <a:r>
                  <a:rPr lang="en-US" dirty="0"/>
                  <a:t> =density </a:t>
                </a:r>
              </a:p>
              <a:p>
                <a:pPr marL="0" indent="0">
                  <a:buNone/>
                </a:pPr>
                <a:r>
                  <a:rPr lang="en-US" dirty="0"/>
                  <a:t> </a:t>
                </a:r>
              </a:p>
              <a:p>
                <a:r>
                  <a:rPr lang="en-US" dirty="0"/>
                  <a:t>In pipe flow, the linear dimension L is taken as diameter D, </a:t>
                </a:r>
                <a:r>
                  <a:rPr lang="en-US" dirty="0" err="1"/>
                  <a:t>i.e</a:t>
                </a:r>
                <a:r>
                  <a:rPr lang="en-US" dirty="0"/>
                  <a:t> for pipe flow, Re</a:t>
                </a:r>
                <a14:m>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𝑉𝐷</m:t>
                        </m:r>
                      </m:num>
                      <m:den>
                        <m:r>
                          <a:rPr lang="en-US" i="1">
                            <a:latin typeface="Cambria Math" panose="02040503050406030204" pitchFamily="18" charset="0"/>
                          </a:rPr>
                          <m:t>𝜇</m:t>
                        </m:r>
                      </m:den>
                    </m:f>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685800"/>
                <a:ext cx="8229600" cy="6019800"/>
              </a:xfrm>
              <a:blipFill>
                <a:blip r:embed="rId3"/>
                <a:stretch>
                  <a:fillRect l="-1481"/>
                </a:stretch>
              </a:blipFill>
            </p:spPr>
            <p:txBody>
              <a:bodyPr/>
              <a:lstStyle/>
              <a:p>
                <a:r>
                  <a:rPr lang="en-GH">
                    <a:noFill/>
                  </a:rPr>
                  <a:t> </a:t>
                </a:r>
              </a:p>
            </p:txBody>
          </p:sp>
        </mc:Fallback>
      </mc:AlternateContent>
    </p:spTree>
    <p:extLst>
      <p:ext uri="{BB962C8B-B14F-4D97-AF65-F5344CB8AC3E}">
        <p14:creationId xmlns:p14="http://schemas.microsoft.com/office/powerpoint/2010/main" val="3242496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20762"/>
          </a:xfrm>
        </p:spPr>
        <p:txBody>
          <a:bodyPr/>
          <a:lstStyle/>
          <a:p>
            <a:r>
              <a:rPr lang="en-US" dirty="0"/>
              <a:t>Froude Number (Fr)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00200"/>
                <a:ext cx="9144000" cy="4800600"/>
              </a:xfrm>
            </p:spPr>
            <p:txBody>
              <a:bodyPr>
                <a:normAutofit fontScale="70000" lnSpcReduction="20000"/>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𝐹𝑟</m:t>
                      </m:r>
                      <m:r>
                        <a:rPr lang="en-US"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b="0" i="1" smtClean="0">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𝑔</m:t>
                                  </m:r>
                                </m:sub>
                              </m:sSub>
                            </m:den>
                          </m:f>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𝑖𝑛𝑒𝑟𝑡𝑖𝑎</m:t>
                              </m:r>
                              <m:r>
                                <a:rPr lang="en-US" i="1">
                                  <a:latin typeface="Cambria Math" panose="02040503050406030204" pitchFamily="18" charset="0"/>
                                </a:rPr>
                                <m:t> </m:t>
                              </m:r>
                              <m:r>
                                <a:rPr lang="en-US" i="1">
                                  <a:latin typeface="Cambria Math" panose="02040503050406030204" pitchFamily="18" charset="0"/>
                                </a:rPr>
                                <m:t>𝑓𝑜𝑟𝑐𝑒</m:t>
                              </m:r>
                            </m:num>
                            <m:den>
                              <m:r>
                                <a:rPr lang="en-US" i="1">
                                  <a:latin typeface="Cambria Math" panose="02040503050406030204" pitchFamily="18" charset="0"/>
                                </a:rPr>
                                <m:t>𝑔𝑟𝑎𝑣𝑖𝑡𝑦</m:t>
                              </m:r>
                              <m:r>
                                <a:rPr lang="en-US" i="1">
                                  <a:latin typeface="Cambria Math" panose="02040503050406030204" pitchFamily="18" charset="0"/>
                                </a:rPr>
                                <m:t> </m:t>
                              </m:r>
                              <m:r>
                                <a:rPr lang="en-US" i="1">
                                  <a:latin typeface="Cambria Math" panose="02040503050406030204" pitchFamily="18" charset="0"/>
                                </a:rPr>
                                <m:t>𝑓𝑜𝑟𝑐𝑒</m:t>
                              </m:r>
                            </m:den>
                          </m:f>
                        </m:e>
                      </m:rad>
                    </m:oMath>
                  </m:oMathPara>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𝑔</m:t>
                        </m:r>
                      </m:sub>
                    </m:sSub>
                    <m:r>
                      <a:rPr lang="en-US" i="1">
                        <a:latin typeface="Cambria Math" panose="02040503050406030204" pitchFamily="18" charset="0"/>
                      </a:rPr>
                      <m:t>=</m:t>
                    </m:r>
                    <m:r>
                      <a:rPr lang="en-US" i="1">
                        <a:latin typeface="Cambria Math" panose="02040503050406030204" pitchFamily="18" charset="0"/>
                      </a:rPr>
                      <m:t>𝑓𝑜𝑟𝑐𝑒</m:t>
                    </m:r>
                    <m:r>
                      <a:rPr lang="en-US" i="1">
                        <a:latin typeface="Cambria Math" panose="02040503050406030204" pitchFamily="18" charset="0"/>
                      </a:rPr>
                      <m:t> </m:t>
                    </m:r>
                    <m:r>
                      <a:rPr lang="en-US" i="1">
                        <a:latin typeface="Cambria Math" panose="02040503050406030204" pitchFamily="18" charset="0"/>
                      </a:rPr>
                      <m:t>𝑑𝑢𝑒</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i="1">
                        <a:latin typeface="Cambria Math" panose="02040503050406030204" pitchFamily="18" charset="0"/>
                      </a:rPr>
                      <m:t>𝑔𝑟𝑎𝑣𝑖𝑡𝑦</m:t>
                    </m:r>
                  </m:oMath>
                </a14:m>
                <a:endParaRPr lang="en-US" dirty="0"/>
              </a:p>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𝜌</m:t>
                    </m:r>
                    <m:r>
                      <a:rPr lang="en-US" i="1">
                        <a:latin typeface="Cambria Math" panose="02040503050406030204" pitchFamily="18" charset="0"/>
                      </a:rPr>
                      <m:t>×</m:t>
                    </m:r>
                    <m:r>
                      <a:rPr lang="en-US" i="1">
                        <a:latin typeface="Cambria Math" panose="02040503050406030204" pitchFamily="18" charset="0"/>
                      </a:rPr>
                      <m:t>𝑣𝑜𝑙𝑢𝑚𝑒</m:t>
                    </m:r>
                    <m:r>
                      <a:rPr lang="en-US" i="1">
                        <a:latin typeface="Cambria Math" panose="02040503050406030204" pitchFamily="18" charset="0"/>
                      </a:rPr>
                      <m:t>×</m:t>
                    </m:r>
                    <m:r>
                      <a:rPr lang="en-US" i="1">
                        <a:latin typeface="Cambria Math" panose="02040503050406030204" pitchFamily="18" charset="0"/>
                      </a:rPr>
                      <m:t>𝑔</m:t>
                    </m:r>
                  </m:oMath>
                </a14:m>
                <a:endParaRPr lang="en-US" dirty="0"/>
              </a:p>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𝜌</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3</m:t>
                        </m:r>
                      </m:sup>
                    </m:sSup>
                    <m:r>
                      <a:rPr lang="en-US" i="1">
                        <a:latin typeface="Cambria Math" panose="02040503050406030204" pitchFamily="18" charset="0"/>
                      </a:rPr>
                      <m:t>𝑔</m:t>
                    </m:r>
                  </m:oMath>
                </a14:m>
                <a:endParaRPr lang="en-US" dirty="0"/>
              </a:p>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𝜌</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𝑔</m:t>
                    </m:r>
                  </m:oMath>
                </a14:m>
                <a:endParaRPr lang="en-US" dirty="0"/>
              </a:p>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𝜌</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𝑔</m:t>
                    </m:r>
                    <m:r>
                      <a:rPr lang="en-US" i="1">
                        <a:latin typeface="Cambria Math" panose="02040503050406030204" pitchFamily="18" charset="0"/>
                      </a:rPr>
                      <m:t> </m:t>
                    </m:r>
                  </m:oMath>
                </a14:m>
                <a:endParaRPr lang="en-US" dirty="0"/>
              </a:p>
              <a:p>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𝑔</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r>
                          <a:rPr lang="en-US" i="1">
                            <a:latin typeface="Cambria Math" panose="02040503050406030204" pitchFamily="18" charset="0"/>
                          </a:rPr>
                          <m:t>𝜌</m:t>
                        </m:r>
                        <m:r>
                          <a:rPr lang="en-US" i="1">
                            <a:latin typeface="Cambria Math" panose="02040503050406030204" pitchFamily="18" charset="0"/>
                          </a:rPr>
                          <m:t>𝐴𝐿𝑔</m:t>
                        </m:r>
                      </m:den>
                    </m:f>
                    <m:r>
                      <a:rPr lang="en-US" i="1">
                        <a:latin typeface="Cambria Math" panose="02040503050406030204" pitchFamily="18" charset="0"/>
                      </a:rPr>
                      <m:t> </m:t>
                    </m:r>
                  </m:oMath>
                </a14:m>
                <a:endParaRPr lang="en-US" dirty="0"/>
              </a:p>
              <a:p>
                <a14:m>
                  <m:oMath xmlns:m="http://schemas.openxmlformats.org/officeDocument/2006/math">
                    <m:r>
                      <a:rPr lang="en-US" i="1">
                        <a:latin typeface="Cambria Math" panose="02040503050406030204" pitchFamily="18" charset="0"/>
                      </a:rPr>
                      <m:t>𝐹</m:t>
                    </m:r>
                    <m:r>
                      <a:rPr lang="en-GB" b="0" i="1" smtClean="0">
                        <a:latin typeface="Cambria Math" panose="02040503050406030204" pitchFamily="18" charset="0"/>
                      </a:rPr>
                      <m:t>𝑟</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𝑔</m:t>
                                </m:r>
                              </m:sub>
                            </m:sSub>
                          </m:den>
                        </m:f>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b="0" i="1" smtClean="0">
                                    <a:latin typeface="Cambria Math" panose="02040503050406030204" pitchFamily="18" charset="0"/>
                                  </a:rPr>
                                  <m:t>𝑉</m:t>
                                </m:r>
                              </m:e>
                              <m:sup>
                                <m:r>
                                  <a:rPr lang="en-US" i="1">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𝑔</m:t>
                                </m:r>
                              </m:sub>
                            </m:sSub>
                          </m:den>
                        </m:f>
                      </m:e>
                    </m:rad>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𝑉</m:t>
                        </m:r>
                      </m:num>
                      <m:den>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𝑔</m:t>
                                </m:r>
                              </m:sub>
                            </m:sSub>
                          </m:e>
                        </m:rad>
                      </m:den>
                    </m:f>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00200"/>
                <a:ext cx="9144000" cy="4800600"/>
              </a:xfrm>
              <a:blipFill>
                <a:blip r:embed="rId3"/>
                <a:stretch>
                  <a:fillRect l="-733"/>
                </a:stretch>
              </a:blipFill>
            </p:spPr>
            <p:txBody>
              <a:bodyPr/>
              <a:lstStyle/>
              <a:p>
                <a:r>
                  <a:rPr lang="en-GH">
                    <a:noFill/>
                  </a:rPr>
                  <a:t> </a:t>
                </a:r>
              </a:p>
            </p:txBody>
          </p:sp>
        </mc:Fallback>
      </mc:AlternateContent>
    </p:spTree>
    <p:extLst>
      <p:ext uri="{BB962C8B-B14F-4D97-AF65-F5344CB8AC3E}">
        <p14:creationId xmlns:p14="http://schemas.microsoft.com/office/powerpoint/2010/main" val="675612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Euler Number (Eu)</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𝑝</m:t>
                                </m:r>
                              </m:sub>
                            </m:sSub>
                          </m:den>
                        </m:f>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𝑖𝑛𝑒𝑟𝑡𝑖𝑎</m:t>
                            </m:r>
                            <m:r>
                              <a:rPr lang="en-US" i="1">
                                <a:latin typeface="Cambria Math" panose="02040503050406030204" pitchFamily="18" charset="0"/>
                              </a:rPr>
                              <m:t> </m:t>
                            </m:r>
                            <m:r>
                              <a:rPr lang="en-US" i="1">
                                <a:latin typeface="Cambria Math" panose="02040503050406030204" pitchFamily="18" charset="0"/>
                              </a:rPr>
                              <m:t>𝑓𝑜𝑟𝑐𝑒</m:t>
                            </m:r>
                          </m:num>
                          <m:den>
                            <m:r>
                              <a:rPr lang="en-US" i="1">
                                <a:latin typeface="Cambria Math" panose="02040503050406030204" pitchFamily="18" charset="0"/>
                              </a:rPr>
                              <m:t>𝑝𝑟𝑒𝑠𝑠𝑢𝑟𝑒</m:t>
                            </m:r>
                            <m:r>
                              <a:rPr lang="en-US" i="1">
                                <a:latin typeface="Cambria Math" panose="02040503050406030204" pitchFamily="18" charset="0"/>
                              </a:rPr>
                              <m:t> </m:t>
                            </m:r>
                            <m:r>
                              <a:rPr lang="en-US" i="1">
                                <a:latin typeface="Cambria Math" panose="02040503050406030204" pitchFamily="18" charset="0"/>
                              </a:rPr>
                              <m:t>𝑓𝑜𝑟𝑐𝑒</m:t>
                            </m:r>
                          </m:den>
                        </m:f>
                        <m:r>
                          <a:rPr lang="en-US" i="1">
                            <a:latin typeface="Cambria Math" panose="02040503050406030204" pitchFamily="18" charset="0"/>
                          </a:rPr>
                          <m:t> </m:t>
                        </m:r>
                      </m:e>
                    </m:rad>
                    <m:r>
                      <a:rPr lang="en-US" i="1">
                        <a:latin typeface="Cambria Math" panose="02040503050406030204" pitchFamily="18" charset="0"/>
                      </a:rPr>
                      <m:t>  </m:t>
                    </m:r>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𝑝</m:t>
                        </m:r>
                      </m:sub>
                    </m:sSub>
                    <m:r>
                      <a:rPr lang="en-US" i="1">
                        <a:latin typeface="Cambria Math" panose="02040503050406030204" pitchFamily="18" charset="0"/>
                      </a:rPr>
                      <m:t>=</m:t>
                    </m:r>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 </m:t>
                    </m:r>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m:t>
                        </m:r>
                        <m:r>
                          <a:rPr lang="en-US" i="1">
                            <a:latin typeface="Cambria Math" panose="02040503050406030204" pitchFamily="18" charset="0"/>
                          </a:rPr>
                          <m:t> </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r>
                              <a:rPr lang="en-US" i="1">
                                <a:latin typeface="Cambria Math" panose="02040503050406030204" pitchFamily="18" charset="0"/>
                              </a:rPr>
                              <m:t>𝑃𝐴</m:t>
                            </m:r>
                          </m:den>
                        </m:f>
                      </m:e>
                    </m:ra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𝑉</m:t>
                        </m:r>
                      </m:num>
                      <m:den>
                        <m:rad>
                          <m:radPr>
                            <m:degHide m:val="on"/>
                            <m:ctrlPr>
                              <a:rPr lang="en-US" i="1">
                                <a:latin typeface="Cambria Math" panose="02040503050406030204" pitchFamily="18" charset="0"/>
                              </a:rPr>
                            </m:ctrlPr>
                          </m:radPr>
                          <m:deg/>
                          <m:e>
                            <m:f>
                              <m:fPr>
                                <m:type m:val="skw"/>
                                <m:ctrlPr>
                                  <a:rPr lang="en-US" i="1">
                                    <a:latin typeface="Cambria Math" panose="02040503050406030204" pitchFamily="18" charset="0"/>
                                  </a:rPr>
                                </m:ctrlPr>
                              </m:fPr>
                              <m:num>
                                <m:r>
                                  <a:rPr lang="en-US" i="1">
                                    <a:latin typeface="Cambria Math" panose="02040503050406030204" pitchFamily="18" charset="0"/>
                                  </a:rPr>
                                  <m:t>𝑃</m:t>
                                </m:r>
                              </m:num>
                              <m:den>
                                <m:r>
                                  <a:rPr lang="en-US" i="1">
                                    <a:latin typeface="Cambria Math" panose="02040503050406030204" pitchFamily="18" charset="0"/>
                                  </a:rPr>
                                  <m:t>𝜌</m:t>
                                </m:r>
                              </m:den>
                            </m:f>
                          </m:e>
                        </m:rad>
                      </m:den>
                    </m:f>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3827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14:m>
                  <m:oMath xmlns:m="http://schemas.openxmlformats.org/officeDocument/2006/math">
                    <m:r>
                      <a:rPr lang="en-US" i="1" smtClean="0">
                        <a:latin typeface="Cambria Math"/>
                      </a:rPr>
                      <m:t> </m:t>
                    </m:r>
                  </m:oMath>
                </a14:m>
                <a:r>
                  <a:rPr lang="en-US" dirty="0"/>
                  <a:t>Weber Number (We)</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b="-8511"/>
                </a:stretch>
              </a:blipFill>
            </p:spPr>
            <p:txBody>
              <a:bodyPr/>
              <a:lstStyle/>
              <a:p>
                <a:r>
                  <a:rPr lang="en-GH">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14:m>
                  <m:oMath xmlns:m="http://schemas.openxmlformats.org/officeDocument/2006/math">
                    <m:r>
                      <a:rPr lang="en-US" i="1" smtClean="0">
                        <a:latin typeface="Cambria Math" panose="02040503050406030204" pitchFamily="18" charset="0"/>
                      </a:rPr>
                      <m:t>𝑊𝑒</m:t>
                    </m:r>
                    <m:r>
                      <a:rPr lang="en-US"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𝑠</m:t>
                                </m:r>
                              </m:sub>
                            </m:sSub>
                          </m:den>
                        </m:f>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𝑖𝑛𝑒𝑟𝑡𝑖𝑎</m:t>
                            </m:r>
                            <m:r>
                              <a:rPr lang="en-US" i="1">
                                <a:latin typeface="Cambria Math" panose="02040503050406030204" pitchFamily="18" charset="0"/>
                              </a:rPr>
                              <m:t> </m:t>
                            </m:r>
                            <m:r>
                              <a:rPr lang="en-US" i="1">
                                <a:latin typeface="Cambria Math" panose="02040503050406030204" pitchFamily="18" charset="0"/>
                              </a:rPr>
                              <m:t>𝑓𝑜𝑟𝑐𝑒</m:t>
                            </m:r>
                          </m:num>
                          <m:den>
                            <m:r>
                              <a:rPr lang="en-US" i="1">
                                <a:latin typeface="Cambria Math" panose="02040503050406030204" pitchFamily="18" charset="0"/>
                              </a:rPr>
                              <m:t>𝑠𝑢𝑟𝑓𝑎𝑐𝑒</m:t>
                            </m:r>
                            <m:r>
                              <a:rPr lang="en-US" i="1">
                                <a:latin typeface="Cambria Math" panose="02040503050406030204" pitchFamily="18" charset="0"/>
                              </a:rPr>
                              <m:t> </m:t>
                            </m:r>
                            <m:r>
                              <a:rPr lang="en-US" i="1">
                                <a:latin typeface="Cambria Math" panose="02040503050406030204" pitchFamily="18" charset="0"/>
                              </a:rPr>
                              <m:t>𝑡𝑒𝑛𝑠𝑖𝑜𝑛</m:t>
                            </m:r>
                          </m:den>
                        </m:f>
                        <m:r>
                          <a:rPr lang="en-US" i="1">
                            <a:latin typeface="Cambria Math" panose="02040503050406030204" pitchFamily="18" charset="0"/>
                          </a:rPr>
                          <m:t> </m:t>
                        </m:r>
                      </m:e>
                    </m:rad>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GB" b="0" i="1" smtClean="0">
                            <a:latin typeface="Cambria Math" panose="02040503050406030204" pitchFamily="18" charset="0"/>
                          </a:rPr>
                          <m:t>𝑉</m:t>
                        </m:r>
                      </m:e>
                      <m:sup>
                        <m:r>
                          <a:rPr lang="en-US" i="1">
                            <a:latin typeface="Cambria Math" panose="02040503050406030204" pitchFamily="18" charset="0"/>
                          </a:rPr>
                          <m:t>2</m:t>
                        </m:r>
                      </m:sup>
                    </m:sSup>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𝑠</m:t>
                        </m:r>
                      </m:sub>
                    </m:sSub>
                    <m:r>
                      <a:rPr lang="en-US" i="1">
                        <a:latin typeface="Cambria Math" panose="02040503050406030204" pitchFamily="18" charset="0"/>
                      </a:rPr>
                      <m:t>=</m:t>
                    </m:r>
                    <m:r>
                      <a:rPr lang="en-US" i="1">
                        <a:latin typeface="Cambria Math" panose="02040503050406030204" pitchFamily="18" charset="0"/>
                      </a:rPr>
                      <m:t>𝑆𝑢𝑟𝑓𝑎𝑐𝑒</m:t>
                    </m:r>
                    <m:r>
                      <a:rPr lang="en-US" i="1">
                        <a:latin typeface="Cambria Math" panose="02040503050406030204" pitchFamily="18" charset="0"/>
                      </a:rPr>
                      <m:t> </m:t>
                    </m:r>
                    <m:r>
                      <a:rPr lang="en-US" i="1">
                        <a:latin typeface="Cambria Math" panose="02040503050406030204" pitchFamily="18" charset="0"/>
                      </a:rPr>
                      <m:t>𝑡𝑒𝑛𝑠𝑖𝑜𝑛</m:t>
                    </m:r>
                    <m:r>
                      <a:rPr lang="en-US" i="1">
                        <a:latin typeface="Cambria Math" panose="02040503050406030204" pitchFamily="18" charset="0"/>
                      </a:rPr>
                      <m:t> </m:t>
                    </m:r>
                    <m:r>
                      <a:rPr lang="en-US" i="1">
                        <a:latin typeface="Cambria Math" panose="02040503050406030204" pitchFamily="18" charset="0"/>
                      </a:rPr>
                      <m:t>𝑝𝑒𝑟</m:t>
                    </m:r>
                    <m:r>
                      <a:rPr lang="en-US" i="1">
                        <a:latin typeface="Cambria Math" panose="02040503050406030204" pitchFamily="18" charset="0"/>
                      </a:rPr>
                      <m:t> </m:t>
                    </m:r>
                    <m:r>
                      <a:rPr lang="en-US" i="1">
                        <a:latin typeface="Cambria Math" panose="02040503050406030204" pitchFamily="18" charset="0"/>
                      </a:rPr>
                      <m:t>𝑢𝑛𝑖𝑡</m:t>
                    </m:r>
                    <m:r>
                      <a:rPr lang="en-US" i="1">
                        <a:latin typeface="Cambria Math" panose="02040503050406030204" pitchFamily="18" charset="0"/>
                      </a:rPr>
                      <m:t> </m:t>
                    </m:r>
                    <m:r>
                      <a:rPr lang="en-US" i="1">
                        <a:latin typeface="Cambria Math" panose="02040503050406030204" pitchFamily="18" charset="0"/>
                      </a:rPr>
                      <m:t>𝑙𝑒𝑛𝑔𝑡h</m:t>
                    </m:r>
                    <m:r>
                      <a:rPr lang="en-US" i="1">
                        <a:latin typeface="Cambria Math" panose="02040503050406030204" pitchFamily="18" charset="0"/>
                      </a:rPr>
                      <m:t> ×</m:t>
                    </m:r>
                    <m:r>
                      <a:rPr lang="en-US" i="1">
                        <a:latin typeface="Cambria Math" panose="02040503050406030204" pitchFamily="18" charset="0"/>
                      </a:rPr>
                      <m:t>𝑙𝑒𝑛𝑔𝑡h</m:t>
                    </m:r>
                  </m:oMath>
                </a14:m>
                <a:r>
                  <a:rPr lang="en-US" dirty="0"/>
                  <a:t> </a:t>
                </a:r>
              </a:p>
              <a:p>
                <a14:m>
                  <m:oMath xmlns:m="http://schemas.openxmlformats.org/officeDocument/2006/math">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r>
                      <a:rPr lang="en-US" i="1">
                        <a:latin typeface="Cambria Math" panose="02040503050406030204" pitchFamily="18" charset="0"/>
                      </a:rPr>
                      <m:t>×</m:t>
                    </m:r>
                    <m:r>
                      <a:rPr lang="en-US" i="1">
                        <a:latin typeface="Cambria Math" panose="02040503050406030204" pitchFamily="18" charset="0"/>
                      </a:rPr>
                      <m:t>𝐿</m:t>
                    </m:r>
                  </m:oMath>
                </a14:m>
                <a:r>
                  <a:rPr lang="en-US" dirty="0"/>
                  <a:t> </a:t>
                </a:r>
              </a:p>
              <a:p>
                <a14:m>
                  <m:oMath xmlns:m="http://schemas.openxmlformats.org/officeDocument/2006/math">
                    <m:r>
                      <a:rPr lang="en-US" i="1">
                        <a:latin typeface="Cambria Math" panose="02040503050406030204" pitchFamily="18" charset="0"/>
                      </a:rPr>
                      <m:t>𝑊𝑒</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r>
                              <a:rPr lang="en-US" i="1" smtClean="0">
                                <a:latin typeface="Cambria Math" panose="02040503050406030204" pitchFamily="18" charset="0"/>
                                <a:ea typeface="Cambria Math" panose="02040503050406030204" pitchFamily="18" charset="0"/>
                              </a:rPr>
                              <m:t>𝜎</m:t>
                            </m:r>
                            <m:r>
                              <a:rPr lang="en-US" i="1">
                                <a:latin typeface="Cambria Math" panose="02040503050406030204" pitchFamily="18" charset="0"/>
                              </a:rPr>
                              <m:t>𝐿</m:t>
                            </m:r>
                          </m:den>
                        </m:f>
                      </m:e>
                    </m:rad>
                  </m:oMath>
                </a14:m>
                <a:r>
                  <a:rPr lang="en-US" dirty="0"/>
                  <a:t> </a:t>
                </a:r>
              </a:p>
              <a:p>
                <a14:m>
                  <m:oMath xmlns:m="http://schemas.openxmlformats.org/officeDocument/2006/math">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𝜌</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𝑣</m:t>
                            </m:r>
                          </m:num>
                          <m:den>
                            <m:r>
                              <a:rPr lang="en-US" i="1" smtClean="0">
                                <a:latin typeface="Cambria Math" panose="02040503050406030204" pitchFamily="18" charset="0"/>
                                <a:ea typeface="Cambria Math" panose="02040503050406030204" pitchFamily="18" charset="0"/>
                              </a:rPr>
                              <m:t>𝜎</m:t>
                            </m:r>
                            <m:r>
                              <a:rPr lang="en-US" i="1">
                                <a:latin typeface="Cambria Math" panose="02040503050406030204" pitchFamily="18" charset="0"/>
                              </a:rPr>
                              <m:t>×</m:t>
                            </m:r>
                            <m:r>
                              <a:rPr lang="en-US" i="1">
                                <a:latin typeface="Cambria Math" panose="02040503050406030204" pitchFamily="18" charset="0"/>
                              </a:rPr>
                              <m:t>𝐿</m:t>
                            </m:r>
                          </m:den>
                        </m:f>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𝜌</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r>
                              <a:rPr lang="en-US" i="1">
                                <a:latin typeface="Cambria Math" panose="02040503050406030204" pitchFamily="18" charset="0"/>
                              </a:rPr>
                              <m:t>𝐿</m:t>
                            </m:r>
                          </m:num>
                          <m:den>
                            <m:r>
                              <a:rPr lang="en-US" i="1" smtClean="0">
                                <a:latin typeface="Cambria Math" panose="02040503050406030204" pitchFamily="18" charset="0"/>
                                <a:ea typeface="Cambria Math" panose="02040503050406030204" pitchFamily="18" charset="0"/>
                              </a:rPr>
                              <m:t>𝜎</m:t>
                            </m:r>
                          </m:den>
                        </m:f>
                      </m:e>
                    </m:rad>
                  </m:oMath>
                </a14:m>
                <a:r>
                  <a:rPr lang="en-US" dirty="0"/>
                  <a:t> </a:t>
                </a:r>
              </a:p>
              <a:p>
                <a14:m>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𝑉</m:t>
                        </m:r>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rPr>
                                  <m:t>𝜌</m:t>
                                </m:r>
                                <m:r>
                                  <a:rPr lang="en-US" i="1">
                                    <a:latin typeface="Cambria Math" panose="02040503050406030204" pitchFamily="18" charset="0"/>
                                  </a:rPr>
                                  <m:t>𝐿</m:t>
                                </m:r>
                              </m:den>
                            </m:f>
                          </m:e>
                        </m:rad>
                      </m:den>
                    </m:f>
                  </m:oMath>
                </a14:m>
                <a:r>
                  <a:rPr lang="en-US" dirty="0"/>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1037"/>
                </a:stretch>
              </a:blipFill>
            </p:spPr>
            <p:txBody>
              <a:bodyPr/>
              <a:lstStyle/>
              <a:p>
                <a:r>
                  <a:rPr lang="en-GH">
                    <a:noFill/>
                  </a:rPr>
                  <a:t> </a:t>
                </a:r>
              </a:p>
            </p:txBody>
          </p:sp>
        </mc:Fallback>
      </mc:AlternateContent>
    </p:spTree>
    <p:extLst>
      <p:ext uri="{BB962C8B-B14F-4D97-AF65-F5344CB8AC3E}">
        <p14:creationId xmlns:p14="http://schemas.microsoft.com/office/powerpoint/2010/main" val="1599960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0"/>
            <a:ext cx="8229600" cy="685800"/>
          </a:xfrm>
        </p:spPr>
        <p:txBody>
          <a:bodyPr>
            <a:normAutofit fontScale="90000"/>
          </a:bodyPr>
          <a:lstStyle/>
          <a:p>
            <a:r>
              <a:rPr lang="en-US" dirty="0"/>
              <a:t>Mach Number (M)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066800"/>
                <a:ext cx="9144000" cy="5638800"/>
              </a:xfrm>
            </p:spPr>
            <p:txBody>
              <a:bodyPr>
                <a:normAutofit fontScale="70000" lnSpcReduction="20000"/>
              </a:bodyPr>
              <a:lstStyle/>
              <a:p>
                <a:r>
                  <a:rPr lang="en-US" dirty="0"/>
                  <a:t>This is defined as </a:t>
                </a:r>
                <a14:m>
                  <m:oMath xmlns:m="http://schemas.openxmlformats.org/officeDocument/2006/math">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𝑖𝑛𝑒𝑟𝑡𝑖𝑎</m:t>
                            </m:r>
                            <m:r>
                              <a:rPr lang="en-US" i="1">
                                <a:latin typeface="Cambria Math" panose="02040503050406030204" pitchFamily="18" charset="0"/>
                              </a:rPr>
                              <m:t> </m:t>
                            </m:r>
                            <m:r>
                              <a:rPr lang="en-US" i="1">
                                <a:latin typeface="Cambria Math" panose="02040503050406030204" pitchFamily="18" charset="0"/>
                              </a:rPr>
                              <m:t>𝑓𝑜𝑟𝑐𝑒</m:t>
                            </m:r>
                          </m:num>
                          <m:den>
                            <m:r>
                              <a:rPr lang="en-US" i="1">
                                <a:latin typeface="Cambria Math" panose="02040503050406030204" pitchFamily="18" charset="0"/>
                              </a:rPr>
                              <m:t>𝐸𝑙𝑎𝑠𝑡𝑖𝑐</m:t>
                            </m:r>
                            <m:r>
                              <a:rPr lang="en-US" i="1">
                                <a:latin typeface="Cambria Math" panose="02040503050406030204" pitchFamily="18" charset="0"/>
                              </a:rPr>
                              <m:t> </m:t>
                            </m:r>
                            <m:r>
                              <a:rPr lang="en-US" i="1">
                                <a:latin typeface="Cambria Math" panose="02040503050406030204" pitchFamily="18" charset="0"/>
                              </a:rPr>
                              <m:t>𝑓𝑜𝑟𝑐𝑒</m:t>
                            </m:r>
                          </m:den>
                        </m:f>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𝑒</m:t>
                                </m:r>
                              </m:sub>
                            </m:sSub>
                          </m:den>
                        </m:f>
                      </m:e>
                    </m:rad>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GB" b="0" i="1" smtClean="0">
                            <a:latin typeface="Cambria Math" panose="02040503050406030204" pitchFamily="18" charset="0"/>
                          </a:rPr>
                          <m:t>𝑉</m:t>
                        </m:r>
                      </m:e>
                      <m:sup>
                        <m:r>
                          <a:rPr lang="en-US" i="1">
                            <a:latin typeface="Cambria Math" panose="02040503050406030204" pitchFamily="18" charset="0"/>
                          </a:rPr>
                          <m:t>2</m:t>
                        </m:r>
                      </m:sup>
                    </m:sSup>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𝑒</m:t>
                        </m:r>
                        <m:r>
                          <a:rPr lang="en-GB" b="0" i="1" smtClean="0">
                            <a:latin typeface="Cambria Math" panose="02040503050406030204" pitchFamily="18" charset="0"/>
                          </a:rPr>
                          <m:t> </m:t>
                        </m:r>
                      </m:sub>
                    </m:sSub>
                    <m:r>
                      <a:rPr lang="en-GB" b="0" i="1" smtClean="0">
                        <a:latin typeface="Cambria Math" panose="02040503050406030204" pitchFamily="18" charset="0"/>
                      </a:rPr>
                      <m:t>=</m:t>
                    </m:r>
                    <m:r>
                      <a:rPr lang="en-GB" b="0" i="1" smtClean="0">
                        <a:latin typeface="Cambria Math" panose="02040503050406030204" pitchFamily="18" charset="0"/>
                      </a:rPr>
                      <m:t>𝐸𝑙𝑎𝑠𝑡𝑖𝑐</m:t>
                    </m:r>
                    <m:r>
                      <a:rPr lang="en-GB" b="0" i="1" smtClean="0">
                        <a:latin typeface="Cambria Math" panose="02040503050406030204" pitchFamily="18" charset="0"/>
                      </a:rPr>
                      <m:t> </m:t>
                    </m:r>
                    <m:r>
                      <a:rPr lang="en-GB" b="0" i="1" smtClean="0">
                        <a:latin typeface="Cambria Math" panose="02040503050406030204" pitchFamily="18" charset="0"/>
                      </a:rPr>
                      <m:t>𝑆𝑡𝑟𝑒𝑠𝑠</m:t>
                    </m:r>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𝐴𝑟𝑒𝑎</m:t>
                    </m:r>
                  </m:oMath>
                </a14:m>
                <a:r>
                  <a:rPr lang="en-US" dirty="0"/>
                  <a:t> </a:t>
                </a:r>
              </a:p>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𝐾𝐴</m:t>
                    </m:r>
                  </m:oMath>
                </a14:m>
                <a:r>
                  <a:rPr lang="en-US" dirty="0"/>
                  <a:t> </a:t>
                </a:r>
              </a:p>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𝐾</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oMath>
                </a14:m>
                <a:r>
                  <a:rPr lang="en-US" dirty="0"/>
                  <a:t> </a:t>
                </a:r>
              </a:p>
              <a:p>
                <a14:m>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𝐴</m:t>
                            </m:r>
                            <m:sSup>
                              <m:sSupPr>
                                <m:ctrlPr>
                                  <a:rPr lang="en-US" i="1">
                                    <a:latin typeface="Cambria Math" panose="02040503050406030204" pitchFamily="18" charset="0"/>
                                  </a:rPr>
                                </m:ctrlPr>
                              </m:sSupPr>
                              <m:e>
                                <m:r>
                                  <a:rPr lang="en-GB" b="0" i="1" smtClean="0">
                                    <a:latin typeface="Cambria Math" panose="02040503050406030204" pitchFamily="18" charset="0"/>
                                  </a:rPr>
                                  <m:t>𝑉</m:t>
                                </m:r>
                              </m:e>
                              <m:sup>
                                <m:r>
                                  <a:rPr lang="en-US" i="1">
                                    <a:latin typeface="Cambria Math" panose="02040503050406030204" pitchFamily="18" charset="0"/>
                                  </a:rPr>
                                  <m:t>2</m:t>
                                </m:r>
                              </m:sup>
                            </m:sSup>
                          </m:num>
                          <m:den>
                            <m:r>
                              <a:rPr lang="en-US" i="1">
                                <a:latin typeface="Cambria Math" panose="02040503050406030204" pitchFamily="18" charset="0"/>
                              </a:rPr>
                              <m:t>𝐾</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𝜌</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GB" b="0" i="1" smtClean="0">
                                    <a:latin typeface="Cambria Math" panose="02040503050406030204" pitchFamily="18" charset="0"/>
                                  </a:rPr>
                                  <m:t>𝑉</m:t>
                                </m:r>
                              </m:e>
                              <m:sup>
                                <m:r>
                                  <a:rPr lang="en-US" i="1">
                                    <a:latin typeface="Cambria Math" panose="02040503050406030204" pitchFamily="18" charset="0"/>
                                  </a:rPr>
                                  <m:t>2</m:t>
                                </m:r>
                              </m:sup>
                            </m:sSup>
                          </m:num>
                          <m:den>
                            <m:r>
                              <a:rPr lang="en-US" i="1">
                                <a:latin typeface="Cambria Math" panose="02040503050406030204" pitchFamily="18" charset="0"/>
                              </a:rPr>
                              <m:t>𝐾</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e>
                    </m:rad>
                  </m:oMath>
                </a14:m>
                <a:r>
                  <a:rPr lang="en-US" dirty="0"/>
                  <a:t>    </a:t>
                </a:r>
              </a:p>
              <a:p>
                <a14:m>
                  <m:oMath xmlns:m="http://schemas.openxmlformats.org/officeDocument/2006/math">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GB" b="0" i="1" smtClean="0">
                                    <a:latin typeface="Cambria Math" panose="02040503050406030204" pitchFamily="18" charset="0"/>
                                  </a:rPr>
                                  <m:t>𝑉</m:t>
                                </m:r>
                              </m:e>
                              <m:sup>
                                <m:r>
                                  <a:rPr lang="en-US" i="1">
                                    <a:latin typeface="Cambria Math" panose="02040503050406030204" pitchFamily="18" charset="0"/>
                                  </a:rPr>
                                  <m:t>2</m:t>
                                </m:r>
                              </m:sup>
                            </m:sSup>
                          </m:num>
                          <m:den>
                            <m:f>
                              <m:fPr>
                                <m:type m:val="skw"/>
                                <m:ctrlPr>
                                  <a:rPr lang="en-US" i="1">
                                    <a:latin typeface="Cambria Math" panose="02040503050406030204" pitchFamily="18" charset="0"/>
                                  </a:rPr>
                                </m:ctrlPr>
                              </m:fPr>
                              <m:num>
                                <m:r>
                                  <a:rPr lang="en-US" i="1">
                                    <a:latin typeface="Cambria Math" panose="02040503050406030204" pitchFamily="18" charset="0"/>
                                  </a:rPr>
                                  <m:t>𝐾</m:t>
                                </m:r>
                              </m:num>
                              <m:den>
                                <m:r>
                                  <a:rPr lang="en-US" i="1">
                                    <a:latin typeface="Cambria Math" panose="02040503050406030204" pitchFamily="18" charset="0"/>
                                  </a:rPr>
                                  <m:t>𝜌</m:t>
                                </m:r>
                              </m:den>
                            </m:f>
                          </m:den>
                        </m:f>
                      </m:e>
                    </m:rad>
                  </m:oMath>
                </a14:m>
                <a:r>
                  <a:rPr lang="en-US" dirty="0"/>
                  <a:t> </a:t>
                </a:r>
              </a:p>
              <a:p>
                <a14:m>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𝑣</m:t>
                        </m:r>
                      </m:num>
                      <m:den>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𝐾</m:t>
                                </m:r>
                              </m:num>
                              <m:den>
                                <m:r>
                                  <a:rPr lang="en-US" i="1">
                                    <a:latin typeface="Cambria Math" panose="02040503050406030204" pitchFamily="18" charset="0"/>
                                  </a:rPr>
                                  <m:t>𝜌</m:t>
                                </m:r>
                              </m:den>
                            </m:f>
                          </m:e>
                        </m:rad>
                      </m:den>
                    </m:f>
                  </m:oMath>
                </a14:m>
                <a:r>
                  <a:rPr lang="en-US" dirty="0"/>
                  <a:t> </a:t>
                </a:r>
              </a:p>
              <a:p>
                <a:r>
                  <a:rPr lang="en-US" dirty="0"/>
                  <a:t>But </a:t>
                </a:r>
                <a14:m>
                  <m:oMath xmlns:m="http://schemas.openxmlformats.org/officeDocument/2006/math">
                    <m:rad>
                      <m:radPr>
                        <m:degHide m:val="on"/>
                        <m:ctrlPr>
                          <a:rPr lang="en-US" i="1">
                            <a:latin typeface="Cambria Math" panose="02040503050406030204" pitchFamily="18" charset="0"/>
                          </a:rPr>
                        </m:ctrlPr>
                      </m:radPr>
                      <m:deg/>
                      <m:e>
                        <m:f>
                          <m:fPr>
                            <m:type m:val="skw"/>
                            <m:ctrlPr>
                              <a:rPr lang="en-US" i="1">
                                <a:latin typeface="Cambria Math" panose="02040503050406030204" pitchFamily="18" charset="0"/>
                              </a:rPr>
                            </m:ctrlPr>
                          </m:fPr>
                          <m:num>
                            <m:r>
                              <a:rPr lang="en-US" i="1">
                                <a:latin typeface="Cambria Math" panose="02040503050406030204" pitchFamily="18" charset="0"/>
                              </a:rPr>
                              <m:t>𝐾</m:t>
                            </m:r>
                          </m:num>
                          <m:den>
                            <m:r>
                              <a:rPr lang="en-US" i="1">
                                <a:latin typeface="Cambria Math" panose="02040503050406030204" pitchFamily="18" charset="0"/>
                              </a:rPr>
                              <m:t>𝜌</m:t>
                            </m:r>
                          </m:den>
                        </m:f>
                      </m:e>
                    </m:rad>
                    <m:r>
                      <a:rPr lang="en-US" i="1">
                        <a:latin typeface="Cambria Math" panose="02040503050406030204" pitchFamily="18" charset="0"/>
                      </a:rPr>
                      <m:t>=</m:t>
                    </m:r>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𝑣𝑒𝑙𝑜𝑐𝑖𝑡𝑦</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𝑠𝑜𝑢𝑛𝑑</m:t>
                    </m:r>
                    <m:r>
                      <a:rPr lang="en-US" i="1">
                        <a:latin typeface="Cambria Math" panose="02040503050406030204" pitchFamily="18" charset="0"/>
                      </a:rPr>
                      <m:t> </m:t>
                    </m:r>
                    <m:r>
                      <a:rPr lang="en-US" i="1">
                        <a:latin typeface="Cambria Math" panose="02040503050406030204" pitchFamily="18" charset="0"/>
                      </a:rPr>
                      <m:t>𝑖𝑛</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𝑓𝑙𝑢𝑖𝑑</m:t>
                    </m:r>
                  </m:oMath>
                </a14:m>
                <a:endParaRPr lang="en-US" dirty="0"/>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rPr>
                      <m:t>𝑀</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𝑣</m:t>
                        </m:r>
                      </m:num>
                      <m:den>
                        <m:r>
                          <a:rPr lang="en-US" i="1">
                            <a:latin typeface="Cambria Math" panose="02040503050406030204" pitchFamily="18" charset="0"/>
                          </a:rPr>
                          <m:t>𝐶</m:t>
                        </m:r>
                      </m:den>
                    </m:f>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066800"/>
                <a:ext cx="9144000" cy="5638800"/>
              </a:xfrm>
              <a:blipFill>
                <a:blip r:embed="rId3"/>
                <a:stretch>
                  <a:fillRect l="-733"/>
                </a:stretch>
              </a:blipFill>
            </p:spPr>
            <p:txBody>
              <a:bodyPr/>
              <a:lstStyle/>
              <a:p>
                <a:r>
                  <a:rPr lang="en-GH">
                    <a:noFill/>
                  </a:rPr>
                  <a:t> </a:t>
                </a:r>
              </a:p>
            </p:txBody>
          </p:sp>
        </mc:Fallback>
      </mc:AlternateContent>
    </p:spTree>
    <p:extLst>
      <p:ext uri="{BB962C8B-B14F-4D97-AF65-F5344CB8AC3E}">
        <p14:creationId xmlns:p14="http://schemas.microsoft.com/office/powerpoint/2010/main" val="2253359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Model laws or similarity laws</a:t>
            </a:r>
            <a:endParaRPr lang="en-US" dirty="0"/>
          </a:p>
        </p:txBody>
      </p:sp>
      <p:sp>
        <p:nvSpPr>
          <p:cNvPr id="3" name="Content Placeholder 2"/>
          <p:cNvSpPr>
            <a:spLocks noGrp="1"/>
          </p:cNvSpPr>
          <p:nvPr>
            <p:ph idx="1"/>
          </p:nvPr>
        </p:nvSpPr>
        <p:spPr>
          <a:xfrm>
            <a:off x="381000" y="914400"/>
            <a:ext cx="8305800" cy="5486400"/>
          </a:xfrm>
        </p:spPr>
        <p:txBody>
          <a:bodyPr>
            <a:normAutofit fontScale="85000" lnSpcReduction="10000"/>
          </a:bodyPr>
          <a:lstStyle/>
          <a:p>
            <a:r>
              <a:rPr lang="en-US" dirty="0"/>
              <a:t>Dynamic similarity between the model and the prototype requires that the ratio of the corresponding force acting at the corresponding points in the model and the prototype should be equal. That is, for dynamic similarity between model and prototype, the dimensionless numbers should be the same for the model and the prototype.</a:t>
            </a:r>
          </a:p>
          <a:p>
            <a:r>
              <a:rPr lang="en-US" dirty="0"/>
              <a:t>However, it is difficult to satisfy the condition that the dimensionless numbers (Re, Fr, We, Eu, M) be the same for the model and the prototype.</a:t>
            </a:r>
          </a:p>
          <a:p>
            <a:r>
              <a:rPr lang="en-US" dirty="0"/>
              <a:t>Hence models are designed on the basis of ratio of force which dominates in the phenomenon. The laws on which the models are designed for dynamic similarity are called model laws or laws of similarity</a:t>
            </a:r>
          </a:p>
          <a:p>
            <a:endParaRPr lang="en-US" dirty="0"/>
          </a:p>
        </p:txBody>
      </p:sp>
    </p:spTree>
    <p:extLst>
      <p:ext uri="{BB962C8B-B14F-4D97-AF65-F5344CB8AC3E}">
        <p14:creationId xmlns:p14="http://schemas.microsoft.com/office/powerpoint/2010/main" val="2923353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85800"/>
          </a:xfrm>
        </p:spPr>
        <p:txBody>
          <a:bodyPr>
            <a:normAutofit fontScale="90000"/>
          </a:bodyPr>
          <a:lstStyle/>
          <a:p>
            <a:r>
              <a:rPr lang="en-US" dirty="0"/>
              <a:t>Model laws are:</a:t>
            </a:r>
          </a:p>
        </p:txBody>
      </p:sp>
      <p:sp>
        <p:nvSpPr>
          <p:cNvPr id="3" name="Content Placeholder 2"/>
          <p:cNvSpPr>
            <a:spLocks noGrp="1"/>
          </p:cNvSpPr>
          <p:nvPr>
            <p:ph idx="1"/>
          </p:nvPr>
        </p:nvSpPr>
        <p:spPr>
          <a:xfrm>
            <a:off x="457200" y="1066800"/>
            <a:ext cx="8229600" cy="5059363"/>
          </a:xfrm>
        </p:spPr>
        <p:txBody>
          <a:bodyPr/>
          <a:lstStyle/>
          <a:p>
            <a:pPr marL="0" indent="0">
              <a:buNone/>
            </a:pPr>
            <a:endParaRPr lang="en-US" dirty="0"/>
          </a:p>
          <a:p>
            <a:pPr lvl="0"/>
            <a:r>
              <a:rPr lang="en-GB" dirty="0"/>
              <a:t>Reynolds model law </a:t>
            </a:r>
            <a:endParaRPr lang="en-US" dirty="0"/>
          </a:p>
          <a:p>
            <a:pPr lvl="0"/>
            <a:r>
              <a:rPr lang="en-GB" dirty="0"/>
              <a:t>Froude model law</a:t>
            </a:r>
            <a:endParaRPr lang="en-US" dirty="0"/>
          </a:p>
          <a:p>
            <a:pPr lvl="0"/>
            <a:r>
              <a:rPr lang="en-GB" dirty="0"/>
              <a:t>Euler model law</a:t>
            </a:r>
            <a:endParaRPr lang="en-US" dirty="0"/>
          </a:p>
          <a:p>
            <a:pPr lvl="0"/>
            <a:r>
              <a:rPr lang="en-GB" dirty="0"/>
              <a:t>Weber model law</a:t>
            </a:r>
            <a:endParaRPr lang="en-US" dirty="0"/>
          </a:p>
          <a:p>
            <a:pPr lvl="0"/>
            <a:r>
              <a:rPr lang="en-GB" dirty="0"/>
              <a:t>Mach model law</a:t>
            </a:r>
            <a:endParaRPr lang="en-US" dirty="0"/>
          </a:p>
          <a:p>
            <a:endParaRPr lang="en-US" dirty="0"/>
          </a:p>
        </p:txBody>
      </p:sp>
    </p:spTree>
    <p:extLst>
      <p:ext uri="{BB962C8B-B14F-4D97-AF65-F5344CB8AC3E}">
        <p14:creationId xmlns:p14="http://schemas.microsoft.com/office/powerpoint/2010/main" val="2380183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GB" dirty="0"/>
              <a:t>Reynolds model law:</a:t>
            </a:r>
            <a:endParaRPr lang="en-US" dirty="0"/>
          </a:p>
        </p:txBody>
      </p:sp>
      <p:sp>
        <p:nvSpPr>
          <p:cNvPr id="3" name="Content Placeholder 2"/>
          <p:cNvSpPr>
            <a:spLocks noGrp="1"/>
          </p:cNvSpPr>
          <p:nvPr>
            <p:ph idx="1"/>
          </p:nvPr>
        </p:nvSpPr>
        <p:spPr>
          <a:xfrm>
            <a:off x="0" y="990600"/>
            <a:ext cx="9144000" cy="5486400"/>
          </a:xfrm>
        </p:spPr>
        <p:txBody>
          <a:bodyPr>
            <a:normAutofit/>
          </a:bodyPr>
          <a:lstStyle/>
          <a:p>
            <a:pPr marL="0" lvl="0" indent="0">
              <a:buNone/>
            </a:pPr>
            <a:r>
              <a:rPr lang="en-GB" dirty="0"/>
              <a:t>Law in which models are based on Reynolds number similarity.</a:t>
            </a:r>
            <a:r>
              <a:rPr lang="en-US" dirty="0"/>
              <a:t> </a:t>
            </a:r>
            <a:r>
              <a:rPr lang="en-GB" dirty="0"/>
              <a:t>Models based on Reynolds number include:</a:t>
            </a:r>
            <a:endParaRPr lang="en-US" dirty="0"/>
          </a:p>
          <a:p>
            <a:pPr lvl="0"/>
            <a:r>
              <a:rPr lang="en-GB" dirty="0"/>
              <a:t>Pipe flow</a:t>
            </a:r>
            <a:endParaRPr lang="en-US" dirty="0"/>
          </a:p>
          <a:p>
            <a:pPr lvl="0"/>
            <a:r>
              <a:rPr lang="en-GB" dirty="0"/>
              <a:t>Resistance experienced by sub-marines, airplanes or fully immersed bodies.</a:t>
            </a:r>
            <a:endParaRPr lang="en-US" dirty="0"/>
          </a:p>
          <a:p>
            <a:pPr marL="0" indent="0">
              <a:buNone/>
            </a:pPr>
            <a:r>
              <a:rPr lang="en-US" dirty="0"/>
              <a:t>These are fluid flow problems where viscous forces predominate.  Models are designed for dynamic similarity of Reynolds number, which state that the Reynolds number for the model must be equal to the Reynolds number for the prototype.</a:t>
            </a:r>
          </a:p>
          <a:p>
            <a:endParaRPr lang="en-US" dirty="0"/>
          </a:p>
        </p:txBody>
      </p:sp>
    </p:spTree>
    <p:extLst>
      <p:ext uri="{BB962C8B-B14F-4D97-AF65-F5344CB8AC3E}">
        <p14:creationId xmlns:p14="http://schemas.microsoft.com/office/powerpoint/2010/main" val="2373623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0"/>
                <a:ext cx="9144000" cy="6781800"/>
              </a:xfrm>
            </p:spPr>
            <p:txBody>
              <a:bodyPr>
                <a:normAutofit fontScale="92500" lnSpcReduction="10000"/>
              </a:bodyPr>
              <a:lstStyle/>
              <a:p>
                <a:pPr marL="0" indent="0">
                  <a:buNone/>
                </a:pPr>
                <a:r>
                  <a:rPr lang="en-US" dirty="0"/>
                  <a:t>Let</a:t>
                </a:r>
              </a:p>
              <a:p>
                <a:pPr marL="0" indent="0">
                  <a:buNone/>
                </a:pPr>
                <a:r>
                  <a:rPr lang="en-US" dirty="0"/>
                  <a:t>	</a:t>
                </a:r>
                <a:r>
                  <a:rPr lang="en-US" dirty="0" err="1"/>
                  <a:t>V</a:t>
                </a:r>
                <a:r>
                  <a:rPr lang="en-US" baseline="-25000" dirty="0" err="1"/>
                  <a:t>m</a:t>
                </a:r>
                <a:r>
                  <a:rPr lang="en-US" dirty="0"/>
                  <a:t>=velocity of fluid in model</a:t>
                </a:r>
              </a:p>
              <a:p>
                <a:pPr marL="0" indent="0">
                  <a:buNone/>
                </a:pPr>
                <a:r>
                  <a:rPr lang="en-US" dirty="0"/>
                  <a:t>	</a:t>
                </a:r>
                <a:r>
                  <a:rPr lang="en-US" dirty="0" err="1"/>
                  <a:t>ρ</a:t>
                </a:r>
                <a:r>
                  <a:rPr lang="en-US" baseline="-25000" dirty="0" err="1"/>
                  <a:t>m</a:t>
                </a:r>
                <a:r>
                  <a:rPr lang="en-US" dirty="0"/>
                  <a:t>=density of fluid in model</a:t>
                </a:r>
              </a:p>
              <a:p>
                <a:pPr marL="0" indent="0">
                  <a:buNone/>
                </a:pPr>
                <a:r>
                  <a:rPr lang="en-US" dirty="0"/>
                  <a:t>	</a:t>
                </a:r>
                <a:r>
                  <a:rPr lang="en-US" dirty="0" err="1"/>
                  <a:t>L</a:t>
                </a:r>
                <a:r>
                  <a:rPr lang="en-US" baseline="-25000" dirty="0" err="1"/>
                  <a:t>m</a:t>
                </a:r>
                <a:r>
                  <a:rPr lang="en-US" dirty="0"/>
                  <a:t>=length or linear dimension</a:t>
                </a:r>
              </a:p>
              <a:p>
                <a:pPr marL="0" indent="0">
                  <a:buNone/>
                </a:pPr>
                <a:r>
                  <a:rPr lang="en-US" dirty="0"/>
                  <a:t>	</a:t>
                </a:r>
                <a:r>
                  <a:rPr lang="en-US" dirty="0" err="1"/>
                  <a:t>μ</a:t>
                </a:r>
                <a:r>
                  <a:rPr lang="en-US" baseline="-25000" dirty="0" err="1"/>
                  <a:t>m</a:t>
                </a:r>
                <a:r>
                  <a:rPr lang="en-US" dirty="0"/>
                  <a:t>=viscosity </a:t>
                </a:r>
              </a:p>
              <a:p>
                <a:pPr marL="0" indent="0">
                  <a:buNone/>
                </a:pPr>
                <a:r>
                  <a:rPr lang="en-US" dirty="0"/>
                  <a:t>And </a:t>
                </a:r>
                <a:r>
                  <a:rPr lang="en-US" dirty="0" err="1"/>
                  <a:t>V</a:t>
                </a:r>
                <a:r>
                  <a:rPr lang="en-US" baseline="-25000" dirty="0" err="1"/>
                  <a:t>p</a:t>
                </a:r>
                <a:r>
                  <a:rPr lang="en-US" dirty="0"/>
                  <a:t>, </a:t>
                </a:r>
                <a:r>
                  <a:rPr lang="en-US" dirty="0" err="1"/>
                  <a:t>ρ</a:t>
                </a:r>
                <a:r>
                  <a:rPr lang="en-US" baseline="-25000" dirty="0" err="1"/>
                  <a:t>p</a:t>
                </a:r>
                <a:r>
                  <a:rPr lang="en-US" dirty="0"/>
                  <a:t>, </a:t>
                </a:r>
                <a:r>
                  <a:rPr lang="en-US" dirty="0" err="1"/>
                  <a:t>L</a:t>
                </a:r>
                <a:r>
                  <a:rPr lang="en-US" baseline="-25000" dirty="0" err="1"/>
                  <a:t>p</a:t>
                </a:r>
                <a:r>
                  <a:rPr lang="en-US" dirty="0"/>
                  <a:t>, </a:t>
                </a:r>
                <a:r>
                  <a:rPr lang="el-GR" dirty="0"/>
                  <a:t>μ</a:t>
                </a:r>
                <a:r>
                  <a:rPr lang="en-US" baseline="-25000" dirty="0"/>
                  <a:t>p</a:t>
                </a:r>
                <a:r>
                  <a:rPr lang="en-US" dirty="0"/>
                  <a:t> the corresponding values for the prototype. Then according to Reynolds no model law,</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d>
                            <m:dPr>
                              <m:ctrlPr>
                                <a:rPr lang="en-US" i="1">
                                  <a:latin typeface="Cambria Math" panose="02040503050406030204" pitchFamily="18" charset="0"/>
                                </a:rPr>
                              </m:ctrlPr>
                            </m:dPr>
                            <m:e>
                              <m:r>
                                <a:rPr lang="en-US" i="1">
                                  <a:latin typeface="Cambria Math" panose="02040503050406030204" pitchFamily="18" charset="0"/>
                                </a:rPr>
                                <m:t>𝑅𝑒</m:t>
                              </m:r>
                            </m:e>
                          </m:d>
                        </m:e>
                        <m:sub>
                          <m:r>
                            <a:rPr lang="en-US" i="1">
                              <a:latin typeface="Cambria Math" panose="02040503050406030204" pitchFamily="18" charset="0"/>
                            </a:rPr>
                            <m:t>𝑚</m:t>
                          </m:r>
                        </m:sub>
                      </m:sSub>
                      <m:r>
                        <a:rPr lang="en-US" i="1">
                          <a:latin typeface="Cambria Math" panose="02040503050406030204" pitchFamily="18" charset="0"/>
                        </a:rPr>
                        <m:t>=</m:t>
                      </m:r>
                      <m:sSub>
                        <m:sSubPr>
                          <m:ctrlPr>
                            <a:rPr lang="en-US" i="1">
                              <a:latin typeface="Cambria Math" panose="02040503050406030204" pitchFamily="18" charset="0"/>
                            </a:rPr>
                          </m:ctrlPr>
                        </m:sSubPr>
                        <m:e>
                          <m:d>
                            <m:dPr>
                              <m:ctrlPr>
                                <a:rPr lang="en-US" i="1">
                                  <a:latin typeface="Cambria Math" panose="02040503050406030204" pitchFamily="18" charset="0"/>
                                </a:rPr>
                              </m:ctrlPr>
                            </m:dPr>
                            <m:e>
                              <m:r>
                                <a:rPr lang="en-US" i="1">
                                  <a:latin typeface="Cambria Math" panose="02040503050406030204" pitchFamily="18" charset="0"/>
                                </a:rPr>
                                <m:t>𝑅𝑒</m:t>
                              </m:r>
                            </m:e>
                          </m:d>
                        </m:e>
                        <m:sub>
                          <m:r>
                            <a:rPr lang="en-US" i="1">
                              <a:latin typeface="Cambria Math" panose="02040503050406030204" pitchFamily="18" charset="0"/>
                            </a:rPr>
                            <m:t>𝑝</m:t>
                          </m:r>
                          <m:r>
                            <a:rPr lang="en-US" i="1">
                              <a:latin typeface="Cambria Math" panose="02040503050406030204" pitchFamily="18" charset="0"/>
                            </a:rPr>
                            <m:t> </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𝑚</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𝑝</m:t>
                              </m:r>
                            </m:sub>
                          </m:sSub>
                        </m:den>
                      </m:f>
                      <m:r>
                        <a:rPr lang="en-US" i="1">
                          <a:latin typeface="Cambria Math" panose="02040503050406030204" pitchFamily="18" charset="0"/>
                        </a:rPr>
                        <m:t> </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=&gt;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m:t>
                              </m:r>
                            </m:sub>
                          </m:sSub>
                        </m:num>
                        <m:den>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𝑟</m:t>
                              </m:r>
                            </m:sub>
                          </m:sSub>
                        </m:den>
                      </m:f>
                      <m:r>
                        <a:rPr lang="en-US" i="1">
                          <a:latin typeface="Cambria Math" panose="02040503050406030204" pitchFamily="18" charset="0"/>
                        </a:rPr>
                        <m:t>=1</m:t>
                      </m:r>
                    </m:oMath>
                  </m:oMathPara>
                </a14:m>
                <a:endParaRPr lang="en-US" dirty="0"/>
              </a:p>
              <a:p>
                <a:r>
                  <a:rPr lang="en-US" dirty="0"/>
                  <a:t>Where </a:t>
                </a:r>
                <a:r>
                  <a:rPr lang="en-US" dirty="0" err="1"/>
                  <a:t>ρ</a:t>
                </a:r>
                <a:r>
                  <a:rPr lang="en-US" baseline="-25000" dirty="0" err="1"/>
                  <a:t>r</a:t>
                </a:r>
                <a:r>
                  <a:rPr lang="en-US" dirty="0"/>
                  <a:t>, </a:t>
                </a:r>
                <a:r>
                  <a:rPr lang="en-US" dirty="0" err="1"/>
                  <a:t>V</a:t>
                </a:r>
                <a:r>
                  <a:rPr lang="en-US" baseline="-25000" dirty="0" err="1"/>
                  <a:t>r</a:t>
                </a:r>
                <a:r>
                  <a:rPr lang="en-US" dirty="0"/>
                  <a:t>, L</a:t>
                </a:r>
                <a:r>
                  <a:rPr lang="en-US" baseline="-25000" dirty="0"/>
                  <a:t>r</a:t>
                </a:r>
                <a:r>
                  <a:rPr lang="en-US" dirty="0"/>
                  <a:t>, </a:t>
                </a:r>
                <a:r>
                  <a:rPr lang="el-GR" dirty="0"/>
                  <a:t>μ</a:t>
                </a:r>
                <a:r>
                  <a:rPr lang="en-US" baseline="-25000" dirty="0"/>
                  <a:t>r</a:t>
                </a:r>
                <a:r>
                  <a:rPr lang="en-US" dirty="0"/>
                  <a:t> are called scale ratios for density, velocity, linear dimension and viscosity.</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0"/>
                <a:ext cx="9144000" cy="6781800"/>
              </a:xfrm>
              <a:blipFill>
                <a:blip r:embed="rId3"/>
                <a:stretch>
                  <a:fillRect l="-1533" t="-1797" b="-2516"/>
                </a:stretch>
              </a:blipFill>
            </p:spPr>
            <p:txBody>
              <a:bodyPr/>
              <a:lstStyle/>
              <a:p>
                <a:r>
                  <a:rPr lang="en-GH">
                    <a:noFill/>
                  </a:rPr>
                  <a:t> </a:t>
                </a:r>
              </a:p>
            </p:txBody>
          </p:sp>
        </mc:Fallback>
      </mc:AlternateContent>
    </p:spTree>
    <p:extLst>
      <p:ext uri="{BB962C8B-B14F-4D97-AF65-F5344CB8AC3E}">
        <p14:creationId xmlns:p14="http://schemas.microsoft.com/office/powerpoint/2010/main" val="3346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533400"/>
                <a:ext cx="8305800" cy="5943600"/>
              </a:xfrm>
            </p:spPr>
            <p:txBody>
              <a:bodyPr>
                <a:normAutofit fontScale="85000" lnSpcReduction="10000"/>
              </a:bodyPr>
              <a:lstStyle/>
              <a:p>
                <a:r>
                  <a:rPr lang="en-US" dirty="0"/>
                  <a:t>We can also derive scale ratios for time, acceleration, force and discharge.</a:t>
                </a:r>
              </a:p>
              <a:p>
                <a:r>
                  <a:rPr lang="en-US" dirty="0"/>
                  <a:t>For Reynolds model law as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𝑟</m:t>
                        </m:r>
                      </m:sub>
                    </m:sSub>
                    <m:r>
                      <a:rPr lang="en-US" i="1">
                        <a:latin typeface="Cambria Math" panose="02040503050406030204" pitchFamily="18" charset="0"/>
                      </a:rPr>
                      <m:t>=</m:t>
                    </m:r>
                    <m:r>
                      <a:rPr lang="en-US" i="1">
                        <a:latin typeface="Cambria Math" panose="02040503050406030204" pitchFamily="18" charset="0"/>
                      </a:rPr>
                      <m:t>𝑡𝑖𝑚𝑒</m:t>
                    </m:r>
                    <m:r>
                      <a:rPr lang="en-US" i="1">
                        <a:latin typeface="Cambria Math" panose="02040503050406030204" pitchFamily="18" charset="0"/>
                      </a:rPr>
                      <m:t> </m:t>
                    </m:r>
                    <m:r>
                      <a:rPr lang="en-US" i="1">
                        <a:latin typeface="Cambria Math" panose="02040503050406030204" pitchFamily="18" charset="0"/>
                      </a:rPr>
                      <m:t>𝑠𝑐𝑎𝑙𝑒</m:t>
                    </m:r>
                    <m:r>
                      <a:rPr lang="en-US" i="1">
                        <a:latin typeface="Cambria Math" panose="02040503050406030204" pitchFamily="18" charset="0"/>
                      </a:rPr>
                      <m:t> </m:t>
                    </m:r>
                    <m:r>
                      <a:rPr lang="en-US" i="1">
                        <a:latin typeface="Cambria Math" panose="02040503050406030204" pitchFamily="18" charset="0"/>
                      </a:rPr>
                      <m:t>𝑟𝑎𝑡𝑖𝑜</m:t>
                    </m:r>
                  </m:oMath>
                </a14:m>
                <a:endParaRPr lang="en-US" dirty="0"/>
              </a:p>
              <a:p>
                <a14:m>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𝑟</m:t>
                            </m:r>
                          </m:sub>
                        </m:sSub>
                      </m:den>
                    </m:f>
                  </m:oMath>
                </a14:m>
                <a:r>
                  <a:rPr lang="en-US" dirty="0"/>
                  <a:t> </a:t>
                </a:r>
              </a:p>
              <a:p>
                <a:pPr marL="0" indent="0">
                  <a:buNone/>
                </a:pPr>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𝑟</m:t>
                        </m:r>
                      </m:sub>
                    </m:sSub>
                    <m:r>
                      <a:rPr lang="en-US" i="1">
                        <a:latin typeface="Cambria Math" panose="02040503050406030204" pitchFamily="18" charset="0"/>
                      </a:rPr>
                      <m:t>=</m:t>
                    </m:r>
                    <m:r>
                      <a:rPr lang="en-US" i="1">
                        <a:latin typeface="Cambria Math" panose="02040503050406030204" pitchFamily="18" charset="0"/>
                      </a:rPr>
                      <m:t>𝑎𝑐𝑐𝑙𝑒𝑟𝑎𝑡𝑖𝑜𝑛</m:t>
                    </m:r>
                    <m:r>
                      <a:rPr lang="en-US" i="1">
                        <a:latin typeface="Cambria Math" panose="02040503050406030204" pitchFamily="18" charset="0"/>
                      </a:rPr>
                      <m:t> </m:t>
                    </m:r>
                    <m:r>
                      <a:rPr lang="en-US" i="1">
                        <a:latin typeface="Cambria Math" panose="02040503050406030204" pitchFamily="18" charset="0"/>
                      </a:rPr>
                      <m:t>𝑠𝑐𝑎𝑙𝑒</m:t>
                    </m:r>
                    <m:r>
                      <a:rPr lang="en-US" i="1">
                        <a:latin typeface="Cambria Math" panose="02040503050406030204" pitchFamily="18" charset="0"/>
                      </a:rPr>
                      <m:t> </m:t>
                    </m:r>
                    <m:r>
                      <a:rPr lang="en-US" i="1">
                        <a:latin typeface="Cambria Math" panose="02040503050406030204" pitchFamily="18" charset="0"/>
                      </a:rPr>
                      <m:t>𝑟𝑎𝑡𝑖𝑜</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𝑟</m:t>
                            </m:r>
                          </m:sub>
                        </m:sSub>
                      </m:num>
                      <m:den>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𝑟</m:t>
                            </m:r>
                          </m:sub>
                        </m:sSub>
                      </m:den>
                    </m:f>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𝑟</m:t>
                        </m:r>
                      </m:sub>
                    </m:sSub>
                    <m:r>
                      <a:rPr lang="en-US" i="1">
                        <a:latin typeface="Cambria Math" panose="02040503050406030204" pitchFamily="18" charset="0"/>
                      </a:rPr>
                      <m:t>=</m:t>
                    </m:r>
                    <m:r>
                      <a:rPr lang="en-US" i="1">
                        <a:latin typeface="Cambria Math" panose="02040503050406030204" pitchFamily="18" charset="0"/>
                      </a:rPr>
                      <m:t>𝑓𝑜𝑟𝑐𝑒</m:t>
                    </m:r>
                    <m:r>
                      <a:rPr lang="en-US" i="1">
                        <a:latin typeface="Cambria Math" panose="02040503050406030204" pitchFamily="18" charset="0"/>
                      </a:rPr>
                      <m:t> </m:t>
                    </m:r>
                    <m:r>
                      <a:rPr lang="en-US" i="1">
                        <a:latin typeface="Cambria Math" panose="02040503050406030204" pitchFamily="18" charset="0"/>
                      </a:rPr>
                      <m:t>𝑠𝑐𝑎𝑙𝑒</m:t>
                    </m:r>
                    <m:r>
                      <a:rPr lang="en-US" i="1">
                        <a:latin typeface="Cambria Math" panose="02040503050406030204" pitchFamily="18" charset="0"/>
                      </a:rPr>
                      <m:t> </m:t>
                    </m:r>
                    <m:r>
                      <a:rPr lang="en-US" i="1">
                        <a:latin typeface="Cambria Math" panose="02040503050406030204" pitchFamily="18" charset="0"/>
                      </a:rPr>
                      <m:t>𝑟𝑎𝑡𝑖𝑜</m:t>
                    </m:r>
                  </m:oMath>
                </a14:m>
                <a:endParaRPr lang="en-US" dirty="0"/>
              </a:p>
              <a:p>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𝑚𝑎𝑠𝑠</m:t>
                    </m:r>
                    <m:r>
                      <a:rPr lang="en-US" i="1">
                        <a:latin typeface="Cambria Math" panose="02040503050406030204" pitchFamily="18" charset="0"/>
                      </a:rPr>
                      <m:t>×</m:t>
                    </m:r>
                    <m:r>
                      <a:rPr lang="en-US" i="1">
                        <a:latin typeface="Cambria Math" panose="02040503050406030204" pitchFamily="18" charset="0"/>
                      </a:rPr>
                      <m:t>𝑎𝑐𝑐𝑒𝑙𝑒𝑟𝑎𝑡𝑖𝑜𝑛</m:t>
                    </m:r>
                  </m:oMath>
                </a14:m>
                <a:endParaRPr lang="en-US" dirty="0"/>
              </a:p>
              <a:p>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𝑟</m:t>
                        </m:r>
                      </m:sub>
                    </m:sSub>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𝑟</m:t>
                        </m:r>
                      </m:sub>
                    </m:sSub>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𝑟</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𝑟</m:t>
                        </m:r>
                      </m:sub>
                    </m:sSub>
                  </m:oMath>
                </a14:m>
                <a:endParaRPr lang="en-US" dirty="0"/>
              </a:p>
              <a:p>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𝑟</m:t>
                        </m:r>
                      </m:sub>
                    </m:sSub>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m:t>
                            </m:r>
                          </m:sub>
                        </m:sSub>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𝑟</m:t>
                        </m:r>
                      </m:sub>
                    </m:sSub>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𝑟</m:t>
                        </m:r>
                      </m:sub>
                    </m:sSub>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533400"/>
                <a:ext cx="8305800" cy="5943600"/>
              </a:xfrm>
              <a:blipFill>
                <a:blip r:embed="rId3"/>
                <a:stretch>
                  <a:fillRect l="-1248" t="-1641"/>
                </a:stretch>
              </a:blipFill>
            </p:spPr>
            <p:txBody>
              <a:bodyPr/>
              <a:lstStyle/>
              <a:p>
                <a:r>
                  <a:rPr lang="en-GH">
                    <a:noFill/>
                  </a:rPr>
                  <a:t> </a:t>
                </a:r>
              </a:p>
            </p:txBody>
          </p:sp>
        </mc:Fallback>
      </mc:AlternateContent>
    </p:spTree>
    <p:extLst>
      <p:ext uri="{BB962C8B-B14F-4D97-AF65-F5344CB8AC3E}">
        <p14:creationId xmlns:p14="http://schemas.microsoft.com/office/powerpoint/2010/main" val="618322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86"/>
            <a:ext cx="8229600" cy="620486"/>
          </a:xfrm>
        </p:spPr>
        <p:txBody>
          <a:bodyPr>
            <a:normAutofit fontScale="90000"/>
          </a:bodyPr>
          <a:lstStyle/>
          <a:p>
            <a:r>
              <a:rPr lang="en-US" dirty="0"/>
              <a:t>Examples on </a:t>
            </a:r>
            <a:r>
              <a:rPr lang="en-US" i="1" dirty="0"/>
              <a:t>Re</a:t>
            </a:r>
            <a:r>
              <a:rPr lang="en-US" dirty="0"/>
              <a:t> Similarity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762000"/>
                <a:ext cx="9144000" cy="5638800"/>
              </a:xfrm>
            </p:spPr>
            <p:txBody>
              <a:bodyPr>
                <a:normAutofit/>
              </a:bodyPr>
              <a:lstStyle/>
              <a:p>
                <a:pPr marL="0" indent="0" algn="just">
                  <a:buNone/>
                </a:pPr>
                <a:r>
                  <a:rPr lang="en-US" dirty="0"/>
                  <a:t>1. A ship 300m long moves in sea water of density 1030 kg/</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r>
                  <a:rPr lang="en-US" dirty="0"/>
                  <a:t>. A 1: 100 model of this ship is tested in a wind tunnel. The velocity of air in the wind tunnel around the model is 30 m/s and the resistance of the model is 60 N. Determine the velocity of the ship in the sea water. Also determine the resistance of the ship in sea water.</a:t>
                </a:r>
              </a:p>
              <a:p>
                <a:pPr marL="0" indent="0">
                  <a:buNone/>
                </a:pPr>
                <a:r>
                  <a:rPr lang="en-US" dirty="0"/>
                  <a:t>Take: </a:t>
                </a:r>
                <a:r>
                  <a:rPr lang="en-US" i="1" dirty="0" err="1"/>
                  <a:t>ρ</a:t>
                </a:r>
                <a:r>
                  <a:rPr lang="en-US" i="1" baseline="-25000" dirty="0" err="1"/>
                  <a:t>air</a:t>
                </a:r>
                <a:r>
                  <a:rPr lang="en-US" dirty="0"/>
                  <a:t> =1.21kg/m</a:t>
                </a:r>
                <a:r>
                  <a:rPr lang="en-US" baseline="30000" dirty="0"/>
                  <a:t>3</a:t>
                </a:r>
                <a:r>
                  <a:rPr lang="en-US" dirty="0"/>
                  <a:t>,</a:t>
                </a:r>
                <a:r>
                  <a:rPr lang="en-US" baseline="30000" dirty="0"/>
                  <a:t> </a:t>
                </a:r>
                <a:r>
                  <a:rPr lang="el-GR" i="1" dirty="0"/>
                  <a:t>ν</a:t>
                </a:r>
                <a:r>
                  <a:rPr lang="en-US" baseline="-25000" dirty="0"/>
                  <a:t>sea-water</a:t>
                </a:r>
                <a:r>
                  <a:rPr lang="en-US" dirty="0"/>
                  <a:t> = 0.012 stokes and</a:t>
                </a:r>
              </a:p>
              <a:p>
                <a:pPr marL="0" indent="0">
                  <a:buNone/>
                </a:pPr>
                <a:r>
                  <a:rPr lang="el-GR" i="1" dirty="0"/>
                  <a:t>ν</a:t>
                </a:r>
                <a:r>
                  <a:rPr lang="en-GB" i="1" baseline="-25000" dirty="0"/>
                  <a:t>air</a:t>
                </a:r>
                <a:r>
                  <a:rPr lang="en-US" baseline="-25000" dirty="0"/>
                  <a:t> </a:t>
                </a:r>
                <a:r>
                  <a:rPr lang="en-US" dirty="0"/>
                  <a:t>= 0.018 stokes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762000"/>
                <a:ext cx="9144000" cy="5638800"/>
              </a:xfrm>
              <a:blipFill>
                <a:blip r:embed="rId3"/>
                <a:stretch>
                  <a:fillRect l="-1667" t="-1405" r="-1667"/>
                </a:stretch>
              </a:blipFill>
            </p:spPr>
            <p:txBody>
              <a:bodyPr/>
              <a:lstStyle/>
              <a:p>
                <a:r>
                  <a:rPr lang="en-GH">
                    <a:noFill/>
                  </a:rPr>
                  <a:t> </a:t>
                </a:r>
              </a:p>
            </p:txBody>
          </p:sp>
        </mc:Fallback>
      </mc:AlternateContent>
    </p:spTree>
    <p:extLst>
      <p:ext uri="{BB962C8B-B14F-4D97-AF65-F5344CB8AC3E}">
        <p14:creationId xmlns:p14="http://schemas.microsoft.com/office/powerpoint/2010/main" val="1472743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543" y="-21771"/>
            <a:ext cx="8229600" cy="609600"/>
          </a:xfrm>
        </p:spPr>
        <p:txBody>
          <a:bodyPr>
            <a:normAutofit fontScale="90000"/>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09600"/>
                <a:ext cx="9144000" cy="5715000"/>
              </a:xfrm>
            </p:spPr>
            <p:txBody>
              <a:bodyPr>
                <a:normAutofit fontScale="85000" lnSpcReduction="20000"/>
              </a:bodyPr>
              <a:lstStyle/>
              <a:p>
                <a:pPr marL="0" indent="0">
                  <a:buNone/>
                </a:pPr>
                <a:r>
                  <a:rPr lang="en-US" dirty="0"/>
                  <a:t> Given:</a:t>
                </a:r>
              </a:p>
              <a:p>
                <a:pPr marL="0" indent="0">
                  <a:buNone/>
                </a:pPr>
                <a:r>
                  <a:rPr lang="en-US" dirty="0"/>
                  <a:t>Length </a:t>
                </a:r>
                <a:r>
                  <a:rPr lang="en-US" dirty="0" err="1"/>
                  <a:t>L</a:t>
                </a:r>
                <a:r>
                  <a:rPr lang="en-US" baseline="-25000" dirty="0" err="1"/>
                  <a:t>p</a:t>
                </a:r>
                <a:r>
                  <a:rPr lang="en-US" dirty="0"/>
                  <a:t>= 300m</a:t>
                </a:r>
              </a:p>
              <a:p>
                <a:pPr marL="0" indent="0">
                  <a:buNone/>
                </a:pPr>
                <a:r>
                  <a:rPr lang="el-GR" i="1" dirty="0"/>
                  <a:t>ν</a:t>
                </a:r>
                <a:r>
                  <a:rPr lang="en-US" baseline="-25000" dirty="0"/>
                  <a:t>p</a:t>
                </a:r>
                <a:r>
                  <a:rPr lang="en-US" dirty="0"/>
                  <a:t>= 0.012 stokes = 0.012</a:t>
                </a:r>
                <a14:m>
                  <m:oMath xmlns:m="http://schemas.openxmlformats.org/officeDocument/2006/math">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f>
                      <m:fPr>
                        <m:type m:val="lin"/>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num>
                      <m:den>
                        <m:r>
                          <a:rPr lang="en-US" i="1">
                            <a:latin typeface="Cambria Math" panose="02040503050406030204" pitchFamily="18" charset="0"/>
                          </a:rPr>
                          <m:t>𝑠</m:t>
                        </m:r>
                      </m:den>
                    </m:f>
                  </m:oMath>
                </a14:m>
                <a:endParaRPr lang="en-US" dirty="0"/>
              </a:p>
              <a:p>
                <a:pPr marL="0" indent="0">
                  <a:buNone/>
                </a:pPr>
                <a:r>
                  <a:rPr lang="en-US" dirty="0"/>
                  <a:t>Let velocity of ship = </a:t>
                </a:r>
                <a:r>
                  <a:rPr lang="en-US" dirty="0" err="1"/>
                  <a:t>V</a:t>
                </a:r>
                <a:r>
                  <a:rPr lang="en-US" baseline="-25000" dirty="0" err="1"/>
                  <a:t>p</a:t>
                </a:r>
                <a:endParaRPr lang="en-US" dirty="0"/>
              </a:p>
              <a:p>
                <a:pPr marL="0" indent="0">
                  <a:buNone/>
                </a:pPr>
                <a:r>
                  <a:rPr lang="en-US" dirty="0"/>
                  <a:t>       Resistance = </a:t>
                </a:r>
                <a:r>
                  <a:rPr lang="en-US" dirty="0" err="1"/>
                  <a:t>F</a:t>
                </a:r>
                <a:r>
                  <a:rPr lang="en-US" baseline="-25000" dirty="0" err="1"/>
                  <a:t>p</a:t>
                </a:r>
                <a:endParaRPr lang="en-US" dirty="0"/>
              </a:p>
              <a:p>
                <a:pPr marL="0" indent="0">
                  <a:buNone/>
                </a:pPr>
                <a:endParaRPr lang="en-US" dirty="0"/>
              </a:p>
              <a:p>
                <a:pPr marL="0" indent="0">
                  <a:buNone/>
                </a:pPr>
                <a:r>
                  <a:rPr lang="en-US" dirty="0"/>
                  <a:t>For the model</a:t>
                </a:r>
              </a:p>
              <a:p>
                <a:pPr marL="0" indent="0">
                  <a:buNone/>
                </a:pPr>
                <a:r>
                  <a:rPr lang="en-US" dirty="0"/>
                  <a:t>Length, </a:t>
                </a:r>
                <a:r>
                  <a:rPr lang="en-US" i="1" dirty="0" err="1"/>
                  <a:t>L</a:t>
                </a:r>
                <a:r>
                  <a:rPr lang="en-US" i="1" baseline="-25000" dirty="0" err="1"/>
                  <a:t>m</a:t>
                </a:r>
                <a:r>
                  <a:rPr lang="en-US" baseline="-25000" dirty="0"/>
                  <a:t> </a:t>
                </a:r>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100</m:t>
                        </m:r>
                      </m:den>
                    </m:f>
                    <m:r>
                      <a:rPr lang="en-US" i="1">
                        <a:latin typeface="Cambria Math" panose="02040503050406030204" pitchFamily="18" charset="0"/>
                      </a:rPr>
                      <m:t>×300=3</m:t>
                    </m:r>
                    <m:r>
                      <a:rPr lang="en-US" i="1">
                        <a:latin typeface="Cambria Math" panose="02040503050406030204" pitchFamily="18" charset="0"/>
                      </a:rPr>
                      <m:t>𝑚</m:t>
                    </m:r>
                  </m:oMath>
                </a14:m>
                <a:endParaRPr lang="en-US" dirty="0"/>
              </a:p>
              <a:p>
                <a:pPr marL="0" indent="0">
                  <a:buNone/>
                </a:pPr>
                <a:r>
                  <a:rPr lang="en-US" dirty="0"/>
                  <a:t>Velocity, </a:t>
                </a:r>
                <a:r>
                  <a:rPr lang="en-US" i="1" dirty="0" err="1"/>
                  <a:t>V</a:t>
                </a:r>
                <a:r>
                  <a:rPr lang="en-US" i="1" baseline="-25000" dirty="0" err="1"/>
                  <a:t>m</a:t>
                </a:r>
                <a14:m>
                  <m:oMath xmlns:m="http://schemas.openxmlformats.org/officeDocument/2006/math">
                    <m:r>
                      <a:rPr lang="en-US" i="1">
                        <a:latin typeface="Cambria Math" panose="02040503050406030204" pitchFamily="18" charset="0"/>
                      </a:rPr>
                      <m:t>=30</m:t>
                    </m:r>
                    <m:f>
                      <m:fPr>
                        <m:type m:val="lin"/>
                        <m:ctrlPr>
                          <a:rPr lang="en-US" i="1">
                            <a:latin typeface="Cambria Math" panose="02040503050406030204" pitchFamily="18" charset="0"/>
                          </a:rPr>
                        </m:ctrlPr>
                      </m:fPr>
                      <m:num>
                        <m:r>
                          <a:rPr lang="en-US" i="1">
                            <a:latin typeface="Cambria Math" panose="02040503050406030204" pitchFamily="18" charset="0"/>
                          </a:rPr>
                          <m:t>𝑚</m:t>
                        </m:r>
                      </m:num>
                      <m:den>
                        <m:r>
                          <a:rPr lang="en-US" i="1">
                            <a:latin typeface="Cambria Math" panose="02040503050406030204" pitchFamily="18" charset="0"/>
                          </a:rPr>
                          <m:t>𝑠</m:t>
                        </m:r>
                      </m:den>
                    </m:f>
                  </m:oMath>
                </a14:m>
                <a:endParaRPr lang="en-US" dirty="0"/>
              </a:p>
              <a:p>
                <a:pPr marL="0" indent="0">
                  <a:buNone/>
                </a:pPr>
                <a:r>
                  <a:rPr lang="en-US" dirty="0"/>
                  <a:t>Resistance, </a:t>
                </a:r>
                <a:r>
                  <a:rPr lang="en-US" i="1" dirty="0" err="1"/>
                  <a:t>F</a:t>
                </a:r>
                <a:r>
                  <a:rPr lang="en-US" i="1" baseline="-25000" dirty="0" err="1"/>
                  <a:t>m</a:t>
                </a:r>
                <a14:m>
                  <m:oMath xmlns:m="http://schemas.openxmlformats.org/officeDocument/2006/math">
                    <m:r>
                      <a:rPr lang="en-GB" b="0" i="0" smtClean="0">
                        <a:latin typeface="Cambria Math" panose="02040503050406030204" pitchFamily="18" charset="0"/>
                      </a:rPr>
                      <m:t> </m:t>
                    </m:r>
                    <m:r>
                      <a:rPr lang="en-US" i="1">
                        <a:latin typeface="Cambria Math" panose="02040503050406030204" pitchFamily="18" charset="0"/>
                      </a:rPr>
                      <m:t>=60</m:t>
                    </m:r>
                    <m:r>
                      <a:rPr lang="en-US" i="1">
                        <a:latin typeface="Cambria Math" panose="02040503050406030204" pitchFamily="18" charset="0"/>
                      </a:rPr>
                      <m:t>𝑁</m:t>
                    </m:r>
                  </m:oMath>
                </a14:m>
                <a:endParaRPr lang="en-US" dirty="0"/>
              </a:p>
              <a:p>
                <a:pPr marL="0" indent="0">
                  <a:buNone/>
                </a:pPr>
                <a:r>
                  <a:rPr lang="en-US" dirty="0"/>
                  <a:t>Density of air, </a:t>
                </a:r>
                <a:r>
                  <a:rPr lang="en-US" dirty="0" err="1"/>
                  <a:t>ρ</a:t>
                </a:r>
                <a:r>
                  <a:rPr lang="en-US" baseline="-25000" dirty="0" err="1"/>
                  <a:t>m</a:t>
                </a:r>
                <a:r>
                  <a:rPr lang="en-US" dirty="0"/>
                  <a:t>= 1.24 kg/m</a:t>
                </a:r>
                <a:r>
                  <a:rPr lang="en-US" baseline="30000" dirty="0"/>
                  <a:t>3</a:t>
                </a:r>
                <a:endParaRPr lang="en-US" dirty="0"/>
              </a:p>
              <a:p>
                <a:pPr marL="0" indent="0">
                  <a:buNone/>
                </a:pPr>
                <a:r>
                  <a:rPr lang="en-US" dirty="0"/>
                  <a:t>Kinematic viscosity of air, </a:t>
                </a:r>
                <a:r>
                  <a:rPr lang="el-GR" i="1" dirty="0"/>
                  <a:t>ν</a:t>
                </a:r>
                <a:r>
                  <a:rPr lang="en-US" i="1" baseline="-25000" dirty="0" err="1"/>
                  <a:t>m</a:t>
                </a:r>
                <a14:m>
                  <m:oMath xmlns:m="http://schemas.openxmlformats.org/officeDocument/2006/math">
                    <m:r>
                      <a:rPr lang="en-GB" b="0" i="0" smtClean="0">
                        <a:latin typeface="Cambria Math" panose="02040503050406030204" pitchFamily="18" charset="0"/>
                      </a:rPr>
                      <m:t> =</m:t>
                    </m:r>
                    <m:r>
                      <a:rPr lang="en-US" i="1">
                        <a:latin typeface="Cambria Math" panose="02040503050406030204" pitchFamily="18" charset="0"/>
                      </a:rPr>
                      <m:t>0.018 </m:t>
                    </m:r>
                    <m:r>
                      <a:rPr lang="en-US" i="1">
                        <a:latin typeface="Cambria Math" panose="02040503050406030204" pitchFamily="18" charset="0"/>
                      </a:rPr>
                      <m:t>𝑠𝑡𝑜𝑘𝑒𝑠</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=0.018×</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f>
                        <m:fPr>
                          <m:type m:val="lin"/>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num>
                        <m:den>
                          <m:r>
                            <a:rPr lang="en-US" i="1">
                              <a:latin typeface="Cambria Math" panose="02040503050406030204" pitchFamily="18" charset="0"/>
                            </a:rPr>
                            <m:t>𝑠</m:t>
                          </m:r>
                        </m:den>
                      </m:f>
                    </m:oMath>
                  </m:oMathPara>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09600"/>
                <a:ext cx="9144000" cy="5715000"/>
              </a:xfrm>
              <a:blipFill>
                <a:blip r:embed="rId3"/>
                <a:stretch>
                  <a:fillRect l="-1267" t="-2239"/>
                </a:stretch>
              </a:blipFill>
            </p:spPr>
            <p:txBody>
              <a:bodyPr/>
              <a:lstStyle/>
              <a:p>
                <a:r>
                  <a:rPr lang="en-GH">
                    <a:noFill/>
                  </a:rPr>
                  <a:t> </a:t>
                </a:r>
              </a:p>
            </p:txBody>
          </p:sp>
        </mc:Fallback>
      </mc:AlternateContent>
    </p:spTree>
    <p:extLst>
      <p:ext uri="{BB962C8B-B14F-4D97-AF65-F5344CB8AC3E}">
        <p14:creationId xmlns:p14="http://schemas.microsoft.com/office/powerpoint/2010/main" val="1766362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0"/>
                <a:ext cx="9144000" cy="6858000"/>
              </a:xfrm>
            </p:spPr>
            <p:txBody>
              <a:bodyPr>
                <a:normAutofit fontScale="25000" lnSpcReduction="20000"/>
              </a:bodyPr>
              <a:lstStyle/>
              <a:p>
                <a:pPr marL="0" indent="0">
                  <a:buNone/>
                </a:pPr>
                <a:r>
                  <a:rPr lang="en-US" sz="8000" dirty="0"/>
                  <a:t> For dynamic similarity between prototype p, its model, Reynolds number, should be equal</a:t>
                </a:r>
              </a:p>
              <a:p>
                <a:pPr marL="0" indent="0">
                  <a:buNone/>
                </a:pPr>
                <a14:m>
                  <m:oMathPara xmlns:m="http://schemas.openxmlformats.org/officeDocument/2006/math">
                    <m:oMathParaPr>
                      <m:jc m:val="centerGroup"/>
                    </m:oMathParaPr>
                    <m:oMath xmlns:m="http://schemas.openxmlformats.org/officeDocument/2006/math">
                      <m:r>
                        <a:rPr lang="en-US" sz="8000" i="1" smtClean="0">
                          <a:latin typeface="Cambria Math" panose="02040503050406030204" pitchFamily="18" charset="0"/>
                          <a:ea typeface="Cambria Math" panose="02040503050406030204" pitchFamily="18" charset="0"/>
                        </a:rPr>
                        <m:t>⟹</m:t>
                      </m:r>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𝑉</m:t>
                              </m:r>
                            </m:e>
                            <m:sub>
                              <m:r>
                                <a:rPr lang="en-US" sz="8000" i="1">
                                  <a:latin typeface="Cambria Math" panose="02040503050406030204" pitchFamily="18" charset="0"/>
                                </a:rPr>
                                <m:t>𝑝</m:t>
                              </m:r>
                            </m:sub>
                          </m:sSub>
                          <m:sSub>
                            <m:sSubPr>
                              <m:ctrlPr>
                                <a:rPr lang="en-US" sz="8000" i="1">
                                  <a:latin typeface="Cambria Math" panose="02040503050406030204" pitchFamily="18" charset="0"/>
                                </a:rPr>
                              </m:ctrlPr>
                            </m:sSubPr>
                            <m:e>
                              <m:r>
                                <a:rPr lang="en-US" sz="8000" i="1">
                                  <a:latin typeface="Cambria Math" panose="02040503050406030204" pitchFamily="18" charset="0"/>
                                </a:rPr>
                                <m:t>𝐿</m:t>
                              </m:r>
                            </m:e>
                            <m:sub>
                              <m:r>
                                <a:rPr lang="en-US" sz="8000" i="1">
                                  <a:latin typeface="Cambria Math" panose="02040503050406030204" pitchFamily="18" charset="0"/>
                                </a:rPr>
                                <m:t>𝑝</m:t>
                              </m:r>
                            </m:sub>
                          </m:sSub>
                        </m:num>
                        <m:den>
                          <m:sSub>
                            <m:sSubPr>
                              <m:ctrlPr>
                                <a:rPr lang="en-US" sz="8000" i="1" smtClean="0">
                                  <a:latin typeface="Cambria Math" panose="02040503050406030204" pitchFamily="18" charset="0"/>
                                </a:rPr>
                              </m:ctrlPr>
                            </m:sSubPr>
                            <m:e>
                              <m:r>
                                <a:rPr lang="az-Cyrl-AZ" sz="8000" i="1" smtClean="0">
                                  <a:latin typeface="Cambria Math" panose="02040503050406030204" pitchFamily="18" charset="0"/>
                                </a:rPr>
                                <m:t>ѵ</m:t>
                              </m:r>
                            </m:e>
                            <m:sub>
                              <m:r>
                                <a:rPr lang="en-US" sz="8000" b="0" i="1" smtClean="0">
                                  <a:latin typeface="Cambria Math" panose="02040503050406030204" pitchFamily="18" charset="0"/>
                                </a:rPr>
                                <m:t>𝑝</m:t>
                              </m:r>
                            </m:sub>
                          </m:sSub>
                        </m:den>
                      </m:f>
                      <m:r>
                        <a:rPr lang="en-US" sz="8000" i="1">
                          <a:latin typeface="Cambria Math" panose="02040503050406030204" pitchFamily="18" charset="0"/>
                        </a:rPr>
                        <m:t>=</m:t>
                      </m:r>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𝑉</m:t>
                              </m:r>
                            </m:e>
                            <m:sub>
                              <m:r>
                                <a:rPr lang="en-US" sz="8000" i="1">
                                  <a:latin typeface="Cambria Math" panose="02040503050406030204" pitchFamily="18" charset="0"/>
                                </a:rPr>
                                <m:t>𝑚</m:t>
                              </m:r>
                            </m:sub>
                          </m:sSub>
                          <m:sSub>
                            <m:sSubPr>
                              <m:ctrlPr>
                                <a:rPr lang="en-US" sz="8000" i="1">
                                  <a:latin typeface="Cambria Math" panose="02040503050406030204" pitchFamily="18" charset="0"/>
                                </a:rPr>
                              </m:ctrlPr>
                            </m:sSubPr>
                            <m:e>
                              <m:r>
                                <a:rPr lang="en-US" sz="8000" i="1">
                                  <a:latin typeface="Cambria Math" panose="02040503050406030204" pitchFamily="18" charset="0"/>
                                </a:rPr>
                                <m:t>𝐿</m:t>
                              </m:r>
                            </m:e>
                            <m:sub>
                              <m:r>
                                <a:rPr lang="en-US" sz="8000" i="1">
                                  <a:latin typeface="Cambria Math" panose="02040503050406030204" pitchFamily="18" charset="0"/>
                                </a:rPr>
                                <m:t>𝑚</m:t>
                              </m:r>
                            </m:sub>
                          </m:sSub>
                        </m:num>
                        <m:den>
                          <m:sSub>
                            <m:sSubPr>
                              <m:ctrlPr>
                                <a:rPr lang="en-US" sz="8000" i="1">
                                  <a:latin typeface="Cambria Math" panose="02040503050406030204" pitchFamily="18" charset="0"/>
                                </a:rPr>
                              </m:ctrlPr>
                            </m:sSubPr>
                            <m:e>
                              <m:r>
                                <a:rPr lang="az-Cyrl-AZ" sz="8000" i="1">
                                  <a:latin typeface="Cambria Math" panose="02040503050406030204" pitchFamily="18" charset="0"/>
                                </a:rPr>
                                <m:t>ѵ</m:t>
                              </m:r>
                            </m:e>
                            <m:sub>
                              <m:r>
                                <a:rPr lang="en-US" sz="8000" i="1">
                                  <a:latin typeface="Cambria Math" panose="02040503050406030204" pitchFamily="18" charset="0"/>
                                </a:rPr>
                                <m:t>𝑚</m:t>
                              </m:r>
                            </m:sub>
                          </m:sSub>
                        </m:den>
                      </m:f>
                    </m:oMath>
                  </m:oMathPara>
                </a14:m>
                <a:endParaRPr lang="en-US" sz="8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8000" i="1">
                              <a:latin typeface="Cambria Math" panose="02040503050406030204" pitchFamily="18" charset="0"/>
                            </a:rPr>
                          </m:ctrlPr>
                        </m:sSubPr>
                        <m:e>
                          <m:r>
                            <a:rPr lang="en-US" sz="8000" i="1">
                              <a:latin typeface="Cambria Math" panose="02040503050406030204" pitchFamily="18" charset="0"/>
                            </a:rPr>
                            <m:t>𝑉</m:t>
                          </m:r>
                        </m:e>
                        <m:sub>
                          <m:r>
                            <a:rPr lang="en-US" sz="8000" i="1">
                              <a:latin typeface="Cambria Math" panose="02040503050406030204" pitchFamily="18" charset="0"/>
                            </a:rPr>
                            <m:t>𝑝</m:t>
                          </m:r>
                        </m:sub>
                      </m:sSub>
                      <m:r>
                        <a:rPr lang="en-US" sz="8000" i="1">
                          <a:latin typeface="Cambria Math" panose="02040503050406030204" pitchFamily="18" charset="0"/>
                        </a:rPr>
                        <m:t>=</m:t>
                      </m:r>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az-Cyrl-AZ" sz="8000" i="1">
                                  <a:latin typeface="Cambria Math" panose="02040503050406030204" pitchFamily="18" charset="0"/>
                                </a:rPr>
                                <m:t>ѵ</m:t>
                              </m:r>
                            </m:e>
                            <m:sub>
                              <m:r>
                                <a:rPr lang="en-US" sz="8000" i="1">
                                  <a:latin typeface="Cambria Math" panose="02040503050406030204" pitchFamily="18" charset="0"/>
                                </a:rPr>
                                <m:t>𝑝</m:t>
                              </m:r>
                            </m:sub>
                          </m:sSub>
                        </m:num>
                        <m:den>
                          <m:sSub>
                            <m:sSubPr>
                              <m:ctrlPr>
                                <a:rPr lang="en-US" sz="8000" i="1">
                                  <a:latin typeface="Cambria Math" panose="02040503050406030204" pitchFamily="18" charset="0"/>
                                </a:rPr>
                              </m:ctrlPr>
                            </m:sSubPr>
                            <m:e>
                              <m:r>
                                <a:rPr lang="az-Cyrl-AZ" sz="8000" i="1">
                                  <a:latin typeface="Cambria Math" panose="02040503050406030204" pitchFamily="18" charset="0"/>
                                </a:rPr>
                                <m:t>ѵ</m:t>
                              </m:r>
                            </m:e>
                            <m:sub>
                              <m:r>
                                <a:rPr lang="en-US" sz="8000" i="1">
                                  <a:latin typeface="Cambria Math" panose="02040503050406030204" pitchFamily="18" charset="0"/>
                                </a:rPr>
                                <m:t>𝑚</m:t>
                              </m:r>
                            </m:sub>
                          </m:sSub>
                        </m:den>
                      </m:f>
                      <m:r>
                        <a:rPr lang="en-US" sz="8000" i="1">
                          <a:latin typeface="Cambria Math" panose="02040503050406030204" pitchFamily="18" charset="0"/>
                        </a:rPr>
                        <m:t> . </m:t>
                      </m:r>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𝐿</m:t>
                              </m:r>
                            </m:e>
                            <m:sub>
                              <m:r>
                                <a:rPr lang="en-US" sz="8000" i="1">
                                  <a:latin typeface="Cambria Math" panose="02040503050406030204" pitchFamily="18" charset="0"/>
                                </a:rPr>
                                <m:t>𝑚</m:t>
                              </m:r>
                            </m:sub>
                          </m:sSub>
                        </m:num>
                        <m:den>
                          <m:sSub>
                            <m:sSubPr>
                              <m:ctrlPr>
                                <a:rPr lang="en-US" sz="8000" i="1">
                                  <a:latin typeface="Cambria Math" panose="02040503050406030204" pitchFamily="18" charset="0"/>
                                </a:rPr>
                              </m:ctrlPr>
                            </m:sSubPr>
                            <m:e>
                              <m:r>
                                <a:rPr lang="en-US" sz="8000" i="1">
                                  <a:latin typeface="Cambria Math" panose="02040503050406030204" pitchFamily="18" charset="0"/>
                                </a:rPr>
                                <m:t>𝐿</m:t>
                              </m:r>
                            </m:e>
                            <m:sub>
                              <m:r>
                                <a:rPr lang="en-US" sz="8000" i="1">
                                  <a:latin typeface="Cambria Math" panose="02040503050406030204" pitchFamily="18" charset="0"/>
                                </a:rPr>
                                <m:t>𝑝</m:t>
                              </m:r>
                            </m:sub>
                          </m:sSub>
                        </m:den>
                      </m:f>
                      <m:r>
                        <a:rPr lang="en-US" sz="8000" i="1">
                          <a:latin typeface="Cambria Math" panose="02040503050406030204" pitchFamily="18" charset="0"/>
                        </a:rPr>
                        <m:t>×</m:t>
                      </m:r>
                      <m:sSub>
                        <m:sSubPr>
                          <m:ctrlPr>
                            <a:rPr lang="en-US" sz="8000" i="1">
                              <a:latin typeface="Cambria Math" panose="02040503050406030204" pitchFamily="18" charset="0"/>
                            </a:rPr>
                          </m:ctrlPr>
                        </m:sSubPr>
                        <m:e>
                          <m:r>
                            <a:rPr lang="en-US" sz="8000" i="1">
                              <a:latin typeface="Cambria Math" panose="02040503050406030204" pitchFamily="18" charset="0"/>
                            </a:rPr>
                            <m:t>𝑉</m:t>
                          </m:r>
                        </m:e>
                        <m:sub>
                          <m:r>
                            <a:rPr lang="en-US" sz="8000" i="1">
                              <a:latin typeface="Cambria Math" panose="02040503050406030204" pitchFamily="18" charset="0"/>
                            </a:rPr>
                            <m:t>𝑚</m:t>
                          </m:r>
                        </m:sub>
                      </m:sSub>
                    </m:oMath>
                  </m:oMathPara>
                </a14:m>
                <a:endParaRPr lang="en-US" sz="8000" dirty="0"/>
              </a:p>
              <a:p>
                <a:pPr>
                  <a:buFont typeface="Symbol" panose="05050102010706020507" pitchFamily="18" charset="2"/>
                  <a:buChar char="Þ"/>
                </a:pPr>
                <a14:m>
                  <m:oMath xmlns:m="http://schemas.openxmlformats.org/officeDocument/2006/math">
                    <m:sSub>
                      <m:sSubPr>
                        <m:ctrlPr>
                          <a:rPr lang="en-US" sz="8000" i="1" smtClean="0">
                            <a:latin typeface="Cambria Math" panose="02040503050406030204" pitchFamily="18" charset="0"/>
                          </a:rPr>
                        </m:ctrlPr>
                      </m:sSubPr>
                      <m:e>
                        <m:r>
                          <a:rPr lang="en-GB" sz="8000" b="0" i="1" smtClean="0">
                            <a:latin typeface="Cambria Math" panose="02040503050406030204" pitchFamily="18" charset="0"/>
                          </a:rPr>
                          <m:t>𝑉</m:t>
                        </m:r>
                      </m:e>
                      <m:sub>
                        <m:r>
                          <a:rPr lang="en-GB" sz="8000" b="0" i="1" smtClean="0">
                            <a:latin typeface="Cambria Math" panose="02040503050406030204" pitchFamily="18" charset="0"/>
                          </a:rPr>
                          <m:t>𝑝</m:t>
                        </m:r>
                      </m:sub>
                    </m:sSub>
                    <m:r>
                      <a:rPr lang="en-GB" sz="8000" b="0" i="1" smtClean="0">
                        <a:latin typeface="Cambria Math" panose="02040503050406030204" pitchFamily="18" charset="0"/>
                      </a:rPr>
                      <m:t>=</m:t>
                    </m:r>
                    <m:f>
                      <m:fPr>
                        <m:ctrlPr>
                          <a:rPr lang="en-US" sz="8000" i="1">
                            <a:latin typeface="Cambria Math" panose="02040503050406030204" pitchFamily="18" charset="0"/>
                          </a:rPr>
                        </m:ctrlPr>
                      </m:fPr>
                      <m:num>
                        <m:r>
                          <a:rPr lang="en-US" sz="8000" i="1">
                            <a:latin typeface="Cambria Math" panose="02040503050406030204" pitchFamily="18" charset="0"/>
                          </a:rPr>
                          <m:t>0.012×</m:t>
                        </m:r>
                        <m:sSup>
                          <m:sSupPr>
                            <m:ctrlPr>
                              <a:rPr lang="en-US" sz="8000" i="1">
                                <a:latin typeface="Cambria Math" panose="02040503050406030204" pitchFamily="18" charset="0"/>
                              </a:rPr>
                            </m:ctrlPr>
                          </m:sSupPr>
                          <m:e>
                            <m:r>
                              <a:rPr lang="en-US" sz="8000" i="1">
                                <a:latin typeface="Cambria Math" panose="02040503050406030204" pitchFamily="18" charset="0"/>
                              </a:rPr>
                              <m:t>10</m:t>
                            </m:r>
                          </m:e>
                          <m:sup>
                            <m:r>
                              <a:rPr lang="en-US" sz="8000" i="1">
                                <a:latin typeface="Cambria Math" panose="02040503050406030204" pitchFamily="18" charset="0"/>
                              </a:rPr>
                              <m:t>−4</m:t>
                            </m:r>
                          </m:sup>
                        </m:sSup>
                      </m:num>
                      <m:den>
                        <m:r>
                          <a:rPr lang="en-US" sz="8000" i="1">
                            <a:latin typeface="Cambria Math" panose="02040503050406030204" pitchFamily="18" charset="0"/>
                          </a:rPr>
                          <m:t>0.018×</m:t>
                        </m:r>
                        <m:sSup>
                          <m:sSupPr>
                            <m:ctrlPr>
                              <a:rPr lang="en-US" sz="8000" i="1">
                                <a:latin typeface="Cambria Math" panose="02040503050406030204" pitchFamily="18" charset="0"/>
                              </a:rPr>
                            </m:ctrlPr>
                          </m:sSupPr>
                          <m:e>
                            <m:r>
                              <a:rPr lang="en-US" sz="8000" i="1">
                                <a:latin typeface="Cambria Math" panose="02040503050406030204" pitchFamily="18" charset="0"/>
                              </a:rPr>
                              <m:t>10</m:t>
                            </m:r>
                          </m:e>
                          <m:sup>
                            <m:r>
                              <a:rPr lang="en-US" sz="8000" i="1">
                                <a:latin typeface="Cambria Math" panose="02040503050406030204" pitchFamily="18" charset="0"/>
                              </a:rPr>
                              <m:t>−4</m:t>
                            </m:r>
                          </m:sup>
                        </m:sSup>
                      </m:den>
                    </m:f>
                    <m:r>
                      <a:rPr lang="en-US" sz="8000" i="1">
                        <a:latin typeface="Cambria Math" panose="02040503050406030204" pitchFamily="18" charset="0"/>
                      </a:rPr>
                      <m:t>×</m:t>
                    </m:r>
                    <m:f>
                      <m:fPr>
                        <m:ctrlPr>
                          <a:rPr lang="en-US" sz="8000" i="1">
                            <a:latin typeface="Cambria Math" panose="02040503050406030204" pitchFamily="18" charset="0"/>
                          </a:rPr>
                        </m:ctrlPr>
                      </m:fPr>
                      <m:num>
                        <m:r>
                          <a:rPr lang="en-US" sz="8000" i="1">
                            <a:latin typeface="Cambria Math" panose="02040503050406030204" pitchFamily="18" charset="0"/>
                          </a:rPr>
                          <m:t>3</m:t>
                        </m:r>
                      </m:num>
                      <m:den>
                        <m:r>
                          <a:rPr lang="en-US" sz="8000" i="1">
                            <a:latin typeface="Cambria Math" panose="02040503050406030204" pitchFamily="18" charset="0"/>
                          </a:rPr>
                          <m:t>300</m:t>
                        </m:r>
                      </m:den>
                    </m:f>
                    <m:r>
                      <a:rPr lang="en-US" sz="8000" i="1">
                        <a:latin typeface="Cambria Math" panose="02040503050406030204" pitchFamily="18" charset="0"/>
                      </a:rPr>
                      <m:t>×30=0.2 </m:t>
                    </m:r>
                    <m:f>
                      <m:fPr>
                        <m:type m:val="lin"/>
                        <m:ctrlPr>
                          <a:rPr lang="en-US" sz="8000" i="1">
                            <a:latin typeface="Cambria Math" panose="02040503050406030204" pitchFamily="18" charset="0"/>
                          </a:rPr>
                        </m:ctrlPr>
                      </m:fPr>
                      <m:num>
                        <m:r>
                          <a:rPr lang="en-US" sz="8000" i="1">
                            <a:latin typeface="Cambria Math" panose="02040503050406030204" pitchFamily="18" charset="0"/>
                          </a:rPr>
                          <m:t>𝑚</m:t>
                        </m:r>
                      </m:num>
                      <m:den>
                        <m:r>
                          <a:rPr lang="en-US" sz="8000" i="1">
                            <a:latin typeface="Cambria Math" panose="02040503050406030204" pitchFamily="18" charset="0"/>
                          </a:rPr>
                          <m:t>𝑠</m:t>
                        </m:r>
                      </m:den>
                    </m:f>
                  </m:oMath>
                </a14:m>
                <a:r>
                  <a:rPr lang="en-US" sz="8000" dirty="0"/>
                  <a:t> </a:t>
                </a:r>
              </a:p>
              <a:p>
                <a:pPr marL="0" indent="0">
                  <a:buNone/>
                </a:pPr>
                <a:endParaRPr lang="en-US" sz="8000" dirty="0"/>
              </a:p>
              <a:p>
                <a:pPr marL="0" indent="0">
                  <a:buNone/>
                </a:pPr>
                <a:r>
                  <a:rPr lang="en-US" sz="8000" dirty="0"/>
                  <a:t>  Resistance = Drag Force = </a:t>
                </a:r>
                <a:r>
                  <a:rPr lang="el-GR" sz="8000" dirty="0">
                    <a:latin typeface="Times New Roman" panose="02020603050405020304" pitchFamily="18" charset="0"/>
                    <a:cs typeface="Times New Roman" panose="02020603050405020304" pitchFamily="18" charset="0"/>
                  </a:rPr>
                  <a:t>ρ</a:t>
                </a:r>
                <a:r>
                  <a:rPr lang="en-US" sz="8000" dirty="0"/>
                  <a:t>V</a:t>
                </a:r>
                <a:r>
                  <a:rPr lang="en-US" sz="8000" baseline="30000" dirty="0"/>
                  <a:t>2</a:t>
                </a:r>
                <a:r>
                  <a:rPr lang="en-US" sz="8000" dirty="0"/>
                  <a:t>L</a:t>
                </a:r>
                <a:r>
                  <a:rPr lang="en-US" sz="8000" baseline="30000" dirty="0"/>
                  <a:t>2</a:t>
                </a:r>
              </a:p>
              <a:p>
                <a:pPr marL="0" indent="0">
                  <a:buNone/>
                </a:pPr>
                <a:endParaRPr lang="en-US" sz="8000" dirty="0"/>
              </a:p>
              <a:p>
                <a:pPr marL="0" indent="0">
                  <a:buNone/>
                </a:pPr>
                <a14:m>
                  <m:oMathPara xmlns:m="http://schemas.openxmlformats.org/officeDocument/2006/math">
                    <m:oMathParaPr>
                      <m:jc m:val="centerGroup"/>
                    </m:oMathParaPr>
                    <m:oMath xmlns:m="http://schemas.openxmlformats.org/officeDocument/2006/math">
                      <m:r>
                        <a:rPr lang="en-US" sz="8000" i="1">
                          <a:latin typeface="Cambria Math" panose="02040503050406030204" pitchFamily="18" charset="0"/>
                        </a:rPr>
                        <m:t>𝑡h𝑒𝑛</m:t>
                      </m:r>
                      <m:r>
                        <a:rPr lang="en-US" sz="8000" i="1">
                          <a:latin typeface="Cambria Math" panose="02040503050406030204" pitchFamily="18" charset="0"/>
                        </a:rPr>
                        <m:t> </m:t>
                      </m:r>
                      <m:f>
                        <m:fPr>
                          <m:ctrlPr>
                            <a:rPr lang="en-US" sz="8000" i="1">
                              <a:latin typeface="Cambria Math" panose="02040503050406030204" pitchFamily="18" charset="0"/>
                            </a:rPr>
                          </m:ctrlPr>
                        </m:fPr>
                        <m:num>
                          <m:r>
                            <a:rPr lang="en-US" sz="8000" i="1">
                              <a:latin typeface="Cambria Math" panose="02040503050406030204" pitchFamily="18" charset="0"/>
                            </a:rPr>
                            <m:t>𝐹𝑝</m:t>
                          </m:r>
                        </m:num>
                        <m:den>
                          <m:r>
                            <a:rPr lang="en-US" sz="8000" i="1">
                              <a:latin typeface="Cambria Math" panose="02040503050406030204" pitchFamily="18" charset="0"/>
                            </a:rPr>
                            <m:t>𝐹𝑚</m:t>
                          </m:r>
                        </m:den>
                      </m:f>
                      <m:r>
                        <a:rPr lang="en-US" sz="8000" i="1">
                          <a:latin typeface="Cambria Math" panose="02040503050406030204" pitchFamily="18" charset="0"/>
                        </a:rPr>
                        <m:t>=</m:t>
                      </m:r>
                      <m:f>
                        <m:fPr>
                          <m:ctrlPr>
                            <a:rPr lang="en-US" sz="8000" i="1">
                              <a:latin typeface="Cambria Math" panose="02040503050406030204" pitchFamily="18" charset="0"/>
                            </a:rPr>
                          </m:ctrlPr>
                        </m:fPr>
                        <m:num>
                          <m:sSub>
                            <m:sSubPr>
                              <m:ctrlPr>
                                <a:rPr lang="en-US" sz="8000" i="1" smtClean="0">
                                  <a:latin typeface="Cambria Math" panose="02040503050406030204" pitchFamily="18" charset="0"/>
                                </a:rPr>
                              </m:ctrlPr>
                            </m:sSubPr>
                            <m:e>
                              <m:d>
                                <m:dPr>
                                  <m:ctrlPr>
                                    <a:rPr lang="en-US" sz="8000" i="1">
                                      <a:latin typeface="Cambria Math" panose="02040503050406030204" pitchFamily="18" charset="0"/>
                                    </a:rPr>
                                  </m:ctrlPr>
                                </m:dPr>
                                <m:e>
                                  <m:r>
                                    <a:rPr lang="en-US" sz="8000" i="1">
                                      <a:latin typeface="Cambria Math" panose="02040503050406030204" pitchFamily="18" charset="0"/>
                                    </a:rPr>
                                    <m:t>𝜌</m:t>
                                  </m:r>
                                  <m:sSup>
                                    <m:sSupPr>
                                      <m:ctrlPr>
                                        <a:rPr lang="en-US" sz="8000" i="1">
                                          <a:latin typeface="Cambria Math" panose="02040503050406030204" pitchFamily="18" charset="0"/>
                                        </a:rPr>
                                      </m:ctrlPr>
                                    </m:sSupPr>
                                    <m:e>
                                      <m:r>
                                        <a:rPr lang="en-US" sz="8000" i="1">
                                          <a:latin typeface="Cambria Math" panose="02040503050406030204" pitchFamily="18" charset="0"/>
                                        </a:rPr>
                                        <m:t>𝐿</m:t>
                                      </m:r>
                                    </m:e>
                                    <m:sup>
                                      <m:r>
                                        <a:rPr lang="en-US" sz="8000" i="1">
                                          <a:latin typeface="Cambria Math" panose="02040503050406030204" pitchFamily="18" charset="0"/>
                                        </a:rPr>
                                        <m:t>2</m:t>
                                      </m:r>
                                    </m:sup>
                                  </m:sSup>
                                  <m:sSup>
                                    <m:sSupPr>
                                      <m:ctrlPr>
                                        <a:rPr lang="en-US" sz="8000" i="1">
                                          <a:latin typeface="Cambria Math" panose="02040503050406030204" pitchFamily="18" charset="0"/>
                                        </a:rPr>
                                      </m:ctrlPr>
                                    </m:sSupPr>
                                    <m:e>
                                      <m:r>
                                        <a:rPr lang="en-US" sz="8000" i="1">
                                          <a:latin typeface="Cambria Math" panose="02040503050406030204" pitchFamily="18" charset="0"/>
                                        </a:rPr>
                                        <m:t>𝑉</m:t>
                                      </m:r>
                                    </m:e>
                                    <m:sup>
                                      <m:r>
                                        <a:rPr lang="en-US" sz="8000" i="1">
                                          <a:latin typeface="Cambria Math" panose="02040503050406030204" pitchFamily="18" charset="0"/>
                                        </a:rPr>
                                        <m:t>2</m:t>
                                      </m:r>
                                    </m:sup>
                                  </m:sSup>
                                </m:e>
                              </m:d>
                            </m:e>
                            <m:sub>
                              <m:r>
                                <a:rPr lang="en-US" sz="8000" i="1" smtClean="0">
                                  <a:latin typeface="Cambria Math" panose="02040503050406030204" pitchFamily="18" charset="0"/>
                                  <a:ea typeface="Cambria Math" panose="02040503050406030204" pitchFamily="18" charset="0"/>
                                </a:rPr>
                                <m:t>𝜌</m:t>
                              </m:r>
                            </m:sub>
                          </m:sSub>
                        </m:num>
                        <m:den>
                          <m:sSub>
                            <m:sSubPr>
                              <m:ctrlPr>
                                <a:rPr lang="en-US" sz="8000" i="1" smtClean="0">
                                  <a:latin typeface="Cambria Math" panose="02040503050406030204" pitchFamily="18" charset="0"/>
                                </a:rPr>
                              </m:ctrlPr>
                            </m:sSubPr>
                            <m:e>
                              <m:d>
                                <m:dPr>
                                  <m:ctrlPr>
                                    <a:rPr lang="en-US" sz="8000" i="1">
                                      <a:latin typeface="Cambria Math" panose="02040503050406030204" pitchFamily="18" charset="0"/>
                                    </a:rPr>
                                  </m:ctrlPr>
                                </m:dPr>
                                <m:e>
                                  <m:r>
                                    <a:rPr lang="en-US" sz="8000" i="1">
                                      <a:latin typeface="Cambria Math" panose="02040503050406030204" pitchFamily="18" charset="0"/>
                                    </a:rPr>
                                    <m:t>𝜌</m:t>
                                  </m:r>
                                  <m:sSup>
                                    <m:sSupPr>
                                      <m:ctrlPr>
                                        <a:rPr lang="en-US" sz="8000" i="1">
                                          <a:latin typeface="Cambria Math" panose="02040503050406030204" pitchFamily="18" charset="0"/>
                                        </a:rPr>
                                      </m:ctrlPr>
                                    </m:sSupPr>
                                    <m:e>
                                      <m:r>
                                        <a:rPr lang="en-US" sz="8000" i="1">
                                          <a:latin typeface="Cambria Math" panose="02040503050406030204" pitchFamily="18" charset="0"/>
                                        </a:rPr>
                                        <m:t>𝐿</m:t>
                                      </m:r>
                                    </m:e>
                                    <m:sup>
                                      <m:r>
                                        <a:rPr lang="en-US" sz="8000" i="1">
                                          <a:latin typeface="Cambria Math" panose="02040503050406030204" pitchFamily="18" charset="0"/>
                                        </a:rPr>
                                        <m:t>2</m:t>
                                      </m:r>
                                    </m:sup>
                                  </m:sSup>
                                  <m:sSup>
                                    <m:sSupPr>
                                      <m:ctrlPr>
                                        <a:rPr lang="en-US" sz="8000" i="1">
                                          <a:latin typeface="Cambria Math" panose="02040503050406030204" pitchFamily="18" charset="0"/>
                                        </a:rPr>
                                      </m:ctrlPr>
                                    </m:sSupPr>
                                    <m:e>
                                      <m:r>
                                        <a:rPr lang="en-US" sz="8000" i="1">
                                          <a:latin typeface="Cambria Math" panose="02040503050406030204" pitchFamily="18" charset="0"/>
                                        </a:rPr>
                                        <m:t>𝑉</m:t>
                                      </m:r>
                                    </m:e>
                                    <m:sup>
                                      <m:r>
                                        <a:rPr lang="en-US" sz="8000" i="1">
                                          <a:latin typeface="Cambria Math" panose="02040503050406030204" pitchFamily="18" charset="0"/>
                                        </a:rPr>
                                        <m:t>2</m:t>
                                      </m:r>
                                    </m:sup>
                                  </m:sSup>
                                </m:e>
                              </m:d>
                            </m:e>
                            <m:sub>
                              <m:r>
                                <a:rPr lang="en-US" sz="8000" b="0" i="1" smtClean="0">
                                  <a:latin typeface="Cambria Math" panose="02040503050406030204" pitchFamily="18" charset="0"/>
                                </a:rPr>
                                <m:t>𝑀</m:t>
                              </m:r>
                            </m:sub>
                          </m:sSub>
                        </m:den>
                      </m:f>
                      <m:r>
                        <a:rPr lang="en-US" sz="8000" i="1">
                          <a:latin typeface="Cambria Math" panose="02040503050406030204" pitchFamily="18" charset="0"/>
                        </a:rPr>
                        <m:t>=</m:t>
                      </m:r>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𝜌</m:t>
                              </m:r>
                            </m:e>
                            <m:sub>
                              <m:r>
                                <a:rPr lang="en-US" sz="8000" i="1">
                                  <a:latin typeface="Cambria Math" panose="02040503050406030204" pitchFamily="18" charset="0"/>
                                </a:rPr>
                                <m:t>𝑝</m:t>
                              </m:r>
                            </m:sub>
                          </m:sSub>
                        </m:num>
                        <m:den>
                          <m:sSub>
                            <m:sSubPr>
                              <m:ctrlPr>
                                <a:rPr lang="en-US" sz="8000" i="1">
                                  <a:latin typeface="Cambria Math" panose="02040503050406030204" pitchFamily="18" charset="0"/>
                                </a:rPr>
                              </m:ctrlPr>
                            </m:sSubPr>
                            <m:e>
                              <m:r>
                                <a:rPr lang="en-US" sz="8000" i="1">
                                  <a:latin typeface="Cambria Math" panose="02040503050406030204" pitchFamily="18" charset="0"/>
                                </a:rPr>
                                <m:t>𝜌</m:t>
                              </m:r>
                            </m:e>
                            <m:sub>
                              <m:r>
                                <a:rPr lang="en-US" sz="8000" i="1">
                                  <a:latin typeface="Cambria Math" panose="02040503050406030204" pitchFamily="18" charset="0"/>
                                </a:rPr>
                                <m:t>𝑚</m:t>
                              </m:r>
                            </m:sub>
                          </m:sSub>
                        </m:den>
                      </m:f>
                      <m:sSup>
                        <m:sSupPr>
                          <m:ctrlPr>
                            <a:rPr lang="en-US" sz="8000" i="1">
                              <a:latin typeface="Cambria Math" panose="02040503050406030204" pitchFamily="18" charset="0"/>
                            </a:rPr>
                          </m:ctrlPr>
                        </m:sSupPr>
                        <m:e>
                          <m:d>
                            <m:dPr>
                              <m:ctrlPr>
                                <a:rPr lang="en-US" sz="8000" i="1">
                                  <a:latin typeface="Cambria Math" panose="02040503050406030204" pitchFamily="18" charset="0"/>
                                </a:rPr>
                              </m:ctrlPr>
                            </m:dPr>
                            <m:e>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𝐿</m:t>
                                      </m:r>
                                    </m:e>
                                    <m:sub>
                                      <m:r>
                                        <a:rPr lang="en-US" sz="8000" i="1">
                                          <a:latin typeface="Cambria Math" panose="02040503050406030204" pitchFamily="18" charset="0"/>
                                        </a:rPr>
                                        <m:t>𝑝</m:t>
                                      </m:r>
                                    </m:sub>
                                  </m:sSub>
                                </m:num>
                                <m:den>
                                  <m:sSub>
                                    <m:sSubPr>
                                      <m:ctrlPr>
                                        <a:rPr lang="en-US" sz="8000" i="1">
                                          <a:latin typeface="Cambria Math" panose="02040503050406030204" pitchFamily="18" charset="0"/>
                                        </a:rPr>
                                      </m:ctrlPr>
                                    </m:sSubPr>
                                    <m:e>
                                      <m:r>
                                        <a:rPr lang="en-US" sz="8000" i="1">
                                          <a:latin typeface="Cambria Math" panose="02040503050406030204" pitchFamily="18" charset="0"/>
                                        </a:rPr>
                                        <m:t>𝐿</m:t>
                                      </m:r>
                                    </m:e>
                                    <m:sub>
                                      <m:r>
                                        <a:rPr lang="en-US" sz="8000" i="1">
                                          <a:latin typeface="Cambria Math" panose="02040503050406030204" pitchFamily="18" charset="0"/>
                                        </a:rPr>
                                        <m:t>𝑚</m:t>
                                      </m:r>
                                    </m:sub>
                                  </m:sSub>
                                </m:den>
                              </m:f>
                            </m:e>
                          </m:d>
                        </m:e>
                        <m:sup>
                          <m:r>
                            <a:rPr lang="en-US" sz="8000" i="1">
                              <a:latin typeface="Cambria Math" panose="02040503050406030204" pitchFamily="18" charset="0"/>
                            </a:rPr>
                            <m:t>2</m:t>
                          </m:r>
                        </m:sup>
                      </m:sSup>
                      <m:sSup>
                        <m:sSupPr>
                          <m:ctrlPr>
                            <a:rPr lang="en-US" sz="8000" i="1">
                              <a:latin typeface="Cambria Math" panose="02040503050406030204" pitchFamily="18" charset="0"/>
                            </a:rPr>
                          </m:ctrlPr>
                        </m:sSupPr>
                        <m:e>
                          <m:d>
                            <m:dPr>
                              <m:ctrlPr>
                                <a:rPr lang="en-US" sz="8000" i="1">
                                  <a:latin typeface="Cambria Math" panose="02040503050406030204" pitchFamily="18" charset="0"/>
                                </a:rPr>
                              </m:ctrlPr>
                            </m:dPr>
                            <m:e>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𝑉</m:t>
                                      </m:r>
                                    </m:e>
                                    <m:sub>
                                      <m:r>
                                        <a:rPr lang="en-US" sz="8000" i="1">
                                          <a:latin typeface="Cambria Math" panose="02040503050406030204" pitchFamily="18" charset="0"/>
                                        </a:rPr>
                                        <m:t>𝑝</m:t>
                                      </m:r>
                                    </m:sub>
                                  </m:sSub>
                                </m:num>
                                <m:den>
                                  <m:sSub>
                                    <m:sSubPr>
                                      <m:ctrlPr>
                                        <a:rPr lang="en-US" sz="8000" i="1">
                                          <a:latin typeface="Cambria Math" panose="02040503050406030204" pitchFamily="18" charset="0"/>
                                        </a:rPr>
                                      </m:ctrlPr>
                                    </m:sSubPr>
                                    <m:e>
                                      <m:r>
                                        <a:rPr lang="en-US" sz="8000" i="1">
                                          <a:latin typeface="Cambria Math" panose="02040503050406030204" pitchFamily="18" charset="0"/>
                                        </a:rPr>
                                        <m:t>𝑉</m:t>
                                      </m:r>
                                    </m:e>
                                    <m:sub>
                                      <m:r>
                                        <a:rPr lang="en-US" sz="8000" i="1">
                                          <a:latin typeface="Cambria Math" panose="02040503050406030204" pitchFamily="18" charset="0"/>
                                        </a:rPr>
                                        <m:t>𝑚</m:t>
                                      </m:r>
                                    </m:sub>
                                  </m:sSub>
                                </m:den>
                              </m:f>
                            </m:e>
                          </m:d>
                        </m:e>
                        <m:sup>
                          <m:r>
                            <a:rPr lang="en-US" sz="8000" i="1">
                              <a:latin typeface="Cambria Math" panose="02040503050406030204" pitchFamily="18" charset="0"/>
                            </a:rPr>
                            <m:t>2</m:t>
                          </m:r>
                        </m:sup>
                      </m:sSup>
                    </m:oMath>
                  </m:oMathPara>
                </a14:m>
                <a:endParaRPr lang="en-US" sz="8000" dirty="0"/>
              </a:p>
              <a:p>
                <a:pPr marL="0" indent="0">
                  <a:buNone/>
                </a:pPr>
                <a14:m>
                  <m:oMathPara xmlns:m="http://schemas.openxmlformats.org/officeDocument/2006/math">
                    <m:oMathParaPr>
                      <m:jc m:val="centerGroup"/>
                    </m:oMathParaPr>
                    <m:oMath xmlns:m="http://schemas.openxmlformats.org/officeDocument/2006/math">
                      <m:r>
                        <a:rPr lang="en-US" sz="8000" i="1">
                          <a:latin typeface="Cambria Math" panose="02040503050406030204" pitchFamily="18" charset="0"/>
                        </a:rPr>
                        <m:t>𝑏𝑢𝑡</m:t>
                      </m:r>
                      <m:r>
                        <a:rPr lang="en-US" sz="8000" i="1">
                          <a:latin typeface="Cambria Math" panose="02040503050406030204" pitchFamily="18" charset="0"/>
                        </a:rPr>
                        <m:t> </m:t>
                      </m:r>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𝜌</m:t>
                              </m:r>
                            </m:e>
                            <m:sub>
                              <m:r>
                                <a:rPr lang="en-US" sz="8000" i="1">
                                  <a:latin typeface="Cambria Math" panose="02040503050406030204" pitchFamily="18" charset="0"/>
                                </a:rPr>
                                <m:t>𝑝</m:t>
                              </m:r>
                            </m:sub>
                          </m:sSub>
                        </m:num>
                        <m:den>
                          <m:sSub>
                            <m:sSubPr>
                              <m:ctrlPr>
                                <a:rPr lang="en-US" sz="8000" i="1">
                                  <a:latin typeface="Cambria Math" panose="02040503050406030204" pitchFamily="18" charset="0"/>
                                </a:rPr>
                              </m:ctrlPr>
                            </m:sSubPr>
                            <m:e>
                              <m:r>
                                <a:rPr lang="en-US" sz="8000" i="1">
                                  <a:latin typeface="Cambria Math" panose="02040503050406030204" pitchFamily="18" charset="0"/>
                                </a:rPr>
                                <m:t>𝜌</m:t>
                              </m:r>
                            </m:e>
                            <m:sub>
                              <m:r>
                                <a:rPr lang="en-US" sz="8000" i="1">
                                  <a:latin typeface="Cambria Math" panose="02040503050406030204" pitchFamily="18" charset="0"/>
                                </a:rPr>
                                <m:t>𝑚</m:t>
                              </m:r>
                            </m:sub>
                          </m:sSub>
                        </m:den>
                      </m:f>
                      <m:r>
                        <a:rPr lang="en-US" sz="8000" i="1">
                          <a:latin typeface="Cambria Math" panose="02040503050406030204" pitchFamily="18" charset="0"/>
                        </a:rPr>
                        <m:t>=</m:t>
                      </m:r>
                      <m:f>
                        <m:fPr>
                          <m:ctrlPr>
                            <a:rPr lang="en-US" sz="8000" i="1">
                              <a:latin typeface="Cambria Math" panose="02040503050406030204" pitchFamily="18" charset="0"/>
                            </a:rPr>
                          </m:ctrlPr>
                        </m:fPr>
                        <m:num>
                          <m:r>
                            <a:rPr lang="en-US" sz="8000" i="1">
                              <a:latin typeface="Cambria Math" panose="02040503050406030204" pitchFamily="18" charset="0"/>
                            </a:rPr>
                            <m:t>1030</m:t>
                          </m:r>
                        </m:num>
                        <m:den>
                          <m:r>
                            <a:rPr lang="en-US" sz="8000" i="1">
                              <a:latin typeface="Cambria Math" panose="02040503050406030204" pitchFamily="18" charset="0"/>
                            </a:rPr>
                            <m:t>1.24</m:t>
                          </m:r>
                        </m:den>
                      </m:f>
                    </m:oMath>
                  </m:oMathPara>
                </a14:m>
                <a:endParaRPr lang="en-US" sz="8000" dirty="0"/>
              </a:p>
              <a:p>
                <a:pPr marL="0" indent="0">
                  <a:buNone/>
                </a:pPr>
                <a14:m>
                  <m:oMathPara xmlns:m="http://schemas.openxmlformats.org/officeDocument/2006/math">
                    <m:oMathParaPr>
                      <m:jc m:val="centerGroup"/>
                    </m:oMathParaPr>
                    <m:oMath xmlns:m="http://schemas.openxmlformats.org/officeDocument/2006/math">
                      <m:f>
                        <m:fPr>
                          <m:ctrlPr>
                            <a:rPr lang="en-US" sz="8000" i="1">
                              <a:latin typeface="Cambria Math" panose="02040503050406030204" pitchFamily="18" charset="0"/>
                            </a:rPr>
                          </m:ctrlPr>
                        </m:fPr>
                        <m:num>
                          <m:sSub>
                            <m:sSubPr>
                              <m:ctrlPr>
                                <a:rPr lang="en-US" sz="8000" i="1">
                                  <a:latin typeface="Cambria Math" panose="02040503050406030204" pitchFamily="18" charset="0"/>
                                </a:rPr>
                              </m:ctrlPr>
                            </m:sSubPr>
                            <m:e>
                              <m:r>
                                <a:rPr lang="en-US" sz="8000" i="1">
                                  <a:latin typeface="Cambria Math" panose="02040503050406030204" pitchFamily="18" charset="0"/>
                                </a:rPr>
                                <m:t>𝐹</m:t>
                              </m:r>
                            </m:e>
                            <m:sub>
                              <m:r>
                                <a:rPr lang="en-US" sz="8000" i="1">
                                  <a:latin typeface="Cambria Math" panose="02040503050406030204" pitchFamily="18" charset="0"/>
                                </a:rPr>
                                <m:t>𝑝</m:t>
                              </m:r>
                            </m:sub>
                          </m:sSub>
                        </m:num>
                        <m:den>
                          <m:sSub>
                            <m:sSubPr>
                              <m:ctrlPr>
                                <a:rPr lang="en-US" sz="8000" i="1">
                                  <a:latin typeface="Cambria Math" panose="02040503050406030204" pitchFamily="18" charset="0"/>
                                </a:rPr>
                              </m:ctrlPr>
                            </m:sSubPr>
                            <m:e>
                              <m:r>
                                <a:rPr lang="en-US" sz="8000" i="1">
                                  <a:latin typeface="Cambria Math" panose="02040503050406030204" pitchFamily="18" charset="0"/>
                                </a:rPr>
                                <m:t>𝐹</m:t>
                              </m:r>
                            </m:e>
                            <m:sub>
                              <m:r>
                                <a:rPr lang="en-US" sz="8000" i="1">
                                  <a:latin typeface="Cambria Math" panose="02040503050406030204" pitchFamily="18" charset="0"/>
                                </a:rPr>
                                <m:t>𝑚</m:t>
                              </m:r>
                            </m:sub>
                          </m:sSub>
                        </m:den>
                      </m:f>
                      <m:r>
                        <a:rPr lang="en-US" sz="8000" i="1">
                          <a:latin typeface="Cambria Math" panose="02040503050406030204" pitchFamily="18" charset="0"/>
                        </a:rPr>
                        <m:t>=</m:t>
                      </m:r>
                      <m:f>
                        <m:fPr>
                          <m:ctrlPr>
                            <a:rPr lang="en-US" sz="8000" i="1">
                              <a:latin typeface="Cambria Math" panose="02040503050406030204" pitchFamily="18" charset="0"/>
                            </a:rPr>
                          </m:ctrlPr>
                        </m:fPr>
                        <m:num>
                          <m:r>
                            <a:rPr lang="en-US" sz="8000" i="1">
                              <a:latin typeface="Cambria Math" panose="02040503050406030204" pitchFamily="18" charset="0"/>
                            </a:rPr>
                            <m:t>1030</m:t>
                          </m:r>
                        </m:num>
                        <m:den>
                          <m:r>
                            <a:rPr lang="en-US" sz="8000" i="1">
                              <a:latin typeface="Cambria Math" panose="02040503050406030204" pitchFamily="18" charset="0"/>
                            </a:rPr>
                            <m:t>1.24</m:t>
                          </m:r>
                        </m:den>
                      </m:f>
                      <m:r>
                        <a:rPr lang="en-US" sz="8000" i="1">
                          <a:latin typeface="Cambria Math" panose="02040503050406030204" pitchFamily="18" charset="0"/>
                        </a:rPr>
                        <m:t>×</m:t>
                      </m:r>
                      <m:sSup>
                        <m:sSupPr>
                          <m:ctrlPr>
                            <a:rPr lang="en-US" sz="8000" i="1">
                              <a:latin typeface="Cambria Math" panose="02040503050406030204" pitchFamily="18" charset="0"/>
                            </a:rPr>
                          </m:ctrlPr>
                        </m:sSupPr>
                        <m:e>
                          <m:d>
                            <m:dPr>
                              <m:ctrlPr>
                                <a:rPr lang="en-US" sz="8000" i="1">
                                  <a:latin typeface="Cambria Math" panose="02040503050406030204" pitchFamily="18" charset="0"/>
                                </a:rPr>
                              </m:ctrlPr>
                            </m:dPr>
                            <m:e>
                              <m:f>
                                <m:fPr>
                                  <m:ctrlPr>
                                    <a:rPr lang="en-US" sz="8000" i="1">
                                      <a:latin typeface="Cambria Math" panose="02040503050406030204" pitchFamily="18" charset="0"/>
                                    </a:rPr>
                                  </m:ctrlPr>
                                </m:fPr>
                                <m:num>
                                  <m:r>
                                    <a:rPr lang="en-US" sz="8000" i="1">
                                      <a:latin typeface="Cambria Math" panose="02040503050406030204" pitchFamily="18" charset="0"/>
                                    </a:rPr>
                                    <m:t>300</m:t>
                                  </m:r>
                                </m:num>
                                <m:den>
                                  <m:r>
                                    <a:rPr lang="en-US" sz="8000" i="1">
                                      <a:latin typeface="Cambria Math" panose="02040503050406030204" pitchFamily="18" charset="0"/>
                                    </a:rPr>
                                    <m:t>3</m:t>
                                  </m:r>
                                </m:den>
                              </m:f>
                            </m:e>
                          </m:d>
                        </m:e>
                        <m:sup>
                          <m:r>
                            <a:rPr lang="en-US" sz="8000" i="1">
                              <a:latin typeface="Cambria Math" panose="02040503050406030204" pitchFamily="18" charset="0"/>
                            </a:rPr>
                            <m:t>2</m:t>
                          </m:r>
                        </m:sup>
                      </m:sSup>
                      <m:r>
                        <a:rPr lang="en-US" sz="8000" i="1">
                          <a:latin typeface="Cambria Math" panose="02040503050406030204" pitchFamily="18" charset="0"/>
                        </a:rPr>
                        <m:t>×</m:t>
                      </m:r>
                      <m:sSup>
                        <m:sSupPr>
                          <m:ctrlPr>
                            <a:rPr lang="en-US" sz="8000" i="1">
                              <a:latin typeface="Cambria Math" panose="02040503050406030204" pitchFamily="18" charset="0"/>
                            </a:rPr>
                          </m:ctrlPr>
                        </m:sSupPr>
                        <m:e>
                          <m:d>
                            <m:dPr>
                              <m:ctrlPr>
                                <a:rPr lang="en-US" sz="8000" i="1">
                                  <a:latin typeface="Cambria Math" panose="02040503050406030204" pitchFamily="18" charset="0"/>
                                </a:rPr>
                              </m:ctrlPr>
                            </m:dPr>
                            <m:e>
                              <m:f>
                                <m:fPr>
                                  <m:ctrlPr>
                                    <a:rPr lang="en-US" sz="8000" i="1">
                                      <a:latin typeface="Cambria Math" panose="02040503050406030204" pitchFamily="18" charset="0"/>
                                    </a:rPr>
                                  </m:ctrlPr>
                                </m:fPr>
                                <m:num>
                                  <m:r>
                                    <a:rPr lang="en-US" sz="8000" i="1">
                                      <a:latin typeface="Cambria Math" panose="02040503050406030204" pitchFamily="18" charset="0"/>
                                    </a:rPr>
                                    <m:t>0.2</m:t>
                                  </m:r>
                                </m:num>
                                <m:den>
                                  <m:r>
                                    <a:rPr lang="en-US" sz="8000" i="1">
                                      <a:latin typeface="Cambria Math" panose="02040503050406030204" pitchFamily="18" charset="0"/>
                                    </a:rPr>
                                    <m:t>30</m:t>
                                  </m:r>
                                </m:den>
                              </m:f>
                            </m:e>
                          </m:d>
                        </m:e>
                        <m:sup>
                          <m:r>
                            <a:rPr lang="en-US" sz="8000" i="1">
                              <a:latin typeface="Cambria Math" panose="02040503050406030204" pitchFamily="18" charset="0"/>
                            </a:rPr>
                            <m:t>2</m:t>
                          </m:r>
                        </m:sup>
                      </m:sSup>
                      <m:r>
                        <a:rPr lang="en-US" sz="8000" i="1">
                          <a:latin typeface="Cambria Math" panose="02040503050406030204" pitchFamily="18" charset="0"/>
                        </a:rPr>
                        <m:t>=369.17</m:t>
                      </m:r>
                    </m:oMath>
                  </m:oMathPara>
                </a14:m>
                <a:endParaRPr lang="en-US" sz="8000" dirty="0"/>
              </a:p>
              <a:p>
                <a:pPr marL="0" indent="0">
                  <a:buNone/>
                </a:pPr>
                <a14:m>
                  <m:oMathPara xmlns:m="http://schemas.openxmlformats.org/officeDocument/2006/math">
                    <m:oMathParaPr>
                      <m:jc m:val="centerGroup"/>
                    </m:oMathParaPr>
                    <m:oMath xmlns:m="http://schemas.openxmlformats.org/officeDocument/2006/math">
                      <m:sSub>
                        <m:sSubPr>
                          <m:ctrlPr>
                            <a:rPr lang="en-US" sz="8000" i="1">
                              <a:latin typeface="Cambria Math" panose="02040503050406030204" pitchFamily="18" charset="0"/>
                            </a:rPr>
                          </m:ctrlPr>
                        </m:sSubPr>
                        <m:e>
                          <m:r>
                            <a:rPr lang="en-US" sz="8000" i="1">
                              <a:latin typeface="Cambria Math" panose="02040503050406030204" pitchFamily="18" charset="0"/>
                            </a:rPr>
                            <m:t>𝐹</m:t>
                          </m:r>
                        </m:e>
                        <m:sub>
                          <m:r>
                            <a:rPr lang="en-US" sz="8000" i="1">
                              <a:latin typeface="Cambria Math" panose="02040503050406030204" pitchFamily="18" charset="0"/>
                            </a:rPr>
                            <m:t>𝑝</m:t>
                          </m:r>
                        </m:sub>
                      </m:sSub>
                      <m:r>
                        <a:rPr lang="en-US" sz="8000" i="1">
                          <a:latin typeface="Cambria Math" panose="02040503050406030204" pitchFamily="18" charset="0"/>
                        </a:rPr>
                        <m:t>=369.17×</m:t>
                      </m:r>
                      <m:sSub>
                        <m:sSubPr>
                          <m:ctrlPr>
                            <a:rPr lang="en-US" sz="8000" i="1">
                              <a:latin typeface="Cambria Math" panose="02040503050406030204" pitchFamily="18" charset="0"/>
                            </a:rPr>
                          </m:ctrlPr>
                        </m:sSubPr>
                        <m:e>
                          <m:r>
                            <a:rPr lang="en-US" sz="8000" i="1">
                              <a:latin typeface="Cambria Math" panose="02040503050406030204" pitchFamily="18" charset="0"/>
                            </a:rPr>
                            <m:t>𝐹</m:t>
                          </m:r>
                        </m:e>
                        <m:sub>
                          <m:r>
                            <a:rPr lang="en-US" sz="8000" i="1">
                              <a:latin typeface="Cambria Math" panose="02040503050406030204" pitchFamily="18" charset="0"/>
                            </a:rPr>
                            <m:t>𝑚</m:t>
                          </m:r>
                        </m:sub>
                      </m:sSub>
                    </m:oMath>
                  </m:oMathPara>
                </a14:m>
                <a:endParaRPr lang="en-US" sz="8000" dirty="0"/>
              </a:p>
              <a:p>
                <a:pPr marL="0" indent="0">
                  <a:buNone/>
                </a:pPr>
                <a14:m>
                  <m:oMathPara xmlns:m="http://schemas.openxmlformats.org/officeDocument/2006/math">
                    <m:oMathParaPr>
                      <m:jc m:val="centerGroup"/>
                    </m:oMathParaPr>
                    <m:oMath xmlns:m="http://schemas.openxmlformats.org/officeDocument/2006/math">
                      <m:r>
                        <a:rPr lang="en-US" sz="8000" i="1">
                          <a:latin typeface="Cambria Math" panose="02040503050406030204" pitchFamily="18" charset="0"/>
                        </a:rPr>
                        <m:t>=369.17×60</m:t>
                      </m:r>
                    </m:oMath>
                  </m:oMathPara>
                </a14:m>
                <a:endParaRPr lang="en-US" sz="8000" dirty="0"/>
              </a:p>
              <a:p>
                <a:pPr marL="0" indent="0">
                  <a:buNone/>
                </a:pPr>
                <a14:m>
                  <m:oMathPara xmlns:m="http://schemas.openxmlformats.org/officeDocument/2006/math">
                    <m:oMathParaPr>
                      <m:jc m:val="centerGroup"/>
                    </m:oMathParaPr>
                    <m:oMath xmlns:m="http://schemas.openxmlformats.org/officeDocument/2006/math">
                      <m:r>
                        <a:rPr lang="en-US" sz="8000" i="1">
                          <a:latin typeface="Cambria Math" panose="02040503050406030204" pitchFamily="18" charset="0"/>
                        </a:rPr>
                        <m:t>=&gt; </m:t>
                      </m:r>
                      <m:sSub>
                        <m:sSubPr>
                          <m:ctrlPr>
                            <a:rPr lang="en-US" sz="8000" i="1">
                              <a:latin typeface="Cambria Math" panose="02040503050406030204" pitchFamily="18" charset="0"/>
                            </a:rPr>
                          </m:ctrlPr>
                        </m:sSubPr>
                        <m:e>
                          <m:r>
                            <a:rPr lang="en-US" sz="8000" i="1">
                              <a:latin typeface="Cambria Math" panose="02040503050406030204" pitchFamily="18" charset="0"/>
                            </a:rPr>
                            <m:t>𝐹</m:t>
                          </m:r>
                        </m:e>
                        <m:sub>
                          <m:r>
                            <a:rPr lang="en-US" sz="8000" i="1">
                              <a:latin typeface="Cambria Math" panose="02040503050406030204" pitchFamily="18" charset="0"/>
                            </a:rPr>
                            <m:t>𝑝</m:t>
                          </m:r>
                        </m:sub>
                      </m:sSub>
                      <m:r>
                        <a:rPr lang="en-US" sz="8000" i="1">
                          <a:latin typeface="Cambria Math" panose="02040503050406030204" pitchFamily="18" charset="0"/>
                        </a:rPr>
                        <m:t>=22150 </m:t>
                      </m:r>
                      <m:r>
                        <a:rPr lang="en-US" sz="8000" i="1">
                          <a:latin typeface="Cambria Math" panose="02040503050406030204" pitchFamily="18" charset="0"/>
                        </a:rPr>
                        <m:t>𝑁</m:t>
                      </m:r>
                      <m:r>
                        <a:rPr lang="en-US" sz="8000" i="1">
                          <a:latin typeface="Cambria Math" panose="02040503050406030204" pitchFamily="18" charset="0"/>
                        </a:rPr>
                        <m:t> </m:t>
                      </m:r>
                    </m:oMath>
                  </m:oMathPara>
                </a14:m>
                <a:endParaRPr lang="en-US" sz="800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0"/>
                <a:ext cx="9144000" cy="6858000"/>
              </a:xfrm>
              <a:blipFill>
                <a:blip r:embed="rId3"/>
                <a:stretch>
                  <a:fillRect l="-667" t="-1244"/>
                </a:stretch>
              </a:blipFill>
            </p:spPr>
            <p:txBody>
              <a:bodyPr/>
              <a:lstStyle/>
              <a:p>
                <a:r>
                  <a:rPr lang="en-GH">
                    <a:noFill/>
                  </a:rPr>
                  <a:t> </a:t>
                </a:r>
              </a:p>
            </p:txBody>
          </p:sp>
        </mc:Fallback>
      </mc:AlternateContent>
    </p:spTree>
    <p:extLst>
      <p:ext uri="{BB962C8B-B14F-4D97-AF65-F5344CB8AC3E}">
        <p14:creationId xmlns:p14="http://schemas.microsoft.com/office/powerpoint/2010/main" val="2233199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86"/>
            <a:ext cx="8229600" cy="620486"/>
          </a:xfrm>
        </p:spPr>
        <p:txBody>
          <a:bodyPr>
            <a:normAutofit fontScale="90000"/>
          </a:bodyPr>
          <a:lstStyle/>
          <a:p>
            <a:r>
              <a:rPr lang="en-US" dirty="0"/>
              <a:t>Examples on </a:t>
            </a:r>
            <a:r>
              <a:rPr lang="en-US" i="1" dirty="0"/>
              <a:t>Re</a:t>
            </a:r>
            <a:r>
              <a:rPr lang="en-US" dirty="0"/>
              <a:t> Similarity</a:t>
            </a:r>
          </a:p>
        </p:txBody>
      </p:sp>
      <p:sp>
        <p:nvSpPr>
          <p:cNvPr id="3" name="Content Placeholder 2"/>
          <p:cNvSpPr>
            <a:spLocks noGrp="1"/>
          </p:cNvSpPr>
          <p:nvPr>
            <p:ph idx="1"/>
          </p:nvPr>
        </p:nvSpPr>
        <p:spPr>
          <a:xfrm>
            <a:off x="0" y="762000"/>
            <a:ext cx="9144000" cy="5638800"/>
          </a:xfrm>
        </p:spPr>
        <p:txBody>
          <a:bodyPr>
            <a:normAutofit/>
          </a:bodyPr>
          <a:lstStyle/>
          <a:p>
            <a:pPr marL="0" indent="0" algn="just">
              <a:buNone/>
            </a:pPr>
            <a:r>
              <a:rPr lang="en-US" dirty="0"/>
              <a:t>2. An airship is to operate at 20 m/s in air at standard conditions. A model is constructed to 1:20 scale and tested in a wind tunnel at the same air temperature to determine drag. What criterion should be considered to obtain dynamic similarity? If the model is tested at 75 m/s, what pressure should be used in the wind tunnel? If the model drag force is 250 N, what will be the drag of the prototype?</a:t>
            </a:r>
          </a:p>
          <a:p>
            <a:pPr marL="0" indent="0">
              <a:buNone/>
            </a:pPr>
            <a:endParaRPr lang="en-US" dirty="0"/>
          </a:p>
        </p:txBody>
      </p:sp>
    </p:spTree>
    <p:extLst>
      <p:ext uri="{BB962C8B-B14F-4D97-AF65-F5344CB8AC3E}">
        <p14:creationId xmlns:p14="http://schemas.microsoft.com/office/powerpoint/2010/main" val="510034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33400"/>
          </a:xfrm>
        </p:spPr>
        <p:txBody>
          <a:bodyPr>
            <a:normAutofit fontScale="90000"/>
          </a:bodyPr>
          <a:lstStyle/>
          <a:p>
            <a:br>
              <a:rPr lang="en-US" dirty="0"/>
            </a:br>
            <a:r>
              <a:rPr lang="en-US" dirty="0"/>
              <a:t>Froude (No.) law</a:t>
            </a:r>
            <a:br>
              <a:rPr lang="en-US" dirty="0"/>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838200"/>
                <a:ext cx="8991600" cy="6019800"/>
              </a:xfrm>
            </p:spPr>
            <p:txBody>
              <a:bodyPr>
                <a:normAutofit fontScale="25000" lnSpcReduction="20000"/>
              </a:bodyPr>
              <a:lstStyle/>
              <a:p>
                <a:pPr marL="0" indent="0">
                  <a:buNone/>
                </a:pPr>
                <a:endParaRPr lang="en-US" dirty="0"/>
              </a:p>
              <a:p>
                <a:r>
                  <a:rPr lang="en-US" sz="7200" dirty="0"/>
                  <a:t>Froude model law is applicable when gravity is the predominant force which controls the flow in addition to the force of inertia. </a:t>
                </a:r>
              </a:p>
              <a:p>
                <a:r>
                  <a:rPr lang="en-US" sz="7200" dirty="0"/>
                  <a:t>Froude model law is applied to the following fluid flow problems</a:t>
                </a:r>
              </a:p>
              <a:p>
                <a:pPr marL="0" lvl="0" indent="0">
                  <a:buNone/>
                </a:pPr>
                <a:r>
                  <a:rPr lang="en-GB" sz="7200" dirty="0"/>
                  <a:t>1. Free surface flows </a:t>
                </a:r>
                <a:r>
                  <a:rPr lang="en-GB" sz="7200" dirty="0" err="1"/>
                  <a:t>eg</a:t>
                </a:r>
                <a:r>
                  <a:rPr lang="en-GB" sz="7200" dirty="0"/>
                  <a:t>. Channels ,weirs, spill ways ,</a:t>
                </a:r>
                <a:r>
                  <a:rPr lang="en-GB" sz="7200" dirty="0" err="1"/>
                  <a:t>etc</a:t>
                </a:r>
                <a:endParaRPr lang="en-US" sz="7200" dirty="0"/>
              </a:p>
              <a:p>
                <a:pPr marL="0" lvl="0" indent="0">
                  <a:buNone/>
                </a:pPr>
                <a:r>
                  <a:rPr lang="en-GB" sz="7200" dirty="0"/>
                  <a:t>2. Flow of jet from an orifice or nozzle</a:t>
                </a:r>
                <a:endParaRPr lang="en-US" sz="7200" dirty="0"/>
              </a:p>
              <a:p>
                <a:pPr marL="0" lvl="0" indent="0">
                  <a:buNone/>
                </a:pPr>
                <a:r>
                  <a:rPr lang="en-GB" sz="7200" dirty="0"/>
                  <a:t>3. Where waves are likely to be formed on surface. </a:t>
                </a:r>
              </a:p>
              <a:p>
                <a:pPr marL="0" lvl="0" indent="0">
                  <a:buNone/>
                </a:pPr>
                <a:r>
                  <a:rPr lang="en-GB" sz="7200" dirty="0"/>
                  <a:t>4. Where fluids of different densities flow over one another.</a:t>
                </a:r>
                <a:endParaRPr lang="en-US" sz="7200" dirty="0"/>
              </a:p>
              <a:p>
                <a:pPr marL="0" lvl="0" indent="0">
                  <a:buNone/>
                </a:pPr>
                <a:r>
                  <a:rPr lang="en-GB" sz="7200" dirty="0"/>
                  <a:t>Thus Froude model law states</a:t>
                </a:r>
                <a:endParaRPr lang="en-US" sz="7200" dirty="0"/>
              </a:p>
              <a:p>
                <a:pPr marL="0" indent="0">
                  <a:buNone/>
                </a:pPr>
                <a:r>
                  <a:rPr lang="en-US" sz="7200" dirty="0"/>
                  <a:t> </a:t>
                </a:r>
              </a:p>
              <a:p>
                <a14:m>
                  <m:oMath xmlns:m="http://schemas.openxmlformats.org/officeDocument/2006/math">
                    <m:sSub>
                      <m:sSubPr>
                        <m:ctrlPr>
                          <a:rPr lang="en-US" sz="7200" i="1">
                            <a:latin typeface="Cambria Math" panose="02040503050406030204" pitchFamily="18" charset="0"/>
                          </a:rPr>
                        </m:ctrlPr>
                      </m:sSubPr>
                      <m:e>
                        <m:d>
                          <m:dPr>
                            <m:ctrlPr>
                              <a:rPr lang="en-US" sz="7200" i="1">
                                <a:latin typeface="Cambria Math" panose="02040503050406030204" pitchFamily="18" charset="0"/>
                              </a:rPr>
                            </m:ctrlPr>
                          </m:dPr>
                          <m:e>
                            <m:r>
                              <a:rPr lang="en-US" sz="7200" i="1">
                                <a:latin typeface="Cambria Math" panose="02040503050406030204" pitchFamily="18" charset="0"/>
                              </a:rPr>
                              <m:t>𝐹𝑒</m:t>
                            </m:r>
                          </m:e>
                        </m:d>
                      </m:e>
                      <m:sub>
                        <m:r>
                          <a:rPr lang="en-US" sz="7200" i="1">
                            <a:latin typeface="Cambria Math" panose="02040503050406030204" pitchFamily="18" charset="0"/>
                          </a:rPr>
                          <m:t>𝑚𝑜𝑑𝑒𝑙</m:t>
                        </m:r>
                      </m:sub>
                    </m:sSub>
                    <m:r>
                      <a:rPr lang="en-US" sz="7200" i="1">
                        <a:latin typeface="Cambria Math" panose="02040503050406030204" pitchFamily="18" charset="0"/>
                      </a:rPr>
                      <m:t>=</m:t>
                    </m:r>
                    <m:sSub>
                      <m:sSubPr>
                        <m:ctrlPr>
                          <a:rPr lang="en-US" sz="7200" i="1">
                            <a:latin typeface="Cambria Math" panose="02040503050406030204" pitchFamily="18" charset="0"/>
                          </a:rPr>
                        </m:ctrlPr>
                      </m:sSubPr>
                      <m:e>
                        <m:d>
                          <m:dPr>
                            <m:ctrlPr>
                              <a:rPr lang="en-US" sz="7200" i="1">
                                <a:latin typeface="Cambria Math" panose="02040503050406030204" pitchFamily="18" charset="0"/>
                              </a:rPr>
                            </m:ctrlPr>
                          </m:dPr>
                          <m:e>
                            <m:r>
                              <a:rPr lang="en-US" sz="7200" i="1">
                                <a:latin typeface="Cambria Math" panose="02040503050406030204" pitchFamily="18" charset="0"/>
                              </a:rPr>
                              <m:t>𝐹𝑒</m:t>
                            </m:r>
                          </m:e>
                        </m:d>
                      </m:e>
                      <m:sub>
                        <m:r>
                          <a:rPr lang="en-US" sz="7200" i="1">
                            <a:latin typeface="Cambria Math" panose="02040503050406030204" pitchFamily="18" charset="0"/>
                          </a:rPr>
                          <m:t>𝑝𝑟𝑜𝑡𝑜𝑡𝑦𝑝𝑒</m:t>
                        </m:r>
                      </m:sub>
                    </m:sSub>
                  </m:oMath>
                </a14:m>
                <a:endParaRPr lang="en-US" sz="7200" dirty="0"/>
              </a:p>
              <a:p>
                <a:pPr marL="0" indent="0">
                  <a:buNone/>
                </a:pPr>
                <a:r>
                  <a:rPr lang="en-US" sz="7200" dirty="0"/>
                  <a:t>              </a:t>
                </a:r>
                <a14:m>
                  <m:oMath xmlns:m="http://schemas.openxmlformats.org/officeDocument/2006/math">
                    <m:r>
                      <a:rPr lang="en-US" sz="7200" i="1">
                        <a:latin typeface="Cambria Math" panose="02040503050406030204" pitchFamily="18" charset="0"/>
                      </a:rPr>
                      <m:t>𝑜𝑟</m:t>
                    </m:r>
                    <m:r>
                      <a:rPr lang="en-US" sz="7200" i="1">
                        <a:latin typeface="Cambria Math" panose="02040503050406030204" pitchFamily="18" charset="0"/>
                      </a:rPr>
                      <m:t> </m:t>
                    </m:r>
                    <m:f>
                      <m:fPr>
                        <m:ctrlPr>
                          <a:rPr lang="en-US" sz="7200" i="1">
                            <a:latin typeface="Cambria Math" panose="02040503050406030204" pitchFamily="18" charset="0"/>
                          </a:rPr>
                        </m:ctrlPr>
                      </m:fPr>
                      <m:num>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𝑚</m:t>
                            </m:r>
                          </m:sub>
                        </m:sSub>
                      </m:num>
                      <m:den>
                        <m:rad>
                          <m:radPr>
                            <m:degHide m:val="on"/>
                            <m:ctrlPr>
                              <a:rPr lang="en-US" sz="7200" i="1">
                                <a:latin typeface="Cambria Math" panose="02040503050406030204" pitchFamily="18" charset="0"/>
                              </a:rPr>
                            </m:ctrlPr>
                          </m:radPr>
                          <m:deg/>
                          <m:e>
                            <m:sSub>
                              <m:sSubPr>
                                <m:ctrlPr>
                                  <a:rPr lang="en-US" sz="7200" i="1">
                                    <a:latin typeface="Cambria Math" panose="02040503050406030204" pitchFamily="18" charset="0"/>
                                  </a:rPr>
                                </m:ctrlPr>
                              </m:sSubPr>
                              <m:e>
                                <m:r>
                                  <a:rPr lang="en-US" sz="7200" i="1">
                                    <a:latin typeface="Cambria Math" panose="02040503050406030204" pitchFamily="18" charset="0"/>
                                  </a:rPr>
                                  <m:t>𝑔</m:t>
                                </m:r>
                              </m:e>
                              <m:sub>
                                <m:r>
                                  <a:rPr lang="en-US" sz="7200" i="1">
                                    <a:latin typeface="Cambria Math" panose="02040503050406030204" pitchFamily="18" charset="0"/>
                                  </a:rPr>
                                  <m:t>𝑚</m:t>
                                </m:r>
                                <m:sSub>
                                  <m:sSubPr>
                                    <m:ctrlPr>
                                      <a:rPr lang="en-US" sz="7200" i="1" smtClean="0">
                                        <a:latin typeface="Cambria Math" panose="02040503050406030204" pitchFamily="18" charset="0"/>
                                      </a:rPr>
                                    </m:ctrlPr>
                                  </m:sSubPr>
                                  <m:e>
                                    <m:r>
                                      <a:rPr lang="en-US" sz="7200" b="0" i="1" smtClean="0">
                                        <a:latin typeface="Cambria Math" panose="02040503050406030204" pitchFamily="18" charset="0"/>
                                      </a:rPr>
                                      <m:t>𝐿</m:t>
                                    </m:r>
                                  </m:e>
                                  <m:sub>
                                    <m:r>
                                      <a:rPr lang="en-US" sz="7200" b="0" i="1" smtClean="0">
                                        <a:latin typeface="Cambria Math" panose="02040503050406030204" pitchFamily="18" charset="0"/>
                                      </a:rPr>
                                      <m:t>𝑚</m:t>
                                    </m:r>
                                  </m:sub>
                                </m:sSub>
                              </m:sub>
                            </m:sSub>
                          </m:e>
                        </m:rad>
                      </m:den>
                    </m:f>
                    <m:r>
                      <a:rPr lang="en-US" sz="7200" b="0" i="1" smtClean="0">
                        <a:latin typeface="Cambria Math" panose="02040503050406030204" pitchFamily="18" charset="0"/>
                      </a:rPr>
                      <m:t>=</m:t>
                    </m:r>
                    <m:f>
                      <m:fPr>
                        <m:ctrlPr>
                          <a:rPr lang="en-US" sz="7200" b="0" i="1" smtClean="0">
                            <a:latin typeface="Cambria Math" panose="02040503050406030204" pitchFamily="18" charset="0"/>
                          </a:rPr>
                        </m:ctrlPr>
                      </m:fPr>
                      <m:num>
                        <m:sSub>
                          <m:sSubPr>
                            <m:ctrlPr>
                              <a:rPr lang="en-US" sz="7200" b="0" i="1" smtClean="0">
                                <a:latin typeface="Cambria Math" panose="02040503050406030204" pitchFamily="18" charset="0"/>
                              </a:rPr>
                            </m:ctrlPr>
                          </m:sSubPr>
                          <m:e>
                            <m:r>
                              <a:rPr lang="en-US" sz="7200" b="0" i="1" smtClean="0">
                                <a:latin typeface="Cambria Math" panose="02040503050406030204" pitchFamily="18" charset="0"/>
                              </a:rPr>
                              <m:t>𝑉</m:t>
                            </m:r>
                          </m:e>
                          <m:sub>
                            <m:r>
                              <a:rPr lang="en-US" sz="7200" b="0" i="1" smtClean="0">
                                <a:latin typeface="Cambria Math" panose="02040503050406030204" pitchFamily="18" charset="0"/>
                              </a:rPr>
                              <m:t>𝑝</m:t>
                            </m:r>
                          </m:sub>
                        </m:sSub>
                      </m:num>
                      <m:den>
                        <m:rad>
                          <m:radPr>
                            <m:degHide m:val="on"/>
                            <m:ctrlPr>
                              <a:rPr lang="en-US" sz="7200" b="0" i="1" smtClean="0">
                                <a:latin typeface="Cambria Math" panose="02040503050406030204" pitchFamily="18" charset="0"/>
                              </a:rPr>
                            </m:ctrlPr>
                          </m:radPr>
                          <m:deg/>
                          <m:e>
                            <m:sSub>
                              <m:sSubPr>
                                <m:ctrlPr>
                                  <a:rPr lang="en-US" sz="7200" b="0" i="1" smtClean="0">
                                    <a:latin typeface="Cambria Math" panose="02040503050406030204" pitchFamily="18" charset="0"/>
                                  </a:rPr>
                                </m:ctrlPr>
                              </m:sSubPr>
                              <m:e>
                                <m:r>
                                  <a:rPr lang="en-US" sz="7200" b="0" i="1" smtClean="0">
                                    <a:latin typeface="Cambria Math" panose="02040503050406030204" pitchFamily="18" charset="0"/>
                                  </a:rPr>
                                  <m:t>𝑔</m:t>
                                </m:r>
                              </m:e>
                              <m:sub>
                                <m:r>
                                  <a:rPr lang="en-US" sz="7200" b="0" i="1" smtClean="0">
                                    <a:latin typeface="Cambria Math" panose="02040503050406030204" pitchFamily="18" charset="0"/>
                                    <a:ea typeface="Cambria Math" panose="02040503050406030204" pitchFamily="18" charset="0"/>
                                  </a:rPr>
                                  <m:t>𝜌</m:t>
                                </m:r>
                              </m:sub>
                            </m:sSub>
                            <m:sSub>
                              <m:sSubPr>
                                <m:ctrlPr>
                                  <a:rPr lang="en-US" sz="7200" b="0" i="1" smtClean="0">
                                    <a:latin typeface="Cambria Math" panose="02040503050406030204" pitchFamily="18" charset="0"/>
                                  </a:rPr>
                                </m:ctrlPr>
                              </m:sSubPr>
                              <m:e>
                                <m:r>
                                  <a:rPr lang="en-US" sz="7200" b="0" i="1" smtClean="0">
                                    <a:latin typeface="Cambria Math" panose="02040503050406030204" pitchFamily="18" charset="0"/>
                                  </a:rPr>
                                  <m:t>𝐿</m:t>
                                </m:r>
                              </m:e>
                              <m:sub>
                                <m:r>
                                  <a:rPr lang="en-US" sz="7200" b="0" i="1" smtClean="0">
                                    <a:latin typeface="Cambria Math" panose="02040503050406030204" pitchFamily="18" charset="0"/>
                                  </a:rPr>
                                  <m:t>𝑝</m:t>
                                </m:r>
                              </m:sub>
                            </m:sSub>
                          </m:e>
                        </m:rad>
                      </m:den>
                    </m:f>
                  </m:oMath>
                </a14:m>
                <a:endParaRPr lang="en-US" sz="7200" dirty="0"/>
              </a:p>
              <a:p>
                <a:r>
                  <a:rPr lang="en-US" sz="7200" dirty="0"/>
                  <a:t>If tests are performed at the same place where prototype is to operate, </a:t>
                </a:r>
                <a14:m>
                  <m:oMath xmlns:m="http://schemas.openxmlformats.org/officeDocument/2006/math">
                    <m:sSub>
                      <m:sSubPr>
                        <m:ctrlPr>
                          <a:rPr lang="en-US" sz="7200" i="1">
                            <a:latin typeface="Cambria Math" panose="02040503050406030204" pitchFamily="18" charset="0"/>
                          </a:rPr>
                        </m:ctrlPr>
                      </m:sSubPr>
                      <m:e>
                        <m:r>
                          <a:rPr lang="en-US" sz="7200" i="1">
                            <a:latin typeface="Cambria Math" panose="02040503050406030204" pitchFamily="18" charset="0"/>
                          </a:rPr>
                          <m:t>𝑔</m:t>
                        </m:r>
                      </m:e>
                      <m:sub>
                        <m:r>
                          <a:rPr lang="en-US" sz="7200" i="1">
                            <a:latin typeface="Cambria Math" panose="02040503050406030204" pitchFamily="18" charset="0"/>
                          </a:rPr>
                          <m:t>𝑚</m:t>
                        </m:r>
                      </m:sub>
                    </m:sSub>
                    <m:r>
                      <a:rPr lang="en-US" sz="7200" i="1">
                        <a:latin typeface="Cambria Math" panose="02040503050406030204" pitchFamily="18" charset="0"/>
                      </a:rPr>
                      <m:t>=</m:t>
                    </m:r>
                    <m:sSub>
                      <m:sSubPr>
                        <m:ctrlPr>
                          <a:rPr lang="en-US" sz="7200" i="1">
                            <a:latin typeface="Cambria Math" panose="02040503050406030204" pitchFamily="18" charset="0"/>
                          </a:rPr>
                        </m:ctrlPr>
                      </m:sSubPr>
                      <m:e>
                        <m:r>
                          <a:rPr lang="en-US" sz="7200" i="1">
                            <a:latin typeface="Cambria Math" panose="02040503050406030204" pitchFamily="18" charset="0"/>
                          </a:rPr>
                          <m:t>𝑔</m:t>
                        </m:r>
                      </m:e>
                      <m:sub>
                        <m:r>
                          <a:rPr lang="en-US" sz="7200" i="1">
                            <a:latin typeface="Cambria Math" panose="02040503050406030204" pitchFamily="18" charset="0"/>
                          </a:rPr>
                          <m:t>𝑝</m:t>
                        </m:r>
                      </m:sub>
                    </m:sSub>
                  </m:oMath>
                </a14:m>
                <a:endParaRPr lang="en-US" sz="7200" dirty="0"/>
              </a:p>
              <a:p>
                <a:r>
                  <a:rPr lang="en-US" sz="7200" dirty="0"/>
                  <a:t>And  </a:t>
                </a:r>
                <a14:m>
                  <m:oMath xmlns:m="http://schemas.openxmlformats.org/officeDocument/2006/math">
                    <m:f>
                      <m:fPr>
                        <m:ctrlPr>
                          <a:rPr lang="en-US" sz="7200" i="1">
                            <a:latin typeface="Cambria Math" panose="02040503050406030204" pitchFamily="18" charset="0"/>
                          </a:rPr>
                        </m:ctrlPr>
                      </m:fPr>
                      <m:num>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𝑚</m:t>
                            </m:r>
                          </m:sub>
                        </m:sSub>
                      </m:num>
                      <m:den>
                        <m:rad>
                          <m:radPr>
                            <m:degHide m:val="on"/>
                            <m:ctrlPr>
                              <a:rPr lang="en-US" sz="7200" i="1">
                                <a:latin typeface="Cambria Math" panose="02040503050406030204" pitchFamily="18" charset="0"/>
                              </a:rPr>
                            </m:ctrlPr>
                          </m:radPr>
                          <m:deg/>
                          <m:e>
                            <m:sSub>
                              <m:sSubPr>
                                <m:ctrlPr>
                                  <a:rPr lang="en-US" sz="7200" i="1">
                                    <a:latin typeface="Cambria Math" panose="02040503050406030204" pitchFamily="18" charset="0"/>
                                  </a:rPr>
                                </m:ctrlPr>
                              </m:sSubPr>
                              <m:e>
                                <m:r>
                                  <a:rPr lang="en-US" sz="7200" i="1">
                                    <a:latin typeface="Cambria Math" panose="02040503050406030204" pitchFamily="18" charset="0"/>
                                  </a:rPr>
                                  <m:t>𝐿</m:t>
                                </m:r>
                              </m:e>
                              <m:sub>
                                <m:r>
                                  <a:rPr lang="en-US" sz="7200" i="1">
                                    <a:latin typeface="Cambria Math" panose="02040503050406030204" pitchFamily="18" charset="0"/>
                                  </a:rPr>
                                  <m:t>𝑚</m:t>
                                </m:r>
                              </m:sub>
                            </m:sSub>
                          </m:e>
                        </m:rad>
                      </m:den>
                    </m:f>
                    <m:r>
                      <a:rPr lang="en-US" sz="7200" i="1">
                        <a:latin typeface="Cambria Math" panose="02040503050406030204" pitchFamily="18" charset="0"/>
                      </a:rPr>
                      <m:t>=</m:t>
                    </m:r>
                    <m:f>
                      <m:fPr>
                        <m:ctrlPr>
                          <a:rPr lang="en-US" sz="7200" i="1">
                            <a:latin typeface="Cambria Math" panose="02040503050406030204" pitchFamily="18" charset="0"/>
                          </a:rPr>
                        </m:ctrlPr>
                      </m:fPr>
                      <m:num>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𝑝</m:t>
                            </m:r>
                          </m:sub>
                        </m:sSub>
                      </m:num>
                      <m:den>
                        <m:rad>
                          <m:radPr>
                            <m:degHide m:val="on"/>
                            <m:ctrlPr>
                              <a:rPr lang="en-US" sz="7200" i="1">
                                <a:latin typeface="Cambria Math" panose="02040503050406030204" pitchFamily="18" charset="0"/>
                              </a:rPr>
                            </m:ctrlPr>
                          </m:radPr>
                          <m:deg/>
                          <m:e>
                            <m:sSub>
                              <m:sSubPr>
                                <m:ctrlPr>
                                  <a:rPr lang="en-US" sz="7200" i="1">
                                    <a:latin typeface="Cambria Math" panose="02040503050406030204" pitchFamily="18" charset="0"/>
                                  </a:rPr>
                                </m:ctrlPr>
                              </m:sSubPr>
                              <m:e>
                                <m:r>
                                  <a:rPr lang="en-US" sz="7200" i="1">
                                    <a:latin typeface="Cambria Math" panose="02040503050406030204" pitchFamily="18" charset="0"/>
                                  </a:rPr>
                                  <m:t>𝐿</m:t>
                                </m:r>
                              </m:e>
                              <m:sub>
                                <m:r>
                                  <a:rPr lang="en-US" sz="7200" i="1">
                                    <a:latin typeface="Cambria Math" panose="02040503050406030204" pitchFamily="18" charset="0"/>
                                  </a:rPr>
                                  <m:t>𝑝</m:t>
                                </m:r>
                              </m:sub>
                            </m:sSub>
                          </m:e>
                        </m:rad>
                      </m:den>
                    </m:f>
                  </m:oMath>
                </a14:m>
                <a:endParaRPr lang="en-US" sz="7200" dirty="0"/>
              </a:p>
              <a:p>
                <a:r>
                  <a:rPr lang="en-US" sz="7200" dirty="0"/>
                  <a:t> </a:t>
                </a:r>
              </a:p>
              <a:p>
                <a14:m>
                  <m:oMath xmlns:m="http://schemas.openxmlformats.org/officeDocument/2006/math">
                    <m:r>
                      <a:rPr lang="en-US" sz="7200" i="1">
                        <a:latin typeface="Cambria Math" panose="02040503050406030204" pitchFamily="18" charset="0"/>
                      </a:rPr>
                      <m:t>⟹</m:t>
                    </m:r>
                    <m:f>
                      <m:fPr>
                        <m:ctrlPr>
                          <a:rPr lang="en-US" sz="7200" i="1">
                            <a:latin typeface="Cambria Math" panose="02040503050406030204" pitchFamily="18" charset="0"/>
                          </a:rPr>
                        </m:ctrlPr>
                      </m:fPr>
                      <m:num>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𝑝</m:t>
                            </m:r>
                          </m:sub>
                        </m:sSub>
                      </m:num>
                      <m:den>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𝑚</m:t>
                            </m:r>
                          </m:sub>
                        </m:sSub>
                      </m:den>
                    </m:f>
                    <m:r>
                      <a:rPr lang="en-US" sz="7200" i="1">
                        <a:latin typeface="Cambria Math" panose="02040503050406030204" pitchFamily="18" charset="0"/>
                      </a:rPr>
                      <m:t>=</m:t>
                    </m:r>
                    <m:rad>
                      <m:radPr>
                        <m:degHide m:val="on"/>
                        <m:ctrlPr>
                          <a:rPr lang="en-US" sz="7200" i="1">
                            <a:latin typeface="Cambria Math" panose="02040503050406030204" pitchFamily="18" charset="0"/>
                          </a:rPr>
                        </m:ctrlPr>
                      </m:radPr>
                      <m:deg/>
                      <m:e>
                        <m:f>
                          <m:fPr>
                            <m:ctrlPr>
                              <a:rPr lang="en-US" sz="7200" i="1">
                                <a:latin typeface="Cambria Math" panose="02040503050406030204" pitchFamily="18" charset="0"/>
                              </a:rPr>
                            </m:ctrlPr>
                          </m:fPr>
                          <m:num>
                            <m:sSub>
                              <m:sSubPr>
                                <m:ctrlPr>
                                  <a:rPr lang="en-US" sz="7200" i="1">
                                    <a:latin typeface="Cambria Math" panose="02040503050406030204" pitchFamily="18" charset="0"/>
                                  </a:rPr>
                                </m:ctrlPr>
                              </m:sSubPr>
                              <m:e>
                                <m:r>
                                  <a:rPr lang="en-US" sz="7200" i="1">
                                    <a:latin typeface="Cambria Math" panose="02040503050406030204" pitchFamily="18" charset="0"/>
                                  </a:rPr>
                                  <m:t>𝐿</m:t>
                                </m:r>
                              </m:e>
                              <m:sub>
                                <m:r>
                                  <a:rPr lang="en-US" sz="7200" i="1">
                                    <a:latin typeface="Cambria Math" panose="02040503050406030204" pitchFamily="18" charset="0"/>
                                  </a:rPr>
                                  <m:t>𝑝</m:t>
                                </m:r>
                              </m:sub>
                            </m:sSub>
                          </m:num>
                          <m:den>
                            <m:sSub>
                              <m:sSubPr>
                                <m:ctrlPr>
                                  <a:rPr lang="en-US" sz="7200" i="1">
                                    <a:latin typeface="Cambria Math" panose="02040503050406030204" pitchFamily="18" charset="0"/>
                                  </a:rPr>
                                </m:ctrlPr>
                              </m:sSubPr>
                              <m:e>
                                <m:r>
                                  <a:rPr lang="en-US" sz="7200" i="1">
                                    <a:latin typeface="Cambria Math" panose="02040503050406030204" pitchFamily="18" charset="0"/>
                                  </a:rPr>
                                  <m:t>𝐿</m:t>
                                </m:r>
                              </m:e>
                              <m:sub>
                                <m:r>
                                  <a:rPr lang="en-US" sz="7200" i="1">
                                    <a:latin typeface="Cambria Math" panose="02040503050406030204" pitchFamily="18" charset="0"/>
                                  </a:rPr>
                                  <m:t>𝑚</m:t>
                                </m:r>
                              </m:sub>
                            </m:sSub>
                          </m:den>
                        </m:f>
                      </m:e>
                    </m:rad>
                    <m:r>
                      <a:rPr lang="en-US" sz="7200" i="1">
                        <a:latin typeface="Cambria Math" panose="02040503050406030204" pitchFamily="18" charset="0"/>
                      </a:rPr>
                      <m:t>=</m:t>
                    </m:r>
                    <m:rad>
                      <m:radPr>
                        <m:degHide m:val="on"/>
                        <m:ctrlPr>
                          <a:rPr lang="en-US" sz="7200" i="1">
                            <a:latin typeface="Cambria Math" panose="02040503050406030204" pitchFamily="18" charset="0"/>
                          </a:rPr>
                        </m:ctrlPr>
                      </m:radPr>
                      <m:deg/>
                      <m:e>
                        <m:sSub>
                          <m:sSubPr>
                            <m:ctrlPr>
                              <a:rPr lang="en-US" sz="7200" i="1">
                                <a:latin typeface="Cambria Math" panose="02040503050406030204" pitchFamily="18" charset="0"/>
                              </a:rPr>
                            </m:ctrlPr>
                          </m:sSubPr>
                          <m:e>
                            <m:r>
                              <a:rPr lang="en-US" sz="7200" i="1">
                                <a:latin typeface="Cambria Math" panose="02040503050406030204" pitchFamily="18" charset="0"/>
                              </a:rPr>
                              <m:t>𝐿</m:t>
                            </m:r>
                          </m:e>
                          <m:sub>
                            <m:r>
                              <a:rPr lang="en-US" sz="7200" i="1">
                                <a:latin typeface="Cambria Math" panose="02040503050406030204" pitchFamily="18" charset="0"/>
                              </a:rPr>
                              <m:t>𝑟</m:t>
                            </m:r>
                          </m:sub>
                        </m:sSub>
                      </m:e>
                    </m:rad>
                    <m:r>
                      <a:rPr lang="en-US" sz="7200" i="1">
                        <a:latin typeface="Cambria Math" panose="02040503050406030204" pitchFamily="18" charset="0"/>
                      </a:rPr>
                      <m:t>,    </m:t>
                    </m:r>
                    <m:r>
                      <a:rPr lang="en-US" sz="7200" i="1">
                        <a:latin typeface="Cambria Math" panose="02040503050406030204" pitchFamily="18" charset="0"/>
                      </a:rPr>
                      <m:t>𝑠𝑐𝑎𝑙𝑒</m:t>
                    </m:r>
                    <m:r>
                      <a:rPr lang="en-US" sz="7200" i="1">
                        <a:latin typeface="Cambria Math" panose="02040503050406030204" pitchFamily="18" charset="0"/>
                      </a:rPr>
                      <m:t> </m:t>
                    </m:r>
                    <m:r>
                      <a:rPr lang="en-US" sz="7200" i="1">
                        <a:latin typeface="Cambria Math" panose="02040503050406030204" pitchFamily="18" charset="0"/>
                      </a:rPr>
                      <m:t>𝑟𝑎𝑡𝑖𝑜</m:t>
                    </m:r>
                  </m:oMath>
                </a14:m>
                <a:endParaRPr lang="en-US" sz="7200" dirty="0"/>
              </a:p>
              <a:p>
                <a:r>
                  <a:rPr lang="en-US" sz="7200" dirty="0"/>
                  <a:t> </a:t>
                </a:r>
              </a:p>
              <a:p>
                <a14:m>
                  <m:oMath xmlns:m="http://schemas.openxmlformats.org/officeDocument/2006/math">
                    <m:f>
                      <m:fPr>
                        <m:ctrlPr>
                          <a:rPr lang="en-US" sz="7200" i="1">
                            <a:latin typeface="Cambria Math" panose="02040503050406030204" pitchFamily="18" charset="0"/>
                          </a:rPr>
                        </m:ctrlPr>
                      </m:fPr>
                      <m:num>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𝑝</m:t>
                            </m:r>
                          </m:sub>
                        </m:sSub>
                      </m:num>
                      <m:den>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𝑚</m:t>
                            </m:r>
                          </m:sub>
                        </m:sSub>
                      </m:den>
                    </m:f>
                    <m:r>
                      <a:rPr lang="en-US" sz="7200" i="1">
                        <a:latin typeface="Cambria Math" panose="02040503050406030204" pitchFamily="18" charset="0"/>
                      </a:rPr>
                      <m:t>=</m:t>
                    </m:r>
                    <m:sSub>
                      <m:sSubPr>
                        <m:ctrlPr>
                          <a:rPr lang="en-US" sz="7200" i="1">
                            <a:latin typeface="Cambria Math" panose="02040503050406030204" pitchFamily="18" charset="0"/>
                          </a:rPr>
                        </m:ctrlPr>
                      </m:sSubPr>
                      <m:e>
                        <m:r>
                          <a:rPr lang="en-US" sz="7200" i="1">
                            <a:latin typeface="Cambria Math" panose="02040503050406030204" pitchFamily="18" charset="0"/>
                          </a:rPr>
                          <m:t>𝑉</m:t>
                        </m:r>
                      </m:e>
                      <m:sub>
                        <m:r>
                          <a:rPr lang="en-US" sz="7200" i="1">
                            <a:latin typeface="Cambria Math" panose="02040503050406030204" pitchFamily="18" charset="0"/>
                          </a:rPr>
                          <m:t>𝑟</m:t>
                        </m:r>
                      </m:sub>
                    </m:sSub>
                    <m:r>
                      <a:rPr lang="en-US" sz="7200" i="1">
                        <a:latin typeface="Cambria Math" panose="02040503050406030204" pitchFamily="18" charset="0"/>
                      </a:rPr>
                      <m:t>=</m:t>
                    </m:r>
                    <m:r>
                      <a:rPr lang="en-US" sz="7200" i="1">
                        <a:latin typeface="Cambria Math" panose="02040503050406030204" pitchFamily="18" charset="0"/>
                      </a:rPr>
                      <m:t>𝑣𝑒𝑙𝑜𝑐𝑖𝑡𝑦</m:t>
                    </m:r>
                    <m:r>
                      <a:rPr lang="en-US" sz="7200" i="1">
                        <a:latin typeface="Cambria Math" panose="02040503050406030204" pitchFamily="18" charset="0"/>
                      </a:rPr>
                      <m:t> </m:t>
                    </m:r>
                    <m:r>
                      <a:rPr lang="en-US" sz="7200" i="1">
                        <a:latin typeface="Cambria Math" panose="02040503050406030204" pitchFamily="18" charset="0"/>
                      </a:rPr>
                      <m:t>𝑟𝑎𝑡𝑖𝑜</m:t>
                    </m:r>
                    <m:r>
                      <a:rPr lang="en-US" sz="7200" i="1">
                        <a:latin typeface="Cambria Math" panose="02040503050406030204" pitchFamily="18" charset="0"/>
                      </a:rPr>
                      <m:t>=</m:t>
                    </m:r>
                    <m:rad>
                      <m:radPr>
                        <m:degHide m:val="on"/>
                        <m:ctrlPr>
                          <a:rPr lang="en-US" sz="7200" i="1">
                            <a:latin typeface="Cambria Math" panose="02040503050406030204" pitchFamily="18" charset="0"/>
                          </a:rPr>
                        </m:ctrlPr>
                      </m:radPr>
                      <m:deg/>
                      <m:e>
                        <m:sSub>
                          <m:sSubPr>
                            <m:ctrlPr>
                              <a:rPr lang="en-US" sz="7200" i="1">
                                <a:latin typeface="Cambria Math" panose="02040503050406030204" pitchFamily="18" charset="0"/>
                              </a:rPr>
                            </m:ctrlPr>
                          </m:sSubPr>
                          <m:e>
                            <m:r>
                              <a:rPr lang="en-US" sz="7200" i="1">
                                <a:latin typeface="Cambria Math" panose="02040503050406030204" pitchFamily="18" charset="0"/>
                              </a:rPr>
                              <m:t>𝐿</m:t>
                            </m:r>
                          </m:e>
                          <m:sub>
                            <m:r>
                              <a:rPr lang="en-US" sz="7200" i="1">
                                <a:latin typeface="Cambria Math" panose="02040503050406030204" pitchFamily="18" charset="0"/>
                              </a:rPr>
                              <m:t>𝑟</m:t>
                            </m:r>
                          </m:sub>
                        </m:sSub>
                      </m:e>
                    </m:rad>
                  </m:oMath>
                </a14:m>
                <a:endParaRPr lang="en-US" sz="7200" dirty="0"/>
              </a:p>
              <a:p>
                <a:pPr marL="0" indent="0">
                  <a:buNone/>
                </a:pPr>
                <a:endParaRPr lang="en-US" dirty="0"/>
              </a:p>
              <a:p>
                <a:pPr marL="0" indent="0">
                  <a:buNone/>
                </a:pPr>
                <a:endParaRPr lang="en-US" dirty="0"/>
              </a:p>
              <a:p>
                <a:pPr marL="0" indent="0">
                  <a:buNone/>
                </a:pPr>
                <a:r>
                  <a:rPr lang="en-US" dirty="0"/>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838200"/>
                <a:ext cx="8991600" cy="6019800"/>
              </a:xfrm>
              <a:blipFill rotWithShape="0">
                <a:blip r:embed="rId3"/>
                <a:stretch>
                  <a:fillRect l="-542"/>
                </a:stretch>
              </a:blipFill>
            </p:spPr>
            <p:txBody>
              <a:bodyPr/>
              <a:lstStyle/>
              <a:p>
                <a:r>
                  <a:rPr lang="en-US">
                    <a:noFill/>
                  </a:rPr>
                  <a:t> </a:t>
                </a:r>
              </a:p>
            </p:txBody>
          </p:sp>
        </mc:Fallback>
      </mc:AlternateContent>
    </p:spTree>
    <p:extLst>
      <p:ext uri="{BB962C8B-B14F-4D97-AF65-F5344CB8AC3E}">
        <p14:creationId xmlns:p14="http://schemas.microsoft.com/office/powerpoint/2010/main" val="3599362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533400"/>
                <a:ext cx="8382000" cy="6096000"/>
              </a:xfrm>
            </p:spPr>
            <p:txBody>
              <a:bodyPr>
                <a:normAutofit fontScale="85000" lnSpcReduction="10000"/>
              </a:bodyPr>
              <a:lstStyle/>
              <a:p>
                <a:r>
                  <a:rPr lang="en-US" dirty="0"/>
                  <a:t>Scale ratio for various physical quantities based on Froude model law </a:t>
                </a:r>
              </a:p>
              <a:p>
                <a:pPr marL="514350" lvl="0" indent="-514350">
                  <a:buFont typeface="+mj-lt"/>
                  <a:buAutoNum type="alphaLcPeriod"/>
                </a:pPr>
                <a:r>
                  <a:rPr lang="en-GB" dirty="0"/>
                  <a:t>Scale ratio for time </a:t>
                </a:r>
                <a:endParaRPr lang="en-US"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𝑡𝑖𝑚𝑒</m:t>
                      </m:r>
                      <m:r>
                        <a:rPr lang="en-GB" i="1">
                          <a:latin typeface="Cambria Math" panose="02040503050406030204" pitchFamily="18" charset="0"/>
                        </a:rPr>
                        <m:t> =</m:t>
                      </m:r>
                      <m:f>
                        <m:fPr>
                          <m:ctrlPr>
                            <a:rPr lang="en-US" i="1">
                              <a:latin typeface="Cambria Math" panose="02040503050406030204" pitchFamily="18" charset="0"/>
                            </a:rPr>
                          </m:ctrlPr>
                        </m:fPr>
                        <m:num>
                          <m:r>
                            <a:rPr lang="en-GB" i="1">
                              <a:latin typeface="Cambria Math" panose="02040503050406030204" pitchFamily="18" charset="0"/>
                            </a:rPr>
                            <m:t>𝑙𝑒𝑛𝑔𝑡h</m:t>
                          </m:r>
                        </m:num>
                        <m:den>
                          <m:r>
                            <a:rPr lang="en-GB" i="1">
                              <a:latin typeface="Cambria Math" panose="02040503050406030204" pitchFamily="18" charset="0"/>
                            </a:rPr>
                            <m:t>𝑣𝑒𝑙𝑜𝑐𝑖𝑡𝑦</m:t>
                          </m:r>
                        </m:den>
                      </m:f>
                    </m:oMath>
                  </m:oMathPara>
                </a14:m>
                <a:endParaRPr lang="en-US" dirty="0"/>
              </a:p>
              <a:p>
                <a:pPr marL="0" indent="0">
                  <a:buNone/>
                </a:pPr>
                <a:r>
                  <a:rPr lang="en-GB" dirty="0"/>
                  <a:t> Time ratio, </a:t>
                </a:r>
                <a:r>
                  <a:rPr lang="en-GB" dirty="0" err="1"/>
                  <a:t>T</a:t>
                </a:r>
                <a:r>
                  <a:rPr lang="en-GB" baseline="-25000" dirty="0" err="1"/>
                  <a:t>r</a:t>
                </a:r>
                <a:r>
                  <a:rPr lang="en-GB" baseline="-25000" dirty="0"/>
                  <a:t> </a:t>
                </a:r>
                <a:r>
                  <a:rPr lang="en-GB" dirty="0"/>
                  <a:t>=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𝑚</m:t>
                            </m:r>
                          </m:sub>
                        </m:sSub>
                      </m:den>
                    </m:f>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GB" i="1">
                                        <a:latin typeface="Cambria Math" panose="02040503050406030204" pitchFamily="18" charset="0"/>
                                      </a:rPr>
                                      <m:t>𝐿</m:t>
                                    </m:r>
                                  </m:num>
                                  <m:den>
                                    <m:r>
                                      <a:rPr lang="en-GB" i="1">
                                        <a:latin typeface="Cambria Math" panose="02040503050406030204" pitchFamily="18" charset="0"/>
                                      </a:rPr>
                                      <m:t>𝑉</m:t>
                                    </m:r>
                                  </m:den>
                                </m:f>
                              </m:e>
                            </m:d>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GB" i="1">
                                        <a:latin typeface="Cambria Math" panose="02040503050406030204" pitchFamily="18" charset="0"/>
                                      </a:rPr>
                                      <m:t>𝐿</m:t>
                                    </m:r>
                                  </m:num>
                                  <m:den>
                                    <m:r>
                                      <a:rPr lang="en-GB" i="1">
                                        <a:latin typeface="Cambria Math" panose="02040503050406030204" pitchFamily="18" charset="0"/>
                                      </a:rPr>
                                      <m:t>𝑉</m:t>
                                    </m:r>
                                  </m:den>
                                </m:f>
                              </m:e>
                            </m:d>
                          </m:e>
                          <m:sub>
                            <m:r>
                              <a:rPr lang="en-GB" i="1">
                                <a:latin typeface="Cambria Math" panose="02040503050406030204" pitchFamily="18" charset="0"/>
                              </a:rPr>
                              <m:t>𝑚</m:t>
                            </m:r>
                          </m:sub>
                        </m:sSub>
                      </m:den>
                    </m:f>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𝑚</m:t>
                            </m:r>
                          </m:sub>
                        </m:sSub>
                      </m:den>
                    </m:f>
                    <m:r>
                      <a:rPr lang="en-GB" i="1">
                        <a:latin typeface="Cambria Math" panose="02040503050406030204" pitchFamily="18" charset="0"/>
                      </a:rPr>
                      <m:t> .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𝑚</m:t>
                            </m:r>
                          </m:sub>
                        </m:sSub>
                      </m:num>
                      <m:den>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𝑝</m:t>
                            </m:r>
                          </m:sub>
                        </m:sSub>
                      </m:den>
                    </m:f>
                    <m:r>
                      <a:rPr lang="en-GB" i="1">
                        <a:latin typeface="Cambria Math" panose="02040503050406030204" pitchFamily="18" charset="0"/>
                      </a:rPr>
                      <m:t>=</m:t>
                    </m:r>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1</m:t>
                        </m:r>
                      </m:num>
                      <m:den>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rad>
                      </m:den>
                    </m:f>
                    <m:r>
                      <a:rPr lang="en-GB" i="1">
                        <a:latin typeface="Cambria Math" panose="02040503050406030204" pitchFamily="18" charset="0"/>
                      </a:rPr>
                      <m:t>=</m:t>
                    </m:r>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rad>
                  </m:oMath>
                </a14:m>
                <a:endParaRPr lang="en-US" i="1" dirty="0"/>
              </a:p>
              <a:p>
                <a:pPr marL="0" indent="0">
                  <a:buNone/>
                </a:pPr>
                <a14:m>
                  <m:oMath xmlns:m="http://schemas.openxmlformats.org/officeDocument/2006/math">
                    <m:r>
                      <m:rPr>
                        <m:sty m:val="p"/>
                      </m:rPr>
                      <a:rPr lang="en-US" b="0" i="0" smtClean="0">
                        <a:latin typeface="Cambria Math"/>
                      </a:rPr>
                      <m:t>b</m:t>
                    </m:r>
                    <m:r>
                      <a:rPr lang="en-US" b="0" i="0" smtClean="0">
                        <a:latin typeface="Cambria Math"/>
                      </a:rPr>
                      <m:t>.  </m:t>
                    </m:r>
                  </m:oMath>
                </a14:m>
                <a:r>
                  <a:rPr lang="en-GB" dirty="0"/>
                  <a:t> Scale ratio for acceleration</a:t>
                </a:r>
                <a:endParaRPr lang="en-US"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𝑉</m:t>
                          </m:r>
                        </m:num>
                        <m:den>
                          <m:r>
                            <a:rPr lang="en-GB" i="1">
                              <a:latin typeface="Cambria Math" panose="02040503050406030204" pitchFamily="18" charset="0"/>
                            </a:rPr>
                            <m:t>𝑇</m:t>
                          </m:r>
                        </m:den>
                      </m:f>
                    </m:oMath>
                  </m:oMathPara>
                </a14:m>
                <a:endParaRPr lang="en-US" dirty="0"/>
              </a:p>
              <a:p>
                <a:pPr marL="0" indent="0">
                  <a:buNone/>
                </a:pPr>
                <a:r>
                  <a:rPr lang="en-GB" dirty="0"/>
                  <a:t> </a:t>
                </a:r>
                <a14:m>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𝑟</m:t>
                        </m:r>
                      </m:sub>
                    </m:sSub>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GB" i="1">
                                        <a:latin typeface="Cambria Math" panose="02040503050406030204" pitchFamily="18" charset="0"/>
                                      </a:rPr>
                                      <m:t>𝑉</m:t>
                                    </m:r>
                                  </m:num>
                                  <m:den>
                                    <m:r>
                                      <a:rPr lang="en-GB" i="1">
                                        <a:latin typeface="Cambria Math" panose="02040503050406030204" pitchFamily="18" charset="0"/>
                                      </a:rPr>
                                      <m:t>𝑇</m:t>
                                    </m:r>
                                  </m:den>
                                </m:f>
                              </m:e>
                            </m:d>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GB" i="1">
                                        <a:latin typeface="Cambria Math" panose="02040503050406030204" pitchFamily="18" charset="0"/>
                                      </a:rPr>
                                      <m:t>𝑉</m:t>
                                    </m:r>
                                  </m:num>
                                  <m:den>
                                    <m:r>
                                      <a:rPr lang="en-GB" i="1">
                                        <a:latin typeface="Cambria Math" panose="02040503050406030204" pitchFamily="18" charset="0"/>
                                      </a:rPr>
                                      <m:t>𝑇</m:t>
                                    </m:r>
                                  </m:den>
                                </m:f>
                              </m:e>
                            </m:d>
                          </m:e>
                          <m:sub>
                            <m:r>
                              <a:rPr lang="en-GB" i="1">
                                <a:latin typeface="Cambria Math" panose="02040503050406030204" pitchFamily="18" charset="0"/>
                              </a:rPr>
                              <m:t>𝑚</m:t>
                            </m:r>
                          </m:sub>
                        </m:sSub>
                      </m:den>
                    </m:f>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𝑝</m:t>
                            </m:r>
                          </m:sub>
                        </m:sSub>
                      </m:den>
                    </m:f>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𝑚</m:t>
                            </m:r>
                          </m:sub>
                        </m:sSub>
                      </m:num>
                      <m:den>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𝑚</m:t>
                            </m:r>
                          </m:sub>
                        </m:sSub>
                      </m:den>
                    </m:f>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𝑚</m:t>
                            </m:r>
                          </m:sub>
                        </m:sSub>
                      </m:den>
                    </m:f>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𝑚</m:t>
                            </m:r>
                          </m:sub>
                        </m:sSub>
                      </m:num>
                      <m:den>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𝑝</m:t>
                            </m:r>
                          </m:sub>
                        </m:sSub>
                      </m:den>
                    </m:f>
                    <m:r>
                      <a:rPr lang="en-GB" i="1">
                        <a:latin typeface="Cambria Math" panose="02040503050406030204" pitchFamily="18" charset="0"/>
                      </a:rPr>
                      <m:t>=</m:t>
                    </m:r>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r>
                          <a:rPr lang="en-GB" i="1">
                            <a:latin typeface="Cambria Math" panose="02040503050406030204" pitchFamily="18" charset="0"/>
                          </a:rPr>
                          <m:t> </m:t>
                        </m:r>
                      </m:e>
                    </m:rad>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1</m:t>
                        </m:r>
                      </m:num>
                      <m:den>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rad>
                      </m:den>
                    </m:f>
                    <m:r>
                      <a:rPr lang="en-GB" i="1">
                        <a:latin typeface="Cambria Math" panose="02040503050406030204" pitchFamily="18" charset="0"/>
                      </a:rPr>
                      <m:t>=1</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533400"/>
                <a:ext cx="8382000" cy="6096000"/>
              </a:xfrm>
              <a:blipFill rotWithShape="0">
                <a:blip r:embed="rId3"/>
                <a:stretch>
                  <a:fillRect l="-1455" t="-1600"/>
                </a:stretch>
              </a:blipFill>
            </p:spPr>
            <p:txBody>
              <a:bodyPr/>
              <a:lstStyle/>
              <a:p>
                <a:r>
                  <a:rPr lang="en-GB">
                    <a:noFill/>
                  </a:rPr>
                  <a:t> </a:t>
                </a:r>
              </a:p>
            </p:txBody>
          </p:sp>
        </mc:Fallback>
      </mc:AlternateContent>
    </p:spTree>
    <p:extLst>
      <p:ext uri="{BB962C8B-B14F-4D97-AF65-F5344CB8AC3E}">
        <p14:creationId xmlns:p14="http://schemas.microsoft.com/office/powerpoint/2010/main" val="607482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304800"/>
                <a:ext cx="8229600" cy="6248400"/>
              </a:xfrm>
            </p:spPr>
            <p:txBody>
              <a:bodyPr>
                <a:normAutofit fontScale="70000" lnSpcReduction="20000"/>
              </a:bodyPr>
              <a:lstStyle/>
              <a:p>
                <a:pPr marL="0" lvl="0" indent="0">
                  <a:buNone/>
                </a:pPr>
                <a:r>
                  <a:rPr lang="en-GB" dirty="0"/>
                  <a:t>c) Scale ratio for discharge</a:t>
                </a:r>
                <a:endParaRPr lang="en-US" dirty="0"/>
              </a:p>
              <a:p>
                <a14:m>
                  <m:oMath xmlns:m="http://schemas.openxmlformats.org/officeDocument/2006/math">
                    <m:r>
                      <a:rPr lang="en-GB" i="1">
                        <a:latin typeface="Cambria Math" panose="02040503050406030204" pitchFamily="18" charset="0"/>
                      </a:rPr>
                      <m:t>𝑄</m:t>
                    </m:r>
                    <m:r>
                      <a:rPr lang="en-GB" i="1">
                        <a:latin typeface="Cambria Math" panose="02040503050406030204" pitchFamily="18" charset="0"/>
                      </a:rPr>
                      <m:t>=</m:t>
                    </m:r>
                    <m:sSub>
                      <m:sSubPr>
                        <m:ctrlPr>
                          <a:rPr lang="en-US" i="1">
                            <a:latin typeface="Cambria Math" panose="02040503050406030204" pitchFamily="18" charset="0"/>
                          </a:rPr>
                        </m:ctrlPr>
                      </m:sSubPr>
                      <m:e>
                        <m:r>
                          <a:rPr lang="en-GB" i="1">
                            <a:latin typeface="Cambria Math" panose="02040503050406030204" pitchFamily="18" charset="0"/>
                          </a:rPr>
                          <m:t>𝐴</m:t>
                        </m:r>
                      </m:e>
                      <m:sub>
                        <m:r>
                          <a:rPr lang="en-GB" i="1">
                            <a:latin typeface="Cambria Math" panose="02040503050406030204" pitchFamily="18" charset="0"/>
                          </a:rPr>
                          <m:t>𝑉</m:t>
                        </m:r>
                      </m:sub>
                    </m:sSub>
                    <m:r>
                      <a:rPr lang="en-GB" i="1">
                        <a:latin typeface="Cambria Math" panose="02040503050406030204" pitchFamily="18" charset="0"/>
                      </a:rPr>
                      <m:t>=</m:t>
                    </m:r>
                    <m:sSup>
                      <m:sSupPr>
                        <m:ctrlPr>
                          <a:rPr lang="en-US"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2</m:t>
                        </m:r>
                      </m:sup>
                    </m:sSup>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𝐿</m:t>
                        </m:r>
                      </m:num>
                      <m:den>
                        <m:r>
                          <a:rPr lang="en-GB" i="1">
                            <a:latin typeface="Cambria Math" panose="02040503050406030204" pitchFamily="18" charset="0"/>
                          </a:rPr>
                          <m:t>𝑇</m:t>
                        </m:r>
                      </m:den>
                    </m:f>
                    <m:r>
                      <a:rPr lang="en-GB"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3</m:t>
                            </m:r>
                          </m:sup>
                        </m:sSup>
                      </m:num>
                      <m:den>
                        <m:r>
                          <a:rPr lang="en-GB" i="1">
                            <a:latin typeface="Cambria Math" panose="02040503050406030204" pitchFamily="18" charset="0"/>
                          </a:rPr>
                          <m:t>𝑇</m:t>
                        </m:r>
                      </m:den>
                    </m:f>
                  </m:oMath>
                </a14:m>
                <a:endParaRPr lang="en-US" dirty="0"/>
              </a:p>
              <a:p>
                <a:pPr marL="0" indent="0">
                  <a:buNone/>
                </a:pPr>
                <a:r>
                  <a:rPr lang="en-GB" dirty="0"/>
                  <a:t> </a:t>
                </a:r>
                <a:endParaRPr lang="en-US" dirty="0"/>
              </a:p>
              <a:p>
                <a14:m>
                  <m:oMath xmlns:m="http://schemas.openxmlformats.org/officeDocument/2006/math">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3</m:t>
                                        </m:r>
                                      </m:sup>
                                    </m:sSup>
                                  </m:num>
                                  <m:den>
                                    <m:r>
                                      <a:rPr lang="en-GB" i="1">
                                        <a:latin typeface="Cambria Math" panose="02040503050406030204" pitchFamily="18" charset="0"/>
                                      </a:rPr>
                                      <m:t>𝑇</m:t>
                                    </m:r>
                                  </m:den>
                                </m:f>
                              </m:e>
                            </m:d>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3</m:t>
                                        </m:r>
                                      </m:sup>
                                    </m:sSup>
                                  </m:num>
                                  <m:den>
                                    <m:r>
                                      <a:rPr lang="en-GB" i="1">
                                        <a:latin typeface="Cambria Math" panose="02040503050406030204" pitchFamily="18" charset="0"/>
                                      </a:rPr>
                                      <m:t>𝑇</m:t>
                                    </m:r>
                                  </m:den>
                                </m:f>
                              </m:e>
                            </m:d>
                          </m:e>
                          <m:sub>
                            <m:r>
                              <a:rPr lang="en-GB" i="1">
                                <a:latin typeface="Cambria Math" panose="02040503050406030204" pitchFamily="18" charset="0"/>
                              </a:rPr>
                              <m:t>𝑚</m:t>
                            </m:r>
                          </m:sub>
                        </m:sSub>
                      </m:den>
                    </m:f>
                    <m:r>
                      <a:rPr lang="en-GB"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𝑚</m:t>
                                    </m:r>
                                  </m:sub>
                                </m:sSub>
                              </m:den>
                            </m:f>
                          </m:e>
                        </m:d>
                      </m:e>
                      <m:sup>
                        <m:r>
                          <a:rPr lang="en-GB" i="1">
                            <a:latin typeface="Cambria Math" panose="02040503050406030204" pitchFamily="18" charset="0"/>
                          </a:rPr>
                          <m:t>3</m:t>
                        </m:r>
                      </m:sup>
                    </m:sSup>
                    <m:r>
                      <a:rPr lang="en-GB" i="1">
                        <a:latin typeface="Cambria Math" panose="02040503050406030204" pitchFamily="18" charset="0"/>
                      </a:rPr>
                      <m:t>. </m:t>
                    </m:r>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𝑚</m:t>
                                </m:r>
                              </m:sub>
                            </m:sSub>
                          </m:num>
                          <m:den>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𝑝</m:t>
                                </m:r>
                              </m:sub>
                            </m:sSub>
                          </m:den>
                        </m:f>
                      </m:e>
                    </m:d>
                    <m:r>
                      <a:rPr lang="en-GB"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sup>
                        <m:r>
                          <a:rPr lang="en-GB" i="1">
                            <a:latin typeface="Cambria Math" panose="02040503050406030204" pitchFamily="18" charset="0"/>
                          </a:rPr>
                          <m:t>3</m:t>
                        </m:r>
                      </m:sup>
                    </m:sSup>
                    <m:r>
                      <a:rPr lang="en-GB" i="1">
                        <a:latin typeface="Cambria Math" panose="02040503050406030204" pitchFamily="18" charset="0"/>
                      </a:rPr>
                      <m:t>. </m:t>
                    </m:r>
                    <m:f>
                      <m:fPr>
                        <m:ctrlPr>
                          <a:rPr lang="en-US" i="1">
                            <a:latin typeface="Cambria Math" panose="02040503050406030204" pitchFamily="18" charset="0"/>
                          </a:rPr>
                        </m:ctrlPr>
                      </m:fPr>
                      <m:num>
                        <m:r>
                          <a:rPr lang="en-GB" i="1">
                            <a:latin typeface="Cambria Math" panose="02040503050406030204" pitchFamily="18" charset="0"/>
                          </a:rPr>
                          <m:t>1</m:t>
                        </m:r>
                      </m:num>
                      <m:den>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rad>
                      </m:den>
                    </m:f>
                  </m:oMath>
                </a14:m>
                <a:r>
                  <a:rPr lang="en-GB" dirty="0"/>
                  <a:t>ρ</a:t>
                </a:r>
                <a:endParaRPr lang="en-US" dirty="0"/>
              </a:p>
              <a:p>
                <a14:m>
                  <m:oMath xmlns:m="http://schemas.openxmlformats.org/officeDocument/2006/math">
                    <m:r>
                      <a:rPr lang="en-GB"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sup>
                        <m:r>
                          <a:rPr lang="en-GB" i="1">
                            <a:latin typeface="Cambria Math" panose="02040503050406030204" pitchFamily="18" charset="0"/>
                          </a:rPr>
                          <m:t>2.5</m:t>
                        </m:r>
                      </m:sup>
                    </m:sSup>
                  </m:oMath>
                </a14:m>
                <a:endParaRPr lang="en-US" dirty="0"/>
              </a:p>
              <a:p>
                <a:pPr marL="0" indent="0">
                  <a:buNone/>
                </a:pPr>
                <a:endParaRPr lang="en-US" dirty="0"/>
              </a:p>
              <a:p>
                <a:pPr marL="0" lvl="0" indent="0">
                  <a:buNone/>
                </a:pPr>
                <a:r>
                  <a:rPr lang="en-GB" dirty="0"/>
                  <a:t>d) Force scale ratio</a:t>
                </a:r>
                <a:endParaRPr lang="en-US" dirty="0"/>
              </a:p>
              <a:p>
                <a:r>
                  <a:rPr lang="en-GB" dirty="0"/>
                  <a:t>F= </a:t>
                </a:r>
                <a14:m>
                  <m:oMath xmlns:m="http://schemas.openxmlformats.org/officeDocument/2006/math">
                    <m:r>
                      <a:rPr lang="en-GB" i="1">
                        <a:latin typeface="Cambria Math" panose="02040503050406030204" pitchFamily="18" charset="0"/>
                      </a:rPr>
                      <m:t>𝑚𝑎𝑠𝑠</m:t>
                    </m:r>
                    <m:r>
                      <a:rPr lang="en-GB" i="1">
                        <a:latin typeface="Cambria Math" panose="02040503050406030204" pitchFamily="18" charset="0"/>
                      </a:rPr>
                      <m:t>×</m:t>
                    </m:r>
                    <m:r>
                      <a:rPr lang="en-GB" i="1">
                        <a:latin typeface="Cambria Math" panose="02040503050406030204" pitchFamily="18" charset="0"/>
                      </a:rPr>
                      <m:t>𝑎𝑐𝑐𝑒𝑙𝑒𝑟𝑎𝑡𝑖𝑜𝑛</m:t>
                    </m:r>
                  </m:oMath>
                </a14:m>
                <a:endParaRPr lang="en-US" dirty="0"/>
              </a:p>
              <a:p>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𝜌</m:t>
                    </m:r>
                    <m:sSup>
                      <m:sSupPr>
                        <m:ctrlPr>
                          <a:rPr lang="en-US"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2</m:t>
                        </m:r>
                      </m:sup>
                    </m:sSup>
                    <m:sSup>
                      <m:sSupPr>
                        <m:ctrlPr>
                          <a:rPr lang="en-US" i="1">
                            <a:latin typeface="Cambria Math" panose="02040503050406030204" pitchFamily="18" charset="0"/>
                          </a:rPr>
                        </m:ctrlPr>
                      </m:sSupPr>
                      <m:e>
                        <m:r>
                          <a:rPr lang="en-GB" i="1">
                            <a:latin typeface="Cambria Math" panose="02040503050406030204" pitchFamily="18" charset="0"/>
                          </a:rPr>
                          <m:t>𝑉</m:t>
                        </m:r>
                      </m:e>
                      <m:sup>
                        <m:r>
                          <a:rPr lang="en-GB" i="1">
                            <a:latin typeface="Cambria Math" panose="02040503050406030204" pitchFamily="18" charset="0"/>
                          </a:rPr>
                          <m:t>2</m:t>
                        </m:r>
                      </m:sup>
                    </m:sSup>
                  </m:oMath>
                </a14:m>
                <a:endParaRPr lang="en-US" dirty="0"/>
              </a:p>
              <a:p>
                <a14:m>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𝐹</m:t>
                        </m:r>
                      </m:e>
                      <m:sub>
                        <m:r>
                          <a:rPr lang="en-GB" i="1">
                            <a:latin typeface="Cambria Math" panose="02040503050406030204" pitchFamily="18" charset="0"/>
                          </a:rPr>
                          <m:t>𝑟</m:t>
                        </m:r>
                      </m:sub>
                    </m:sSub>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𝐹</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𝐹</m:t>
                            </m:r>
                          </m:e>
                          <m:sub>
                            <m:r>
                              <a:rPr lang="en-GB" i="1">
                                <a:latin typeface="Cambria Math" panose="02040503050406030204" pitchFamily="18" charset="0"/>
                              </a:rPr>
                              <m:t>𝑚</m:t>
                            </m:r>
                          </m:sub>
                        </m:sSub>
                      </m:den>
                    </m:f>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𝑝</m:t>
                            </m:r>
                          </m:sub>
                        </m:sSub>
                      </m:den>
                    </m:f>
                    <m:r>
                      <a:rPr lang="en-GB"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𝑚</m:t>
                                    </m:r>
                                  </m:sub>
                                </m:sSub>
                              </m:den>
                            </m:f>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𝑚</m:t>
                                    </m:r>
                                  </m:sub>
                                </m:sSub>
                              </m:den>
                            </m:f>
                          </m:e>
                        </m:d>
                      </m:e>
                      <m:sup>
                        <m:r>
                          <a:rPr lang="en-GB" i="1">
                            <a:latin typeface="Cambria Math" panose="02040503050406030204" pitchFamily="18" charset="0"/>
                          </a:rPr>
                          <m:t>2</m:t>
                        </m:r>
                      </m:sup>
                    </m:sSup>
                  </m:oMath>
                </a14:m>
                <a:endParaRPr lang="en-US" dirty="0"/>
              </a:p>
              <a:p>
                <a:r>
                  <a:rPr lang="en-GB" dirty="0"/>
                  <a:t>If fluid used in model of prototype is the same, </a:t>
                </a:r>
                <a:r>
                  <a:rPr lang="en-GB" dirty="0" err="1"/>
                  <a:t>ρ</a:t>
                </a:r>
                <a:r>
                  <a:rPr lang="en-GB" baseline="-25000" dirty="0" err="1"/>
                  <a:t>p</a:t>
                </a:r>
                <a:r>
                  <a:rPr lang="en-GB" baseline="-25000" dirty="0"/>
                  <a:t> </a:t>
                </a:r>
                <a:r>
                  <a:rPr lang="en-GB" dirty="0"/>
                  <a:t>= </a:t>
                </a:r>
                <a:r>
                  <a:rPr lang="en-GB" dirty="0" err="1"/>
                  <a:t>ρ</a:t>
                </a:r>
                <a:r>
                  <a:rPr lang="en-GB" baseline="-25000" dirty="0" err="1"/>
                  <a:t>m</a:t>
                </a:r>
                <a:r>
                  <a:rPr lang="en-GB" baseline="-25000" dirty="0"/>
                  <a:t> </a:t>
                </a:r>
                <a:r>
                  <a:rPr lang="en-GB" dirty="0"/>
                  <a:t>and </a:t>
                </a:r>
                <a:r>
                  <a:rPr lang="en-GB" dirty="0" err="1"/>
                  <a:t>F</a:t>
                </a:r>
                <a:r>
                  <a:rPr lang="en-GB" baseline="-25000" dirty="0" err="1"/>
                  <a:t>r</a:t>
                </a:r>
                <a:r>
                  <a:rPr lang="en-GB" baseline="-25000" dirty="0"/>
                  <a:t> </a:t>
                </a:r>
                <a:r>
                  <a:rPr lang="en-GB" dirty="0"/>
                  <a:t>=</a:t>
                </a:r>
                <a14:m>
                  <m:oMath xmlns:m="http://schemas.openxmlformats.org/officeDocument/2006/math">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sup>
                        <m:r>
                          <a:rPr lang="en-GB" i="1">
                            <a:latin typeface="Cambria Math" panose="02040503050406030204" pitchFamily="18" charset="0"/>
                          </a:rPr>
                          <m:t>2</m:t>
                        </m:r>
                      </m:sup>
                    </m:sSup>
                    <m:r>
                      <a:rPr lang="en-GB" i="1">
                        <a:latin typeface="Cambria Math" panose="02040503050406030204" pitchFamily="18" charset="0"/>
                      </a:rPr>
                      <m:t>. </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rad>
                          </m:e>
                        </m:d>
                      </m:e>
                      <m:sup>
                        <m:r>
                          <a:rPr lang="en-GB" i="1">
                            <a:latin typeface="Cambria Math" panose="02040503050406030204" pitchFamily="18" charset="0"/>
                          </a:rPr>
                          <m:t>2</m:t>
                        </m:r>
                      </m:sup>
                    </m:sSup>
                    <m:r>
                      <a:rPr lang="en-GB"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sup>
                        <m:r>
                          <a:rPr lang="en-GB" i="1">
                            <a:latin typeface="Cambria Math" panose="02040503050406030204" pitchFamily="18" charset="0"/>
                          </a:rPr>
                          <m:t>3</m:t>
                        </m:r>
                      </m:sup>
                    </m:sSup>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304800"/>
                <a:ext cx="8229600" cy="6248400"/>
              </a:xfrm>
              <a:blipFill rotWithShape="1">
                <a:blip r:embed="rId3"/>
                <a:stretch>
                  <a:fillRect l="-963" t="-1561"/>
                </a:stretch>
              </a:blipFill>
            </p:spPr>
            <p:txBody>
              <a:bodyPr/>
              <a:lstStyle/>
              <a:p>
                <a:r>
                  <a:rPr lang="en-US">
                    <a:noFill/>
                  </a:rPr>
                  <a:t> </a:t>
                </a:r>
              </a:p>
            </p:txBody>
          </p:sp>
        </mc:Fallback>
      </mc:AlternateContent>
    </p:spTree>
    <p:extLst>
      <p:ext uri="{BB962C8B-B14F-4D97-AF65-F5344CB8AC3E}">
        <p14:creationId xmlns:p14="http://schemas.microsoft.com/office/powerpoint/2010/main" val="557547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457200"/>
                <a:ext cx="8153400" cy="6248400"/>
              </a:xfrm>
            </p:spPr>
            <p:txBody>
              <a:bodyPr>
                <a:normAutofit fontScale="92500"/>
              </a:bodyPr>
              <a:lstStyle/>
              <a:p>
                <a:pPr marL="0" lvl="0" indent="0">
                  <a:buNone/>
                </a:pPr>
                <a:r>
                  <a:rPr lang="en-GB" dirty="0"/>
                  <a:t>e) Pressure scale ratio</a:t>
                </a:r>
                <a:endParaRPr lang="en-US" dirty="0"/>
              </a:p>
              <a:p>
                <a:pPr marL="0" indent="0">
                  <a:buNone/>
                </a:pPr>
                <a:r>
                  <a:rPr lang="en-GB" dirty="0"/>
                  <a:t>Pressure P</a:t>
                </a:r>
                <a14:m>
                  <m:oMath xmlns:m="http://schemas.openxmlformats.org/officeDocument/2006/math">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𝑓𝑜𝑟𝑐𝑒</m:t>
                        </m:r>
                      </m:num>
                      <m:den>
                        <m:r>
                          <a:rPr lang="en-GB" i="1">
                            <a:latin typeface="Cambria Math" panose="02040503050406030204" pitchFamily="18" charset="0"/>
                          </a:rPr>
                          <m:t>𝑎𝑟𝑒𝑎</m:t>
                        </m:r>
                      </m:den>
                    </m:f>
                    <m:r>
                      <a:rPr lang="en-GB"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GB" i="1">
                                <a:latin typeface="Cambria Math" panose="02040503050406030204" pitchFamily="18" charset="0"/>
                              </a:rPr>
                              <m:t>𝜌</m:t>
                            </m:r>
                            <m:r>
                              <a:rPr lang="en-GB" i="1">
                                <a:latin typeface="Cambria Math" panose="02040503050406030204" pitchFamily="18" charset="0"/>
                              </a:rPr>
                              <m:t>𝐿</m:t>
                            </m:r>
                          </m:e>
                          <m:sup>
                            <m:r>
                              <a:rPr lang="en-GB" i="1">
                                <a:latin typeface="Cambria Math" panose="02040503050406030204" pitchFamily="18" charset="0"/>
                              </a:rPr>
                              <m:t>2</m:t>
                            </m:r>
                          </m:sup>
                        </m:sSup>
                        <m:sSup>
                          <m:sSupPr>
                            <m:ctrlPr>
                              <a:rPr lang="en-US" i="1">
                                <a:latin typeface="Cambria Math" panose="02040503050406030204" pitchFamily="18" charset="0"/>
                              </a:rPr>
                            </m:ctrlPr>
                          </m:sSupPr>
                          <m:e>
                            <m:r>
                              <a:rPr lang="en-GB" i="1">
                                <a:latin typeface="Cambria Math" panose="02040503050406030204" pitchFamily="18" charset="0"/>
                              </a:rPr>
                              <m:t>𝑉</m:t>
                            </m:r>
                          </m:e>
                          <m:sup>
                            <m:r>
                              <a:rPr lang="en-GB" i="1">
                                <a:latin typeface="Cambria Math" panose="02040503050406030204" pitchFamily="18" charset="0"/>
                              </a:rPr>
                              <m:t>2</m:t>
                            </m:r>
                          </m:sup>
                        </m:sSup>
                      </m:num>
                      <m:den>
                        <m:sSup>
                          <m:sSupPr>
                            <m:ctrlPr>
                              <a:rPr lang="en-US"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2</m:t>
                            </m:r>
                          </m:sup>
                        </m:sSup>
                      </m:den>
                    </m:f>
                  </m:oMath>
                </a14:m>
                <a:r>
                  <a:rPr lang="en-GB" dirty="0"/>
                  <a:t> </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𝑃</m:t>
                          </m:r>
                        </m:e>
                        <m:sub>
                          <m:r>
                            <a:rPr lang="en-GB" i="1">
                              <a:latin typeface="Cambria Math" panose="02040503050406030204" pitchFamily="18" charset="0"/>
                            </a:rPr>
                            <m:t>𝑟</m:t>
                          </m:r>
                        </m:sub>
                      </m:sSub>
                      <m:r>
                        <a:rPr lang="en-GB" i="1">
                          <a:latin typeface="Cambria Math" panose="02040503050406030204" pitchFamily="18" charset="0"/>
                        </a:rPr>
                        <m:t>=</m:t>
                      </m:r>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r>
                        <a:rPr lang="en-GB" i="1">
                          <a:latin typeface="Cambria Math" panose="02040503050406030204" pitchFamily="18" charset="0"/>
                        </a:rPr>
                        <m:t>=</m:t>
                      </m:r>
                      <m:r>
                        <a:rPr lang="en-GB" i="1">
                          <a:latin typeface="Cambria Math" panose="02040503050406030204" pitchFamily="18" charset="0"/>
                        </a:rPr>
                        <m:t>𝜌</m:t>
                      </m:r>
                      <m:sSup>
                        <m:sSupPr>
                          <m:ctrlPr>
                            <a:rPr lang="en-US" i="1">
                              <a:latin typeface="Cambria Math" panose="02040503050406030204" pitchFamily="18" charset="0"/>
                            </a:rPr>
                          </m:ctrlPr>
                        </m:sSupPr>
                        <m:e>
                          <m:r>
                            <a:rPr lang="en-GB" i="1">
                              <a:latin typeface="Cambria Math" panose="02040503050406030204" pitchFamily="18" charset="0"/>
                            </a:rPr>
                            <m:t>𝑉</m:t>
                          </m:r>
                        </m:e>
                        <m:sup>
                          <m:r>
                            <a:rPr lang="en-GB" i="1">
                              <a:latin typeface="Cambria Math" panose="02040503050406030204" pitchFamily="18" charset="0"/>
                            </a:rPr>
                            <m:t>2</m:t>
                          </m:r>
                        </m:sup>
                      </m:sSup>
                    </m:oMath>
                  </m:oMathPara>
                </a14:m>
                <a:endParaRPr lang="en-US" dirty="0"/>
              </a:p>
              <a:p>
                <a:pPr marL="0" lvl="0" indent="0">
                  <a:buNone/>
                </a:pPr>
                <a:r>
                  <a:rPr lang="en-GB" dirty="0"/>
                  <a:t>f) Power scale ratio, power = work done / time</a:t>
                </a:r>
                <a:endParaRPr lang="en-US"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𝐹</m:t>
                          </m:r>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𝑇</m:t>
                          </m:r>
                        </m:den>
                      </m:f>
                    </m:oMath>
                  </m:oMathPara>
                </a14:m>
                <a:endParaRPr lang="en-US" dirty="0"/>
              </a:p>
              <a:p>
                <a14:m>
                  <m:oMath xmlns:m="http://schemas.openxmlformats.org/officeDocument/2006/math">
                    <m:r>
                      <a:rPr lang="en-GB" i="1">
                        <a:latin typeface="Cambria Math" panose="02040503050406030204" pitchFamily="18" charset="0"/>
                      </a:rPr>
                      <m:t>𝑃𝑜𝑤𝑒𝑟</m:t>
                    </m:r>
                    <m:r>
                      <a:rPr lang="en-GB" i="1">
                        <a:latin typeface="Cambria Math" panose="02040503050406030204" pitchFamily="18" charset="0"/>
                      </a:rPr>
                      <m:t> </m:t>
                    </m:r>
                    <m:r>
                      <a:rPr lang="en-GB" i="1">
                        <a:latin typeface="Cambria Math" panose="02040503050406030204" pitchFamily="18" charset="0"/>
                      </a:rPr>
                      <m:t>𝑟𝑎𝑡𝑖𝑜</m:t>
                    </m:r>
                    <m:r>
                      <a:rPr lang="en-GB" i="1">
                        <a:latin typeface="Cambria Math" panose="02040503050406030204" pitchFamily="18" charset="0"/>
                      </a:rPr>
                      <m:t>, </m:t>
                    </m:r>
                    <m:sSub>
                      <m:sSubPr>
                        <m:ctrlPr>
                          <a:rPr lang="en-US" i="1">
                            <a:latin typeface="Cambria Math" panose="02040503050406030204" pitchFamily="18" charset="0"/>
                          </a:rPr>
                        </m:ctrlPr>
                      </m:sSubPr>
                      <m:e>
                        <m:r>
                          <a:rPr lang="en-GB" i="1">
                            <a:latin typeface="Cambria Math" panose="02040503050406030204" pitchFamily="18" charset="0"/>
                          </a:rPr>
                          <m:t>𝑃</m:t>
                        </m:r>
                      </m:e>
                      <m:sub>
                        <m:r>
                          <a:rPr lang="en-GB" i="1">
                            <a:latin typeface="Cambria Math" panose="02040503050406030204" pitchFamily="18" charset="0"/>
                          </a:rPr>
                          <m:t>𝑟</m:t>
                        </m:r>
                      </m:sub>
                    </m:sSub>
                    <m:r>
                      <a:rPr lang="en-GB"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𝑃</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𝑃</m:t>
                            </m:r>
                          </m:e>
                          <m:sub>
                            <m:r>
                              <a:rPr lang="en-GB" i="1">
                                <a:latin typeface="Cambria Math" panose="02040503050406030204" pitchFamily="18" charset="0"/>
                              </a:rPr>
                              <m:t>𝑚</m:t>
                            </m:r>
                          </m:sub>
                        </m:sSub>
                      </m:den>
                    </m:f>
                    <m:r>
                      <a:rPr lang="en-GB" i="1">
                        <a:latin typeface="Cambria Math" panose="02040503050406030204" pitchFamily="18" charset="0"/>
                      </a:rPr>
                      <m:t>=</m:t>
                    </m:r>
                    <m:f>
                      <m:fPr>
                        <m:ctrlPr>
                          <a:rPr lang="en-US" i="1">
                            <a:latin typeface="Cambria Math" panose="02040503050406030204" pitchFamily="18" charset="0"/>
                          </a:rPr>
                        </m:ctrlPr>
                      </m:fPr>
                      <m:num>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𝐹</m:t>
                                </m:r>
                              </m:e>
                              <m:sub>
                                <m:r>
                                  <a:rPr lang="en-GB" i="1">
                                    <a:latin typeface="Cambria Math" panose="02040503050406030204" pitchFamily="18" charset="0"/>
                                  </a:rPr>
                                  <m:t>𝑝</m:t>
                                </m:r>
                                <m:r>
                                  <a:rPr lang="en-GB" i="1">
                                    <a:latin typeface="Cambria Math" panose="02040503050406030204" pitchFamily="18" charset="0"/>
                                  </a:rPr>
                                  <m:t> </m:t>
                                </m:r>
                              </m:sub>
                            </m:sSub>
                            <m:r>
                              <a:rPr lang="en-GB" i="1">
                                <a:latin typeface="Cambria Math" panose="02040503050406030204" pitchFamily="18" charset="0"/>
                              </a:rPr>
                              <m:t>×</m:t>
                            </m:r>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𝑝</m:t>
                                </m:r>
                              </m:sub>
                            </m:sSub>
                          </m:num>
                          <m:den>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𝑝</m:t>
                                </m:r>
                              </m:sub>
                            </m:sSub>
                          </m:den>
                        </m:f>
                      </m:num>
                      <m:den>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GB" i="1">
                                    <a:latin typeface="Cambria Math" panose="02040503050406030204" pitchFamily="18" charset="0"/>
                                  </a:rPr>
                                  <m:t>𝐹</m:t>
                                </m:r>
                              </m:e>
                              <m:sub>
                                <m:r>
                                  <a:rPr lang="en-GB" i="1">
                                    <a:latin typeface="Cambria Math" panose="02040503050406030204" pitchFamily="18" charset="0"/>
                                  </a:rPr>
                                  <m:t>𝑚</m:t>
                                </m:r>
                              </m:sub>
                            </m:sSub>
                            <m:r>
                              <a:rPr lang="en-GB" i="1">
                                <a:latin typeface="Cambria Math" panose="02040503050406030204" pitchFamily="18" charset="0"/>
                              </a:rPr>
                              <m:t>×</m:t>
                            </m:r>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𝑚</m:t>
                                </m:r>
                              </m:sub>
                            </m:sSub>
                          </m:num>
                          <m:den>
                            <m:sSub>
                              <m:sSubPr>
                                <m:ctrlPr>
                                  <a:rPr lang="en-US"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𝑚</m:t>
                                </m:r>
                              </m:sub>
                            </m:sSub>
                          </m:den>
                        </m:f>
                      </m:den>
                    </m:f>
                    <m:r>
                      <a:rPr lang="en-GB" i="1">
                        <a:latin typeface="Cambria Math" panose="02040503050406030204" pitchFamily="18" charset="0"/>
                      </a:rPr>
                      <m:t> =</m:t>
                    </m:r>
                    <m:sSub>
                      <m:sSubPr>
                        <m:ctrlPr>
                          <a:rPr lang="en-US" i="1">
                            <a:latin typeface="Cambria Math" panose="02040503050406030204" pitchFamily="18" charset="0"/>
                          </a:rPr>
                        </m:ctrlPr>
                      </m:sSubPr>
                      <m:e>
                        <m:r>
                          <a:rPr lang="en-GB" i="1">
                            <a:latin typeface="Cambria Math" panose="02040503050406030204" pitchFamily="18" charset="0"/>
                          </a:rPr>
                          <m:t>𝐹</m:t>
                        </m:r>
                      </m:e>
                      <m:sub>
                        <m:r>
                          <a:rPr lang="en-GB" i="1">
                            <a:latin typeface="Cambria Math" panose="02040503050406030204" pitchFamily="18" charset="0"/>
                          </a:rPr>
                          <m:t>𝑟</m:t>
                        </m:r>
                      </m:sub>
                    </m:sSub>
                    <m:r>
                      <a:rPr lang="en-GB" i="1">
                        <a:latin typeface="Cambria Math" panose="02040503050406030204" pitchFamily="18" charset="0"/>
                      </a:rPr>
                      <m:t>.</m:t>
                    </m:r>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1</m:t>
                        </m:r>
                      </m:num>
                      <m:den>
                        <m:sSub>
                          <m:sSubPr>
                            <m:ctrlPr>
                              <a:rPr lang="en-US" i="1">
                                <a:latin typeface="Cambria Math" panose="02040503050406030204" pitchFamily="18" charset="0"/>
                              </a:rPr>
                            </m:ctrlPr>
                          </m:sSubPr>
                          <m:e>
                            <m:r>
                              <a:rPr lang="en-GB" i="1">
                                <a:latin typeface="Cambria Math" panose="02040503050406030204" pitchFamily="18" charset="0"/>
                              </a:rPr>
                              <m:t>𝑇</m:t>
                            </m:r>
                          </m:e>
                          <m:sub>
                            <m:eqArr>
                              <m:eqArrPr>
                                <m:ctrlPr>
                                  <a:rPr lang="en-US" i="1">
                                    <a:latin typeface="Cambria Math" panose="02040503050406030204" pitchFamily="18" charset="0"/>
                                  </a:rPr>
                                </m:ctrlPr>
                              </m:eqArrPr>
                              <m:e>
                                <m:r>
                                  <a:rPr lang="en-GB" i="1">
                                    <a:latin typeface="Cambria Math" panose="02040503050406030204" pitchFamily="18" charset="0"/>
                                  </a:rPr>
                                  <m:t>𝑟</m:t>
                                </m:r>
                              </m:e>
                              <m:e/>
                            </m:eqArr>
                          </m:sub>
                        </m:sSub>
                      </m:den>
                    </m:f>
                  </m:oMath>
                </a14:m>
                <a:endParaRPr lang="en-US" dirty="0"/>
              </a:p>
              <a:p>
                <a14:m>
                  <m:oMath xmlns:m="http://schemas.openxmlformats.org/officeDocument/2006/math">
                    <m:r>
                      <a:rPr lang="en-GB"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sup>
                        <m:r>
                          <a:rPr lang="en-GB" i="1">
                            <a:latin typeface="Cambria Math" panose="02040503050406030204" pitchFamily="18" charset="0"/>
                          </a:rPr>
                          <m:t>3</m:t>
                        </m:r>
                      </m:sup>
                    </m:sSup>
                    <m:r>
                      <a:rPr lang="en-GB" i="1">
                        <a:latin typeface="Cambria Math" panose="02040503050406030204" pitchFamily="18" charset="0"/>
                      </a:rPr>
                      <m:t>. </m:t>
                    </m:r>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r>
                      <a:rPr lang="en-GB" i="1">
                        <a:latin typeface="Cambria Math" panose="02040503050406030204" pitchFamily="18" charset="0"/>
                      </a:rPr>
                      <m:t>.</m:t>
                    </m:r>
                    <m:f>
                      <m:fPr>
                        <m:ctrlPr>
                          <a:rPr lang="en-US" i="1">
                            <a:latin typeface="Cambria Math" panose="02040503050406030204" pitchFamily="18" charset="0"/>
                          </a:rPr>
                        </m:ctrlPr>
                      </m:fPr>
                      <m:num>
                        <m:r>
                          <a:rPr lang="en-GB" i="1">
                            <a:latin typeface="Cambria Math" panose="02040503050406030204" pitchFamily="18" charset="0"/>
                          </a:rPr>
                          <m:t>1</m:t>
                        </m:r>
                      </m:num>
                      <m:den>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rad>
                      </m:den>
                    </m:f>
                  </m:oMath>
                </a14:m>
                <a:endParaRPr lang="en-US" dirty="0"/>
              </a:p>
              <a:p>
                <a14:m>
                  <m:oMath xmlns:m="http://schemas.openxmlformats.org/officeDocument/2006/math">
                    <m:r>
                      <a:rPr lang="en-GB"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GB" i="1">
                                <a:latin typeface="Cambria Math" panose="02040503050406030204" pitchFamily="18" charset="0"/>
                              </a:rPr>
                              <m:t>𝐿</m:t>
                            </m:r>
                          </m:e>
                          <m:sub>
                            <m:r>
                              <a:rPr lang="en-GB" i="1">
                                <a:latin typeface="Cambria Math" panose="02040503050406030204" pitchFamily="18" charset="0"/>
                              </a:rPr>
                              <m:t>𝑟</m:t>
                            </m:r>
                          </m:sub>
                        </m:sSub>
                      </m:e>
                      <m:sup>
                        <m:r>
                          <a:rPr lang="en-GB" i="1">
                            <a:latin typeface="Cambria Math" panose="02040503050406030204" pitchFamily="18" charset="0"/>
                          </a:rPr>
                          <m:t>3.5</m:t>
                        </m:r>
                      </m:sup>
                    </m:sSup>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457200"/>
                <a:ext cx="8153400" cy="6248400"/>
              </a:xfrm>
              <a:blipFill rotWithShape="0">
                <a:blip r:embed="rId3"/>
                <a:stretch>
                  <a:fillRect l="-1795" t="-1171"/>
                </a:stretch>
              </a:blipFill>
            </p:spPr>
            <p:txBody>
              <a:bodyPr/>
              <a:lstStyle/>
              <a:p>
                <a:r>
                  <a:rPr lang="en-US">
                    <a:noFill/>
                  </a:rPr>
                  <a:t> </a:t>
                </a:r>
              </a:p>
            </p:txBody>
          </p:sp>
        </mc:Fallback>
      </mc:AlternateContent>
    </p:spTree>
    <p:extLst>
      <p:ext uri="{BB962C8B-B14F-4D97-AF65-F5344CB8AC3E}">
        <p14:creationId xmlns:p14="http://schemas.microsoft.com/office/powerpoint/2010/main" val="2483279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Exercise 3</a:t>
            </a:r>
            <a:br>
              <a:rPr lang="en-US" dirty="0"/>
            </a:br>
            <a:endParaRPr lang="en-US" dirty="0"/>
          </a:p>
        </p:txBody>
      </p:sp>
      <p:sp>
        <p:nvSpPr>
          <p:cNvPr id="3" name="Content Placeholder 2"/>
          <p:cNvSpPr>
            <a:spLocks noGrp="1"/>
          </p:cNvSpPr>
          <p:nvPr>
            <p:ph idx="1"/>
          </p:nvPr>
        </p:nvSpPr>
        <p:spPr>
          <a:xfrm>
            <a:off x="457200" y="1066800"/>
            <a:ext cx="8229600" cy="5059363"/>
          </a:xfrm>
        </p:spPr>
        <p:txBody>
          <a:bodyPr>
            <a:normAutofit/>
          </a:bodyPr>
          <a:lstStyle/>
          <a:p>
            <a:r>
              <a:rPr lang="en-GB" dirty="0"/>
              <a:t>A ship model of scale 1/50 is towed through sea water at a speed of 1m/s. A force of 2N is required to tow the model. Find the speed of ship and the propulsive force on the ship if prototype is subjected to wave resistance only.</a:t>
            </a:r>
            <a:endParaRPr lang="en-US" dirty="0"/>
          </a:p>
          <a:p>
            <a:pPr marL="0" indent="0">
              <a:buNone/>
            </a:pPr>
            <a:r>
              <a:rPr lang="en-GB" dirty="0"/>
              <a:t> </a:t>
            </a:r>
            <a:endParaRPr lang="en-US" dirty="0"/>
          </a:p>
          <a:p>
            <a:pPr marL="0" indent="0">
              <a:buNone/>
            </a:pPr>
            <a:endParaRPr lang="en-US" dirty="0"/>
          </a:p>
          <a:p>
            <a:endParaRPr lang="en-US" dirty="0"/>
          </a:p>
        </p:txBody>
      </p:sp>
    </p:spTree>
    <p:extLst>
      <p:ext uri="{BB962C8B-B14F-4D97-AF65-F5344CB8AC3E}">
        <p14:creationId xmlns:p14="http://schemas.microsoft.com/office/powerpoint/2010/main" val="1563466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1143000"/>
          </a:xfrm>
        </p:spPr>
        <p:txBody>
          <a:bodyPr/>
          <a:lstStyle/>
          <a:p>
            <a:r>
              <a:rPr lang="en-GB" dirty="0"/>
              <a:t>Euler’s model law</a:t>
            </a:r>
            <a:endParaRPr lang="en-US" dirty="0"/>
          </a:p>
        </p:txBody>
      </p:sp>
      <p:sp>
        <p:nvSpPr>
          <p:cNvPr id="3" name="Content Placeholder 2"/>
          <p:cNvSpPr>
            <a:spLocks noGrp="1"/>
          </p:cNvSpPr>
          <p:nvPr>
            <p:ph idx="1"/>
          </p:nvPr>
        </p:nvSpPr>
        <p:spPr>
          <a:xfrm>
            <a:off x="533400" y="1676400"/>
            <a:ext cx="8153400" cy="4830763"/>
          </a:xfrm>
        </p:spPr>
        <p:txBody>
          <a:bodyPr/>
          <a:lstStyle/>
          <a:p>
            <a:pPr lvl="0"/>
            <a:r>
              <a:rPr lang="en-GB" dirty="0"/>
              <a:t>Euler’s model law applies to fluid flow problems where flow takes place in close pipe with turbulence fully developed. So that viscous forces are negligible and gravity force and surface tension forces are present. Where the phenomenon of cavitation takes places.</a:t>
            </a:r>
            <a:endParaRPr lang="en-US" dirty="0"/>
          </a:p>
          <a:p>
            <a:endParaRPr lang="en-US" dirty="0"/>
          </a:p>
        </p:txBody>
      </p:sp>
    </p:spTree>
    <p:extLst>
      <p:ext uri="{BB962C8B-B14F-4D97-AF65-F5344CB8AC3E}">
        <p14:creationId xmlns:p14="http://schemas.microsoft.com/office/powerpoint/2010/main" val="324928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u="sng" dirty="0"/>
              <a:t>Weber model law</a:t>
            </a:r>
            <a:br>
              <a:rPr lang="en-US" dirty="0"/>
            </a:br>
            <a:endParaRPr lang="en-US" dirty="0"/>
          </a:p>
        </p:txBody>
      </p:sp>
      <p:sp>
        <p:nvSpPr>
          <p:cNvPr id="3" name="Content Placeholder 2"/>
          <p:cNvSpPr>
            <a:spLocks noGrp="1"/>
          </p:cNvSpPr>
          <p:nvPr>
            <p:ph idx="1"/>
          </p:nvPr>
        </p:nvSpPr>
        <p:spPr/>
        <p:txBody>
          <a:bodyPr/>
          <a:lstStyle/>
          <a:p>
            <a:pPr marL="0" indent="0">
              <a:buNone/>
            </a:pPr>
            <a:r>
              <a:rPr lang="en-GB" dirty="0"/>
              <a:t>Applied where we have</a:t>
            </a:r>
            <a:endParaRPr lang="en-US" dirty="0"/>
          </a:p>
          <a:p>
            <a:pPr lvl="0"/>
            <a:r>
              <a:rPr lang="en-GB" dirty="0"/>
              <a:t>Capillary rise in narrow passages</a:t>
            </a:r>
            <a:endParaRPr lang="en-US" dirty="0"/>
          </a:p>
          <a:p>
            <a:pPr lvl="0"/>
            <a:r>
              <a:rPr lang="en-GB" dirty="0"/>
              <a:t>Capillary movement of water is soil</a:t>
            </a:r>
            <a:endParaRPr lang="en-US" dirty="0"/>
          </a:p>
          <a:p>
            <a:pPr lvl="0"/>
            <a:r>
              <a:rPr lang="en-GB" dirty="0"/>
              <a:t>Capillary waves in channels</a:t>
            </a:r>
            <a:endParaRPr lang="en-US" dirty="0"/>
          </a:p>
          <a:p>
            <a:pPr marL="0" indent="0">
              <a:buNone/>
            </a:pPr>
            <a:endParaRPr lang="en-US" dirty="0"/>
          </a:p>
        </p:txBody>
      </p:sp>
    </p:spTree>
    <p:extLst>
      <p:ext uri="{BB962C8B-B14F-4D97-AF65-F5344CB8AC3E}">
        <p14:creationId xmlns:p14="http://schemas.microsoft.com/office/powerpoint/2010/main" val="31777472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Mach model</a:t>
            </a:r>
            <a:br>
              <a:rPr lang="en-US" dirty="0"/>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𝑚</m:t>
                            </m:r>
                          </m:sub>
                        </m:sSub>
                      </m:num>
                      <m:den>
                        <m:rad>
                          <m:radPr>
                            <m:degHide m:val="on"/>
                            <m:ctrlPr>
                              <a:rPr lang="en-US" i="1">
                                <a:latin typeface="Cambria Math" panose="02040503050406030204" pitchFamily="18" charset="0"/>
                              </a:rPr>
                            </m:ctrlPr>
                          </m:radPr>
                          <m:deg/>
                          <m:e>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𝑚</m:t>
                                    </m:r>
                                  </m:sub>
                                </m:sSub>
                              </m:den>
                            </m:f>
                          </m:e>
                        </m:rad>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𝑝</m:t>
                            </m:r>
                          </m:sub>
                        </m:sSub>
                      </m:num>
                      <m:den>
                        <m:rad>
                          <m:radPr>
                            <m:degHide m:val="on"/>
                            <m:ctrlPr>
                              <a:rPr lang="en-US" i="1">
                                <a:latin typeface="Cambria Math" panose="02040503050406030204" pitchFamily="18" charset="0"/>
                              </a:rPr>
                            </m:ctrlPr>
                          </m:radPr>
                          <m:deg/>
                          <m:e>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𝑝</m:t>
                                    </m:r>
                                  </m:sub>
                                </m:sSub>
                              </m:num>
                              <m:den>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𝑝</m:t>
                                    </m:r>
                                  </m:sub>
                                </m:sSub>
                              </m:den>
                            </m:f>
                          </m:e>
                        </m:rad>
                      </m:den>
                    </m:f>
                  </m:oMath>
                </a14:m>
                <a:endParaRPr lang="en-US" dirty="0"/>
              </a:p>
              <a:p>
                <a:pPr marL="0" indent="0">
                  <a:buNone/>
                </a:pPr>
                <a:r>
                  <a:rPr lang="en-US" dirty="0"/>
                  <a:t> </a:t>
                </a:r>
              </a:p>
              <a:p>
                <a:pPr marL="0" indent="0">
                  <a:buNone/>
                </a:pPr>
                <a:r>
                  <a:rPr lang="en-US" dirty="0"/>
                  <a:t> </a:t>
                </a:r>
              </a:p>
              <a:p>
                <a:r>
                  <a:rPr lang="en-US" dirty="0"/>
                  <a:t>Applied where we have  </a:t>
                </a:r>
              </a:p>
              <a:p>
                <a:pPr lvl="0"/>
                <a:r>
                  <a:rPr lang="en-GB" dirty="0"/>
                  <a:t>Capillary rise in narrow passages</a:t>
                </a:r>
                <a:endParaRPr lang="en-US" dirty="0"/>
              </a:p>
              <a:p>
                <a:pPr lvl="0"/>
                <a:r>
                  <a:rPr lang="en-GB" dirty="0"/>
                  <a:t>Capillary movement of water is soil</a:t>
                </a:r>
                <a:endParaRPr lang="en-US" dirty="0"/>
              </a:p>
              <a:p>
                <a:pPr lvl="0"/>
                <a:r>
                  <a:rPr lang="en-GB" dirty="0"/>
                  <a:t>Flow of aeroplane at supersonic speed</a:t>
                </a:r>
                <a:endParaRPr lang="en-US" dirty="0"/>
              </a:p>
              <a:p>
                <a:pPr lvl="0"/>
                <a:r>
                  <a:rPr lang="en-GB" dirty="0"/>
                  <a:t>Aerodynamic testing etc.</a:t>
                </a: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481" b="-539"/>
                </a:stretch>
              </a:blipFill>
            </p:spPr>
            <p:txBody>
              <a:bodyPr/>
              <a:lstStyle/>
              <a:p>
                <a:r>
                  <a:rPr lang="en-US">
                    <a:noFill/>
                  </a:rPr>
                  <a:t> </a:t>
                </a:r>
              </a:p>
            </p:txBody>
          </p:sp>
        </mc:Fallback>
      </mc:AlternateContent>
    </p:spTree>
    <p:extLst>
      <p:ext uri="{BB962C8B-B14F-4D97-AF65-F5344CB8AC3E}">
        <p14:creationId xmlns:p14="http://schemas.microsoft.com/office/powerpoint/2010/main" val="800568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2473</TotalTime>
  <Words>2367</Words>
  <Application>Microsoft Office PowerPoint</Application>
  <PresentationFormat>On-screen Show (4:3)</PresentationFormat>
  <Paragraphs>290</Paragraphs>
  <Slides>33</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Cambria Math</vt:lpstr>
      <vt:lpstr>Symbol</vt:lpstr>
      <vt:lpstr>Times New Roman</vt:lpstr>
      <vt:lpstr>Verdana</vt:lpstr>
      <vt:lpstr>Office Theme</vt:lpstr>
      <vt:lpstr>MODEL ANALYSIS</vt:lpstr>
      <vt:lpstr> </vt:lpstr>
      <vt:lpstr>SIMILITUDE</vt:lpstr>
      <vt:lpstr>Geometric Similarity</vt:lpstr>
      <vt:lpstr>Geometric Similarity</vt:lpstr>
      <vt:lpstr>PowerPoint Presentation</vt:lpstr>
      <vt:lpstr>Kinematic Similarity</vt:lpstr>
      <vt:lpstr>Dynamic Similarity</vt:lpstr>
      <vt:lpstr>PowerPoint Presentation</vt:lpstr>
      <vt:lpstr>Significant Dimensionless Numbers in Fluid Mechanics</vt:lpstr>
      <vt:lpstr>Reynolds Number (Re)</vt:lpstr>
      <vt:lpstr>PowerPoint Presentation</vt:lpstr>
      <vt:lpstr>Froude Number (Fr)</vt:lpstr>
      <vt:lpstr>Euler Number (Eu)</vt:lpstr>
      <vt:lpstr> Weber Number (We)</vt:lpstr>
      <vt:lpstr>Mach Number (M)</vt:lpstr>
      <vt:lpstr>Model laws or similarity laws</vt:lpstr>
      <vt:lpstr>Model laws are:</vt:lpstr>
      <vt:lpstr>Reynolds model law:</vt:lpstr>
      <vt:lpstr>PowerPoint Presentation</vt:lpstr>
      <vt:lpstr>PowerPoint Presentation</vt:lpstr>
      <vt:lpstr>Examples on Re Similarity</vt:lpstr>
      <vt:lpstr>Solution</vt:lpstr>
      <vt:lpstr>PowerPoint Presentation</vt:lpstr>
      <vt:lpstr>Examples on Re Similarity</vt:lpstr>
      <vt:lpstr> Froude (No.) law </vt:lpstr>
      <vt:lpstr>PowerPoint Presentation</vt:lpstr>
      <vt:lpstr>PowerPoint Presentation</vt:lpstr>
      <vt:lpstr>PowerPoint Presentation</vt:lpstr>
      <vt:lpstr>Exercise 3 </vt:lpstr>
      <vt:lpstr>Euler’s model law</vt:lpstr>
      <vt:lpstr>Weber model law </vt:lpstr>
      <vt:lpstr>Mach 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Ruby</dc:creator>
  <cp:lastModifiedBy>Godwin Tay</cp:lastModifiedBy>
  <cp:revision>94</cp:revision>
  <dcterms:created xsi:type="dcterms:W3CDTF">2015-12-23T03:21:22Z</dcterms:created>
  <dcterms:modified xsi:type="dcterms:W3CDTF">2024-06-09T23:37:46Z</dcterms:modified>
</cp:coreProperties>
</file>