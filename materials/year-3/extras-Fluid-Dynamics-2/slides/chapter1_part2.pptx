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2" r:id="rId1"/>
  </p:sldMasterIdLst>
  <p:notesMasterIdLst>
    <p:notesMasterId r:id="rId40"/>
  </p:notesMasterIdLst>
  <p:handoutMasterIdLst>
    <p:handoutMasterId r:id="rId41"/>
  </p:handoutMasterIdLst>
  <p:sldIdLst>
    <p:sldId id="262" r:id="rId2"/>
    <p:sldId id="498" r:id="rId3"/>
    <p:sldId id="581" r:id="rId4"/>
    <p:sldId id="630" r:id="rId5"/>
    <p:sldId id="650" r:id="rId6"/>
    <p:sldId id="266" r:id="rId7"/>
    <p:sldId id="661" r:id="rId8"/>
    <p:sldId id="652" r:id="rId9"/>
    <p:sldId id="662" r:id="rId10"/>
    <p:sldId id="663" r:id="rId11"/>
    <p:sldId id="664" r:id="rId12"/>
    <p:sldId id="654" r:id="rId13"/>
    <p:sldId id="665" r:id="rId14"/>
    <p:sldId id="594" r:id="rId15"/>
    <p:sldId id="651" r:id="rId16"/>
    <p:sldId id="667" r:id="rId17"/>
    <p:sldId id="666" r:id="rId18"/>
    <p:sldId id="668" r:id="rId19"/>
    <p:sldId id="669" r:id="rId20"/>
    <p:sldId id="653" r:id="rId21"/>
    <p:sldId id="655" r:id="rId22"/>
    <p:sldId id="658" r:id="rId23"/>
    <p:sldId id="517" r:id="rId24"/>
    <p:sldId id="518" r:id="rId25"/>
    <p:sldId id="519" r:id="rId26"/>
    <p:sldId id="631" r:id="rId27"/>
    <p:sldId id="670" r:id="rId28"/>
    <p:sldId id="671" r:id="rId29"/>
    <p:sldId id="659" r:id="rId30"/>
    <p:sldId id="660" r:id="rId31"/>
    <p:sldId id="267" r:id="rId32"/>
    <p:sldId id="306" r:id="rId33"/>
    <p:sldId id="305" r:id="rId34"/>
    <p:sldId id="269" r:id="rId35"/>
    <p:sldId id="672" r:id="rId36"/>
    <p:sldId id="673" r:id="rId37"/>
    <p:sldId id="674" r:id="rId38"/>
    <p:sldId id="675" r:id="rId39"/>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793">
          <p15:clr>
            <a:srgbClr val="A4A3A4"/>
          </p15:clr>
        </p15:guide>
        <p15:guide id="2" orient="horz" pos="2160">
          <p15:clr>
            <a:srgbClr val="A4A3A4"/>
          </p15:clr>
        </p15:guide>
        <p15:guide id="3" orient="horz" pos="3816">
          <p15:clr>
            <a:srgbClr val="A4A3A4"/>
          </p15:clr>
        </p15:guide>
        <p15:guide id="4" orient="horz" pos="1226">
          <p15:clr>
            <a:srgbClr val="A4A3A4"/>
          </p15:clr>
        </p15:guide>
        <p15:guide id="5" orient="horz" pos="1646">
          <p15:clr>
            <a:srgbClr val="A4A3A4"/>
          </p15:clr>
        </p15:guide>
        <p15:guide id="6" orient="horz" pos="486">
          <p15:clr>
            <a:srgbClr val="A4A3A4"/>
          </p15:clr>
        </p15:guide>
        <p15:guide id="7" orient="horz" pos="3808">
          <p15:clr>
            <a:srgbClr val="A4A3A4"/>
          </p15:clr>
        </p15:guide>
        <p15:guide id="8" pos="3030">
          <p15:clr>
            <a:srgbClr val="A4A3A4"/>
          </p15:clr>
        </p15:guide>
        <p15:guide id="9" pos="5478">
          <p15:clr>
            <a:srgbClr val="A4A3A4"/>
          </p15:clr>
        </p15:guide>
        <p15:guide id="10" pos="294">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00FF"/>
    <a:srgbClr val="008000"/>
    <a:srgbClr val="340000"/>
    <a:srgbClr val="0000CC"/>
    <a:srgbClr val="51260B"/>
    <a:srgbClr val="000000"/>
    <a:srgbClr val="F1AB00"/>
    <a:srgbClr val="E8A300"/>
    <a:srgbClr val="BBA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snapToObjects="1">
      <p:cViewPr>
        <p:scale>
          <a:sx n="60" d="100"/>
          <a:sy n="60" d="100"/>
        </p:scale>
        <p:origin x="1025" y="-213"/>
      </p:cViewPr>
      <p:guideLst>
        <p:guide orient="horz" pos="793"/>
        <p:guide orient="horz" pos="2160"/>
        <p:guide orient="horz" pos="3816"/>
        <p:guide orient="horz" pos="1226"/>
        <p:guide orient="horz" pos="1646"/>
        <p:guide orient="horz" pos="486"/>
        <p:guide orient="horz" pos="3808"/>
        <p:guide pos="3030"/>
        <p:guide pos="5478"/>
        <p:guide pos="29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5" d="100"/>
          <a:sy n="85" d="100"/>
        </p:scale>
        <p:origin x="-3810" y="-84"/>
      </p:cViewPr>
      <p:guideLst>
        <p:guide orient="horz" pos="2909"/>
        <p:guide pos="2208"/>
      </p:guideLst>
    </p:cSldViewPr>
  </p:notesViewPr>
  <p:gridSpacing cx="457200" cy="457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3"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l" eaLnBrk="0" hangingPunct="0">
              <a:defRPr sz="1200"/>
            </a:lvl1pPr>
          </a:lstStyle>
          <a:p>
            <a:pPr>
              <a:defRPr/>
            </a:pPr>
            <a:endParaRPr lang="en-US"/>
          </a:p>
        </p:txBody>
      </p:sp>
      <p:sp>
        <p:nvSpPr>
          <p:cNvPr id="49155" name="Rectangle 3"/>
          <p:cNvSpPr>
            <a:spLocks noGrp="1" noChangeArrowheads="1"/>
          </p:cNvSpPr>
          <p:nvPr>
            <p:ph type="dt" sz="quarter" idx="1"/>
          </p:nvPr>
        </p:nvSpPr>
        <p:spPr bwMode="auto">
          <a:xfrm>
            <a:off x="3970341"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r" eaLnBrk="0" hangingPunct="0">
              <a:defRPr sz="1200"/>
            </a:lvl1pPr>
          </a:lstStyle>
          <a:p>
            <a:pPr>
              <a:defRPr/>
            </a:pPr>
            <a:endParaRPr lang="en-US"/>
          </a:p>
        </p:txBody>
      </p:sp>
      <p:sp>
        <p:nvSpPr>
          <p:cNvPr id="49156" name="Rectangle 4"/>
          <p:cNvSpPr>
            <a:spLocks noGrp="1" noChangeArrowheads="1"/>
          </p:cNvSpPr>
          <p:nvPr>
            <p:ph type="ftr" sz="quarter" idx="2"/>
          </p:nvPr>
        </p:nvSpPr>
        <p:spPr bwMode="auto">
          <a:xfrm>
            <a:off x="3"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l" eaLnBrk="0" hangingPunct="0">
              <a:defRPr sz="1200"/>
            </a:lvl1pPr>
          </a:lstStyle>
          <a:p>
            <a:pPr>
              <a:defRPr/>
            </a:pPr>
            <a:endParaRPr lang="en-US"/>
          </a:p>
        </p:txBody>
      </p:sp>
      <p:sp>
        <p:nvSpPr>
          <p:cNvPr id="49157" name="Rectangle 5"/>
          <p:cNvSpPr>
            <a:spLocks noGrp="1" noChangeArrowheads="1"/>
          </p:cNvSpPr>
          <p:nvPr>
            <p:ph type="sldNum" sz="quarter" idx="3"/>
          </p:nvPr>
        </p:nvSpPr>
        <p:spPr bwMode="auto">
          <a:xfrm>
            <a:off x="3970341"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r" eaLnBrk="0" hangingPunct="0">
              <a:defRPr sz="1200"/>
            </a:lvl1pPr>
          </a:lstStyle>
          <a:p>
            <a:pPr>
              <a:defRPr/>
            </a:pPr>
            <a:fld id="{09B0AA77-6275-4340-A71B-5EB3090E896B}" type="slidenum">
              <a:rPr lang="en-US" altLang="en-US"/>
              <a:pPr>
                <a:defRPr/>
              </a:pPr>
              <a:t>‹#›</a:t>
            </a:fld>
            <a:endParaRPr lang="en-US" altLang="en-US"/>
          </a:p>
        </p:txBody>
      </p:sp>
    </p:spTree>
    <p:extLst>
      <p:ext uri="{BB962C8B-B14F-4D97-AF65-F5344CB8AC3E}">
        <p14:creationId xmlns:p14="http://schemas.microsoft.com/office/powerpoint/2010/main" val="617762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38475" cy="462120"/>
          </a:xfrm>
          <a:prstGeom prst="rect">
            <a:avLst/>
          </a:prstGeom>
        </p:spPr>
        <p:txBody>
          <a:bodyPr vert="horz" lIns="92226" tIns="46113" rIns="92226" bIns="46113" rtlCol="0"/>
          <a:lstStyle>
            <a:lvl1pPr algn="l" eaLnBrk="1" hangingPunct="1">
              <a:defRPr sz="1200"/>
            </a:lvl1pPr>
          </a:lstStyle>
          <a:p>
            <a:pPr>
              <a:defRPr/>
            </a:pPr>
            <a:endParaRPr lang="en-CA"/>
          </a:p>
        </p:txBody>
      </p:sp>
      <p:sp>
        <p:nvSpPr>
          <p:cNvPr id="3" name="Date Placeholder 2"/>
          <p:cNvSpPr>
            <a:spLocks noGrp="1"/>
          </p:cNvSpPr>
          <p:nvPr>
            <p:ph type="dt" idx="1"/>
          </p:nvPr>
        </p:nvSpPr>
        <p:spPr>
          <a:xfrm>
            <a:off x="3970341" y="0"/>
            <a:ext cx="3038475" cy="462120"/>
          </a:xfrm>
          <a:prstGeom prst="rect">
            <a:avLst/>
          </a:prstGeom>
        </p:spPr>
        <p:txBody>
          <a:bodyPr vert="horz" lIns="92226" tIns="46113" rIns="92226" bIns="46113" rtlCol="0"/>
          <a:lstStyle>
            <a:lvl1pPr algn="r" eaLnBrk="1" hangingPunct="1">
              <a:defRPr sz="1200"/>
            </a:lvl1pPr>
          </a:lstStyle>
          <a:p>
            <a:pPr>
              <a:defRPr/>
            </a:pPr>
            <a:fld id="{32B4C607-C522-456D-8358-CEABE5DE2EDF}" type="datetimeFigureOut">
              <a:rPr lang="en-CA"/>
              <a:pPr>
                <a:defRPr/>
              </a:pPr>
              <a:t>2024-06-07</a:t>
            </a:fld>
            <a:endParaRPr lang="en-CA"/>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226" tIns="46113" rIns="92226" bIns="46113" rtlCol="0" anchor="ctr"/>
          <a:lstStyle/>
          <a:p>
            <a:pPr lvl="0"/>
            <a:endParaRPr lang="en-CA" noProof="0"/>
          </a:p>
        </p:txBody>
      </p:sp>
      <p:sp>
        <p:nvSpPr>
          <p:cNvPr id="5" name="Notes Placeholder 4"/>
          <p:cNvSpPr>
            <a:spLocks noGrp="1"/>
          </p:cNvSpPr>
          <p:nvPr>
            <p:ph type="body" sz="quarter" idx="3"/>
          </p:nvPr>
        </p:nvSpPr>
        <p:spPr>
          <a:xfrm>
            <a:off x="701675" y="4387769"/>
            <a:ext cx="5607050" cy="4155919"/>
          </a:xfrm>
          <a:prstGeom prst="rect">
            <a:avLst/>
          </a:prstGeom>
        </p:spPr>
        <p:txBody>
          <a:bodyPr vert="horz" lIns="92226" tIns="46113" rIns="92226" bIns="4611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3" y="8772378"/>
            <a:ext cx="3038475" cy="462120"/>
          </a:xfrm>
          <a:prstGeom prst="rect">
            <a:avLst/>
          </a:prstGeom>
        </p:spPr>
        <p:txBody>
          <a:bodyPr vert="horz" lIns="92226" tIns="46113" rIns="92226" bIns="46113" rtlCol="0" anchor="b"/>
          <a:lstStyle>
            <a:lvl1pPr algn="l" eaLnBrk="1" hangingPunct="1">
              <a:defRPr sz="1200"/>
            </a:lvl1pPr>
          </a:lstStyle>
          <a:p>
            <a:pPr>
              <a:defRPr/>
            </a:pPr>
            <a:endParaRPr lang="en-CA"/>
          </a:p>
        </p:txBody>
      </p:sp>
      <p:sp>
        <p:nvSpPr>
          <p:cNvPr id="7" name="Slide Number Placeholder 6"/>
          <p:cNvSpPr>
            <a:spLocks noGrp="1"/>
          </p:cNvSpPr>
          <p:nvPr>
            <p:ph type="sldNum" sz="quarter" idx="5"/>
          </p:nvPr>
        </p:nvSpPr>
        <p:spPr>
          <a:xfrm>
            <a:off x="3970341" y="8772378"/>
            <a:ext cx="3038475" cy="462120"/>
          </a:xfrm>
          <a:prstGeom prst="rect">
            <a:avLst/>
          </a:prstGeom>
        </p:spPr>
        <p:txBody>
          <a:bodyPr vert="horz" wrap="square" lIns="92226" tIns="46113" rIns="92226" bIns="46113" numCol="1" anchor="b" anchorCtr="0" compatLnSpc="1">
            <a:prstTxWarp prst="textNoShape">
              <a:avLst/>
            </a:prstTxWarp>
          </a:bodyPr>
          <a:lstStyle>
            <a:lvl1pPr algn="r" eaLnBrk="1" hangingPunct="1">
              <a:defRPr sz="1200"/>
            </a:lvl1pPr>
          </a:lstStyle>
          <a:p>
            <a:pPr>
              <a:defRPr/>
            </a:pPr>
            <a:fld id="{34781C02-6DE5-4322-A2AC-958FAC418BF6}" type="slidenum">
              <a:rPr lang="en-CA" altLang="en-US"/>
              <a:pPr>
                <a:defRPr/>
              </a:pPr>
              <a:t>‹#›</a:t>
            </a:fld>
            <a:endParaRPr lang="en-CA" altLang="en-US"/>
          </a:p>
        </p:txBody>
      </p:sp>
    </p:spTree>
    <p:extLst>
      <p:ext uri="{BB962C8B-B14F-4D97-AF65-F5344CB8AC3E}">
        <p14:creationId xmlns:p14="http://schemas.microsoft.com/office/powerpoint/2010/main" val="19392903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6</a:t>
            </a:fld>
            <a:endParaRPr lang="en-US"/>
          </a:p>
        </p:txBody>
      </p:sp>
    </p:spTree>
    <p:extLst>
      <p:ext uri="{BB962C8B-B14F-4D97-AF65-F5344CB8AC3E}">
        <p14:creationId xmlns:p14="http://schemas.microsoft.com/office/powerpoint/2010/main" val="2058311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7</a:t>
            </a:fld>
            <a:endParaRPr lang="en-US"/>
          </a:p>
        </p:txBody>
      </p:sp>
    </p:spTree>
    <p:extLst>
      <p:ext uri="{BB962C8B-B14F-4D97-AF65-F5344CB8AC3E}">
        <p14:creationId xmlns:p14="http://schemas.microsoft.com/office/powerpoint/2010/main" val="3085474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8</a:t>
            </a:fld>
            <a:endParaRPr lang="en-US"/>
          </a:p>
        </p:txBody>
      </p:sp>
    </p:spTree>
    <p:extLst>
      <p:ext uri="{BB962C8B-B14F-4D97-AF65-F5344CB8AC3E}">
        <p14:creationId xmlns:p14="http://schemas.microsoft.com/office/powerpoint/2010/main" val="2563878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9</a:t>
            </a:fld>
            <a:endParaRPr lang="en-US"/>
          </a:p>
        </p:txBody>
      </p:sp>
    </p:spTree>
    <p:extLst>
      <p:ext uri="{BB962C8B-B14F-4D97-AF65-F5344CB8AC3E}">
        <p14:creationId xmlns:p14="http://schemas.microsoft.com/office/powerpoint/2010/main" val="1493237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10</a:t>
            </a:fld>
            <a:endParaRPr lang="en-US"/>
          </a:p>
        </p:txBody>
      </p:sp>
    </p:spTree>
    <p:extLst>
      <p:ext uri="{BB962C8B-B14F-4D97-AF65-F5344CB8AC3E}">
        <p14:creationId xmlns:p14="http://schemas.microsoft.com/office/powerpoint/2010/main" val="3952701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11</a:t>
            </a:fld>
            <a:endParaRPr lang="en-US"/>
          </a:p>
        </p:txBody>
      </p:sp>
    </p:spTree>
    <p:extLst>
      <p:ext uri="{BB962C8B-B14F-4D97-AF65-F5344CB8AC3E}">
        <p14:creationId xmlns:p14="http://schemas.microsoft.com/office/powerpoint/2010/main" val="118736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12</a:t>
            </a:fld>
            <a:endParaRPr lang="en-US"/>
          </a:p>
        </p:txBody>
      </p:sp>
    </p:spTree>
    <p:extLst>
      <p:ext uri="{BB962C8B-B14F-4D97-AF65-F5344CB8AC3E}">
        <p14:creationId xmlns:p14="http://schemas.microsoft.com/office/powerpoint/2010/main" val="2916743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13</a:t>
            </a:fld>
            <a:endParaRPr lang="en-US"/>
          </a:p>
        </p:txBody>
      </p:sp>
    </p:spTree>
    <p:extLst>
      <p:ext uri="{BB962C8B-B14F-4D97-AF65-F5344CB8AC3E}">
        <p14:creationId xmlns:p14="http://schemas.microsoft.com/office/powerpoint/2010/main" val="523854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14</a:t>
            </a:fld>
            <a:endParaRPr lang="en-CA" altLang="en-US"/>
          </a:p>
        </p:txBody>
      </p:sp>
    </p:spTree>
    <p:extLst>
      <p:ext uri="{BB962C8B-B14F-4D97-AF65-F5344CB8AC3E}">
        <p14:creationId xmlns:p14="http://schemas.microsoft.com/office/powerpoint/2010/main" val="1100136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15</a:t>
            </a:fld>
            <a:endParaRPr lang="en-CA" altLang="en-US"/>
          </a:p>
        </p:txBody>
      </p:sp>
    </p:spTree>
    <p:extLst>
      <p:ext uri="{BB962C8B-B14F-4D97-AF65-F5344CB8AC3E}">
        <p14:creationId xmlns:p14="http://schemas.microsoft.com/office/powerpoint/2010/main" val="2686749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16</a:t>
            </a:fld>
            <a:endParaRPr lang="en-CA" altLang="en-US"/>
          </a:p>
        </p:txBody>
      </p:sp>
    </p:spTree>
    <p:extLst>
      <p:ext uri="{BB962C8B-B14F-4D97-AF65-F5344CB8AC3E}">
        <p14:creationId xmlns:p14="http://schemas.microsoft.com/office/powerpoint/2010/main" val="4021073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17</a:t>
            </a:fld>
            <a:endParaRPr lang="en-CA" altLang="en-US"/>
          </a:p>
        </p:txBody>
      </p:sp>
    </p:spTree>
    <p:extLst>
      <p:ext uri="{BB962C8B-B14F-4D97-AF65-F5344CB8AC3E}">
        <p14:creationId xmlns:p14="http://schemas.microsoft.com/office/powerpoint/2010/main" val="2521063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18</a:t>
            </a:fld>
            <a:endParaRPr lang="en-CA" altLang="en-US"/>
          </a:p>
        </p:txBody>
      </p:sp>
    </p:spTree>
    <p:extLst>
      <p:ext uri="{BB962C8B-B14F-4D97-AF65-F5344CB8AC3E}">
        <p14:creationId xmlns:p14="http://schemas.microsoft.com/office/powerpoint/2010/main" val="3317165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19</a:t>
            </a:fld>
            <a:endParaRPr lang="en-CA" altLang="en-US"/>
          </a:p>
        </p:txBody>
      </p:sp>
    </p:spTree>
    <p:extLst>
      <p:ext uri="{BB962C8B-B14F-4D97-AF65-F5344CB8AC3E}">
        <p14:creationId xmlns:p14="http://schemas.microsoft.com/office/powerpoint/2010/main" val="3141336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20</a:t>
            </a:fld>
            <a:endParaRPr lang="en-CA" altLang="en-US"/>
          </a:p>
        </p:txBody>
      </p:sp>
    </p:spTree>
    <p:extLst>
      <p:ext uri="{BB962C8B-B14F-4D97-AF65-F5344CB8AC3E}">
        <p14:creationId xmlns:p14="http://schemas.microsoft.com/office/powerpoint/2010/main" val="3846496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21</a:t>
            </a:fld>
            <a:endParaRPr lang="en-CA" altLang="en-US"/>
          </a:p>
        </p:txBody>
      </p:sp>
    </p:spTree>
    <p:extLst>
      <p:ext uri="{BB962C8B-B14F-4D97-AF65-F5344CB8AC3E}">
        <p14:creationId xmlns:p14="http://schemas.microsoft.com/office/powerpoint/2010/main" val="613573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31</a:t>
            </a:fld>
            <a:endParaRPr lang="en-US"/>
          </a:p>
        </p:txBody>
      </p:sp>
    </p:spTree>
    <p:extLst>
      <p:ext uri="{BB962C8B-B14F-4D97-AF65-F5344CB8AC3E}">
        <p14:creationId xmlns:p14="http://schemas.microsoft.com/office/powerpoint/2010/main" val="2993197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32</a:t>
            </a:fld>
            <a:endParaRPr lang="en-US"/>
          </a:p>
        </p:txBody>
      </p:sp>
    </p:spTree>
    <p:extLst>
      <p:ext uri="{BB962C8B-B14F-4D97-AF65-F5344CB8AC3E}">
        <p14:creationId xmlns:p14="http://schemas.microsoft.com/office/powerpoint/2010/main" val="32729208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33</a:t>
            </a:fld>
            <a:endParaRPr lang="en-US"/>
          </a:p>
        </p:txBody>
      </p:sp>
    </p:spTree>
    <p:extLst>
      <p:ext uri="{BB962C8B-B14F-4D97-AF65-F5344CB8AC3E}">
        <p14:creationId xmlns:p14="http://schemas.microsoft.com/office/powerpoint/2010/main" val="2675524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34</a:t>
            </a:fld>
            <a:endParaRPr lang="en-US"/>
          </a:p>
        </p:txBody>
      </p:sp>
    </p:spTree>
    <p:extLst>
      <p:ext uri="{BB962C8B-B14F-4D97-AF65-F5344CB8AC3E}">
        <p14:creationId xmlns:p14="http://schemas.microsoft.com/office/powerpoint/2010/main" val="1473954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35</a:t>
            </a:fld>
            <a:endParaRPr lang="en-US"/>
          </a:p>
        </p:txBody>
      </p:sp>
    </p:spTree>
    <p:extLst>
      <p:ext uri="{BB962C8B-B14F-4D97-AF65-F5344CB8AC3E}">
        <p14:creationId xmlns:p14="http://schemas.microsoft.com/office/powerpoint/2010/main" val="1937101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36</a:t>
            </a:fld>
            <a:endParaRPr lang="en-US"/>
          </a:p>
        </p:txBody>
      </p:sp>
    </p:spTree>
    <p:extLst>
      <p:ext uri="{BB962C8B-B14F-4D97-AF65-F5344CB8AC3E}">
        <p14:creationId xmlns:p14="http://schemas.microsoft.com/office/powerpoint/2010/main" val="1952852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37</a:t>
            </a:fld>
            <a:endParaRPr lang="en-US"/>
          </a:p>
        </p:txBody>
      </p:sp>
    </p:spTree>
    <p:extLst>
      <p:ext uri="{BB962C8B-B14F-4D97-AF65-F5344CB8AC3E}">
        <p14:creationId xmlns:p14="http://schemas.microsoft.com/office/powerpoint/2010/main" val="2533504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38</a:t>
            </a:fld>
            <a:endParaRPr lang="en-US"/>
          </a:p>
        </p:txBody>
      </p:sp>
    </p:spTree>
    <p:extLst>
      <p:ext uri="{BB962C8B-B14F-4D97-AF65-F5344CB8AC3E}">
        <p14:creationId xmlns:p14="http://schemas.microsoft.com/office/powerpoint/2010/main" val="3925609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ctr">
            <a:normAutofit/>
          </a:bodyPr>
          <a:lstStyle>
            <a:lvl1pPr algn="ctr">
              <a:defRPr sz="3200"/>
            </a:lvl1pPr>
          </a:lstStyle>
          <a:p>
            <a:r>
              <a:rPr lang="en-US" dirty="0"/>
              <a:t>Click to edit Master title style</a:t>
            </a:r>
            <a:endParaRPr lang="en-CA"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369219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dirty="0"/>
              <a:t>Click to edit Master title style</a:t>
            </a:r>
            <a:endParaRPr lang="en-CA" dirty="0"/>
          </a:p>
        </p:txBody>
      </p:sp>
      <p:sp>
        <p:nvSpPr>
          <p:cNvPr id="3" name="Content Placeholder 2"/>
          <p:cNvSpPr>
            <a:spLocks noGrp="1"/>
          </p:cNvSpPr>
          <p:nvPr>
            <p:ph idx="1"/>
          </p:nvPr>
        </p:nvSpPr>
        <p:spPr/>
        <p:txBody>
          <a:bodyPr/>
          <a:lstStyle>
            <a:lvl1pPr>
              <a:defRPr sz="2400"/>
            </a:lvl1pPr>
            <a:lvl2pPr>
              <a:defRPr sz="2000"/>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44202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ctr">
            <a:normAutofit/>
          </a:bodyPr>
          <a:lstStyle>
            <a:lvl1pPr>
              <a:defRPr sz="3200"/>
            </a:lvl1pPr>
          </a:lstStyle>
          <a:p>
            <a:r>
              <a:rPr lang="en-US" dirty="0"/>
              <a:t>Click to edit Master title style</a:t>
            </a:r>
            <a:endParaRPr lang="en-CA" dirty="0"/>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626184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528867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8" name="Footer Placeholder 7"/>
          <p:cNvSpPr>
            <a:spLocks noGrp="1"/>
          </p:cNvSpPr>
          <p:nvPr>
            <p:ph type="ftr" sz="quarter" idx="11"/>
          </p:nvPr>
        </p:nvSpPr>
        <p:spPr>
          <a:xfrm>
            <a:off x="3028950" y="6356350"/>
            <a:ext cx="3086100" cy="365125"/>
          </a:xfrm>
          <a:prstGeom prst="rect">
            <a:avLst/>
          </a:prstGeom>
        </p:spPr>
        <p:txBody>
          <a:bodyPr/>
          <a:lstStyle/>
          <a:p>
            <a:endParaRPr lang="en-CA"/>
          </a:p>
        </p:txBody>
      </p:sp>
      <p:sp>
        <p:nvSpPr>
          <p:cNvPr id="9" name="Slide Number Placeholder 8"/>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47204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endParaRPr lang="en-CA"/>
          </a:p>
        </p:txBody>
      </p:sp>
      <p:sp>
        <p:nvSpPr>
          <p:cNvPr id="5" name="Slide Number Placeholder 4"/>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84449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p>
            <a:endParaRPr lang="en-CA"/>
          </a:p>
        </p:txBody>
      </p:sp>
      <p:sp>
        <p:nvSpPr>
          <p:cNvPr id="4" name="Slide Number Placeholder 3"/>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725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38536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468483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88394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2024-06-07</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50305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568940"/>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p:cNvSpPr>
            <a:spLocks noGrp="1"/>
          </p:cNvSpPr>
          <p:nvPr>
            <p:ph type="body" idx="1"/>
          </p:nvPr>
        </p:nvSpPr>
        <p:spPr>
          <a:xfrm>
            <a:off x="628650" y="1097578"/>
            <a:ext cx="7886700" cy="49319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CB85E-0F77-4855-90A7-7A1B61BB679B}" type="slidenum">
              <a:rPr lang="en-CA" smtClean="0"/>
              <a:pPr/>
              <a:t>‹#›</a:t>
            </a:fld>
            <a:endParaRPr lang="en-CA" dirty="0"/>
          </a:p>
        </p:txBody>
      </p:sp>
      <p:cxnSp>
        <p:nvCxnSpPr>
          <p:cNvPr id="7" name="Straight Connector 6"/>
          <p:cNvCxnSpPr/>
          <p:nvPr userDrawn="1"/>
        </p:nvCxnSpPr>
        <p:spPr bwMode="auto">
          <a:xfrm>
            <a:off x="0" y="6048375"/>
            <a:ext cx="9144000" cy="0"/>
          </a:xfrm>
          <a:prstGeom prst="line">
            <a:avLst/>
          </a:prstGeom>
          <a:ln>
            <a:solidFill>
              <a:srgbClr val="F1AB00"/>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9" name="Picture 8"/>
          <p:cNvPicPr>
            <a:picLocks noChangeAspect="1"/>
          </p:cNvPicPr>
          <p:nvPr userDrawn="1"/>
        </p:nvPicPr>
        <p:blipFill>
          <a:blip r:embed="rId13"/>
          <a:stretch>
            <a:fillRect/>
          </a:stretch>
        </p:blipFill>
        <p:spPr>
          <a:xfrm>
            <a:off x="8013103" y="6141815"/>
            <a:ext cx="502247" cy="579660"/>
          </a:xfrm>
          <a:prstGeom prst="rect">
            <a:avLst/>
          </a:prstGeom>
        </p:spPr>
      </p:pic>
    </p:spTree>
    <p:extLst>
      <p:ext uri="{BB962C8B-B14F-4D97-AF65-F5344CB8AC3E}">
        <p14:creationId xmlns:p14="http://schemas.microsoft.com/office/powerpoint/2010/main" val="58214681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defTabSz="914400" rtl="0" eaLnBrk="1" latinLnBrk="0" hangingPunct="1">
        <a:lnSpc>
          <a:spcPct val="90000"/>
        </a:lnSpc>
        <a:spcBef>
          <a:spcPct val="0"/>
        </a:spcBef>
        <a:buNone/>
        <a:defRPr sz="2000" b="1" kern="1200">
          <a:solidFill>
            <a:srgbClr val="0000FF"/>
          </a:solidFill>
          <a:latin typeface="Myriad Web Pro"/>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5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jpeg"/><Relationship Id="rId7"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52.png"/><Relationship Id="rId5" Type="http://schemas.openxmlformats.org/officeDocument/2006/relationships/image" Target="../media/image49.png"/><Relationship Id="rId4" Type="http://schemas.openxmlformats.org/officeDocument/2006/relationships/image" Target="../media/image3.png"/><Relationship Id="rId9" Type="http://schemas.openxmlformats.org/officeDocument/2006/relationships/image" Target="../media/image4.tm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6.png"/><Relationship Id="rId12"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7.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18" Type="http://schemas.openxmlformats.org/officeDocument/2006/relationships/image" Target="../media/image75.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 Type="http://schemas.openxmlformats.org/officeDocument/2006/relationships/notesSlide" Target="../notesSlides/notesSlide13.xml"/><Relationship Id="rId16" Type="http://schemas.openxmlformats.org/officeDocument/2006/relationships/image" Target="../media/image73.png"/><Relationship Id="rId20"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19" Type="http://schemas.openxmlformats.org/officeDocument/2006/relationships/image" Target="../media/image76.png"/><Relationship Id="rId4" Type="http://schemas.openxmlformats.org/officeDocument/2006/relationships/image" Target="../media/image600.png"/><Relationship Id="rId9" Type="http://schemas.openxmlformats.org/officeDocument/2006/relationships/image" Target="../media/image66.png"/><Relationship Id="rId14" Type="http://schemas.openxmlformats.org/officeDocument/2006/relationships/image" Target="../media/image71.png"/></Relationships>
</file>

<file path=ppt/slides/_rels/slide1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85.emf"/></Relationships>
</file>

<file path=ppt/slides/_rels/slide2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2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2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3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3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5.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_rels/slide36.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9" Type="http://schemas.openxmlformats.org/officeDocument/2006/relationships/image" Target="../media/image130.png"/></Relationships>
</file>

<file path=ppt/slides/_rels/slide37.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38.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6.png"/><Relationship Id="rId7" Type="http://schemas.openxmlformats.org/officeDocument/2006/relationships/image" Target="../media/image14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9633" y="685041"/>
            <a:ext cx="6858000" cy="2387600"/>
          </a:xfrm>
        </p:spPr>
        <p:txBody>
          <a:bodyPr>
            <a:normAutofit/>
          </a:bodyPr>
          <a:lstStyle/>
          <a:p>
            <a:pPr>
              <a:lnSpc>
                <a:spcPct val="200000"/>
              </a:lnSpc>
            </a:pPr>
            <a:r>
              <a:rPr lang="en-US" sz="3000" dirty="0">
                <a:solidFill>
                  <a:schemeClr val="tx1"/>
                </a:solidFill>
              </a:rPr>
              <a:t>ME 352</a:t>
            </a:r>
            <a:br>
              <a:rPr lang="en-US" sz="3000" dirty="0">
                <a:solidFill>
                  <a:schemeClr val="tx1"/>
                </a:solidFill>
              </a:rPr>
            </a:br>
            <a:r>
              <a:rPr lang="en-US" sz="3000" dirty="0">
                <a:solidFill>
                  <a:schemeClr val="tx1"/>
                </a:solidFill>
              </a:rPr>
              <a:t>FLUID DYNAMICS 2</a:t>
            </a:r>
            <a:endParaRPr lang="en-CA" sz="3000" dirty="0">
              <a:solidFill>
                <a:schemeClr val="tx1"/>
              </a:solidFill>
            </a:endParaRPr>
          </a:p>
        </p:txBody>
      </p:sp>
    </p:spTree>
    <p:extLst>
      <p:ext uri="{BB962C8B-B14F-4D97-AF65-F5344CB8AC3E}">
        <p14:creationId xmlns:p14="http://schemas.microsoft.com/office/powerpoint/2010/main" val="347992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7512"/>
            <a:ext cx="9144000" cy="568940"/>
          </a:xfrm>
        </p:spPr>
        <p:txBody>
          <a:bodyPr>
            <a:normAutofit/>
          </a:bodyPr>
          <a:lstStyle/>
          <a:p>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Some Applications of the Momentum Equation</a:t>
            </a:r>
            <a:endParaRPr lang="en-CA"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71368" y="676539"/>
            <a:ext cx="8142126" cy="5469642"/>
          </a:xfrm>
        </p:spPr>
        <p:txBody>
          <a:bodyPr>
            <a:normAutofit/>
          </a:bodyPr>
          <a:lstStyle/>
          <a:p>
            <a:pPr marL="0" indent="0">
              <a:lnSpc>
                <a:spcPct val="120000"/>
              </a:lnSpc>
              <a:buNone/>
            </a:pPr>
            <a:endParaRPr lang="en-CA" dirty="0"/>
          </a:p>
          <a:p>
            <a:pPr marL="0" indent="0">
              <a:lnSpc>
                <a:spcPct val="120000"/>
              </a:lnSpc>
              <a:buNone/>
            </a:pPr>
            <a:endParaRPr lang="en-CA" dirty="0"/>
          </a:p>
          <a:p>
            <a:pPr marL="0" indent="0">
              <a:lnSpc>
                <a:spcPct val="120000"/>
              </a:lnSpc>
              <a:buNone/>
            </a:pPr>
            <a:endParaRPr lang="en-CA" dirty="0"/>
          </a:p>
        </p:txBody>
      </p:sp>
      <p:grpSp>
        <p:nvGrpSpPr>
          <p:cNvPr id="4" name="Group 3"/>
          <p:cNvGrpSpPr/>
          <p:nvPr/>
        </p:nvGrpSpPr>
        <p:grpSpPr>
          <a:xfrm>
            <a:off x="586228" y="1121039"/>
            <a:ext cx="2998141" cy="1808559"/>
            <a:chOff x="2106754" y="3120014"/>
            <a:chExt cx="5434448" cy="2855535"/>
          </a:xfrm>
        </p:grpSpPr>
        <p:pic>
          <p:nvPicPr>
            <p:cNvPr id="5" name="Picture 4" descr="mm.jpg"/>
            <p:cNvPicPr/>
            <p:nvPr/>
          </p:nvPicPr>
          <p:blipFill>
            <a:blip r:embed="rId3" cstate="print"/>
            <a:srcRect l="51527" t="13730" r="16376" b="63675"/>
            <a:stretch>
              <a:fillRect/>
            </a:stretch>
          </p:blipFill>
          <p:spPr bwMode="auto">
            <a:xfrm>
              <a:off x="2501178" y="3283526"/>
              <a:ext cx="4065877" cy="2621261"/>
            </a:xfrm>
            <a:prstGeom prst="rect">
              <a:avLst/>
            </a:prstGeom>
            <a:noFill/>
            <a:ln w="9525">
              <a:noFill/>
              <a:miter lim="800000"/>
              <a:headEnd/>
              <a:tailEnd/>
            </a:ln>
          </p:spPr>
        </p:pic>
        <p:sp>
          <p:nvSpPr>
            <p:cNvPr id="6" name="Rectangle 5"/>
            <p:cNvSpPr/>
            <p:nvPr/>
          </p:nvSpPr>
          <p:spPr>
            <a:xfrm>
              <a:off x="4582391" y="5153891"/>
              <a:ext cx="290946" cy="2862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7" name="TextBox 6"/>
                <p:cNvSpPr txBox="1"/>
                <p:nvPr/>
              </p:nvSpPr>
              <p:spPr>
                <a:xfrm>
                  <a:off x="4348512" y="5087400"/>
                  <a:ext cx="519547" cy="4130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100" b="0" i="1" smtClean="0">
                            <a:latin typeface="Cambria Math" panose="02040503050406030204" pitchFamily="18" charset="0"/>
                          </a:rPr>
                          <m:t>60</m:t>
                        </m:r>
                        <m:r>
                          <a:rPr lang="en-CA" sz="1100" b="0" i="1" smtClean="0">
                            <a:latin typeface="Cambria Math" panose="02040503050406030204" pitchFamily="18" charset="0"/>
                            <a:ea typeface="Cambria Math" panose="02040503050406030204" pitchFamily="18" charset="0"/>
                          </a:rPr>
                          <m:t>°</m:t>
                        </m:r>
                      </m:oMath>
                    </m:oMathPara>
                  </a14:m>
                  <a:endParaRPr lang="en-CA" sz="1100" dirty="0"/>
                </a:p>
              </p:txBody>
            </p:sp>
          </mc:Choice>
          <mc:Fallback xmlns="">
            <p:sp>
              <p:nvSpPr>
                <p:cNvPr id="7" name="TextBox 6"/>
                <p:cNvSpPr txBox="1">
                  <a:spLocks noRot="1" noChangeAspect="1" noMove="1" noResize="1" noEditPoints="1" noAdjustHandles="1" noChangeArrowheads="1" noChangeShapeType="1" noTextEdit="1"/>
                </p:cNvSpPr>
                <p:nvPr/>
              </p:nvSpPr>
              <p:spPr>
                <a:xfrm>
                  <a:off x="4348512" y="5087400"/>
                  <a:ext cx="519547" cy="413056"/>
                </a:xfrm>
                <a:prstGeom prst="rect">
                  <a:avLst/>
                </a:prstGeom>
                <a:blipFill>
                  <a:blip r:embed="rId4"/>
                  <a:stretch>
                    <a:fillRect r="-2340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704608" y="3120014"/>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𝐷</m:t>
                            </m:r>
                          </m:e>
                          <m:sub>
                            <m:r>
                              <a:rPr lang="en-CA" sz="1200" b="0" i="1" smtClean="0">
                                <a:latin typeface="Cambria Math" panose="02040503050406030204" pitchFamily="18" charset="0"/>
                              </a:rPr>
                              <m:t>2</m:t>
                            </m:r>
                          </m:sub>
                        </m:sSub>
                      </m:oMath>
                    </m:oMathPara>
                  </a14:m>
                  <a:endParaRPr lang="en-CA" sz="1200" dirty="0"/>
                </a:p>
              </p:txBody>
            </p:sp>
          </mc:Choice>
          <mc:Fallback xmlns="">
            <p:sp>
              <p:nvSpPr>
                <p:cNvPr id="8" name="TextBox 7"/>
                <p:cNvSpPr txBox="1">
                  <a:spLocks noRot="1" noChangeAspect="1" noMove="1" noResize="1" noEditPoints="1" noAdjustHandles="1" noChangeArrowheads="1" noChangeShapeType="1" noTextEdit="1"/>
                </p:cNvSpPr>
                <p:nvPr/>
              </p:nvSpPr>
              <p:spPr>
                <a:xfrm>
                  <a:off x="5704608" y="3120014"/>
                  <a:ext cx="1724894" cy="437354"/>
                </a:xfrm>
                <a:prstGeom prst="rect">
                  <a:avLst/>
                </a:prstGeom>
                <a:blipFill>
                  <a:blip r:embed="rId5"/>
                  <a:stretch>
                    <a:fillRect/>
                  </a:stretch>
                </a:blipFill>
                <a:ln>
                  <a:solidFill>
                    <a:schemeClr val="bg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816308" y="5538195"/>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𝐷</m:t>
                            </m:r>
                          </m:e>
                          <m:sub>
                            <m:r>
                              <a:rPr lang="en-CA" sz="1200" b="0" i="1" smtClean="0">
                                <a:latin typeface="Cambria Math" panose="02040503050406030204" pitchFamily="18" charset="0"/>
                              </a:rPr>
                              <m:t>3</m:t>
                            </m:r>
                          </m:sub>
                        </m:sSub>
                      </m:oMath>
                    </m:oMathPara>
                  </a14:m>
                  <a:endParaRPr lang="en-CA" sz="1200" dirty="0"/>
                </a:p>
              </p:txBody>
            </p:sp>
          </mc:Choice>
          <mc:Fallback xmlns="">
            <p:sp>
              <p:nvSpPr>
                <p:cNvPr id="9" name="TextBox 8"/>
                <p:cNvSpPr txBox="1">
                  <a:spLocks noRot="1" noChangeAspect="1" noMove="1" noResize="1" noEditPoints="1" noAdjustHandles="1" noChangeArrowheads="1" noChangeShapeType="1" noTextEdit="1"/>
                </p:cNvSpPr>
                <p:nvPr/>
              </p:nvSpPr>
              <p:spPr>
                <a:xfrm>
                  <a:off x="5816308" y="5538195"/>
                  <a:ext cx="1724894" cy="437354"/>
                </a:xfrm>
                <a:prstGeom prst="rect">
                  <a:avLst/>
                </a:prstGeom>
                <a:blipFill>
                  <a:blip r:embed="rId6"/>
                  <a:stretch>
                    <a:fillRect/>
                  </a:stretch>
                </a:blipFill>
                <a:ln>
                  <a:solidFill>
                    <a:schemeClr val="bg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106754" y="4854924"/>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𝑃</m:t>
                            </m:r>
                          </m:e>
                          <m:sub>
                            <m:r>
                              <a:rPr lang="en-CA" sz="1200" b="0" i="1" smtClean="0">
                                <a:latin typeface="Cambria Math" panose="02040503050406030204" pitchFamily="18" charset="0"/>
                              </a:rPr>
                              <m:t>1</m:t>
                            </m:r>
                          </m:sub>
                        </m:sSub>
                      </m:oMath>
                    </m:oMathPara>
                  </a14:m>
                  <a:endParaRPr lang="en-CA" sz="1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106754" y="4854924"/>
                  <a:ext cx="1724894" cy="437354"/>
                </a:xfrm>
                <a:prstGeom prst="rect">
                  <a:avLst/>
                </a:prstGeom>
                <a:blipFill>
                  <a:blip r:embed="rId7"/>
                  <a:stretch>
                    <a:fillRect/>
                  </a:stretch>
                </a:blipFill>
                <a:ln>
                  <a:solidFill>
                    <a:schemeClr val="bg1"/>
                  </a:solidFill>
                </a:ln>
              </p:spPr>
              <p:txBody>
                <a:bodyPr/>
                <a:lstStyle/>
                <a:p>
                  <a:r>
                    <a:rPr lang="en-CA">
                      <a:noFill/>
                    </a:rPr>
                    <a:t> </a:t>
                  </a:r>
                </a:p>
              </p:txBody>
            </p:sp>
          </mc:Fallback>
        </mc:AlternateContent>
      </p:grpSp>
      <p:pic>
        <p:nvPicPr>
          <p:cNvPr id="11" name="Picture 1" descr="unfig_04_32.jpg">
            <a:extLst>
              <a:ext uri="{FF2B5EF4-FFF2-40B4-BE49-F238E27FC236}">
                <a16:creationId xmlns:a16="http://schemas.microsoft.com/office/drawing/2014/main" id="{7D3B3BAB-C55D-4678-BF4A-E756AFAD5383}"/>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3108564" y="3109083"/>
            <a:ext cx="1807420" cy="262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Screen Clippi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99788" y="645184"/>
            <a:ext cx="3311645" cy="2671768"/>
          </a:xfrm>
          <a:prstGeom prst="rect">
            <a:avLst/>
          </a:prstGeom>
        </p:spPr>
      </p:pic>
    </p:spTree>
    <p:extLst>
      <p:ext uri="{BB962C8B-B14F-4D97-AF65-F5344CB8AC3E}">
        <p14:creationId xmlns:p14="http://schemas.microsoft.com/office/powerpoint/2010/main" val="3747331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txBox="1">
                <a:spLocks/>
              </p:cNvSpPr>
              <p:nvPr/>
            </p:nvSpPr>
            <p:spPr>
              <a:xfrm>
                <a:off x="-507989" y="2701158"/>
                <a:ext cx="9358604" cy="328816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Aft>
                    <a:spcPts val="0"/>
                  </a:spcAft>
                  <a:buNone/>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r>
                            <a:rPr lang="en-CA" sz="2000" b="1" i="1" smtClean="0">
                              <a:solidFill>
                                <a:schemeClr val="tx1"/>
                              </a:solidFill>
                              <a:latin typeface="Cambria Math" panose="02040503050406030204" pitchFamily="18" charset="0"/>
                            </a:rPr>
                            <m:t>𝑭</m:t>
                          </m:r>
                        </m:e>
                        <m:sub>
                          <m:r>
                            <a:rPr lang="en-CA" sz="2000" b="1" i="1" smtClean="0">
                              <a:solidFill>
                                <a:schemeClr val="tx1"/>
                              </a:solidFill>
                              <a:latin typeface="Cambria Math" panose="02040503050406030204" pitchFamily="18" charset="0"/>
                            </a:rPr>
                            <m:t>𝒔𝒙</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smtClean="0">
                              <a:solidFill>
                                <a:schemeClr val="tx1"/>
                              </a:solidFill>
                              <a:latin typeface="Cambria Math" panose="02040503050406030204" pitchFamily="18" charset="0"/>
                            </a:rPr>
                            <m:t>𝑩𝒙</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fontAlgn="auto">
                  <a:lnSpc>
                    <a:spcPct val="100000"/>
                  </a:lnSpc>
                  <a:spcAft>
                    <a:spcPts val="0"/>
                  </a:spcAft>
                  <a:buFont typeface="Arial" panose="020B0604020202020204" pitchFamily="34" charset="0"/>
                  <a:buNone/>
                </a:pPr>
                <a:endParaRPr lang="en-CA" sz="2000" dirty="0">
                  <a:solidFill>
                    <a:schemeClr val="tx1"/>
                  </a:solidFill>
                </a:endParaRPr>
              </a:p>
              <a:p>
                <a:pPr marL="0" indent="0" fontAlgn="auto">
                  <a:lnSpc>
                    <a:spcPct val="100000"/>
                  </a:lnSpc>
                  <a:spcBef>
                    <a:spcPts val="3000"/>
                  </a:spcBef>
                  <a:spcAft>
                    <a:spcPts val="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m:t>
                          </m:r>
                          <m:r>
                            <a:rPr lang="en-CA" sz="2000" b="1" i="1" smtClean="0">
                              <a:solidFill>
                                <a:schemeClr val="tx1"/>
                              </a:solidFill>
                              <a:latin typeface="Cambria Math" panose="02040503050406030204" pitchFamily="18" charset="0"/>
                            </a:rPr>
                            <m:t>𝒚</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m:t>
                          </m:r>
                          <m:r>
                            <a:rPr lang="en-CA" sz="2000" b="1" i="1" smtClean="0">
                              <a:solidFill>
                                <a:schemeClr val="tx1"/>
                              </a:solidFill>
                              <a:latin typeface="Cambria Math" panose="02040503050406030204" pitchFamily="18" charset="0"/>
                            </a:rPr>
                            <m:t>𝒚</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fontAlgn="auto">
                  <a:lnSpc>
                    <a:spcPct val="100000"/>
                  </a:lnSpc>
                  <a:spcBef>
                    <a:spcPts val="3000"/>
                  </a:spcBef>
                  <a:spcAft>
                    <a:spcPts val="0"/>
                  </a:spcAft>
                  <a:buNone/>
                </a:pPr>
                <a:endParaRPr lang="en-CA" sz="2000" dirty="0">
                  <a:solidFill>
                    <a:schemeClr val="tx1"/>
                  </a:solidFill>
                </a:endParaRPr>
              </a:p>
              <a:p>
                <a:pPr marL="0" indent="0" fontAlgn="auto">
                  <a:lnSpc>
                    <a:spcPct val="100000"/>
                  </a:lnSpc>
                  <a:spcBef>
                    <a:spcPts val="3000"/>
                  </a:spcBef>
                  <a:spcAft>
                    <a:spcPts val="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m:t>
                          </m:r>
                          <m:r>
                            <a:rPr lang="en-CA" sz="2000" b="1" i="1" smtClean="0">
                              <a:solidFill>
                                <a:schemeClr val="tx1"/>
                              </a:solidFill>
                              <a:latin typeface="Cambria Math" panose="02040503050406030204" pitchFamily="18" charset="0"/>
                            </a:rPr>
                            <m:t>𝒛</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m:t>
                          </m:r>
                          <m:r>
                            <a:rPr lang="en-CA" sz="2000" b="1" i="1" smtClean="0">
                              <a:solidFill>
                                <a:schemeClr val="tx1"/>
                              </a:solidFill>
                              <a:latin typeface="Cambria Math" panose="02040503050406030204" pitchFamily="18" charset="0"/>
                            </a:rPr>
                            <m:t>𝒛</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p>
              <a:p>
                <a:pPr marL="0" indent="0" fontAlgn="auto">
                  <a:spcAft>
                    <a:spcPts val="0"/>
                  </a:spcAft>
                  <a:buFont typeface="Arial" panose="020B0604020202020204" pitchFamily="34" charset="0"/>
                  <a:buNone/>
                </a:pPr>
                <a:endParaRPr lang="en-CA" dirty="0"/>
              </a:p>
              <a:p>
                <a:pPr marL="0" indent="0" fontAlgn="auto">
                  <a:spcAft>
                    <a:spcPts val="0"/>
                  </a:spcAft>
                  <a:buFont typeface="Arial" panose="020B0604020202020204" pitchFamily="34" charset="0"/>
                  <a:buNone/>
                </a:pPr>
                <a:endParaRPr lang="en-CA"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507989" y="2701158"/>
                <a:ext cx="9358604" cy="3288162"/>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144623" y="555295"/>
                <a:ext cx="8481526" cy="8111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𝒔</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𝑩</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smtClean="0">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m:t>
                          </m:r>
                          <m:r>
                            <a:rPr lang="en-CA" sz="2000" b="1" i="1" smtClean="0">
                              <a:solidFill>
                                <a:schemeClr val="tx1"/>
                              </a:solidFill>
                              <a:latin typeface="Cambria Math" panose="02040503050406030204" pitchFamily="18" charset="0"/>
                              <a:ea typeface="Cambria Math" panose="02040503050406030204" pitchFamily="18" charset="0"/>
                            </a:rPr>
                            <m:t>𝒅</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dirty="0"/>
              </a:p>
            </p:txBody>
          </p:sp>
        </mc:Choice>
        <mc:Fallback>
          <p:sp>
            <p:nvSpPr>
              <p:cNvPr id="7" name="Rectangle 6"/>
              <p:cNvSpPr>
                <a:spLocks noRot="1" noChangeAspect="1" noMove="1" noResize="1" noEditPoints="1" noAdjustHandles="1" noChangeArrowheads="1" noChangeShapeType="1" noTextEdit="1"/>
              </p:cNvSpPr>
              <p:nvPr/>
            </p:nvSpPr>
            <p:spPr>
              <a:xfrm>
                <a:off x="144623" y="555295"/>
                <a:ext cx="8481526" cy="811184"/>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03345" y="1607876"/>
                <a:ext cx="1699183" cy="310598"/>
              </a:xfrm>
              <a:prstGeom prst="rect">
                <a:avLst/>
              </a:prstGeom>
              <a:noFill/>
            </p:spPr>
            <p:txBody>
              <a:bodyPr wrap="none" lIns="0" tIns="0" rIns="0" bIns="0" rtlCol="0">
                <a:spAutoFit/>
              </a:bodyPr>
              <a:lstStyle/>
              <a:p>
                <a14:m>
                  <m:oMath xmlns:m="http://schemas.openxmlformats.org/officeDocument/2006/math">
                    <m:acc>
                      <m:accPr>
                        <m:chr m:val="⃗"/>
                        <m:ctrlPr>
                          <a:rPr lang="en-CA" sz="1800" b="1" i="1" smtClean="0">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𝑽</m:t>
                        </m:r>
                      </m:e>
                    </m:acc>
                    <m:r>
                      <a:rPr lang="en-CA" sz="1800" b="1" i="1" smtClean="0">
                        <a:solidFill>
                          <a:schemeClr val="tx1"/>
                        </a:solidFill>
                        <a:latin typeface="Cambria Math" panose="02040503050406030204" pitchFamily="18" charset="0"/>
                      </a:rPr>
                      <m:t>=</m:t>
                    </m:r>
                    <m:r>
                      <a:rPr lang="en-CA" sz="1800" b="1" i="1" smtClean="0">
                        <a:solidFill>
                          <a:schemeClr val="tx1"/>
                        </a:solidFill>
                        <a:latin typeface="Cambria Math" panose="02040503050406030204" pitchFamily="18" charset="0"/>
                      </a:rPr>
                      <m:t>𝒖</m:t>
                    </m:r>
                    <m:acc>
                      <m:accPr>
                        <m:chr m:val="̂"/>
                        <m:ctrlPr>
                          <a:rPr lang="en-CA" sz="1800" b="1" i="1" smtClean="0">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𝒊</m:t>
                        </m:r>
                      </m:e>
                    </m:acc>
                    <m:r>
                      <a:rPr lang="en-CA" sz="1800" b="1" i="1" smtClean="0">
                        <a:solidFill>
                          <a:schemeClr val="tx1"/>
                        </a:solidFill>
                        <a:latin typeface="Cambria Math" panose="02040503050406030204" pitchFamily="18" charset="0"/>
                      </a:rPr>
                      <m:t>+</m:t>
                    </m:r>
                    <m:r>
                      <a:rPr lang="en-CA" sz="1800" b="1" i="1" smtClean="0">
                        <a:solidFill>
                          <a:schemeClr val="tx1"/>
                        </a:solidFill>
                        <a:latin typeface="Cambria Math" panose="02040503050406030204" pitchFamily="18" charset="0"/>
                      </a:rPr>
                      <m:t>𝒗</m:t>
                    </m:r>
                    <m:acc>
                      <m:accPr>
                        <m:chr m:val="̂"/>
                        <m:ctrlPr>
                          <a:rPr lang="en-CA" sz="1800" b="1" i="1">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𝒋</m:t>
                        </m:r>
                      </m:e>
                    </m:acc>
                  </m:oMath>
                </a14:m>
                <a:r>
                  <a:rPr lang="en-CA" sz="1800" b="1" dirty="0">
                    <a:solidFill>
                      <a:schemeClr val="tx1"/>
                    </a:solidFill>
                  </a:rPr>
                  <a:t> +</a:t>
                </a:r>
                <a14:m>
                  <m:oMath xmlns:m="http://schemas.openxmlformats.org/officeDocument/2006/math">
                    <m:r>
                      <a:rPr lang="en-CA" sz="1800" b="1" i="1" smtClean="0">
                        <a:solidFill>
                          <a:schemeClr val="tx1"/>
                        </a:solidFill>
                        <a:latin typeface="Cambria Math" panose="02040503050406030204" pitchFamily="18" charset="0"/>
                      </a:rPr>
                      <m:t>𝒘</m:t>
                    </m:r>
                    <m:acc>
                      <m:accPr>
                        <m:chr m:val="̂"/>
                        <m:ctrlPr>
                          <a:rPr lang="en-CA" sz="1800" b="1" i="1">
                            <a:latin typeface="Cambria Math" panose="02040503050406030204" pitchFamily="18" charset="0"/>
                          </a:rPr>
                        </m:ctrlPr>
                      </m:accPr>
                      <m:e>
                        <m:r>
                          <a:rPr lang="en-CA" sz="1800" b="1" i="1" smtClean="0">
                            <a:latin typeface="Cambria Math" panose="02040503050406030204" pitchFamily="18" charset="0"/>
                          </a:rPr>
                          <m:t>𝒌</m:t>
                        </m:r>
                      </m:e>
                    </m:acc>
                  </m:oMath>
                </a14:m>
                <a:endParaRPr lang="en-CA" sz="18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3203345" y="1607876"/>
                <a:ext cx="1699183" cy="310598"/>
              </a:xfrm>
              <a:prstGeom prst="rect">
                <a:avLst/>
              </a:prstGeom>
              <a:blipFill>
                <a:blip r:embed="rId4"/>
                <a:stretch>
                  <a:fillRect l="-4659" t="-13725" r="-25448" b="-45098"/>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44623" y="1570748"/>
                <a:ext cx="2491388" cy="369332"/>
              </a:xfrm>
              <a:prstGeom prst="rect">
                <a:avLst/>
              </a:prstGeom>
            </p:spPr>
            <p:txBody>
              <a:bodyPr wrap="none">
                <a:spAutoFit/>
              </a:bodyPr>
              <a:lstStyle/>
              <a:p>
                <a:pPr marL="0" indent="0" fontAlgn="auto">
                  <a:lnSpc>
                    <a:spcPct val="100000"/>
                  </a:lnSpc>
                  <a:spcBef>
                    <a:spcPts val="1200"/>
                  </a:spcBef>
                  <a:spcAft>
                    <a:spcPts val="1200"/>
                  </a:spcAft>
                  <a:buFont typeface="Arial" panose="020B0604020202020204" pitchFamily="34" charset="0"/>
                  <a:buNone/>
                </a:pPr>
                <a:r>
                  <a:rPr lang="en-CA" sz="1800" b="1" dirty="0"/>
                  <a:t>In the </a:t>
                </a:r>
                <a14:m>
                  <m:oMath xmlns:m="http://schemas.openxmlformats.org/officeDocument/2006/math">
                    <m:r>
                      <a:rPr lang="en-CA" sz="1800" b="1" i="1" dirty="0" smtClean="0">
                        <a:solidFill>
                          <a:schemeClr val="tx1"/>
                        </a:solidFill>
                        <a:latin typeface="Cambria Math" panose="02040503050406030204" pitchFamily="18" charset="0"/>
                      </a:rPr>
                      <m:t>𝒙𝒚𝒛</m:t>
                    </m:r>
                  </m:oMath>
                </a14:m>
                <a:r>
                  <a:rPr lang="en-CA" sz="1800" b="1" dirty="0"/>
                  <a:t> coordinates:</a:t>
                </a:r>
              </a:p>
            </p:txBody>
          </p:sp>
        </mc:Choice>
        <mc:Fallback xmlns="">
          <p:sp>
            <p:nvSpPr>
              <p:cNvPr id="9" name="Rectangle 8"/>
              <p:cNvSpPr>
                <a:spLocks noRot="1" noChangeAspect="1" noMove="1" noResize="1" noEditPoints="1" noAdjustHandles="1" noChangeArrowheads="1" noChangeShapeType="1" noTextEdit="1"/>
              </p:cNvSpPr>
              <p:nvPr/>
            </p:nvSpPr>
            <p:spPr>
              <a:xfrm>
                <a:off x="144623" y="1570748"/>
                <a:ext cx="2491388" cy="369332"/>
              </a:xfrm>
              <a:prstGeom prst="rect">
                <a:avLst/>
              </a:prstGeom>
              <a:blipFill>
                <a:blip r:embed="rId5"/>
                <a:stretch>
                  <a:fillRect l="-2206" t="-10000" r="-1716" b="-26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9845" y="2122743"/>
                <a:ext cx="7151915" cy="402931"/>
              </a:xfrm>
              <a:prstGeom prst="rect">
                <a:avLst/>
              </a:prstGeom>
            </p:spPr>
            <p:txBody>
              <a:bodyPr wrap="square">
                <a:spAutoFit/>
              </a:bodyPr>
              <a:lstStyle/>
              <a:p>
                <a:r>
                  <a:rPr lang="en-CA" sz="1800" b="1" dirty="0">
                    <a:solidFill>
                      <a:schemeClr val="tx1"/>
                    </a:solidFill>
                  </a:rPr>
                  <a:t>where </a:t>
                </a:r>
                <a14:m>
                  <m:oMath xmlns:m="http://schemas.openxmlformats.org/officeDocument/2006/math">
                    <m:r>
                      <a:rPr lang="en-CA" sz="1800" b="1" i="1" dirty="0">
                        <a:solidFill>
                          <a:schemeClr val="tx1"/>
                        </a:solidFill>
                        <a:latin typeface="Cambria Math" panose="02040503050406030204" pitchFamily="18" charset="0"/>
                      </a:rPr>
                      <m:t>𝒖</m:t>
                    </m:r>
                    <m:r>
                      <a:rPr lang="en-CA" sz="1800" b="1" i="1" dirty="0">
                        <a:solidFill>
                          <a:schemeClr val="tx1"/>
                        </a:solidFill>
                        <a:latin typeface="Cambria Math" panose="02040503050406030204" pitchFamily="18" charset="0"/>
                      </a:rPr>
                      <m:t>, </m:t>
                    </m:r>
                    <m:r>
                      <a:rPr lang="en-CA" sz="1800" b="1" i="1" dirty="0">
                        <a:solidFill>
                          <a:schemeClr val="tx1"/>
                        </a:solidFill>
                        <a:latin typeface="Cambria Math" panose="02040503050406030204" pitchFamily="18" charset="0"/>
                      </a:rPr>
                      <m:t>𝒗</m:t>
                    </m:r>
                    <m:r>
                      <a:rPr lang="en-CA" sz="1800" b="1" i="1" dirty="0">
                        <a:solidFill>
                          <a:schemeClr val="tx1"/>
                        </a:solidFill>
                        <a:latin typeface="Cambria Math" panose="02040503050406030204" pitchFamily="18" charset="0"/>
                      </a:rPr>
                      <m:t> </m:t>
                    </m:r>
                  </m:oMath>
                </a14:m>
                <a:r>
                  <a:rPr lang="en-CA" sz="1800" b="1" dirty="0">
                    <a:solidFill>
                      <a:schemeClr val="tx1"/>
                    </a:solidFill>
                  </a:rPr>
                  <a:t>and </a:t>
                </a:r>
                <a14:m>
                  <m:oMath xmlns:m="http://schemas.openxmlformats.org/officeDocument/2006/math">
                    <m:r>
                      <a:rPr lang="en-CA" sz="1800" b="1" i="1" dirty="0">
                        <a:solidFill>
                          <a:schemeClr val="tx1"/>
                        </a:solidFill>
                        <a:latin typeface="Cambria Math" panose="02040503050406030204" pitchFamily="18" charset="0"/>
                      </a:rPr>
                      <m:t>𝒘</m:t>
                    </m:r>
                  </m:oMath>
                </a14:m>
                <a:r>
                  <a:rPr lang="en-CA" sz="1800" b="1" dirty="0">
                    <a:solidFill>
                      <a:schemeClr val="tx1"/>
                    </a:solidFill>
                  </a:rPr>
                  <a:t> are scalar components of </a:t>
                </a:r>
                <a14:m>
                  <m:oMath xmlns:m="http://schemas.openxmlformats.org/officeDocument/2006/math">
                    <m:acc>
                      <m:accPr>
                        <m:chr m:val="⃗"/>
                        <m:ctrlPr>
                          <a:rPr lang="en-CA" sz="1800" b="1" i="1">
                            <a:solidFill>
                              <a:schemeClr val="tx1"/>
                            </a:solidFill>
                            <a:latin typeface="Cambria Math" panose="02040503050406030204" pitchFamily="18" charset="0"/>
                            <a:ea typeface="Cambria Math" panose="02040503050406030204" pitchFamily="18" charset="0"/>
                          </a:rPr>
                        </m:ctrlPr>
                      </m:accPr>
                      <m:e>
                        <m:r>
                          <a:rPr lang="en-CA" sz="1800" b="1" i="1">
                            <a:solidFill>
                              <a:schemeClr val="tx1"/>
                            </a:solidFill>
                            <a:latin typeface="Cambria Math" panose="02040503050406030204" pitchFamily="18" charset="0"/>
                            <a:ea typeface="Cambria Math" panose="02040503050406030204" pitchFamily="18" charset="0"/>
                          </a:rPr>
                          <m:t>𝑽</m:t>
                        </m:r>
                      </m:e>
                    </m:acc>
                  </m:oMath>
                </a14:m>
                <a:endParaRPr lang="en-CA" sz="1800" b="1" dirty="0">
                  <a:solidFill>
                    <a:schemeClr val="tx1"/>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9845" y="2122743"/>
                <a:ext cx="7151915" cy="402931"/>
              </a:xfrm>
              <a:prstGeom prst="rect">
                <a:avLst/>
              </a:prstGeom>
              <a:blipFill>
                <a:blip r:embed="rId6"/>
                <a:stretch>
                  <a:fillRect l="-767" b="-24242"/>
                </a:stretch>
              </a:blipFill>
            </p:spPr>
            <p:txBody>
              <a:bodyPr/>
              <a:lstStyle/>
              <a:p>
                <a:r>
                  <a:rPr lang="en-GH">
                    <a:noFill/>
                  </a:rPr>
                  <a:t> </a:t>
                </a:r>
              </a:p>
            </p:txBody>
          </p:sp>
        </mc:Fallback>
      </mc:AlternateContent>
      <p:sp>
        <p:nvSpPr>
          <p:cNvPr id="11" name="Title 1"/>
          <p:cNvSpPr>
            <a:spLocks noGrp="1"/>
          </p:cNvSpPr>
          <p:nvPr>
            <p:ph type="title"/>
          </p:nvPr>
        </p:nvSpPr>
        <p:spPr>
          <a:xfrm>
            <a:off x="16664" y="-1640"/>
            <a:ext cx="9144000" cy="515254"/>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2055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0656"/>
            <a:ext cx="9144000" cy="568940"/>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6703" y="946322"/>
                <a:ext cx="7886700" cy="4951558"/>
              </a:xfrm>
            </p:spPr>
            <p:txBody>
              <a:bodyPr>
                <a:normAutofit/>
              </a:bodyPr>
              <a:lstStyle/>
              <a:p>
                <a:pPr marL="0" indent="0">
                  <a:lnSpc>
                    <a:spcPct val="100000"/>
                  </a:lnSpc>
                  <a:spcBef>
                    <a:spcPts val="1200"/>
                  </a:spcBef>
                  <a:spcAft>
                    <a:spcPts val="1200"/>
                  </a:spcAft>
                  <a:buNone/>
                </a:pPr>
                <a:r>
                  <a:rPr lang="en-CA" dirty="0">
                    <a:solidFill>
                      <a:schemeClr val="tx1"/>
                    </a:solidFill>
                    <a:latin typeface="+mn-lt"/>
                  </a:rPr>
                  <a:t>For uniform flow in the </a:t>
                </a:r>
                <a14:m>
                  <m:oMath xmlns:m="http://schemas.openxmlformats.org/officeDocument/2006/math">
                    <m:r>
                      <a:rPr lang="en-CA" i="1" dirty="0" smtClean="0">
                        <a:solidFill>
                          <a:schemeClr val="tx1"/>
                        </a:solidFill>
                        <a:latin typeface="Cambria Math" panose="02040503050406030204" pitchFamily="18" charset="0"/>
                      </a:rPr>
                      <m:t>𝑥𝑦𝑧</m:t>
                    </m:r>
                  </m:oMath>
                </a14:m>
                <a:r>
                  <a:rPr lang="en-CA" dirty="0">
                    <a:solidFill>
                      <a:schemeClr val="tx1"/>
                    </a:solidFill>
                    <a:latin typeface="+mn-lt"/>
                  </a:rPr>
                  <a:t> coordinates:</a:t>
                </a: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𝒔𝒙</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𝑩𝒙</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a:lnSpc>
                    <a:spcPct val="100000"/>
                  </a:lnSpc>
                  <a:spcBef>
                    <a:spcPts val="3000"/>
                  </a:spcBef>
                  <a:spcAft>
                    <a:spcPts val="600"/>
                  </a:spcAft>
                  <a:buNone/>
                </a:pPr>
                <a:endParaRPr lang="en-CA" sz="1800" dirty="0">
                  <a:solidFill>
                    <a:schemeClr val="tx1"/>
                  </a:solidFill>
                </a:endParaRP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𝒔𝒚</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𝑩𝒚</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a:lnSpc>
                    <a:spcPct val="100000"/>
                  </a:lnSpc>
                  <a:spcBef>
                    <a:spcPts val="3000"/>
                  </a:spcBef>
                  <a:spcAft>
                    <a:spcPts val="600"/>
                  </a:spcAft>
                  <a:buNone/>
                </a:pPr>
                <a:endParaRPr lang="en-CA" sz="1800" dirty="0">
                  <a:solidFill>
                    <a:schemeClr val="tx1"/>
                  </a:solidFill>
                </a:endParaRP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𝒔𝒛</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𝑩𝒛</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p>
              <a:p>
                <a:pPr marL="0" indent="0">
                  <a:lnSpc>
                    <a:spcPct val="100000"/>
                  </a:lnSpc>
                  <a:spcBef>
                    <a:spcPts val="2400"/>
                  </a:spcBef>
                  <a:spcAft>
                    <a:spcPts val="600"/>
                  </a:spcAft>
                  <a:buNone/>
                </a:pPr>
                <a:endParaRPr lang="en-CA" sz="1800"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6703" y="946322"/>
                <a:ext cx="7886700" cy="4951558"/>
              </a:xfrm>
              <a:blipFill>
                <a:blip r:embed="rId2"/>
                <a:stretch>
                  <a:fillRect l="-1159" t="-984"/>
                </a:stretch>
              </a:blipFill>
            </p:spPr>
            <p:txBody>
              <a:bodyPr/>
              <a:lstStyle/>
              <a:p>
                <a:r>
                  <a:rPr lang="en-GH">
                    <a:noFill/>
                  </a:rPr>
                  <a:t> </a:t>
                </a:r>
              </a:p>
            </p:txBody>
          </p:sp>
        </mc:Fallback>
      </mc:AlternateContent>
    </p:spTree>
    <p:extLst>
      <p:ext uri="{BB962C8B-B14F-4D97-AF65-F5344CB8AC3E}">
        <p14:creationId xmlns:p14="http://schemas.microsoft.com/office/powerpoint/2010/main" val="122013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00932"/>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01048"/>
                <a:ext cx="9223513" cy="5613505"/>
              </a:xfrm>
            </p:spPr>
            <p:txBody>
              <a:bodyPr>
                <a:normAutofit/>
              </a:bodyPr>
              <a:lstStyle/>
              <a:p>
                <a:pPr marL="0" indent="0">
                  <a:lnSpc>
                    <a:spcPct val="100000"/>
                  </a:lnSpc>
                  <a:spcBef>
                    <a:spcPts val="1200"/>
                  </a:spcBef>
                  <a:spcAft>
                    <a:spcPts val="1200"/>
                  </a:spcAft>
                  <a:buNone/>
                </a:pPr>
                <a:r>
                  <a:rPr lang="en-CA" dirty="0">
                    <a:solidFill>
                      <a:schemeClr val="tx1"/>
                    </a:solidFill>
                    <a:latin typeface="+mn-lt"/>
                  </a:rPr>
                  <a:t>And for uniform steady flow:</a:t>
                </a:r>
                <a:endParaRPr lang="en-CA" dirty="0">
                  <a:latin typeface="+mn-lt"/>
                </a:endParaRPr>
              </a:p>
              <a:p>
                <a:pPr marL="0" indent="0">
                  <a:lnSpc>
                    <a:spcPct val="100000"/>
                  </a:lnSpc>
                  <a:spcBef>
                    <a:spcPts val="1200"/>
                  </a:spcBef>
                  <a:spcAft>
                    <a:spcPts val="1200"/>
                  </a:spcAft>
                  <a:buNone/>
                </a:pPr>
                <a14:m>
                  <m:oMathPara xmlns:m="http://schemas.openxmlformats.org/officeDocument/2006/math">
                    <m:oMathParaPr>
                      <m:jc m:val="left"/>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𝒔𝒙</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𝑩𝒙</m:t>
                          </m:r>
                        </m:sub>
                      </m:sSub>
                      <m:r>
                        <a:rPr lang="en-CA" sz="2000" b="1" i="1">
                          <a:solidFill>
                            <a:schemeClr val="tx1"/>
                          </a:solidFill>
                          <a:latin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1800" dirty="0">
                  <a:solidFill>
                    <a:schemeClr val="tx1"/>
                  </a:solidFill>
                </a:endParaRPr>
              </a:p>
              <a:p>
                <a:pPr marL="0" indent="0">
                  <a:lnSpc>
                    <a:spcPct val="100000"/>
                  </a:lnSpc>
                  <a:spcBef>
                    <a:spcPts val="3000"/>
                  </a:spcBef>
                  <a:spcAft>
                    <a:spcPts val="600"/>
                  </a:spcAft>
                  <a:buNone/>
                </a:pPr>
                <a14:m>
                  <m:oMathPara xmlns:m="http://schemas.openxmlformats.org/officeDocument/2006/math">
                    <m:oMathParaPr>
                      <m:jc m:val="left"/>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𝒔𝒚</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𝑩𝒚</m:t>
                          </m:r>
                        </m:sub>
                      </m:sSub>
                      <m:r>
                        <a:rPr lang="en-CA" sz="2000" b="1" i="1">
                          <a:solidFill>
                            <a:schemeClr val="tx1"/>
                          </a:solidFill>
                          <a:latin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acc>
                        <m:accPr>
                          <m:chr m:val="̇"/>
                          <m:ctrlPr>
                            <a:rPr lang="en-CA" sz="1800" b="1" i="1" dirty="0" smtClean="0">
                              <a:solidFill>
                                <a:schemeClr val="tx1"/>
                              </a:solidFill>
                              <a:latin typeface="Cambria Math" panose="02040503050406030204" pitchFamily="18" charset="0"/>
                            </a:rPr>
                          </m:ctrlPr>
                        </m:accPr>
                        <m:e/>
                      </m:acc>
                    </m:oMath>
                  </m:oMathPara>
                </a14:m>
                <a:endParaRPr lang="en-CA" sz="1800" dirty="0"/>
              </a:p>
              <a:p>
                <a:pPr marL="0" indent="0">
                  <a:lnSpc>
                    <a:spcPct val="100000"/>
                  </a:lnSpc>
                  <a:spcBef>
                    <a:spcPts val="2400"/>
                  </a:spcBef>
                  <a:spcAft>
                    <a:spcPts val="600"/>
                  </a:spcAft>
                  <a:buNone/>
                </a:pPr>
                <a14:m>
                  <m:oMathPara xmlns:m="http://schemas.openxmlformats.org/officeDocument/2006/math">
                    <m:oMathParaPr>
                      <m:jc m:val="left"/>
                    </m:oMathParaPr>
                    <m:oMath xmlns:m="http://schemas.openxmlformats.org/officeDocument/2006/math">
                      <m:r>
                        <a:rPr kumimoji="0" lang="en-CA" sz="20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sz="20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nary>
                        <m:naryPr>
                          <m:chr m:val="∑"/>
                          <m:subHide m:val="on"/>
                          <m:supHide m:val="on"/>
                          <m:ctrlPr>
                            <a:rPr kumimoji="0" lang="en-CA" sz="20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sup/>
                        <m:e>
                          <m:acc>
                            <m:accPr>
                              <m:chr m:val="⃗"/>
                              <m:ctrlPr>
                                <a:rPr kumimoji="0" lang="en-CA" sz="20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GB" sz="20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e>
                          </m:acc>
                        </m:e>
                      </m:nary>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ary>
                        <m:naryPr>
                          <m:chr m:val="∑"/>
                          <m:limLoc m:val="subSup"/>
                          <m:ctrlP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m:rPr>
                              <m:brk m:alnAt="25"/>
                            </m:rP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𝑪</m:t>
                          </m:r>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𝑺</m:t>
                          </m:r>
                        </m:sub>
                        <m:sup/>
                        <m:e>
                          <m:acc>
                            <m:accPr>
                              <m:chr m:val="⃗"/>
                              <m:ctrlPr>
                                <a:rPr lang="en-CA" sz="2000" b="1" i="1">
                                  <a:solidFill>
                                    <a:prstClr val="black"/>
                                  </a:solidFill>
                                  <a:latin typeface="Cambria Math" panose="02040503050406030204" pitchFamily="18" charset="0"/>
                                  <a:ea typeface="Cambria Math" panose="02040503050406030204" pitchFamily="18" charset="0"/>
                                </a:rPr>
                              </m:ctrlPr>
                            </m:accPr>
                            <m:e>
                              <m:r>
                                <a:rPr lang="en-CA" sz="2000" b="1" i="1">
                                  <a:solidFill>
                                    <a:prstClr val="black"/>
                                  </a:solidFill>
                                  <a:latin typeface="Cambria Math" panose="02040503050406030204" pitchFamily="18" charset="0"/>
                                  <a:ea typeface="Cambria Math" panose="02040503050406030204" pitchFamily="18" charset="0"/>
                                </a:rPr>
                                <m:t>𝑽</m:t>
                              </m:r>
                            </m:e>
                          </m:acc>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𝝆</m:t>
                          </m:r>
                          <m:acc>
                            <m:accPr>
                              <m:chr m:val="⃗"/>
                              <m:ctrlP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𝑽</m:t>
                              </m:r>
                            </m:e>
                          </m:acc>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acc>
                            <m:accPr>
                              <m:chr m:val="⃗"/>
                              <m:ctrlP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CA" sz="20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𝑨</m:t>
                              </m:r>
                            </m:e>
                          </m:acc>
                        </m:e>
                      </m:nary>
                    </m:oMath>
                  </m:oMathPara>
                </a14:m>
                <a:endParaRPr lang="en-CA" sz="1800" dirty="0"/>
              </a:p>
              <a:p>
                <a:pPr marL="0" indent="0">
                  <a:buNone/>
                </a:pPr>
                <a:r>
                  <a:rPr lang="en-CA" dirty="0"/>
                  <a:t>For a general CV with multiple streams into and out of the CV, this reduces to</a:t>
                </a:r>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kumimoji="0" lang="en-CA"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sup/>
                        <m:e>
                          <m:acc>
                            <m:accPr>
                              <m:chr m:val="⃗"/>
                              <m:ctrlPr>
                                <a:rPr kumimoji="0" lang="en-CA"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GB"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𝑭</m:t>
                              </m:r>
                            </m:e>
                          </m:acc>
                        </m:e>
                      </m:nary>
                      <m:r>
                        <a:rPr kumimoji="0" lang="en-CA"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ary>
                        <m:naryPr>
                          <m:chr m:val="∑"/>
                          <m:supHide m:val="on"/>
                          <m:ctrlPr>
                            <a:rPr kumimoji="0" lang="en-CA"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a:rPr kumimoji="0" lang="en-GB"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𝑪𝑺</m:t>
                          </m:r>
                        </m:sub>
                        <m:sup/>
                        <m:e>
                          <m:acc>
                            <m:accPr>
                              <m:chr m:val="⃗"/>
                              <m:ctrlPr>
                                <a:rPr lang="en-CA" b="1" i="1">
                                  <a:solidFill>
                                    <a:prstClr val="black"/>
                                  </a:solidFill>
                                  <a:latin typeface="Cambria Math" panose="02040503050406030204" pitchFamily="18" charset="0"/>
                                  <a:ea typeface="Cambria Math" panose="02040503050406030204" pitchFamily="18" charset="0"/>
                                </a:rPr>
                              </m:ctrlPr>
                            </m:accPr>
                            <m:e>
                              <m:r>
                                <a:rPr lang="en-CA" b="1" i="1">
                                  <a:solidFill>
                                    <a:prstClr val="black"/>
                                  </a:solidFill>
                                  <a:latin typeface="Cambria Math" panose="02040503050406030204" pitchFamily="18" charset="0"/>
                                  <a:ea typeface="Cambria Math" panose="02040503050406030204" pitchFamily="18" charset="0"/>
                                </a:rPr>
                                <m:t>𝑽</m:t>
                              </m:r>
                            </m:e>
                          </m:acc>
                          <m:acc>
                            <m:accPr>
                              <m:chr m:val="̇"/>
                              <m:ctrlPr>
                                <a:rPr kumimoji="0" lang="en-CA"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GB"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𝒎</m:t>
                              </m:r>
                            </m:e>
                          </m:acc>
                        </m:e>
                      </m:nary>
                    </m:oMath>
                  </m:oMathPara>
                </a14:m>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01048"/>
                <a:ext cx="9223513" cy="5613505"/>
              </a:xfrm>
              <a:blipFill>
                <a:blip r:embed="rId2"/>
                <a:stretch>
                  <a:fillRect l="-991" t="-869"/>
                </a:stretch>
              </a:blipFill>
            </p:spPr>
            <p:txBody>
              <a:bodyPr/>
              <a:lstStyle/>
              <a:p>
                <a:r>
                  <a:rPr lang="en-GH">
                    <a:noFill/>
                  </a:rPr>
                  <a:t> </a:t>
                </a:r>
              </a:p>
            </p:txBody>
          </p:sp>
        </mc:Fallback>
      </mc:AlternateContent>
    </p:spTree>
    <p:extLst>
      <p:ext uri="{BB962C8B-B14F-4D97-AF65-F5344CB8AC3E}">
        <p14:creationId xmlns:p14="http://schemas.microsoft.com/office/powerpoint/2010/main" val="4149320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453224"/>
          </a:xfrm>
        </p:spPr>
        <p:txBody>
          <a:bodyPr>
            <a:normAutofit fontScale="90000"/>
          </a:bodyPr>
          <a:lstStyle/>
          <a:p>
            <a:r>
              <a:rPr lang="en-US" sz="2800" b="1" dirty="0">
                <a:solidFill>
                  <a:schemeClr val="tx1"/>
                </a:solidFill>
              </a:rPr>
              <a:t>Examples</a:t>
            </a:r>
            <a:endParaRPr lang="en-US" sz="2800" dirty="0"/>
          </a:p>
        </p:txBody>
      </p:sp>
      <p:sp>
        <p:nvSpPr>
          <p:cNvPr id="6" name="TextBox 5">
            <a:extLst>
              <a:ext uri="{FF2B5EF4-FFF2-40B4-BE49-F238E27FC236}">
                <a16:creationId xmlns:a16="http://schemas.microsoft.com/office/drawing/2014/main" id="{0B9C5613-C7FC-822B-B5D8-0AF5E1750474}"/>
              </a:ext>
            </a:extLst>
          </p:cNvPr>
          <p:cNvSpPr txBox="1"/>
          <p:nvPr/>
        </p:nvSpPr>
        <p:spPr>
          <a:xfrm>
            <a:off x="0" y="389352"/>
            <a:ext cx="9072438" cy="1569660"/>
          </a:xfrm>
          <a:prstGeom prst="rect">
            <a:avLst/>
          </a:prstGeom>
          <a:noFill/>
        </p:spPr>
        <p:txBody>
          <a:bodyPr wrap="square">
            <a:spAutoFit/>
          </a:bodyPr>
          <a:lstStyle/>
          <a:p>
            <a:pPr algn="just"/>
            <a:r>
              <a:rPr lang="en-GB" sz="2400" b="0" i="0" u="none" strike="noStrike" baseline="0" dirty="0">
                <a:solidFill>
                  <a:srgbClr val="231F20"/>
                </a:solidFill>
                <a:latin typeface="+mn-lt"/>
              </a:rPr>
              <a:t>1. Water from a stationary nozzle strikes a flat plate as shown. The water leaves the nozzle at 15 m</a:t>
            </a:r>
            <a:r>
              <a:rPr lang="en-GB" i="1" dirty="0">
                <a:solidFill>
                  <a:srgbClr val="231F20"/>
                </a:solidFill>
                <a:latin typeface="+mn-lt"/>
              </a:rPr>
              <a:t>/</a:t>
            </a:r>
            <a:r>
              <a:rPr lang="en-GB" sz="2400" b="0" i="0" u="none" strike="noStrike" baseline="0" dirty="0">
                <a:solidFill>
                  <a:srgbClr val="231F20"/>
                </a:solidFill>
                <a:latin typeface="+mn-lt"/>
              </a:rPr>
              <a:t>s; the nozzle area is 0.01 m</a:t>
            </a:r>
            <a:r>
              <a:rPr lang="en-GB" sz="2400" b="0" i="0" u="none" strike="noStrike" baseline="30000" dirty="0">
                <a:solidFill>
                  <a:srgbClr val="231F20"/>
                </a:solidFill>
                <a:latin typeface="+mn-lt"/>
              </a:rPr>
              <a:t>2</a:t>
            </a:r>
            <a:r>
              <a:rPr lang="en-GB" sz="2400" b="0" i="0" u="none" strike="noStrike" baseline="0" dirty="0">
                <a:solidFill>
                  <a:srgbClr val="231F20"/>
                </a:solidFill>
                <a:latin typeface="+mn-lt"/>
              </a:rPr>
              <a:t>. Assuming the water is directed normal to the plate, and flows along the plate, determine the horizontal force of the water on the plate.</a:t>
            </a:r>
            <a:endParaRPr lang="en-GH" dirty="0">
              <a:latin typeface="+mn-lt"/>
            </a:endParaRPr>
          </a:p>
        </p:txBody>
      </p:sp>
      <p:sp>
        <p:nvSpPr>
          <p:cNvPr id="8" name="TextBox 7">
            <a:extLst>
              <a:ext uri="{FF2B5EF4-FFF2-40B4-BE49-F238E27FC236}">
                <a16:creationId xmlns:a16="http://schemas.microsoft.com/office/drawing/2014/main" id="{07B03F08-B516-DDD1-C87C-1A74272865A2}"/>
              </a:ext>
            </a:extLst>
          </p:cNvPr>
          <p:cNvSpPr txBox="1"/>
          <p:nvPr/>
        </p:nvSpPr>
        <p:spPr>
          <a:xfrm>
            <a:off x="26345" y="3669608"/>
            <a:ext cx="1339461" cy="461665"/>
          </a:xfrm>
          <a:prstGeom prst="rect">
            <a:avLst/>
          </a:prstGeom>
          <a:noFill/>
        </p:spPr>
        <p:txBody>
          <a:bodyPr wrap="square">
            <a:spAutoFit/>
          </a:bodyPr>
          <a:lstStyle/>
          <a:p>
            <a:pPr marL="0" indent="0">
              <a:lnSpc>
                <a:spcPct val="100000"/>
              </a:lnSpc>
              <a:spcBef>
                <a:spcPts val="1200"/>
              </a:spcBef>
              <a:spcAft>
                <a:spcPts val="1200"/>
              </a:spcAft>
              <a:buNone/>
            </a:pPr>
            <a:r>
              <a:rPr lang="en-CA" dirty="0">
                <a:solidFill>
                  <a:schemeClr val="tx1"/>
                </a:solidFill>
                <a:latin typeface="+mn-lt"/>
              </a:rPr>
              <a:t>Solution:</a:t>
            </a:r>
          </a:p>
        </p:txBody>
      </p:sp>
      <p:grpSp>
        <p:nvGrpSpPr>
          <p:cNvPr id="7" name="Group 6">
            <a:extLst>
              <a:ext uri="{FF2B5EF4-FFF2-40B4-BE49-F238E27FC236}">
                <a16:creationId xmlns:a16="http://schemas.microsoft.com/office/drawing/2014/main" id="{11FC6A30-E8BF-265E-96BA-632766551E9E}"/>
              </a:ext>
            </a:extLst>
          </p:cNvPr>
          <p:cNvGrpSpPr/>
          <p:nvPr/>
        </p:nvGrpSpPr>
        <p:grpSpPr>
          <a:xfrm>
            <a:off x="2472362" y="1939883"/>
            <a:ext cx="3425915" cy="1938694"/>
            <a:chOff x="2472362" y="2005939"/>
            <a:chExt cx="3425915" cy="1938694"/>
          </a:xfrm>
        </p:grpSpPr>
        <p:pic>
          <p:nvPicPr>
            <p:cNvPr id="10" name="Picture 9">
              <a:extLst>
                <a:ext uri="{FF2B5EF4-FFF2-40B4-BE49-F238E27FC236}">
                  <a16:creationId xmlns:a16="http://schemas.microsoft.com/office/drawing/2014/main" id="{31AD297E-6597-DB77-E407-31BA6009E407}"/>
                </a:ext>
              </a:extLst>
            </p:cNvPr>
            <p:cNvPicPr>
              <a:picLocks noChangeAspect="1"/>
            </p:cNvPicPr>
            <p:nvPr/>
          </p:nvPicPr>
          <p:blipFill>
            <a:blip r:embed="rId3"/>
            <a:stretch>
              <a:fillRect/>
            </a:stretch>
          </p:blipFill>
          <p:spPr>
            <a:xfrm>
              <a:off x="2472362" y="2005939"/>
              <a:ext cx="3316187" cy="1938694"/>
            </a:xfrm>
            <a:prstGeom prst="rect">
              <a:avLst/>
            </a:prstGeom>
          </p:spPr>
        </p:pic>
        <p:sp>
          <p:nvSpPr>
            <p:cNvPr id="3" name="Rectangle 2">
              <a:extLst>
                <a:ext uri="{FF2B5EF4-FFF2-40B4-BE49-F238E27FC236}">
                  <a16:creationId xmlns:a16="http://schemas.microsoft.com/office/drawing/2014/main" id="{DA64F809-89DE-6140-3010-4BD985ACD515}"/>
                </a:ext>
              </a:extLst>
            </p:cNvPr>
            <p:cNvSpPr/>
            <p:nvPr/>
          </p:nvSpPr>
          <p:spPr>
            <a:xfrm>
              <a:off x="4974336" y="2221992"/>
              <a:ext cx="923941" cy="9784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4" name="Rectangle 3">
              <a:extLst>
                <a:ext uri="{FF2B5EF4-FFF2-40B4-BE49-F238E27FC236}">
                  <a16:creationId xmlns:a16="http://schemas.microsoft.com/office/drawing/2014/main" id="{59DF63B8-2344-E60B-8CC9-D78EF7F0CEE7}"/>
                </a:ext>
              </a:extLst>
            </p:cNvPr>
            <p:cNvSpPr/>
            <p:nvPr/>
          </p:nvSpPr>
          <p:spPr>
            <a:xfrm>
              <a:off x="4910328" y="2487168"/>
              <a:ext cx="256032" cy="131673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dirty="0"/>
            </a:p>
          </p:txBody>
        </p:sp>
      </p:grpSp>
      <p:grpSp>
        <p:nvGrpSpPr>
          <p:cNvPr id="35" name="Group 34">
            <a:extLst>
              <a:ext uri="{FF2B5EF4-FFF2-40B4-BE49-F238E27FC236}">
                <a16:creationId xmlns:a16="http://schemas.microsoft.com/office/drawing/2014/main" id="{B452095C-EE3A-3F1D-6707-26DE369DCC6A}"/>
              </a:ext>
            </a:extLst>
          </p:cNvPr>
          <p:cNvGrpSpPr/>
          <p:nvPr/>
        </p:nvGrpSpPr>
        <p:grpSpPr>
          <a:xfrm>
            <a:off x="417921" y="3926345"/>
            <a:ext cx="2356194" cy="2118901"/>
            <a:chOff x="417921" y="3926345"/>
            <a:chExt cx="2356194" cy="2118901"/>
          </a:xfrm>
        </p:grpSpPr>
        <p:grpSp>
          <p:nvGrpSpPr>
            <p:cNvPr id="17" name="Group 16">
              <a:extLst>
                <a:ext uri="{FF2B5EF4-FFF2-40B4-BE49-F238E27FC236}">
                  <a16:creationId xmlns:a16="http://schemas.microsoft.com/office/drawing/2014/main" id="{9EC147A7-4FB8-128B-C962-9F352BB9E64C}"/>
                </a:ext>
              </a:extLst>
            </p:cNvPr>
            <p:cNvGrpSpPr/>
            <p:nvPr/>
          </p:nvGrpSpPr>
          <p:grpSpPr>
            <a:xfrm>
              <a:off x="965917" y="4216446"/>
              <a:ext cx="1808198" cy="1828800"/>
              <a:chOff x="965917" y="4133088"/>
              <a:chExt cx="1808198" cy="1828800"/>
            </a:xfrm>
          </p:grpSpPr>
          <p:pic>
            <p:nvPicPr>
              <p:cNvPr id="11" name="Picture 10">
                <a:extLst>
                  <a:ext uri="{FF2B5EF4-FFF2-40B4-BE49-F238E27FC236}">
                    <a16:creationId xmlns:a16="http://schemas.microsoft.com/office/drawing/2014/main" id="{3811EC87-C844-309F-06C9-0B1FD8E832F9}"/>
                  </a:ext>
                </a:extLst>
              </p:cNvPr>
              <p:cNvPicPr>
                <a:picLocks noChangeAspect="1"/>
              </p:cNvPicPr>
              <p:nvPr/>
            </p:nvPicPr>
            <p:blipFill rotWithShape="1">
              <a:blip r:embed="rId4"/>
              <a:srcRect t="1497" b="8739"/>
              <a:stretch/>
            </p:blipFill>
            <p:spPr>
              <a:xfrm>
                <a:off x="1764793" y="4133088"/>
                <a:ext cx="1009322" cy="1828800"/>
              </a:xfrm>
              <a:prstGeom prst="rect">
                <a:avLst/>
              </a:prstGeom>
            </p:spPr>
          </p:pic>
          <p:grpSp>
            <p:nvGrpSpPr>
              <p:cNvPr id="16" name="Group 15">
                <a:extLst>
                  <a:ext uri="{FF2B5EF4-FFF2-40B4-BE49-F238E27FC236}">
                    <a16:creationId xmlns:a16="http://schemas.microsoft.com/office/drawing/2014/main" id="{DD0ECC6F-833F-ADF9-10E6-DDE5E6A473ED}"/>
                  </a:ext>
                </a:extLst>
              </p:cNvPr>
              <p:cNvGrpSpPr/>
              <p:nvPr/>
            </p:nvGrpSpPr>
            <p:grpSpPr>
              <a:xfrm>
                <a:off x="965917" y="4247281"/>
                <a:ext cx="867456" cy="1312271"/>
                <a:chOff x="965917" y="4247281"/>
                <a:chExt cx="867456" cy="1312271"/>
              </a:xfrm>
            </p:grpSpPr>
            <p:sp>
              <p:nvSpPr>
                <p:cNvPr id="12" name="Rectangle 11">
                  <a:extLst>
                    <a:ext uri="{FF2B5EF4-FFF2-40B4-BE49-F238E27FC236}">
                      <a16:creationId xmlns:a16="http://schemas.microsoft.com/office/drawing/2014/main" id="{AD68EB0B-070E-A38E-CC42-CDC645338774}"/>
                    </a:ext>
                  </a:extLst>
                </p:cNvPr>
                <p:cNvSpPr/>
                <p:nvPr/>
              </p:nvSpPr>
              <p:spPr>
                <a:xfrm>
                  <a:off x="1613917" y="4247281"/>
                  <a:ext cx="219456" cy="13122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13" name="Rectangle 12">
                  <a:extLst>
                    <a:ext uri="{FF2B5EF4-FFF2-40B4-BE49-F238E27FC236}">
                      <a16:creationId xmlns:a16="http://schemas.microsoft.com/office/drawing/2014/main" id="{9D2C4D45-7445-24F6-F963-7480F23B2910}"/>
                    </a:ext>
                  </a:extLst>
                </p:cNvPr>
                <p:cNvSpPr/>
                <p:nvPr/>
              </p:nvSpPr>
              <p:spPr>
                <a:xfrm rot="5400000">
                  <a:off x="1180189" y="4561128"/>
                  <a:ext cx="219456" cy="6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14" name="Arc 13">
                  <a:extLst>
                    <a:ext uri="{FF2B5EF4-FFF2-40B4-BE49-F238E27FC236}">
                      <a16:creationId xmlns:a16="http://schemas.microsoft.com/office/drawing/2014/main" id="{A46A851E-8C07-72B9-D80E-D41AD7F97462}"/>
                    </a:ext>
                  </a:extLst>
                </p:cNvPr>
                <p:cNvSpPr/>
                <p:nvPr/>
              </p:nvSpPr>
              <p:spPr>
                <a:xfrm rot="5956925">
                  <a:off x="1511081" y="4669320"/>
                  <a:ext cx="123371" cy="97971"/>
                </a:xfrm>
                <a:prstGeom prst="arc">
                  <a:avLst>
                    <a:gd name="adj1" fmla="val 16200000"/>
                    <a:gd name="adj2" fmla="val 28"/>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
              <p:nvSpPr>
                <p:cNvPr id="15" name="Arc 14">
                  <a:extLst>
                    <a:ext uri="{FF2B5EF4-FFF2-40B4-BE49-F238E27FC236}">
                      <a16:creationId xmlns:a16="http://schemas.microsoft.com/office/drawing/2014/main" id="{48AE75C7-D568-C554-3BDA-848843FD4D64}"/>
                    </a:ext>
                  </a:extLst>
                </p:cNvPr>
                <p:cNvSpPr/>
                <p:nvPr/>
              </p:nvSpPr>
              <p:spPr>
                <a:xfrm rot="15643075" flipV="1">
                  <a:off x="1511079" y="5014027"/>
                  <a:ext cx="123371" cy="97971"/>
                </a:xfrm>
                <a:prstGeom prst="arc">
                  <a:avLst>
                    <a:gd name="adj1" fmla="val 16200000"/>
                    <a:gd name="adj2" fmla="val 28"/>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grpSp>
        </p:grpSp>
        <p:sp>
          <p:nvSpPr>
            <p:cNvPr id="18" name="Rectangle 17">
              <a:extLst>
                <a:ext uri="{FF2B5EF4-FFF2-40B4-BE49-F238E27FC236}">
                  <a16:creationId xmlns:a16="http://schemas.microsoft.com/office/drawing/2014/main" id="{D0959186-A31D-1826-45DB-1641E214B4E5}"/>
                </a:ext>
              </a:extLst>
            </p:cNvPr>
            <p:cNvSpPr/>
            <p:nvPr/>
          </p:nvSpPr>
          <p:spPr>
            <a:xfrm>
              <a:off x="1041567" y="4330639"/>
              <a:ext cx="773637" cy="1312271"/>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grpSp>
          <p:nvGrpSpPr>
            <p:cNvPr id="21" name="Group 20">
              <a:extLst>
                <a:ext uri="{FF2B5EF4-FFF2-40B4-BE49-F238E27FC236}">
                  <a16:creationId xmlns:a16="http://schemas.microsoft.com/office/drawing/2014/main" id="{E3BCC3C1-FF84-C87E-630E-5BE8716147FF}"/>
                </a:ext>
              </a:extLst>
            </p:cNvPr>
            <p:cNvGrpSpPr/>
            <p:nvPr/>
          </p:nvGrpSpPr>
          <p:grpSpPr>
            <a:xfrm>
              <a:off x="692316" y="4979924"/>
              <a:ext cx="296726" cy="400110"/>
              <a:chOff x="3748434" y="4532829"/>
              <a:chExt cx="296726" cy="400110"/>
            </a:xfrm>
          </p:grpSpPr>
          <p:sp>
            <p:nvSpPr>
              <p:cNvPr id="19" name="Oval 18">
                <a:extLst>
                  <a:ext uri="{FF2B5EF4-FFF2-40B4-BE49-F238E27FC236}">
                    <a16:creationId xmlns:a16="http://schemas.microsoft.com/office/drawing/2014/main" id="{20EC6AC0-E4AC-9D86-2B6A-AD25AD1361F6}"/>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0" name="TextBox 19">
                <a:extLst>
                  <a:ext uri="{FF2B5EF4-FFF2-40B4-BE49-F238E27FC236}">
                    <a16:creationId xmlns:a16="http://schemas.microsoft.com/office/drawing/2014/main" id="{27C82EE5-575F-5262-8577-EDE946DD3545}"/>
                  </a:ext>
                </a:extLst>
              </p:cNvPr>
              <p:cNvSpPr txBox="1"/>
              <p:nvPr/>
            </p:nvSpPr>
            <p:spPr>
              <a:xfrm>
                <a:off x="3748434" y="4532829"/>
                <a:ext cx="296726" cy="400110"/>
              </a:xfrm>
              <a:prstGeom prst="rect">
                <a:avLst/>
              </a:prstGeom>
              <a:noFill/>
            </p:spPr>
            <p:txBody>
              <a:bodyPr wrap="square" rtlCol="0">
                <a:spAutoFit/>
              </a:bodyPr>
              <a:lstStyle/>
              <a:p>
                <a:r>
                  <a:rPr lang="en-GB" sz="2000" dirty="0"/>
                  <a:t>1</a:t>
                </a:r>
                <a:endParaRPr lang="en-GH" sz="2000" dirty="0"/>
              </a:p>
            </p:txBody>
          </p:sp>
        </p:grpSp>
        <p:grpSp>
          <p:nvGrpSpPr>
            <p:cNvPr id="22" name="Group 21">
              <a:extLst>
                <a:ext uri="{FF2B5EF4-FFF2-40B4-BE49-F238E27FC236}">
                  <a16:creationId xmlns:a16="http://schemas.microsoft.com/office/drawing/2014/main" id="{1B24202A-F406-5A94-E9A3-1D218B90B8DE}"/>
                </a:ext>
              </a:extLst>
            </p:cNvPr>
            <p:cNvGrpSpPr/>
            <p:nvPr/>
          </p:nvGrpSpPr>
          <p:grpSpPr>
            <a:xfrm>
              <a:off x="1386278" y="3926345"/>
              <a:ext cx="296726" cy="400110"/>
              <a:chOff x="3748434" y="4532829"/>
              <a:chExt cx="296726" cy="400110"/>
            </a:xfrm>
          </p:grpSpPr>
          <p:sp>
            <p:nvSpPr>
              <p:cNvPr id="23" name="Oval 22">
                <a:extLst>
                  <a:ext uri="{FF2B5EF4-FFF2-40B4-BE49-F238E27FC236}">
                    <a16:creationId xmlns:a16="http://schemas.microsoft.com/office/drawing/2014/main" id="{1A693AF4-7776-5698-D540-76616F1212C6}"/>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4" name="TextBox 23">
                <a:extLst>
                  <a:ext uri="{FF2B5EF4-FFF2-40B4-BE49-F238E27FC236}">
                    <a16:creationId xmlns:a16="http://schemas.microsoft.com/office/drawing/2014/main" id="{F0B1B820-B02C-CD14-53E4-6A7DAEFBFB9A}"/>
                  </a:ext>
                </a:extLst>
              </p:cNvPr>
              <p:cNvSpPr txBox="1"/>
              <p:nvPr/>
            </p:nvSpPr>
            <p:spPr>
              <a:xfrm>
                <a:off x="3748434" y="4532829"/>
                <a:ext cx="296726" cy="400110"/>
              </a:xfrm>
              <a:prstGeom prst="rect">
                <a:avLst/>
              </a:prstGeom>
              <a:noFill/>
            </p:spPr>
            <p:txBody>
              <a:bodyPr wrap="square" rtlCol="0">
                <a:spAutoFit/>
              </a:bodyPr>
              <a:lstStyle/>
              <a:p>
                <a:r>
                  <a:rPr lang="en-GB" sz="2000" dirty="0"/>
                  <a:t>2</a:t>
                </a:r>
                <a:endParaRPr lang="en-GH" sz="2000" dirty="0"/>
              </a:p>
            </p:txBody>
          </p:sp>
        </p:grpSp>
        <p:grpSp>
          <p:nvGrpSpPr>
            <p:cNvPr id="25" name="Group 24">
              <a:extLst>
                <a:ext uri="{FF2B5EF4-FFF2-40B4-BE49-F238E27FC236}">
                  <a16:creationId xmlns:a16="http://schemas.microsoft.com/office/drawing/2014/main" id="{1AA429E0-8AB9-0407-4BC2-D2CDFB69C556}"/>
                </a:ext>
              </a:extLst>
            </p:cNvPr>
            <p:cNvGrpSpPr/>
            <p:nvPr/>
          </p:nvGrpSpPr>
          <p:grpSpPr>
            <a:xfrm>
              <a:off x="1334333" y="5627303"/>
              <a:ext cx="296726" cy="400110"/>
              <a:chOff x="3748434" y="4532829"/>
              <a:chExt cx="296726" cy="400110"/>
            </a:xfrm>
          </p:grpSpPr>
          <p:sp>
            <p:nvSpPr>
              <p:cNvPr id="26" name="Oval 25">
                <a:extLst>
                  <a:ext uri="{FF2B5EF4-FFF2-40B4-BE49-F238E27FC236}">
                    <a16:creationId xmlns:a16="http://schemas.microsoft.com/office/drawing/2014/main" id="{C6E56C21-CFE0-6A89-598A-9B48D499B3EA}"/>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65F2F45E-F1BC-2270-71F9-25A9698DC552}"/>
                  </a:ext>
                </a:extLst>
              </p:cNvPr>
              <p:cNvSpPr txBox="1"/>
              <p:nvPr/>
            </p:nvSpPr>
            <p:spPr>
              <a:xfrm>
                <a:off x="3748434" y="4532829"/>
                <a:ext cx="296726" cy="400110"/>
              </a:xfrm>
              <a:prstGeom prst="rect">
                <a:avLst/>
              </a:prstGeom>
              <a:noFill/>
            </p:spPr>
            <p:txBody>
              <a:bodyPr wrap="square" rtlCol="0">
                <a:spAutoFit/>
              </a:bodyPr>
              <a:lstStyle/>
              <a:p>
                <a:r>
                  <a:rPr lang="en-GB" sz="2000" dirty="0"/>
                  <a:t>3</a:t>
                </a:r>
                <a:endParaRPr lang="en-GH" sz="2000" dirty="0"/>
              </a:p>
            </p:txBody>
          </p:sp>
        </p:grpSp>
        <p:cxnSp>
          <p:nvCxnSpPr>
            <p:cNvPr id="29" name="Straight Arrow Connector 28">
              <a:extLst>
                <a:ext uri="{FF2B5EF4-FFF2-40B4-BE49-F238E27FC236}">
                  <a16:creationId xmlns:a16="http://schemas.microsoft.com/office/drawing/2014/main" id="{4A8B4B8E-57BE-AADB-E140-7EFF381A059E}"/>
                </a:ext>
              </a:extLst>
            </p:cNvPr>
            <p:cNvCxnSpPr>
              <a:cxnSpLocks/>
            </p:cNvCxnSpPr>
            <p:nvPr/>
          </p:nvCxnSpPr>
          <p:spPr>
            <a:xfrm>
              <a:off x="417921" y="4968486"/>
              <a:ext cx="547996"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E996E2D-5924-7FCD-EB15-EB41E13E4CCC}"/>
                </a:ext>
              </a:extLst>
            </p:cNvPr>
            <p:cNvCxnSpPr>
              <a:cxnSpLocks/>
            </p:cNvCxnSpPr>
            <p:nvPr/>
          </p:nvCxnSpPr>
          <p:spPr>
            <a:xfrm>
              <a:off x="1723645" y="5587295"/>
              <a:ext cx="0" cy="4145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34FFFE5-831A-C2FD-471C-615219709146}"/>
                </a:ext>
              </a:extLst>
            </p:cNvPr>
            <p:cNvCxnSpPr>
              <a:cxnSpLocks/>
            </p:cNvCxnSpPr>
            <p:nvPr/>
          </p:nvCxnSpPr>
          <p:spPr>
            <a:xfrm rot="16200000">
              <a:off x="1451270" y="4212321"/>
              <a:ext cx="547996"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6" name="TextBox 35">
            <a:extLst>
              <a:ext uri="{FF2B5EF4-FFF2-40B4-BE49-F238E27FC236}">
                <a16:creationId xmlns:a16="http://schemas.microsoft.com/office/drawing/2014/main" id="{16855DD2-8407-8D40-DC20-DF5044E60AC0}"/>
              </a:ext>
            </a:extLst>
          </p:cNvPr>
          <p:cNvSpPr txBox="1"/>
          <p:nvPr/>
        </p:nvSpPr>
        <p:spPr>
          <a:xfrm>
            <a:off x="61947" y="4683319"/>
            <a:ext cx="445012" cy="707886"/>
          </a:xfrm>
          <a:prstGeom prst="rect">
            <a:avLst/>
          </a:prstGeom>
          <a:noFill/>
        </p:spPr>
        <p:txBody>
          <a:bodyPr wrap="square" rtlCol="0">
            <a:spAutoFit/>
          </a:bodyPr>
          <a:lstStyle/>
          <a:p>
            <a:r>
              <a:rPr lang="en-GB" sz="2000" i="1" dirty="0"/>
              <a:t>V</a:t>
            </a:r>
            <a:r>
              <a:rPr lang="en-GB" sz="2000" baseline="-25000" dirty="0"/>
              <a:t>1</a:t>
            </a:r>
          </a:p>
          <a:p>
            <a:r>
              <a:rPr lang="en-GB" sz="2000" i="1" dirty="0"/>
              <a:t>A</a:t>
            </a:r>
            <a:r>
              <a:rPr lang="en-GB" sz="2000" baseline="-25000" dirty="0"/>
              <a:t>1</a:t>
            </a:r>
            <a:endParaRPr lang="en-GH" sz="2000" baseline="-25000" dirty="0"/>
          </a:p>
        </p:txBody>
      </p:sp>
      <p:sp>
        <p:nvSpPr>
          <p:cNvPr id="37" name="TextBox 36">
            <a:extLst>
              <a:ext uri="{FF2B5EF4-FFF2-40B4-BE49-F238E27FC236}">
                <a16:creationId xmlns:a16="http://schemas.microsoft.com/office/drawing/2014/main" id="{49E8C42C-3693-4FFE-7B22-1B5F20FFCBB1}"/>
              </a:ext>
            </a:extLst>
          </p:cNvPr>
          <p:cNvSpPr txBox="1"/>
          <p:nvPr/>
        </p:nvSpPr>
        <p:spPr>
          <a:xfrm>
            <a:off x="1706510" y="3791221"/>
            <a:ext cx="887567" cy="400110"/>
          </a:xfrm>
          <a:prstGeom prst="rect">
            <a:avLst/>
          </a:prstGeom>
          <a:noFill/>
        </p:spPr>
        <p:txBody>
          <a:bodyPr wrap="square" rtlCol="0">
            <a:spAutoFit/>
          </a:bodyPr>
          <a:lstStyle/>
          <a:p>
            <a:r>
              <a:rPr lang="en-GB" sz="2000" i="1" dirty="0"/>
              <a:t>V</a:t>
            </a:r>
            <a:r>
              <a:rPr lang="en-GB" sz="2000" baseline="-25000" dirty="0"/>
              <a:t>2</a:t>
            </a:r>
            <a:r>
              <a:rPr lang="en-GB" sz="2000" dirty="0"/>
              <a:t>,</a:t>
            </a:r>
            <a:r>
              <a:rPr lang="en-GB" sz="2000" baseline="-25000" dirty="0"/>
              <a:t> </a:t>
            </a:r>
            <a:r>
              <a:rPr lang="en-GB" sz="2000" i="1" dirty="0"/>
              <a:t>A</a:t>
            </a:r>
            <a:r>
              <a:rPr lang="en-GB" sz="2000" baseline="-25000" dirty="0"/>
              <a:t>2</a:t>
            </a:r>
            <a:endParaRPr lang="en-GH" sz="2000" baseline="-25000" dirty="0"/>
          </a:p>
        </p:txBody>
      </p:sp>
      <p:sp>
        <p:nvSpPr>
          <p:cNvPr id="38" name="TextBox 37">
            <a:extLst>
              <a:ext uri="{FF2B5EF4-FFF2-40B4-BE49-F238E27FC236}">
                <a16:creationId xmlns:a16="http://schemas.microsoft.com/office/drawing/2014/main" id="{0CA93A99-834A-511D-1C41-78EB2AF7F4C0}"/>
              </a:ext>
            </a:extLst>
          </p:cNvPr>
          <p:cNvSpPr txBox="1"/>
          <p:nvPr/>
        </p:nvSpPr>
        <p:spPr>
          <a:xfrm>
            <a:off x="1665379" y="5666002"/>
            <a:ext cx="887567" cy="400110"/>
          </a:xfrm>
          <a:prstGeom prst="rect">
            <a:avLst/>
          </a:prstGeom>
          <a:noFill/>
        </p:spPr>
        <p:txBody>
          <a:bodyPr wrap="square" rtlCol="0">
            <a:spAutoFit/>
          </a:bodyPr>
          <a:lstStyle/>
          <a:p>
            <a:r>
              <a:rPr lang="en-GB" sz="2000" i="1" dirty="0"/>
              <a:t>V</a:t>
            </a:r>
            <a:r>
              <a:rPr lang="en-GB" sz="2000" baseline="-25000" dirty="0"/>
              <a:t>3</a:t>
            </a:r>
            <a:r>
              <a:rPr lang="en-GB" sz="2000" dirty="0"/>
              <a:t>,</a:t>
            </a:r>
            <a:r>
              <a:rPr lang="en-GB" sz="2000" baseline="-25000" dirty="0"/>
              <a:t> </a:t>
            </a:r>
            <a:r>
              <a:rPr lang="en-GB" sz="2000" i="1" dirty="0"/>
              <a:t>A</a:t>
            </a:r>
            <a:r>
              <a:rPr lang="en-GB" sz="2000" baseline="-25000" dirty="0"/>
              <a:t>3</a:t>
            </a:r>
            <a:endParaRPr lang="en-GH" sz="2000" baseline="-2500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F864BFF-534E-7860-80B9-DB8A2485B79A}"/>
                  </a:ext>
                </a:extLst>
              </p:cNvPr>
              <p:cNvSpPr/>
              <p:nvPr/>
            </p:nvSpPr>
            <p:spPr>
              <a:xfrm>
                <a:off x="3215149" y="4816119"/>
                <a:ext cx="4414379" cy="81118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𝒔</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𝑩</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smtClean="0">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m:t>
                          </m:r>
                          <m:r>
                            <a:rPr lang="en-CA" sz="2000" b="1" i="1" smtClean="0">
                              <a:solidFill>
                                <a:schemeClr val="tx1"/>
                              </a:solidFill>
                              <a:latin typeface="Cambria Math" panose="02040503050406030204" pitchFamily="18" charset="0"/>
                              <a:ea typeface="Cambria Math" panose="02040503050406030204" pitchFamily="18" charset="0"/>
                            </a:rPr>
                            <m:t>𝒅</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dirty="0"/>
              </a:p>
            </p:txBody>
          </p:sp>
        </mc:Choice>
        <mc:Fallback xmlns="">
          <p:sp>
            <p:nvSpPr>
              <p:cNvPr id="40" name="Rectangle 39">
                <a:extLst>
                  <a:ext uri="{FF2B5EF4-FFF2-40B4-BE49-F238E27FC236}">
                    <a16:creationId xmlns:a16="http://schemas.microsoft.com/office/drawing/2014/main" id="{3F864BFF-534E-7860-80B9-DB8A2485B79A}"/>
                  </a:ext>
                </a:extLst>
              </p:cNvPr>
              <p:cNvSpPr>
                <a:spLocks noRot="1" noChangeAspect="1" noMove="1" noResize="1" noEditPoints="1" noAdjustHandles="1" noChangeArrowheads="1" noChangeShapeType="1" noTextEdit="1"/>
              </p:cNvSpPr>
              <p:nvPr/>
            </p:nvSpPr>
            <p:spPr>
              <a:xfrm>
                <a:off x="3215149" y="4816119"/>
                <a:ext cx="4414379" cy="811184"/>
              </a:xfrm>
              <a:prstGeom prst="rect">
                <a:avLst/>
              </a:prstGeom>
              <a:blipFill>
                <a:blip r:embed="rId5"/>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00326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453224"/>
          </a:xfrm>
        </p:spPr>
        <p:txBody>
          <a:bodyPr>
            <a:normAutofit fontScale="90000"/>
          </a:bodyPr>
          <a:lstStyle/>
          <a:p>
            <a:r>
              <a:rPr lang="en-US" sz="2800" b="1" dirty="0">
                <a:solidFill>
                  <a:schemeClr val="tx1"/>
                </a:solidFill>
              </a:rPr>
              <a:t>Solution Contd.</a:t>
            </a:r>
            <a:endParaRPr lang="en-US" sz="2800" dirty="0"/>
          </a:p>
        </p:txBody>
      </p:sp>
      <p:grpSp>
        <p:nvGrpSpPr>
          <p:cNvPr id="5" name="Group 4">
            <a:extLst>
              <a:ext uri="{FF2B5EF4-FFF2-40B4-BE49-F238E27FC236}">
                <a16:creationId xmlns:a16="http://schemas.microsoft.com/office/drawing/2014/main" id="{BAB47EF9-60E8-A86D-1E7D-DB6BF9942598}"/>
              </a:ext>
            </a:extLst>
          </p:cNvPr>
          <p:cNvGrpSpPr/>
          <p:nvPr/>
        </p:nvGrpSpPr>
        <p:grpSpPr>
          <a:xfrm>
            <a:off x="113561" y="165375"/>
            <a:ext cx="2712168" cy="2530923"/>
            <a:chOff x="61947" y="3708925"/>
            <a:chExt cx="2712168" cy="2530923"/>
          </a:xfrm>
        </p:grpSpPr>
        <p:grpSp>
          <p:nvGrpSpPr>
            <p:cNvPr id="35" name="Group 34">
              <a:extLst>
                <a:ext uri="{FF2B5EF4-FFF2-40B4-BE49-F238E27FC236}">
                  <a16:creationId xmlns:a16="http://schemas.microsoft.com/office/drawing/2014/main" id="{B452095C-EE3A-3F1D-6707-26DE369DCC6A}"/>
                </a:ext>
              </a:extLst>
            </p:cNvPr>
            <p:cNvGrpSpPr/>
            <p:nvPr/>
          </p:nvGrpSpPr>
          <p:grpSpPr>
            <a:xfrm>
              <a:off x="417921" y="3926345"/>
              <a:ext cx="2356194" cy="2118901"/>
              <a:chOff x="417921" y="3926345"/>
              <a:chExt cx="2356194" cy="2118901"/>
            </a:xfrm>
          </p:grpSpPr>
          <p:grpSp>
            <p:nvGrpSpPr>
              <p:cNvPr id="17" name="Group 16">
                <a:extLst>
                  <a:ext uri="{FF2B5EF4-FFF2-40B4-BE49-F238E27FC236}">
                    <a16:creationId xmlns:a16="http://schemas.microsoft.com/office/drawing/2014/main" id="{9EC147A7-4FB8-128B-C962-9F352BB9E64C}"/>
                  </a:ext>
                </a:extLst>
              </p:cNvPr>
              <p:cNvGrpSpPr/>
              <p:nvPr/>
            </p:nvGrpSpPr>
            <p:grpSpPr>
              <a:xfrm>
                <a:off x="965917" y="4216446"/>
                <a:ext cx="1808198" cy="1828800"/>
                <a:chOff x="965917" y="4133088"/>
                <a:chExt cx="1808198" cy="1828800"/>
              </a:xfrm>
            </p:grpSpPr>
            <p:pic>
              <p:nvPicPr>
                <p:cNvPr id="11" name="Picture 10">
                  <a:extLst>
                    <a:ext uri="{FF2B5EF4-FFF2-40B4-BE49-F238E27FC236}">
                      <a16:creationId xmlns:a16="http://schemas.microsoft.com/office/drawing/2014/main" id="{3811EC87-C844-309F-06C9-0B1FD8E832F9}"/>
                    </a:ext>
                  </a:extLst>
                </p:cNvPr>
                <p:cNvPicPr>
                  <a:picLocks noChangeAspect="1"/>
                </p:cNvPicPr>
                <p:nvPr/>
              </p:nvPicPr>
              <p:blipFill rotWithShape="1">
                <a:blip r:embed="rId3"/>
                <a:srcRect t="1497" b="8739"/>
                <a:stretch/>
              </p:blipFill>
              <p:spPr>
                <a:xfrm>
                  <a:off x="1764793" y="4133088"/>
                  <a:ext cx="1009322" cy="1828800"/>
                </a:xfrm>
                <a:prstGeom prst="rect">
                  <a:avLst/>
                </a:prstGeom>
              </p:spPr>
            </p:pic>
            <p:grpSp>
              <p:nvGrpSpPr>
                <p:cNvPr id="16" name="Group 15">
                  <a:extLst>
                    <a:ext uri="{FF2B5EF4-FFF2-40B4-BE49-F238E27FC236}">
                      <a16:creationId xmlns:a16="http://schemas.microsoft.com/office/drawing/2014/main" id="{DD0ECC6F-833F-ADF9-10E6-DDE5E6A473ED}"/>
                    </a:ext>
                  </a:extLst>
                </p:cNvPr>
                <p:cNvGrpSpPr/>
                <p:nvPr/>
              </p:nvGrpSpPr>
              <p:grpSpPr>
                <a:xfrm>
                  <a:off x="965917" y="4247281"/>
                  <a:ext cx="867456" cy="1312271"/>
                  <a:chOff x="965917" y="4247281"/>
                  <a:chExt cx="867456" cy="1312271"/>
                </a:xfrm>
              </p:grpSpPr>
              <p:sp>
                <p:nvSpPr>
                  <p:cNvPr id="12" name="Rectangle 11">
                    <a:extLst>
                      <a:ext uri="{FF2B5EF4-FFF2-40B4-BE49-F238E27FC236}">
                        <a16:creationId xmlns:a16="http://schemas.microsoft.com/office/drawing/2014/main" id="{AD68EB0B-070E-A38E-CC42-CDC645338774}"/>
                      </a:ext>
                    </a:extLst>
                  </p:cNvPr>
                  <p:cNvSpPr/>
                  <p:nvPr/>
                </p:nvSpPr>
                <p:spPr>
                  <a:xfrm>
                    <a:off x="1613917" y="4247281"/>
                    <a:ext cx="219456" cy="13122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13" name="Rectangle 12">
                    <a:extLst>
                      <a:ext uri="{FF2B5EF4-FFF2-40B4-BE49-F238E27FC236}">
                        <a16:creationId xmlns:a16="http://schemas.microsoft.com/office/drawing/2014/main" id="{9D2C4D45-7445-24F6-F963-7480F23B2910}"/>
                      </a:ext>
                    </a:extLst>
                  </p:cNvPr>
                  <p:cNvSpPr/>
                  <p:nvPr/>
                </p:nvSpPr>
                <p:spPr>
                  <a:xfrm rot="5400000">
                    <a:off x="1180189" y="4561128"/>
                    <a:ext cx="219456" cy="6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14" name="Arc 13">
                    <a:extLst>
                      <a:ext uri="{FF2B5EF4-FFF2-40B4-BE49-F238E27FC236}">
                        <a16:creationId xmlns:a16="http://schemas.microsoft.com/office/drawing/2014/main" id="{A46A851E-8C07-72B9-D80E-D41AD7F97462}"/>
                      </a:ext>
                    </a:extLst>
                  </p:cNvPr>
                  <p:cNvSpPr/>
                  <p:nvPr/>
                </p:nvSpPr>
                <p:spPr>
                  <a:xfrm rot="5956925">
                    <a:off x="1511081" y="4669320"/>
                    <a:ext cx="123371" cy="97971"/>
                  </a:xfrm>
                  <a:prstGeom prst="arc">
                    <a:avLst>
                      <a:gd name="adj1" fmla="val 16200000"/>
                      <a:gd name="adj2" fmla="val 28"/>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sp>
                <p:nvSpPr>
                  <p:cNvPr id="15" name="Arc 14">
                    <a:extLst>
                      <a:ext uri="{FF2B5EF4-FFF2-40B4-BE49-F238E27FC236}">
                        <a16:creationId xmlns:a16="http://schemas.microsoft.com/office/drawing/2014/main" id="{48AE75C7-D568-C554-3BDA-848843FD4D64}"/>
                      </a:ext>
                    </a:extLst>
                  </p:cNvPr>
                  <p:cNvSpPr/>
                  <p:nvPr/>
                </p:nvSpPr>
                <p:spPr>
                  <a:xfrm rot="15643075" flipV="1">
                    <a:off x="1511079" y="5014027"/>
                    <a:ext cx="123371" cy="97971"/>
                  </a:xfrm>
                  <a:prstGeom prst="arc">
                    <a:avLst>
                      <a:gd name="adj1" fmla="val 16200000"/>
                      <a:gd name="adj2" fmla="val 28"/>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grpSp>
          </p:grpSp>
          <p:sp>
            <p:nvSpPr>
              <p:cNvPr id="18" name="Rectangle 17">
                <a:extLst>
                  <a:ext uri="{FF2B5EF4-FFF2-40B4-BE49-F238E27FC236}">
                    <a16:creationId xmlns:a16="http://schemas.microsoft.com/office/drawing/2014/main" id="{D0959186-A31D-1826-45DB-1641E214B4E5}"/>
                  </a:ext>
                </a:extLst>
              </p:cNvPr>
              <p:cNvSpPr/>
              <p:nvPr/>
            </p:nvSpPr>
            <p:spPr>
              <a:xfrm>
                <a:off x="1041567" y="4330639"/>
                <a:ext cx="773637" cy="1312271"/>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grpSp>
            <p:nvGrpSpPr>
              <p:cNvPr id="21" name="Group 20">
                <a:extLst>
                  <a:ext uri="{FF2B5EF4-FFF2-40B4-BE49-F238E27FC236}">
                    <a16:creationId xmlns:a16="http://schemas.microsoft.com/office/drawing/2014/main" id="{E3BCC3C1-FF84-C87E-630E-5BE8716147FF}"/>
                  </a:ext>
                </a:extLst>
              </p:cNvPr>
              <p:cNvGrpSpPr/>
              <p:nvPr/>
            </p:nvGrpSpPr>
            <p:grpSpPr>
              <a:xfrm>
                <a:off x="692316" y="4979924"/>
                <a:ext cx="296726" cy="400110"/>
                <a:chOff x="3748434" y="4532829"/>
                <a:chExt cx="296726" cy="400110"/>
              </a:xfrm>
            </p:grpSpPr>
            <p:sp>
              <p:nvSpPr>
                <p:cNvPr id="19" name="Oval 18">
                  <a:extLst>
                    <a:ext uri="{FF2B5EF4-FFF2-40B4-BE49-F238E27FC236}">
                      <a16:creationId xmlns:a16="http://schemas.microsoft.com/office/drawing/2014/main" id="{20EC6AC0-E4AC-9D86-2B6A-AD25AD1361F6}"/>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0" name="TextBox 19">
                  <a:extLst>
                    <a:ext uri="{FF2B5EF4-FFF2-40B4-BE49-F238E27FC236}">
                      <a16:creationId xmlns:a16="http://schemas.microsoft.com/office/drawing/2014/main" id="{27C82EE5-575F-5262-8577-EDE946DD3545}"/>
                    </a:ext>
                  </a:extLst>
                </p:cNvPr>
                <p:cNvSpPr txBox="1"/>
                <p:nvPr/>
              </p:nvSpPr>
              <p:spPr>
                <a:xfrm>
                  <a:off x="3748434" y="4532829"/>
                  <a:ext cx="296726" cy="400110"/>
                </a:xfrm>
                <a:prstGeom prst="rect">
                  <a:avLst/>
                </a:prstGeom>
                <a:noFill/>
              </p:spPr>
              <p:txBody>
                <a:bodyPr wrap="square" rtlCol="0">
                  <a:spAutoFit/>
                </a:bodyPr>
                <a:lstStyle/>
                <a:p>
                  <a:r>
                    <a:rPr lang="en-GB" sz="2000" dirty="0"/>
                    <a:t>1</a:t>
                  </a:r>
                  <a:endParaRPr lang="en-GH" sz="2000" dirty="0"/>
                </a:p>
              </p:txBody>
            </p:sp>
          </p:grpSp>
          <p:grpSp>
            <p:nvGrpSpPr>
              <p:cNvPr id="22" name="Group 21">
                <a:extLst>
                  <a:ext uri="{FF2B5EF4-FFF2-40B4-BE49-F238E27FC236}">
                    <a16:creationId xmlns:a16="http://schemas.microsoft.com/office/drawing/2014/main" id="{1B24202A-F406-5A94-E9A3-1D218B90B8DE}"/>
                  </a:ext>
                </a:extLst>
              </p:cNvPr>
              <p:cNvGrpSpPr/>
              <p:nvPr/>
            </p:nvGrpSpPr>
            <p:grpSpPr>
              <a:xfrm>
                <a:off x="1386278" y="3926345"/>
                <a:ext cx="296726" cy="400110"/>
                <a:chOff x="3748434" y="4532829"/>
                <a:chExt cx="296726" cy="400110"/>
              </a:xfrm>
            </p:grpSpPr>
            <p:sp>
              <p:nvSpPr>
                <p:cNvPr id="23" name="Oval 22">
                  <a:extLst>
                    <a:ext uri="{FF2B5EF4-FFF2-40B4-BE49-F238E27FC236}">
                      <a16:creationId xmlns:a16="http://schemas.microsoft.com/office/drawing/2014/main" id="{1A693AF4-7776-5698-D540-76616F1212C6}"/>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4" name="TextBox 23">
                  <a:extLst>
                    <a:ext uri="{FF2B5EF4-FFF2-40B4-BE49-F238E27FC236}">
                      <a16:creationId xmlns:a16="http://schemas.microsoft.com/office/drawing/2014/main" id="{F0B1B820-B02C-CD14-53E4-6A7DAEFBFB9A}"/>
                    </a:ext>
                  </a:extLst>
                </p:cNvPr>
                <p:cNvSpPr txBox="1"/>
                <p:nvPr/>
              </p:nvSpPr>
              <p:spPr>
                <a:xfrm>
                  <a:off x="3748434" y="4532829"/>
                  <a:ext cx="296726" cy="400110"/>
                </a:xfrm>
                <a:prstGeom prst="rect">
                  <a:avLst/>
                </a:prstGeom>
                <a:noFill/>
              </p:spPr>
              <p:txBody>
                <a:bodyPr wrap="square" rtlCol="0">
                  <a:spAutoFit/>
                </a:bodyPr>
                <a:lstStyle/>
                <a:p>
                  <a:r>
                    <a:rPr lang="en-GB" sz="2000" dirty="0"/>
                    <a:t>2</a:t>
                  </a:r>
                  <a:endParaRPr lang="en-GH" sz="2000" dirty="0"/>
                </a:p>
              </p:txBody>
            </p:sp>
          </p:grpSp>
          <p:grpSp>
            <p:nvGrpSpPr>
              <p:cNvPr id="25" name="Group 24">
                <a:extLst>
                  <a:ext uri="{FF2B5EF4-FFF2-40B4-BE49-F238E27FC236}">
                    <a16:creationId xmlns:a16="http://schemas.microsoft.com/office/drawing/2014/main" id="{1AA429E0-8AB9-0407-4BC2-D2CDFB69C556}"/>
                  </a:ext>
                </a:extLst>
              </p:cNvPr>
              <p:cNvGrpSpPr/>
              <p:nvPr/>
            </p:nvGrpSpPr>
            <p:grpSpPr>
              <a:xfrm>
                <a:off x="1334333" y="5627303"/>
                <a:ext cx="296726" cy="400110"/>
                <a:chOff x="3748434" y="4532829"/>
                <a:chExt cx="296726" cy="400110"/>
              </a:xfrm>
            </p:grpSpPr>
            <p:sp>
              <p:nvSpPr>
                <p:cNvPr id="26" name="Oval 25">
                  <a:extLst>
                    <a:ext uri="{FF2B5EF4-FFF2-40B4-BE49-F238E27FC236}">
                      <a16:creationId xmlns:a16="http://schemas.microsoft.com/office/drawing/2014/main" id="{C6E56C21-CFE0-6A89-598A-9B48D499B3EA}"/>
                    </a:ext>
                  </a:extLst>
                </p:cNvPr>
                <p:cNvSpPr/>
                <p:nvPr/>
              </p:nvSpPr>
              <p:spPr>
                <a:xfrm>
                  <a:off x="3748434" y="4590167"/>
                  <a:ext cx="296726" cy="296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65F2F45E-F1BC-2270-71F9-25A9698DC552}"/>
                    </a:ext>
                  </a:extLst>
                </p:cNvPr>
                <p:cNvSpPr txBox="1"/>
                <p:nvPr/>
              </p:nvSpPr>
              <p:spPr>
                <a:xfrm>
                  <a:off x="3748434" y="4532829"/>
                  <a:ext cx="296726" cy="400110"/>
                </a:xfrm>
                <a:prstGeom prst="rect">
                  <a:avLst/>
                </a:prstGeom>
                <a:noFill/>
              </p:spPr>
              <p:txBody>
                <a:bodyPr wrap="square" rtlCol="0">
                  <a:spAutoFit/>
                </a:bodyPr>
                <a:lstStyle/>
                <a:p>
                  <a:r>
                    <a:rPr lang="en-GB" sz="2000" dirty="0"/>
                    <a:t>3</a:t>
                  </a:r>
                  <a:endParaRPr lang="en-GH" sz="2000" dirty="0"/>
                </a:p>
              </p:txBody>
            </p:sp>
          </p:grpSp>
          <p:cxnSp>
            <p:nvCxnSpPr>
              <p:cNvPr id="29" name="Straight Arrow Connector 28">
                <a:extLst>
                  <a:ext uri="{FF2B5EF4-FFF2-40B4-BE49-F238E27FC236}">
                    <a16:creationId xmlns:a16="http://schemas.microsoft.com/office/drawing/2014/main" id="{4A8B4B8E-57BE-AADB-E140-7EFF381A059E}"/>
                  </a:ext>
                </a:extLst>
              </p:cNvPr>
              <p:cNvCxnSpPr>
                <a:cxnSpLocks/>
              </p:cNvCxnSpPr>
              <p:nvPr/>
            </p:nvCxnSpPr>
            <p:spPr>
              <a:xfrm>
                <a:off x="417921" y="4968486"/>
                <a:ext cx="547996"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E996E2D-5924-7FCD-EB15-EB41E13E4CCC}"/>
                  </a:ext>
                </a:extLst>
              </p:cNvPr>
              <p:cNvCxnSpPr>
                <a:cxnSpLocks/>
              </p:cNvCxnSpPr>
              <p:nvPr/>
            </p:nvCxnSpPr>
            <p:spPr>
              <a:xfrm>
                <a:off x="1723645" y="5587295"/>
                <a:ext cx="0" cy="4145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34FFFE5-831A-C2FD-471C-615219709146}"/>
                  </a:ext>
                </a:extLst>
              </p:cNvPr>
              <p:cNvCxnSpPr>
                <a:cxnSpLocks/>
              </p:cNvCxnSpPr>
              <p:nvPr/>
            </p:nvCxnSpPr>
            <p:spPr>
              <a:xfrm rot="16200000">
                <a:off x="1451270" y="4212321"/>
                <a:ext cx="547996"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6" name="TextBox 35">
              <a:extLst>
                <a:ext uri="{FF2B5EF4-FFF2-40B4-BE49-F238E27FC236}">
                  <a16:creationId xmlns:a16="http://schemas.microsoft.com/office/drawing/2014/main" id="{16855DD2-8407-8D40-DC20-DF5044E60AC0}"/>
                </a:ext>
              </a:extLst>
            </p:cNvPr>
            <p:cNvSpPr txBox="1"/>
            <p:nvPr/>
          </p:nvSpPr>
          <p:spPr>
            <a:xfrm>
              <a:off x="61947" y="4683319"/>
              <a:ext cx="445012" cy="707886"/>
            </a:xfrm>
            <a:prstGeom prst="rect">
              <a:avLst/>
            </a:prstGeom>
            <a:noFill/>
          </p:spPr>
          <p:txBody>
            <a:bodyPr wrap="square" rtlCol="0">
              <a:spAutoFit/>
            </a:bodyPr>
            <a:lstStyle/>
            <a:p>
              <a:r>
                <a:rPr lang="en-GB" sz="2000" i="1" dirty="0"/>
                <a:t>V</a:t>
              </a:r>
              <a:r>
                <a:rPr lang="en-GB" sz="2000" baseline="-25000" dirty="0"/>
                <a:t>1</a:t>
              </a:r>
            </a:p>
            <a:p>
              <a:r>
                <a:rPr lang="en-GB" sz="2000" i="1" dirty="0"/>
                <a:t>A</a:t>
              </a:r>
              <a:r>
                <a:rPr lang="en-GB" sz="2000" baseline="-25000" dirty="0"/>
                <a:t>1</a:t>
              </a:r>
              <a:endParaRPr lang="en-GH" sz="2000" baseline="-25000" dirty="0"/>
            </a:p>
          </p:txBody>
        </p:sp>
        <p:sp>
          <p:nvSpPr>
            <p:cNvPr id="37" name="TextBox 36">
              <a:extLst>
                <a:ext uri="{FF2B5EF4-FFF2-40B4-BE49-F238E27FC236}">
                  <a16:creationId xmlns:a16="http://schemas.microsoft.com/office/drawing/2014/main" id="{49E8C42C-3693-4FFE-7B22-1B5F20FFCBB1}"/>
                </a:ext>
              </a:extLst>
            </p:cNvPr>
            <p:cNvSpPr txBox="1"/>
            <p:nvPr/>
          </p:nvSpPr>
          <p:spPr>
            <a:xfrm>
              <a:off x="1706510" y="3708925"/>
              <a:ext cx="887567" cy="400110"/>
            </a:xfrm>
            <a:prstGeom prst="rect">
              <a:avLst/>
            </a:prstGeom>
            <a:noFill/>
          </p:spPr>
          <p:txBody>
            <a:bodyPr wrap="square" rtlCol="0">
              <a:spAutoFit/>
            </a:bodyPr>
            <a:lstStyle/>
            <a:p>
              <a:r>
                <a:rPr lang="en-GB" sz="2000" i="1" dirty="0"/>
                <a:t>V</a:t>
              </a:r>
              <a:r>
                <a:rPr lang="en-GB" sz="2000" baseline="-25000" dirty="0"/>
                <a:t>2</a:t>
              </a:r>
              <a:r>
                <a:rPr lang="en-GB" sz="2000" dirty="0"/>
                <a:t>,</a:t>
              </a:r>
              <a:r>
                <a:rPr lang="en-GB" sz="2000" baseline="-25000" dirty="0"/>
                <a:t> </a:t>
              </a:r>
              <a:r>
                <a:rPr lang="en-GB" sz="2000" i="1" dirty="0"/>
                <a:t>A</a:t>
              </a:r>
              <a:r>
                <a:rPr lang="en-GB" sz="2000" baseline="-25000" dirty="0"/>
                <a:t>2</a:t>
              </a:r>
              <a:endParaRPr lang="en-GH" sz="2000" baseline="-25000" dirty="0"/>
            </a:p>
          </p:txBody>
        </p:sp>
        <p:sp>
          <p:nvSpPr>
            <p:cNvPr id="38" name="TextBox 37">
              <a:extLst>
                <a:ext uri="{FF2B5EF4-FFF2-40B4-BE49-F238E27FC236}">
                  <a16:creationId xmlns:a16="http://schemas.microsoft.com/office/drawing/2014/main" id="{0CA93A99-834A-511D-1C41-78EB2AF7F4C0}"/>
                </a:ext>
              </a:extLst>
            </p:cNvPr>
            <p:cNvSpPr txBox="1"/>
            <p:nvPr/>
          </p:nvSpPr>
          <p:spPr>
            <a:xfrm>
              <a:off x="1674523" y="5839738"/>
              <a:ext cx="887567" cy="400110"/>
            </a:xfrm>
            <a:prstGeom prst="rect">
              <a:avLst/>
            </a:prstGeom>
            <a:noFill/>
          </p:spPr>
          <p:txBody>
            <a:bodyPr wrap="square" rtlCol="0">
              <a:spAutoFit/>
            </a:bodyPr>
            <a:lstStyle/>
            <a:p>
              <a:r>
                <a:rPr lang="en-GB" sz="2000" i="1" dirty="0"/>
                <a:t>V</a:t>
              </a:r>
              <a:r>
                <a:rPr lang="en-GB" sz="2000" baseline="-25000" dirty="0"/>
                <a:t>3</a:t>
              </a:r>
              <a:r>
                <a:rPr lang="en-GB" sz="2000" dirty="0"/>
                <a:t>,</a:t>
              </a:r>
              <a:r>
                <a:rPr lang="en-GB" sz="2000" baseline="-25000" dirty="0"/>
                <a:t> </a:t>
              </a:r>
              <a:r>
                <a:rPr lang="en-GB" sz="2000" i="1" dirty="0"/>
                <a:t>A</a:t>
              </a:r>
              <a:r>
                <a:rPr lang="en-GB" sz="2000" baseline="-25000" dirty="0"/>
                <a:t>3</a:t>
              </a:r>
              <a:endParaRPr lang="en-GH" sz="2000" baseline="-25000" dirty="0"/>
            </a:p>
          </p:txBody>
        </p:sp>
      </p:grpSp>
      <p:sp>
        <p:nvSpPr>
          <p:cNvPr id="39" name="TextBox 38">
            <a:extLst>
              <a:ext uri="{FF2B5EF4-FFF2-40B4-BE49-F238E27FC236}">
                <a16:creationId xmlns:a16="http://schemas.microsoft.com/office/drawing/2014/main" id="{30294954-9488-B60E-48C1-0B049F852C25}"/>
              </a:ext>
            </a:extLst>
          </p:cNvPr>
          <p:cNvSpPr txBox="1"/>
          <p:nvPr/>
        </p:nvSpPr>
        <p:spPr>
          <a:xfrm>
            <a:off x="3142007" y="424133"/>
            <a:ext cx="4876705" cy="1569660"/>
          </a:xfrm>
          <a:prstGeom prst="rect">
            <a:avLst/>
          </a:prstGeom>
          <a:noFill/>
        </p:spPr>
        <p:txBody>
          <a:bodyPr wrap="square">
            <a:spAutoFit/>
          </a:bodyPr>
          <a:lstStyle/>
          <a:p>
            <a:pPr marL="0" indent="0">
              <a:lnSpc>
                <a:spcPct val="100000"/>
              </a:lnSpc>
              <a:spcBef>
                <a:spcPts val="0"/>
              </a:spcBef>
              <a:spcAft>
                <a:spcPts val="0"/>
              </a:spcAft>
              <a:buNone/>
            </a:pPr>
            <a:r>
              <a:rPr lang="en-CA" dirty="0">
                <a:solidFill>
                  <a:schemeClr val="tx1"/>
                </a:solidFill>
                <a:latin typeface="+mn-lt"/>
              </a:rPr>
              <a:t>Assumptions:</a:t>
            </a:r>
          </a:p>
          <a:p>
            <a:pPr marL="457200" indent="-457200">
              <a:lnSpc>
                <a:spcPct val="100000"/>
              </a:lnSpc>
              <a:spcBef>
                <a:spcPts val="0"/>
              </a:spcBef>
              <a:spcAft>
                <a:spcPts val="0"/>
              </a:spcAft>
              <a:buAutoNum type="arabicPeriod"/>
            </a:pPr>
            <a:r>
              <a:rPr lang="en-CA" dirty="0">
                <a:latin typeface="+mn-lt"/>
              </a:rPr>
              <a:t>Steady flow</a:t>
            </a:r>
          </a:p>
          <a:p>
            <a:pPr marL="457200" indent="-457200">
              <a:lnSpc>
                <a:spcPct val="100000"/>
              </a:lnSpc>
              <a:spcBef>
                <a:spcPts val="0"/>
              </a:spcBef>
              <a:spcAft>
                <a:spcPts val="0"/>
              </a:spcAft>
              <a:buAutoNum type="arabicPeriod"/>
            </a:pPr>
            <a:r>
              <a:rPr lang="en-CA" dirty="0">
                <a:solidFill>
                  <a:schemeClr val="tx1"/>
                </a:solidFill>
                <a:latin typeface="+mn-lt"/>
              </a:rPr>
              <a:t>Incompressible flow</a:t>
            </a:r>
          </a:p>
          <a:p>
            <a:pPr marL="457200" indent="-457200">
              <a:lnSpc>
                <a:spcPct val="100000"/>
              </a:lnSpc>
              <a:spcBef>
                <a:spcPts val="0"/>
              </a:spcBef>
              <a:spcAft>
                <a:spcPts val="0"/>
              </a:spcAft>
              <a:buAutoNum type="arabicPeriod"/>
            </a:pPr>
            <a:r>
              <a:rPr lang="en-CA" dirty="0">
                <a:latin typeface="+mn-lt"/>
              </a:rPr>
              <a:t>Uniform flow at all sections</a:t>
            </a:r>
            <a:endParaRPr lang="en-CA" dirty="0">
              <a:solidFill>
                <a:schemeClr val="tx1"/>
              </a:solidFill>
              <a:latin typeface="+mn-lt"/>
            </a:endParaRPr>
          </a:p>
        </p:txBody>
      </p:sp>
      <p:sp>
        <p:nvSpPr>
          <p:cNvPr id="9" name="TextBox 8">
            <a:extLst>
              <a:ext uri="{FF2B5EF4-FFF2-40B4-BE49-F238E27FC236}">
                <a16:creationId xmlns:a16="http://schemas.microsoft.com/office/drawing/2014/main" id="{AD233AB8-B757-7CB7-500F-5C7F68C5CF69}"/>
              </a:ext>
            </a:extLst>
          </p:cNvPr>
          <p:cNvSpPr txBox="1"/>
          <p:nvPr/>
        </p:nvSpPr>
        <p:spPr>
          <a:xfrm>
            <a:off x="3090819" y="2023505"/>
            <a:ext cx="5978118" cy="461665"/>
          </a:xfrm>
          <a:prstGeom prst="rect">
            <a:avLst/>
          </a:prstGeom>
          <a:noFill/>
        </p:spPr>
        <p:txBody>
          <a:bodyPr wrap="square">
            <a:spAutoFit/>
          </a:bodyPr>
          <a:lstStyle/>
          <a:p>
            <a:pPr marL="0" indent="0">
              <a:lnSpc>
                <a:spcPct val="100000"/>
              </a:lnSpc>
              <a:spcBef>
                <a:spcPts val="0"/>
              </a:spcBef>
              <a:spcAft>
                <a:spcPts val="0"/>
              </a:spcAft>
              <a:buNone/>
            </a:pPr>
            <a:r>
              <a:rPr lang="en-CA" dirty="0">
                <a:solidFill>
                  <a:schemeClr val="tx1"/>
                </a:solidFill>
                <a:latin typeface="+mn-lt"/>
              </a:rPr>
              <a:t>Application of th</a:t>
            </a:r>
            <a:r>
              <a:rPr lang="en-CA" dirty="0">
                <a:latin typeface="+mn-lt"/>
              </a:rPr>
              <a:t>e above a</a:t>
            </a:r>
            <a:r>
              <a:rPr lang="en-CA" dirty="0">
                <a:solidFill>
                  <a:schemeClr val="tx1"/>
                </a:solidFill>
                <a:latin typeface="+mn-lt"/>
              </a:rPr>
              <a:t>ssumptions leads to</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99FFC80-6989-7769-48CF-96AFBCFCE762}"/>
                  </a:ext>
                </a:extLst>
              </p:cNvPr>
              <p:cNvSpPr txBox="1"/>
              <p:nvPr/>
            </p:nvSpPr>
            <p:spPr>
              <a:xfrm>
                <a:off x="-13537" y="2772341"/>
                <a:ext cx="5069570" cy="98854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b="0" i="1"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𝑆</m:t>
                              </m:r>
                            </m:sub>
                          </m:sSub>
                        </m:e>
                      </m:acc>
                      <m:r>
                        <a:rPr lang="en-GB" b="0" i="1" smtClean="0">
                          <a:solidFill>
                            <a:prstClr val="black"/>
                          </a:solidFill>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𝐵</m:t>
                              </m:r>
                            </m:sub>
                          </m:sSub>
                        </m:e>
                      </m:acc>
                      <m:r>
                        <a:rPr lang="en-GB" b="0" i="1" smtClean="0">
                          <a:solidFill>
                            <a:prstClr val="black"/>
                          </a:solidFill>
                          <a:latin typeface="Cambria Math" panose="02040503050406030204" pitchFamily="18" charset="0"/>
                        </a:rPr>
                        <m:t>=</m:t>
                      </m:r>
                      <m:nary>
                        <m:naryPr>
                          <m:chr m:val="∑"/>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acc>
                            <m:accPr>
                              <m:chr m:val="⃗"/>
                              <m:ctrlPr>
                                <a:rPr lang="en-CA" i="1">
                                  <a:solidFill>
                                    <a:prstClr val="black"/>
                                  </a:solidFill>
                                  <a:latin typeface="Cambria Math" panose="02040503050406030204" pitchFamily="18" charset="0"/>
                                  <a:ea typeface="Cambria Math" panose="02040503050406030204" pitchFamily="18" charset="0"/>
                                </a:rPr>
                              </m:ctrlPr>
                            </m:accPr>
                            <m:e>
                              <m:r>
                                <a:rPr lang="en-CA" i="1">
                                  <a:solidFill>
                                    <a:prstClr val="black"/>
                                  </a:solidFill>
                                  <a:latin typeface="Cambria Math" panose="02040503050406030204" pitchFamily="18" charset="0"/>
                                  <a:ea typeface="Cambria Math" panose="02040503050406030204" pitchFamily="18" charset="0"/>
                                </a:rPr>
                                <m:t>𝑉</m:t>
                              </m:r>
                            </m:e>
                          </m:acc>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dirty="0"/>
              </a:p>
            </p:txBody>
          </p:sp>
        </mc:Choice>
        <mc:Fallback xmlns="">
          <p:sp>
            <p:nvSpPr>
              <p:cNvPr id="30" name="TextBox 29">
                <a:extLst>
                  <a:ext uri="{FF2B5EF4-FFF2-40B4-BE49-F238E27FC236}">
                    <a16:creationId xmlns:a16="http://schemas.microsoft.com/office/drawing/2014/main" id="{099FFC80-6989-7769-48CF-96AFBCFCE762}"/>
                  </a:ext>
                </a:extLst>
              </p:cNvPr>
              <p:cNvSpPr txBox="1">
                <a:spLocks noRot="1" noChangeAspect="1" noMove="1" noResize="1" noEditPoints="1" noAdjustHandles="1" noChangeArrowheads="1" noChangeShapeType="1" noTextEdit="1"/>
              </p:cNvSpPr>
              <p:nvPr/>
            </p:nvSpPr>
            <p:spPr>
              <a:xfrm>
                <a:off x="-13537" y="2772341"/>
                <a:ext cx="5069570" cy="988540"/>
              </a:xfrm>
              <a:prstGeom prst="rect">
                <a:avLst/>
              </a:prstGeom>
              <a:blipFill>
                <a:blip r:embed="rId4"/>
                <a:stretch>
                  <a:fillRect/>
                </a:stretch>
              </a:blipFill>
            </p:spPr>
            <p:txBody>
              <a:bodyPr/>
              <a:lstStyle/>
              <a:p>
                <a:r>
                  <a:rPr lang="en-GH">
                    <a:noFill/>
                  </a:rPr>
                  <a:t> </a:t>
                </a:r>
              </a:p>
            </p:txBody>
          </p:sp>
        </mc:Fallback>
      </mc:AlternateContent>
      <p:sp>
        <p:nvSpPr>
          <p:cNvPr id="33" name="TextBox 32">
            <a:extLst>
              <a:ext uri="{FF2B5EF4-FFF2-40B4-BE49-F238E27FC236}">
                <a16:creationId xmlns:a16="http://schemas.microsoft.com/office/drawing/2014/main" id="{B79D7E84-824B-C8DC-6590-82BA606E4680}"/>
              </a:ext>
            </a:extLst>
          </p:cNvPr>
          <p:cNvSpPr txBox="1"/>
          <p:nvPr/>
        </p:nvSpPr>
        <p:spPr>
          <a:xfrm>
            <a:off x="8223" y="3687124"/>
            <a:ext cx="5047809" cy="830997"/>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If </a:t>
            </a:r>
            <a:r>
              <a:rPr lang="en-CA" i="1" dirty="0" err="1">
                <a:latin typeface="+mn-lt"/>
              </a:rPr>
              <a:t>F</a:t>
            </a:r>
            <a:r>
              <a:rPr lang="en-CA" i="1" baseline="-25000" dirty="0" err="1">
                <a:latin typeface="+mn-lt"/>
              </a:rPr>
              <a:t>x</a:t>
            </a:r>
            <a:r>
              <a:rPr lang="en-CA" dirty="0">
                <a:latin typeface="+mn-lt"/>
              </a:rPr>
              <a:t> is the </a:t>
            </a:r>
            <a:r>
              <a:rPr lang="en-CA" i="1" dirty="0">
                <a:latin typeface="+mn-lt"/>
              </a:rPr>
              <a:t>x</a:t>
            </a:r>
            <a:r>
              <a:rPr lang="en-CA" dirty="0">
                <a:latin typeface="+mn-lt"/>
              </a:rPr>
              <a:t>-component of the fluid</a:t>
            </a:r>
          </a:p>
          <a:p>
            <a:pPr marL="0" indent="0">
              <a:lnSpc>
                <a:spcPct val="100000"/>
              </a:lnSpc>
              <a:spcBef>
                <a:spcPts val="0"/>
              </a:spcBef>
              <a:spcAft>
                <a:spcPts val="0"/>
              </a:spcAft>
              <a:buNone/>
            </a:pPr>
            <a:r>
              <a:rPr lang="en-CA" dirty="0">
                <a:latin typeface="+mn-lt"/>
              </a:rPr>
              <a:t>force acting on the plate, then we have</a:t>
            </a:r>
            <a:endParaRPr lang="en-CA" dirty="0">
              <a:solidFill>
                <a:schemeClr val="tx1"/>
              </a:solidFill>
              <a:latin typeface="+mn-lt"/>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B2AE61A-D7A0-D947-04E1-7027238F844F}"/>
                  </a:ext>
                </a:extLst>
              </p:cNvPr>
              <p:cNvSpPr txBox="1"/>
              <p:nvPr/>
            </p:nvSpPr>
            <p:spPr>
              <a:xfrm>
                <a:off x="78919" y="4558261"/>
                <a:ext cx="506957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d>
                        <m:dPr>
                          <m:ctrlPr>
                            <a:rPr lang="en-GB" b="0" i="1" smtClean="0">
                              <a:solidFill>
                                <a:prstClr val="black"/>
                              </a:solidFill>
                              <a:latin typeface="Cambria Math" panose="02040503050406030204" pitchFamily="18" charset="0"/>
                            </a:rPr>
                          </m:ctrlPr>
                        </m:dPr>
                        <m:e>
                          <m:sSub>
                            <m:sSubPr>
                              <m:ctrlPr>
                                <a:rPr lang="en-GB" b="0" i="1" smtClean="0">
                                  <a:solidFill>
                                    <a:prstClr val="black"/>
                                  </a:solidFill>
                                  <a:latin typeface="Cambria Math" panose="02040503050406030204" pitchFamily="18" charset="0"/>
                                </a:rPr>
                              </m:ctrlPr>
                            </m:sSub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2</m:t>
                                  </m:r>
                                </m:sub>
                              </m:sSub>
                              <m:acc>
                                <m:accPr>
                                  <m:chr m:val="̇"/>
                                  <m:ctrlP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3</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3</m:t>
                              </m:r>
                            </m:sub>
                          </m:sSub>
                        </m:e>
                      </m:d>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oMath>
                  </m:oMathPara>
                </a14:m>
                <a:endParaRPr lang="en-GH" dirty="0"/>
              </a:p>
            </p:txBody>
          </p:sp>
        </mc:Choice>
        <mc:Fallback xmlns="">
          <p:sp>
            <p:nvSpPr>
              <p:cNvPr id="34" name="TextBox 33">
                <a:extLst>
                  <a:ext uri="{FF2B5EF4-FFF2-40B4-BE49-F238E27FC236}">
                    <a16:creationId xmlns:a16="http://schemas.microsoft.com/office/drawing/2014/main" id="{CB2AE61A-D7A0-D947-04E1-7027238F844F}"/>
                  </a:ext>
                </a:extLst>
              </p:cNvPr>
              <p:cNvSpPr txBox="1">
                <a:spLocks noRot="1" noChangeAspect="1" noMove="1" noResize="1" noEditPoints="1" noAdjustHandles="1" noChangeArrowheads="1" noChangeShapeType="1" noTextEdit="1"/>
              </p:cNvSpPr>
              <p:nvPr/>
            </p:nvSpPr>
            <p:spPr>
              <a:xfrm>
                <a:off x="78919" y="4558261"/>
                <a:ext cx="5069570" cy="461665"/>
              </a:xfrm>
              <a:prstGeom prst="rect">
                <a:avLst/>
              </a:prstGeom>
              <a:blipFill>
                <a:blip r:embed="rId5"/>
                <a:stretch>
                  <a:fillRect b="-2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D00B728-7546-5AAF-1C55-F8B2ADE035B1}"/>
                  </a:ext>
                </a:extLst>
              </p:cNvPr>
              <p:cNvSpPr txBox="1"/>
              <p:nvPr/>
            </p:nvSpPr>
            <p:spPr>
              <a:xfrm>
                <a:off x="78919" y="5096879"/>
                <a:ext cx="4282769" cy="461665"/>
              </a:xfrm>
              <a:prstGeom prst="rect">
                <a:avLst/>
              </a:prstGeom>
              <a:noFill/>
            </p:spPr>
            <p:txBody>
              <a:bodyPr wrap="square">
                <a:spAutoFit/>
              </a:bodyPr>
              <a:lstStyle/>
              <a:p>
                <a:pPr marL="0" indent="0">
                  <a:buNone/>
                </a:pPr>
                <a14:m>
                  <m:oMath xmlns:m="http://schemas.openxmlformats.org/officeDocument/2006/math">
                    <m:sSub>
                      <m:sSubPr>
                        <m:ctrlPr>
                          <a:rPr lang="en-GB" i="1" smtClean="0">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1</m:t>
                        </m:r>
                      </m:sub>
                    </m:sSub>
                  </m:oMath>
                </a14:m>
                <a:r>
                  <a:rPr lang="en-GB" dirty="0"/>
                  <a:t>,  and</a:t>
                </a:r>
                <a14:m>
                  <m:oMath xmlns:m="http://schemas.openxmlformats.org/officeDocument/2006/math">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3</m:t>
                        </m:r>
                      </m:sub>
                    </m:sSub>
                    <m:r>
                      <a:rPr lang="en-GB" b="0" i="1" smtClean="0">
                        <a:solidFill>
                          <a:prstClr val="black"/>
                        </a:solidFill>
                        <a:latin typeface="Cambria Math" panose="02040503050406030204" pitchFamily="18" charset="0"/>
                      </a:rPr>
                      <m:t>=0</m:t>
                    </m:r>
                  </m:oMath>
                </a14:m>
                <a:r>
                  <a:rPr lang="en-GB" dirty="0"/>
                  <a:t> </a:t>
                </a:r>
                <a:endParaRPr lang="en-GH" dirty="0"/>
              </a:p>
            </p:txBody>
          </p:sp>
        </mc:Choice>
        <mc:Fallback xmlns="">
          <p:sp>
            <p:nvSpPr>
              <p:cNvPr id="40" name="TextBox 39">
                <a:extLst>
                  <a:ext uri="{FF2B5EF4-FFF2-40B4-BE49-F238E27FC236}">
                    <a16:creationId xmlns:a16="http://schemas.microsoft.com/office/drawing/2014/main" id="{5D00B728-7546-5AAF-1C55-F8B2ADE035B1}"/>
                  </a:ext>
                </a:extLst>
              </p:cNvPr>
              <p:cNvSpPr txBox="1">
                <a:spLocks noRot="1" noChangeAspect="1" noMove="1" noResize="1" noEditPoints="1" noAdjustHandles="1" noChangeArrowheads="1" noChangeShapeType="1" noTextEdit="1"/>
              </p:cNvSpPr>
              <p:nvPr/>
            </p:nvSpPr>
            <p:spPr>
              <a:xfrm>
                <a:off x="78919" y="5096879"/>
                <a:ext cx="4282769" cy="461665"/>
              </a:xfrm>
              <a:prstGeom prst="rect">
                <a:avLst/>
              </a:prstGeom>
              <a:blipFill>
                <a:blip r:embed="rId6"/>
                <a:stretch>
                  <a:fillRect t="-10526"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F46E7E-0E96-4B83-015E-AE7FA987C66B}"/>
                  </a:ext>
                </a:extLst>
              </p:cNvPr>
              <p:cNvSpPr txBox="1"/>
              <p:nvPr/>
            </p:nvSpPr>
            <p:spPr>
              <a:xfrm>
                <a:off x="-2658" y="5578360"/>
                <a:ext cx="417232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oMath>
                  </m:oMathPara>
                </a14:m>
                <a:endParaRPr lang="en-GH" dirty="0"/>
              </a:p>
            </p:txBody>
          </p:sp>
        </mc:Choice>
        <mc:Fallback xmlns="">
          <p:sp>
            <p:nvSpPr>
              <p:cNvPr id="41" name="TextBox 40">
                <a:extLst>
                  <a:ext uri="{FF2B5EF4-FFF2-40B4-BE49-F238E27FC236}">
                    <a16:creationId xmlns:a16="http://schemas.microsoft.com/office/drawing/2014/main" id="{B7F46E7E-0E96-4B83-015E-AE7FA987C66B}"/>
                  </a:ext>
                </a:extLst>
              </p:cNvPr>
              <p:cNvSpPr txBox="1">
                <a:spLocks noRot="1" noChangeAspect="1" noMove="1" noResize="1" noEditPoints="1" noAdjustHandles="1" noChangeArrowheads="1" noChangeShapeType="1" noTextEdit="1"/>
              </p:cNvSpPr>
              <p:nvPr/>
            </p:nvSpPr>
            <p:spPr>
              <a:xfrm>
                <a:off x="-2658" y="5578360"/>
                <a:ext cx="4172322" cy="461665"/>
              </a:xfrm>
              <a:prstGeom prst="rect">
                <a:avLst/>
              </a:prstGeom>
              <a:blipFill>
                <a:blip r:embed="rId7"/>
                <a:stretch>
                  <a:fillRect b="-2632"/>
                </a:stretch>
              </a:blipFill>
            </p:spPr>
            <p:txBody>
              <a:bodyPr/>
              <a:lstStyle/>
              <a:p>
                <a:r>
                  <a:rPr lang="en-GH">
                    <a:noFill/>
                  </a:rPr>
                  <a:t> </a:t>
                </a:r>
              </a:p>
            </p:txBody>
          </p:sp>
        </mc:Fallback>
      </mc:AlternateContent>
      <p:cxnSp>
        <p:nvCxnSpPr>
          <p:cNvPr id="43" name="Straight Connector 42">
            <a:extLst>
              <a:ext uri="{FF2B5EF4-FFF2-40B4-BE49-F238E27FC236}">
                <a16:creationId xmlns:a16="http://schemas.microsoft.com/office/drawing/2014/main" id="{2FFDD3FA-05C9-7B9D-C496-B2B06A523C18}"/>
              </a:ext>
            </a:extLst>
          </p:cNvPr>
          <p:cNvCxnSpPr>
            <a:cxnSpLocks/>
          </p:cNvCxnSpPr>
          <p:nvPr/>
        </p:nvCxnSpPr>
        <p:spPr>
          <a:xfrm>
            <a:off x="5056032" y="2458267"/>
            <a:ext cx="0" cy="3796229"/>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B993B16-C735-9664-FF48-D0F2F58B3A99}"/>
                  </a:ext>
                </a:extLst>
              </p:cNvPr>
              <p:cNvSpPr txBox="1"/>
              <p:nvPr/>
            </p:nvSpPr>
            <p:spPr>
              <a:xfrm>
                <a:off x="5148489" y="3465982"/>
                <a:ext cx="3504911"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=1000</m:t>
                      </m:r>
                      <m:r>
                        <a:rPr lang="en-GB" b="0" i="1" smtClean="0">
                          <a:solidFill>
                            <a:prstClr val="black"/>
                          </a:solidFill>
                          <a:latin typeface="Cambria Math" panose="02040503050406030204" pitchFamily="18" charset="0"/>
                          <a:ea typeface="Cambria Math" panose="02040503050406030204" pitchFamily="18" charset="0"/>
                        </a:rPr>
                        <m:t>×0.01×</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15</m:t>
                          </m:r>
                        </m:e>
                        <m:sup>
                          <m:r>
                            <a:rPr lang="en-GB" b="0" i="1" smtClean="0">
                              <a:solidFill>
                                <a:prstClr val="black"/>
                              </a:solidFill>
                              <a:latin typeface="Cambria Math" panose="02040503050406030204" pitchFamily="18" charset="0"/>
                              <a:ea typeface="Cambria Math" panose="02040503050406030204" pitchFamily="18" charset="0"/>
                            </a:rPr>
                            <m:t>2</m:t>
                          </m:r>
                        </m:sup>
                      </m:sSup>
                    </m:oMath>
                  </m:oMathPara>
                </a14:m>
                <a:endParaRPr lang="en-GH" dirty="0"/>
              </a:p>
            </p:txBody>
          </p:sp>
        </mc:Choice>
        <mc:Fallback xmlns="">
          <p:sp>
            <p:nvSpPr>
              <p:cNvPr id="45" name="TextBox 44">
                <a:extLst>
                  <a:ext uri="{FF2B5EF4-FFF2-40B4-BE49-F238E27FC236}">
                    <a16:creationId xmlns:a16="http://schemas.microsoft.com/office/drawing/2014/main" id="{7B993B16-C735-9664-FF48-D0F2F58B3A99}"/>
                  </a:ext>
                </a:extLst>
              </p:cNvPr>
              <p:cNvSpPr txBox="1">
                <a:spLocks noRot="1" noChangeAspect="1" noMove="1" noResize="1" noEditPoints="1" noAdjustHandles="1" noChangeArrowheads="1" noChangeShapeType="1" noTextEdit="1"/>
              </p:cNvSpPr>
              <p:nvPr/>
            </p:nvSpPr>
            <p:spPr>
              <a:xfrm>
                <a:off x="5148489" y="3465982"/>
                <a:ext cx="3504911" cy="461665"/>
              </a:xfrm>
              <a:prstGeom prst="rect">
                <a:avLst/>
              </a:prstGeom>
              <a:blipFill>
                <a:blip r:embed="rId8"/>
                <a:stretch>
                  <a:fillRect l="-52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DE96E29-8872-1047-34A0-AA12883329BE}"/>
                  </a:ext>
                </a:extLst>
              </p:cNvPr>
              <p:cNvSpPr txBox="1"/>
              <p:nvPr/>
            </p:nvSpPr>
            <p:spPr>
              <a:xfrm>
                <a:off x="5300889" y="2848698"/>
                <a:ext cx="3504911" cy="465961"/>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Sup>
                        <m:sSubSupPr>
                          <m:ctrlPr>
                            <a:rPr lang="en-GB" b="0" i="1" smtClean="0">
                              <a:solidFill>
                                <a:prstClr val="black"/>
                              </a:solidFill>
                              <a:latin typeface="Cambria Math" panose="02040503050406030204" pitchFamily="18" charset="0"/>
                              <a:ea typeface="Cambria Math" panose="02040503050406030204" pitchFamily="18" charset="0"/>
                            </a:rPr>
                          </m:ctrlPr>
                        </m:sSubSup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up>
                          <m:r>
                            <a:rPr lang="en-GB" b="0" i="1" smtClean="0">
                              <a:solidFill>
                                <a:prstClr val="black"/>
                              </a:solidFill>
                              <a:latin typeface="Cambria Math" panose="02040503050406030204" pitchFamily="18" charset="0"/>
                              <a:ea typeface="Cambria Math" panose="02040503050406030204" pitchFamily="18" charset="0"/>
                            </a:rPr>
                            <m:t>2</m:t>
                          </m:r>
                        </m:sup>
                      </m:sSubSup>
                    </m:oMath>
                  </m:oMathPara>
                </a14:m>
                <a:endParaRPr lang="en-GH" dirty="0"/>
              </a:p>
            </p:txBody>
          </p:sp>
        </mc:Choice>
        <mc:Fallback xmlns="">
          <p:sp>
            <p:nvSpPr>
              <p:cNvPr id="46" name="TextBox 45">
                <a:extLst>
                  <a:ext uri="{FF2B5EF4-FFF2-40B4-BE49-F238E27FC236}">
                    <a16:creationId xmlns:a16="http://schemas.microsoft.com/office/drawing/2014/main" id="{5DE96E29-8872-1047-34A0-AA12883329BE}"/>
                  </a:ext>
                </a:extLst>
              </p:cNvPr>
              <p:cNvSpPr txBox="1">
                <a:spLocks noRot="1" noChangeAspect="1" noMove="1" noResize="1" noEditPoints="1" noAdjustHandles="1" noChangeArrowheads="1" noChangeShapeType="1" noTextEdit="1"/>
              </p:cNvSpPr>
              <p:nvPr/>
            </p:nvSpPr>
            <p:spPr>
              <a:xfrm>
                <a:off x="5300889" y="2848698"/>
                <a:ext cx="3504911" cy="465961"/>
              </a:xfrm>
              <a:prstGeom prst="rect">
                <a:avLst/>
              </a:prstGeom>
              <a:blipFill>
                <a:blip r:embed="rId9"/>
                <a:stretch>
                  <a:fillRect b="-11688"/>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6DDC716-EFC9-B2A9-6257-EF34A13631EC}"/>
                  </a:ext>
                </a:extLst>
              </p:cNvPr>
              <p:cNvSpPr txBox="1"/>
              <p:nvPr/>
            </p:nvSpPr>
            <p:spPr>
              <a:xfrm>
                <a:off x="5148489" y="4012121"/>
                <a:ext cx="3504911" cy="461665"/>
              </a:xfrm>
              <a:prstGeom prst="rect">
                <a:avLst/>
              </a:prstGeom>
              <a:noFill/>
            </p:spPr>
            <p:txBody>
              <a:bodyPr wrap="square">
                <a:spAutoFit/>
              </a:bodyPr>
              <a:lstStyle/>
              <a:p>
                <a:pPr marL="0" indent="0">
                  <a:buNone/>
                </a:pPr>
                <a14:m>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=2250</m:t>
                    </m:r>
                  </m:oMath>
                </a14:m>
                <a:r>
                  <a:rPr lang="en-GB" dirty="0"/>
                  <a:t> N</a:t>
                </a:r>
                <a:endParaRPr lang="en-GH" dirty="0"/>
              </a:p>
            </p:txBody>
          </p:sp>
        </mc:Choice>
        <mc:Fallback xmlns="">
          <p:sp>
            <p:nvSpPr>
              <p:cNvPr id="47" name="TextBox 46">
                <a:extLst>
                  <a:ext uri="{FF2B5EF4-FFF2-40B4-BE49-F238E27FC236}">
                    <a16:creationId xmlns:a16="http://schemas.microsoft.com/office/drawing/2014/main" id="{76DDC716-EFC9-B2A9-6257-EF34A13631EC}"/>
                  </a:ext>
                </a:extLst>
              </p:cNvPr>
              <p:cNvSpPr txBox="1">
                <a:spLocks noRot="1" noChangeAspect="1" noMove="1" noResize="1" noEditPoints="1" noAdjustHandles="1" noChangeArrowheads="1" noChangeShapeType="1" noTextEdit="1"/>
              </p:cNvSpPr>
              <p:nvPr/>
            </p:nvSpPr>
            <p:spPr>
              <a:xfrm>
                <a:off x="5148489" y="4012121"/>
                <a:ext cx="3504911" cy="461665"/>
              </a:xfrm>
              <a:prstGeom prst="rect">
                <a:avLst/>
              </a:prstGeom>
              <a:blipFill>
                <a:blip r:embed="rId10"/>
                <a:stretch>
                  <a:fillRect l="-522"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1400421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352640"/>
          </a:xfrm>
        </p:spPr>
        <p:txBody>
          <a:bodyPr>
            <a:normAutofit fontScale="90000"/>
          </a:bodyPr>
          <a:lstStyle/>
          <a:p>
            <a:r>
              <a:rPr lang="en-US" sz="2800" b="1" dirty="0">
                <a:solidFill>
                  <a:schemeClr val="tx1"/>
                </a:solidFill>
              </a:rPr>
              <a:t>Examples</a:t>
            </a:r>
            <a:endParaRPr lang="en-US" sz="2800" dirty="0"/>
          </a:p>
        </p:txBody>
      </p:sp>
      <p:sp>
        <p:nvSpPr>
          <p:cNvPr id="3" name="TextBox 2">
            <a:extLst>
              <a:ext uri="{FF2B5EF4-FFF2-40B4-BE49-F238E27FC236}">
                <a16:creationId xmlns:a16="http://schemas.microsoft.com/office/drawing/2014/main" id="{2F6F1354-0A61-CA7A-49B6-34530F2E3A64}"/>
              </a:ext>
            </a:extLst>
          </p:cNvPr>
          <p:cNvSpPr txBox="1"/>
          <p:nvPr/>
        </p:nvSpPr>
        <p:spPr>
          <a:xfrm>
            <a:off x="35781" y="389216"/>
            <a:ext cx="9072438" cy="1569660"/>
          </a:xfrm>
          <a:prstGeom prst="rect">
            <a:avLst/>
          </a:prstGeom>
          <a:noFill/>
        </p:spPr>
        <p:txBody>
          <a:bodyPr wrap="square">
            <a:spAutoFit/>
          </a:bodyPr>
          <a:lstStyle/>
          <a:p>
            <a:pPr algn="just"/>
            <a:r>
              <a:rPr lang="en-GB" sz="2400" b="0" i="0" u="none" strike="noStrike" baseline="0" dirty="0">
                <a:solidFill>
                  <a:srgbClr val="231F20"/>
                </a:solidFill>
                <a:latin typeface="+mn-lt"/>
              </a:rPr>
              <a:t>2. Calculate the magnitude and direction of the vertical and horizontal components and the total force exerted on the stationary blade below by a 50 mm jet of water </a:t>
            </a:r>
            <a:r>
              <a:rPr lang="en-GB" dirty="0">
                <a:solidFill>
                  <a:srgbClr val="231F20"/>
                </a:solidFill>
                <a:latin typeface="+mn-lt"/>
              </a:rPr>
              <a:t>moving at 15 m/s. Assume negligible body forces in the vertical direction.</a:t>
            </a:r>
            <a:endParaRPr lang="en-GH" dirty="0">
              <a:latin typeface="+mn-lt"/>
            </a:endParaRPr>
          </a:p>
        </p:txBody>
      </p:sp>
      <p:pic>
        <p:nvPicPr>
          <p:cNvPr id="5" name="Picture 4">
            <a:extLst>
              <a:ext uri="{FF2B5EF4-FFF2-40B4-BE49-F238E27FC236}">
                <a16:creationId xmlns:a16="http://schemas.microsoft.com/office/drawing/2014/main" id="{6DBF5E3E-6B19-6DCE-D2B8-57885088FEEA}"/>
              </a:ext>
            </a:extLst>
          </p:cNvPr>
          <p:cNvPicPr>
            <a:picLocks noChangeAspect="1"/>
          </p:cNvPicPr>
          <p:nvPr/>
        </p:nvPicPr>
        <p:blipFill>
          <a:blip r:embed="rId3"/>
          <a:stretch>
            <a:fillRect/>
          </a:stretch>
        </p:blipFill>
        <p:spPr>
          <a:xfrm>
            <a:off x="3928322" y="1716840"/>
            <a:ext cx="2372463" cy="2468710"/>
          </a:xfrm>
          <a:prstGeom prst="rect">
            <a:avLst/>
          </a:prstGeom>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96DFAD7-F242-EADB-A8CE-832D3485CD06}"/>
                  </a:ext>
                </a:extLst>
              </p:cNvPr>
              <p:cNvSpPr/>
              <p:nvPr/>
            </p:nvSpPr>
            <p:spPr>
              <a:xfrm>
                <a:off x="35781" y="4906280"/>
                <a:ext cx="4414379" cy="81118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𝒔</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𝑩</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smtClean="0">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m:t>
                          </m:r>
                          <m:r>
                            <a:rPr lang="en-CA" sz="2000" b="1" i="1" smtClean="0">
                              <a:solidFill>
                                <a:schemeClr val="tx1"/>
                              </a:solidFill>
                              <a:latin typeface="Cambria Math" panose="02040503050406030204" pitchFamily="18" charset="0"/>
                              <a:ea typeface="Cambria Math" panose="02040503050406030204" pitchFamily="18" charset="0"/>
                            </a:rPr>
                            <m:t>𝒅</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dirty="0"/>
              </a:p>
            </p:txBody>
          </p:sp>
        </mc:Choice>
        <mc:Fallback xmlns="">
          <p:sp>
            <p:nvSpPr>
              <p:cNvPr id="4" name="Rectangle 3">
                <a:extLst>
                  <a:ext uri="{FF2B5EF4-FFF2-40B4-BE49-F238E27FC236}">
                    <a16:creationId xmlns:a16="http://schemas.microsoft.com/office/drawing/2014/main" id="{296DFAD7-F242-EADB-A8CE-832D3485CD06}"/>
                  </a:ext>
                </a:extLst>
              </p:cNvPr>
              <p:cNvSpPr>
                <a:spLocks noRot="1" noChangeAspect="1" noMove="1" noResize="1" noEditPoints="1" noAdjustHandles="1" noChangeArrowheads="1" noChangeShapeType="1" noTextEdit="1"/>
              </p:cNvSpPr>
              <p:nvPr/>
            </p:nvSpPr>
            <p:spPr>
              <a:xfrm>
                <a:off x="35781" y="4906280"/>
                <a:ext cx="4414379" cy="811184"/>
              </a:xfrm>
              <a:prstGeom prst="rect">
                <a:avLst/>
              </a:prstGeom>
              <a:blipFill>
                <a:blip r:embed="rId4"/>
                <a:stretch>
                  <a:fillRect/>
                </a:stretch>
              </a:blipFill>
            </p:spPr>
            <p:txBody>
              <a:bodyPr/>
              <a:lstStyle/>
              <a:p>
                <a:r>
                  <a:rPr lang="en-GH">
                    <a:noFill/>
                  </a:rPr>
                  <a:t> </a:t>
                </a:r>
              </a:p>
            </p:txBody>
          </p:sp>
        </mc:Fallback>
      </mc:AlternateContent>
      <p:sp>
        <p:nvSpPr>
          <p:cNvPr id="7" name="TextBox 6">
            <a:extLst>
              <a:ext uri="{FF2B5EF4-FFF2-40B4-BE49-F238E27FC236}">
                <a16:creationId xmlns:a16="http://schemas.microsoft.com/office/drawing/2014/main" id="{DBB507CC-302C-378A-8022-21FAFA169E32}"/>
              </a:ext>
            </a:extLst>
          </p:cNvPr>
          <p:cNvSpPr txBox="1"/>
          <p:nvPr/>
        </p:nvSpPr>
        <p:spPr>
          <a:xfrm>
            <a:off x="35781" y="4444615"/>
            <a:ext cx="1339461" cy="461665"/>
          </a:xfrm>
          <a:prstGeom prst="rect">
            <a:avLst/>
          </a:prstGeom>
          <a:noFill/>
        </p:spPr>
        <p:txBody>
          <a:bodyPr wrap="square">
            <a:spAutoFit/>
          </a:bodyPr>
          <a:lstStyle/>
          <a:p>
            <a:pPr marL="0" indent="0">
              <a:lnSpc>
                <a:spcPct val="100000"/>
              </a:lnSpc>
              <a:spcBef>
                <a:spcPts val="1200"/>
              </a:spcBef>
              <a:spcAft>
                <a:spcPts val="1200"/>
              </a:spcAft>
              <a:buNone/>
            </a:pPr>
            <a:r>
              <a:rPr lang="en-CA" dirty="0">
                <a:solidFill>
                  <a:schemeClr val="tx1"/>
                </a:solidFill>
                <a:latin typeface="+mn-lt"/>
              </a:rPr>
              <a:t>Solution:</a:t>
            </a:r>
          </a:p>
        </p:txBody>
      </p:sp>
    </p:spTree>
    <p:extLst>
      <p:ext uri="{BB962C8B-B14F-4D97-AF65-F5344CB8AC3E}">
        <p14:creationId xmlns:p14="http://schemas.microsoft.com/office/powerpoint/2010/main" val="3478393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BF5E3E-6B19-6DCE-D2B8-57885088FEEA}"/>
              </a:ext>
            </a:extLst>
          </p:cNvPr>
          <p:cNvPicPr>
            <a:picLocks noChangeAspect="1"/>
          </p:cNvPicPr>
          <p:nvPr/>
        </p:nvPicPr>
        <p:blipFill rotWithShape="1">
          <a:blip r:embed="rId3"/>
          <a:srcRect l="15417"/>
          <a:stretch/>
        </p:blipFill>
        <p:spPr>
          <a:xfrm>
            <a:off x="416457" y="355888"/>
            <a:ext cx="2006703" cy="2468710"/>
          </a:xfrm>
          <a:prstGeom prst="rect">
            <a:avLst/>
          </a:prstGeom>
        </p:spPr>
      </p:pic>
      <p:sp>
        <p:nvSpPr>
          <p:cNvPr id="9" name="TextBox 8">
            <a:extLst>
              <a:ext uri="{FF2B5EF4-FFF2-40B4-BE49-F238E27FC236}">
                <a16:creationId xmlns:a16="http://schemas.microsoft.com/office/drawing/2014/main" id="{BE6D6653-5B8F-5202-A43A-B85887272ECB}"/>
              </a:ext>
            </a:extLst>
          </p:cNvPr>
          <p:cNvSpPr txBox="1"/>
          <p:nvPr/>
        </p:nvSpPr>
        <p:spPr>
          <a:xfrm>
            <a:off x="2913407" y="168135"/>
            <a:ext cx="4876705" cy="1938992"/>
          </a:xfrm>
          <a:prstGeom prst="rect">
            <a:avLst/>
          </a:prstGeom>
          <a:noFill/>
        </p:spPr>
        <p:txBody>
          <a:bodyPr wrap="square">
            <a:spAutoFit/>
          </a:bodyPr>
          <a:lstStyle/>
          <a:p>
            <a:pPr marL="0" indent="0">
              <a:lnSpc>
                <a:spcPct val="100000"/>
              </a:lnSpc>
              <a:spcBef>
                <a:spcPts val="0"/>
              </a:spcBef>
              <a:spcAft>
                <a:spcPts val="0"/>
              </a:spcAft>
              <a:buNone/>
            </a:pPr>
            <a:r>
              <a:rPr lang="en-CA" dirty="0">
                <a:solidFill>
                  <a:schemeClr val="tx1"/>
                </a:solidFill>
                <a:latin typeface="+mn-lt"/>
              </a:rPr>
              <a:t>Assumptions:</a:t>
            </a:r>
          </a:p>
          <a:p>
            <a:pPr marL="457200" indent="-457200">
              <a:lnSpc>
                <a:spcPct val="100000"/>
              </a:lnSpc>
              <a:spcBef>
                <a:spcPts val="0"/>
              </a:spcBef>
              <a:spcAft>
                <a:spcPts val="0"/>
              </a:spcAft>
              <a:buAutoNum type="arabicPeriod"/>
            </a:pPr>
            <a:r>
              <a:rPr lang="en-CA" dirty="0">
                <a:latin typeface="+mn-lt"/>
              </a:rPr>
              <a:t>Steady flow</a:t>
            </a:r>
          </a:p>
          <a:p>
            <a:pPr marL="457200" indent="-457200">
              <a:lnSpc>
                <a:spcPct val="100000"/>
              </a:lnSpc>
              <a:spcBef>
                <a:spcPts val="0"/>
              </a:spcBef>
              <a:spcAft>
                <a:spcPts val="0"/>
              </a:spcAft>
              <a:buAutoNum type="arabicPeriod"/>
            </a:pPr>
            <a:r>
              <a:rPr lang="en-CA" dirty="0">
                <a:solidFill>
                  <a:schemeClr val="tx1"/>
                </a:solidFill>
                <a:latin typeface="+mn-lt"/>
              </a:rPr>
              <a:t>Incompressible flow</a:t>
            </a:r>
          </a:p>
          <a:p>
            <a:pPr marL="457200" indent="-457200">
              <a:lnSpc>
                <a:spcPct val="100000"/>
              </a:lnSpc>
              <a:spcBef>
                <a:spcPts val="0"/>
              </a:spcBef>
              <a:spcAft>
                <a:spcPts val="0"/>
              </a:spcAft>
              <a:buAutoNum type="arabicPeriod"/>
            </a:pPr>
            <a:r>
              <a:rPr lang="en-CA" dirty="0">
                <a:latin typeface="+mn-lt"/>
              </a:rPr>
              <a:t>Uniform flow at all sections</a:t>
            </a:r>
          </a:p>
          <a:p>
            <a:pPr marL="457200" indent="-457200">
              <a:lnSpc>
                <a:spcPct val="100000"/>
              </a:lnSpc>
              <a:spcBef>
                <a:spcPts val="0"/>
              </a:spcBef>
              <a:spcAft>
                <a:spcPts val="0"/>
              </a:spcAft>
              <a:buAutoNum type="arabicPeriod"/>
            </a:pPr>
            <a:r>
              <a:rPr lang="en-CA" dirty="0">
                <a:solidFill>
                  <a:schemeClr val="tx1"/>
                </a:solidFill>
                <a:latin typeface="+mn-lt"/>
              </a:rPr>
              <a:t>Jet cross-section remains uniform</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D4499F-AE2F-AA17-6291-6B679606F2FD}"/>
                  </a:ext>
                </a:extLst>
              </p:cNvPr>
              <p:cNvSpPr txBox="1"/>
              <p:nvPr/>
            </p:nvSpPr>
            <p:spPr>
              <a:xfrm>
                <a:off x="2677295" y="2171204"/>
                <a:ext cx="5069570" cy="98854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b="0" i="1"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𝑆</m:t>
                              </m:r>
                            </m:sub>
                          </m:sSub>
                        </m:e>
                      </m:acc>
                      <m:r>
                        <a:rPr lang="en-GB" b="0" i="1" smtClean="0">
                          <a:solidFill>
                            <a:prstClr val="black"/>
                          </a:solidFill>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𝐵</m:t>
                              </m:r>
                            </m:sub>
                          </m:sSub>
                        </m:e>
                      </m:acc>
                      <m:r>
                        <a:rPr lang="en-GB" b="0" i="1" smtClean="0">
                          <a:solidFill>
                            <a:prstClr val="black"/>
                          </a:solidFill>
                          <a:latin typeface="Cambria Math" panose="02040503050406030204" pitchFamily="18" charset="0"/>
                        </a:rPr>
                        <m:t>=</m:t>
                      </m:r>
                      <m:nary>
                        <m:naryPr>
                          <m:chr m:val="∑"/>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acc>
                            <m:accPr>
                              <m:chr m:val="⃗"/>
                              <m:ctrlPr>
                                <a:rPr lang="en-CA" i="1">
                                  <a:solidFill>
                                    <a:prstClr val="black"/>
                                  </a:solidFill>
                                  <a:latin typeface="Cambria Math" panose="02040503050406030204" pitchFamily="18" charset="0"/>
                                  <a:ea typeface="Cambria Math" panose="02040503050406030204" pitchFamily="18" charset="0"/>
                                </a:rPr>
                              </m:ctrlPr>
                            </m:accPr>
                            <m:e>
                              <m:r>
                                <a:rPr lang="en-CA" b="0" i="1">
                                  <a:solidFill>
                                    <a:prstClr val="black"/>
                                  </a:solidFill>
                                  <a:latin typeface="Cambria Math" panose="02040503050406030204" pitchFamily="18" charset="0"/>
                                  <a:ea typeface="Cambria Math" panose="02040503050406030204" pitchFamily="18" charset="0"/>
                                </a:rPr>
                                <m:t>𝑉</m:t>
                              </m:r>
                            </m:e>
                          </m:acc>
                        </m:e>
                      </m:nary>
                    </m:oMath>
                  </m:oMathPara>
                </a14:m>
                <a:endParaRPr lang="en-GH" dirty="0"/>
              </a:p>
            </p:txBody>
          </p:sp>
        </mc:Choice>
        <mc:Fallback xmlns="">
          <p:sp>
            <p:nvSpPr>
              <p:cNvPr id="10" name="TextBox 9">
                <a:extLst>
                  <a:ext uri="{FF2B5EF4-FFF2-40B4-BE49-F238E27FC236}">
                    <a16:creationId xmlns:a16="http://schemas.microsoft.com/office/drawing/2014/main" id="{F0D4499F-AE2F-AA17-6291-6B679606F2FD}"/>
                  </a:ext>
                </a:extLst>
              </p:cNvPr>
              <p:cNvSpPr txBox="1">
                <a:spLocks noRot="1" noChangeAspect="1" noMove="1" noResize="1" noEditPoints="1" noAdjustHandles="1" noChangeArrowheads="1" noChangeShapeType="1" noTextEdit="1"/>
              </p:cNvSpPr>
              <p:nvPr/>
            </p:nvSpPr>
            <p:spPr>
              <a:xfrm>
                <a:off x="2677295" y="2171204"/>
                <a:ext cx="5069570" cy="988540"/>
              </a:xfrm>
              <a:prstGeom prst="rect">
                <a:avLst/>
              </a:prstGeom>
              <a:blipFill>
                <a:blip r:embed="rId4"/>
                <a:stretch>
                  <a:fillRect/>
                </a:stretch>
              </a:blipFill>
            </p:spPr>
            <p:txBody>
              <a:bodyPr/>
              <a:lstStyle/>
              <a:p>
                <a:r>
                  <a:rPr lang="en-GH">
                    <a:noFill/>
                  </a:rPr>
                  <a:t> </a:t>
                </a:r>
              </a:p>
            </p:txBody>
          </p:sp>
        </mc:Fallback>
      </mc:AlternateContent>
      <p:sp>
        <p:nvSpPr>
          <p:cNvPr id="11" name="TextBox 10">
            <a:extLst>
              <a:ext uri="{FF2B5EF4-FFF2-40B4-BE49-F238E27FC236}">
                <a16:creationId xmlns:a16="http://schemas.microsoft.com/office/drawing/2014/main" id="{309EEBB9-08F5-9135-2BA8-8A2DEDA979D0}"/>
              </a:ext>
            </a:extLst>
          </p:cNvPr>
          <p:cNvSpPr txBox="1"/>
          <p:nvPr/>
        </p:nvSpPr>
        <p:spPr>
          <a:xfrm>
            <a:off x="0" y="3550511"/>
            <a:ext cx="8961120" cy="830997"/>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Let </a:t>
            </a:r>
            <a:r>
              <a:rPr lang="en-CA" i="1" dirty="0" err="1">
                <a:latin typeface="+mn-lt"/>
              </a:rPr>
              <a:t>F</a:t>
            </a:r>
            <a:r>
              <a:rPr lang="en-CA" i="1" baseline="-25000" dirty="0" err="1">
                <a:latin typeface="+mn-lt"/>
              </a:rPr>
              <a:t>x</a:t>
            </a:r>
            <a:r>
              <a:rPr lang="en-CA" dirty="0">
                <a:latin typeface="+mn-lt"/>
              </a:rPr>
              <a:t> and </a:t>
            </a:r>
            <a:r>
              <a:rPr lang="en-CA" i="1" dirty="0" err="1">
                <a:latin typeface="+mn-lt"/>
              </a:rPr>
              <a:t>F</a:t>
            </a:r>
            <a:r>
              <a:rPr lang="en-CA" baseline="-25000" dirty="0" err="1">
                <a:latin typeface="+mn-lt"/>
              </a:rPr>
              <a:t>y</a:t>
            </a:r>
            <a:r>
              <a:rPr lang="en-CA" dirty="0">
                <a:latin typeface="+mn-lt"/>
              </a:rPr>
              <a:t> respectively denote the </a:t>
            </a:r>
            <a:r>
              <a:rPr lang="en-CA" i="1" dirty="0">
                <a:latin typeface="+mn-lt"/>
              </a:rPr>
              <a:t>x</a:t>
            </a:r>
            <a:r>
              <a:rPr lang="en-CA" dirty="0">
                <a:latin typeface="+mn-lt"/>
              </a:rPr>
              <a:t>- and </a:t>
            </a:r>
            <a:r>
              <a:rPr lang="en-CA" i="1" dirty="0">
                <a:latin typeface="+mn-lt"/>
              </a:rPr>
              <a:t>y</a:t>
            </a:r>
            <a:r>
              <a:rPr lang="en-CA" dirty="0">
                <a:latin typeface="+mn-lt"/>
              </a:rPr>
              <a:t>-components of the fluid force acting on the curved blade.</a:t>
            </a:r>
            <a:endParaRPr lang="en-CA" dirty="0">
              <a:solidFill>
                <a:schemeClr val="tx1"/>
              </a:solidFill>
              <a:latin typeface="+mn-lt"/>
            </a:endParaRPr>
          </a:p>
        </p:txBody>
      </p:sp>
      <p:sp>
        <p:nvSpPr>
          <p:cNvPr id="12" name="TextBox 11">
            <a:extLst>
              <a:ext uri="{FF2B5EF4-FFF2-40B4-BE49-F238E27FC236}">
                <a16:creationId xmlns:a16="http://schemas.microsoft.com/office/drawing/2014/main" id="{3E165027-8D70-97E5-00D3-85CBF97448F9}"/>
              </a:ext>
            </a:extLst>
          </p:cNvPr>
          <p:cNvSpPr txBox="1"/>
          <p:nvPr/>
        </p:nvSpPr>
        <p:spPr>
          <a:xfrm>
            <a:off x="0" y="4421948"/>
            <a:ext cx="4370832" cy="461665"/>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Application of assumption implies</a:t>
            </a:r>
            <a:endParaRPr lang="en-CA" dirty="0">
              <a:solidFill>
                <a:schemeClr val="tx1"/>
              </a:solidFill>
              <a:latin typeface="+mn-lt"/>
            </a:endParaRPr>
          </a:p>
        </p:txBody>
      </p:sp>
      <p:grpSp>
        <p:nvGrpSpPr>
          <p:cNvPr id="18" name="Group 17">
            <a:extLst>
              <a:ext uri="{FF2B5EF4-FFF2-40B4-BE49-F238E27FC236}">
                <a16:creationId xmlns:a16="http://schemas.microsoft.com/office/drawing/2014/main" id="{F2ECE5F1-104B-4E6D-6F31-E7DE04602A9F}"/>
              </a:ext>
            </a:extLst>
          </p:cNvPr>
          <p:cNvGrpSpPr/>
          <p:nvPr/>
        </p:nvGrpSpPr>
        <p:grpSpPr>
          <a:xfrm>
            <a:off x="27432" y="2768005"/>
            <a:ext cx="912641" cy="615307"/>
            <a:chOff x="27432" y="2594269"/>
            <a:chExt cx="912641" cy="615307"/>
          </a:xfrm>
        </p:grpSpPr>
        <p:sp>
          <p:nvSpPr>
            <p:cNvPr id="13" name="TextBox 12">
              <a:extLst>
                <a:ext uri="{FF2B5EF4-FFF2-40B4-BE49-F238E27FC236}">
                  <a16:creationId xmlns:a16="http://schemas.microsoft.com/office/drawing/2014/main" id="{DC6103B9-0F99-44EF-056C-824307E23498}"/>
                </a:ext>
              </a:extLst>
            </p:cNvPr>
            <p:cNvSpPr txBox="1"/>
            <p:nvPr/>
          </p:nvSpPr>
          <p:spPr>
            <a:xfrm>
              <a:off x="27432" y="2809466"/>
              <a:ext cx="445012" cy="400110"/>
            </a:xfrm>
            <a:prstGeom prst="rect">
              <a:avLst/>
            </a:prstGeom>
            <a:noFill/>
          </p:spPr>
          <p:txBody>
            <a:bodyPr wrap="square" rtlCol="0">
              <a:spAutoFit/>
            </a:bodyPr>
            <a:lstStyle/>
            <a:p>
              <a:r>
                <a:rPr lang="en-GB" sz="2000" i="1" dirty="0"/>
                <a:t>V</a:t>
              </a:r>
              <a:r>
                <a:rPr lang="en-GB" sz="2000" baseline="-25000" dirty="0"/>
                <a:t>1</a:t>
              </a:r>
            </a:p>
          </p:txBody>
        </p:sp>
        <p:sp>
          <p:nvSpPr>
            <p:cNvPr id="14" name="TextBox 13">
              <a:extLst>
                <a:ext uri="{FF2B5EF4-FFF2-40B4-BE49-F238E27FC236}">
                  <a16:creationId xmlns:a16="http://schemas.microsoft.com/office/drawing/2014/main" id="{936FF732-B2A1-FB53-DCCE-CE708D879151}"/>
                </a:ext>
              </a:extLst>
            </p:cNvPr>
            <p:cNvSpPr txBox="1"/>
            <p:nvPr/>
          </p:nvSpPr>
          <p:spPr>
            <a:xfrm>
              <a:off x="495061" y="2616408"/>
              <a:ext cx="445012" cy="400110"/>
            </a:xfrm>
            <a:prstGeom prst="rect">
              <a:avLst/>
            </a:prstGeom>
            <a:noFill/>
          </p:spPr>
          <p:txBody>
            <a:bodyPr wrap="square" rtlCol="0">
              <a:spAutoFit/>
            </a:bodyPr>
            <a:lstStyle/>
            <a:p>
              <a:r>
                <a:rPr lang="en-GB" sz="2000" i="1" dirty="0"/>
                <a:t>A</a:t>
              </a:r>
              <a:r>
                <a:rPr lang="en-GB" sz="2000" baseline="-25000" dirty="0"/>
                <a:t>1</a:t>
              </a:r>
              <a:endParaRPr lang="en-GH" sz="2000" baseline="-25000" dirty="0"/>
            </a:p>
          </p:txBody>
        </p:sp>
        <p:cxnSp>
          <p:nvCxnSpPr>
            <p:cNvPr id="16" name="Straight Arrow Connector 15">
              <a:extLst>
                <a:ext uri="{FF2B5EF4-FFF2-40B4-BE49-F238E27FC236}">
                  <a16:creationId xmlns:a16="http://schemas.microsoft.com/office/drawing/2014/main" id="{0265E7F2-C278-4854-0D84-24B5C45242D9}"/>
                </a:ext>
              </a:extLst>
            </p:cNvPr>
            <p:cNvCxnSpPr>
              <a:cxnSpLocks/>
            </p:cNvCxnSpPr>
            <p:nvPr/>
          </p:nvCxnSpPr>
          <p:spPr>
            <a:xfrm flipV="1">
              <a:off x="223815" y="2594269"/>
              <a:ext cx="385284" cy="2221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19" name="TextBox 18">
            <a:extLst>
              <a:ext uri="{FF2B5EF4-FFF2-40B4-BE49-F238E27FC236}">
                <a16:creationId xmlns:a16="http://schemas.microsoft.com/office/drawing/2014/main" id="{F33E4BA8-5E45-B1F2-FA04-FE682452B142}"/>
              </a:ext>
            </a:extLst>
          </p:cNvPr>
          <p:cNvSpPr txBox="1"/>
          <p:nvPr/>
        </p:nvSpPr>
        <p:spPr>
          <a:xfrm>
            <a:off x="162322" y="163045"/>
            <a:ext cx="981458" cy="400110"/>
          </a:xfrm>
          <a:prstGeom prst="rect">
            <a:avLst/>
          </a:prstGeom>
          <a:noFill/>
        </p:spPr>
        <p:txBody>
          <a:bodyPr wrap="square" rtlCol="0">
            <a:spAutoFit/>
          </a:bodyPr>
          <a:lstStyle/>
          <a:p>
            <a:r>
              <a:rPr lang="en-GB" sz="2000" i="1" dirty="0"/>
              <a:t>V</a:t>
            </a:r>
            <a:r>
              <a:rPr lang="en-GB" sz="2000" baseline="-25000" dirty="0"/>
              <a:t>2  </a:t>
            </a:r>
            <a:r>
              <a:rPr lang="en-GB" sz="2000" dirty="0"/>
              <a:t>= ?</a:t>
            </a:r>
            <a:r>
              <a:rPr lang="en-GB" sz="2000" baseline="-25000" dirty="0"/>
              <a:t>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211924F-2B39-35A6-7B89-0A245F271BDF}"/>
                  </a:ext>
                </a:extLst>
              </p:cNvPr>
              <p:cNvSpPr txBox="1"/>
              <p:nvPr/>
            </p:nvSpPr>
            <p:spPr>
              <a:xfrm>
                <a:off x="4480560" y="4421948"/>
                <a:ext cx="1344166" cy="465961"/>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𝐴</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oMath>
                  </m:oMathPara>
                </a14:m>
                <a:endParaRPr lang="en-GH" dirty="0"/>
              </a:p>
            </p:txBody>
          </p:sp>
        </mc:Choice>
        <mc:Fallback xmlns="">
          <p:sp>
            <p:nvSpPr>
              <p:cNvPr id="20" name="TextBox 19">
                <a:extLst>
                  <a:ext uri="{FF2B5EF4-FFF2-40B4-BE49-F238E27FC236}">
                    <a16:creationId xmlns:a16="http://schemas.microsoft.com/office/drawing/2014/main" id="{D211924F-2B39-35A6-7B89-0A245F271BDF}"/>
                  </a:ext>
                </a:extLst>
              </p:cNvPr>
              <p:cNvSpPr txBox="1">
                <a:spLocks noRot="1" noChangeAspect="1" noMove="1" noResize="1" noEditPoints="1" noAdjustHandles="1" noChangeArrowheads="1" noChangeShapeType="1" noTextEdit="1"/>
              </p:cNvSpPr>
              <p:nvPr/>
            </p:nvSpPr>
            <p:spPr>
              <a:xfrm>
                <a:off x="4480560" y="4421948"/>
                <a:ext cx="1344166" cy="465961"/>
              </a:xfrm>
              <a:prstGeom prst="rect">
                <a:avLst/>
              </a:prstGeom>
              <a:blipFill>
                <a:blip r:embed="rId5"/>
                <a:stretch>
                  <a:fillRect l="-909" b="-1299"/>
                </a:stretch>
              </a:blipFill>
            </p:spPr>
            <p:txBody>
              <a:bodyPr/>
              <a:lstStyle/>
              <a:p>
                <a:r>
                  <a:rPr lang="en-GH">
                    <a:noFill/>
                  </a:rPr>
                  <a:t> </a:t>
                </a:r>
              </a:p>
            </p:txBody>
          </p:sp>
        </mc:Fallback>
      </mc:AlternateContent>
      <p:sp>
        <p:nvSpPr>
          <p:cNvPr id="21" name="TextBox 20">
            <a:extLst>
              <a:ext uri="{FF2B5EF4-FFF2-40B4-BE49-F238E27FC236}">
                <a16:creationId xmlns:a16="http://schemas.microsoft.com/office/drawing/2014/main" id="{35E1C179-7EB5-00A5-8B6D-D1D6EB1124B5}"/>
              </a:ext>
            </a:extLst>
          </p:cNvPr>
          <p:cNvSpPr txBox="1"/>
          <p:nvPr/>
        </p:nvSpPr>
        <p:spPr>
          <a:xfrm>
            <a:off x="0" y="4941820"/>
            <a:ext cx="3913632" cy="461665"/>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From the continuity equation,</a:t>
            </a:r>
            <a:endParaRPr lang="en-CA" dirty="0">
              <a:solidFill>
                <a:schemeClr val="tx1"/>
              </a:solidFill>
              <a:latin typeface="+mn-lt"/>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357A1D-4C55-EA61-734A-414B977837D7}"/>
                  </a:ext>
                </a:extLst>
              </p:cNvPr>
              <p:cNvSpPr txBox="1"/>
              <p:nvPr/>
            </p:nvSpPr>
            <p:spPr>
              <a:xfrm>
                <a:off x="4007592" y="4959841"/>
                <a:ext cx="2292624"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𝜌</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𝐴</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1</m:t>
                          </m:r>
                        </m:sub>
                      </m:sSub>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𝑉</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𝜌</m:t>
                          </m:r>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Sub>
                    </m:oMath>
                  </m:oMathPara>
                </a14:m>
                <a:endParaRPr lang="en-GH" dirty="0"/>
              </a:p>
            </p:txBody>
          </p:sp>
        </mc:Choice>
        <mc:Fallback xmlns="">
          <p:sp>
            <p:nvSpPr>
              <p:cNvPr id="22" name="TextBox 21">
                <a:extLst>
                  <a:ext uri="{FF2B5EF4-FFF2-40B4-BE49-F238E27FC236}">
                    <a16:creationId xmlns:a16="http://schemas.microsoft.com/office/drawing/2014/main" id="{1F357A1D-4C55-EA61-734A-414B977837D7}"/>
                  </a:ext>
                </a:extLst>
              </p:cNvPr>
              <p:cNvSpPr txBox="1">
                <a:spLocks noRot="1" noChangeAspect="1" noMove="1" noResize="1" noEditPoints="1" noAdjustHandles="1" noChangeArrowheads="1" noChangeShapeType="1" noTextEdit="1"/>
              </p:cNvSpPr>
              <p:nvPr/>
            </p:nvSpPr>
            <p:spPr>
              <a:xfrm>
                <a:off x="4007592" y="4959841"/>
                <a:ext cx="2292624" cy="461665"/>
              </a:xfrm>
              <a:prstGeom prst="rect">
                <a:avLst/>
              </a:prstGeom>
              <a:blipFill>
                <a:blip r:embed="rId6"/>
                <a:stretch>
                  <a:fillRect l="-796" b="-18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753239-EDCF-5B37-5502-DD06C3BB4E95}"/>
                  </a:ext>
                </a:extLst>
              </p:cNvPr>
              <p:cNvSpPr txBox="1"/>
              <p:nvPr/>
            </p:nvSpPr>
            <p:spPr>
              <a:xfrm>
                <a:off x="0" y="5462437"/>
                <a:ext cx="2423160" cy="461665"/>
              </a:xfrm>
              <a:prstGeom prst="rect">
                <a:avLst/>
              </a:prstGeom>
              <a:noFill/>
            </p:spPr>
            <p:txBody>
              <a:bodyPr wrap="square">
                <a:spAutoFit/>
              </a:bodyPr>
              <a:lstStyle/>
              <a:p>
                <a:pPr marL="0" indent="0">
                  <a:buNone/>
                </a:pPr>
                <a14:m>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𝑉</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=15</m:t>
                    </m:r>
                  </m:oMath>
                </a14:m>
                <a:r>
                  <a:rPr lang="en-GB" dirty="0"/>
                  <a:t> m/s</a:t>
                </a:r>
                <a:endParaRPr lang="en-GH" dirty="0"/>
              </a:p>
            </p:txBody>
          </p:sp>
        </mc:Choice>
        <mc:Fallback xmlns="">
          <p:sp>
            <p:nvSpPr>
              <p:cNvPr id="23" name="TextBox 22">
                <a:extLst>
                  <a:ext uri="{FF2B5EF4-FFF2-40B4-BE49-F238E27FC236}">
                    <a16:creationId xmlns:a16="http://schemas.microsoft.com/office/drawing/2014/main" id="{50753239-EDCF-5B37-5502-DD06C3BB4E95}"/>
                  </a:ext>
                </a:extLst>
              </p:cNvPr>
              <p:cNvSpPr txBox="1">
                <a:spLocks noRot="1" noChangeAspect="1" noMove="1" noResize="1" noEditPoints="1" noAdjustHandles="1" noChangeArrowheads="1" noChangeShapeType="1" noTextEdit="1"/>
              </p:cNvSpPr>
              <p:nvPr/>
            </p:nvSpPr>
            <p:spPr>
              <a:xfrm>
                <a:off x="0" y="5462437"/>
                <a:ext cx="2423160" cy="461665"/>
              </a:xfrm>
              <a:prstGeom prst="rect">
                <a:avLst/>
              </a:prstGeom>
              <a:blipFill>
                <a:blip r:embed="rId7"/>
                <a:stretch>
                  <a:fillRect l="-503" t="-10526" r="-2261" b="-28947"/>
                </a:stretch>
              </a:blipFill>
            </p:spPr>
            <p:txBody>
              <a:bodyPr/>
              <a:lstStyle/>
              <a:p>
                <a:r>
                  <a:rPr lang="en-GH">
                    <a:noFill/>
                  </a:rPr>
                  <a:t> </a:t>
                </a:r>
              </a:p>
            </p:txBody>
          </p:sp>
        </mc:Fallback>
      </mc:AlternateContent>
    </p:spTree>
    <p:extLst>
      <p:ext uri="{BB962C8B-B14F-4D97-AF65-F5344CB8AC3E}">
        <p14:creationId xmlns:p14="http://schemas.microsoft.com/office/powerpoint/2010/main" val="4100356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BF5E3E-6B19-6DCE-D2B8-57885088FEEA}"/>
              </a:ext>
            </a:extLst>
          </p:cNvPr>
          <p:cNvPicPr>
            <a:picLocks noChangeAspect="1"/>
          </p:cNvPicPr>
          <p:nvPr/>
        </p:nvPicPr>
        <p:blipFill rotWithShape="1">
          <a:blip r:embed="rId3"/>
          <a:srcRect l="15417"/>
          <a:stretch/>
        </p:blipFill>
        <p:spPr>
          <a:xfrm>
            <a:off x="416457" y="355888"/>
            <a:ext cx="2006703" cy="246871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D4499F-AE2F-AA17-6291-6B679606F2FD}"/>
                  </a:ext>
                </a:extLst>
              </p:cNvPr>
              <p:cNvSpPr txBox="1"/>
              <p:nvPr/>
            </p:nvSpPr>
            <p:spPr>
              <a:xfrm>
                <a:off x="2617858" y="163045"/>
                <a:ext cx="5069570" cy="98854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b="0" i="1"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𝑆</m:t>
                              </m:r>
                            </m:sub>
                          </m:sSub>
                        </m:e>
                      </m:acc>
                      <m:r>
                        <a:rPr lang="en-GB" b="0" i="1" smtClean="0">
                          <a:solidFill>
                            <a:prstClr val="black"/>
                          </a:solidFill>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𝐵</m:t>
                              </m:r>
                            </m:sub>
                          </m:sSub>
                        </m:e>
                      </m:acc>
                      <m:r>
                        <a:rPr lang="en-GB" b="0" i="1" smtClean="0">
                          <a:solidFill>
                            <a:prstClr val="black"/>
                          </a:solidFill>
                          <a:latin typeface="Cambria Math" panose="02040503050406030204" pitchFamily="18" charset="0"/>
                        </a:rPr>
                        <m:t>=</m:t>
                      </m:r>
                      <m:nary>
                        <m:naryPr>
                          <m:chr m:val="∑"/>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acc>
                            <m:accPr>
                              <m:chr m:val="⃗"/>
                              <m:ctrlPr>
                                <a:rPr lang="en-CA" i="1">
                                  <a:solidFill>
                                    <a:prstClr val="black"/>
                                  </a:solidFill>
                                  <a:latin typeface="Cambria Math" panose="02040503050406030204" pitchFamily="18" charset="0"/>
                                  <a:ea typeface="Cambria Math" panose="02040503050406030204" pitchFamily="18" charset="0"/>
                                </a:rPr>
                              </m:ctrlPr>
                            </m:accPr>
                            <m:e>
                              <m:r>
                                <a:rPr lang="en-CA" b="0" i="1">
                                  <a:solidFill>
                                    <a:prstClr val="black"/>
                                  </a:solidFill>
                                  <a:latin typeface="Cambria Math" panose="02040503050406030204" pitchFamily="18" charset="0"/>
                                  <a:ea typeface="Cambria Math" panose="02040503050406030204" pitchFamily="18" charset="0"/>
                                </a:rPr>
                                <m:t>𝑉</m:t>
                              </m:r>
                            </m:e>
                          </m:acc>
                        </m:e>
                      </m:nary>
                    </m:oMath>
                  </m:oMathPara>
                </a14:m>
                <a:endParaRPr lang="en-GH" dirty="0"/>
              </a:p>
            </p:txBody>
          </p:sp>
        </mc:Choice>
        <mc:Fallback xmlns="">
          <p:sp>
            <p:nvSpPr>
              <p:cNvPr id="10" name="TextBox 9">
                <a:extLst>
                  <a:ext uri="{FF2B5EF4-FFF2-40B4-BE49-F238E27FC236}">
                    <a16:creationId xmlns:a16="http://schemas.microsoft.com/office/drawing/2014/main" id="{F0D4499F-AE2F-AA17-6291-6B679606F2FD}"/>
                  </a:ext>
                </a:extLst>
              </p:cNvPr>
              <p:cNvSpPr txBox="1">
                <a:spLocks noRot="1" noChangeAspect="1" noMove="1" noResize="1" noEditPoints="1" noAdjustHandles="1" noChangeArrowheads="1" noChangeShapeType="1" noTextEdit="1"/>
              </p:cNvSpPr>
              <p:nvPr/>
            </p:nvSpPr>
            <p:spPr>
              <a:xfrm>
                <a:off x="2617858" y="163045"/>
                <a:ext cx="5069570" cy="988540"/>
              </a:xfrm>
              <a:prstGeom prst="rect">
                <a:avLst/>
              </a:prstGeom>
              <a:blipFill>
                <a:blip r:embed="rId4"/>
                <a:stretch>
                  <a:fillRect/>
                </a:stretch>
              </a:blipFill>
            </p:spPr>
            <p:txBody>
              <a:bodyPr/>
              <a:lstStyle/>
              <a:p>
                <a:r>
                  <a:rPr lang="en-GH">
                    <a:noFill/>
                  </a:rPr>
                  <a:t> </a:t>
                </a:r>
              </a:p>
            </p:txBody>
          </p:sp>
        </mc:Fallback>
      </mc:AlternateContent>
      <p:grpSp>
        <p:nvGrpSpPr>
          <p:cNvPr id="18" name="Group 17">
            <a:extLst>
              <a:ext uri="{FF2B5EF4-FFF2-40B4-BE49-F238E27FC236}">
                <a16:creationId xmlns:a16="http://schemas.microsoft.com/office/drawing/2014/main" id="{F2ECE5F1-104B-4E6D-6F31-E7DE04602A9F}"/>
              </a:ext>
            </a:extLst>
          </p:cNvPr>
          <p:cNvGrpSpPr/>
          <p:nvPr/>
        </p:nvGrpSpPr>
        <p:grpSpPr>
          <a:xfrm>
            <a:off x="27432" y="2768005"/>
            <a:ext cx="912641" cy="615307"/>
            <a:chOff x="27432" y="2594269"/>
            <a:chExt cx="912641" cy="615307"/>
          </a:xfrm>
        </p:grpSpPr>
        <p:sp>
          <p:nvSpPr>
            <p:cNvPr id="13" name="TextBox 12">
              <a:extLst>
                <a:ext uri="{FF2B5EF4-FFF2-40B4-BE49-F238E27FC236}">
                  <a16:creationId xmlns:a16="http://schemas.microsoft.com/office/drawing/2014/main" id="{DC6103B9-0F99-44EF-056C-824307E23498}"/>
                </a:ext>
              </a:extLst>
            </p:cNvPr>
            <p:cNvSpPr txBox="1"/>
            <p:nvPr/>
          </p:nvSpPr>
          <p:spPr>
            <a:xfrm>
              <a:off x="27432" y="2809466"/>
              <a:ext cx="445012" cy="400110"/>
            </a:xfrm>
            <a:prstGeom prst="rect">
              <a:avLst/>
            </a:prstGeom>
            <a:noFill/>
          </p:spPr>
          <p:txBody>
            <a:bodyPr wrap="square" rtlCol="0">
              <a:spAutoFit/>
            </a:bodyPr>
            <a:lstStyle/>
            <a:p>
              <a:r>
                <a:rPr lang="en-GB" sz="2000" i="1" dirty="0"/>
                <a:t>V</a:t>
              </a:r>
              <a:r>
                <a:rPr lang="en-GB" sz="2000" baseline="-25000" dirty="0"/>
                <a:t>1</a:t>
              </a:r>
            </a:p>
          </p:txBody>
        </p:sp>
        <p:sp>
          <p:nvSpPr>
            <p:cNvPr id="14" name="TextBox 13">
              <a:extLst>
                <a:ext uri="{FF2B5EF4-FFF2-40B4-BE49-F238E27FC236}">
                  <a16:creationId xmlns:a16="http://schemas.microsoft.com/office/drawing/2014/main" id="{936FF732-B2A1-FB53-DCCE-CE708D879151}"/>
                </a:ext>
              </a:extLst>
            </p:cNvPr>
            <p:cNvSpPr txBox="1"/>
            <p:nvPr/>
          </p:nvSpPr>
          <p:spPr>
            <a:xfrm>
              <a:off x="495061" y="2616408"/>
              <a:ext cx="445012" cy="400110"/>
            </a:xfrm>
            <a:prstGeom prst="rect">
              <a:avLst/>
            </a:prstGeom>
            <a:noFill/>
          </p:spPr>
          <p:txBody>
            <a:bodyPr wrap="square" rtlCol="0">
              <a:spAutoFit/>
            </a:bodyPr>
            <a:lstStyle/>
            <a:p>
              <a:r>
                <a:rPr lang="en-GB" sz="2000" i="1" dirty="0"/>
                <a:t>A</a:t>
              </a:r>
              <a:r>
                <a:rPr lang="en-GB" sz="2000" baseline="-25000" dirty="0"/>
                <a:t>1</a:t>
              </a:r>
              <a:endParaRPr lang="en-GH" sz="2000" baseline="-25000" dirty="0"/>
            </a:p>
          </p:txBody>
        </p:sp>
        <p:cxnSp>
          <p:nvCxnSpPr>
            <p:cNvPr id="16" name="Straight Arrow Connector 15">
              <a:extLst>
                <a:ext uri="{FF2B5EF4-FFF2-40B4-BE49-F238E27FC236}">
                  <a16:creationId xmlns:a16="http://schemas.microsoft.com/office/drawing/2014/main" id="{0265E7F2-C278-4854-0D84-24B5C45242D9}"/>
                </a:ext>
              </a:extLst>
            </p:cNvPr>
            <p:cNvCxnSpPr>
              <a:cxnSpLocks/>
            </p:cNvCxnSpPr>
            <p:nvPr/>
          </p:nvCxnSpPr>
          <p:spPr>
            <a:xfrm flipV="1">
              <a:off x="223815" y="2594269"/>
              <a:ext cx="385284" cy="2221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19" name="TextBox 18">
            <a:extLst>
              <a:ext uri="{FF2B5EF4-FFF2-40B4-BE49-F238E27FC236}">
                <a16:creationId xmlns:a16="http://schemas.microsoft.com/office/drawing/2014/main" id="{F33E4BA8-5E45-B1F2-FA04-FE682452B142}"/>
              </a:ext>
            </a:extLst>
          </p:cNvPr>
          <p:cNvSpPr txBox="1"/>
          <p:nvPr/>
        </p:nvSpPr>
        <p:spPr>
          <a:xfrm>
            <a:off x="162322" y="163045"/>
            <a:ext cx="981458" cy="400110"/>
          </a:xfrm>
          <a:prstGeom prst="rect">
            <a:avLst/>
          </a:prstGeom>
          <a:noFill/>
        </p:spPr>
        <p:txBody>
          <a:bodyPr wrap="square" rtlCol="0">
            <a:spAutoFit/>
          </a:bodyPr>
          <a:lstStyle/>
          <a:p>
            <a:r>
              <a:rPr lang="en-GB" sz="2000" i="1" dirty="0"/>
              <a:t>V</a:t>
            </a:r>
            <a:r>
              <a:rPr lang="en-GB" sz="2000" baseline="-25000" dirty="0"/>
              <a:t>2  </a:t>
            </a:r>
            <a:r>
              <a:rPr lang="en-GB" sz="2000" dirty="0"/>
              <a:t>= ?</a:t>
            </a:r>
            <a:r>
              <a:rPr lang="en-GB" sz="2000" baseline="-25000" dirty="0"/>
              <a:t>  </a:t>
            </a:r>
          </a:p>
        </p:txBody>
      </p:sp>
      <p:sp>
        <p:nvSpPr>
          <p:cNvPr id="2" name="TextBox 1">
            <a:extLst>
              <a:ext uri="{FF2B5EF4-FFF2-40B4-BE49-F238E27FC236}">
                <a16:creationId xmlns:a16="http://schemas.microsoft.com/office/drawing/2014/main" id="{77DAE9EF-B1EC-A759-C34D-6F058684EE59}"/>
              </a:ext>
            </a:extLst>
          </p:cNvPr>
          <p:cNvSpPr txBox="1"/>
          <p:nvPr/>
        </p:nvSpPr>
        <p:spPr>
          <a:xfrm>
            <a:off x="2788920" y="1185115"/>
            <a:ext cx="2496312" cy="461665"/>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In the </a:t>
            </a:r>
            <a:r>
              <a:rPr lang="en-CA" i="1" dirty="0">
                <a:latin typeface="+mn-lt"/>
              </a:rPr>
              <a:t>x</a:t>
            </a:r>
            <a:r>
              <a:rPr lang="en-CA" dirty="0">
                <a:latin typeface="+mn-lt"/>
              </a:rPr>
              <a:t>-direction:</a:t>
            </a:r>
            <a:endParaRPr lang="en-CA" dirty="0">
              <a:solidFill>
                <a:schemeClr val="tx1"/>
              </a:solidFill>
              <a:latin typeface="+mn-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F462C87-2B8F-D54C-E716-7A7586847BCC}"/>
                  </a:ext>
                </a:extLst>
              </p:cNvPr>
              <p:cNvSpPr txBox="1"/>
              <p:nvPr/>
            </p:nvSpPr>
            <p:spPr>
              <a:xfrm>
                <a:off x="2750447" y="1606409"/>
                <a:ext cx="506957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xmlns="">
          <p:sp>
            <p:nvSpPr>
              <p:cNvPr id="3" name="TextBox 2">
                <a:extLst>
                  <a:ext uri="{FF2B5EF4-FFF2-40B4-BE49-F238E27FC236}">
                    <a16:creationId xmlns:a16="http://schemas.microsoft.com/office/drawing/2014/main" id="{8F462C87-2B8F-D54C-E716-7A7586847BCC}"/>
                  </a:ext>
                </a:extLst>
              </p:cNvPr>
              <p:cNvSpPr txBox="1">
                <a:spLocks noRot="1" noChangeAspect="1" noMove="1" noResize="1" noEditPoints="1" noAdjustHandles="1" noChangeArrowheads="1" noChangeShapeType="1" noTextEdit="1"/>
              </p:cNvSpPr>
              <p:nvPr/>
            </p:nvSpPr>
            <p:spPr>
              <a:xfrm>
                <a:off x="2750447" y="1606409"/>
                <a:ext cx="5069570" cy="461665"/>
              </a:xfrm>
              <a:prstGeom prst="rect">
                <a:avLst/>
              </a:prstGeom>
              <a:blipFill>
                <a:blip r:embed="rId5"/>
                <a:stretch>
                  <a:fillRect b="-2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D78BDB-0F84-A333-07C2-880B5052FC1F}"/>
                  </a:ext>
                </a:extLst>
              </p:cNvPr>
              <p:cNvSpPr txBox="1"/>
              <p:nvPr/>
            </p:nvSpPr>
            <p:spPr>
              <a:xfrm>
                <a:off x="2750447" y="2107811"/>
                <a:ext cx="506957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2</m:t>
                          </m:r>
                        </m:sub>
                      </m:sSub>
                    </m:oMath>
                  </m:oMathPara>
                </a14:m>
                <a:endParaRPr lang="en-GH" dirty="0"/>
              </a:p>
            </p:txBody>
          </p:sp>
        </mc:Choice>
        <mc:Fallback xmlns="">
          <p:sp>
            <p:nvSpPr>
              <p:cNvPr id="4" name="TextBox 3">
                <a:extLst>
                  <a:ext uri="{FF2B5EF4-FFF2-40B4-BE49-F238E27FC236}">
                    <a16:creationId xmlns:a16="http://schemas.microsoft.com/office/drawing/2014/main" id="{32D78BDB-0F84-A333-07C2-880B5052FC1F}"/>
                  </a:ext>
                </a:extLst>
              </p:cNvPr>
              <p:cNvSpPr txBox="1">
                <a:spLocks noRot="1" noChangeAspect="1" noMove="1" noResize="1" noEditPoints="1" noAdjustHandles="1" noChangeArrowheads="1" noChangeShapeType="1" noTextEdit="1"/>
              </p:cNvSpPr>
              <p:nvPr/>
            </p:nvSpPr>
            <p:spPr>
              <a:xfrm>
                <a:off x="2750447" y="2107811"/>
                <a:ext cx="5069570" cy="461665"/>
              </a:xfrm>
              <a:prstGeom prst="rect">
                <a:avLst/>
              </a:prstGeom>
              <a:blipFill>
                <a:blip r:embed="rId6"/>
                <a:stretch>
                  <a:fillRect b="-131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B14B3D-1041-8038-CDA9-F8D6F779BFB6}"/>
                  </a:ext>
                </a:extLst>
              </p:cNvPr>
              <p:cNvSpPr txBox="1"/>
              <p:nvPr/>
            </p:nvSpPr>
            <p:spPr>
              <a:xfrm>
                <a:off x="2171327" y="2673068"/>
                <a:ext cx="506957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CA" i="1">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oMath>
                  </m:oMathPara>
                </a14:m>
                <a:endParaRPr lang="en-GH" dirty="0"/>
              </a:p>
            </p:txBody>
          </p:sp>
        </mc:Choice>
        <mc:Fallback xmlns="">
          <p:sp>
            <p:nvSpPr>
              <p:cNvPr id="6" name="TextBox 5">
                <a:extLst>
                  <a:ext uri="{FF2B5EF4-FFF2-40B4-BE49-F238E27FC236}">
                    <a16:creationId xmlns:a16="http://schemas.microsoft.com/office/drawing/2014/main" id="{F8B14B3D-1041-8038-CDA9-F8D6F779BFB6}"/>
                  </a:ext>
                </a:extLst>
              </p:cNvPr>
              <p:cNvSpPr txBox="1">
                <a:spLocks noRot="1" noChangeAspect="1" noMove="1" noResize="1" noEditPoints="1" noAdjustHandles="1" noChangeArrowheads="1" noChangeShapeType="1" noTextEdit="1"/>
              </p:cNvSpPr>
              <p:nvPr/>
            </p:nvSpPr>
            <p:spPr>
              <a:xfrm>
                <a:off x="2171327" y="2673068"/>
                <a:ext cx="5069570" cy="461665"/>
              </a:xfrm>
              <a:prstGeom prst="rect">
                <a:avLst/>
              </a:prstGeom>
              <a:blipFill>
                <a:blip r:embed="rId7"/>
                <a:stretch>
                  <a:fillRect b="-1184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DC5974-0543-7CE0-AAE9-99EA4F99C2F3}"/>
                  </a:ext>
                </a:extLst>
              </p:cNvPr>
              <p:cNvSpPr txBox="1"/>
              <p:nvPr/>
            </p:nvSpPr>
            <p:spPr>
              <a:xfrm>
                <a:off x="2171327" y="3152479"/>
                <a:ext cx="2182012" cy="461665"/>
              </a:xfrm>
              <a:prstGeom prst="rect">
                <a:avLst/>
              </a:prstGeom>
              <a:noFill/>
            </p:spPr>
            <p:txBody>
              <a:bodyPr wrap="square">
                <a:spAutoFit/>
              </a:bodyPr>
              <a:lstStyle/>
              <a:p>
                <a:pPr marL="0" indent="0">
                  <a:buNone/>
                </a:pPr>
                <a14:m>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𝑐𝑜𝑠</m:t>
                    </m:r>
                    <m:r>
                      <a:rPr lang="en-GB" b="0" i="1" smtClean="0">
                        <a:solidFill>
                          <a:prstClr val="black"/>
                        </a:solidFill>
                        <a:latin typeface="Cambria Math" panose="02040503050406030204" pitchFamily="18" charset="0"/>
                      </a:rPr>
                      <m:t>30°</m:t>
                    </m:r>
                  </m:oMath>
                </a14:m>
                <a:r>
                  <a:rPr lang="en-GB" dirty="0"/>
                  <a:t>,</a:t>
                </a:r>
                <a:endParaRPr lang="en-GH" dirty="0"/>
              </a:p>
            </p:txBody>
          </p:sp>
        </mc:Choice>
        <mc:Fallback xmlns="">
          <p:sp>
            <p:nvSpPr>
              <p:cNvPr id="7" name="TextBox 6">
                <a:extLst>
                  <a:ext uri="{FF2B5EF4-FFF2-40B4-BE49-F238E27FC236}">
                    <a16:creationId xmlns:a16="http://schemas.microsoft.com/office/drawing/2014/main" id="{1CDC5974-0543-7CE0-AAE9-99EA4F99C2F3}"/>
                  </a:ext>
                </a:extLst>
              </p:cNvPr>
              <p:cNvSpPr txBox="1">
                <a:spLocks noRot="1" noChangeAspect="1" noMove="1" noResize="1" noEditPoints="1" noAdjustHandles="1" noChangeArrowheads="1" noChangeShapeType="1" noTextEdit="1"/>
              </p:cNvSpPr>
              <p:nvPr/>
            </p:nvSpPr>
            <p:spPr>
              <a:xfrm>
                <a:off x="2171327" y="3152479"/>
                <a:ext cx="2182012" cy="461665"/>
              </a:xfrm>
              <a:prstGeom prst="rect">
                <a:avLst/>
              </a:prstGeom>
              <a:blipFill>
                <a:blip r:embed="rId8"/>
                <a:stretch>
                  <a:fillRect t="-10526" r="-2793"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6DA63A-8822-14F4-9088-572BA5E61290}"/>
                  </a:ext>
                </a:extLst>
              </p:cNvPr>
              <p:cNvSpPr txBox="1"/>
              <p:nvPr/>
            </p:nvSpPr>
            <p:spPr>
              <a:xfrm>
                <a:off x="4303557" y="3126829"/>
                <a:ext cx="236063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𝑐𝑜𝑠</m:t>
                      </m:r>
                      <m:r>
                        <a:rPr lang="en-GB" b="0" i="1" smtClean="0">
                          <a:solidFill>
                            <a:prstClr val="black"/>
                          </a:solidFill>
                          <a:latin typeface="Cambria Math" panose="02040503050406030204" pitchFamily="18" charset="0"/>
                        </a:rPr>
                        <m:t>45°</m:t>
                      </m:r>
                    </m:oMath>
                  </m:oMathPara>
                </a14:m>
                <a:endParaRPr lang="en-GH" dirty="0"/>
              </a:p>
            </p:txBody>
          </p:sp>
        </mc:Choice>
        <mc:Fallback xmlns="">
          <p:sp>
            <p:nvSpPr>
              <p:cNvPr id="8" name="TextBox 7">
                <a:extLst>
                  <a:ext uri="{FF2B5EF4-FFF2-40B4-BE49-F238E27FC236}">
                    <a16:creationId xmlns:a16="http://schemas.microsoft.com/office/drawing/2014/main" id="{2F6DA63A-8822-14F4-9088-572BA5E61290}"/>
                  </a:ext>
                </a:extLst>
              </p:cNvPr>
              <p:cNvSpPr txBox="1">
                <a:spLocks noRot="1" noChangeAspect="1" noMove="1" noResize="1" noEditPoints="1" noAdjustHandles="1" noChangeArrowheads="1" noChangeShapeType="1" noTextEdit="1"/>
              </p:cNvSpPr>
              <p:nvPr/>
            </p:nvSpPr>
            <p:spPr>
              <a:xfrm>
                <a:off x="4303557" y="3126829"/>
                <a:ext cx="2360630" cy="461665"/>
              </a:xfrm>
              <a:prstGeom prst="rect">
                <a:avLst/>
              </a:prstGeom>
              <a:blipFill>
                <a:blip r:embed="rId9"/>
                <a:stretch>
                  <a:fillRect b="-131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FF09D52-886E-FACA-29A5-EDC1D986D5AF}"/>
                  </a:ext>
                </a:extLst>
              </p:cNvPr>
              <p:cNvSpPr txBox="1"/>
              <p:nvPr/>
            </p:nvSpPr>
            <p:spPr>
              <a:xfrm>
                <a:off x="196006" y="3687283"/>
                <a:ext cx="5069570" cy="465961"/>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Sup>
                        <m:sSubSupPr>
                          <m:ctrlPr>
                            <a:rPr lang="en-GB" b="0" i="1" smtClean="0">
                              <a:solidFill>
                                <a:prstClr val="black"/>
                              </a:solidFill>
                              <a:latin typeface="Cambria Math" panose="02040503050406030204" pitchFamily="18" charset="0"/>
                              <a:ea typeface="Cambria Math" panose="02040503050406030204" pitchFamily="18" charset="0"/>
                            </a:rPr>
                          </m:ctrlPr>
                        </m:sSubSup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up>
                          <m:r>
                            <a:rPr lang="en-GB" b="0" i="1" smtClean="0">
                              <a:solidFill>
                                <a:prstClr val="black"/>
                              </a:solidFill>
                              <a:latin typeface="Cambria Math" panose="02040503050406030204" pitchFamily="18" charset="0"/>
                              <a:ea typeface="Cambria Math" panose="02040503050406030204" pitchFamily="18" charset="0"/>
                            </a:rPr>
                            <m:t>2</m:t>
                          </m:r>
                        </m:sup>
                      </m:sSubSup>
                      <m:r>
                        <a:rPr lang="en-GB" i="1">
                          <a:solidFill>
                            <a:prstClr val="black"/>
                          </a:solidFill>
                          <a:latin typeface="Cambria Math" panose="02040503050406030204" pitchFamily="18" charset="0"/>
                        </a:rPr>
                        <m:t>𝑐𝑜𝑠</m:t>
                      </m:r>
                      <m:r>
                        <a:rPr lang="en-GB" i="1">
                          <a:solidFill>
                            <a:prstClr val="black"/>
                          </a:solidFill>
                          <a:latin typeface="Cambria Math" panose="02040503050406030204" pitchFamily="18" charset="0"/>
                        </a:rPr>
                        <m:t>30°+</m:t>
                      </m:r>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i="1">
                              <a:solidFill>
                                <a:prstClr val="black"/>
                              </a:solidFill>
                              <a:latin typeface="Cambria Math" panose="02040503050406030204" pitchFamily="18" charset="0"/>
                              <a:ea typeface="Cambria Math" panose="02040503050406030204" pitchFamily="18" charset="0"/>
                            </a:rPr>
                            <m:t>1</m:t>
                          </m:r>
                        </m:sub>
                      </m:sSub>
                      <m:sSubSup>
                        <m:sSubSupPr>
                          <m:ctrlPr>
                            <a:rPr lang="en-GB" i="1">
                              <a:solidFill>
                                <a:prstClr val="black"/>
                              </a:solidFill>
                              <a:latin typeface="Cambria Math" panose="02040503050406030204" pitchFamily="18" charset="0"/>
                              <a:ea typeface="Cambria Math" panose="02040503050406030204" pitchFamily="18" charset="0"/>
                            </a:rPr>
                          </m:ctrlPr>
                        </m:sSubSupPr>
                        <m:e>
                          <m:r>
                            <a:rPr lang="en-GB" i="1">
                              <a:solidFill>
                                <a:prstClr val="black"/>
                              </a:solidFill>
                              <a:latin typeface="Cambria Math" panose="02040503050406030204" pitchFamily="18" charset="0"/>
                              <a:ea typeface="Cambria Math" panose="02040503050406030204" pitchFamily="18" charset="0"/>
                            </a:rPr>
                            <m:t>𝑉</m:t>
                          </m:r>
                        </m:e>
                        <m:sub>
                          <m:r>
                            <a:rPr lang="en-GB" i="1">
                              <a:solidFill>
                                <a:prstClr val="black"/>
                              </a:solidFill>
                              <a:latin typeface="Cambria Math" panose="02040503050406030204" pitchFamily="18" charset="0"/>
                              <a:ea typeface="Cambria Math" panose="02040503050406030204" pitchFamily="18" charset="0"/>
                            </a:rPr>
                            <m:t>1</m:t>
                          </m:r>
                        </m:sub>
                        <m:sup>
                          <m:r>
                            <a:rPr lang="en-GB" i="1">
                              <a:solidFill>
                                <a:prstClr val="black"/>
                              </a:solidFill>
                              <a:latin typeface="Cambria Math" panose="02040503050406030204" pitchFamily="18" charset="0"/>
                              <a:ea typeface="Cambria Math" panose="02040503050406030204" pitchFamily="18" charset="0"/>
                            </a:rPr>
                            <m:t>2</m:t>
                          </m:r>
                        </m:sup>
                      </m:sSubSup>
                      <m:r>
                        <a:rPr lang="en-GB" i="1">
                          <a:solidFill>
                            <a:prstClr val="black"/>
                          </a:solidFill>
                          <a:latin typeface="Cambria Math" panose="02040503050406030204" pitchFamily="18" charset="0"/>
                        </a:rPr>
                        <m:t>𝑐𝑜𝑠</m:t>
                      </m:r>
                      <m:r>
                        <a:rPr lang="en-GB" b="0" i="1" smtClean="0">
                          <a:solidFill>
                            <a:prstClr val="black"/>
                          </a:solidFill>
                          <a:latin typeface="Cambria Math" panose="02040503050406030204" pitchFamily="18" charset="0"/>
                        </a:rPr>
                        <m:t>45</m:t>
                      </m:r>
                      <m:r>
                        <a:rPr lang="en-GB" i="1">
                          <a:solidFill>
                            <a:prstClr val="black"/>
                          </a:solidFill>
                          <a:latin typeface="Cambria Math" panose="02040503050406030204" pitchFamily="18" charset="0"/>
                        </a:rPr>
                        <m:t>°</m:t>
                      </m:r>
                    </m:oMath>
                  </m:oMathPara>
                </a14:m>
                <a:endParaRPr lang="en-GH" dirty="0"/>
              </a:p>
            </p:txBody>
          </p:sp>
        </mc:Choice>
        <mc:Fallback xmlns="">
          <p:sp>
            <p:nvSpPr>
              <p:cNvPr id="15" name="TextBox 14">
                <a:extLst>
                  <a:ext uri="{FF2B5EF4-FFF2-40B4-BE49-F238E27FC236}">
                    <a16:creationId xmlns:a16="http://schemas.microsoft.com/office/drawing/2014/main" id="{4FF09D52-886E-FACA-29A5-EDC1D986D5AF}"/>
                  </a:ext>
                </a:extLst>
              </p:cNvPr>
              <p:cNvSpPr txBox="1">
                <a:spLocks noRot="1" noChangeAspect="1" noMove="1" noResize="1" noEditPoints="1" noAdjustHandles="1" noChangeArrowheads="1" noChangeShapeType="1" noTextEdit="1"/>
              </p:cNvSpPr>
              <p:nvPr/>
            </p:nvSpPr>
            <p:spPr>
              <a:xfrm>
                <a:off x="196006" y="3687283"/>
                <a:ext cx="5069570" cy="465961"/>
              </a:xfrm>
              <a:prstGeom prst="rect">
                <a:avLst/>
              </a:prstGeom>
              <a:blipFill>
                <a:blip r:embed="rId10"/>
                <a:stretch>
                  <a:fillRect b="-1184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8325373-4734-059F-C2F4-7BD028C3258A}"/>
                  </a:ext>
                </a:extLst>
              </p:cNvPr>
              <p:cNvSpPr txBox="1"/>
              <p:nvPr/>
            </p:nvSpPr>
            <p:spPr>
              <a:xfrm>
                <a:off x="472443" y="4259321"/>
                <a:ext cx="7688918" cy="831061"/>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=1000</m:t>
                      </m:r>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𝜋</m:t>
                      </m:r>
                      <m:r>
                        <a:rPr lang="en-GB" b="0" i="1" smtClean="0">
                          <a:solidFill>
                            <a:prstClr val="black"/>
                          </a:solidFill>
                          <a:latin typeface="Cambria Math" panose="02040503050406030204" pitchFamily="18" charset="0"/>
                          <a:ea typeface="Cambria Math" panose="02040503050406030204" pitchFamily="18" charset="0"/>
                        </a:rPr>
                        <m:t>×</m:t>
                      </m:r>
                      <m:f>
                        <m:fPr>
                          <m:ctrlPr>
                            <a:rPr lang="en-GB" b="0" i="1" smtClean="0">
                              <a:solidFill>
                                <a:prstClr val="black"/>
                              </a:solidFill>
                              <a:latin typeface="Cambria Math" panose="02040503050406030204" pitchFamily="18" charset="0"/>
                              <a:ea typeface="Cambria Math" panose="02040503050406030204" pitchFamily="18" charset="0"/>
                            </a:rPr>
                          </m:ctrlPr>
                        </m:fPr>
                        <m:num>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0.05</m:t>
                              </m:r>
                            </m:e>
                            <m:sup>
                              <m:r>
                                <a:rPr lang="en-GB" b="0" i="1" smtClean="0">
                                  <a:solidFill>
                                    <a:prstClr val="black"/>
                                  </a:solidFill>
                                  <a:latin typeface="Cambria Math" panose="02040503050406030204" pitchFamily="18" charset="0"/>
                                  <a:ea typeface="Cambria Math" panose="02040503050406030204" pitchFamily="18" charset="0"/>
                                </a:rPr>
                                <m:t>2</m:t>
                              </m:r>
                            </m:sup>
                          </m:sSup>
                        </m:num>
                        <m:den>
                          <m:r>
                            <a:rPr lang="en-GB" b="0" i="1" smtClean="0">
                              <a:solidFill>
                                <a:prstClr val="black"/>
                              </a:solidFill>
                              <a:latin typeface="Cambria Math" panose="02040503050406030204" pitchFamily="18" charset="0"/>
                              <a:ea typeface="Cambria Math" panose="02040503050406030204" pitchFamily="18" charset="0"/>
                            </a:rPr>
                            <m:t>4</m:t>
                          </m:r>
                        </m:den>
                      </m:f>
                      <m:r>
                        <a:rPr lang="en-GB" b="0" i="1" smtClean="0">
                          <a:solidFill>
                            <a:prstClr val="black"/>
                          </a:solidFill>
                          <a:latin typeface="Cambria Math" panose="02040503050406030204" pitchFamily="18" charset="0"/>
                          <a:ea typeface="Cambria Math" panose="02040503050406030204" pitchFamily="18" charset="0"/>
                        </a:rPr>
                        <m:t>×</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15</m:t>
                          </m:r>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ea typeface="Cambria Math" panose="02040503050406030204" pitchFamily="18" charset="0"/>
                        </a:rPr>
                        <m:t> </m:t>
                      </m:r>
                      <m:d>
                        <m:dPr>
                          <m:ctrlPr>
                            <a:rPr lang="en-GB" b="0" i="1" smtClean="0">
                              <a:solidFill>
                                <a:prstClr val="black"/>
                              </a:solidFill>
                              <a:latin typeface="Cambria Math" panose="02040503050406030204" pitchFamily="18" charset="0"/>
                              <a:ea typeface="Cambria Math" panose="02040503050406030204" pitchFamily="18" charset="0"/>
                            </a:rPr>
                          </m:ctrlPr>
                        </m:dPr>
                        <m:e>
                          <m:r>
                            <a:rPr lang="en-GB" i="1">
                              <a:solidFill>
                                <a:prstClr val="black"/>
                              </a:solidFill>
                              <a:latin typeface="Cambria Math" panose="02040503050406030204" pitchFamily="18" charset="0"/>
                            </a:rPr>
                            <m:t>𝑐𝑜𝑠</m:t>
                          </m:r>
                          <m:r>
                            <a:rPr lang="en-GB" i="1">
                              <a:solidFill>
                                <a:prstClr val="black"/>
                              </a:solidFill>
                              <a:latin typeface="Cambria Math" panose="02040503050406030204" pitchFamily="18" charset="0"/>
                            </a:rPr>
                            <m:t>30°+</m:t>
                          </m:r>
                          <m:r>
                            <a:rPr lang="en-GB" i="1">
                              <a:solidFill>
                                <a:prstClr val="black"/>
                              </a:solidFill>
                              <a:latin typeface="Cambria Math" panose="02040503050406030204" pitchFamily="18" charset="0"/>
                            </a:rPr>
                            <m:t>𝑐𝑜𝑠</m:t>
                          </m:r>
                          <m:r>
                            <a:rPr lang="en-GB" b="0" i="1" smtClean="0">
                              <a:solidFill>
                                <a:prstClr val="black"/>
                              </a:solidFill>
                              <a:latin typeface="Cambria Math" panose="02040503050406030204" pitchFamily="18" charset="0"/>
                            </a:rPr>
                            <m:t>45</m:t>
                          </m:r>
                          <m:r>
                            <a:rPr lang="en-GB" i="1">
                              <a:solidFill>
                                <a:prstClr val="black"/>
                              </a:solidFill>
                              <a:latin typeface="Cambria Math" panose="02040503050406030204" pitchFamily="18" charset="0"/>
                            </a:rPr>
                            <m:t>°</m:t>
                          </m:r>
                        </m:e>
                      </m:d>
                      <m:r>
                        <a:rPr lang="en-GB" b="0" i="1" smtClean="0">
                          <a:solidFill>
                            <a:prstClr val="black"/>
                          </a:solidFill>
                          <a:latin typeface="Cambria Math" panose="02040503050406030204" pitchFamily="18" charset="0"/>
                        </a:rPr>
                        <m:t>=695 </m:t>
                      </m:r>
                      <m:r>
                        <m:rPr>
                          <m:sty m:val="p"/>
                        </m:rPr>
                        <a:rPr lang="en-GB" b="0" i="0" smtClean="0">
                          <a:solidFill>
                            <a:prstClr val="black"/>
                          </a:solidFill>
                          <a:latin typeface="Cambria Math" panose="02040503050406030204" pitchFamily="18" charset="0"/>
                        </a:rPr>
                        <m:t>N</m:t>
                      </m:r>
                    </m:oMath>
                  </m:oMathPara>
                </a14:m>
                <a:endParaRPr lang="en-GH" dirty="0"/>
              </a:p>
            </p:txBody>
          </p:sp>
        </mc:Choice>
        <mc:Fallback xmlns="">
          <p:sp>
            <p:nvSpPr>
              <p:cNvPr id="17" name="TextBox 16">
                <a:extLst>
                  <a:ext uri="{FF2B5EF4-FFF2-40B4-BE49-F238E27FC236}">
                    <a16:creationId xmlns:a16="http://schemas.microsoft.com/office/drawing/2014/main" id="{98325373-4734-059F-C2F4-7BD028C3258A}"/>
                  </a:ext>
                </a:extLst>
              </p:cNvPr>
              <p:cNvSpPr txBox="1">
                <a:spLocks noRot="1" noChangeAspect="1" noMove="1" noResize="1" noEditPoints="1" noAdjustHandles="1" noChangeArrowheads="1" noChangeShapeType="1" noTextEdit="1"/>
              </p:cNvSpPr>
              <p:nvPr/>
            </p:nvSpPr>
            <p:spPr>
              <a:xfrm>
                <a:off x="472443" y="4259321"/>
                <a:ext cx="7688918" cy="831061"/>
              </a:xfrm>
              <a:prstGeom prst="rect">
                <a:avLst/>
              </a:prstGeom>
              <a:blipFill>
                <a:blip r:embed="rId11"/>
                <a:stretch>
                  <a:fillRect/>
                </a:stretch>
              </a:blipFill>
            </p:spPr>
            <p:txBody>
              <a:bodyPr/>
              <a:lstStyle/>
              <a:p>
                <a:r>
                  <a:rPr lang="en-GH">
                    <a:noFill/>
                  </a:rPr>
                  <a:t> </a:t>
                </a:r>
              </a:p>
            </p:txBody>
          </p:sp>
        </mc:Fallback>
      </mc:AlternateContent>
      <p:sp>
        <p:nvSpPr>
          <p:cNvPr id="24" name="TextBox 23">
            <a:extLst>
              <a:ext uri="{FF2B5EF4-FFF2-40B4-BE49-F238E27FC236}">
                <a16:creationId xmlns:a16="http://schemas.microsoft.com/office/drawing/2014/main" id="{8066D26A-5256-350A-6140-01E5E34EDC1C}"/>
              </a:ext>
            </a:extLst>
          </p:cNvPr>
          <p:cNvSpPr txBox="1"/>
          <p:nvPr/>
        </p:nvSpPr>
        <p:spPr>
          <a:xfrm>
            <a:off x="373043" y="5044677"/>
            <a:ext cx="2496312" cy="461665"/>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In the </a:t>
            </a:r>
            <a:r>
              <a:rPr lang="en-CA" i="1" dirty="0">
                <a:latin typeface="+mn-lt"/>
              </a:rPr>
              <a:t>y</a:t>
            </a:r>
            <a:r>
              <a:rPr lang="en-CA" dirty="0">
                <a:latin typeface="+mn-lt"/>
              </a:rPr>
              <a:t>-direction:</a:t>
            </a:r>
            <a:endParaRPr lang="en-CA" dirty="0">
              <a:solidFill>
                <a:schemeClr val="tx1"/>
              </a:solidFill>
              <a:latin typeface="+mn-lt"/>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049F6E5-BE46-A2D0-2D58-C58249900E66}"/>
                  </a:ext>
                </a:extLst>
              </p:cNvPr>
              <p:cNvSpPr txBox="1"/>
              <p:nvPr/>
            </p:nvSpPr>
            <p:spPr>
              <a:xfrm>
                <a:off x="334570" y="5465971"/>
                <a:ext cx="506957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2</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xmlns="">
          <p:sp>
            <p:nvSpPr>
              <p:cNvPr id="25" name="TextBox 24">
                <a:extLst>
                  <a:ext uri="{FF2B5EF4-FFF2-40B4-BE49-F238E27FC236}">
                    <a16:creationId xmlns:a16="http://schemas.microsoft.com/office/drawing/2014/main" id="{D049F6E5-BE46-A2D0-2D58-C58249900E66}"/>
                  </a:ext>
                </a:extLst>
              </p:cNvPr>
              <p:cNvSpPr txBox="1">
                <a:spLocks noRot="1" noChangeAspect="1" noMove="1" noResize="1" noEditPoints="1" noAdjustHandles="1" noChangeArrowheads="1" noChangeShapeType="1" noTextEdit="1"/>
              </p:cNvSpPr>
              <p:nvPr/>
            </p:nvSpPr>
            <p:spPr>
              <a:xfrm>
                <a:off x="334570" y="5465971"/>
                <a:ext cx="5069570" cy="490840"/>
              </a:xfrm>
              <a:prstGeom prst="rect">
                <a:avLst/>
              </a:prstGeom>
              <a:blipFill>
                <a:blip r:embed="rId12"/>
                <a:stretch>
                  <a:fillRect b="-6250"/>
                </a:stretch>
              </a:blipFill>
            </p:spPr>
            <p:txBody>
              <a:bodyPr/>
              <a:lstStyle/>
              <a:p>
                <a:r>
                  <a:rPr lang="en-GH">
                    <a:noFill/>
                  </a:rPr>
                  <a:t> </a:t>
                </a:r>
              </a:p>
            </p:txBody>
          </p:sp>
        </mc:Fallback>
      </mc:AlternateContent>
    </p:spTree>
    <p:extLst>
      <p:ext uri="{BB962C8B-B14F-4D97-AF65-F5344CB8AC3E}">
        <p14:creationId xmlns:p14="http://schemas.microsoft.com/office/powerpoint/2010/main" val="3529454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BF5E3E-6B19-6DCE-D2B8-57885088FEEA}"/>
              </a:ext>
            </a:extLst>
          </p:cNvPr>
          <p:cNvPicPr>
            <a:picLocks noChangeAspect="1"/>
          </p:cNvPicPr>
          <p:nvPr/>
        </p:nvPicPr>
        <p:blipFill rotWithShape="1">
          <a:blip r:embed="rId3"/>
          <a:srcRect l="15417"/>
          <a:stretch/>
        </p:blipFill>
        <p:spPr>
          <a:xfrm>
            <a:off x="416457" y="355888"/>
            <a:ext cx="2006703" cy="2468710"/>
          </a:xfrm>
          <a:prstGeom prst="rect">
            <a:avLst/>
          </a:prstGeom>
        </p:spPr>
      </p:pic>
      <p:grpSp>
        <p:nvGrpSpPr>
          <p:cNvPr id="18" name="Group 17">
            <a:extLst>
              <a:ext uri="{FF2B5EF4-FFF2-40B4-BE49-F238E27FC236}">
                <a16:creationId xmlns:a16="http://schemas.microsoft.com/office/drawing/2014/main" id="{F2ECE5F1-104B-4E6D-6F31-E7DE04602A9F}"/>
              </a:ext>
            </a:extLst>
          </p:cNvPr>
          <p:cNvGrpSpPr/>
          <p:nvPr/>
        </p:nvGrpSpPr>
        <p:grpSpPr>
          <a:xfrm>
            <a:off x="27432" y="2768005"/>
            <a:ext cx="912641" cy="615307"/>
            <a:chOff x="27432" y="2594269"/>
            <a:chExt cx="912641" cy="615307"/>
          </a:xfrm>
        </p:grpSpPr>
        <p:sp>
          <p:nvSpPr>
            <p:cNvPr id="13" name="TextBox 12">
              <a:extLst>
                <a:ext uri="{FF2B5EF4-FFF2-40B4-BE49-F238E27FC236}">
                  <a16:creationId xmlns:a16="http://schemas.microsoft.com/office/drawing/2014/main" id="{DC6103B9-0F99-44EF-056C-824307E23498}"/>
                </a:ext>
              </a:extLst>
            </p:cNvPr>
            <p:cNvSpPr txBox="1"/>
            <p:nvPr/>
          </p:nvSpPr>
          <p:spPr>
            <a:xfrm>
              <a:off x="27432" y="2809466"/>
              <a:ext cx="445012" cy="400110"/>
            </a:xfrm>
            <a:prstGeom prst="rect">
              <a:avLst/>
            </a:prstGeom>
            <a:noFill/>
          </p:spPr>
          <p:txBody>
            <a:bodyPr wrap="square" rtlCol="0">
              <a:spAutoFit/>
            </a:bodyPr>
            <a:lstStyle/>
            <a:p>
              <a:r>
                <a:rPr lang="en-GB" sz="2000" i="1" dirty="0"/>
                <a:t>V</a:t>
              </a:r>
              <a:r>
                <a:rPr lang="en-GB" sz="2000" baseline="-25000" dirty="0"/>
                <a:t>1</a:t>
              </a:r>
            </a:p>
          </p:txBody>
        </p:sp>
        <p:sp>
          <p:nvSpPr>
            <p:cNvPr id="14" name="TextBox 13">
              <a:extLst>
                <a:ext uri="{FF2B5EF4-FFF2-40B4-BE49-F238E27FC236}">
                  <a16:creationId xmlns:a16="http://schemas.microsoft.com/office/drawing/2014/main" id="{936FF732-B2A1-FB53-DCCE-CE708D879151}"/>
                </a:ext>
              </a:extLst>
            </p:cNvPr>
            <p:cNvSpPr txBox="1"/>
            <p:nvPr/>
          </p:nvSpPr>
          <p:spPr>
            <a:xfrm>
              <a:off x="495061" y="2616408"/>
              <a:ext cx="445012" cy="400110"/>
            </a:xfrm>
            <a:prstGeom prst="rect">
              <a:avLst/>
            </a:prstGeom>
            <a:noFill/>
          </p:spPr>
          <p:txBody>
            <a:bodyPr wrap="square" rtlCol="0">
              <a:spAutoFit/>
            </a:bodyPr>
            <a:lstStyle/>
            <a:p>
              <a:r>
                <a:rPr lang="en-GB" sz="2000" i="1" dirty="0"/>
                <a:t>A</a:t>
              </a:r>
              <a:r>
                <a:rPr lang="en-GB" sz="2000" baseline="-25000" dirty="0"/>
                <a:t>1</a:t>
              </a:r>
              <a:endParaRPr lang="en-GH" sz="2000" baseline="-25000" dirty="0"/>
            </a:p>
          </p:txBody>
        </p:sp>
        <p:cxnSp>
          <p:nvCxnSpPr>
            <p:cNvPr id="16" name="Straight Arrow Connector 15">
              <a:extLst>
                <a:ext uri="{FF2B5EF4-FFF2-40B4-BE49-F238E27FC236}">
                  <a16:creationId xmlns:a16="http://schemas.microsoft.com/office/drawing/2014/main" id="{0265E7F2-C278-4854-0D84-24B5C45242D9}"/>
                </a:ext>
              </a:extLst>
            </p:cNvPr>
            <p:cNvCxnSpPr>
              <a:cxnSpLocks/>
            </p:cNvCxnSpPr>
            <p:nvPr/>
          </p:nvCxnSpPr>
          <p:spPr>
            <a:xfrm flipV="1">
              <a:off x="223815" y="2594269"/>
              <a:ext cx="385284" cy="2221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19" name="TextBox 18">
            <a:extLst>
              <a:ext uri="{FF2B5EF4-FFF2-40B4-BE49-F238E27FC236}">
                <a16:creationId xmlns:a16="http://schemas.microsoft.com/office/drawing/2014/main" id="{F33E4BA8-5E45-B1F2-FA04-FE682452B142}"/>
              </a:ext>
            </a:extLst>
          </p:cNvPr>
          <p:cNvSpPr txBox="1"/>
          <p:nvPr/>
        </p:nvSpPr>
        <p:spPr>
          <a:xfrm>
            <a:off x="118370" y="59944"/>
            <a:ext cx="981458" cy="400110"/>
          </a:xfrm>
          <a:prstGeom prst="rect">
            <a:avLst/>
          </a:prstGeom>
          <a:noFill/>
        </p:spPr>
        <p:txBody>
          <a:bodyPr wrap="square" rtlCol="0">
            <a:spAutoFit/>
          </a:bodyPr>
          <a:lstStyle/>
          <a:p>
            <a:r>
              <a:rPr lang="en-GB" sz="2000" i="1" dirty="0"/>
              <a:t>V</a:t>
            </a:r>
            <a:r>
              <a:rPr lang="en-GB" sz="2000" baseline="-25000" dirty="0"/>
              <a:t>2  </a:t>
            </a:r>
            <a:r>
              <a:rPr lang="en-GB" sz="2000" dirty="0"/>
              <a:t>= </a:t>
            </a:r>
            <a:r>
              <a:rPr lang="en-GB" sz="2000" i="1" dirty="0"/>
              <a:t>V</a:t>
            </a:r>
            <a:r>
              <a:rPr lang="en-GB" sz="2000" baseline="-25000" dirty="0"/>
              <a:t>1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D78BDB-0F84-A333-07C2-880B5052FC1F}"/>
                  </a:ext>
                </a:extLst>
              </p:cNvPr>
              <p:cNvSpPr txBox="1"/>
              <p:nvPr/>
            </p:nvSpPr>
            <p:spPr>
              <a:xfrm>
                <a:off x="2943427" y="213701"/>
                <a:ext cx="506957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oMath>
                  </m:oMathPara>
                </a14:m>
                <a:endParaRPr lang="en-GH" dirty="0"/>
              </a:p>
            </p:txBody>
          </p:sp>
        </mc:Choice>
        <mc:Fallback xmlns="">
          <p:sp>
            <p:nvSpPr>
              <p:cNvPr id="4" name="TextBox 3">
                <a:extLst>
                  <a:ext uri="{FF2B5EF4-FFF2-40B4-BE49-F238E27FC236}">
                    <a16:creationId xmlns:a16="http://schemas.microsoft.com/office/drawing/2014/main" id="{32D78BDB-0F84-A333-07C2-880B5052FC1F}"/>
                  </a:ext>
                </a:extLst>
              </p:cNvPr>
              <p:cNvSpPr txBox="1">
                <a:spLocks noRot="1" noChangeAspect="1" noMove="1" noResize="1" noEditPoints="1" noAdjustHandles="1" noChangeArrowheads="1" noChangeShapeType="1" noTextEdit="1"/>
              </p:cNvSpPr>
              <p:nvPr/>
            </p:nvSpPr>
            <p:spPr>
              <a:xfrm>
                <a:off x="2943427" y="213701"/>
                <a:ext cx="5069570" cy="490840"/>
              </a:xfrm>
              <a:prstGeom prst="rect">
                <a:avLst/>
              </a:prstGeom>
              <a:blipFill>
                <a:blip r:embed="rId4"/>
                <a:stretch>
                  <a:fillRect b="-617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DC5974-0543-7CE0-AAE9-99EA4F99C2F3}"/>
                  </a:ext>
                </a:extLst>
              </p:cNvPr>
              <p:cNvSpPr txBox="1"/>
              <p:nvPr/>
            </p:nvSpPr>
            <p:spPr>
              <a:xfrm>
                <a:off x="3015170" y="730191"/>
                <a:ext cx="2182012" cy="461665"/>
              </a:xfrm>
              <a:prstGeom prst="rect">
                <a:avLst/>
              </a:prstGeom>
              <a:noFill/>
            </p:spPr>
            <p:txBody>
              <a:bodyPr wrap="square">
                <a:spAutoFit/>
              </a:bodyPr>
              <a:lstStyle/>
              <a:p>
                <a:pPr marL="0" indent="0">
                  <a:buNone/>
                </a:pPr>
                <a14:m>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30°</m:t>
                    </m:r>
                  </m:oMath>
                </a14:m>
                <a:r>
                  <a:rPr lang="en-GB" dirty="0"/>
                  <a:t>,</a:t>
                </a:r>
                <a:endParaRPr lang="en-GH" dirty="0"/>
              </a:p>
            </p:txBody>
          </p:sp>
        </mc:Choice>
        <mc:Fallback xmlns="">
          <p:sp>
            <p:nvSpPr>
              <p:cNvPr id="7" name="TextBox 6">
                <a:extLst>
                  <a:ext uri="{FF2B5EF4-FFF2-40B4-BE49-F238E27FC236}">
                    <a16:creationId xmlns:a16="http://schemas.microsoft.com/office/drawing/2014/main" id="{1CDC5974-0543-7CE0-AAE9-99EA4F99C2F3}"/>
                  </a:ext>
                </a:extLst>
              </p:cNvPr>
              <p:cNvSpPr txBox="1">
                <a:spLocks noRot="1" noChangeAspect="1" noMove="1" noResize="1" noEditPoints="1" noAdjustHandles="1" noChangeArrowheads="1" noChangeShapeType="1" noTextEdit="1"/>
              </p:cNvSpPr>
              <p:nvPr/>
            </p:nvSpPr>
            <p:spPr>
              <a:xfrm>
                <a:off x="3015170" y="730191"/>
                <a:ext cx="2182012" cy="461665"/>
              </a:xfrm>
              <a:prstGeom prst="rect">
                <a:avLst/>
              </a:prstGeom>
              <a:blipFill>
                <a:blip r:embed="rId5"/>
                <a:stretch>
                  <a:fillRect t="-10526" r="-559"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6DA63A-8822-14F4-9088-572BA5E61290}"/>
                  </a:ext>
                </a:extLst>
              </p:cNvPr>
              <p:cNvSpPr txBox="1"/>
              <p:nvPr/>
            </p:nvSpPr>
            <p:spPr>
              <a:xfrm>
                <a:off x="5147400" y="704541"/>
                <a:ext cx="236063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45°</m:t>
                      </m:r>
                    </m:oMath>
                  </m:oMathPara>
                </a14:m>
                <a:endParaRPr lang="en-GH" dirty="0"/>
              </a:p>
            </p:txBody>
          </p:sp>
        </mc:Choice>
        <mc:Fallback xmlns="">
          <p:sp>
            <p:nvSpPr>
              <p:cNvPr id="8" name="TextBox 7">
                <a:extLst>
                  <a:ext uri="{FF2B5EF4-FFF2-40B4-BE49-F238E27FC236}">
                    <a16:creationId xmlns:a16="http://schemas.microsoft.com/office/drawing/2014/main" id="{2F6DA63A-8822-14F4-9088-572BA5E61290}"/>
                  </a:ext>
                </a:extLst>
              </p:cNvPr>
              <p:cNvSpPr txBox="1">
                <a:spLocks noRot="1" noChangeAspect="1" noMove="1" noResize="1" noEditPoints="1" noAdjustHandles="1" noChangeArrowheads="1" noChangeShapeType="1" noTextEdit="1"/>
              </p:cNvSpPr>
              <p:nvPr/>
            </p:nvSpPr>
            <p:spPr>
              <a:xfrm>
                <a:off x="5147400" y="704541"/>
                <a:ext cx="2360630" cy="461665"/>
              </a:xfrm>
              <a:prstGeom prst="rect">
                <a:avLst/>
              </a:prstGeom>
              <a:blipFill>
                <a:blip r:embed="rId6"/>
                <a:stretch>
                  <a:fillRect b="-2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FF09D52-886E-FACA-29A5-EDC1D986D5AF}"/>
                  </a:ext>
                </a:extLst>
              </p:cNvPr>
              <p:cNvSpPr txBox="1"/>
              <p:nvPr/>
            </p:nvSpPr>
            <p:spPr>
              <a:xfrm>
                <a:off x="2662397" y="1297933"/>
                <a:ext cx="5069570" cy="503664"/>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Sup>
                        <m:sSubSupPr>
                          <m:ctrlPr>
                            <a:rPr lang="en-GB" b="0" i="1" smtClean="0">
                              <a:solidFill>
                                <a:prstClr val="black"/>
                              </a:solidFill>
                              <a:latin typeface="Cambria Math" panose="02040503050406030204" pitchFamily="18" charset="0"/>
                              <a:ea typeface="Cambria Math" panose="02040503050406030204" pitchFamily="18" charset="0"/>
                            </a:rPr>
                          </m:ctrlPr>
                        </m:sSubSup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up>
                          <m:r>
                            <a:rPr lang="en-GB" b="0" i="1" smtClean="0">
                              <a:solidFill>
                                <a:prstClr val="black"/>
                              </a:solidFill>
                              <a:latin typeface="Cambria Math" panose="02040503050406030204" pitchFamily="18" charset="0"/>
                              <a:ea typeface="Cambria Math" panose="02040503050406030204" pitchFamily="18" charset="0"/>
                            </a:rPr>
                            <m:t>2</m:t>
                          </m:r>
                        </m:sup>
                      </m:sSubSup>
                      <m:r>
                        <a:rPr lang="en-GB" b="0" i="1" smtClean="0">
                          <a:solidFill>
                            <a:prstClr val="black"/>
                          </a:solidFill>
                          <a:latin typeface="Cambria Math" panose="02040503050406030204" pitchFamily="18" charset="0"/>
                        </a:rPr>
                        <m:t>𝑠𝑖𝑛</m:t>
                      </m:r>
                      <m:r>
                        <a:rPr lang="en-GB" i="1">
                          <a:solidFill>
                            <a:prstClr val="black"/>
                          </a:solidFill>
                          <a:latin typeface="Cambria Math" panose="02040503050406030204" pitchFamily="18" charset="0"/>
                        </a:rPr>
                        <m:t>30°−</m:t>
                      </m:r>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i="1">
                              <a:solidFill>
                                <a:prstClr val="black"/>
                              </a:solidFill>
                              <a:latin typeface="Cambria Math" panose="02040503050406030204" pitchFamily="18" charset="0"/>
                              <a:ea typeface="Cambria Math" panose="02040503050406030204" pitchFamily="18" charset="0"/>
                            </a:rPr>
                            <m:t>1</m:t>
                          </m:r>
                        </m:sub>
                      </m:sSub>
                      <m:sSubSup>
                        <m:sSubSupPr>
                          <m:ctrlPr>
                            <a:rPr lang="en-GB" i="1">
                              <a:solidFill>
                                <a:prstClr val="black"/>
                              </a:solidFill>
                              <a:latin typeface="Cambria Math" panose="02040503050406030204" pitchFamily="18" charset="0"/>
                              <a:ea typeface="Cambria Math" panose="02040503050406030204" pitchFamily="18" charset="0"/>
                            </a:rPr>
                          </m:ctrlPr>
                        </m:sSubSupPr>
                        <m:e>
                          <m:r>
                            <a:rPr lang="en-GB" i="1">
                              <a:solidFill>
                                <a:prstClr val="black"/>
                              </a:solidFill>
                              <a:latin typeface="Cambria Math" panose="02040503050406030204" pitchFamily="18" charset="0"/>
                              <a:ea typeface="Cambria Math" panose="02040503050406030204" pitchFamily="18" charset="0"/>
                            </a:rPr>
                            <m:t>𝑉</m:t>
                          </m:r>
                        </m:e>
                        <m:sub>
                          <m:r>
                            <a:rPr lang="en-GB" i="1">
                              <a:solidFill>
                                <a:prstClr val="black"/>
                              </a:solidFill>
                              <a:latin typeface="Cambria Math" panose="02040503050406030204" pitchFamily="18" charset="0"/>
                              <a:ea typeface="Cambria Math" panose="02040503050406030204" pitchFamily="18" charset="0"/>
                            </a:rPr>
                            <m:t>1</m:t>
                          </m:r>
                        </m:sub>
                        <m:sup>
                          <m:r>
                            <a:rPr lang="en-GB" i="1">
                              <a:solidFill>
                                <a:prstClr val="black"/>
                              </a:solidFill>
                              <a:latin typeface="Cambria Math" panose="02040503050406030204" pitchFamily="18" charset="0"/>
                              <a:ea typeface="Cambria Math" panose="02040503050406030204" pitchFamily="18" charset="0"/>
                            </a:rPr>
                            <m:t>2</m:t>
                          </m:r>
                        </m:sup>
                      </m:sSubSup>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45°</m:t>
                      </m:r>
                    </m:oMath>
                  </m:oMathPara>
                </a14:m>
                <a:endParaRPr lang="en-GH" dirty="0"/>
              </a:p>
            </p:txBody>
          </p:sp>
        </mc:Choice>
        <mc:Fallback xmlns="">
          <p:sp>
            <p:nvSpPr>
              <p:cNvPr id="15" name="TextBox 14">
                <a:extLst>
                  <a:ext uri="{FF2B5EF4-FFF2-40B4-BE49-F238E27FC236}">
                    <a16:creationId xmlns:a16="http://schemas.microsoft.com/office/drawing/2014/main" id="{4FF09D52-886E-FACA-29A5-EDC1D986D5AF}"/>
                  </a:ext>
                </a:extLst>
              </p:cNvPr>
              <p:cNvSpPr txBox="1">
                <a:spLocks noRot="1" noChangeAspect="1" noMove="1" noResize="1" noEditPoints="1" noAdjustHandles="1" noChangeArrowheads="1" noChangeShapeType="1" noTextEdit="1"/>
              </p:cNvSpPr>
              <p:nvPr/>
            </p:nvSpPr>
            <p:spPr>
              <a:xfrm>
                <a:off x="2662397" y="1297933"/>
                <a:ext cx="5069570" cy="503664"/>
              </a:xfrm>
              <a:prstGeom prst="rect">
                <a:avLst/>
              </a:prstGeom>
              <a:blipFill>
                <a:blip r:embed="rId7"/>
                <a:stretch>
                  <a:fillRect b="-4819"/>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8325373-4734-059F-C2F4-7BD028C3258A}"/>
                  </a:ext>
                </a:extLst>
              </p:cNvPr>
              <p:cNvSpPr txBox="1"/>
              <p:nvPr/>
            </p:nvSpPr>
            <p:spPr>
              <a:xfrm>
                <a:off x="2690674" y="1801597"/>
                <a:ext cx="6453326" cy="831061"/>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=1000</m:t>
                      </m:r>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𝜋</m:t>
                      </m:r>
                      <m:r>
                        <a:rPr lang="en-GB" b="0" i="1" smtClean="0">
                          <a:solidFill>
                            <a:prstClr val="black"/>
                          </a:solidFill>
                          <a:latin typeface="Cambria Math" panose="02040503050406030204" pitchFamily="18" charset="0"/>
                          <a:ea typeface="Cambria Math" panose="02040503050406030204" pitchFamily="18" charset="0"/>
                        </a:rPr>
                        <m:t>×</m:t>
                      </m:r>
                      <m:f>
                        <m:fPr>
                          <m:ctrlPr>
                            <a:rPr lang="en-GB" b="0" i="1" smtClean="0">
                              <a:solidFill>
                                <a:prstClr val="black"/>
                              </a:solidFill>
                              <a:latin typeface="Cambria Math" panose="02040503050406030204" pitchFamily="18" charset="0"/>
                              <a:ea typeface="Cambria Math" panose="02040503050406030204" pitchFamily="18" charset="0"/>
                            </a:rPr>
                          </m:ctrlPr>
                        </m:fPr>
                        <m:num>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0.05</m:t>
                              </m:r>
                            </m:e>
                            <m:sup>
                              <m:r>
                                <a:rPr lang="en-GB" b="0" i="1" smtClean="0">
                                  <a:solidFill>
                                    <a:prstClr val="black"/>
                                  </a:solidFill>
                                  <a:latin typeface="Cambria Math" panose="02040503050406030204" pitchFamily="18" charset="0"/>
                                  <a:ea typeface="Cambria Math" panose="02040503050406030204" pitchFamily="18" charset="0"/>
                                </a:rPr>
                                <m:t>2</m:t>
                              </m:r>
                            </m:sup>
                          </m:sSup>
                        </m:num>
                        <m:den>
                          <m:r>
                            <a:rPr lang="en-GB" b="0" i="1" smtClean="0">
                              <a:solidFill>
                                <a:prstClr val="black"/>
                              </a:solidFill>
                              <a:latin typeface="Cambria Math" panose="02040503050406030204" pitchFamily="18" charset="0"/>
                              <a:ea typeface="Cambria Math" panose="02040503050406030204" pitchFamily="18" charset="0"/>
                            </a:rPr>
                            <m:t>4</m:t>
                          </m:r>
                        </m:den>
                      </m:f>
                      <m:r>
                        <a:rPr lang="en-GB" b="0" i="1" smtClean="0">
                          <a:solidFill>
                            <a:prstClr val="black"/>
                          </a:solidFill>
                          <a:latin typeface="Cambria Math" panose="02040503050406030204" pitchFamily="18" charset="0"/>
                          <a:ea typeface="Cambria Math" panose="02040503050406030204" pitchFamily="18" charset="0"/>
                        </a:rPr>
                        <m:t>×</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15</m:t>
                          </m:r>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ea typeface="Cambria Math" panose="02040503050406030204" pitchFamily="18" charset="0"/>
                        </a:rPr>
                        <m:t> </m:t>
                      </m:r>
                      <m:d>
                        <m:dPr>
                          <m:ctrlPr>
                            <a:rPr lang="en-GB" b="0" i="1" smtClean="0">
                              <a:solidFill>
                                <a:prstClr val="black"/>
                              </a:solidFill>
                              <a:latin typeface="Cambria Math" panose="02040503050406030204" pitchFamily="18" charset="0"/>
                              <a:ea typeface="Cambria Math" panose="02040503050406030204" pitchFamily="18" charset="0"/>
                            </a:rPr>
                          </m:ctrlPr>
                        </m:dPr>
                        <m:e>
                          <m:r>
                            <a:rPr lang="en-GB" b="0" i="1" smtClean="0">
                              <a:solidFill>
                                <a:prstClr val="black"/>
                              </a:solidFill>
                              <a:latin typeface="Cambria Math" panose="02040503050406030204" pitchFamily="18" charset="0"/>
                            </a:rPr>
                            <m:t>𝑠𝑖𝑛</m:t>
                          </m:r>
                          <m:r>
                            <a:rPr lang="en-GB" i="1">
                              <a:solidFill>
                                <a:prstClr val="black"/>
                              </a:solidFill>
                              <a:latin typeface="Cambria Math" panose="02040503050406030204" pitchFamily="18" charset="0"/>
                            </a:rPr>
                            <m:t>30°−</m:t>
                          </m:r>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45°</m:t>
                          </m:r>
                        </m:e>
                      </m:d>
                    </m:oMath>
                  </m:oMathPara>
                </a14:m>
                <a:endParaRPr lang="en-GH" dirty="0"/>
              </a:p>
            </p:txBody>
          </p:sp>
        </mc:Choice>
        <mc:Fallback xmlns="">
          <p:sp>
            <p:nvSpPr>
              <p:cNvPr id="17" name="TextBox 16">
                <a:extLst>
                  <a:ext uri="{FF2B5EF4-FFF2-40B4-BE49-F238E27FC236}">
                    <a16:creationId xmlns:a16="http://schemas.microsoft.com/office/drawing/2014/main" id="{98325373-4734-059F-C2F4-7BD028C3258A}"/>
                  </a:ext>
                </a:extLst>
              </p:cNvPr>
              <p:cNvSpPr txBox="1">
                <a:spLocks noRot="1" noChangeAspect="1" noMove="1" noResize="1" noEditPoints="1" noAdjustHandles="1" noChangeArrowheads="1" noChangeShapeType="1" noTextEdit="1"/>
              </p:cNvSpPr>
              <p:nvPr/>
            </p:nvSpPr>
            <p:spPr>
              <a:xfrm>
                <a:off x="2690674" y="1801597"/>
                <a:ext cx="6453326" cy="831061"/>
              </a:xfrm>
              <a:prstGeom prst="rect">
                <a:avLst/>
              </a:prstGeom>
              <a:blipFill>
                <a:blip r:embed="rId8"/>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8476A2-F253-4160-FB45-A98BCE464B68}"/>
                  </a:ext>
                </a:extLst>
              </p:cNvPr>
              <p:cNvSpPr txBox="1"/>
              <p:nvPr/>
            </p:nvSpPr>
            <p:spPr>
              <a:xfrm>
                <a:off x="2662397" y="2563251"/>
                <a:ext cx="2006703"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=−91.5 </m:t>
                      </m:r>
                      <m:r>
                        <m:rPr>
                          <m:sty m:val="p"/>
                        </m:rPr>
                        <a:rPr lang="en-GB" b="0" i="0" smtClean="0">
                          <a:solidFill>
                            <a:prstClr val="black"/>
                          </a:solidFill>
                          <a:latin typeface="Cambria Math" panose="02040503050406030204" pitchFamily="18" charset="0"/>
                        </a:rPr>
                        <m:t>N</m:t>
                      </m:r>
                    </m:oMath>
                  </m:oMathPara>
                </a14:m>
                <a:endParaRPr lang="en-GH" dirty="0"/>
              </a:p>
            </p:txBody>
          </p:sp>
        </mc:Choice>
        <mc:Fallback xmlns="">
          <p:sp>
            <p:nvSpPr>
              <p:cNvPr id="9" name="TextBox 8">
                <a:extLst>
                  <a:ext uri="{FF2B5EF4-FFF2-40B4-BE49-F238E27FC236}">
                    <a16:creationId xmlns:a16="http://schemas.microsoft.com/office/drawing/2014/main" id="{358476A2-F253-4160-FB45-A98BCE464B68}"/>
                  </a:ext>
                </a:extLst>
              </p:cNvPr>
              <p:cNvSpPr txBox="1">
                <a:spLocks noRot="1" noChangeAspect="1" noMove="1" noResize="1" noEditPoints="1" noAdjustHandles="1" noChangeArrowheads="1" noChangeShapeType="1" noTextEdit="1"/>
              </p:cNvSpPr>
              <p:nvPr/>
            </p:nvSpPr>
            <p:spPr>
              <a:xfrm>
                <a:off x="2662397" y="2563251"/>
                <a:ext cx="2006703" cy="490840"/>
              </a:xfrm>
              <a:prstGeom prst="rect">
                <a:avLst/>
              </a:prstGeom>
              <a:blipFill>
                <a:blip r:embed="rId9"/>
                <a:stretch>
                  <a:fillRect l="-912" b="-6173"/>
                </a:stretch>
              </a:blipFill>
            </p:spPr>
            <p:txBody>
              <a:bodyPr/>
              <a:lstStyle/>
              <a:p>
                <a:r>
                  <a:rPr lang="en-GH">
                    <a:noFill/>
                  </a:rPr>
                  <a:t> </a:t>
                </a:r>
              </a:p>
            </p:txBody>
          </p:sp>
        </mc:Fallback>
      </mc:AlternateContent>
      <p:grpSp>
        <p:nvGrpSpPr>
          <p:cNvPr id="33" name="Group 32">
            <a:extLst>
              <a:ext uri="{FF2B5EF4-FFF2-40B4-BE49-F238E27FC236}">
                <a16:creationId xmlns:a16="http://schemas.microsoft.com/office/drawing/2014/main" id="{75E93CCA-5F22-6B00-93DD-81FDDC5E7BE7}"/>
              </a:ext>
            </a:extLst>
          </p:cNvPr>
          <p:cNvGrpSpPr/>
          <p:nvPr/>
        </p:nvGrpSpPr>
        <p:grpSpPr>
          <a:xfrm>
            <a:off x="249938" y="3401502"/>
            <a:ext cx="2274216" cy="1480635"/>
            <a:chOff x="416457" y="3386197"/>
            <a:chExt cx="2274216" cy="1480635"/>
          </a:xfrm>
        </p:grpSpPr>
        <p:grpSp>
          <p:nvGrpSpPr>
            <p:cNvPr id="27" name="Group 26">
              <a:extLst>
                <a:ext uri="{FF2B5EF4-FFF2-40B4-BE49-F238E27FC236}">
                  <a16:creationId xmlns:a16="http://schemas.microsoft.com/office/drawing/2014/main" id="{CB019B05-7B53-A14E-0262-DEC93A526263}"/>
                </a:ext>
              </a:extLst>
            </p:cNvPr>
            <p:cNvGrpSpPr/>
            <p:nvPr/>
          </p:nvGrpSpPr>
          <p:grpSpPr>
            <a:xfrm>
              <a:off x="609099" y="3593263"/>
              <a:ext cx="1683016" cy="880280"/>
              <a:chOff x="578300" y="3848669"/>
              <a:chExt cx="1683016" cy="880280"/>
            </a:xfrm>
          </p:grpSpPr>
          <p:cxnSp>
            <p:nvCxnSpPr>
              <p:cNvPr id="12" name="Straight Arrow Connector 11">
                <a:extLst>
                  <a:ext uri="{FF2B5EF4-FFF2-40B4-BE49-F238E27FC236}">
                    <a16:creationId xmlns:a16="http://schemas.microsoft.com/office/drawing/2014/main" id="{0C14C9A5-8BCB-2118-80B0-F2B5F5CB0B5C}"/>
                  </a:ext>
                </a:extLst>
              </p:cNvPr>
              <p:cNvCxnSpPr/>
              <p:nvPr/>
            </p:nvCxnSpPr>
            <p:spPr>
              <a:xfrm>
                <a:off x="578300" y="3848669"/>
                <a:ext cx="168301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E794FD2-65A2-3316-3FC5-0DBF3450E29A}"/>
                  </a:ext>
                </a:extLst>
              </p:cNvPr>
              <p:cNvCxnSpPr/>
              <p:nvPr/>
            </p:nvCxnSpPr>
            <p:spPr>
              <a:xfrm>
                <a:off x="578300" y="3848669"/>
                <a:ext cx="0" cy="88028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65FCA8C-8A61-D25A-9FD6-572CE04B12CD}"/>
                  </a:ext>
                </a:extLst>
              </p:cNvPr>
              <p:cNvCxnSpPr>
                <a:cxnSpLocks/>
              </p:cNvCxnSpPr>
              <p:nvPr/>
            </p:nvCxnSpPr>
            <p:spPr>
              <a:xfrm>
                <a:off x="578300" y="3848669"/>
                <a:ext cx="1591694" cy="83251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28" name="TextBox 27">
              <a:extLst>
                <a:ext uri="{FF2B5EF4-FFF2-40B4-BE49-F238E27FC236}">
                  <a16:creationId xmlns:a16="http://schemas.microsoft.com/office/drawing/2014/main" id="{7B2490F7-4DB9-6E11-F116-D542D01D33BC}"/>
                </a:ext>
              </a:extLst>
            </p:cNvPr>
            <p:cNvSpPr txBox="1"/>
            <p:nvPr/>
          </p:nvSpPr>
          <p:spPr>
            <a:xfrm>
              <a:off x="2242418" y="3386197"/>
              <a:ext cx="448255" cy="400110"/>
            </a:xfrm>
            <a:prstGeom prst="rect">
              <a:avLst/>
            </a:prstGeom>
            <a:noFill/>
          </p:spPr>
          <p:txBody>
            <a:bodyPr wrap="square" rtlCol="0">
              <a:spAutoFit/>
            </a:bodyPr>
            <a:lstStyle/>
            <a:p>
              <a:r>
                <a:rPr lang="en-GB" sz="2000" i="1" dirty="0"/>
                <a:t>F</a:t>
              </a:r>
              <a:r>
                <a:rPr lang="en-GB" sz="2000" baseline="-25000" dirty="0"/>
                <a:t>x   </a:t>
              </a:r>
            </a:p>
          </p:txBody>
        </p:sp>
        <p:sp>
          <p:nvSpPr>
            <p:cNvPr id="29" name="TextBox 28">
              <a:extLst>
                <a:ext uri="{FF2B5EF4-FFF2-40B4-BE49-F238E27FC236}">
                  <a16:creationId xmlns:a16="http://schemas.microsoft.com/office/drawing/2014/main" id="{CA976FC6-4786-FBD4-29AF-627E521950B2}"/>
                </a:ext>
              </a:extLst>
            </p:cNvPr>
            <p:cNvSpPr txBox="1"/>
            <p:nvPr/>
          </p:nvSpPr>
          <p:spPr>
            <a:xfrm>
              <a:off x="416457" y="4466722"/>
              <a:ext cx="448255" cy="400110"/>
            </a:xfrm>
            <a:prstGeom prst="rect">
              <a:avLst/>
            </a:prstGeom>
            <a:noFill/>
          </p:spPr>
          <p:txBody>
            <a:bodyPr wrap="square" rtlCol="0">
              <a:spAutoFit/>
            </a:bodyPr>
            <a:lstStyle/>
            <a:p>
              <a:r>
                <a:rPr lang="en-GB" sz="2000" i="1" dirty="0"/>
                <a:t>F</a:t>
              </a:r>
              <a:r>
                <a:rPr lang="en-GB" sz="2000" baseline="-25000" dirty="0"/>
                <a:t>y   </a:t>
              </a:r>
            </a:p>
          </p:txBody>
        </p:sp>
        <p:sp>
          <p:nvSpPr>
            <p:cNvPr id="30" name="TextBox 29">
              <a:extLst>
                <a:ext uri="{FF2B5EF4-FFF2-40B4-BE49-F238E27FC236}">
                  <a16:creationId xmlns:a16="http://schemas.microsoft.com/office/drawing/2014/main" id="{EF2C99CA-2CF8-F4A2-2B08-A0792B1BFC48}"/>
                </a:ext>
              </a:extLst>
            </p:cNvPr>
            <p:cNvSpPr txBox="1"/>
            <p:nvPr/>
          </p:nvSpPr>
          <p:spPr>
            <a:xfrm>
              <a:off x="2199032" y="4273488"/>
              <a:ext cx="448255" cy="400110"/>
            </a:xfrm>
            <a:prstGeom prst="rect">
              <a:avLst/>
            </a:prstGeom>
            <a:noFill/>
          </p:spPr>
          <p:txBody>
            <a:bodyPr wrap="square" rtlCol="0">
              <a:spAutoFit/>
            </a:bodyPr>
            <a:lstStyle/>
            <a:p>
              <a:r>
                <a:rPr lang="en-GB" sz="2000" i="1" dirty="0"/>
                <a:t>F</a:t>
              </a:r>
              <a:r>
                <a:rPr lang="en-GB" sz="2000" i="1" baseline="-25000" dirty="0"/>
                <a:t>R</a:t>
              </a:r>
              <a:r>
                <a:rPr lang="en-GB" sz="2000" baseline="-25000" dirty="0"/>
                <a:t>   </a:t>
              </a:r>
            </a:p>
          </p:txBody>
        </p:sp>
        <p:sp>
          <p:nvSpPr>
            <p:cNvPr id="31" name="TextBox 30">
              <a:extLst>
                <a:ext uri="{FF2B5EF4-FFF2-40B4-BE49-F238E27FC236}">
                  <a16:creationId xmlns:a16="http://schemas.microsoft.com/office/drawing/2014/main" id="{28DBD275-B459-D290-FC47-E192D8ECA332}"/>
                </a:ext>
              </a:extLst>
            </p:cNvPr>
            <p:cNvSpPr txBox="1"/>
            <p:nvPr/>
          </p:nvSpPr>
          <p:spPr>
            <a:xfrm>
              <a:off x="1133304" y="3552319"/>
              <a:ext cx="448255" cy="400110"/>
            </a:xfrm>
            <a:prstGeom prst="rect">
              <a:avLst/>
            </a:prstGeom>
            <a:noFill/>
          </p:spPr>
          <p:txBody>
            <a:bodyPr wrap="square" rtlCol="0">
              <a:spAutoFit/>
            </a:bodyPr>
            <a:lstStyle/>
            <a:p>
              <a:r>
                <a:rPr lang="el-GR" sz="2000" i="1" dirty="0"/>
                <a:t>θ</a:t>
              </a:r>
              <a:r>
                <a:rPr lang="en-GB" sz="2000" baseline="-25000" dirty="0"/>
                <a:t>  </a:t>
              </a:r>
            </a:p>
          </p:txBody>
        </p:sp>
        <p:sp>
          <p:nvSpPr>
            <p:cNvPr id="32" name="Freeform: Shape 31">
              <a:extLst>
                <a:ext uri="{FF2B5EF4-FFF2-40B4-BE49-F238E27FC236}">
                  <a16:creationId xmlns:a16="http://schemas.microsoft.com/office/drawing/2014/main" id="{2F03932B-F81C-91CC-2D6C-71E45F1F852F}"/>
                </a:ext>
              </a:extLst>
            </p:cNvPr>
            <p:cNvSpPr/>
            <p:nvPr/>
          </p:nvSpPr>
          <p:spPr>
            <a:xfrm rot="20644541">
              <a:off x="968991" y="3603967"/>
              <a:ext cx="97245" cy="163773"/>
            </a:xfrm>
            <a:custGeom>
              <a:avLst/>
              <a:gdLst>
                <a:gd name="connsiteX0" fmla="*/ 88710 w 97245"/>
                <a:gd name="connsiteY0" fmla="*/ 0 h 163773"/>
                <a:gd name="connsiteX1" fmla="*/ 88710 w 97245"/>
                <a:gd name="connsiteY1" fmla="*/ 95534 h 163773"/>
                <a:gd name="connsiteX2" fmla="*/ 0 w 97245"/>
                <a:gd name="connsiteY2" fmla="*/ 163773 h 163773"/>
              </a:gdLst>
              <a:ahLst/>
              <a:cxnLst>
                <a:cxn ang="0">
                  <a:pos x="connsiteX0" y="connsiteY0"/>
                </a:cxn>
                <a:cxn ang="0">
                  <a:pos x="connsiteX1" y="connsiteY1"/>
                </a:cxn>
                <a:cxn ang="0">
                  <a:pos x="connsiteX2" y="connsiteY2"/>
                </a:cxn>
              </a:cxnLst>
              <a:rect l="l" t="t" r="r" b="b"/>
              <a:pathLst>
                <a:path w="97245" h="163773">
                  <a:moveTo>
                    <a:pt x="88710" y="0"/>
                  </a:moveTo>
                  <a:cubicBezTo>
                    <a:pt x="96102" y="34119"/>
                    <a:pt x="103495" y="68239"/>
                    <a:pt x="88710" y="95534"/>
                  </a:cubicBezTo>
                  <a:cubicBezTo>
                    <a:pt x="73925" y="122829"/>
                    <a:pt x="36962" y="143301"/>
                    <a:pt x="0" y="163773"/>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H"/>
            </a:p>
          </p:txBody>
        </p:sp>
      </p:grpSp>
      <p:sp>
        <p:nvSpPr>
          <p:cNvPr id="34" name="TextBox 33">
            <a:extLst>
              <a:ext uri="{FF2B5EF4-FFF2-40B4-BE49-F238E27FC236}">
                <a16:creationId xmlns:a16="http://schemas.microsoft.com/office/drawing/2014/main" id="{AC8F368A-0C57-87A7-E192-92EACEE0D261}"/>
              </a:ext>
            </a:extLst>
          </p:cNvPr>
          <p:cNvSpPr txBox="1"/>
          <p:nvPr/>
        </p:nvSpPr>
        <p:spPr>
          <a:xfrm>
            <a:off x="2736582" y="3077819"/>
            <a:ext cx="5293180" cy="461665"/>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The resultant force acting on the blade is</a:t>
            </a:r>
            <a:endParaRPr lang="en-CA" dirty="0">
              <a:solidFill>
                <a:schemeClr val="tx1"/>
              </a:solidFill>
              <a:latin typeface="+mn-lt"/>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AE6A516-0660-D49E-9111-94C2881B7E2A}"/>
                  </a:ext>
                </a:extLst>
              </p:cNvPr>
              <p:cNvSpPr txBox="1"/>
              <p:nvPr/>
            </p:nvSpPr>
            <p:spPr>
              <a:xfrm>
                <a:off x="2786455" y="3576227"/>
                <a:ext cx="5069570" cy="539571"/>
              </a:xfrm>
              <a:prstGeom prst="rect">
                <a:avLst/>
              </a:prstGeom>
              <a:noFill/>
            </p:spPr>
            <p:txBody>
              <a:bodyPr wrap="square">
                <a:spAutoFit/>
              </a:bodyPr>
              <a:lstStyle/>
              <a:p>
                <a:pPr marL="0" indent="0">
                  <a:buNone/>
                </a:pPr>
                <a14:m>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𝑅</m:t>
                        </m:r>
                      </m:sub>
                    </m:sSub>
                    <m:r>
                      <a:rPr lang="en-GB" b="0" i="1" smtClean="0">
                        <a:solidFill>
                          <a:prstClr val="black"/>
                        </a:solidFill>
                        <a:latin typeface="Cambria Math" panose="02040503050406030204" pitchFamily="18" charset="0"/>
                      </a:rPr>
                      <m:t>=</m:t>
                    </m:r>
                    <m:rad>
                      <m:radPr>
                        <m:degHide m:val="on"/>
                        <m:ctrlPr>
                          <a:rPr lang="en-GB" b="0" i="1" smtClean="0">
                            <a:solidFill>
                              <a:prstClr val="black"/>
                            </a:solidFill>
                            <a:latin typeface="Cambria Math" panose="02040503050406030204" pitchFamily="18" charset="0"/>
                          </a:rPr>
                        </m:ctrlPr>
                      </m:radPr>
                      <m:deg/>
                      <m:e>
                        <m:r>
                          <a:rPr lang="en-GB" b="0" i="1" smtClean="0">
                            <a:solidFill>
                              <a:prstClr val="black"/>
                            </a:solidFill>
                            <a:latin typeface="Cambria Math" panose="02040503050406030204" pitchFamily="18" charset="0"/>
                          </a:rPr>
                          <m:t>[</m:t>
                        </m:r>
                        <m:sSup>
                          <m:sSupPr>
                            <m:ctrlPr>
                              <a:rPr lang="en-GB" b="0" i="1" smtClean="0">
                                <a:solidFill>
                                  <a:prstClr val="black"/>
                                </a:solidFill>
                                <a:latin typeface="Cambria Math" panose="02040503050406030204" pitchFamily="18" charset="0"/>
                              </a:rPr>
                            </m:ctrlPr>
                          </m:sSupPr>
                          <m:e>
                            <m:r>
                              <a:rPr lang="en-GB" b="0" i="1" smtClean="0">
                                <a:solidFill>
                                  <a:prstClr val="black"/>
                                </a:solidFill>
                                <a:latin typeface="Cambria Math" panose="02040503050406030204" pitchFamily="18" charset="0"/>
                              </a:rPr>
                              <m:t>695</m:t>
                            </m:r>
                          </m:e>
                          <m:sup>
                            <m:r>
                              <a:rPr lang="en-GB" b="0" i="1" smtClean="0">
                                <a:solidFill>
                                  <a:prstClr val="black"/>
                                </a:solidFill>
                                <a:latin typeface="Cambria Math" panose="02040503050406030204" pitchFamily="18" charset="0"/>
                              </a:rPr>
                              <m:t>2</m:t>
                            </m:r>
                          </m:sup>
                        </m:sSup>
                        <m:r>
                          <a:rPr lang="en-GB" b="0" i="1" smtClean="0">
                            <a:solidFill>
                              <a:prstClr val="black"/>
                            </a:solidFill>
                            <a:latin typeface="Cambria Math" panose="02040503050406030204" pitchFamily="18" charset="0"/>
                          </a:rPr>
                          <m:t>+</m:t>
                        </m:r>
                        <m:sSup>
                          <m:sSupPr>
                            <m:ctrlPr>
                              <a:rPr lang="en-GB" b="0" i="1" smtClean="0">
                                <a:solidFill>
                                  <a:prstClr val="black"/>
                                </a:solidFill>
                                <a:latin typeface="Cambria Math" panose="02040503050406030204" pitchFamily="18" charset="0"/>
                              </a:rPr>
                            </m:ctrlPr>
                          </m:sSupPr>
                          <m:e>
                            <m:d>
                              <m:dPr>
                                <m:ctrlPr>
                                  <a:rPr lang="en-GB" b="0" i="1" smtClean="0">
                                    <a:solidFill>
                                      <a:prstClr val="black"/>
                                    </a:solidFill>
                                    <a:latin typeface="Cambria Math" panose="02040503050406030204" pitchFamily="18" charset="0"/>
                                  </a:rPr>
                                </m:ctrlPr>
                              </m:dPr>
                              <m:e>
                                <m:r>
                                  <a:rPr lang="en-GB" b="0" i="1" smtClean="0">
                                    <a:solidFill>
                                      <a:prstClr val="black"/>
                                    </a:solidFill>
                                    <a:latin typeface="Cambria Math" panose="02040503050406030204" pitchFamily="18" charset="0"/>
                                  </a:rPr>
                                  <m:t>−91.5</m:t>
                                </m:r>
                              </m:e>
                            </m:d>
                          </m:e>
                          <m:sup>
                            <m:r>
                              <a:rPr lang="en-GB" b="0" i="1" smtClean="0">
                                <a:solidFill>
                                  <a:prstClr val="black"/>
                                </a:solidFill>
                                <a:latin typeface="Cambria Math" panose="02040503050406030204" pitchFamily="18" charset="0"/>
                              </a:rPr>
                              <m:t>2</m:t>
                            </m:r>
                          </m:sup>
                        </m:sSup>
                        <m:r>
                          <a:rPr lang="en-GB" b="0" i="1" smtClean="0">
                            <a:solidFill>
                              <a:prstClr val="black"/>
                            </a:solidFill>
                            <a:latin typeface="Cambria Math" panose="02040503050406030204" pitchFamily="18" charset="0"/>
                          </a:rPr>
                          <m:t>]</m:t>
                        </m:r>
                      </m:e>
                    </m:rad>
                    <m:r>
                      <a:rPr lang="en-GB" b="0" i="1" smtClean="0">
                        <a:solidFill>
                          <a:prstClr val="black"/>
                        </a:solidFill>
                        <a:latin typeface="Cambria Math" panose="02040503050406030204" pitchFamily="18" charset="0"/>
                      </a:rPr>
                      <m:t>=701</m:t>
                    </m:r>
                  </m:oMath>
                </a14:m>
                <a:r>
                  <a:rPr lang="en-GB" dirty="0"/>
                  <a:t> N</a:t>
                </a:r>
                <a:endParaRPr lang="en-GH" dirty="0"/>
              </a:p>
            </p:txBody>
          </p:sp>
        </mc:Choice>
        <mc:Fallback xmlns="">
          <p:sp>
            <p:nvSpPr>
              <p:cNvPr id="35" name="TextBox 34">
                <a:extLst>
                  <a:ext uri="{FF2B5EF4-FFF2-40B4-BE49-F238E27FC236}">
                    <a16:creationId xmlns:a16="http://schemas.microsoft.com/office/drawing/2014/main" id="{FAE6A516-0660-D49E-9111-94C2881B7E2A}"/>
                  </a:ext>
                </a:extLst>
              </p:cNvPr>
              <p:cNvSpPr txBox="1">
                <a:spLocks noRot="1" noChangeAspect="1" noMove="1" noResize="1" noEditPoints="1" noAdjustHandles="1" noChangeArrowheads="1" noChangeShapeType="1" noTextEdit="1"/>
              </p:cNvSpPr>
              <p:nvPr/>
            </p:nvSpPr>
            <p:spPr>
              <a:xfrm>
                <a:off x="2786455" y="3576227"/>
                <a:ext cx="5069570" cy="539571"/>
              </a:xfrm>
              <a:prstGeom prst="rect">
                <a:avLst/>
              </a:prstGeom>
              <a:blipFill>
                <a:blip r:embed="rId10"/>
                <a:stretch>
                  <a:fillRect b="-2272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C4698D1-5EE2-4542-A955-9A540F54F220}"/>
                  </a:ext>
                </a:extLst>
              </p:cNvPr>
              <p:cNvSpPr txBox="1"/>
              <p:nvPr/>
            </p:nvSpPr>
            <p:spPr>
              <a:xfrm>
                <a:off x="2772918" y="4288793"/>
                <a:ext cx="3131320" cy="793679"/>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𝑡𝑎𝑛</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𝜃</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f>
                        <m:fPr>
                          <m:ctrlP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91.5</m:t>
                          </m:r>
                        </m:num>
                        <m:den>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695</m:t>
                          </m:r>
                        </m:den>
                      </m:f>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=0.1317</m:t>
                      </m:r>
                    </m:oMath>
                  </m:oMathPara>
                </a14:m>
                <a:endParaRPr lang="en-GH" dirty="0"/>
              </a:p>
            </p:txBody>
          </p:sp>
        </mc:Choice>
        <mc:Fallback xmlns="">
          <p:sp>
            <p:nvSpPr>
              <p:cNvPr id="37" name="TextBox 36">
                <a:extLst>
                  <a:ext uri="{FF2B5EF4-FFF2-40B4-BE49-F238E27FC236}">
                    <a16:creationId xmlns:a16="http://schemas.microsoft.com/office/drawing/2014/main" id="{4C4698D1-5EE2-4542-A955-9A540F54F220}"/>
                  </a:ext>
                </a:extLst>
              </p:cNvPr>
              <p:cNvSpPr txBox="1">
                <a:spLocks noRot="1" noChangeAspect="1" noMove="1" noResize="1" noEditPoints="1" noAdjustHandles="1" noChangeArrowheads="1" noChangeShapeType="1" noTextEdit="1"/>
              </p:cNvSpPr>
              <p:nvPr/>
            </p:nvSpPr>
            <p:spPr>
              <a:xfrm>
                <a:off x="2772918" y="4288793"/>
                <a:ext cx="3131320" cy="793679"/>
              </a:xfrm>
              <a:prstGeom prst="rect">
                <a:avLst/>
              </a:prstGeom>
              <a:blipFill>
                <a:blip r:embed="rId11"/>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8DA7CE-4644-CC48-B875-4317589EC887}"/>
                  </a:ext>
                </a:extLst>
              </p:cNvPr>
              <p:cNvSpPr txBox="1"/>
              <p:nvPr/>
            </p:nvSpPr>
            <p:spPr>
              <a:xfrm>
                <a:off x="2754863" y="5211675"/>
                <a:ext cx="3730716"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𝜃</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p>
                        <m:sSupPr>
                          <m:ctrlP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𝑡𝑎𝑛</m:t>
                          </m:r>
                        </m:e>
                        <m:sup>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sup>
                      </m:sSup>
                      <m:d>
                        <m:dPr>
                          <m:ctrlP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0.1317</m:t>
                          </m:r>
                        </m:e>
                      </m:d>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rPr>
                        <m:t>7.5</m:t>
                      </m:r>
                      <m:r>
                        <a:rPr lang="en-GB" i="1">
                          <a:solidFill>
                            <a:prstClr val="black"/>
                          </a:solidFill>
                          <a:latin typeface="Cambria Math" panose="02040503050406030204" pitchFamily="18" charset="0"/>
                        </a:rPr>
                        <m:t>°</m:t>
                      </m:r>
                    </m:oMath>
                  </m:oMathPara>
                </a14:m>
                <a:endParaRPr lang="en-GH" dirty="0"/>
              </a:p>
            </p:txBody>
          </p:sp>
        </mc:Choice>
        <mc:Fallback xmlns="">
          <p:sp>
            <p:nvSpPr>
              <p:cNvPr id="38" name="TextBox 37">
                <a:extLst>
                  <a:ext uri="{FF2B5EF4-FFF2-40B4-BE49-F238E27FC236}">
                    <a16:creationId xmlns:a16="http://schemas.microsoft.com/office/drawing/2014/main" id="{498DA7CE-4644-CC48-B875-4317589EC887}"/>
                  </a:ext>
                </a:extLst>
              </p:cNvPr>
              <p:cNvSpPr txBox="1">
                <a:spLocks noRot="1" noChangeAspect="1" noMove="1" noResize="1" noEditPoints="1" noAdjustHandles="1" noChangeArrowheads="1" noChangeShapeType="1" noTextEdit="1"/>
              </p:cNvSpPr>
              <p:nvPr/>
            </p:nvSpPr>
            <p:spPr>
              <a:xfrm>
                <a:off x="2754863" y="5211675"/>
                <a:ext cx="3730716" cy="461665"/>
              </a:xfrm>
              <a:prstGeom prst="rect">
                <a:avLst/>
              </a:prstGeom>
              <a:blipFill>
                <a:blip r:embed="rId12"/>
                <a:stretch>
                  <a:fillRect l="-490"/>
                </a:stretch>
              </a:blipFill>
            </p:spPr>
            <p:txBody>
              <a:bodyPr/>
              <a:lstStyle/>
              <a:p>
                <a:r>
                  <a:rPr lang="en-GH">
                    <a:noFill/>
                  </a:rPr>
                  <a:t> </a:t>
                </a:r>
              </a:p>
            </p:txBody>
          </p:sp>
        </mc:Fallback>
      </mc:AlternateContent>
    </p:spTree>
    <p:extLst>
      <p:ext uri="{BB962C8B-B14F-4D97-AF65-F5344CB8AC3E}">
        <p14:creationId xmlns:p14="http://schemas.microsoft.com/office/powerpoint/2010/main" val="3540677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352640"/>
          </a:xfrm>
        </p:spPr>
        <p:txBody>
          <a:bodyPr>
            <a:normAutofit fontScale="90000"/>
          </a:bodyPr>
          <a:lstStyle/>
          <a:p>
            <a:r>
              <a:rPr lang="en-US" sz="2800" b="1" dirty="0">
                <a:solidFill>
                  <a:schemeClr val="tx1"/>
                </a:solidFill>
              </a:rPr>
              <a:t>Practice Problems</a:t>
            </a:r>
            <a:endParaRPr lang="en-US" sz="2800" dirty="0"/>
          </a:p>
        </p:txBody>
      </p:sp>
      <p:sp>
        <p:nvSpPr>
          <p:cNvPr id="6" name="TextBox 5">
            <a:extLst>
              <a:ext uri="{FF2B5EF4-FFF2-40B4-BE49-F238E27FC236}">
                <a16:creationId xmlns:a16="http://schemas.microsoft.com/office/drawing/2014/main" id="{0B9C5613-C7FC-822B-B5D8-0AF5E1750474}"/>
              </a:ext>
            </a:extLst>
          </p:cNvPr>
          <p:cNvSpPr txBox="1"/>
          <p:nvPr/>
        </p:nvSpPr>
        <p:spPr>
          <a:xfrm>
            <a:off x="0" y="2790981"/>
            <a:ext cx="9072438" cy="1569660"/>
          </a:xfrm>
          <a:prstGeom prst="rect">
            <a:avLst/>
          </a:prstGeom>
          <a:noFill/>
        </p:spPr>
        <p:txBody>
          <a:bodyPr wrap="square">
            <a:spAutoFit/>
          </a:bodyPr>
          <a:lstStyle/>
          <a:p>
            <a:pPr algn="just"/>
            <a:r>
              <a:rPr lang="en-GB" dirty="0">
                <a:solidFill>
                  <a:srgbClr val="231F20"/>
                </a:solidFill>
                <a:latin typeface="+mn-lt"/>
              </a:rPr>
              <a:t>2</a:t>
            </a:r>
            <a:r>
              <a:rPr lang="en-GB" sz="2400" b="0" i="0" u="none" strike="noStrike" baseline="0" dirty="0">
                <a:solidFill>
                  <a:srgbClr val="231F20"/>
                </a:solidFill>
                <a:latin typeface="+mn-lt"/>
              </a:rPr>
              <a:t>. A water jet of 50 mm moving at 30 m/s is divided in half by a splitter on the stationary flat plate shown below. Calculate the magnitude and direction of the force on the plate. Assume that flow is in a horizontal plane.</a:t>
            </a:r>
            <a:endParaRPr lang="en-GH" dirty="0">
              <a:latin typeface="+mn-lt"/>
            </a:endParaRPr>
          </a:p>
        </p:txBody>
      </p:sp>
      <p:pic>
        <p:nvPicPr>
          <p:cNvPr id="7" name="Picture 6">
            <a:extLst>
              <a:ext uri="{FF2B5EF4-FFF2-40B4-BE49-F238E27FC236}">
                <a16:creationId xmlns:a16="http://schemas.microsoft.com/office/drawing/2014/main" id="{06D8A4E6-639F-DFA4-C9AA-E896230659A8}"/>
              </a:ext>
            </a:extLst>
          </p:cNvPr>
          <p:cNvPicPr>
            <a:picLocks noChangeAspect="1"/>
          </p:cNvPicPr>
          <p:nvPr/>
        </p:nvPicPr>
        <p:blipFill>
          <a:blip r:embed="rId3"/>
          <a:stretch>
            <a:fillRect/>
          </a:stretch>
        </p:blipFill>
        <p:spPr>
          <a:xfrm>
            <a:off x="2093976" y="4006143"/>
            <a:ext cx="4413223" cy="2068401"/>
          </a:xfrm>
          <a:prstGeom prst="rect">
            <a:avLst/>
          </a:prstGeom>
        </p:spPr>
      </p:pic>
      <p:sp>
        <p:nvSpPr>
          <p:cNvPr id="3" name="TextBox 2">
            <a:extLst>
              <a:ext uri="{FF2B5EF4-FFF2-40B4-BE49-F238E27FC236}">
                <a16:creationId xmlns:a16="http://schemas.microsoft.com/office/drawing/2014/main" id="{F2CF839D-45CB-9FD8-5FD9-29DBAA5EDAB5}"/>
              </a:ext>
            </a:extLst>
          </p:cNvPr>
          <p:cNvSpPr txBox="1"/>
          <p:nvPr/>
        </p:nvSpPr>
        <p:spPr>
          <a:xfrm>
            <a:off x="18288" y="361784"/>
            <a:ext cx="9072438" cy="2308324"/>
          </a:xfrm>
          <a:prstGeom prst="rect">
            <a:avLst/>
          </a:prstGeom>
          <a:noFill/>
        </p:spPr>
        <p:txBody>
          <a:bodyPr wrap="square">
            <a:spAutoFit/>
          </a:bodyPr>
          <a:lstStyle/>
          <a:p>
            <a:pPr algn="just"/>
            <a:r>
              <a:rPr lang="en-GB" sz="2400" b="0" i="0" u="none" strike="noStrike" baseline="0" dirty="0">
                <a:solidFill>
                  <a:srgbClr val="231F20"/>
                </a:solidFill>
                <a:latin typeface="+mn-lt"/>
              </a:rPr>
              <a:t>1. Water is accelerated by a nozzle to an average speed of 20 m/s, and strikes a stationary vertical plate at a rate of 10 kg/s with a normal velocity of 20 m/s. After striking the plate, the water stream splatters off in all directions in the plane of the plate. Determine the force needed to prevent the plate from moving horizontally due to the water stream. </a:t>
            </a:r>
            <a:endParaRPr lang="en-GH" dirty="0">
              <a:latin typeface="+mn-lt"/>
            </a:endParaRPr>
          </a:p>
        </p:txBody>
      </p:sp>
    </p:spTree>
    <p:extLst>
      <p:ext uri="{BB962C8B-B14F-4D97-AF65-F5344CB8AC3E}">
        <p14:creationId xmlns:p14="http://schemas.microsoft.com/office/powerpoint/2010/main" val="3999675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352640"/>
          </a:xfrm>
        </p:spPr>
        <p:txBody>
          <a:bodyPr>
            <a:normAutofit fontScale="90000"/>
          </a:bodyPr>
          <a:lstStyle/>
          <a:p>
            <a:r>
              <a:rPr lang="en-US" sz="2800" b="1" dirty="0">
                <a:solidFill>
                  <a:schemeClr val="tx1"/>
                </a:solidFill>
              </a:rPr>
              <a:t>Practice Problems</a:t>
            </a:r>
            <a:endParaRPr lang="en-US" sz="2800" dirty="0"/>
          </a:p>
        </p:txBody>
      </p:sp>
      <p:sp>
        <p:nvSpPr>
          <p:cNvPr id="6" name="TextBox 5">
            <a:extLst>
              <a:ext uri="{FF2B5EF4-FFF2-40B4-BE49-F238E27FC236}">
                <a16:creationId xmlns:a16="http://schemas.microsoft.com/office/drawing/2014/main" id="{0B9C5613-C7FC-822B-B5D8-0AF5E1750474}"/>
              </a:ext>
            </a:extLst>
          </p:cNvPr>
          <p:cNvSpPr txBox="1"/>
          <p:nvPr/>
        </p:nvSpPr>
        <p:spPr>
          <a:xfrm>
            <a:off x="0" y="2001627"/>
            <a:ext cx="9072438" cy="1938992"/>
          </a:xfrm>
          <a:prstGeom prst="rect">
            <a:avLst/>
          </a:prstGeom>
          <a:noFill/>
        </p:spPr>
        <p:txBody>
          <a:bodyPr wrap="square">
            <a:spAutoFit/>
          </a:bodyPr>
          <a:lstStyle/>
          <a:p>
            <a:pPr algn="just"/>
            <a:r>
              <a:rPr lang="en-GB" dirty="0">
                <a:solidFill>
                  <a:srgbClr val="231F20"/>
                </a:solidFill>
                <a:latin typeface="+mn-lt"/>
              </a:rPr>
              <a:t>4</a:t>
            </a:r>
            <a:r>
              <a:rPr lang="en-GB" sz="2400" b="0" i="0" u="none" strike="noStrike" baseline="0" dirty="0">
                <a:solidFill>
                  <a:srgbClr val="231F20"/>
                </a:solidFill>
                <a:latin typeface="+mn-lt"/>
              </a:rPr>
              <a:t>. A boat travelling at 12 m/s in fresh water has a 600 mm diameter propeller which takes water at 4.25 m</a:t>
            </a:r>
            <a:r>
              <a:rPr lang="en-GB" sz="2400" b="0" i="0" u="none" strike="noStrike" baseline="30000" dirty="0">
                <a:solidFill>
                  <a:srgbClr val="231F20"/>
                </a:solidFill>
                <a:latin typeface="+mn-lt"/>
              </a:rPr>
              <a:t>3</a:t>
            </a:r>
            <a:r>
              <a:rPr lang="en-GB" sz="2400" b="0" i="0" u="none" strike="noStrike" baseline="0" dirty="0">
                <a:solidFill>
                  <a:srgbClr val="231F20"/>
                </a:solidFill>
                <a:latin typeface="+mn-lt"/>
              </a:rPr>
              <a:t>/s between its blades. Assuming that the effect of th</a:t>
            </a:r>
            <a:r>
              <a:rPr lang="en-GB" dirty="0">
                <a:solidFill>
                  <a:srgbClr val="231F20"/>
                </a:solidFill>
                <a:latin typeface="+mn-lt"/>
              </a:rPr>
              <a:t>e propeller hub and the boat hull on flow conditions are negligible, calculate (a) the thrust on the boat, (b) the efficiency of the propulsion, and (c) the power input to the propeller.</a:t>
            </a:r>
            <a:endParaRPr lang="en-GH" dirty="0">
              <a:latin typeface="+mn-lt"/>
            </a:endParaRPr>
          </a:p>
        </p:txBody>
      </p:sp>
      <p:sp>
        <p:nvSpPr>
          <p:cNvPr id="3" name="TextBox 2">
            <a:extLst>
              <a:ext uri="{FF2B5EF4-FFF2-40B4-BE49-F238E27FC236}">
                <a16:creationId xmlns:a16="http://schemas.microsoft.com/office/drawing/2014/main" id="{F2CF839D-45CB-9FD8-5FD9-29DBAA5EDAB5}"/>
              </a:ext>
            </a:extLst>
          </p:cNvPr>
          <p:cNvSpPr txBox="1"/>
          <p:nvPr/>
        </p:nvSpPr>
        <p:spPr>
          <a:xfrm>
            <a:off x="18288" y="361784"/>
            <a:ext cx="9072438" cy="1569660"/>
          </a:xfrm>
          <a:prstGeom prst="rect">
            <a:avLst/>
          </a:prstGeom>
          <a:noFill/>
        </p:spPr>
        <p:txBody>
          <a:bodyPr wrap="square">
            <a:spAutoFit/>
          </a:bodyPr>
          <a:lstStyle/>
          <a:p>
            <a:pPr algn="just"/>
            <a:r>
              <a:rPr lang="en-GB" dirty="0">
                <a:solidFill>
                  <a:srgbClr val="231F20"/>
                </a:solidFill>
                <a:latin typeface="+mn-lt"/>
              </a:rPr>
              <a:t>3</a:t>
            </a:r>
            <a:r>
              <a:rPr lang="en-GB" sz="2400" b="0" i="0" u="none" strike="noStrike" baseline="0" dirty="0">
                <a:solidFill>
                  <a:srgbClr val="231F20"/>
                </a:solidFill>
                <a:latin typeface="+mn-lt"/>
              </a:rPr>
              <a:t>. A stationary curved vane deflects a 50 mm diameter jet of water through 150⁰. Due to friction over the surface, the water leaving the vane has only 80 % of its original velocity. Calculate the mass flow rate needed to produce a fluid dynamic force of 2000 N on the vane.</a:t>
            </a:r>
            <a:endParaRPr lang="en-GH" dirty="0">
              <a:latin typeface="+mn-lt"/>
            </a:endParaRPr>
          </a:p>
        </p:txBody>
      </p:sp>
      <p:sp>
        <p:nvSpPr>
          <p:cNvPr id="8" name="TextBox 7">
            <a:extLst>
              <a:ext uri="{FF2B5EF4-FFF2-40B4-BE49-F238E27FC236}">
                <a16:creationId xmlns:a16="http://schemas.microsoft.com/office/drawing/2014/main" id="{F853B063-5438-C2AF-E6A9-9EC6A8CBF43E}"/>
              </a:ext>
            </a:extLst>
          </p:cNvPr>
          <p:cNvSpPr txBox="1"/>
          <p:nvPr/>
        </p:nvSpPr>
        <p:spPr>
          <a:xfrm>
            <a:off x="18288" y="4058740"/>
            <a:ext cx="9072438" cy="1938992"/>
          </a:xfrm>
          <a:prstGeom prst="rect">
            <a:avLst/>
          </a:prstGeom>
          <a:noFill/>
        </p:spPr>
        <p:txBody>
          <a:bodyPr wrap="square">
            <a:spAutoFit/>
          </a:bodyPr>
          <a:lstStyle/>
          <a:p>
            <a:pPr algn="just"/>
            <a:r>
              <a:rPr lang="en-GB" dirty="0">
                <a:solidFill>
                  <a:srgbClr val="231F20"/>
                </a:solidFill>
                <a:latin typeface="+mn-lt"/>
              </a:rPr>
              <a:t>5</a:t>
            </a:r>
            <a:r>
              <a:rPr lang="en-GB" sz="2400" b="0" i="0" u="none" strike="noStrike" baseline="0" dirty="0">
                <a:solidFill>
                  <a:srgbClr val="231F20"/>
                </a:solidFill>
                <a:latin typeface="+mn-lt"/>
              </a:rPr>
              <a:t>. A wind turbin</a:t>
            </a:r>
            <a:r>
              <a:rPr lang="en-GB" dirty="0">
                <a:solidFill>
                  <a:srgbClr val="231F20"/>
                </a:solidFill>
                <a:latin typeface="+mn-lt"/>
              </a:rPr>
              <a:t>e 30 m high with a blade span of 40 m is subjected to 30 km/h steady winds. If the combined turbine-generator efficiency of the wind turbine is 35%, determine (a) the power output of the turbine, (b) the horizontal force of the wind on the supporting mast of the turbine, and (c) the bending moment on the mast of the turbine.</a:t>
            </a:r>
            <a:endParaRPr lang="en-GH" dirty="0">
              <a:latin typeface="+mn-lt"/>
            </a:endParaRPr>
          </a:p>
        </p:txBody>
      </p:sp>
    </p:spTree>
    <p:extLst>
      <p:ext uri="{BB962C8B-B14F-4D97-AF65-F5344CB8AC3E}">
        <p14:creationId xmlns:p14="http://schemas.microsoft.com/office/powerpoint/2010/main" val="806963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690" y="2592885"/>
                <a:ext cx="8784491" cy="3325024"/>
              </a:xfrm>
            </p:spPr>
            <p:txBody>
              <a:bodyPr>
                <a:normAutofit/>
              </a:bodyPr>
              <a:lstStyle/>
              <a:p>
                <a:pPr algn="just">
                  <a:spcBef>
                    <a:spcPts val="600"/>
                  </a:spcBef>
                  <a:spcAft>
                    <a:spcPts val="600"/>
                  </a:spcAft>
                </a:pPr>
                <a:r>
                  <a:rPr lang="en-US" dirty="0">
                    <a:solidFill>
                      <a:schemeClr val="tx1"/>
                    </a:solidFill>
                    <a:latin typeface="+mn-lt"/>
                  </a:rPr>
                  <a:t>We need to define a new reference frame, </a:t>
                </a:r>
                <a:r>
                  <a:rPr lang="en-US" i="1" dirty="0" err="1">
                    <a:solidFill>
                      <a:schemeClr val="tx1"/>
                    </a:solidFill>
                    <a:latin typeface="+mn-lt"/>
                  </a:rPr>
                  <a:t>xyz</a:t>
                </a:r>
                <a:r>
                  <a:rPr lang="en-US" i="1" dirty="0">
                    <a:solidFill>
                      <a:schemeClr val="tx1"/>
                    </a:solidFill>
                    <a:latin typeface="+mn-lt"/>
                  </a:rPr>
                  <a:t> </a:t>
                </a:r>
                <a:r>
                  <a:rPr lang="en-US" dirty="0">
                    <a:solidFill>
                      <a:schemeClr val="tx1"/>
                    </a:solidFill>
                    <a:latin typeface="+mn-lt"/>
                  </a:rPr>
                  <a:t>that is attached to the CV </a:t>
                </a:r>
              </a:p>
              <a:p>
                <a:pPr algn="just">
                  <a:spcBef>
                    <a:spcPts val="600"/>
                  </a:spcBef>
                  <a:spcAft>
                    <a:spcPts val="600"/>
                  </a:spcAft>
                </a:pPr>
                <a:r>
                  <a:rPr lang="en-US" dirty="0">
                    <a:solidFill>
                      <a:schemeClr val="tx1"/>
                    </a:solidFill>
                    <a:latin typeface="+mn-lt"/>
                  </a:rPr>
                  <a:t>For the momentum equation to be valid, all velocities must be measured relative to the CV</a:t>
                </a:r>
              </a:p>
              <a:p>
                <a:pPr marL="0" indent="0" algn="just">
                  <a:spcBef>
                    <a:spcPts val="600"/>
                  </a:spcBef>
                  <a:spcAft>
                    <a:spcPts val="1200"/>
                  </a:spcAft>
                  <a:buNone/>
                </a:pPr>
                <a14:m>
                  <m:oMathPara xmlns:m="http://schemas.openxmlformats.org/officeDocument/2006/math">
                    <m:oMathParaPr>
                      <m:jc m:val="centerGroup"/>
                    </m:oMathParaPr>
                    <m:oMath xmlns:m="http://schemas.openxmlformats.org/officeDocument/2006/math">
                      <m:acc>
                        <m:accPr>
                          <m:chr m:val="⃗"/>
                          <m:ctrlPr>
                            <a:rPr lang="en-CA" i="1" smtClean="0">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r>
                        <a:rPr lang="en-CA" i="1">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e>
                        <m:sub>
                          <m:r>
                            <a:rPr lang="en-CA" i="1">
                              <a:solidFill>
                                <a:schemeClr val="tx1"/>
                              </a:solidFill>
                              <a:latin typeface="Cambria Math" panose="02040503050406030204" pitchFamily="18" charset="0"/>
                            </a:rPr>
                            <m:t>𝑠</m:t>
                          </m:r>
                        </m:sub>
                      </m:sSub>
                      <m:r>
                        <a:rPr lang="en-CA" i="1">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e>
                        <m:sub>
                          <m:r>
                            <a:rPr lang="en-CA" i="1">
                              <a:solidFill>
                                <a:schemeClr val="tx1"/>
                              </a:solidFill>
                              <a:latin typeface="Cambria Math" panose="02040503050406030204" pitchFamily="18" charset="0"/>
                            </a:rPr>
                            <m:t>𝐵</m:t>
                          </m:r>
                        </m:sub>
                      </m:sSub>
                      <m:r>
                        <a:rPr lang="en-CA" i="1">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r>
                            <a:rPr lang="en-CA" i="1">
                              <a:solidFill>
                                <a:schemeClr val="tx1"/>
                              </a:solidFill>
                              <a:latin typeface="Cambria Math" panose="02040503050406030204" pitchFamily="18" charset="0"/>
                              <a:ea typeface="Cambria Math" panose="02040503050406030204" pitchFamily="18" charset="0"/>
                            </a:rPr>
                            <m:t>𝜕</m:t>
                          </m:r>
                        </m:num>
                        <m:den>
                          <m:r>
                            <a:rPr lang="en-CA" i="1">
                              <a:solidFill>
                                <a:schemeClr val="tx1"/>
                              </a:solidFill>
                              <a:latin typeface="Cambria Math" panose="02040503050406030204" pitchFamily="18" charset="0"/>
                              <a:ea typeface="Cambria Math" panose="02040503050406030204" pitchFamily="18" charset="0"/>
                            </a:rPr>
                            <m:t>𝜕</m:t>
                          </m:r>
                          <m:r>
                            <a:rPr lang="en-CA" i="1">
                              <a:solidFill>
                                <a:schemeClr val="tx1"/>
                              </a:solidFill>
                              <a:latin typeface="Cambria Math" panose="02040503050406030204" pitchFamily="18" charset="0"/>
                              <a:ea typeface="Cambria Math" panose="02040503050406030204" pitchFamily="18" charset="0"/>
                            </a:rPr>
                            <m:t>𝑡</m:t>
                          </m:r>
                        </m:den>
                      </m:f>
                      <m:nary>
                        <m:naryPr>
                          <m:ctrlPr>
                            <a:rPr lang="en-CA" i="1">
                              <a:solidFill>
                                <a:schemeClr val="tx1"/>
                              </a:solidFill>
                              <a:latin typeface="Cambria Math" panose="02040503050406030204" pitchFamily="18" charset="0"/>
                            </a:rPr>
                          </m:ctrlPr>
                        </m:naryPr>
                        <m:sub>
                          <m:r>
                            <m:rPr>
                              <m:brk m:alnAt="23"/>
                            </m:rPr>
                            <a:rPr lang="en-CA" i="1">
                              <a:solidFill>
                                <a:schemeClr val="tx1"/>
                              </a:solidFill>
                              <a:latin typeface="Cambria Math" panose="02040503050406030204" pitchFamily="18" charset="0"/>
                            </a:rPr>
                            <m:t>𝐶</m:t>
                          </m:r>
                          <m:r>
                            <a:rPr lang="en-CA" i="1">
                              <a:solidFill>
                                <a:schemeClr val="tx1"/>
                              </a:solidFill>
                              <a:latin typeface="Cambria Math" panose="02040503050406030204" pitchFamily="18" charset="0"/>
                            </a:rPr>
                            <m:t>𝑉</m:t>
                          </m:r>
                        </m:sub>
                        <m:sup/>
                        <m:e>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𝜌</m:t>
                          </m:r>
                          <m:r>
                            <a:rPr lang="en-CA" i="1">
                              <a:solidFill>
                                <a:schemeClr val="tx1"/>
                              </a:solidFill>
                              <a:latin typeface="Cambria Math" panose="02040503050406030204" pitchFamily="18" charset="0"/>
                              <a:ea typeface="Cambria Math" panose="02040503050406030204" pitchFamily="18" charset="0"/>
                            </a:rPr>
                            <m:t>𝑑</m:t>
                          </m:r>
                          <m:r>
                            <a:rPr lang="en-CA" i="1" smtClean="0">
                              <a:solidFill>
                                <a:schemeClr val="tx1"/>
                              </a:solidFill>
                              <a:latin typeface="Cambria Math" panose="02040503050406030204" pitchFamily="18" charset="0"/>
                              <a:ea typeface="Cambria Math" panose="02040503050406030204" pitchFamily="18" charset="0"/>
                            </a:rPr>
                            <m:t>∀</m:t>
                          </m:r>
                        </m:e>
                      </m:nary>
                      <m:r>
                        <a:rPr lang="en-CA">
                          <a:solidFill>
                            <a:schemeClr val="tx1"/>
                          </a:solidFill>
                          <a:latin typeface="Cambria Math" panose="02040503050406030204" pitchFamily="18" charset="0"/>
                          <a:ea typeface="Cambria Math" panose="02040503050406030204" pitchFamily="18" charset="0"/>
                        </a:rPr>
                        <m:t>+</m:t>
                      </m:r>
                      <m:nary>
                        <m:naryPr>
                          <m:ctrlPr>
                            <a:rPr lang="en-CA" i="1">
                              <a:solidFill>
                                <a:schemeClr val="tx1"/>
                              </a:solidFill>
                              <a:latin typeface="Cambria Math" panose="02040503050406030204" pitchFamily="18" charset="0"/>
                            </a:rPr>
                          </m:ctrlPr>
                        </m:naryPr>
                        <m:sub>
                          <m:r>
                            <m:rPr>
                              <m:brk m:alnAt="23"/>
                            </m:rPr>
                            <a:rPr lang="en-CA" i="1">
                              <a:solidFill>
                                <a:schemeClr val="tx1"/>
                              </a:solidFill>
                              <a:latin typeface="Cambria Math" panose="02040503050406030204" pitchFamily="18" charset="0"/>
                            </a:rPr>
                            <m:t>𝐶</m:t>
                          </m:r>
                          <m:r>
                            <a:rPr lang="en-CA" i="1">
                              <a:solidFill>
                                <a:schemeClr val="tx1"/>
                              </a:solidFill>
                              <a:latin typeface="Cambria Math" panose="02040503050406030204" pitchFamily="18" charset="0"/>
                            </a:rPr>
                            <m:t>𝑆</m:t>
                          </m:r>
                        </m:sub>
                        <m:sup/>
                        <m:e>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𝜌</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m:t>
                          </m:r>
                          <m:r>
                            <a:rPr lang="en-CA" i="1">
                              <a:solidFill>
                                <a:schemeClr val="tx1"/>
                              </a:solidFill>
                              <a:latin typeface="Cambria Math" panose="02040503050406030204" pitchFamily="18" charset="0"/>
                              <a:ea typeface="Cambria Math" panose="02040503050406030204" pitchFamily="18" charset="0"/>
                            </a:rPr>
                            <m:t>𝑑</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i="1">
                                  <a:solidFill>
                                    <a:schemeClr val="tx1"/>
                                  </a:solidFill>
                                  <a:latin typeface="Cambria Math" panose="02040503050406030204" pitchFamily="18" charset="0"/>
                                  <a:ea typeface="Cambria Math" panose="02040503050406030204" pitchFamily="18" charset="0"/>
                                </a:rPr>
                                <m:t>𝐴</m:t>
                              </m:r>
                            </m:e>
                          </m:acc>
                        </m:e>
                      </m:nary>
                    </m:oMath>
                  </m:oMathPara>
                </a14:m>
                <a:endParaRPr lang="en-US" i="1" dirty="0">
                  <a:solidFill>
                    <a:schemeClr val="tx1"/>
                  </a:solidFill>
                  <a:latin typeface="+mn-lt"/>
                </a:endParaRPr>
              </a:p>
              <a:p>
                <a:pPr algn="just">
                  <a:spcBef>
                    <a:spcPts val="600"/>
                  </a:spcBef>
                </a:pPr>
                <a:r>
                  <a:rPr lang="en-US" dirty="0">
                    <a:solidFill>
                      <a:schemeClr val="tx1"/>
                    </a:solidFill>
                    <a:latin typeface="+mn-lt"/>
                  </a:rPr>
                  <a:t>It is helpful to imagine that the velocities are those that would be seen by an observer moving with the control volume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690" y="2592885"/>
                <a:ext cx="8784491" cy="3325024"/>
              </a:xfrm>
              <a:blipFill>
                <a:blip r:embed="rId3"/>
                <a:stretch>
                  <a:fillRect l="-902" t="-2564" r="-1110" b="-3114"/>
                </a:stretch>
              </a:blipFill>
            </p:spPr>
            <p:txBody>
              <a:bodyPr/>
              <a:lstStyle/>
              <a:p>
                <a:r>
                  <a:rPr lang="en-GH">
                    <a:noFill/>
                  </a:rPr>
                  <a:t> </a:t>
                </a:r>
              </a:p>
            </p:txBody>
          </p:sp>
        </mc:Fallback>
      </mc:AlternateContent>
      <p:sp>
        <p:nvSpPr>
          <p:cNvPr id="20" name="TextBox 19">
            <a:extLst>
              <a:ext uri="{FF2B5EF4-FFF2-40B4-BE49-F238E27FC236}">
                <a16:creationId xmlns:a16="http://schemas.microsoft.com/office/drawing/2014/main" id="{B6DE963D-AA98-FE3D-FCBD-CE0C88E69157}"/>
              </a:ext>
            </a:extLst>
          </p:cNvPr>
          <p:cNvSpPr txBox="1"/>
          <p:nvPr/>
        </p:nvSpPr>
        <p:spPr>
          <a:xfrm>
            <a:off x="210121" y="1841463"/>
            <a:ext cx="2814434" cy="400110"/>
          </a:xfrm>
          <a:prstGeom prst="rect">
            <a:avLst/>
          </a:prstGeom>
          <a:noFill/>
        </p:spPr>
        <p:txBody>
          <a:bodyPr wrap="square" rtlCol="0">
            <a:spAutoFit/>
          </a:bodyPr>
          <a:lstStyle/>
          <a:p>
            <a:r>
              <a:rPr lang="en-GB" sz="2000" dirty="0"/>
              <a:t>inertial reference frame </a:t>
            </a:r>
            <a:endParaRPr lang="en-GB" sz="2000" baseline="-25000" dirty="0"/>
          </a:p>
        </p:txBody>
      </p:sp>
      <p:grpSp>
        <p:nvGrpSpPr>
          <p:cNvPr id="34" name="Group 33">
            <a:extLst>
              <a:ext uri="{FF2B5EF4-FFF2-40B4-BE49-F238E27FC236}">
                <a16:creationId xmlns:a16="http://schemas.microsoft.com/office/drawing/2014/main" id="{EA58D956-11BD-B366-0B26-5B04CC6B115D}"/>
              </a:ext>
            </a:extLst>
          </p:cNvPr>
          <p:cNvGrpSpPr/>
          <p:nvPr/>
        </p:nvGrpSpPr>
        <p:grpSpPr>
          <a:xfrm>
            <a:off x="1460738" y="433958"/>
            <a:ext cx="1437725" cy="1475407"/>
            <a:chOff x="1734174" y="433958"/>
            <a:chExt cx="1437725" cy="1475407"/>
          </a:xfrm>
        </p:grpSpPr>
        <p:grpSp>
          <p:nvGrpSpPr>
            <p:cNvPr id="18" name="Group 17">
              <a:extLst>
                <a:ext uri="{FF2B5EF4-FFF2-40B4-BE49-F238E27FC236}">
                  <a16:creationId xmlns:a16="http://schemas.microsoft.com/office/drawing/2014/main" id="{252AA55A-F9D9-DE1D-5F16-072C224A4230}"/>
                </a:ext>
              </a:extLst>
            </p:cNvPr>
            <p:cNvGrpSpPr/>
            <p:nvPr/>
          </p:nvGrpSpPr>
          <p:grpSpPr>
            <a:xfrm>
              <a:off x="1734174" y="433958"/>
              <a:ext cx="1437725" cy="1475407"/>
              <a:chOff x="728675" y="776447"/>
              <a:chExt cx="1437725" cy="1475407"/>
            </a:xfrm>
          </p:grpSpPr>
          <p:grpSp>
            <p:nvGrpSpPr>
              <p:cNvPr id="13" name="Group 12">
                <a:extLst>
                  <a:ext uri="{FF2B5EF4-FFF2-40B4-BE49-F238E27FC236}">
                    <a16:creationId xmlns:a16="http://schemas.microsoft.com/office/drawing/2014/main" id="{1C8268EF-2F9C-CC0C-4FB9-E38645347CE5}"/>
                  </a:ext>
                </a:extLst>
              </p:cNvPr>
              <p:cNvGrpSpPr/>
              <p:nvPr/>
            </p:nvGrpSpPr>
            <p:grpSpPr>
              <a:xfrm>
                <a:off x="1066800" y="1007280"/>
                <a:ext cx="844061" cy="844061"/>
                <a:chOff x="1066800" y="1007280"/>
                <a:chExt cx="844061" cy="844061"/>
              </a:xfrm>
            </p:grpSpPr>
            <p:cxnSp>
              <p:nvCxnSpPr>
                <p:cNvPr id="9" name="Straight Arrow Connector 8">
                  <a:extLst>
                    <a:ext uri="{FF2B5EF4-FFF2-40B4-BE49-F238E27FC236}">
                      <a16:creationId xmlns:a16="http://schemas.microsoft.com/office/drawing/2014/main" id="{38A9EF78-6C3B-BFD1-B716-C08AE02BF66D}"/>
                    </a:ext>
                  </a:extLst>
                </p:cNvPr>
                <p:cNvCxnSpPr/>
                <p:nvPr/>
              </p:nvCxnSpPr>
              <p:spPr>
                <a:xfrm flipV="1">
                  <a:off x="1066800" y="1007280"/>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0D930F9-C321-1E20-C092-42B49060D3FB}"/>
                    </a:ext>
                  </a:extLst>
                </p:cNvPr>
                <p:cNvCxnSpPr>
                  <a:cxnSpLocks/>
                </p:cNvCxnSpPr>
                <p:nvPr/>
              </p:nvCxnSpPr>
              <p:spPr>
                <a:xfrm rot="5400000" flipV="1">
                  <a:off x="1488831" y="1425404"/>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16" name="TextBox 15">
                <a:extLst>
                  <a:ext uri="{FF2B5EF4-FFF2-40B4-BE49-F238E27FC236}">
                    <a16:creationId xmlns:a16="http://schemas.microsoft.com/office/drawing/2014/main" id="{C6813D91-D592-AACE-0CDB-DFB4C9869261}"/>
                  </a:ext>
                </a:extLst>
              </p:cNvPr>
              <p:cNvSpPr txBox="1"/>
              <p:nvPr/>
            </p:nvSpPr>
            <p:spPr>
              <a:xfrm>
                <a:off x="728675" y="776447"/>
                <a:ext cx="490727" cy="461665"/>
              </a:xfrm>
              <a:prstGeom prst="rect">
                <a:avLst/>
              </a:prstGeom>
              <a:noFill/>
            </p:spPr>
            <p:txBody>
              <a:bodyPr wrap="square" rtlCol="0">
                <a:spAutoFit/>
              </a:bodyPr>
              <a:lstStyle/>
              <a:p>
                <a:r>
                  <a:rPr lang="en-GB" i="1" dirty="0"/>
                  <a:t>Y</a:t>
                </a:r>
                <a:endParaRPr lang="en-GB" baseline="-25000" dirty="0"/>
              </a:p>
            </p:txBody>
          </p:sp>
          <p:sp>
            <p:nvSpPr>
              <p:cNvPr id="17" name="TextBox 16">
                <a:extLst>
                  <a:ext uri="{FF2B5EF4-FFF2-40B4-BE49-F238E27FC236}">
                    <a16:creationId xmlns:a16="http://schemas.microsoft.com/office/drawing/2014/main" id="{37C8B110-D4F2-5526-1B01-4F4F53DCF4CC}"/>
                  </a:ext>
                </a:extLst>
              </p:cNvPr>
              <p:cNvSpPr txBox="1"/>
              <p:nvPr/>
            </p:nvSpPr>
            <p:spPr>
              <a:xfrm>
                <a:off x="1675673" y="1790189"/>
                <a:ext cx="490727" cy="461665"/>
              </a:xfrm>
              <a:prstGeom prst="rect">
                <a:avLst/>
              </a:prstGeom>
              <a:noFill/>
            </p:spPr>
            <p:txBody>
              <a:bodyPr wrap="square" rtlCol="0">
                <a:spAutoFit/>
              </a:bodyPr>
              <a:lstStyle/>
              <a:p>
                <a:r>
                  <a:rPr lang="en-GB" i="1" dirty="0"/>
                  <a:t>X</a:t>
                </a:r>
                <a:endParaRPr lang="en-GB" baseline="-25000" dirty="0"/>
              </a:p>
            </p:txBody>
          </p:sp>
        </p:grpSp>
        <p:cxnSp>
          <p:nvCxnSpPr>
            <p:cNvPr id="23" name="Straight Arrow Connector 22">
              <a:extLst>
                <a:ext uri="{FF2B5EF4-FFF2-40B4-BE49-F238E27FC236}">
                  <a16:creationId xmlns:a16="http://schemas.microsoft.com/office/drawing/2014/main" id="{6293D8D9-9B82-D9E2-B6F6-8D5EE610A751}"/>
                </a:ext>
              </a:extLst>
            </p:cNvPr>
            <p:cNvCxnSpPr>
              <a:cxnSpLocks/>
            </p:cNvCxnSpPr>
            <p:nvPr/>
          </p:nvCxnSpPr>
          <p:spPr>
            <a:xfrm flipV="1">
              <a:off x="1734174" y="1516851"/>
              <a:ext cx="287532" cy="392514"/>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6565E1BF-DAA9-3B46-C9B1-DAB51FD23149}"/>
              </a:ext>
            </a:extLst>
          </p:cNvPr>
          <p:cNvGrpSpPr/>
          <p:nvPr/>
        </p:nvGrpSpPr>
        <p:grpSpPr>
          <a:xfrm>
            <a:off x="2854154" y="486084"/>
            <a:ext cx="2606101" cy="1837633"/>
            <a:chOff x="3521162" y="426420"/>
            <a:chExt cx="2606101" cy="1837633"/>
          </a:xfrm>
        </p:grpSpPr>
        <p:grpSp>
          <p:nvGrpSpPr>
            <p:cNvPr id="19" name="Group 18">
              <a:extLst>
                <a:ext uri="{FF2B5EF4-FFF2-40B4-BE49-F238E27FC236}">
                  <a16:creationId xmlns:a16="http://schemas.microsoft.com/office/drawing/2014/main" id="{300996CB-1A31-1A2C-B41E-F4BAE101E3CB}"/>
                </a:ext>
              </a:extLst>
            </p:cNvPr>
            <p:cNvGrpSpPr/>
            <p:nvPr/>
          </p:nvGrpSpPr>
          <p:grpSpPr>
            <a:xfrm>
              <a:off x="3521162" y="542384"/>
              <a:ext cx="1787160" cy="1721669"/>
              <a:chOff x="3027612" y="412844"/>
              <a:chExt cx="1787160" cy="1721669"/>
            </a:xfrm>
          </p:grpSpPr>
          <p:grpSp>
            <p:nvGrpSpPr>
              <p:cNvPr id="12" name="Group 11">
                <a:extLst>
                  <a:ext uri="{FF2B5EF4-FFF2-40B4-BE49-F238E27FC236}">
                    <a16:creationId xmlns:a16="http://schemas.microsoft.com/office/drawing/2014/main" id="{02D40896-53A1-5712-7C6C-0669FF18FF92}"/>
                  </a:ext>
                </a:extLst>
              </p:cNvPr>
              <p:cNvGrpSpPr/>
              <p:nvPr/>
            </p:nvGrpSpPr>
            <p:grpSpPr>
              <a:xfrm>
                <a:off x="3315143" y="552168"/>
                <a:ext cx="1499629" cy="1582345"/>
                <a:chOff x="2744158" y="536538"/>
                <a:chExt cx="1499629" cy="1582345"/>
              </a:xfrm>
            </p:grpSpPr>
            <p:sp>
              <p:nvSpPr>
                <p:cNvPr id="4" name="Freeform: Shape 3">
                  <a:extLst>
                    <a:ext uri="{FF2B5EF4-FFF2-40B4-BE49-F238E27FC236}">
                      <a16:creationId xmlns:a16="http://schemas.microsoft.com/office/drawing/2014/main" id="{57214214-6D2B-C7F1-59B4-BD91FF8D1655}"/>
                    </a:ext>
                  </a:extLst>
                </p:cNvPr>
                <p:cNvSpPr/>
                <p:nvPr/>
              </p:nvSpPr>
              <p:spPr>
                <a:xfrm>
                  <a:off x="2744158" y="536538"/>
                  <a:ext cx="1499629" cy="1582345"/>
                </a:xfrm>
                <a:custGeom>
                  <a:avLst/>
                  <a:gdLst>
                    <a:gd name="connsiteX0" fmla="*/ 608642 w 1499629"/>
                    <a:gd name="connsiteY0" fmla="*/ 128589 h 1582345"/>
                    <a:gd name="connsiteX1" fmla="*/ 163166 w 1499629"/>
                    <a:gd name="connsiteY1" fmla="*/ 363050 h 1582345"/>
                    <a:gd name="connsiteX2" fmla="*/ 6858 w 1499629"/>
                    <a:gd name="connsiteY2" fmla="*/ 941389 h 1582345"/>
                    <a:gd name="connsiteX3" fmla="*/ 358550 w 1499629"/>
                    <a:gd name="connsiteY3" fmla="*/ 1457204 h 1582345"/>
                    <a:gd name="connsiteX4" fmla="*/ 1163535 w 1499629"/>
                    <a:gd name="connsiteY4" fmla="*/ 1519727 h 1582345"/>
                    <a:gd name="connsiteX5" fmla="*/ 1499596 w 1499629"/>
                    <a:gd name="connsiteY5" fmla="*/ 683481 h 1582345"/>
                    <a:gd name="connsiteX6" fmla="*/ 1147904 w 1499629"/>
                    <a:gd name="connsiteY6" fmla="*/ 34804 h 1582345"/>
                    <a:gd name="connsiteX7" fmla="*/ 608642 w 1499629"/>
                    <a:gd name="connsiteY7" fmla="*/ 128589 h 158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629" h="1582345">
                      <a:moveTo>
                        <a:pt x="608642" y="128589"/>
                      </a:moveTo>
                      <a:cubicBezTo>
                        <a:pt x="444519" y="183297"/>
                        <a:pt x="263463" y="227583"/>
                        <a:pt x="163166" y="363050"/>
                      </a:cubicBezTo>
                      <a:cubicBezTo>
                        <a:pt x="62869" y="498517"/>
                        <a:pt x="-25706" y="759030"/>
                        <a:pt x="6858" y="941389"/>
                      </a:cubicBezTo>
                      <a:cubicBezTo>
                        <a:pt x="39422" y="1123748"/>
                        <a:pt x="165771" y="1360814"/>
                        <a:pt x="358550" y="1457204"/>
                      </a:cubicBezTo>
                      <a:cubicBezTo>
                        <a:pt x="551329" y="1553594"/>
                        <a:pt x="973361" y="1648681"/>
                        <a:pt x="1163535" y="1519727"/>
                      </a:cubicBezTo>
                      <a:cubicBezTo>
                        <a:pt x="1353709" y="1390773"/>
                        <a:pt x="1502201" y="930968"/>
                        <a:pt x="1499596" y="683481"/>
                      </a:cubicBezTo>
                      <a:cubicBezTo>
                        <a:pt x="1496991" y="435994"/>
                        <a:pt x="1299001" y="133799"/>
                        <a:pt x="1147904" y="34804"/>
                      </a:cubicBezTo>
                      <a:cubicBezTo>
                        <a:pt x="996807" y="-64191"/>
                        <a:pt x="772765" y="73881"/>
                        <a:pt x="608642" y="128589"/>
                      </a:cubicBezTo>
                      <a:close/>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dirty="0"/>
                </a:p>
              </p:txBody>
            </p:sp>
            <p:grpSp>
              <p:nvGrpSpPr>
                <p:cNvPr id="11" name="Group 10">
                  <a:extLst>
                    <a:ext uri="{FF2B5EF4-FFF2-40B4-BE49-F238E27FC236}">
                      <a16:creationId xmlns:a16="http://schemas.microsoft.com/office/drawing/2014/main" id="{C28FB82F-5208-AF52-AD93-6D1A216135AD}"/>
                    </a:ext>
                  </a:extLst>
                </p:cNvPr>
                <p:cNvGrpSpPr/>
                <p:nvPr/>
              </p:nvGrpSpPr>
              <p:grpSpPr>
                <a:xfrm>
                  <a:off x="2744158" y="661075"/>
                  <a:ext cx="844061" cy="844061"/>
                  <a:chOff x="5423877" y="679939"/>
                  <a:chExt cx="844061" cy="844061"/>
                </a:xfrm>
              </p:grpSpPr>
              <p:cxnSp>
                <p:nvCxnSpPr>
                  <p:cNvPr id="7" name="Straight Arrow Connector 6">
                    <a:extLst>
                      <a:ext uri="{FF2B5EF4-FFF2-40B4-BE49-F238E27FC236}">
                        <a16:creationId xmlns:a16="http://schemas.microsoft.com/office/drawing/2014/main" id="{77F00DBC-C1DC-A5CB-81B0-AB8996D17DDD}"/>
                      </a:ext>
                    </a:extLst>
                  </p:cNvPr>
                  <p:cNvCxnSpPr/>
                  <p:nvPr/>
                </p:nvCxnSpPr>
                <p:spPr>
                  <a:xfrm flipV="1">
                    <a:off x="5423877" y="679939"/>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22ED594D-8CD8-50E4-E573-0E6DD0FE7BA3}"/>
                      </a:ext>
                    </a:extLst>
                  </p:cNvPr>
                  <p:cNvCxnSpPr>
                    <a:cxnSpLocks/>
                  </p:cNvCxnSpPr>
                  <p:nvPr/>
                </p:nvCxnSpPr>
                <p:spPr>
                  <a:xfrm rot="5400000" flipV="1">
                    <a:off x="5845908" y="1098063"/>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grpSp>
          <p:sp>
            <p:nvSpPr>
              <p:cNvPr id="14" name="TextBox 13">
                <a:extLst>
                  <a:ext uri="{FF2B5EF4-FFF2-40B4-BE49-F238E27FC236}">
                    <a16:creationId xmlns:a16="http://schemas.microsoft.com/office/drawing/2014/main" id="{229D70E6-4D5C-06F6-B3FE-9AF972166FD6}"/>
                  </a:ext>
                </a:extLst>
              </p:cNvPr>
              <p:cNvSpPr txBox="1"/>
              <p:nvPr/>
            </p:nvSpPr>
            <p:spPr>
              <a:xfrm>
                <a:off x="3027612" y="412844"/>
                <a:ext cx="490727" cy="461665"/>
              </a:xfrm>
              <a:prstGeom prst="rect">
                <a:avLst/>
              </a:prstGeom>
              <a:noFill/>
            </p:spPr>
            <p:txBody>
              <a:bodyPr wrap="square" rtlCol="0">
                <a:spAutoFit/>
              </a:bodyPr>
              <a:lstStyle/>
              <a:p>
                <a:r>
                  <a:rPr lang="en-GB" i="1" dirty="0"/>
                  <a:t>y</a:t>
                </a:r>
                <a:endParaRPr lang="en-GB" baseline="-25000" dirty="0"/>
              </a:p>
            </p:txBody>
          </p:sp>
          <p:sp>
            <p:nvSpPr>
              <p:cNvPr id="15" name="TextBox 14">
                <a:extLst>
                  <a:ext uri="{FF2B5EF4-FFF2-40B4-BE49-F238E27FC236}">
                    <a16:creationId xmlns:a16="http://schemas.microsoft.com/office/drawing/2014/main" id="{6E84A6FF-B6D0-179C-41AF-A6331A87FAEC}"/>
                  </a:ext>
                </a:extLst>
              </p:cNvPr>
              <p:cNvSpPr txBox="1"/>
              <p:nvPr/>
            </p:nvSpPr>
            <p:spPr>
              <a:xfrm>
                <a:off x="3974610" y="1426586"/>
                <a:ext cx="490727" cy="461665"/>
              </a:xfrm>
              <a:prstGeom prst="rect">
                <a:avLst/>
              </a:prstGeom>
              <a:noFill/>
            </p:spPr>
            <p:txBody>
              <a:bodyPr wrap="square" rtlCol="0">
                <a:spAutoFit/>
              </a:bodyPr>
              <a:lstStyle/>
              <a:p>
                <a:r>
                  <a:rPr lang="en-GB" i="1" dirty="0"/>
                  <a:t>x</a:t>
                </a:r>
                <a:endParaRPr lang="en-GB" baseline="-25000" dirty="0"/>
              </a:p>
            </p:txBody>
          </p:sp>
        </p:grpSp>
        <p:sp>
          <p:nvSpPr>
            <p:cNvPr id="21" name="TextBox 20">
              <a:extLst>
                <a:ext uri="{FF2B5EF4-FFF2-40B4-BE49-F238E27FC236}">
                  <a16:creationId xmlns:a16="http://schemas.microsoft.com/office/drawing/2014/main" id="{D2F2B0DC-36DA-8212-8C7A-FFD2CC1CE5E5}"/>
                </a:ext>
              </a:extLst>
            </p:cNvPr>
            <p:cNvSpPr txBox="1"/>
            <p:nvPr/>
          </p:nvSpPr>
          <p:spPr>
            <a:xfrm>
              <a:off x="3961294" y="426420"/>
              <a:ext cx="616744" cy="461665"/>
            </a:xfrm>
            <a:prstGeom prst="rect">
              <a:avLst/>
            </a:prstGeom>
            <a:noFill/>
          </p:spPr>
          <p:txBody>
            <a:bodyPr wrap="square" rtlCol="0">
              <a:spAutoFit/>
            </a:bodyPr>
            <a:lstStyle/>
            <a:p>
              <a:r>
                <a:rPr lang="en-GB" i="1" dirty="0"/>
                <a:t>CV</a:t>
              </a:r>
              <a:endParaRPr lang="en-GB" baseline="-25000" dirty="0"/>
            </a:p>
          </p:txBody>
        </p:sp>
        <p:cxnSp>
          <p:nvCxnSpPr>
            <p:cNvPr id="28" name="Straight Arrow Connector 27">
              <a:extLst>
                <a:ext uri="{FF2B5EF4-FFF2-40B4-BE49-F238E27FC236}">
                  <a16:creationId xmlns:a16="http://schemas.microsoft.com/office/drawing/2014/main" id="{447F5E16-CEBF-2CFA-2404-3B00CDB3FD66}"/>
                </a:ext>
              </a:extLst>
            </p:cNvPr>
            <p:cNvCxnSpPr>
              <a:cxnSpLocks/>
            </p:cNvCxnSpPr>
            <p:nvPr/>
          </p:nvCxnSpPr>
          <p:spPr>
            <a:xfrm>
              <a:off x="5097944" y="1497588"/>
              <a:ext cx="708890" cy="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B36440AC-E202-7963-E8C9-2FF594638ECE}"/>
                </a:ext>
              </a:extLst>
            </p:cNvPr>
            <p:cNvSpPr txBox="1"/>
            <p:nvPr/>
          </p:nvSpPr>
          <p:spPr>
            <a:xfrm>
              <a:off x="5427515" y="1027327"/>
              <a:ext cx="699748" cy="461665"/>
            </a:xfrm>
            <a:prstGeom prst="rect">
              <a:avLst/>
            </a:prstGeom>
            <a:noFill/>
          </p:spPr>
          <p:txBody>
            <a:bodyPr wrap="square" rtlCol="0">
              <a:spAutoFit/>
            </a:bodyPr>
            <a:lstStyle/>
            <a:p>
              <a:r>
                <a:rPr lang="en-GB" i="1" dirty="0"/>
                <a:t>U</a:t>
              </a:r>
              <a:r>
                <a:rPr lang="en-GB" i="1" baseline="-25000" dirty="0"/>
                <a:t>CV</a:t>
              </a:r>
              <a:endParaRPr lang="en-GB" baseline="-25000" dirty="0"/>
            </a:p>
          </p:txBody>
        </p:sp>
      </p:grpSp>
      <p:grpSp>
        <p:nvGrpSpPr>
          <p:cNvPr id="5" name="Group 4">
            <a:extLst>
              <a:ext uri="{FF2B5EF4-FFF2-40B4-BE49-F238E27FC236}">
                <a16:creationId xmlns:a16="http://schemas.microsoft.com/office/drawing/2014/main" id="{0FE0F9FC-8BB3-331E-A014-9075D83F503F}"/>
              </a:ext>
            </a:extLst>
          </p:cNvPr>
          <p:cNvGrpSpPr/>
          <p:nvPr/>
        </p:nvGrpSpPr>
        <p:grpSpPr>
          <a:xfrm>
            <a:off x="5575824" y="702948"/>
            <a:ext cx="2650200" cy="1582345"/>
            <a:chOff x="5575824" y="702948"/>
            <a:chExt cx="2650200" cy="1582345"/>
          </a:xfrm>
        </p:grpSpPr>
        <p:grpSp>
          <p:nvGrpSpPr>
            <p:cNvPr id="33" name="Group 32">
              <a:extLst>
                <a:ext uri="{FF2B5EF4-FFF2-40B4-BE49-F238E27FC236}">
                  <a16:creationId xmlns:a16="http://schemas.microsoft.com/office/drawing/2014/main" id="{D8435BEC-42CB-DDDD-EE7F-9C62433480A7}"/>
                </a:ext>
              </a:extLst>
            </p:cNvPr>
            <p:cNvGrpSpPr/>
            <p:nvPr/>
          </p:nvGrpSpPr>
          <p:grpSpPr>
            <a:xfrm>
              <a:off x="5575824" y="702948"/>
              <a:ext cx="1499629" cy="1582345"/>
              <a:chOff x="6210343" y="656527"/>
              <a:chExt cx="1499629" cy="1582345"/>
            </a:xfrm>
          </p:grpSpPr>
          <p:sp>
            <p:nvSpPr>
              <p:cNvPr id="27" name="Freeform: Shape 26">
                <a:extLst>
                  <a:ext uri="{FF2B5EF4-FFF2-40B4-BE49-F238E27FC236}">
                    <a16:creationId xmlns:a16="http://schemas.microsoft.com/office/drawing/2014/main" id="{3AA2EFAE-F725-CE49-77A8-C51884EEA3CD}"/>
                  </a:ext>
                </a:extLst>
              </p:cNvPr>
              <p:cNvSpPr/>
              <p:nvPr/>
            </p:nvSpPr>
            <p:spPr>
              <a:xfrm>
                <a:off x="6210343" y="656527"/>
                <a:ext cx="1499629" cy="1582345"/>
              </a:xfrm>
              <a:custGeom>
                <a:avLst/>
                <a:gdLst>
                  <a:gd name="connsiteX0" fmla="*/ 608642 w 1499629"/>
                  <a:gd name="connsiteY0" fmla="*/ 128589 h 1582345"/>
                  <a:gd name="connsiteX1" fmla="*/ 163166 w 1499629"/>
                  <a:gd name="connsiteY1" fmla="*/ 363050 h 1582345"/>
                  <a:gd name="connsiteX2" fmla="*/ 6858 w 1499629"/>
                  <a:gd name="connsiteY2" fmla="*/ 941389 h 1582345"/>
                  <a:gd name="connsiteX3" fmla="*/ 358550 w 1499629"/>
                  <a:gd name="connsiteY3" fmla="*/ 1457204 h 1582345"/>
                  <a:gd name="connsiteX4" fmla="*/ 1163535 w 1499629"/>
                  <a:gd name="connsiteY4" fmla="*/ 1519727 h 1582345"/>
                  <a:gd name="connsiteX5" fmla="*/ 1499596 w 1499629"/>
                  <a:gd name="connsiteY5" fmla="*/ 683481 h 1582345"/>
                  <a:gd name="connsiteX6" fmla="*/ 1147904 w 1499629"/>
                  <a:gd name="connsiteY6" fmla="*/ 34804 h 1582345"/>
                  <a:gd name="connsiteX7" fmla="*/ 608642 w 1499629"/>
                  <a:gd name="connsiteY7" fmla="*/ 128589 h 158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629" h="1582345">
                    <a:moveTo>
                      <a:pt x="608642" y="128589"/>
                    </a:moveTo>
                    <a:cubicBezTo>
                      <a:pt x="444519" y="183297"/>
                      <a:pt x="263463" y="227583"/>
                      <a:pt x="163166" y="363050"/>
                    </a:cubicBezTo>
                    <a:cubicBezTo>
                      <a:pt x="62869" y="498517"/>
                      <a:pt x="-25706" y="759030"/>
                      <a:pt x="6858" y="941389"/>
                    </a:cubicBezTo>
                    <a:cubicBezTo>
                      <a:pt x="39422" y="1123748"/>
                      <a:pt x="165771" y="1360814"/>
                      <a:pt x="358550" y="1457204"/>
                    </a:cubicBezTo>
                    <a:cubicBezTo>
                      <a:pt x="551329" y="1553594"/>
                      <a:pt x="973361" y="1648681"/>
                      <a:pt x="1163535" y="1519727"/>
                    </a:cubicBezTo>
                    <a:cubicBezTo>
                      <a:pt x="1353709" y="1390773"/>
                      <a:pt x="1502201" y="930968"/>
                      <a:pt x="1499596" y="683481"/>
                    </a:cubicBezTo>
                    <a:cubicBezTo>
                      <a:pt x="1496991" y="435994"/>
                      <a:pt x="1299001" y="133799"/>
                      <a:pt x="1147904" y="34804"/>
                    </a:cubicBezTo>
                    <a:cubicBezTo>
                      <a:pt x="996807" y="-64191"/>
                      <a:pt x="772765" y="73881"/>
                      <a:pt x="608642" y="128589"/>
                    </a:cubicBezTo>
                    <a:close/>
                  </a:path>
                </a:pathLst>
              </a:cu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31" name="TextBox 30">
                <a:extLst>
                  <a:ext uri="{FF2B5EF4-FFF2-40B4-BE49-F238E27FC236}">
                    <a16:creationId xmlns:a16="http://schemas.microsoft.com/office/drawing/2014/main" id="{04A4061D-73DF-7375-9242-4638FCC6D70B}"/>
                  </a:ext>
                </a:extLst>
              </p:cNvPr>
              <p:cNvSpPr txBox="1"/>
              <p:nvPr/>
            </p:nvSpPr>
            <p:spPr>
              <a:xfrm>
                <a:off x="6530772" y="1288937"/>
                <a:ext cx="957654" cy="400110"/>
              </a:xfrm>
              <a:prstGeom prst="rect">
                <a:avLst/>
              </a:prstGeom>
              <a:noFill/>
            </p:spPr>
            <p:txBody>
              <a:bodyPr wrap="square" rtlCol="0">
                <a:spAutoFit/>
              </a:bodyPr>
              <a:lstStyle/>
              <a:p>
                <a:r>
                  <a:rPr lang="en-GB" sz="2000" dirty="0"/>
                  <a:t>system</a:t>
                </a:r>
                <a:endParaRPr lang="en-GB" sz="2000" baseline="-25000" dirty="0"/>
              </a:p>
            </p:txBody>
          </p:sp>
        </p:grpSp>
        <p:cxnSp>
          <p:nvCxnSpPr>
            <p:cNvPr id="35" name="Straight Arrow Connector 34">
              <a:extLst>
                <a:ext uri="{FF2B5EF4-FFF2-40B4-BE49-F238E27FC236}">
                  <a16:creationId xmlns:a16="http://schemas.microsoft.com/office/drawing/2014/main" id="{FDB5F000-5429-0B77-2BE5-5F88B8297295}"/>
                </a:ext>
              </a:extLst>
            </p:cNvPr>
            <p:cNvCxnSpPr>
              <a:cxnSpLocks/>
            </p:cNvCxnSpPr>
            <p:nvPr/>
          </p:nvCxnSpPr>
          <p:spPr>
            <a:xfrm flipV="1">
              <a:off x="6990692" y="1063713"/>
              <a:ext cx="613677" cy="40409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641468F-1540-8984-4DF1-365EA843EFB9}"/>
                    </a:ext>
                  </a:extLst>
                </p:cNvPr>
                <p:cNvSpPr txBox="1"/>
                <p:nvPr/>
              </p:nvSpPr>
              <p:spPr>
                <a:xfrm>
                  <a:off x="7526276" y="814929"/>
                  <a:ext cx="699748" cy="5441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oMath>
                    </m:oMathPara>
                  </a14:m>
                  <a:endParaRPr lang="en-GB" baseline="-25000" dirty="0"/>
                </a:p>
              </p:txBody>
            </p:sp>
          </mc:Choice>
          <mc:Fallback xmlns="">
            <p:sp>
              <p:nvSpPr>
                <p:cNvPr id="37" name="TextBox 36">
                  <a:extLst>
                    <a:ext uri="{FF2B5EF4-FFF2-40B4-BE49-F238E27FC236}">
                      <a16:creationId xmlns:a16="http://schemas.microsoft.com/office/drawing/2014/main" id="{B641468F-1540-8984-4DF1-365EA843EFB9}"/>
                    </a:ext>
                  </a:extLst>
                </p:cNvPr>
                <p:cNvSpPr txBox="1">
                  <a:spLocks noRot="1" noChangeAspect="1" noMove="1" noResize="1" noEditPoints="1" noAdjustHandles="1" noChangeArrowheads="1" noChangeShapeType="1" noTextEdit="1"/>
                </p:cNvSpPr>
                <p:nvPr/>
              </p:nvSpPr>
              <p:spPr>
                <a:xfrm>
                  <a:off x="7526276" y="814929"/>
                  <a:ext cx="699748" cy="544123"/>
                </a:xfrm>
                <a:prstGeom prst="rect">
                  <a:avLst/>
                </a:prstGeom>
                <a:blipFill>
                  <a:blip r:embed="rId4"/>
                  <a:stretch>
                    <a:fillRect/>
                  </a:stretch>
                </a:blipFill>
              </p:spPr>
              <p:txBody>
                <a:bodyPr/>
                <a:lstStyle/>
                <a:p>
                  <a:r>
                    <a:rPr lang="en-GH">
                      <a:noFill/>
                    </a:rPr>
                    <a:t> </a:t>
                  </a:r>
                </a:p>
              </p:txBody>
            </p:sp>
          </mc:Fallback>
        </mc:AlternateContent>
      </p:grpSp>
    </p:spTree>
    <p:extLst>
      <p:ext uri="{BB962C8B-B14F-4D97-AF65-F5344CB8AC3E}">
        <p14:creationId xmlns:p14="http://schemas.microsoft.com/office/powerpoint/2010/main" val="2818125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EDCDF1-94FC-284C-E476-35214C2A5306}"/>
                  </a:ext>
                </a:extLst>
              </p:cNvPr>
              <p:cNvSpPr txBox="1"/>
              <p:nvPr/>
            </p:nvSpPr>
            <p:spPr>
              <a:xfrm>
                <a:off x="73152" y="479324"/>
                <a:ext cx="8999286" cy="1652568"/>
              </a:xfrm>
              <a:prstGeom prst="rect">
                <a:avLst/>
              </a:prstGeom>
              <a:noFill/>
            </p:spPr>
            <p:txBody>
              <a:bodyPr wrap="square">
                <a:spAutoFit/>
              </a:bodyPr>
              <a:lstStyle/>
              <a:p>
                <a:pPr marL="0" indent="0">
                  <a:buNone/>
                </a:pPr>
                <a:r>
                  <a:rPr lang="en-CA" dirty="0">
                    <a:latin typeface="+mn-lt"/>
                    <a:cs typeface="Times" panose="02020603050405020304" pitchFamily="18" charset="0"/>
                  </a:rPr>
                  <a:t>For a general CV with a multiple streams into and out of the CV, this reduces to</a:t>
                </a:r>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kumimoji="0" lang="en-CA" sz="2200"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sz="22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200"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sz="2200" b="0" i="1" u="none" strike="noStrike" kern="1200" cap="none" spc="0" normalizeH="0" baseline="0" noProof="0">
                          <a:ln>
                            <a:noFill/>
                          </a:ln>
                          <a:solidFill>
                            <a:prstClr val="black"/>
                          </a:solidFill>
                          <a:effectLst/>
                          <a:uLnTx/>
                          <a:uFillTx/>
                          <a:latin typeface="Cambria Math" panose="02040503050406030204" pitchFamily="18" charset="0"/>
                        </a:rPr>
                        <m:t>=</m:t>
                      </m:r>
                      <m:nary>
                        <m:naryPr>
                          <m:chr m:val="∑"/>
                          <m:supHide m:val="on"/>
                          <m:ctrlPr>
                            <a:rPr kumimoji="0" lang="en-CA" sz="2200"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sz="2200"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sSub>
                            <m:sSubPr>
                              <m:ctrlPr>
                                <a:rPr lang="en-GB" sz="2200" i="1">
                                  <a:solidFill>
                                    <a:prstClr val="black"/>
                                  </a:solidFill>
                                  <a:latin typeface="Cambria Math" panose="02040503050406030204" pitchFamily="18" charset="0"/>
                                </a:rPr>
                              </m:ctrlPr>
                            </m:sSubPr>
                            <m:e>
                              <m:acc>
                                <m:accPr>
                                  <m:chr m:val="⃗"/>
                                  <m:ctrlPr>
                                    <a:rPr lang="en-CA" sz="2200" i="1">
                                      <a:solidFill>
                                        <a:prstClr val="black"/>
                                      </a:solidFill>
                                      <a:latin typeface="Cambria Math" panose="02040503050406030204" pitchFamily="18" charset="0"/>
                                      <a:ea typeface="Cambria Math" panose="02040503050406030204" pitchFamily="18" charset="0"/>
                                    </a:rPr>
                                  </m:ctrlPr>
                                </m:accPr>
                                <m:e>
                                  <m:r>
                                    <a:rPr lang="en-CA" sz="2200" i="1">
                                      <a:solidFill>
                                        <a:prstClr val="black"/>
                                      </a:solidFill>
                                      <a:latin typeface="Cambria Math" panose="02040503050406030204" pitchFamily="18" charset="0"/>
                                      <a:ea typeface="Cambria Math" panose="02040503050406030204" pitchFamily="18" charset="0"/>
                                    </a:rPr>
                                    <m:t>𝑉</m:t>
                                  </m:r>
                                </m:e>
                              </m:acc>
                            </m:e>
                            <m:sub>
                              <m:r>
                                <a:rPr lang="en-GB" sz="2200" i="1">
                                  <a:solidFill>
                                    <a:prstClr val="black"/>
                                  </a:solidFill>
                                  <a:latin typeface="Cambria Math" panose="02040503050406030204" pitchFamily="18" charset="0"/>
                                </a:rPr>
                                <m:t>𝑥𝑦𝑧</m:t>
                              </m:r>
                            </m:sub>
                          </m:sSub>
                          <m:acc>
                            <m:accPr>
                              <m:chr m:val="̇"/>
                              <m:ctrlPr>
                                <a:rPr kumimoji="0" lang="en-CA" sz="22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200"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sz="2200" dirty="0"/>
              </a:p>
            </p:txBody>
          </p:sp>
        </mc:Choice>
        <mc:Fallback xmlns="">
          <p:sp>
            <p:nvSpPr>
              <p:cNvPr id="5" name="TextBox 4">
                <a:extLst>
                  <a:ext uri="{FF2B5EF4-FFF2-40B4-BE49-F238E27FC236}">
                    <a16:creationId xmlns:a16="http://schemas.microsoft.com/office/drawing/2014/main" id="{C7EDCDF1-94FC-284C-E476-35214C2A5306}"/>
                  </a:ext>
                </a:extLst>
              </p:cNvPr>
              <p:cNvSpPr txBox="1">
                <a:spLocks noRot="1" noChangeAspect="1" noMove="1" noResize="1" noEditPoints="1" noAdjustHandles="1" noChangeArrowheads="1" noChangeShapeType="1" noTextEdit="1"/>
              </p:cNvSpPr>
              <p:nvPr/>
            </p:nvSpPr>
            <p:spPr>
              <a:xfrm>
                <a:off x="73152" y="479324"/>
                <a:ext cx="8999286" cy="1652568"/>
              </a:xfrm>
              <a:prstGeom prst="rect">
                <a:avLst/>
              </a:prstGeom>
              <a:blipFill>
                <a:blip r:embed="rId3"/>
                <a:stretch>
                  <a:fillRect l="-1016" t="-295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17724E-BBF2-2635-DEF3-FFD27DAA6793}"/>
                  </a:ext>
                </a:extLst>
              </p:cNvPr>
              <p:cNvSpPr txBox="1"/>
              <p:nvPr/>
            </p:nvSpPr>
            <p:spPr>
              <a:xfrm>
                <a:off x="73152" y="2055168"/>
                <a:ext cx="4585716" cy="544123"/>
              </a:xfrm>
              <a:prstGeom prst="rect">
                <a:avLst/>
              </a:prstGeom>
              <a:noFill/>
            </p:spPr>
            <p:txBody>
              <a:bodyPr wrap="square">
                <a:spAutoFit/>
              </a:bodyPr>
              <a:lstStyle/>
              <a:p>
                <a:r>
                  <a:rPr lang="en-CA" dirty="0">
                    <a:latin typeface="+mn-lt"/>
                    <a:cs typeface="Times" panose="02020603050405020304" pitchFamily="18" charset="0"/>
                  </a:rPr>
                  <a:t>But </a:t>
                </a:r>
                <a14:m>
                  <m:oMath xmlns:m="http://schemas.openxmlformats.org/officeDocument/2006/math">
                    <m:sSub>
                      <m:sSubPr>
                        <m:ctrlPr>
                          <a:rPr lang="en-CA" b="1" i="1" smtClean="0">
                            <a:solidFill>
                              <a:schemeClr val="tx1"/>
                            </a:solidFill>
                            <a:latin typeface="Cambria Math" panose="02040503050406030204" pitchFamily="18" charset="0"/>
                          </a:rPr>
                        </m:ctrlPr>
                      </m:sSubPr>
                      <m:e>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e>
                      <m:sub>
                        <m:r>
                          <a:rPr lang="en-CA" b="1" i="1" smtClean="0">
                            <a:solidFill>
                              <a:schemeClr val="tx1"/>
                            </a:solidFill>
                            <a:latin typeface="Cambria Math" panose="02040503050406030204" pitchFamily="18" charset="0"/>
                          </a:rPr>
                          <m:t>𝒙𝒚𝒛</m:t>
                        </m:r>
                      </m:sub>
                    </m:sSub>
                  </m:oMath>
                </a14:m>
                <a:r>
                  <a:rPr lang="en-CA" dirty="0">
                    <a:latin typeface="+mn-lt"/>
                    <a:cs typeface="Times" panose="02020603050405020304" pitchFamily="18" charset="0"/>
                  </a:rPr>
                  <a:t> = ? </a:t>
                </a:r>
                <a:endParaRPr lang="en-GH" dirty="0"/>
              </a:p>
            </p:txBody>
          </p:sp>
        </mc:Choice>
        <mc:Fallback xmlns="">
          <p:sp>
            <p:nvSpPr>
              <p:cNvPr id="4" name="TextBox 3">
                <a:extLst>
                  <a:ext uri="{FF2B5EF4-FFF2-40B4-BE49-F238E27FC236}">
                    <a16:creationId xmlns:a16="http://schemas.microsoft.com/office/drawing/2014/main" id="{9A17724E-BBF2-2635-DEF3-FFD27DAA6793}"/>
                  </a:ext>
                </a:extLst>
              </p:cNvPr>
              <p:cNvSpPr txBox="1">
                <a:spLocks noRot="1" noChangeAspect="1" noMove="1" noResize="1" noEditPoints="1" noAdjustHandles="1" noChangeArrowheads="1" noChangeShapeType="1" noTextEdit="1"/>
              </p:cNvSpPr>
              <p:nvPr/>
            </p:nvSpPr>
            <p:spPr>
              <a:xfrm>
                <a:off x="73152" y="2055168"/>
                <a:ext cx="4585716" cy="544123"/>
              </a:xfrm>
              <a:prstGeom prst="rect">
                <a:avLst/>
              </a:prstGeom>
              <a:blipFill>
                <a:blip r:embed="rId4"/>
                <a:stretch>
                  <a:fillRect l="-1995" b="-20225"/>
                </a:stretch>
              </a:blipFill>
            </p:spPr>
            <p:txBody>
              <a:bodyPr/>
              <a:lstStyle/>
              <a:p>
                <a:r>
                  <a:rPr lang="en-GH">
                    <a:noFill/>
                  </a:rPr>
                  <a:t> </a:t>
                </a:r>
              </a:p>
            </p:txBody>
          </p:sp>
        </mc:Fallback>
      </mc:AlternateContent>
      <p:grpSp>
        <p:nvGrpSpPr>
          <p:cNvPr id="35" name="Group 34">
            <a:extLst>
              <a:ext uri="{FF2B5EF4-FFF2-40B4-BE49-F238E27FC236}">
                <a16:creationId xmlns:a16="http://schemas.microsoft.com/office/drawing/2014/main" id="{CCB36379-562E-83C4-3635-BDE02198893E}"/>
              </a:ext>
            </a:extLst>
          </p:cNvPr>
          <p:cNvGrpSpPr/>
          <p:nvPr/>
        </p:nvGrpSpPr>
        <p:grpSpPr>
          <a:xfrm>
            <a:off x="225406" y="2647573"/>
            <a:ext cx="1437725" cy="1475407"/>
            <a:chOff x="728675" y="776447"/>
            <a:chExt cx="1437725" cy="1475407"/>
          </a:xfrm>
        </p:grpSpPr>
        <p:grpSp>
          <p:nvGrpSpPr>
            <p:cNvPr id="37" name="Group 36">
              <a:extLst>
                <a:ext uri="{FF2B5EF4-FFF2-40B4-BE49-F238E27FC236}">
                  <a16:creationId xmlns:a16="http://schemas.microsoft.com/office/drawing/2014/main" id="{A66462CC-4081-4501-B00A-FE2DAB7985EA}"/>
                </a:ext>
              </a:extLst>
            </p:cNvPr>
            <p:cNvGrpSpPr/>
            <p:nvPr/>
          </p:nvGrpSpPr>
          <p:grpSpPr>
            <a:xfrm>
              <a:off x="1066800" y="1007280"/>
              <a:ext cx="844061" cy="844061"/>
              <a:chOff x="1066800" y="1007280"/>
              <a:chExt cx="844061" cy="844061"/>
            </a:xfrm>
          </p:grpSpPr>
          <p:cxnSp>
            <p:nvCxnSpPr>
              <p:cNvPr id="40" name="Straight Arrow Connector 39">
                <a:extLst>
                  <a:ext uri="{FF2B5EF4-FFF2-40B4-BE49-F238E27FC236}">
                    <a16:creationId xmlns:a16="http://schemas.microsoft.com/office/drawing/2014/main" id="{F437FD00-D971-D6FB-0B97-08F5EAB489EC}"/>
                  </a:ext>
                </a:extLst>
              </p:cNvPr>
              <p:cNvCxnSpPr/>
              <p:nvPr/>
            </p:nvCxnSpPr>
            <p:spPr>
              <a:xfrm flipV="1">
                <a:off x="1066800" y="1007280"/>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3D688F0-5C8B-E09B-B66E-6566E4D5CF15}"/>
                  </a:ext>
                </a:extLst>
              </p:cNvPr>
              <p:cNvCxnSpPr>
                <a:cxnSpLocks/>
              </p:cNvCxnSpPr>
              <p:nvPr/>
            </p:nvCxnSpPr>
            <p:spPr>
              <a:xfrm rot="5400000" flipV="1">
                <a:off x="1488831" y="1425404"/>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8" name="TextBox 37">
              <a:extLst>
                <a:ext uri="{FF2B5EF4-FFF2-40B4-BE49-F238E27FC236}">
                  <a16:creationId xmlns:a16="http://schemas.microsoft.com/office/drawing/2014/main" id="{0CC56809-4DC6-060F-D084-CA2A40280702}"/>
                </a:ext>
              </a:extLst>
            </p:cNvPr>
            <p:cNvSpPr txBox="1"/>
            <p:nvPr/>
          </p:nvSpPr>
          <p:spPr>
            <a:xfrm>
              <a:off x="728675" y="776447"/>
              <a:ext cx="490727" cy="461665"/>
            </a:xfrm>
            <a:prstGeom prst="rect">
              <a:avLst/>
            </a:prstGeom>
            <a:noFill/>
          </p:spPr>
          <p:txBody>
            <a:bodyPr wrap="square" rtlCol="0">
              <a:spAutoFit/>
            </a:bodyPr>
            <a:lstStyle/>
            <a:p>
              <a:r>
                <a:rPr lang="en-GB" i="1" dirty="0"/>
                <a:t>Y</a:t>
              </a:r>
              <a:endParaRPr lang="en-GB" baseline="-25000" dirty="0"/>
            </a:p>
          </p:txBody>
        </p:sp>
        <p:sp>
          <p:nvSpPr>
            <p:cNvPr id="39" name="TextBox 38">
              <a:extLst>
                <a:ext uri="{FF2B5EF4-FFF2-40B4-BE49-F238E27FC236}">
                  <a16:creationId xmlns:a16="http://schemas.microsoft.com/office/drawing/2014/main" id="{43832121-33D7-62E8-72D8-D4700E14EADB}"/>
                </a:ext>
              </a:extLst>
            </p:cNvPr>
            <p:cNvSpPr txBox="1"/>
            <p:nvPr/>
          </p:nvSpPr>
          <p:spPr>
            <a:xfrm>
              <a:off x="1675673" y="1790189"/>
              <a:ext cx="490727" cy="461665"/>
            </a:xfrm>
            <a:prstGeom prst="rect">
              <a:avLst/>
            </a:prstGeom>
            <a:noFill/>
          </p:spPr>
          <p:txBody>
            <a:bodyPr wrap="square" rtlCol="0">
              <a:spAutoFit/>
            </a:bodyPr>
            <a:lstStyle/>
            <a:p>
              <a:r>
                <a:rPr lang="en-GB" i="1" dirty="0"/>
                <a:t>X</a:t>
              </a:r>
              <a:endParaRPr lang="en-GB" baseline="-25000" dirty="0"/>
            </a:p>
          </p:txBody>
        </p:sp>
      </p:grpSp>
      <p:grpSp>
        <p:nvGrpSpPr>
          <p:cNvPr id="42" name="Group 41">
            <a:extLst>
              <a:ext uri="{FF2B5EF4-FFF2-40B4-BE49-F238E27FC236}">
                <a16:creationId xmlns:a16="http://schemas.microsoft.com/office/drawing/2014/main" id="{494608AC-E9A2-512D-35B8-5A2887026159}"/>
              </a:ext>
            </a:extLst>
          </p:cNvPr>
          <p:cNvGrpSpPr/>
          <p:nvPr/>
        </p:nvGrpSpPr>
        <p:grpSpPr>
          <a:xfrm>
            <a:off x="1618822" y="2699699"/>
            <a:ext cx="2606101" cy="1837633"/>
            <a:chOff x="3521162" y="426420"/>
            <a:chExt cx="2606101" cy="1837633"/>
          </a:xfrm>
        </p:grpSpPr>
        <p:grpSp>
          <p:nvGrpSpPr>
            <p:cNvPr id="43" name="Group 42">
              <a:extLst>
                <a:ext uri="{FF2B5EF4-FFF2-40B4-BE49-F238E27FC236}">
                  <a16:creationId xmlns:a16="http://schemas.microsoft.com/office/drawing/2014/main" id="{3D04C2AD-6415-30FB-9B9E-91B7F0347D97}"/>
                </a:ext>
              </a:extLst>
            </p:cNvPr>
            <p:cNvGrpSpPr/>
            <p:nvPr/>
          </p:nvGrpSpPr>
          <p:grpSpPr>
            <a:xfrm>
              <a:off x="3521162" y="542384"/>
              <a:ext cx="1787160" cy="1721669"/>
              <a:chOff x="3027612" y="412844"/>
              <a:chExt cx="1787160" cy="1721669"/>
            </a:xfrm>
          </p:grpSpPr>
          <p:grpSp>
            <p:nvGrpSpPr>
              <p:cNvPr id="47" name="Group 46">
                <a:extLst>
                  <a:ext uri="{FF2B5EF4-FFF2-40B4-BE49-F238E27FC236}">
                    <a16:creationId xmlns:a16="http://schemas.microsoft.com/office/drawing/2014/main" id="{FC2375FB-73B8-443C-474B-3821474CC013}"/>
                  </a:ext>
                </a:extLst>
              </p:cNvPr>
              <p:cNvGrpSpPr/>
              <p:nvPr/>
            </p:nvGrpSpPr>
            <p:grpSpPr>
              <a:xfrm>
                <a:off x="3315143" y="552168"/>
                <a:ext cx="1499629" cy="1582345"/>
                <a:chOff x="2744158" y="536538"/>
                <a:chExt cx="1499629" cy="1582345"/>
              </a:xfrm>
            </p:grpSpPr>
            <p:sp>
              <p:nvSpPr>
                <p:cNvPr id="50" name="Freeform: Shape 49">
                  <a:extLst>
                    <a:ext uri="{FF2B5EF4-FFF2-40B4-BE49-F238E27FC236}">
                      <a16:creationId xmlns:a16="http://schemas.microsoft.com/office/drawing/2014/main" id="{F21EDED6-1E82-3AAA-887B-CA07EDB69B7C}"/>
                    </a:ext>
                  </a:extLst>
                </p:cNvPr>
                <p:cNvSpPr/>
                <p:nvPr/>
              </p:nvSpPr>
              <p:spPr>
                <a:xfrm>
                  <a:off x="2744158" y="536538"/>
                  <a:ext cx="1499629" cy="1582345"/>
                </a:xfrm>
                <a:custGeom>
                  <a:avLst/>
                  <a:gdLst>
                    <a:gd name="connsiteX0" fmla="*/ 608642 w 1499629"/>
                    <a:gd name="connsiteY0" fmla="*/ 128589 h 1582345"/>
                    <a:gd name="connsiteX1" fmla="*/ 163166 w 1499629"/>
                    <a:gd name="connsiteY1" fmla="*/ 363050 h 1582345"/>
                    <a:gd name="connsiteX2" fmla="*/ 6858 w 1499629"/>
                    <a:gd name="connsiteY2" fmla="*/ 941389 h 1582345"/>
                    <a:gd name="connsiteX3" fmla="*/ 358550 w 1499629"/>
                    <a:gd name="connsiteY3" fmla="*/ 1457204 h 1582345"/>
                    <a:gd name="connsiteX4" fmla="*/ 1163535 w 1499629"/>
                    <a:gd name="connsiteY4" fmla="*/ 1519727 h 1582345"/>
                    <a:gd name="connsiteX5" fmla="*/ 1499596 w 1499629"/>
                    <a:gd name="connsiteY5" fmla="*/ 683481 h 1582345"/>
                    <a:gd name="connsiteX6" fmla="*/ 1147904 w 1499629"/>
                    <a:gd name="connsiteY6" fmla="*/ 34804 h 1582345"/>
                    <a:gd name="connsiteX7" fmla="*/ 608642 w 1499629"/>
                    <a:gd name="connsiteY7" fmla="*/ 128589 h 158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629" h="1582345">
                      <a:moveTo>
                        <a:pt x="608642" y="128589"/>
                      </a:moveTo>
                      <a:cubicBezTo>
                        <a:pt x="444519" y="183297"/>
                        <a:pt x="263463" y="227583"/>
                        <a:pt x="163166" y="363050"/>
                      </a:cubicBezTo>
                      <a:cubicBezTo>
                        <a:pt x="62869" y="498517"/>
                        <a:pt x="-25706" y="759030"/>
                        <a:pt x="6858" y="941389"/>
                      </a:cubicBezTo>
                      <a:cubicBezTo>
                        <a:pt x="39422" y="1123748"/>
                        <a:pt x="165771" y="1360814"/>
                        <a:pt x="358550" y="1457204"/>
                      </a:cubicBezTo>
                      <a:cubicBezTo>
                        <a:pt x="551329" y="1553594"/>
                        <a:pt x="973361" y="1648681"/>
                        <a:pt x="1163535" y="1519727"/>
                      </a:cubicBezTo>
                      <a:cubicBezTo>
                        <a:pt x="1353709" y="1390773"/>
                        <a:pt x="1502201" y="930968"/>
                        <a:pt x="1499596" y="683481"/>
                      </a:cubicBezTo>
                      <a:cubicBezTo>
                        <a:pt x="1496991" y="435994"/>
                        <a:pt x="1299001" y="133799"/>
                        <a:pt x="1147904" y="34804"/>
                      </a:cubicBezTo>
                      <a:cubicBezTo>
                        <a:pt x="996807" y="-64191"/>
                        <a:pt x="772765" y="73881"/>
                        <a:pt x="608642" y="128589"/>
                      </a:cubicBezTo>
                      <a:close/>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dirty="0"/>
                </a:p>
              </p:txBody>
            </p:sp>
            <p:grpSp>
              <p:nvGrpSpPr>
                <p:cNvPr id="51" name="Group 50">
                  <a:extLst>
                    <a:ext uri="{FF2B5EF4-FFF2-40B4-BE49-F238E27FC236}">
                      <a16:creationId xmlns:a16="http://schemas.microsoft.com/office/drawing/2014/main" id="{711B3142-E787-EE64-1DB0-07153F0547A8}"/>
                    </a:ext>
                  </a:extLst>
                </p:cNvPr>
                <p:cNvGrpSpPr/>
                <p:nvPr/>
              </p:nvGrpSpPr>
              <p:grpSpPr>
                <a:xfrm>
                  <a:off x="2744158" y="661075"/>
                  <a:ext cx="844061" cy="844061"/>
                  <a:chOff x="5423877" y="679939"/>
                  <a:chExt cx="844061" cy="844061"/>
                </a:xfrm>
              </p:grpSpPr>
              <p:cxnSp>
                <p:nvCxnSpPr>
                  <p:cNvPr id="52" name="Straight Arrow Connector 51">
                    <a:extLst>
                      <a:ext uri="{FF2B5EF4-FFF2-40B4-BE49-F238E27FC236}">
                        <a16:creationId xmlns:a16="http://schemas.microsoft.com/office/drawing/2014/main" id="{BEE03CCF-1E35-A656-5E2A-C09110FAE9B7}"/>
                      </a:ext>
                    </a:extLst>
                  </p:cNvPr>
                  <p:cNvCxnSpPr/>
                  <p:nvPr/>
                </p:nvCxnSpPr>
                <p:spPr>
                  <a:xfrm flipV="1">
                    <a:off x="5423877" y="679939"/>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986A1A70-F1CC-8553-F789-019A75841D4B}"/>
                      </a:ext>
                    </a:extLst>
                  </p:cNvPr>
                  <p:cNvCxnSpPr>
                    <a:cxnSpLocks/>
                  </p:cNvCxnSpPr>
                  <p:nvPr/>
                </p:nvCxnSpPr>
                <p:spPr>
                  <a:xfrm rot="5400000" flipV="1">
                    <a:off x="5845908" y="1098063"/>
                    <a:ext cx="0" cy="84406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grpSp>
          <p:sp>
            <p:nvSpPr>
              <p:cNvPr id="48" name="TextBox 47">
                <a:extLst>
                  <a:ext uri="{FF2B5EF4-FFF2-40B4-BE49-F238E27FC236}">
                    <a16:creationId xmlns:a16="http://schemas.microsoft.com/office/drawing/2014/main" id="{BCC45D07-21D6-C47A-1DD1-538D33CCC869}"/>
                  </a:ext>
                </a:extLst>
              </p:cNvPr>
              <p:cNvSpPr txBox="1"/>
              <p:nvPr/>
            </p:nvSpPr>
            <p:spPr>
              <a:xfrm>
                <a:off x="3027612" y="412844"/>
                <a:ext cx="490727" cy="461665"/>
              </a:xfrm>
              <a:prstGeom prst="rect">
                <a:avLst/>
              </a:prstGeom>
              <a:noFill/>
            </p:spPr>
            <p:txBody>
              <a:bodyPr wrap="square" rtlCol="0">
                <a:spAutoFit/>
              </a:bodyPr>
              <a:lstStyle/>
              <a:p>
                <a:r>
                  <a:rPr lang="en-GB" i="1" dirty="0"/>
                  <a:t>y</a:t>
                </a:r>
                <a:endParaRPr lang="en-GB" baseline="-25000" dirty="0"/>
              </a:p>
            </p:txBody>
          </p:sp>
          <p:sp>
            <p:nvSpPr>
              <p:cNvPr id="49" name="TextBox 48">
                <a:extLst>
                  <a:ext uri="{FF2B5EF4-FFF2-40B4-BE49-F238E27FC236}">
                    <a16:creationId xmlns:a16="http://schemas.microsoft.com/office/drawing/2014/main" id="{CE255F21-4A02-BD02-5CF7-457C77FE6A91}"/>
                  </a:ext>
                </a:extLst>
              </p:cNvPr>
              <p:cNvSpPr txBox="1"/>
              <p:nvPr/>
            </p:nvSpPr>
            <p:spPr>
              <a:xfrm>
                <a:off x="3974610" y="1426586"/>
                <a:ext cx="490727" cy="461665"/>
              </a:xfrm>
              <a:prstGeom prst="rect">
                <a:avLst/>
              </a:prstGeom>
              <a:noFill/>
            </p:spPr>
            <p:txBody>
              <a:bodyPr wrap="square" rtlCol="0">
                <a:spAutoFit/>
              </a:bodyPr>
              <a:lstStyle/>
              <a:p>
                <a:r>
                  <a:rPr lang="en-GB" i="1" dirty="0"/>
                  <a:t>x</a:t>
                </a:r>
                <a:endParaRPr lang="en-GB" baseline="-25000" dirty="0"/>
              </a:p>
            </p:txBody>
          </p:sp>
        </p:grpSp>
        <p:sp>
          <p:nvSpPr>
            <p:cNvPr id="44" name="TextBox 43">
              <a:extLst>
                <a:ext uri="{FF2B5EF4-FFF2-40B4-BE49-F238E27FC236}">
                  <a16:creationId xmlns:a16="http://schemas.microsoft.com/office/drawing/2014/main" id="{0BEC7546-1022-8CB9-A5B0-4F6418E26B17}"/>
                </a:ext>
              </a:extLst>
            </p:cNvPr>
            <p:cNvSpPr txBox="1"/>
            <p:nvPr/>
          </p:nvSpPr>
          <p:spPr>
            <a:xfrm>
              <a:off x="3961294" y="426420"/>
              <a:ext cx="616744" cy="461665"/>
            </a:xfrm>
            <a:prstGeom prst="rect">
              <a:avLst/>
            </a:prstGeom>
            <a:noFill/>
          </p:spPr>
          <p:txBody>
            <a:bodyPr wrap="square" rtlCol="0">
              <a:spAutoFit/>
            </a:bodyPr>
            <a:lstStyle/>
            <a:p>
              <a:r>
                <a:rPr lang="en-GB" i="1" dirty="0"/>
                <a:t>CV</a:t>
              </a:r>
              <a:endParaRPr lang="en-GB" baseline="-25000" dirty="0"/>
            </a:p>
          </p:txBody>
        </p:sp>
        <p:cxnSp>
          <p:nvCxnSpPr>
            <p:cNvPr id="45" name="Straight Arrow Connector 44">
              <a:extLst>
                <a:ext uri="{FF2B5EF4-FFF2-40B4-BE49-F238E27FC236}">
                  <a16:creationId xmlns:a16="http://schemas.microsoft.com/office/drawing/2014/main" id="{BFF9A00E-2AF2-0E64-F9F8-577C2291B42A}"/>
                </a:ext>
              </a:extLst>
            </p:cNvPr>
            <p:cNvCxnSpPr>
              <a:cxnSpLocks/>
            </p:cNvCxnSpPr>
            <p:nvPr/>
          </p:nvCxnSpPr>
          <p:spPr>
            <a:xfrm>
              <a:off x="5097944" y="1497588"/>
              <a:ext cx="708890" cy="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279D4549-7937-9088-5B20-59E6E3A636B7}"/>
                </a:ext>
              </a:extLst>
            </p:cNvPr>
            <p:cNvSpPr txBox="1"/>
            <p:nvPr/>
          </p:nvSpPr>
          <p:spPr>
            <a:xfrm>
              <a:off x="5427515" y="999895"/>
              <a:ext cx="699748" cy="461665"/>
            </a:xfrm>
            <a:prstGeom prst="rect">
              <a:avLst/>
            </a:prstGeom>
            <a:noFill/>
          </p:spPr>
          <p:txBody>
            <a:bodyPr wrap="square" rtlCol="0">
              <a:spAutoFit/>
            </a:bodyPr>
            <a:lstStyle/>
            <a:p>
              <a:r>
                <a:rPr lang="en-GB" i="1" dirty="0" err="1"/>
                <a:t>U</a:t>
              </a:r>
              <a:r>
                <a:rPr lang="en-GB" baseline="-25000" dirty="0" err="1"/>
                <a:t>rf</a:t>
              </a:r>
              <a:endParaRPr lang="en-GB" baseline="-25000" dirty="0"/>
            </a:p>
          </p:txBody>
        </p:sp>
      </p:grpSp>
      <p:grpSp>
        <p:nvGrpSpPr>
          <p:cNvPr id="54" name="Group 53">
            <a:extLst>
              <a:ext uri="{FF2B5EF4-FFF2-40B4-BE49-F238E27FC236}">
                <a16:creationId xmlns:a16="http://schemas.microsoft.com/office/drawing/2014/main" id="{93D4C8DC-862B-4566-8E9E-35542E596E09}"/>
              </a:ext>
            </a:extLst>
          </p:cNvPr>
          <p:cNvGrpSpPr/>
          <p:nvPr/>
        </p:nvGrpSpPr>
        <p:grpSpPr>
          <a:xfrm>
            <a:off x="4340492" y="2916563"/>
            <a:ext cx="2650200" cy="1582345"/>
            <a:chOff x="5575824" y="702948"/>
            <a:chExt cx="2650200" cy="1582345"/>
          </a:xfrm>
        </p:grpSpPr>
        <p:grpSp>
          <p:nvGrpSpPr>
            <p:cNvPr id="55" name="Group 54">
              <a:extLst>
                <a:ext uri="{FF2B5EF4-FFF2-40B4-BE49-F238E27FC236}">
                  <a16:creationId xmlns:a16="http://schemas.microsoft.com/office/drawing/2014/main" id="{61C04588-67B1-8574-D5CC-A5EF236187BF}"/>
                </a:ext>
              </a:extLst>
            </p:cNvPr>
            <p:cNvGrpSpPr/>
            <p:nvPr/>
          </p:nvGrpSpPr>
          <p:grpSpPr>
            <a:xfrm>
              <a:off x="5575824" y="702948"/>
              <a:ext cx="1499629" cy="1582345"/>
              <a:chOff x="6210343" y="656527"/>
              <a:chExt cx="1499629" cy="1582345"/>
            </a:xfrm>
          </p:grpSpPr>
          <p:sp>
            <p:nvSpPr>
              <p:cNvPr id="58" name="Freeform: Shape 57">
                <a:extLst>
                  <a:ext uri="{FF2B5EF4-FFF2-40B4-BE49-F238E27FC236}">
                    <a16:creationId xmlns:a16="http://schemas.microsoft.com/office/drawing/2014/main" id="{9DA82DDC-DC33-8A4F-FF11-7DB55C0CEF08}"/>
                  </a:ext>
                </a:extLst>
              </p:cNvPr>
              <p:cNvSpPr/>
              <p:nvPr/>
            </p:nvSpPr>
            <p:spPr>
              <a:xfrm>
                <a:off x="6210343" y="656527"/>
                <a:ext cx="1499629" cy="1582345"/>
              </a:xfrm>
              <a:custGeom>
                <a:avLst/>
                <a:gdLst>
                  <a:gd name="connsiteX0" fmla="*/ 608642 w 1499629"/>
                  <a:gd name="connsiteY0" fmla="*/ 128589 h 1582345"/>
                  <a:gd name="connsiteX1" fmla="*/ 163166 w 1499629"/>
                  <a:gd name="connsiteY1" fmla="*/ 363050 h 1582345"/>
                  <a:gd name="connsiteX2" fmla="*/ 6858 w 1499629"/>
                  <a:gd name="connsiteY2" fmla="*/ 941389 h 1582345"/>
                  <a:gd name="connsiteX3" fmla="*/ 358550 w 1499629"/>
                  <a:gd name="connsiteY3" fmla="*/ 1457204 h 1582345"/>
                  <a:gd name="connsiteX4" fmla="*/ 1163535 w 1499629"/>
                  <a:gd name="connsiteY4" fmla="*/ 1519727 h 1582345"/>
                  <a:gd name="connsiteX5" fmla="*/ 1499596 w 1499629"/>
                  <a:gd name="connsiteY5" fmla="*/ 683481 h 1582345"/>
                  <a:gd name="connsiteX6" fmla="*/ 1147904 w 1499629"/>
                  <a:gd name="connsiteY6" fmla="*/ 34804 h 1582345"/>
                  <a:gd name="connsiteX7" fmla="*/ 608642 w 1499629"/>
                  <a:gd name="connsiteY7" fmla="*/ 128589 h 158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629" h="1582345">
                    <a:moveTo>
                      <a:pt x="608642" y="128589"/>
                    </a:moveTo>
                    <a:cubicBezTo>
                      <a:pt x="444519" y="183297"/>
                      <a:pt x="263463" y="227583"/>
                      <a:pt x="163166" y="363050"/>
                    </a:cubicBezTo>
                    <a:cubicBezTo>
                      <a:pt x="62869" y="498517"/>
                      <a:pt x="-25706" y="759030"/>
                      <a:pt x="6858" y="941389"/>
                    </a:cubicBezTo>
                    <a:cubicBezTo>
                      <a:pt x="39422" y="1123748"/>
                      <a:pt x="165771" y="1360814"/>
                      <a:pt x="358550" y="1457204"/>
                    </a:cubicBezTo>
                    <a:cubicBezTo>
                      <a:pt x="551329" y="1553594"/>
                      <a:pt x="973361" y="1648681"/>
                      <a:pt x="1163535" y="1519727"/>
                    </a:cubicBezTo>
                    <a:cubicBezTo>
                      <a:pt x="1353709" y="1390773"/>
                      <a:pt x="1502201" y="930968"/>
                      <a:pt x="1499596" y="683481"/>
                    </a:cubicBezTo>
                    <a:cubicBezTo>
                      <a:pt x="1496991" y="435994"/>
                      <a:pt x="1299001" y="133799"/>
                      <a:pt x="1147904" y="34804"/>
                    </a:cubicBezTo>
                    <a:cubicBezTo>
                      <a:pt x="996807" y="-64191"/>
                      <a:pt x="772765" y="73881"/>
                      <a:pt x="608642" y="128589"/>
                    </a:cubicBezTo>
                    <a:close/>
                  </a:path>
                </a:pathLst>
              </a:cu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59" name="TextBox 58">
                <a:extLst>
                  <a:ext uri="{FF2B5EF4-FFF2-40B4-BE49-F238E27FC236}">
                    <a16:creationId xmlns:a16="http://schemas.microsoft.com/office/drawing/2014/main" id="{4CE40C5D-81C1-CD2E-5EEE-2FF5AA082058}"/>
                  </a:ext>
                </a:extLst>
              </p:cNvPr>
              <p:cNvSpPr txBox="1"/>
              <p:nvPr/>
            </p:nvSpPr>
            <p:spPr>
              <a:xfrm>
                <a:off x="6530772" y="1288937"/>
                <a:ext cx="957654" cy="400110"/>
              </a:xfrm>
              <a:prstGeom prst="rect">
                <a:avLst/>
              </a:prstGeom>
              <a:noFill/>
            </p:spPr>
            <p:txBody>
              <a:bodyPr wrap="square" rtlCol="0">
                <a:spAutoFit/>
              </a:bodyPr>
              <a:lstStyle/>
              <a:p>
                <a:r>
                  <a:rPr lang="en-GB" sz="2000" dirty="0"/>
                  <a:t>system</a:t>
                </a:r>
                <a:endParaRPr lang="en-GB" sz="2000" baseline="-25000" dirty="0"/>
              </a:p>
            </p:txBody>
          </p:sp>
        </p:grpSp>
        <p:cxnSp>
          <p:nvCxnSpPr>
            <p:cNvPr id="56" name="Straight Arrow Connector 55">
              <a:extLst>
                <a:ext uri="{FF2B5EF4-FFF2-40B4-BE49-F238E27FC236}">
                  <a16:creationId xmlns:a16="http://schemas.microsoft.com/office/drawing/2014/main" id="{67715DD8-839E-8E5F-2A8B-9AFA80008166}"/>
                </a:ext>
              </a:extLst>
            </p:cNvPr>
            <p:cNvCxnSpPr>
              <a:cxnSpLocks/>
            </p:cNvCxnSpPr>
            <p:nvPr/>
          </p:nvCxnSpPr>
          <p:spPr>
            <a:xfrm flipV="1">
              <a:off x="6990692" y="1063713"/>
              <a:ext cx="613677" cy="40409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8031F21-0208-8E6E-90DE-58AD0A278442}"/>
                    </a:ext>
                  </a:extLst>
                </p:cNvPr>
                <p:cNvSpPr txBox="1"/>
                <p:nvPr/>
              </p:nvSpPr>
              <p:spPr>
                <a:xfrm>
                  <a:off x="7526276" y="814929"/>
                  <a:ext cx="699748" cy="5441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oMath>
                    </m:oMathPara>
                  </a14:m>
                  <a:endParaRPr lang="en-GB" baseline="-25000" dirty="0"/>
                </a:p>
              </p:txBody>
            </p:sp>
          </mc:Choice>
          <mc:Fallback xmlns="">
            <p:sp>
              <p:nvSpPr>
                <p:cNvPr id="57" name="TextBox 56">
                  <a:extLst>
                    <a:ext uri="{FF2B5EF4-FFF2-40B4-BE49-F238E27FC236}">
                      <a16:creationId xmlns:a16="http://schemas.microsoft.com/office/drawing/2014/main" id="{38031F21-0208-8E6E-90DE-58AD0A278442}"/>
                    </a:ext>
                  </a:extLst>
                </p:cNvPr>
                <p:cNvSpPr txBox="1">
                  <a:spLocks noRot="1" noChangeAspect="1" noMove="1" noResize="1" noEditPoints="1" noAdjustHandles="1" noChangeArrowheads="1" noChangeShapeType="1" noTextEdit="1"/>
                </p:cNvSpPr>
                <p:nvPr/>
              </p:nvSpPr>
              <p:spPr>
                <a:xfrm>
                  <a:off x="7526276" y="814929"/>
                  <a:ext cx="699748" cy="544123"/>
                </a:xfrm>
                <a:prstGeom prst="rect">
                  <a:avLst/>
                </a:prstGeom>
                <a:blipFill>
                  <a:blip r:embed="rId5"/>
                  <a:stretch>
                    <a:fillRect/>
                  </a:stretch>
                </a:blipFill>
              </p:spPr>
              <p:txBody>
                <a:bodyPr/>
                <a:lstStyle/>
                <a:p>
                  <a:r>
                    <a:rPr lang="en-GH">
                      <a:noFill/>
                    </a:rPr>
                    <a:t> </a:t>
                  </a:r>
                </a:p>
              </p:txBody>
            </p:sp>
          </mc:Fallback>
        </mc:AlternateContent>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C93F04D-B08A-489B-418C-AEB6E393F87D}"/>
                  </a:ext>
                </a:extLst>
              </p:cNvPr>
              <p:cNvSpPr txBox="1"/>
              <p:nvPr/>
            </p:nvSpPr>
            <p:spPr>
              <a:xfrm>
                <a:off x="225406" y="5237396"/>
                <a:ext cx="2586751" cy="54457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𝑥𝑦𝑧</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oMath>
                  </m:oMathPara>
                </a14:m>
                <a:endParaRPr lang="en-GH" dirty="0"/>
              </a:p>
            </p:txBody>
          </p:sp>
        </mc:Choice>
        <mc:Fallback xmlns="">
          <p:sp>
            <p:nvSpPr>
              <p:cNvPr id="61" name="TextBox 60">
                <a:extLst>
                  <a:ext uri="{FF2B5EF4-FFF2-40B4-BE49-F238E27FC236}">
                    <a16:creationId xmlns:a16="http://schemas.microsoft.com/office/drawing/2014/main" id="{6C93F04D-B08A-489B-418C-AEB6E393F87D}"/>
                  </a:ext>
                </a:extLst>
              </p:cNvPr>
              <p:cNvSpPr txBox="1">
                <a:spLocks noRot="1" noChangeAspect="1" noMove="1" noResize="1" noEditPoints="1" noAdjustHandles="1" noChangeArrowheads="1" noChangeShapeType="1" noTextEdit="1"/>
              </p:cNvSpPr>
              <p:nvPr/>
            </p:nvSpPr>
            <p:spPr>
              <a:xfrm>
                <a:off x="225406" y="5237396"/>
                <a:ext cx="2586751" cy="544573"/>
              </a:xfrm>
              <a:prstGeom prst="rect">
                <a:avLst/>
              </a:prstGeom>
              <a:blipFill>
                <a:blip r:embed="rId6"/>
                <a:stretch>
                  <a:fillRect/>
                </a:stretch>
              </a:blipFill>
            </p:spPr>
            <p:txBody>
              <a:bodyPr/>
              <a:lstStyle/>
              <a:p>
                <a:r>
                  <a:rPr lang="en-GH">
                    <a:noFill/>
                  </a:rPr>
                  <a:t> </a:t>
                </a:r>
              </a:p>
            </p:txBody>
          </p:sp>
        </mc:Fallback>
      </mc:AlternateContent>
      <p:sp>
        <p:nvSpPr>
          <p:cNvPr id="63" name="TextBox 62">
            <a:extLst>
              <a:ext uri="{FF2B5EF4-FFF2-40B4-BE49-F238E27FC236}">
                <a16:creationId xmlns:a16="http://schemas.microsoft.com/office/drawing/2014/main" id="{9D86B90C-0CB0-4D6C-7BC9-F70A78803158}"/>
              </a:ext>
            </a:extLst>
          </p:cNvPr>
          <p:cNvSpPr txBox="1"/>
          <p:nvPr/>
        </p:nvSpPr>
        <p:spPr>
          <a:xfrm>
            <a:off x="34531" y="4741945"/>
            <a:ext cx="4904378" cy="461665"/>
          </a:xfrm>
          <a:prstGeom prst="rect">
            <a:avLst/>
          </a:prstGeom>
          <a:noFill/>
        </p:spPr>
        <p:txBody>
          <a:bodyPr wrap="square">
            <a:spAutoFit/>
          </a:bodyPr>
          <a:lstStyle/>
          <a:p>
            <a:r>
              <a:rPr lang="en-CA" dirty="0">
                <a:latin typeface="+mn-lt"/>
                <a:cs typeface="Times" panose="02020603050405020304" pitchFamily="18" charset="0"/>
              </a:rPr>
              <a:t>Using the concept of relative velocity </a:t>
            </a:r>
            <a:endParaRPr lang="en-GH" dirty="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B9E8A1F-C427-E544-3B30-2FE87ECB2DD7}"/>
                  </a:ext>
                </a:extLst>
              </p:cNvPr>
              <p:cNvSpPr txBox="1"/>
              <p:nvPr/>
            </p:nvSpPr>
            <p:spPr>
              <a:xfrm>
                <a:off x="5075661" y="4924586"/>
                <a:ext cx="2586751" cy="996811"/>
              </a:xfrm>
              <a:prstGeom prst="rect">
                <a:avLst/>
              </a:prstGeom>
              <a:noFill/>
              <a:ln w="28575">
                <a:solidFill>
                  <a:schemeClr val="tx1"/>
                </a:solidFill>
              </a:ln>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rPr>
                            <m:t>𝑦𝑧</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GB" b="0" i="1" smtClean="0">
                              <a:solidFill>
                                <a:schemeClr val="tx1"/>
                              </a:solidFill>
                              <a:latin typeface="Cambria Math" panose="02040503050406030204" pitchFamily="18" charset="0"/>
                              <a:ea typeface="Cambria Math" panose="02040503050406030204" pitchFamily="18" charset="0"/>
                            </a:rPr>
                            <m:t>𝑋𝑌𝑍</m:t>
                          </m:r>
                        </m:sub>
                      </m:sSub>
                      <m:r>
                        <a:rPr lang="en-GB"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oMath>
                  </m:oMathPara>
                </a14:m>
                <a:endParaRPr lang="en-GB" b="0" dirty="0">
                  <a:solidFill>
                    <a:schemeClr val="tx1"/>
                  </a:solidFill>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rPr>
                            <m:t>𝑦𝑧</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GB" b="0" i="1" smtClean="0">
                              <a:solidFill>
                                <a:schemeClr val="tx1"/>
                              </a:solidFill>
                              <a:latin typeface="Cambria Math" panose="02040503050406030204" pitchFamily="18" charset="0"/>
                              <a:ea typeface="Cambria Math" panose="02040503050406030204" pitchFamily="18" charset="0"/>
                            </a:rPr>
                            <m:t>𝑋𝑌𝑍</m:t>
                          </m:r>
                        </m:sub>
                      </m:sSub>
                      <m:r>
                        <a:rPr lang="en-GB"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r>
                            <a:rPr lang="en-GB" i="1" smtClean="0">
                              <a:solidFill>
                                <a:schemeClr val="tx1"/>
                              </a:solidFill>
                              <a:latin typeface="Cambria Math" panose="02040503050406030204" pitchFamily="18" charset="0"/>
                              <a:ea typeface="Cambria Math" panose="02040503050406030204" pitchFamily="18" charset="0"/>
                            </a:rPr>
                            <m:t>𝑈</m:t>
                          </m:r>
                        </m:e>
                        <m:sub>
                          <m:r>
                            <a:rPr lang="en-CA" b="0" i="1" smtClean="0">
                              <a:solidFill>
                                <a:schemeClr val="tx1"/>
                              </a:solidFill>
                              <a:latin typeface="Cambria Math" panose="02040503050406030204" pitchFamily="18" charset="0"/>
                              <a:ea typeface="Cambria Math" panose="02040503050406030204" pitchFamily="18" charset="0"/>
                            </a:rPr>
                            <m:t>𝑟𝑓</m:t>
                          </m:r>
                        </m:sub>
                      </m:sSub>
                    </m:oMath>
                  </m:oMathPara>
                </a14:m>
                <a:endParaRPr lang="en-GH" dirty="0"/>
              </a:p>
            </p:txBody>
          </p:sp>
        </mc:Choice>
        <mc:Fallback xmlns="">
          <p:sp>
            <p:nvSpPr>
              <p:cNvPr id="64" name="TextBox 63">
                <a:extLst>
                  <a:ext uri="{FF2B5EF4-FFF2-40B4-BE49-F238E27FC236}">
                    <a16:creationId xmlns:a16="http://schemas.microsoft.com/office/drawing/2014/main" id="{CB9E8A1F-C427-E544-3B30-2FE87ECB2DD7}"/>
                  </a:ext>
                </a:extLst>
              </p:cNvPr>
              <p:cNvSpPr txBox="1">
                <a:spLocks noRot="1" noChangeAspect="1" noMove="1" noResize="1" noEditPoints="1" noAdjustHandles="1" noChangeArrowheads="1" noChangeShapeType="1" noTextEdit="1"/>
              </p:cNvSpPr>
              <p:nvPr/>
            </p:nvSpPr>
            <p:spPr>
              <a:xfrm>
                <a:off x="5075661" y="4924586"/>
                <a:ext cx="2586751" cy="996811"/>
              </a:xfrm>
              <a:prstGeom prst="rect">
                <a:avLst/>
              </a:prstGeom>
              <a:blipFill>
                <a:blip r:embed="rId7"/>
                <a:stretch>
                  <a:fillRect/>
                </a:stretch>
              </a:blipFill>
              <a:ln w="28575">
                <a:solidFill>
                  <a:schemeClr val="tx1"/>
                </a:solidFill>
              </a:ln>
            </p:spPr>
            <p:txBody>
              <a:bodyPr/>
              <a:lstStyle/>
              <a:p>
                <a:r>
                  <a:rPr lang="en-GH">
                    <a:noFill/>
                  </a:rPr>
                  <a:t> </a:t>
                </a:r>
              </a:p>
            </p:txBody>
          </p:sp>
        </mc:Fallback>
      </mc:AlternateContent>
      <p:cxnSp>
        <p:nvCxnSpPr>
          <p:cNvPr id="66" name="Straight Arrow Connector 65">
            <a:extLst>
              <a:ext uri="{FF2B5EF4-FFF2-40B4-BE49-F238E27FC236}">
                <a16:creationId xmlns:a16="http://schemas.microsoft.com/office/drawing/2014/main" id="{ECF9B117-CC65-F95B-7FB4-D0332988E3E0}"/>
              </a:ext>
            </a:extLst>
          </p:cNvPr>
          <p:cNvCxnSpPr>
            <a:cxnSpLocks/>
            <a:stCxn id="61" idx="3"/>
          </p:cNvCxnSpPr>
          <p:nvPr/>
        </p:nvCxnSpPr>
        <p:spPr>
          <a:xfrm flipV="1">
            <a:off x="2812157" y="5321808"/>
            <a:ext cx="2126752" cy="18787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8143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p:sp>
        <p:nvSpPr>
          <p:cNvPr id="6" name="TextBox 5">
            <a:extLst>
              <a:ext uri="{FF2B5EF4-FFF2-40B4-BE49-F238E27FC236}">
                <a16:creationId xmlns:a16="http://schemas.microsoft.com/office/drawing/2014/main" id="{A9379A11-EFD7-9536-BC6E-CBC3B9563000}"/>
              </a:ext>
            </a:extLst>
          </p:cNvPr>
          <p:cNvSpPr txBox="1"/>
          <p:nvPr/>
        </p:nvSpPr>
        <p:spPr>
          <a:xfrm>
            <a:off x="0" y="631096"/>
            <a:ext cx="9072438" cy="1938992"/>
          </a:xfrm>
          <a:prstGeom prst="rect">
            <a:avLst/>
          </a:prstGeom>
          <a:noFill/>
        </p:spPr>
        <p:txBody>
          <a:bodyPr wrap="square">
            <a:spAutoFit/>
          </a:bodyPr>
          <a:lstStyle/>
          <a:p>
            <a:pPr algn="just"/>
            <a:r>
              <a:rPr lang="en-GB" sz="2400" b="1" i="0" u="none" strike="noStrike" baseline="0" dirty="0">
                <a:solidFill>
                  <a:srgbClr val="231F20"/>
                </a:solidFill>
                <a:latin typeface="+mn-lt"/>
              </a:rPr>
              <a:t>Example 1</a:t>
            </a:r>
            <a:r>
              <a:rPr lang="en-GB" dirty="0">
                <a:solidFill>
                  <a:srgbClr val="231F20"/>
                </a:solidFill>
                <a:latin typeface="+mn-lt"/>
              </a:rPr>
              <a:t>:</a:t>
            </a:r>
            <a:r>
              <a:rPr lang="en-GB" sz="2400" b="0" i="0" u="none" strike="noStrike" baseline="0" dirty="0">
                <a:solidFill>
                  <a:srgbClr val="231F20"/>
                </a:solidFill>
                <a:latin typeface="+mn-lt"/>
              </a:rPr>
              <a:t> A vane with a turning angle of 60° moves at a constant speed of </a:t>
            </a:r>
            <a:r>
              <a:rPr lang="en-GB" sz="2400" b="0" i="1" u="none" strike="noStrike" baseline="0" dirty="0">
                <a:solidFill>
                  <a:srgbClr val="231F20"/>
                </a:solidFill>
                <a:latin typeface="+mn-lt"/>
              </a:rPr>
              <a:t>U</a:t>
            </a:r>
            <a:r>
              <a:rPr lang="en-GB" sz="2400" b="0" i="0" u="none" strike="noStrike" baseline="0" dirty="0">
                <a:solidFill>
                  <a:srgbClr val="231F20"/>
                </a:solidFill>
                <a:latin typeface="+mn-lt"/>
              </a:rPr>
              <a:t> = 10 m/s. The vane receives a jet of water that leaves a stationary nozzle with a speed of </a:t>
            </a:r>
            <a:r>
              <a:rPr lang="en-GB" sz="2400" b="0" i="1" u="none" strike="noStrike" baseline="0" dirty="0">
                <a:solidFill>
                  <a:srgbClr val="231F20"/>
                </a:solidFill>
                <a:latin typeface="+mn-lt"/>
              </a:rPr>
              <a:t>V</a:t>
            </a:r>
            <a:r>
              <a:rPr lang="en-GB" sz="2400" b="0" i="0" u="none" strike="noStrike" baseline="0" dirty="0">
                <a:solidFill>
                  <a:srgbClr val="231F20"/>
                </a:solidFill>
                <a:latin typeface="+mn-lt"/>
              </a:rPr>
              <a:t> = 30 m/s. The nozzle has an exit area of 0.003 m</a:t>
            </a:r>
            <a:r>
              <a:rPr lang="en-GB" sz="2400" b="0" i="0" u="none" strike="noStrike" baseline="30000" dirty="0">
                <a:solidFill>
                  <a:srgbClr val="231F20"/>
                </a:solidFill>
                <a:latin typeface="+mn-lt"/>
              </a:rPr>
              <a:t>2</a:t>
            </a:r>
            <a:r>
              <a:rPr lang="en-GB" sz="2400" b="0" i="0" u="none" strike="noStrike" baseline="0" dirty="0">
                <a:solidFill>
                  <a:srgbClr val="231F20"/>
                </a:solidFill>
                <a:latin typeface="+mn-lt"/>
              </a:rPr>
              <a:t>. Determine the </a:t>
            </a:r>
            <a:r>
              <a:rPr lang="en-GB" sz="2400" b="0" i="1" u="none" strike="noStrike" baseline="0" dirty="0">
                <a:solidFill>
                  <a:srgbClr val="231F20"/>
                </a:solidFill>
                <a:latin typeface="+mn-lt"/>
              </a:rPr>
              <a:t>x</a:t>
            </a:r>
            <a:r>
              <a:rPr lang="en-GB" sz="2400" b="0" i="0" u="none" strike="noStrike" baseline="0" dirty="0">
                <a:solidFill>
                  <a:srgbClr val="231F20"/>
                </a:solidFill>
                <a:latin typeface="+mn-lt"/>
              </a:rPr>
              <a:t> and </a:t>
            </a:r>
            <a:r>
              <a:rPr lang="en-GB" sz="2400" b="0" i="1" u="none" strike="noStrike" baseline="0" dirty="0">
                <a:solidFill>
                  <a:srgbClr val="231F20"/>
                </a:solidFill>
                <a:latin typeface="+mn-lt"/>
              </a:rPr>
              <a:t>y</a:t>
            </a:r>
            <a:r>
              <a:rPr lang="en-GB" sz="2400" b="0" i="0" u="none" strike="noStrike" baseline="0" dirty="0">
                <a:solidFill>
                  <a:srgbClr val="231F20"/>
                </a:solidFill>
                <a:latin typeface="+mn-lt"/>
              </a:rPr>
              <a:t> components of the force acting on the vane.</a:t>
            </a:r>
            <a:endParaRPr lang="en-GH" dirty="0">
              <a:latin typeface="+mn-lt"/>
            </a:endParaRPr>
          </a:p>
        </p:txBody>
      </p:sp>
      <p:pic>
        <p:nvPicPr>
          <p:cNvPr id="8" name="Picture 7">
            <a:extLst>
              <a:ext uri="{FF2B5EF4-FFF2-40B4-BE49-F238E27FC236}">
                <a16:creationId xmlns:a16="http://schemas.microsoft.com/office/drawing/2014/main" id="{C07A2099-2C76-04C8-AC1B-8C66A96A4B4C}"/>
              </a:ext>
            </a:extLst>
          </p:cNvPr>
          <p:cNvPicPr>
            <a:picLocks noChangeAspect="1"/>
          </p:cNvPicPr>
          <p:nvPr/>
        </p:nvPicPr>
        <p:blipFill rotWithShape="1">
          <a:blip r:embed="rId3"/>
          <a:srcRect t="5678" r="1762" b="3670"/>
          <a:stretch/>
        </p:blipFill>
        <p:spPr>
          <a:xfrm>
            <a:off x="2678858" y="2774940"/>
            <a:ext cx="3566494" cy="1636663"/>
          </a:xfrm>
          <a:prstGeom prst="rect">
            <a:avLst/>
          </a:prstGeom>
        </p:spPr>
      </p:pic>
    </p:spTree>
    <p:extLst>
      <p:ext uri="{BB962C8B-B14F-4D97-AF65-F5344CB8AC3E}">
        <p14:creationId xmlns:p14="http://schemas.microsoft.com/office/powerpoint/2010/main" val="379746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p:pic>
        <p:nvPicPr>
          <p:cNvPr id="4" name="Picture 3">
            <a:extLst>
              <a:ext uri="{FF2B5EF4-FFF2-40B4-BE49-F238E27FC236}">
                <a16:creationId xmlns:a16="http://schemas.microsoft.com/office/drawing/2014/main" id="{C3192730-E222-596E-CBC6-F480D5BA20FA}"/>
              </a:ext>
            </a:extLst>
          </p:cNvPr>
          <p:cNvPicPr>
            <a:picLocks noChangeAspect="1"/>
          </p:cNvPicPr>
          <p:nvPr/>
        </p:nvPicPr>
        <p:blipFill>
          <a:blip r:embed="rId3"/>
          <a:stretch>
            <a:fillRect/>
          </a:stretch>
        </p:blipFill>
        <p:spPr>
          <a:xfrm>
            <a:off x="70783" y="507519"/>
            <a:ext cx="3625893" cy="2106859"/>
          </a:xfrm>
          <a:prstGeom prst="rect">
            <a:avLst/>
          </a:prstGeom>
          <a:ln w="19050">
            <a:solidFill>
              <a:schemeClr val="tx1">
                <a:lumMod val="85000"/>
                <a:lumOff val="15000"/>
              </a:schemeClr>
            </a:solidFill>
          </a:ln>
        </p:spPr>
      </p:pic>
      <p:sp>
        <p:nvSpPr>
          <p:cNvPr id="7" name="TextBox 6">
            <a:extLst>
              <a:ext uri="{FF2B5EF4-FFF2-40B4-BE49-F238E27FC236}">
                <a16:creationId xmlns:a16="http://schemas.microsoft.com/office/drawing/2014/main" id="{D69268FB-850E-4553-1EBC-F0CF4A694F06}"/>
              </a:ext>
            </a:extLst>
          </p:cNvPr>
          <p:cNvSpPr txBox="1"/>
          <p:nvPr/>
        </p:nvSpPr>
        <p:spPr>
          <a:xfrm>
            <a:off x="5447326" y="515374"/>
            <a:ext cx="1339461" cy="461665"/>
          </a:xfrm>
          <a:prstGeom prst="rect">
            <a:avLst/>
          </a:prstGeom>
          <a:noFill/>
        </p:spPr>
        <p:txBody>
          <a:bodyPr wrap="square">
            <a:spAutoFit/>
          </a:bodyPr>
          <a:lstStyle/>
          <a:p>
            <a:pPr marL="0" indent="0">
              <a:lnSpc>
                <a:spcPct val="100000"/>
              </a:lnSpc>
              <a:spcBef>
                <a:spcPts val="1200"/>
              </a:spcBef>
              <a:spcAft>
                <a:spcPts val="1200"/>
              </a:spcAft>
              <a:buNone/>
            </a:pPr>
            <a:r>
              <a:rPr lang="en-CA" dirty="0">
                <a:solidFill>
                  <a:schemeClr val="tx1"/>
                </a:solidFill>
                <a:latin typeface="+mn-lt"/>
              </a:rPr>
              <a:t>Solution: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9765183-FFC8-7560-7562-D9817DA250C0}"/>
                  </a:ext>
                </a:extLst>
              </p:cNvPr>
              <p:cNvSpPr txBox="1"/>
              <p:nvPr/>
            </p:nvSpPr>
            <p:spPr>
              <a:xfrm>
                <a:off x="3904933" y="1063043"/>
                <a:ext cx="5079556" cy="13696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CA" i="1" smtClean="0">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r>
                        <a:rPr lang="en-CA" i="1">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e>
                        <m:sub>
                          <m:r>
                            <a:rPr lang="en-CA" i="1">
                              <a:solidFill>
                                <a:schemeClr val="tx1"/>
                              </a:solidFill>
                              <a:latin typeface="Cambria Math" panose="02040503050406030204" pitchFamily="18" charset="0"/>
                            </a:rPr>
                            <m:t>𝑠</m:t>
                          </m:r>
                        </m:sub>
                      </m:sSub>
                      <m:r>
                        <a:rPr lang="en-CA" i="1">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i="1">
                                  <a:solidFill>
                                    <a:schemeClr val="tx1"/>
                                  </a:solidFill>
                                  <a:latin typeface="Cambria Math" panose="02040503050406030204" pitchFamily="18" charset="0"/>
                                </a:rPr>
                                <m:t>𝐹</m:t>
                              </m:r>
                            </m:e>
                          </m:acc>
                        </m:e>
                        <m:sub>
                          <m:r>
                            <a:rPr lang="en-CA" i="1">
                              <a:solidFill>
                                <a:schemeClr val="tx1"/>
                              </a:solidFill>
                              <a:latin typeface="Cambria Math" panose="02040503050406030204" pitchFamily="18" charset="0"/>
                            </a:rPr>
                            <m:t>𝐵</m:t>
                          </m:r>
                        </m:sub>
                      </m:sSub>
                      <m:r>
                        <a:rPr lang="en-CA" i="1" smtClean="0">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r>
                            <a:rPr lang="en-CA" i="1">
                              <a:solidFill>
                                <a:schemeClr val="tx1"/>
                              </a:solidFill>
                              <a:latin typeface="Cambria Math" panose="02040503050406030204" pitchFamily="18" charset="0"/>
                              <a:ea typeface="Cambria Math" panose="02040503050406030204" pitchFamily="18" charset="0"/>
                            </a:rPr>
                            <m:t>𝜕</m:t>
                          </m:r>
                        </m:num>
                        <m:den>
                          <m:r>
                            <a:rPr lang="en-CA" i="1">
                              <a:solidFill>
                                <a:schemeClr val="tx1"/>
                              </a:solidFill>
                              <a:latin typeface="Cambria Math" panose="02040503050406030204" pitchFamily="18" charset="0"/>
                              <a:ea typeface="Cambria Math" panose="02040503050406030204" pitchFamily="18" charset="0"/>
                            </a:rPr>
                            <m:t>𝜕</m:t>
                          </m:r>
                          <m:r>
                            <a:rPr lang="en-CA" i="1">
                              <a:solidFill>
                                <a:schemeClr val="tx1"/>
                              </a:solidFill>
                              <a:latin typeface="Cambria Math" panose="02040503050406030204" pitchFamily="18" charset="0"/>
                              <a:ea typeface="Cambria Math" panose="02040503050406030204" pitchFamily="18" charset="0"/>
                            </a:rPr>
                            <m:t>𝑡</m:t>
                          </m:r>
                        </m:den>
                      </m:f>
                      <m:nary>
                        <m:naryPr>
                          <m:ctrlPr>
                            <a:rPr lang="en-CA" i="1">
                              <a:solidFill>
                                <a:schemeClr val="tx1"/>
                              </a:solidFill>
                              <a:latin typeface="Cambria Math" panose="02040503050406030204" pitchFamily="18" charset="0"/>
                            </a:rPr>
                          </m:ctrlPr>
                        </m:naryPr>
                        <m:sub>
                          <m:r>
                            <m:rPr>
                              <m:brk m:alnAt="23"/>
                            </m:rPr>
                            <a:rPr lang="en-CA" i="1">
                              <a:solidFill>
                                <a:schemeClr val="tx1"/>
                              </a:solidFill>
                              <a:latin typeface="Cambria Math" panose="02040503050406030204" pitchFamily="18" charset="0"/>
                            </a:rPr>
                            <m:t>𝐶</m:t>
                          </m:r>
                          <m:r>
                            <a:rPr lang="en-CA" i="1">
                              <a:solidFill>
                                <a:schemeClr val="tx1"/>
                              </a:solidFill>
                              <a:latin typeface="Cambria Math" panose="02040503050406030204" pitchFamily="18" charset="0"/>
                            </a:rPr>
                            <m:t>𝑉</m:t>
                          </m:r>
                        </m:sub>
                        <m:sup/>
                        <m:e>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𝜌</m:t>
                          </m:r>
                          <m:r>
                            <a:rPr lang="en-CA" i="1">
                              <a:solidFill>
                                <a:schemeClr val="tx1"/>
                              </a:solidFill>
                              <a:latin typeface="Cambria Math" panose="02040503050406030204" pitchFamily="18" charset="0"/>
                              <a:ea typeface="Cambria Math" panose="02040503050406030204" pitchFamily="18" charset="0"/>
                            </a:rPr>
                            <m:t>𝑑</m:t>
                          </m:r>
                          <m:r>
                            <a:rPr lang="en-CA" i="1" smtClean="0">
                              <a:solidFill>
                                <a:schemeClr val="tx1"/>
                              </a:solidFill>
                              <a:latin typeface="Cambria Math" panose="02040503050406030204" pitchFamily="18" charset="0"/>
                              <a:ea typeface="Cambria Math" panose="02040503050406030204" pitchFamily="18" charset="0"/>
                            </a:rPr>
                            <m:t>∀</m:t>
                          </m:r>
                        </m:e>
                      </m:nary>
                      <m:r>
                        <a:rPr lang="en-CA">
                          <a:solidFill>
                            <a:schemeClr val="tx1"/>
                          </a:solidFill>
                          <a:latin typeface="Cambria Math" panose="02040503050406030204" pitchFamily="18" charset="0"/>
                          <a:ea typeface="Cambria Math" panose="02040503050406030204" pitchFamily="18" charset="0"/>
                        </a:rPr>
                        <m:t>+</m:t>
                      </m:r>
                      <m:nary>
                        <m:naryPr>
                          <m:ctrlPr>
                            <a:rPr lang="en-CA" i="1">
                              <a:solidFill>
                                <a:schemeClr val="tx1"/>
                              </a:solidFill>
                              <a:latin typeface="Cambria Math" panose="02040503050406030204" pitchFamily="18" charset="0"/>
                            </a:rPr>
                          </m:ctrlPr>
                        </m:naryPr>
                        <m:sub>
                          <m:r>
                            <m:rPr>
                              <m:brk m:alnAt="23"/>
                            </m:rPr>
                            <a:rPr lang="en-CA" i="1">
                              <a:solidFill>
                                <a:schemeClr val="tx1"/>
                              </a:solidFill>
                              <a:latin typeface="Cambria Math" panose="02040503050406030204" pitchFamily="18" charset="0"/>
                            </a:rPr>
                            <m:t>𝐶</m:t>
                          </m:r>
                          <m:r>
                            <a:rPr lang="en-CA" i="1">
                              <a:solidFill>
                                <a:schemeClr val="tx1"/>
                              </a:solidFill>
                              <a:latin typeface="Cambria Math" panose="02040503050406030204" pitchFamily="18" charset="0"/>
                            </a:rPr>
                            <m:t>𝑆</m:t>
                          </m:r>
                        </m:sub>
                        <m:sup/>
                        <m:e>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𝜌</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e>
                            <m:sub>
                              <m:r>
                                <a:rPr lang="en-CA" i="1">
                                  <a:solidFill>
                                    <a:schemeClr val="tx1"/>
                                  </a:solidFill>
                                  <a:latin typeface="Cambria Math" panose="02040503050406030204" pitchFamily="18" charset="0"/>
                                </a:rPr>
                                <m:t>𝑥𝑦𝑧</m:t>
                              </m:r>
                            </m:sub>
                          </m:sSub>
                          <m:r>
                            <a:rPr lang="en-CA" i="1">
                              <a:solidFill>
                                <a:schemeClr val="tx1"/>
                              </a:solidFill>
                              <a:latin typeface="Cambria Math" panose="02040503050406030204" pitchFamily="18" charset="0"/>
                              <a:ea typeface="Cambria Math" panose="02040503050406030204" pitchFamily="18" charset="0"/>
                            </a:rPr>
                            <m:t>∙</m:t>
                          </m:r>
                          <m:r>
                            <a:rPr lang="en-CA" i="1">
                              <a:solidFill>
                                <a:schemeClr val="tx1"/>
                              </a:solidFill>
                              <a:latin typeface="Cambria Math" panose="02040503050406030204" pitchFamily="18" charset="0"/>
                              <a:ea typeface="Cambria Math" panose="02040503050406030204" pitchFamily="18" charset="0"/>
                            </a:rPr>
                            <m:t>𝑑</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i="1">
                                  <a:solidFill>
                                    <a:schemeClr val="tx1"/>
                                  </a:solidFill>
                                  <a:latin typeface="Cambria Math" panose="02040503050406030204" pitchFamily="18" charset="0"/>
                                  <a:ea typeface="Cambria Math" panose="02040503050406030204" pitchFamily="18" charset="0"/>
                                </a:rPr>
                                <m:t>𝐴</m:t>
                              </m:r>
                            </m:e>
                          </m:acc>
                        </m:e>
                      </m:nary>
                    </m:oMath>
                  </m:oMathPara>
                </a14:m>
                <a:endParaRPr lang="en-GH" dirty="0"/>
              </a:p>
            </p:txBody>
          </p:sp>
        </mc:Choice>
        <mc:Fallback xmlns="">
          <p:sp>
            <p:nvSpPr>
              <p:cNvPr id="10" name="TextBox 9">
                <a:extLst>
                  <a:ext uri="{FF2B5EF4-FFF2-40B4-BE49-F238E27FC236}">
                    <a16:creationId xmlns:a16="http://schemas.microsoft.com/office/drawing/2014/main" id="{39765183-FFC8-7560-7562-D9817DA250C0}"/>
                  </a:ext>
                </a:extLst>
              </p:cNvPr>
              <p:cNvSpPr txBox="1">
                <a:spLocks noRot="1" noChangeAspect="1" noMove="1" noResize="1" noEditPoints="1" noAdjustHandles="1" noChangeArrowheads="1" noChangeShapeType="1" noTextEdit="1"/>
              </p:cNvSpPr>
              <p:nvPr/>
            </p:nvSpPr>
            <p:spPr>
              <a:xfrm>
                <a:off x="3904933" y="1063043"/>
                <a:ext cx="5079556" cy="1369606"/>
              </a:xfrm>
              <a:prstGeom prst="rect">
                <a:avLst/>
              </a:prstGeom>
              <a:blipFill>
                <a:blip r:embed="rId4"/>
                <a:stretch>
                  <a:fillRect l="-360" t="-7111"/>
                </a:stretch>
              </a:blipFill>
            </p:spPr>
            <p:txBody>
              <a:bodyPr/>
              <a:lstStyle/>
              <a:p>
                <a:r>
                  <a:rPr lang="en-GH">
                    <a:noFill/>
                  </a:rPr>
                  <a:t> </a:t>
                </a:r>
              </a:p>
            </p:txBody>
          </p:sp>
        </mc:Fallback>
      </mc:AlternateContent>
      <p:sp>
        <p:nvSpPr>
          <p:cNvPr id="11" name="TextBox 10">
            <a:extLst>
              <a:ext uri="{FF2B5EF4-FFF2-40B4-BE49-F238E27FC236}">
                <a16:creationId xmlns:a16="http://schemas.microsoft.com/office/drawing/2014/main" id="{27A9BD44-36D2-1D30-3CE5-930486D91EA8}"/>
              </a:ext>
            </a:extLst>
          </p:cNvPr>
          <p:cNvSpPr txBox="1"/>
          <p:nvPr/>
        </p:nvSpPr>
        <p:spPr>
          <a:xfrm>
            <a:off x="70783" y="2709205"/>
            <a:ext cx="4876705" cy="1938992"/>
          </a:xfrm>
          <a:prstGeom prst="rect">
            <a:avLst/>
          </a:prstGeom>
          <a:noFill/>
        </p:spPr>
        <p:txBody>
          <a:bodyPr wrap="square">
            <a:spAutoFit/>
          </a:bodyPr>
          <a:lstStyle/>
          <a:p>
            <a:pPr marL="0" indent="0">
              <a:lnSpc>
                <a:spcPct val="100000"/>
              </a:lnSpc>
              <a:spcBef>
                <a:spcPts val="0"/>
              </a:spcBef>
              <a:spcAft>
                <a:spcPts val="0"/>
              </a:spcAft>
              <a:buNone/>
            </a:pPr>
            <a:r>
              <a:rPr lang="en-CA" dirty="0">
                <a:solidFill>
                  <a:schemeClr val="tx1"/>
                </a:solidFill>
                <a:latin typeface="+mn-lt"/>
              </a:rPr>
              <a:t>Assumptions:</a:t>
            </a:r>
          </a:p>
          <a:p>
            <a:pPr marL="457200" indent="-457200">
              <a:lnSpc>
                <a:spcPct val="100000"/>
              </a:lnSpc>
              <a:spcBef>
                <a:spcPts val="0"/>
              </a:spcBef>
              <a:spcAft>
                <a:spcPts val="0"/>
              </a:spcAft>
              <a:buAutoNum type="arabicPeriod"/>
            </a:pPr>
            <a:r>
              <a:rPr lang="en-CA" dirty="0">
                <a:latin typeface="+mn-lt"/>
              </a:rPr>
              <a:t>Steady flow relative to the vane</a:t>
            </a:r>
          </a:p>
          <a:p>
            <a:pPr marL="457200" indent="-457200">
              <a:lnSpc>
                <a:spcPct val="100000"/>
              </a:lnSpc>
              <a:spcBef>
                <a:spcPts val="0"/>
              </a:spcBef>
              <a:spcAft>
                <a:spcPts val="0"/>
              </a:spcAft>
              <a:buAutoNum type="arabicPeriod"/>
            </a:pPr>
            <a:r>
              <a:rPr lang="en-CA" dirty="0">
                <a:solidFill>
                  <a:schemeClr val="tx1"/>
                </a:solidFill>
                <a:latin typeface="+mn-lt"/>
              </a:rPr>
              <a:t>Incompressible flow</a:t>
            </a:r>
          </a:p>
          <a:p>
            <a:pPr marL="457200" indent="-457200">
              <a:lnSpc>
                <a:spcPct val="100000"/>
              </a:lnSpc>
              <a:spcBef>
                <a:spcPts val="0"/>
              </a:spcBef>
              <a:spcAft>
                <a:spcPts val="0"/>
              </a:spcAft>
              <a:buAutoNum type="arabicPeriod"/>
            </a:pPr>
            <a:r>
              <a:rPr lang="en-CA" dirty="0">
                <a:latin typeface="+mn-lt"/>
              </a:rPr>
              <a:t>Uniform flow at all sections</a:t>
            </a:r>
          </a:p>
          <a:p>
            <a:pPr marL="457200" indent="-457200">
              <a:lnSpc>
                <a:spcPct val="100000"/>
              </a:lnSpc>
              <a:spcBef>
                <a:spcPts val="0"/>
              </a:spcBef>
              <a:spcAft>
                <a:spcPts val="0"/>
              </a:spcAft>
              <a:buAutoNum type="arabicPeriod"/>
            </a:pPr>
            <a:r>
              <a:rPr lang="en-CA" dirty="0">
                <a:solidFill>
                  <a:schemeClr val="tx1"/>
                </a:solidFill>
                <a:latin typeface="+mn-lt"/>
              </a:rPr>
              <a:t>Jet cross-section remains uniform</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4055C83-2827-66E1-4DD4-1315DDC6BA07}"/>
                  </a:ext>
                </a:extLst>
              </p:cNvPr>
              <p:cNvSpPr txBox="1"/>
              <p:nvPr/>
            </p:nvSpPr>
            <p:spPr>
              <a:xfrm>
                <a:off x="5714051" y="3429000"/>
                <a:ext cx="2762437" cy="839269"/>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sz="2000" b="0" i="1" u="none" strike="noStrike" kern="1200" cap="none" spc="0" normalizeH="0" baseline="0" noProof="0">
                          <a:ln>
                            <a:noFill/>
                          </a:ln>
                          <a:solidFill>
                            <a:prstClr val="black"/>
                          </a:solidFill>
                          <a:effectLst/>
                          <a:uLnTx/>
                          <a:uFillTx/>
                          <a:latin typeface="Cambria Math" panose="02040503050406030204" pitchFamily="18" charset="0"/>
                        </a:rPr>
                        <m:t>=</m:t>
                      </m:r>
                      <m:nary>
                        <m:naryPr>
                          <m:chr m:val="∑"/>
                          <m:supHide m:val="on"/>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sSub>
                            <m:sSubPr>
                              <m:ctrlPr>
                                <a:rPr lang="en-GB" sz="2000" i="1">
                                  <a:solidFill>
                                    <a:prstClr val="black"/>
                                  </a:solidFill>
                                  <a:latin typeface="Cambria Math" panose="02040503050406030204" pitchFamily="18" charset="0"/>
                                </a:rPr>
                              </m:ctrlPr>
                            </m:sSubPr>
                            <m:e>
                              <m:acc>
                                <m:accPr>
                                  <m:chr m:val="⃗"/>
                                  <m:ctrlPr>
                                    <a:rPr lang="en-CA" sz="2000" i="1">
                                      <a:solidFill>
                                        <a:prstClr val="black"/>
                                      </a:solidFill>
                                      <a:latin typeface="Cambria Math" panose="02040503050406030204" pitchFamily="18" charset="0"/>
                                      <a:ea typeface="Cambria Math" panose="02040503050406030204" pitchFamily="18" charset="0"/>
                                    </a:rPr>
                                  </m:ctrlPr>
                                </m:accPr>
                                <m:e>
                                  <m:r>
                                    <a:rPr lang="en-CA" sz="2000" i="1">
                                      <a:solidFill>
                                        <a:prstClr val="black"/>
                                      </a:solidFill>
                                      <a:latin typeface="Cambria Math" panose="02040503050406030204" pitchFamily="18" charset="0"/>
                                      <a:ea typeface="Cambria Math" panose="02040503050406030204" pitchFamily="18" charset="0"/>
                                    </a:rPr>
                                    <m:t>𝑉</m:t>
                                  </m:r>
                                </m:e>
                              </m:acc>
                            </m:e>
                            <m:sub>
                              <m:r>
                                <a:rPr lang="en-GB" sz="2000" i="1">
                                  <a:solidFill>
                                    <a:prstClr val="black"/>
                                  </a:solidFill>
                                  <a:latin typeface="Cambria Math" panose="02040503050406030204" pitchFamily="18" charset="0"/>
                                </a:rPr>
                                <m:t>𝑥𝑦𝑧</m:t>
                              </m:r>
                            </m:sub>
                          </m:sSub>
                          <m:acc>
                            <m:accPr>
                              <m:chr m:val="̇"/>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sz="2000" dirty="0"/>
              </a:p>
            </p:txBody>
          </p:sp>
        </mc:Choice>
        <mc:Fallback xmlns="">
          <p:sp>
            <p:nvSpPr>
              <p:cNvPr id="13" name="TextBox 12">
                <a:extLst>
                  <a:ext uri="{FF2B5EF4-FFF2-40B4-BE49-F238E27FC236}">
                    <a16:creationId xmlns:a16="http://schemas.microsoft.com/office/drawing/2014/main" id="{34055C83-2827-66E1-4DD4-1315DDC6BA07}"/>
                  </a:ext>
                </a:extLst>
              </p:cNvPr>
              <p:cNvSpPr txBox="1">
                <a:spLocks noRot="1" noChangeAspect="1" noMove="1" noResize="1" noEditPoints="1" noAdjustHandles="1" noChangeArrowheads="1" noChangeShapeType="1" noTextEdit="1"/>
              </p:cNvSpPr>
              <p:nvPr/>
            </p:nvSpPr>
            <p:spPr>
              <a:xfrm>
                <a:off x="5714051" y="3429000"/>
                <a:ext cx="2762437" cy="839269"/>
              </a:xfrm>
              <a:prstGeom prst="rect">
                <a:avLst/>
              </a:prstGeom>
              <a:blipFill>
                <a:blip r:embed="rId5"/>
                <a:stretch>
                  <a:fillRect/>
                </a:stretch>
              </a:blipFill>
            </p:spPr>
            <p:txBody>
              <a:bodyPr/>
              <a:lstStyle/>
              <a:p>
                <a:r>
                  <a:rPr lang="en-GH">
                    <a:noFill/>
                  </a:rPr>
                  <a:t> </a:t>
                </a:r>
              </a:p>
            </p:txBody>
          </p:sp>
        </mc:Fallback>
      </mc:AlternateContent>
      <p:sp>
        <p:nvSpPr>
          <p:cNvPr id="3" name="TextBox 2">
            <a:extLst>
              <a:ext uri="{FF2B5EF4-FFF2-40B4-BE49-F238E27FC236}">
                <a16:creationId xmlns:a16="http://schemas.microsoft.com/office/drawing/2014/main" id="{0DFFC49B-4BF9-1A13-DF7B-8194F8DA05D8}"/>
              </a:ext>
            </a:extLst>
          </p:cNvPr>
          <p:cNvSpPr txBox="1"/>
          <p:nvPr/>
        </p:nvSpPr>
        <p:spPr>
          <a:xfrm>
            <a:off x="70783" y="4813012"/>
            <a:ext cx="8961120" cy="830997"/>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Let </a:t>
            </a:r>
            <a:r>
              <a:rPr lang="en-CA" i="1" dirty="0" err="1">
                <a:latin typeface="+mn-lt"/>
              </a:rPr>
              <a:t>F</a:t>
            </a:r>
            <a:r>
              <a:rPr lang="en-CA" i="1" baseline="-25000" dirty="0" err="1">
                <a:latin typeface="+mn-lt"/>
              </a:rPr>
              <a:t>x</a:t>
            </a:r>
            <a:r>
              <a:rPr lang="en-CA" dirty="0">
                <a:latin typeface="+mn-lt"/>
              </a:rPr>
              <a:t> and </a:t>
            </a:r>
            <a:r>
              <a:rPr lang="en-CA" i="1" dirty="0" err="1">
                <a:latin typeface="+mn-lt"/>
              </a:rPr>
              <a:t>F</a:t>
            </a:r>
            <a:r>
              <a:rPr lang="en-CA" baseline="-25000" dirty="0" err="1">
                <a:latin typeface="+mn-lt"/>
              </a:rPr>
              <a:t>y</a:t>
            </a:r>
            <a:r>
              <a:rPr lang="en-CA" dirty="0">
                <a:latin typeface="+mn-lt"/>
              </a:rPr>
              <a:t> respectively denote the </a:t>
            </a:r>
            <a:r>
              <a:rPr lang="en-CA" i="1" dirty="0">
                <a:latin typeface="+mn-lt"/>
              </a:rPr>
              <a:t>x</a:t>
            </a:r>
            <a:r>
              <a:rPr lang="en-CA" dirty="0">
                <a:latin typeface="+mn-lt"/>
              </a:rPr>
              <a:t>- and </a:t>
            </a:r>
            <a:r>
              <a:rPr lang="en-CA" i="1" dirty="0">
                <a:latin typeface="+mn-lt"/>
              </a:rPr>
              <a:t>y</a:t>
            </a:r>
            <a:r>
              <a:rPr lang="en-CA" dirty="0">
                <a:latin typeface="+mn-lt"/>
              </a:rPr>
              <a:t>-components of the fluid force acting on the vane.</a:t>
            </a:r>
            <a:endParaRPr lang="en-CA" dirty="0">
              <a:solidFill>
                <a:schemeClr val="tx1"/>
              </a:solidFill>
              <a:latin typeface="+mn-lt"/>
            </a:endParaRPr>
          </a:p>
        </p:txBody>
      </p:sp>
    </p:spTree>
    <p:extLst>
      <p:ext uri="{BB962C8B-B14F-4D97-AF65-F5344CB8AC3E}">
        <p14:creationId xmlns:p14="http://schemas.microsoft.com/office/powerpoint/2010/main" val="2269626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7FFB35-C0BB-20F2-3D0B-0DB6718D8828}"/>
                  </a:ext>
                </a:extLst>
              </p:cNvPr>
              <p:cNvSpPr txBox="1"/>
              <p:nvPr/>
            </p:nvSpPr>
            <p:spPr>
              <a:xfrm>
                <a:off x="255083" y="539496"/>
                <a:ext cx="2762437" cy="839269"/>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naryPr>
                        <m:sub/>
                        <m:sup/>
                        <m:e>
                          <m:acc>
                            <m:accPr>
                              <m:chr m:val="⃗"/>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𝐹</m:t>
                              </m:r>
                            </m:e>
                          </m:acc>
                        </m:e>
                      </m:nary>
                      <m:r>
                        <a:rPr kumimoji="0" lang="en-CA" sz="2000" b="0" i="1" u="none" strike="noStrike" kern="1200" cap="none" spc="0" normalizeH="0" baseline="0" noProof="0">
                          <a:ln>
                            <a:noFill/>
                          </a:ln>
                          <a:solidFill>
                            <a:prstClr val="black"/>
                          </a:solidFill>
                          <a:effectLst/>
                          <a:uLnTx/>
                          <a:uFillTx/>
                          <a:latin typeface="Cambria Math" panose="02040503050406030204" pitchFamily="18" charset="0"/>
                        </a:rPr>
                        <m:t>=</m:t>
                      </m:r>
                      <m:nary>
                        <m:naryPr>
                          <m:chr m:val="∑"/>
                          <m:supHide m:val="on"/>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sSub>
                            <m:sSubPr>
                              <m:ctrlPr>
                                <a:rPr lang="en-GB" sz="2000" i="1">
                                  <a:solidFill>
                                    <a:prstClr val="black"/>
                                  </a:solidFill>
                                  <a:latin typeface="Cambria Math" panose="02040503050406030204" pitchFamily="18" charset="0"/>
                                </a:rPr>
                              </m:ctrlPr>
                            </m:sSubPr>
                            <m:e>
                              <m:acc>
                                <m:accPr>
                                  <m:chr m:val="⃗"/>
                                  <m:ctrlPr>
                                    <a:rPr lang="en-CA" sz="2000" i="1">
                                      <a:solidFill>
                                        <a:prstClr val="black"/>
                                      </a:solidFill>
                                      <a:latin typeface="Cambria Math" panose="02040503050406030204" pitchFamily="18" charset="0"/>
                                      <a:ea typeface="Cambria Math" panose="02040503050406030204" pitchFamily="18" charset="0"/>
                                    </a:rPr>
                                  </m:ctrlPr>
                                </m:accPr>
                                <m:e>
                                  <m:r>
                                    <a:rPr lang="en-CA" sz="2000" i="1">
                                      <a:solidFill>
                                        <a:prstClr val="black"/>
                                      </a:solidFill>
                                      <a:latin typeface="Cambria Math" panose="02040503050406030204" pitchFamily="18" charset="0"/>
                                      <a:ea typeface="Cambria Math" panose="02040503050406030204" pitchFamily="18" charset="0"/>
                                    </a:rPr>
                                    <m:t>𝑉</m:t>
                                  </m:r>
                                </m:e>
                              </m:acc>
                            </m:e>
                            <m:sub>
                              <m:r>
                                <a:rPr lang="en-GB" sz="2000" i="1">
                                  <a:solidFill>
                                    <a:prstClr val="black"/>
                                  </a:solidFill>
                                  <a:latin typeface="Cambria Math" panose="02040503050406030204" pitchFamily="18" charset="0"/>
                                </a:rPr>
                                <m:t>𝑥𝑦𝑧</m:t>
                              </m:r>
                            </m:sub>
                          </m:sSub>
                          <m:acc>
                            <m:accPr>
                              <m:chr m:val="̇"/>
                              <m:ctrlPr>
                                <a:rPr kumimoji="0" lang="en-CA" sz="200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sz="2000" dirty="0"/>
              </a:p>
            </p:txBody>
          </p:sp>
        </mc:Choice>
        <mc:Fallback xmlns="">
          <p:sp>
            <p:nvSpPr>
              <p:cNvPr id="5" name="TextBox 4">
                <a:extLst>
                  <a:ext uri="{FF2B5EF4-FFF2-40B4-BE49-F238E27FC236}">
                    <a16:creationId xmlns:a16="http://schemas.microsoft.com/office/drawing/2014/main" id="{8A7FFB35-C0BB-20F2-3D0B-0DB6718D8828}"/>
                  </a:ext>
                </a:extLst>
              </p:cNvPr>
              <p:cNvSpPr txBox="1">
                <a:spLocks noRot="1" noChangeAspect="1" noMove="1" noResize="1" noEditPoints="1" noAdjustHandles="1" noChangeArrowheads="1" noChangeShapeType="1" noTextEdit="1"/>
              </p:cNvSpPr>
              <p:nvPr/>
            </p:nvSpPr>
            <p:spPr>
              <a:xfrm>
                <a:off x="255083" y="539496"/>
                <a:ext cx="2762437" cy="839269"/>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3D1281-E57D-6A1E-9155-5B2FFDDD049C}"/>
                  </a:ext>
                </a:extLst>
              </p:cNvPr>
              <p:cNvSpPr txBox="1"/>
              <p:nvPr/>
            </p:nvSpPr>
            <p:spPr>
              <a:xfrm>
                <a:off x="0" y="1488891"/>
                <a:ext cx="429768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xmlns="">
          <p:sp>
            <p:nvSpPr>
              <p:cNvPr id="6" name="TextBox 5">
                <a:extLst>
                  <a:ext uri="{FF2B5EF4-FFF2-40B4-BE49-F238E27FC236}">
                    <a16:creationId xmlns:a16="http://schemas.microsoft.com/office/drawing/2014/main" id="{063D1281-E57D-6A1E-9155-5B2FFDDD049C}"/>
                  </a:ext>
                </a:extLst>
              </p:cNvPr>
              <p:cNvSpPr txBox="1">
                <a:spLocks noRot="1" noChangeAspect="1" noMove="1" noResize="1" noEditPoints="1" noAdjustHandles="1" noChangeArrowheads="1" noChangeShapeType="1" noTextEdit="1"/>
              </p:cNvSpPr>
              <p:nvPr/>
            </p:nvSpPr>
            <p:spPr>
              <a:xfrm>
                <a:off x="0" y="1488891"/>
                <a:ext cx="4297680" cy="461665"/>
              </a:xfrm>
              <a:prstGeom prst="rect">
                <a:avLst/>
              </a:prstGeom>
              <a:blipFill>
                <a:blip r:embed="rId4"/>
                <a:stretch>
                  <a:fillRect b="-263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38D21B-9956-0ED7-3ACB-389914D5200A}"/>
                  </a:ext>
                </a:extLst>
              </p:cNvPr>
              <p:cNvSpPr txBox="1"/>
              <p:nvPr/>
            </p:nvSpPr>
            <p:spPr>
              <a:xfrm>
                <a:off x="0" y="1990293"/>
                <a:ext cx="406908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oMath>
                  </m:oMathPara>
                </a14:m>
                <a:endParaRPr lang="en-GH" dirty="0"/>
              </a:p>
            </p:txBody>
          </p:sp>
        </mc:Choice>
        <mc:Fallback xmlns="">
          <p:sp>
            <p:nvSpPr>
              <p:cNvPr id="8" name="TextBox 7">
                <a:extLst>
                  <a:ext uri="{FF2B5EF4-FFF2-40B4-BE49-F238E27FC236}">
                    <a16:creationId xmlns:a16="http://schemas.microsoft.com/office/drawing/2014/main" id="{0C38D21B-9956-0ED7-3ACB-389914D5200A}"/>
                  </a:ext>
                </a:extLst>
              </p:cNvPr>
              <p:cNvSpPr txBox="1">
                <a:spLocks noRot="1" noChangeAspect="1" noMove="1" noResize="1" noEditPoints="1" noAdjustHandles="1" noChangeArrowheads="1" noChangeShapeType="1" noTextEdit="1"/>
              </p:cNvSpPr>
              <p:nvPr/>
            </p:nvSpPr>
            <p:spPr>
              <a:xfrm>
                <a:off x="0" y="1990293"/>
                <a:ext cx="4069080" cy="461665"/>
              </a:xfrm>
              <a:prstGeom prst="rect">
                <a:avLst/>
              </a:prstGeom>
              <a:blipFill>
                <a:blip r:embed="rId5"/>
                <a:stretch>
                  <a:fillRect b="-263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C9E7FCD-969B-9D4F-FE17-03B23A1C9E9E}"/>
                  </a:ext>
                </a:extLst>
              </p:cNvPr>
              <p:cNvSpPr txBox="1"/>
              <p:nvPr/>
            </p:nvSpPr>
            <p:spPr>
              <a:xfrm>
                <a:off x="0" y="2620964"/>
                <a:ext cx="4206240"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Sub>
                    </m:oMath>
                  </m:oMathPara>
                </a14:m>
                <a:endParaRPr lang="en-GH" dirty="0"/>
              </a:p>
            </p:txBody>
          </p:sp>
        </mc:Choice>
        <mc:Fallback xmlns="">
          <p:sp>
            <p:nvSpPr>
              <p:cNvPr id="9" name="TextBox 8">
                <a:extLst>
                  <a:ext uri="{FF2B5EF4-FFF2-40B4-BE49-F238E27FC236}">
                    <a16:creationId xmlns:a16="http://schemas.microsoft.com/office/drawing/2014/main" id="{DC9E7FCD-969B-9D4F-FE17-03B23A1C9E9E}"/>
                  </a:ext>
                </a:extLst>
              </p:cNvPr>
              <p:cNvSpPr txBox="1">
                <a:spLocks noRot="1" noChangeAspect="1" noMove="1" noResize="1" noEditPoints="1" noAdjustHandles="1" noChangeArrowheads="1" noChangeShapeType="1" noTextEdit="1"/>
              </p:cNvSpPr>
              <p:nvPr/>
            </p:nvSpPr>
            <p:spPr>
              <a:xfrm>
                <a:off x="0" y="2620964"/>
                <a:ext cx="4206240" cy="461665"/>
              </a:xfrm>
              <a:prstGeom prst="rect">
                <a:avLst/>
              </a:prstGeom>
              <a:blipFill>
                <a:blip r:embed="rId6"/>
                <a:stretch>
                  <a:fillRect b="-1052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F5DD066-5BF5-CF9F-BCED-102BA19849BE}"/>
                  </a:ext>
                </a:extLst>
              </p:cNvPr>
              <p:cNvSpPr txBox="1"/>
              <p:nvPr/>
            </p:nvSpPr>
            <p:spPr>
              <a:xfrm>
                <a:off x="4021260" y="5348147"/>
                <a:ext cx="1339545" cy="461665"/>
              </a:xfrm>
              <a:prstGeom prst="rect">
                <a:avLst/>
              </a:prstGeom>
              <a:noFill/>
            </p:spPr>
            <p:txBody>
              <a:bodyPr wrap="square">
                <a:spAutoFit/>
              </a:bodyPr>
              <a:lstStyle/>
              <a:p>
                <a:pPr marL="0" indent="0">
                  <a:buNone/>
                </a:pPr>
                <a14:m>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0</m:t>
                    </m:r>
                  </m:oMath>
                </a14:m>
                <a:r>
                  <a:rPr lang="en-GB" dirty="0"/>
                  <a:t>,</a:t>
                </a:r>
                <a:endParaRPr lang="en-GH" dirty="0"/>
              </a:p>
            </p:txBody>
          </p:sp>
        </mc:Choice>
        <mc:Fallback xmlns="">
          <p:sp>
            <p:nvSpPr>
              <p:cNvPr id="12" name="TextBox 11">
                <a:extLst>
                  <a:ext uri="{FF2B5EF4-FFF2-40B4-BE49-F238E27FC236}">
                    <a16:creationId xmlns:a16="http://schemas.microsoft.com/office/drawing/2014/main" id="{9F5DD066-5BF5-CF9F-BCED-102BA19849BE}"/>
                  </a:ext>
                </a:extLst>
              </p:cNvPr>
              <p:cNvSpPr txBox="1">
                <a:spLocks noRot="1" noChangeAspect="1" noMove="1" noResize="1" noEditPoints="1" noAdjustHandles="1" noChangeArrowheads="1" noChangeShapeType="1" noTextEdit="1"/>
              </p:cNvSpPr>
              <p:nvPr/>
            </p:nvSpPr>
            <p:spPr>
              <a:xfrm>
                <a:off x="4021260" y="5348147"/>
                <a:ext cx="1339545" cy="461665"/>
              </a:xfrm>
              <a:prstGeom prst="rect">
                <a:avLst/>
              </a:prstGeom>
              <a:blipFill>
                <a:blip r:embed="rId7"/>
                <a:stretch>
                  <a:fillRect t="-10526"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3C1418-F76B-FEDB-22EA-8169EFF0D4DC}"/>
                  </a:ext>
                </a:extLst>
              </p:cNvPr>
              <p:cNvSpPr txBox="1"/>
              <p:nvPr/>
            </p:nvSpPr>
            <p:spPr>
              <a:xfrm>
                <a:off x="137160" y="3597008"/>
                <a:ext cx="222199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oMath>
                  </m:oMathPara>
                </a14:m>
                <a:endParaRPr lang="en-GH" dirty="0"/>
              </a:p>
            </p:txBody>
          </p:sp>
        </mc:Choice>
        <mc:Fallback xmlns="">
          <p:sp>
            <p:nvSpPr>
              <p:cNvPr id="14" name="TextBox 13">
                <a:extLst>
                  <a:ext uri="{FF2B5EF4-FFF2-40B4-BE49-F238E27FC236}">
                    <a16:creationId xmlns:a16="http://schemas.microsoft.com/office/drawing/2014/main" id="{2F3C1418-F76B-FEDB-22EA-8169EFF0D4DC}"/>
                  </a:ext>
                </a:extLst>
              </p:cNvPr>
              <p:cNvSpPr txBox="1">
                <a:spLocks noRot="1" noChangeAspect="1" noMove="1" noResize="1" noEditPoints="1" noAdjustHandles="1" noChangeArrowheads="1" noChangeShapeType="1" noTextEdit="1"/>
              </p:cNvSpPr>
              <p:nvPr/>
            </p:nvSpPr>
            <p:spPr>
              <a:xfrm>
                <a:off x="137160" y="3597008"/>
                <a:ext cx="2221992" cy="461665"/>
              </a:xfrm>
              <a:prstGeom prst="rect">
                <a:avLst/>
              </a:prstGeom>
              <a:blipFill>
                <a:blip r:embed="rId8"/>
                <a:stretch>
                  <a:fillRect l="-824" b="-263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E3F9EA8-7566-1C06-3CC3-6A5BC217BBF9}"/>
                  </a:ext>
                </a:extLst>
              </p:cNvPr>
              <p:cNvSpPr txBox="1"/>
              <p:nvPr/>
            </p:nvSpPr>
            <p:spPr>
              <a:xfrm>
                <a:off x="137160" y="4089292"/>
                <a:ext cx="299923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d>
                        <m:dPr>
                          <m:ctrlPr>
                            <a:rPr lang="en-GB" b="0" i="1" smtClean="0">
                              <a:solidFill>
                                <a:prstClr val="black"/>
                              </a:solidFill>
                              <a:latin typeface="Cambria Math" panose="02040503050406030204" pitchFamily="18" charset="0"/>
                            </a:rPr>
                          </m:ctrlPr>
                        </m:dPr>
                        <m:e>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e>
                      </m:d>
                      <m:r>
                        <a:rPr lang="en-GB" b="0" i="1" smtClean="0">
                          <a:solidFill>
                            <a:prstClr val="black"/>
                          </a:solidFill>
                          <a:latin typeface="Cambria Math" panose="02040503050406030204" pitchFamily="18" charset="0"/>
                        </a:rPr>
                        <m:t>𝑐𝑜𝑠</m:t>
                      </m:r>
                      <m:r>
                        <a:rPr lang="en-GB" b="0" i="1" smtClean="0">
                          <a:solidFill>
                            <a:prstClr val="black"/>
                          </a:solidFill>
                          <a:latin typeface="Cambria Math" panose="02040503050406030204" pitchFamily="18" charset="0"/>
                        </a:rPr>
                        <m:t>60°</m:t>
                      </m:r>
                    </m:oMath>
                  </m:oMathPara>
                </a14:m>
                <a:endParaRPr lang="en-GH" dirty="0"/>
              </a:p>
            </p:txBody>
          </p:sp>
        </mc:Choice>
        <mc:Fallback xmlns="">
          <p:sp>
            <p:nvSpPr>
              <p:cNvPr id="15" name="TextBox 14">
                <a:extLst>
                  <a:ext uri="{FF2B5EF4-FFF2-40B4-BE49-F238E27FC236}">
                    <a16:creationId xmlns:a16="http://schemas.microsoft.com/office/drawing/2014/main" id="{6E3F9EA8-7566-1C06-3CC3-6A5BC217BBF9}"/>
                  </a:ext>
                </a:extLst>
              </p:cNvPr>
              <p:cNvSpPr txBox="1">
                <a:spLocks noRot="1" noChangeAspect="1" noMove="1" noResize="1" noEditPoints="1" noAdjustHandles="1" noChangeArrowheads="1" noChangeShapeType="1" noTextEdit="1"/>
              </p:cNvSpPr>
              <p:nvPr/>
            </p:nvSpPr>
            <p:spPr>
              <a:xfrm>
                <a:off x="137160" y="4089292"/>
                <a:ext cx="2999232" cy="461665"/>
              </a:xfrm>
              <a:prstGeom prst="rect">
                <a:avLst/>
              </a:prstGeom>
              <a:blipFill>
                <a:blip r:embed="rId9"/>
                <a:stretch>
                  <a:fillRect b="-131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C1B3B3C-EF96-18E5-6FF0-22C7C1094070}"/>
                  </a:ext>
                </a:extLst>
              </p:cNvPr>
              <p:cNvSpPr txBox="1"/>
              <p:nvPr/>
            </p:nvSpPr>
            <p:spPr>
              <a:xfrm>
                <a:off x="183355" y="4573052"/>
                <a:ext cx="222199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oMath>
                  </m:oMathPara>
                </a14:m>
                <a:endParaRPr lang="en-GH" dirty="0"/>
              </a:p>
            </p:txBody>
          </p:sp>
        </mc:Choice>
        <mc:Fallback xmlns="">
          <p:sp>
            <p:nvSpPr>
              <p:cNvPr id="16" name="TextBox 15">
                <a:extLst>
                  <a:ext uri="{FF2B5EF4-FFF2-40B4-BE49-F238E27FC236}">
                    <a16:creationId xmlns:a16="http://schemas.microsoft.com/office/drawing/2014/main" id="{BC1B3B3C-EF96-18E5-6FF0-22C7C1094070}"/>
                  </a:ext>
                </a:extLst>
              </p:cNvPr>
              <p:cNvSpPr txBox="1">
                <a:spLocks noRot="1" noChangeAspect="1" noMove="1" noResize="1" noEditPoints="1" noAdjustHandles="1" noChangeArrowheads="1" noChangeShapeType="1" noTextEdit="1"/>
              </p:cNvSpPr>
              <p:nvPr/>
            </p:nvSpPr>
            <p:spPr>
              <a:xfrm>
                <a:off x="183355" y="4573052"/>
                <a:ext cx="2221992" cy="461665"/>
              </a:xfrm>
              <a:prstGeom prst="rect">
                <a:avLst/>
              </a:prstGeom>
              <a:blipFill>
                <a:blip r:embed="rId10"/>
                <a:stretch>
                  <a:fillRect l="-548" b="-2632"/>
                </a:stretch>
              </a:blipFill>
            </p:spPr>
            <p:txBody>
              <a:bodyPr/>
              <a:lstStyle/>
              <a:p>
                <a:r>
                  <a:rPr lang="en-GH">
                    <a:noFill/>
                  </a:rPr>
                  <a:t> </a:t>
                </a:r>
              </a:p>
            </p:txBody>
          </p:sp>
        </mc:Fallback>
      </mc:AlternateContent>
      <p:sp>
        <p:nvSpPr>
          <p:cNvPr id="18" name="TextBox 17">
            <a:extLst>
              <a:ext uri="{FF2B5EF4-FFF2-40B4-BE49-F238E27FC236}">
                <a16:creationId xmlns:a16="http://schemas.microsoft.com/office/drawing/2014/main" id="{44A41230-24DD-896A-15E9-63CFADA5B86A}"/>
              </a:ext>
            </a:extLst>
          </p:cNvPr>
          <p:cNvSpPr txBox="1"/>
          <p:nvPr/>
        </p:nvSpPr>
        <p:spPr>
          <a:xfrm>
            <a:off x="137160" y="5061279"/>
            <a:ext cx="2477549" cy="461665"/>
          </a:xfrm>
          <a:prstGeom prst="rect">
            <a:avLst/>
          </a:prstGeom>
          <a:noFill/>
        </p:spPr>
        <p:txBody>
          <a:bodyPr wrap="square">
            <a:spAutoFit/>
          </a:bodyPr>
          <a:lstStyle/>
          <a:p>
            <a:r>
              <a:rPr lang="en-CA" dirty="0">
                <a:solidFill>
                  <a:schemeClr val="tx1"/>
                </a:solidFill>
                <a:latin typeface="+mn-lt"/>
              </a:rPr>
              <a:t>By assumption #4, </a:t>
            </a:r>
            <a:endParaRPr lang="en-GH"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3592022-55FD-DF6D-E6C9-C0DD3AE4885C}"/>
                  </a:ext>
                </a:extLst>
              </p:cNvPr>
              <p:cNvSpPr txBox="1"/>
              <p:nvPr/>
            </p:nvSpPr>
            <p:spPr>
              <a:xfrm>
                <a:off x="183354" y="5559960"/>
                <a:ext cx="2953037"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𝐴</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𝐴</m:t>
                      </m:r>
                    </m:oMath>
                  </m:oMathPara>
                </a14:m>
                <a:endParaRPr lang="en-GH" dirty="0"/>
              </a:p>
            </p:txBody>
          </p:sp>
        </mc:Choice>
        <mc:Fallback xmlns="">
          <p:sp>
            <p:nvSpPr>
              <p:cNvPr id="19" name="TextBox 18">
                <a:extLst>
                  <a:ext uri="{FF2B5EF4-FFF2-40B4-BE49-F238E27FC236}">
                    <a16:creationId xmlns:a16="http://schemas.microsoft.com/office/drawing/2014/main" id="{13592022-55FD-DF6D-E6C9-C0DD3AE4885C}"/>
                  </a:ext>
                </a:extLst>
              </p:cNvPr>
              <p:cNvSpPr txBox="1">
                <a:spLocks noRot="1" noChangeAspect="1" noMove="1" noResize="1" noEditPoints="1" noAdjustHandles="1" noChangeArrowheads="1" noChangeShapeType="1" noTextEdit="1"/>
              </p:cNvSpPr>
              <p:nvPr/>
            </p:nvSpPr>
            <p:spPr>
              <a:xfrm>
                <a:off x="183354" y="5559960"/>
                <a:ext cx="2953037" cy="461665"/>
              </a:xfrm>
              <a:prstGeom prst="rect">
                <a:avLst/>
              </a:prstGeom>
              <a:blipFill>
                <a:blip r:embed="rId11"/>
                <a:stretch>
                  <a:fillRect l="-413" b="-2632"/>
                </a:stretch>
              </a:blipFill>
            </p:spPr>
            <p:txBody>
              <a:bodyPr/>
              <a:lstStyle/>
              <a:p>
                <a:r>
                  <a:rPr lang="en-GH">
                    <a:noFill/>
                  </a:rPr>
                  <a:t> </a:t>
                </a:r>
              </a:p>
            </p:txBody>
          </p:sp>
        </mc:Fallback>
      </mc:AlternateContent>
      <p:cxnSp>
        <p:nvCxnSpPr>
          <p:cNvPr id="20" name="Straight Connector 19">
            <a:extLst>
              <a:ext uri="{FF2B5EF4-FFF2-40B4-BE49-F238E27FC236}">
                <a16:creationId xmlns:a16="http://schemas.microsoft.com/office/drawing/2014/main" id="{466319EE-E2F2-53B6-9F09-6358F662C196}"/>
              </a:ext>
            </a:extLst>
          </p:cNvPr>
          <p:cNvCxnSpPr>
            <a:cxnSpLocks/>
          </p:cNvCxnSpPr>
          <p:nvPr/>
        </p:nvCxnSpPr>
        <p:spPr>
          <a:xfrm>
            <a:off x="3959352" y="429370"/>
            <a:ext cx="0" cy="5592255"/>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81999E5-1948-FCD4-F253-609AF04FB52D}"/>
                  </a:ext>
                </a:extLst>
              </p:cNvPr>
              <p:cNvSpPr txBox="1"/>
              <p:nvPr/>
            </p:nvSpPr>
            <p:spPr>
              <a:xfrm>
                <a:off x="3968496" y="521467"/>
                <a:ext cx="5111496"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r>
                        <a:rPr lang="en-GB" b="0" i="1" smtClean="0">
                          <a:solidFill>
                            <a:prstClr val="black"/>
                          </a:solidFill>
                          <a:latin typeface="Cambria Math" panose="02040503050406030204" pitchFamily="18" charset="0"/>
                          <a:ea typeface="Cambria Math" panose="02040503050406030204" pitchFamily="18" charset="0"/>
                        </a:rPr>
                        <m:t>𝐴</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𝑉</m:t>
                          </m:r>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𝑈</m:t>
                          </m:r>
                          <m:r>
                            <a:rPr lang="en-GB" b="0" i="1" smtClean="0">
                              <a:solidFill>
                                <a:prstClr val="black"/>
                              </a:solidFill>
                              <a:latin typeface="Cambria Math" panose="02040503050406030204" pitchFamily="18" charset="0"/>
                              <a:ea typeface="Cambria Math" panose="02040503050406030204" pitchFamily="18" charset="0"/>
                            </a:rPr>
                            <m:t>)</m:t>
                          </m:r>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ea typeface="Cambria Math" panose="02040503050406030204" pitchFamily="18" charset="0"/>
                        </a:rPr>
                        <m:t>𝐴</m:t>
                      </m:r>
                      <m:sSup>
                        <m:sSupPr>
                          <m:ctrlPr>
                            <a:rPr lang="en-GB" i="1">
                              <a:solidFill>
                                <a:prstClr val="black"/>
                              </a:solidFill>
                              <a:latin typeface="Cambria Math" panose="02040503050406030204" pitchFamily="18" charset="0"/>
                              <a:ea typeface="Cambria Math" panose="02040503050406030204" pitchFamily="18" charset="0"/>
                            </a:rPr>
                          </m:ctrlPr>
                        </m:sSupPr>
                        <m:e>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𝑉</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𝑈</m:t>
                          </m:r>
                          <m:r>
                            <a:rPr lang="en-GB" i="1">
                              <a:solidFill>
                                <a:prstClr val="black"/>
                              </a:solidFill>
                              <a:latin typeface="Cambria Math" panose="02040503050406030204" pitchFamily="18" charset="0"/>
                              <a:ea typeface="Cambria Math" panose="02040503050406030204" pitchFamily="18" charset="0"/>
                            </a:rPr>
                            <m:t>)</m:t>
                          </m:r>
                        </m:e>
                        <m:sup>
                          <m:r>
                            <a:rPr lang="en-GB" i="1">
                              <a:solidFill>
                                <a:prstClr val="black"/>
                              </a:solidFill>
                              <a:latin typeface="Cambria Math" panose="02040503050406030204" pitchFamily="18" charset="0"/>
                              <a:ea typeface="Cambria Math" panose="02040503050406030204" pitchFamily="18" charset="0"/>
                            </a:rPr>
                            <m:t>2</m:t>
                          </m:r>
                        </m:sup>
                      </m:sSup>
                      <m:r>
                        <a:rPr lang="en-GB" i="1">
                          <a:solidFill>
                            <a:prstClr val="black"/>
                          </a:solidFill>
                          <a:latin typeface="Cambria Math" panose="02040503050406030204" pitchFamily="18" charset="0"/>
                        </a:rPr>
                        <m:t>𝑐𝑜𝑠</m:t>
                      </m:r>
                      <m:r>
                        <a:rPr lang="en-GB" i="1">
                          <a:solidFill>
                            <a:prstClr val="black"/>
                          </a:solidFill>
                          <a:latin typeface="Cambria Math" panose="02040503050406030204" pitchFamily="18" charset="0"/>
                        </a:rPr>
                        <m:t>60°</m:t>
                      </m:r>
                    </m:oMath>
                  </m:oMathPara>
                </a14:m>
                <a:endParaRPr lang="en-GH" dirty="0"/>
              </a:p>
            </p:txBody>
          </p:sp>
        </mc:Choice>
        <mc:Fallback xmlns="">
          <p:sp>
            <p:nvSpPr>
              <p:cNvPr id="22" name="TextBox 21">
                <a:extLst>
                  <a:ext uri="{FF2B5EF4-FFF2-40B4-BE49-F238E27FC236}">
                    <a16:creationId xmlns:a16="http://schemas.microsoft.com/office/drawing/2014/main" id="{581999E5-1948-FCD4-F253-609AF04FB52D}"/>
                  </a:ext>
                </a:extLst>
              </p:cNvPr>
              <p:cNvSpPr txBox="1">
                <a:spLocks noRot="1" noChangeAspect="1" noMove="1" noResize="1" noEditPoints="1" noAdjustHandles="1" noChangeArrowheads="1" noChangeShapeType="1" noTextEdit="1"/>
              </p:cNvSpPr>
              <p:nvPr/>
            </p:nvSpPr>
            <p:spPr>
              <a:xfrm>
                <a:off x="3968496" y="521467"/>
                <a:ext cx="5111496" cy="461665"/>
              </a:xfrm>
              <a:prstGeom prst="rect">
                <a:avLst/>
              </a:prstGeom>
              <a:blipFill>
                <a:blip r:embed="rId12"/>
                <a:stretch>
                  <a:fillRect l="-238" b="-20000"/>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0D62923-E7A8-59E6-C630-090086B87F2A}"/>
                  </a:ext>
                </a:extLst>
              </p:cNvPr>
              <p:cNvSpPr txBox="1"/>
              <p:nvPr/>
            </p:nvSpPr>
            <p:spPr>
              <a:xfrm>
                <a:off x="4343875" y="959130"/>
                <a:ext cx="454504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r>
                        <a:rPr lang="en-GB" b="0" i="1" smtClean="0">
                          <a:solidFill>
                            <a:prstClr val="black"/>
                          </a:solidFill>
                          <a:latin typeface="Cambria Math" panose="02040503050406030204" pitchFamily="18" charset="0"/>
                          <a:ea typeface="Cambria Math" panose="02040503050406030204" pitchFamily="18" charset="0"/>
                        </a:rPr>
                        <m:t>𝐴</m:t>
                      </m:r>
                      <m:sSup>
                        <m:sSupPr>
                          <m:ctrlPr>
                            <a:rPr lang="en-GB" b="0" i="1" smtClean="0">
                              <a:solidFill>
                                <a:prstClr val="black"/>
                              </a:solidFill>
                              <a:latin typeface="Cambria Math" panose="02040503050406030204" pitchFamily="18" charset="0"/>
                              <a:ea typeface="Cambria Math" panose="02040503050406030204" pitchFamily="18" charset="0"/>
                            </a:rPr>
                          </m:ctrlPr>
                        </m:sSupPr>
                        <m:e>
                          <m:d>
                            <m:dPr>
                              <m:ctrlPr>
                                <a:rPr lang="en-GB" b="0" i="1" smtClean="0">
                                  <a:solidFill>
                                    <a:prstClr val="black"/>
                                  </a:solidFill>
                                  <a:latin typeface="Cambria Math" panose="02040503050406030204" pitchFamily="18" charset="0"/>
                                  <a:ea typeface="Cambria Math" panose="02040503050406030204" pitchFamily="18" charset="0"/>
                                </a:rPr>
                              </m:ctrlPr>
                            </m:dPr>
                            <m:e>
                              <m:r>
                                <a:rPr lang="en-GB" b="0" i="1" smtClean="0">
                                  <a:solidFill>
                                    <a:prstClr val="black"/>
                                  </a:solidFill>
                                  <a:latin typeface="Cambria Math" panose="02040503050406030204" pitchFamily="18" charset="0"/>
                                  <a:ea typeface="Cambria Math" panose="02040503050406030204" pitchFamily="18" charset="0"/>
                                </a:rPr>
                                <m:t>𝑉</m:t>
                              </m:r>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𝑈</m:t>
                              </m:r>
                            </m:e>
                          </m:d>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ea typeface="Cambria Math" panose="02040503050406030204" pitchFamily="18" charset="0"/>
                        </a:rPr>
                        <m:t>(1</m:t>
                      </m:r>
                      <m:r>
                        <a:rPr lang="en-GB" b="0" i="1" smtClean="0">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𝑐𝑜𝑠</m:t>
                      </m:r>
                      <m:r>
                        <a:rPr lang="en-GB" i="1">
                          <a:solidFill>
                            <a:prstClr val="black"/>
                          </a:solidFill>
                          <a:latin typeface="Cambria Math" panose="02040503050406030204" pitchFamily="18" charset="0"/>
                        </a:rPr>
                        <m:t>60°)</m:t>
                      </m:r>
                    </m:oMath>
                  </m:oMathPara>
                </a14:m>
                <a:endParaRPr lang="en-GH" dirty="0"/>
              </a:p>
            </p:txBody>
          </p:sp>
        </mc:Choice>
        <mc:Fallback xmlns="">
          <p:sp>
            <p:nvSpPr>
              <p:cNvPr id="23" name="TextBox 22">
                <a:extLst>
                  <a:ext uri="{FF2B5EF4-FFF2-40B4-BE49-F238E27FC236}">
                    <a16:creationId xmlns:a16="http://schemas.microsoft.com/office/drawing/2014/main" id="{D0D62923-E7A8-59E6-C630-090086B87F2A}"/>
                  </a:ext>
                </a:extLst>
              </p:cNvPr>
              <p:cNvSpPr txBox="1">
                <a:spLocks noRot="1" noChangeAspect="1" noMove="1" noResize="1" noEditPoints="1" noAdjustHandles="1" noChangeArrowheads="1" noChangeShapeType="1" noTextEdit="1"/>
              </p:cNvSpPr>
              <p:nvPr/>
            </p:nvSpPr>
            <p:spPr>
              <a:xfrm>
                <a:off x="4343875" y="959130"/>
                <a:ext cx="4545042" cy="461665"/>
              </a:xfrm>
              <a:prstGeom prst="rect">
                <a:avLst/>
              </a:prstGeom>
              <a:blipFill>
                <a:blip r:embed="rId13"/>
                <a:stretch>
                  <a:fillRect b="-1842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D6EB87E-3E3A-5305-F1CC-D08744B03F47}"/>
                  </a:ext>
                </a:extLst>
              </p:cNvPr>
              <p:cNvSpPr txBox="1"/>
              <p:nvPr/>
            </p:nvSpPr>
            <p:spPr>
              <a:xfrm>
                <a:off x="4343875" y="1488891"/>
                <a:ext cx="454504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1000×</m:t>
                      </m:r>
                      <m:sSup>
                        <m:sSupPr>
                          <m:ctrlPr>
                            <a:rPr lang="en-GB" b="0" i="1" smtClean="0">
                              <a:solidFill>
                                <a:prstClr val="black"/>
                              </a:solidFill>
                              <a:latin typeface="Cambria Math" panose="02040503050406030204" pitchFamily="18" charset="0"/>
                              <a:ea typeface="Cambria Math" panose="02040503050406030204" pitchFamily="18" charset="0"/>
                            </a:rPr>
                          </m:ctrlPr>
                        </m:sSupPr>
                        <m:e>
                          <m:d>
                            <m:dPr>
                              <m:ctrlPr>
                                <a:rPr lang="en-GB" b="0" i="1" smtClean="0">
                                  <a:solidFill>
                                    <a:prstClr val="black"/>
                                  </a:solidFill>
                                  <a:latin typeface="Cambria Math" panose="02040503050406030204" pitchFamily="18" charset="0"/>
                                  <a:ea typeface="Cambria Math" panose="02040503050406030204" pitchFamily="18" charset="0"/>
                                </a:rPr>
                              </m:ctrlPr>
                            </m:dPr>
                            <m:e>
                              <m:r>
                                <a:rPr lang="en-GB" b="0" i="1" smtClean="0">
                                  <a:solidFill>
                                    <a:prstClr val="black"/>
                                  </a:solidFill>
                                  <a:latin typeface="Cambria Math" panose="02040503050406030204" pitchFamily="18" charset="0"/>
                                  <a:ea typeface="Cambria Math" panose="02040503050406030204" pitchFamily="18" charset="0"/>
                                </a:rPr>
                                <m:t>30−10</m:t>
                              </m:r>
                            </m:e>
                          </m:d>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ea typeface="Cambria Math" panose="02040503050406030204" pitchFamily="18" charset="0"/>
                        </a:rPr>
                        <m:t>×(1</m:t>
                      </m:r>
                      <m:r>
                        <a:rPr lang="en-GB" b="0" i="1" smtClean="0">
                          <a:solidFill>
                            <a:prstClr val="black"/>
                          </a:solidFill>
                          <a:latin typeface="Cambria Math" panose="02040503050406030204" pitchFamily="18" charset="0"/>
                        </a:rPr>
                        <m:t>−0.5)</m:t>
                      </m:r>
                    </m:oMath>
                  </m:oMathPara>
                </a14:m>
                <a:endParaRPr lang="en-GH" dirty="0"/>
              </a:p>
            </p:txBody>
          </p:sp>
        </mc:Choice>
        <mc:Fallback xmlns="">
          <p:sp>
            <p:nvSpPr>
              <p:cNvPr id="24" name="TextBox 23">
                <a:extLst>
                  <a:ext uri="{FF2B5EF4-FFF2-40B4-BE49-F238E27FC236}">
                    <a16:creationId xmlns:a16="http://schemas.microsoft.com/office/drawing/2014/main" id="{1D6EB87E-3E3A-5305-F1CC-D08744B03F47}"/>
                  </a:ext>
                </a:extLst>
              </p:cNvPr>
              <p:cNvSpPr txBox="1">
                <a:spLocks noRot="1" noChangeAspect="1" noMove="1" noResize="1" noEditPoints="1" noAdjustHandles="1" noChangeArrowheads="1" noChangeShapeType="1" noTextEdit="1"/>
              </p:cNvSpPr>
              <p:nvPr/>
            </p:nvSpPr>
            <p:spPr>
              <a:xfrm>
                <a:off x="4343875" y="1488891"/>
                <a:ext cx="4545042" cy="461665"/>
              </a:xfrm>
              <a:prstGeom prst="rect">
                <a:avLst/>
              </a:prstGeom>
              <a:blipFill>
                <a:blip r:embed="rId14"/>
                <a:stretch>
                  <a:fillRect b="-1842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73C57A8-E28B-0B74-2C7C-3B3B661C29FF}"/>
                  </a:ext>
                </a:extLst>
              </p:cNvPr>
              <p:cNvSpPr txBox="1"/>
              <p:nvPr/>
            </p:nvSpPr>
            <p:spPr>
              <a:xfrm>
                <a:off x="4353493" y="1923551"/>
                <a:ext cx="2029019"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600 </m:t>
                      </m:r>
                      <m:r>
                        <m:rPr>
                          <m:sty m:val="p"/>
                        </m:rPr>
                        <a:rPr lang="en-GB" b="0" i="0" smtClean="0">
                          <a:solidFill>
                            <a:prstClr val="black"/>
                          </a:solidFill>
                          <a:latin typeface="Cambria Math" panose="02040503050406030204" pitchFamily="18" charset="0"/>
                          <a:ea typeface="Cambria Math" panose="02040503050406030204" pitchFamily="18" charset="0"/>
                        </a:rPr>
                        <m:t>N</m:t>
                      </m:r>
                    </m:oMath>
                  </m:oMathPara>
                </a14:m>
                <a:endParaRPr lang="en-GH" dirty="0"/>
              </a:p>
            </p:txBody>
          </p:sp>
        </mc:Choice>
        <mc:Fallback xmlns="">
          <p:sp>
            <p:nvSpPr>
              <p:cNvPr id="25" name="TextBox 24">
                <a:extLst>
                  <a:ext uri="{FF2B5EF4-FFF2-40B4-BE49-F238E27FC236}">
                    <a16:creationId xmlns:a16="http://schemas.microsoft.com/office/drawing/2014/main" id="{C73C57A8-E28B-0B74-2C7C-3B3B661C29FF}"/>
                  </a:ext>
                </a:extLst>
              </p:cNvPr>
              <p:cNvSpPr txBox="1">
                <a:spLocks noRot="1" noChangeAspect="1" noMove="1" noResize="1" noEditPoints="1" noAdjustHandles="1" noChangeArrowheads="1" noChangeShapeType="1" noTextEdit="1"/>
              </p:cNvSpPr>
              <p:nvPr/>
            </p:nvSpPr>
            <p:spPr>
              <a:xfrm>
                <a:off x="4353493" y="1923551"/>
                <a:ext cx="2029019" cy="461665"/>
              </a:xfrm>
              <a:prstGeom prst="rect">
                <a:avLst/>
              </a:prstGeom>
              <a:blipFill>
                <a:blip r:embed="rId15"/>
                <a:stretch>
                  <a:fillRect/>
                </a:stretch>
              </a:blipFill>
            </p:spPr>
            <p:txBody>
              <a:bodyPr/>
              <a:lstStyle/>
              <a:p>
                <a:r>
                  <a:rPr lang="en-GH">
                    <a:noFill/>
                  </a:rPr>
                  <a:t> </a:t>
                </a:r>
              </a:p>
            </p:txBody>
          </p:sp>
        </mc:Fallback>
      </mc:AlternateContent>
      <p:sp>
        <p:nvSpPr>
          <p:cNvPr id="26" name="TextBox 25">
            <a:extLst>
              <a:ext uri="{FF2B5EF4-FFF2-40B4-BE49-F238E27FC236}">
                <a16:creationId xmlns:a16="http://schemas.microsoft.com/office/drawing/2014/main" id="{F5A9132C-C940-C120-4B6D-76E4C22E104D}"/>
              </a:ext>
            </a:extLst>
          </p:cNvPr>
          <p:cNvSpPr txBox="1"/>
          <p:nvPr/>
        </p:nvSpPr>
        <p:spPr>
          <a:xfrm>
            <a:off x="3959352" y="2458266"/>
            <a:ext cx="1348740" cy="461665"/>
          </a:xfrm>
          <a:prstGeom prst="rect">
            <a:avLst/>
          </a:prstGeom>
          <a:noFill/>
        </p:spPr>
        <p:txBody>
          <a:bodyPr wrap="square">
            <a:spAutoFit/>
          </a:bodyPr>
          <a:lstStyle/>
          <a:p>
            <a:r>
              <a:rPr lang="en-CA" dirty="0">
                <a:solidFill>
                  <a:schemeClr val="tx1"/>
                </a:solidFill>
                <a:latin typeface="+mn-lt"/>
              </a:rPr>
              <a:t>Similarly, </a:t>
            </a:r>
            <a:endParaRPr lang="en-GH"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FBA5E93-D7E0-8E2B-0803-CB574B88B922}"/>
                  </a:ext>
                </a:extLst>
              </p:cNvPr>
              <p:cNvSpPr txBox="1"/>
              <p:nvPr/>
            </p:nvSpPr>
            <p:spPr>
              <a:xfrm>
                <a:off x="4617483" y="2867828"/>
                <a:ext cx="3868386"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𝑀𝑔</m:t>
                      </m:r>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xmlns="">
          <p:sp>
            <p:nvSpPr>
              <p:cNvPr id="27" name="TextBox 26">
                <a:extLst>
                  <a:ext uri="{FF2B5EF4-FFF2-40B4-BE49-F238E27FC236}">
                    <a16:creationId xmlns:a16="http://schemas.microsoft.com/office/drawing/2014/main" id="{FFBA5E93-D7E0-8E2B-0803-CB574B88B922}"/>
                  </a:ext>
                </a:extLst>
              </p:cNvPr>
              <p:cNvSpPr txBox="1">
                <a:spLocks noRot="1" noChangeAspect="1" noMove="1" noResize="1" noEditPoints="1" noAdjustHandles="1" noChangeArrowheads="1" noChangeShapeType="1" noTextEdit="1"/>
              </p:cNvSpPr>
              <p:nvPr/>
            </p:nvSpPr>
            <p:spPr>
              <a:xfrm>
                <a:off x="4617483" y="2867828"/>
                <a:ext cx="3868386" cy="490840"/>
              </a:xfrm>
              <a:prstGeom prst="rect">
                <a:avLst/>
              </a:prstGeom>
              <a:blipFill>
                <a:blip r:embed="rId16"/>
                <a:stretch>
                  <a:fillRect b="-1111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33BF96D-F636-44E7-9AB3-1F2D238E55F1}"/>
                  </a:ext>
                </a:extLst>
              </p:cNvPr>
              <p:cNvSpPr txBox="1"/>
              <p:nvPr/>
            </p:nvSpPr>
            <p:spPr>
              <a:xfrm>
                <a:off x="4338116" y="3447230"/>
                <a:ext cx="3868386"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𝑀𝑔</m:t>
                      </m:r>
                    </m:oMath>
                  </m:oMathPara>
                </a14:m>
                <a:endParaRPr lang="en-GH" dirty="0"/>
              </a:p>
            </p:txBody>
          </p:sp>
        </mc:Choice>
        <mc:Fallback xmlns="">
          <p:sp>
            <p:nvSpPr>
              <p:cNvPr id="28" name="TextBox 27">
                <a:extLst>
                  <a:ext uri="{FF2B5EF4-FFF2-40B4-BE49-F238E27FC236}">
                    <a16:creationId xmlns:a16="http://schemas.microsoft.com/office/drawing/2014/main" id="{F33BF96D-F636-44E7-9AB3-1F2D238E55F1}"/>
                  </a:ext>
                </a:extLst>
              </p:cNvPr>
              <p:cNvSpPr txBox="1">
                <a:spLocks noRot="1" noChangeAspect="1" noMove="1" noResize="1" noEditPoints="1" noAdjustHandles="1" noChangeArrowheads="1" noChangeShapeType="1" noTextEdit="1"/>
              </p:cNvSpPr>
              <p:nvPr/>
            </p:nvSpPr>
            <p:spPr>
              <a:xfrm>
                <a:off x="4338116" y="3447230"/>
                <a:ext cx="3868386" cy="490840"/>
              </a:xfrm>
              <a:prstGeom prst="rect">
                <a:avLst/>
              </a:prstGeom>
              <a:blipFill>
                <a:blip r:embed="rId17"/>
                <a:stretch>
                  <a:fillRect l="-473" b="-11111"/>
                </a:stretch>
              </a:blipFill>
            </p:spPr>
            <p:txBody>
              <a:bodyPr/>
              <a:lstStyle/>
              <a:p>
                <a:r>
                  <a:rPr lang="en-GH">
                    <a:noFill/>
                  </a:rPr>
                  <a:t> </a:t>
                </a:r>
              </a:p>
            </p:txBody>
          </p:sp>
        </mc:Fallback>
      </mc:AlternateContent>
      <p:sp>
        <p:nvSpPr>
          <p:cNvPr id="29" name="TextBox 28">
            <a:extLst>
              <a:ext uri="{FF2B5EF4-FFF2-40B4-BE49-F238E27FC236}">
                <a16:creationId xmlns:a16="http://schemas.microsoft.com/office/drawing/2014/main" id="{F5AB0EA4-9B3D-E460-8DD4-77F5670625FD}"/>
              </a:ext>
            </a:extLst>
          </p:cNvPr>
          <p:cNvSpPr txBox="1"/>
          <p:nvPr/>
        </p:nvSpPr>
        <p:spPr>
          <a:xfrm>
            <a:off x="3993828" y="3972423"/>
            <a:ext cx="4895089" cy="830997"/>
          </a:xfrm>
          <a:prstGeom prst="rect">
            <a:avLst/>
          </a:prstGeom>
          <a:noFill/>
        </p:spPr>
        <p:txBody>
          <a:bodyPr wrap="square">
            <a:spAutoFit/>
          </a:bodyPr>
          <a:lstStyle/>
          <a:p>
            <a:r>
              <a:rPr lang="en-CA" dirty="0">
                <a:solidFill>
                  <a:schemeClr val="tx1"/>
                </a:solidFill>
                <a:latin typeface="+mn-lt"/>
              </a:rPr>
              <a:t>Neglecting the weight of the CV, we have </a:t>
            </a:r>
            <a:endParaRPr lang="en-GH"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C24D990-B1D4-B924-15F3-E4EC7972E3AA}"/>
                  </a:ext>
                </a:extLst>
              </p:cNvPr>
              <p:cNvSpPr txBox="1"/>
              <p:nvPr/>
            </p:nvSpPr>
            <p:spPr>
              <a:xfrm>
                <a:off x="3993828" y="4773722"/>
                <a:ext cx="420624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Sub>
                    </m:oMath>
                  </m:oMathPara>
                </a14:m>
                <a:endParaRPr lang="en-GH" dirty="0"/>
              </a:p>
            </p:txBody>
          </p:sp>
        </mc:Choice>
        <mc:Fallback xmlns="">
          <p:sp>
            <p:nvSpPr>
              <p:cNvPr id="30" name="TextBox 29">
                <a:extLst>
                  <a:ext uri="{FF2B5EF4-FFF2-40B4-BE49-F238E27FC236}">
                    <a16:creationId xmlns:a16="http://schemas.microsoft.com/office/drawing/2014/main" id="{0C24D990-B1D4-B924-15F3-E4EC7972E3AA}"/>
                  </a:ext>
                </a:extLst>
              </p:cNvPr>
              <p:cNvSpPr txBox="1">
                <a:spLocks noRot="1" noChangeAspect="1" noMove="1" noResize="1" noEditPoints="1" noAdjustHandles="1" noChangeArrowheads="1" noChangeShapeType="1" noTextEdit="1"/>
              </p:cNvSpPr>
              <p:nvPr/>
            </p:nvSpPr>
            <p:spPr>
              <a:xfrm>
                <a:off x="3993828" y="4773722"/>
                <a:ext cx="4206240" cy="490840"/>
              </a:xfrm>
              <a:prstGeom prst="rect">
                <a:avLst/>
              </a:prstGeom>
              <a:blipFill>
                <a:blip r:embed="rId18"/>
                <a:stretch>
                  <a:fillRect l="-290" b="-617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484747C-2730-D323-BE17-D22CEF83C409}"/>
                  </a:ext>
                </a:extLst>
              </p:cNvPr>
              <p:cNvSpPr txBox="1"/>
              <p:nvPr/>
            </p:nvSpPr>
            <p:spPr>
              <a:xfrm>
                <a:off x="137160" y="3099233"/>
                <a:ext cx="222199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oMath>
                  </m:oMathPara>
                </a14:m>
                <a:endParaRPr lang="en-GH" dirty="0"/>
              </a:p>
            </p:txBody>
          </p:sp>
        </mc:Choice>
        <mc:Fallback xmlns="">
          <p:sp>
            <p:nvSpPr>
              <p:cNvPr id="31" name="TextBox 30">
                <a:extLst>
                  <a:ext uri="{FF2B5EF4-FFF2-40B4-BE49-F238E27FC236}">
                    <a16:creationId xmlns:a16="http://schemas.microsoft.com/office/drawing/2014/main" id="{6484747C-2730-D323-BE17-D22CEF83C409}"/>
                  </a:ext>
                </a:extLst>
              </p:cNvPr>
              <p:cNvSpPr txBox="1">
                <a:spLocks noRot="1" noChangeAspect="1" noMove="1" noResize="1" noEditPoints="1" noAdjustHandles="1" noChangeArrowheads="1" noChangeShapeType="1" noTextEdit="1"/>
              </p:cNvSpPr>
              <p:nvPr/>
            </p:nvSpPr>
            <p:spPr>
              <a:xfrm>
                <a:off x="137160" y="3099233"/>
                <a:ext cx="2221992" cy="461665"/>
              </a:xfrm>
              <a:prstGeom prst="rect">
                <a:avLst/>
              </a:prstGeom>
              <a:blipFill>
                <a:blip r:embed="rId19"/>
                <a:stretch>
                  <a:fillRect b="-263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159CC1B-86E3-720E-48F5-9E62563B22CB}"/>
                  </a:ext>
                </a:extLst>
              </p:cNvPr>
              <p:cNvSpPr txBox="1"/>
              <p:nvPr/>
            </p:nvSpPr>
            <p:spPr>
              <a:xfrm>
                <a:off x="5102438" y="5329127"/>
                <a:ext cx="299923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d>
                        <m:dPr>
                          <m:ctrlPr>
                            <a:rPr lang="en-GB" b="0" i="1" smtClean="0">
                              <a:solidFill>
                                <a:prstClr val="black"/>
                              </a:solidFill>
                              <a:latin typeface="Cambria Math" panose="02040503050406030204" pitchFamily="18" charset="0"/>
                            </a:rPr>
                          </m:ctrlPr>
                        </m:dPr>
                        <m:e>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e>
                      </m:d>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60°</m:t>
                      </m:r>
                    </m:oMath>
                  </m:oMathPara>
                </a14:m>
                <a:endParaRPr lang="en-GH" dirty="0"/>
              </a:p>
            </p:txBody>
          </p:sp>
        </mc:Choice>
        <mc:Fallback xmlns="">
          <p:sp>
            <p:nvSpPr>
              <p:cNvPr id="32" name="TextBox 31">
                <a:extLst>
                  <a:ext uri="{FF2B5EF4-FFF2-40B4-BE49-F238E27FC236}">
                    <a16:creationId xmlns:a16="http://schemas.microsoft.com/office/drawing/2014/main" id="{A159CC1B-86E3-720E-48F5-9E62563B22CB}"/>
                  </a:ext>
                </a:extLst>
              </p:cNvPr>
              <p:cNvSpPr txBox="1">
                <a:spLocks noRot="1" noChangeAspect="1" noMove="1" noResize="1" noEditPoints="1" noAdjustHandles="1" noChangeArrowheads="1" noChangeShapeType="1" noTextEdit="1"/>
              </p:cNvSpPr>
              <p:nvPr/>
            </p:nvSpPr>
            <p:spPr>
              <a:xfrm>
                <a:off x="5102438" y="5329127"/>
                <a:ext cx="2999232" cy="461665"/>
              </a:xfrm>
              <a:prstGeom prst="rect">
                <a:avLst/>
              </a:prstGeom>
              <a:blipFill>
                <a:blip r:embed="rId20"/>
                <a:stretch>
                  <a:fillRect b="-2632"/>
                </a:stretch>
              </a:blipFill>
            </p:spPr>
            <p:txBody>
              <a:bodyPr/>
              <a:lstStyle/>
              <a:p>
                <a:r>
                  <a:rPr lang="en-GH">
                    <a:noFill/>
                  </a:rPr>
                  <a:t> </a:t>
                </a:r>
              </a:p>
            </p:txBody>
          </p:sp>
        </mc:Fallback>
      </mc:AlternateContent>
    </p:spTree>
    <p:extLst>
      <p:ext uri="{BB962C8B-B14F-4D97-AF65-F5344CB8AC3E}">
        <p14:creationId xmlns:p14="http://schemas.microsoft.com/office/powerpoint/2010/main" val="2223801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F5DD066-5BF5-CF9F-BCED-102BA19849BE}"/>
                  </a:ext>
                </a:extLst>
              </p:cNvPr>
              <p:cNvSpPr txBox="1"/>
              <p:nvPr/>
            </p:nvSpPr>
            <p:spPr>
              <a:xfrm>
                <a:off x="45720" y="1003795"/>
                <a:ext cx="1339545" cy="461665"/>
              </a:xfrm>
              <a:prstGeom prst="rect">
                <a:avLst/>
              </a:prstGeom>
              <a:noFill/>
            </p:spPr>
            <p:txBody>
              <a:bodyPr wrap="square">
                <a:spAutoFit/>
              </a:bodyPr>
              <a:lstStyle/>
              <a:p>
                <a:pPr marL="0" indent="0">
                  <a:buNone/>
                </a:pPr>
                <a14:m>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0</m:t>
                    </m:r>
                  </m:oMath>
                </a14:m>
                <a:r>
                  <a:rPr lang="en-GB" dirty="0"/>
                  <a:t>,</a:t>
                </a:r>
                <a:endParaRPr lang="en-GH" dirty="0"/>
              </a:p>
            </p:txBody>
          </p:sp>
        </mc:Choice>
        <mc:Fallback xmlns="">
          <p:sp>
            <p:nvSpPr>
              <p:cNvPr id="12" name="TextBox 11">
                <a:extLst>
                  <a:ext uri="{FF2B5EF4-FFF2-40B4-BE49-F238E27FC236}">
                    <a16:creationId xmlns:a16="http://schemas.microsoft.com/office/drawing/2014/main" id="{9F5DD066-5BF5-CF9F-BCED-102BA19849BE}"/>
                  </a:ext>
                </a:extLst>
              </p:cNvPr>
              <p:cNvSpPr txBox="1">
                <a:spLocks noRot="1" noChangeAspect="1" noMove="1" noResize="1" noEditPoints="1" noAdjustHandles="1" noChangeArrowheads="1" noChangeShapeType="1" noTextEdit="1"/>
              </p:cNvSpPr>
              <p:nvPr/>
            </p:nvSpPr>
            <p:spPr>
              <a:xfrm>
                <a:off x="45720" y="1003795"/>
                <a:ext cx="1339545" cy="461665"/>
              </a:xfrm>
              <a:prstGeom prst="rect">
                <a:avLst/>
              </a:prstGeom>
              <a:blipFill>
                <a:blip r:embed="rId3"/>
                <a:stretch>
                  <a:fillRect t="-10667" b="-30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C24D990-B1D4-B924-15F3-E4EC7972E3AA}"/>
                  </a:ext>
                </a:extLst>
              </p:cNvPr>
              <p:cNvSpPr txBox="1"/>
              <p:nvPr/>
            </p:nvSpPr>
            <p:spPr>
              <a:xfrm>
                <a:off x="18288" y="429370"/>
                <a:ext cx="420624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Sub>
                    </m:oMath>
                  </m:oMathPara>
                </a14:m>
                <a:endParaRPr lang="en-GH" dirty="0"/>
              </a:p>
            </p:txBody>
          </p:sp>
        </mc:Choice>
        <mc:Fallback xmlns="">
          <p:sp>
            <p:nvSpPr>
              <p:cNvPr id="30" name="TextBox 29">
                <a:extLst>
                  <a:ext uri="{FF2B5EF4-FFF2-40B4-BE49-F238E27FC236}">
                    <a16:creationId xmlns:a16="http://schemas.microsoft.com/office/drawing/2014/main" id="{0C24D990-B1D4-B924-15F3-E4EC7972E3AA}"/>
                  </a:ext>
                </a:extLst>
              </p:cNvPr>
              <p:cNvSpPr txBox="1">
                <a:spLocks noRot="1" noChangeAspect="1" noMove="1" noResize="1" noEditPoints="1" noAdjustHandles="1" noChangeArrowheads="1" noChangeShapeType="1" noTextEdit="1"/>
              </p:cNvSpPr>
              <p:nvPr/>
            </p:nvSpPr>
            <p:spPr>
              <a:xfrm>
                <a:off x="18288" y="429370"/>
                <a:ext cx="4206240" cy="490840"/>
              </a:xfrm>
              <a:prstGeom prst="rect">
                <a:avLst/>
              </a:prstGeom>
              <a:blipFill>
                <a:blip r:embed="rId4"/>
                <a:stretch>
                  <a:fillRect l="-290" b="-617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159CC1B-86E3-720E-48F5-9E62563B22CB}"/>
                  </a:ext>
                </a:extLst>
              </p:cNvPr>
              <p:cNvSpPr txBox="1"/>
              <p:nvPr/>
            </p:nvSpPr>
            <p:spPr>
              <a:xfrm>
                <a:off x="1126898" y="984775"/>
                <a:ext cx="299923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d>
                        <m:dPr>
                          <m:ctrlPr>
                            <a:rPr lang="en-GB" b="0" i="1" smtClean="0">
                              <a:solidFill>
                                <a:prstClr val="black"/>
                              </a:solidFill>
                              <a:latin typeface="Cambria Math" panose="02040503050406030204" pitchFamily="18" charset="0"/>
                            </a:rPr>
                          </m:ctrlPr>
                        </m:dPr>
                        <m:e>
                          <m:r>
                            <a:rPr lang="en-GB" b="0" i="1" smtClean="0">
                              <a:solidFill>
                                <a:prstClr val="black"/>
                              </a:solidFill>
                              <a:latin typeface="Cambria Math" panose="02040503050406030204" pitchFamily="18" charset="0"/>
                            </a:rPr>
                            <m:t>𝑉</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𝑈</m:t>
                          </m:r>
                        </m:e>
                      </m:d>
                      <m:r>
                        <a:rPr lang="en-GB" b="0" i="1" smtClean="0">
                          <a:solidFill>
                            <a:prstClr val="black"/>
                          </a:solidFill>
                          <a:latin typeface="Cambria Math" panose="02040503050406030204" pitchFamily="18" charset="0"/>
                        </a:rPr>
                        <m:t>𝑠𝑖𝑛</m:t>
                      </m:r>
                      <m:r>
                        <a:rPr lang="en-GB" b="0" i="1" smtClean="0">
                          <a:solidFill>
                            <a:prstClr val="black"/>
                          </a:solidFill>
                          <a:latin typeface="Cambria Math" panose="02040503050406030204" pitchFamily="18" charset="0"/>
                        </a:rPr>
                        <m:t>60°</m:t>
                      </m:r>
                    </m:oMath>
                  </m:oMathPara>
                </a14:m>
                <a:endParaRPr lang="en-GH" dirty="0"/>
              </a:p>
            </p:txBody>
          </p:sp>
        </mc:Choice>
        <mc:Fallback xmlns="">
          <p:sp>
            <p:nvSpPr>
              <p:cNvPr id="32" name="TextBox 31">
                <a:extLst>
                  <a:ext uri="{FF2B5EF4-FFF2-40B4-BE49-F238E27FC236}">
                    <a16:creationId xmlns:a16="http://schemas.microsoft.com/office/drawing/2014/main" id="{A159CC1B-86E3-720E-48F5-9E62563B22CB}"/>
                  </a:ext>
                </a:extLst>
              </p:cNvPr>
              <p:cNvSpPr txBox="1">
                <a:spLocks noRot="1" noChangeAspect="1" noMove="1" noResize="1" noEditPoints="1" noAdjustHandles="1" noChangeArrowheads="1" noChangeShapeType="1" noTextEdit="1"/>
              </p:cNvSpPr>
              <p:nvPr/>
            </p:nvSpPr>
            <p:spPr>
              <a:xfrm>
                <a:off x="1126898" y="984775"/>
                <a:ext cx="2999232" cy="461665"/>
              </a:xfrm>
              <a:prstGeom prst="rect">
                <a:avLst/>
              </a:prstGeom>
              <a:blipFill>
                <a:blip r:embed="rId5"/>
                <a:stretch>
                  <a:fillRect b="-2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34997A-B315-28DA-C7F9-DA739751A269}"/>
                  </a:ext>
                </a:extLst>
              </p:cNvPr>
              <p:cNvSpPr txBox="1"/>
              <p:nvPr/>
            </p:nvSpPr>
            <p:spPr>
              <a:xfrm>
                <a:off x="45720" y="1549045"/>
                <a:ext cx="3611880" cy="498278"/>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ea typeface="Cambria Math" panose="02040503050406030204" pitchFamily="18" charset="0"/>
                        </a:rPr>
                        <m:t>𝐴</m:t>
                      </m:r>
                      <m:sSup>
                        <m:sSupPr>
                          <m:ctrlPr>
                            <a:rPr lang="en-GB" i="1">
                              <a:solidFill>
                                <a:prstClr val="black"/>
                              </a:solidFill>
                              <a:latin typeface="Cambria Math" panose="02040503050406030204" pitchFamily="18" charset="0"/>
                              <a:ea typeface="Cambria Math" panose="02040503050406030204" pitchFamily="18" charset="0"/>
                            </a:rPr>
                          </m:ctrlPr>
                        </m:sSupPr>
                        <m:e>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𝑉</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𝑈</m:t>
                          </m:r>
                          <m:r>
                            <a:rPr lang="en-GB" i="1">
                              <a:solidFill>
                                <a:prstClr val="black"/>
                              </a:solidFill>
                              <a:latin typeface="Cambria Math" panose="02040503050406030204" pitchFamily="18" charset="0"/>
                              <a:ea typeface="Cambria Math" panose="02040503050406030204" pitchFamily="18" charset="0"/>
                            </a:rPr>
                            <m:t>)</m:t>
                          </m:r>
                        </m:e>
                        <m:sup>
                          <m:r>
                            <a:rPr lang="en-GB" i="1">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rPr>
                        <m:t>𝑠𝑖𝑛</m:t>
                      </m:r>
                      <m:r>
                        <a:rPr lang="en-GB" i="1">
                          <a:solidFill>
                            <a:prstClr val="black"/>
                          </a:solidFill>
                          <a:latin typeface="Cambria Math" panose="02040503050406030204" pitchFamily="18" charset="0"/>
                        </a:rPr>
                        <m:t>60°</m:t>
                      </m:r>
                    </m:oMath>
                  </m:oMathPara>
                </a14:m>
                <a:endParaRPr lang="en-GH" dirty="0"/>
              </a:p>
            </p:txBody>
          </p:sp>
        </mc:Choice>
        <mc:Fallback xmlns="">
          <p:sp>
            <p:nvSpPr>
              <p:cNvPr id="3" name="TextBox 2">
                <a:extLst>
                  <a:ext uri="{FF2B5EF4-FFF2-40B4-BE49-F238E27FC236}">
                    <a16:creationId xmlns:a16="http://schemas.microsoft.com/office/drawing/2014/main" id="{C534997A-B315-28DA-C7F9-DA739751A269}"/>
                  </a:ext>
                </a:extLst>
              </p:cNvPr>
              <p:cNvSpPr txBox="1">
                <a:spLocks noRot="1" noChangeAspect="1" noMove="1" noResize="1" noEditPoints="1" noAdjustHandles="1" noChangeArrowheads="1" noChangeShapeType="1" noTextEdit="1"/>
              </p:cNvSpPr>
              <p:nvPr/>
            </p:nvSpPr>
            <p:spPr>
              <a:xfrm>
                <a:off x="45720" y="1549045"/>
                <a:ext cx="3611880" cy="498278"/>
              </a:xfrm>
              <a:prstGeom prst="rect">
                <a:avLst/>
              </a:prstGeom>
              <a:blipFill>
                <a:blip r:embed="rId6"/>
                <a:stretch>
                  <a:fillRect l="-507" b="-1097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EEFA84B-2FFD-E934-7F74-E34C5A6CEB44}"/>
                  </a:ext>
                </a:extLst>
              </p:cNvPr>
              <p:cNvSpPr txBox="1"/>
              <p:nvPr/>
            </p:nvSpPr>
            <p:spPr>
              <a:xfrm>
                <a:off x="430243" y="2043684"/>
                <a:ext cx="454504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1000×</m:t>
                      </m:r>
                      <m:sSup>
                        <m:sSupPr>
                          <m:ctrlPr>
                            <a:rPr lang="en-GB" b="0" i="1" smtClean="0">
                              <a:solidFill>
                                <a:prstClr val="black"/>
                              </a:solidFill>
                              <a:latin typeface="Cambria Math" panose="02040503050406030204" pitchFamily="18" charset="0"/>
                              <a:ea typeface="Cambria Math" panose="02040503050406030204" pitchFamily="18" charset="0"/>
                            </a:rPr>
                          </m:ctrlPr>
                        </m:sSupPr>
                        <m:e>
                          <m:d>
                            <m:dPr>
                              <m:ctrlPr>
                                <a:rPr lang="en-GB" b="0" i="1" smtClean="0">
                                  <a:solidFill>
                                    <a:prstClr val="black"/>
                                  </a:solidFill>
                                  <a:latin typeface="Cambria Math" panose="02040503050406030204" pitchFamily="18" charset="0"/>
                                  <a:ea typeface="Cambria Math" panose="02040503050406030204" pitchFamily="18" charset="0"/>
                                </a:rPr>
                              </m:ctrlPr>
                            </m:dPr>
                            <m:e>
                              <m:r>
                                <a:rPr lang="en-GB" b="0" i="1" smtClean="0">
                                  <a:solidFill>
                                    <a:prstClr val="black"/>
                                  </a:solidFill>
                                  <a:latin typeface="Cambria Math" panose="02040503050406030204" pitchFamily="18" charset="0"/>
                                  <a:ea typeface="Cambria Math" panose="02040503050406030204" pitchFamily="18" charset="0"/>
                                </a:rPr>
                                <m:t>30−10</m:t>
                              </m:r>
                            </m:e>
                          </m:d>
                        </m:e>
                        <m:sup>
                          <m:r>
                            <a:rPr lang="en-GB" b="0" i="1" smtClean="0">
                              <a:solidFill>
                                <a:prstClr val="black"/>
                              </a:solidFill>
                              <a:latin typeface="Cambria Math" panose="02040503050406030204" pitchFamily="18" charset="0"/>
                              <a:ea typeface="Cambria Math" panose="02040503050406030204" pitchFamily="18" charset="0"/>
                            </a:rPr>
                            <m:t>2</m:t>
                          </m:r>
                        </m:sup>
                      </m:sSup>
                      <m:r>
                        <a:rPr lang="en-GB" b="0" i="1" smtClean="0">
                          <a:solidFill>
                            <a:prstClr val="black"/>
                          </a:solidFill>
                          <a:latin typeface="Cambria Math" panose="02040503050406030204" pitchFamily="18" charset="0"/>
                          <a:ea typeface="Cambria Math" panose="02040503050406030204" pitchFamily="18" charset="0"/>
                        </a:rPr>
                        <m:t>×0.866</m:t>
                      </m:r>
                    </m:oMath>
                  </m:oMathPara>
                </a14:m>
                <a:endParaRPr lang="en-GH" dirty="0"/>
              </a:p>
            </p:txBody>
          </p:sp>
        </mc:Choice>
        <mc:Fallback xmlns="">
          <p:sp>
            <p:nvSpPr>
              <p:cNvPr id="4" name="TextBox 3">
                <a:extLst>
                  <a:ext uri="{FF2B5EF4-FFF2-40B4-BE49-F238E27FC236}">
                    <a16:creationId xmlns:a16="http://schemas.microsoft.com/office/drawing/2014/main" id="{DEEFA84B-2FFD-E934-7F74-E34C5A6CEB44}"/>
                  </a:ext>
                </a:extLst>
              </p:cNvPr>
              <p:cNvSpPr txBox="1">
                <a:spLocks noRot="1" noChangeAspect="1" noMove="1" noResize="1" noEditPoints="1" noAdjustHandles="1" noChangeArrowheads="1" noChangeShapeType="1" noTextEdit="1"/>
              </p:cNvSpPr>
              <p:nvPr/>
            </p:nvSpPr>
            <p:spPr>
              <a:xfrm>
                <a:off x="430243" y="2043684"/>
                <a:ext cx="4545042" cy="461665"/>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043088-2865-BF63-8B64-9C284CD7E1B8}"/>
                  </a:ext>
                </a:extLst>
              </p:cNvPr>
              <p:cNvSpPr txBox="1"/>
              <p:nvPr/>
            </p:nvSpPr>
            <p:spPr>
              <a:xfrm>
                <a:off x="441573" y="2541962"/>
                <a:ext cx="4545042" cy="461665"/>
              </a:xfrm>
              <a:prstGeom prst="rect">
                <a:avLst/>
              </a:prstGeom>
              <a:noFill/>
            </p:spPr>
            <p:txBody>
              <a:bodyPr wrap="square">
                <a:spAutoFit/>
              </a:bodyPr>
              <a:lstStyle/>
              <a:p>
                <a:pPr marL="0" indent="0">
                  <a:buNone/>
                </a:pPr>
                <a14:m>
                  <m:oMath xmlns:m="http://schemas.openxmlformats.org/officeDocument/2006/math">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1039</m:t>
                    </m:r>
                  </m:oMath>
                </a14:m>
                <a:r>
                  <a:rPr lang="en-GB" dirty="0"/>
                  <a:t> N</a:t>
                </a:r>
                <a:endParaRPr lang="en-GH" dirty="0"/>
              </a:p>
            </p:txBody>
          </p:sp>
        </mc:Choice>
        <mc:Fallback xmlns="">
          <p:sp>
            <p:nvSpPr>
              <p:cNvPr id="7" name="TextBox 6">
                <a:extLst>
                  <a:ext uri="{FF2B5EF4-FFF2-40B4-BE49-F238E27FC236}">
                    <a16:creationId xmlns:a16="http://schemas.microsoft.com/office/drawing/2014/main" id="{38043088-2865-BF63-8B64-9C284CD7E1B8}"/>
                  </a:ext>
                </a:extLst>
              </p:cNvPr>
              <p:cNvSpPr txBox="1">
                <a:spLocks noRot="1" noChangeAspect="1" noMove="1" noResize="1" noEditPoints="1" noAdjustHandles="1" noChangeArrowheads="1" noChangeShapeType="1" noTextEdit="1"/>
              </p:cNvSpPr>
              <p:nvPr/>
            </p:nvSpPr>
            <p:spPr>
              <a:xfrm>
                <a:off x="441573" y="2541962"/>
                <a:ext cx="4545042" cy="461665"/>
              </a:xfrm>
              <a:prstGeom prst="rect">
                <a:avLst/>
              </a:prstGeom>
              <a:blipFill>
                <a:blip r:embed="rId8"/>
                <a:stretch>
                  <a:fillRect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1438250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 y="-4832"/>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p:sp>
        <p:nvSpPr>
          <p:cNvPr id="6" name="TextBox 5">
            <a:extLst>
              <a:ext uri="{FF2B5EF4-FFF2-40B4-BE49-F238E27FC236}">
                <a16:creationId xmlns:a16="http://schemas.microsoft.com/office/drawing/2014/main" id="{A9379A11-EFD7-9536-BC6E-CBC3B9563000}"/>
              </a:ext>
            </a:extLst>
          </p:cNvPr>
          <p:cNvSpPr txBox="1"/>
          <p:nvPr/>
        </p:nvSpPr>
        <p:spPr>
          <a:xfrm>
            <a:off x="0" y="849304"/>
            <a:ext cx="9072438" cy="1938992"/>
          </a:xfrm>
          <a:prstGeom prst="rect">
            <a:avLst/>
          </a:prstGeom>
          <a:noFill/>
        </p:spPr>
        <p:txBody>
          <a:bodyPr wrap="square">
            <a:spAutoFit/>
          </a:bodyPr>
          <a:lstStyle/>
          <a:p>
            <a:pPr algn="just"/>
            <a:r>
              <a:rPr lang="en-GB" sz="2400" b="1" i="0" u="none" strike="noStrike" baseline="0" dirty="0">
                <a:solidFill>
                  <a:srgbClr val="231F20"/>
                </a:solidFill>
                <a:latin typeface="+mn-lt"/>
              </a:rPr>
              <a:t>1. </a:t>
            </a:r>
            <a:r>
              <a:rPr lang="en-GB" sz="2400" b="0" i="0" u="none" strike="noStrike" baseline="0" dirty="0">
                <a:solidFill>
                  <a:srgbClr val="231F20"/>
                </a:solidFill>
                <a:latin typeface="+mn-lt"/>
              </a:rPr>
              <a:t>Water from a stationary nozzle impinges on a moving vane with a turning angle of </a:t>
            </a:r>
            <a:r>
              <a:rPr lang="el-GR" sz="2400" b="0" i="1" u="none" strike="noStrike" baseline="0" dirty="0">
                <a:solidFill>
                  <a:srgbClr val="231F20"/>
                </a:solidFill>
                <a:latin typeface="+mn-lt"/>
              </a:rPr>
              <a:t>θ</a:t>
            </a:r>
            <a:r>
              <a:rPr lang="en-GB" sz="2400" b="0" i="0" u="none" strike="noStrike" baseline="0" dirty="0">
                <a:solidFill>
                  <a:srgbClr val="231F20"/>
                </a:solidFill>
                <a:latin typeface="+mn-lt"/>
              </a:rPr>
              <a:t> = 120°. The vane moves away from the nozzle with constant speed, </a:t>
            </a:r>
            <a:r>
              <a:rPr lang="en-GB" sz="2400" b="0" i="1" u="none" strike="noStrike" baseline="0" dirty="0">
                <a:solidFill>
                  <a:srgbClr val="231F20"/>
                </a:solidFill>
                <a:latin typeface="+mn-lt"/>
              </a:rPr>
              <a:t>U</a:t>
            </a:r>
            <a:r>
              <a:rPr lang="en-GB" sz="2400" b="0" i="0" u="none" strike="noStrike" baseline="0" dirty="0">
                <a:solidFill>
                  <a:srgbClr val="231F20"/>
                </a:solidFill>
                <a:latin typeface="+mn-lt"/>
              </a:rPr>
              <a:t> = 10 m/s, and receives a jet that leaves the nozzle with speed </a:t>
            </a:r>
            <a:r>
              <a:rPr lang="en-GB" sz="2400" b="0" i="1" u="none" strike="noStrike" baseline="0" dirty="0">
                <a:solidFill>
                  <a:srgbClr val="231F20"/>
                </a:solidFill>
                <a:latin typeface="+mn-lt"/>
              </a:rPr>
              <a:t>V</a:t>
            </a:r>
            <a:r>
              <a:rPr lang="en-GB" sz="2400" b="0" i="0" u="none" strike="noStrike" baseline="0" dirty="0">
                <a:solidFill>
                  <a:srgbClr val="231F20"/>
                </a:solidFill>
                <a:latin typeface="+mn-lt"/>
              </a:rPr>
              <a:t> = 30 m/s. The nozzle has an exit area of 0.004 m</a:t>
            </a:r>
            <a:r>
              <a:rPr lang="en-GB" sz="2400" b="0" i="0" u="none" strike="noStrike" baseline="30000" dirty="0">
                <a:solidFill>
                  <a:srgbClr val="231F20"/>
                </a:solidFill>
                <a:latin typeface="+mn-lt"/>
              </a:rPr>
              <a:t>2</a:t>
            </a:r>
            <a:r>
              <a:rPr lang="en-GB" sz="2400" b="0" i="0" u="none" strike="noStrike" baseline="0" dirty="0">
                <a:solidFill>
                  <a:srgbClr val="231F20"/>
                </a:solidFill>
                <a:latin typeface="+mn-lt"/>
              </a:rPr>
              <a:t>. Find the force that must be applied to maintain the vane speed constant.</a:t>
            </a:r>
            <a:endParaRPr lang="en-GH" dirty="0">
              <a:latin typeface="+mn-lt"/>
            </a:endParaRPr>
          </a:p>
        </p:txBody>
      </p:sp>
      <p:pic>
        <p:nvPicPr>
          <p:cNvPr id="4" name="Picture 3">
            <a:extLst>
              <a:ext uri="{FF2B5EF4-FFF2-40B4-BE49-F238E27FC236}">
                <a16:creationId xmlns:a16="http://schemas.microsoft.com/office/drawing/2014/main" id="{DD6636BA-36A5-0F99-BA8B-90AC6795BCA5}"/>
              </a:ext>
            </a:extLst>
          </p:cNvPr>
          <p:cNvPicPr>
            <a:picLocks noChangeAspect="1"/>
          </p:cNvPicPr>
          <p:nvPr/>
        </p:nvPicPr>
        <p:blipFill>
          <a:blip r:embed="rId3"/>
          <a:stretch>
            <a:fillRect/>
          </a:stretch>
        </p:blipFill>
        <p:spPr>
          <a:xfrm>
            <a:off x="2251642" y="3071080"/>
            <a:ext cx="3691958" cy="1801390"/>
          </a:xfrm>
          <a:prstGeom prst="rect">
            <a:avLst/>
          </a:prstGeom>
        </p:spPr>
      </p:pic>
      <p:sp>
        <p:nvSpPr>
          <p:cNvPr id="3" name="Title 1">
            <a:extLst>
              <a:ext uri="{FF2B5EF4-FFF2-40B4-BE49-F238E27FC236}">
                <a16:creationId xmlns:a16="http://schemas.microsoft.com/office/drawing/2014/main" id="{1096B7D4-BF59-62B3-9072-15CB6F111221}"/>
              </a:ext>
            </a:extLst>
          </p:cNvPr>
          <p:cNvSpPr txBox="1">
            <a:spLocks/>
          </p:cNvSpPr>
          <p:nvPr/>
        </p:nvSpPr>
        <p:spPr>
          <a:xfrm>
            <a:off x="-26637" y="365362"/>
            <a:ext cx="9144000" cy="45249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fontAlgn="auto">
              <a:spcAft>
                <a:spcPts val="0"/>
              </a:spcAft>
            </a:pPr>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Practice Problems</a:t>
            </a:r>
          </a:p>
        </p:txBody>
      </p:sp>
    </p:spTree>
    <p:extLst>
      <p:ext uri="{BB962C8B-B14F-4D97-AF65-F5344CB8AC3E}">
        <p14:creationId xmlns:p14="http://schemas.microsoft.com/office/powerpoint/2010/main" val="408927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120"/>
            <a:ext cx="9144000" cy="45249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Moving with Constant Velocity</a:t>
            </a:r>
          </a:p>
        </p:txBody>
      </p:sp>
      <p:sp>
        <p:nvSpPr>
          <p:cNvPr id="6" name="TextBox 5">
            <a:extLst>
              <a:ext uri="{FF2B5EF4-FFF2-40B4-BE49-F238E27FC236}">
                <a16:creationId xmlns:a16="http://schemas.microsoft.com/office/drawing/2014/main" id="{A9379A11-EFD7-9536-BC6E-CBC3B9563000}"/>
              </a:ext>
            </a:extLst>
          </p:cNvPr>
          <p:cNvSpPr txBox="1"/>
          <p:nvPr/>
        </p:nvSpPr>
        <p:spPr>
          <a:xfrm>
            <a:off x="0" y="401938"/>
            <a:ext cx="9144000" cy="3046988"/>
          </a:xfrm>
          <a:prstGeom prst="rect">
            <a:avLst/>
          </a:prstGeom>
          <a:noFill/>
        </p:spPr>
        <p:txBody>
          <a:bodyPr wrap="square">
            <a:spAutoFit/>
          </a:bodyPr>
          <a:lstStyle/>
          <a:p>
            <a:pPr algn="just"/>
            <a:r>
              <a:rPr lang="en-GB" b="1" dirty="0">
                <a:solidFill>
                  <a:srgbClr val="231F20"/>
                </a:solidFill>
                <a:latin typeface="+mn-lt"/>
              </a:rPr>
              <a:t>2</a:t>
            </a:r>
            <a:r>
              <a:rPr lang="en-GB" sz="2400" b="1" i="0" u="none" strike="noStrike" baseline="0" dirty="0">
                <a:solidFill>
                  <a:srgbClr val="231F20"/>
                </a:solidFill>
                <a:latin typeface="+mn-lt"/>
              </a:rPr>
              <a:t>.</a:t>
            </a:r>
            <a:r>
              <a:rPr lang="en-GB" sz="2400" b="0" i="0" u="none" strike="noStrike" baseline="0" dirty="0">
                <a:solidFill>
                  <a:srgbClr val="231F20"/>
                </a:solidFill>
                <a:latin typeface="+mn-lt"/>
              </a:rPr>
              <a:t> Consider a series of turning vanes struck by a continuous jet of water that leaves a nozzle of diameter 50 mm at constant speed </a:t>
            </a:r>
            <a:r>
              <a:rPr lang="en-GB" sz="2400" b="0" i="1" u="none" strike="noStrike" baseline="0" dirty="0">
                <a:solidFill>
                  <a:srgbClr val="231F20"/>
                </a:solidFill>
                <a:latin typeface="+mn-lt"/>
              </a:rPr>
              <a:t>V</a:t>
            </a:r>
            <a:r>
              <a:rPr lang="en-GB" sz="2400" b="0" i="0" u="none" strike="noStrike" baseline="0" dirty="0">
                <a:solidFill>
                  <a:srgbClr val="231F20"/>
                </a:solidFill>
                <a:latin typeface="+mn-lt"/>
              </a:rPr>
              <a:t> = 100 m/s. The vanes move with constant speed, </a:t>
            </a:r>
            <a:r>
              <a:rPr lang="en-GB" sz="2400" b="0" i="1" u="none" strike="noStrike" baseline="0" dirty="0">
                <a:solidFill>
                  <a:srgbClr val="231F20"/>
                </a:solidFill>
                <a:latin typeface="+mn-lt"/>
              </a:rPr>
              <a:t>U</a:t>
            </a:r>
            <a:r>
              <a:rPr lang="en-GB" sz="2400" b="0" i="0" u="none" strike="noStrike" baseline="0" dirty="0">
                <a:solidFill>
                  <a:srgbClr val="231F20"/>
                </a:solidFill>
                <a:latin typeface="+mn-lt"/>
              </a:rPr>
              <a:t> = 50 m/s, and also all the mass flow leaving the jet crosses the vanes. The curvature of the vanes is described by angles </a:t>
            </a:r>
            <a:r>
              <a:rPr lang="el-GR" sz="2400" b="0" i="0" u="none" strike="noStrike" baseline="0" dirty="0">
                <a:solidFill>
                  <a:srgbClr val="231F20"/>
                </a:solidFill>
                <a:latin typeface="+mn-lt"/>
              </a:rPr>
              <a:t>θ</a:t>
            </a:r>
            <a:r>
              <a:rPr lang="en-GB" sz="2400" b="0" i="0" u="none" strike="noStrike" baseline="-25000" dirty="0">
                <a:solidFill>
                  <a:srgbClr val="231F20"/>
                </a:solidFill>
                <a:latin typeface="+mn-lt"/>
              </a:rPr>
              <a:t>1</a:t>
            </a:r>
            <a:r>
              <a:rPr lang="en-GB" sz="2400" b="0" i="0" u="none" strike="noStrike" baseline="0" dirty="0">
                <a:solidFill>
                  <a:srgbClr val="231F20"/>
                </a:solidFill>
                <a:latin typeface="+mn-lt"/>
              </a:rPr>
              <a:t> = 30° and </a:t>
            </a:r>
            <a:r>
              <a:rPr lang="el-GR" sz="2400" b="0" i="0" u="none" strike="noStrike" baseline="0" dirty="0">
                <a:solidFill>
                  <a:srgbClr val="231F20"/>
                </a:solidFill>
                <a:latin typeface="+mn-lt"/>
              </a:rPr>
              <a:t>θ</a:t>
            </a:r>
            <a:r>
              <a:rPr lang="en-GB" sz="2400" b="0" i="0" u="none" strike="noStrike" baseline="-25000" dirty="0">
                <a:solidFill>
                  <a:srgbClr val="231F20"/>
                </a:solidFill>
                <a:latin typeface="+mn-lt"/>
              </a:rPr>
              <a:t>2</a:t>
            </a:r>
            <a:r>
              <a:rPr lang="en-GB" sz="2400" b="0" i="0" u="none" strike="noStrike" baseline="0" dirty="0">
                <a:solidFill>
                  <a:srgbClr val="231F20"/>
                </a:solidFill>
                <a:latin typeface="+mn-lt"/>
              </a:rPr>
              <a:t> = 45°, as shown. Evaluate the nozzle angle, </a:t>
            </a:r>
            <a:r>
              <a:rPr lang="el-GR" sz="2400" b="0" i="1" u="none" strike="noStrike" baseline="0" dirty="0">
                <a:solidFill>
                  <a:srgbClr val="231F20"/>
                </a:solidFill>
                <a:latin typeface="+mn-lt"/>
              </a:rPr>
              <a:t>α</a:t>
            </a:r>
            <a:r>
              <a:rPr lang="en-GB" sz="2400" b="0" i="0" u="none" strike="noStrike" baseline="0" dirty="0">
                <a:solidFill>
                  <a:srgbClr val="231F20"/>
                </a:solidFill>
                <a:latin typeface="+mn-lt"/>
              </a:rPr>
              <a:t>, required to ensure that the jet enters tangent to the leading edge of each vane. Calculate the force that must be applied to maintain the vane speed constant.  </a:t>
            </a:r>
            <a:endParaRPr lang="en-GH" dirty="0">
              <a:latin typeface="+mn-lt"/>
            </a:endParaRPr>
          </a:p>
        </p:txBody>
      </p:sp>
      <p:pic>
        <p:nvPicPr>
          <p:cNvPr id="5" name="Picture 4">
            <a:extLst>
              <a:ext uri="{FF2B5EF4-FFF2-40B4-BE49-F238E27FC236}">
                <a16:creationId xmlns:a16="http://schemas.microsoft.com/office/drawing/2014/main" id="{A7231DD9-0C30-D4D7-F4FE-8C0DF6176B3D}"/>
              </a:ext>
            </a:extLst>
          </p:cNvPr>
          <p:cNvPicPr>
            <a:picLocks noChangeAspect="1"/>
          </p:cNvPicPr>
          <p:nvPr/>
        </p:nvPicPr>
        <p:blipFill rotWithShape="1">
          <a:blip r:embed="rId3"/>
          <a:srcRect l="7952" t="3198"/>
          <a:stretch/>
        </p:blipFill>
        <p:spPr>
          <a:xfrm>
            <a:off x="2635249" y="3330348"/>
            <a:ext cx="3699487" cy="2695802"/>
          </a:xfrm>
          <a:prstGeom prst="rect">
            <a:avLst/>
          </a:prstGeom>
        </p:spPr>
      </p:pic>
    </p:spTree>
    <p:extLst>
      <p:ext uri="{BB962C8B-B14F-4D97-AF65-F5344CB8AC3E}">
        <p14:creationId xmlns:p14="http://schemas.microsoft.com/office/powerpoint/2010/main" val="1432372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 descr="unfig_04_32.jpg"/>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251573" y="682046"/>
            <a:ext cx="2549779" cy="3772656"/>
          </a:xfrm>
          <a:prstGeom prst="rect">
            <a:avLst/>
          </a:prstGeom>
          <a:solidFill>
            <a:schemeClr val="tx1"/>
          </a:solidFill>
          <a:ln>
            <a:noFill/>
          </a:ln>
        </p:spPr>
      </p:pic>
      <p:sp>
        <p:nvSpPr>
          <p:cNvPr id="3" name="Title 1"/>
          <p:cNvSpPr>
            <a:spLocks noGrp="1"/>
          </p:cNvSpPr>
          <p:nvPr>
            <p:ph type="title"/>
          </p:nvPr>
        </p:nvSpPr>
        <p:spPr>
          <a:xfrm>
            <a:off x="0" y="24702"/>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with Rectilinear Acceleration</a:t>
            </a:r>
          </a:p>
        </p:txBody>
      </p:sp>
      <p:pic>
        <p:nvPicPr>
          <p:cNvPr id="5" name="Picture 4">
            <a:extLst>
              <a:ext uri="{FF2B5EF4-FFF2-40B4-BE49-F238E27FC236}">
                <a16:creationId xmlns:a16="http://schemas.microsoft.com/office/drawing/2014/main" id="{78CC54CE-1ABD-40A4-BC2B-2F1729348664}"/>
              </a:ext>
            </a:extLst>
          </p:cNvPr>
          <p:cNvPicPr>
            <a:picLocks noChangeAspect="1"/>
          </p:cNvPicPr>
          <p:nvPr/>
        </p:nvPicPr>
        <p:blipFill>
          <a:blip r:embed="rId4"/>
          <a:stretch>
            <a:fillRect/>
          </a:stretch>
        </p:blipFill>
        <p:spPr>
          <a:xfrm>
            <a:off x="3485150" y="1333645"/>
            <a:ext cx="4406089" cy="2304315"/>
          </a:xfrm>
          <a:prstGeom prst="rect">
            <a:avLst/>
          </a:prstGeom>
        </p:spPr>
      </p:pic>
      <p:sp>
        <p:nvSpPr>
          <p:cNvPr id="2" name="Rectangle 1"/>
          <p:cNvSpPr/>
          <p:nvPr/>
        </p:nvSpPr>
        <p:spPr>
          <a:xfrm>
            <a:off x="2949092" y="4239224"/>
            <a:ext cx="6194908" cy="142962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CA" sz="2000" b="1" dirty="0">
                <a:latin typeface="+mn-lt"/>
              </a:rPr>
              <a:t>XYZ: stationary/non-accelerating CV/</a:t>
            </a:r>
            <a:r>
              <a:rPr lang="en-CA" sz="2000" b="1" u="sng" dirty="0">
                <a:latin typeface="+mn-lt"/>
              </a:rPr>
              <a:t>inertial reference frame</a:t>
            </a:r>
            <a:endParaRPr lang="en-CA" sz="2000" b="1" dirty="0">
              <a:latin typeface="+mn-lt"/>
            </a:endParaRPr>
          </a:p>
          <a:p>
            <a:pPr marL="285750" indent="-285750" algn="just">
              <a:lnSpc>
                <a:spcPct val="150000"/>
              </a:lnSpc>
              <a:buFont typeface="Arial" panose="020B0604020202020204" pitchFamily="34" charset="0"/>
              <a:buChar char="•"/>
            </a:pPr>
            <a:r>
              <a:rPr lang="en-CA" sz="2000" b="1" i="1" dirty="0">
                <a:latin typeface="+mn-lt"/>
              </a:rPr>
              <a:t>xyz</a:t>
            </a:r>
            <a:r>
              <a:rPr lang="en-CA" sz="2000" b="1" dirty="0">
                <a:latin typeface="+mn-lt"/>
              </a:rPr>
              <a:t>: accelerating CV/</a:t>
            </a:r>
            <a:r>
              <a:rPr lang="en-CA" sz="2000" b="1" u="sng" dirty="0" err="1">
                <a:latin typeface="+mn-lt"/>
              </a:rPr>
              <a:t>noninertial</a:t>
            </a:r>
            <a:r>
              <a:rPr lang="en-CA" sz="2000" b="1" u="sng" dirty="0">
                <a:latin typeface="+mn-lt"/>
              </a:rPr>
              <a:t> reference frame</a:t>
            </a:r>
          </a:p>
        </p:txBody>
      </p:sp>
    </p:spTree>
    <p:extLst>
      <p:ext uri="{BB962C8B-B14F-4D97-AF65-F5344CB8AC3E}">
        <p14:creationId xmlns:p14="http://schemas.microsoft.com/office/powerpoint/2010/main" val="2888187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85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with Rectilinear Acceleration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4199" y="1563861"/>
                <a:ext cx="7886700" cy="4215147"/>
              </a:xfrm>
            </p:spPr>
            <p:txBody>
              <a:bodyPr>
                <a:noAutofit/>
              </a:bodyPr>
              <a:lstStyle/>
              <a:p>
                <a:pPr algn="just">
                  <a:lnSpc>
                    <a:spcPct val="100000"/>
                  </a:lnSpc>
                  <a:spcAft>
                    <a:spcPts val="1200"/>
                  </a:spcAft>
                </a:pPr>
                <a:r>
                  <a:rPr lang="en-CA" dirty="0">
                    <a:solidFill>
                      <a:schemeClr val="tx1"/>
                    </a:solidFill>
                    <a:latin typeface="+mn-lt"/>
                  </a:rPr>
                  <a:t>To formulate the right equation, we must measure the acceleration relative to the inertial reference frame, </a:t>
                </a:r>
                <a:r>
                  <a:rPr lang="en-CA" i="1" dirty="0">
                    <a:solidFill>
                      <a:schemeClr val="tx1"/>
                    </a:solidFill>
                    <a:latin typeface="+mn-lt"/>
                  </a:rPr>
                  <a:t>XYZ</a:t>
                </a:r>
              </a:p>
              <a:p>
                <a:pPr marL="0" indent="0">
                  <a:lnSpc>
                    <a:spcPct val="100000"/>
                  </a:lnSpc>
                  <a:spcAft>
                    <a:spcPts val="1200"/>
                  </a:spcAft>
                  <a:buNone/>
                </a:pPr>
                <a14:m>
                  <m:oMathPara xmlns:m="http://schemas.openxmlformats.org/officeDocument/2006/math">
                    <m:oMathParaPr>
                      <m:jc m:val="centerGroup"/>
                    </m:oMathParaPr>
                    <m:oMath xmlns:m="http://schemas.openxmlformats.org/officeDocument/2006/math">
                      <m:acc>
                        <m:accPr>
                          <m:chr m:val="⃗"/>
                          <m:ctrlPr>
                            <a:rPr lang="en-CA" i="1">
                              <a:solidFill>
                                <a:schemeClr val="tx1"/>
                              </a:solidFill>
                              <a:latin typeface="Cambria Math" panose="02040503050406030204" pitchFamily="18" charset="0"/>
                            </a:rPr>
                          </m:ctrlPr>
                        </m:accPr>
                        <m:e>
                          <m:r>
                            <a:rPr lang="en-CA" b="0" i="1" smtClean="0">
                              <a:solidFill>
                                <a:schemeClr val="tx1"/>
                              </a:solidFill>
                              <a:latin typeface="Cambria Math" panose="02040503050406030204" pitchFamily="18" charset="0"/>
                            </a:rPr>
                            <m:t>𝐹</m:t>
                          </m:r>
                        </m:e>
                      </m:acc>
                      <m:r>
                        <a:rPr lang="en-CA" b="0" i="1" smtClean="0">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𝑑</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𝑃</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num>
                                <m:den>
                                  <m:r>
                                    <a:rPr lang="en-CA" b="0" i="1" smtClean="0">
                                      <a:solidFill>
                                        <a:schemeClr val="tx1"/>
                                      </a:solidFill>
                                      <a:latin typeface="Cambria Math" panose="02040503050406030204" pitchFamily="18" charset="0"/>
                                    </a:rPr>
                                    <m:t>𝑑𝑡</m:t>
                                  </m:r>
                                </m:den>
                              </m:f>
                            </m:e>
                          </m:d>
                        </m:e>
                        <m:sub>
                          <m:r>
                            <a:rPr lang="en-CA" b="0" i="1" smtClean="0">
                              <a:solidFill>
                                <a:schemeClr val="tx1"/>
                              </a:solidFill>
                              <a:latin typeface="Cambria Math" panose="02040503050406030204" pitchFamily="18" charset="0"/>
                            </a:rPr>
                            <m:t>𝑠</m:t>
                          </m:r>
                        </m:sub>
                      </m:sSub>
                      <m:r>
                        <a:rPr lang="en-CA" b="0" i="1" smtClean="0">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ea typeface="Cambria Math" panose="02040503050406030204" pitchFamily="18" charset="0"/>
                            </a:rPr>
                            <m:t>𝜕</m:t>
                          </m:r>
                        </m:num>
                        <m:den>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𝑡</m:t>
                          </m:r>
                        </m:den>
                      </m:f>
                      <m:nary>
                        <m:naryPr>
                          <m:ctrlPr>
                            <a:rPr lang="en-CA" i="1">
                              <a:solidFill>
                                <a:schemeClr val="tx1"/>
                              </a:solidFill>
                              <a:latin typeface="Cambria Math" panose="02040503050406030204" pitchFamily="18" charset="0"/>
                            </a:rPr>
                          </m:ctrlPr>
                        </m:naryPr>
                        <m:sub>
                          <m:r>
                            <a:rPr lang="en-CA" b="0" i="1" smtClean="0">
                              <a:solidFill>
                                <a:schemeClr val="tx1"/>
                              </a:solidFill>
                              <a:latin typeface="Cambria Math" panose="02040503050406030204" pitchFamily="18" charset="0"/>
                            </a:rPr>
                            <m:t>𝑀</m:t>
                          </m:r>
                        </m:sub>
                        <m:sup/>
                        <m:e>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r>
                            <a:rPr lang="en-CA" b="0" i="1" smtClean="0">
                              <a:solidFill>
                                <a:schemeClr val="tx1"/>
                              </a:solidFill>
                              <a:latin typeface="Cambria Math" panose="02040503050406030204" pitchFamily="18" charset="0"/>
                              <a:ea typeface="Cambria Math" panose="02040503050406030204" pitchFamily="18" charset="0"/>
                            </a:rPr>
                            <m:t>𝑑𝑚</m:t>
                          </m:r>
                        </m:e>
                      </m:nary>
                      <m:r>
                        <a:rPr lang="en-CA" b="0" i="1" smtClean="0">
                          <a:solidFill>
                            <a:schemeClr val="tx1"/>
                          </a:solidFill>
                          <a:latin typeface="Cambria Math" panose="02040503050406030204" pitchFamily="18" charset="0"/>
                          <a:ea typeface="Cambria Math" panose="02040503050406030204" pitchFamily="18" charset="0"/>
                        </a:rPr>
                        <m:t>=</m:t>
                      </m:r>
                      <m:nary>
                        <m:naryPr>
                          <m:ctrlPr>
                            <a:rPr lang="en-CA" i="1">
                              <a:solidFill>
                                <a:schemeClr val="tx1"/>
                              </a:solidFill>
                              <a:latin typeface="Cambria Math" panose="02040503050406030204" pitchFamily="18" charset="0"/>
                            </a:rPr>
                          </m:ctrlPr>
                        </m:naryPr>
                        <m:sub>
                          <m:r>
                            <a:rPr lang="en-CA" b="0" i="1" smtClean="0">
                              <a:solidFill>
                                <a:schemeClr val="tx1"/>
                              </a:solidFill>
                              <a:latin typeface="Cambria Math" panose="02040503050406030204" pitchFamily="18" charset="0"/>
                            </a:rPr>
                            <m:t>𝑀</m:t>
                          </m:r>
                        </m:sub>
                        <m:sup/>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𝑑</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rPr>
                                    <m:t>𝑋𝑌𝑍</m:t>
                                  </m:r>
                                </m:sub>
                              </m:sSub>
                            </m:num>
                            <m:den>
                              <m:r>
                                <a:rPr lang="en-CA" b="0" i="1" smtClean="0">
                                  <a:solidFill>
                                    <a:schemeClr val="tx1"/>
                                  </a:solidFill>
                                  <a:latin typeface="Cambria Math" panose="02040503050406030204" pitchFamily="18" charset="0"/>
                                </a:rPr>
                                <m:t>𝑑𝑡</m:t>
                              </m:r>
                            </m:den>
                          </m:f>
                          <m:r>
                            <a:rPr lang="en-CA" b="0" i="1" smtClean="0">
                              <a:solidFill>
                                <a:schemeClr val="tx1"/>
                              </a:solidFill>
                              <a:latin typeface="Cambria Math" panose="02040503050406030204" pitchFamily="18" charset="0"/>
                              <a:ea typeface="Cambria Math" panose="02040503050406030204" pitchFamily="18" charset="0"/>
                            </a:rPr>
                            <m:t>𝑑𝑚</m:t>
                          </m:r>
                        </m:e>
                      </m:nary>
                    </m:oMath>
                  </m:oMathPara>
                </a14:m>
                <a:endParaRPr lang="en-CA" dirty="0">
                  <a:solidFill>
                    <a:schemeClr val="tx1"/>
                  </a:solidFill>
                  <a:latin typeface="+mn-lt"/>
                </a:endParaRPr>
              </a:p>
              <a:p>
                <a:pPr marL="0" indent="0">
                  <a:lnSpc>
                    <a:spcPct val="10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𝑥𝑦𝑧</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oMath>
                  </m:oMathPara>
                </a14:m>
                <a:endParaRPr lang="en-GB" dirty="0">
                  <a:solidFill>
                    <a:schemeClr val="tx1"/>
                  </a:solidFill>
                  <a:latin typeface="+mn-lt"/>
                  <a:ea typeface="Cambria Math" panose="02040503050406030204" pitchFamily="18" charset="0"/>
                </a:endParaRPr>
              </a:p>
              <a:p>
                <a:pPr marL="0" indent="0">
                  <a:lnSpc>
                    <a:spcPct val="100000"/>
                  </a:lnSpc>
                  <a:spcBef>
                    <a:spcPts val="0"/>
                  </a:spcBef>
                  <a:spcAft>
                    <a:spcPts val="600"/>
                  </a:spcAft>
                  <a:buNone/>
                </a:pPr>
                <a:r>
                  <a:rPr lang="en-CA" dirty="0">
                    <a:solidFill>
                      <a:schemeClr val="tx1"/>
                    </a:solidFill>
                    <a:latin typeface="+mn-lt"/>
                  </a:rPr>
                  <a:t>where </a:t>
                </a:r>
                <a14:m>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oMath>
                </a14:m>
                <a:r>
                  <a:rPr lang="en-CA" dirty="0">
                    <a:solidFill>
                      <a:schemeClr val="tx1"/>
                    </a:solidFill>
                    <a:latin typeface="+mn-lt"/>
                  </a:rPr>
                  <a:t> is the velocity of the CV coordinates (</a:t>
                </a:r>
                <a:r>
                  <a:rPr lang="en-CA" i="1" dirty="0" err="1">
                    <a:solidFill>
                      <a:schemeClr val="tx1"/>
                    </a:solidFill>
                    <a:latin typeface="+mn-lt"/>
                  </a:rPr>
                  <a:t>xyz</a:t>
                </a:r>
                <a:r>
                  <a:rPr lang="en-CA" dirty="0">
                    <a:solidFill>
                      <a:schemeClr val="tx1"/>
                    </a:solidFill>
                    <a:latin typeface="+mn-lt"/>
                  </a:rPr>
                  <a:t>) relative to the stationary/absolute coordinates, </a:t>
                </a:r>
                <a:r>
                  <a:rPr lang="en-CA" i="1" dirty="0">
                    <a:solidFill>
                      <a:schemeClr val="tx1"/>
                    </a:solidFill>
                    <a:latin typeface="+mn-lt"/>
                  </a:rPr>
                  <a:t>XYZ</a:t>
                </a:r>
              </a:p>
              <a:p>
                <a:pPr marL="0" indent="0">
                  <a:lnSpc>
                    <a:spcPct val="100000"/>
                  </a:lnSpc>
                  <a:spcBef>
                    <a:spcPts val="0"/>
                  </a:spcBef>
                  <a:spcAft>
                    <a:spcPts val="600"/>
                  </a:spcAft>
                  <a:buNone/>
                </a:pPr>
                <a14:m>
                  <m:oMath xmlns:m="http://schemas.openxmlformats.org/officeDocument/2006/math">
                    <m:f>
                      <m:fPr>
                        <m:ctrlPr>
                          <a:rPr lang="en-CA" i="1" smtClean="0">
                            <a:solidFill>
                              <a:schemeClr val="tx1"/>
                            </a:solidFill>
                            <a:latin typeface="Cambria Math" panose="02040503050406030204" pitchFamily="18" charset="0"/>
                          </a:rPr>
                        </m:ctrlPr>
                      </m:fPr>
                      <m:num>
                        <m:sSub>
                          <m:sSubPr>
                            <m:ctrlPr>
                              <a:rPr lang="en-CA" i="1">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𝑑</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num>
                      <m:den>
                        <m:r>
                          <a:rPr lang="en-CA" b="0" i="1" smtClean="0">
                            <a:solidFill>
                              <a:schemeClr val="tx1"/>
                            </a:solidFill>
                            <a:latin typeface="Cambria Math" panose="02040503050406030204" pitchFamily="18" charset="0"/>
                          </a:rPr>
                          <m:t>𝑑𝑡</m:t>
                        </m:r>
                      </m:den>
                    </m:f>
                    <m:r>
                      <a:rPr lang="en-CA" b="0" i="1" smtClean="0">
                        <a:solidFill>
                          <a:schemeClr val="tx1"/>
                        </a:solidFill>
                        <a:latin typeface="Cambria Math" panose="02040503050406030204" pitchFamily="18" charset="0"/>
                      </a:rPr>
                      <m:t>=</m:t>
                    </m:r>
                    <m:f>
                      <m:fPr>
                        <m:ctrlPr>
                          <a:rPr lang="en-CA" i="1" smtClean="0">
                            <a:solidFill>
                              <a:schemeClr val="tx1"/>
                            </a:solidFill>
                            <a:latin typeface="Cambria Math" panose="02040503050406030204" pitchFamily="18" charset="0"/>
                          </a:rPr>
                        </m:ctrlPr>
                      </m:fPr>
                      <m:num>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𝑥𝑦𝑧</m:t>
                            </m:r>
                          </m:sub>
                        </m:sSub>
                      </m:num>
                      <m:den>
                        <m:r>
                          <a:rPr lang="en-CA" b="0" i="1" smtClean="0">
                            <a:solidFill>
                              <a:schemeClr val="tx1"/>
                            </a:solidFill>
                            <a:latin typeface="Cambria Math" panose="02040503050406030204" pitchFamily="18" charset="0"/>
                          </a:rPr>
                          <m:t>𝑑𝑡</m:t>
                        </m:r>
                      </m:den>
                    </m:f>
                    <m:r>
                      <a:rPr lang="en-CA" b="0" i="1" smtClean="0">
                        <a:solidFill>
                          <a:schemeClr val="tx1"/>
                        </a:solidFill>
                        <a:latin typeface="Cambria Math" panose="02040503050406030204" pitchFamily="18" charset="0"/>
                      </a:rPr>
                      <m:t>+</m:t>
                    </m:r>
                    <m:f>
                      <m:fPr>
                        <m:ctrlPr>
                          <a:rPr lang="en-CA" i="1" smtClean="0">
                            <a:solidFill>
                              <a:schemeClr val="tx1"/>
                            </a:solidFill>
                            <a:latin typeface="Cambria Math" panose="02040503050406030204" pitchFamily="18" charset="0"/>
                          </a:rPr>
                        </m:ctrlPr>
                      </m:fPr>
                      <m:num>
                        <m:sSub>
                          <m:sSubPr>
                            <m:ctrlPr>
                              <a:rPr lang="en-CA" i="1">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𝑑</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num>
                      <m:den>
                        <m:r>
                          <a:rPr lang="en-CA" b="0" i="1" smtClean="0">
                            <a:solidFill>
                              <a:schemeClr val="tx1"/>
                            </a:solidFill>
                            <a:latin typeface="Cambria Math" panose="02040503050406030204" pitchFamily="18" charset="0"/>
                          </a:rPr>
                          <m:t>𝑑𝑡</m:t>
                        </m:r>
                      </m:den>
                    </m:f>
                  </m:oMath>
                </a14:m>
                <a:r>
                  <a:rPr lang="en-CA" i="1" dirty="0">
                    <a:solidFill>
                      <a:schemeClr val="tx1"/>
                    </a:solidFill>
                    <a:latin typeface="+mn-lt"/>
                  </a:rPr>
                  <a:t>,                       </a:t>
                </a:r>
                <a14:m>
                  <m:oMath xmlns:m="http://schemas.openxmlformats.org/officeDocument/2006/math">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𝑎</m:t>
                            </m:r>
                          </m:e>
                        </m:acc>
                      </m:e>
                      <m:sub>
                        <m:r>
                          <a:rPr lang="en-CA" b="0" i="1" smtClean="0">
                            <a:solidFill>
                              <a:schemeClr val="tx1"/>
                            </a:solidFill>
                            <a:latin typeface="Cambria Math" panose="02040503050406030204" pitchFamily="18" charset="0"/>
                            <a:ea typeface="Cambria Math" panose="02040503050406030204" pitchFamily="18" charset="0"/>
                          </a:rPr>
                          <m:t>𝑋</m:t>
                        </m:r>
                        <m:r>
                          <a:rPr lang="en-CA" b="0" i="1" smtClean="0">
                            <a:solidFill>
                              <a:schemeClr val="tx1"/>
                            </a:solidFill>
                            <a:latin typeface="Cambria Math" panose="02040503050406030204" pitchFamily="18" charset="0"/>
                          </a:rPr>
                          <m:t>𝑌𝑍</m:t>
                        </m:r>
                      </m:sub>
                    </m:sSub>
                    <m:r>
                      <a:rPr lang="en-CA" b="0" i="1" smtClean="0">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𝑎</m:t>
                            </m:r>
                          </m:e>
                        </m:acc>
                      </m:e>
                      <m:sub>
                        <m:r>
                          <a:rPr lang="en-CA" b="0" i="1" smtClean="0">
                            <a:solidFill>
                              <a:schemeClr val="tx1"/>
                            </a:solidFill>
                            <a:latin typeface="Cambria Math" panose="02040503050406030204" pitchFamily="18" charset="0"/>
                            <a:ea typeface="Cambria Math" panose="02040503050406030204" pitchFamily="18" charset="0"/>
                          </a:rPr>
                          <m:t>𝑥𝑦𝑧</m:t>
                        </m:r>
                      </m:sub>
                    </m:sSub>
                    <m:r>
                      <a:rPr lang="en-CA" b="0" i="1" smtClean="0">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𝑎</m:t>
                            </m:r>
                          </m:e>
                        </m:acc>
                      </m:e>
                      <m:sub>
                        <m:r>
                          <a:rPr lang="en-CA" b="0" i="1" smtClean="0">
                            <a:solidFill>
                              <a:schemeClr val="tx1"/>
                            </a:solidFill>
                            <a:latin typeface="Cambria Math" panose="02040503050406030204" pitchFamily="18" charset="0"/>
                            <a:ea typeface="Cambria Math" panose="02040503050406030204" pitchFamily="18" charset="0"/>
                          </a:rPr>
                          <m:t>𝑟𝑓</m:t>
                        </m:r>
                      </m:sub>
                    </m:sSub>
                  </m:oMath>
                </a14:m>
                <a:endParaRPr lang="en-CA" i="1" dirty="0">
                  <a:solidFill>
                    <a:schemeClr val="tx1"/>
                  </a:solidFill>
                  <a:latin typeface="+mn-lt"/>
                </a:endParaRPr>
              </a:p>
              <a:p>
                <a:pPr marL="0" indent="0">
                  <a:lnSpc>
                    <a:spcPct val="150000"/>
                  </a:lnSpc>
                  <a:spcAft>
                    <a:spcPts val="600"/>
                  </a:spcAft>
                  <a:buNone/>
                </a:pPr>
                <a:endParaRPr lang="en-CA" sz="2000" b="1" i="1" dirty="0">
                  <a:solidFill>
                    <a:srgbClr val="FF0000"/>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4199" y="1563861"/>
                <a:ext cx="7886700" cy="4215147"/>
              </a:xfrm>
              <a:blipFill>
                <a:blip r:embed="rId2"/>
                <a:stretch>
                  <a:fillRect l="-1237" t="-1158" r="-1237"/>
                </a:stretch>
              </a:blipFill>
            </p:spPr>
            <p:txBody>
              <a:bodyPr/>
              <a:lstStyle/>
              <a:p>
                <a:r>
                  <a:rPr lang="en-GH">
                    <a:noFill/>
                  </a:rPr>
                  <a:t> </a:t>
                </a:r>
              </a:p>
            </p:txBody>
          </p:sp>
        </mc:Fallback>
      </mc:AlternateContent>
      <p:sp>
        <p:nvSpPr>
          <p:cNvPr id="4" name="TextBox 3"/>
          <p:cNvSpPr txBox="1"/>
          <p:nvPr/>
        </p:nvSpPr>
        <p:spPr>
          <a:xfrm>
            <a:off x="7336124" y="2826607"/>
            <a:ext cx="486136" cy="384721"/>
          </a:xfrm>
          <a:prstGeom prst="rect">
            <a:avLst/>
          </a:prstGeom>
          <a:noFill/>
        </p:spPr>
        <p:txBody>
          <a:bodyPr wrap="square" rtlCol="0">
            <a:spAutoFit/>
          </a:bodyPr>
          <a:lstStyle/>
          <a:p>
            <a:r>
              <a:rPr lang="en-CA" sz="1900" dirty="0"/>
              <a:t>[1]</a:t>
            </a:r>
          </a:p>
        </p:txBody>
      </p:sp>
      <p:sp>
        <p:nvSpPr>
          <p:cNvPr id="5" name="TextBox 4"/>
          <p:cNvSpPr txBox="1"/>
          <p:nvPr/>
        </p:nvSpPr>
        <p:spPr>
          <a:xfrm>
            <a:off x="7336124" y="3504003"/>
            <a:ext cx="486136" cy="384721"/>
          </a:xfrm>
          <a:prstGeom prst="rect">
            <a:avLst/>
          </a:prstGeom>
          <a:noFill/>
        </p:spPr>
        <p:txBody>
          <a:bodyPr wrap="square" rtlCol="0">
            <a:spAutoFit/>
          </a:bodyPr>
          <a:lstStyle/>
          <a:p>
            <a:r>
              <a:rPr lang="en-CA" sz="1900" dirty="0"/>
              <a:t>[2]</a:t>
            </a:r>
          </a:p>
        </p:txBody>
      </p:sp>
      <p:sp>
        <p:nvSpPr>
          <p:cNvPr id="6" name="TextBox 5"/>
          <p:cNvSpPr txBox="1"/>
          <p:nvPr/>
        </p:nvSpPr>
        <p:spPr>
          <a:xfrm>
            <a:off x="7356374" y="5182022"/>
            <a:ext cx="486136" cy="384721"/>
          </a:xfrm>
          <a:prstGeom prst="rect">
            <a:avLst/>
          </a:prstGeom>
          <a:noFill/>
        </p:spPr>
        <p:txBody>
          <a:bodyPr wrap="square" rtlCol="0">
            <a:spAutoFit/>
          </a:bodyPr>
          <a:lstStyle/>
          <a:p>
            <a:r>
              <a:rPr lang="en-CA" sz="1900" dirty="0"/>
              <a:t>[3]</a:t>
            </a:r>
          </a:p>
        </p:txBody>
      </p:sp>
      <mc:AlternateContent xmlns:mc="http://schemas.openxmlformats.org/markup-compatibility/2006" xmlns:a14="http://schemas.microsoft.com/office/drawing/2010/main">
        <mc:Choice Requires="a14">
          <p:sp>
            <p:nvSpPr>
              <p:cNvPr id="8" name="Rectangle 7"/>
              <p:cNvSpPr/>
              <p:nvPr/>
            </p:nvSpPr>
            <p:spPr>
              <a:xfrm>
                <a:off x="2790135" y="720859"/>
                <a:ext cx="1225913" cy="7521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sz="1800" b="1" i="1" smtClean="0">
                              <a:solidFill>
                                <a:schemeClr val="tx1"/>
                              </a:solidFill>
                              <a:latin typeface="Cambria Math" panose="02040503050406030204" pitchFamily="18" charset="0"/>
                            </a:rPr>
                          </m:ctrlPr>
                        </m:sSubPr>
                        <m:e>
                          <m:acc>
                            <m:accPr>
                              <m:chr m:val="⃗"/>
                              <m:ctrlPr>
                                <a:rPr lang="en-CA" sz="1800" b="1" i="1">
                                  <a:solidFill>
                                    <a:schemeClr val="tx1"/>
                                  </a:solidFill>
                                  <a:latin typeface="Cambria Math" panose="02040503050406030204" pitchFamily="18" charset="0"/>
                                </a:rPr>
                              </m:ctrlPr>
                            </m:accPr>
                            <m:e>
                              <m:r>
                                <a:rPr lang="en-CA" sz="1800" b="1" i="1">
                                  <a:solidFill>
                                    <a:schemeClr val="tx1"/>
                                  </a:solidFill>
                                  <a:latin typeface="Cambria Math" panose="02040503050406030204" pitchFamily="18" charset="0"/>
                                </a:rPr>
                                <m:t>𝑭</m:t>
                              </m:r>
                            </m:e>
                          </m:acc>
                          <m:r>
                            <a:rPr lang="en-CA" sz="1800" b="1" i="1">
                              <a:solidFill>
                                <a:schemeClr val="tx1"/>
                              </a:solidFill>
                              <a:latin typeface="Cambria Math" panose="02040503050406030204" pitchFamily="18" charset="0"/>
                            </a:rPr>
                            <m:t>=</m:t>
                          </m:r>
                          <m:d>
                            <m:dPr>
                              <m:begChr m:val=""/>
                              <m:ctrlPr>
                                <a:rPr lang="en-CA" sz="1800" b="1" i="1">
                                  <a:solidFill>
                                    <a:schemeClr val="tx1"/>
                                  </a:solidFill>
                                  <a:latin typeface="Cambria Math" panose="02040503050406030204" pitchFamily="18" charset="0"/>
                                </a:rPr>
                              </m:ctrlPr>
                            </m:dPr>
                            <m:e>
                              <m:f>
                                <m:fPr>
                                  <m:ctrlPr>
                                    <a:rPr lang="en-CA" sz="1800" b="1" i="1">
                                      <a:solidFill>
                                        <a:schemeClr val="tx1"/>
                                      </a:solidFill>
                                      <a:latin typeface="Cambria Math" panose="02040503050406030204" pitchFamily="18" charset="0"/>
                                    </a:rPr>
                                  </m:ctrlPr>
                                </m:fPr>
                                <m:num>
                                  <m:r>
                                    <a:rPr lang="en-CA" sz="1800" b="1" i="1">
                                      <a:solidFill>
                                        <a:schemeClr val="tx1"/>
                                      </a:solidFill>
                                      <a:latin typeface="Cambria Math" panose="02040503050406030204" pitchFamily="18" charset="0"/>
                                    </a:rPr>
                                    <m:t>𝒅</m:t>
                                  </m:r>
                                  <m:acc>
                                    <m:accPr>
                                      <m:chr m:val="⃗"/>
                                      <m:ctrlPr>
                                        <a:rPr lang="en-CA" sz="1800" b="1" i="1">
                                          <a:solidFill>
                                            <a:schemeClr val="tx1"/>
                                          </a:solidFill>
                                          <a:latin typeface="Cambria Math" panose="02040503050406030204" pitchFamily="18" charset="0"/>
                                        </a:rPr>
                                      </m:ctrlPr>
                                    </m:accPr>
                                    <m:e>
                                      <m:r>
                                        <a:rPr lang="en-CA" sz="1800" b="1" i="1">
                                          <a:solidFill>
                                            <a:schemeClr val="tx1"/>
                                          </a:solidFill>
                                          <a:latin typeface="Cambria Math" panose="02040503050406030204" pitchFamily="18" charset="0"/>
                                        </a:rPr>
                                        <m:t>𝑷</m:t>
                                      </m:r>
                                    </m:e>
                                  </m:acc>
                                </m:num>
                                <m:den>
                                  <m:r>
                                    <a:rPr lang="en-CA" sz="1800" b="1" i="1">
                                      <a:solidFill>
                                        <a:schemeClr val="tx1"/>
                                      </a:solidFill>
                                      <a:latin typeface="Cambria Math" panose="02040503050406030204" pitchFamily="18" charset="0"/>
                                    </a:rPr>
                                    <m:t>𝒅𝒕</m:t>
                                  </m:r>
                                </m:den>
                              </m:f>
                            </m:e>
                          </m:d>
                        </m:e>
                        <m:sub>
                          <m:r>
                            <a:rPr lang="en-CA" sz="1800" b="1" i="1" smtClean="0">
                              <a:solidFill>
                                <a:schemeClr val="tx1"/>
                              </a:solidFill>
                              <a:latin typeface="Cambria Math" panose="02040503050406030204" pitchFamily="18" charset="0"/>
                            </a:rPr>
                            <m:t>𝒔</m:t>
                          </m:r>
                        </m:sub>
                      </m:sSub>
                    </m:oMath>
                  </m:oMathPara>
                </a14:m>
                <a:endParaRPr lang="en-CA" sz="1800" dirty="0"/>
              </a:p>
            </p:txBody>
          </p:sp>
        </mc:Choice>
        <mc:Fallback xmlns="">
          <p:sp>
            <p:nvSpPr>
              <p:cNvPr id="8" name="Rectangle 7"/>
              <p:cNvSpPr>
                <a:spLocks noRot="1" noChangeAspect="1" noMove="1" noResize="1" noEditPoints="1" noAdjustHandles="1" noChangeArrowheads="1" noChangeShapeType="1" noTextEdit="1"/>
              </p:cNvSpPr>
              <p:nvPr/>
            </p:nvSpPr>
            <p:spPr>
              <a:xfrm>
                <a:off x="2790135" y="720859"/>
                <a:ext cx="1225913" cy="752129"/>
              </a:xfrm>
              <a:prstGeom prst="rect">
                <a:avLst/>
              </a:prstGeom>
              <a:blipFill>
                <a:blip r:embed="rId3"/>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2707745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983"/>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with Rectilinear Acceleration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847521"/>
                <a:ext cx="9144000" cy="4611447"/>
              </a:xfrm>
            </p:spPr>
            <p:txBody>
              <a:bodyPr>
                <a:noAutofit/>
              </a:bodyPr>
              <a:lstStyle/>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𝑋</m:t>
                          </m:r>
                          <m:r>
                            <a:rPr lang="en-CA" b="0" i="1">
                              <a:solidFill>
                                <a:schemeClr val="tx1"/>
                              </a:solidFill>
                              <a:latin typeface="Cambria Math" panose="02040503050406030204" pitchFamily="18" charset="0"/>
                            </a:rPr>
                            <m:t>𝑌𝑍</m:t>
                          </m:r>
                        </m:sub>
                      </m:sSub>
                      <m:r>
                        <a:rPr lang="en-CA" b="0" i="1" smtClean="0">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𝑥𝑦𝑧</m:t>
                          </m:r>
                        </m:sub>
                      </m:sSub>
                      <m:r>
                        <a:rPr lang="en-CA" b="0" i="1">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𝑟𝑓</m:t>
                          </m:r>
                        </m:sub>
                      </m:sSub>
                    </m:oMath>
                  </m:oMathPara>
                </a14:m>
                <a:endParaRPr lang="en-CA" dirty="0">
                  <a:solidFill>
                    <a:schemeClr val="tx1"/>
                  </a:solidFill>
                  <a:latin typeface="+mn-lt"/>
                </a:endParaRPr>
              </a:p>
              <a:p>
                <a:pPr marL="0" indent="0">
                  <a:lnSpc>
                    <a:spcPct val="100000"/>
                  </a:lnSpc>
                  <a:spcBef>
                    <a:spcPts val="1800"/>
                  </a:spcBef>
                  <a:buNone/>
                </a:pPr>
                <a14:m>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𝑋</m:t>
                        </m:r>
                        <m:r>
                          <a:rPr lang="en-CA" b="0" i="1">
                            <a:solidFill>
                              <a:schemeClr val="tx1"/>
                            </a:solidFill>
                            <a:latin typeface="Cambria Math" panose="02040503050406030204" pitchFamily="18" charset="0"/>
                          </a:rPr>
                          <m:t>𝑌𝑍</m:t>
                        </m:r>
                      </m:sub>
                    </m:sSub>
                  </m:oMath>
                </a14:m>
                <a:r>
                  <a:rPr lang="en-CA" dirty="0">
                    <a:solidFill>
                      <a:schemeClr val="tx1"/>
                    </a:solidFill>
                    <a:latin typeface="+mn-lt"/>
                  </a:rPr>
                  <a:t> is the rectilinear acceleration of the system relative the inertial reference frame, </a:t>
                </a:r>
                <a:r>
                  <a:rPr lang="en-CA" i="1" dirty="0">
                    <a:solidFill>
                      <a:schemeClr val="tx1"/>
                    </a:solidFill>
                    <a:latin typeface="+mn-lt"/>
                  </a:rPr>
                  <a:t>XYZ</a:t>
                </a:r>
              </a:p>
              <a:p>
                <a:pPr marL="0" indent="0">
                  <a:lnSpc>
                    <a:spcPct val="100000"/>
                  </a:lnSpc>
                  <a:spcBef>
                    <a:spcPts val="600"/>
                  </a:spcBef>
                  <a:buNone/>
                </a:pPr>
                <a14:m>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𝑥𝑦𝑧</m:t>
                        </m:r>
                      </m:sub>
                    </m:sSub>
                  </m:oMath>
                </a14:m>
                <a:r>
                  <a:rPr lang="en-CA" dirty="0">
                    <a:solidFill>
                      <a:schemeClr val="tx1"/>
                    </a:solidFill>
                    <a:latin typeface="+mn-lt"/>
                  </a:rPr>
                  <a:t> is the rectilinear acceleration of the system relative to the non-inertial reference frame, </a:t>
                </a:r>
                <a:r>
                  <a:rPr lang="en-CA" i="1" dirty="0">
                    <a:solidFill>
                      <a:schemeClr val="tx1"/>
                    </a:solidFill>
                    <a:latin typeface="+mn-lt"/>
                  </a:rPr>
                  <a:t>xyz</a:t>
                </a:r>
                <a:r>
                  <a:rPr lang="en-CA" dirty="0">
                    <a:solidFill>
                      <a:schemeClr val="tx1"/>
                    </a:solidFill>
                    <a:latin typeface="+mn-lt"/>
                  </a:rPr>
                  <a:t> (</a:t>
                </a:r>
                <a:r>
                  <a:rPr lang="en-CA" i="1" dirty="0">
                    <a:solidFill>
                      <a:schemeClr val="tx1"/>
                    </a:solidFill>
                    <a:latin typeface="+mn-lt"/>
                  </a:rPr>
                  <a:t>relative to the accelerating CV</a:t>
                </a:r>
                <a:r>
                  <a:rPr lang="en-CA" dirty="0">
                    <a:solidFill>
                      <a:schemeClr val="tx1"/>
                    </a:solidFill>
                    <a:latin typeface="+mn-lt"/>
                  </a:rPr>
                  <a:t>)</a:t>
                </a:r>
              </a:p>
              <a:p>
                <a:pPr marL="0" indent="0">
                  <a:lnSpc>
                    <a:spcPct val="100000"/>
                  </a:lnSpc>
                  <a:spcBef>
                    <a:spcPts val="1800"/>
                  </a:spcBef>
                  <a:buNone/>
                </a:pPr>
                <a14:m>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𝑎</m:t>
                            </m:r>
                          </m:e>
                        </m:acc>
                      </m:e>
                      <m:sub>
                        <m:r>
                          <a:rPr lang="en-CA" b="0" i="1">
                            <a:solidFill>
                              <a:schemeClr val="tx1"/>
                            </a:solidFill>
                            <a:latin typeface="Cambria Math" panose="02040503050406030204" pitchFamily="18" charset="0"/>
                            <a:ea typeface="Cambria Math" panose="02040503050406030204" pitchFamily="18" charset="0"/>
                          </a:rPr>
                          <m:t>𝑟𝑓</m:t>
                        </m:r>
                      </m:sub>
                    </m:sSub>
                  </m:oMath>
                </a14:m>
                <a:r>
                  <a:rPr lang="en-CA" dirty="0">
                    <a:solidFill>
                      <a:schemeClr val="tx1"/>
                    </a:solidFill>
                    <a:latin typeface="+mn-lt"/>
                  </a:rPr>
                  <a:t> is the rectilinear acceleration of non-inertial reference frame </a:t>
                </a:r>
                <a:r>
                  <a:rPr lang="en-CA" i="1" dirty="0">
                    <a:solidFill>
                      <a:schemeClr val="tx1"/>
                    </a:solidFill>
                    <a:latin typeface="+mn-lt"/>
                  </a:rPr>
                  <a:t>xyz</a:t>
                </a:r>
                <a:r>
                  <a:rPr lang="en-CA" dirty="0">
                    <a:solidFill>
                      <a:schemeClr val="tx1"/>
                    </a:solidFill>
                    <a:latin typeface="+mn-lt"/>
                  </a:rPr>
                  <a:t> (</a:t>
                </a:r>
                <a:r>
                  <a:rPr lang="en-CA" i="1" dirty="0">
                    <a:solidFill>
                      <a:schemeClr val="tx1"/>
                    </a:solidFill>
                    <a:latin typeface="+mn-lt"/>
                  </a:rPr>
                  <a:t>the accelerating CV</a:t>
                </a:r>
                <a:r>
                  <a:rPr lang="en-CA" dirty="0">
                    <a:solidFill>
                      <a:schemeClr val="tx1"/>
                    </a:solidFill>
                    <a:latin typeface="+mn-lt"/>
                  </a:rPr>
                  <a:t>) relative to the inertial reference frame </a:t>
                </a:r>
                <a:r>
                  <a:rPr lang="en-CA" i="1" dirty="0">
                    <a:solidFill>
                      <a:schemeClr val="tx1"/>
                    </a:solidFill>
                    <a:latin typeface="+mn-lt"/>
                  </a:rPr>
                  <a:t>XYZ</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847521"/>
                <a:ext cx="9144000" cy="4611447"/>
              </a:xfrm>
              <a:blipFill>
                <a:blip r:embed="rId2"/>
                <a:stretch>
                  <a:fillRect l="-1000" t="-1849"/>
                </a:stretch>
              </a:blipFill>
            </p:spPr>
            <p:txBody>
              <a:bodyPr/>
              <a:lstStyle/>
              <a:p>
                <a:r>
                  <a:rPr lang="en-GH">
                    <a:noFill/>
                  </a:rPr>
                  <a:t> </a:t>
                </a:r>
              </a:p>
            </p:txBody>
          </p:sp>
        </mc:Fallback>
      </mc:AlternateContent>
    </p:spTree>
    <p:extLst>
      <p:ext uri="{BB962C8B-B14F-4D97-AF65-F5344CB8AC3E}">
        <p14:creationId xmlns:p14="http://schemas.microsoft.com/office/powerpoint/2010/main" val="930947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Control Volume with Rectilinear Acceleration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35034" y="1926099"/>
                <a:ext cx="7886700" cy="4931901"/>
              </a:xfrm>
            </p:spPr>
            <p:txBody>
              <a:bodyPr>
                <a:normAutofit/>
              </a:bodyPr>
              <a:lstStyle/>
              <a:p>
                <a:pPr marL="0" indent="0">
                  <a:lnSpc>
                    <a:spcPct val="150000"/>
                  </a:lnSpc>
                  <a:buNone/>
                </a:pPr>
                <a:r>
                  <a:rPr lang="en-CA" sz="1600" b="1" dirty="0">
                    <a:latin typeface="+mn-lt"/>
                  </a:rPr>
                  <a:t>From Eqn. 1 and 3: </a:t>
                </a:r>
                <a:endParaRPr lang="en-CA" sz="1600" b="1"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n-CA" sz="1600" b="1" i="1" smtClean="0">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r>
                        <a:rPr lang="en-CA" sz="1600" b="1" i="1">
                          <a:solidFill>
                            <a:schemeClr val="tx1"/>
                          </a:solidFill>
                          <a:latin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rPr>
                                    <m:t>𝑿𝒀𝒁</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r>
                        <a:rPr lang="en-CA" sz="1600" b="1" i="1">
                          <a:solidFill>
                            <a:schemeClr val="tx1"/>
                          </a:solidFill>
                          <a:latin typeface="Cambria Math" panose="02040503050406030204" pitchFamily="18" charset="0"/>
                          <a:ea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𝒙𝒚𝒛</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r>
                        <a:rPr lang="en-CA" sz="1600" b="1" i="1">
                          <a:solidFill>
                            <a:schemeClr val="tx1"/>
                          </a:solidFill>
                          <a:latin typeface="Cambria Math" panose="02040503050406030204" pitchFamily="18" charset="0"/>
                          <a:ea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𝒓𝒇</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oMath>
                  </m:oMathPara>
                </a14:m>
                <a:endParaRPr lang="en-CA" sz="1600" b="1" i="1" dirty="0">
                  <a:solidFill>
                    <a:schemeClr val="tx1"/>
                  </a:solidFill>
                  <a:latin typeface="Cambria Math" panose="02040503050406030204" pitchFamily="18" charset="0"/>
                </a:endParaRP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r>
                        <a:rPr lang="en-CA" sz="1600" b="1" i="1">
                          <a:solidFill>
                            <a:schemeClr val="tx1"/>
                          </a:solidFill>
                          <a:latin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smtClean="0">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smtClean="0">
                                      <a:solidFill>
                                        <a:schemeClr val="tx1"/>
                                      </a:solidFill>
                                      <a:latin typeface="Cambria Math" panose="02040503050406030204" pitchFamily="18" charset="0"/>
                                      <a:ea typeface="Cambria Math" panose="02040503050406030204" pitchFamily="18" charset="0"/>
                                    </a:rPr>
                                    <m:t>𝒙𝒚𝒛</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r>
                        <a:rPr lang="en-CA" sz="1600" b="1" i="1" smtClean="0">
                          <a:solidFill>
                            <a:schemeClr val="tx1"/>
                          </a:solidFill>
                          <a:latin typeface="Cambria Math" panose="02040503050406030204" pitchFamily="18" charset="0"/>
                          <a:ea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sSub>
                            <m:sSubPr>
                              <m:ctrlPr>
                                <a:rPr lang="en-CA" sz="1600" b="1" i="1" smtClean="0">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smtClean="0">
                                      <a:solidFill>
                                        <a:schemeClr val="tx1"/>
                                      </a:solidFill>
                                      <a:latin typeface="Cambria Math" panose="02040503050406030204" pitchFamily="18" charset="0"/>
                                      <a:ea typeface="Cambria Math" panose="02040503050406030204" pitchFamily="18" charset="0"/>
                                    </a:rPr>
                                    <m:t>𝒂</m:t>
                                  </m:r>
                                </m:e>
                              </m:acc>
                            </m:e>
                            <m:sub>
                              <m:r>
                                <a:rPr lang="en-CA" sz="1600" b="1" i="1" smtClean="0">
                                  <a:solidFill>
                                    <a:schemeClr val="tx1"/>
                                  </a:solidFill>
                                  <a:latin typeface="Cambria Math" panose="02040503050406030204" pitchFamily="18" charset="0"/>
                                  <a:ea typeface="Cambria Math" panose="02040503050406030204" pitchFamily="18" charset="0"/>
                                </a:rPr>
                                <m:t>𝒓𝒇</m:t>
                              </m:r>
                            </m:sub>
                          </m:sSub>
                          <m:r>
                            <a:rPr lang="en-CA" sz="1600" b="1" i="1">
                              <a:solidFill>
                                <a:schemeClr val="tx1"/>
                              </a:solidFill>
                              <a:latin typeface="Cambria Math" panose="02040503050406030204" pitchFamily="18" charset="0"/>
                              <a:ea typeface="Cambria Math" panose="02040503050406030204" pitchFamily="18" charset="0"/>
                            </a:rPr>
                            <m:t>𝒅𝒎</m:t>
                          </m:r>
                        </m:e>
                      </m:nary>
                    </m:oMath>
                  </m:oMathPara>
                </a14:m>
                <a:endParaRPr lang="en-CA" sz="1600" b="1" dirty="0">
                  <a:solidFill>
                    <a:schemeClr val="tx1"/>
                  </a:solidFill>
                </a:endParaRP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r>
                        <a:rPr lang="en-CA" sz="1600" b="1" i="1" smtClean="0">
                          <a:solidFill>
                            <a:schemeClr val="tx1"/>
                          </a:solidFill>
                          <a:latin typeface="Cambria Math" panose="02040503050406030204" pitchFamily="18" charset="0"/>
                          <a:ea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sSub>
                            <m:sSubPr>
                              <m:ctrlPr>
                                <a:rPr lang="en-CA" sz="1600" b="1" i="1" smtClean="0">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𝒂</m:t>
                                  </m:r>
                                </m:e>
                              </m:acc>
                            </m:e>
                            <m:sub>
                              <m:r>
                                <a:rPr lang="en-CA" sz="1600" b="1" i="1">
                                  <a:solidFill>
                                    <a:schemeClr val="tx1"/>
                                  </a:solidFill>
                                  <a:latin typeface="Cambria Math" panose="02040503050406030204" pitchFamily="18" charset="0"/>
                                  <a:ea typeface="Cambria Math" panose="02040503050406030204" pitchFamily="18" charset="0"/>
                                </a:rPr>
                                <m:t>𝒓𝒇</m:t>
                              </m:r>
                            </m:sub>
                          </m:sSub>
                          <m:r>
                            <a:rPr lang="en-CA" sz="1600" b="1" i="1">
                              <a:solidFill>
                                <a:schemeClr val="tx1"/>
                              </a:solidFill>
                              <a:latin typeface="Cambria Math" panose="02040503050406030204" pitchFamily="18" charset="0"/>
                              <a:ea typeface="Cambria Math" panose="02040503050406030204" pitchFamily="18" charset="0"/>
                            </a:rPr>
                            <m:t>𝒅𝒎</m:t>
                          </m:r>
                        </m:e>
                      </m:nary>
                      <m:r>
                        <a:rPr lang="en-CA" sz="1600" b="1" i="1">
                          <a:solidFill>
                            <a:schemeClr val="tx1"/>
                          </a:solidFill>
                          <a:latin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smtClean="0">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𝒙𝒚𝒛</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r>
                        <a:rPr lang="en-CA" sz="1600" b="1" i="1" smtClean="0">
                          <a:solidFill>
                            <a:schemeClr val="tx1"/>
                          </a:solidFill>
                          <a:latin typeface="Cambria Math" panose="02040503050406030204" pitchFamily="18" charset="0"/>
                          <a:ea typeface="Cambria Math" panose="02040503050406030204" pitchFamily="18" charset="0"/>
                        </a:rPr>
                        <m:t>=</m:t>
                      </m:r>
                      <m:sSub>
                        <m:sSubPr>
                          <m:ctrlPr>
                            <a:rPr lang="en-CA" sz="1600" b="1" i="1">
                              <a:solidFill>
                                <a:schemeClr val="tx1"/>
                              </a:solidFill>
                              <a:latin typeface="Cambria Math" panose="02040503050406030204" pitchFamily="18" charset="0"/>
                            </a:rPr>
                          </m:ctrlPr>
                        </m:sSubPr>
                        <m:e>
                          <m:d>
                            <m:dPr>
                              <m:ctrlPr>
                                <a:rPr lang="en-CA" sz="1600" b="1" i="1">
                                  <a:solidFill>
                                    <a:schemeClr val="tx1"/>
                                  </a:solidFill>
                                  <a:latin typeface="Cambria Math" panose="02040503050406030204" pitchFamily="18" charset="0"/>
                                </a:rPr>
                              </m:ctrlPr>
                            </m:dPr>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𝑷</m:t>
                                          </m:r>
                                        </m:e>
                                      </m:acc>
                                    </m:e>
                                    <m:sub>
                                      <m:r>
                                        <a:rPr lang="en-CA" sz="1600" b="1" i="1" smtClean="0">
                                          <a:solidFill>
                                            <a:schemeClr val="tx1"/>
                                          </a:solidFill>
                                          <a:latin typeface="Cambria Math" panose="02040503050406030204" pitchFamily="18" charset="0"/>
                                          <a:ea typeface="Cambria Math" panose="02040503050406030204" pitchFamily="18" charset="0"/>
                                        </a:rPr>
                                        <m:t>𝒙𝒚𝒛</m:t>
                                      </m:r>
                                    </m:sub>
                                  </m:sSub>
                                </m:num>
                                <m:den>
                                  <m:r>
                                    <a:rPr lang="en-CA" sz="1600" b="1" i="1">
                                      <a:solidFill>
                                        <a:schemeClr val="tx1"/>
                                      </a:solidFill>
                                      <a:latin typeface="Cambria Math" panose="02040503050406030204" pitchFamily="18" charset="0"/>
                                    </a:rPr>
                                    <m:t>𝒅𝒕</m:t>
                                  </m:r>
                                </m:den>
                              </m:f>
                            </m:e>
                          </m:d>
                        </m:e>
                        <m:sub>
                          <m:r>
                            <a:rPr lang="en-CA" sz="1600" b="1" i="1">
                              <a:solidFill>
                                <a:schemeClr val="tx1"/>
                              </a:solidFill>
                              <a:latin typeface="Cambria Math" panose="02040503050406030204" pitchFamily="18" charset="0"/>
                            </a:rPr>
                            <m:t>𝒔</m:t>
                          </m:r>
                        </m:sub>
                      </m:sSub>
                    </m:oMath>
                  </m:oMathPara>
                </a14:m>
                <a:endParaRPr lang="en-CA" sz="1600" b="1" dirty="0"/>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
                        <m:sSubPr>
                          <m:ctrlPr>
                            <a:rPr lang="en-CA" sz="1600" b="1" i="1" smtClean="0">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e>
                        <m:sub>
                          <m:r>
                            <a:rPr lang="en-CA" sz="1600" b="1" i="1">
                              <a:solidFill>
                                <a:schemeClr val="tx1"/>
                              </a:solidFill>
                              <a:latin typeface="Cambria Math" panose="02040503050406030204" pitchFamily="18" charset="0"/>
                            </a:rPr>
                            <m:t>𝒔</m:t>
                          </m:r>
                        </m:sub>
                      </m:sSub>
                      <m:r>
                        <a:rPr lang="en-CA" sz="1600" b="1" i="1">
                          <a:solidFill>
                            <a:schemeClr val="tx1"/>
                          </a:solidFill>
                          <a:latin typeface="Cambria Math" panose="02040503050406030204" pitchFamily="18" charset="0"/>
                        </a:rPr>
                        <m:t>+</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e>
                        <m:sub>
                          <m:r>
                            <a:rPr lang="en-CA" sz="1600" b="1" i="1">
                              <a:solidFill>
                                <a:schemeClr val="tx1"/>
                              </a:solidFill>
                              <a:latin typeface="Cambria Math" panose="02040503050406030204" pitchFamily="18" charset="0"/>
                            </a:rPr>
                            <m:t>𝑩</m:t>
                          </m:r>
                        </m:sub>
                      </m:sSub>
                      <m:r>
                        <a:rPr lang="en-CA" sz="1600" b="1" i="1">
                          <a:solidFill>
                            <a:schemeClr val="tx1"/>
                          </a:solidFill>
                          <a:latin typeface="Cambria Math" panose="02040503050406030204" pitchFamily="18" charset="0"/>
                          <a:ea typeface="Cambria Math" panose="02040503050406030204" pitchFamily="18" charset="0"/>
                        </a:rPr>
                        <m:t>−</m:t>
                      </m:r>
                      <m:nary>
                        <m:naryPr>
                          <m:ctrlPr>
                            <a:rPr lang="en-CA" sz="1600" b="1" i="1" smtClean="0">
                              <a:solidFill>
                                <a:schemeClr val="tx1"/>
                              </a:solidFill>
                              <a:latin typeface="Cambria Math" panose="02040503050406030204" pitchFamily="18" charset="0"/>
                            </a:rPr>
                          </m:ctrlPr>
                        </m:naryPr>
                        <m:sub>
                          <m:r>
                            <a:rPr lang="en-CA" sz="1600" b="1" i="1" smtClean="0">
                              <a:solidFill>
                                <a:schemeClr val="tx1"/>
                              </a:solidFill>
                              <a:latin typeface="Cambria Math" panose="02040503050406030204" pitchFamily="18" charset="0"/>
                            </a:rPr>
                            <m:t>𝑴</m:t>
                          </m:r>
                        </m:sub>
                        <m:sup/>
                        <m:e>
                          <m:sSub>
                            <m:sSubPr>
                              <m:ctrlPr>
                                <a:rPr lang="en-CA" sz="1600" b="1" i="1" smtClean="0">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𝒂</m:t>
                                  </m:r>
                                </m:e>
                              </m:acc>
                            </m:e>
                            <m:sub>
                              <m:r>
                                <a:rPr lang="en-CA" sz="1600" b="1" i="1">
                                  <a:solidFill>
                                    <a:schemeClr val="tx1"/>
                                  </a:solidFill>
                                  <a:latin typeface="Cambria Math" panose="02040503050406030204" pitchFamily="18" charset="0"/>
                                  <a:ea typeface="Cambria Math" panose="02040503050406030204" pitchFamily="18" charset="0"/>
                                </a:rPr>
                                <m:t>𝒓𝒇</m:t>
                              </m:r>
                            </m:sub>
                          </m:sSub>
                          <m:r>
                            <a:rPr lang="en-CA" sz="1600" b="1" i="1" smtClean="0">
                              <a:solidFill>
                                <a:schemeClr val="tx1"/>
                              </a:solidFill>
                              <a:latin typeface="Cambria Math" panose="02040503050406030204" pitchFamily="18" charset="0"/>
                              <a:ea typeface="Cambria Math" panose="02040503050406030204" pitchFamily="18" charset="0"/>
                            </a:rPr>
                            <m:t>𝝆</m:t>
                          </m:r>
                          <m:r>
                            <a:rPr lang="en-CA" sz="1600" b="1" i="1">
                              <a:solidFill>
                                <a:schemeClr val="tx1"/>
                              </a:solidFill>
                              <a:latin typeface="Cambria Math" panose="02040503050406030204" pitchFamily="18" charset="0"/>
                              <a:ea typeface="Cambria Math" panose="02040503050406030204" pitchFamily="18" charset="0"/>
                            </a:rPr>
                            <m:t>𝒅</m:t>
                          </m:r>
                          <m:r>
                            <a:rPr lang="en-CA" sz="1600" b="1" i="1" smtClean="0">
                              <a:solidFill>
                                <a:schemeClr val="tx1"/>
                              </a:solidFill>
                              <a:latin typeface="Cambria Math" panose="02040503050406030204" pitchFamily="18" charset="0"/>
                              <a:ea typeface="Cambria Math" panose="02040503050406030204" pitchFamily="18" charset="0"/>
                            </a:rPr>
                            <m:t>∀</m:t>
                          </m:r>
                        </m:e>
                      </m:nary>
                      <m:r>
                        <a:rPr lang="en-CA" sz="1600" b="1" i="1">
                          <a:solidFill>
                            <a:schemeClr val="tx1"/>
                          </a:solidFill>
                          <a:latin typeface="Cambria Math" panose="02040503050406030204" pitchFamily="18" charset="0"/>
                        </a:rPr>
                        <m:t>=</m:t>
                      </m:r>
                      <m:f>
                        <m:fPr>
                          <m:ctrlPr>
                            <a:rPr lang="en-CA" sz="1600" b="1" i="1" smtClean="0">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ea typeface="Cambria Math" panose="02040503050406030204" pitchFamily="18" charset="0"/>
                            </a:rPr>
                            <m:t>𝝏</m:t>
                          </m:r>
                        </m:num>
                        <m:den>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𝒕</m:t>
                          </m:r>
                        </m:den>
                      </m:f>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𝑽</m:t>
                          </m:r>
                        </m:sub>
                        <m:sup/>
                        <m:e>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rPr>
                                <m:t>𝒙𝒚𝒛</m:t>
                              </m:r>
                            </m:sub>
                          </m:sSub>
                          <m:r>
                            <a:rPr lang="en-CA" sz="1600" b="1" i="1">
                              <a:solidFill>
                                <a:schemeClr val="tx1"/>
                              </a:solidFill>
                              <a:latin typeface="Cambria Math" panose="02040503050406030204" pitchFamily="18" charset="0"/>
                              <a:ea typeface="Cambria Math" panose="02040503050406030204" pitchFamily="18" charset="0"/>
                            </a:rPr>
                            <m:t>𝝆</m:t>
                          </m:r>
                          <m:r>
                            <a:rPr lang="en-CA" sz="1600" b="1" i="1">
                              <a:solidFill>
                                <a:schemeClr val="tx1"/>
                              </a:solidFill>
                              <a:latin typeface="Cambria Math" panose="02040503050406030204" pitchFamily="18" charset="0"/>
                              <a:ea typeface="Cambria Math" panose="02040503050406030204" pitchFamily="18" charset="0"/>
                            </a:rPr>
                            <m:t>𝒅</m:t>
                          </m:r>
                          <m:r>
                            <a:rPr lang="en-CA" sz="1600" b="1" i="1" smtClean="0">
                              <a:solidFill>
                                <a:schemeClr val="tx1"/>
                              </a:solidFill>
                              <a:latin typeface="Cambria Math" panose="02040503050406030204" pitchFamily="18" charset="0"/>
                              <a:ea typeface="Cambria Math" panose="02040503050406030204" pitchFamily="18" charset="0"/>
                            </a:rPr>
                            <m:t>∀</m:t>
                          </m:r>
                        </m:e>
                      </m:nary>
                      <m:r>
                        <a:rPr lang="en-CA" sz="1600" b="1">
                          <a:solidFill>
                            <a:schemeClr val="tx1"/>
                          </a:solidFill>
                          <a:latin typeface="Cambria Math" panose="02040503050406030204" pitchFamily="18" charset="0"/>
                          <a:ea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rPr>
                                <m:t>𝒙𝒚𝒛</m:t>
                              </m:r>
                            </m:sub>
                          </m:sSub>
                          <m:r>
                            <a:rPr lang="en-CA" sz="1600" b="1" i="1">
                              <a:solidFill>
                                <a:schemeClr val="tx1"/>
                              </a:solidFill>
                              <a:latin typeface="Cambria Math" panose="02040503050406030204" pitchFamily="18" charset="0"/>
                              <a:ea typeface="Cambria Math" panose="02040503050406030204" pitchFamily="18" charset="0"/>
                            </a:rPr>
                            <m:t>𝝆</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rPr>
                                <m:t>𝒙𝒚𝒛</m:t>
                              </m:r>
                            </m:sub>
                          </m:sSub>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16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35034" y="1926099"/>
                <a:ext cx="7886700" cy="4931901"/>
              </a:xfrm>
              <a:blipFill>
                <a:blip r:embed="rId2"/>
                <a:stretch>
                  <a:fillRect l="-464"/>
                </a:stretch>
              </a:blipFill>
            </p:spPr>
            <p:txBody>
              <a:bodyPr/>
              <a:lstStyle/>
              <a:p>
                <a:r>
                  <a:rPr lang="en-GH">
                    <a:noFill/>
                  </a:rPr>
                  <a:t> </a:t>
                </a:r>
              </a:p>
            </p:txBody>
          </p:sp>
        </mc:Fallback>
      </mc:AlternateContent>
      <p:sp>
        <p:nvSpPr>
          <p:cNvPr id="4" name="Rectangle 3"/>
          <p:cNvSpPr/>
          <p:nvPr/>
        </p:nvSpPr>
        <p:spPr>
          <a:xfrm>
            <a:off x="1120291" y="5262341"/>
            <a:ext cx="6007184" cy="767413"/>
          </a:xfrm>
          <a:prstGeom prst="rect">
            <a:avLst/>
          </a:prstGeom>
          <a:noFill/>
          <a:ln w="1905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 name="Rectangle 4"/>
              <p:cNvSpPr/>
              <p:nvPr/>
            </p:nvSpPr>
            <p:spPr>
              <a:xfrm>
                <a:off x="-987069" y="815743"/>
                <a:ext cx="5310787" cy="6894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CA" sz="1600" b="1" i="1" smtClean="0">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𝑭</m:t>
                          </m:r>
                        </m:e>
                      </m:acc>
                      <m:r>
                        <a:rPr lang="en-CA" sz="1600" b="1" i="1">
                          <a:solidFill>
                            <a:schemeClr val="tx1"/>
                          </a:solidFill>
                          <a:latin typeface="Cambria Math" panose="02040503050406030204" pitchFamily="18" charset="0"/>
                        </a:rPr>
                        <m:t>=</m:t>
                      </m:r>
                      <m:sSub>
                        <m:sSubPr>
                          <m:ctrlPr>
                            <a:rPr lang="en-CA" sz="1600" b="1" i="1">
                              <a:solidFill>
                                <a:schemeClr val="tx1"/>
                              </a:solidFill>
                              <a:latin typeface="Cambria Math" panose="02040503050406030204" pitchFamily="18" charset="0"/>
                            </a:rPr>
                          </m:ctrlPr>
                        </m:sSubPr>
                        <m:e>
                          <m:d>
                            <m:dPr>
                              <m:ctrlPr>
                                <a:rPr lang="en-CA" sz="1600" b="1" i="1">
                                  <a:solidFill>
                                    <a:schemeClr val="tx1"/>
                                  </a:solidFill>
                                  <a:latin typeface="Cambria Math" panose="02040503050406030204" pitchFamily="18" charset="0"/>
                                </a:rPr>
                              </m:ctrlPr>
                            </m:dPr>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𝑷</m:t>
                                          </m:r>
                                        </m:e>
                                      </m:acc>
                                    </m:e>
                                    <m:sub>
                                      <m:r>
                                        <a:rPr lang="en-CA" sz="1600" b="1" i="1">
                                          <a:solidFill>
                                            <a:schemeClr val="tx1"/>
                                          </a:solidFill>
                                          <a:latin typeface="Cambria Math" panose="02040503050406030204" pitchFamily="18" charset="0"/>
                                          <a:ea typeface="Cambria Math" panose="02040503050406030204" pitchFamily="18" charset="0"/>
                                        </a:rPr>
                                        <m:t>𝑿</m:t>
                                      </m:r>
                                      <m:r>
                                        <a:rPr lang="en-CA" sz="1600" b="1" i="1">
                                          <a:solidFill>
                                            <a:schemeClr val="tx1"/>
                                          </a:solidFill>
                                          <a:latin typeface="Cambria Math" panose="02040503050406030204" pitchFamily="18" charset="0"/>
                                        </a:rPr>
                                        <m:t>𝒀𝒁</m:t>
                                      </m:r>
                                    </m:sub>
                                  </m:sSub>
                                </m:num>
                                <m:den>
                                  <m:r>
                                    <a:rPr lang="en-CA" sz="1600" b="1" i="1">
                                      <a:solidFill>
                                        <a:schemeClr val="tx1"/>
                                      </a:solidFill>
                                      <a:latin typeface="Cambria Math" panose="02040503050406030204" pitchFamily="18" charset="0"/>
                                    </a:rPr>
                                    <m:t>𝒅𝒕</m:t>
                                  </m:r>
                                </m:den>
                              </m:f>
                            </m:e>
                          </m:d>
                        </m:e>
                        <m:sub>
                          <m:r>
                            <a:rPr lang="en-CA" sz="1600" b="1" i="1">
                              <a:solidFill>
                                <a:schemeClr val="tx1"/>
                              </a:solidFill>
                              <a:latin typeface="Cambria Math" panose="02040503050406030204" pitchFamily="18" charset="0"/>
                            </a:rPr>
                            <m:t>𝒔</m:t>
                          </m:r>
                        </m:sub>
                      </m:sSub>
                      <m:r>
                        <a:rPr lang="en-CA" sz="1600" b="1" i="1">
                          <a:solidFill>
                            <a:schemeClr val="tx1"/>
                          </a:solidFill>
                          <a:latin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a:rPr lang="en-CA" sz="1600" b="1" i="1">
                              <a:solidFill>
                                <a:schemeClr val="tx1"/>
                              </a:solidFill>
                              <a:latin typeface="Cambria Math" panose="02040503050406030204" pitchFamily="18" charset="0"/>
                            </a:rPr>
                            <m:t>𝑴</m:t>
                          </m:r>
                        </m:sub>
                        <m:sup/>
                        <m:e>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rPr>
                                <m:t>𝒅</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rPr>
                                    <m:t>𝑿𝒀𝒁</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ea typeface="Cambria Math" panose="02040503050406030204" pitchFamily="18" charset="0"/>
                            </a:rPr>
                            <m:t>𝒅𝒎</m:t>
                          </m:r>
                        </m:e>
                      </m:nary>
                    </m:oMath>
                  </m:oMathPara>
                </a14:m>
                <a:endParaRPr lang="en-CA" sz="1600" dirty="0"/>
              </a:p>
            </p:txBody>
          </p:sp>
        </mc:Choice>
        <mc:Fallback xmlns="">
          <p:sp>
            <p:nvSpPr>
              <p:cNvPr id="5" name="Rectangle 4"/>
              <p:cNvSpPr>
                <a:spLocks noRot="1" noChangeAspect="1" noMove="1" noResize="1" noEditPoints="1" noAdjustHandles="1" noChangeArrowheads="1" noChangeShapeType="1" noTextEdit="1"/>
              </p:cNvSpPr>
              <p:nvPr/>
            </p:nvSpPr>
            <p:spPr>
              <a:xfrm>
                <a:off x="-987069" y="815743"/>
                <a:ext cx="5310787" cy="689484"/>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067175" y="543106"/>
                <a:ext cx="4572000" cy="1453603"/>
              </a:xfrm>
              <a:prstGeom prst="rect">
                <a:avLst/>
              </a:prstGeom>
            </p:spPr>
            <p:txBody>
              <a:bodyPr>
                <a:spAutoFit/>
              </a:bodyPr>
              <a:lstStyle/>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f>
                        <m:fPr>
                          <m:ctrlPr>
                            <a:rPr lang="en-CA" sz="1600" b="1" i="1" smtClean="0">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r>
                                <a:rPr lang="en-CA" sz="1600" b="1" i="1">
                                  <a:solidFill>
                                    <a:schemeClr val="tx1"/>
                                  </a:solidFill>
                                  <a:latin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𝑿</m:t>
                              </m:r>
                              <m:r>
                                <a:rPr lang="en-CA" sz="1600" b="1" i="1">
                                  <a:solidFill>
                                    <a:schemeClr val="tx1"/>
                                  </a:solidFill>
                                  <a:latin typeface="Cambria Math" panose="02040503050406030204" pitchFamily="18" charset="0"/>
                                </a:rPr>
                                <m:t>𝒀𝒁</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rPr>
                        <m:t>=</m:t>
                      </m:r>
                      <m:f>
                        <m:fPr>
                          <m:ctrlPr>
                            <a:rPr lang="en-CA" sz="1600" b="1" i="1">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𝒙𝒚𝒛</m:t>
                              </m:r>
                            </m:sub>
                          </m:sSub>
                        </m:num>
                        <m:den>
                          <m:r>
                            <a:rPr lang="en-CA" sz="1600" b="1" i="1">
                              <a:solidFill>
                                <a:schemeClr val="tx1"/>
                              </a:solidFill>
                              <a:latin typeface="Cambria Math" panose="02040503050406030204" pitchFamily="18" charset="0"/>
                            </a:rPr>
                            <m:t>𝒅𝒕</m:t>
                          </m:r>
                        </m:den>
                      </m:f>
                      <m:r>
                        <a:rPr lang="en-CA" sz="1600" b="1" i="1">
                          <a:solidFill>
                            <a:schemeClr val="tx1"/>
                          </a:solidFill>
                          <a:latin typeface="Cambria Math" panose="02040503050406030204" pitchFamily="18" charset="0"/>
                        </a:rPr>
                        <m:t>+</m:t>
                      </m:r>
                      <m:f>
                        <m:fPr>
                          <m:ctrlPr>
                            <a:rPr lang="en-CA" sz="1600" b="1" i="1">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r>
                                <a:rPr lang="en-CA" sz="1600" b="1" i="1">
                                  <a:solidFill>
                                    <a:schemeClr val="tx1"/>
                                  </a:solidFill>
                                  <a:latin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e>
                            <m:sub>
                              <m:r>
                                <a:rPr lang="en-CA" sz="1600" b="1" i="1">
                                  <a:solidFill>
                                    <a:schemeClr val="tx1"/>
                                  </a:solidFill>
                                  <a:latin typeface="Cambria Math" panose="02040503050406030204" pitchFamily="18" charset="0"/>
                                  <a:ea typeface="Cambria Math" panose="02040503050406030204" pitchFamily="18" charset="0"/>
                                </a:rPr>
                                <m:t>𝒓𝒇</m:t>
                              </m:r>
                            </m:sub>
                          </m:sSub>
                        </m:num>
                        <m:den>
                          <m:r>
                            <a:rPr lang="en-CA" sz="1600" b="1" i="1">
                              <a:solidFill>
                                <a:schemeClr val="tx1"/>
                              </a:solidFill>
                              <a:latin typeface="Cambria Math" panose="02040503050406030204" pitchFamily="18" charset="0"/>
                            </a:rPr>
                            <m:t>𝒅𝒕</m:t>
                          </m:r>
                        </m:den>
                      </m:f>
                    </m:oMath>
                  </m:oMathPara>
                </a14:m>
                <a:endParaRPr lang="en-CA" sz="1600" b="1" i="1" dirty="0">
                  <a:solidFill>
                    <a:schemeClr val="tx1"/>
                  </a:solidFill>
                </a:endParaRP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𝒂</m:t>
                              </m:r>
                            </m:e>
                          </m:acc>
                        </m:e>
                        <m:sub>
                          <m:r>
                            <a:rPr lang="en-CA" sz="1600" b="1" i="1">
                              <a:solidFill>
                                <a:schemeClr val="tx1"/>
                              </a:solidFill>
                              <a:latin typeface="Cambria Math" panose="02040503050406030204" pitchFamily="18" charset="0"/>
                              <a:ea typeface="Cambria Math" panose="02040503050406030204" pitchFamily="18" charset="0"/>
                            </a:rPr>
                            <m:t>𝑿</m:t>
                          </m:r>
                          <m:r>
                            <a:rPr lang="en-CA" sz="1600" b="1" i="1">
                              <a:solidFill>
                                <a:schemeClr val="tx1"/>
                              </a:solidFill>
                              <a:latin typeface="Cambria Math" panose="02040503050406030204" pitchFamily="18" charset="0"/>
                            </a:rPr>
                            <m:t>𝒀𝒁</m:t>
                          </m:r>
                        </m:sub>
                      </m:sSub>
                      <m:r>
                        <a:rPr lang="en-CA" sz="1600" b="1" i="1">
                          <a:solidFill>
                            <a:schemeClr val="tx1"/>
                          </a:solidFill>
                          <a:latin typeface="Cambria Math" panose="02040503050406030204" pitchFamily="18" charset="0"/>
                        </a:rPr>
                        <m:t>=</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𝒂</m:t>
                              </m:r>
                            </m:e>
                          </m:acc>
                        </m:e>
                        <m:sub>
                          <m:r>
                            <a:rPr lang="en-CA" sz="1600" b="1" i="1">
                              <a:solidFill>
                                <a:schemeClr val="tx1"/>
                              </a:solidFill>
                              <a:latin typeface="Cambria Math" panose="02040503050406030204" pitchFamily="18" charset="0"/>
                              <a:ea typeface="Cambria Math" panose="02040503050406030204" pitchFamily="18" charset="0"/>
                            </a:rPr>
                            <m:t>𝒙𝒚𝒛</m:t>
                          </m:r>
                        </m:sub>
                      </m:sSub>
                      <m:r>
                        <a:rPr lang="en-CA" sz="1600" b="1" i="1">
                          <a:solidFill>
                            <a:schemeClr val="tx1"/>
                          </a:solidFill>
                          <a:latin typeface="Cambria Math" panose="02040503050406030204" pitchFamily="18" charset="0"/>
                        </a:rPr>
                        <m:t>+</m:t>
                      </m:r>
                      <m:sSub>
                        <m:sSubPr>
                          <m:ctrlPr>
                            <a:rPr lang="en-CA" sz="1600" b="1" i="1">
                              <a:solidFill>
                                <a:schemeClr val="tx1"/>
                              </a:solidFill>
                              <a:latin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𝒂</m:t>
                              </m:r>
                            </m:e>
                          </m:acc>
                        </m:e>
                        <m:sub>
                          <m:r>
                            <a:rPr lang="en-CA" sz="1600" b="1" i="1">
                              <a:solidFill>
                                <a:schemeClr val="tx1"/>
                              </a:solidFill>
                              <a:latin typeface="Cambria Math" panose="02040503050406030204" pitchFamily="18" charset="0"/>
                              <a:ea typeface="Cambria Math" panose="02040503050406030204" pitchFamily="18" charset="0"/>
                            </a:rPr>
                            <m:t>𝒓𝒇</m:t>
                          </m:r>
                        </m:sub>
                      </m:sSub>
                    </m:oMath>
                  </m:oMathPara>
                </a14:m>
                <a:endParaRPr lang="en-CA" sz="1600" dirty="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3067175" y="543106"/>
                <a:ext cx="4572000" cy="1453603"/>
              </a:xfrm>
              <a:prstGeom prst="rect">
                <a:avLst/>
              </a:prstGeom>
              <a:blipFill>
                <a:blip r:embed="rId4"/>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298970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57735" t="46972" b="2673"/>
          <a:stretch/>
        </p:blipFill>
        <p:spPr>
          <a:xfrm>
            <a:off x="265723" y="2243016"/>
            <a:ext cx="4648853" cy="2516554"/>
          </a:xfrm>
          <a:prstGeom prst="rect">
            <a:avLst/>
          </a:prstGeom>
        </p:spPr>
      </p:pic>
      <p:sp>
        <p:nvSpPr>
          <p:cNvPr id="2" name="TextBox 1">
            <a:extLst>
              <a:ext uri="{FF2B5EF4-FFF2-40B4-BE49-F238E27FC236}">
                <a16:creationId xmlns:a16="http://schemas.microsoft.com/office/drawing/2014/main" id="{B053C4A5-E686-11FF-0651-99B9EFE89FF9}"/>
              </a:ext>
            </a:extLst>
          </p:cNvPr>
          <p:cNvSpPr txBox="1"/>
          <p:nvPr/>
        </p:nvSpPr>
        <p:spPr>
          <a:xfrm>
            <a:off x="71562" y="11156"/>
            <a:ext cx="9072438" cy="2308324"/>
          </a:xfrm>
          <a:prstGeom prst="rect">
            <a:avLst/>
          </a:prstGeom>
          <a:noFill/>
        </p:spPr>
        <p:txBody>
          <a:bodyPr wrap="square">
            <a:spAutoFit/>
          </a:bodyPr>
          <a:lstStyle/>
          <a:p>
            <a:pPr algn="just"/>
            <a:r>
              <a:rPr lang="en-GB" sz="2400" b="1" i="0" u="none" strike="noStrike" baseline="0" dirty="0">
                <a:solidFill>
                  <a:srgbClr val="231F20"/>
                </a:solidFill>
                <a:latin typeface="+mn-lt"/>
              </a:rPr>
              <a:t>Example 1</a:t>
            </a:r>
            <a:r>
              <a:rPr lang="en-GB" dirty="0">
                <a:solidFill>
                  <a:srgbClr val="231F20"/>
                </a:solidFill>
                <a:latin typeface="+mn-lt"/>
              </a:rPr>
              <a:t>:</a:t>
            </a:r>
            <a:r>
              <a:rPr lang="en-GB" sz="2400" b="0" i="0" u="none" strike="noStrike" baseline="0" dirty="0">
                <a:solidFill>
                  <a:srgbClr val="231F20"/>
                </a:solidFill>
                <a:latin typeface="+mn-lt"/>
              </a:rPr>
              <a:t> A rocket sled with initial mass of 3 metric tons, including 1 ton of fuel, rests on a level section of track. A </a:t>
            </a:r>
            <a:r>
              <a:rPr lang="en-GB" sz="2400" b="0" i="1" u="none" strike="noStrike" baseline="0" dirty="0">
                <a:solidFill>
                  <a:srgbClr val="231F20"/>
                </a:solidFill>
                <a:latin typeface="+mn-lt"/>
              </a:rPr>
              <a:t>t</a:t>
            </a:r>
            <a:r>
              <a:rPr lang="en-GB" sz="2400" b="0" i="0" u="none" strike="noStrike" baseline="0" dirty="0">
                <a:solidFill>
                  <a:srgbClr val="231F20"/>
                </a:solidFill>
                <a:latin typeface="+mn-lt"/>
              </a:rPr>
              <a:t> = 0, the solid fuel of the rocket is ignited and the rocket burns fuel at the rate of 75 kg/s. The exit speed of the exhaust gas relative to the rocket is 2500 m/s, and the pressure is atmospheric. Neglecting friction and air resistance, calculate the acceleration and speed of the sled at </a:t>
            </a:r>
            <a:r>
              <a:rPr lang="en-GB" sz="2400" b="0" i="1" u="none" strike="noStrike" baseline="0" dirty="0">
                <a:solidFill>
                  <a:srgbClr val="231F20"/>
                </a:solidFill>
                <a:latin typeface="+mn-lt"/>
              </a:rPr>
              <a:t>t</a:t>
            </a:r>
            <a:r>
              <a:rPr lang="en-GB" sz="2400" b="0" i="0" u="none" strike="noStrike" baseline="0" dirty="0">
                <a:solidFill>
                  <a:srgbClr val="231F20"/>
                </a:solidFill>
                <a:latin typeface="+mn-lt"/>
              </a:rPr>
              <a:t> = 10 s.</a:t>
            </a:r>
            <a:endParaRPr lang="en-GH" dirty="0">
              <a:latin typeface="+mn-lt"/>
            </a:endParaRPr>
          </a:p>
        </p:txBody>
      </p:sp>
      <p:sp>
        <p:nvSpPr>
          <p:cNvPr id="5" name="TextBox 4">
            <a:extLst>
              <a:ext uri="{FF2B5EF4-FFF2-40B4-BE49-F238E27FC236}">
                <a16:creationId xmlns:a16="http://schemas.microsoft.com/office/drawing/2014/main" id="{222D0D9B-5E6F-C672-8BE7-3196963B9348}"/>
              </a:ext>
            </a:extLst>
          </p:cNvPr>
          <p:cNvSpPr txBox="1"/>
          <p:nvPr/>
        </p:nvSpPr>
        <p:spPr>
          <a:xfrm>
            <a:off x="23445" y="4939041"/>
            <a:ext cx="1398955" cy="461665"/>
          </a:xfrm>
          <a:prstGeom prst="rect">
            <a:avLst/>
          </a:prstGeom>
          <a:noFill/>
        </p:spPr>
        <p:txBody>
          <a:bodyPr wrap="square">
            <a:spAutoFit/>
          </a:bodyPr>
          <a:lstStyle/>
          <a:p>
            <a:r>
              <a:rPr lang="en-GB" sz="2400" b="1" i="0" u="none" strike="noStrike" baseline="0" dirty="0">
                <a:solidFill>
                  <a:srgbClr val="231F20"/>
                </a:solidFill>
                <a:latin typeface="+mn-lt"/>
              </a:rPr>
              <a:t>Solution</a:t>
            </a:r>
            <a:r>
              <a:rPr lang="en-GB" sz="2400" b="0" i="0" u="none" strike="noStrike" baseline="0" dirty="0">
                <a:solidFill>
                  <a:srgbClr val="231F20"/>
                </a:solidFill>
                <a:latin typeface="+mn-lt"/>
              </a:rPr>
              <a:t>:</a:t>
            </a:r>
            <a:endParaRPr lang="en-GH" dirty="0"/>
          </a:p>
        </p:txBody>
      </p:sp>
      <p:sp>
        <p:nvSpPr>
          <p:cNvPr id="6" name="TextBox 5">
            <a:extLst>
              <a:ext uri="{FF2B5EF4-FFF2-40B4-BE49-F238E27FC236}">
                <a16:creationId xmlns:a16="http://schemas.microsoft.com/office/drawing/2014/main" id="{0053BA74-D345-DFF0-3EB5-6520B9D76893}"/>
              </a:ext>
            </a:extLst>
          </p:cNvPr>
          <p:cNvSpPr txBox="1"/>
          <p:nvPr/>
        </p:nvSpPr>
        <p:spPr>
          <a:xfrm>
            <a:off x="23445" y="5385363"/>
            <a:ext cx="9072438" cy="461665"/>
          </a:xfrm>
          <a:prstGeom prst="rect">
            <a:avLst/>
          </a:prstGeom>
          <a:noFill/>
        </p:spPr>
        <p:txBody>
          <a:bodyPr wrap="square">
            <a:spAutoFit/>
          </a:bodyPr>
          <a:lstStyle/>
          <a:p>
            <a:r>
              <a:rPr lang="en-GB" sz="2400" b="0" i="0" u="none" strike="noStrike" baseline="0" dirty="0">
                <a:solidFill>
                  <a:srgbClr val="231F20"/>
                </a:solidFill>
                <a:latin typeface="+mn-lt"/>
              </a:rPr>
              <a:t>We are to find acceleration </a:t>
            </a:r>
            <a:r>
              <a:rPr lang="en-GB" sz="2400" b="0" i="0" u="none" strike="noStrike" baseline="0" dirty="0" err="1">
                <a:solidFill>
                  <a:srgbClr val="231F20"/>
                </a:solidFill>
                <a:latin typeface="+mn-lt"/>
              </a:rPr>
              <a:t>d</a:t>
            </a:r>
            <a:r>
              <a:rPr lang="en-GB" sz="2400" b="0" i="1" u="none" strike="noStrike" baseline="0" dirty="0" err="1">
                <a:solidFill>
                  <a:srgbClr val="231F20"/>
                </a:solidFill>
                <a:latin typeface="+mn-lt"/>
              </a:rPr>
              <a:t>U</a:t>
            </a:r>
            <a:r>
              <a:rPr lang="en-GB" sz="2400" b="0" i="0" u="none" strike="noStrike" baseline="0" dirty="0">
                <a:solidFill>
                  <a:srgbClr val="231F20"/>
                </a:solidFill>
                <a:latin typeface="+mn-lt"/>
              </a:rPr>
              <a:t>/d</a:t>
            </a:r>
            <a:r>
              <a:rPr lang="en-GB" sz="2400" b="0" i="1" u="none" strike="noStrike" baseline="0" dirty="0">
                <a:solidFill>
                  <a:srgbClr val="231F20"/>
                </a:solidFill>
                <a:latin typeface="+mn-lt"/>
              </a:rPr>
              <a:t>t</a:t>
            </a:r>
            <a:r>
              <a:rPr lang="en-GB" sz="2400" b="0" i="0" u="none" strike="noStrike" baseline="0" dirty="0">
                <a:solidFill>
                  <a:srgbClr val="231F20"/>
                </a:solidFill>
                <a:latin typeface="+mn-lt"/>
              </a:rPr>
              <a:t> and speed </a:t>
            </a:r>
            <a:r>
              <a:rPr lang="en-GB" sz="2400" b="0" i="1" u="none" strike="noStrike" baseline="0" dirty="0">
                <a:solidFill>
                  <a:srgbClr val="231F20"/>
                </a:solidFill>
                <a:latin typeface="+mn-lt"/>
              </a:rPr>
              <a:t>U</a:t>
            </a:r>
            <a:r>
              <a:rPr lang="en-GB" sz="2400" b="0" i="0" u="none" strike="noStrike" baseline="0" dirty="0">
                <a:solidFill>
                  <a:srgbClr val="231F20"/>
                </a:solidFill>
                <a:latin typeface="+mn-lt"/>
              </a:rPr>
              <a:t> of the sled at </a:t>
            </a:r>
            <a:r>
              <a:rPr lang="en-GB" sz="2400" b="0" i="1" u="none" strike="noStrike" baseline="0" dirty="0">
                <a:solidFill>
                  <a:srgbClr val="231F20"/>
                </a:solidFill>
                <a:latin typeface="+mn-lt"/>
              </a:rPr>
              <a:t>t</a:t>
            </a:r>
            <a:r>
              <a:rPr lang="en-GB" sz="2400" b="0" i="0" u="none" strike="noStrike" baseline="0" dirty="0">
                <a:solidFill>
                  <a:srgbClr val="231F20"/>
                </a:solidFill>
                <a:latin typeface="+mn-lt"/>
              </a:rPr>
              <a:t> = 10 s.</a:t>
            </a:r>
            <a:endParaRPr lang="en-GH" dirty="0"/>
          </a:p>
        </p:txBody>
      </p:sp>
    </p:spTree>
    <p:extLst>
      <p:ext uri="{BB962C8B-B14F-4D97-AF65-F5344CB8AC3E}">
        <p14:creationId xmlns:p14="http://schemas.microsoft.com/office/powerpoint/2010/main" val="2927794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0C2EE20-1469-6CB8-3765-B5FBC5DEC844}"/>
              </a:ext>
            </a:extLst>
          </p:cNvPr>
          <p:cNvSpPr txBox="1"/>
          <p:nvPr/>
        </p:nvSpPr>
        <p:spPr>
          <a:xfrm>
            <a:off x="27432" y="32111"/>
            <a:ext cx="1609344" cy="461665"/>
          </a:xfrm>
          <a:prstGeom prst="rect">
            <a:avLst/>
          </a:prstGeom>
          <a:noFill/>
        </p:spPr>
        <p:txBody>
          <a:bodyPr wrap="square">
            <a:spAutoFit/>
          </a:bodyPr>
          <a:lstStyle/>
          <a:p>
            <a:r>
              <a:rPr lang="en-GB" sz="2400" b="0" i="0" u="none" strike="noStrike" baseline="0" dirty="0">
                <a:solidFill>
                  <a:srgbClr val="231F20"/>
                </a:solidFill>
                <a:latin typeface="+mn-lt"/>
              </a:rPr>
              <a:t>Continuity: </a:t>
            </a:r>
            <a:endParaRPr lang="en-GH"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8AD531-7E5F-24D1-146E-922217C83CA2}"/>
                  </a:ext>
                </a:extLst>
              </p:cNvPr>
              <p:cNvSpPr txBox="1"/>
              <p:nvPr/>
            </p:nvSpPr>
            <p:spPr>
              <a:xfrm>
                <a:off x="201168" y="430039"/>
                <a:ext cx="4462272" cy="9555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GB" sz="2400" b="0" i="1" smtClean="0">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9" name="TextBox 8">
                <a:extLst>
                  <a:ext uri="{FF2B5EF4-FFF2-40B4-BE49-F238E27FC236}">
                    <a16:creationId xmlns:a16="http://schemas.microsoft.com/office/drawing/2014/main" id="{B78AD531-7E5F-24D1-146E-922217C83CA2}"/>
                  </a:ext>
                </a:extLst>
              </p:cNvPr>
              <p:cNvSpPr txBox="1">
                <a:spLocks noRot="1" noChangeAspect="1" noMove="1" noResize="1" noEditPoints="1" noAdjustHandles="1" noChangeArrowheads="1" noChangeShapeType="1" noTextEdit="1"/>
              </p:cNvSpPr>
              <p:nvPr/>
            </p:nvSpPr>
            <p:spPr>
              <a:xfrm>
                <a:off x="201168" y="430039"/>
                <a:ext cx="4462272" cy="955518"/>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9B1A73A-5571-0E13-E136-EC10F1F6C4C0}"/>
                  </a:ext>
                </a:extLst>
              </p:cNvPr>
              <p:cNvSpPr txBox="1"/>
              <p:nvPr/>
            </p:nvSpPr>
            <p:spPr>
              <a:xfrm>
                <a:off x="161544" y="1449565"/>
                <a:ext cx="2508504"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sz="2400" i="1" smtClean="0">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   </m:t>
                      </m:r>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𝑀</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r>
                        <a:rPr lang="en-CA" sz="2400" b="0">
                          <a:solidFill>
                            <a:schemeClr val="tx1"/>
                          </a:solidFill>
                          <a:latin typeface="Cambria Math" panose="02040503050406030204" pitchFamily="18" charset="0"/>
                          <a:ea typeface="Cambria Math" panose="02040503050406030204" pitchFamily="18" charset="0"/>
                        </a:rPr>
                        <m:t>+</m:t>
                      </m:r>
                      <m:acc>
                        <m:accPr>
                          <m:chr m:val="̇"/>
                          <m:ctrlPr>
                            <a:rPr lang="en-CA" sz="2400" b="0" i="1" smtClean="0">
                              <a:solidFill>
                                <a:schemeClr val="tx1"/>
                              </a:solidFill>
                              <a:latin typeface="Cambria Math" panose="02040503050406030204" pitchFamily="18" charset="0"/>
                              <a:ea typeface="Cambria Math" panose="02040503050406030204" pitchFamily="18" charset="0"/>
                            </a:rPr>
                          </m:ctrlPr>
                        </m:accPr>
                        <m:e>
                          <m:r>
                            <a:rPr lang="en-GB" sz="2400" b="0" i="1" smtClean="0">
                              <a:solidFill>
                                <a:schemeClr val="tx1"/>
                              </a:solidFill>
                              <a:latin typeface="Cambria Math" panose="02040503050406030204" pitchFamily="18" charset="0"/>
                              <a:ea typeface="Cambria Math" panose="02040503050406030204" pitchFamily="18" charset="0"/>
                            </a:rPr>
                            <m:t>𝑀</m:t>
                          </m:r>
                        </m:e>
                      </m:acc>
                      <m:r>
                        <a:rPr lang="en-GB" sz="2400" b="0" i="1" smtClean="0">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10" name="TextBox 9">
                <a:extLst>
                  <a:ext uri="{FF2B5EF4-FFF2-40B4-BE49-F238E27FC236}">
                    <a16:creationId xmlns:a16="http://schemas.microsoft.com/office/drawing/2014/main" id="{79B1A73A-5571-0E13-E136-EC10F1F6C4C0}"/>
                  </a:ext>
                </a:extLst>
              </p:cNvPr>
              <p:cNvSpPr txBox="1">
                <a:spLocks noRot="1" noChangeAspect="1" noMove="1" noResize="1" noEditPoints="1" noAdjustHandles="1" noChangeArrowheads="1" noChangeShapeType="1" noTextEdit="1"/>
              </p:cNvSpPr>
              <p:nvPr/>
            </p:nvSpPr>
            <p:spPr>
              <a:xfrm>
                <a:off x="161544" y="1449565"/>
                <a:ext cx="2508504" cy="794576"/>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6662892-BF9D-D528-6D9E-8A197CA8C098}"/>
                  </a:ext>
                </a:extLst>
              </p:cNvPr>
              <p:cNvSpPr txBox="1"/>
              <p:nvPr/>
            </p:nvSpPr>
            <p:spPr>
              <a:xfrm>
                <a:off x="134112" y="2388747"/>
                <a:ext cx="2508504"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sz="2400" i="1" smtClean="0">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   </m:t>
                      </m:r>
                      <m:f>
                        <m:fPr>
                          <m:ctrlPr>
                            <a:rPr lang="en-CA" sz="240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ea typeface="Cambria Math" panose="02040503050406030204" pitchFamily="18" charset="0"/>
                            </a:rPr>
                            <m:t>𝑑𝑀</m:t>
                          </m:r>
                        </m:num>
                        <m:den>
                          <m:r>
                            <a:rPr lang="en-GB" sz="2400" b="0" i="1" smtClean="0">
                              <a:solidFill>
                                <a:schemeClr val="tx1"/>
                              </a:solidFill>
                              <a:latin typeface="Cambria Math" panose="02040503050406030204" pitchFamily="18" charset="0"/>
                              <a:ea typeface="Cambria Math" panose="02040503050406030204" pitchFamily="18" charset="0"/>
                            </a:rPr>
                            <m:t>𝑑</m:t>
                          </m:r>
                          <m:r>
                            <a:rPr lang="en-CA" sz="2400" b="0" i="1">
                              <a:solidFill>
                                <a:schemeClr val="tx1"/>
                              </a:solidFill>
                              <a:latin typeface="Cambria Math" panose="02040503050406030204" pitchFamily="18" charset="0"/>
                              <a:ea typeface="Cambria Math" panose="02040503050406030204" pitchFamily="18" charset="0"/>
                            </a:rPr>
                            <m:t>𝑡</m:t>
                          </m:r>
                        </m:den>
                      </m:f>
                      <m:r>
                        <a:rPr lang="en-CA" sz="2400" b="0">
                          <a:solidFill>
                            <a:schemeClr val="tx1"/>
                          </a:solidFill>
                          <a:latin typeface="Cambria Math" panose="02040503050406030204" pitchFamily="18" charset="0"/>
                          <a:ea typeface="Cambria Math" panose="02040503050406030204" pitchFamily="18" charset="0"/>
                        </a:rPr>
                        <m:t>+</m:t>
                      </m:r>
                      <m:acc>
                        <m:accPr>
                          <m:chr m:val="̇"/>
                          <m:ctrlPr>
                            <a:rPr lang="en-CA" sz="2400" b="0" i="1" smtClean="0">
                              <a:solidFill>
                                <a:schemeClr val="tx1"/>
                              </a:solidFill>
                              <a:latin typeface="Cambria Math" panose="02040503050406030204" pitchFamily="18" charset="0"/>
                              <a:ea typeface="Cambria Math" panose="02040503050406030204" pitchFamily="18" charset="0"/>
                            </a:rPr>
                          </m:ctrlPr>
                        </m:accPr>
                        <m:e>
                          <m:r>
                            <a:rPr lang="en-GB" sz="2400" b="0" i="1" smtClean="0">
                              <a:solidFill>
                                <a:schemeClr val="tx1"/>
                              </a:solidFill>
                              <a:latin typeface="Cambria Math" panose="02040503050406030204" pitchFamily="18" charset="0"/>
                              <a:ea typeface="Cambria Math" panose="02040503050406030204" pitchFamily="18" charset="0"/>
                            </a:rPr>
                            <m:t>𝑀</m:t>
                          </m:r>
                        </m:e>
                      </m:acc>
                      <m:r>
                        <a:rPr lang="en-GB" sz="2400" b="0" i="1" smtClean="0">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11" name="TextBox 10">
                <a:extLst>
                  <a:ext uri="{FF2B5EF4-FFF2-40B4-BE49-F238E27FC236}">
                    <a16:creationId xmlns:a16="http://schemas.microsoft.com/office/drawing/2014/main" id="{46662892-BF9D-D528-6D9E-8A197CA8C098}"/>
                  </a:ext>
                </a:extLst>
              </p:cNvPr>
              <p:cNvSpPr txBox="1">
                <a:spLocks noRot="1" noChangeAspect="1" noMove="1" noResize="1" noEditPoints="1" noAdjustHandles="1" noChangeArrowheads="1" noChangeShapeType="1" noTextEdit="1"/>
              </p:cNvSpPr>
              <p:nvPr/>
            </p:nvSpPr>
            <p:spPr>
              <a:xfrm>
                <a:off x="134112" y="2388747"/>
                <a:ext cx="2508504" cy="794576"/>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F50DDBA-21C2-E91F-41A3-282A24BB5FCA}"/>
                  </a:ext>
                </a:extLst>
              </p:cNvPr>
              <p:cNvSpPr txBox="1"/>
              <p:nvPr/>
            </p:nvSpPr>
            <p:spPr>
              <a:xfrm>
                <a:off x="292608" y="3286534"/>
                <a:ext cx="2508504"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solidFill>
                            <a:schemeClr val="tx1"/>
                          </a:solidFill>
                          <a:latin typeface="Cambria Math" panose="02040503050406030204" pitchFamily="18" charset="0"/>
                          <a:ea typeface="Cambria Math" panose="02040503050406030204" pitchFamily="18" charset="0"/>
                        </a:rPr>
                        <m:t> </m:t>
                      </m:r>
                      <m:f>
                        <m:fPr>
                          <m:ctrlPr>
                            <a:rPr lang="en-CA" sz="240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ea typeface="Cambria Math" panose="02040503050406030204" pitchFamily="18" charset="0"/>
                            </a:rPr>
                            <m:t>𝑑𝑀</m:t>
                          </m:r>
                        </m:num>
                        <m:den>
                          <m:r>
                            <a:rPr lang="en-GB" sz="2400" b="0" i="1" smtClean="0">
                              <a:solidFill>
                                <a:schemeClr val="tx1"/>
                              </a:solidFill>
                              <a:latin typeface="Cambria Math" panose="02040503050406030204" pitchFamily="18" charset="0"/>
                              <a:ea typeface="Cambria Math" panose="02040503050406030204" pitchFamily="18" charset="0"/>
                            </a:rPr>
                            <m:t>𝑑</m:t>
                          </m:r>
                          <m:r>
                            <a:rPr lang="en-CA" sz="2400" b="0" i="1">
                              <a:solidFill>
                                <a:schemeClr val="tx1"/>
                              </a:solidFill>
                              <a:latin typeface="Cambria Math" panose="02040503050406030204" pitchFamily="18" charset="0"/>
                              <a:ea typeface="Cambria Math" panose="02040503050406030204" pitchFamily="18" charset="0"/>
                            </a:rPr>
                            <m:t>𝑡</m:t>
                          </m:r>
                        </m:den>
                      </m:f>
                      <m:r>
                        <a:rPr lang="en-GB" sz="2400" b="0" i="1" smtClean="0">
                          <a:solidFill>
                            <a:schemeClr val="tx1"/>
                          </a:solidFill>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𝑀</m:t>
                          </m:r>
                        </m:e>
                      </m:acc>
                    </m:oMath>
                  </m:oMathPara>
                </a14:m>
                <a:endParaRPr lang="en-GH" dirty="0"/>
              </a:p>
            </p:txBody>
          </p:sp>
        </mc:Choice>
        <mc:Fallback xmlns="">
          <p:sp>
            <p:nvSpPr>
              <p:cNvPr id="12" name="TextBox 11">
                <a:extLst>
                  <a:ext uri="{FF2B5EF4-FFF2-40B4-BE49-F238E27FC236}">
                    <a16:creationId xmlns:a16="http://schemas.microsoft.com/office/drawing/2014/main" id="{BF50DDBA-21C2-E91F-41A3-282A24BB5FCA}"/>
                  </a:ext>
                </a:extLst>
              </p:cNvPr>
              <p:cNvSpPr txBox="1">
                <a:spLocks noRot="1" noChangeAspect="1" noMove="1" noResize="1" noEditPoints="1" noAdjustHandles="1" noChangeArrowheads="1" noChangeShapeType="1" noTextEdit="1"/>
              </p:cNvSpPr>
              <p:nvPr/>
            </p:nvSpPr>
            <p:spPr>
              <a:xfrm>
                <a:off x="292608" y="3286534"/>
                <a:ext cx="2508504" cy="794576"/>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2A1CCA8-2151-AD20-712F-B041E27D1CAC}"/>
                  </a:ext>
                </a:extLst>
              </p:cNvPr>
              <p:cNvSpPr txBox="1"/>
              <p:nvPr/>
            </p:nvSpPr>
            <p:spPr>
              <a:xfrm>
                <a:off x="292608" y="4280580"/>
                <a:ext cx="2508504" cy="4732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ea typeface="Cambria Math" panose="02040503050406030204" pitchFamily="18" charset="0"/>
                        </a:rPr>
                        <m:t>𝑑𝑀</m:t>
                      </m:r>
                      <m:r>
                        <a:rPr lang="en-GB" i="1">
                          <a:latin typeface="Cambria Math" panose="02040503050406030204" pitchFamily="18" charset="0"/>
                          <a:ea typeface="Cambria Math" panose="02040503050406030204" pitchFamily="18" charset="0"/>
                        </a:rPr>
                        <m:t> =−</m:t>
                      </m:r>
                      <m:acc>
                        <m:accPr>
                          <m:chr m:val="̇"/>
                          <m:ctrlPr>
                            <a:rPr lang="en-CA"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𝑀</m:t>
                          </m:r>
                        </m:e>
                      </m:acc>
                      <m:r>
                        <a:rPr lang="en-GB" b="0" i="1" smtClean="0">
                          <a:latin typeface="Cambria Math" panose="02040503050406030204" pitchFamily="18" charset="0"/>
                          <a:ea typeface="Cambria Math" panose="02040503050406030204" pitchFamily="18" charset="0"/>
                        </a:rPr>
                        <m:t>𝑑𝑡</m:t>
                      </m:r>
                    </m:oMath>
                  </m:oMathPara>
                </a14:m>
                <a:endParaRPr lang="en-GH" dirty="0"/>
              </a:p>
            </p:txBody>
          </p:sp>
        </mc:Choice>
        <mc:Fallback xmlns="">
          <p:sp>
            <p:nvSpPr>
              <p:cNvPr id="13" name="TextBox 12">
                <a:extLst>
                  <a:ext uri="{FF2B5EF4-FFF2-40B4-BE49-F238E27FC236}">
                    <a16:creationId xmlns:a16="http://schemas.microsoft.com/office/drawing/2014/main" id="{52A1CCA8-2151-AD20-712F-B041E27D1CAC}"/>
                  </a:ext>
                </a:extLst>
              </p:cNvPr>
              <p:cNvSpPr txBox="1">
                <a:spLocks noRot="1" noChangeAspect="1" noMove="1" noResize="1" noEditPoints="1" noAdjustHandles="1" noChangeArrowheads="1" noChangeShapeType="1" noTextEdit="1"/>
              </p:cNvSpPr>
              <p:nvPr/>
            </p:nvSpPr>
            <p:spPr>
              <a:xfrm>
                <a:off x="292608" y="4280580"/>
                <a:ext cx="2508504" cy="473206"/>
              </a:xfrm>
              <a:prstGeom prst="rect">
                <a:avLst/>
              </a:prstGeom>
              <a:blipFill>
                <a:blip r:embed="rId6"/>
                <a:stretch>
                  <a:fillRect l="-728" t="-2564"/>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8DC85F6-067C-B6EE-B964-37E69FDAA37C}"/>
                  </a:ext>
                </a:extLst>
              </p:cNvPr>
              <p:cNvSpPr txBox="1"/>
              <p:nvPr/>
            </p:nvSpPr>
            <p:spPr>
              <a:xfrm>
                <a:off x="27432" y="4950883"/>
                <a:ext cx="3026664" cy="10009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solidFill>
                            <a:schemeClr val="tx1"/>
                          </a:solidFill>
                          <a:latin typeface="Cambria Math" panose="02040503050406030204" pitchFamily="18" charset="0"/>
                          <a:ea typeface="Cambria Math" panose="02040503050406030204" pitchFamily="18" charset="0"/>
                        </a:rPr>
                        <m:t> </m:t>
                      </m:r>
                      <m:nary>
                        <m:naryPr>
                          <m:ctrlPr>
                            <a:rPr lang="en-GB" sz="2400" b="0" i="1" smtClean="0">
                              <a:solidFill>
                                <a:schemeClr val="tx1"/>
                              </a:solidFill>
                              <a:latin typeface="Cambria Math" panose="02040503050406030204" pitchFamily="18" charset="0"/>
                              <a:ea typeface="Cambria Math" panose="02040503050406030204" pitchFamily="18" charset="0"/>
                            </a:rPr>
                          </m:ctrlPr>
                        </m:naryPr>
                        <m:sub>
                          <m:sSub>
                            <m:sSubPr>
                              <m:ctrlPr>
                                <a:rPr lang="en-GB" sz="2400" b="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𝑀</m:t>
                              </m:r>
                            </m:e>
                            <m:sub>
                              <m:r>
                                <a:rPr lang="en-GB" sz="2400" b="0" i="1" smtClean="0">
                                  <a:solidFill>
                                    <a:schemeClr val="tx1"/>
                                  </a:solidFill>
                                  <a:latin typeface="Cambria Math" panose="02040503050406030204" pitchFamily="18" charset="0"/>
                                  <a:ea typeface="Cambria Math" panose="02040503050406030204" pitchFamily="18" charset="0"/>
                                </a:rPr>
                                <m:t>0</m:t>
                              </m:r>
                            </m:sub>
                          </m:sSub>
                        </m:sub>
                        <m:sup>
                          <m:r>
                            <a:rPr lang="en-GB" sz="2400" b="0" i="1" smtClean="0">
                              <a:solidFill>
                                <a:schemeClr val="tx1"/>
                              </a:solidFill>
                              <a:latin typeface="Cambria Math" panose="02040503050406030204" pitchFamily="18" charset="0"/>
                              <a:ea typeface="Cambria Math" panose="02040503050406030204" pitchFamily="18" charset="0"/>
                            </a:rPr>
                            <m:t>𝑀</m:t>
                          </m:r>
                        </m:sup>
                        <m:e>
                          <m:r>
                            <a:rPr lang="en-GB" i="1">
                              <a:latin typeface="Cambria Math" panose="02040503050406030204" pitchFamily="18" charset="0"/>
                              <a:ea typeface="Cambria Math" panose="02040503050406030204" pitchFamily="18" charset="0"/>
                            </a:rPr>
                            <m:t>𝑑𝑀</m:t>
                          </m:r>
                          <m:r>
                            <a:rPr lang="en-GB" b="0" i="1" smtClean="0">
                              <a:latin typeface="Cambria Math" panose="02040503050406030204" pitchFamily="18" charset="0"/>
                              <a:ea typeface="Cambria Math" panose="02040503050406030204" pitchFamily="18" charset="0"/>
                            </a:rPr>
                            <m:t>=</m:t>
                          </m:r>
                          <m:nary>
                            <m:naryPr>
                              <m:ctrlPr>
                                <a:rPr lang="en-GB" i="1">
                                  <a:latin typeface="Cambria Math" panose="02040503050406030204" pitchFamily="18" charset="0"/>
                                  <a:ea typeface="Cambria Math" panose="02040503050406030204" pitchFamily="18" charset="0"/>
                                </a:rPr>
                              </m:ctrlPr>
                            </m:naryPr>
                            <m:sub>
                              <m:r>
                                <a:rPr lang="en-GB" b="0" i="1" smtClean="0">
                                  <a:latin typeface="Cambria Math" panose="02040503050406030204" pitchFamily="18" charset="0"/>
                                  <a:ea typeface="Cambria Math" panose="02040503050406030204" pitchFamily="18" charset="0"/>
                                </a:rPr>
                                <m:t>0</m:t>
                              </m:r>
                            </m:sub>
                            <m:sup>
                              <m:r>
                                <a:rPr lang="en-GB" b="0" i="1" smtClean="0">
                                  <a:latin typeface="Cambria Math" panose="02040503050406030204" pitchFamily="18" charset="0"/>
                                  <a:ea typeface="Cambria Math" panose="02040503050406030204" pitchFamily="18" charset="0"/>
                                </a:rPr>
                                <m:t>𝑡</m:t>
                              </m:r>
                            </m:sup>
                            <m:e>
                              <m:r>
                                <a:rPr lang="en-GB" b="0" i="1" smtClean="0">
                                  <a:latin typeface="Cambria Math" panose="02040503050406030204" pitchFamily="18" charset="0"/>
                                  <a:ea typeface="Cambria Math" panose="02040503050406030204" pitchFamily="18" charset="0"/>
                                </a:rPr>
                                <m:t>−</m:t>
                              </m:r>
                              <m:acc>
                                <m:accPr>
                                  <m:chr m:val="̇"/>
                                  <m:ctrlPr>
                                    <a:rPr lang="en-GB" sz="2400" b="0" i="1" smtClean="0">
                                      <a:solidFill>
                                        <a:schemeClr val="tx1"/>
                                      </a:solidFill>
                                      <a:latin typeface="Cambria Math" panose="02040503050406030204" pitchFamily="18" charset="0"/>
                                      <a:ea typeface="Cambria Math" panose="02040503050406030204" pitchFamily="18" charset="0"/>
                                    </a:rPr>
                                  </m:ctrlPr>
                                </m:accPr>
                                <m:e>
                                  <m:r>
                                    <a:rPr lang="en-GB" sz="2400" b="0" i="1" smtClean="0">
                                      <a:solidFill>
                                        <a:schemeClr val="tx1"/>
                                      </a:solidFill>
                                      <a:latin typeface="Cambria Math" panose="02040503050406030204" pitchFamily="18" charset="0"/>
                                      <a:ea typeface="Cambria Math" panose="02040503050406030204" pitchFamily="18" charset="0"/>
                                    </a:rPr>
                                    <m:t>𝑀</m:t>
                                  </m:r>
                                </m:e>
                              </m:acc>
                              <m:r>
                                <a:rPr lang="en-GB" b="0" i="1" smtClean="0">
                                  <a:latin typeface="Cambria Math" panose="02040503050406030204" pitchFamily="18" charset="0"/>
                                  <a:ea typeface="Cambria Math" panose="02040503050406030204" pitchFamily="18" charset="0"/>
                                </a:rPr>
                                <m:t>𝑑𝑡</m:t>
                              </m:r>
                            </m:e>
                          </m:nary>
                        </m:e>
                      </m:nary>
                    </m:oMath>
                  </m:oMathPara>
                </a14:m>
                <a:endParaRPr lang="en-GH" dirty="0"/>
              </a:p>
            </p:txBody>
          </p:sp>
        </mc:Choice>
        <mc:Fallback xmlns="">
          <p:sp>
            <p:nvSpPr>
              <p:cNvPr id="15" name="TextBox 14">
                <a:extLst>
                  <a:ext uri="{FF2B5EF4-FFF2-40B4-BE49-F238E27FC236}">
                    <a16:creationId xmlns:a16="http://schemas.microsoft.com/office/drawing/2014/main" id="{38DC85F6-067C-B6EE-B964-37E69FDAA37C}"/>
                  </a:ext>
                </a:extLst>
              </p:cNvPr>
              <p:cNvSpPr txBox="1">
                <a:spLocks noRot="1" noChangeAspect="1" noMove="1" noResize="1" noEditPoints="1" noAdjustHandles="1" noChangeArrowheads="1" noChangeShapeType="1" noTextEdit="1"/>
              </p:cNvSpPr>
              <p:nvPr/>
            </p:nvSpPr>
            <p:spPr>
              <a:xfrm>
                <a:off x="27432" y="4950883"/>
                <a:ext cx="3026664" cy="1000980"/>
              </a:xfrm>
              <a:prstGeom prst="rect">
                <a:avLst/>
              </a:prstGeom>
              <a:blipFill>
                <a:blip r:embed="rId7"/>
                <a:stretch>
                  <a:fillRect/>
                </a:stretch>
              </a:blipFill>
            </p:spPr>
            <p:txBody>
              <a:bodyPr/>
              <a:lstStyle/>
              <a:p>
                <a:r>
                  <a:rPr lang="en-GH">
                    <a:noFill/>
                  </a:rPr>
                  <a:t> </a:t>
                </a:r>
              </a:p>
            </p:txBody>
          </p:sp>
        </mc:Fallback>
      </mc:AlternateContent>
      <p:cxnSp>
        <p:nvCxnSpPr>
          <p:cNvPr id="16" name="Straight Connector 15">
            <a:extLst>
              <a:ext uri="{FF2B5EF4-FFF2-40B4-BE49-F238E27FC236}">
                <a16:creationId xmlns:a16="http://schemas.microsoft.com/office/drawing/2014/main" id="{C180F898-D9C5-5D7F-B610-918B234960B0}"/>
              </a:ext>
            </a:extLst>
          </p:cNvPr>
          <p:cNvCxnSpPr>
            <a:cxnSpLocks/>
          </p:cNvCxnSpPr>
          <p:nvPr/>
        </p:nvCxnSpPr>
        <p:spPr>
          <a:xfrm>
            <a:off x="4462272" y="214991"/>
            <a:ext cx="0" cy="5592255"/>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DFED5C0-7012-2B8B-1AF0-C4786437E89D}"/>
                  </a:ext>
                </a:extLst>
              </p:cNvPr>
              <p:cNvSpPr txBox="1"/>
              <p:nvPr/>
            </p:nvSpPr>
            <p:spPr>
              <a:xfrm>
                <a:off x="4663440" y="593273"/>
                <a:ext cx="2508504" cy="4732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smtClean="0">
                          <a:latin typeface="Cambria Math" panose="02040503050406030204" pitchFamily="18" charset="0"/>
                          <a:ea typeface="Cambria Math" panose="02040503050406030204" pitchFamily="18" charset="0"/>
                        </a:rPr>
                        <m:t>𝑀</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𝑀</m:t>
                          </m:r>
                        </m:e>
                        <m:sub>
                          <m:r>
                            <a:rPr lang="en-GB" b="0" i="1" smtClean="0">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𝑀</m:t>
                          </m:r>
                        </m:e>
                      </m:acc>
                      <m:r>
                        <a:rPr lang="en-GB" b="0" i="1" smtClean="0">
                          <a:latin typeface="Cambria Math" panose="02040503050406030204" pitchFamily="18" charset="0"/>
                          <a:ea typeface="Cambria Math" panose="02040503050406030204" pitchFamily="18" charset="0"/>
                        </a:rPr>
                        <m:t>𝑡</m:t>
                      </m:r>
                    </m:oMath>
                  </m:oMathPara>
                </a14:m>
                <a:endParaRPr lang="en-GH" dirty="0"/>
              </a:p>
            </p:txBody>
          </p:sp>
        </mc:Choice>
        <mc:Fallback xmlns="">
          <p:sp>
            <p:nvSpPr>
              <p:cNvPr id="17" name="TextBox 16">
                <a:extLst>
                  <a:ext uri="{FF2B5EF4-FFF2-40B4-BE49-F238E27FC236}">
                    <a16:creationId xmlns:a16="http://schemas.microsoft.com/office/drawing/2014/main" id="{FDFED5C0-7012-2B8B-1AF0-C4786437E89D}"/>
                  </a:ext>
                </a:extLst>
              </p:cNvPr>
              <p:cNvSpPr txBox="1">
                <a:spLocks noRot="1" noChangeAspect="1" noMove="1" noResize="1" noEditPoints="1" noAdjustHandles="1" noChangeArrowheads="1" noChangeShapeType="1" noTextEdit="1"/>
              </p:cNvSpPr>
              <p:nvPr/>
            </p:nvSpPr>
            <p:spPr>
              <a:xfrm>
                <a:off x="4663440" y="593273"/>
                <a:ext cx="2508504" cy="473206"/>
              </a:xfrm>
              <a:prstGeom prst="rect">
                <a:avLst/>
              </a:prstGeom>
              <a:blipFill>
                <a:blip r:embed="rId8"/>
                <a:stretch>
                  <a:fillRect l="-485" t="-2564" b="-2564"/>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E73D524-C7A8-69D1-7CF6-BD760E57E44B}"/>
                  </a:ext>
                </a:extLst>
              </p:cNvPr>
              <p:cNvSpPr txBox="1"/>
              <p:nvPr/>
            </p:nvSpPr>
            <p:spPr>
              <a:xfrm>
                <a:off x="4663440" y="1127399"/>
                <a:ext cx="2508504" cy="4732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smtClean="0">
                          <a:latin typeface="Cambria Math" panose="02040503050406030204" pitchFamily="18" charset="0"/>
                          <a:ea typeface="Cambria Math" panose="02040503050406030204" pitchFamily="18" charset="0"/>
                        </a:rPr>
                        <m:t>𝑀</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𝑀</m:t>
                          </m:r>
                        </m:e>
                        <m:sub>
                          <m:r>
                            <a:rPr lang="en-GB" b="0" i="1" smtClean="0">
                              <a:latin typeface="Cambria Math" panose="02040503050406030204" pitchFamily="18" charset="0"/>
                              <a:ea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𝑀</m:t>
                          </m:r>
                        </m:e>
                      </m:acc>
                      <m:r>
                        <a:rPr lang="en-GB" b="0" i="1" smtClean="0">
                          <a:latin typeface="Cambria Math" panose="02040503050406030204" pitchFamily="18" charset="0"/>
                          <a:ea typeface="Cambria Math" panose="02040503050406030204" pitchFamily="18" charset="0"/>
                        </a:rPr>
                        <m:t>𝑡</m:t>
                      </m:r>
                    </m:oMath>
                  </m:oMathPara>
                </a14:m>
                <a:endParaRPr lang="en-GH" dirty="0"/>
              </a:p>
            </p:txBody>
          </p:sp>
        </mc:Choice>
        <mc:Fallback xmlns="">
          <p:sp>
            <p:nvSpPr>
              <p:cNvPr id="18" name="TextBox 17">
                <a:extLst>
                  <a:ext uri="{FF2B5EF4-FFF2-40B4-BE49-F238E27FC236}">
                    <a16:creationId xmlns:a16="http://schemas.microsoft.com/office/drawing/2014/main" id="{5E73D524-C7A8-69D1-7CF6-BD760E57E44B}"/>
                  </a:ext>
                </a:extLst>
              </p:cNvPr>
              <p:cNvSpPr txBox="1">
                <a:spLocks noRot="1" noChangeAspect="1" noMove="1" noResize="1" noEditPoints="1" noAdjustHandles="1" noChangeArrowheads="1" noChangeShapeType="1" noTextEdit="1"/>
              </p:cNvSpPr>
              <p:nvPr/>
            </p:nvSpPr>
            <p:spPr>
              <a:xfrm>
                <a:off x="4663440" y="1127399"/>
                <a:ext cx="2508504" cy="473206"/>
              </a:xfrm>
              <a:prstGeom prst="rect">
                <a:avLst/>
              </a:prstGeom>
              <a:blipFill>
                <a:blip r:embed="rId9"/>
                <a:stretch>
                  <a:fillRect l="-485" t="-2564" b="-128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88C11A1-2D9B-0DC1-DDD4-CD16CC5E1B16}"/>
                  </a:ext>
                </a:extLst>
              </p:cNvPr>
              <p:cNvSpPr txBox="1"/>
              <p:nvPr/>
            </p:nvSpPr>
            <p:spPr>
              <a:xfrm>
                <a:off x="4770590" y="2344064"/>
                <a:ext cx="3396485" cy="267951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sz="2400" i="1" smtClean="0">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𝐹</m:t>
                              </m:r>
                            </m:e>
                          </m:acc>
                        </m:e>
                        <m:sub>
                          <m:r>
                            <a:rPr lang="en-CA" sz="2400" b="0" i="1">
                              <a:solidFill>
                                <a:schemeClr val="tx1"/>
                              </a:solidFill>
                              <a:latin typeface="Cambria Math" panose="02040503050406030204" pitchFamily="18" charset="0"/>
                            </a:rPr>
                            <m:t>𝑠</m:t>
                          </m:r>
                        </m:sub>
                      </m:sSub>
                      <m:r>
                        <a:rPr lang="en-CA" sz="2400" b="0" i="1">
                          <a:solidFill>
                            <a:schemeClr val="tx1"/>
                          </a:solidFill>
                          <a:latin typeface="Cambria Math" panose="02040503050406030204" pitchFamily="18" charset="0"/>
                        </a:rPr>
                        <m:t>+</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𝐹</m:t>
                              </m:r>
                            </m:e>
                          </m:acc>
                        </m:e>
                        <m:sub>
                          <m:r>
                            <a:rPr lang="en-CA" sz="2400" b="0" i="1">
                              <a:solidFill>
                                <a:schemeClr val="tx1"/>
                              </a:solidFill>
                              <a:latin typeface="Cambria Math" panose="02040503050406030204" pitchFamily="18" charset="0"/>
                            </a:rPr>
                            <m:t>𝐵</m:t>
                          </m:r>
                        </m:sub>
                      </m:sSub>
                      <m:r>
                        <a:rPr lang="en-CA" sz="2400" b="0" i="1">
                          <a:solidFill>
                            <a:schemeClr val="tx1"/>
                          </a:solidFill>
                          <a:latin typeface="Cambria Math" panose="02040503050406030204" pitchFamily="18" charset="0"/>
                          <a:ea typeface="Cambria Math" panose="02040503050406030204" pitchFamily="18" charset="0"/>
                        </a:rPr>
                        <m:t>−</m:t>
                      </m:r>
                      <m:nary>
                        <m:naryPr>
                          <m:ctrlPr>
                            <a:rPr lang="en-CA" sz="2400" i="1" smtClean="0">
                              <a:solidFill>
                                <a:schemeClr val="tx1"/>
                              </a:solidFill>
                              <a:latin typeface="Cambria Math" panose="02040503050406030204" pitchFamily="18" charset="0"/>
                            </a:rPr>
                          </m:ctrlPr>
                        </m:naryPr>
                        <m:sub>
                          <m:r>
                            <a:rPr lang="en-CA" sz="2400" b="0" i="1" smtClean="0">
                              <a:solidFill>
                                <a:schemeClr val="tx1"/>
                              </a:solidFill>
                              <a:latin typeface="Cambria Math" panose="02040503050406030204" pitchFamily="18" charset="0"/>
                            </a:rPr>
                            <m:t>𝑀</m:t>
                          </m:r>
                        </m:sub>
                        <m:sup/>
                        <m:e>
                          <m:sSub>
                            <m:sSubPr>
                              <m:ctrlPr>
                                <a:rPr lang="en-CA" sz="2400" i="1" smtClean="0">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𝑎</m:t>
                                  </m:r>
                                </m:e>
                              </m:acc>
                            </m:e>
                            <m:sub>
                              <m:r>
                                <a:rPr lang="en-CA" sz="2400" b="0" i="1">
                                  <a:solidFill>
                                    <a:schemeClr val="tx1"/>
                                  </a:solidFill>
                                  <a:latin typeface="Cambria Math" panose="02040503050406030204" pitchFamily="18" charset="0"/>
                                  <a:ea typeface="Cambria Math" panose="02040503050406030204" pitchFamily="18" charset="0"/>
                                </a:rPr>
                                <m:t>𝑟𝑓</m:t>
                              </m:r>
                            </m:sub>
                          </m:sSub>
                          <m:r>
                            <a:rPr lang="en-CA" sz="2400" b="0" i="1" smtClean="0">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i="1">
                          <a:solidFill>
                            <a:schemeClr val="tx1"/>
                          </a:solidFill>
                          <a:latin typeface="Cambria Math" panose="02040503050406030204" pitchFamily="18" charset="0"/>
                        </a:rPr>
                        <m:t>=</m:t>
                      </m:r>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𝜌</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oMath>
                  </m:oMathPara>
                </a14:m>
                <a:endParaRPr lang="en-GH" dirty="0"/>
              </a:p>
            </p:txBody>
          </p:sp>
        </mc:Choice>
        <mc:Fallback xmlns="">
          <p:sp>
            <p:nvSpPr>
              <p:cNvPr id="2" name="TextBox 1">
                <a:extLst>
                  <a:ext uri="{FF2B5EF4-FFF2-40B4-BE49-F238E27FC236}">
                    <a16:creationId xmlns:a16="http://schemas.microsoft.com/office/drawing/2014/main" id="{988C11A1-2D9B-0DC1-DDD4-CD16CC5E1B16}"/>
                  </a:ext>
                </a:extLst>
              </p:cNvPr>
              <p:cNvSpPr txBox="1">
                <a:spLocks noRot="1" noChangeAspect="1" noMove="1" noResize="1" noEditPoints="1" noAdjustHandles="1" noChangeArrowheads="1" noChangeShapeType="1" noTextEdit="1"/>
              </p:cNvSpPr>
              <p:nvPr/>
            </p:nvSpPr>
            <p:spPr>
              <a:xfrm>
                <a:off x="4770590" y="2344064"/>
                <a:ext cx="3396485" cy="2679516"/>
              </a:xfrm>
              <a:prstGeom prst="rect">
                <a:avLst/>
              </a:prstGeom>
              <a:blipFill>
                <a:blip r:embed="rId10"/>
                <a:stretch>
                  <a:fillRect/>
                </a:stretch>
              </a:blipFill>
            </p:spPr>
            <p:txBody>
              <a:bodyPr/>
              <a:lstStyle/>
              <a:p>
                <a:r>
                  <a:rPr lang="en-GH">
                    <a:noFill/>
                  </a:rPr>
                  <a:t> </a:t>
                </a:r>
              </a:p>
            </p:txBody>
          </p:sp>
        </mc:Fallback>
      </mc:AlternateContent>
      <p:sp>
        <p:nvSpPr>
          <p:cNvPr id="3" name="TextBox 2">
            <a:extLst>
              <a:ext uri="{FF2B5EF4-FFF2-40B4-BE49-F238E27FC236}">
                <a16:creationId xmlns:a16="http://schemas.microsoft.com/office/drawing/2014/main" id="{9021680A-F491-6B1E-E4E4-B8EA5D30F404}"/>
              </a:ext>
            </a:extLst>
          </p:cNvPr>
          <p:cNvSpPr txBox="1"/>
          <p:nvPr/>
        </p:nvSpPr>
        <p:spPr>
          <a:xfrm>
            <a:off x="4489703" y="1846853"/>
            <a:ext cx="3091219" cy="461665"/>
          </a:xfrm>
          <a:prstGeom prst="rect">
            <a:avLst/>
          </a:prstGeom>
          <a:noFill/>
        </p:spPr>
        <p:txBody>
          <a:bodyPr wrap="square">
            <a:spAutoFit/>
          </a:bodyPr>
          <a:lstStyle/>
          <a:p>
            <a:r>
              <a:rPr lang="en-GB" sz="2400" b="0" i="0" u="none" strike="noStrike" baseline="0" dirty="0">
                <a:solidFill>
                  <a:srgbClr val="231F20"/>
                </a:solidFill>
                <a:latin typeface="+mn-lt"/>
              </a:rPr>
              <a:t>Momentum equation:</a:t>
            </a:r>
            <a:endParaRPr lang="en-GH" dirty="0"/>
          </a:p>
        </p:txBody>
      </p:sp>
    </p:spTree>
    <p:extLst>
      <p:ext uri="{BB962C8B-B14F-4D97-AF65-F5344CB8AC3E}">
        <p14:creationId xmlns:p14="http://schemas.microsoft.com/office/powerpoint/2010/main" val="3203470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6AC3EDC-2EF1-3072-2D25-97C10A3B9796}"/>
                  </a:ext>
                </a:extLst>
              </p:cNvPr>
              <p:cNvSpPr txBox="1"/>
              <p:nvPr/>
            </p:nvSpPr>
            <p:spPr>
              <a:xfrm>
                <a:off x="65729" y="38521"/>
                <a:ext cx="8679685" cy="9555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sz="2400" b="0" i="1" smtClean="0">
                              <a:solidFill>
                                <a:schemeClr val="tx1"/>
                              </a:solidFill>
                              <a:latin typeface="Cambria Math" panose="02040503050406030204" pitchFamily="18" charset="0"/>
                            </a:rPr>
                          </m:ctrlPr>
                        </m:sSubPr>
                        <m:e>
                          <m:r>
                            <a:rPr lang="en-GB" sz="2400" b="0" i="1" smtClean="0">
                              <a:solidFill>
                                <a:schemeClr val="tx1"/>
                              </a:solidFill>
                              <a:latin typeface="Cambria Math" panose="02040503050406030204" pitchFamily="18" charset="0"/>
                            </a:rPr>
                            <m:t>𝐹</m:t>
                          </m:r>
                        </m:e>
                        <m:sub>
                          <m:r>
                            <a:rPr lang="en-GB" sz="2400" b="0" i="1" smtClean="0">
                              <a:solidFill>
                                <a:schemeClr val="tx1"/>
                              </a:solidFill>
                              <a:latin typeface="Cambria Math" panose="02040503050406030204" pitchFamily="18" charset="0"/>
                            </a:rPr>
                            <m:t>𝑆𝑥</m:t>
                          </m:r>
                        </m:sub>
                      </m:sSub>
                      <m:r>
                        <a:rPr lang="en-CA" sz="2400" b="0" i="1">
                          <a:solidFill>
                            <a:schemeClr val="tx1"/>
                          </a:solidFill>
                          <a:latin typeface="Cambria Math" panose="02040503050406030204" pitchFamily="18" charset="0"/>
                        </a:rPr>
                        <m:t>+</m:t>
                      </m:r>
                      <m:sSub>
                        <m:sSubPr>
                          <m:ctrlPr>
                            <a:rPr lang="en-CA" i="1">
                              <a:latin typeface="Cambria Math" panose="02040503050406030204" pitchFamily="18" charset="0"/>
                            </a:rPr>
                          </m:ctrlPr>
                        </m:sSubPr>
                        <m:e>
                          <m:r>
                            <a:rPr lang="en-GB" i="1">
                              <a:latin typeface="Cambria Math" panose="02040503050406030204" pitchFamily="18" charset="0"/>
                            </a:rPr>
                            <m:t>𝐹</m:t>
                          </m:r>
                        </m:e>
                        <m:sub>
                          <m:r>
                            <a:rPr lang="en-GB" b="0" i="1" smtClean="0">
                              <a:latin typeface="Cambria Math" panose="02040503050406030204" pitchFamily="18" charset="0"/>
                            </a:rPr>
                            <m:t>𝐵</m:t>
                          </m:r>
                          <m:r>
                            <a:rPr lang="en-GB" i="1">
                              <a:latin typeface="Cambria Math" panose="02040503050406030204" pitchFamily="18" charset="0"/>
                            </a:rPr>
                            <m:t>𝑥</m:t>
                          </m:r>
                        </m:sub>
                      </m:sSub>
                      <m:r>
                        <a:rPr lang="en-CA" sz="2400" b="0" i="1">
                          <a:solidFill>
                            <a:schemeClr val="tx1"/>
                          </a:solidFill>
                          <a:latin typeface="Cambria Math" panose="02040503050406030204" pitchFamily="18" charset="0"/>
                          <a:ea typeface="Cambria Math" panose="02040503050406030204" pitchFamily="18" charset="0"/>
                        </a:rPr>
                        <m:t>−</m:t>
                      </m:r>
                      <m:nary>
                        <m:naryPr>
                          <m:ctrlPr>
                            <a:rPr lang="en-CA" sz="2400" i="1" smtClean="0">
                              <a:solidFill>
                                <a:schemeClr val="tx1"/>
                              </a:solidFill>
                              <a:latin typeface="Cambria Math" panose="02040503050406030204" pitchFamily="18" charset="0"/>
                            </a:rPr>
                          </m:ctrlPr>
                        </m:naryPr>
                        <m:sub>
                          <m:r>
                            <a:rPr lang="en-CA" sz="2400" b="0" i="1" smtClean="0">
                              <a:solidFill>
                                <a:schemeClr val="tx1"/>
                              </a:solidFill>
                              <a:latin typeface="Cambria Math" panose="02040503050406030204" pitchFamily="18" charset="0"/>
                            </a:rPr>
                            <m:t>𝑀</m:t>
                          </m:r>
                        </m:sub>
                        <m:sup/>
                        <m:e>
                          <m:sSub>
                            <m:sSubPr>
                              <m:ctrlPr>
                                <a:rPr lang="en-CA" sz="2400" i="1" smtClean="0">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𝑎</m:t>
                                  </m:r>
                                </m:e>
                              </m:acc>
                            </m:e>
                            <m:sub>
                              <m:r>
                                <a:rPr lang="en-CA" sz="2400" b="0" i="1">
                                  <a:solidFill>
                                    <a:schemeClr val="tx1"/>
                                  </a:solidFill>
                                  <a:latin typeface="Cambria Math" panose="02040503050406030204" pitchFamily="18" charset="0"/>
                                  <a:ea typeface="Cambria Math" panose="02040503050406030204" pitchFamily="18" charset="0"/>
                                </a:rPr>
                                <m:t>𝑟𝑓</m:t>
                              </m:r>
                              <m:r>
                                <a:rPr lang="en-GB" sz="2400" b="0" i="1" smtClean="0">
                                  <a:solidFill>
                                    <a:schemeClr val="tx1"/>
                                  </a:solidFill>
                                  <a:latin typeface="Cambria Math" panose="02040503050406030204" pitchFamily="18" charset="0"/>
                                  <a:ea typeface="Cambria Math" panose="02040503050406030204" pitchFamily="18" charset="0"/>
                                </a:rPr>
                                <m:t>𝑥</m:t>
                              </m:r>
                            </m:sub>
                          </m:sSub>
                          <m:r>
                            <a:rPr lang="en-CA" sz="2400" b="0" i="1" smtClean="0">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i="1">
                          <a:solidFill>
                            <a:schemeClr val="tx1"/>
                          </a:solidFill>
                          <a:latin typeface="Cambria Math" panose="02040503050406030204" pitchFamily="18" charset="0"/>
                        </a:rPr>
                        <m:t>=</m:t>
                      </m:r>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sSub>
                            <m:sSubPr>
                              <m:ctrlPr>
                                <a:rPr lang="en-CA" sz="2400" i="1">
                                  <a:solidFill>
                                    <a:schemeClr val="tx1"/>
                                  </a:solidFill>
                                  <a:latin typeface="Cambria Math" panose="02040503050406030204" pitchFamily="18" charset="0"/>
                                </a:rPr>
                              </m:ctrlPr>
                            </m:sSubPr>
                            <m:e>
                              <m:r>
                                <a:rPr lang="en-GB" sz="2400" i="1" smtClean="0">
                                  <a:solidFill>
                                    <a:schemeClr val="tx1"/>
                                  </a:solidFill>
                                  <a:latin typeface="Cambria Math" panose="02040503050406030204" pitchFamily="18" charset="0"/>
                                  <a:ea typeface="Cambria Math" panose="02040503050406030204" pitchFamily="18" charset="0"/>
                                </a:rPr>
                                <m:t>𝑢</m:t>
                              </m:r>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sSub>
                            <m:sSubPr>
                              <m:ctrlPr>
                                <a:rPr lang="en-CA" sz="2400" i="1">
                                  <a:solidFill>
                                    <a:schemeClr val="tx1"/>
                                  </a:solidFill>
                                  <a:latin typeface="Cambria Math" panose="02040503050406030204" pitchFamily="18" charset="0"/>
                                </a:rPr>
                              </m:ctrlPr>
                            </m:sSubPr>
                            <m:e>
                              <m:r>
                                <a:rPr lang="en-GB" sz="2400" i="1" smtClean="0">
                                  <a:solidFill>
                                    <a:schemeClr val="tx1"/>
                                  </a:solidFill>
                                  <a:latin typeface="Cambria Math" panose="02040503050406030204" pitchFamily="18" charset="0"/>
                                  <a:ea typeface="Cambria Math" panose="02040503050406030204" pitchFamily="18" charset="0"/>
                                </a:rPr>
                                <m:t>𝑢</m:t>
                              </m:r>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𝜌</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oMath>
                  </m:oMathPara>
                </a14:m>
                <a:endParaRPr lang="en-GH" dirty="0"/>
              </a:p>
            </p:txBody>
          </p:sp>
        </mc:Choice>
        <mc:Fallback xmlns="">
          <p:sp>
            <p:nvSpPr>
              <p:cNvPr id="2" name="TextBox 1">
                <a:extLst>
                  <a:ext uri="{FF2B5EF4-FFF2-40B4-BE49-F238E27FC236}">
                    <a16:creationId xmlns:a16="http://schemas.microsoft.com/office/drawing/2014/main" id="{16AC3EDC-2EF1-3072-2D25-97C10A3B9796}"/>
                  </a:ext>
                </a:extLst>
              </p:cNvPr>
              <p:cNvSpPr txBox="1">
                <a:spLocks noRot="1" noChangeAspect="1" noMove="1" noResize="1" noEditPoints="1" noAdjustHandles="1" noChangeArrowheads="1" noChangeShapeType="1" noTextEdit="1"/>
              </p:cNvSpPr>
              <p:nvPr/>
            </p:nvSpPr>
            <p:spPr>
              <a:xfrm>
                <a:off x="65729" y="38521"/>
                <a:ext cx="8679685" cy="955518"/>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B627D3-79CD-A251-3A9F-1642356DFB48}"/>
                  </a:ext>
                </a:extLst>
              </p:cNvPr>
              <p:cNvSpPr txBox="1"/>
              <p:nvPr/>
            </p:nvSpPr>
            <p:spPr>
              <a:xfrm>
                <a:off x="0" y="1056562"/>
                <a:ext cx="5884985" cy="9555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sz="2400" b="0" i="1" smtClean="0">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 </m:t>
                      </m:r>
                      <m:r>
                        <a:rPr lang="en-CA" sz="2400" b="0" i="1">
                          <a:solidFill>
                            <a:schemeClr val="tx1"/>
                          </a:solidFill>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𝑎</m:t>
                              </m:r>
                            </m:e>
                          </m:acc>
                        </m:e>
                        <m:sub>
                          <m:r>
                            <a:rPr lang="en-CA" i="1">
                              <a:latin typeface="Cambria Math" panose="02040503050406030204" pitchFamily="18" charset="0"/>
                              <a:ea typeface="Cambria Math" panose="02040503050406030204" pitchFamily="18" charset="0"/>
                            </a:rPr>
                            <m:t>𝑟𝑓</m:t>
                          </m:r>
                          <m:r>
                            <a:rPr lang="en-GB" i="1">
                              <a:latin typeface="Cambria Math" panose="02040503050406030204" pitchFamily="18" charset="0"/>
                              <a:ea typeface="Cambria Math" panose="02040503050406030204" pitchFamily="18" charset="0"/>
                            </a:rPr>
                            <m:t>𝑥</m:t>
                          </m:r>
                        </m:sub>
                      </m:sSub>
                      <m:nary>
                        <m:naryPr>
                          <m:ctrlPr>
                            <a:rPr lang="en-CA" sz="2400" i="1" smtClean="0">
                              <a:solidFill>
                                <a:schemeClr val="tx1"/>
                              </a:solidFill>
                              <a:latin typeface="Cambria Math" panose="02040503050406030204" pitchFamily="18" charset="0"/>
                            </a:rPr>
                          </m:ctrlPr>
                        </m:naryPr>
                        <m:sub>
                          <m:r>
                            <a:rPr lang="en-CA" sz="2400" b="0" i="1" smtClean="0">
                              <a:solidFill>
                                <a:schemeClr val="tx1"/>
                              </a:solidFill>
                              <a:latin typeface="Cambria Math" panose="02040503050406030204" pitchFamily="18" charset="0"/>
                            </a:rPr>
                            <m:t>𝑀</m:t>
                          </m:r>
                        </m:sub>
                        <m:sup/>
                        <m:e>
                          <m:r>
                            <a:rPr lang="en-CA" sz="2400" b="0" i="1" smtClean="0">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smtClean="0">
                              <a:solidFill>
                                <a:schemeClr val="tx1"/>
                              </a:solidFill>
                              <a:latin typeface="Cambria Math" panose="02040503050406030204" pitchFamily="18" charset="0"/>
                              <a:ea typeface="Cambria Math" panose="02040503050406030204" pitchFamily="18" charset="0"/>
                            </a:rPr>
                            <m:t>∀</m:t>
                          </m:r>
                        </m:e>
                      </m:nary>
                      <m:r>
                        <a:rPr lang="en-CA" sz="2400" b="0" i="1">
                          <a:solidFill>
                            <a:schemeClr val="tx1"/>
                          </a:solidFill>
                          <a:latin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sSub>
                            <m:sSubPr>
                              <m:ctrlPr>
                                <a:rPr lang="en-CA" sz="2400" i="1">
                                  <a:solidFill>
                                    <a:schemeClr val="tx1"/>
                                  </a:solidFill>
                                  <a:latin typeface="Cambria Math" panose="02040503050406030204" pitchFamily="18" charset="0"/>
                                </a:rPr>
                              </m:ctrlPr>
                            </m:sSubPr>
                            <m:e>
                              <m:r>
                                <a:rPr lang="en-GB" sz="2400" i="1" smtClean="0">
                                  <a:solidFill>
                                    <a:schemeClr val="tx1"/>
                                  </a:solidFill>
                                  <a:latin typeface="Cambria Math" panose="02040503050406030204" pitchFamily="18" charset="0"/>
                                  <a:ea typeface="Cambria Math" panose="02040503050406030204" pitchFamily="18" charset="0"/>
                                </a:rPr>
                                <m:t>𝑢</m:t>
                              </m:r>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𝜌</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e>
                            <m:sub>
                              <m:r>
                                <a:rPr lang="en-CA" sz="2400" b="0" i="1">
                                  <a:solidFill>
                                    <a:schemeClr val="tx1"/>
                                  </a:solidFill>
                                  <a:latin typeface="Cambria Math" panose="02040503050406030204" pitchFamily="18" charset="0"/>
                                </a:rPr>
                                <m:t>𝑥𝑦𝑧</m:t>
                              </m:r>
                            </m:sub>
                          </m:sSub>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oMath>
                  </m:oMathPara>
                </a14:m>
                <a:endParaRPr lang="en-GH" dirty="0"/>
              </a:p>
            </p:txBody>
          </p:sp>
        </mc:Choice>
        <mc:Fallback xmlns="">
          <p:sp>
            <p:nvSpPr>
              <p:cNvPr id="3" name="TextBox 2">
                <a:extLst>
                  <a:ext uri="{FF2B5EF4-FFF2-40B4-BE49-F238E27FC236}">
                    <a16:creationId xmlns:a16="http://schemas.microsoft.com/office/drawing/2014/main" id="{CAB627D3-79CD-A251-3A9F-1642356DFB48}"/>
                  </a:ext>
                </a:extLst>
              </p:cNvPr>
              <p:cNvSpPr txBox="1">
                <a:spLocks noRot="1" noChangeAspect="1" noMove="1" noResize="1" noEditPoints="1" noAdjustHandles="1" noChangeArrowheads="1" noChangeShapeType="1" noTextEdit="1"/>
              </p:cNvSpPr>
              <p:nvPr/>
            </p:nvSpPr>
            <p:spPr>
              <a:xfrm>
                <a:off x="0" y="1056562"/>
                <a:ext cx="5884985" cy="955518"/>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7864DE-C2D9-0BF8-28E7-5605E73AD227}"/>
                  </a:ext>
                </a:extLst>
              </p:cNvPr>
              <p:cNvSpPr txBox="1"/>
              <p:nvPr/>
            </p:nvSpPr>
            <p:spPr>
              <a:xfrm>
                <a:off x="-1" y="2093378"/>
                <a:ext cx="5884985" cy="9889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sz="2400" b="0" i="1" smtClean="0">
                          <a:solidFill>
                            <a:schemeClr val="tx1"/>
                          </a:solidFill>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𝑎</m:t>
                              </m:r>
                            </m:e>
                          </m:acc>
                        </m:e>
                        <m:sub>
                          <m:r>
                            <a:rPr lang="en-CA" i="1">
                              <a:latin typeface="Cambria Math" panose="02040503050406030204" pitchFamily="18" charset="0"/>
                              <a:ea typeface="Cambria Math" panose="02040503050406030204" pitchFamily="18" charset="0"/>
                            </a:rPr>
                            <m:t>𝑟𝑓</m:t>
                          </m:r>
                          <m:r>
                            <a:rPr lang="en-GB" i="1">
                              <a:latin typeface="Cambria Math" panose="02040503050406030204" pitchFamily="18" charset="0"/>
                              <a:ea typeface="Cambria Math" panose="02040503050406030204" pitchFamily="18" charset="0"/>
                            </a:rPr>
                            <m:t>𝑥</m:t>
                          </m:r>
                        </m:sub>
                      </m:sSub>
                      <m:r>
                        <a:rPr lang="en-GB" sz="2400" i="1" smtClean="0">
                          <a:solidFill>
                            <a:schemeClr val="tx1"/>
                          </a:solidFill>
                          <a:latin typeface="Cambria Math" panose="02040503050406030204" pitchFamily="18" charset="0"/>
                        </a:rPr>
                        <m:t>𝑀</m:t>
                      </m:r>
                      <m:r>
                        <a:rPr lang="en-CA" sz="2400" b="0" i="1">
                          <a:solidFill>
                            <a:schemeClr val="tx1"/>
                          </a:solidFill>
                          <a:latin typeface="Cambria Math" panose="02040503050406030204" pitchFamily="18" charset="0"/>
                        </a:rPr>
                        <m:t>=</m:t>
                      </m:r>
                      <m:nary>
                        <m:naryPr>
                          <m:chr m:val="∑"/>
                          <m:supHide m:val="on"/>
                          <m:ctrlPr>
                            <a:rPr lang="en-CA"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𝐶𝑆</m:t>
                          </m:r>
                        </m:sub>
                        <m:sup/>
                        <m:e>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𝑢</m:t>
                              </m:r>
                            </m:e>
                            <m:sub>
                              <m:r>
                                <a:rPr lang="en-GB" i="1">
                                  <a:solidFill>
                                    <a:prstClr val="black"/>
                                  </a:solidFill>
                                  <a:latin typeface="Cambria Math" panose="02040503050406030204" pitchFamily="18" charset="0"/>
                                </a:rPr>
                                <m:t>𝑥𝑦𝑧</m:t>
                              </m:r>
                            </m:sub>
                          </m:sSub>
                          <m:acc>
                            <m:accPr>
                              <m:chr m:val="̇"/>
                              <m:ctrlPr>
                                <a:rPr lang="en-CA"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r>
                            <a:rPr lang="en-GB" b="0" i="1" smtClean="0">
                              <a:solidFill>
                                <a:prstClr val="black"/>
                              </a:solidFill>
                              <a:latin typeface="Cambria Math" panose="02040503050406030204" pitchFamily="18" charset="0"/>
                            </a:rPr>
                            <m:t>=</m:t>
                          </m:r>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𝑢</m:t>
                              </m:r>
                            </m:e>
                            <m:sub>
                              <m:r>
                                <a:rPr lang="en-GB" b="0" i="1" smtClean="0">
                                  <a:solidFill>
                                    <a:prstClr val="black"/>
                                  </a:solidFill>
                                  <a:latin typeface="Cambria Math" panose="02040503050406030204" pitchFamily="18" charset="0"/>
                                </a:rPr>
                                <m:t>1</m:t>
                              </m:r>
                            </m:sub>
                          </m:sSub>
                          <m:sSub>
                            <m:sSubPr>
                              <m:ctrlPr>
                                <a:rPr lang="en-GB" b="0" i="1" smtClean="0">
                                  <a:solidFill>
                                    <a:prstClr val="black"/>
                                  </a:solidFill>
                                  <a:latin typeface="Cambria Math" panose="02040503050406030204" pitchFamily="18" charset="0"/>
                                </a:rPr>
                              </m:ctrlPr>
                            </m:sSubPr>
                            <m:e>
                              <m:acc>
                                <m:accPr>
                                  <m:chr m:val="̇"/>
                                  <m:ctrlPr>
                                    <a:rPr lang="en-GB" sz="2400" b="0" i="1" smtClean="0">
                                      <a:solidFill>
                                        <a:prstClr val="black"/>
                                      </a:solidFill>
                                      <a:latin typeface="Cambria Math" panose="02040503050406030204" pitchFamily="18" charset="0"/>
                                      <a:ea typeface="Cambria Math" panose="02040503050406030204" pitchFamily="18" charset="0"/>
                                    </a:rPr>
                                  </m:ctrlPr>
                                </m:accPr>
                                <m:e>
                                  <m:r>
                                    <a:rPr lang="en-GB" sz="2400" b="0" i="1" smtClean="0">
                                      <a:solidFill>
                                        <a:prstClr val="black"/>
                                      </a:solidFill>
                                      <a:latin typeface="Cambria Math" panose="02040503050406030204" pitchFamily="18" charset="0"/>
                                      <a:ea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e>
                      </m:nary>
                    </m:oMath>
                  </m:oMathPara>
                </a14:m>
                <a:endParaRPr lang="en-GH" dirty="0"/>
              </a:p>
            </p:txBody>
          </p:sp>
        </mc:Choice>
        <mc:Fallback xmlns="">
          <p:sp>
            <p:nvSpPr>
              <p:cNvPr id="4" name="TextBox 3">
                <a:extLst>
                  <a:ext uri="{FF2B5EF4-FFF2-40B4-BE49-F238E27FC236}">
                    <a16:creationId xmlns:a16="http://schemas.microsoft.com/office/drawing/2014/main" id="{ED7864DE-C2D9-0BF8-28E7-5605E73AD227}"/>
                  </a:ext>
                </a:extLst>
              </p:cNvPr>
              <p:cNvSpPr txBox="1">
                <a:spLocks noRot="1" noChangeAspect="1" noMove="1" noResize="1" noEditPoints="1" noAdjustHandles="1" noChangeArrowheads="1" noChangeShapeType="1" noTextEdit="1"/>
              </p:cNvSpPr>
              <p:nvPr/>
            </p:nvSpPr>
            <p:spPr>
              <a:xfrm>
                <a:off x="-1" y="2093378"/>
                <a:ext cx="5884985" cy="988925"/>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AD15EA6-F88F-5F28-C1C7-A1046E3A36C5}"/>
                  </a:ext>
                </a:extLst>
              </p:cNvPr>
              <p:cNvSpPr txBox="1"/>
              <p:nvPr/>
            </p:nvSpPr>
            <p:spPr>
              <a:xfrm>
                <a:off x="50793" y="3163601"/>
                <a:ext cx="5884985" cy="51135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sz="2400" b="0" i="1" smtClean="0">
                          <a:solidFill>
                            <a:schemeClr val="tx1"/>
                          </a:solidFill>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𝑎</m:t>
                              </m:r>
                            </m:e>
                          </m:acc>
                        </m:e>
                        <m:sub>
                          <m:r>
                            <a:rPr lang="en-CA" i="1">
                              <a:latin typeface="Cambria Math" panose="02040503050406030204" pitchFamily="18" charset="0"/>
                              <a:ea typeface="Cambria Math" panose="02040503050406030204" pitchFamily="18" charset="0"/>
                            </a:rPr>
                            <m:t>𝑟𝑓</m:t>
                          </m:r>
                          <m:r>
                            <a:rPr lang="en-GB" i="1">
                              <a:latin typeface="Cambria Math" panose="02040503050406030204" pitchFamily="18" charset="0"/>
                              <a:ea typeface="Cambria Math" panose="02040503050406030204" pitchFamily="18" charset="0"/>
                            </a:rPr>
                            <m:t>𝑥</m:t>
                          </m:r>
                        </m:sub>
                      </m:sSub>
                      <m:r>
                        <a:rPr lang="en-GB" sz="2400" i="1" smtClean="0">
                          <a:solidFill>
                            <a:schemeClr val="tx1"/>
                          </a:solidFill>
                          <a:latin typeface="Cambria Math" panose="02040503050406030204" pitchFamily="18" charset="0"/>
                        </a:rPr>
                        <m:t>𝑀</m:t>
                      </m:r>
                      <m:r>
                        <a:rPr lang="en-CA" sz="2400" b="0" i="1">
                          <a:solidFill>
                            <a:schemeClr val="tx1"/>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𝑒</m:t>
                          </m:r>
                        </m:sub>
                      </m:sSub>
                      <m:acc>
                        <m:accPr>
                          <m:chr m:val="̇"/>
                          <m:ctrlPr>
                            <a:rPr lang="en-GB" sz="2400" b="0" i="1" smtClean="0">
                              <a:solidFill>
                                <a:prstClr val="black"/>
                              </a:solidFill>
                              <a:latin typeface="Cambria Math" panose="02040503050406030204" pitchFamily="18" charset="0"/>
                              <a:ea typeface="Cambria Math" panose="02040503050406030204" pitchFamily="18" charset="0"/>
                            </a:rPr>
                          </m:ctrlPr>
                        </m:accPr>
                        <m:e>
                          <m:r>
                            <a:rPr lang="en-GB" sz="2400" b="0" i="1" smtClean="0">
                              <a:solidFill>
                                <a:prstClr val="black"/>
                              </a:solidFill>
                              <a:latin typeface="Cambria Math" panose="02040503050406030204" pitchFamily="18" charset="0"/>
                              <a:ea typeface="Cambria Math" panose="02040503050406030204" pitchFamily="18" charset="0"/>
                            </a:rPr>
                            <m:t>𝑀</m:t>
                          </m:r>
                        </m:e>
                      </m:acc>
                    </m:oMath>
                  </m:oMathPara>
                </a14:m>
                <a:endParaRPr lang="en-GH" dirty="0"/>
              </a:p>
            </p:txBody>
          </p:sp>
        </mc:Choice>
        <mc:Fallback xmlns="">
          <p:sp>
            <p:nvSpPr>
              <p:cNvPr id="6" name="TextBox 5">
                <a:extLst>
                  <a:ext uri="{FF2B5EF4-FFF2-40B4-BE49-F238E27FC236}">
                    <a16:creationId xmlns:a16="http://schemas.microsoft.com/office/drawing/2014/main" id="{5AD15EA6-F88F-5F28-C1C7-A1046E3A36C5}"/>
                  </a:ext>
                </a:extLst>
              </p:cNvPr>
              <p:cNvSpPr txBox="1">
                <a:spLocks noRot="1" noChangeAspect="1" noMove="1" noResize="1" noEditPoints="1" noAdjustHandles="1" noChangeArrowheads="1" noChangeShapeType="1" noTextEdit="1"/>
              </p:cNvSpPr>
              <p:nvPr/>
            </p:nvSpPr>
            <p:spPr>
              <a:xfrm>
                <a:off x="50793" y="3163601"/>
                <a:ext cx="5884985" cy="511358"/>
              </a:xfrm>
              <a:prstGeom prst="rect">
                <a:avLst/>
              </a:prstGeom>
              <a:blipFill>
                <a:blip r:embed="rId5"/>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3093004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3C4A5-E686-11FF-0651-99B9EFE89FF9}"/>
              </a:ext>
            </a:extLst>
          </p:cNvPr>
          <p:cNvSpPr txBox="1"/>
          <p:nvPr/>
        </p:nvSpPr>
        <p:spPr>
          <a:xfrm>
            <a:off x="71562" y="11156"/>
            <a:ext cx="9072438" cy="1938992"/>
          </a:xfrm>
          <a:prstGeom prst="rect">
            <a:avLst/>
          </a:prstGeom>
          <a:noFill/>
        </p:spPr>
        <p:txBody>
          <a:bodyPr wrap="square">
            <a:spAutoFit/>
          </a:bodyPr>
          <a:lstStyle/>
          <a:p>
            <a:pPr algn="just"/>
            <a:r>
              <a:rPr lang="en-GB" sz="2400" b="1" i="0" u="none" strike="noStrike" baseline="0" dirty="0">
                <a:solidFill>
                  <a:srgbClr val="231F20"/>
                </a:solidFill>
                <a:latin typeface="+mn-lt"/>
              </a:rPr>
              <a:t>2.</a:t>
            </a:r>
            <a:r>
              <a:rPr lang="en-GB" sz="2400" b="0" i="0" u="none" strike="noStrike" baseline="0" dirty="0">
                <a:solidFill>
                  <a:srgbClr val="231F20"/>
                </a:solidFill>
                <a:latin typeface="+mn-lt"/>
              </a:rPr>
              <a:t> A small rocket, with an initial mass of 400 kg, is to be launched vertically. Upon ignition the rocket consumes fuel at the rate of 5 kg/s and ejects gas at atmospheric pressure with a speed of 3500 m/s relative to the rocket. Determine the initial acceleration of the rocket and the rocket speed after 10 s, if air resistance is neglected.</a:t>
            </a:r>
            <a:endParaRPr lang="en-GH" dirty="0">
              <a:latin typeface="+mn-lt"/>
            </a:endParaRPr>
          </a:p>
        </p:txBody>
      </p:sp>
      <p:pic>
        <p:nvPicPr>
          <p:cNvPr id="5" name="Picture 4">
            <a:extLst>
              <a:ext uri="{FF2B5EF4-FFF2-40B4-BE49-F238E27FC236}">
                <a16:creationId xmlns:a16="http://schemas.microsoft.com/office/drawing/2014/main" id="{52869C27-BBF7-7F39-1EA4-3E354A8A96AF}"/>
              </a:ext>
            </a:extLst>
          </p:cNvPr>
          <p:cNvPicPr>
            <a:picLocks noChangeAspect="1"/>
          </p:cNvPicPr>
          <p:nvPr/>
        </p:nvPicPr>
        <p:blipFill>
          <a:blip r:embed="rId2"/>
          <a:stretch>
            <a:fillRect/>
          </a:stretch>
        </p:blipFill>
        <p:spPr>
          <a:xfrm>
            <a:off x="3380956" y="1836729"/>
            <a:ext cx="2114588" cy="3985186"/>
          </a:xfrm>
          <a:prstGeom prst="rect">
            <a:avLst/>
          </a:prstGeom>
        </p:spPr>
      </p:pic>
    </p:spTree>
    <p:extLst>
      <p:ext uri="{BB962C8B-B14F-4D97-AF65-F5344CB8AC3E}">
        <p14:creationId xmlns:p14="http://schemas.microsoft.com/office/powerpoint/2010/main" val="2279343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3C4A5-E686-11FF-0651-99B9EFE89FF9}"/>
              </a:ext>
            </a:extLst>
          </p:cNvPr>
          <p:cNvSpPr txBox="1"/>
          <p:nvPr/>
        </p:nvSpPr>
        <p:spPr>
          <a:xfrm>
            <a:off x="71562" y="11156"/>
            <a:ext cx="9072438" cy="3046988"/>
          </a:xfrm>
          <a:prstGeom prst="rect">
            <a:avLst/>
          </a:prstGeom>
          <a:noFill/>
        </p:spPr>
        <p:txBody>
          <a:bodyPr wrap="square">
            <a:spAutoFit/>
          </a:bodyPr>
          <a:lstStyle/>
          <a:p>
            <a:pPr algn="just"/>
            <a:r>
              <a:rPr lang="en-GB" sz="2400" b="1" i="0" u="none" strike="noStrike" baseline="0" dirty="0">
                <a:solidFill>
                  <a:srgbClr val="231F20"/>
                </a:solidFill>
                <a:latin typeface="+mn-lt"/>
              </a:rPr>
              <a:t>3.</a:t>
            </a:r>
            <a:r>
              <a:rPr lang="en-GB" sz="2400" b="0" i="0" u="none" strike="noStrike" baseline="0" dirty="0">
                <a:solidFill>
                  <a:srgbClr val="231F20"/>
                </a:solidFill>
                <a:latin typeface="+mn-lt"/>
              </a:rPr>
              <a:t> A cart is propelled by a liquid jet issuing horizontally from a tank as shown. The track is horizontal, resistance to motion may be neglected. The tank is pressurized so that the jet speed may be considered constant. Obtain a general expression for the speed of the cart as it accelerates from rest. If </a:t>
            </a:r>
            <a:r>
              <a:rPr lang="en-GB" sz="2400" b="0" i="1" u="none" strike="noStrike" baseline="0" dirty="0">
                <a:solidFill>
                  <a:srgbClr val="231F20"/>
                </a:solidFill>
                <a:latin typeface="+mn-lt"/>
              </a:rPr>
              <a:t>M</a:t>
            </a:r>
            <a:r>
              <a:rPr lang="en-GB" sz="2400" b="0" i="1" u="none" strike="noStrike" baseline="-25000" dirty="0">
                <a:solidFill>
                  <a:srgbClr val="231F20"/>
                </a:solidFill>
                <a:latin typeface="+mn-lt"/>
              </a:rPr>
              <a:t>0</a:t>
            </a:r>
            <a:r>
              <a:rPr lang="en-GB" sz="2400" b="0" i="0" u="none" strike="noStrike" baseline="0" dirty="0">
                <a:solidFill>
                  <a:srgbClr val="231F20"/>
                </a:solidFill>
                <a:latin typeface="+mn-lt"/>
              </a:rPr>
              <a:t> = 100 kg, </a:t>
            </a:r>
            <a:r>
              <a:rPr lang="en-GB" sz="2400" b="0" i="1" u="none" strike="noStrike" baseline="0" dirty="0">
                <a:solidFill>
                  <a:srgbClr val="231F20"/>
                </a:solidFill>
                <a:latin typeface="+mn-lt"/>
              </a:rPr>
              <a:t>ρ</a:t>
            </a:r>
            <a:r>
              <a:rPr lang="en-GB" sz="2400" b="0" i="0" u="none" strike="noStrike" baseline="0" dirty="0">
                <a:solidFill>
                  <a:srgbClr val="231F20"/>
                </a:solidFill>
                <a:latin typeface="+mn-lt"/>
              </a:rPr>
              <a:t> = 999 kg/m</a:t>
            </a:r>
            <a:r>
              <a:rPr lang="en-GB" sz="2400" b="0" i="0" u="none" strike="noStrike" baseline="30000" dirty="0">
                <a:solidFill>
                  <a:srgbClr val="231F20"/>
                </a:solidFill>
                <a:latin typeface="+mn-lt"/>
              </a:rPr>
              <a:t>3</a:t>
            </a:r>
            <a:r>
              <a:rPr lang="en-GB" sz="2400" b="0" i="0" u="none" strike="noStrike" baseline="0" dirty="0">
                <a:solidFill>
                  <a:srgbClr val="231F20"/>
                </a:solidFill>
                <a:latin typeface="+mn-lt"/>
              </a:rPr>
              <a:t>, and </a:t>
            </a:r>
            <a:r>
              <a:rPr lang="en-GB" sz="2400" b="0" i="1" u="none" strike="noStrike" baseline="0" dirty="0">
                <a:solidFill>
                  <a:srgbClr val="231F20"/>
                </a:solidFill>
                <a:latin typeface="+mn-lt"/>
              </a:rPr>
              <a:t>A</a:t>
            </a:r>
            <a:r>
              <a:rPr lang="en-GB" sz="2400" b="0" i="0" u="none" strike="noStrike" baseline="0" dirty="0">
                <a:solidFill>
                  <a:srgbClr val="231F20"/>
                </a:solidFill>
                <a:latin typeface="+mn-lt"/>
              </a:rPr>
              <a:t> = 0.005 m</a:t>
            </a:r>
            <a:r>
              <a:rPr lang="en-GB" sz="2400" b="0" i="0" u="none" strike="noStrike" baseline="30000" dirty="0">
                <a:solidFill>
                  <a:srgbClr val="231F20"/>
                </a:solidFill>
                <a:latin typeface="+mn-lt"/>
              </a:rPr>
              <a:t>2</a:t>
            </a:r>
            <a:r>
              <a:rPr lang="en-GB" sz="2400" b="0" i="0" u="none" strike="noStrike" baseline="0" dirty="0">
                <a:solidFill>
                  <a:srgbClr val="231F20"/>
                </a:solidFill>
                <a:latin typeface="+mn-lt"/>
              </a:rPr>
              <a:t>, find the jet speed </a:t>
            </a:r>
            <a:r>
              <a:rPr lang="en-GB" sz="2400" b="0" i="1" u="none" strike="noStrike" baseline="0" dirty="0">
                <a:solidFill>
                  <a:srgbClr val="231F20"/>
                </a:solidFill>
                <a:latin typeface="+mn-lt"/>
              </a:rPr>
              <a:t>V</a:t>
            </a:r>
            <a:r>
              <a:rPr lang="en-GB" sz="2400" b="0" i="0" u="none" strike="noStrike" baseline="0" dirty="0">
                <a:solidFill>
                  <a:srgbClr val="231F20"/>
                </a:solidFill>
                <a:latin typeface="+mn-lt"/>
              </a:rPr>
              <a:t> required for the cart to reach a speed of 1.5 m/s after 30 seconds. For this condition, plot the cart speed </a:t>
            </a:r>
            <a:r>
              <a:rPr lang="en-GB" sz="2400" b="0" i="1" u="none" strike="noStrike" baseline="0" dirty="0">
                <a:solidFill>
                  <a:srgbClr val="231F20"/>
                </a:solidFill>
                <a:latin typeface="+mn-lt"/>
              </a:rPr>
              <a:t>U</a:t>
            </a:r>
            <a:r>
              <a:rPr lang="en-GB" sz="2400" b="0" i="0" u="none" strike="noStrike" baseline="0" dirty="0">
                <a:solidFill>
                  <a:srgbClr val="231F20"/>
                </a:solidFill>
                <a:latin typeface="+mn-lt"/>
              </a:rPr>
              <a:t> as a function of time. Plot the cart speed after 30 seconds as a function of jet speed.</a:t>
            </a:r>
            <a:endParaRPr lang="en-GH" dirty="0">
              <a:latin typeface="+mn-lt"/>
            </a:endParaRPr>
          </a:p>
        </p:txBody>
      </p:sp>
      <p:pic>
        <p:nvPicPr>
          <p:cNvPr id="4" name="Picture 3">
            <a:extLst>
              <a:ext uri="{FF2B5EF4-FFF2-40B4-BE49-F238E27FC236}">
                <a16:creationId xmlns:a16="http://schemas.microsoft.com/office/drawing/2014/main" id="{E75A8994-72CF-E933-E7FF-0E5E1E7BEB7C}"/>
              </a:ext>
            </a:extLst>
          </p:cNvPr>
          <p:cNvPicPr>
            <a:picLocks noChangeAspect="1"/>
          </p:cNvPicPr>
          <p:nvPr/>
        </p:nvPicPr>
        <p:blipFill>
          <a:blip r:embed="rId2"/>
          <a:stretch>
            <a:fillRect/>
          </a:stretch>
        </p:blipFill>
        <p:spPr>
          <a:xfrm>
            <a:off x="2056590" y="3945606"/>
            <a:ext cx="3859578" cy="2363008"/>
          </a:xfrm>
          <a:prstGeom prst="rect">
            <a:avLst/>
          </a:prstGeom>
        </p:spPr>
      </p:pic>
    </p:spTree>
    <p:extLst>
      <p:ext uri="{BB962C8B-B14F-4D97-AF65-F5344CB8AC3E}">
        <p14:creationId xmlns:p14="http://schemas.microsoft.com/office/powerpoint/2010/main" val="3914052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2356"/>
          </a:xfrm>
        </p:spPr>
        <p:txBody>
          <a:bodyPr>
            <a:noAutofit/>
          </a:bodyPr>
          <a:lstStyle/>
          <a:p>
            <a:r>
              <a:rPr lang="en-US" sz="2800" dirty="0">
                <a:latin typeface="+mn-lt"/>
              </a:rPr>
              <a:t> </a:t>
            </a:r>
            <a:r>
              <a:rPr lang="en-US" sz="2800" b="1" dirty="0">
                <a:solidFill>
                  <a:schemeClr val="tx1"/>
                </a:solidFill>
                <a:latin typeface="+mn-lt"/>
              </a:rPr>
              <a:t>Angular Momentum Principle (Moment of Momentum Equation)</a:t>
            </a:r>
          </a:p>
        </p:txBody>
      </p:sp>
      <p:sp>
        <p:nvSpPr>
          <p:cNvPr id="7" name="Rectangle 3">
            <a:extLst>
              <a:ext uri="{FF2B5EF4-FFF2-40B4-BE49-F238E27FC236}">
                <a16:creationId xmlns:a16="http://schemas.microsoft.com/office/drawing/2014/main" id="{7054081E-4AA7-45DA-2520-B4CCDB9573AA}"/>
              </a:ext>
            </a:extLst>
          </p:cNvPr>
          <p:cNvSpPr txBox="1">
            <a:spLocks noChangeArrowheads="1"/>
          </p:cNvSpPr>
          <p:nvPr/>
        </p:nvSpPr>
        <p:spPr>
          <a:xfrm>
            <a:off x="0" y="1360663"/>
            <a:ext cx="7315200" cy="7823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panose="05000000000000000000" pitchFamily="2" charset="2"/>
              <a:buChar char="q"/>
              <a:defRPr/>
            </a:pPr>
            <a:r>
              <a:rPr lang="en-US" dirty="0"/>
              <a:t>  </a:t>
            </a:r>
            <a:r>
              <a:rPr lang="en-US" sz="2800" dirty="0">
                <a:latin typeface="+mn-lt"/>
              </a:rPr>
              <a:t>Basic Law, and Transport Theorem</a:t>
            </a:r>
          </a:p>
        </p:txBody>
      </p:sp>
      <p:pic>
        <p:nvPicPr>
          <p:cNvPr id="8" name="Picture 8">
            <a:extLst>
              <a:ext uri="{FF2B5EF4-FFF2-40B4-BE49-F238E27FC236}">
                <a16:creationId xmlns:a16="http://schemas.microsoft.com/office/drawing/2014/main" id="{93638596-AAD6-9342-2D6A-1FB9369ACA4F}"/>
              </a:ext>
            </a:extLst>
          </p:cNvPr>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82850" y="2070766"/>
            <a:ext cx="23495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9" name="Picture 9">
            <a:extLst>
              <a:ext uri="{FF2B5EF4-FFF2-40B4-BE49-F238E27FC236}">
                <a16:creationId xmlns:a16="http://schemas.microsoft.com/office/drawing/2014/main" id="{2D9FA2F1-DC41-E59C-E4CA-599D95D85CB7}"/>
              </a:ext>
            </a:extLst>
          </p:cNvPr>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72618" y="3750833"/>
            <a:ext cx="759618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65638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2356"/>
          </a:xfrm>
        </p:spPr>
        <p:txBody>
          <a:bodyPr>
            <a:noAutofit/>
          </a:bodyPr>
          <a:lstStyle/>
          <a:p>
            <a:r>
              <a:rPr lang="en-US" sz="2800" dirty="0">
                <a:latin typeface="+mn-lt"/>
              </a:rPr>
              <a:t> </a:t>
            </a:r>
            <a:r>
              <a:rPr lang="en-US" sz="2800" b="1" dirty="0">
                <a:solidFill>
                  <a:schemeClr val="tx1"/>
                </a:solidFill>
                <a:latin typeface="+mn-lt"/>
              </a:rPr>
              <a:t>Angular Momentum Principle (Moment of Momentum Equation)</a:t>
            </a:r>
          </a:p>
        </p:txBody>
      </p:sp>
      <p:pic>
        <p:nvPicPr>
          <p:cNvPr id="3" name="Picture 7">
            <a:extLst>
              <a:ext uri="{FF2B5EF4-FFF2-40B4-BE49-F238E27FC236}">
                <a16:creationId xmlns:a16="http://schemas.microsoft.com/office/drawing/2014/main" id="{32C2302F-B85D-8DAB-6E00-FC6D3CEDDC4B}"/>
              </a:ext>
            </a:extLst>
          </p:cNvPr>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61594" y="1758315"/>
            <a:ext cx="62103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4" name="Picture 8">
            <a:extLst>
              <a:ext uri="{FF2B5EF4-FFF2-40B4-BE49-F238E27FC236}">
                <a16:creationId xmlns:a16="http://schemas.microsoft.com/office/drawing/2014/main" id="{129FEB53-16A8-C5A8-71AC-09284885094F}"/>
              </a:ext>
            </a:extLst>
          </p:cNvPr>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080516" y="3181059"/>
            <a:ext cx="63246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94976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642" y="8510"/>
            <a:ext cx="7886700" cy="383376"/>
          </a:xfrm>
        </p:spPr>
        <p:txBody>
          <a:bodyPr>
            <a:normAutofit fontScale="90000"/>
          </a:bodyPr>
          <a:lstStyle/>
          <a:p>
            <a:r>
              <a:rPr lang="en-US" dirty="0">
                <a:solidFill>
                  <a:schemeClr val="tx1"/>
                </a:solidFill>
              </a:rPr>
              <a:t>Examples</a:t>
            </a:r>
            <a:endParaRPr lang="en-US" b="1" dirty="0">
              <a:solidFill>
                <a:schemeClr val="tx1"/>
              </a:solidFill>
            </a:endParaRPr>
          </a:p>
        </p:txBody>
      </p:sp>
      <p:sp>
        <p:nvSpPr>
          <p:cNvPr id="3" name="Content Placeholder 2"/>
          <p:cNvSpPr>
            <a:spLocks noGrp="1"/>
          </p:cNvSpPr>
          <p:nvPr>
            <p:ph idx="1"/>
          </p:nvPr>
        </p:nvSpPr>
        <p:spPr>
          <a:xfrm>
            <a:off x="0" y="438947"/>
            <a:ext cx="9144000" cy="2622951"/>
          </a:xfrm>
        </p:spPr>
        <p:txBody>
          <a:bodyPr>
            <a:normAutofit/>
          </a:bodyPr>
          <a:lstStyle/>
          <a:p>
            <a:pPr marL="0" indent="0" algn="just">
              <a:spcBef>
                <a:spcPts val="0"/>
              </a:spcBef>
              <a:buNone/>
            </a:pPr>
            <a:r>
              <a:rPr lang="en-US" sz="2600" b="1" dirty="0">
                <a:latin typeface="+mn-lt"/>
              </a:rPr>
              <a:t>1.</a:t>
            </a:r>
            <a:r>
              <a:rPr lang="en-US" sz="2600" dirty="0">
                <a:latin typeface="+mn-lt"/>
              </a:rPr>
              <a:t> Water flows through the 90° reducing elbow shown below. At Section 1, the absolute pressure is 220 kPa and the cross-sectional area is 0.01 m</a:t>
            </a:r>
            <a:r>
              <a:rPr lang="en-US" sz="2600" baseline="30000" dirty="0">
                <a:latin typeface="+mn-lt"/>
              </a:rPr>
              <a:t>2</a:t>
            </a:r>
            <a:r>
              <a:rPr lang="en-US" sz="2600" dirty="0">
                <a:latin typeface="+mn-lt"/>
              </a:rPr>
              <a:t>. At Section 2 which is located 0.3 m to the right of Section 1, the cross-sectional area and velocity are 0.0025 m</a:t>
            </a:r>
            <a:r>
              <a:rPr lang="en-US" sz="2600" baseline="30000" dirty="0">
                <a:latin typeface="+mn-lt"/>
              </a:rPr>
              <a:t>2</a:t>
            </a:r>
            <a:r>
              <a:rPr lang="en-US" sz="2600" dirty="0">
                <a:latin typeface="+mn-lt"/>
              </a:rPr>
              <a:t> and 16 m/s, respectively.  The elbow discharges to the atmosphere. </a:t>
            </a:r>
          </a:p>
          <a:p>
            <a:pPr marL="0" indent="0" algn="just">
              <a:spcBef>
                <a:spcPts val="0"/>
              </a:spcBef>
              <a:buNone/>
            </a:pPr>
            <a:r>
              <a:rPr lang="en-US" sz="2600" dirty="0">
                <a:latin typeface="+mn-lt"/>
              </a:rPr>
              <a:t>(a) Calculate the force exerted by  the fluid on the elbow. </a:t>
            </a:r>
          </a:p>
          <a:p>
            <a:pPr marL="0" indent="0" algn="just">
              <a:spcBef>
                <a:spcPts val="0"/>
              </a:spcBef>
              <a:buNone/>
            </a:pPr>
            <a:r>
              <a:rPr lang="en-US" sz="2600" dirty="0">
                <a:latin typeface="+mn-lt"/>
              </a:rPr>
              <a:t>(b) Estimate the moment exerted by the fluid on the elbow.</a:t>
            </a:r>
          </a:p>
          <a:p>
            <a:pPr marL="0" indent="0">
              <a:buNone/>
            </a:pPr>
            <a:endParaRPr lang="en-US" sz="2800" dirty="0">
              <a:latin typeface="+mn-lt"/>
            </a:endParaRPr>
          </a:p>
          <a:p>
            <a:pPr marL="0" indent="0">
              <a:buNone/>
            </a:pPr>
            <a:endParaRPr lang="en-US" sz="2800" dirty="0">
              <a:latin typeface="+mn-lt"/>
            </a:endParaRPr>
          </a:p>
          <a:p>
            <a:pPr marL="0" indent="0">
              <a:buNone/>
            </a:pPr>
            <a:endParaRPr lang="en-US" sz="2800" dirty="0">
              <a:latin typeface="+mn-lt"/>
            </a:endParaRPr>
          </a:p>
          <a:p>
            <a:pPr marL="0" indent="0">
              <a:buNone/>
            </a:pPr>
            <a:endParaRPr lang="en-US" sz="2800" dirty="0">
              <a:latin typeface="+mn-lt"/>
            </a:endParaRPr>
          </a:p>
        </p:txBody>
      </p:sp>
      <p:sp>
        <p:nvSpPr>
          <p:cNvPr id="4" name="Content Placeholder 2">
            <a:extLst>
              <a:ext uri="{FF2B5EF4-FFF2-40B4-BE49-F238E27FC236}">
                <a16:creationId xmlns:a16="http://schemas.microsoft.com/office/drawing/2014/main" id="{746BDD27-2637-1F00-AF51-627900734694}"/>
              </a:ext>
            </a:extLst>
          </p:cNvPr>
          <p:cNvSpPr txBox="1">
            <a:spLocks/>
          </p:cNvSpPr>
          <p:nvPr/>
        </p:nvSpPr>
        <p:spPr>
          <a:xfrm>
            <a:off x="0" y="3035547"/>
            <a:ext cx="3044952" cy="5214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spcBef>
                <a:spcPts val="0"/>
              </a:spcBef>
              <a:spcAft>
                <a:spcPts val="0"/>
              </a:spcAft>
              <a:buFont typeface="Arial" panose="020B0604020202020204" pitchFamily="34" charset="0"/>
              <a:buNone/>
            </a:pPr>
            <a:r>
              <a:rPr lang="en-US" sz="2600" dirty="0">
                <a:latin typeface="+mn-lt"/>
              </a:rPr>
              <a:t>Take </a:t>
            </a:r>
            <a:r>
              <a:rPr lang="en-US" sz="2600" i="1" dirty="0">
                <a:latin typeface="+mn-lt"/>
              </a:rPr>
              <a:t>P</a:t>
            </a:r>
            <a:r>
              <a:rPr lang="en-US" sz="2600" baseline="-25000" dirty="0">
                <a:latin typeface="+mn-lt"/>
              </a:rPr>
              <a:t>atm</a:t>
            </a:r>
            <a:r>
              <a:rPr lang="en-US" sz="2600" dirty="0">
                <a:latin typeface="+mn-lt"/>
              </a:rPr>
              <a:t> = 101 kPa</a:t>
            </a:r>
            <a:endParaRPr lang="en-US" sz="2800" dirty="0">
              <a:latin typeface="+mn-lt"/>
            </a:endParaRPr>
          </a:p>
          <a:p>
            <a:pPr marL="0" indent="0" fontAlgn="auto">
              <a:spcAft>
                <a:spcPts val="0"/>
              </a:spcAft>
              <a:buFont typeface="Arial" panose="020B0604020202020204" pitchFamily="34" charset="0"/>
              <a:buNone/>
            </a:pPr>
            <a:endParaRPr lang="en-US" sz="2800" dirty="0">
              <a:latin typeface="+mn-lt"/>
            </a:endParaRPr>
          </a:p>
          <a:p>
            <a:pPr marL="0" indent="0" fontAlgn="auto">
              <a:spcAft>
                <a:spcPts val="0"/>
              </a:spcAft>
              <a:buFont typeface="Arial" panose="020B0604020202020204" pitchFamily="34" charset="0"/>
              <a:buNone/>
            </a:pPr>
            <a:endParaRPr lang="en-US" sz="2800" dirty="0">
              <a:latin typeface="+mn-lt"/>
            </a:endParaRPr>
          </a:p>
        </p:txBody>
      </p:sp>
      <p:grpSp>
        <p:nvGrpSpPr>
          <p:cNvPr id="18" name="Group 17">
            <a:extLst>
              <a:ext uri="{FF2B5EF4-FFF2-40B4-BE49-F238E27FC236}">
                <a16:creationId xmlns:a16="http://schemas.microsoft.com/office/drawing/2014/main" id="{24DC7F07-502A-D060-7212-E421CF86C489}"/>
              </a:ext>
            </a:extLst>
          </p:cNvPr>
          <p:cNvGrpSpPr/>
          <p:nvPr/>
        </p:nvGrpSpPr>
        <p:grpSpPr>
          <a:xfrm>
            <a:off x="3044952" y="3059175"/>
            <a:ext cx="4771087" cy="2993856"/>
            <a:chOff x="3044952" y="3095751"/>
            <a:chExt cx="4771087" cy="2993856"/>
          </a:xfrm>
        </p:grpSpPr>
        <p:grpSp>
          <p:nvGrpSpPr>
            <p:cNvPr id="16" name="Group 15">
              <a:extLst>
                <a:ext uri="{FF2B5EF4-FFF2-40B4-BE49-F238E27FC236}">
                  <a16:creationId xmlns:a16="http://schemas.microsoft.com/office/drawing/2014/main" id="{92B62B0B-2F9C-C200-2BAC-681DBDCA297B}"/>
                </a:ext>
              </a:extLst>
            </p:cNvPr>
            <p:cNvGrpSpPr/>
            <p:nvPr/>
          </p:nvGrpSpPr>
          <p:grpSpPr>
            <a:xfrm>
              <a:off x="3044952" y="3095751"/>
              <a:ext cx="4400845" cy="2993856"/>
              <a:chOff x="3423371" y="3108959"/>
              <a:chExt cx="4693453" cy="2993856"/>
            </a:xfrm>
          </p:grpSpPr>
          <p:cxnSp>
            <p:nvCxnSpPr>
              <p:cNvPr id="10" name="Straight Connector 9">
                <a:extLst>
                  <a:ext uri="{FF2B5EF4-FFF2-40B4-BE49-F238E27FC236}">
                    <a16:creationId xmlns:a16="http://schemas.microsoft.com/office/drawing/2014/main" id="{39744970-566F-E4B1-5968-FF41FFDAFB7F}"/>
                  </a:ext>
                </a:extLst>
              </p:cNvPr>
              <p:cNvCxnSpPr>
                <a:cxnSpLocks/>
              </p:cNvCxnSpPr>
              <p:nvPr/>
            </p:nvCxnSpPr>
            <p:spPr>
              <a:xfrm>
                <a:off x="7363097" y="5702808"/>
                <a:ext cx="753727" cy="0"/>
              </a:xfrm>
              <a:prstGeom prst="line">
                <a:avLst/>
              </a:prstGeom>
              <a:ln w="38100">
                <a:prstDash val="dash"/>
              </a:ln>
            </p:spPr>
            <p:style>
              <a:lnRef idx="1">
                <a:schemeClr val="dk1"/>
              </a:lnRef>
              <a:fillRef idx="0">
                <a:schemeClr val="dk1"/>
              </a:fillRef>
              <a:effectRef idx="0">
                <a:schemeClr val="dk1"/>
              </a:effectRef>
              <a:fontRef idx="minor">
                <a:schemeClr val="tx1"/>
              </a:fontRef>
            </p:style>
          </p:cxnSp>
          <p:grpSp>
            <p:nvGrpSpPr>
              <p:cNvPr id="15" name="Group 14">
                <a:extLst>
                  <a:ext uri="{FF2B5EF4-FFF2-40B4-BE49-F238E27FC236}">
                    <a16:creationId xmlns:a16="http://schemas.microsoft.com/office/drawing/2014/main" id="{4B99E9D0-79F7-D665-7DCA-41A6D2A84E9A}"/>
                  </a:ext>
                </a:extLst>
              </p:cNvPr>
              <p:cNvGrpSpPr/>
              <p:nvPr/>
            </p:nvGrpSpPr>
            <p:grpSpPr>
              <a:xfrm>
                <a:off x="3423371" y="3108959"/>
                <a:ext cx="4586773" cy="2993856"/>
                <a:chOff x="3423371" y="3108959"/>
                <a:chExt cx="4586773" cy="2993856"/>
              </a:xfrm>
            </p:grpSpPr>
            <p:pic>
              <p:nvPicPr>
                <p:cNvPr id="5" name="Picture 4">
                  <a:extLst>
                    <a:ext uri="{FF2B5EF4-FFF2-40B4-BE49-F238E27FC236}">
                      <a16:creationId xmlns:a16="http://schemas.microsoft.com/office/drawing/2014/main" id="{394CAC91-8C17-01FC-B608-779C602BA831}"/>
                    </a:ext>
                  </a:extLst>
                </p:cNvPr>
                <p:cNvPicPr>
                  <a:picLocks noChangeAspect="1"/>
                </p:cNvPicPr>
                <p:nvPr/>
              </p:nvPicPr>
              <p:blipFill rotWithShape="1">
                <a:blip r:embed="rId3"/>
                <a:srcRect t="3198"/>
                <a:stretch/>
              </p:blipFill>
              <p:spPr>
                <a:xfrm>
                  <a:off x="3423371" y="3108959"/>
                  <a:ext cx="3939726" cy="2993856"/>
                </a:xfrm>
                <a:prstGeom prst="rect">
                  <a:avLst/>
                </a:prstGeom>
              </p:spPr>
            </p:pic>
            <p:cxnSp>
              <p:nvCxnSpPr>
                <p:cNvPr id="7" name="Straight Connector 6">
                  <a:extLst>
                    <a:ext uri="{FF2B5EF4-FFF2-40B4-BE49-F238E27FC236}">
                      <a16:creationId xmlns:a16="http://schemas.microsoft.com/office/drawing/2014/main" id="{93F6B26F-1F05-F730-9D94-C4DE51C94EA5}"/>
                    </a:ext>
                  </a:extLst>
                </p:cNvPr>
                <p:cNvCxnSpPr>
                  <a:cxnSpLocks/>
                </p:cNvCxnSpPr>
                <p:nvPr/>
              </p:nvCxnSpPr>
              <p:spPr>
                <a:xfrm>
                  <a:off x="4453128" y="4279392"/>
                  <a:ext cx="3557016" cy="0"/>
                </a:xfrm>
                <a:prstGeom prst="line">
                  <a:avLst/>
                </a:prstGeom>
                <a:ln w="38100">
                  <a:prstDash val="dash"/>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47E63A2-F634-4779-A28B-0777CC9F0164}"/>
                    </a:ext>
                  </a:extLst>
                </p:cNvPr>
                <p:cNvCxnSpPr/>
                <p:nvPr/>
              </p:nvCxnSpPr>
              <p:spPr>
                <a:xfrm>
                  <a:off x="7534656" y="4270248"/>
                  <a:ext cx="0" cy="143256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grpSp>
        </p:grpSp>
        <p:sp>
          <p:nvSpPr>
            <p:cNvPr id="17" name="TextBox 16">
              <a:extLst>
                <a:ext uri="{FF2B5EF4-FFF2-40B4-BE49-F238E27FC236}">
                  <a16:creationId xmlns:a16="http://schemas.microsoft.com/office/drawing/2014/main" id="{69A3C730-86C9-F2D4-85F1-80766D843200}"/>
                </a:ext>
              </a:extLst>
            </p:cNvPr>
            <p:cNvSpPr txBox="1"/>
            <p:nvPr/>
          </p:nvSpPr>
          <p:spPr>
            <a:xfrm>
              <a:off x="6917642" y="4737917"/>
              <a:ext cx="898397" cy="461665"/>
            </a:xfrm>
            <a:prstGeom prst="rect">
              <a:avLst/>
            </a:prstGeom>
            <a:noFill/>
          </p:spPr>
          <p:txBody>
            <a:bodyPr wrap="square" rtlCol="0">
              <a:spAutoFit/>
            </a:bodyPr>
            <a:lstStyle/>
            <a:p>
              <a:r>
                <a:rPr lang="en-GB" dirty="0"/>
                <a:t>0.2 m</a:t>
              </a:r>
              <a:endParaRPr lang="en-GH" dirty="0"/>
            </a:p>
          </p:txBody>
        </p:sp>
      </p:grpSp>
    </p:spTree>
    <p:extLst>
      <p:ext uri="{BB962C8B-B14F-4D97-AF65-F5344CB8AC3E}">
        <p14:creationId xmlns:p14="http://schemas.microsoft.com/office/powerpoint/2010/main" val="2420024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656"/>
            <a:ext cx="7886700" cy="568940"/>
          </a:xfrm>
        </p:spPr>
        <p:txBody>
          <a:bodyPr/>
          <a:lstStyle/>
          <a:p>
            <a:r>
              <a:rPr lang="en-US" b="1" dirty="0"/>
              <a:t>MOMENT OF MOMENTUM EQUATION</a:t>
            </a:r>
            <a:endParaRPr lang="en-US" dirty="0"/>
          </a:p>
        </p:txBody>
      </p:sp>
      <p:sp>
        <p:nvSpPr>
          <p:cNvPr id="4" name="TextBox 3">
            <a:extLst>
              <a:ext uri="{FF2B5EF4-FFF2-40B4-BE49-F238E27FC236}">
                <a16:creationId xmlns:a16="http://schemas.microsoft.com/office/drawing/2014/main" id="{3FFECDD2-0739-E857-43ED-65CBE9214A41}"/>
              </a:ext>
            </a:extLst>
          </p:cNvPr>
          <p:cNvSpPr txBox="1"/>
          <p:nvPr/>
        </p:nvSpPr>
        <p:spPr>
          <a:xfrm>
            <a:off x="75438" y="556031"/>
            <a:ext cx="3271266" cy="492443"/>
          </a:xfrm>
          <a:prstGeom prst="rect">
            <a:avLst/>
          </a:prstGeom>
          <a:noFill/>
        </p:spPr>
        <p:txBody>
          <a:bodyPr wrap="square">
            <a:spAutoFit/>
          </a:bodyPr>
          <a:lstStyle/>
          <a:p>
            <a:r>
              <a:rPr lang="en-US" sz="2600" b="1" dirty="0">
                <a:latin typeface="+mn-lt"/>
              </a:rPr>
              <a:t>Example 1 - Solution</a:t>
            </a:r>
            <a:endParaRPr lang="en-GH" sz="2600" b="1" dirty="0"/>
          </a:p>
        </p:txBody>
      </p:sp>
      <p:sp>
        <p:nvSpPr>
          <p:cNvPr id="13" name="Oval 12">
            <a:extLst>
              <a:ext uri="{FF2B5EF4-FFF2-40B4-BE49-F238E27FC236}">
                <a16:creationId xmlns:a16="http://schemas.microsoft.com/office/drawing/2014/main" id="{57E73B94-F1C1-9ED4-815A-26E18DF67648}"/>
              </a:ext>
            </a:extLst>
          </p:cNvPr>
          <p:cNvSpPr/>
          <p:nvPr/>
        </p:nvSpPr>
        <p:spPr>
          <a:xfrm>
            <a:off x="1344168" y="1153456"/>
            <a:ext cx="594360" cy="594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40" name="Picture 39">
            <a:extLst>
              <a:ext uri="{FF2B5EF4-FFF2-40B4-BE49-F238E27FC236}">
                <a16:creationId xmlns:a16="http://schemas.microsoft.com/office/drawing/2014/main" id="{E47F36E8-5469-A39B-68FE-EE1463C25E0F}"/>
              </a:ext>
            </a:extLst>
          </p:cNvPr>
          <p:cNvPicPr>
            <a:picLocks noChangeAspect="1"/>
          </p:cNvPicPr>
          <p:nvPr/>
        </p:nvPicPr>
        <p:blipFill>
          <a:blip r:embed="rId3"/>
          <a:stretch>
            <a:fillRect/>
          </a:stretch>
        </p:blipFill>
        <p:spPr>
          <a:xfrm>
            <a:off x="57150" y="1124971"/>
            <a:ext cx="4322826" cy="3263145"/>
          </a:xfrm>
          <a:prstGeom prst="rect">
            <a:avLst/>
          </a:prstGeom>
        </p:spPr>
      </p:pic>
      <p:sp>
        <p:nvSpPr>
          <p:cNvPr id="42" name="TextBox 41">
            <a:extLst>
              <a:ext uri="{FF2B5EF4-FFF2-40B4-BE49-F238E27FC236}">
                <a16:creationId xmlns:a16="http://schemas.microsoft.com/office/drawing/2014/main" id="{55B1D73D-6E44-2F82-231E-739187432CEF}"/>
              </a:ext>
            </a:extLst>
          </p:cNvPr>
          <p:cNvSpPr txBox="1"/>
          <p:nvPr/>
        </p:nvSpPr>
        <p:spPr>
          <a:xfrm>
            <a:off x="4574288" y="1107197"/>
            <a:ext cx="3941062" cy="492443"/>
          </a:xfrm>
          <a:prstGeom prst="rect">
            <a:avLst/>
          </a:prstGeom>
          <a:noFill/>
        </p:spPr>
        <p:txBody>
          <a:bodyPr wrap="square">
            <a:spAutoFit/>
          </a:bodyPr>
          <a:lstStyle/>
          <a:p>
            <a:r>
              <a:rPr lang="en-US" sz="2600" dirty="0">
                <a:latin typeface="+mn-lt"/>
              </a:rPr>
              <a:t>Given: </a:t>
            </a:r>
            <a:r>
              <a:rPr lang="en-US" sz="2600" i="1" dirty="0">
                <a:latin typeface="+mn-lt"/>
              </a:rPr>
              <a:t>P</a:t>
            </a:r>
            <a:r>
              <a:rPr lang="en-US" sz="2600" baseline="-25000" dirty="0">
                <a:latin typeface="+mn-lt"/>
              </a:rPr>
              <a:t>1abs</a:t>
            </a:r>
            <a:r>
              <a:rPr lang="en-US" sz="2600" dirty="0">
                <a:latin typeface="+mn-lt"/>
              </a:rPr>
              <a:t> = 220 kPa </a:t>
            </a:r>
            <a:endParaRPr lang="en-GH" sz="2600" dirty="0"/>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289ED0BB-8B38-AE02-9A78-3697676F847C}"/>
                  </a:ext>
                </a:extLst>
              </p:cNvPr>
              <p:cNvSpPr txBox="1"/>
              <p:nvPr/>
            </p:nvSpPr>
            <p:spPr>
              <a:xfrm>
                <a:off x="4764026" y="1658364"/>
                <a:ext cx="2880358" cy="461665"/>
              </a:xfrm>
              <a:prstGeom prst="rect">
                <a:avLst/>
              </a:prstGeom>
              <a:noFill/>
            </p:spPr>
            <p:txBody>
              <a:bodyPr wrap="square">
                <a:spAutoFit/>
              </a:bodyPr>
              <a:lstStyle/>
              <a:p>
                <a:pPr/>
                <a14:m>
                  <m:oMath xmlns:m="http://schemas.openxmlformats.org/officeDocument/2006/math">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=0.01</m:t>
                    </m:r>
                  </m:oMath>
                </a14:m>
                <a:r>
                  <a:rPr lang="en-GB" dirty="0"/>
                  <a:t> m</a:t>
                </a:r>
                <a:r>
                  <a:rPr lang="en-GB" baseline="30000" dirty="0"/>
                  <a:t>2</a:t>
                </a:r>
                <a:endParaRPr lang="en-GH" baseline="30000" dirty="0"/>
              </a:p>
            </p:txBody>
          </p:sp>
        </mc:Choice>
        <mc:Fallback>
          <p:sp>
            <p:nvSpPr>
              <p:cNvPr id="44" name="TextBox 43">
                <a:extLst>
                  <a:ext uri="{FF2B5EF4-FFF2-40B4-BE49-F238E27FC236}">
                    <a16:creationId xmlns:a16="http://schemas.microsoft.com/office/drawing/2014/main" id="{289ED0BB-8B38-AE02-9A78-3697676F847C}"/>
                  </a:ext>
                </a:extLst>
              </p:cNvPr>
              <p:cNvSpPr txBox="1">
                <a:spLocks noRot="1" noChangeAspect="1" noMove="1" noResize="1" noEditPoints="1" noAdjustHandles="1" noChangeArrowheads="1" noChangeShapeType="1" noTextEdit="1"/>
              </p:cNvSpPr>
              <p:nvPr/>
            </p:nvSpPr>
            <p:spPr>
              <a:xfrm>
                <a:off x="4764026" y="1658364"/>
                <a:ext cx="2880358" cy="461665"/>
              </a:xfrm>
              <a:prstGeom prst="rect">
                <a:avLst/>
              </a:prstGeom>
              <a:blipFill>
                <a:blip r:embed="rId4"/>
                <a:stretch>
                  <a:fillRect l="-636" t="-10526" b="-28947"/>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5038A4F1-11A4-5A97-601C-C2B644F53DC4}"/>
                  </a:ext>
                </a:extLst>
              </p:cNvPr>
              <p:cNvSpPr txBox="1"/>
              <p:nvPr/>
            </p:nvSpPr>
            <p:spPr>
              <a:xfrm>
                <a:off x="4764026" y="2120029"/>
                <a:ext cx="2880358" cy="461665"/>
              </a:xfrm>
              <a:prstGeom prst="rect">
                <a:avLst/>
              </a:prstGeom>
              <a:noFill/>
            </p:spPr>
            <p:txBody>
              <a:bodyPr wrap="square">
                <a:spAutoFit/>
              </a:bodyPr>
              <a:lstStyle/>
              <a:p>
                <a:pPr/>
                <a14:m>
                  <m:oMath xmlns:m="http://schemas.openxmlformats.org/officeDocument/2006/math">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r>
                      <a:rPr lang="en-GB" b="0" i="1" smtClean="0">
                        <a:solidFill>
                          <a:prstClr val="black"/>
                        </a:solidFill>
                        <a:latin typeface="Cambria Math" panose="02040503050406030204" pitchFamily="18" charset="0"/>
                        <a:ea typeface="Cambria Math" panose="02040503050406030204" pitchFamily="18" charset="0"/>
                      </a:rPr>
                      <m:t>=0.0025</m:t>
                    </m:r>
                  </m:oMath>
                </a14:m>
                <a:r>
                  <a:rPr lang="en-GB" dirty="0"/>
                  <a:t> m</a:t>
                </a:r>
                <a:r>
                  <a:rPr lang="en-GB" baseline="30000" dirty="0"/>
                  <a:t>2</a:t>
                </a:r>
                <a:endParaRPr lang="en-GH" baseline="30000" dirty="0"/>
              </a:p>
            </p:txBody>
          </p:sp>
        </mc:Choice>
        <mc:Fallback>
          <p:sp>
            <p:nvSpPr>
              <p:cNvPr id="45" name="TextBox 44">
                <a:extLst>
                  <a:ext uri="{FF2B5EF4-FFF2-40B4-BE49-F238E27FC236}">
                    <a16:creationId xmlns:a16="http://schemas.microsoft.com/office/drawing/2014/main" id="{5038A4F1-11A4-5A97-601C-C2B644F53DC4}"/>
                  </a:ext>
                </a:extLst>
              </p:cNvPr>
              <p:cNvSpPr txBox="1">
                <a:spLocks noRot="1" noChangeAspect="1" noMove="1" noResize="1" noEditPoints="1" noAdjustHandles="1" noChangeArrowheads="1" noChangeShapeType="1" noTextEdit="1"/>
              </p:cNvSpPr>
              <p:nvPr/>
            </p:nvSpPr>
            <p:spPr>
              <a:xfrm>
                <a:off x="4764026" y="2120029"/>
                <a:ext cx="2880358" cy="461665"/>
              </a:xfrm>
              <a:prstGeom prst="rect">
                <a:avLst/>
              </a:prstGeom>
              <a:blipFill>
                <a:blip r:embed="rId5"/>
                <a:stretch>
                  <a:fillRect l="-636" t="-10526" b="-28947"/>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F2172F05-A83F-75CE-6282-6C5D4603C588}"/>
                  </a:ext>
                </a:extLst>
              </p:cNvPr>
              <p:cNvSpPr txBox="1"/>
              <p:nvPr/>
            </p:nvSpPr>
            <p:spPr>
              <a:xfrm>
                <a:off x="4764026" y="2720927"/>
                <a:ext cx="2880358" cy="506421"/>
              </a:xfrm>
              <a:prstGeom prst="rect">
                <a:avLst/>
              </a:prstGeom>
              <a:noFill/>
            </p:spPr>
            <p:txBody>
              <a:bodyPr wrap="square">
                <a:spAutoFit/>
              </a:bodyPr>
              <a:lstStyle/>
              <a:p>
                <a:pPr/>
                <a14:m>
                  <m:oMath xmlns:m="http://schemas.openxmlformats.org/officeDocument/2006/math">
                    <m:acc>
                      <m:accPr>
                        <m:chr m:val="⃗"/>
                        <m:ctrlPr>
                          <a:rPr lang="en-GB" b="0" i="1" smtClean="0">
                            <a:solidFill>
                              <a:prstClr val="black"/>
                            </a:solidFill>
                            <a:latin typeface="Cambria Math" panose="02040503050406030204" pitchFamily="18" charset="0"/>
                            <a:ea typeface="Cambria Math" panose="02040503050406030204" pitchFamily="18" charset="0"/>
                          </a:rPr>
                        </m:ctrlPr>
                      </m:accPr>
                      <m:e>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Sub>
                      </m:e>
                    </m:acc>
                    <m:r>
                      <a:rPr lang="en-GB" b="0" i="1" smtClean="0">
                        <a:solidFill>
                          <a:prstClr val="black"/>
                        </a:solidFill>
                        <a:latin typeface="Cambria Math" panose="02040503050406030204" pitchFamily="18" charset="0"/>
                        <a:ea typeface="Cambria Math" panose="02040503050406030204" pitchFamily="18" charset="0"/>
                      </a:rPr>
                      <m:t>=−16</m:t>
                    </m:r>
                    <m:r>
                      <a:rPr lang="en-GB" b="0" i="1" smtClean="0">
                        <a:solidFill>
                          <a:prstClr val="black"/>
                        </a:solidFill>
                        <a:latin typeface="Cambria Math" panose="02040503050406030204" pitchFamily="18" charset="0"/>
                        <a:ea typeface="Cambria Math" panose="02040503050406030204" pitchFamily="18" charset="0"/>
                      </a:rPr>
                      <m:t>𝑗</m:t>
                    </m:r>
                  </m:oMath>
                </a14:m>
                <a:r>
                  <a:rPr lang="en-GB" dirty="0"/>
                  <a:t> m/s</a:t>
                </a:r>
                <a:endParaRPr lang="en-GH" baseline="30000" dirty="0"/>
              </a:p>
            </p:txBody>
          </p:sp>
        </mc:Choice>
        <mc:Fallback>
          <p:sp>
            <p:nvSpPr>
              <p:cNvPr id="46" name="TextBox 45">
                <a:extLst>
                  <a:ext uri="{FF2B5EF4-FFF2-40B4-BE49-F238E27FC236}">
                    <a16:creationId xmlns:a16="http://schemas.microsoft.com/office/drawing/2014/main" id="{F2172F05-A83F-75CE-6282-6C5D4603C588}"/>
                  </a:ext>
                </a:extLst>
              </p:cNvPr>
              <p:cNvSpPr txBox="1">
                <a:spLocks noRot="1" noChangeAspect="1" noMove="1" noResize="1" noEditPoints="1" noAdjustHandles="1" noChangeArrowheads="1" noChangeShapeType="1" noTextEdit="1"/>
              </p:cNvSpPr>
              <p:nvPr/>
            </p:nvSpPr>
            <p:spPr>
              <a:xfrm>
                <a:off x="4764026" y="2720927"/>
                <a:ext cx="2880358" cy="506421"/>
              </a:xfrm>
              <a:prstGeom prst="rect">
                <a:avLst/>
              </a:prstGeom>
              <a:blipFill>
                <a:blip r:embed="rId6"/>
                <a:stretch>
                  <a:fillRect b="-27711"/>
                </a:stretch>
              </a:blipFill>
            </p:spPr>
            <p:txBody>
              <a:bodyPr/>
              <a:lstStyle/>
              <a:p>
                <a:r>
                  <a:rPr lang="en-GH">
                    <a:noFill/>
                  </a:rPr>
                  <a:t> </a:t>
                </a:r>
              </a:p>
            </p:txBody>
          </p:sp>
        </mc:Fallback>
      </mc:AlternateContent>
      <p:sp>
        <p:nvSpPr>
          <p:cNvPr id="47" name="TextBox 46">
            <a:extLst>
              <a:ext uri="{FF2B5EF4-FFF2-40B4-BE49-F238E27FC236}">
                <a16:creationId xmlns:a16="http://schemas.microsoft.com/office/drawing/2014/main" id="{6630D880-087C-C459-5449-688A3BC94AF1}"/>
              </a:ext>
            </a:extLst>
          </p:cNvPr>
          <p:cNvSpPr txBox="1"/>
          <p:nvPr/>
        </p:nvSpPr>
        <p:spPr>
          <a:xfrm>
            <a:off x="172976" y="4512894"/>
            <a:ext cx="3941062" cy="492443"/>
          </a:xfrm>
          <a:prstGeom prst="rect">
            <a:avLst/>
          </a:prstGeom>
          <a:noFill/>
        </p:spPr>
        <p:txBody>
          <a:bodyPr wrap="square">
            <a:spAutoFit/>
          </a:bodyPr>
          <a:lstStyle/>
          <a:p>
            <a:r>
              <a:rPr lang="en-US" sz="2600" dirty="0">
                <a:latin typeface="+mn-lt"/>
              </a:rPr>
              <a:t>(a) Force on the elbow:</a:t>
            </a:r>
            <a:endParaRPr lang="en-GH" sz="2600" dirty="0"/>
          </a:p>
        </p:txBody>
      </p:sp>
      <mc:AlternateContent xmlns:mc="http://schemas.openxmlformats.org/markup-compatibility/2006">
        <mc:Choice xmlns:a14="http://schemas.microsoft.com/office/drawing/2010/main" Requires="a14">
          <p:sp>
            <p:nvSpPr>
              <p:cNvPr id="48" name="Rectangle 47">
                <a:extLst>
                  <a:ext uri="{FF2B5EF4-FFF2-40B4-BE49-F238E27FC236}">
                    <a16:creationId xmlns:a16="http://schemas.microsoft.com/office/drawing/2014/main" id="{2A8CBED5-1D6D-565A-A516-76744106E3E3}"/>
                  </a:ext>
                </a:extLst>
              </p:cNvPr>
              <p:cNvSpPr/>
              <p:nvPr/>
            </p:nvSpPr>
            <p:spPr>
              <a:xfrm>
                <a:off x="260373" y="5005337"/>
                <a:ext cx="8481526" cy="95551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b="0" i="1">
                                  <a:solidFill>
                                    <a:schemeClr val="tx1"/>
                                  </a:solidFill>
                                  <a:latin typeface="Cambria Math" panose="02040503050406030204" pitchFamily="18" charset="0"/>
                                </a:rPr>
                                <m:t>𝐹</m:t>
                              </m:r>
                            </m:e>
                          </m:acc>
                        </m:e>
                        <m:sub>
                          <m:r>
                            <a:rPr lang="en-CA" b="0" i="1">
                              <a:solidFill>
                                <a:schemeClr val="tx1"/>
                              </a:solidFill>
                              <a:latin typeface="Cambria Math" panose="02040503050406030204" pitchFamily="18" charset="0"/>
                            </a:rPr>
                            <m:t>𝑠</m:t>
                          </m:r>
                        </m:sub>
                      </m:sSub>
                      <m:r>
                        <a:rPr lang="en-CA" b="0" i="1">
                          <a:solidFill>
                            <a:schemeClr val="tx1"/>
                          </a:solidFill>
                          <a:latin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b="0" i="1">
                                  <a:solidFill>
                                    <a:schemeClr val="tx1"/>
                                  </a:solidFill>
                                  <a:latin typeface="Cambria Math" panose="02040503050406030204" pitchFamily="18" charset="0"/>
                                </a:rPr>
                                <m:t>𝐹</m:t>
                              </m:r>
                            </m:e>
                          </m:acc>
                        </m:e>
                        <m:sub>
                          <m:r>
                            <a:rPr lang="en-CA" b="0" i="1">
                              <a:solidFill>
                                <a:schemeClr val="tx1"/>
                              </a:solidFill>
                              <a:latin typeface="Cambria Math" panose="02040503050406030204" pitchFamily="18" charset="0"/>
                            </a:rPr>
                            <m:t>𝐵</m:t>
                          </m:r>
                        </m:sub>
                      </m:sSub>
                      <m:r>
                        <a:rPr lang="en-CA" b="0" i="1">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ea typeface="Cambria Math" panose="02040503050406030204" pitchFamily="18" charset="0"/>
                            </a:rPr>
                            <m:t>𝜕</m:t>
                          </m:r>
                        </m:num>
                        <m:den>
                          <m:r>
                            <a:rPr lang="en-CA" b="0" i="1">
                              <a:solidFill>
                                <a:schemeClr val="tx1"/>
                              </a:solidFill>
                              <a:latin typeface="Cambria Math" panose="02040503050406030204" pitchFamily="18" charset="0"/>
                              <a:ea typeface="Cambria Math" panose="02040503050406030204" pitchFamily="18" charset="0"/>
                            </a:rPr>
                            <m:t>𝜕</m:t>
                          </m:r>
                          <m:r>
                            <a:rPr lang="en-CA" b="0" i="1">
                              <a:solidFill>
                                <a:schemeClr val="tx1"/>
                              </a:solidFill>
                              <a:latin typeface="Cambria Math" panose="02040503050406030204" pitchFamily="18" charset="0"/>
                              <a:ea typeface="Cambria Math" panose="02040503050406030204" pitchFamily="18" charset="0"/>
                            </a:rPr>
                            <m:t>𝑡</m:t>
                          </m:r>
                        </m:den>
                      </m:f>
                      <m:nary>
                        <m:naryPr>
                          <m:ctrlPr>
                            <a:rPr lang="en-CA" i="1">
                              <a:solidFill>
                                <a:schemeClr val="tx1"/>
                              </a:solidFill>
                              <a:latin typeface="Cambria Math" panose="02040503050406030204" pitchFamily="18" charset="0"/>
                            </a:rPr>
                          </m:ctrlPr>
                        </m:naryPr>
                        <m:sub>
                          <m:r>
                            <m:rPr>
                              <m:brk m:alnAt="23"/>
                            </m:rPr>
                            <a:rPr lang="en-CA" b="0" i="1">
                              <a:solidFill>
                                <a:schemeClr val="tx1"/>
                              </a:solidFill>
                              <a:latin typeface="Cambria Math" panose="02040503050406030204" pitchFamily="18" charset="0"/>
                            </a:rPr>
                            <m:t>𝐶</m:t>
                          </m:r>
                          <m:r>
                            <a:rPr lang="en-CA" b="0" i="1">
                              <a:solidFill>
                                <a:schemeClr val="tx1"/>
                              </a:solidFill>
                              <a:latin typeface="Cambria Math" panose="02040503050406030204" pitchFamily="18" charset="0"/>
                            </a:rPr>
                            <m:t>𝑉</m:t>
                          </m:r>
                        </m:sub>
                        <m:sup/>
                        <m:e>
                          <m:acc>
                            <m:accPr>
                              <m:chr m:val="⃗"/>
                              <m:ctrlPr>
                                <a:rPr lang="en-CA" i="1" smtClean="0">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𝑑</m:t>
                          </m:r>
                          <m:r>
                            <a:rPr lang="en-CA" b="0" i="1">
                              <a:solidFill>
                                <a:schemeClr val="tx1"/>
                              </a:solidFill>
                              <a:latin typeface="Cambria Math" panose="02040503050406030204" pitchFamily="18" charset="0"/>
                              <a:ea typeface="Cambria Math" panose="02040503050406030204" pitchFamily="18" charset="0"/>
                            </a:rPr>
                            <m:t>∀</m:t>
                          </m:r>
                        </m:e>
                      </m:nary>
                      <m:r>
                        <a:rPr lang="en-CA" b="0">
                          <a:solidFill>
                            <a:schemeClr val="tx1"/>
                          </a:solidFill>
                          <a:latin typeface="Cambria Math" panose="02040503050406030204" pitchFamily="18" charset="0"/>
                          <a:ea typeface="Cambria Math" panose="02040503050406030204" pitchFamily="18" charset="0"/>
                        </a:rPr>
                        <m:t>+</m:t>
                      </m:r>
                      <m:nary>
                        <m:naryPr>
                          <m:ctrlPr>
                            <a:rPr lang="en-CA" i="1">
                              <a:solidFill>
                                <a:schemeClr val="tx1"/>
                              </a:solidFill>
                              <a:latin typeface="Cambria Math" panose="02040503050406030204" pitchFamily="18" charset="0"/>
                            </a:rPr>
                          </m:ctrlPr>
                        </m:naryPr>
                        <m:sub>
                          <m:r>
                            <m:rPr>
                              <m:brk m:alnAt="23"/>
                            </m:rPr>
                            <a:rPr lang="en-CA" b="0" i="1">
                              <a:solidFill>
                                <a:schemeClr val="tx1"/>
                              </a:solidFill>
                              <a:latin typeface="Cambria Math" panose="02040503050406030204" pitchFamily="18" charset="0"/>
                            </a:rPr>
                            <m:t>𝐶</m:t>
                          </m:r>
                          <m:r>
                            <a:rPr lang="en-CA" b="0" i="1">
                              <a:solidFill>
                                <a:schemeClr val="tx1"/>
                              </a:solidFill>
                              <a:latin typeface="Cambria Math" panose="02040503050406030204" pitchFamily="18" charset="0"/>
                            </a:rPr>
                            <m:t>𝑆</m:t>
                          </m:r>
                        </m:sub>
                        <m:sup/>
                        <m:e>
                          <m:acc>
                            <m:accPr>
                              <m:chr m:val="⃗"/>
                              <m:ctrlPr>
                                <a:rPr lang="en-CA" i="1" smtClean="0">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𝑉</m:t>
                              </m:r>
                            </m:e>
                          </m:acc>
                          <m:r>
                            <a:rPr lang="en-CA" b="0" i="1" smtClean="0">
                              <a:solidFill>
                                <a:schemeClr val="tx1"/>
                              </a:solidFill>
                              <a:latin typeface="Cambria Math" panose="02040503050406030204" pitchFamily="18" charset="0"/>
                              <a:ea typeface="Cambria Math" panose="02040503050406030204" pitchFamily="18" charset="0"/>
                            </a:rPr>
                            <m:t>𝜌</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𝑉</m:t>
                              </m:r>
                            </m:e>
                          </m:acc>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𝑑</m:t>
                          </m:r>
                          <m:acc>
                            <m:accPr>
                              <m:chr m:val="⃗"/>
                              <m:ctrlPr>
                                <a:rPr lang="en-CA" i="1" smtClean="0">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𝐴</m:t>
                              </m:r>
                            </m:e>
                          </m:acc>
                        </m:e>
                      </m:nary>
                    </m:oMath>
                  </m:oMathPara>
                </a14:m>
                <a:endParaRPr lang="en-CA" dirty="0"/>
              </a:p>
            </p:txBody>
          </p:sp>
        </mc:Choice>
        <mc:Fallback>
          <p:sp>
            <p:nvSpPr>
              <p:cNvPr id="48" name="Rectangle 47">
                <a:extLst>
                  <a:ext uri="{FF2B5EF4-FFF2-40B4-BE49-F238E27FC236}">
                    <a16:creationId xmlns:a16="http://schemas.microsoft.com/office/drawing/2014/main" id="{2A8CBED5-1D6D-565A-A516-76744106E3E3}"/>
                  </a:ext>
                </a:extLst>
              </p:cNvPr>
              <p:cNvSpPr>
                <a:spLocks noRot="1" noChangeAspect="1" noMove="1" noResize="1" noEditPoints="1" noAdjustHandles="1" noChangeArrowheads="1" noChangeShapeType="1" noTextEdit="1"/>
              </p:cNvSpPr>
              <p:nvPr/>
            </p:nvSpPr>
            <p:spPr>
              <a:xfrm>
                <a:off x="260373" y="5005337"/>
                <a:ext cx="8481526" cy="955518"/>
              </a:xfrm>
              <a:prstGeom prst="rect">
                <a:avLst/>
              </a:prstGeom>
              <a:blipFill>
                <a:blip r:embed="rId7"/>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124825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656"/>
            <a:ext cx="7886700" cy="568940"/>
          </a:xfrm>
        </p:spPr>
        <p:txBody>
          <a:bodyPr/>
          <a:lstStyle/>
          <a:p>
            <a:r>
              <a:rPr lang="en-US" b="1" dirty="0"/>
              <a:t>MOMENT OF MOMENTUM EQUATION</a:t>
            </a:r>
            <a:endParaRPr lang="en-US" dirty="0"/>
          </a:p>
        </p:txBody>
      </p:sp>
      <p:sp>
        <p:nvSpPr>
          <p:cNvPr id="4" name="TextBox 3">
            <a:extLst>
              <a:ext uri="{FF2B5EF4-FFF2-40B4-BE49-F238E27FC236}">
                <a16:creationId xmlns:a16="http://schemas.microsoft.com/office/drawing/2014/main" id="{3FFECDD2-0739-E857-43ED-65CBE9214A41}"/>
              </a:ext>
            </a:extLst>
          </p:cNvPr>
          <p:cNvSpPr txBox="1"/>
          <p:nvPr/>
        </p:nvSpPr>
        <p:spPr>
          <a:xfrm>
            <a:off x="75438" y="556031"/>
            <a:ext cx="3271266" cy="492443"/>
          </a:xfrm>
          <a:prstGeom prst="rect">
            <a:avLst/>
          </a:prstGeom>
          <a:noFill/>
        </p:spPr>
        <p:txBody>
          <a:bodyPr wrap="square">
            <a:spAutoFit/>
          </a:bodyPr>
          <a:lstStyle/>
          <a:p>
            <a:r>
              <a:rPr lang="en-US" sz="2600" b="1" dirty="0">
                <a:latin typeface="+mn-lt"/>
              </a:rPr>
              <a:t>Example 1 - Solution</a:t>
            </a:r>
            <a:endParaRPr lang="en-GH" sz="2600" b="1" dirty="0"/>
          </a:p>
        </p:txBody>
      </p:sp>
      <p:sp>
        <p:nvSpPr>
          <p:cNvPr id="13" name="Oval 12">
            <a:extLst>
              <a:ext uri="{FF2B5EF4-FFF2-40B4-BE49-F238E27FC236}">
                <a16:creationId xmlns:a16="http://schemas.microsoft.com/office/drawing/2014/main" id="{57E73B94-F1C1-9ED4-815A-26E18DF67648}"/>
              </a:ext>
            </a:extLst>
          </p:cNvPr>
          <p:cNvSpPr/>
          <p:nvPr/>
        </p:nvSpPr>
        <p:spPr>
          <a:xfrm>
            <a:off x="1344168" y="1153456"/>
            <a:ext cx="594360" cy="594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47" name="TextBox 46">
            <a:extLst>
              <a:ext uri="{FF2B5EF4-FFF2-40B4-BE49-F238E27FC236}">
                <a16:creationId xmlns:a16="http://schemas.microsoft.com/office/drawing/2014/main" id="{6630D880-087C-C459-5449-688A3BC94AF1}"/>
              </a:ext>
            </a:extLst>
          </p:cNvPr>
          <p:cNvSpPr txBox="1"/>
          <p:nvPr/>
        </p:nvSpPr>
        <p:spPr>
          <a:xfrm>
            <a:off x="0" y="1091367"/>
            <a:ext cx="4818888" cy="2308324"/>
          </a:xfrm>
          <a:prstGeom prst="rect">
            <a:avLst/>
          </a:prstGeom>
          <a:noFill/>
        </p:spPr>
        <p:txBody>
          <a:bodyPr wrap="square">
            <a:spAutoFit/>
          </a:bodyPr>
          <a:lstStyle/>
          <a:p>
            <a:r>
              <a:rPr lang="en-US" dirty="0">
                <a:latin typeface="+mn-lt"/>
              </a:rPr>
              <a:t>Assumptions:</a:t>
            </a:r>
          </a:p>
          <a:p>
            <a:pPr marL="457200" indent="-457200">
              <a:buAutoNum type="arabicParenBoth"/>
            </a:pPr>
            <a:r>
              <a:rPr lang="en-US" dirty="0">
                <a:latin typeface="+mn-lt"/>
              </a:rPr>
              <a:t>Uniform flow at each section</a:t>
            </a:r>
          </a:p>
          <a:p>
            <a:pPr marL="457200" indent="-457200">
              <a:buAutoNum type="arabicParenBoth"/>
            </a:pPr>
            <a:r>
              <a:rPr lang="en-US" dirty="0">
                <a:latin typeface="+mn-lt"/>
              </a:rPr>
              <a:t> Incompressible flow</a:t>
            </a:r>
          </a:p>
          <a:p>
            <a:pPr marL="457200" indent="-457200">
              <a:buAutoNum type="arabicParenBoth"/>
            </a:pPr>
            <a:r>
              <a:rPr lang="en-US" dirty="0">
                <a:latin typeface="+mn-lt"/>
              </a:rPr>
              <a:t>Steady flow</a:t>
            </a:r>
          </a:p>
          <a:p>
            <a:pPr marL="457200" indent="-457200">
              <a:buAutoNum type="arabicParenBoth"/>
            </a:pPr>
            <a:r>
              <a:rPr lang="en-US" dirty="0">
                <a:latin typeface="+mn-lt"/>
              </a:rPr>
              <a:t>Negligible weight of elbow and </a:t>
            </a:r>
          </a:p>
          <a:p>
            <a:r>
              <a:rPr lang="en-US" dirty="0">
                <a:latin typeface="+mn-lt"/>
              </a:rPr>
              <a:t>water in the elbow</a:t>
            </a:r>
            <a:endParaRPr lang="en-GH"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D8A1CCC-D267-D161-3952-5B83C187F0B1}"/>
                  </a:ext>
                </a:extLst>
              </p:cNvPr>
              <p:cNvSpPr txBox="1"/>
              <p:nvPr/>
            </p:nvSpPr>
            <p:spPr>
              <a:xfrm>
                <a:off x="192024" y="3388348"/>
                <a:ext cx="4181094" cy="9889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CA"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   </m:t>
                      </m:r>
                      <m:acc>
                        <m:accPr>
                          <m:chr m:val="⃗"/>
                          <m:ctrlPr>
                            <a:rPr lang="en-CA" i="1" smtClean="0">
                              <a:solidFill>
                                <a:prstClr val="black"/>
                              </a:solidFill>
                              <a:latin typeface="Cambria Math" panose="02040503050406030204" pitchFamily="18" charset="0"/>
                            </a:rPr>
                          </m:ctrlPr>
                        </m:accPr>
                        <m:e>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𝑆</m:t>
                              </m:r>
                            </m:sub>
                          </m:sSub>
                        </m:e>
                      </m:acc>
                      <m:r>
                        <a:rPr lang="en-GB" b="0" i="1" smtClean="0">
                          <a:solidFill>
                            <a:prstClr val="black"/>
                          </a:solidFill>
                          <a:latin typeface="Cambria Math" panose="02040503050406030204" pitchFamily="18" charset="0"/>
                        </a:rPr>
                        <m:t>+</m:t>
                      </m:r>
                      <m:acc>
                        <m:accPr>
                          <m:chr m:val="⃗"/>
                          <m:ctrlPr>
                            <a:rPr lang="en-CA" i="1">
                              <a:solidFill>
                                <a:prstClr val="black"/>
                              </a:solidFill>
                              <a:latin typeface="Cambria Math" panose="02040503050406030204" pitchFamily="18" charset="0"/>
                            </a:rPr>
                          </m:ctrlPr>
                        </m:accPr>
                        <m:e>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𝐵</m:t>
                              </m:r>
                            </m:sub>
                          </m:sSub>
                        </m:e>
                      </m:acc>
                      <m:r>
                        <a:rPr lang="en-GB" b="0" i="1" smtClean="0">
                          <a:solidFill>
                            <a:prstClr val="black"/>
                          </a:solidFill>
                          <a:latin typeface="Cambria Math" panose="02040503050406030204" pitchFamily="18" charset="0"/>
                        </a:rPr>
                        <m:t>=</m:t>
                      </m:r>
                      <m:nary>
                        <m:naryPr>
                          <m:chr m:val="∑"/>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acc>
                            <m:accPr>
                              <m:chr m:val="⃗"/>
                              <m:ctrlPr>
                                <a:rPr lang="en-CA" i="1">
                                  <a:solidFill>
                                    <a:prstClr val="black"/>
                                  </a:solidFill>
                                  <a:latin typeface="Cambria Math" panose="02040503050406030204" pitchFamily="18" charset="0"/>
                                  <a:ea typeface="Cambria Math" panose="02040503050406030204" pitchFamily="18" charset="0"/>
                                </a:rPr>
                              </m:ctrlPr>
                            </m:accPr>
                            <m:e>
                              <m:r>
                                <a:rPr lang="en-CA" i="1">
                                  <a:solidFill>
                                    <a:prstClr val="black"/>
                                  </a:solidFill>
                                  <a:latin typeface="Cambria Math" panose="02040503050406030204" pitchFamily="18" charset="0"/>
                                  <a:ea typeface="Cambria Math" panose="02040503050406030204" pitchFamily="18" charset="0"/>
                                </a:rPr>
                                <m:t>𝑉</m:t>
                              </m:r>
                            </m:e>
                          </m:acc>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dirty="0"/>
              </a:p>
            </p:txBody>
          </p:sp>
        </mc:Choice>
        <mc:Fallback>
          <p:sp>
            <p:nvSpPr>
              <p:cNvPr id="7" name="TextBox 6">
                <a:extLst>
                  <a:ext uri="{FF2B5EF4-FFF2-40B4-BE49-F238E27FC236}">
                    <a16:creationId xmlns:a16="http://schemas.microsoft.com/office/drawing/2014/main" id="{CD8A1CCC-D267-D161-3952-5B83C187F0B1}"/>
                  </a:ext>
                </a:extLst>
              </p:cNvPr>
              <p:cNvSpPr txBox="1">
                <a:spLocks noRot="1" noChangeAspect="1" noMove="1" noResize="1" noEditPoints="1" noAdjustHandles="1" noChangeArrowheads="1" noChangeShapeType="1" noTextEdit="1"/>
              </p:cNvSpPr>
              <p:nvPr/>
            </p:nvSpPr>
            <p:spPr>
              <a:xfrm>
                <a:off x="192024" y="3388348"/>
                <a:ext cx="4181094" cy="988925"/>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531F800-5F99-FC17-3D79-37A5BB7DF652}"/>
                  </a:ext>
                </a:extLst>
              </p:cNvPr>
              <p:cNvSpPr txBox="1"/>
              <p:nvPr/>
            </p:nvSpPr>
            <p:spPr>
              <a:xfrm>
                <a:off x="75438" y="4361869"/>
                <a:ext cx="4297680" cy="491738"/>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𝑃</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1</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𝑔</m:t>
                              </m:r>
                            </m:sub>
                          </m:sSub>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𝐴</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p:sp>
            <p:nvSpPr>
              <p:cNvPr id="8" name="TextBox 7">
                <a:extLst>
                  <a:ext uri="{FF2B5EF4-FFF2-40B4-BE49-F238E27FC236}">
                    <a16:creationId xmlns:a16="http://schemas.microsoft.com/office/drawing/2014/main" id="{4531F800-5F99-FC17-3D79-37A5BB7DF652}"/>
                  </a:ext>
                </a:extLst>
              </p:cNvPr>
              <p:cNvSpPr txBox="1">
                <a:spLocks noRot="1" noChangeAspect="1" noMove="1" noResize="1" noEditPoints="1" noAdjustHandles="1" noChangeArrowheads="1" noChangeShapeType="1" noTextEdit="1"/>
              </p:cNvSpPr>
              <p:nvPr/>
            </p:nvSpPr>
            <p:spPr>
              <a:xfrm>
                <a:off x="75438" y="4361869"/>
                <a:ext cx="4297680" cy="491738"/>
              </a:xfrm>
              <a:prstGeom prst="rect">
                <a:avLst/>
              </a:prstGeom>
              <a:blipFill>
                <a:blip r:embed="rId4"/>
                <a:stretch>
                  <a:fillRect l="-284" b="-11250"/>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D41E14C-3C82-978B-2528-E9398776FABE}"/>
                  </a:ext>
                </a:extLst>
              </p:cNvPr>
              <p:cNvSpPr txBox="1"/>
              <p:nvPr/>
            </p:nvSpPr>
            <p:spPr>
              <a:xfrm>
                <a:off x="75438" y="4951869"/>
                <a:ext cx="3198114" cy="504562"/>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𝑃</m:t>
                          </m:r>
                        </m:e>
                        <m:sub>
                          <m:r>
                            <a:rPr lang="en-GB" i="1">
                              <a:solidFill>
                                <a:prstClr val="black"/>
                              </a:solidFill>
                              <a:latin typeface="Cambria Math" panose="02040503050406030204" pitchFamily="18" charset="0"/>
                            </a:rPr>
                            <m:t>1</m:t>
                          </m:r>
                          <m:r>
                            <a:rPr lang="en-GB" i="1">
                              <a:solidFill>
                                <a:prstClr val="black"/>
                              </a:solidFill>
                              <a:latin typeface="Cambria Math" panose="02040503050406030204" pitchFamily="18" charset="0"/>
                            </a:rPr>
                            <m:t>𝑔</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𝑢</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oMath>
                  </m:oMathPara>
                </a14:m>
                <a:endParaRPr lang="en-GH" dirty="0"/>
              </a:p>
            </p:txBody>
          </p:sp>
        </mc:Choice>
        <mc:Fallback>
          <p:sp>
            <p:nvSpPr>
              <p:cNvPr id="9" name="TextBox 8">
                <a:extLst>
                  <a:ext uri="{FF2B5EF4-FFF2-40B4-BE49-F238E27FC236}">
                    <a16:creationId xmlns:a16="http://schemas.microsoft.com/office/drawing/2014/main" id="{AD41E14C-3C82-978B-2528-E9398776FABE}"/>
                  </a:ext>
                </a:extLst>
              </p:cNvPr>
              <p:cNvSpPr txBox="1">
                <a:spLocks noRot="1" noChangeAspect="1" noMove="1" noResize="1" noEditPoints="1" noAdjustHandles="1" noChangeArrowheads="1" noChangeShapeType="1" noTextEdit="1"/>
              </p:cNvSpPr>
              <p:nvPr/>
            </p:nvSpPr>
            <p:spPr>
              <a:xfrm>
                <a:off x="75438" y="4951869"/>
                <a:ext cx="3198114" cy="504562"/>
              </a:xfrm>
              <a:prstGeom prst="rect">
                <a:avLst/>
              </a:prstGeom>
              <a:blipFill>
                <a:blip r:embed="rId5"/>
                <a:stretch>
                  <a:fillRect l="-381" b="-8434"/>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55B6A25-6CCA-28A2-4226-4FE3EB01021D}"/>
                  </a:ext>
                </a:extLst>
              </p:cNvPr>
              <p:cNvSpPr txBox="1"/>
              <p:nvPr/>
            </p:nvSpPr>
            <p:spPr>
              <a:xfrm>
                <a:off x="461772" y="5540676"/>
                <a:ext cx="2811780" cy="5045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𝑃</m:t>
                          </m:r>
                        </m:e>
                        <m:sub>
                          <m:r>
                            <a:rPr lang="en-GB" i="1">
                              <a:solidFill>
                                <a:prstClr val="black"/>
                              </a:solidFill>
                              <a:latin typeface="Cambria Math" panose="02040503050406030204" pitchFamily="18" charset="0"/>
                            </a:rPr>
                            <m:t>1</m:t>
                          </m:r>
                          <m:r>
                            <a:rPr lang="en-GB" i="1">
                              <a:solidFill>
                                <a:prstClr val="black"/>
                              </a:solidFill>
                              <a:latin typeface="Cambria Math" panose="02040503050406030204" pitchFamily="18" charset="0"/>
                            </a:rPr>
                            <m:t>𝑔</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1</m:t>
                          </m:r>
                        </m:sub>
                      </m:sSub>
                      <m:sSubSup>
                        <m:sSubSupPr>
                          <m:ctrlPr>
                            <a:rPr lang="en-GB" b="0" i="1" smtClean="0">
                              <a:solidFill>
                                <a:prstClr val="black"/>
                              </a:solidFill>
                              <a:latin typeface="Cambria Math" panose="02040503050406030204" pitchFamily="18" charset="0"/>
                              <a:ea typeface="Cambria Math" panose="02040503050406030204" pitchFamily="18" charset="0"/>
                            </a:rPr>
                          </m:ctrlPr>
                        </m:sSubSup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1</m:t>
                          </m:r>
                        </m:sub>
                        <m:sup>
                          <m:r>
                            <a:rPr lang="en-GB" b="0" i="1" smtClean="0">
                              <a:solidFill>
                                <a:prstClr val="black"/>
                              </a:solidFill>
                              <a:latin typeface="Cambria Math" panose="02040503050406030204" pitchFamily="18" charset="0"/>
                              <a:ea typeface="Cambria Math" panose="02040503050406030204" pitchFamily="18" charset="0"/>
                            </a:rPr>
                            <m:t>2</m:t>
                          </m:r>
                        </m:sup>
                      </m:sSubSup>
                    </m:oMath>
                  </m:oMathPara>
                </a14:m>
                <a:endParaRPr lang="en-GH" dirty="0"/>
              </a:p>
            </p:txBody>
          </p:sp>
        </mc:Choice>
        <mc:Fallback>
          <p:sp>
            <p:nvSpPr>
              <p:cNvPr id="11" name="TextBox 10">
                <a:extLst>
                  <a:ext uri="{FF2B5EF4-FFF2-40B4-BE49-F238E27FC236}">
                    <a16:creationId xmlns:a16="http://schemas.microsoft.com/office/drawing/2014/main" id="{355B6A25-6CCA-28A2-4226-4FE3EB01021D}"/>
                  </a:ext>
                </a:extLst>
              </p:cNvPr>
              <p:cNvSpPr txBox="1">
                <a:spLocks noRot="1" noChangeAspect="1" noMove="1" noResize="1" noEditPoints="1" noAdjustHandles="1" noChangeArrowheads="1" noChangeShapeType="1" noTextEdit="1"/>
              </p:cNvSpPr>
              <p:nvPr/>
            </p:nvSpPr>
            <p:spPr>
              <a:xfrm>
                <a:off x="461772" y="5540676"/>
                <a:ext cx="2811780" cy="504562"/>
              </a:xfrm>
              <a:prstGeom prst="rect">
                <a:avLst/>
              </a:prstGeom>
              <a:blipFill>
                <a:blip r:embed="rId6"/>
                <a:stretch>
                  <a:fillRect b="-9639"/>
                </a:stretch>
              </a:blipFill>
            </p:spPr>
            <p:txBody>
              <a:bodyPr/>
              <a:lstStyle/>
              <a:p>
                <a:r>
                  <a:rPr lang="en-GH">
                    <a:noFill/>
                  </a:rPr>
                  <a:t> </a:t>
                </a:r>
              </a:p>
            </p:txBody>
          </p:sp>
        </mc:Fallback>
      </mc:AlternateContent>
      <p:cxnSp>
        <p:nvCxnSpPr>
          <p:cNvPr id="12" name="Straight Connector 11">
            <a:extLst>
              <a:ext uri="{FF2B5EF4-FFF2-40B4-BE49-F238E27FC236}">
                <a16:creationId xmlns:a16="http://schemas.microsoft.com/office/drawing/2014/main" id="{31B6C0CC-8BDB-AAFB-B027-CBF8668F9AAF}"/>
              </a:ext>
            </a:extLst>
          </p:cNvPr>
          <p:cNvCxnSpPr>
            <a:cxnSpLocks/>
          </p:cNvCxnSpPr>
          <p:nvPr/>
        </p:nvCxnSpPr>
        <p:spPr>
          <a:xfrm>
            <a:off x="4526280" y="603563"/>
            <a:ext cx="0" cy="5312605"/>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06ACC9C8-2F4F-24D8-0587-9C62FB65DF15}"/>
                  </a:ext>
                </a:extLst>
              </p:cNvPr>
              <p:cNvSpPr txBox="1"/>
              <p:nvPr/>
            </p:nvSpPr>
            <p:spPr>
              <a:xfrm>
                <a:off x="5052060" y="817641"/>
                <a:ext cx="189280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 ?</m:t>
                      </m:r>
                    </m:oMath>
                  </m:oMathPara>
                </a14:m>
                <a:endParaRPr lang="en-GH" dirty="0"/>
              </a:p>
            </p:txBody>
          </p:sp>
        </mc:Choice>
        <mc:Fallback>
          <p:sp>
            <p:nvSpPr>
              <p:cNvPr id="16" name="TextBox 15">
                <a:extLst>
                  <a:ext uri="{FF2B5EF4-FFF2-40B4-BE49-F238E27FC236}">
                    <a16:creationId xmlns:a16="http://schemas.microsoft.com/office/drawing/2014/main" id="{06ACC9C8-2F4F-24D8-0587-9C62FB65DF15}"/>
                  </a:ext>
                </a:extLst>
              </p:cNvPr>
              <p:cNvSpPr txBox="1">
                <a:spLocks noRot="1" noChangeAspect="1" noMove="1" noResize="1" noEditPoints="1" noAdjustHandles="1" noChangeArrowheads="1" noChangeShapeType="1" noTextEdit="1"/>
              </p:cNvSpPr>
              <p:nvPr/>
            </p:nvSpPr>
            <p:spPr>
              <a:xfrm>
                <a:off x="5052060" y="817641"/>
                <a:ext cx="1892808" cy="461665"/>
              </a:xfrm>
              <a:prstGeom prst="rect">
                <a:avLst/>
              </a:prstGeom>
              <a:blipFill>
                <a:blip r:embed="rId7"/>
                <a:stretch>
                  <a:fillRect l="-968" b="-2632"/>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A2AAF1B-F28D-5397-E6D9-A95F6B5D3798}"/>
                  </a:ext>
                </a:extLst>
              </p:cNvPr>
              <p:cNvSpPr txBox="1"/>
              <p:nvPr/>
            </p:nvSpPr>
            <p:spPr>
              <a:xfrm>
                <a:off x="4757166" y="1285338"/>
                <a:ext cx="2811780" cy="46596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prstClr val="black"/>
                              </a:solidFill>
                              <a:latin typeface="Cambria Math" panose="02040503050406030204" pitchFamily="18" charset="0"/>
                            </a:rPr>
                          </m:ctrlPr>
                        </m:sSubPr>
                        <m:e>
                          <m:r>
                            <a:rPr lang="en-CA" i="1" smtClean="0">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sSub>
                        <m:sSubPr>
                          <m:ctrlPr>
                            <a:rPr lang="en-CA"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𝜌</m:t>
                      </m:r>
                      <m:sSub>
                        <m:sSubPr>
                          <m:ctrlPr>
                            <a:rPr lang="en-GB" b="0"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oMath>
                  </m:oMathPara>
                </a14:m>
                <a:endParaRPr lang="en-GH" dirty="0"/>
              </a:p>
            </p:txBody>
          </p:sp>
        </mc:Choice>
        <mc:Fallback>
          <p:sp>
            <p:nvSpPr>
              <p:cNvPr id="17" name="TextBox 16">
                <a:extLst>
                  <a:ext uri="{FF2B5EF4-FFF2-40B4-BE49-F238E27FC236}">
                    <a16:creationId xmlns:a16="http://schemas.microsoft.com/office/drawing/2014/main" id="{5A2AAF1B-F28D-5397-E6D9-A95F6B5D3798}"/>
                  </a:ext>
                </a:extLst>
              </p:cNvPr>
              <p:cNvSpPr txBox="1">
                <a:spLocks noRot="1" noChangeAspect="1" noMove="1" noResize="1" noEditPoints="1" noAdjustHandles="1" noChangeArrowheads="1" noChangeShapeType="1" noTextEdit="1"/>
              </p:cNvSpPr>
              <p:nvPr/>
            </p:nvSpPr>
            <p:spPr>
              <a:xfrm>
                <a:off x="4757166" y="1285338"/>
                <a:ext cx="2811780" cy="465961"/>
              </a:xfrm>
              <a:prstGeom prst="rect">
                <a:avLst/>
              </a:prstGeom>
              <a:blipFill>
                <a:blip r:embed="rId8"/>
                <a:stretch>
                  <a:fillRect l="-649" b="-10526"/>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B2DAF6E-4F6F-776D-A740-E62F32ECA2A7}"/>
                  </a:ext>
                </a:extLst>
              </p:cNvPr>
              <p:cNvSpPr txBox="1"/>
              <p:nvPr/>
            </p:nvSpPr>
            <p:spPr>
              <a:xfrm>
                <a:off x="4788026" y="1960089"/>
                <a:ext cx="3727323" cy="85414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m:t>
                      </m:r>
                      <m:f>
                        <m:fPr>
                          <m:ctrlPr>
                            <a:rPr lang="en-GB" b="0" i="1" smtClean="0">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i="1">
                                  <a:solidFill>
                                    <a:prstClr val="black"/>
                                  </a:solidFill>
                                  <a:latin typeface="Cambria Math" panose="02040503050406030204" pitchFamily="18" charset="0"/>
                                  <a:ea typeface="Cambria Math" panose="02040503050406030204" pitchFamily="18" charset="0"/>
                                </a:rPr>
                                <m:t>2</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2</m:t>
                              </m:r>
                            </m:sub>
                          </m:sSub>
                        </m:num>
                        <m:den>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den>
                      </m:f>
                      <m:r>
                        <a:rPr lang="en-GB" b="0" i="1" smtClean="0">
                          <a:solidFill>
                            <a:prstClr val="black"/>
                          </a:solidFill>
                          <a:latin typeface="Cambria Math" panose="02040503050406030204" pitchFamily="18" charset="0"/>
                        </a:rPr>
                        <m:t>=</m:t>
                      </m:r>
                      <m:f>
                        <m:fPr>
                          <m:ctrlPr>
                            <a:rPr lang="en-GB" b="0" i="1" smtClean="0">
                              <a:solidFill>
                                <a:prstClr val="black"/>
                              </a:solidFill>
                              <a:latin typeface="Cambria Math" panose="02040503050406030204" pitchFamily="18" charset="0"/>
                            </a:rPr>
                          </m:ctrlPr>
                        </m:fPr>
                        <m:num>
                          <m:r>
                            <a:rPr lang="en-GB" b="0" i="1" smtClean="0">
                              <a:solidFill>
                                <a:prstClr val="black"/>
                              </a:solidFill>
                              <a:latin typeface="Cambria Math" panose="02040503050406030204" pitchFamily="18" charset="0"/>
                            </a:rPr>
                            <m:t>0.0025</m:t>
                          </m:r>
                          <m:r>
                            <a:rPr lang="en-GB" b="0" i="1" smtClean="0">
                              <a:solidFill>
                                <a:prstClr val="black"/>
                              </a:solidFill>
                              <a:latin typeface="Cambria Math" panose="02040503050406030204" pitchFamily="18" charset="0"/>
                              <a:ea typeface="Cambria Math" panose="02040503050406030204" pitchFamily="18" charset="0"/>
                            </a:rPr>
                            <m:t>×16</m:t>
                          </m:r>
                        </m:num>
                        <m:den>
                          <m:r>
                            <a:rPr lang="en-GB" b="0" i="1" smtClean="0">
                              <a:solidFill>
                                <a:prstClr val="black"/>
                              </a:solidFill>
                              <a:latin typeface="Cambria Math" panose="02040503050406030204" pitchFamily="18" charset="0"/>
                            </a:rPr>
                            <m:t>0.01</m:t>
                          </m:r>
                        </m:den>
                      </m:f>
                    </m:oMath>
                  </m:oMathPara>
                </a14:m>
                <a:endParaRPr lang="en-GH" dirty="0"/>
              </a:p>
            </p:txBody>
          </p:sp>
        </mc:Choice>
        <mc:Fallback>
          <p:sp>
            <p:nvSpPr>
              <p:cNvPr id="18" name="TextBox 17">
                <a:extLst>
                  <a:ext uri="{FF2B5EF4-FFF2-40B4-BE49-F238E27FC236}">
                    <a16:creationId xmlns:a16="http://schemas.microsoft.com/office/drawing/2014/main" id="{4B2DAF6E-4F6F-776D-A740-E62F32ECA2A7}"/>
                  </a:ext>
                </a:extLst>
              </p:cNvPr>
              <p:cNvSpPr txBox="1">
                <a:spLocks noRot="1" noChangeAspect="1" noMove="1" noResize="1" noEditPoints="1" noAdjustHandles="1" noChangeArrowheads="1" noChangeShapeType="1" noTextEdit="1"/>
              </p:cNvSpPr>
              <p:nvPr/>
            </p:nvSpPr>
            <p:spPr>
              <a:xfrm>
                <a:off x="4788026" y="1960089"/>
                <a:ext cx="3727323" cy="854145"/>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3A02A805-5B0D-B519-968E-0E87744C1ECC}"/>
                  </a:ext>
                </a:extLst>
              </p:cNvPr>
              <p:cNvSpPr txBox="1"/>
              <p:nvPr/>
            </p:nvSpPr>
            <p:spPr>
              <a:xfrm>
                <a:off x="4818888" y="2938026"/>
                <a:ext cx="3727323" cy="461665"/>
              </a:xfrm>
              <a:prstGeom prst="rect">
                <a:avLst/>
              </a:prstGeom>
              <a:noFill/>
            </p:spPr>
            <p:txBody>
              <a:bodyPr wrap="square">
                <a:spAutoFit/>
              </a:bodyPr>
              <a:lstStyle/>
              <a:p>
                <a:pPr/>
                <a14:m>
                  <m:oMath xmlns:m="http://schemas.openxmlformats.org/officeDocument/2006/math">
                    <m:sSub>
                      <m:sSubPr>
                        <m:ctrlPr>
                          <a:rPr lang="en-CA"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=4 </m:t>
                    </m:r>
                  </m:oMath>
                </a14:m>
                <a:r>
                  <a:rPr lang="en-GB" dirty="0"/>
                  <a:t>m/s</a:t>
                </a:r>
                <a:endParaRPr lang="en-GH" dirty="0"/>
              </a:p>
            </p:txBody>
          </p:sp>
        </mc:Choice>
        <mc:Fallback>
          <p:sp>
            <p:nvSpPr>
              <p:cNvPr id="19" name="TextBox 18">
                <a:extLst>
                  <a:ext uri="{FF2B5EF4-FFF2-40B4-BE49-F238E27FC236}">
                    <a16:creationId xmlns:a16="http://schemas.microsoft.com/office/drawing/2014/main" id="{3A02A805-5B0D-B519-968E-0E87744C1ECC}"/>
                  </a:ext>
                </a:extLst>
              </p:cNvPr>
              <p:cNvSpPr txBox="1">
                <a:spLocks noRot="1" noChangeAspect="1" noMove="1" noResize="1" noEditPoints="1" noAdjustHandles="1" noChangeArrowheads="1" noChangeShapeType="1" noTextEdit="1"/>
              </p:cNvSpPr>
              <p:nvPr/>
            </p:nvSpPr>
            <p:spPr>
              <a:xfrm>
                <a:off x="4818888" y="2938026"/>
                <a:ext cx="3727323" cy="461665"/>
              </a:xfrm>
              <a:prstGeom prst="rect">
                <a:avLst/>
              </a:prstGeom>
              <a:blipFill>
                <a:blip r:embed="rId10"/>
                <a:stretch>
                  <a:fillRect l="-491" t="-10526" b="-28947"/>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CA6526B1-F4BF-46FF-6EB5-D0157969B52B}"/>
                  </a:ext>
                </a:extLst>
              </p:cNvPr>
              <p:cNvSpPr txBox="1"/>
              <p:nvPr/>
            </p:nvSpPr>
            <p:spPr>
              <a:xfrm>
                <a:off x="4565142" y="3501011"/>
                <a:ext cx="4142232"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(220−101)</m:t>
                      </m:r>
                      <m:r>
                        <a:rPr lang="en-GB" b="0" i="1" smtClean="0">
                          <a:solidFill>
                            <a:prstClr val="black"/>
                          </a:solidFill>
                          <a:latin typeface="Cambria Math" panose="02040503050406030204" pitchFamily="18" charset="0"/>
                          <a:ea typeface="Cambria Math" panose="02040503050406030204" pitchFamily="18" charset="0"/>
                        </a:rPr>
                        <m:t>×1000</m:t>
                      </m:r>
                    </m:oMath>
                  </m:oMathPara>
                </a14:m>
                <a:endParaRPr lang="en-GH" dirty="0"/>
              </a:p>
            </p:txBody>
          </p:sp>
        </mc:Choice>
        <mc:Fallback>
          <p:sp>
            <p:nvSpPr>
              <p:cNvPr id="20" name="TextBox 19">
                <a:extLst>
                  <a:ext uri="{FF2B5EF4-FFF2-40B4-BE49-F238E27FC236}">
                    <a16:creationId xmlns:a16="http://schemas.microsoft.com/office/drawing/2014/main" id="{CA6526B1-F4BF-46FF-6EB5-D0157969B52B}"/>
                  </a:ext>
                </a:extLst>
              </p:cNvPr>
              <p:cNvSpPr txBox="1">
                <a:spLocks noRot="1" noChangeAspect="1" noMove="1" noResize="1" noEditPoints="1" noAdjustHandles="1" noChangeArrowheads="1" noChangeShapeType="1" noTextEdit="1"/>
              </p:cNvSpPr>
              <p:nvPr/>
            </p:nvSpPr>
            <p:spPr>
              <a:xfrm>
                <a:off x="4565142" y="3501011"/>
                <a:ext cx="4142232" cy="461665"/>
              </a:xfrm>
              <a:prstGeom prst="rect">
                <a:avLst/>
              </a:prstGeom>
              <a:blipFill>
                <a:blip r:embed="rId11"/>
                <a:stretch>
                  <a:fillRect b="-18421"/>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CF26B908-4832-052F-5132-81325DEBF6F3}"/>
                  </a:ext>
                </a:extLst>
              </p:cNvPr>
              <p:cNvSpPr txBox="1"/>
              <p:nvPr/>
            </p:nvSpPr>
            <p:spPr>
              <a:xfrm>
                <a:off x="5312664" y="3882810"/>
                <a:ext cx="3739893" cy="46166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ea typeface="Cambria Math" panose="02040503050406030204" pitchFamily="18" charset="0"/>
                        </a:rPr>
                        <m:t>×0.01+1000×0.01×</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4</m:t>
                          </m:r>
                        </m:e>
                        <m:sup>
                          <m:r>
                            <a:rPr lang="en-GB" b="0" i="1" smtClean="0">
                              <a:solidFill>
                                <a:prstClr val="black"/>
                              </a:solidFill>
                              <a:latin typeface="Cambria Math" panose="02040503050406030204" pitchFamily="18" charset="0"/>
                              <a:ea typeface="Cambria Math" panose="02040503050406030204" pitchFamily="18" charset="0"/>
                            </a:rPr>
                            <m:t>2</m:t>
                          </m:r>
                        </m:sup>
                      </m:sSup>
                    </m:oMath>
                  </m:oMathPara>
                </a14:m>
                <a:endParaRPr lang="en-GH" dirty="0"/>
              </a:p>
            </p:txBody>
          </p:sp>
        </mc:Choice>
        <mc:Fallback>
          <p:sp>
            <p:nvSpPr>
              <p:cNvPr id="21" name="TextBox 20">
                <a:extLst>
                  <a:ext uri="{FF2B5EF4-FFF2-40B4-BE49-F238E27FC236}">
                    <a16:creationId xmlns:a16="http://schemas.microsoft.com/office/drawing/2014/main" id="{CF26B908-4832-052F-5132-81325DEBF6F3}"/>
                  </a:ext>
                </a:extLst>
              </p:cNvPr>
              <p:cNvSpPr txBox="1">
                <a:spLocks noRot="1" noChangeAspect="1" noMove="1" noResize="1" noEditPoints="1" noAdjustHandles="1" noChangeArrowheads="1" noChangeShapeType="1" noTextEdit="1"/>
              </p:cNvSpPr>
              <p:nvPr/>
            </p:nvSpPr>
            <p:spPr>
              <a:xfrm>
                <a:off x="5312664" y="3882810"/>
                <a:ext cx="3739893" cy="461665"/>
              </a:xfrm>
              <a:prstGeom prst="rect">
                <a:avLst/>
              </a:prstGeom>
              <a:blipFill>
                <a:blip r:embed="rId12"/>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2507172-5BCE-DC2E-23FA-E2E0D984FA93}"/>
                  </a:ext>
                </a:extLst>
              </p:cNvPr>
              <p:cNvSpPr txBox="1"/>
              <p:nvPr/>
            </p:nvSpPr>
            <p:spPr>
              <a:xfrm>
                <a:off x="4686301" y="4427278"/>
                <a:ext cx="3113531" cy="461665"/>
              </a:xfrm>
              <a:prstGeom prst="rect">
                <a:avLst/>
              </a:prstGeom>
              <a:noFill/>
            </p:spPr>
            <p:txBody>
              <a:bodyPr wrap="square">
                <a:spAutoFit/>
              </a:bodyPr>
              <a:lstStyle/>
              <a:p>
                <a:pPr/>
                <a14:m>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𝑥</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1350</m:t>
                    </m:r>
                  </m:oMath>
                </a14:m>
                <a:r>
                  <a:rPr lang="en-GB" dirty="0"/>
                  <a:t> N</a:t>
                </a:r>
                <a:endParaRPr lang="en-GH" dirty="0"/>
              </a:p>
            </p:txBody>
          </p:sp>
        </mc:Choice>
        <mc:Fallback>
          <p:sp>
            <p:nvSpPr>
              <p:cNvPr id="23" name="TextBox 22">
                <a:extLst>
                  <a:ext uri="{FF2B5EF4-FFF2-40B4-BE49-F238E27FC236}">
                    <a16:creationId xmlns:a16="http://schemas.microsoft.com/office/drawing/2014/main" id="{B2507172-5BCE-DC2E-23FA-E2E0D984FA93}"/>
                  </a:ext>
                </a:extLst>
              </p:cNvPr>
              <p:cNvSpPr txBox="1">
                <a:spLocks noRot="1" noChangeAspect="1" noMove="1" noResize="1" noEditPoints="1" noAdjustHandles="1" noChangeArrowheads="1" noChangeShapeType="1" noTextEdit="1"/>
              </p:cNvSpPr>
              <p:nvPr/>
            </p:nvSpPr>
            <p:spPr>
              <a:xfrm>
                <a:off x="4686301" y="4427278"/>
                <a:ext cx="3113531" cy="461665"/>
              </a:xfrm>
              <a:prstGeom prst="rect">
                <a:avLst/>
              </a:prstGeom>
              <a:blipFill>
                <a:blip r:embed="rId13"/>
                <a:stretch>
                  <a:fillRect l="-587"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35625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656"/>
            <a:ext cx="7886700" cy="568940"/>
          </a:xfrm>
        </p:spPr>
        <p:txBody>
          <a:bodyPr/>
          <a:lstStyle/>
          <a:p>
            <a:r>
              <a:rPr lang="en-US" b="1" dirty="0"/>
              <a:t>MOMENT OF MOMENTUM EQUATION</a:t>
            </a:r>
            <a:endParaRPr lang="en-US" dirty="0"/>
          </a:p>
        </p:txBody>
      </p:sp>
      <p:sp>
        <p:nvSpPr>
          <p:cNvPr id="4" name="TextBox 3">
            <a:extLst>
              <a:ext uri="{FF2B5EF4-FFF2-40B4-BE49-F238E27FC236}">
                <a16:creationId xmlns:a16="http://schemas.microsoft.com/office/drawing/2014/main" id="{3FFECDD2-0739-E857-43ED-65CBE9214A41}"/>
              </a:ext>
            </a:extLst>
          </p:cNvPr>
          <p:cNvSpPr txBox="1"/>
          <p:nvPr/>
        </p:nvSpPr>
        <p:spPr>
          <a:xfrm>
            <a:off x="75438" y="556031"/>
            <a:ext cx="3271266" cy="492443"/>
          </a:xfrm>
          <a:prstGeom prst="rect">
            <a:avLst/>
          </a:prstGeom>
          <a:noFill/>
        </p:spPr>
        <p:txBody>
          <a:bodyPr wrap="square">
            <a:spAutoFit/>
          </a:bodyPr>
          <a:lstStyle/>
          <a:p>
            <a:r>
              <a:rPr lang="en-US" sz="2600" b="1" dirty="0">
                <a:latin typeface="+mn-lt"/>
              </a:rPr>
              <a:t>Example 1 - Solution</a:t>
            </a:r>
            <a:endParaRPr lang="en-GH" sz="2600" b="1" dirty="0"/>
          </a:p>
        </p:txBody>
      </p:sp>
      <p:sp>
        <p:nvSpPr>
          <p:cNvPr id="13" name="Oval 12">
            <a:extLst>
              <a:ext uri="{FF2B5EF4-FFF2-40B4-BE49-F238E27FC236}">
                <a16:creationId xmlns:a16="http://schemas.microsoft.com/office/drawing/2014/main" id="{57E73B94-F1C1-9ED4-815A-26E18DF67648}"/>
              </a:ext>
            </a:extLst>
          </p:cNvPr>
          <p:cNvSpPr/>
          <p:nvPr/>
        </p:nvSpPr>
        <p:spPr>
          <a:xfrm>
            <a:off x="1344168" y="1153456"/>
            <a:ext cx="594360" cy="594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47" name="TextBox 46">
            <a:extLst>
              <a:ext uri="{FF2B5EF4-FFF2-40B4-BE49-F238E27FC236}">
                <a16:creationId xmlns:a16="http://schemas.microsoft.com/office/drawing/2014/main" id="{6630D880-087C-C459-5449-688A3BC94AF1}"/>
              </a:ext>
            </a:extLst>
          </p:cNvPr>
          <p:cNvSpPr txBox="1"/>
          <p:nvPr/>
        </p:nvSpPr>
        <p:spPr>
          <a:xfrm>
            <a:off x="18288" y="1091367"/>
            <a:ext cx="2633470" cy="461665"/>
          </a:xfrm>
          <a:prstGeom prst="rect">
            <a:avLst/>
          </a:prstGeom>
          <a:noFill/>
        </p:spPr>
        <p:txBody>
          <a:bodyPr wrap="square">
            <a:spAutoFit/>
          </a:bodyPr>
          <a:lstStyle/>
          <a:p>
            <a:r>
              <a:rPr lang="en-US" dirty="0">
                <a:latin typeface="+mn-lt"/>
              </a:rPr>
              <a:t>In the y-direction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D8A1CCC-D267-D161-3952-5B83C187F0B1}"/>
                  </a:ext>
                </a:extLst>
              </p:cNvPr>
              <p:cNvSpPr txBox="1"/>
              <p:nvPr/>
            </p:nvSpPr>
            <p:spPr>
              <a:xfrm>
                <a:off x="226315" y="1474063"/>
                <a:ext cx="4181094" cy="9889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𝑆𝑦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𝐹</m:t>
                          </m:r>
                        </m:e>
                        <m:sub>
                          <m:r>
                            <a:rPr lang="en-GB" b="0" i="1" smtClean="0">
                              <a:solidFill>
                                <a:prstClr val="black"/>
                              </a:solidFill>
                              <a:latin typeface="Cambria Math" panose="02040503050406030204" pitchFamily="18" charset="0"/>
                            </a:rPr>
                            <m:t>𝐵</m:t>
                          </m:r>
                          <m:r>
                            <a:rPr lang="en-GB" i="1">
                              <a:solidFill>
                                <a:prstClr val="black"/>
                              </a:solidFill>
                              <a:latin typeface="Cambria Math" panose="02040503050406030204" pitchFamily="18" charset="0"/>
                            </a:rPr>
                            <m:t>𝑦</m:t>
                          </m:r>
                        </m:sub>
                      </m:sSub>
                      <m:r>
                        <a:rPr lang="en-GB" b="0" i="1" smtClean="0">
                          <a:solidFill>
                            <a:prstClr val="black"/>
                          </a:solidFill>
                          <a:latin typeface="Cambria Math" panose="02040503050406030204" pitchFamily="18" charset="0"/>
                        </a:rPr>
                        <m:t>=</m:t>
                      </m:r>
                      <m:nary>
                        <m:naryPr>
                          <m:chr m:val="∑"/>
                          <m:supHide m:val="on"/>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naryPr>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𝐶𝑆</m:t>
                          </m:r>
                        </m:sub>
                        <m:sup/>
                        <m:e>
                          <m:r>
                            <a:rPr lang="en-GB" b="0" i="1" smtClean="0">
                              <a:solidFill>
                                <a:prstClr val="black"/>
                              </a:solidFill>
                              <a:latin typeface="Cambria Math" panose="02040503050406030204" pitchFamily="18" charset="0"/>
                              <a:ea typeface="Cambria Math" panose="02040503050406030204" pitchFamily="18" charset="0"/>
                            </a:rPr>
                            <m:t>𝑣</m:t>
                          </m:r>
                          <m:acc>
                            <m:accPr>
                              <m:chr m:val="̇"/>
                              <m:ctrlPr>
                                <a:rPr kumimoji="0" lang="en-CA"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𝑚</m:t>
                              </m:r>
                            </m:e>
                          </m:acc>
                        </m:e>
                      </m:nary>
                    </m:oMath>
                  </m:oMathPara>
                </a14:m>
                <a:endParaRPr lang="en-GH" dirty="0"/>
              </a:p>
            </p:txBody>
          </p:sp>
        </mc:Choice>
        <mc:Fallback>
          <p:sp>
            <p:nvSpPr>
              <p:cNvPr id="7" name="TextBox 6">
                <a:extLst>
                  <a:ext uri="{FF2B5EF4-FFF2-40B4-BE49-F238E27FC236}">
                    <a16:creationId xmlns:a16="http://schemas.microsoft.com/office/drawing/2014/main" id="{CD8A1CCC-D267-D161-3952-5B83C187F0B1}"/>
                  </a:ext>
                </a:extLst>
              </p:cNvPr>
              <p:cNvSpPr txBox="1">
                <a:spLocks noRot="1" noChangeAspect="1" noMove="1" noResize="1" noEditPoints="1" noAdjustHandles="1" noChangeArrowheads="1" noChangeShapeType="1" noTextEdit="1"/>
              </p:cNvSpPr>
              <p:nvPr/>
            </p:nvSpPr>
            <p:spPr>
              <a:xfrm>
                <a:off x="226315" y="1474063"/>
                <a:ext cx="4181094" cy="988925"/>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531F800-5F99-FC17-3D79-37A5BB7DF652}"/>
                  </a:ext>
                </a:extLst>
              </p:cNvPr>
              <p:cNvSpPr txBox="1"/>
              <p:nvPr/>
            </p:nvSpPr>
            <p:spPr>
              <a:xfrm>
                <a:off x="240602" y="2530591"/>
                <a:ext cx="429768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CA"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1</m:t>
                          </m:r>
                        </m:sub>
                      </m:sSub>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i="1">
                                  <a:solidFill>
                                    <a:prstClr val="black"/>
                                  </a:solidFill>
                                  <a:latin typeface="Cambria Math" panose="02040503050406030204" pitchFamily="18" charset="0"/>
                                </a:rPr>
                                <m:t>2</m:t>
                              </m:r>
                            </m:sub>
                          </m:sSub>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oMath>
                  </m:oMathPara>
                </a14:m>
                <a:endParaRPr lang="en-GH" dirty="0"/>
              </a:p>
            </p:txBody>
          </p:sp>
        </mc:Choice>
        <mc:Fallback>
          <p:sp>
            <p:nvSpPr>
              <p:cNvPr id="8" name="TextBox 7">
                <a:extLst>
                  <a:ext uri="{FF2B5EF4-FFF2-40B4-BE49-F238E27FC236}">
                    <a16:creationId xmlns:a16="http://schemas.microsoft.com/office/drawing/2014/main" id="{4531F800-5F99-FC17-3D79-37A5BB7DF652}"/>
                  </a:ext>
                </a:extLst>
              </p:cNvPr>
              <p:cNvSpPr txBox="1">
                <a:spLocks noRot="1" noChangeAspect="1" noMove="1" noResize="1" noEditPoints="1" noAdjustHandles="1" noChangeArrowheads="1" noChangeShapeType="1" noTextEdit="1"/>
              </p:cNvSpPr>
              <p:nvPr/>
            </p:nvSpPr>
            <p:spPr>
              <a:xfrm>
                <a:off x="240602" y="2530591"/>
                <a:ext cx="4297680" cy="490840"/>
              </a:xfrm>
              <a:prstGeom prst="rect">
                <a:avLst/>
              </a:prstGeom>
              <a:blipFill>
                <a:blip r:embed="rId4"/>
                <a:stretch>
                  <a:fillRect b="-6173"/>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BEA71E9-1008-B9FF-EDCC-FCF0FB0D5D07}"/>
                  </a:ext>
                </a:extLst>
              </p:cNvPr>
              <p:cNvSpPr txBox="1"/>
              <p:nvPr/>
            </p:nvSpPr>
            <p:spPr>
              <a:xfrm>
                <a:off x="294895" y="3089034"/>
                <a:ext cx="4297680" cy="49084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𝑣</m:t>
                          </m:r>
                        </m:e>
                        <m:sub>
                          <m:r>
                            <a:rPr lang="en-GB" b="0" i="1" smtClean="0">
                              <a:solidFill>
                                <a:prstClr val="black"/>
                              </a:solidFill>
                              <a:latin typeface="Cambria Math" panose="02040503050406030204" pitchFamily="18" charset="0"/>
                            </a:rPr>
                            <m:t>2</m:t>
                          </m:r>
                        </m:sub>
                      </m:sSub>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b="0" i="1" smtClean="0">
                              <a:solidFill>
                                <a:prstClr val="black"/>
                              </a:solidFill>
                              <a:latin typeface="Cambria Math" panose="02040503050406030204" pitchFamily="18" charset="0"/>
                            </a:rPr>
                            <m:t>2</m:t>
                          </m:r>
                        </m:sub>
                      </m:sSub>
                    </m:oMath>
                  </m:oMathPara>
                </a14:m>
                <a:endParaRPr lang="en-GH" dirty="0"/>
              </a:p>
            </p:txBody>
          </p:sp>
        </mc:Choice>
        <mc:Fallback>
          <p:sp>
            <p:nvSpPr>
              <p:cNvPr id="3" name="TextBox 2">
                <a:extLst>
                  <a:ext uri="{FF2B5EF4-FFF2-40B4-BE49-F238E27FC236}">
                    <a16:creationId xmlns:a16="http://schemas.microsoft.com/office/drawing/2014/main" id="{1BEA71E9-1008-B9FF-EDCC-FCF0FB0D5D07}"/>
                  </a:ext>
                </a:extLst>
              </p:cNvPr>
              <p:cNvSpPr txBox="1">
                <a:spLocks noRot="1" noChangeAspect="1" noMove="1" noResize="1" noEditPoints="1" noAdjustHandles="1" noChangeArrowheads="1" noChangeShapeType="1" noTextEdit="1"/>
              </p:cNvSpPr>
              <p:nvPr/>
            </p:nvSpPr>
            <p:spPr>
              <a:xfrm>
                <a:off x="294895" y="3089034"/>
                <a:ext cx="4297680" cy="490840"/>
              </a:xfrm>
              <a:prstGeom prst="rect">
                <a:avLst/>
              </a:prstGeom>
              <a:blipFill>
                <a:blip r:embed="rId5"/>
                <a:stretch>
                  <a:fillRect l="-284" b="-6250"/>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9E27961-1669-5498-893F-682173FE608D}"/>
                  </a:ext>
                </a:extLst>
              </p:cNvPr>
              <p:cNvSpPr txBox="1"/>
              <p:nvPr/>
            </p:nvSpPr>
            <p:spPr>
              <a:xfrm>
                <a:off x="265179" y="3622802"/>
                <a:ext cx="4297680" cy="461665"/>
              </a:xfrm>
              <a:prstGeom prst="rect">
                <a:avLst/>
              </a:prstGeom>
              <a:noFill/>
            </p:spPr>
            <p:txBody>
              <a:bodyPr wrap="square">
                <a:spAutoFit/>
              </a:bodyPr>
              <a:lstStyle/>
              <a:p>
                <a:pPr marL="0" indent="0">
                  <a:buNone/>
                </a:pPr>
                <a14:m>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𝑣</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2</m:t>
                        </m:r>
                      </m:sub>
                    </m:sSub>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oMath>
                </a14:m>
                <a:r>
                  <a:rPr lang="en-GB" dirty="0"/>
                  <a:t>  and</a:t>
                </a:r>
                <a14:m>
                  <m:oMath xmlns:m="http://schemas.openxmlformats.org/officeDocument/2006/math">
                    <m:r>
                      <a:rPr lang="en-GB" b="0" i="0" smtClean="0">
                        <a:solidFill>
                          <a:prstClr val="black"/>
                        </a:solidFill>
                        <a:latin typeface="Cambria Math" panose="02040503050406030204" pitchFamily="18" charset="0"/>
                      </a:rPr>
                      <m:t>    </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sub>
                        <m:r>
                          <a:rPr lang="en-GB" i="1">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r>
                      <a:rPr lang="en-GB" i="1" smtClean="0">
                        <a:solidFill>
                          <a:prstClr val="black"/>
                        </a:solidFill>
                        <a:latin typeface="Cambria Math" panose="02040503050406030204" pitchFamily="18" charset="0"/>
                        <a:ea typeface="Cambria Math" panose="02040503050406030204" pitchFamily="18" charset="0"/>
                      </a:rPr>
                      <m:t>𝜌</m:t>
                    </m:r>
                    <m:sSub>
                      <m:sSubPr>
                        <m:ctrlPr>
                          <a:rPr lang="en-GB" i="1" smtClean="0">
                            <a:solidFill>
                              <a:prstClr val="black"/>
                            </a:solidFill>
                            <a:latin typeface="Cambria Math" panose="02040503050406030204" pitchFamily="18" charset="0"/>
                            <a:ea typeface="Cambria Math" panose="02040503050406030204" pitchFamily="18" charset="0"/>
                          </a:rPr>
                        </m:ctrlPr>
                      </m:sSubPr>
                      <m:e>
                        <m:r>
                          <a:rPr lang="en-GB" b="0" i="1" smtClean="0">
                            <a:solidFill>
                              <a:prstClr val="black"/>
                            </a:solidFill>
                            <a:latin typeface="Cambria Math" panose="02040503050406030204" pitchFamily="18" charset="0"/>
                            <a:ea typeface="Cambria Math" panose="02040503050406030204" pitchFamily="18" charset="0"/>
                          </a:rPr>
                          <m:t>𝐴</m:t>
                        </m:r>
                      </m:e>
                      <m:sub>
                        <m:r>
                          <a:rPr lang="en-GB" b="0" i="1" smtClean="0">
                            <a:solidFill>
                              <a:prstClr val="black"/>
                            </a:solidFill>
                            <a:latin typeface="Cambria Math" panose="02040503050406030204" pitchFamily="18" charset="0"/>
                            <a:ea typeface="Cambria Math" panose="02040503050406030204" pitchFamily="18" charset="0"/>
                          </a:rPr>
                          <m:t>2</m:t>
                        </m:r>
                      </m:sub>
                    </m:sSub>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2</m:t>
                        </m:r>
                      </m:sub>
                    </m:sSub>
                  </m:oMath>
                </a14:m>
                <a:endParaRPr lang="en-GH" dirty="0"/>
              </a:p>
            </p:txBody>
          </p:sp>
        </mc:Choice>
        <mc:Fallback>
          <p:sp>
            <p:nvSpPr>
              <p:cNvPr id="5" name="TextBox 4">
                <a:extLst>
                  <a:ext uri="{FF2B5EF4-FFF2-40B4-BE49-F238E27FC236}">
                    <a16:creationId xmlns:a16="http://schemas.microsoft.com/office/drawing/2014/main" id="{39E27961-1669-5498-893F-682173FE608D}"/>
                  </a:ext>
                </a:extLst>
              </p:cNvPr>
              <p:cNvSpPr txBox="1">
                <a:spLocks noRot="1" noChangeAspect="1" noMove="1" noResize="1" noEditPoints="1" noAdjustHandles="1" noChangeArrowheads="1" noChangeShapeType="1" noTextEdit="1"/>
              </p:cNvSpPr>
              <p:nvPr/>
            </p:nvSpPr>
            <p:spPr>
              <a:xfrm>
                <a:off x="265179" y="3622802"/>
                <a:ext cx="4297680" cy="461665"/>
              </a:xfrm>
              <a:prstGeom prst="rect">
                <a:avLst/>
              </a:prstGeom>
              <a:blipFill>
                <a:blip r:embed="rId6"/>
                <a:stretch>
                  <a:fillRect t="-10526" b="-28947"/>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0B8FC73-ABEA-7106-9AEC-CFC32D335EBD}"/>
                  </a:ext>
                </a:extLst>
              </p:cNvPr>
              <p:cNvSpPr txBox="1"/>
              <p:nvPr/>
            </p:nvSpPr>
            <p:spPr>
              <a:xfrm>
                <a:off x="265179" y="4232247"/>
                <a:ext cx="4048504" cy="520399"/>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𝜌</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𝐴</m:t>
                          </m:r>
                        </m:e>
                        <m:sub>
                          <m:r>
                            <a:rPr lang="en-GB" i="1">
                              <a:solidFill>
                                <a:prstClr val="black"/>
                              </a:solidFill>
                              <a:latin typeface="Cambria Math" panose="02040503050406030204" pitchFamily="18" charset="0"/>
                              <a:ea typeface="Cambria Math" panose="02040503050406030204" pitchFamily="18" charset="0"/>
                            </a:rPr>
                            <m:t>2</m:t>
                          </m:r>
                        </m:sub>
                      </m:sSub>
                      <m:sSubSup>
                        <m:sSubSupPr>
                          <m:ctrlPr>
                            <a:rPr lang="en-GB" i="1" smtClean="0">
                              <a:solidFill>
                                <a:prstClr val="black"/>
                              </a:solidFill>
                              <a:latin typeface="Cambria Math" panose="02040503050406030204" pitchFamily="18" charset="0"/>
                              <a:ea typeface="Cambria Math" panose="02040503050406030204" pitchFamily="18" charset="0"/>
                            </a:rPr>
                          </m:ctrlPr>
                        </m:sSubSupPr>
                        <m:e>
                          <m:r>
                            <a:rPr lang="en-GB" b="0" i="1" smtClean="0">
                              <a:solidFill>
                                <a:prstClr val="black"/>
                              </a:solidFill>
                              <a:latin typeface="Cambria Math" panose="02040503050406030204" pitchFamily="18" charset="0"/>
                              <a:ea typeface="Cambria Math" panose="02040503050406030204" pitchFamily="18" charset="0"/>
                            </a:rPr>
                            <m:t>𝑉</m:t>
                          </m:r>
                        </m:e>
                        <m:sub>
                          <m:r>
                            <a:rPr lang="en-GB" b="0" i="1" smtClean="0">
                              <a:solidFill>
                                <a:prstClr val="black"/>
                              </a:solidFill>
                              <a:latin typeface="Cambria Math" panose="02040503050406030204" pitchFamily="18" charset="0"/>
                              <a:ea typeface="Cambria Math" panose="02040503050406030204" pitchFamily="18" charset="0"/>
                            </a:rPr>
                            <m:t>2</m:t>
                          </m:r>
                        </m:sub>
                        <m:sup>
                          <m:r>
                            <a:rPr lang="en-GB" b="0" i="1" smtClean="0">
                              <a:solidFill>
                                <a:prstClr val="black"/>
                              </a:solidFill>
                              <a:latin typeface="Cambria Math" panose="02040503050406030204" pitchFamily="18" charset="0"/>
                              <a:ea typeface="Cambria Math" panose="02040503050406030204" pitchFamily="18" charset="0"/>
                            </a:rPr>
                            <m:t>2</m:t>
                          </m:r>
                        </m:sup>
                      </m:sSubSup>
                    </m:oMath>
                  </m:oMathPara>
                </a14:m>
                <a:endParaRPr lang="en-GH" dirty="0"/>
              </a:p>
            </p:txBody>
          </p:sp>
        </mc:Choice>
        <mc:Fallback>
          <p:sp>
            <p:nvSpPr>
              <p:cNvPr id="6" name="TextBox 5">
                <a:extLst>
                  <a:ext uri="{FF2B5EF4-FFF2-40B4-BE49-F238E27FC236}">
                    <a16:creationId xmlns:a16="http://schemas.microsoft.com/office/drawing/2014/main" id="{D0B8FC73-ABEA-7106-9AEC-CFC32D335EBD}"/>
                  </a:ext>
                </a:extLst>
              </p:cNvPr>
              <p:cNvSpPr txBox="1">
                <a:spLocks noRot="1" noChangeAspect="1" noMove="1" noResize="1" noEditPoints="1" noAdjustHandles="1" noChangeArrowheads="1" noChangeShapeType="1" noTextEdit="1"/>
              </p:cNvSpPr>
              <p:nvPr/>
            </p:nvSpPr>
            <p:spPr>
              <a:xfrm>
                <a:off x="265179" y="4232247"/>
                <a:ext cx="4048504" cy="520399"/>
              </a:xfrm>
              <a:prstGeom prst="rect">
                <a:avLst/>
              </a:prstGeom>
              <a:blipFill>
                <a:blip r:embed="rId7"/>
                <a:stretch>
                  <a:fillRect l="-452" b="-2326"/>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99E079E8-6D66-B0AF-1110-3DF971DB83C8}"/>
                  </a:ext>
                </a:extLst>
              </p:cNvPr>
              <p:cNvSpPr txBox="1"/>
              <p:nvPr/>
            </p:nvSpPr>
            <p:spPr>
              <a:xfrm>
                <a:off x="220030" y="4900427"/>
                <a:ext cx="4048502" cy="4982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0" lang="en-CA"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𝐹</m:t>
                          </m:r>
                        </m:e>
                        <m:sub>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rPr>
                            <m:t>𝑦</m:t>
                          </m:r>
                        </m:sub>
                      </m:sSub>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1000</m:t>
                      </m:r>
                      <m:r>
                        <a:rPr lang="en-GB" b="0"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0.0025×</m:t>
                      </m:r>
                      <m:sSup>
                        <m:sSupPr>
                          <m:ctrlPr>
                            <a:rPr lang="en-GB" b="0" i="1" smtClean="0">
                              <a:solidFill>
                                <a:prstClr val="black"/>
                              </a:solidFill>
                              <a:latin typeface="Cambria Math" panose="02040503050406030204" pitchFamily="18" charset="0"/>
                              <a:ea typeface="Cambria Math" panose="02040503050406030204" pitchFamily="18" charset="0"/>
                            </a:rPr>
                          </m:ctrlPr>
                        </m:sSupPr>
                        <m:e>
                          <m:r>
                            <a:rPr lang="en-GB" b="0" i="1" smtClean="0">
                              <a:solidFill>
                                <a:prstClr val="black"/>
                              </a:solidFill>
                              <a:latin typeface="Cambria Math" panose="02040503050406030204" pitchFamily="18" charset="0"/>
                              <a:ea typeface="Cambria Math" panose="02040503050406030204" pitchFamily="18" charset="0"/>
                            </a:rPr>
                            <m:t>16</m:t>
                          </m:r>
                        </m:e>
                        <m:sup>
                          <m:r>
                            <a:rPr lang="en-GB" b="0" i="1" smtClean="0">
                              <a:solidFill>
                                <a:prstClr val="black"/>
                              </a:solidFill>
                              <a:latin typeface="Cambria Math" panose="02040503050406030204" pitchFamily="18" charset="0"/>
                              <a:ea typeface="Cambria Math" panose="02040503050406030204" pitchFamily="18" charset="0"/>
                            </a:rPr>
                            <m:t>2</m:t>
                          </m:r>
                        </m:sup>
                      </m:sSup>
                    </m:oMath>
                  </m:oMathPara>
                </a14:m>
                <a:endParaRPr lang="en-GH" dirty="0"/>
              </a:p>
            </p:txBody>
          </p:sp>
        </mc:Choice>
        <mc:Fallback>
          <p:sp>
            <p:nvSpPr>
              <p:cNvPr id="14" name="TextBox 13">
                <a:extLst>
                  <a:ext uri="{FF2B5EF4-FFF2-40B4-BE49-F238E27FC236}">
                    <a16:creationId xmlns:a16="http://schemas.microsoft.com/office/drawing/2014/main" id="{99E079E8-6D66-B0AF-1110-3DF971DB83C8}"/>
                  </a:ext>
                </a:extLst>
              </p:cNvPr>
              <p:cNvSpPr txBox="1">
                <a:spLocks noRot="1" noChangeAspect="1" noMove="1" noResize="1" noEditPoints="1" noAdjustHandles="1" noChangeArrowheads="1" noChangeShapeType="1" noTextEdit="1"/>
              </p:cNvSpPr>
              <p:nvPr/>
            </p:nvSpPr>
            <p:spPr>
              <a:xfrm>
                <a:off x="220030" y="4900427"/>
                <a:ext cx="4048502" cy="498278"/>
              </a:xfrm>
              <a:prstGeom prst="rect">
                <a:avLst/>
              </a:prstGeom>
              <a:blipFill>
                <a:blip r:embed="rId8"/>
                <a:stretch>
                  <a:fillRect l="-301" b="-4878"/>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2BDF0175-A4E2-E67C-68C6-2C1012A680EC}"/>
                  </a:ext>
                </a:extLst>
              </p:cNvPr>
              <p:cNvSpPr txBox="1"/>
              <p:nvPr/>
            </p:nvSpPr>
            <p:spPr>
              <a:xfrm>
                <a:off x="608077" y="5397683"/>
                <a:ext cx="1819654" cy="461665"/>
              </a:xfrm>
              <a:prstGeom prst="rect">
                <a:avLst/>
              </a:prstGeom>
              <a:noFill/>
            </p:spPr>
            <p:txBody>
              <a:bodyPr wrap="square">
                <a:spAutoFit/>
              </a:bodyPr>
              <a:lstStyle/>
              <a:p>
                <a:pPr/>
                <a14:m>
                  <m:oMath xmlns:m="http://schemas.openxmlformats.org/officeDocument/2006/math">
                    <m:r>
                      <a:rPr lang="en-GB" b="0" i="1" smtClean="0">
                        <a:solidFill>
                          <a:prstClr val="black"/>
                        </a:solidFill>
                        <a:latin typeface="Cambria Math" panose="02040503050406030204" pitchFamily="18" charset="0"/>
                      </a:rPr>
                      <m:t>=640</m:t>
                    </m:r>
                  </m:oMath>
                </a14:m>
                <a:r>
                  <a:rPr lang="en-GB" dirty="0"/>
                  <a:t> N</a:t>
                </a:r>
                <a:endParaRPr lang="en-GH" dirty="0"/>
              </a:p>
            </p:txBody>
          </p:sp>
        </mc:Choice>
        <mc:Fallback>
          <p:sp>
            <p:nvSpPr>
              <p:cNvPr id="22" name="TextBox 21">
                <a:extLst>
                  <a:ext uri="{FF2B5EF4-FFF2-40B4-BE49-F238E27FC236}">
                    <a16:creationId xmlns:a16="http://schemas.microsoft.com/office/drawing/2014/main" id="{2BDF0175-A4E2-E67C-68C6-2C1012A680EC}"/>
                  </a:ext>
                </a:extLst>
              </p:cNvPr>
              <p:cNvSpPr txBox="1">
                <a:spLocks noRot="1" noChangeAspect="1" noMove="1" noResize="1" noEditPoints="1" noAdjustHandles="1" noChangeArrowheads="1" noChangeShapeType="1" noTextEdit="1"/>
              </p:cNvSpPr>
              <p:nvPr/>
            </p:nvSpPr>
            <p:spPr>
              <a:xfrm>
                <a:off x="608077" y="5397683"/>
                <a:ext cx="1819654" cy="461665"/>
              </a:xfrm>
              <a:prstGeom prst="rect">
                <a:avLst/>
              </a:prstGeom>
              <a:blipFill>
                <a:blip r:embed="rId9"/>
                <a:stretch>
                  <a:fillRect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4269578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656"/>
            <a:ext cx="7886700" cy="568940"/>
          </a:xfrm>
        </p:spPr>
        <p:txBody>
          <a:bodyPr/>
          <a:lstStyle/>
          <a:p>
            <a:r>
              <a:rPr lang="en-US" b="1" dirty="0"/>
              <a:t>MOMENT OF MOMENTUM EQUATION</a:t>
            </a:r>
            <a:endParaRPr lang="en-US" dirty="0"/>
          </a:p>
        </p:txBody>
      </p:sp>
      <p:sp>
        <p:nvSpPr>
          <p:cNvPr id="4" name="TextBox 3">
            <a:extLst>
              <a:ext uri="{FF2B5EF4-FFF2-40B4-BE49-F238E27FC236}">
                <a16:creationId xmlns:a16="http://schemas.microsoft.com/office/drawing/2014/main" id="{3FFECDD2-0739-E857-43ED-65CBE9214A41}"/>
              </a:ext>
            </a:extLst>
          </p:cNvPr>
          <p:cNvSpPr txBox="1"/>
          <p:nvPr/>
        </p:nvSpPr>
        <p:spPr>
          <a:xfrm>
            <a:off x="75438" y="556031"/>
            <a:ext cx="3271266" cy="492443"/>
          </a:xfrm>
          <a:prstGeom prst="rect">
            <a:avLst/>
          </a:prstGeom>
          <a:noFill/>
        </p:spPr>
        <p:txBody>
          <a:bodyPr wrap="square">
            <a:spAutoFit/>
          </a:bodyPr>
          <a:lstStyle/>
          <a:p>
            <a:r>
              <a:rPr lang="en-US" sz="2600" b="1" dirty="0">
                <a:latin typeface="+mn-lt"/>
              </a:rPr>
              <a:t>Example 1 - Solution</a:t>
            </a:r>
            <a:endParaRPr lang="en-GH" sz="2600" b="1" dirty="0"/>
          </a:p>
        </p:txBody>
      </p:sp>
      <p:sp>
        <p:nvSpPr>
          <p:cNvPr id="13" name="Oval 12">
            <a:extLst>
              <a:ext uri="{FF2B5EF4-FFF2-40B4-BE49-F238E27FC236}">
                <a16:creationId xmlns:a16="http://schemas.microsoft.com/office/drawing/2014/main" id="{57E73B94-F1C1-9ED4-815A-26E18DF67648}"/>
              </a:ext>
            </a:extLst>
          </p:cNvPr>
          <p:cNvSpPr/>
          <p:nvPr/>
        </p:nvSpPr>
        <p:spPr>
          <a:xfrm>
            <a:off x="1344168" y="1153456"/>
            <a:ext cx="594360" cy="594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47" name="TextBox 46">
            <a:extLst>
              <a:ext uri="{FF2B5EF4-FFF2-40B4-BE49-F238E27FC236}">
                <a16:creationId xmlns:a16="http://schemas.microsoft.com/office/drawing/2014/main" id="{6630D880-087C-C459-5449-688A3BC94AF1}"/>
              </a:ext>
            </a:extLst>
          </p:cNvPr>
          <p:cNvSpPr txBox="1"/>
          <p:nvPr/>
        </p:nvSpPr>
        <p:spPr>
          <a:xfrm>
            <a:off x="18288" y="1091367"/>
            <a:ext cx="3271266" cy="461665"/>
          </a:xfrm>
          <a:prstGeom prst="rect">
            <a:avLst/>
          </a:prstGeom>
          <a:noFill/>
        </p:spPr>
        <p:txBody>
          <a:bodyPr wrap="square">
            <a:spAutoFit/>
          </a:bodyPr>
          <a:lstStyle/>
          <a:p>
            <a:r>
              <a:rPr lang="en-US" dirty="0">
                <a:latin typeface="+mn-lt"/>
              </a:rPr>
              <a:t>(b) Torque on the elbow</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8167E9F-3AAC-F0CA-7DBD-EE06D88598B6}"/>
                  </a:ext>
                </a:extLst>
              </p:cNvPr>
              <p:cNvSpPr txBox="1"/>
              <p:nvPr/>
            </p:nvSpPr>
            <p:spPr>
              <a:xfrm>
                <a:off x="0" y="1642316"/>
                <a:ext cx="9070848" cy="12380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GB" b="0" i="1" smtClean="0">
                              <a:solidFill>
                                <a:prstClr val="black"/>
                              </a:solidFill>
                              <a:latin typeface="Cambria Math" panose="02040503050406030204" pitchFamily="18" charset="0"/>
                            </a:rPr>
                          </m:ctrlPr>
                        </m:accPr>
                        <m:e>
                          <m:r>
                            <a:rPr lang="en-GB" b="0" i="1" smtClean="0">
                              <a:solidFill>
                                <a:prstClr val="black"/>
                              </a:solidFill>
                              <a:latin typeface="Cambria Math" panose="02040503050406030204" pitchFamily="18" charset="0"/>
                            </a:rPr>
                            <m:t>𝑟</m:t>
                          </m:r>
                        </m:e>
                      </m:acc>
                      <m:r>
                        <a:rPr lang="en-GB" b="0" i="1" smtClean="0">
                          <a:solidFill>
                            <a:prstClr val="black"/>
                          </a:solidFill>
                          <a:latin typeface="Cambria Math" panose="02040503050406030204" pitchFamily="18" charset="0"/>
                          <a:ea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acc>
                            <m:accPr>
                              <m:chr m:val="⃗"/>
                              <m:ctrlPr>
                                <a:rPr lang="en-GB" b="0" i="1" smtClean="0">
                                  <a:solidFill>
                                    <a:prstClr val="black"/>
                                  </a:solidFill>
                                  <a:latin typeface="Cambria Math" panose="02040503050406030204" pitchFamily="18" charset="0"/>
                                  <a:ea typeface="Cambria Math" panose="02040503050406030204" pitchFamily="18" charset="0"/>
                                </a:rPr>
                              </m:ctrlPr>
                            </m:accPr>
                            <m:e>
                              <m:r>
                                <a:rPr lang="en-GB" b="0" i="1" smtClean="0">
                                  <a:solidFill>
                                    <a:prstClr val="black"/>
                                  </a:solidFill>
                                  <a:latin typeface="Cambria Math" panose="02040503050406030204" pitchFamily="18" charset="0"/>
                                  <a:ea typeface="Cambria Math" panose="02040503050406030204" pitchFamily="18" charset="0"/>
                                </a:rPr>
                                <m:t>𝐹</m:t>
                              </m:r>
                            </m:e>
                          </m:acc>
                        </m:e>
                        <m:sub>
                          <m:r>
                            <a:rPr lang="en-GB" b="0" i="1" smtClean="0">
                              <a:solidFill>
                                <a:prstClr val="black"/>
                              </a:solidFill>
                              <a:latin typeface="Cambria Math" panose="02040503050406030204" pitchFamily="18" charset="0"/>
                              <a:ea typeface="Cambria Math" panose="02040503050406030204" pitchFamily="18" charset="0"/>
                            </a:rPr>
                            <m:t>𝑠</m:t>
                          </m:r>
                        </m:sub>
                      </m:sSub>
                      <m:r>
                        <a:rPr lang="en-GB" b="0" i="1" smtClean="0">
                          <a:solidFill>
                            <a:prstClr val="black"/>
                          </a:solidFill>
                          <a:latin typeface="Cambria Math" panose="02040503050406030204" pitchFamily="18" charset="0"/>
                          <a:ea typeface="Cambria Math" panose="02040503050406030204" pitchFamily="18" charset="0"/>
                        </a:rPr>
                        <m:t>+</m:t>
                      </m:r>
                      <m:nary>
                        <m:naryPr>
                          <m:limLoc m:val="undOvr"/>
                          <m:ctrlPr>
                            <a:rPr lang="en-GB" b="0" i="1" smtClean="0">
                              <a:solidFill>
                                <a:prstClr val="black"/>
                              </a:solidFill>
                              <a:latin typeface="Cambria Math" panose="02040503050406030204" pitchFamily="18" charset="0"/>
                              <a:ea typeface="Cambria Math" panose="02040503050406030204" pitchFamily="18" charset="0"/>
                            </a:rPr>
                          </m:ctrlPr>
                        </m:naryPr>
                        <m:sub>
                          <m:r>
                            <m:rPr>
                              <m:brk m:alnAt="24"/>
                            </m:rPr>
                            <a:rPr lang="en-GB" b="0" i="1" smtClean="0">
                              <a:solidFill>
                                <a:prstClr val="black"/>
                              </a:solidFill>
                              <a:latin typeface="Cambria Math" panose="02040503050406030204" pitchFamily="18" charset="0"/>
                              <a:ea typeface="Cambria Math" panose="02040503050406030204" pitchFamily="18" charset="0"/>
                            </a:rPr>
                            <m:t>𝐶𝑉</m:t>
                          </m:r>
                        </m:sub>
                        <m:sup/>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r>
                            <a:rPr lang="en-GB" i="1">
                              <a:solidFill>
                                <a:prstClr val="black"/>
                              </a:solidFill>
                              <a:latin typeface="Cambria Math" panose="02040503050406030204" pitchFamily="18" charset="0"/>
                              <a:ea typeface="Cambria Math" panose="02040503050406030204" pitchFamily="18" charset="0"/>
                            </a:rPr>
                            <m:t>×</m:t>
                          </m:r>
                          <m:acc>
                            <m:accPr>
                              <m:chr m:val="⃗"/>
                              <m:ctrlPr>
                                <a:rPr lang="en-GB" b="0" i="1" smtClean="0">
                                  <a:solidFill>
                                    <a:prstClr val="black"/>
                                  </a:solidFill>
                                  <a:latin typeface="Cambria Math" panose="02040503050406030204" pitchFamily="18" charset="0"/>
                                  <a:ea typeface="Cambria Math" panose="02040503050406030204" pitchFamily="18" charset="0"/>
                                </a:rPr>
                              </m:ctrlPr>
                            </m:accPr>
                            <m:e>
                              <m:r>
                                <a:rPr lang="en-GB" b="0" i="1" smtClean="0">
                                  <a:solidFill>
                                    <a:prstClr val="black"/>
                                  </a:solidFill>
                                  <a:latin typeface="Cambria Math" panose="02040503050406030204" pitchFamily="18" charset="0"/>
                                  <a:ea typeface="Cambria Math" panose="02040503050406030204" pitchFamily="18" charset="0"/>
                                </a:rPr>
                                <m:t>𝑔</m:t>
                              </m:r>
                            </m:e>
                          </m:acc>
                          <m:r>
                            <a:rPr lang="en-GB" b="0" i="1" smtClean="0">
                              <a:solidFill>
                                <a:prstClr val="black"/>
                              </a:solidFill>
                              <a:latin typeface="Cambria Math" panose="02040503050406030204" pitchFamily="18" charset="0"/>
                              <a:ea typeface="Cambria Math" panose="02040503050406030204" pitchFamily="18" charset="0"/>
                            </a:rPr>
                            <m:t>𝜌</m:t>
                          </m:r>
                          <m:r>
                            <a:rPr lang="en-GB" b="0" i="1" smtClean="0">
                              <a:solidFill>
                                <a:prstClr val="black"/>
                              </a:solidFill>
                              <a:latin typeface="Cambria Math" panose="02040503050406030204" pitchFamily="18" charset="0"/>
                              <a:ea typeface="Cambria Math" panose="02040503050406030204" pitchFamily="18" charset="0"/>
                            </a:rPr>
                            <m:t>𝑑</m:t>
                          </m:r>
                          <m:r>
                            <a:rPr lang="en-GB" b="0" i="1" smtClean="0">
                              <a:solidFill>
                                <a:prstClr val="black"/>
                              </a:solidFill>
                              <a:latin typeface="Cambria Math" panose="02040503050406030204" pitchFamily="18" charset="0"/>
                              <a:ea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acc>
                                <m:accPr>
                                  <m:chr m:val="⃗"/>
                                  <m:ctrlPr>
                                    <a:rPr lang="en-GB" b="0" i="1" smtClean="0">
                                      <a:solidFill>
                                        <a:prstClr val="black"/>
                                      </a:solidFill>
                                      <a:latin typeface="Cambria Math" panose="02040503050406030204" pitchFamily="18" charset="0"/>
                                      <a:ea typeface="Cambria Math" panose="02040503050406030204" pitchFamily="18" charset="0"/>
                                    </a:rPr>
                                  </m:ctrlPr>
                                </m:accPr>
                                <m:e>
                                  <m:r>
                                    <a:rPr lang="en-GB" b="0" i="1" smtClean="0">
                                      <a:solidFill>
                                        <a:prstClr val="black"/>
                                      </a:solidFill>
                                      <a:latin typeface="Cambria Math" panose="02040503050406030204" pitchFamily="18" charset="0"/>
                                      <a:ea typeface="Cambria Math" panose="02040503050406030204" pitchFamily="18" charset="0"/>
                                    </a:rPr>
                                    <m:t>𝑇</m:t>
                                  </m:r>
                                </m:e>
                              </m:acc>
                            </m:e>
                            <m:sub>
                              <m:r>
                                <a:rPr lang="en-GB" b="0" i="1" smtClean="0">
                                  <a:solidFill>
                                    <a:prstClr val="black"/>
                                  </a:solidFill>
                                  <a:latin typeface="Cambria Math" panose="02040503050406030204" pitchFamily="18" charset="0"/>
                                  <a:ea typeface="Cambria Math" panose="02040503050406030204" pitchFamily="18" charset="0"/>
                                </a:rPr>
                                <m:t>𝑠h𝑎𝑓𝑡</m:t>
                              </m:r>
                            </m:sub>
                          </m:sSub>
                        </m:e>
                      </m:nary>
                      <m:r>
                        <a:rPr lang="en-GB" b="0" i="1" smtClean="0">
                          <a:solidFill>
                            <a:prstClr val="black"/>
                          </a:solidFill>
                          <a:latin typeface="Cambria Math" panose="02040503050406030204" pitchFamily="18" charset="0"/>
                        </a:rPr>
                        <m:t>=</m:t>
                      </m:r>
                      <m:f>
                        <m:fPr>
                          <m:ctrlPr>
                            <a:rPr lang="en-CA" i="1">
                              <a:latin typeface="Cambria Math" panose="02040503050406030204" pitchFamily="18" charset="0"/>
                            </a:rPr>
                          </m:ctrlPr>
                        </m:fPr>
                        <m:num>
                          <m:r>
                            <a:rPr lang="en-CA" b="0" i="1">
                              <a:latin typeface="Cambria Math" panose="02040503050406030204" pitchFamily="18" charset="0"/>
                              <a:ea typeface="Cambria Math" panose="02040503050406030204" pitchFamily="18" charset="0"/>
                            </a:rPr>
                            <m:t>𝜕</m:t>
                          </m:r>
                        </m:num>
                        <m:den>
                          <m:r>
                            <a:rPr lang="en-CA" b="0" i="1">
                              <a:latin typeface="Cambria Math" panose="02040503050406030204" pitchFamily="18" charset="0"/>
                              <a:ea typeface="Cambria Math" panose="02040503050406030204" pitchFamily="18" charset="0"/>
                            </a:rPr>
                            <m:t>𝜕</m:t>
                          </m:r>
                          <m:r>
                            <a:rPr lang="en-CA" b="0" i="1">
                              <a:latin typeface="Cambria Math" panose="02040503050406030204" pitchFamily="18" charset="0"/>
                              <a:ea typeface="Cambria Math" panose="02040503050406030204" pitchFamily="18" charset="0"/>
                            </a:rPr>
                            <m:t>𝑡</m:t>
                          </m:r>
                        </m:den>
                      </m:f>
                      <m:nary>
                        <m:naryPr>
                          <m:ctrlPr>
                            <a:rPr lang="en-CA" i="1">
                              <a:latin typeface="Cambria Math" panose="02040503050406030204" pitchFamily="18" charset="0"/>
                            </a:rPr>
                          </m:ctrlPr>
                        </m:naryPr>
                        <m:sub>
                          <m:r>
                            <m:rPr>
                              <m:brk m:alnAt="23"/>
                            </m:rPr>
                            <a:rPr lang="en-CA" b="0" i="1">
                              <a:latin typeface="Cambria Math" panose="02040503050406030204" pitchFamily="18" charset="0"/>
                            </a:rPr>
                            <m:t>𝐶</m:t>
                          </m:r>
                          <m:r>
                            <a:rPr lang="en-CA" b="0" i="1">
                              <a:latin typeface="Cambria Math" panose="02040503050406030204" pitchFamily="18" charset="0"/>
                            </a:rPr>
                            <m:t>𝑉</m:t>
                          </m:r>
                        </m:sub>
                        <m:sup/>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r>
                            <a:rPr lang="en-GB" i="1">
                              <a:solidFill>
                                <a:prstClr val="black"/>
                              </a:solidFill>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𝑉</m:t>
                              </m:r>
                            </m:e>
                          </m:acc>
                          <m:r>
                            <a:rPr lang="en-CA" b="0" i="1">
                              <a:latin typeface="Cambria Math" panose="02040503050406030204" pitchFamily="18" charset="0"/>
                              <a:ea typeface="Cambria Math" panose="02040503050406030204" pitchFamily="18" charset="0"/>
                            </a:rPr>
                            <m:t>𝜌</m:t>
                          </m:r>
                          <m:r>
                            <a:rPr lang="en-CA" b="0" i="1">
                              <a:latin typeface="Cambria Math" panose="02040503050406030204" pitchFamily="18" charset="0"/>
                              <a:ea typeface="Cambria Math" panose="02040503050406030204" pitchFamily="18" charset="0"/>
                            </a:rPr>
                            <m:t>𝑑</m:t>
                          </m:r>
                          <m:r>
                            <a:rPr lang="en-CA" b="0" i="1">
                              <a:latin typeface="Cambria Math" panose="02040503050406030204" pitchFamily="18" charset="0"/>
                              <a:ea typeface="Cambria Math" panose="02040503050406030204" pitchFamily="18" charset="0"/>
                            </a:rPr>
                            <m:t>∀</m:t>
                          </m:r>
                        </m:e>
                      </m:nary>
                      <m:r>
                        <a:rPr lang="en-CA" b="0">
                          <a:latin typeface="Cambria Math" panose="02040503050406030204" pitchFamily="18" charset="0"/>
                          <a:ea typeface="Cambria Math" panose="02040503050406030204" pitchFamily="18" charset="0"/>
                        </a:rPr>
                        <m:t>+</m:t>
                      </m:r>
                      <m:nary>
                        <m:naryPr>
                          <m:ctrlPr>
                            <a:rPr lang="en-CA" i="1">
                              <a:latin typeface="Cambria Math" panose="02040503050406030204" pitchFamily="18" charset="0"/>
                            </a:rPr>
                          </m:ctrlPr>
                        </m:naryPr>
                        <m:sub>
                          <m:r>
                            <m:rPr>
                              <m:brk m:alnAt="23"/>
                            </m:rPr>
                            <a:rPr lang="en-CA" b="0" i="1">
                              <a:latin typeface="Cambria Math" panose="02040503050406030204" pitchFamily="18" charset="0"/>
                            </a:rPr>
                            <m:t>𝐶</m:t>
                          </m:r>
                          <m:r>
                            <a:rPr lang="en-CA" b="0" i="1">
                              <a:latin typeface="Cambria Math" panose="02040503050406030204" pitchFamily="18" charset="0"/>
                            </a:rPr>
                            <m:t>𝑆</m:t>
                          </m:r>
                        </m:sub>
                        <m:sup/>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r>
                            <a:rPr lang="en-GB" i="1">
                              <a:solidFill>
                                <a:prstClr val="black"/>
                              </a:solidFill>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𝑉</m:t>
                              </m:r>
                            </m:e>
                          </m:acc>
                          <m:r>
                            <a:rPr lang="en-CA" b="0" i="1">
                              <a:latin typeface="Cambria Math" panose="02040503050406030204" pitchFamily="18" charset="0"/>
                              <a:ea typeface="Cambria Math" panose="02040503050406030204" pitchFamily="18" charset="0"/>
                            </a:rPr>
                            <m:t>𝜌</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𝑉</m:t>
                              </m:r>
                            </m:e>
                          </m:acc>
                          <m:r>
                            <a:rPr lang="en-CA" b="0" i="1">
                              <a:latin typeface="Cambria Math" panose="02040503050406030204" pitchFamily="18" charset="0"/>
                              <a:ea typeface="Cambria Math" panose="02040503050406030204" pitchFamily="18" charset="0"/>
                            </a:rPr>
                            <m:t>∙</m:t>
                          </m:r>
                          <m:r>
                            <a:rPr lang="en-CA" b="0" i="1">
                              <a:latin typeface="Cambria Math" panose="02040503050406030204" pitchFamily="18" charset="0"/>
                              <a:ea typeface="Cambria Math" panose="02040503050406030204" pitchFamily="18" charset="0"/>
                            </a:rPr>
                            <m:t>𝑑</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𝐴</m:t>
                              </m:r>
                            </m:e>
                          </m:acc>
                        </m:e>
                      </m:nary>
                    </m:oMath>
                  </m:oMathPara>
                </a14:m>
                <a:endParaRPr lang="en-GH" dirty="0"/>
              </a:p>
            </p:txBody>
          </p:sp>
        </mc:Choice>
        <mc:Fallback>
          <p:sp>
            <p:nvSpPr>
              <p:cNvPr id="11" name="TextBox 10">
                <a:extLst>
                  <a:ext uri="{FF2B5EF4-FFF2-40B4-BE49-F238E27FC236}">
                    <a16:creationId xmlns:a16="http://schemas.microsoft.com/office/drawing/2014/main" id="{68167E9F-3AAC-F0CA-7DBD-EE06D88598B6}"/>
                  </a:ext>
                </a:extLst>
              </p:cNvPr>
              <p:cNvSpPr txBox="1">
                <a:spLocks noRot="1" noChangeAspect="1" noMove="1" noResize="1" noEditPoints="1" noAdjustHandles="1" noChangeArrowheads="1" noChangeShapeType="1" noTextEdit="1"/>
              </p:cNvSpPr>
              <p:nvPr/>
            </p:nvSpPr>
            <p:spPr>
              <a:xfrm>
                <a:off x="0" y="1642316"/>
                <a:ext cx="9070848" cy="1238096"/>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6A348A5-DE04-D1C4-A8CA-8ABBBD1BE73F}"/>
                  </a:ext>
                </a:extLst>
              </p:cNvPr>
              <p:cNvSpPr txBox="1"/>
              <p:nvPr/>
            </p:nvSpPr>
            <p:spPr>
              <a:xfrm>
                <a:off x="298704" y="2934537"/>
                <a:ext cx="6970776" cy="9889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GB" i="1">
                                  <a:solidFill>
                                    <a:prstClr val="black"/>
                                  </a:solidFill>
                                  <a:latin typeface="Cambria Math" panose="02040503050406030204" pitchFamily="18" charset="0"/>
                                  <a:ea typeface="Cambria Math" panose="02040503050406030204" pitchFamily="18" charset="0"/>
                                </a:rPr>
                              </m:ctrlPr>
                            </m:accPr>
                            <m:e>
                              <m:r>
                                <a:rPr lang="en-GB" i="1">
                                  <a:solidFill>
                                    <a:prstClr val="black"/>
                                  </a:solidFill>
                                  <a:latin typeface="Cambria Math" panose="02040503050406030204" pitchFamily="18" charset="0"/>
                                  <a:ea typeface="Cambria Math" panose="02040503050406030204" pitchFamily="18" charset="0"/>
                                </a:rPr>
                                <m:t>𝑇</m:t>
                              </m:r>
                            </m:e>
                          </m:acc>
                        </m:e>
                        <m:sub>
                          <m:r>
                            <a:rPr lang="en-GB" b="0" i="1" smtClean="0">
                              <a:solidFill>
                                <a:prstClr val="black"/>
                              </a:solidFill>
                              <a:latin typeface="Cambria Math" panose="02040503050406030204" pitchFamily="18" charset="0"/>
                              <a:ea typeface="Cambria Math" panose="02040503050406030204" pitchFamily="18" charset="0"/>
                            </a:rPr>
                            <m:t>𝑓𝑙𝑎𝑛𝑔𝑒</m:t>
                          </m:r>
                        </m:sub>
                      </m:sSub>
                      <m:r>
                        <a:rPr lang="en-GB" b="0" i="1" smtClean="0">
                          <a:solidFill>
                            <a:prstClr val="black"/>
                          </a:solidFill>
                          <a:latin typeface="Cambria Math" panose="02040503050406030204" pitchFamily="18" charset="0"/>
                          <a:ea typeface="Cambria Math" panose="02040503050406030204" pitchFamily="18" charset="0"/>
                        </a:rPr>
                        <m:t>=</m:t>
                      </m:r>
                      <m:sSub>
                        <m:sSubPr>
                          <m:ctrlPr>
                            <a:rPr lang="en-GB" b="0" i="1" smtClean="0">
                              <a:solidFill>
                                <a:prstClr val="black"/>
                              </a:solidFill>
                              <a:latin typeface="Cambria Math" panose="02040503050406030204" pitchFamily="18" charset="0"/>
                              <a:ea typeface="Cambria Math" panose="02040503050406030204" pitchFamily="18" charset="0"/>
                            </a:rPr>
                          </m:ctrlPr>
                        </m:sSubPr>
                        <m:e>
                          <m:d>
                            <m:dPr>
                              <m:begChr m:val=""/>
                              <m:ctrlPr>
                                <a:rPr lang="en-GB" b="0" i="1" smtClean="0">
                                  <a:solidFill>
                                    <a:prstClr val="black"/>
                                  </a:solidFill>
                                  <a:latin typeface="Cambria Math" panose="02040503050406030204" pitchFamily="18" charset="0"/>
                                  <a:ea typeface="Cambria Math" panose="02040503050406030204" pitchFamily="18" charset="0"/>
                                </a:rPr>
                              </m:ctrlPr>
                            </m:d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r>
                                <a:rPr lang="en-GB" i="1">
                                  <a:solidFill>
                                    <a:prstClr val="black"/>
                                  </a:solidFill>
                                  <a:latin typeface="Cambria Math" panose="02040503050406030204" pitchFamily="18" charset="0"/>
                                  <a:ea typeface="Cambria Math" panose="02040503050406030204" pitchFamily="18" charset="0"/>
                                </a:rPr>
                                <m:t>×</m:t>
                              </m:r>
                              <m:sSub>
                                <m:sSubPr>
                                  <m:ctrlPr>
                                    <a:rPr lang="en-GB" i="1">
                                      <a:solidFill>
                                        <a:prstClr val="black"/>
                                      </a:solidFill>
                                      <a:latin typeface="Cambria Math" panose="02040503050406030204" pitchFamily="18" charset="0"/>
                                      <a:ea typeface="Cambria Math" panose="02040503050406030204" pitchFamily="18" charset="0"/>
                                    </a:rPr>
                                  </m:ctrlPr>
                                </m:sSubPr>
                                <m:e>
                                  <m:acc>
                                    <m:accPr>
                                      <m:chr m:val="⃗"/>
                                      <m:ctrlPr>
                                        <a:rPr lang="en-GB" i="1">
                                          <a:solidFill>
                                            <a:prstClr val="black"/>
                                          </a:solidFill>
                                          <a:latin typeface="Cambria Math" panose="02040503050406030204" pitchFamily="18" charset="0"/>
                                          <a:ea typeface="Cambria Math" panose="02040503050406030204" pitchFamily="18" charset="0"/>
                                        </a:rPr>
                                      </m:ctrlPr>
                                    </m:accPr>
                                    <m:e>
                                      <m:r>
                                        <a:rPr lang="en-GB" i="1">
                                          <a:solidFill>
                                            <a:prstClr val="black"/>
                                          </a:solidFill>
                                          <a:latin typeface="Cambria Math" panose="02040503050406030204" pitchFamily="18" charset="0"/>
                                          <a:ea typeface="Cambria Math" panose="02040503050406030204" pitchFamily="18" charset="0"/>
                                        </a:rPr>
                                        <m:t>𝐹</m:t>
                                      </m:r>
                                    </m:e>
                                  </m:acc>
                                </m:e>
                                <m:sub>
                                  <m:r>
                                    <a:rPr lang="en-GB" i="1">
                                      <a:solidFill>
                                        <a:prstClr val="black"/>
                                      </a:solidFill>
                                      <a:latin typeface="Cambria Math" panose="02040503050406030204" pitchFamily="18" charset="0"/>
                                      <a:ea typeface="Cambria Math" panose="02040503050406030204" pitchFamily="18" charset="0"/>
                                    </a:rPr>
                                    <m:t>𝑠</m:t>
                                  </m:r>
                                </m:sub>
                              </m:sSub>
                            </m:e>
                          </m:d>
                        </m:e>
                        <m:sub>
                          <m:r>
                            <a:rPr lang="en-GB" b="0" i="1" smtClean="0">
                              <a:solidFill>
                                <a:prstClr val="black"/>
                              </a:solidFill>
                              <a:latin typeface="Cambria Math" panose="02040503050406030204" pitchFamily="18" charset="0"/>
                              <a:ea typeface="Cambria Math" panose="02040503050406030204" pitchFamily="18" charset="0"/>
                            </a:rPr>
                            <m:t>𝑓𝑙𝑎𝑛𝑔𝑒</m:t>
                          </m:r>
                        </m:sub>
                      </m:sSub>
                      <m:r>
                        <a:rPr lang="en-GB" b="0" i="1" smtClean="0">
                          <a:solidFill>
                            <a:prstClr val="black"/>
                          </a:solidFill>
                          <a:latin typeface="Cambria Math" panose="02040503050406030204" pitchFamily="18" charset="0"/>
                          <a:ea typeface="Cambria Math" panose="02040503050406030204" pitchFamily="18" charset="0"/>
                        </a:rPr>
                        <m:t>=</m:t>
                      </m:r>
                      <m:nary>
                        <m:naryPr>
                          <m:chr m:val="∑"/>
                          <m:supHide m:val="on"/>
                          <m:ctrlPr>
                            <a:rPr lang="en-CA"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𝐶𝑆</m:t>
                          </m:r>
                        </m:sub>
                        <m:sup/>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r>
                            <a:rPr lang="en-GB" i="1">
                              <a:solidFill>
                                <a:prstClr val="black"/>
                              </a:solidFill>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𝑉</m:t>
                              </m:r>
                            </m:e>
                          </m:acc>
                          <m:acc>
                            <m:accPr>
                              <m:chr m:val="̇"/>
                              <m:ctrlPr>
                                <a:rPr lang="en-CA"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e>
                      </m:nary>
                    </m:oMath>
                  </m:oMathPara>
                </a14:m>
                <a:endParaRPr lang="en-GH" dirty="0"/>
              </a:p>
            </p:txBody>
          </p:sp>
        </mc:Choice>
        <mc:Fallback>
          <p:sp>
            <p:nvSpPr>
              <p:cNvPr id="12" name="TextBox 11">
                <a:extLst>
                  <a:ext uri="{FF2B5EF4-FFF2-40B4-BE49-F238E27FC236}">
                    <a16:creationId xmlns:a16="http://schemas.microsoft.com/office/drawing/2014/main" id="{76A348A5-DE04-D1C4-A8CA-8ABBBD1BE73F}"/>
                  </a:ext>
                </a:extLst>
              </p:cNvPr>
              <p:cNvSpPr txBox="1">
                <a:spLocks noRot="1" noChangeAspect="1" noMove="1" noResize="1" noEditPoints="1" noAdjustHandles="1" noChangeArrowheads="1" noChangeShapeType="1" noTextEdit="1"/>
              </p:cNvSpPr>
              <p:nvPr/>
            </p:nvSpPr>
            <p:spPr>
              <a:xfrm>
                <a:off x="298704" y="2934537"/>
                <a:ext cx="6970776" cy="988925"/>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EA83B32-2508-E9A3-3DEA-9A88F8860A12}"/>
                  </a:ext>
                </a:extLst>
              </p:cNvPr>
              <p:cNvSpPr txBox="1"/>
              <p:nvPr/>
            </p:nvSpPr>
            <p:spPr>
              <a:xfrm>
                <a:off x="298704" y="4574774"/>
                <a:ext cx="461314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=0</m:t>
                      </m:r>
                      <m:r>
                        <a:rPr lang="en-GB" b="1" i="0" smtClean="0">
                          <a:solidFill>
                            <a:prstClr val="black"/>
                          </a:solidFill>
                          <a:latin typeface="Cambria Math" panose="02040503050406030204" pitchFamily="18" charset="0"/>
                        </a:rPr>
                        <m:t>𝐢</m:t>
                      </m:r>
                      <m:r>
                        <a:rPr lang="en-GB" b="0" i="1" smtClean="0">
                          <a:solidFill>
                            <a:prstClr val="black"/>
                          </a:solidFill>
                          <a:latin typeface="Cambria Math" panose="02040503050406030204" pitchFamily="18" charset="0"/>
                        </a:rPr>
                        <m:t>+0</m:t>
                      </m:r>
                      <m:r>
                        <a:rPr lang="en-GB" b="1" i="0" smtClean="0">
                          <a:solidFill>
                            <a:prstClr val="black"/>
                          </a:solidFill>
                          <a:latin typeface="Cambria Math" panose="02040503050406030204" pitchFamily="18" charset="0"/>
                        </a:rPr>
                        <m:t>𝐣</m:t>
                      </m:r>
                      <m:r>
                        <a:rPr lang="en-GB" b="0" i="1" smtClean="0">
                          <a:solidFill>
                            <a:prstClr val="black"/>
                          </a:solidFill>
                          <a:latin typeface="Cambria Math" panose="02040503050406030204" pitchFamily="18" charset="0"/>
                        </a:rPr>
                        <m:t>=0</m:t>
                      </m:r>
                    </m:oMath>
                  </m:oMathPara>
                </a14:m>
                <a:endParaRPr lang="en-GH" dirty="0"/>
              </a:p>
            </p:txBody>
          </p:sp>
        </mc:Choice>
        <mc:Fallback>
          <p:sp>
            <p:nvSpPr>
              <p:cNvPr id="16" name="TextBox 15">
                <a:extLst>
                  <a:ext uri="{FF2B5EF4-FFF2-40B4-BE49-F238E27FC236}">
                    <a16:creationId xmlns:a16="http://schemas.microsoft.com/office/drawing/2014/main" id="{CEA83B32-2508-E9A3-3DEA-9A88F8860A12}"/>
                  </a:ext>
                </a:extLst>
              </p:cNvPr>
              <p:cNvSpPr txBox="1">
                <a:spLocks noRot="1" noChangeAspect="1" noMove="1" noResize="1" noEditPoints="1" noAdjustHandles="1" noChangeArrowheads="1" noChangeShapeType="1" noTextEdit="1"/>
              </p:cNvSpPr>
              <p:nvPr/>
            </p:nvSpPr>
            <p:spPr>
              <a:xfrm>
                <a:off x="298704" y="4574774"/>
                <a:ext cx="4613148" cy="461665"/>
              </a:xfrm>
              <a:prstGeom prst="rect">
                <a:avLst/>
              </a:prstGeom>
              <a:blipFill>
                <a:blip r:embed="rId5"/>
                <a:stretch>
                  <a:fillRect l="-396" t="-18421" b="-18421"/>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6A82AD3-F9CE-B469-A071-7FEB6F43B08E}"/>
                  </a:ext>
                </a:extLst>
              </p:cNvPr>
              <p:cNvSpPr txBox="1"/>
              <p:nvPr/>
            </p:nvSpPr>
            <p:spPr>
              <a:xfrm>
                <a:off x="298704" y="5229886"/>
                <a:ext cx="461314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=0.3</m:t>
                      </m:r>
                      <m:r>
                        <a:rPr lang="en-GB" b="1" i="0" smtClean="0">
                          <a:solidFill>
                            <a:prstClr val="black"/>
                          </a:solidFill>
                          <a:latin typeface="Cambria Math" panose="02040503050406030204" pitchFamily="18" charset="0"/>
                        </a:rPr>
                        <m:t>𝐢</m:t>
                      </m:r>
                      <m:r>
                        <a:rPr lang="en-GB" b="0" i="1" smtClean="0">
                          <a:solidFill>
                            <a:prstClr val="black"/>
                          </a:solidFill>
                          <a:latin typeface="Cambria Math" panose="02040503050406030204" pitchFamily="18" charset="0"/>
                        </a:rPr>
                        <m:t>−0.2</m:t>
                      </m:r>
                      <m:r>
                        <a:rPr lang="en-GB" b="1" i="0" smtClean="0">
                          <a:solidFill>
                            <a:prstClr val="black"/>
                          </a:solidFill>
                          <a:latin typeface="Cambria Math" panose="02040503050406030204" pitchFamily="18" charset="0"/>
                        </a:rPr>
                        <m:t>𝐣</m:t>
                      </m:r>
                    </m:oMath>
                  </m:oMathPara>
                </a14:m>
                <a:endParaRPr lang="en-GH" b="1" dirty="0"/>
              </a:p>
            </p:txBody>
          </p:sp>
        </mc:Choice>
        <mc:Fallback>
          <p:sp>
            <p:nvSpPr>
              <p:cNvPr id="17" name="TextBox 16">
                <a:extLst>
                  <a:ext uri="{FF2B5EF4-FFF2-40B4-BE49-F238E27FC236}">
                    <a16:creationId xmlns:a16="http://schemas.microsoft.com/office/drawing/2014/main" id="{86A82AD3-F9CE-B469-A071-7FEB6F43B08E}"/>
                  </a:ext>
                </a:extLst>
              </p:cNvPr>
              <p:cNvSpPr txBox="1">
                <a:spLocks noRot="1" noChangeAspect="1" noMove="1" noResize="1" noEditPoints="1" noAdjustHandles="1" noChangeArrowheads="1" noChangeShapeType="1" noTextEdit="1"/>
              </p:cNvSpPr>
              <p:nvPr/>
            </p:nvSpPr>
            <p:spPr>
              <a:xfrm>
                <a:off x="298704" y="5229886"/>
                <a:ext cx="4613148" cy="461665"/>
              </a:xfrm>
              <a:prstGeom prst="rect">
                <a:avLst/>
              </a:prstGeom>
              <a:blipFill>
                <a:blip r:embed="rId6"/>
                <a:stretch>
                  <a:fillRect l="-396" t="-18421" b="-17105"/>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1CB9F74-13DC-8B06-6DBC-05FFAC639CED}"/>
                  </a:ext>
                </a:extLst>
              </p:cNvPr>
              <p:cNvSpPr txBox="1"/>
              <p:nvPr/>
            </p:nvSpPr>
            <p:spPr>
              <a:xfrm>
                <a:off x="298704" y="3872883"/>
                <a:ext cx="6970776" cy="54502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GB" i="1">
                                  <a:solidFill>
                                    <a:prstClr val="black"/>
                                  </a:solidFill>
                                  <a:latin typeface="Cambria Math" panose="02040503050406030204" pitchFamily="18" charset="0"/>
                                  <a:ea typeface="Cambria Math" panose="02040503050406030204" pitchFamily="18" charset="0"/>
                                </a:rPr>
                              </m:ctrlPr>
                            </m:accPr>
                            <m:e>
                              <m:r>
                                <a:rPr lang="en-GB" i="1">
                                  <a:solidFill>
                                    <a:prstClr val="black"/>
                                  </a:solidFill>
                                  <a:latin typeface="Cambria Math" panose="02040503050406030204" pitchFamily="18" charset="0"/>
                                  <a:ea typeface="Cambria Math" panose="02040503050406030204" pitchFamily="18" charset="0"/>
                                </a:rPr>
                                <m:t>𝑇</m:t>
                              </m:r>
                            </m:e>
                          </m:acc>
                        </m:e>
                        <m:sub>
                          <m:r>
                            <a:rPr lang="en-GB" b="0" i="1" smtClean="0">
                              <a:solidFill>
                                <a:prstClr val="black"/>
                              </a:solidFill>
                              <a:latin typeface="Cambria Math" panose="02040503050406030204" pitchFamily="18" charset="0"/>
                              <a:ea typeface="Cambria Math" panose="02040503050406030204" pitchFamily="18" charset="0"/>
                            </a:rPr>
                            <m:t>𝑓𝑙𝑎𝑛𝑔𝑒</m:t>
                          </m:r>
                        </m:sub>
                      </m:sSub>
                      <m:r>
                        <a:rPr lang="en-GB" b="0" i="1" smtClean="0">
                          <a:solidFill>
                            <a:prstClr val="black"/>
                          </a:solidFill>
                          <a:latin typeface="Cambria Math" panose="02040503050406030204" pitchFamily="18" charset="0"/>
                          <a:ea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ea typeface="Cambria Math" panose="02040503050406030204" pitchFamily="18" charset="0"/>
                        </a:rPr>
                        <m:t>×</m:t>
                      </m:r>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𝑉</m:t>
                              </m:r>
                            </m:e>
                          </m:acc>
                        </m:e>
                        <m:sub>
                          <m:r>
                            <a:rPr lang="en-GB" b="0" i="1" smtClean="0">
                              <a:solidFill>
                                <a:prstClr val="black"/>
                              </a:solidFill>
                              <a:latin typeface="Cambria Math" panose="02040503050406030204" pitchFamily="18" charset="0"/>
                              <a:ea typeface="Cambria Math" panose="02040503050406030204" pitchFamily="18" charset="0"/>
                            </a:rPr>
                            <m:t>1</m:t>
                          </m:r>
                        </m:sub>
                      </m:sSub>
                      <m:d>
                        <m:dPr>
                          <m:ctrlPr>
                            <a:rPr lang="en-GB" b="0" i="1" smtClean="0">
                              <a:solidFill>
                                <a:prstClr val="black"/>
                              </a:solidFill>
                              <a:latin typeface="Cambria Math" panose="02040503050406030204" pitchFamily="18" charset="0"/>
                              <a:ea typeface="Cambria Math" panose="02040503050406030204" pitchFamily="18" charset="0"/>
                            </a:rPr>
                          </m:ctrlPr>
                        </m:dPr>
                        <m:e>
                          <m:sSub>
                            <m:sSubPr>
                              <m:ctrlPr>
                                <a:rPr lang="en-CA" i="1">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m:t>
                              </m:r>
                              <m:r>
                                <a:rPr lang="en-CA" i="1">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rPr>
                                <m:t>𝐴</m:t>
                              </m:r>
                            </m:e>
                            <m:sub>
                              <m:r>
                                <a:rPr lang="en-GB" i="1">
                                  <a:solidFill>
                                    <a:prstClr val="black"/>
                                  </a:solidFill>
                                  <a:latin typeface="Cambria Math" panose="02040503050406030204" pitchFamily="18" charset="0"/>
                                </a:rPr>
                                <m:t>1</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i="1">
                                  <a:solidFill>
                                    <a:prstClr val="black"/>
                                  </a:solidFill>
                                  <a:latin typeface="Cambria Math" panose="02040503050406030204" pitchFamily="18" charset="0"/>
                                </a:rPr>
                                <m:t>1</m:t>
                              </m:r>
                            </m:sub>
                          </m:sSub>
                        </m:e>
                      </m:d>
                      <m:r>
                        <a:rPr lang="en-GB" b="0" i="1" smtClean="0">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ea typeface="Cambria Math" panose="02040503050406030204" pitchFamily="18" charset="0"/>
                        </a:rPr>
                        <m:t>×</m:t>
                      </m:r>
                      <m:sSub>
                        <m:sSubPr>
                          <m:ctrlPr>
                            <a:rPr lang="en-GB" i="1">
                              <a:solidFill>
                                <a:prstClr val="black"/>
                              </a:solidFill>
                              <a:latin typeface="Cambria Math" panose="02040503050406030204" pitchFamily="18" charset="0"/>
                              <a:ea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𝑉</m:t>
                              </m:r>
                            </m:e>
                          </m:acc>
                        </m:e>
                        <m:sub>
                          <m:r>
                            <a:rPr lang="en-GB" b="0" i="1" smtClean="0">
                              <a:solidFill>
                                <a:prstClr val="black"/>
                              </a:solidFill>
                              <a:latin typeface="Cambria Math" panose="02040503050406030204" pitchFamily="18" charset="0"/>
                              <a:ea typeface="Cambria Math" panose="02040503050406030204" pitchFamily="18" charset="0"/>
                            </a:rPr>
                            <m:t>2</m:t>
                          </m:r>
                        </m:sub>
                      </m:sSub>
                      <m:r>
                        <a:rPr lang="en-GB" i="1">
                          <a:solidFill>
                            <a:prstClr val="black"/>
                          </a:solidFill>
                          <a:latin typeface="Cambria Math" panose="02040503050406030204" pitchFamily="18" charset="0"/>
                        </a:rPr>
                        <m:t>(</m:t>
                      </m:r>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m:t>
                          </m:r>
                          <m:r>
                            <a:rPr lang="en-CA" i="1">
                              <a:solidFill>
                                <a:prstClr val="black"/>
                              </a:solidFill>
                              <a:latin typeface="Cambria Math" panose="02040503050406030204" pitchFamily="18" charset="0"/>
                              <a:ea typeface="Cambria Math" panose="02040503050406030204" pitchFamily="18" charset="0"/>
                            </a:rPr>
                            <m:t>𝜌</m:t>
                          </m:r>
                          <m:r>
                            <a:rPr lang="en-GB" i="1">
                              <a:solidFill>
                                <a:prstClr val="black"/>
                              </a:solidFill>
                              <a:latin typeface="Cambria Math" panose="02040503050406030204" pitchFamily="18" charset="0"/>
                            </a:rPr>
                            <m:t>𝐴</m:t>
                          </m:r>
                        </m:e>
                        <m:sub>
                          <m:r>
                            <a:rPr lang="en-GB" b="0" i="1" smtClean="0">
                              <a:solidFill>
                                <a:prstClr val="black"/>
                              </a:solidFill>
                              <a:latin typeface="Cambria Math" panose="02040503050406030204" pitchFamily="18" charset="0"/>
                            </a:rPr>
                            <m:t>2</m:t>
                          </m:r>
                        </m:sub>
                      </m:sSub>
                      <m:sSub>
                        <m:sSubPr>
                          <m:ctrlPr>
                            <a:rPr lang="en-CA"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𝑉</m:t>
                          </m:r>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oMath>
                  </m:oMathPara>
                </a14:m>
                <a:endParaRPr lang="en-GH" dirty="0"/>
              </a:p>
            </p:txBody>
          </p:sp>
        </mc:Choice>
        <mc:Fallback>
          <p:sp>
            <p:nvSpPr>
              <p:cNvPr id="18" name="TextBox 17">
                <a:extLst>
                  <a:ext uri="{FF2B5EF4-FFF2-40B4-BE49-F238E27FC236}">
                    <a16:creationId xmlns:a16="http://schemas.microsoft.com/office/drawing/2014/main" id="{01CB9F74-13DC-8B06-6DBC-05FFAC639CED}"/>
                  </a:ext>
                </a:extLst>
              </p:cNvPr>
              <p:cNvSpPr txBox="1">
                <a:spLocks noRot="1" noChangeAspect="1" noMove="1" noResize="1" noEditPoints="1" noAdjustHandles="1" noChangeArrowheads="1" noChangeShapeType="1" noTextEdit="1"/>
              </p:cNvSpPr>
              <p:nvPr/>
            </p:nvSpPr>
            <p:spPr>
              <a:xfrm>
                <a:off x="298704" y="3872883"/>
                <a:ext cx="6970776" cy="545021"/>
              </a:xfrm>
              <a:prstGeom prst="rect">
                <a:avLst/>
              </a:prstGeom>
              <a:blipFill>
                <a:blip r:embed="rId7"/>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202102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656"/>
            <a:ext cx="7886700" cy="568940"/>
          </a:xfrm>
        </p:spPr>
        <p:txBody>
          <a:bodyPr/>
          <a:lstStyle/>
          <a:p>
            <a:r>
              <a:rPr lang="en-US" b="1" dirty="0"/>
              <a:t>MOMENT OF MOMENTUM EQUATION</a:t>
            </a:r>
            <a:endParaRPr lang="en-US" dirty="0"/>
          </a:p>
        </p:txBody>
      </p:sp>
      <p:sp>
        <p:nvSpPr>
          <p:cNvPr id="4" name="TextBox 3">
            <a:extLst>
              <a:ext uri="{FF2B5EF4-FFF2-40B4-BE49-F238E27FC236}">
                <a16:creationId xmlns:a16="http://schemas.microsoft.com/office/drawing/2014/main" id="{3FFECDD2-0739-E857-43ED-65CBE9214A41}"/>
              </a:ext>
            </a:extLst>
          </p:cNvPr>
          <p:cNvSpPr txBox="1"/>
          <p:nvPr/>
        </p:nvSpPr>
        <p:spPr>
          <a:xfrm>
            <a:off x="75438" y="556031"/>
            <a:ext cx="3271266" cy="492443"/>
          </a:xfrm>
          <a:prstGeom prst="rect">
            <a:avLst/>
          </a:prstGeom>
          <a:noFill/>
        </p:spPr>
        <p:txBody>
          <a:bodyPr wrap="square">
            <a:spAutoFit/>
          </a:bodyPr>
          <a:lstStyle/>
          <a:p>
            <a:r>
              <a:rPr lang="en-US" sz="2600" b="1" dirty="0">
                <a:latin typeface="+mn-lt"/>
              </a:rPr>
              <a:t>Example 1 - Solution</a:t>
            </a:r>
            <a:endParaRPr lang="en-GH" sz="2600" b="1" dirty="0"/>
          </a:p>
        </p:txBody>
      </p:sp>
      <p:sp>
        <p:nvSpPr>
          <p:cNvPr id="13" name="Oval 12">
            <a:extLst>
              <a:ext uri="{FF2B5EF4-FFF2-40B4-BE49-F238E27FC236}">
                <a16:creationId xmlns:a16="http://schemas.microsoft.com/office/drawing/2014/main" id="{57E73B94-F1C1-9ED4-815A-26E18DF67648}"/>
              </a:ext>
            </a:extLst>
          </p:cNvPr>
          <p:cNvSpPr/>
          <p:nvPr/>
        </p:nvSpPr>
        <p:spPr>
          <a:xfrm>
            <a:off x="1344168" y="1153456"/>
            <a:ext cx="594360" cy="594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EA83B32-2508-E9A3-3DEA-9A88F8860A12}"/>
                  </a:ext>
                </a:extLst>
              </p:cNvPr>
              <p:cNvSpPr txBox="1"/>
              <p:nvPr/>
            </p:nvSpPr>
            <p:spPr>
              <a:xfrm>
                <a:off x="75438" y="1124971"/>
                <a:ext cx="461314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1</m:t>
                          </m:r>
                        </m:sub>
                      </m:sSub>
                      <m:r>
                        <a:rPr lang="en-GB" b="0" i="1" smtClean="0">
                          <a:solidFill>
                            <a:prstClr val="black"/>
                          </a:solidFill>
                          <a:latin typeface="Cambria Math" panose="02040503050406030204" pitchFamily="18" charset="0"/>
                        </a:rPr>
                        <m:t>=0</m:t>
                      </m:r>
                      <m:r>
                        <a:rPr lang="en-GB" b="1" i="0" smtClean="0">
                          <a:solidFill>
                            <a:prstClr val="black"/>
                          </a:solidFill>
                          <a:latin typeface="Cambria Math" panose="02040503050406030204" pitchFamily="18" charset="0"/>
                        </a:rPr>
                        <m:t>𝐢</m:t>
                      </m:r>
                      <m:r>
                        <a:rPr lang="en-GB" b="0" i="1" smtClean="0">
                          <a:solidFill>
                            <a:prstClr val="black"/>
                          </a:solidFill>
                          <a:latin typeface="Cambria Math" panose="02040503050406030204" pitchFamily="18" charset="0"/>
                        </a:rPr>
                        <m:t>+0</m:t>
                      </m:r>
                      <m:r>
                        <a:rPr lang="en-GB" b="1" i="0" smtClean="0">
                          <a:solidFill>
                            <a:prstClr val="black"/>
                          </a:solidFill>
                          <a:latin typeface="Cambria Math" panose="02040503050406030204" pitchFamily="18" charset="0"/>
                        </a:rPr>
                        <m:t>𝐣</m:t>
                      </m:r>
                      <m:r>
                        <a:rPr lang="en-GB" b="0" i="1" smtClean="0">
                          <a:solidFill>
                            <a:prstClr val="black"/>
                          </a:solidFill>
                          <a:latin typeface="Cambria Math" panose="02040503050406030204" pitchFamily="18" charset="0"/>
                        </a:rPr>
                        <m:t>=0</m:t>
                      </m:r>
                    </m:oMath>
                  </m:oMathPara>
                </a14:m>
                <a:endParaRPr lang="en-GH" dirty="0"/>
              </a:p>
            </p:txBody>
          </p:sp>
        </mc:Choice>
        <mc:Fallback>
          <p:sp>
            <p:nvSpPr>
              <p:cNvPr id="16" name="TextBox 15">
                <a:extLst>
                  <a:ext uri="{FF2B5EF4-FFF2-40B4-BE49-F238E27FC236}">
                    <a16:creationId xmlns:a16="http://schemas.microsoft.com/office/drawing/2014/main" id="{CEA83B32-2508-E9A3-3DEA-9A88F8860A12}"/>
                  </a:ext>
                </a:extLst>
              </p:cNvPr>
              <p:cNvSpPr txBox="1">
                <a:spLocks noRot="1" noChangeAspect="1" noMove="1" noResize="1" noEditPoints="1" noAdjustHandles="1" noChangeArrowheads="1" noChangeShapeType="1" noTextEdit="1"/>
              </p:cNvSpPr>
              <p:nvPr/>
            </p:nvSpPr>
            <p:spPr>
              <a:xfrm>
                <a:off x="75438" y="1124971"/>
                <a:ext cx="4613148" cy="461665"/>
              </a:xfrm>
              <a:prstGeom prst="rect">
                <a:avLst/>
              </a:prstGeom>
              <a:blipFill>
                <a:blip r:embed="rId3"/>
                <a:stretch>
                  <a:fillRect l="-396" t="-18667" b="-18667"/>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6A82AD3-F9CE-B469-A071-7FEB6F43B08E}"/>
                  </a:ext>
                </a:extLst>
              </p:cNvPr>
              <p:cNvSpPr txBox="1"/>
              <p:nvPr/>
            </p:nvSpPr>
            <p:spPr>
              <a:xfrm>
                <a:off x="75438" y="1780083"/>
                <a:ext cx="461314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2</m:t>
                          </m:r>
                        </m:sub>
                      </m:sSub>
                      <m:r>
                        <a:rPr lang="en-GB" b="0" i="1" smtClean="0">
                          <a:solidFill>
                            <a:prstClr val="black"/>
                          </a:solidFill>
                          <a:latin typeface="Cambria Math" panose="02040503050406030204" pitchFamily="18" charset="0"/>
                        </a:rPr>
                        <m:t>=0.3</m:t>
                      </m:r>
                      <m:r>
                        <a:rPr lang="en-GB" b="1" i="0" smtClean="0">
                          <a:solidFill>
                            <a:prstClr val="black"/>
                          </a:solidFill>
                          <a:latin typeface="Cambria Math" panose="02040503050406030204" pitchFamily="18" charset="0"/>
                        </a:rPr>
                        <m:t>𝐢</m:t>
                      </m:r>
                      <m:r>
                        <a:rPr lang="en-GB" b="0" i="1" smtClean="0">
                          <a:solidFill>
                            <a:prstClr val="black"/>
                          </a:solidFill>
                          <a:latin typeface="Cambria Math" panose="02040503050406030204" pitchFamily="18" charset="0"/>
                        </a:rPr>
                        <m:t>−0.2</m:t>
                      </m:r>
                      <m:r>
                        <a:rPr lang="en-GB" b="1" i="0" smtClean="0">
                          <a:solidFill>
                            <a:prstClr val="black"/>
                          </a:solidFill>
                          <a:latin typeface="Cambria Math" panose="02040503050406030204" pitchFamily="18" charset="0"/>
                        </a:rPr>
                        <m:t>𝐣</m:t>
                      </m:r>
                    </m:oMath>
                  </m:oMathPara>
                </a14:m>
                <a:endParaRPr lang="en-GH" b="1" dirty="0"/>
              </a:p>
            </p:txBody>
          </p:sp>
        </mc:Choice>
        <mc:Fallback>
          <p:sp>
            <p:nvSpPr>
              <p:cNvPr id="17" name="TextBox 16">
                <a:extLst>
                  <a:ext uri="{FF2B5EF4-FFF2-40B4-BE49-F238E27FC236}">
                    <a16:creationId xmlns:a16="http://schemas.microsoft.com/office/drawing/2014/main" id="{86A82AD3-F9CE-B469-A071-7FEB6F43B08E}"/>
                  </a:ext>
                </a:extLst>
              </p:cNvPr>
              <p:cNvSpPr txBox="1">
                <a:spLocks noRot="1" noChangeAspect="1" noMove="1" noResize="1" noEditPoints="1" noAdjustHandles="1" noChangeArrowheads="1" noChangeShapeType="1" noTextEdit="1"/>
              </p:cNvSpPr>
              <p:nvPr/>
            </p:nvSpPr>
            <p:spPr>
              <a:xfrm>
                <a:off x="75438" y="1780083"/>
                <a:ext cx="4613148" cy="461665"/>
              </a:xfrm>
              <a:prstGeom prst="rect">
                <a:avLst/>
              </a:prstGeom>
              <a:blipFill>
                <a:blip r:embed="rId4"/>
                <a:stretch>
                  <a:fillRect l="-396" t="-18421" b="-18421"/>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BD4F8A9-D80C-F1C4-D6F0-767A21B1A843}"/>
                  </a:ext>
                </a:extLst>
              </p:cNvPr>
              <p:cNvSpPr txBox="1"/>
              <p:nvPr/>
            </p:nvSpPr>
            <p:spPr>
              <a:xfrm>
                <a:off x="75438" y="2435195"/>
                <a:ext cx="1863090" cy="50642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ea typeface="Cambria Math" panose="02040503050406030204" pitchFamily="18" charset="0"/>
                        </a:rPr>
                        <m:t>×</m:t>
                      </m:r>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𝑉</m:t>
                              </m:r>
                            </m:e>
                          </m:acc>
                        </m:e>
                        <m:sub>
                          <m:r>
                            <a:rPr lang="en-GB" b="0" i="1" smtClean="0">
                              <a:solidFill>
                                <a:prstClr val="black"/>
                              </a:solidFill>
                              <a:latin typeface="Cambria Math" panose="02040503050406030204" pitchFamily="18" charset="0"/>
                              <a:ea typeface="Cambria Math" panose="02040503050406030204" pitchFamily="18" charset="0"/>
                            </a:rPr>
                            <m:t>1</m:t>
                          </m:r>
                        </m:sub>
                      </m:sSub>
                      <m:r>
                        <a:rPr lang="en-GB" b="0" i="1" smtClean="0">
                          <a:solidFill>
                            <a:prstClr val="black"/>
                          </a:solidFill>
                          <a:latin typeface="Cambria Math" panose="02040503050406030204" pitchFamily="18" charset="0"/>
                          <a:ea typeface="Cambria Math" panose="02040503050406030204" pitchFamily="18" charset="0"/>
                        </a:rPr>
                        <m:t>=0</m:t>
                      </m:r>
                    </m:oMath>
                  </m:oMathPara>
                </a14:m>
                <a:endParaRPr lang="en-GH" dirty="0"/>
              </a:p>
            </p:txBody>
          </p:sp>
        </mc:Choice>
        <mc:Fallback>
          <p:sp>
            <p:nvSpPr>
              <p:cNvPr id="5" name="TextBox 4">
                <a:extLst>
                  <a:ext uri="{FF2B5EF4-FFF2-40B4-BE49-F238E27FC236}">
                    <a16:creationId xmlns:a16="http://schemas.microsoft.com/office/drawing/2014/main" id="{FBD4F8A9-D80C-F1C4-D6F0-767A21B1A843}"/>
                  </a:ext>
                </a:extLst>
              </p:cNvPr>
              <p:cNvSpPr txBox="1">
                <a:spLocks noRot="1" noChangeAspect="1" noMove="1" noResize="1" noEditPoints="1" noAdjustHandles="1" noChangeArrowheads="1" noChangeShapeType="1" noTextEdit="1"/>
              </p:cNvSpPr>
              <p:nvPr/>
            </p:nvSpPr>
            <p:spPr>
              <a:xfrm>
                <a:off x="75438" y="2435195"/>
                <a:ext cx="1863090" cy="506421"/>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7A61446-A087-FCFF-A969-6D93967DA334}"/>
                  </a:ext>
                </a:extLst>
              </p:cNvPr>
              <p:cNvSpPr txBox="1"/>
              <p:nvPr/>
            </p:nvSpPr>
            <p:spPr>
              <a:xfrm>
                <a:off x="93726" y="3071055"/>
                <a:ext cx="4594860" cy="50642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solidFill>
                                <a:prstClr val="black"/>
                              </a:solidFill>
                              <a:latin typeface="Cambria Math" panose="02040503050406030204" pitchFamily="18" charset="0"/>
                            </a:rPr>
                          </m:ctrlPr>
                        </m:sSubPr>
                        <m:e>
                          <m:acc>
                            <m:accPr>
                              <m:chr m:val="⃗"/>
                              <m:ctrlPr>
                                <a:rPr lang="en-GB" i="1" smtClean="0">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𝑟</m:t>
                              </m:r>
                            </m:e>
                          </m:acc>
                        </m:e>
                        <m:sub>
                          <m:r>
                            <a:rPr lang="en-GB" b="0" i="1" smtClean="0">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ea typeface="Cambria Math" panose="02040503050406030204" pitchFamily="18" charset="0"/>
                        </a:rPr>
                        <m:t>×</m:t>
                      </m:r>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CA" i="1">
                                  <a:latin typeface="Cambria Math" panose="02040503050406030204" pitchFamily="18" charset="0"/>
                                  <a:ea typeface="Cambria Math" panose="02040503050406030204" pitchFamily="18" charset="0"/>
                                </a:rPr>
                              </m:ctrlPr>
                            </m:accPr>
                            <m:e>
                              <m:r>
                                <a:rPr lang="en-CA" i="1">
                                  <a:latin typeface="Cambria Math" panose="02040503050406030204" pitchFamily="18" charset="0"/>
                                  <a:ea typeface="Cambria Math" panose="02040503050406030204" pitchFamily="18" charset="0"/>
                                </a:rPr>
                                <m:t>𝑉</m:t>
                              </m:r>
                            </m:e>
                          </m:acc>
                        </m:e>
                        <m:sub>
                          <m:r>
                            <a:rPr lang="en-GB" b="0" i="1" smtClean="0">
                              <a:latin typeface="Cambria Math" panose="02040503050406030204" pitchFamily="18" charset="0"/>
                              <a:ea typeface="Cambria Math" panose="02040503050406030204" pitchFamily="18" charset="0"/>
                            </a:rPr>
                            <m:t>2</m:t>
                          </m:r>
                        </m:sub>
                      </m:sSub>
                      <m:r>
                        <a:rPr lang="en-GB" b="0" i="1" smtClean="0">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rPr>
                        <m:t>0.3</m:t>
                      </m:r>
                      <m:r>
                        <a:rPr lang="en-GB" b="1">
                          <a:solidFill>
                            <a:prstClr val="black"/>
                          </a:solidFill>
                          <a:latin typeface="Cambria Math" panose="02040503050406030204" pitchFamily="18" charset="0"/>
                        </a:rPr>
                        <m:t>𝐢</m:t>
                      </m:r>
                      <m:r>
                        <a:rPr lang="en-GB" i="1">
                          <a:solidFill>
                            <a:prstClr val="black"/>
                          </a:solidFill>
                          <a:latin typeface="Cambria Math" panose="02040503050406030204" pitchFamily="18" charset="0"/>
                        </a:rPr>
                        <m:t>−0.2</m:t>
                      </m:r>
                      <m:r>
                        <a:rPr lang="en-GB" b="1">
                          <a:solidFill>
                            <a:prstClr val="black"/>
                          </a:solidFill>
                          <a:latin typeface="Cambria Math" panose="02040503050406030204" pitchFamily="18" charset="0"/>
                        </a:rPr>
                        <m:t>𝐣</m:t>
                      </m:r>
                      <m:r>
                        <a:rPr lang="en-GB" b="0" i="1" smtClean="0">
                          <a:solidFill>
                            <a:prstClr val="black"/>
                          </a:solidFill>
                          <a:latin typeface="Cambria Math" panose="02040503050406030204" pitchFamily="18" charset="0"/>
                          <a:ea typeface="Cambria Math" panose="02040503050406030204" pitchFamily="18" charset="0"/>
                        </a:rPr>
                        <m:t>)×(−16</m:t>
                      </m:r>
                      <m:r>
                        <a:rPr lang="en-GB" b="1">
                          <a:solidFill>
                            <a:prstClr val="black"/>
                          </a:solidFill>
                          <a:latin typeface="Cambria Math" panose="02040503050406030204" pitchFamily="18" charset="0"/>
                        </a:rPr>
                        <m:t>𝐣</m:t>
                      </m:r>
                      <m:r>
                        <a:rPr lang="en-GB" b="0" i="1" smtClean="0">
                          <a:solidFill>
                            <a:prstClr val="black"/>
                          </a:solidFill>
                          <a:latin typeface="Cambria Math" panose="02040503050406030204" pitchFamily="18" charset="0"/>
                          <a:ea typeface="Cambria Math" panose="02040503050406030204" pitchFamily="18" charset="0"/>
                        </a:rPr>
                        <m:t>)</m:t>
                      </m:r>
                    </m:oMath>
                  </m:oMathPara>
                </a14:m>
                <a:endParaRPr lang="en-GH" dirty="0"/>
              </a:p>
            </p:txBody>
          </p:sp>
        </mc:Choice>
        <mc:Fallback>
          <p:sp>
            <p:nvSpPr>
              <p:cNvPr id="7" name="TextBox 6">
                <a:extLst>
                  <a:ext uri="{FF2B5EF4-FFF2-40B4-BE49-F238E27FC236}">
                    <a16:creationId xmlns:a16="http://schemas.microsoft.com/office/drawing/2014/main" id="{B7A61446-A087-FCFF-A969-6D93967DA334}"/>
                  </a:ext>
                </a:extLst>
              </p:cNvPr>
              <p:cNvSpPr txBox="1">
                <a:spLocks noRot="1" noChangeAspect="1" noMove="1" noResize="1" noEditPoints="1" noAdjustHandles="1" noChangeArrowheads="1" noChangeShapeType="1" noTextEdit="1"/>
              </p:cNvSpPr>
              <p:nvPr/>
            </p:nvSpPr>
            <p:spPr>
              <a:xfrm>
                <a:off x="93726" y="3071055"/>
                <a:ext cx="4594860" cy="506421"/>
              </a:xfrm>
              <a:prstGeom prst="rect">
                <a:avLst/>
              </a:prstGeom>
              <a:blipFill>
                <a:blip r:embed="rId6"/>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83A3BAC-7FDF-0177-34F5-374D6E803CE8}"/>
                  </a:ext>
                </a:extLst>
              </p:cNvPr>
              <p:cNvSpPr txBox="1"/>
              <p:nvPr/>
            </p:nvSpPr>
            <p:spPr>
              <a:xfrm>
                <a:off x="1061847" y="3655261"/>
                <a:ext cx="175336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b="0" i="1" smtClean="0">
                          <a:solidFill>
                            <a:prstClr val="black"/>
                          </a:solidFill>
                          <a:latin typeface="Cambria Math" panose="02040503050406030204" pitchFamily="18" charset="0"/>
                          <a:ea typeface="Cambria Math" panose="02040503050406030204" pitchFamily="18" charset="0"/>
                        </a:rPr>
                        <m:t>=−4.8</m:t>
                      </m:r>
                      <m:r>
                        <a:rPr lang="en-GB" b="1" i="0" smtClean="0">
                          <a:solidFill>
                            <a:prstClr val="black"/>
                          </a:solidFill>
                          <a:latin typeface="Cambria Math" panose="02040503050406030204" pitchFamily="18" charset="0"/>
                        </a:rPr>
                        <m:t>𝐤</m:t>
                      </m:r>
                    </m:oMath>
                  </m:oMathPara>
                </a14:m>
                <a:endParaRPr lang="en-GH" dirty="0"/>
              </a:p>
            </p:txBody>
          </p:sp>
        </mc:Choice>
        <mc:Fallback>
          <p:sp>
            <p:nvSpPr>
              <p:cNvPr id="9" name="TextBox 8">
                <a:extLst>
                  <a:ext uri="{FF2B5EF4-FFF2-40B4-BE49-F238E27FC236}">
                    <a16:creationId xmlns:a16="http://schemas.microsoft.com/office/drawing/2014/main" id="{B83A3BAC-7FDF-0177-34F5-374D6E803CE8}"/>
                  </a:ext>
                </a:extLst>
              </p:cNvPr>
              <p:cNvSpPr txBox="1">
                <a:spLocks noRot="1" noChangeAspect="1" noMove="1" noResize="1" noEditPoints="1" noAdjustHandles="1" noChangeArrowheads="1" noChangeShapeType="1" noTextEdit="1"/>
              </p:cNvSpPr>
              <p:nvPr/>
            </p:nvSpPr>
            <p:spPr>
              <a:xfrm>
                <a:off x="1061847" y="3655261"/>
                <a:ext cx="1753362" cy="461665"/>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2C2E27A-9FD2-B1BC-5B46-F6EF3F007CF7}"/>
                  </a:ext>
                </a:extLst>
              </p:cNvPr>
              <p:cNvSpPr txBox="1"/>
              <p:nvPr/>
            </p:nvSpPr>
            <p:spPr>
              <a:xfrm>
                <a:off x="93726" y="4249917"/>
                <a:ext cx="7120890" cy="545021"/>
              </a:xfrm>
              <a:prstGeom prst="rect">
                <a:avLst/>
              </a:prstGeom>
              <a:noFill/>
            </p:spPr>
            <p:txBody>
              <a:bodyPr wrap="square">
                <a:spAutoFit/>
              </a:bodyPr>
              <a:lstStyle/>
              <a:p>
                <a:pPr/>
                <a14:m>
                  <m:oMath xmlns:m="http://schemas.openxmlformats.org/officeDocument/2006/math">
                    <m:sSub>
                      <m:sSubPr>
                        <m:ctrlPr>
                          <a:rPr lang="en-GB" i="1" smtClean="0">
                            <a:solidFill>
                              <a:prstClr val="black"/>
                            </a:solidFill>
                            <a:latin typeface="Cambria Math" panose="02040503050406030204" pitchFamily="18" charset="0"/>
                            <a:ea typeface="Cambria Math" panose="02040503050406030204" pitchFamily="18" charset="0"/>
                          </a:rPr>
                        </m:ctrlPr>
                      </m:sSubPr>
                      <m:e>
                        <m:acc>
                          <m:accPr>
                            <m:chr m:val="⃗"/>
                            <m:ctrlPr>
                              <a:rPr lang="en-GB" i="1">
                                <a:solidFill>
                                  <a:prstClr val="black"/>
                                </a:solidFill>
                                <a:latin typeface="Cambria Math" panose="02040503050406030204" pitchFamily="18" charset="0"/>
                                <a:ea typeface="Cambria Math" panose="02040503050406030204" pitchFamily="18" charset="0"/>
                              </a:rPr>
                            </m:ctrlPr>
                          </m:accPr>
                          <m:e>
                            <m:r>
                              <a:rPr lang="en-GB" i="1">
                                <a:solidFill>
                                  <a:prstClr val="black"/>
                                </a:solidFill>
                                <a:latin typeface="Cambria Math" panose="02040503050406030204" pitchFamily="18" charset="0"/>
                                <a:ea typeface="Cambria Math" panose="02040503050406030204" pitchFamily="18" charset="0"/>
                              </a:rPr>
                              <m:t>𝑇</m:t>
                            </m:r>
                          </m:e>
                        </m:acc>
                      </m:e>
                      <m:sub>
                        <m:r>
                          <a:rPr lang="en-GB" b="0" i="1" smtClean="0">
                            <a:solidFill>
                              <a:prstClr val="black"/>
                            </a:solidFill>
                            <a:latin typeface="Cambria Math" panose="02040503050406030204" pitchFamily="18" charset="0"/>
                            <a:ea typeface="Cambria Math" panose="02040503050406030204" pitchFamily="18" charset="0"/>
                          </a:rPr>
                          <m:t>𝑓𝑙𝑎𝑛𝑔𝑒</m:t>
                        </m:r>
                      </m:sub>
                    </m:sSub>
                    <m:r>
                      <a:rPr lang="en-GB" b="0" i="1" smtClean="0">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−4.8</m:t>
                    </m:r>
                    <m:r>
                      <a:rPr lang="en-GB" b="1">
                        <a:solidFill>
                          <a:prstClr val="black"/>
                        </a:solidFill>
                        <a:latin typeface="Cambria Math" panose="02040503050406030204" pitchFamily="18" charset="0"/>
                      </a:rPr>
                      <m:t>𝐤</m:t>
                    </m:r>
                    <m:d>
                      <m:dPr>
                        <m:ctrlPr>
                          <a:rPr lang="en-GB" b="1" i="0" smtClean="0">
                            <a:solidFill>
                              <a:prstClr val="black"/>
                            </a:solidFill>
                            <a:latin typeface="Cambria Math" panose="02040503050406030204" pitchFamily="18" charset="0"/>
                          </a:rPr>
                        </m:ctrlPr>
                      </m:dPr>
                      <m:e>
                        <m:r>
                          <a:rPr lang="en-GB" b="0" i="0" smtClean="0">
                            <a:solidFill>
                              <a:prstClr val="black"/>
                            </a:solidFill>
                            <a:latin typeface="Cambria Math" panose="02040503050406030204" pitchFamily="18" charset="0"/>
                          </a:rPr>
                          <m:t>1000</m:t>
                        </m:r>
                        <m:r>
                          <a:rPr lang="en-GB" b="0" i="1" smtClean="0">
                            <a:solidFill>
                              <a:prstClr val="black"/>
                            </a:solidFill>
                            <a:latin typeface="Cambria Math" panose="02040503050406030204" pitchFamily="18" charset="0"/>
                            <a:ea typeface="Cambria Math" panose="02040503050406030204" pitchFamily="18" charset="0"/>
                          </a:rPr>
                          <m:t>×0.0025×16</m:t>
                        </m:r>
                      </m:e>
                    </m:d>
                    <m:r>
                      <a:rPr lang="en-GB" b="0" i="1" smtClean="0">
                        <a:solidFill>
                          <a:prstClr val="black"/>
                        </a:solidFill>
                        <a:latin typeface="Cambria Math" panose="02040503050406030204" pitchFamily="18" charset="0"/>
                        <a:ea typeface="Cambria Math" panose="02040503050406030204" pitchFamily="18" charset="0"/>
                      </a:rPr>
                      <m:t>=</m:t>
                    </m:r>
                  </m:oMath>
                </a14:m>
                <a:r>
                  <a:rPr lang="en-GB" dirty="0">
                    <a:solidFill>
                      <a:prstClr val="black"/>
                    </a:solidFill>
                    <a:ea typeface="Cambria Math" panose="02040503050406030204" pitchFamily="18" charset="0"/>
                  </a:rPr>
                  <a:t> </a:t>
                </a:r>
                <a14:m>
                  <m:oMath xmlns:m="http://schemas.openxmlformats.org/officeDocument/2006/math">
                    <m:r>
                      <a:rPr lang="en-GB" i="1">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192</m:t>
                    </m:r>
                    <m:r>
                      <a:rPr lang="en-GB" b="1">
                        <a:solidFill>
                          <a:prstClr val="black"/>
                        </a:solidFill>
                        <a:latin typeface="Cambria Math" panose="02040503050406030204" pitchFamily="18" charset="0"/>
                      </a:rPr>
                      <m:t>𝐤</m:t>
                    </m:r>
                  </m:oMath>
                </a14:m>
                <a:r>
                  <a:rPr lang="en-GB" dirty="0"/>
                  <a:t> Nm</a:t>
                </a:r>
                <a:endParaRPr lang="en-GH" dirty="0"/>
              </a:p>
            </p:txBody>
          </p:sp>
        </mc:Choice>
        <mc:Fallback>
          <p:sp>
            <p:nvSpPr>
              <p:cNvPr id="14" name="TextBox 13">
                <a:extLst>
                  <a:ext uri="{FF2B5EF4-FFF2-40B4-BE49-F238E27FC236}">
                    <a16:creationId xmlns:a16="http://schemas.microsoft.com/office/drawing/2014/main" id="{C2C2E27A-9FD2-B1BC-5B46-F6EF3F007CF7}"/>
                  </a:ext>
                </a:extLst>
              </p:cNvPr>
              <p:cNvSpPr txBox="1">
                <a:spLocks noRot="1" noChangeAspect="1" noMove="1" noResize="1" noEditPoints="1" noAdjustHandles="1" noChangeArrowheads="1" noChangeShapeType="1" noTextEdit="1"/>
              </p:cNvSpPr>
              <p:nvPr/>
            </p:nvSpPr>
            <p:spPr>
              <a:xfrm>
                <a:off x="93726" y="4249917"/>
                <a:ext cx="7120890" cy="545021"/>
              </a:xfrm>
              <a:prstGeom prst="rect">
                <a:avLst/>
              </a:prstGeom>
              <a:blipFill>
                <a:blip r:embed="rId8"/>
                <a:stretch>
                  <a:fillRect b="-17778"/>
                </a:stretch>
              </a:blipFill>
            </p:spPr>
            <p:txBody>
              <a:bodyPr/>
              <a:lstStyle/>
              <a:p>
                <a:r>
                  <a:rPr lang="en-GH">
                    <a:noFill/>
                  </a:rPr>
                  <a:t> </a:t>
                </a:r>
              </a:p>
            </p:txBody>
          </p:sp>
        </mc:Fallback>
      </mc:AlternateContent>
    </p:spTree>
    <p:extLst>
      <p:ext uri="{BB962C8B-B14F-4D97-AF65-F5344CB8AC3E}">
        <p14:creationId xmlns:p14="http://schemas.microsoft.com/office/powerpoint/2010/main" val="20381924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2.xml><?xml version="1.0" encoding="utf-8"?>
<p:tagLst xmlns:a="http://schemas.openxmlformats.org/drawingml/2006/main" xmlns:r="http://schemas.openxmlformats.org/officeDocument/2006/relationships" xmlns:p="http://schemas.openxmlformats.org/presentationml/2006/main">
  <p:tag name="IIW_TYPE_IMAGE" val="TextBox 2"/>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18675</TotalTime>
  <Words>2772</Words>
  <Application>Microsoft Office PowerPoint</Application>
  <PresentationFormat>On-screen Show (4:3)</PresentationFormat>
  <Paragraphs>332</Paragraphs>
  <Slides>38</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Cambria Math</vt:lpstr>
      <vt:lpstr>Myriad Web Pro</vt:lpstr>
      <vt:lpstr>Times</vt:lpstr>
      <vt:lpstr>Verdana</vt:lpstr>
      <vt:lpstr>Wingdings</vt:lpstr>
      <vt:lpstr>Custom Design</vt:lpstr>
      <vt:lpstr>ME 352 FLUID DYNAMICS 2</vt:lpstr>
      <vt:lpstr>Some Applications of the Momentum Equation</vt:lpstr>
      <vt:lpstr>Momentum Equation for Inertial Control Volume</vt:lpstr>
      <vt:lpstr>Momentum Equation for Inertial Control Volume</vt:lpstr>
      <vt:lpstr>Momentum Equation for Inertial Control Volume</vt:lpstr>
      <vt:lpstr>Examples</vt:lpstr>
      <vt:lpstr>Solution Contd.</vt:lpstr>
      <vt:lpstr>Examples</vt:lpstr>
      <vt:lpstr>PowerPoint Presentation</vt:lpstr>
      <vt:lpstr>PowerPoint Presentation</vt:lpstr>
      <vt:lpstr>PowerPoint Presentation</vt:lpstr>
      <vt:lpstr>Practice Problems</vt:lpstr>
      <vt:lpstr>Practice Problems</vt:lpstr>
      <vt:lpstr>Control Volume Moving with Constant Velocity</vt:lpstr>
      <vt:lpstr>Control Volume Moving with Constant Velocity</vt:lpstr>
      <vt:lpstr>Control Volume Moving with Constant Velocity</vt:lpstr>
      <vt:lpstr>Control Volume Moving with Constant Velocity</vt:lpstr>
      <vt:lpstr>Control Volume Moving with Constant Velocity</vt:lpstr>
      <vt:lpstr>Control Volume Moving with Constant Velocity</vt:lpstr>
      <vt:lpstr>Control Volume Moving with Constant Velocity</vt:lpstr>
      <vt:lpstr>Control Volume Moving with Constant Velocity</vt:lpstr>
      <vt:lpstr>Control Volume with Rectilinear Acceleration</vt:lpstr>
      <vt:lpstr>Control Volume with Rectilinear Acceleration</vt:lpstr>
      <vt:lpstr>Control Volume with Rectilinear Acceleration</vt:lpstr>
      <vt:lpstr>Control Volume with Rectilinear Acceleration</vt:lpstr>
      <vt:lpstr>PowerPoint Presentation</vt:lpstr>
      <vt:lpstr>PowerPoint Presentation</vt:lpstr>
      <vt:lpstr>PowerPoint Presentation</vt:lpstr>
      <vt:lpstr>PowerPoint Presentation</vt:lpstr>
      <vt:lpstr>PowerPoint Presentation</vt:lpstr>
      <vt:lpstr> Angular Momentum Principle (Moment of Momentum Equation)</vt:lpstr>
      <vt:lpstr> Angular Momentum Principle (Moment of Momentum Equation)</vt:lpstr>
      <vt:lpstr>Examples</vt:lpstr>
      <vt:lpstr>MOMENT OF MOMENTUM EQUATION</vt:lpstr>
      <vt:lpstr>MOMENT OF MOMENTUM EQUATION</vt:lpstr>
      <vt:lpstr>MOMENT OF MOMENTUM EQUATION</vt:lpstr>
      <vt:lpstr>MOMENT OF MOMENTUM EQUATION</vt:lpstr>
      <vt:lpstr>MOMENT OF MOMENTUM EQUATION</vt:lpstr>
    </vt:vector>
  </TitlesOfParts>
  <Company>UofM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ekow</dc:creator>
  <cp:lastModifiedBy>Godwin Tay</cp:lastModifiedBy>
  <cp:revision>1228</cp:revision>
  <cp:lastPrinted>2019-10-29T17:44:08Z</cp:lastPrinted>
  <dcterms:created xsi:type="dcterms:W3CDTF">2007-10-23T20:40:42Z</dcterms:created>
  <dcterms:modified xsi:type="dcterms:W3CDTF">2024-06-07T01:53:25Z</dcterms:modified>
</cp:coreProperties>
</file>