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ink/ink1.xml" ContentType="application/inkml+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ink/ink2.xml" ContentType="application/inkml+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ink/ink3.xml" ContentType="application/inkml+xml"/>
  <Override PartName="/ppt/tags/tag1.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259" r:id="rId2"/>
    <p:sldId id="260" r:id="rId3"/>
    <p:sldId id="402" r:id="rId4"/>
    <p:sldId id="403" r:id="rId5"/>
    <p:sldId id="404" r:id="rId6"/>
    <p:sldId id="405" r:id="rId7"/>
    <p:sldId id="263" r:id="rId8"/>
    <p:sldId id="406" r:id="rId9"/>
    <p:sldId id="407" r:id="rId10"/>
    <p:sldId id="273" r:id="rId11"/>
    <p:sldId id="408" r:id="rId12"/>
    <p:sldId id="272" r:id="rId13"/>
    <p:sldId id="277" r:id="rId14"/>
    <p:sldId id="410" r:id="rId15"/>
    <p:sldId id="409" r:id="rId16"/>
    <p:sldId id="411" r:id="rId17"/>
    <p:sldId id="412" r:id="rId18"/>
    <p:sldId id="413" r:id="rId19"/>
    <p:sldId id="414" r:id="rId20"/>
    <p:sldId id="419" r:id="rId21"/>
    <p:sldId id="420" r:id="rId22"/>
    <p:sldId id="416" r:id="rId23"/>
    <p:sldId id="417" r:id="rId24"/>
    <p:sldId id="418" r:id="rId25"/>
    <p:sldId id="289" r:id="rId26"/>
    <p:sldId id="290" r:id="rId27"/>
    <p:sldId id="292" r:id="rId28"/>
    <p:sldId id="712" r:id="rId29"/>
    <p:sldId id="713" r:id="rId30"/>
    <p:sldId id="708" r:id="rId31"/>
    <p:sldId id="709" r:id="rId32"/>
    <p:sldId id="710" r:id="rId33"/>
    <p:sldId id="714" r:id="rId34"/>
    <p:sldId id="711" r:id="rId35"/>
    <p:sldId id="596" r:id="rId36"/>
    <p:sldId id="659" r:id="rId37"/>
    <p:sldId id="597" r:id="rId38"/>
    <p:sldId id="598" r:id="rId39"/>
    <p:sldId id="599" r:id="rId40"/>
    <p:sldId id="660" r:id="rId41"/>
    <p:sldId id="661" r:id="rId42"/>
    <p:sldId id="601" r:id="rId43"/>
    <p:sldId id="667" r:id="rId44"/>
    <p:sldId id="695" r:id="rId45"/>
    <p:sldId id="697" r:id="rId46"/>
    <p:sldId id="602" r:id="rId47"/>
    <p:sldId id="696" r:id="rId48"/>
    <p:sldId id="603" r:id="rId49"/>
    <p:sldId id="604" r:id="rId50"/>
    <p:sldId id="605" r:id="rId51"/>
    <p:sldId id="609" r:id="rId52"/>
    <p:sldId id="670" r:id="rId53"/>
    <p:sldId id="671" r:id="rId54"/>
    <p:sldId id="615" r:id="rId55"/>
    <p:sldId id="699" r:id="rId56"/>
    <p:sldId id="701" r:id="rId57"/>
    <p:sldId id="715" r:id="rId58"/>
    <p:sldId id="703" r:id="rId59"/>
    <p:sldId id="702" r:id="rId60"/>
    <p:sldId id="704" r:id="rId61"/>
    <p:sldId id="705" r:id="rId62"/>
    <p:sldId id="706" r:id="rId63"/>
    <p:sldId id="707"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0" d="100"/>
          <a:sy n="70" d="100"/>
        </p:scale>
        <p:origin x="58" y="-24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ink/ink1.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12-04T15:54:52.999"/>
    </inkml:context>
    <inkml:brush xml:id="br0">
      <inkml:brushProperty name="width" value="0.05292" units="cm"/>
      <inkml:brushProperty name="height" value="0.05292" units="cm"/>
      <inkml:brushProperty name="color" value="#FF0000"/>
    </inkml:brush>
  </inkml:definitions>
  <inkml:trace contextRef="#ctx0" brushRef="#br0">10884 6575 115 0,'0'0'0'0,"0"0"10"0,0 0-10 0,0 0 0 0,0 0 0 0,0 0 0 0,0 0 46 16,0 0 7-16,0 0 2 0,0 0 0 0,0 0-31 0,6 5-7 16,-6-5-1-16,0 0 0 0,0 0-8 0,0 0-8 15,3 0 12-15,-3 0-12 0,6 3 19 0,-6-3-3 16,6 0-1-16,3 0 0 0,0 0-5 0,0 0-1 16,-3 0 0-16,3 0 0 0,0 0-9 0,0 0 0 15,2 0 0-15,-2 0 0 0,3 2 0 16,-3 1 0-16,3-3 0 0,3 0 8 0,-3-3-8 15,3 3 8-15,-3 0-8 0,3 0 8 0,-4 0-8 16,4 3 0-16,0-6 0 0,0 3 0 16,0 0 0-16,3 0 0 0,-6 0 0 15,6 0 0-15,-3 0 8 0,-1 0 0 16,-2 0 0-16,3-2 0 0,-3 2-8 16,0 0 0-16,0 0 0 0,-3 0 0 0,-3 0 24 0,3-3 2 0,-3 1 1 0,-6 2 0 0,0 0-8 15,9 0-2-15,-6-3 0 0,-3 3 0 0,0 0-7 0,0 0-2 0,0 0 0 0,0 0 0 16,0 0 0-16,0 0 0 0,0 0 0 0,0 0 0 15,0 0-8-15,0 0 0 0,0 0 0 0,0 0 8 16,0 0-8-16,0 0 10 0,0 0-10 0,0 0 10 16,0 0-10-16,0 0 10 0,0 0-10 0,0 0 10 15,0 0-10-15,0 0 0 0,0 0 0 0,0 0 0 16,0 0 8-16,0 0-8 0,6 3 0 0,-6-3 8 16,0 0-8-16,0 0-17 0,0 0 4 0,5 0 1 15,-5 0 24-15,0 0 6 0,0 0 1 0,0 0 0 16,0 0-5-16,0 0-1 0,0 0 0 0,0 0 0 15,0 0-39-15,0 0-8 0,0 0-2 0,0 0-201 16,0 0-41-16</inkml:trace>
  <inkml:trace contextRef="#ctx0" brushRef="#br0" timeOffset="3186.59">12483 6503 172 0,'0'0'16'0,"0"0"-16"0,0 0 0 0,0 0 0 16,0 0 34-16,6-2 4 0,-1-1 1 0,-5 3 0 16,0 0 1-16,3-2 0 0,-3 2 0 0,0 0 0 0,0 0-30 15,0 0-10-15,0 0 0 0,0 0 9 0,0 0-9 0,0 0 0 16,0 0 0-16,0 0 0 0,0 0 0 15,0 0-17-15,0 0 4 0,0 0 1 0,0 0-10 0,0 0-2 16,0 0 0-16,0 0 0 0,0 0 24 0,0 0-11 16,0 0 11-16,0 0-8 0,0 0 8 0,0 0 0 15,0 0-9-15,0 0 9 0,0 0-14 16,0 0 2-16,0 0 0 0,0 0-116 0</inkml:trace>
  <inkml:trace contextRef="#ctx0" brushRef="#br0" timeOffset="3781.96">12268 6501 162 0,'0'0'0'0,"0"0"14"0,9 2-14 0,0 1 0 15,0-3 0-15,0 0 0 0,0 0 0 0,0 0 0 16,0 0 0-16,0 0 0 0,3 0 0 0,-3 0 0 16,-1 0 0-16,1 0 0 0,0 3 9 0,-3-3-9 15,-6 0 8-15,9 2-8 0,0 1 0 0,-9-3 0 16,0 0 0-16,0 0 0 0,0 0 16 0,0 0-3 16,6 0 0-16,-6 0 0 0,0 0 9 0,0 0 2 15,0 0 0-15,0 0 0 0,0 0 44 0,0 0 10 16,0 0 2-16,0 0 0 0,0 0-59 0,0 0-11 15,0 0-2-15,0 0-8 0,0 0 12 0,0 0-4 16,0 0 0-16,0 0-8 0,0 0 12 0,0 0-12 0,0 0 12 0,0 0-12 16,0 0 0-16,0 0 0 0,0 0 0 0,0 0 0 15,0 0-10-15,0 0 10 0,0 0-10 16,0 0 10-16,0 0 0 0,0 0 0 0,0 0 0 0,0 0 0 16,0 0 0-16,0 0 0 0,0 0 0 0,0 0 0 15,0 0 0-15,0 0 0 0,0 0 0 0,0 0 0 16,0 0 8-16,0 0-8 0,0 0 12 0,0 0-12 15,0 0 0-15,0 0-19 0,0 0 3 0,0 0 0 32,0 0-13-32,0 0-3 0,0 0 0 0,-3 8 0 15,0-5-16-15,3-3-4 0,0 0-1 0,0 0 0 0</inkml:trace>
  <inkml:trace contextRef="#ctx0" brushRef="#br0" timeOffset="38503.99">12432 6437 270 0,'0'0'12'0,"0"0"2"0,0 0-14 0,0 0 0 0,0 0 0 0,0 0 0 16,0 0 28-16,0 0 2 0,0 0 1 0,0 0 0 15,0 0-23-15,0 0-8 0,0 0 0 0,0 0 9 16,0 0-9-16,-6 3 0 0,6-3 0 0,-6 3 0 15,0-1 0-15,-3 4 0 0,3-6 0 0,0 2 0 16,-3 1 12-16,0-3 0 0,3 0 0 0,1 0 0 16,-4 2 12-16,3-2 2 0,-3 3 1 0,3-3 0 15,6 0-1-15,-6 0 0 0,-3 0 0 0,3 0 0 16,0 3-9-16,6-3-1 0,0 0-1 0,0 0 0 16,0 0-6-16,0 0-1 0,0 0 0 0,0 0 0 15,0 0-8-15,0 0 12 0,0 0-12 0,0 0 12 16,0 0-1-16,0 0 0 0,0 0 0 0,9-3 0 15,0 3-11-15,0-3 0 0,0 1 0 0,3 2 0 0,2 0 8 0,-2 0 10 16,0-3 2-16,-3 1 0 0,3-1-20 0,-3 0 0 16,0 1 0-16,0 2 0 0,-3 0 0 0,0 0 0 15,3 0 0-15,-6-3 0 0,3 0 0 0,-6 3-9 16,0 0 1-16,0 0 0 0,0 0 8 0,0 0 0 16,0 0-9-16,0 0 9 0,0 0 0 0,0 0-9 15,0 0 9-15,0 0 0 0,-6 3-12 0,3 0 12 16,-6-3-12-16,3 2 12 0,0-2 0 0,-3 3 0 15,0-3 8-15,0 3-8 0,-3-1 11 0,0-2-11 16,0 3 12-16,0-3-12 0,1 2 23 0,-1 1-3 16,3 0 0-16,-3-1 0 0,3 4-20 0,3-6-15 15,0 0 3-15,6 0 0 0,0 0 12 0,-6 0 15 0,0 2-3 0,6-2-1 16,0 0-11-16,0 0 0 0,0 0 0 0,9-2 0 16,3 2 12-16,-3 0-4 0,3-6 0 0,0 4 0 15,0-1-8-15,-1 0-16 0,4 1 4 0,-3-3 1 16,-3 5 11-16,0-3 0 0,0-2 0 0,0 5 8 15,-3-3-8-15,-6 3 0 0,0 0 0 0,6 0 0 16,-6 0 0-16,0 0 0 0,0 0 0 0,0 0-8 16,0 0 8-16,0 0 0 0,0 0 0 0,0 0 0 15,-6 3 0-15,-3-3 0 0,0 0 0 0,0 2-12 16,-3-2 12-16,0 0 14 0,0-2-3 0,4 2-1 16,-7 2 0-16,3-2 0 0,3-2 0 0,0 2 0 15,0 0 1-15,3 0 0 0,-3 0 0 0,9 0 0 16,0 0-11-16,0 0 0 0,0 0 0 0,0 0 0 15,0 0 0-15,0 0 8 0,0 0-8 0,0 0 12 16,9 0-12-16,3-3 12 0,-3 0-12 0,0 3 12 0,0 0-12 0,0-2 0 16,3 2 0-16,-4-3 0 15,1 3 0-15,0-3 0 0,-3 3 0 0,-6 0 0 0,0 0 0 0,0 0 0 16,0 0 0-16,0 0 0 0,0 0 0 0,0 0 0 16,0 0 0-16,0 0 0 0,-3 6-10 0,0-1 10 15,-6-2 0-15,0 2-9 0,1 0 9 0,-1-2 0 16,0 2 0-16,3-2 0 0,-3 5 0 0,0-8 0 15,6 2-9-15,-3 1 9 16,-3 2-52-16,9-5-5 0,0 0-2 0</inkml:trace>
  <inkml:trace contextRef="#ctx0" brushRef="#br0" timeOffset="39171.42">12417 6379 172 0,'0'0'16'15,"0"0"-16"-15,0 0 0 0,0 0 0 16,0 0 68-16,0 0 12 0,0 0 1 0,0 0 1 16,0 0-56-16,0 0-11 0,0 0-3 0,0 0 0 0,0 0-12 0,0 0-12 15,0 0 3-15,0 0-137 16,0 0-27-16</inkml:trace>
</inkml:ink>
</file>

<file path=ppt/ink/ink2.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12-04T16:07:21.766"/>
    </inkml:context>
    <inkml:brush xml:id="br0">
      <inkml:brushProperty name="width" value="0.05292" units="cm"/>
      <inkml:brushProperty name="height" value="0.05292" units="cm"/>
      <inkml:brushProperty name="color" value="#FF0000"/>
    </inkml:brush>
  </inkml:definitions>
  <inkml:trace contextRef="#ctx0" brushRef="#br0">17025 8551 403 0,'0'0'36'16,"0"0"-36"-16,0 0 0 0,0 0 0 0,-6 0 67 0,0 0 6 15,0 3 2-15,0 0 0 0,-6 5-67 0,0 2-8 16,0 3-11-16,3-2 3 0</inkml:trace>
</inkml:ink>
</file>

<file path=ppt/ink/ink3.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12-04T15:20:51.903"/>
    </inkml:context>
    <inkml:brush xml:id="br0">
      <inkml:brushProperty name="width" value="0.05292" units="cm"/>
      <inkml:brushProperty name="height" value="0.05292" units="cm"/>
      <inkml:brushProperty name="color" value="#0070C0"/>
    </inkml:brush>
  </inkml:definitions>
  <inkml:trace contextRef="#ctx0" brushRef="#br0">1850 6300 280 0,'0'0'12'0,"0"0"4"0,0 0-16 0,0 0 0 0,0 0 0 0,0 0 0 15,0 0 74-15,0 0 12 0,0 0 2 0,0 0 1 16,0 0-58-16,0 0-12 0,3-3-3 0,-3 3 0 15,0 0-6-15,0 0-2 0,0 0 0 0,0 0 0 16,6-3-8-16,-6 3 12 0,0 0-12 0,0 0 12 16,3-2 2-16,-3 2 1 0,0 0 0 0,0 0 0 15,0 0 3-15,6 0 1 0,-6 0 0 0,0 0 0 16,0 0-19-16,12-3 0 0,-3 3 0 0,-3 0 0 16,3 0 10-16,-9 0-2 0,9 0 0 0,-3 0 0 15,6 3 0-15,-3-3 0 0,-9 0 0 0,6 0 0 16,2 2-8-16,1-2 8 0,0 0-8 0,3 0 8 15,-3 3-8-15,3-3 0 0,3 0 0 0,-3 0 0 0,0 0 0 16,6 0 12-16,2-3-12 0,-5 3 12 0,3 0-12 16,0 0 10-16,3-2-10 0,-3-1 10 0,3 3-2 15,2 0 0-15,-2-2 0 0,6 2 0 0,-3 0 1 0,3 0 0 16,-7 0 0-16,1 0 0 0,-3 2-9 0,6-2 0 16,0 0 0-16,0 0 8 0,-4-2-8 0,4 2 0 15,-3 0 0-15,6-3 0 0,-3 3 0 0,2 0 0 16,-5 0 0-16,9 0 0 0,-9 0 8 0,9 0-8 15,-1-3 12-15,-5 3-4 0,3 0-8 0,-6 0 0 16,3 0 0-16,2-2 0 0,-5 2 0 0,0 0 0 0,-3-3 0 16,3 3 0-16,3-5 0 0,-3 2 0 0,5 0 0 15,-5 1 0-15,0-1 53 0,0 3 9 0,9-3 2 0,-10 1 0 16,4 2-52-16,-3 0-12 0,3 0 0 0,0 0 0 16,-3 2 0-16,-1-2 0 0,1 0 0 0,-3-2 0 15,0 2 0-15,3 2 0 0,-6-2 0 0,2 0 0 16,1 0 0-16,-3 0 0 0,6 0 0 0,-3 0 0 15,3 0 0-15,0 0 0 0,-1 0 0 0,-2 0 0 16,3 0 0-16,-3-2 0 0,-3 2 0 0,3-3 0 16,0 6 0-16,-4-3 0 0,7 0 0 0,-3 0 0 15,0 0 0-15,-6 0 0 0,6 2 0 0,-9-2 0 16,6 0 0-16,-3 3 0 0,2-3 0 0,-8 0 0 16,3 3 0-16,0-1 0 0,0-4 0 0,-3 2 0 15,6 0 0-15,-12 0 0 0,3 2 0 0,-3-2 0 16,6 0 54-16,0 0 8 0,0 3 2 0,3-3 0 15,-6 0-52-15,-3 0-12 0,6-3 0 0,0 3 0 0,-6 0 0 16,0 0 0-16,6-2 0 0,-6 2 0 0,6-3 54 0,-6 3 8 16,6 0 2-16,-6 0 0 0,0 0-52 0,8-3-12 15,-5 1 0-15,-3 2 0 0,0 0 0 0,0 0 0 16,6-3 0-16,-6 3 0 0,0 0 0 0,0 0 0 16,0 0 0-16,0 0 0 0,0 0 0 0,0 0 0 15,0 0 0-15,0 0 0 0,0 0 0 0,0 0 0 16,0 0 0-16,0 0 0 15,0 0-48-15,0 0-13 0,0 0-3 0,0 0-640 0</inkml:trace>
  <inkml:trace contextRef="#ctx0" brushRef="#br0" timeOffset="1715.74">1812 9993 360 0,'0'0'16'0,"0"0"3"0,0 0-19 0,0 0 0 0,0 0 0 0,0-5 0 16,6 0 57-16,-6 5 8 0,0 0 2 0,0 0 0 16,0 0-46-16,0 0-9 0,0 0-1 0,0 0-1 15,0 0-10-15,0 0 0 0,0 0 0 0,0 0 0 16,0 0 0-16,0 0 0 0,0 0 0 0,0 0 0 15,0 0 0-15,0 0 0 0,0 0 0 0,0 0 0 16,0 2 10-16,0-2 0 0,0 0 0 0,0 0 0 0,0 0 18 16,6 0 4-16,-1 0 1 0,-5 0 0 0,3 0-5 0,3 0 0 15,6 0-1-15,-9-2 0 0,3-1-12 0,-3 3-3 16,6-3 0-16,0 1 0 0,0-1 2 0,-3 3 0 16,3-2 0-16,-3 2 0 0,3-3-2 0,3 0-1 15,-3 3 0-15,-3 0 0 0,2 0-11 0,-2 0 0 16,3 0 9-16,3 0-9 0,-3 0 0 0,3-2 9 15,-3 2-9-15,0 0 0 0,6 0 11 0,-3-3-11 16,3 0 10-16,0 1-10 0,-1 2 12 0,7-3-3 16,0 0-1-16,-6 1 0 0,9-1 7 0,-9 3 1 15,5-3 0-15,1 3 0 0,6 3 0 0,-6 0 0 0,0-3 0 16,3 5 0-16,-1 0-16 0,-2 1 11 0,-6-4-11 16,3 1 10-16,3 2-10 0,-3-2 0 0,3-3 0 0,-7 2 0 15,10 1 11-15,-9-3 0 0,3 0 0 0,0 0 0 16,3 0 3-16,-1 0 1 0,-5 0 0 0,3 0 0 15,0-3-2-15,3 3 0 0,0 0 0 0,0 0 0 16,2 0-3-16,1 0-1 0,-3 0 0 0,0 3 0 16,3-3-9-16,-6 3 0 0,-1-1 0 0,4-2 0 15,-6 0 0-15,3 3 0 0,0-3 0 0,3 0 0 16,0 0 0-16,-1 0 0 0,1 0 0 0,3 0 0 16,0 0 0-16,-3 0 8 0,5 0-8 0,-2 0 0 15,0 3 12-15,3-1-4 0,-6 1 0 0,3 0 0 16,-4-1-8-16,1 1 0 0,0 0 0 0,0-1 0 15,-3 1 0-15,3-3 0 0,-1 0 0 0,7 2 0 0,-9 1 0 16,3-3 0-16,6-3 0 0,-6 1 0 0,2 2 0 16,-2 0 10-16,-6 0-10 0,6 2 10 0,-3 1-1 0,0-3 0 15,2 3 0-15,-5-1 0 0,3 1-9 0,0 0 0 16,-3-3 0-16,0 2 8 0,0-2-8 0,0 0 8 16,-4 0-8-16,1 3 8 0,0-3 2 0,-3 0 0 15,3 0 0-15,-3-3 0 0,0 3 2 0,0 0 0 16,0-2 0-16,0-1 0 0,-3 3 8 0,0-3 1 15,3-2 1-15,-6 5 0 0,0-5-8 0,-3 5-2 16,0 0 0-16,6 0 0 0,-6 0-2 0,8-3-1 16,-8 3 0-16,3-2 0 0,-3 2 0 0,6-3 0 15,-3 3 0-15,-3 0 0 0,0 0-9 0,0 0 0 16,6-3 9-16,0 1-9 0,-6 2 0 0,0 0 0 16,0 0 0-16,0 0 0 0,0 0 0 0,6 0 0 0,-6 0 0 0,0 0 0 15,0 0 0-15,0 0 8 0,0 0-8 0,0 0 0 16,6 0 0-16,-6 0 8 0,0 0-8 15,0 0 0-15,0 0 8 0,0 0-8 0,0 0 10 0,0 0-10 16,0 0 8-16,0 0-8 0,0 0 0 0,0 0 0 16,0 0 9-16,0 0-9 0,0 0 8 0,0 0-8 15,0 0 0-15,0 0 0 0,0 0-9 0,0 0 9 16,0 0-24-16,0 0 3 0,0 0 0 0,0 5 0 31,3 3-183-31,-3 0-37 0</inkml:trace>
  <inkml:trace contextRef="#ctx0" brushRef="#br0" timeOffset="5693.67">1910 11118 230 0,'0'0'20'0,"0"0"-20"15,0 0 0-15,0 0 0 0,0 0 85 0,0 0 13 16,0 0 2-16,0 0 1 0,0 0-66 0,0 0-14 16,0-5-2-16,0 5-1 0,9-3-18 0,-9 3 0 15,0 0 0-15,0 0 0 0,0 0 0 0,0 0 0 16,0 0 0-16,0 0 0 0,0 0 0 0,0 0 0 15,0 0 0-15,0 0 0 0,0 0 0 0,0 0 0 16,0 0 0-16,0 0 0 0,0 0 0 0,0 0 0 16,0 0 0-16,-6 8 0 0,6-8 0 0,0 0 0 0,0 5 0 15,0-5 0-15,0 0 0 0,0 0 0 0,-3 5 0 0,3-5 0 16,-6 8 0-16,6-8 0 0,0 0 0 0,0 0 0 16,-3 3 17-16,3-3 0 0,0 0 0 0,0 0 0 15,0 0-2-15,0 0-1 0,0 0 0 0,0 0 0 16,0 0 2-16,0 0 1 0,0 0 0 0,0 0 0 15,0 0-2-15,0 0-1 0,0 0 0 0,0 0 0 16,0 0-4-16,0 0-1 0,0 0 0 0,0 0 0 16,0 0-1-16,0 0 0 0,0 0 0 0,0 0 0 15,-6-3 8-15,6 3 0 0,0 0 1 0,0 0 0 16,-3-2 3-16,3 2 1 0,0 0 0 0,0 0 0 16,0 0-10-16,0 0-3 0,0 0 0 0,0 0 0 15,0 0-8-15,0 0 12 0,3-6-12 0,-3 6 12 0,0 0-12 16,0 0 0-16,6-5 0 0,-6 5 0 0,0 0 0 15,0 0 0-15,3-3 0 0,-3 3 0 0,0 0 0 0,0 0 0 16,0 0 0-16,0 0 0 0,0 0 0 0,6 0 0 16,3-2 0-16,-6-1 8 0,6 6-8 0,-6-6 12 15,3 3-12-15,-6 0 12 0,6 0-12 0,2 0 0 16,-2 0 0-16,3-2 8 0,-3 2-8 0,0 0 0 16,3 0 9-16,3 0-9 0,-3 0 0 0,0-3 9 15,-3 3-9-15,9 0 0 0,-9 0 11 0,9 0-11 16,-6 0 10-16,2 3-10 0,1-1 9 0,0-2-9 0,3 3 8 15,-3-1-8-15,3 1 0 0,0 0 0 16,0-1 8-16,3 4-8 0,-1-1 0 0,4-2 0 16,-9-1 0-16,6 1 0 0,-3 0 0 0,6-3 0 15,0 2 0-15,-4-2 0 0,1 0 0 0,0 0 0 0,-3 0 0 16,3 0 0-16,-3 0 0 0,3 0 8 0,0 0-8 0,-1-2 12 16,4-1-12-16,0 0 0 0,0 1 9 15,0-4-9-15,0 4 0 0,-4-1 9 0,-2-2-9 0,3-1 0 16,0 4 11-16,-3-1-11 0,3-2 10 0,-6 2-10 15,6-2 12-15,-7 2-3 0,7 1-1 0,-6-1 0 16,-3 0 0-16,0 1-8 0,6 2 12 0,-3-3-4 16,-6 3-8-16,3 0 0 0,-6-3 9 0,-3 3-9 15,6 0 0-15,-6 0 8 0,12 0-8 0,-9 3 0 16,5-3 0-16,-8 0 0 0,0 0 0 0,0 0 0 16,0 0 9-16,0 0-9 0,0 0 12 0,0 0-12 15,0 0 20-15,0 0-2 0,6-3-1 0,-6 3 0 16,0 0-1-16,0 0-1 0,0 0 0 0,0 0 0 0,0 0-15 0,0 0 11 15,6-2-11-15,-6 2 10 0,0 0-10 0,0 0 0 16,6-3 0-16,-6 3 0 0,3-3 0 0,-3 3 0 16,0 0 0-16,0 0 0 0,0 0 0 0,0 0 0 15,6 0 0-15,-6 0 0 0,0 0-18 0,0 0-6 16,0 0 0-16,3 6-408 16,-3-6-82-16</inkml:trace>
  <inkml:trace contextRef="#ctx0" brushRef="#br0" timeOffset="6698.79">1812 12335 270 0,'0'0'12'0,"0"0"2"0,0 0-14 0,0 0 0 0,0 0 0 0,-3 5 0 0,-3-2 0 0,3 2 8 16,3-5-8-16,0 0 0 0,0 0 0 0,-6 5 0 16,0-2 0-16,6-3 0 0,0 0 8 0,0 0 6 15,0 0 1-15,0 0 0 0,0 0 33 0,0 0 8 16,0 0 0-16,0 0 1 0,0 0 6 0,0 0 1 16,0 0 0-16,0 0 0 0,0 0-18 0,6 0-3 15,3-3-1-15,0 3 0 0,0-2-26 0,-1-1-4 16,4 3-2-16,0 0 0 0,-3-3-10 0,3 3 8 15,3 0-8-15,-3 0 8 0,6 0-8 0,-6 0 0 16,0 0 0-16,5 3 0 0,-5 0 8 0,6-1-8 16,3-2 0-16,-6 6 8 0,6-4-8 0,3 1 0 15,-1 0 0-15,4 5 0 0,-3-3 0 0,3-2 10 0,-3 2 1 16,2 3 0-16,1-3-11 0,0 0 0 16,-3 1 0-16,0-1-11 0,-4 0 19 0,1-2 3 0,0 2 1 15,-6-2 0-15,0-1 12 0,6 1 4 0,-12 0 0 16,5-1 0-16,-2 1-8 0,3-3 0 0,-3 0-1 0,0 0 0 15,0 0-19-15,-3-3 0 0,6 3 8 0,-9-2-8 16,3-1 31-16,-3 0 2 0,0 1 1 0,3 2 0 16,-4-3-20-16,4 0-4 0,-9 1-1 0,6-1 0 15,0 1-9-15,-3 2 0 0,-3 0 9 0,0 0-9 16,0 0-9-16,0 0-7 0,0 0 0 0,0 0-381 16,-3 2-76-16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7ED708-C9B9-44F6-B96A-322CA532180C}" type="datetimeFigureOut">
              <a:rPr lang="en-US" smtClean="0"/>
              <a:t>6/14/2024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7AEEAA-28E0-4787-8ECB-A657FD8F60FC}" type="slidenum">
              <a:rPr lang="en-US" smtClean="0"/>
              <a:t>‹#›</a:t>
            </a:fld>
            <a:endParaRPr lang="en-US"/>
          </a:p>
        </p:txBody>
      </p:sp>
    </p:spTree>
    <p:extLst>
      <p:ext uri="{BB962C8B-B14F-4D97-AF65-F5344CB8AC3E}">
        <p14:creationId xmlns:p14="http://schemas.microsoft.com/office/powerpoint/2010/main" val="3053697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1</a:t>
            </a:fld>
            <a:endParaRPr lang="en-US"/>
          </a:p>
        </p:txBody>
      </p:sp>
    </p:spTree>
    <p:extLst>
      <p:ext uri="{BB962C8B-B14F-4D97-AF65-F5344CB8AC3E}">
        <p14:creationId xmlns:p14="http://schemas.microsoft.com/office/powerpoint/2010/main" val="3080810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2</a:t>
            </a:fld>
            <a:endParaRPr lang="en-US"/>
          </a:p>
        </p:txBody>
      </p:sp>
    </p:spTree>
    <p:extLst>
      <p:ext uri="{BB962C8B-B14F-4D97-AF65-F5344CB8AC3E}">
        <p14:creationId xmlns:p14="http://schemas.microsoft.com/office/powerpoint/2010/main" val="2349320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3</a:t>
            </a:fld>
            <a:endParaRPr lang="en-US"/>
          </a:p>
        </p:txBody>
      </p:sp>
    </p:spTree>
    <p:extLst>
      <p:ext uri="{BB962C8B-B14F-4D97-AF65-F5344CB8AC3E}">
        <p14:creationId xmlns:p14="http://schemas.microsoft.com/office/powerpoint/2010/main" val="2527918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4</a:t>
            </a:fld>
            <a:endParaRPr lang="en-US"/>
          </a:p>
        </p:txBody>
      </p:sp>
    </p:spTree>
    <p:extLst>
      <p:ext uri="{BB962C8B-B14F-4D97-AF65-F5344CB8AC3E}">
        <p14:creationId xmlns:p14="http://schemas.microsoft.com/office/powerpoint/2010/main" val="7821716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5</a:t>
            </a:fld>
            <a:endParaRPr lang="en-US"/>
          </a:p>
        </p:txBody>
      </p:sp>
    </p:spTree>
    <p:extLst>
      <p:ext uri="{BB962C8B-B14F-4D97-AF65-F5344CB8AC3E}">
        <p14:creationId xmlns:p14="http://schemas.microsoft.com/office/powerpoint/2010/main" val="13763573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6</a:t>
            </a:fld>
            <a:endParaRPr lang="en-US"/>
          </a:p>
        </p:txBody>
      </p:sp>
    </p:spTree>
    <p:extLst>
      <p:ext uri="{BB962C8B-B14F-4D97-AF65-F5344CB8AC3E}">
        <p14:creationId xmlns:p14="http://schemas.microsoft.com/office/powerpoint/2010/main" val="38285779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7</a:t>
            </a:fld>
            <a:endParaRPr lang="en-US"/>
          </a:p>
        </p:txBody>
      </p:sp>
    </p:spTree>
    <p:extLst>
      <p:ext uri="{BB962C8B-B14F-4D97-AF65-F5344CB8AC3E}">
        <p14:creationId xmlns:p14="http://schemas.microsoft.com/office/powerpoint/2010/main" val="9310355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8</a:t>
            </a:fld>
            <a:endParaRPr lang="en-US"/>
          </a:p>
        </p:txBody>
      </p:sp>
    </p:spTree>
    <p:extLst>
      <p:ext uri="{BB962C8B-B14F-4D97-AF65-F5344CB8AC3E}">
        <p14:creationId xmlns:p14="http://schemas.microsoft.com/office/powerpoint/2010/main" val="33521894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9</a:t>
            </a:fld>
            <a:endParaRPr lang="en-US"/>
          </a:p>
        </p:txBody>
      </p:sp>
    </p:spTree>
    <p:extLst>
      <p:ext uri="{BB962C8B-B14F-4D97-AF65-F5344CB8AC3E}">
        <p14:creationId xmlns:p14="http://schemas.microsoft.com/office/powerpoint/2010/main" val="27725132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10</a:t>
            </a:fld>
            <a:endParaRPr lang="en-US"/>
          </a:p>
        </p:txBody>
      </p:sp>
    </p:spTree>
    <p:extLst>
      <p:ext uri="{BB962C8B-B14F-4D97-AF65-F5344CB8AC3E}">
        <p14:creationId xmlns:p14="http://schemas.microsoft.com/office/powerpoint/2010/main" val="7641942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7AEEAA-28E0-4787-8ECB-A657FD8F60FC}" type="slidenum">
              <a:rPr lang="en-US" smtClean="0"/>
              <a:t>11</a:t>
            </a:fld>
            <a:endParaRPr lang="en-US"/>
          </a:p>
        </p:txBody>
      </p:sp>
    </p:spTree>
    <p:extLst>
      <p:ext uri="{BB962C8B-B14F-4D97-AF65-F5344CB8AC3E}">
        <p14:creationId xmlns:p14="http://schemas.microsoft.com/office/powerpoint/2010/main" val="17022741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7AEEAA-28E0-4787-8ECB-A657FD8F60FC}" type="slidenum">
              <a:rPr lang="en-US" smtClean="0"/>
              <a:t>12</a:t>
            </a:fld>
            <a:endParaRPr lang="en-US"/>
          </a:p>
        </p:txBody>
      </p:sp>
    </p:spTree>
    <p:extLst>
      <p:ext uri="{BB962C8B-B14F-4D97-AF65-F5344CB8AC3E}">
        <p14:creationId xmlns:p14="http://schemas.microsoft.com/office/powerpoint/2010/main" val="25125210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13</a:t>
            </a:fld>
            <a:endParaRPr lang="en-US"/>
          </a:p>
        </p:txBody>
      </p:sp>
    </p:spTree>
    <p:extLst>
      <p:ext uri="{BB962C8B-B14F-4D97-AF65-F5344CB8AC3E}">
        <p14:creationId xmlns:p14="http://schemas.microsoft.com/office/powerpoint/2010/main" val="27008575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14</a:t>
            </a:fld>
            <a:endParaRPr lang="en-US"/>
          </a:p>
        </p:txBody>
      </p:sp>
    </p:spTree>
    <p:extLst>
      <p:ext uri="{BB962C8B-B14F-4D97-AF65-F5344CB8AC3E}">
        <p14:creationId xmlns:p14="http://schemas.microsoft.com/office/powerpoint/2010/main" val="445325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15</a:t>
            </a:fld>
            <a:endParaRPr lang="en-US"/>
          </a:p>
        </p:txBody>
      </p:sp>
    </p:spTree>
    <p:extLst>
      <p:ext uri="{BB962C8B-B14F-4D97-AF65-F5344CB8AC3E}">
        <p14:creationId xmlns:p14="http://schemas.microsoft.com/office/powerpoint/2010/main" val="28750360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16</a:t>
            </a:fld>
            <a:endParaRPr lang="en-US"/>
          </a:p>
        </p:txBody>
      </p:sp>
    </p:spTree>
    <p:extLst>
      <p:ext uri="{BB962C8B-B14F-4D97-AF65-F5344CB8AC3E}">
        <p14:creationId xmlns:p14="http://schemas.microsoft.com/office/powerpoint/2010/main" val="25051396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17</a:t>
            </a:fld>
            <a:endParaRPr lang="en-US"/>
          </a:p>
        </p:txBody>
      </p:sp>
    </p:spTree>
    <p:extLst>
      <p:ext uri="{BB962C8B-B14F-4D97-AF65-F5344CB8AC3E}">
        <p14:creationId xmlns:p14="http://schemas.microsoft.com/office/powerpoint/2010/main" val="38558039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18</a:t>
            </a:fld>
            <a:endParaRPr lang="en-US"/>
          </a:p>
        </p:txBody>
      </p:sp>
    </p:spTree>
    <p:extLst>
      <p:ext uri="{BB962C8B-B14F-4D97-AF65-F5344CB8AC3E}">
        <p14:creationId xmlns:p14="http://schemas.microsoft.com/office/powerpoint/2010/main" val="18754317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19</a:t>
            </a:fld>
            <a:endParaRPr lang="en-US"/>
          </a:p>
        </p:txBody>
      </p:sp>
    </p:spTree>
    <p:extLst>
      <p:ext uri="{BB962C8B-B14F-4D97-AF65-F5344CB8AC3E}">
        <p14:creationId xmlns:p14="http://schemas.microsoft.com/office/powerpoint/2010/main" val="23033311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20</a:t>
            </a:fld>
            <a:endParaRPr lang="en-US"/>
          </a:p>
        </p:txBody>
      </p:sp>
    </p:spTree>
    <p:extLst>
      <p:ext uri="{BB962C8B-B14F-4D97-AF65-F5344CB8AC3E}">
        <p14:creationId xmlns:p14="http://schemas.microsoft.com/office/powerpoint/2010/main" val="15712818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21</a:t>
            </a:fld>
            <a:endParaRPr lang="en-US"/>
          </a:p>
        </p:txBody>
      </p:sp>
    </p:spTree>
    <p:extLst>
      <p:ext uri="{BB962C8B-B14F-4D97-AF65-F5344CB8AC3E}">
        <p14:creationId xmlns:p14="http://schemas.microsoft.com/office/powerpoint/2010/main" val="38073676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22</a:t>
            </a:fld>
            <a:endParaRPr lang="en-US"/>
          </a:p>
        </p:txBody>
      </p:sp>
    </p:spTree>
    <p:extLst>
      <p:ext uri="{BB962C8B-B14F-4D97-AF65-F5344CB8AC3E}">
        <p14:creationId xmlns:p14="http://schemas.microsoft.com/office/powerpoint/2010/main" val="2682843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23</a:t>
            </a:fld>
            <a:endParaRPr lang="en-US"/>
          </a:p>
        </p:txBody>
      </p:sp>
    </p:spTree>
    <p:extLst>
      <p:ext uri="{BB962C8B-B14F-4D97-AF65-F5344CB8AC3E}">
        <p14:creationId xmlns:p14="http://schemas.microsoft.com/office/powerpoint/2010/main" val="8946143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24</a:t>
            </a:fld>
            <a:endParaRPr lang="en-US"/>
          </a:p>
        </p:txBody>
      </p:sp>
    </p:spTree>
    <p:extLst>
      <p:ext uri="{BB962C8B-B14F-4D97-AF65-F5344CB8AC3E}">
        <p14:creationId xmlns:p14="http://schemas.microsoft.com/office/powerpoint/2010/main" val="27715745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25</a:t>
            </a:fld>
            <a:endParaRPr lang="en-US"/>
          </a:p>
        </p:txBody>
      </p:sp>
    </p:spTree>
    <p:extLst>
      <p:ext uri="{BB962C8B-B14F-4D97-AF65-F5344CB8AC3E}">
        <p14:creationId xmlns:p14="http://schemas.microsoft.com/office/powerpoint/2010/main" val="19065818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26</a:t>
            </a:fld>
            <a:endParaRPr lang="en-US"/>
          </a:p>
        </p:txBody>
      </p:sp>
    </p:spTree>
    <p:extLst>
      <p:ext uri="{BB962C8B-B14F-4D97-AF65-F5344CB8AC3E}">
        <p14:creationId xmlns:p14="http://schemas.microsoft.com/office/powerpoint/2010/main" val="23412923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27</a:t>
            </a:fld>
            <a:endParaRPr lang="en-US"/>
          </a:p>
        </p:txBody>
      </p:sp>
    </p:spTree>
    <p:extLst>
      <p:ext uri="{BB962C8B-B14F-4D97-AF65-F5344CB8AC3E}">
        <p14:creationId xmlns:p14="http://schemas.microsoft.com/office/powerpoint/2010/main" val="3513104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28</a:t>
            </a:fld>
            <a:endParaRPr lang="en-US"/>
          </a:p>
        </p:txBody>
      </p:sp>
    </p:spTree>
    <p:extLst>
      <p:ext uri="{BB962C8B-B14F-4D97-AF65-F5344CB8AC3E}">
        <p14:creationId xmlns:p14="http://schemas.microsoft.com/office/powerpoint/2010/main" val="18153289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29</a:t>
            </a:fld>
            <a:endParaRPr lang="en-US"/>
          </a:p>
        </p:txBody>
      </p:sp>
    </p:spTree>
    <p:extLst>
      <p:ext uri="{BB962C8B-B14F-4D97-AF65-F5344CB8AC3E}">
        <p14:creationId xmlns:p14="http://schemas.microsoft.com/office/powerpoint/2010/main" val="25112897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30</a:t>
            </a:fld>
            <a:endParaRPr lang="en-US"/>
          </a:p>
        </p:txBody>
      </p:sp>
    </p:spTree>
    <p:extLst>
      <p:ext uri="{BB962C8B-B14F-4D97-AF65-F5344CB8AC3E}">
        <p14:creationId xmlns:p14="http://schemas.microsoft.com/office/powerpoint/2010/main" val="6953665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31</a:t>
            </a:fld>
            <a:endParaRPr lang="en-US"/>
          </a:p>
        </p:txBody>
      </p:sp>
    </p:spTree>
    <p:extLst>
      <p:ext uri="{BB962C8B-B14F-4D97-AF65-F5344CB8AC3E}">
        <p14:creationId xmlns:p14="http://schemas.microsoft.com/office/powerpoint/2010/main" val="19408373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32</a:t>
            </a:fld>
            <a:endParaRPr lang="en-US"/>
          </a:p>
        </p:txBody>
      </p:sp>
    </p:spTree>
    <p:extLst>
      <p:ext uri="{BB962C8B-B14F-4D97-AF65-F5344CB8AC3E}">
        <p14:creationId xmlns:p14="http://schemas.microsoft.com/office/powerpoint/2010/main" val="2798257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33</a:t>
            </a:fld>
            <a:endParaRPr lang="en-US"/>
          </a:p>
        </p:txBody>
      </p:sp>
    </p:spTree>
    <p:extLst>
      <p:ext uri="{BB962C8B-B14F-4D97-AF65-F5344CB8AC3E}">
        <p14:creationId xmlns:p14="http://schemas.microsoft.com/office/powerpoint/2010/main" val="20007673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34</a:t>
            </a:fld>
            <a:endParaRPr lang="en-US"/>
          </a:p>
        </p:txBody>
      </p:sp>
    </p:spTree>
    <p:extLst>
      <p:ext uri="{BB962C8B-B14F-4D97-AF65-F5344CB8AC3E}">
        <p14:creationId xmlns:p14="http://schemas.microsoft.com/office/powerpoint/2010/main" val="17252010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35</a:t>
            </a:fld>
            <a:endParaRPr lang="en-CA" altLang="en-US"/>
          </a:p>
        </p:txBody>
      </p:sp>
    </p:spTree>
    <p:extLst>
      <p:ext uri="{BB962C8B-B14F-4D97-AF65-F5344CB8AC3E}">
        <p14:creationId xmlns:p14="http://schemas.microsoft.com/office/powerpoint/2010/main" val="36919009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Ask for questions</a:t>
            </a:r>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36</a:t>
            </a:fld>
            <a:endParaRPr lang="en-CA" altLang="en-US"/>
          </a:p>
        </p:txBody>
      </p:sp>
    </p:spTree>
    <p:extLst>
      <p:ext uri="{BB962C8B-B14F-4D97-AF65-F5344CB8AC3E}">
        <p14:creationId xmlns:p14="http://schemas.microsoft.com/office/powerpoint/2010/main" val="42582648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Ask for questions</a:t>
            </a:r>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37</a:t>
            </a:fld>
            <a:endParaRPr lang="en-CA" altLang="en-US"/>
          </a:p>
        </p:txBody>
      </p:sp>
    </p:spTree>
    <p:extLst>
      <p:ext uri="{BB962C8B-B14F-4D97-AF65-F5344CB8AC3E}">
        <p14:creationId xmlns:p14="http://schemas.microsoft.com/office/powerpoint/2010/main" val="21187459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42</a:t>
            </a:fld>
            <a:endParaRPr lang="en-CA" altLang="en-US"/>
          </a:p>
        </p:txBody>
      </p:sp>
    </p:spTree>
    <p:extLst>
      <p:ext uri="{BB962C8B-B14F-4D97-AF65-F5344CB8AC3E}">
        <p14:creationId xmlns:p14="http://schemas.microsoft.com/office/powerpoint/2010/main" val="6899715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43</a:t>
            </a:fld>
            <a:endParaRPr lang="en-CA" altLang="en-US"/>
          </a:p>
        </p:txBody>
      </p:sp>
    </p:spTree>
    <p:extLst>
      <p:ext uri="{BB962C8B-B14F-4D97-AF65-F5344CB8AC3E}">
        <p14:creationId xmlns:p14="http://schemas.microsoft.com/office/powerpoint/2010/main" val="35357514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44</a:t>
            </a:fld>
            <a:endParaRPr lang="en-CA" altLang="en-US"/>
          </a:p>
        </p:txBody>
      </p:sp>
    </p:spTree>
    <p:extLst>
      <p:ext uri="{BB962C8B-B14F-4D97-AF65-F5344CB8AC3E}">
        <p14:creationId xmlns:p14="http://schemas.microsoft.com/office/powerpoint/2010/main" val="10732985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49</a:t>
            </a:fld>
            <a:endParaRPr lang="en-CA" altLang="en-US"/>
          </a:p>
        </p:txBody>
      </p:sp>
    </p:spTree>
    <p:extLst>
      <p:ext uri="{BB962C8B-B14F-4D97-AF65-F5344CB8AC3E}">
        <p14:creationId xmlns:p14="http://schemas.microsoft.com/office/powerpoint/2010/main" val="16226341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50</a:t>
            </a:fld>
            <a:endParaRPr lang="en-CA" altLang="en-US"/>
          </a:p>
        </p:txBody>
      </p:sp>
    </p:spTree>
    <p:extLst>
      <p:ext uri="{BB962C8B-B14F-4D97-AF65-F5344CB8AC3E}">
        <p14:creationId xmlns:p14="http://schemas.microsoft.com/office/powerpoint/2010/main" val="15297789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56</a:t>
            </a:fld>
            <a:endParaRPr lang="en-US"/>
          </a:p>
        </p:txBody>
      </p:sp>
    </p:spTree>
    <p:extLst>
      <p:ext uri="{BB962C8B-B14F-4D97-AF65-F5344CB8AC3E}">
        <p14:creationId xmlns:p14="http://schemas.microsoft.com/office/powerpoint/2010/main" val="165455283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57</a:t>
            </a:fld>
            <a:endParaRPr lang="en-US"/>
          </a:p>
        </p:txBody>
      </p:sp>
    </p:spTree>
    <p:extLst>
      <p:ext uri="{BB962C8B-B14F-4D97-AF65-F5344CB8AC3E}">
        <p14:creationId xmlns:p14="http://schemas.microsoft.com/office/powerpoint/2010/main" val="318517520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58</a:t>
            </a:fld>
            <a:endParaRPr lang="en-US"/>
          </a:p>
        </p:txBody>
      </p:sp>
    </p:spTree>
    <p:extLst>
      <p:ext uri="{BB962C8B-B14F-4D97-AF65-F5344CB8AC3E}">
        <p14:creationId xmlns:p14="http://schemas.microsoft.com/office/powerpoint/2010/main" val="8538363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59</a:t>
            </a:fld>
            <a:endParaRPr lang="en-US"/>
          </a:p>
        </p:txBody>
      </p:sp>
    </p:spTree>
    <p:extLst>
      <p:ext uri="{BB962C8B-B14F-4D97-AF65-F5344CB8AC3E}">
        <p14:creationId xmlns:p14="http://schemas.microsoft.com/office/powerpoint/2010/main" val="16280282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60</a:t>
            </a:fld>
            <a:endParaRPr lang="en-US"/>
          </a:p>
        </p:txBody>
      </p:sp>
    </p:spTree>
    <p:extLst>
      <p:ext uri="{BB962C8B-B14F-4D97-AF65-F5344CB8AC3E}">
        <p14:creationId xmlns:p14="http://schemas.microsoft.com/office/powerpoint/2010/main" val="251494195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61</a:t>
            </a:fld>
            <a:endParaRPr lang="en-US"/>
          </a:p>
        </p:txBody>
      </p:sp>
    </p:spTree>
    <p:extLst>
      <p:ext uri="{BB962C8B-B14F-4D97-AF65-F5344CB8AC3E}">
        <p14:creationId xmlns:p14="http://schemas.microsoft.com/office/powerpoint/2010/main" val="15619552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62</a:t>
            </a:fld>
            <a:endParaRPr lang="en-US"/>
          </a:p>
        </p:txBody>
      </p:sp>
    </p:spTree>
    <p:extLst>
      <p:ext uri="{BB962C8B-B14F-4D97-AF65-F5344CB8AC3E}">
        <p14:creationId xmlns:p14="http://schemas.microsoft.com/office/powerpoint/2010/main" val="35247887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7AEEAA-28E0-4787-8ECB-A657FD8F60FC}" type="slidenum">
              <a:rPr lang="en-US" smtClean="0"/>
              <a:t>63</a:t>
            </a:fld>
            <a:endParaRPr lang="en-US"/>
          </a:p>
        </p:txBody>
      </p:sp>
    </p:spTree>
    <p:extLst>
      <p:ext uri="{BB962C8B-B14F-4D97-AF65-F5344CB8AC3E}">
        <p14:creationId xmlns:p14="http://schemas.microsoft.com/office/powerpoint/2010/main" val="31783179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FF3542B-44D2-4DD3-8710-2F527D4EC8EF}" type="datetimeFigureOut">
              <a:rPr lang="en-US" smtClean="0"/>
              <a:t>6/14/2024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EC754F-CAD1-479A-A855-19CBBBA2F19C}" type="slidenum">
              <a:rPr lang="en-US" smtClean="0"/>
              <a:t>‹#›</a:t>
            </a:fld>
            <a:endParaRPr lang="en-US"/>
          </a:p>
        </p:txBody>
      </p:sp>
    </p:spTree>
    <p:extLst>
      <p:ext uri="{BB962C8B-B14F-4D97-AF65-F5344CB8AC3E}">
        <p14:creationId xmlns:p14="http://schemas.microsoft.com/office/powerpoint/2010/main" val="3775748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FF3542B-44D2-4DD3-8710-2F527D4EC8EF}" type="datetimeFigureOut">
              <a:rPr lang="en-US" smtClean="0"/>
              <a:t>6/14/2024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EC754F-CAD1-479A-A855-19CBBBA2F19C}" type="slidenum">
              <a:rPr lang="en-US" smtClean="0"/>
              <a:t>‹#›</a:t>
            </a:fld>
            <a:endParaRPr lang="en-US"/>
          </a:p>
        </p:txBody>
      </p:sp>
    </p:spTree>
    <p:extLst>
      <p:ext uri="{BB962C8B-B14F-4D97-AF65-F5344CB8AC3E}">
        <p14:creationId xmlns:p14="http://schemas.microsoft.com/office/powerpoint/2010/main" val="2279652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FF3542B-44D2-4DD3-8710-2F527D4EC8EF}" type="datetimeFigureOut">
              <a:rPr lang="en-US" smtClean="0"/>
              <a:t>6/14/2024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EC754F-CAD1-479A-A855-19CBBBA2F19C}" type="slidenum">
              <a:rPr lang="en-US" smtClean="0"/>
              <a:t>‹#›</a:t>
            </a:fld>
            <a:endParaRPr lang="en-US"/>
          </a:p>
        </p:txBody>
      </p:sp>
    </p:spTree>
    <p:extLst>
      <p:ext uri="{BB962C8B-B14F-4D97-AF65-F5344CB8AC3E}">
        <p14:creationId xmlns:p14="http://schemas.microsoft.com/office/powerpoint/2010/main" val="2786461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FF3542B-44D2-4DD3-8710-2F527D4EC8EF}" type="datetimeFigureOut">
              <a:rPr lang="en-US" smtClean="0"/>
              <a:t>6/14/2024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EC754F-CAD1-479A-A855-19CBBBA2F19C}" type="slidenum">
              <a:rPr lang="en-US" smtClean="0"/>
              <a:t>‹#›</a:t>
            </a:fld>
            <a:endParaRPr lang="en-US"/>
          </a:p>
        </p:txBody>
      </p:sp>
    </p:spTree>
    <p:extLst>
      <p:ext uri="{BB962C8B-B14F-4D97-AF65-F5344CB8AC3E}">
        <p14:creationId xmlns:p14="http://schemas.microsoft.com/office/powerpoint/2010/main" val="3568812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FF3542B-44D2-4DD3-8710-2F527D4EC8EF}" type="datetimeFigureOut">
              <a:rPr lang="en-US" smtClean="0"/>
              <a:t>6/14/2024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EC754F-CAD1-479A-A855-19CBBBA2F19C}" type="slidenum">
              <a:rPr lang="en-US" smtClean="0"/>
              <a:t>‹#›</a:t>
            </a:fld>
            <a:endParaRPr lang="en-US"/>
          </a:p>
        </p:txBody>
      </p:sp>
    </p:spTree>
    <p:extLst>
      <p:ext uri="{BB962C8B-B14F-4D97-AF65-F5344CB8AC3E}">
        <p14:creationId xmlns:p14="http://schemas.microsoft.com/office/powerpoint/2010/main" val="2147223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FF3542B-44D2-4DD3-8710-2F527D4EC8EF}" type="datetimeFigureOut">
              <a:rPr lang="en-US" smtClean="0"/>
              <a:t>6/14/2024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EC754F-CAD1-479A-A855-19CBBBA2F19C}" type="slidenum">
              <a:rPr lang="en-US" smtClean="0"/>
              <a:t>‹#›</a:t>
            </a:fld>
            <a:endParaRPr lang="en-US"/>
          </a:p>
        </p:txBody>
      </p:sp>
    </p:spTree>
    <p:extLst>
      <p:ext uri="{BB962C8B-B14F-4D97-AF65-F5344CB8AC3E}">
        <p14:creationId xmlns:p14="http://schemas.microsoft.com/office/powerpoint/2010/main" val="1779503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F3542B-44D2-4DD3-8710-2F527D4EC8EF}" type="datetimeFigureOut">
              <a:rPr lang="en-US" smtClean="0"/>
              <a:t>6/14/2024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9EC754F-CAD1-479A-A855-19CBBBA2F19C}" type="slidenum">
              <a:rPr lang="en-US" smtClean="0"/>
              <a:t>‹#›</a:t>
            </a:fld>
            <a:endParaRPr lang="en-US"/>
          </a:p>
        </p:txBody>
      </p:sp>
    </p:spTree>
    <p:extLst>
      <p:ext uri="{BB962C8B-B14F-4D97-AF65-F5344CB8AC3E}">
        <p14:creationId xmlns:p14="http://schemas.microsoft.com/office/powerpoint/2010/main" val="1722973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FF3542B-44D2-4DD3-8710-2F527D4EC8EF}" type="datetimeFigureOut">
              <a:rPr lang="en-US" smtClean="0"/>
              <a:t>6/14/2024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EC754F-CAD1-479A-A855-19CBBBA2F19C}" type="slidenum">
              <a:rPr lang="en-US" smtClean="0"/>
              <a:t>‹#›</a:t>
            </a:fld>
            <a:endParaRPr lang="en-US"/>
          </a:p>
        </p:txBody>
      </p:sp>
    </p:spTree>
    <p:extLst>
      <p:ext uri="{BB962C8B-B14F-4D97-AF65-F5344CB8AC3E}">
        <p14:creationId xmlns:p14="http://schemas.microsoft.com/office/powerpoint/2010/main" val="4226493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FF3542B-44D2-4DD3-8710-2F527D4EC8EF}" type="datetimeFigureOut">
              <a:rPr lang="en-US" smtClean="0"/>
              <a:t>6/14/2024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EC754F-CAD1-479A-A855-19CBBBA2F19C}" type="slidenum">
              <a:rPr lang="en-US" smtClean="0"/>
              <a:t>‹#›</a:t>
            </a:fld>
            <a:endParaRPr lang="en-US"/>
          </a:p>
        </p:txBody>
      </p:sp>
    </p:spTree>
    <p:extLst>
      <p:ext uri="{BB962C8B-B14F-4D97-AF65-F5344CB8AC3E}">
        <p14:creationId xmlns:p14="http://schemas.microsoft.com/office/powerpoint/2010/main" val="1892966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FF3542B-44D2-4DD3-8710-2F527D4EC8EF}" type="datetimeFigureOut">
              <a:rPr lang="en-US" smtClean="0"/>
              <a:t>6/14/2024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EC754F-CAD1-479A-A855-19CBBBA2F19C}" type="slidenum">
              <a:rPr lang="en-US" smtClean="0"/>
              <a:t>‹#›</a:t>
            </a:fld>
            <a:endParaRPr lang="en-US"/>
          </a:p>
        </p:txBody>
      </p:sp>
    </p:spTree>
    <p:extLst>
      <p:ext uri="{BB962C8B-B14F-4D97-AF65-F5344CB8AC3E}">
        <p14:creationId xmlns:p14="http://schemas.microsoft.com/office/powerpoint/2010/main" val="4102454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FF3542B-44D2-4DD3-8710-2F527D4EC8EF}" type="datetimeFigureOut">
              <a:rPr lang="en-US" smtClean="0"/>
              <a:t>6/14/2024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EC754F-CAD1-479A-A855-19CBBBA2F19C}" type="slidenum">
              <a:rPr lang="en-US" smtClean="0"/>
              <a:t>‹#›</a:t>
            </a:fld>
            <a:endParaRPr lang="en-US"/>
          </a:p>
        </p:txBody>
      </p:sp>
    </p:spTree>
    <p:extLst>
      <p:ext uri="{BB962C8B-B14F-4D97-AF65-F5344CB8AC3E}">
        <p14:creationId xmlns:p14="http://schemas.microsoft.com/office/powerpoint/2010/main" val="3986612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F3542B-44D2-4DD3-8710-2F527D4EC8EF}" type="datetimeFigureOut">
              <a:rPr lang="en-US" smtClean="0"/>
              <a:t>6/14/2024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EC754F-CAD1-479A-A855-19CBBBA2F19C}" type="slidenum">
              <a:rPr lang="en-US" smtClean="0"/>
              <a:t>‹#›</a:t>
            </a:fld>
            <a:endParaRPr lang="en-US"/>
          </a:p>
        </p:txBody>
      </p:sp>
    </p:spTree>
    <p:extLst>
      <p:ext uri="{BB962C8B-B14F-4D97-AF65-F5344CB8AC3E}">
        <p14:creationId xmlns:p14="http://schemas.microsoft.com/office/powerpoint/2010/main" val="222720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9.png"/><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9.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10" Type="http://schemas.openxmlformats.org/officeDocument/2006/relationships/image" Target="../media/image58.png"/><Relationship Id="rId4" Type="http://schemas.openxmlformats.org/officeDocument/2006/relationships/image" Target="../media/image52.png"/><Relationship Id="rId9" Type="http://schemas.openxmlformats.org/officeDocument/2006/relationships/image" Target="../media/image57.png"/></Relationships>
</file>

<file path=ppt/slides/_rels/slide20.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2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22.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1.png"/><Relationship Id="rId7" Type="http://schemas.openxmlformats.org/officeDocument/2006/relationships/image" Target="../media/image66.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650.png"/><Relationship Id="rId11" Type="http://schemas.openxmlformats.org/officeDocument/2006/relationships/image" Target="../media/image70.png"/><Relationship Id="rId5" Type="http://schemas.openxmlformats.org/officeDocument/2006/relationships/image" Target="../media/image641.png"/><Relationship Id="rId10" Type="http://schemas.openxmlformats.org/officeDocument/2006/relationships/image" Target="../media/image69.png"/><Relationship Id="rId4" Type="http://schemas.openxmlformats.org/officeDocument/2006/relationships/image" Target="../media/image631.png"/><Relationship Id="rId9" Type="http://schemas.openxmlformats.org/officeDocument/2006/relationships/image" Target="../media/image68.png"/></Relationships>
</file>

<file path=ppt/slides/_rels/slide23.xml.rels><?xml version="1.0" encoding="UTF-8" standalone="yes"?>
<Relationships xmlns="http://schemas.openxmlformats.org/package/2006/relationships"><Relationship Id="rId3" Type="http://schemas.openxmlformats.org/officeDocument/2006/relationships/image" Target="../media/image621.png"/><Relationship Id="rId7" Type="http://schemas.openxmlformats.org/officeDocument/2006/relationships/image" Target="../media/image7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650.png"/><Relationship Id="rId5" Type="http://schemas.openxmlformats.org/officeDocument/2006/relationships/image" Target="../media/image641.png"/><Relationship Id="rId4" Type="http://schemas.openxmlformats.org/officeDocument/2006/relationships/image" Target="../media/image631.png"/></Relationships>
</file>

<file path=ppt/slides/_rels/slide24.xml.rels><?xml version="1.0" encoding="UTF-8" standalone="yes"?>
<Relationships xmlns="http://schemas.openxmlformats.org/package/2006/relationships"><Relationship Id="rId8" Type="http://schemas.openxmlformats.org/officeDocument/2006/relationships/image" Target="../media/image77.png"/><Relationship Id="rId13" Type="http://schemas.openxmlformats.org/officeDocument/2006/relationships/image" Target="../media/image82.png"/><Relationship Id="rId3" Type="http://schemas.openxmlformats.org/officeDocument/2006/relationships/image" Target="../media/image72.png"/><Relationship Id="rId7" Type="http://schemas.openxmlformats.org/officeDocument/2006/relationships/image" Target="../media/image76.png"/><Relationship Id="rId12" Type="http://schemas.openxmlformats.org/officeDocument/2006/relationships/image" Target="../media/image8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75.png"/><Relationship Id="rId11" Type="http://schemas.openxmlformats.org/officeDocument/2006/relationships/image" Target="../media/image80.png"/><Relationship Id="rId5" Type="http://schemas.openxmlformats.org/officeDocument/2006/relationships/image" Target="../media/image74.png"/><Relationship Id="rId15" Type="http://schemas.openxmlformats.org/officeDocument/2006/relationships/image" Target="../media/image84.png"/><Relationship Id="rId10" Type="http://schemas.openxmlformats.org/officeDocument/2006/relationships/image" Target="../media/image79.png"/><Relationship Id="rId4" Type="http://schemas.openxmlformats.org/officeDocument/2006/relationships/image" Target="../media/image73.png"/><Relationship Id="rId9" Type="http://schemas.openxmlformats.org/officeDocument/2006/relationships/image" Target="../media/image78.png"/><Relationship Id="rId14" Type="http://schemas.openxmlformats.org/officeDocument/2006/relationships/image" Target="../media/image83.png"/></Relationships>
</file>

<file path=ppt/slides/_rels/slide2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86.jpeg"/></Relationships>
</file>

<file path=ppt/slides/_rels/slide3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30.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35.xml.rels><?xml version="1.0" encoding="UTF-8" standalone="yes"?>
<Relationships xmlns="http://schemas.openxmlformats.org/package/2006/relationships"><Relationship Id="rId3" Type="http://schemas.openxmlformats.org/officeDocument/2006/relationships/image" Target="../media/image95.emf"/><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880.png"/></Relationships>
</file>

<file path=ppt/slides/_rels/slide36.xml.rels><?xml version="1.0" encoding="UTF-8" standalone="yes"?>
<Relationships xmlns="http://schemas.openxmlformats.org/package/2006/relationships"><Relationship Id="rId3" Type="http://schemas.openxmlformats.org/officeDocument/2006/relationships/image" Target="../media/image96.png"/><Relationship Id="rId7" Type="http://schemas.openxmlformats.org/officeDocument/2006/relationships/image" Target="../media/image910.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97.jpeg"/><Relationship Id="rId5" Type="http://schemas.openxmlformats.org/officeDocument/2006/relationships/image" Target="../media/image200.png"/><Relationship Id="rId4" Type="http://schemas.openxmlformats.org/officeDocument/2006/relationships/image" Target="../media/image190.png"/></Relationships>
</file>

<file path=ppt/slides/_rels/slide37.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99.png"/><Relationship Id="rId1" Type="http://schemas.openxmlformats.org/officeDocument/2006/relationships/slideLayout" Target="../slideLayouts/slideLayout2.xml"/><Relationship Id="rId4" Type="http://schemas.openxmlformats.org/officeDocument/2006/relationships/image" Target="../media/image940.png"/></Relationships>
</file>

<file path=ppt/slides/_rels/slide39.xml.rels><?xml version="1.0" encoding="UTF-8" standalone="yes"?>
<Relationships xmlns="http://schemas.openxmlformats.org/package/2006/relationships"><Relationship Id="rId3" Type="http://schemas.openxmlformats.org/officeDocument/2006/relationships/image" Target="../media/image960.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980.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01.png"/><Relationship Id="rId7" Type="http://schemas.openxmlformats.org/officeDocument/2006/relationships/image" Target="../media/image103.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330.png"/><Relationship Id="rId5" Type="http://schemas.openxmlformats.org/officeDocument/2006/relationships/image" Target="../media/image320.png"/><Relationship Id="rId4" Type="http://schemas.openxmlformats.org/officeDocument/2006/relationships/image" Target="../media/image98.jpeg"/></Relationships>
</file>

<file path=ppt/slides/_rels/slide4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98.jpeg"/></Relationships>
</file>

<file path=ppt/slides/_rels/slide44.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1030.png"/><Relationship Id="rId5" Type="http://schemas.openxmlformats.org/officeDocument/2006/relationships/customXml" Target="../ink/ink2.xml"/><Relationship Id="rId4" Type="http://schemas.openxmlformats.org/officeDocument/2006/relationships/image" Target="../media/image98.jpeg"/></Relationships>
</file>

<file path=ppt/slides/_rels/slide45.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11.png"/></Relationships>
</file>

<file path=ppt/slides/_rels/slide50.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07.jpeg"/></Relationships>
</file>

<file path=ppt/slides/_rels/slide51.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image" Target="../media/image1110.png"/><Relationship Id="rId1" Type="http://schemas.openxmlformats.org/officeDocument/2006/relationships/slideLayout" Target="../slideLayouts/slideLayout2.xml"/><Relationship Id="rId5" Type="http://schemas.openxmlformats.org/officeDocument/2006/relationships/image" Target="../media/image114.png"/><Relationship Id="rId4" Type="http://schemas.openxmlformats.org/officeDocument/2006/relationships/customXml" Target="../ink/ink3.xml"/></Relationships>
</file>

<file path=ppt/slides/_rels/slide52.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115.png"/><Relationship Id="rId7" Type="http://schemas.openxmlformats.org/officeDocument/2006/relationships/image" Target="../media/image119.pn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118.png"/><Relationship Id="rId5" Type="http://schemas.openxmlformats.org/officeDocument/2006/relationships/image" Target="../media/image117.png"/><Relationship Id="rId4" Type="http://schemas.openxmlformats.org/officeDocument/2006/relationships/image" Target="../media/image116.png"/><Relationship Id="rId9" Type="http://schemas.openxmlformats.org/officeDocument/2006/relationships/image" Target="../media/image109.jpeg"/></Relationships>
</file>

<file path=ppt/slides/_rels/slide53.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10.png"/><Relationship Id="rId1" Type="http://schemas.openxmlformats.org/officeDocument/2006/relationships/slideLayout" Target="../slideLayouts/slideLayout2.xml"/><Relationship Id="rId5" Type="http://schemas.openxmlformats.org/officeDocument/2006/relationships/image" Target="../media/image125.png"/><Relationship Id="rId4" Type="http://schemas.openxmlformats.org/officeDocument/2006/relationships/image" Target="../media/image124.png"/></Relationships>
</file>

<file path=ppt/slides/_rels/slide55.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2.xml"/><Relationship Id="rId5" Type="http://schemas.openxmlformats.org/officeDocument/2006/relationships/image" Target="../media/image127.png"/><Relationship Id="rId4" Type="http://schemas.openxmlformats.org/officeDocument/2006/relationships/image" Target="../media/image126.png"/></Relationships>
</file>

<file path=ppt/slides/_rels/slide56.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29.png"/></Relationships>
</file>

<file path=ppt/slides/_rels/slide57.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1310.png"/></Relationships>
</file>

<file path=ppt/slides/_rels/slide60.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133.png"/></Relationships>
</file>

<file path=ppt/slides/_rels/slide62.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4555"/>
          </a:xfrm>
        </p:spPr>
        <p:txBody>
          <a:bodyPr>
            <a:normAutofit/>
          </a:bodyPr>
          <a:lstStyle/>
          <a:p>
            <a:pPr algn="ctr"/>
            <a:r>
              <a:rPr lang="en-US" sz="3200" b="1" dirty="0">
                <a:latin typeface="Times New Roman" panose="02020603050405020304" pitchFamily="18" charset="0"/>
                <a:cs typeface="Times New Roman" panose="02020603050405020304" pitchFamily="18" charset="0"/>
              </a:rPr>
              <a:t>CHAPTER 3: LAMINAR FLOW</a:t>
            </a:r>
          </a:p>
        </p:txBody>
      </p:sp>
      <p:sp>
        <p:nvSpPr>
          <p:cNvPr id="7" name="TextBox 6">
            <a:extLst>
              <a:ext uri="{FF2B5EF4-FFF2-40B4-BE49-F238E27FC236}">
                <a16:creationId xmlns:a16="http://schemas.microsoft.com/office/drawing/2014/main" id="{882A1B64-B554-444E-2242-FBD365AD8FF8}"/>
              </a:ext>
            </a:extLst>
          </p:cNvPr>
          <p:cNvSpPr txBox="1"/>
          <p:nvPr/>
        </p:nvSpPr>
        <p:spPr>
          <a:xfrm>
            <a:off x="0" y="1249680"/>
            <a:ext cx="9144000" cy="3847207"/>
          </a:xfrm>
          <a:prstGeom prst="rect">
            <a:avLst/>
          </a:prstGeom>
          <a:noFill/>
        </p:spPr>
        <p:txBody>
          <a:bodyPr wrap="square">
            <a:spAutoFit/>
          </a:bodyPr>
          <a:lstStyle/>
          <a:p>
            <a:r>
              <a:rPr lang="en-GB" sz="2800" b="1" dirty="0">
                <a:latin typeface="Times New Roman" panose="02020603050405020304" pitchFamily="18" charset="0"/>
                <a:cs typeface="Times New Roman" panose="02020603050405020304" pitchFamily="18" charset="0"/>
              </a:rPr>
              <a:t>Outline</a:t>
            </a:r>
            <a:r>
              <a:rPr lang="en-GB" sz="2800" dirty="0">
                <a:latin typeface="Times New Roman" panose="02020603050405020304" pitchFamily="18" charset="0"/>
                <a:cs typeface="Times New Roman" panose="02020603050405020304" pitchFamily="18" charset="0"/>
              </a:rPr>
              <a:t>:</a:t>
            </a:r>
          </a:p>
          <a:p>
            <a:pPr marL="457200" indent="-457200">
              <a:spcAft>
                <a:spcPts val="1200"/>
              </a:spcAft>
              <a:buFont typeface="Wingdings" panose="05000000000000000000" pitchFamily="2" charset="2"/>
              <a:buChar char="q"/>
            </a:pPr>
            <a:r>
              <a:rPr lang="en-GH" sz="2800" dirty="0">
                <a:latin typeface="Times New Roman" panose="02020603050405020304" pitchFamily="18" charset="0"/>
                <a:cs typeface="Times New Roman" panose="02020603050405020304" pitchFamily="18" charset="0"/>
              </a:rPr>
              <a:t>Entrance Flow and Developed Flow</a:t>
            </a:r>
            <a:endParaRPr lang="en-GB"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GH" sz="2800" dirty="0">
                <a:latin typeface="Times New Roman" panose="02020603050405020304" pitchFamily="18" charset="0"/>
                <a:cs typeface="Times New Roman" panose="02020603050405020304" pitchFamily="18" charset="0"/>
              </a:rPr>
              <a:t>Laminar Flow in a Pipe</a:t>
            </a:r>
            <a:endParaRPr lang="en-GB" sz="2800" dirty="0">
              <a:latin typeface="Times New Roman" panose="02020603050405020304" pitchFamily="18" charset="0"/>
              <a:cs typeface="Times New Roman" panose="02020603050405020304" pitchFamily="18" charset="0"/>
            </a:endParaRPr>
          </a:p>
          <a:p>
            <a:pPr marL="914400" lvl="1" indent="-457200">
              <a:buFont typeface="Courier New" panose="02070309020205020404" pitchFamily="49" charset="0"/>
              <a:buChar char="o"/>
            </a:pPr>
            <a:r>
              <a:rPr lang="en-GB" sz="2800" dirty="0">
                <a:latin typeface="Times New Roman" panose="02020603050405020304" pitchFamily="18" charset="0"/>
                <a:cs typeface="Times New Roman" panose="02020603050405020304" pitchFamily="18" charset="0"/>
              </a:rPr>
              <a:t>Determination of the Velocity Distribution</a:t>
            </a:r>
          </a:p>
          <a:p>
            <a:pPr marL="914400" lvl="1" indent="-457200">
              <a:spcAft>
                <a:spcPts val="1200"/>
              </a:spcAft>
              <a:buFont typeface="Courier New" panose="02070309020205020404" pitchFamily="49" charset="0"/>
              <a:buChar char="o"/>
            </a:pPr>
            <a:r>
              <a:rPr lang="en-GB" sz="2800" dirty="0">
                <a:latin typeface="Times New Roman" panose="02020603050405020304" pitchFamily="18" charset="0"/>
                <a:cs typeface="Times New Roman" panose="02020603050405020304" pitchFamily="18" charset="0"/>
              </a:rPr>
              <a:t>Other </a:t>
            </a:r>
            <a:r>
              <a:rPr lang="en-GH" sz="2800" dirty="0">
                <a:latin typeface="Times New Roman" panose="02020603050405020304" pitchFamily="18" charset="0"/>
                <a:cs typeface="Times New Roman" panose="02020603050405020304" pitchFamily="18" charset="0"/>
              </a:rPr>
              <a:t>Pipe Flow Quantities</a:t>
            </a:r>
            <a:endParaRPr lang="en-GB"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GB" sz="2800" dirty="0">
                <a:latin typeface="Times New Roman" panose="02020603050405020304" pitchFamily="18" charset="0"/>
                <a:cs typeface="Times New Roman" panose="02020603050405020304" pitchFamily="18" charset="0"/>
              </a:rPr>
              <a:t>Head</a:t>
            </a:r>
            <a:r>
              <a:rPr lang="en-GH" sz="2800" dirty="0">
                <a:latin typeface="Times New Roman" panose="02020603050405020304" pitchFamily="18" charset="0"/>
                <a:cs typeface="Times New Roman" panose="02020603050405020304" pitchFamily="18" charset="0"/>
              </a:rPr>
              <a:t> Losses in Viscous Flow</a:t>
            </a:r>
            <a:endParaRPr lang="en-GB" sz="2800" dirty="0">
              <a:latin typeface="Times New Roman" panose="02020603050405020304" pitchFamily="18" charset="0"/>
              <a:cs typeface="Times New Roman" panose="02020603050405020304" pitchFamily="18" charset="0"/>
            </a:endParaRPr>
          </a:p>
          <a:p>
            <a:pPr marL="914400" lvl="1" indent="-457200">
              <a:buFont typeface="Courier New" panose="02070309020205020404" pitchFamily="49" charset="0"/>
              <a:buChar char="o"/>
            </a:pPr>
            <a:r>
              <a:rPr lang="en-GB" sz="2800" dirty="0">
                <a:latin typeface="Times New Roman" panose="02020603050405020304" pitchFamily="18" charset="0"/>
                <a:cs typeface="Times New Roman" panose="02020603050405020304" pitchFamily="18" charset="0"/>
              </a:rPr>
              <a:t>Frictional (Major) Losses</a:t>
            </a:r>
          </a:p>
          <a:p>
            <a:pPr marL="914400" lvl="1" indent="-457200">
              <a:spcAft>
                <a:spcPts val="1200"/>
              </a:spcAft>
              <a:buFont typeface="Courier New" panose="02070309020205020404" pitchFamily="49" charset="0"/>
              <a:buChar char="o"/>
            </a:pPr>
            <a:r>
              <a:rPr lang="en-GH" sz="2800" dirty="0">
                <a:latin typeface="Times New Roman" panose="02020603050405020304" pitchFamily="18" charset="0"/>
                <a:cs typeface="Times New Roman" panose="02020603050405020304" pitchFamily="18" charset="0"/>
              </a:rPr>
              <a:t>Additional (Minor) Losses</a:t>
            </a:r>
            <a:endParaRPr lang="en-GB"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8789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470263"/>
          </a:xfrm>
        </p:spPr>
        <p:txBody>
          <a:bodyPr>
            <a:normAutofit/>
          </a:bodyPr>
          <a:lstStyle/>
          <a:p>
            <a:pPr algn="ctr"/>
            <a:r>
              <a:rPr lang="en-US" sz="2400" b="1" dirty="0"/>
              <a:t>INTRODUCTION</a:t>
            </a:r>
            <a:endParaRPr lang="en-US" sz="24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566056"/>
                <a:ext cx="12192000" cy="3944984"/>
              </a:xfrm>
            </p:spPr>
            <p:txBody>
              <a:bodyPr>
                <a:normAutofit/>
              </a:bodyPr>
              <a:lstStyle/>
              <a:p>
                <a:pPr marL="0" marR="0" indent="0">
                  <a:lnSpc>
                    <a:spcPct val="100000"/>
                  </a:lnSpc>
                  <a:spcBef>
                    <a:spcPts val="0"/>
                  </a:spcBef>
                  <a:buNone/>
                </a:pPr>
                <a:r>
                  <a:rPr lang="en-US" sz="2400" dirty="0">
                    <a:effectLst/>
                    <a:latin typeface="Times New Roman" panose="02020603050405020304" pitchFamily="18" charset="0"/>
                    <a:ea typeface="Times New Roman" panose="02020603050405020304" pitchFamily="18" charset="0"/>
                  </a:rPr>
                  <a:t>This chapter focusses on internal incompressible viscous flows. </a:t>
                </a:r>
              </a:p>
              <a:p>
                <a:pPr marR="0">
                  <a:lnSpc>
                    <a:spcPct val="100000"/>
                  </a:lnSpc>
                  <a:spcBef>
                    <a:spcPts val="0"/>
                  </a:spcBef>
                  <a:spcAft>
                    <a:spcPts val="1200"/>
                  </a:spcAft>
                  <a:buFont typeface="Wingdings" panose="05000000000000000000" pitchFamily="2" charset="2"/>
                  <a:buChar char="§"/>
                </a:pPr>
                <a:r>
                  <a:rPr lang="en-US" sz="2400" dirty="0">
                    <a:effectLst/>
                    <a:latin typeface="Times New Roman" panose="02020603050405020304" pitchFamily="18" charset="0"/>
                    <a:ea typeface="Times New Roman" panose="02020603050405020304" pitchFamily="18" charset="0"/>
                  </a:rPr>
                  <a:t> Internal flows are flows completely bounded by solid surfaces, e.g., flow through pipes, ducts, </a:t>
                </a:r>
                <a:r>
                  <a:rPr lang="en-GB" sz="2400" dirty="0">
                    <a:effectLst/>
                    <a:latin typeface="Times New Roman" panose="02020603050405020304" pitchFamily="18" charset="0"/>
                    <a:ea typeface="Times New Roman" panose="02020603050405020304" pitchFamily="18" charset="0"/>
                  </a:rPr>
                  <a:t>nozzles, diffusers, sudden contractions and expansions, valves, and fittings.</a:t>
                </a:r>
                <a:endParaRPr lang="en-US" sz="2400" dirty="0">
                  <a:latin typeface="Times New Roman" panose="02020603050405020304" pitchFamily="18" charset="0"/>
                  <a:ea typeface="Times New Roman" panose="02020603050405020304" pitchFamily="18" charset="0"/>
                </a:endParaRPr>
              </a:p>
              <a:p>
                <a:pPr marR="0">
                  <a:lnSpc>
                    <a:spcPct val="100000"/>
                  </a:lnSpc>
                  <a:spcBef>
                    <a:spcPts val="0"/>
                  </a:spcBef>
                  <a:buFont typeface="Wingdings" panose="05000000000000000000" pitchFamily="2" charset="2"/>
                  <a:buChar char="§"/>
                </a:pPr>
                <a:r>
                  <a:rPr lang="en-US" sz="2400" dirty="0">
                    <a:effectLst/>
                    <a:latin typeface="Times New Roman" panose="02020603050405020304" pitchFamily="18" charset="0"/>
                    <a:ea typeface="Times New Roman" panose="02020603050405020304" pitchFamily="18" charset="0"/>
                  </a:rPr>
                  <a:t>Viscous flows are flows that are dominated by viscosity (i.e., viscous forces predominate over inertia forces)</a:t>
                </a:r>
                <a:endParaRPr lang="en-US" sz="2400" dirty="0">
                  <a:latin typeface="Times New Roman" panose="02020603050405020304" pitchFamily="18" charset="0"/>
                  <a:ea typeface="Times New Roman" panose="02020603050405020304" pitchFamily="18" charset="0"/>
                </a:endParaRPr>
              </a:p>
              <a:p>
                <a:pPr marL="0" marR="0" indent="0">
                  <a:lnSpc>
                    <a:spcPct val="100000"/>
                  </a:lnSpc>
                  <a:spcBef>
                    <a:spcPts val="0"/>
                  </a:spcBef>
                  <a:spcAft>
                    <a:spcPts val="1200"/>
                  </a:spcAft>
                  <a:buNone/>
                </a:pPr>
                <a:r>
                  <a:rPr lang="en-US" sz="2400" dirty="0">
                    <a:latin typeface="Times New Roman" panose="02020603050405020304" pitchFamily="18" charset="0"/>
                    <a:ea typeface="Times New Roman" panose="02020603050405020304" pitchFamily="18" charset="0"/>
                  </a:rPr>
                  <a:t>Recall, </a:t>
                </a:r>
                <a14:m>
                  <m:oMath xmlns:m="http://schemas.openxmlformats.org/officeDocument/2006/math">
                    <m:r>
                      <m:rPr>
                        <m:sty m:val="p"/>
                      </m:rPr>
                      <a:rPr lang="en-GB" sz="2400" b="0" i="0" smtClean="0">
                        <a:latin typeface="Cambria Math" panose="02040503050406030204" pitchFamily="18" charset="0"/>
                      </a:rPr>
                      <m:t>Reynolds</m:t>
                    </m:r>
                    <m:r>
                      <a:rPr lang="en-GB" sz="2400" b="0" i="0" smtClean="0">
                        <a:latin typeface="Cambria Math" panose="02040503050406030204" pitchFamily="18" charset="0"/>
                      </a:rPr>
                      <m:t> </m:t>
                    </m:r>
                    <m:r>
                      <m:rPr>
                        <m:sty m:val="p"/>
                      </m:rPr>
                      <a:rPr lang="en-GB" sz="2400" b="0" i="0" smtClean="0">
                        <a:latin typeface="Cambria Math" panose="02040503050406030204" pitchFamily="18" charset="0"/>
                      </a:rPr>
                      <m:t>number</m:t>
                    </m:r>
                    <m:r>
                      <a:rPr lang="en-GB" sz="2400" b="0" i="0" smtClean="0">
                        <a:latin typeface="Cambria Math" panose="02040503050406030204" pitchFamily="18" charset="0"/>
                      </a:rPr>
                      <m:t> </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𝑅𝑒</m:t>
                        </m:r>
                      </m:e>
                    </m:d>
                    <m:r>
                      <a:rPr lang="en-GB" sz="2400" b="0" i="0" smtClean="0">
                        <a:latin typeface="Cambria Math" panose="02040503050406030204" pitchFamily="18" charset="0"/>
                      </a:rPr>
                      <m:t>=</m:t>
                    </m:r>
                    <m:f>
                      <m:fPr>
                        <m:ctrlPr>
                          <a:rPr lang="en-US" sz="2400" i="1" smtClean="0">
                            <a:latin typeface="Cambria Math" panose="02040503050406030204" pitchFamily="18" charset="0"/>
                          </a:rPr>
                        </m:ctrlPr>
                      </m:fPr>
                      <m:num>
                        <m:r>
                          <m:rPr>
                            <m:sty m:val="p"/>
                          </m:rPr>
                          <a:rPr lang="en-GB" sz="2400" b="0" i="0" smtClean="0">
                            <a:latin typeface="Cambria Math" panose="02040503050406030204" pitchFamily="18" charset="0"/>
                          </a:rPr>
                          <m:t>inertia</m:t>
                        </m:r>
                        <m:r>
                          <a:rPr lang="en-GB" sz="2400" b="0" i="0" smtClean="0">
                            <a:latin typeface="Cambria Math" panose="02040503050406030204" pitchFamily="18" charset="0"/>
                          </a:rPr>
                          <m:t> </m:t>
                        </m:r>
                        <m:r>
                          <m:rPr>
                            <m:sty m:val="p"/>
                          </m:rPr>
                          <a:rPr lang="en-GB" sz="2400" b="0" i="0" smtClean="0">
                            <a:latin typeface="Cambria Math" panose="02040503050406030204" pitchFamily="18" charset="0"/>
                          </a:rPr>
                          <m:t>force</m:t>
                        </m:r>
                      </m:num>
                      <m:den>
                        <m:r>
                          <m:rPr>
                            <m:sty m:val="p"/>
                          </m:rPr>
                          <a:rPr lang="en-GB" sz="2400" b="0" i="0" smtClean="0">
                            <a:latin typeface="Cambria Math" panose="02040503050406030204" pitchFamily="18" charset="0"/>
                          </a:rPr>
                          <m:t>viscous</m:t>
                        </m:r>
                        <m:r>
                          <a:rPr lang="en-GB" sz="2400" b="0" i="0" smtClean="0">
                            <a:latin typeface="Cambria Math" panose="02040503050406030204" pitchFamily="18" charset="0"/>
                          </a:rPr>
                          <m:t> </m:t>
                        </m:r>
                        <m:r>
                          <m:rPr>
                            <m:sty m:val="p"/>
                          </m:rPr>
                          <a:rPr lang="en-GB" sz="2400" b="0" i="0" smtClean="0">
                            <a:latin typeface="Cambria Math" panose="02040503050406030204" pitchFamily="18" charset="0"/>
                          </a:rPr>
                          <m:t>force</m:t>
                        </m:r>
                      </m:den>
                    </m:f>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ea typeface="Cambria Math" panose="02040503050406030204" pitchFamily="18" charset="0"/>
                          </a:rPr>
                          <m:t>𝜌</m:t>
                        </m:r>
                        <m:r>
                          <a:rPr lang="en-GB" sz="2400" b="0" i="1" smtClean="0">
                            <a:latin typeface="Cambria Math" panose="02040503050406030204" pitchFamily="18" charset="0"/>
                            <a:ea typeface="Cambria Math" panose="02040503050406030204" pitchFamily="18" charset="0"/>
                          </a:rPr>
                          <m:t>𝑉𝐷</m:t>
                        </m:r>
                      </m:num>
                      <m:den>
                        <m:r>
                          <a:rPr lang="en-GB" sz="2400" b="0" i="1" smtClean="0">
                            <a:latin typeface="Cambria Math" panose="02040503050406030204" pitchFamily="18" charset="0"/>
                            <a:ea typeface="Cambria Math" panose="02040503050406030204" pitchFamily="18" charset="0"/>
                          </a:rPr>
                          <m:t>𝜇</m:t>
                        </m:r>
                      </m:den>
                    </m:f>
                  </m:oMath>
                </a14:m>
                <a:r>
                  <a:rPr lang="en-US" sz="2400" dirty="0">
                    <a:latin typeface="Times New Roman" panose="02020603050405020304" pitchFamily="18" charset="0"/>
                    <a:ea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endParaRPr>
              </a:p>
              <a:p>
                <a:pPr marL="0" marR="0" indent="0">
                  <a:lnSpc>
                    <a:spcPct val="100000"/>
                  </a:lnSpc>
                  <a:spcBef>
                    <a:spcPts val="0"/>
                  </a:spcBef>
                  <a:spcAft>
                    <a:spcPts val="1200"/>
                  </a:spcAft>
                  <a:buNone/>
                </a:pPr>
                <a:r>
                  <a:rPr lang="en-US" sz="2400" dirty="0">
                    <a:latin typeface="Times New Roman" panose="02020603050405020304" pitchFamily="18" charset="0"/>
                    <a:ea typeface="Times New Roman" panose="02020603050405020304" pitchFamily="18" charset="0"/>
                  </a:rPr>
                  <a:t>Stronger influence of viscous forces implies Reynolds number will be low. Below a certain critical </a:t>
                </a:r>
                <a:r>
                  <a:rPr lang="en-US" sz="2400" i="1" dirty="0">
                    <a:latin typeface="Times New Roman" panose="02020603050405020304" pitchFamily="18" charset="0"/>
                    <a:ea typeface="Times New Roman" panose="02020603050405020304" pitchFamily="18" charset="0"/>
                  </a:rPr>
                  <a:t>Re</a:t>
                </a:r>
                <a:r>
                  <a:rPr lang="en-US" sz="2400" dirty="0">
                    <a:latin typeface="Times New Roman" panose="02020603050405020304" pitchFamily="18" charset="0"/>
                    <a:ea typeface="Times New Roman" panose="02020603050405020304" pitchFamily="18" charset="0"/>
                  </a:rPr>
                  <a:t>, the flow is considered to be </a:t>
                </a:r>
                <a:r>
                  <a:rPr lang="en-US" sz="2400" b="1" dirty="0">
                    <a:latin typeface="Times New Roman" panose="02020603050405020304" pitchFamily="18" charset="0"/>
                    <a:ea typeface="Times New Roman" panose="02020603050405020304" pitchFamily="18" charset="0"/>
                  </a:rPr>
                  <a:t>laminar</a:t>
                </a:r>
                <a:r>
                  <a:rPr lang="en-US" sz="2400" dirty="0">
                    <a:latin typeface="Times New Roman" panose="02020603050405020304" pitchFamily="18" charset="0"/>
                    <a:ea typeface="Times New Roman" panose="02020603050405020304" pitchFamily="18" charset="0"/>
                  </a:rPr>
                  <a:t>. Above that critical Reynolds number, the flow is said to be </a:t>
                </a:r>
                <a:r>
                  <a:rPr lang="en-US" sz="2400" b="1" dirty="0">
                    <a:latin typeface="Times New Roman" panose="02020603050405020304" pitchFamily="18" charset="0"/>
                    <a:ea typeface="Times New Roman" panose="02020603050405020304" pitchFamily="18" charset="0"/>
                  </a:rPr>
                  <a:t>Turbulent</a:t>
                </a:r>
                <a:r>
                  <a:rPr lang="en-US" sz="2400" dirty="0">
                    <a:latin typeface="Times New Roman" panose="02020603050405020304" pitchFamily="18" charset="0"/>
                    <a:ea typeface="Times New Roman" panose="02020603050405020304" pitchFamily="18"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566056"/>
                <a:ext cx="12192000" cy="3944984"/>
              </a:xfrm>
              <a:blipFill>
                <a:blip r:embed="rId3"/>
                <a:stretch>
                  <a:fillRect l="-750" t="-1236" r="-600" b="-2473"/>
                </a:stretch>
              </a:blipFill>
            </p:spPr>
            <p:txBody>
              <a:bodyPr/>
              <a:lstStyle/>
              <a:p>
                <a:r>
                  <a:rPr lang="en-GH">
                    <a:noFill/>
                  </a:rPr>
                  <a:t> </a:t>
                </a:r>
              </a:p>
            </p:txBody>
          </p:sp>
        </mc:Fallback>
      </mc:AlternateContent>
      <p:pic>
        <p:nvPicPr>
          <p:cNvPr id="5" name="Picture 4">
            <a:extLst>
              <a:ext uri="{FF2B5EF4-FFF2-40B4-BE49-F238E27FC236}">
                <a16:creationId xmlns:a16="http://schemas.microsoft.com/office/drawing/2014/main" id="{7CA44204-372F-AE4A-9249-B8015DEDA5B7}"/>
              </a:ext>
            </a:extLst>
          </p:cNvPr>
          <p:cNvPicPr>
            <a:picLocks noChangeAspect="1"/>
          </p:cNvPicPr>
          <p:nvPr/>
        </p:nvPicPr>
        <p:blipFill>
          <a:blip r:embed="rId4"/>
          <a:stretch>
            <a:fillRect/>
          </a:stretch>
        </p:blipFill>
        <p:spPr>
          <a:xfrm>
            <a:off x="5643336" y="4055565"/>
            <a:ext cx="5042081" cy="2544254"/>
          </a:xfrm>
          <a:prstGeom prst="rect">
            <a:avLst/>
          </a:prstGeom>
        </p:spPr>
      </p:pic>
      <p:sp>
        <p:nvSpPr>
          <p:cNvPr id="7" name="TextBox 6">
            <a:extLst>
              <a:ext uri="{FF2B5EF4-FFF2-40B4-BE49-F238E27FC236}">
                <a16:creationId xmlns:a16="http://schemas.microsoft.com/office/drawing/2014/main" id="{FD2053D1-1EA8-C145-EF30-97AA4167B768}"/>
              </a:ext>
            </a:extLst>
          </p:cNvPr>
          <p:cNvSpPr txBox="1"/>
          <p:nvPr/>
        </p:nvSpPr>
        <p:spPr>
          <a:xfrm>
            <a:off x="0" y="4732997"/>
            <a:ext cx="5538651" cy="1569660"/>
          </a:xfrm>
          <a:prstGeom prst="rect">
            <a:avLst/>
          </a:prstGeom>
          <a:noFill/>
        </p:spPr>
        <p:txBody>
          <a:bodyPr wrap="square">
            <a:spAutoFit/>
          </a:bodyPr>
          <a:lstStyle/>
          <a:p>
            <a:pPr marR="0" algn="just">
              <a:lnSpc>
                <a:spcPct val="100000"/>
              </a:lnSpc>
              <a:spcBef>
                <a:spcPts val="0"/>
              </a:spcBef>
              <a:buFont typeface="Wingdings" panose="05000000000000000000" pitchFamily="2" charset="2"/>
              <a:buChar char="§"/>
            </a:pPr>
            <a:r>
              <a:rPr lang="en-US" sz="2400" dirty="0">
                <a:effectLst/>
                <a:latin typeface="Times New Roman" panose="02020603050405020304" pitchFamily="18" charset="0"/>
                <a:ea typeface="Times New Roman" panose="02020603050405020304" pitchFamily="18" charset="0"/>
              </a:rPr>
              <a:t> Thus, Internal flows may be laminar or turbulent. This can be demonstrated using Reynolds viscous flow experiment</a:t>
            </a:r>
            <a:r>
              <a:rPr lang="en-US" sz="2400" dirty="0">
                <a:latin typeface="Times New Roman" panose="02020603050405020304" pitchFamily="18" charset="0"/>
                <a:ea typeface="Times New Roman" panose="02020603050405020304" pitchFamily="18" charset="0"/>
              </a:rPr>
              <a:t> in a pipe.</a:t>
            </a:r>
            <a:endParaRPr lang="en-US" sz="2400" dirty="0">
              <a:solidFill>
                <a:prstClr val="black"/>
              </a:solidFill>
            </a:endParaRPr>
          </a:p>
        </p:txBody>
      </p:sp>
    </p:spTree>
    <p:extLst>
      <p:ext uri="{BB962C8B-B14F-4D97-AF65-F5344CB8AC3E}">
        <p14:creationId xmlns:p14="http://schemas.microsoft.com/office/powerpoint/2010/main" val="2637195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470263"/>
          </a:xfrm>
        </p:spPr>
        <p:txBody>
          <a:bodyPr>
            <a:noAutofit/>
          </a:bodyPr>
          <a:lstStyle/>
          <a:p>
            <a:pPr algn="ctr"/>
            <a:r>
              <a:rPr lang="en-US" sz="2800" b="1" dirty="0"/>
              <a:t>Laminar vs Turbulent Flow</a:t>
            </a:r>
            <a:endParaRPr lang="en-US" sz="2800" dirty="0"/>
          </a:p>
        </p:txBody>
      </p:sp>
      <p:sp>
        <p:nvSpPr>
          <p:cNvPr id="9" name="TextBox 8">
            <a:extLst>
              <a:ext uri="{FF2B5EF4-FFF2-40B4-BE49-F238E27FC236}">
                <a16:creationId xmlns:a16="http://schemas.microsoft.com/office/drawing/2014/main" id="{995962ED-A35D-9928-78AF-8EC8A26E0F16}"/>
              </a:ext>
            </a:extLst>
          </p:cNvPr>
          <p:cNvSpPr txBox="1"/>
          <p:nvPr/>
        </p:nvSpPr>
        <p:spPr>
          <a:xfrm>
            <a:off x="0" y="667770"/>
            <a:ext cx="12192000" cy="1569660"/>
          </a:xfrm>
          <a:prstGeom prst="rect">
            <a:avLst/>
          </a:prstGeom>
          <a:noFill/>
        </p:spPr>
        <p:txBody>
          <a:bodyPr wrap="square">
            <a:spAutoFit/>
          </a:bodyPr>
          <a:lstStyle/>
          <a:p>
            <a:r>
              <a:rPr lang="en-GH" sz="2400" dirty="0">
                <a:latin typeface="Times New Roman" panose="02020603050405020304" pitchFamily="18" charset="0"/>
                <a:cs typeface="Times New Roman" panose="02020603050405020304" pitchFamily="18" charset="0"/>
              </a:rPr>
              <a:t>At low flow rates (low Reynolds numbers) the dye injected into the flow remains in a single filament </a:t>
            </a:r>
            <a:r>
              <a:rPr lang="en-GB" sz="2400" dirty="0">
                <a:latin typeface="Times New Roman" panose="02020603050405020304" pitchFamily="18" charset="0"/>
                <a:cs typeface="Times New Roman" panose="02020603050405020304" pitchFamily="18" charset="0"/>
              </a:rPr>
              <a:t>(</a:t>
            </a:r>
            <a:r>
              <a:rPr lang="en-GB" sz="2400" dirty="0" err="1">
                <a:latin typeface="Times New Roman" panose="02020603050405020304" pitchFamily="18" charset="0"/>
                <a:cs typeface="Times New Roman" panose="02020603050405020304" pitchFamily="18" charset="0"/>
              </a:rPr>
              <a:t>streakline</a:t>
            </a:r>
            <a:r>
              <a:rPr lang="en-GB" sz="2400" dirty="0">
                <a:latin typeface="Times New Roman" panose="02020603050405020304" pitchFamily="18" charset="0"/>
                <a:cs typeface="Times New Roman" panose="02020603050405020304" pitchFamily="18" charset="0"/>
              </a:rPr>
              <a:t>) </a:t>
            </a:r>
            <a:r>
              <a:rPr lang="en-GH" sz="2400" dirty="0">
                <a:latin typeface="Times New Roman" panose="02020603050405020304" pitchFamily="18" charset="0"/>
                <a:cs typeface="Times New Roman" panose="02020603050405020304" pitchFamily="18" charset="0"/>
              </a:rPr>
              <a:t>along the tube; there is little dispersion of dye because the flow is laminar. A laminar flow is one in which the fluid flows in laminae, or layers; there is no mixing of adjacent fluid layers.</a:t>
            </a:r>
          </a:p>
        </p:txBody>
      </p:sp>
      <p:pic>
        <p:nvPicPr>
          <p:cNvPr id="11" name="Picture 10">
            <a:extLst>
              <a:ext uri="{FF2B5EF4-FFF2-40B4-BE49-F238E27FC236}">
                <a16:creationId xmlns:a16="http://schemas.microsoft.com/office/drawing/2014/main" id="{74632053-B65D-9746-FD9D-3A418D84347D}"/>
              </a:ext>
            </a:extLst>
          </p:cNvPr>
          <p:cNvPicPr>
            <a:picLocks noChangeAspect="1"/>
          </p:cNvPicPr>
          <p:nvPr/>
        </p:nvPicPr>
        <p:blipFill>
          <a:blip r:embed="rId3"/>
          <a:stretch>
            <a:fillRect/>
          </a:stretch>
        </p:blipFill>
        <p:spPr>
          <a:xfrm>
            <a:off x="2982788" y="1921692"/>
            <a:ext cx="5423870" cy="1475377"/>
          </a:xfrm>
          <a:prstGeom prst="rect">
            <a:avLst/>
          </a:prstGeom>
        </p:spPr>
      </p:pic>
      <p:sp>
        <p:nvSpPr>
          <p:cNvPr id="12" name="TextBox 11">
            <a:extLst>
              <a:ext uri="{FF2B5EF4-FFF2-40B4-BE49-F238E27FC236}">
                <a16:creationId xmlns:a16="http://schemas.microsoft.com/office/drawing/2014/main" id="{E66534A4-F1D7-3C95-22E9-05C3A6717A57}"/>
              </a:ext>
            </a:extLst>
          </p:cNvPr>
          <p:cNvSpPr txBox="1"/>
          <p:nvPr/>
        </p:nvSpPr>
        <p:spPr>
          <a:xfrm>
            <a:off x="0" y="3505201"/>
            <a:ext cx="12192000" cy="1569660"/>
          </a:xfrm>
          <a:prstGeom prst="rect">
            <a:avLst/>
          </a:prstGeom>
          <a:noFill/>
        </p:spPr>
        <p:txBody>
          <a:bodyPr wrap="square">
            <a:spAutoFit/>
          </a:bodyPr>
          <a:lstStyle/>
          <a:p>
            <a:r>
              <a:rPr lang="en-GB" sz="2400" dirty="0">
                <a:latin typeface="Times New Roman" panose="02020603050405020304" pitchFamily="18" charset="0"/>
                <a:cs typeface="Times New Roman" panose="02020603050405020304" pitchFamily="18" charset="0"/>
              </a:rPr>
              <a:t>At high flow rates (large </a:t>
            </a:r>
            <a:r>
              <a:rPr lang="en-GB" sz="2400" i="1" dirty="0">
                <a:latin typeface="Times New Roman" panose="02020603050405020304" pitchFamily="18" charset="0"/>
                <a:cs typeface="Times New Roman" panose="02020603050405020304" pitchFamily="18" charset="0"/>
              </a:rPr>
              <a:t>Re</a:t>
            </a:r>
            <a:r>
              <a:rPr lang="en-GB" sz="2400" dirty="0">
                <a:latin typeface="Times New Roman" panose="02020603050405020304" pitchFamily="18" charset="0"/>
                <a:cs typeface="Times New Roman" panose="02020603050405020304" pitchFamily="18" charset="0"/>
              </a:rPr>
              <a:t>), the dye filament eventually becomes unstable and breaks up into a random motion throughout the tube; the line of dye is stretched and twisted into a multitude of entangled threads that quickly disperses throughout the entire flow field. This behaviour is characteristic of turbulent flow.</a:t>
            </a:r>
            <a:endParaRPr lang="en-GH" sz="2400"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0008FEDE-FA8F-879F-3388-0E2530CDA75E}"/>
              </a:ext>
            </a:extLst>
          </p:cNvPr>
          <p:cNvPicPr>
            <a:picLocks noChangeAspect="1"/>
          </p:cNvPicPr>
          <p:nvPr/>
        </p:nvPicPr>
        <p:blipFill>
          <a:blip r:embed="rId4"/>
          <a:stretch>
            <a:fillRect/>
          </a:stretch>
        </p:blipFill>
        <p:spPr>
          <a:xfrm>
            <a:off x="3153056" y="5074861"/>
            <a:ext cx="5452379" cy="1551578"/>
          </a:xfrm>
          <a:prstGeom prst="rect">
            <a:avLst/>
          </a:prstGeom>
        </p:spPr>
      </p:pic>
    </p:spTree>
    <p:extLst>
      <p:ext uri="{BB962C8B-B14F-4D97-AF65-F5344CB8AC3E}">
        <p14:creationId xmlns:p14="http://schemas.microsoft.com/office/powerpoint/2010/main" val="3061311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470263"/>
          </a:xfrm>
        </p:spPr>
        <p:txBody>
          <a:bodyPr>
            <a:noAutofit/>
          </a:bodyPr>
          <a:lstStyle/>
          <a:p>
            <a:pPr algn="ctr"/>
            <a:r>
              <a:rPr lang="en-US" sz="2800" b="1" dirty="0"/>
              <a:t>Laminar vs Turbulent Flow</a:t>
            </a:r>
            <a:endParaRPr lang="en-US" sz="2800" dirty="0"/>
          </a:p>
        </p:txBody>
      </p:sp>
      <p:sp>
        <p:nvSpPr>
          <p:cNvPr id="9" name="TextBox 8">
            <a:extLst>
              <a:ext uri="{FF2B5EF4-FFF2-40B4-BE49-F238E27FC236}">
                <a16:creationId xmlns:a16="http://schemas.microsoft.com/office/drawing/2014/main" id="{995962ED-A35D-9928-78AF-8EC8A26E0F16}"/>
              </a:ext>
            </a:extLst>
          </p:cNvPr>
          <p:cNvSpPr txBox="1"/>
          <p:nvPr/>
        </p:nvSpPr>
        <p:spPr>
          <a:xfrm>
            <a:off x="0" y="569016"/>
            <a:ext cx="12192000" cy="1200329"/>
          </a:xfrm>
          <a:prstGeom prst="rect">
            <a:avLst/>
          </a:prstGeom>
          <a:noFill/>
        </p:spPr>
        <p:txBody>
          <a:bodyPr wrap="square">
            <a:spAutoFit/>
          </a:bodyPr>
          <a:lstStyle/>
          <a:p>
            <a:r>
              <a:rPr lang="en-GH" sz="2400" dirty="0">
                <a:latin typeface="Times New Roman" panose="02020603050405020304" pitchFamily="18" charset="0"/>
                <a:cs typeface="Times New Roman" panose="02020603050405020304" pitchFamily="18" charset="0"/>
              </a:rPr>
              <a:t>At </a:t>
            </a:r>
            <a:r>
              <a:rPr lang="en-GB" sz="2400" dirty="0">
                <a:latin typeface="Times New Roman" panose="02020603050405020304" pitchFamily="18" charset="0"/>
                <a:cs typeface="Times New Roman" panose="02020603050405020304" pitchFamily="18" charset="0"/>
              </a:rPr>
              <a:t>intermediate flow rates (transition </a:t>
            </a:r>
            <a:r>
              <a:rPr lang="en-GB" sz="2400" i="1" dirty="0">
                <a:latin typeface="Times New Roman" panose="02020603050405020304" pitchFamily="18" charset="0"/>
                <a:cs typeface="Times New Roman" panose="02020603050405020304" pitchFamily="18" charset="0"/>
              </a:rPr>
              <a:t>Re</a:t>
            </a:r>
            <a:r>
              <a:rPr lang="en-GB" sz="2400" dirty="0">
                <a:latin typeface="Times New Roman" panose="02020603050405020304" pitchFamily="18" charset="0"/>
                <a:cs typeface="Times New Roman" panose="02020603050405020304" pitchFamily="18" charset="0"/>
              </a:rPr>
              <a:t>), the dye streak fluctuates in time and space, and intermittent bursts of irregular behaviour appear along the streak. Under these circumstances the flow is said to be transitional.</a:t>
            </a:r>
            <a:endParaRPr lang="en-GH"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5BDE700-A75E-E503-F299-36A0CF9E4593}"/>
              </a:ext>
            </a:extLst>
          </p:cNvPr>
          <p:cNvPicPr>
            <a:picLocks noChangeAspect="1"/>
          </p:cNvPicPr>
          <p:nvPr/>
        </p:nvPicPr>
        <p:blipFill>
          <a:blip r:embed="rId3"/>
          <a:stretch>
            <a:fillRect/>
          </a:stretch>
        </p:blipFill>
        <p:spPr>
          <a:xfrm>
            <a:off x="2828296" y="1769345"/>
            <a:ext cx="6022497" cy="1578149"/>
          </a:xfrm>
          <a:prstGeom prst="rect">
            <a:avLst/>
          </a:prstGeom>
        </p:spPr>
      </p:pic>
      <p:sp>
        <p:nvSpPr>
          <p:cNvPr id="5" name="TextBox 4">
            <a:extLst>
              <a:ext uri="{FF2B5EF4-FFF2-40B4-BE49-F238E27FC236}">
                <a16:creationId xmlns:a16="http://schemas.microsoft.com/office/drawing/2014/main" id="{AA890FE9-400A-1A1F-40C0-9BE3DF63CEAA}"/>
              </a:ext>
            </a:extLst>
          </p:cNvPr>
          <p:cNvSpPr txBox="1"/>
          <p:nvPr/>
        </p:nvSpPr>
        <p:spPr>
          <a:xfrm>
            <a:off x="0" y="3510507"/>
            <a:ext cx="12192000" cy="3200876"/>
          </a:xfrm>
          <a:prstGeom prst="rect">
            <a:avLst/>
          </a:prstGeom>
          <a:noFill/>
        </p:spPr>
        <p:txBody>
          <a:bodyPr wrap="square">
            <a:spAutoFit/>
          </a:bodyPr>
          <a:lstStyle/>
          <a:p>
            <a:r>
              <a:rPr lang="en-GB" sz="2400" b="1" dirty="0">
                <a:latin typeface="Times New Roman" panose="02020603050405020304" pitchFamily="18" charset="0"/>
                <a:cs typeface="Times New Roman" panose="02020603050405020304" pitchFamily="18" charset="0"/>
              </a:rPr>
              <a:t>Observations</a:t>
            </a:r>
            <a:r>
              <a:rPr lang="en-GB" sz="2400"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In laminar flow, flow velocity at any point is independent of time (i.e., </a:t>
            </a:r>
            <a:r>
              <a:rPr lang="en-GB" sz="2400" i="1" dirty="0">
                <a:latin typeface="Times New Roman" panose="02020603050405020304" pitchFamily="18" charset="0"/>
                <a:cs typeface="Times New Roman" panose="02020603050405020304" pitchFamily="18" charset="0"/>
              </a:rPr>
              <a:t>u</a:t>
            </a:r>
            <a:r>
              <a:rPr lang="en-GB" sz="2400" dirty="0">
                <a:latin typeface="Times New Roman" panose="02020603050405020304" pitchFamily="18" charset="0"/>
                <a:cs typeface="Times New Roman" panose="02020603050405020304" pitchFamily="18" charset="0"/>
              </a:rPr>
              <a:t>, </a:t>
            </a:r>
            <a:r>
              <a:rPr lang="en-GB" sz="2400" i="1" dirty="0">
                <a:latin typeface="Times New Roman" panose="02020603050405020304" pitchFamily="18" charset="0"/>
                <a:cs typeface="Times New Roman" panose="02020603050405020304" pitchFamily="18" charset="0"/>
              </a:rPr>
              <a:t>v</a:t>
            </a:r>
            <a:r>
              <a:rPr lang="en-GB" sz="2400" dirty="0">
                <a:latin typeface="Times New Roman" panose="02020603050405020304" pitchFamily="18" charset="0"/>
                <a:cs typeface="Times New Roman" panose="02020603050405020304" pitchFamily="18" charset="0"/>
              </a:rPr>
              <a:t> and </a:t>
            </a:r>
            <a:r>
              <a:rPr lang="en-GB" sz="2400" i="1" dirty="0">
                <a:latin typeface="Times New Roman" panose="02020603050405020304" pitchFamily="18" charset="0"/>
                <a:cs typeface="Times New Roman" panose="02020603050405020304" pitchFamily="18" charset="0"/>
              </a:rPr>
              <a:t>w</a:t>
            </a:r>
            <a:r>
              <a:rPr lang="en-GB" sz="2400" dirty="0">
                <a:latin typeface="Times New Roman" panose="02020603050405020304" pitchFamily="18" charset="0"/>
                <a:cs typeface="Times New Roman" panose="02020603050405020304" pitchFamily="18" charset="0"/>
              </a:rPr>
              <a:t> are invariant</a:t>
            </a:r>
          </a:p>
          <a:p>
            <a:pPr>
              <a:spcAft>
                <a:spcPts val="1200"/>
              </a:spcAft>
            </a:pPr>
            <a:r>
              <a:rPr lang="en-GB" sz="2400" dirty="0">
                <a:latin typeface="Times New Roman" panose="02020603050405020304" pitchFamily="18" charset="0"/>
                <a:cs typeface="Times New Roman" panose="02020603050405020304" pitchFamily="18" charset="0"/>
              </a:rPr>
              <a:t>with time, </a:t>
            </a:r>
            <a:r>
              <a:rPr lang="en-GB" sz="2400" i="1" dirty="0">
                <a:latin typeface="Times New Roman" panose="02020603050405020304" pitchFamily="18" charset="0"/>
                <a:cs typeface="Times New Roman" panose="02020603050405020304" pitchFamily="18" charset="0"/>
              </a:rPr>
              <a:t>t</a:t>
            </a:r>
            <a:r>
              <a:rPr lang="en-GB" sz="2400" dirty="0">
                <a:latin typeface="Times New Roman" panose="02020603050405020304" pitchFamily="18" charset="0"/>
                <a:cs typeface="Times New Roman" panose="02020603050405020304" pitchFamily="18" charset="0"/>
              </a:rPr>
              <a:t>). Thus, when an ensemble or collection of instantaneous velocities is averaged over time, the mean velocity will be equal to the instantaneous value.</a:t>
            </a:r>
          </a:p>
          <a:p>
            <a:pPr marL="342900"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In turbulent flow, the flow velocity (</a:t>
            </a:r>
            <a:r>
              <a:rPr lang="en-GB" sz="2400" i="1" dirty="0">
                <a:latin typeface="Times New Roman" panose="02020603050405020304" pitchFamily="18" charset="0"/>
                <a:cs typeface="Times New Roman" panose="02020603050405020304" pitchFamily="18" charset="0"/>
              </a:rPr>
              <a:t>u</a:t>
            </a:r>
            <a:r>
              <a:rPr lang="en-GB" sz="2400" dirty="0">
                <a:latin typeface="Times New Roman" panose="02020603050405020304" pitchFamily="18" charset="0"/>
                <a:cs typeface="Times New Roman" panose="02020603050405020304" pitchFamily="18" charset="0"/>
              </a:rPr>
              <a:t>, </a:t>
            </a:r>
            <a:r>
              <a:rPr lang="en-GB" sz="2400" i="1" dirty="0">
                <a:latin typeface="Times New Roman" panose="02020603050405020304" pitchFamily="18" charset="0"/>
                <a:cs typeface="Times New Roman" panose="02020603050405020304" pitchFamily="18" charset="0"/>
              </a:rPr>
              <a:t>v</a:t>
            </a:r>
            <a:r>
              <a:rPr lang="en-GB" sz="2400" dirty="0">
                <a:latin typeface="Times New Roman" panose="02020603050405020304" pitchFamily="18" charset="0"/>
                <a:cs typeface="Times New Roman" panose="02020603050405020304" pitchFamily="18" charset="0"/>
              </a:rPr>
              <a:t>, and </a:t>
            </a:r>
            <a:r>
              <a:rPr lang="en-GB" sz="2400" i="1" dirty="0">
                <a:latin typeface="Times New Roman" panose="02020603050405020304" pitchFamily="18" charset="0"/>
                <a:cs typeface="Times New Roman" panose="02020603050405020304" pitchFamily="18" charset="0"/>
              </a:rPr>
              <a:t>w</a:t>
            </a:r>
            <a:r>
              <a:rPr lang="en-GB" sz="2400" dirty="0">
                <a:latin typeface="Times New Roman" panose="02020603050405020304" pitchFamily="18" charset="0"/>
                <a:cs typeface="Times New Roman" panose="02020603050405020304" pitchFamily="18" charset="0"/>
              </a:rPr>
              <a:t>) at any point is a function of time. This is due</a:t>
            </a:r>
          </a:p>
          <a:p>
            <a:r>
              <a:rPr lang="en-GB" sz="2400" dirty="0">
                <a:latin typeface="Times New Roman" panose="02020603050405020304" pitchFamily="18" charset="0"/>
                <a:cs typeface="Times New Roman" panose="02020603050405020304" pitchFamily="18" charset="0"/>
              </a:rPr>
              <a:t>to the occurrence of small, high-frequency fluctuations in the instantaneous flow velocity. Thus, when an ensemble of instantaneous flow velocities is averaged over time, the mean velocity at any point is not equal to the instantaneous value at that point.</a:t>
            </a:r>
            <a:endParaRPr lang="en-GH"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4683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470263"/>
          </a:xfrm>
        </p:spPr>
        <p:txBody>
          <a:bodyPr>
            <a:noAutofit/>
          </a:bodyPr>
          <a:lstStyle/>
          <a:p>
            <a:pPr algn="ctr"/>
            <a:r>
              <a:rPr lang="en-US" sz="2800" b="1" dirty="0"/>
              <a:t>Laminar vs Turbulent Flow</a:t>
            </a:r>
            <a:endParaRPr lang="en-US" sz="2800" dirty="0"/>
          </a:p>
        </p:txBody>
      </p:sp>
      <p:sp>
        <p:nvSpPr>
          <p:cNvPr id="5" name="TextBox 4">
            <a:extLst>
              <a:ext uri="{FF2B5EF4-FFF2-40B4-BE49-F238E27FC236}">
                <a16:creationId xmlns:a16="http://schemas.microsoft.com/office/drawing/2014/main" id="{AA890FE9-400A-1A1F-40C0-9BE3DF63CEAA}"/>
              </a:ext>
            </a:extLst>
          </p:cNvPr>
          <p:cNvSpPr txBox="1"/>
          <p:nvPr/>
        </p:nvSpPr>
        <p:spPr>
          <a:xfrm>
            <a:off x="0" y="523150"/>
            <a:ext cx="12192000" cy="1200329"/>
          </a:xfrm>
          <a:prstGeom prst="rect">
            <a:avLst/>
          </a:prstGeom>
          <a:noFill/>
        </p:spPr>
        <p:txBody>
          <a:bodyPr wrap="square">
            <a:spAutoFit/>
          </a:bodyPr>
          <a:lstStyle/>
          <a:p>
            <a:r>
              <a:rPr lang="en-GB" sz="2400" b="1" dirty="0">
                <a:latin typeface="Times New Roman" panose="02020603050405020304" pitchFamily="18" charset="0"/>
                <a:cs typeface="Times New Roman" panose="02020603050405020304" pitchFamily="18" charset="0"/>
              </a:rPr>
              <a:t>Observations</a:t>
            </a:r>
            <a:r>
              <a:rPr lang="en-GB" sz="2400"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Transitional flows are relatively more complex because the flow is intermittently turbulent (i.e.,</a:t>
            </a:r>
          </a:p>
          <a:p>
            <a:r>
              <a:rPr lang="en-GB" sz="2400" dirty="0">
                <a:latin typeface="Times New Roman" panose="02020603050405020304" pitchFamily="18" charset="0"/>
                <a:cs typeface="Times New Roman" panose="02020603050405020304" pitchFamily="18" charset="0"/>
              </a:rPr>
              <a:t>the instantaneous flow velocity is sometimes turbulent and laminar at other times)</a:t>
            </a:r>
          </a:p>
        </p:txBody>
      </p:sp>
      <p:pic>
        <p:nvPicPr>
          <p:cNvPr id="6" name="Picture 5">
            <a:extLst>
              <a:ext uri="{FF2B5EF4-FFF2-40B4-BE49-F238E27FC236}">
                <a16:creationId xmlns:a16="http://schemas.microsoft.com/office/drawing/2014/main" id="{3062E73E-BED9-57AB-C287-E87EF68133C3}"/>
              </a:ext>
            </a:extLst>
          </p:cNvPr>
          <p:cNvPicPr>
            <a:picLocks noChangeAspect="1"/>
          </p:cNvPicPr>
          <p:nvPr/>
        </p:nvPicPr>
        <p:blipFill>
          <a:blip r:embed="rId3"/>
          <a:stretch>
            <a:fillRect/>
          </a:stretch>
        </p:blipFill>
        <p:spPr>
          <a:xfrm>
            <a:off x="1315667" y="1861207"/>
            <a:ext cx="8046046" cy="3280096"/>
          </a:xfrm>
          <a:prstGeom prst="rect">
            <a:avLst/>
          </a:prstGeom>
        </p:spPr>
      </p:pic>
      <p:sp>
        <p:nvSpPr>
          <p:cNvPr id="8" name="TextBox 7">
            <a:extLst>
              <a:ext uri="{FF2B5EF4-FFF2-40B4-BE49-F238E27FC236}">
                <a16:creationId xmlns:a16="http://schemas.microsoft.com/office/drawing/2014/main" id="{29F600F6-763F-AA9F-4EEF-18958C8E7FAC}"/>
              </a:ext>
            </a:extLst>
          </p:cNvPr>
          <p:cNvSpPr txBox="1"/>
          <p:nvPr/>
        </p:nvSpPr>
        <p:spPr>
          <a:xfrm>
            <a:off x="0" y="5279032"/>
            <a:ext cx="12192000" cy="1354217"/>
          </a:xfrm>
          <a:prstGeom prst="rect">
            <a:avLst/>
          </a:prstGeom>
          <a:noFill/>
        </p:spPr>
        <p:txBody>
          <a:bodyPr wrap="square">
            <a:spAutoFit/>
          </a:bodyPr>
          <a:lstStyle/>
          <a:p>
            <a:pPr marL="342900" indent="-342900">
              <a:spcAft>
                <a:spcPts val="1200"/>
              </a:spcAft>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In laminar flow, the velocity fluctuations are dampened by the viscous forces because Re is low</a:t>
            </a:r>
          </a:p>
          <a:p>
            <a:pPr marL="342900"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In turbulent flow, the viscous forces are unable to damp out the random fluctuations in the fluid</a:t>
            </a:r>
          </a:p>
          <a:p>
            <a:r>
              <a:rPr lang="en-GB" sz="2400" dirty="0">
                <a:latin typeface="Times New Roman" panose="02020603050405020304" pitchFamily="18" charset="0"/>
                <a:cs typeface="Times New Roman" panose="02020603050405020304" pitchFamily="18" charset="0"/>
              </a:rPr>
              <a:t>motion</a:t>
            </a:r>
          </a:p>
        </p:txBody>
      </p:sp>
    </p:spTree>
    <p:extLst>
      <p:ext uri="{BB962C8B-B14F-4D97-AF65-F5344CB8AC3E}">
        <p14:creationId xmlns:p14="http://schemas.microsoft.com/office/powerpoint/2010/main" val="2318343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470263"/>
          </a:xfrm>
        </p:spPr>
        <p:txBody>
          <a:bodyPr>
            <a:noAutofit/>
          </a:bodyPr>
          <a:lstStyle/>
          <a:p>
            <a:pPr algn="ctr"/>
            <a:r>
              <a:rPr lang="en-US" sz="2800" b="1" dirty="0"/>
              <a:t>Laminar vs Turbulent Flow</a:t>
            </a:r>
            <a:endParaRPr lang="en-US" sz="2800" dirty="0"/>
          </a:p>
        </p:txBody>
      </p:sp>
      <p:sp>
        <p:nvSpPr>
          <p:cNvPr id="5" name="TextBox 4">
            <a:extLst>
              <a:ext uri="{FF2B5EF4-FFF2-40B4-BE49-F238E27FC236}">
                <a16:creationId xmlns:a16="http://schemas.microsoft.com/office/drawing/2014/main" id="{AA890FE9-400A-1A1F-40C0-9BE3DF63CEAA}"/>
              </a:ext>
            </a:extLst>
          </p:cNvPr>
          <p:cNvSpPr txBox="1"/>
          <p:nvPr/>
        </p:nvSpPr>
        <p:spPr>
          <a:xfrm>
            <a:off x="0" y="581272"/>
            <a:ext cx="12192000" cy="1569660"/>
          </a:xfrm>
          <a:prstGeom prst="rect">
            <a:avLst/>
          </a:prstGeom>
          <a:noFill/>
        </p:spPr>
        <p:txBody>
          <a:bodyPr wrap="square">
            <a:spAutoFit/>
          </a:bodyPr>
          <a:lstStyle/>
          <a:p>
            <a:r>
              <a:rPr lang="en-GB" sz="2400" b="1" dirty="0">
                <a:latin typeface="Times New Roman" panose="02020603050405020304" pitchFamily="18" charset="0"/>
                <a:cs typeface="Times New Roman" panose="02020603050405020304" pitchFamily="18" charset="0"/>
              </a:rPr>
              <a:t>Observations</a:t>
            </a:r>
            <a:r>
              <a:rPr lang="en-GB" sz="2400"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For pipe flow, transition to turbulence occurs at Reynolds numbers (</a:t>
            </a:r>
            <a:r>
              <a:rPr lang="en-GB" sz="2400" i="1" dirty="0">
                <a:latin typeface="Times New Roman" panose="02020603050405020304" pitchFamily="18" charset="0"/>
                <a:cs typeface="Times New Roman" panose="02020603050405020304" pitchFamily="18" charset="0"/>
              </a:rPr>
              <a:t>Re</a:t>
            </a:r>
            <a:r>
              <a:rPr lang="en-GB" sz="2400" dirty="0">
                <a:latin typeface="Times New Roman" panose="02020603050405020304" pitchFamily="18" charset="0"/>
                <a:cs typeface="Times New Roman" panose="02020603050405020304" pitchFamily="18" charset="0"/>
              </a:rPr>
              <a:t>) </a:t>
            </a:r>
            <a:r>
              <a:rPr lang="en-GB" sz="2400" i="1" dirty="0">
                <a:latin typeface="Times New Roman" panose="02020603050405020304" pitchFamily="18" charset="0"/>
                <a:cs typeface="Times New Roman" panose="02020603050405020304" pitchFamily="18" charset="0"/>
              </a:rPr>
              <a:t>≈</a:t>
            </a:r>
            <a:r>
              <a:rPr lang="en-GB" sz="2400" dirty="0">
                <a:latin typeface="Times New Roman" panose="02020603050405020304" pitchFamily="18" charset="0"/>
                <a:cs typeface="Times New Roman" panose="02020603050405020304" pitchFamily="18" charset="0"/>
              </a:rPr>
              <a:t> 2300 based on the</a:t>
            </a:r>
          </a:p>
          <a:p>
            <a:r>
              <a:rPr lang="en-GB" sz="2400" dirty="0">
                <a:latin typeface="Times New Roman" panose="02020603050405020304" pitchFamily="18" charset="0"/>
                <a:cs typeface="Times New Roman" panose="02020603050405020304" pitchFamily="18" charset="0"/>
              </a:rPr>
              <a:t>average velocity and pipe diameter. This is also known as the </a:t>
            </a:r>
            <a:r>
              <a:rPr lang="en-GB" sz="2400" b="1" dirty="0">
                <a:latin typeface="Times New Roman" panose="02020603050405020304" pitchFamily="18" charset="0"/>
                <a:cs typeface="Times New Roman" panose="02020603050405020304" pitchFamily="18" charset="0"/>
              </a:rPr>
              <a:t>transition Reynolds number</a:t>
            </a:r>
            <a:r>
              <a:rPr lang="en-GB" sz="2400" dirty="0">
                <a:latin typeface="Times New Roman" panose="02020603050405020304" pitchFamily="18" charset="0"/>
                <a:cs typeface="Times New Roman" panose="02020603050405020304" pitchFamily="18" charset="0"/>
              </a:rPr>
              <a:t> for flow through a pipe</a:t>
            </a:r>
          </a:p>
        </p:txBody>
      </p:sp>
      <p:sp>
        <p:nvSpPr>
          <p:cNvPr id="4" name="TextBox 3">
            <a:extLst>
              <a:ext uri="{FF2B5EF4-FFF2-40B4-BE49-F238E27FC236}">
                <a16:creationId xmlns:a16="http://schemas.microsoft.com/office/drawing/2014/main" id="{672AB989-79BA-6DF4-1F9A-B2B4A08429F3}"/>
              </a:ext>
            </a:extLst>
          </p:cNvPr>
          <p:cNvSpPr txBox="1"/>
          <p:nvPr/>
        </p:nvSpPr>
        <p:spPr>
          <a:xfrm>
            <a:off x="0" y="2331613"/>
            <a:ext cx="12192000" cy="4247317"/>
          </a:xfrm>
          <a:prstGeom prst="rect">
            <a:avLst/>
          </a:prstGeom>
          <a:noFill/>
        </p:spPr>
        <p:txBody>
          <a:bodyPr wrap="square">
            <a:spAutoFit/>
          </a:bodyPr>
          <a:lstStyle/>
          <a:p>
            <a:r>
              <a:rPr lang="en-GH" sz="2400" b="1" dirty="0">
                <a:latin typeface="Times New Roman" panose="02020603050405020304" pitchFamily="18" charset="0"/>
                <a:cs typeface="Times New Roman" panose="02020603050405020304" pitchFamily="18" charset="0"/>
              </a:rPr>
              <a:t>Sample Problems</a:t>
            </a:r>
          </a:p>
          <a:p>
            <a:pPr>
              <a:spcAft>
                <a:spcPts val="1800"/>
              </a:spcAft>
            </a:pPr>
            <a:r>
              <a:rPr lang="en-GH" sz="2400" dirty="0">
                <a:latin typeface="Times New Roman" panose="02020603050405020304" pitchFamily="18" charset="0"/>
                <a:cs typeface="Times New Roman" panose="02020603050405020304" pitchFamily="18" charset="0"/>
              </a:rPr>
              <a:t>1. Consider a pipe with a diameter of 5 cm and a fluid with a dynamic viscosity of 0.001 kg/(</a:t>
            </a:r>
            <a:r>
              <a:rPr lang="en-GH" sz="2400" dirty="0" err="1">
                <a:latin typeface="Times New Roman" panose="02020603050405020304" pitchFamily="18" charset="0"/>
                <a:cs typeface="Times New Roman" panose="02020603050405020304" pitchFamily="18" charset="0"/>
              </a:rPr>
              <a:t>m.s</a:t>
            </a:r>
            <a:r>
              <a:rPr lang="en-GH" sz="2400" dirty="0">
                <a:latin typeface="Times New Roman" panose="02020603050405020304" pitchFamily="18" charset="0"/>
                <a:cs typeface="Times New Roman" panose="02020603050405020304" pitchFamily="18" charset="0"/>
              </a:rPr>
              <a:t>) flowing through it. The velocity of the fluid is 2 m/s. Calculate the Reynolds number and determine the flow regime.</a:t>
            </a:r>
          </a:p>
          <a:p>
            <a:pPr>
              <a:spcAft>
                <a:spcPts val="1800"/>
              </a:spcAft>
            </a:pPr>
            <a:r>
              <a:rPr lang="en-GH" sz="2400" dirty="0">
                <a:latin typeface="Times New Roman" panose="02020603050405020304" pitchFamily="18" charset="0"/>
                <a:cs typeface="Times New Roman" panose="02020603050405020304" pitchFamily="18" charset="0"/>
              </a:rPr>
              <a:t>2. In an engineering application, you observe a fluid exhibits laminar flow characteristics in a pipe of 1 cm diameter. If you wish to maintain laminar flow while doubling the pipe diameter, what adjustments, if any, would you need to make to the velocity of the fluid?</a:t>
            </a:r>
          </a:p>
          <a:p>
            <a:r>
              <a:rPr lang="en-GH" sz="2400" dirty="0">
                <a:latin typeface="Times New Roman" panose="02020603050405020304" pitchFamily="18" charset="0"/>
                <a:cs typeface="Times New Roman" panose="02020603050405020304" pitchFamily="18" charset="0"/>
              </a:rPr>
              <a:t>3. An industrial heat exchanger operates with turbulent flow to maximize heat transfer. However, the noise generated from turbulence is causing issues. Propose a potential solution that maintains heat transfer efficiency while reducing noise levels.</a:t>
            </a:r>
          </a:p>
        </p:txBody>
      </p:sp>
    </p:spTree>
    <p:extLst>
      <p:ext uri="{BB962C8B-B14F-4D97-AF65-F5344CB8AC3E}">
        <p14:creationId xmlns:p14="http://schemas.microsoft.com/office/powerpoint/2010/main" val="1267977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414477"/>
          </a:xfrm>
        </p:spPr>
        <p:txBody>
          <a:bodyPr>
            <a:normAutofit fontScale="90000"/>
          </a:bodyPr>
          <a:lstStyle/>
          <a:p>
            <a:pPr algn="ctr"/>
            <a:r>
              <a:rPr lang="en-US" sz="2800" dirty="0">
                <a:latin typeface="Times New Roman" panose="02020603050405020304" pitchFamily="18" charset="0"/>
                <a:ea typeface="Times New Roman" panose="02020603050405020304" pitchFamily="18" charset="0"/>
              </a:rPr>
              <a:t>ENTRANCE FLOW AND DEVELOPED FLOW</a:t>
            </a:r>
            <a:endParaRPr lang="en-US" sz="2800" dirty="0"/>
          </a:p>
        </p:txBody>
      </p:sp>
      <p:sp>
        <p:nvSpPr>
          <p:cNvPr id="3" name="Content Placeholder 2"/>
          <p:cNvSpPr>
            <a:spLocks noGrp="1"/>
          </p:cNvSpPr>
          <p:nvPr>
            <p:ph idx="1"/>
          </p:nvPr>
        </p:nvSpPr>
        <p:spPr>
          <a:xfrm>
            <a:off x="0" y="394431"/>
            <a:ext cx="12192000" cy="2028462"/>
          </a:xfrm>
        </p:spPr>
        <p:txBody>
          <a:bodyPr>
            <a:normAutofit/>
          </a:bodyPr>
          <a:lstStyle/>
          <a:p>
            <a:pPr marL="0" indent="0" algn="just">
              <a:buNone/>
            </a:pPr>
            <a:r>
              <a:rPr lang="en-US" sz="2200" dirty="0">
                <a:latin typeface="Times New Roman" panose="02020603050405020304" pitchFamily="18" charset="0"/>
                <a:ea typeface="Times New Roman" panose="02020603050405020304" pitchFamily="18" charset="0"/>
              </a:rPr>
              <a:t>When considering internal flows we are interested primarily in developed flows. A developed flow results when the velocity profile ceases to change in the flow direction.</a:t>
            </a:r>
          </a:p>
          <a:p>
            <a:pPr marL="0" indent="0" algn="just">
              <a:buNone/>
            </a:pPr>
            <a:r>
              <a:rPr lang="en-US" sz="2200" b="1" dirty="0">
                <a:latin typeface="Times New Roman" panose="02020603050405020304" pitchFamily="18" charset="0"/>
              </a:rPr>
              <a:t>Entrance Region</a:t>
            </a:r>
          </a:p>
          <a:p>
            <a:pPr marL="0" indent="0" algn="just">
              <a:spcBef>
                <a:spcPts val="0"/>
              </a:spcBef>
              <a:buNone/>
            </a:pPr>
            <a:r>
              <a:rPr lang="en-US" sz="2200" dirty="0">
                <a:latin typeface="Times New Roman" panose="02020603050405020304" pitchFamily="18" charset="0"/>
              </a:rPr>
              <a:t>The region starting from the entrance of the pipe, duct, etc., to the location where fully developed flow begins is known as the entrance region.</a:t>
            </a:r>
          </a:p>
          <a:p>
            <a:pPr marL="0" indent="0" algn="just">
              <a:spcBef>
                <a:spcPts val="0"/>
              </a:spcBef>
              <a:buNone/>
            </a:pPr>
            <a:endParaRPr lang="en-US" sz="2200" dirty="0"/>
          </a:p>
          <a:p>
            <a:pPr marL="0" marR="0">
              <a:lnSpc>
                <a:spcPct val="107000"/>
              </a:lnSpc>
              <a:spcBef>
                <a:spcPts val="0"/>
              </a:spcBef>
              <a:spcAft>
                <a:spcPts val="800"/>
              </a:spcAft>
            </a:pPr>
            <a:endParaRPr lang="en-US" dirty="0">
              <a:effectLst/>
              <a:latin typeface="Times New Roman" panose="02020603050405020304" pitchFamily="18" charset="0"/>
              <a:ea typeface="Times New Roman" panose="02020603050405020304" pitchFamily="18" charset="0"/>
            </a:endParaRPr>
          </a:p>
          <a:p>
            <a:pPr marL="0" indent="0">
              <a:buNone/>
            </a:pPr>
            <a:endParaRPr lang="en-US" dirty="0"/>
          </a:p>
        </p:txBody>
      </p:sp>
      <p:sp>
        <p:nvSpPr>
          <p:cNvPr id="8" name="TextBox 7">
            <a:extLst>
              <a:ext uri="{FF2B5EF4-FFF2-40B4-BE49-F238E27FC236}">
                <a16:creationId xmlns:a16="http://schemas.microsoft.com/office/drawing/2014/main" id="{C7C98CE7-DDF0-4C1C-F277-27A9C1E532CA}"/>
              </a:ext>
            </a:extLst>
          </p:cNvPr>
          <p:cNvSpPr txBox="1"/>
          <p:nvPr/>
        </p:nvSpPr>
        <p:spPr>
          <a:xfrm>
            <a:off x="0" y="4669905"/>
            <a:ext cx="12191999" cy="2092881"/>
          </a:xfrm>
          <a:prstGeom prst="rect">
            <a:avLst/>
          </a:prstGeom>
          <a:noFill/>
        </p:spPr>
        <p:txBody>
          <a:bodyPr wrap="square">
            <a:spAutoFit/>
          </a:bodyPr>
          <a:lstStyle/>
          <a:p>
            <a:pPr marL="0" indent="0" algn="just">
              <a:spcBef>
                <a:spcPts val="0"/>
              </a:spcBef>
              <a:buNone/>
            </a:pPr>
            <a:r>
              <a:rPr lang="en-US" sz="2200" dirty="0">
                <a:latin typeface="Times New Roman" panose="02020603050405020304" pitchFamily="18" charset="0"/>
              </a:rPr>
              <a:t>In the pipe flow above, the flow enters the pipe with a nearly uniform velocity profile at section 1.</a:t>
            </a:r>
          </a:p>
          <a:p>
            <a:pPr marL="342900" indent="-342900" algn="just">
              <a:spcBef>
                <a:spcPts val="0"/>
              </a:spcBef>
              <a:spcAft>
                <a:spcPts val="1200"/>
              </a:spcAft>
              <a:buFont typeface="Wingdings" panose="05000000000000000000" pitchFamily="2" charset="2"/>
              <a:buChar char="§"/>
            </a:pPr>
            <a:r>
              <a:rPr lang="en-US" sz="2200" dirty="0">
                <a:latin typeface="Times New Roman" panose="02020603050405020304" pitchFamily="18" charset="0"/>
              </a:rPr>
              <a:t>Through the pipe, viscous effects cause the fluid to stick to the wall (no-slip boundary condition)</a:t>
            </a:r>
          </a:p>
          <a:p>
            <a:pPr marL="342900" indent="-342900" algn="just">
              <a:spcBef>
                <a:spcPts val="0"/>
              </a:spcBef>
              <a:buFont typeface="Wingdings" panose="05000000000000000000" pitchFamily="2" charset="2"/>
              <a:buChar char="§"/>
            </a:pPr>
            <a:r>
              <a:rPr lang="en-US" sz="2200" dirty="0">
                <a:latin typeface="Times New Roman" panose="02020603050405020304" pitchFamily="18" charset="0"/>
              </a:rPr>
              <a:t>As the flow moves downstream, a boundary layer dominated by viscous effects develops along the pipe</a:t>
            </a:r>
          </a:p>
          <a:p>
            <a:pPr algn="just">
              <a:spcBef>
                <a:spcPts val="0"/>
              </a:spcBef>
              <a:spcAft>
                <a:spcPts val="1200"/>
              </a:spcAft>
            </a:pPr>
            <a:r>
              <a:rPr lang="en-US" sz="2200" dirty="0">
                <a:latin typeface="Times New Roman" panose="02020603050405020304" pitchFamily="18" charset="0"/>
              </a:rPr>
              <a:t>wall. The boundary layer keeps growing until the flow reaches the end of the entrance region (section 2). </a:t>
            </a:r>
          </a:p>
          <a:p>
            <a:pPr marL="342900" indent="-342900" algn="just">
              <a:spcBef>
                <a:spcPts val="0"/>
              </a:spcBef>
              <a:buFont typeface="Wingdings" panose="05000000000000000000" pitchFamily="2" charset="2"/>
              <a:buChar char="§"/>
            </a:pPr>
            <a:r>
              <a:rPr lang="en-US" sz="2200" dirty="0">
                <a:latin typeface="Times New Roman" panose="02020603050405020304" pitchFamily="18" charset="0"/>
              </a:rPr>
              <a:t>Because of the growing boundary layer, the velocity profile changes with distance </a:t>
            </a:r>
            <a:r>
              <a:rPr lang="en-US" sz="2200" i="1" dirty="0">
                <a:latin typeface="Times New Roman" panose="02020603050405020304" pitchFamily="18" charset="0"/>
              </a:rPr>
              <a:t>x</a:t>
            </a:r>
            <a:r>
              <a:rPr lang="en-US" sz="2200" dirty="0">
                <a:latin typeface="Times New Roman" panose="02020603050405020304" pitchFamily="18" charset="0"/>
              </a:rPr>
              <a:t> along the pipe</a:t>
            </a:r>
            <a:endParaRPr lang="en-US" sz="2200" dirty="0"/>
          </a:p>
        </p:txBody>
      </p:sp>
      <p:sp>
        <p:nvSpPr>
          <p:cNvPr id="20" name="Rectangle 19">
            <a:extLst>
              <a:ext uri="{FF2B5EF4-FFF2-40B4-BE49-F238E27FC236}">
                <a16:creationId xmlns:a16="http://schemas.microsoft.com/office/drawing/2014/main" id="{005AB195-059A-EE0F-87E7-6323E234A1D9}"/>
              </a:ext>
            </a:extLst>
          </p:cNvPr>
          <p:cNvSpPr/>
          <p:nvPr/>
        </p:nvSpPr>
        <p:spPr>
          <a:xfrm>
            <a:off x="1885406" y="4258491"/>
            <a:ext cx="7685314" cy="4079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36" name="Picture 35">
            <a:extLst>
              <a:ext uri="{FF2B5EF4-FFF2-40B4-BE49-F238E27FC236}">
                <a16:creationId xmlns:a16="http://schemas.microsoft.com/office/drawing/2014/main" id="{D4205659-FC46-611C-F18B-F231223CD8A7}"/>
              </a:ext>
            </a:extLst>
          </p:cNvPr>
          <p:cNvPicPr>
            <a:picLocks noChangeAspect="1"/>
          </p:cNvPicPr>
          <p:nvPr/>
        </p:nvPicPr>
        <p:blipFill>
          <a:blip r:embed="rId3"/>
          <a:stretch>
            <a:fillRect/>
          </a:stretch>
        </p:blipFill>
        <p:spPr>
          <a:xfrm>
            <a:off x="1523999" y="2085165"/>
            <a:ext cx="8594526" cy="2592000"/>
          </a:xfrm>
          <a:prstGeom prst="rect">
            <a:avLst/>
          </a:prstGeom>
        </p:spPr>
      </p:pic>
    </p:spTree>
    <p:extLst>
      <p:ext uri="{BB962C8B-B14F-4D97-AF65-F5344CB8AC3E}">
        <p14:creationId xmlns:p14="http://schemas.microsoft.com/office/powerpoint/2010/main" val="2902500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414477"/>
          </a:xfrm>
        </p:spPr>
        <p:txBody>
          <a:bodyPr>
            <a:normAutofit fontScale="90000"/>
          </a:bodyPr>
          <a:lstStyle/>
          <a:p>
            <a:pPr algn="ctr"/>
            <a:r>
              <a:rPr lang="en-US" sz="2800" dirty="0">
                <a:latin typeface="Times New Roman" panose="02020603050405020304" pitchFamily="18" charset="0"/>
                <a:ea typeface="Times New Roman" panose="02020603050405020304" pitchFamily="18" charset="0"/>
              </a:rPr>
              <a:t>ENTRANCE FLOW AND DEVELOPED FLOW</a:t>
            </a:r>
            <a:endParaRPr lang="en-US" sz="2800" dirty="0"/>
          </a:p>
        </p:txBody>
      </p:sp>
      <p:sp>
        <p:nvSpPr>
          <p:cNvPr id="8" name="TextBox 7">
            <a:extLst>
              <a:ext uri="{FF2B5EF4-FFF2-40B4-BE49-F238E27FC236}">
                <a16:creationId xmlns:a16="http://schemas.microsoft.com/office/drawing/2014/main" id="{C7C98CE7-DDF0-4C1C-F277-27A9C1E532CA}"/>
              </a:ext>
            </a:extLst>
          </p:cNvPr>
          <p:cNvSpPr txBox="1"/>
          <p:nvPr/>
        </p:nvSpPr>
        <p:spPr>
          <a:xfrm>
            <a:off x="1" y="4047374"/>
            <a:ext cx="12191999" cy="1354217"/>
          </a:xfrm>
          <a:prstGeom prst="rect">
            <a:avLst/>
          </a:prstGeom>
          <a:noFill/>
        </p:spPr>
        <p:txBody>
          <a:bodyPr wrap="square">
            <a:spAutoFit/>
          </a:bodyPr>
          <a:lstStyle/>
          <a:p>
            <a:pPr marL="342900" indent="-342900" algn="just">
              <a:spcBef>
                <a:spcPts val="0"/>
              </a:spcBef>
              <a:spcAft>
                <a:spcPts val="600"/>
              </a:spcAft>
              <a:buFont typeface="Wingdings" panose="05000000000000000000" pitchFamily="2" charset="2"/>
              <a:buChar char="§"/>
            </a:pPr>
            <a:r>
              <a:rPr lang="en-US" sz="2400" dirty="0">
                <a:latin typeface="Times New Roman" panose="02020603050405020304" pitchFamily="18" charset="0"/>
              </a:rPr>
              <a:t>At section 2, the boundary layer has grown in thickness to completely fill the pipe</a:t>
            </a:r>
          </a:p>
          <a:p>
            <a:pPr marL="342900" indent="-342900" algn="just">
              <a:spcBef>
                <a:spcPts val="0"/>
              </a:spcBef>
              <a:spcAft>
                <a:spcPts val="600"/>
              </a:spcAft>
              <a:buFont typeface="Wingdings" panose="05000000000000000000" pitchFamily="2" charset="2"/>
              <a:buChar char="§"/>
            </a:pPr>
            <a:r>
              <a:rPr lang="en-US" sz="2400" dirty="0">
                <a:latin typeface="Times New Roman" panose="02020603050405020304" pitchFamily="18" charset="0"/>
              </a:rPr>
              <a:t>Viscous effects are only important inside the boundary layer</a:t>
            </a:r>
          </a:p>
          <a:p>
            <a:pPr marL="342900" indent="-342900" algn="just">
              <a:spcBef>
                <a:spcPts val="0"/>
              </a:spcBef>
              <a:buFont typeface="Wingdings" panose="05000000000000000000" pitchFamily="2" charset="2"/>
              <a:buChar char="§"/>
            </a:pPr>
            <a:r>
              <a:rPr lang="en-US" sz="2400" dirty="0">
                <a:latin typeface="Times New Roman" panose="02020603050405020304" pitchFamily="18" charset="0"/>
              </a:rPr>
              <a:t>In the inviscid core (i.e., outside the boundary layer), viscous effects are negligible</a:t>
            </a:r>
            <a:endParaRPr lang="en-US" sz="2400" dirty="0"/>
          </a:p>
        </p:txBody>
      </p:sp>
      <p:grpSp>
        <p:nvGrpSpPr>
          <p:cNvPr id="12" name="Group 11">
            <a:extLst>
              <a:ext uri="{FF2B5EF4-FFF2-40B4-BE49-F238E27FC236}">
                <a16:creationId xmlns:a16="http://schemas.microsoft.com/office/drawing/2014/main" id="{896CA8E3-9298-DC67-48F9-5D570F4EBBE6}"/>
              </a:ext>
            </a:extLst>
          </p:cNvPr>
          <p:cNvGrpSpPr/>
          <p:nvPr/>
        </p:nvGrpSpPr>
        <p:grpSpPr>
          <a:xfrm>
            <a:off x="1097279" y="799940"/>
            <a:ext cx="8657664" cy="3104679"/>
            <a:chOff x="1097279" y="799940"/>
            <a:chExt cx="8657664" cy="3104679"/>
          </a:xfrm>
        </p:grpSpPr>
        <p:pic>
          <p:nvPicPr>
            <p:cNvPr id="36" name="Picture 35">
              <a:extLst>
                <a:ext uri="{FF2B5EF4-FFF2-40B4-BE49-F238E27FC236}">
                  <a16:creationId xmlns:a16="http://schemas.microsoft.com/office/drawing/2014/main" id="{D4205659-FC46-611C-F18B-F231223CD8A7}"/>
                </a:ext>
              </a:extLst>
            </p:cNvPr>
            <p:cNvPicPr>
              <a:picLocks noChangeAspect="1"/>
            </p:cNvPicPr>
            <p:nvPr/>
          </p:nvPicPr>
          <p:blipFill>
            <a:blip r:embed="rId3"/>
            <a:stretch>
              <a:fillRect/>
            </a:stretch>
          </p:blipFill>
          <p:spPr>
            <a:xfrm>
              <a:off x="1160417" y="799940"/>
              <a:ext cx="8594526" cy="2592000"/>
            </a:xfrm>
            <a:prstGeom prst="rect">
              <a:avLst/>
            </a:prstGeom>
          </p:spPr>
        </p:pic>
        <p:grpSp>
          <p:nvGrpSpPr>
            <p:cNvPr id="11" name="Group 10">
              <a:extLst>
                <a:ext uri="{FF2B5EF4-FFF2-40B4-BE49-F238E27FC236}">
                  <a16:creationId xmlns:a16="http://schemas.microsoft.com/office/drawing/2014/main" id="{9527E639-C506-FCDA-0845-D46EEEE3F189}"/>
                </a:ext>
              </a:extLst>
            </p:cNvPr>
            <p:cNvGrpSpPr/>
            <p:nvPr/>
          </p:nvGrpSpPr>
          <p:grpSpPr>
            <a:xfrm>
              <a:off x="1097279" y="2499357"/>
              <a:ext cx="2333898" cy="1405262"/>
              <a:chOff x="1097279" y="2560320"/>
              <a:chExt cx="2333898" cy="1405262"/>
            </a:xfrm>
          </p:grpSpPr>
          <p:cxnSp>
            <p:nvCxnSpPr>
              <p:cNvPr id="7" name="Straight Arrow Connector 6">
                <a:extLst>
                  <a:ext uri="{FF2B5EF4-FFF2-40B4-BE49-F238E27FC236}">
                    <a16:creationId xmlns:a16="http://schemas.microsoft.com/office/drawing/2014/main" id="{F424947E-CC40-0EB8-73E7-6607E66566DE}"/>
                  </a:ext>
                </a:extLst>
              </p:cNvPr>
              <p:cNvCxnSpPr>
                <a:cxnSpLocks/>
              </p:cNvCxnSpPr>
              <p:nvPr/>
            </p:nvCxnSpPr>
            <p:spPr>
              <a:xfrm flipV="1">
                <a:off x="1410788" y="2560320"/>
                <a:ext cx="1201783" cy="104062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517D8D60-8554-A49D-6C52-8CE7F9F40AB4}"/>
                  </a:ext>
                </a:extLst>
              </p:cNvPr>
              <p:cNvSpPr txBox="1"/>
              <p:nvPr/>
            </p:nvSpPr>
            <p:spPr>
              <a:xfrm>
                <a:off x="1097279" y="3534695"/>
                <a:ext cx="2333898" cy="430887"/>
              </a:xfrm>
              <a:prstGeom prst="rect">
                <a:avLst/>
              </a:prstGeom>
              <a:noFill/>
            </p:spPr>
            <p:txBody>
              <a:bodyPr wrap="square" rtlCol="0">
                <a:spAutoFit/>
              </a:bodyPr>
              <a:lstStyle/>
              <a:p>
                <a:r>
                  <a:rPr lang="en-GB" sz="2200" dirty="0">
                    <a:latin typeface="Times New Roman" panose="02020603050405020304" pitchFamily="18" charset="0"/>
                    <a:cs typeface="Times New Roman" panose="02020603050405020304" pitchFamily="18" charset="0"/>
                  </a:rPr>
                  <a:t>Inviscid Core</a:t>
                </a:r>
                <a:endParaRPr lang="en-GH" sz="2200" dirty="0">
                  <a:latin typeface="Times New Roman" panose="02020603050405020304" pitchFamily="18" charset="0"/>
                  <a:cs typeface="Times New Roman" panose="02020603050405020304" pitchFamily="18" charset="0"/>
                </a:endParaRPr>
              </a:p>
            </p:txBody>
          </p:sp>
        </p:grpSp>
      </p:grpSp>
      <p:sp>
        <p:nvSpPr>
          <p:cNvPr id="14" name="TextBox 13">
            <a:extLst>
              <a:ext uri="{FF2B5EF4-FFF2-40B4-BE49-F238E27FC236}">
                <a16:creationId xmlns:a16="http://schemas.microsoft.com/office/drawing/2014/main" id="{5CD19687-3891-1AD8-3EFC-1C2D143873A0}"/>
              </a:ext>
            </a:extLst>
          </p:cNvPr>
          <p:cNvSpPr txBox="1"/>
          <p:nvPr/>
        </p:nvSpPr>
        <p:spPr>
          <a:xfrm>
            <a:off x="1" y="5641526"/>
            <a:ext cx="12191999" cy="830997"/>
          </a:xfrm>
          <a:prstGeom prst="rect">
            <a:avLst/>
          </a:prstGeom>
          <a:noFill/>
        </p:spPr>
        <p:txBody>
          <a:bodyPr wrap="square">
            <a:spAutoFit/>
          </a:bodyPr>
          <a:lstStyle/>
          <a:p>
            <a:pPr marL="0" indent="0" algn="just">
              <a:spcBef>
                <a:spcPts val="0"/>
              </a:spcBef>
              <a:buNone/>
            </a:pPr>
            <a:r>
              <a:rPr lang="en-US" sz="2400" dirty="0">
                <a:latin typeface="Times New Roman" panose="02020603050405020304" pitchFamily="18" charset="0"/>
              </a:rPr>
              <a:t>The distance from the entrance of the pipe to the location of the start of fully developed flow is called the </a:t>
            </a:r>
            <a:r>
              <a:rPr lang="en-US" sz="2400" b="1" dirty="0">
                <a:latin typeface="Times New Roman" panose="02020603050405020304" pitchFamily="18" charset="0"/>
              </a:rPr>
              <a:t>entrance length</a:t>
            </a:r>
            <a:r>
              <a:rPr lang="en-US" sz="2400" dirty="0">
                <a:latin typeface="Times New Roman" panose="02020603050405020304" pitchFamily="18" charset="0"/>
              </a:rPr>
              <a:t>.</a:t>
            </a:r>
          </a:p>
        </p:txBody>
      </p:sp>
    </p:spTree>
    <p:extLst>
      <p:ext uri="{BB962C8B-B14F-4D97-AF65-F5344CB8AC3E}">
        <p14:creationId xmlns:p14="http://schemas.microsoft.com/office/powerpoint/2010/main" val="1895090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414477"/>
          </a:xfrm>
        </p:spPr>
        <p:txBody>
          <a:bodyPr>
            <a:normAutofit fontScale="90000"/>
          </a:bodyPr>
          <a:lstStyle/>
          <a:p>
            <a:pPr algn="ctr"/>
            <a:r>
              <a:rPr lang="en-US" sz="2800" dirty="0">
                <a:latin typeface="Times New Roman" panose="02020603050405020304" pitchFamily="18" charset="0"/>
                <a:ea typeface="Times New Roman" panose="02020603050405020304" pitchFamily="18" charset="0"/>
              </a:rPr>
              <a:t>ENTRANCE FLOW AND DEVELOPED FLOW</a:t>
            </a:r>
            <a:endParaRPr lang="en-US" sz="2800"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7C98CE7-DDF0-4C1C-F277-27A9C1E532CA}"/>
                  </a:ext>
                </a:extLst>
              </p:cNvPr>
              <p:cNvSpPr txBox="1"/>
              <p:nvPr/>
            </p:nvSpPr>
            <p:spPr>
              <a:xfrm>
                <a:off x="1" y="3243982"/>
                <a:ext cx="12191999" cy="4197688"/>
              </a:xfrm>
              <a:prstGeom prst="rect">
                <a:avLst/>
              </a:prstGeom>
              <a:noFill/>
            </p:spPr>
            <p:txBody>
              <a:bodyPr wrap="square">
                <a:spAutoFit/>
              </a:bodyPr>
              <a:lstStyle/>
              <a:p>
                <a:pPr algn="just">
                  <a:spcBef>
                    <a:spcPts val="0"/>
                  </a:spcBef>
                  <a:spcAft>
                    <a:spcPts val="600"/>
                  </a:spcAft>
                </a:pPr>
                <a:r>
                  <a:rPr lang="en-US" sz="2400" dirty="0">
                    <a:latin typeface="Times New Roman" panose="02020603050405020304" pitchFamily="18" charset="0"/>
                    <a:cs typeface="Times New Roman" panose="02020603050405020304" pitchFamily="18" charset="0"/>
                  </a:rPr>
                  <a:t>For laminar flow, the dimensionless entrance length is a function of Reynolds number.</a:t>
                </a:r>
              </a:p>
              <a:p>
                <a:pPr algn="ctr">
                  <a:spcBef>
                    <a:spcPts val="0"/>
                  </a:spcBef>
                  <a:spcAft>
                    <a:spcPts val="600"/>
                  </a:spcAft>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cs typeface="Times New Roman" panose="02020603050405020304" pitchFamily="18" charset="0"/>
                            </a:rPr>
                          </m:ctrlPr>
                        </m:fPr>
                        <m:num>
                          <m:sSub>
                            <m:sSubPr>
                              <m:ctrlPr>
                                <a:rPr lang="en-US" sz="2400" i="1" smtClean="0">
                                  <a:latin typeface="Cambria Math" panose="02040503050406030204" pitchFamily="18" charset="0"/>
                                  <a:cs typeface="Times New Roman" panose="02020603050405020304" pitchFamily="18" charset="0"/>
                                </a:rPr>
                              </m:ctrlPr>
                            </m:sSubPr>
                            <m:e>
                              <m:r>
                                <a:rPr lang="en-GB" sz="2400" b="0" i="1" smtClean="0">
                                  <a:latin typeface="Cambria Math" panose="02040503050406030204" pitchFamily="18" charset="0"/>
                                  <a:cs typeface="Times New Roman" panose="02020603050405020304" pitchFamily="18" charset="0"/>
                                </a:rPr>
                                <m:t>𝐿</m:t>
                              </m:r>
                            </m:e>
                            <m:sub>
                              <m:r>
                                <a:rPr lang="en-GB" sz="2400" b="0" i="1" smtClean="0">
                                  <a:latin typeface="Cambria Math" panose="02040503050406030204" pitchFamily="18" charset="0"/>
                                  <a:cs typeface="Times New Roman" panose="02020603050405020304" pitchFamily="18" charset="0"/>
                                </a:rPr>
                                <m:t>𝑒</m:t>
                              </m:r>
                            </m:sub>
                          </m:sSub>
                        </m:num>
                        <m:den>
                          <m:r>
                            <a:rPr lang="en-GB" sz="2400" b="0" i="1" smtClean="0">
                              <a:latin typeface="Cambria Math" panose="02040503050406030204" pitchFamily="18" charset="0"/>
                              <a:cs typeface="Times New Roman" panose="02020603050405020304" pitchFamily="18" charset="0"/>
                            </a:rPr>
                            <m:t>𝐷</m:t>
                          </m:r>
                        </m:den>
                      </m:f>
                      <m:r>
                        <a:rPr lang="en-GB" sz="2400" b="0" i="1" smtClean="0">
                          <a:latin typeface="Cambria Math" panose="02040503050406030204" pitchFamily="18" charset="0"/>
                          <a:cs typeface="Times New Roman" panose="02020603050405020304" pitchFamily="18" charset="0"/>
                        </a:rPr>
                        <m:t>=0.06</m:t>
                      </m:r>
                      <m:r>
                        <a:rPr lang="en-GB" sz="2400" b="0" i="1" smtClean="0">
                          <a:latin typeface="Cambria Math" panose="02040503050406030204" pitchFamily="18" charset="0"/>
                          <a:cs typeface="Times New Roman" panose="02020603050405020304" pitchFamily="18" charset="0"/>
                        </a:rPr>
                        <m:t>𝑅𝑒</m:t>
                      </m:r>
                    </m:oMath>
                  </m:oMathPara>
                </a14:m>
                <a:endParaRPr lang="en-US" sz="2400" dirty="0">
                  <a:latin typeface="Times New Roman" panose="02020603050405020304" pitchFamily="18" charset="0"/>
                  <a:cs typeface="Times New Roman" panose="02020603050405020304" pitchFamily="18" charset="0"/>
                </a:endParaRPr>
              </a:p>
              <a:p>
                <a:pPr>
                  <a:spcBef>
                    <a:spcPts val="0"/>
                  </a:spcBef>
                  <a:spcAft>
                    <a:spcPts val="600"/>
                  </a:spcAft>
                </a:pPr>
                <a:r>
                  <a:rPr lang="en-US" sz="2400" dirty="0">
                    <a:latin typeface="Times New Roman" panose="02020603050405020304" pitchFamily="18" charset="0"/>
                    <a:cs typeface="Times New Roman" panose="02020603050405020304" pitchFamily="18" charset="0"/>
                  </a:rPr>
                  <a:t>That is,</a:t>
                </a:r>
              </a:p>
              <a:p>
                <a:pPr algn="ctr">
                  <a:spcBef>
                    <a:spcPts val="0"/>
                  </a:spcBef>
                  <a:spcAft>
                    <a:spcPts val="600"/>
                  </a:spcAft>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GB" sz="2400" b="0" i="1" smtClean="0">
                              <a:latin typeface="Cambria Math" panose="02040503050406030204" pitchFamily="18" charset="0"/>
                              <a:cs typeface="Times New Roman" panose="02020603050405020304" pitchFamily="18" charset="0"/>
                            </a:rPr>
                            <m:t>𝐿</m:t>
                          </m:r>
                        </m:e>
                        <m:sub>
                          <m:r>
                            <a:rPr lang="en-GB" sz="2400" b="0" i="1" smtClean="0">
                              <a:latin typeface="Cambria Math" panose="02040503050406030204" pitchFamily="18" charset="0"/>
                              <a:cs typeface="Times New Roman" panose="02020603050405020304" pitchFamily="18" charset="0"/>
                            </a:rPr>
                            <m:t>𝑒</m:t>
                          </m:r>
                        </m:sub>
                      </m:sSub>
                      <m:r>
                        <a:rPr lang="en-GB" sz="2400" i="1">
                          <a:latin typeface="Cambria Math" panose="02040503050406030204" pitchFamily="18" charset="0"/>
                          <a:cs typeface="Times New Roman" panose="02020603050405020304" pitchFamily="18" charset="0"/>
                        </a:rPr>
                        <m:t>=0.06</m:t>
                      </m:r>
                      <m:r>
                        <a:rPr lang="en-GB" sz="2400" i="1">
                          <a:latin typeface="Cambria Math" panose="02040503050406030204" pitchFamily="18" charset="0"/>
                          <a:cs typeface="Times New Roman" panose="02020603050405020304" pitchFamily="18" charset="0"/>
                        </a:rPr>
                        <m:t>𝑅𝑒𝐷</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≈140</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𝐷</m:t>
                      </m:r>
                    </m:oMath>
                  </m:oMathPara>
                </a14:m>
                <a:endParaRPr lang="en-US" sz="2400" dirty="0">
                  <a:latin typeface="Times New Roman" panose="02020603050405020304" pitchFamily="18" charset="0"/>
                  <a:cs typeface="Times New Roman" panose="02020603050405020304" pitchFamily="18" charset="0"/>
                </a:endParaRPr>
              </a:p>
              <a:p>
                <a:pPr>
                  <a:spcBef>
                    <a:spcPts val="0"/>
                  </a:spcBef>
                  <a:spcAft>
                    <a:spcPts val="600"/>
                  </a:spcAft>
                </a:pPr>
                <a:r>
                  <a:rPr lang="en-US" sz="2400" dirty="0">
                    <a:latin typeface="Times New Roman" panose="02020603050405020304" pitchFamily="18" charset="0"/>
                    <a:cs typeface="Times New Roman" panose="02020603050405020304" pitchFamily="18" charset="0"/>
                  </a:rPr>
                  <a:t>For turbulent flow, experiments show that the mean velocity profile becomes fully developed at about 24 to 40 pipe diameters (Why?). However, other flow characteristics such as those related to the velocity fluctuations may not be fully developed for 80 or more pipe diameters.</a:t>
                </a:r>
              </a:p>
              <a:p>
                <a:pPr algn="ctr">
                  <a:spcAft>
                    <a:spcPts val="600"/>
                  </a:spcAft>
                </a:pPr>
                <a:endParaRPr lang="en-US" sz="2400" dirty="0">
                  <a:latin typeface="Times New Roman" panose="02020603050405020304" pitchFamily="18" charset="0"/>
                  <a:cs typeface="Times New Roman" panose="02020603050405020304" pitchFamily="18" charset="0"/>
                </a:endParaRPr>
              </a:p>
              <a:p>
                <a:pPr>
                  <a:spcBef>
                    <a:spcPts val="0"/>
                  </a:spcBef>
                  <a:spcAft>
                    <a:spcPts val="600"/>
                  </a:spcAft>
                </a:pPr>
                <a:endParaRPr lang="en-US" sz="2400" dirty="0">
                  <a:latin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C7C98CE7-DDF0-4C1C-F277-27A9C1E532CA}"/>
                  </a:ext>
                </a:extLst>
              </p:cNvPr>
              <p:cNvSpPr txBox="1">
                <a:spLocks noRot="1" noChangeAspect="1" noMove="1" noResize="1" noEditPoints="1" noAdjustHandles="1" noChangeArrowheads="1" noChangeShapeType="1" noTextEdit="1"/>
              </p:cNvSpPr>
              <p:nvPr/>
            </p:nvSpPr>
            <p:spPr>
              <a:xfrm>
                <a:off x="1" y="3243982"/>
                <a:ext cx="12191999" cy="4197688"/>
              </a:xfrm>
              <a:prstGeom prst="rect">
                <a:avLst/>
              </a:prstGeom>
              <a:blipFill>
                <a:blip r:embed="rId3"/>
                <a:stretch>
                  <a:fillRect l="-750" t="-1161" r="-1300"/>
                </a:stretch>
              </a:blipFill>
            </p:spPr>
            <p:txBody>
              <a:bodyPr/>
              <a:lstStyle/>
              <a:p>
                <a:r>
                  <a:rPr lang="en-GH">
                    <a:noFill/>
                  </a:rPr>
                  <a:t> </a:t>
                </a:r>
              </a:p>
            </p:txBody>
          </p:sp>
        </mc:Fallback>
      </mc:AlternateContent>
      <p:grpSp>
        <p:nvGrpSpPr>
          <p:cNvPr id="12" name="Group 11">
            <a:extLst>
              <a:ext uri="{FF2B5EF4-FFF2-40B4-BE49-F238E27FC236}">
                <a16:creationId xmlns:a16="http://schemas.microsoft.com/office/drawing/2014/main" id="{896CA8E3-9298-DC67-48F9-5D570F4EBBE6}"/>
              </a:ext>
            </a:extLst>
          </p:cNvPr>
          <p:cNvGrpSpPr/>
          <p:nvPr/>
        </p:nvGrpSpPr>
        <p:grpSpPr>
          <a:xfrm>
            <a:off x="1576250" y="521832"/>
            <a:ext cx="8212184" cy="2491334"/>
            <a:chOff x="1097279" y="799940"/>
            <a:chExt cx="8657664" cy="3104679"/>
          </a:xfrm>
        </p:grpSpPr>
        <p:pic>
          <p:nvPicPr>
            <p:cNvPr id="36" name="Picture 35">
              <a:extLst>
                <a:ext uri="{FF2B5EF4-FFF2-40B4-BE49-F238E27FC236}">
                  <a16:creationId xmlns:a16="http://schemas.microsoft.com/office/drawing/2014/main" id="{D4205659-FC46-611C-F18B-F231223CD8A7}"/>
                </a:ext>
              </a:extLst>
            </p:cNvPr>
            <p:cNvPicPr>
              <a:picLocks noChangeAspect="1"/>
            </p:cNvPicPr>
            <p:nvPr/>
          </p:nvPicPr>
          <p:blipFill>
            <a:blip r:embed="rId4"/>
            <a:stretch>
              <a:fillRect/>
            </a:stretch>
          </p:blipFill>
          <p:spPr>
            <a:xfrm>
              <a:off x="1160417" y="799940"/>
              <a:ext cx="8594526" cy="2592000"/>
            </a:xfrm>
            <a:prstGeom prst="rect">
              <a:avLst/>
            </a:prstGeom>
          </p:spPr>
        </p:pic>
        <p:grpSp>
          <p:nvGrpSpPr>
            <p:cNvPr id="11" name="Group 10">
              <a:extLst>
                <a:ext uri="{FF2B5EF4-FFF2-40B4-BE49-F238E27FC236}">
                  <a16:creationId xmlns:a16="http://schemas.microsoft.com/office/drawing/2014/main" id="{9527E639-C506-FCDA-0845-D46EEEE3F189}"/>
                </a:ext>
              </a:extLst>
            </p:cNvPr>
            <p:cNvGrpSpPr/>
            <p:nvPr/>
          </p:nvGrpSpPr>
          <p:grpSpPr>
            <a:xfrm>
              <a:off x="1097279" y="2499357"/>
              <a:ext cx="2333898" cy="1405262"/>
              <a:chOff x="1097279" y="2560320"/>
              <a:chExt cx="2333898" cy="1405262"/>
            </a:xfrm>
          </p:grpSpPr>
          <p:cxnSp>
            <p:nvCxnSpPr>
              <p:cNvPr id="7" name="Straight Arrow Connector 6">
                <a:extLst>
                  <a:ext uri="{FF2B5EF4-FFF2-40B4-BE49-F238E27FC236}">
                    <a16:creationId xmlns:a16="http://schemas.microsoft.com/office/drawing/2014/main" id="{F424947E-CC40-0EB8-73E7-6607E66566DE}"/>
                  </a:ext>
                </a:extLst>
              </p:cNvPr>
              <p:cNvCxnSpPr>
                <a:cxnSpLocks/>
              </p:cNvCxnSpPr>
              <p:nvPr/>
            </p:nvCxnSpPr>
            <p:spPr>
              <a:xfrm flipV="1">
                <a:off x="1410788" y="2560320"/>
                <a:ext cx="1201783" cy="104062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517D8D60-8554-A49D-6C52-8CE7F9F40AB4}"/>
                  </a:ext>
                </a:extLst>
              </p:cNvPr>
              <p:cNvSpPr txBox="1"/>
              <p:nvPr/>
            </p:nvSpPr>
            <p:spPr>
              <a:xfrm>
                <a:off x="1097279" y="3534695"/>
                <a:ext cx="2333898" cy="430887"/>
              </a:xfrm>
              <a:prstGeom prst="rect">
                <a:avLst/>
              </a:prstGeom>
              <a:noFill/>
            </p:spPr>
            <p:txBody>
              <a:bodyPr wrap="square" rtlCol="0">
                <a:spAutoFit/>
              </a:bodyPr>
              <a:lstStyle/>
              <a:p>
                <a:r>
                  <a:rPr lang="en-GB" sz="2200" dirty="0">
                    <a:latin typeface="Times New Roman" panose="02020603050405020304" pitchFamily="18" charset="0"/>
                    <a:cs typeface="Times New Roman" panose="02020603050405020304" pitchFamily="18" charset="0"/>
                  </a:rPr>
                  <a:t>Inviscid Core</a:t>
                </a:r>
                <a:endParaRPr lang="en-GH" sz="2200" dirty="0">
                  <a:latin typeface="Times New Roman" panose="02020603050405020304" pitchFamily="18" charset="0"/>
                  <a:cs typeface="Times New Roman" panose="02020603050405020304" pitchFamily="18" charset="0"/>
                </a:endParaRPr>
              </a:p>
            </p:txBody>
          </p:sp>
        </p:grpSp>
      </p:grpSp>
    </p:spTree>
    <p:extLst>
      <p:ext uri="{BB962C8B-B14F-4D97-AF65-F5344CB8AC3E}">
        <p14:creationId xmlns:p14="http://schemas.microsoft.com/office/powerpoint/2010/main" val="2710729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920"/>
            <a:ext cx="10515600" cy="453481"/>
          </a:xfrm>
        </p:spPr>
        <p:txBody>
          <a:bodyPr>
            <a:normAutofit/>
          </a:bodyPr>
          <a:lstStyle/>
          <a:p>
            <a:pPr algn="ctr"/>
            <a:r>
              <a:rPr lang="en-US" sz="2500" dirty="0">
                <a:latin typeface="Times New Roman" panose="02020603050405020304" pitchFamily="18" charset="0"/>
                <a:cs typeface="Times New Roman" panose="02020603050405020304" pitchFamily="18" charset="0"/>
              </a:rPr>
              <a:t>LAMINAR FLOW IN A PIPE</a:t>
            </a:r>
          </a:p>
        </p:txBody>
      </p:sp>
      <p:sp>
        <p:nvSpPr>
          <p:cNvPr id="6" name="TextBox 5">
            <a:extLst>
              <a:ext uri="{FF2B5EF4-FFF2-40B4-BE49-F238E27FC236}">
                <a16:creationId xmlns:a16="http://schemas.microsoft.com/office/drawing/2014/main" id="{AD807CA4-BA3C-18BA-D180-77A053E464BE}"/>
              </a:ext>
            </a:extLst>
          </p:cNvPr>
          <p:cNvSpPr txBox="1"/>
          <p:nvPr/>
        </p:nvSpPr>
        <p:spPr>
          <a:xfrm>
            <a:off x="0" y="638696"/>
            <a:ext cx="6096000" cy="461665"/>
          </a:xfrm>
          <a:prstGeom prst="rect">
            <a:avLst/>
          </a:prstGeom>
          <a:noFill/>
        </p:spPr>
        <p:txBody>
          <a:bodyPr wrap="square">
            <a:spAutoFit/>
          </a:bodyPr>
          <a:lstStyle/>
          <a:p>
            <a:r>
              <a:rPr lang="en-US" sz="2400" b="1" dirty="0">
                <a:latin typeface="Times New Roman" panose="02020603050405020304" pitchFamily="18" charset="0"/>
              </a:rPr>
              <a:t>Derivation of the Mean Velocity Profile</a:t>
            </a:r>
            <a:endParaRPr lang="en-GH" sz="2400" b="1" dirty="0"/>
          </a:p>
        </p:txBody>
      </p:sp>
      <p:pic>
        <p:nvPicPr>
          <p:cNvPr id="12" name="Picture 11">
            <a:extLst>
              <a:ext uri="{FF2B5EF4-FFF2-40B4-BE49-F238E27FC236}">
                <a16:creationId xmlns:a16="http://schemas.microsoft.com/office/drawing/2014/main" id="{31AFFDC7-1AA2-E3E3-A5F6-DA20F113AACC}"/>
              </a:ext>
            </a:extLst>
          </p:cNvPr>
          <p:cNvPicPr>
            <a:picLocks noChangeAspect="1"/>
          </p:cNvPicPr>
          <p:nvPr/>
        </p:nvPicPr>
        <p:blipFill>
          <a:blip r:embed="rId3"/>
          <a:stretch>
            <a:fillRect/>
          </a:stretch>
        </p:blipFill>
        <p:spPr>
          <a:xfrm>
            <a:off x="7011507" y="1142702"/>
            <a:ext cx="4342293" cy="2427799"/>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28E99BD-C8AC-0F15-E0B6-E7BF261B14C0}"/>
                  </a:ext>
                </a:extLst>
              </p:cNvPr>
              <p:cNvSpPr txBox="1"/>
              <p:nvPr/>
            </p:nvSpPr>
            <p:spPr>
              <a:xfrm>
                <a:off x="0" y="1128366"/>
                <a:ext cx="6348547" cy="3687741"/>
              </a:xfrm>
              <a:prstGeom prst="rect">
                <a:avLst/>
              </a:prstGeom>
              <a:noFill/>
            </p:spPr>
            <p:txBody>
              <a:bodyPr wrap="square">
                <a:spAutoFit/>
              </a:bodyPr>
              <a:lstStyle/>
              <a:p>
                <a:pPr algn="just">
                  <a:spcBef>
                    <a:spcPts val="0"/>
                  </a:spcBef>
                  <a:spcAft>
                    <a:spcPts val="600"/>
                  </a:spcAft>
                </a:pPr>
                <a:r>
                  <a:rPr lang="en-US" sz="2400" dirty="0">
                    <a:latin typeface="Times New Roman" panose="02020603050405020304" pitchFamily="18" charset="0"/>
                  </a:rPr>
                  <a:t>Consider a horizontal pipe of radius </a:t>
                </a:r>
                <a14:m>
                  <m:oMath xmlns:m="http://schemas.openxmlformats.org/officeDocument/2006/math">
                    <m:sSub>
                      <m:sSubPr>
                        <m:ctrlPr>
                          <a:rPr lang="en-US" sz="2400" i="1" smtClean="0">
                            <a:latin typeface="Cambria Math" panose="02040503050406030204" pitchFamily="18" charset="0"/>
                          </a:rPr>
                        </m:ctrlPr>
                      </m:sSubPr>
                      <m:e>
                        <m:r>
                          <a:rPr lang="en-GB" sz="2400" b="0" i="1" smtClean="0">
                            <a:latin typeface="Cambria Math" panose="02040503050406030204" pitchFamily="18" charset="0"/>
                          </a:rPr>
                          <m:t>𝑟</m:t>
                        </m:r>
                      </m:e>
                      <m:sub>
                        <m:r>
                          <a:rPr lang="en-GB" sz="2400" b="0" i="1" smtClean="0">
                            <a:latin typeface="Cambria Math" panose="02040503050406030204" pitchFamily="18" charset="0"/>
                          </a:rPr>
                          <m:t>0</m:t>
                        </m:r>
                      </m:sub>
                    </m:sSub>
                  </m:oMath>
                </a14:m>
                <a:r>
                  <a:rPr lang="en-US" sz="2400" dirty="0">
                    <a:latin typeface="Times New Roman" panose="02020603050405020304" pitchFamily="18" charset="0"/>
                  </a:rPr>
                  <a:t>. The viscous fluid is flowing from left to right. Consider a fluid element of radius r and length </a:t>
                </a:r>
                <a:r>
                  <a:rPr lang="en-US" sz="2400" i="1" dirty="0">
                    <a:latin typeface="Times New Roman" panose="02020603050405020304" pitchFamily="18" charset="0"/>
                  </a:rPr>
                  <a:t>dx</a:t>
                </a:r>
              </a:p>
              <a:p>
                <a:pPr algn="just">
                  <a:spcBef>
                    <a:spcPts val="0"/>
                  </a:spcBef>
                  <a:spcAft>
                    <a:spcPts val="600"/>
                  </a:spcAft>
                </a:pPr>
                <a:r>
                  <a:rPr lang="en-US" sz="2400" dirty="0">
                    <a:latin typeface="Times New Roman" panose="02020603050405020304" pitchFamily="18" charset="0"/>
                  </a:rPr>
                  <a:t>If </a:t>
                </a:r>
                <a:r>
                  <a:rPr lang="en-US" sz="2400" i="1" dirty="0">
                    <a:latin typeface="Times New Roman" panose="02020603050405020304" pitchFamily="18" charset="0"/>
                  </a:rPr>
                  <a:t>p</a:t>
                </a:r>
                <a:r>
                  <a:rPr lang="en-US" sz="2400" dirty="0">
                    <a:latin typeface="Times New Roman" panose="02020603050405020304" pitchFamily="18" charset="0"/>
                  </a:rPr>
                  <a:t> is the pressure on the left face (AB), the pressure on the right face (CD) will be given</a:t>
                </a:r>
              </a:p>
              <a:p>
                <a:pPr algn="just">
                  <a:spcBef>
                    <a:spcPts val="0"/>
                  </a:spcBef>
                  <a:spcAft>
                    <a:spcPts val="600"/>
                  </a:spcAft>
                </a:pPr>
                <a:r>
                  <a:rPr lang="en-US" sz="2400" dirty="0">
                    <a:latin typeface="Times New Roman" panose="02020603050405020304" pitchFamily="18" charset="0"/>
                    <a:cs typeface="Times New Roman" panose="02020603050405020304" pitchFamily="18" charset="0"/>
                  </a:rPr>
                  <a:t>(using a first order Taylor series approximation) by</a:t>
                </a:r>
              </a:p>
              <a:p>
                <a:pPr algn="just">
                  <a:spcBef>
                    <a:spcPts val="0"/>
                  </a:spcBef>
                  <a:spcAft>
                    <a:spcPts val="600"/>
                  </a:spcAft>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cs typeface="Times New Roman" panose="02020603050405020304" pitchFamily="18" charset="0"/>
                        </a:rPr>
                        <m:t>𝑝</m:t>
                      </m:r>
                      <m:r>
                        <a:rPr lang="en-GB" sz="2400" b="0" i="1" smtClean="0">
                          <a:latin typeface="Cambria Math" panose="02040503050406030204" pitchFamily="18" charset="0"/>
                          <a:cs typeface="Times New Roman" panose="02020603050405020304" pitchFamily="18" charset="0"/>
                        </a:rPr>
                        <m:t>+</m:t>
                      </m:r>
                      <m:f>
                        <m:fPr>
                          <m:ctrlPr>
                            <a:rPr lang="en-GB" sz="2400" b="0" i="1" smtClean="0">
                              <a:latin typeface="Cambria Math" panose="02040503050406030204" pitchFamily="18" charset="0"/>
                              <a:cs typeface="Times New Roman" panose="02020603050405020304" pitchFamily="18" charset="0"/>
                            </a:rPr>
                          </m:ctrlPr>
                        </m:fPr>
                        <m:num>
                          <m:r>
                            <a:rPr lang="en-GB" sz="2400" b="0" i="1" smtClean="0">
                              <a:latin typeface="Cambria Math" panose="02040503050406030204" pitchFamily="18" charset="0"/>
                              <a:cs typeface="Times New Roman" panose="02020603050405020304" pitchFamily="18" charset="0"/>
                            </a:rPr>
                            <m:t>𝜕</m:t>
                          </m:r>
                          <m:r>
                            <a:rPr lang="en-GB" sz="2400" b="0" i="1" smtClean="0">
                              <a:latin typeface="Cambria Math" panose="02040503050406030204" pitchFamily="18" charset="0"/>
                              <a:cs typeface="Times New Roman" panose="02020603050405020304" pitchFamily="18" charset="0"/>
                            </a:rPr>
                            <m:t>𝑝</m:t>
                          </m:r>
                        </m:num>
                        <m:den>
                          <m:r>
                            <a:rPr lang="en-GB" sz="2400" b="0" i="1" smtClean="0">
                              <a:latin typeface="Cambria Math" panose="02040503050406030204" pitchFamily="18" charset="0"/>
                              <a:cs typeface="Times New Roman" panose="02020603050405020304" pitchFamily="18" charset="0"/>
                            </a:rPr>
                            <m:t>𝜕</m:t>
                          </m:r>
                          <m:r>
                            <a:rPr lang="en-GB" sz="2400" b="0" i="1" smtClean="0">
                              <a:latin typeface="Cambria Math" panose="02040503050406030204" pitchFamily="18" charset="0"/>
                              <a:cs typeface="Times New Roman" panose="02020603050405020304" pitchFamily="18" charset="0"/>
                            </a:rPr>
                            <m:t>𝑥</m:t>
                          </m:r>
                        </m:den>
                      </m:f>
                      <m:r>
                        <a:rPr lang="en-GB" sz="2400" b="0" i="1" smtClean="0">
                          <a:latin typeface="Cambria Math" panose="02040503050406030204" pitchFamily="18" charset="0"/>
                          <a:cs typeface="Times New Roman" panose="02020603050405020304" pitchFamily="18" charset="0"/>
                        </a:rPr>
                        <m:t>𝑑𝑥</m:t>
                      </m:r>
                    </m:oMath>
                  </m:oMathPara>
                </a14:m>
                <a:endParaRPr lang="en-US" sz="2400" dirty="0">
                  <a:latin typeface="Times New Roman" panose="02020603050405020304" pitchFamily="18" charset="0"/>
                  <a:cs typeface="Times New Roman" panose="02020603050405020304" pitchFamily="18" charset="0"/>
                </a:endParaRPr>
              </a:p>
            </p:txBody>
          </p:sp>
        </mc:Choice>
        <mc:Fallback xmlns="">
          <p:sp>
            <p:nvSpPr>
              <p:cNvPr id="13" name="TextBox 12">
                <a:extLst>
                  <a:ext uri="{FF2B5EF4-FFF2-40B4-BE49-F238E27FC236}">
                    <a16:creationId xmlns:a16="http://schemas.microsoft.com/office/drawing/2014/main" id="{B28E99BD-C8AC-0F15-E0B6-E7BF261B14C0}"/>
                  </a:ext>
                </a:extLst>
              </p:cNvPr>
              <p:cNvSpPr txBox="1">
                <a:spLocks noRot="1" noChangeAspect="1" noMove="1" noResize="1" noEditPoints="1" noAdjustHandles="1" noChangeArrowheads="1" noChangeShapeType="1" noTextEdit="1"/>
              </p:cNvSpPr>
              <p:nvPr/>
            </p:nvSpPr>
            <p:spPr>
              <a:xfrm>
                <a:off x="0" y="1128366"/>
                <a:ext cx="6348547" cy="3687741"/>
              </a:xfrm>
              <a:prstGeom prst="rect">
                <a:avLst/>
              </a:prstGeom>
              <a:blipFill>
                <a:blip r:embed="rId4"/>
                <a:stretch>
                  <a:fillRect l="-1441" t="-1322" r="-1441"/>
                </a:stretch>
              </a:blipFill>
            </p:spPr>
            <p:txBody>
              <a:bodyPr/>
              <a:lstStyle/>
              <a:p>
                <a:r>
                  <a:rPr lang="en-GH">
                    <a:noFill/>
                  </a:rPr>
                  <a:t> </a:t>
                </a:r>
              </a:p>
            </p:txBody>
          </p:sp>
        </mc:Fallback>
      </mc:AlternateContent>
      <p:sp>
        <p:nvSpPr>
          <p:cNvPr id="15" name="TextBox 14">
            <a:extLst>
              <a:ext uri="{FF2B5EF4-FFF2-40B4-BE49-F238E27FC236}">
                <a16:creationId xmlns:a16="http://schemas.microsoft.com/office/drawing/2014/main" id="{22CA267C-8711-9F09-543E-7773C1D7F465}"/>
              </a:ext>
            </a:extLst>
          </p:cNvPr>
          <p:cNvSpPr txBox="1"/>
          <p:nvPr/>
        </p:nvSpPr>
        <p:spPr>
          <a:xfrm>
            <a:off x="0" y="4915316"/>
            <a:ext cx="10763794" cy="461665"/>
          </a:xfrm>
          <a:prstGeom prst="rect">
            <a:avLst/>
          </a:prstGeom>
          <a:noFill/>
        </p:spPr>
        <p:txBody>
          <a:bodyPr wrap="square">
            <a:spAutoFit/>
          </a:bodyPr>
          <a:lstStyle/>
          <a:p>
            <a:r>
              <a:rPr lang="en-GB" sz="2400" dirty="0">
                <a:latin typeface="Times New Roman" panose="02020603050405020304" pitchFamily="18" charset="0"/>
                <a:cs typeface="Times New Roman" panose="02020603050405020304" pitchFamily="18" charset="0"/>
              </a:rPr>
              <a:t>For a non-accelerating fluid element, the resultant force, ∑</a:t>
            </a:r>
            <a:r>
              <a:rPr lang="en-GB" sz="2400" i="1" dirty="0">
                <a:latin typeface="Times New Roman" panose="02020603050405020304" pitchFamily="18" charset="0"/>
                <a:cs typeface="Times New Roman" panose="02020603050405020304" pitchFamily="18" charset="0"/>
              </a:rPr>
              <a:t>F</a:t>
            </a:r>
            <a:r>
              <a:rPr lang="en-GB" sz="2400" dirty="0">
                <a:latin typeface="Times New Roman" panose="02020603050405020304" pitchFamily="18" charset="0"/>
                <a:cs typeface="Times New Roman" panose="02020603050405020304" pitchFamily="18" charset="0"/>
              </a:rPr>
              <a:t> must be equal to zero. </a:t>
            </a:r>
            <a:endParaRPr lang="en-GH"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3D639CD-668D-8CB7-DF2F-0BF9A9E7AAA7}"/>
                  </a:ext>
                </a:extLst>
              </p:cNvPr>
              <p:cNvSpPr txBox="1"/>
              <p:nvPr/>
            </p:nvSpPr>
            <p:spPr>
              <a:xfrm>
                <a:off x="0" y="5476190"/>
                <a:ext cx="6143896" cy="791627"/>
              </a:xfrm>
              <a:prstGeom prst="rect">
                <a:avLst/>
              </a:prstGeom>
              <a:noFill/>
            </p:spPr>
            <p:txBody>
              <a:bodyPr wrap="square">
                <a:spAutoFit/>
              </a:bodyPr>
              <a:lstStyle/>
              <a:p>
                <a:pPr algn="just">
                  <a:spcBef>
                    <a:spcPts val="0"/>
                  </a:spcBef>
                  <a:spcAft>
                    <a:spcPts val="600"/>
                  </a:spcAft>
                </a:pPr>
                <a14:m>
                  <m:oMathPara xmlns:m="http://schemas.openxmlformats.org/officeDocument/2006/math">
                    <m:oMathParaPr>
                      <m:jc m:val="left"/>
                    </m:oMathParaPr>
                    <m:oMath xmlns:m="http://schemas.openxmlformats.org/officeDocument/2006/math">
                      <m:r>
                        <a:rPr lang="en-GB" sz="1800" b="0" i="1" smtClean="0">
                          <a:latin typeface="Cambria Math" panose="02040503050406030204" pitchFamily="18" charset="0"/>
                          <a:cs typeface="Times New Roman" panose="02020603050405020304" pitchFamily="18" charset="0"/>
                        </a:rPr>
                        <m:t>𝑝</m:t>
                      </m:r>
                      <m:r>
                        <a:rPr lang="en-GB" sz="1800" b="0" i="1" smtClean="0">
                          <a:latin typeface="Cambria Math" panose="02040503050406030204" pitchFamily="18" charset="0"/>
                          <a:ea typeface="Cambria Math" panose="02040503050406030204" pitchFamily="18" charset="0"/>
                          <a:cs typeface="Times New Roman" panose="02020603050405020304" pitchFamily="18" charset="0"/>
                        </a:rPr>
                        <m:t>𝜋</m:t>
                      </m:r>
                      <m:sSup>
                        <m:sSupPr>
                          <m:ctrlPr>
                            <a:rPr lang="en-GB" sz="18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GB" sz="1800" b="0" i="1" smtClean="0">
                              <a:latin typeface="Cambria Math" panose="02040503050406030204" pitchFamily="18" charset="0"/>
                              <a:ea typeface="Cambria Math" panose="02040503050406030204" pitchFamily="18" charset="0"/>
                              <a:cs typeface="Times New Roman" panose="02020603050405020304" pitchFamily="18" charset="0"/>
                            </a:rPr>
                            <m:t>𝑟</m:t>
                          </m:r>
                        </m:e>
                        <m:sup>
                          <m:r>
                            <a:rPr lang="en-GB" sz="1800"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en-GB" sz="1800" b="0" i="1"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en-GB" sz="18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GB" i="1">
                              <a:latin typeface="Cambria Math" panose="02040503050406030204" pitchFamily="18" charset="0"/>
                              <a:cs typeface="Times New Roman" panose="02020603050405020304" pitchFamily="18" charset="0"/>
                            </a:rPr>
                            <m:t>𝑝</m:t>
                          </m:r>
                          <m:r>
                            <a:rPr lang="en-GB" i="1">
                              <a:latin typeface="Cambria Math" panose="02040503050406030204" pitchFamily="18" charset="0"/>
                              <a:cs typeface="Times New Roman" panose="02020603050405020304" pitchFamily="18" charset="0"/>
                            </a:rPr>
                            <m:t>+</m:t>
                          </m:r>
                          <m:f>
                            <m:fPr>
                              <m:ctrlPr>
                                <a:rPr lang="en-GB" i="1">
                                  <a:latin typeface="Cambria Math" panose="02040503050406030204" pitchFamily="18" charset="0"/>
                                  <a:cs typeface="Times New Roman" panose="02020603050405020304" pitchFamily="18" charset="0"/>
                                </a:rPr>
                              </m:ctrlPr>
                            </m:fPr>
                            <m:num>
                              <m:r>
                                <a:rPr lang="en-GB" i="1">
                                  <a:latin typeface="Cambria Math" panose="02040503050406030204" pitchFamily="18" charset="0"/>
                                  <a:cs typeface="Times New Roman" panose="02020603050405020304" pitchFamily="18" charset="0"/>
                                </a:rPr>
                                <m:t>𝜕</m:t>
                              </m:r>
                              <m:r>
                                <a:rPr lang="en-GB" i="1">
                                  <a:latin typeface="Cambria Math" panose="02040503050406030204" pitchFamily="18" charset="0"/>
                                  <a:cs typeface="Times New Roman" panose="02020603050405020304" pitchFamily="18" charset="0"/>
                                </a:rPr>
                                <m:t>𝑝</m:t>
                              </m:r>
                            </m:num>
                            <m:den>
                              <m:r>
                                <a:rPr lang="en-GB" i="1">
                                  <a:latin typeface="Cambria Math" panose="02040503050406030204" pitchFamily="18" charset="0"/>
                                  <a:cs typeface="Times New Roman" panose="02020603050405020304" pitchFamily="18" charset="0"/>
                                </a:rPr>
                                <m:t>𝜕</m:t>
                              </m:r>
                              <m:r>
                                <a:rPr lang="en-GB" i="1">
                                  <a:latin typeface="Cambria Math" panose="02040503050406030204" pitchFamily="18" charset="0"/>
                                  <a:cs typeface="Times New Roman" panose="02020603050405020304" pitchFamily="18" charset="0"/>
                                </a:rPr>
                                <m:t>𝑥</m:t>
                              </m:r>
                            </m:den>
                          </m:f>
                          <m:r>
                            <a:rPr lang="en-GB" i="1">
                              <a:latin typeface="Cambria Math" panose="02040503050406030204" pitchFamily="18" charset="0"/>
                              <a:cs typeface="Times New Roman" panose="02020603050405020304" pitchFamily="18" charset="0"/>
                            </a:rPr>
                            <m:t>𝑑𝑥</m:t>
                          </m:r>
                        </m:e>
                      </m:d>
                      <m:r>
                        <a:rPr lang="en-GB" sz="1800" b="0" i="1" smtClean="0">
                          <a:latin typeface="Cambria Math" panose="02040503050406030204" pitchFamily="18" charset="0"/>
                          <a:ea typeface="Cambria Math" panose="02040503050406030204" pitchFamily="18" charset="0"/>
                          <a:cs typeface="Times New Roman" panose="02020603050405020304" pitchFamily="18" charset="0"/>
                        </a:rPr>
                        <m:t>𝜋</m:t>
                      </m:r>
                      <m:sSup>
                        <m:sSupPr>
                          <m:ctrlPr>
                            <a:rPr lang="en-GB" sz="18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GB" sz="1800" b="0" i="1" smtClean="0">
                              <a:latin typeface="Cambria Math" panose="02040503050406030204" pitchFamily="18" charset="0"/>
                              <a:ea typeface="Cambria Math" panose="02040503050406030204" pitchFamily="18" charset="0"/>
                              <a:cs typeface="Times New Roman" panose="02020603050405020304" pitchFamily="18" charset="0"/>
                            </a:rPr>
                            <m:t>𝑟</m:t>
                          </m:r>
                        </m:e>
                        <m:sup>
                          <m:r>
                            <a:rPr lang="en-GB" sz="1800"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en-GB" sz="18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1800" b="0" i="1" smtClean="0">
                          <a:latin typeface="Cambria Math" panose="02040503050406030204" pitchFamily="18" charset="0"/>
                          <a:ea typeface="Cambria Math" panose="02040503050406030204" pitchFamily="18" charset="0"/>
                          <a:cs typeface="Times New Roman" panose="02020603050405020304" pitchFamily="18" charset="0"/>
                        </a:rPr>
                        <m:t>𝜏</m:t>
                      </m:r>
                      <m:r>
                        <a:rPr lang="en-GB" sz="1800" b="0" i="1" smtClean="0">
                          <a:latin typeface="Cambria Math" panose="02040503050406030204" pitchFamily="18" charset="0"/>
                          <a:ea typeface="Cambria Math" panose="02040503050406030204" pitchFamily="18" charset="0"/>
                          <a:cs typeface="Times New Roman" panose="02020603050405020304" pitchFamily="18" charset="0"/>
                        </a:rPr>
                        <m:t>×2</m:t>
                      </m:r>
                      <m:r>
                        <a:rPr lang="en-GB" sz="1800" b="0" i="1" smtClean="0">
                          <a:latin typeface="Cambria Math" panose="02040503050406030204" pitchFamily="18" charset="0"/>
                          <a:ea typeface="Cambria Math" panose="02040503050406030204" pitchFamily="18" charset="0"/>
                          <a:cs typeface="Times New Roman" panose="02020603050405020304" pitchFamily="18" charset="0"/>
                        </a:rPr>
                        <m:t>𝜋</m:t>
                      </m:r>
                      <m:r>
                        <a:rPr lang="en-GB" sz="1800" b="0" i="1" smtClean="0">
                          <a:latin typeface="Cambria Math" panose="02040503050406030204" pitchFamily="18" charset="0"/>
                          <a:ea typeface="Cambria Math" panose="02040503050406030204" pitchFamily="18" charset="0"/>
                          <a:cs typeface="Times New Roman" panose="02020603050405020304" pitchFamily="18" charset="0"/>
                        </a:rPr>
                        <m:t>𝑟</m:t>
                      </m:r>
                      <m:r>
                        <a:rPr lang="en-GB" sz="18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1800" b="0" i="1" smtClean="0">
                          <a:latin typeface="Cambria Math" panose="02040503050406030204" pitchFamily="18" charset="0"/>
                          <a:ea typeface="Cambria Math" panose="02040503050406030204" pitchFamily="18" charset="0"/>
                          <a:cs typeface="Times New Roman" panose="02020603050405020304" pitchFamily="18" charset="0"/>
                        </a:rPr>
                        <m:t>𝑑𝑥</m:t>
                      </m:r>
                      <m:r>
                        <a:rPr lang="en-GB" sz="1800" b="0" i="1" smtClean="0">
                          <a:latin typeface="Cambria Math" panose="02040503050406030204" pitchFamily="18" charset="0"/>
                          <a:ea typeface="Cambria Math" panose="02040503050406030204" pitchFamily="18" charset="0"/>
                          <a:cs typeface="Times New Roman" panose="02020603050405020304" pitchFamily="18" charset="0"/>
                        </a:rPr>
                        <m:t>=0</m:t>
                      </m:r>
                    </m:oMath>
                  </m:oMathPara>
                </a14:m>
                <a:endParaRPr lang="en-US" sz="1800" dirty="0">
                  <a:latin typeface="Times New Roman" panose="02020603050405020304" pitchFamily="18" charset="0"/>
                  <a:cs typeface="Times New Roman" panose="02020603050405020304" pitchFamily="18" charset="0"/>
                </a:endParaRPr>
              </a:p>
            </p:txBody>
          </p:sp>
        </mc:Choice>
        <mc:Fallback xmlns="">
          <p:sp>
            <p:nvSpPr>
              <p:cNvPr id="17" name="TextBox 16">
                <a:extLst>
                  <a:ext uri="{FF2B5EF4-FFF2-40B4-BE49-F238E27FC236}">
                    <a16:creationId xmlns:a16="http://schemas.microsoft.com/office/drawing/2014/main" id="{13D639CD-668D-8CB7-DF2F-0BF9A9E7AAA7}"/>
                  </a:ext>
                </a:extLst>
              </p:cNvPr>
              <p:cNvSpPr txBox="1">
                <a:spLocks noRot="1" noChangeAspect="1" noMove="1" noResize="1" noEditPoints="1" noAdjustHandles="1" noChangeArrowheads="1" noChangeShapeType="1" noTextEdit="1"/>
              </p:cNvSpPr>
              <p:nvPr/>
            </p:nvSpPr>
            <p:spPr>
              <a:xfrm>
                <a:off x="0" y="5476190"/>
                <a:ext cx="6143896" cy="791627"/>
              </a:xfrm>
              <a:prstGeom prst="rect">
                <a:avLst/>
              </a:prstGeom>
              <a:blipFill>
                <a:blip r:embed="rId5"/>
                <a:stretch>
                  <a:fillRect/>
                </a:stretch>
              </a:blipFill>
            </p:spPr>
            <p:txBody>
              <a:bodyPr/>
              <a:lstStyle/>
              <a:p>
                <a:r>
                  <a:rPr lang="en-GH">
                    <a:noFill/>
                  </a:rPr>
                  <a:t> </a:t>
                </a:r>
              </a:p>
            </p:txBody>
          </p:sp>
        </mc:Fallback>
      </mc:AlternateContent>
      <p:sp>
        <p:nvSpPr>
          <p:cNvPr id="18" name="TextBox 17">
            <a:extLst>
              <a:ext uri="{FF2B5EF4-FFF2-40B4-BE49-F238E27FC236}">
                <a16:creationId xmlns:a16="http://schemas.microsoft.com/office/drawing/2014/main" id="{860B0F6F-CEE2-4156-1035-6CADE777521D}"/>
              </a:ext>
            </a:extLst>
          </p:cNvPr>
          <p:cNvSpPr txBox="1"/>
          <p:nvPr/>
        </p:nvSpPr>
        <p:spPr>
          <a:xfrm>
            <a:off x="0" y="6219304"/>
            <a:ext cx="2569029" cy="461665"/>
          </a:xfrm>
          <a:prstGeom prst="rect">
            <a:avLst/>
          </a:prstGeom>
          <a:noFill/>
        </p:spPr>
        <p:txBody>
          <a:bodyPr wrap="square">
            <a:spAutoFit/>
          </a:bodyPr>
          <a:lstStyle/>
          <a:p>
            <a:r>
              <a:rPr lang="en-GB" sz="2400" dirty="0">
                <a:latin typeface="Times New Roman" panose="02020603050405020304" pitchFamily="18" charset="0"/>
                <a:cs typeface="Times New Roman" panose="02020603050405020304" pitchFamily="18" charset="0"/>
              </a:rPr>
              <a:t>which simplifies to </a:t>
            </a:r>
            <a:endParaRPr lang="en-GH"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193876F-BB33-7C5E-0393-E95E51616739}"/>
                  </a:ext>
                </a:extLst>
              </p:cNvPr>
              <p:cNvSpPr txBox="1"/>
              <p:nvPr/>
            </p:nvSpPr>
            <p:spPr>
              <a:xfrm>
                <a:off x="2773680" y="6117246"/>
                <a:ext cx="2425337" cy="635367"/>
              </a:xfrm>
              <a:prstGeom prst="rect">
                <a:avLst/>
              </a:prstGeom>
              <a:noFill/>
            </p:spPr>
            <p:txBody>
              <a:bodyPr wrap="square">
                <a:spAutoFit/>
              </a:bodyPr>
              <a:lstStyle/>
              <a:p>
                <a:pPr algn="just">
                  <a:spcBef>
                    <a:spcPts val="0"/>
                  </a:spcBef>
                  <a:spcAft>
                    <a:spcPts val="600"/>
                  </a:spcAft>
                </a:pPr>
                <a14:m>
                  <m:oMath xmlns:m="http://schemas.openxmlformats.org/officeDocument/2006/math">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𝜏</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GB" sz="2400" dirty="0">
                    <a:cs typeface="Times New Roman" panose="02020603050405020304" pitchFamily="18" charset="0"/>
                  </a:rPr>
                  <a:t> </a:t>
                </a:r>
                <a14:m>
                  <m:oMath xmlns:m="http://schemas.openxmlformats.org/officeDocument/2006/math">
                    <m:f>
                      <m:fPr>
                        <m:ctrlPr>
                          <a:rPr lang="en-GB" sz="2400" i="1">
                            <a:latin typeface="Cambria Math" panose="02040503050406030204" pitchFamily="18" charset="0"/>
                            <a:cs typeface="Times New Roman" panose="02020603050405020304" pitchFamily="18" charset="0"/>
                          </a:rPr>
                        </m:ctrlPr>
                      </m:fPr>
                      <m:num>
                        <m:r>
                          <a:rPr lang="en-GB" sz="2400" i="1">
                            <a:latin typeface="Cambria Math" panose="02040503050406030204" pitchFamily="18" charset="0"/>
                            <a:cs typeface="Times New Roman" panose="02020603050405020304" pitchFamily="18" charset="0"/>
                          </a:rPr>
                          <m:t>𝜕</m:t>
                        </m:r>
                        <m:r>
                          <a:rPr lang="en-GB" sz="2400" i="1">
                            <a:latin typeface="Cambria Math" panose="02040503050406030204" pitchFamily="18" charset="0"/>
                            <a:cs typeface="Times New Roman" panose="02020603050405020304" pitchFamily="18" charset="0"/>
                          </a:rPr>
                          <m:t>𝑝</m:t>
                        </m:r>
                      </m:num>
                      <m:den>
                        <m:r>
                          <a:rPr lang="en-GB" sz="2400" i="1">
                            <a:latin typeface="Cambria Math" panose="02040503050406030204" pitchFamily="18" charset="0"/>
                            <a:cs typeface="Times New Roman" panose="02020603050405020304" pitchFamily="18" charset="0"/>
                          </a:rPr>
                          <m:t>𝜕</m:t>
                        </m:r>
                        <m:r>
                          <a:rPr lang="en-GB" sz="2400" i="1">
                            <a:latin typeface="Cambria Math" panose="02040503050406030204" pitchFamily="18" charset="0"/>
                            <a:cs typeface="Times New Roman" panose="02020603050405020304" pitchFamily="18" charset="0"/>
                          </a:rPr>
                          <m:t>𝑥</m:t>
                        </m:r>
                      </m:den>
                    </m:f>
                    <m:f>
                      <m:fPr>
                        <m:ctrlPr>
                          <a:rPr lang="en-GB" sz="2400" i="1" smtClean="0">
                            <a:latin typeface="Cambria Math" panose="02040503050406030204" pitchFamily="18" charset="0"/>
                            <a:cs typeface="Times New Roman" panose="02020603050405020304" pitchFamily="18" charset="0"/>
                          </a:rPr>
                        </m:ctrlPr>
                      </m:fPr>
                      <m:num>
                        <m:r>
                          <a:rPr lang="en-GB" sz="2400" b="0" i="1" smtClean="0">
                            <a:latin typeface="Cambria Math" panose="02040503050406030204" pitchFamily="18" charset="0"/>
                            <a:cs typeface="Times New Roman" panose="02020603050405020304" pitchFamily="18" charset="0"/>
                          </a:rPr>
                          <m:t>𝑟</m:t>
                        </m:r>
                      </m:num>
                      <m:den>
                        <m:r>
                          <a:rPr lang="en-GB" sz="2400" b="0" i="1" smtClean="0">
                            <a:latin typeface="Cambria Math" panose="02040503050406030204" pitchFamily="18" charset="0"/>
                            <a:cs typeface="Times New Roman" panose="02020603050405020304" pitchFamily="18" charset="0"/>
                          </a:rPr>
                          <m:t>2</m:t>
                        </m:r>
                      </m:den>
                    </m:f>
                  </m:oMath>
                </a14:m>
                <a:endParaRPr lang="en-US" sz="2400" dirty="0">
                  <a:latin typeface="Times New Roman" panose="02020603050405020304" pitchFamily="18" charset="0"/>
                  <a:cs typeface="Times New Roman" panose="02020603050405020304" pitchFamily="18" charset="0"/>
                </a:endParaRPr>
              </a:p>
            </p:txBody>
          </p:sp>
        </mc:Choice>
        <mc:Fallback xmlns="">
          <p:sp>
            <p:nvSpPr>
              <p:cNvPr id="19" name="TextBox 18">
                <a:extLst>
                  <a:ext uri="{FF2B5EF4-FFF2-40B4-BE49-F238E27FC236}">
                    <a16:creationId xmlns:a16="http://schemas.microsoft.com/office/drawing/2014/main" id="{E193876F-BB33-7C5E-0393-E95E51616739}"/>
                  </a:ext>
                </a:extLst>
              </p:cNvPr>
              <p:cNvSpPr txBox="1">
                <a:spLocks noRot="1" noChangeAspect="1" noMove="1" noResize="1" noEditPoints="1" noAdjustHandles="1" noChangeArrowheads="1" noChangeShapeType="1" noTextEdit="1"/>
              </p:cNvSpPr>
              <p:nvPr/>
            </p:nvSpPr>
            <p:spPr>
              <a:xfrm>
                <a:off x="2773680" y="6117246"/>
                <a:ext cx="2425337" cy="635367"/>
              </a:xfrm>
              <a:prstGeom prst="rect">
                <a:avLst/>
              </a:prstGeom>
              <a:blipFill>
                <a:blip r:embed="rId6"/>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3EF0A13-8972-9031-C67C-05547A392139}"/>
                  </a:ext>
                </a:extLst>
              </p:cNvPr>
              <p:cNvSpPr txBox="1"/>
              <p:nvPr/>
            </p:nvSpPr>
            <p:spPr>
              <a:xfrm>
                <a:off x="6288121" y="5988471"/>
                <a:ext cx="3099717" cy="461665"/>
              </a:xfrm>
              <a:prstGeom prst="rect">
                <a:avLst/>
              </a:prstGeom>
              <a:noFill/>
            </p:spPr>
            <p:txBody>
              <a:bodyPr wrap="square">
                <a:spAutoFit/>
              </a:bodyPr>
              <a:lstStyle/>
              <a:p>
                <a:r>
                  <a:rPr lang="en-GB" sz="2400" dirty="0">
                    <a:latin typeface="Times New Roman" panose="02020603050405020304" pitchFamily="18" charset="0"/>
                    <a:cs typeface="Times New Roman" panose="02020603050405020304" pitchFamily="18" charset="0"/>
                  </a:rPr>
                  <a:t>But </a:t>
                </a:r>
                <a14:m>
                  <m:oMath xmlns:m="http://schemas.openxmlformats.org/officeDocument/2006/math">
                    <m:f>
                      <m:fPr>
                        <m:type m:val="lin"/>
                        <m:ctrlPr>
                          <a:rPr lang="en-GB" sz="2400" i="1" smtClean="0">
                            <a:latin typeface="Cambria Math" panose="02040503050406030204" pitchFamily="18" charset="0"/>
                            <a:cs typeface="Times New Roman" panose="02020603050405020304" pitchFamily="18" charset="0"/>
                          </a:rPr>
                        </m:ctrlPr>
                      </m:fPr>
                      <m:num>
                        <m:r>
                          <a:rPr lang="en-GB" sz="2400" i="1" smtClean="0">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𝑝</m:t>
                        </m:r>
                      </m:num>
                      <m:den>
                        <m:r>
                          <a:rPr lang="en-GB" sz="2400" i="1" smtClean="0">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𝑥</m:t>
                        </m:r>
                      </m:den>
                    </m:f>
                  </m:oMath>
                </a14:m>
                <a:r>
                  <a:rPr lang="en-GB" sz="2400" dirty="0">
                    <a:latin typeface="Times New Roman" panose="02020603050405020304" pitchFamily="18" charset="0"/>
                    <a:cs typeface="Times New Roman" panose="02020603050405020304" pitchFamily="18" charset="0"/>
                  </a:rPr>
                  <a:t> is constant</a:t>
                </a:r>
                <a:endParaRPr lang="en-GH" sz="2400" dirty="0">
                  <a:latin typeface="Times New Roman" panose="02020603050405020304" pitchFamily="18" charset="0"/>
                  <a:cs typeface="Times New Roman" panose="02020603050405020304" pitchFamily="18" charset="0"/>
                </a:endParaRPr>
              </a:p>
            </p:txBody>
          </p:sp>
        </mc:Choice>
        <mc:Fallback xmlns="">
          <p:sp>
            <p:nvSpPr>
              <p:cNvPr id="20" name="TextBox 19">
                <a:extLst>
                  <a:ext uri="{FF2B5EF4-FFF2-40B4-BE49-F238E27FC236}">
                    <a16:creationId xmlns:a16="http://schemas.microsoft.com/office/drawing/2014/main" id="{03EF0A13-8972-9031-C67C-05547A392139}"/>
                  </a:ext>
                </a:extLst>
              </p:cNvPr>
              <p:cNvSpPr txBox="1">
                <a:spLocks noRot="1" noChangeAspect="1" noMove="1" noResize="1" noEditPoints="1" noAdjustHandles="1" noChangeArrowheads="1" noChangeShapeType="1" noTextEdit="1"/>
              </p:cNvSpPr>
              <p:nvPr/>
            </p:nvSpPr>
            <p:spPr>
              <a:xfrm>
                <a:off x="6288121" y="5988471"/>
                <a:ext cx="3099717" cy="461665"/>
              </a:xfrm>
              <a:prstGeom prst="rect">
                <a:avLst/>
              </a:prstGeom>
              <a:blipFill>
                <a:blip r:embed="rId7"/>
                <a:stretch>
                  <a:fillRect l="-3150" t="-123684" b="-192105"/>
                </a:stretch>
              </a:blipFill>
            </p:spPr>
            <p:txBody>
              <a:bodyPr/>
              <a:lstStyle/>
              <a:p>
                <a:r>
                  <a:rPr lang="en-GH">
                    <a:noFill/>
                  </a:rPr>
                  <a:t> </a:t>
                </a:r>
              </a:p>
            </p:txBody>
          </p:sp>
        </mc:Fallback>
      </mc:AlternateContent>
    </p:spTree>
    <p:extLst>
      <p:ext uri="{BB962C8B-B14F-4D97-AF65-F5344CB8AC3E}">
        <p14:creationId xmlns:p14="http://schemas.microsoft.com/office/powerpoint/2010/main" val="1279710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920"/>
            <a:ext cx="10515600" cy="453481"/>
          </a:xfrm>
        </p:spPr>
        <p:txBody>
          <a:bodyPr>
            <a:normAutofit/>
          </a:bodyPr>
          <a:lstStyle/>
          <a:p>
            <a:pPr algn="ctr"/>
            <a:r>
              <a:rPr lang="en-US" sz="2500" dirty="0">
                <a:latin typeface="Times New Roman" panose="02020603050405020304" pitchFamily="18" charset="0"/>
                <a:cs typeface="Times New Roman" panose="02020603050405020304" pitchFamily="18" charset="0"/>
              </a:rPr>
              <a:t>LAMINAR FLOW IN A PIPE</a:t>
            </a:r>
          </a:p>
        </p:txBody>
      </p:sp>
      <p:sp>
        <p:nvSpPr>
          <p:cNvPr id="6" name="TextBox 5">
            <a:extLst>
              <a:ext uri="{FF2B5EF4-FFF2-40B4-BE49-F238E27FC236}">
                <a16:creationId xmlns:a16="http://schemas.microsoft.com/office/drawing/2014/main" id="{AD807CA4-BA3C-18BA-D180-77A053E464BE}"/>
              </a:ext>
            </a:extLst>
          </p:cNvPr>
          <p:cNvSpPr txBox="1"/>
          <p:nvPr/>
        </p:nvSpPr>
        <p:spPr>
          <a:xfrm>
            <a:off x="0" y="638696"/>
            <a:ext cx="6096000" cy="461665"/>
          </a:xfrm>
          <a:prstGeom prst="rect">
            <a:avLst/>
          </a:prstGeom>
          <a:noFill/>
        </p:spPr>
        <p:txBody>
          <a:bodyPr wrap="square">
            <a:spAutoFit/>
          </a:bodyPr>
          <a:lstStyle/>
          <a:p>
            <a:r>
              <a:rPr lang="en-US" sz="2400" b="1" dirty="0">
                <a:latin typeface="Times New Roman" panose="02020603050405020304" pitchFamily="18" charset="0"/>
              </a:rPr>
              <a:t>Derivation of the Mean Velocity Profile</a:t>
            </a:r>
            <a:endParaRPr lang="en-GH" sz="2400" b="1" dirty="0"/>
          </a:p>
        </p:txBody>
      </p:sp>
      <p:pic>
        <p:nvPicPr>
          <p:cNvPr id="12" name="Picture 11">
            <a:extLst>
              <a:ext uri="{FF2B5EF4-FFF2-40B4-BE49-F238E27FC236}">
                <a16:creationId xmlns:a16="http://schemas.microsoft.com/office/drawing/2014/main" id="{31AFFDC7-1AA2-E3E3-A5F6-DA20F113AACC}"/>
              </a:ext>
            </a:extLst>
          </p:cNvPr>
          <p:cNvPicPr>
            <a:picLocks noChangeAspect="1"/>
          </p:cNvPicPr>
          <p:nvPr/>
        </p:nvPicPr>
        <p:blipFill>
          <a:blip r:embed="rId3"/>
          <a:stretch>
            <a:fillRect/>
          </a:stretch>
        </p:blipFill>
        <p:spPr>
          <a:xfrm>
            <a:off x="218821" y="1268979"/>
            <a:ext cx="4342293" cy="2427799"/>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2CA267C-8711-9F09-543E-7773C1D7F465}"/>
                  </a:ext>
                </a:extLst>
              </p:cNvPr>
              <p:cNvSpPr txBox="1"/>
              <p:nvPr/>
            </p:nvSpPr>
            <p:spPr>
              <a:xfrm>
                <a:off x="-1" y="3998627"/>
                <a:ext cx="5364479" cy="1569660"/>
              </a:xfrm>
              <a:prstGeom prst="rect">
                <a:avLst/>
              </a:prstGeom>
              <a:noFill/>
            </p:spPr>
            <p:txBody>
              <a:bodyPr wrap="square">
                <a:spAutoFit/>
              </a:bodyPr>
              <a:lstStyle/>
              <a:p>
                <a:r>
                  <a:rPr lang="en-GB" sz="2400" dirty="0">
                    <a:latin typeface="Times New Roman" panose="02020603050405020304" pitchFamily="18" charset="0"/>
                    <a:cs typeface="Times New Roman" panose="02020603050405020304" pitchFamily="18" charset="0"/>
                  </a:rPr>
                  <a:t>Constant </a:t>
                </a:r>
                <a14:m>
                  <m:oMath xmlns:m="http://schemas.openxmlformats.org/officeDocument/2006/math">
                    <m:f>
                      <m:fPr>
                        <m:type m:val="lin"/>
                        <m:ctrlPr>
                          <a:rPr lang="en-GB" sz="2400" i="1" smtClean="0">
                            <a:latin typeface="Cambria Math" panose="02040503050406030204" pitchFamily="18" charset="0"/>
                            <a:cs typeface="Times New Roman" panose="02020603050405020304" pitchFamily="18" charset="0"/>
                          </a:rPr>
                        </m:ctrlPr>
                      </m:fPr>
                      <m:num>
                        <m:r>
                          <a:rPr lang="en-GB" sz="2400" i="1" smtClean="0">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𝑝</m:t>
                        </m:r>
                      </m:num>
                      <m:den>
                        <m:r>
                          <a:rPr lang="en-GB" sz="2400" i="1" smtClean="0">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𝑥</m:t>
                        </m:r>
                      </m:den>
                    </m:f>
                  </m:oMath>
                </a14:m>
                <a:r>
                  <a:rPr lang="en-GB" sz="2400" dirty="0">
                    <a:latin typeface="Times New Roman" panose="02020603050405020304" pitchFamily="18" charset="0"/>
                    <a:cs typeface="Times New Roman" panose="02020603050405020304" pitchFamily="18" charset="0"/>
                  </a:rPr>
                  <a:t> implies the shear stress is a linear function of the pipe radius. Using the shear stress relation</a:t>
                </a:r>
              </a:p>
              <a:p>
                <a:r>
                  <a:rPr lang="en-GB" sz="2400" dirty="0">
                    <a:latin typeface="Times New Roman" panose="02020603050405020304" pitchFamily="18" charset="0"/>
                    <a:cs typeface="Times New Roman" panose="02020603050405020304" pitchFamily="18" charset="0"/>
                  </a:rPr>
                  <a:t> </a:t>
                </a:r>
                <a14:m>
                  <m:oMath xmlns:m="http://schemas.openxmlformats.org/officeDocument/2006/math">
                    <m:r>
                      <a:rPr lang="en-GB" sz="2400" i="1" smtClean="0">
                        <a:latin typeface="Cambria Math" panose="02040503050406030204" pitchFamily="18" charset="0"/>
                        <a:ea typeface="Cambria Math" panose="02040503050406030204" pitchFamily="18" charset="0"/>
                        <a:cs typeface="Times New Roman" panose="02020603050405020304" pitchFamily="18" charset="0"/>
                      </a:rPr>
                      <m:t>𝜏</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 </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𝜇</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f>
                      <m:fPr>
                        <m:type m:val="lin"/>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𝑑𝑢</m:t>
                        </m:r>
                      </m:num>
                      <m:den>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𝑑𝑦</m:t>
                        </m:r>
                      </m:den>
                    </m:f>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GH" sz="2400" dirty="0">
                  <a:latin typeface="Times New Roman" panose="02020603050405020304" pitchFamily="18" charset="0"/>
                  <a:cs typeface="Times New Roman" panose="02020603050405020304" pitchFamily="18" charset="0"/>
                </a:endParaRPr>
              </a:p>
            </p:txBody>
          </p:sp>
        </mc:Choice>
        <mc:Fallback xmlns="">
          <p:sp>
            <p:nvSpPr>
              <p:cNvPr id="15" name="TextBox 14">
                <a:extLst>
                  <a:ext uri="{FF2B5EF4-FFF2-40B4-BE49-F238E27FC236}">
                    <a16:creationId xmlns:a16="http://schemas.microsoft.com/office/drawing/2014/main" id="{22CA267C-8711-9F09-543E-7773C1D7F465}"/>
                  </a:ext>
                </a:extLst>
              </p:cNvPr>
              <p:cNvSpPr txBox="1">
                <a:spLocks noRot="1" noChangeAspect="1" noMove="1" noResize="1" noEditPoints="1" noAdjustHandles="1" noChangeArrowheads="1" noChangeShapeType="1" noTextEdit="1"/>
              </p:cNvSpPr>
              <p:nvPr/>
            </p:nvSpPr>
            <p:spPr>
              <a:xfrm>
                <a:off x="-1" y="3998627"/>
                <a:ext cx="5364479" cy="1569660"/>
              </a:xfrm>
              <a:prstGeom prst="rect">
                <a:avLst/>
              </a:prstGeom>
              <a:blipFill>
                <a:blip r:embed="rId4"/>
                <a:stretch>
                  <a:fillRect l="-1705" t="-36576" b="-56420"/>
                </a:stretch>
              </a:blipFill>
            </p:spPr>
            <p:txBody>
              <a:bodyPr/>
              <a:lstStyle/>
              <a:p>
                <a:r>
                  <a:rPr lang="en-GH">
                    <a:noFill/>
                  </a:rPr>
                  <a:t> </a:t>
                </a:r>
              </a:p>
            </p:txBody>
          </p:sp>
        </mc:Fallback>
      </mc:AlternateContent>
      <p:cxnSp>
        <p:nvCxnSpPr>
          <p:cNvPr id="4" name="Straight Connector 3">
            <a:extLst>
              <a:ext uri="{FF2B5EF4-FFF2-40B4-BE49-F238E27FC236}">
                <a16:creationId xmlns:a16="http://schemas.microsoft.com/office/drawing/2014/main" id="{018191B1-4DA8-C551-1610-57A8151BA8C5}"/>
              </a:ext>
            </a:extLst>
          </p:cNvPr>
          <p:cNvCxnSpPr>
            <a:cxnSpLocks/>
          </p:cNvCxnSpPr>
          <p:nvPr/>
        </p:nvCxnSpPr>
        <p:spPr>
          <a:xfrm>
            <a:off x="5486400" y="1100361"/>
            <a:ext cx="0" cy="5604261"/>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66D33C6-3925-5ED2-E1C3-35AA006DF183}"/>
                  </a:ext>
                </a:extLst>
              </p:cNvPr>
              <p:cNvSpPr txBox="1"/>
              <p:nvPr/>
            </p:nvSpPr>
            <p:spPr>
              <a:xfrm>
                <a:off x="256901" y="5751486"/>
                <a:ext cx="2495007" cy="665503"/>
              </a:xfrm>
              <a:prstGeom prst="rect">
                <a:avLst/>
              </a:prstGeom>
              <a:noFill/>
            </p:spPr>
            <p:txBody>
              <a:bodyPr wrap="square">
                <a:spAutoFit/>
              </a:bodyPr>
              <a:lstStyle/>
              <a:p>
                <a:pPr algn="just">
                  <a:spcBef>
                    <a:spcPts val="0"/>
                  </a:spcBef>
                  <a:spcAft>
                    <a:spcPts val="600"/>
                  </a:spcAft>
                </a:pPr>
                <a14:m>
                  <m:oMath xmlns:m="http://schemas.openxmlformats.org/officeDocument/2006/math">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𝜇</m:t>
                    </m:r>
                    <m:f>
                      <m:f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𝑑𝑢</m:t>
                        </m:r>
                      </m:num>
                      <m:den>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𝑑𝑦</m:t>
                        </m:r>
                      </m:den>
                    </m:f>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GB" sz="2400" dirty="0">
                    <a:cs typeface="Times New Roman" panose="02020603050405020304" pitchFamily="18" charset="0"/>
                  </a:rPr>
                  <a:t> </a:t>
                </a:r>
                <a14:m>
                  <m:oMath xmlns:m="http://schemas.openxmlformats.org/officeDocument/2006/math">
                    <m:f>
                      <m:fPr>
                        <m:ctrlPr>
                          <a:rPr lang="en-GB" sz="2400" i="1">
                            <a:latin typeface="Cambria Math" panose="02040503050406030204" pitchFamily="18" charset="0"/>
                            <a:cs typeface="Times New Roman" panose="02020603050405020304" pitchFamily="18" charset="0"/>
                          </a:rPr>
                        </m:ctrlPr>
                      </m:fPr>
                      <m:num>
                        <m:r>
                          <a:rPr lang="en-GB" sz="2400" i="1">
                            <a:latin typeface="Cambria Math" panose="02040503050406030204" pitchFamily="18" charset="0"/>
                            <a:cs typeface="Times New Roman" panose="02020603050405020304" pitchFamily="18" charset="0"/>
                          </a:rPr>
                          <m:t>𝜕</m:t>
                        </m:r>
                        <m:r>
                          <a:rPr lang="en-GB" sz="2400" i="1">
                            <a:latin typeface="Cambria Math" panose="02040503050406030204" pitchFamily="18" charset="0"/>
                            <a:cs typeface="Times New Roman" panose="02020603050405020304" pitchFamily="18" charset="0"/>
                          </a:rPr>
                          <m:t>𝑝</m:t>
                        </m:r>
                      </m:num>
                      <m:den>
                        <m:r>
                          <a:rPr lang="en-GB" sz="2400" i="1">
                            <a:latin typeface="Cambria Math" panose="02040503050406030204" pitchFamily="18" charset="0"/>
                            <a:cs typeface="Times New Roman" panose="02020603050405020304" pitchFamily="18" charset="0"/>
                          </a:rPr>
                          <m:t>𝜕</m:t>
                        </m:r>
                        <m:r>
                          <a:rPr lang="en-GB" sz="2400" i="1">
                            <a:latin typeface="Cambria Math" panose="02040503050406030204" pitchFamily="18" charset="0"/>
                            <a:cs typeface="Times New Roman" panose="02020603050405020304" pitchFamily="18" charset="0"/>
                          </a:rPr>
                          <m:t>𝑥</m:t>
                        </m:r>
                      </m:den>
                    </m:f>
                    <m:f>
                      <m:fPr>
                        <m:ctrlPr>
                          <a:rPr lang="en-GB" sz="2400" i="1" smtClean="0">
                            <a:latin typeface="Cambria Math" panose="02040503050406030204" pitchFamily="18" charset="0"/>
                            <a:cs typeface="Times New Roman" panose="02020603050405020304" pitchFamily="18" charset="0"/>
                          </a:rPr>
                        </m:ctrlPr>
                      </m:fPr>
                      <m:num>
                        <m:r>
                          <a:rPr lang="en-GB" sz="2400" b="0" i="1" smtClean="0">
                            <a:latin typeface="Cambria Math" panose="02040503050406030204" pitchFamily="18" charset="0"/>
                            <a:cs typeface="Times New Roman" panose="02020603050405020304" pitchFamily="18" charset="0"/>
                          </a:rPr>
                          <m:t>𝑟</m:t>
                        </m:r>
                      </m:num>
                      <m:den>
                        <m:r>
                          <a:rPr lang="en-GB" sz="2400" b="0" i="1" smtClean="0">
                            <a:latin typeface="Cambria Math" panose="02040503050406030204" pitchFamily="18" charset="0"/>
                            <a:cs typeface="Times New Roman" panose="02020603050405020304" pitchFamily="18" charset="0"/>
                          </a:rPr>
                          <m:t>2</m:t>
                        </m:r>
                      </m:den>
                    </m:f>
                  </m:oMath>
                </a14:m>
                <a:endParaRPr lang="en-US" sz="2400" dirty="0">
                  <a:latin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966D33C6-3925-5ED2-E1C3-35AA006DF183}"/>
                  </a:ext>
                </a:extLst>
              </p:cNvPr>
              <p:cNvSpPr txBox="1">
                <a:spLocks noRot="1" noChangeAspect="1" noMove="1" noResize="1" noEditPoints="1" noAdjustHandles="1" noChangeArrowheads="1" noChangeShapeType="1" noTextEdit="1"/>
              </p:cNvSpPr>
              <p:nvPr/>
            </p:nvSpPr>
            <p:spPr>
              <a:xfrm>
                <a:off x="256901" y="5751486"/>
                <a:ext cx="2495007" cy="665503"/>
              </a:xfrm>
              <a:prstGeom prst="rect">
                <a:avLst/>
              </a:prstGeom>
              <a:blipFill>
                <a:blip r:embed="rId5"/>
                <a:stretch>
                  <a:fillRect/>
                </a:stretch>
              </a:blipFill>
            </p:spPr>
            <p:txBody>
              <a:bodyPr/>
              <a:lstStyle/>
              <a:p>
                <a:r>
                  <a:rPr lang="en-GH">
                    <a:noFill/>
                  </a:rPr>
                  <a:t> </a:t>
                </a:r>
              </a:p>
            </p:txBody>
          </p:sp>
        </mc:Fallback>
      </mc:AlternateContent>
      <p:sp>
        <p:nvSpPr>
          <p:cNvPr id="8" name="TextBox 7">
            <a:extLst>
              <a:ext uri="{FF2B5EF4-FFF2-40B4-BE49-F238E27FC236}">
                <a16:creationId xmlns:a16="http://schemas.microsoft.com/office/drawing/2014/main" id="{2B31A939-784E-E6A6-F28C-ABBAC15ED577}"/>
              </a:ext>
            </a:extLst>
          </p:cNvPr>
          <p:cNvSpPr txBox="1"/>
          <p:nvPr/>
        </p:nvSpPr>
        <p:spPr>
          <a:xfrm>
            <a:off x="5608322" y="1023041"/>
            <a:ext cx="5974077" cy="461665"/>
          </a:xfrm>
          <a:prstGeom prst="rect">
            <a:avLst/>
          </a:prstGeom>
          <a:noFill/>
        </p:spPr>
        <p:txBody>
          <a:bodyPr wrap="square">
            <a:spAutoFit/>
          </a:bodyPr>
          <a:lstStyle/>
          <a:p>
            <a:r>
              <a:rPr lang="en-GB" sz="2400" dirty="0">
                <a:latin typeface="Times New Roman" panose="02020603050405020304" pitchFamily="18" charset="0"/>
                <a:cs typeface="Times New Roman" panose="02020603050405020304" pitchFamily="18" charset="0"/>
              </a:rPr>
              <a:t>The distance </a:t>
            </a:r>
            <a:r>
              <a:rPr lang="en-GB" sz="2400" i="1" dirty="0">
                <a:latin typeface="Times New Roman" panose="02020603050405020304" pitchFamily="18" charset="0"/>
                <a:cs typeface="Times New Roman" panose="02020603050405020304" pitchFamily="18" charset="0"/>
              </a:rPr>
              <a:t>y</a:t>
            </a:r>
            <a:r>
              <a:rPr lang="en-GB" sz="2400" dirty="0">
                <a:latin typeface="Times New Roman" panose="02020603050405020304" pitchFamily="18" charset="0"/>
                <a:cs typeface="Times New Roman" panose="02020603050405020304" pitchFamily="18" charset="0"/>
              </a:rPr>
              <a:t> is measured from the pipe wall.</a:t>
            </a:r>
            <a:endParaRPr lang="en-GH"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D696EF3-F5C1-37D7-BB90-7B661C267A4E}"/>
                  </a:ext>
                </a:extLst>
              </p:cNvPr>
              <p:cNvSpPr txBox="1"/>
              <p:nvPr/>
            </p:nvSpPr>
            <p:spPr>
              <a:xfrm>
                <a:off x="5749835" y="1839868"/>
                <a:ext cx="5057502" cy="207095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𝑦</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 </m:t>
                      </m:r>
                      <m:sSub>
                        <m:sSub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𝑟</m:t>
                          </m:r>
                        </m:e>
                        <m:sub>
                          <m:r>
                            <a:rPr lang="en-GB" sz="2400" b="0" i="1" smtClean="0">
                              <a:latin typeface="Cambria Math" panose="02040503050406030204" pitchFamily="18" charset="0"/>
                              <a:ea typeface="Cambria Math" panose="02040503050406030204" pitchFamily="18" charset="0"/>
                              <a:cs typeface="Times New Roman" panose="02020603050405020304" pitchFamily="18" charset="0"/>
                            </a:rPr>
                            <m:t>0</m:t>
                          </m:r>
                        </m:sub>
                      </m:sSub>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𝑟</m:t>
                      </m:r>
                    </m:oMath>
                  </m:oMathPara>
                </a14:m>
                <a:endParaRPr lang="en-GB" sz="2400" b="0" dirty="0">
                  <a:ea typeface="Cambria Math" panose="02040503050406030204" pitchFamily="18" charset="0"/>
                  <a:cs typeface="Times New Roman" panose="02020603050405020304" pitchFamily="18" charset="0"/>
                </a:endParaRPr>
              </a:p>
              <a:p>
                <a:pPr>
                  <a:spcAft>
                    <a:spcPts val="600"/>
                  </a:spcAft>
                </a:pPr>
                <a14:m>
                  <m:oMathPara xmlns:m="http://schemas.openxmlformats.org/officeDocument/2006/math">
                    <m:oMathParaPr>
                      <m:jc m:val="left"/>
                    </m:oMathParaPr>
                    <m:oMath xmlns:m="http://schemas.openxmlformats.org/officeDocument/2006/math">
                      <m:r>
                        <a:rPr lang="en-GB" sz="2400" b="0" i="1" smtClean="0">
                          <a:latin typeface="Cambria Math" panose="02040503050406030204" pitchFamily="18" charset="0"/>
                          <a:ea typeface="Cambria Math" panose="02040503050406030204" pitchFamily="18" charset="0"/>
                        </a:rPr>
                        <m:t>⟹  </m:t>
                      </m:r>
                      <m:r>
                        <a:rPr lang="en-GB" sz="2400" b="0" i="1" smtClean="0">
                          <a:latin typeface="Cambria Math" panose="02040503050406030204" pitchFamily="18" charset="0"/>
                        </a:rPr>
                        <m:t>𝑑𝑦</m:t>
                      </m:r>
                      <m:r>
                        <a:rPr lang="en-GB" sz="2400" b="0" i="1" smtClean="0">
                          <a:latin typeface="Cambria Math" panose="02040503050406030204" pitchFamily="18" charset="0"/>
                        </a:rPr>
                        <m:t>=−</m:t>
                      </m:r>
                      <m:r>
                        <a:rPr lang="en-GB" sz="2400" b="0" i="1" smtClean="0">
                          <a:latin typeface="Cambria Math" panose="02040503050406030204" pitchFamily="18" charset="0"/>
                        </a:rPr>
                        <m:t>𝑑𝑟</m:t>
                      </m:r>
                    </m:oMath>
                  </m:oMathPara>
                </a14:m>
                <a:endParaRPr lang="en-GB" sz="2400" dirty="0"/>
              </a:p>
              <a:p>
                <a:pPr>
                  <a:spcAft>
                    <a:spcPts val="600"/>
                  </a:spcAft>
                </a:pPr>
                <a14:m>
                  <m:oMath xmlns:m="http://schemas.openxmlformats.org/officeDocument/2006/math">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𝜇</m:t>
                    </m:r>
                    <m:f>
                      <m:f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𝑑𝑢</m:t>
                        </m:r>
                      </m:num>
                      <m:den>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𝑑𝑟</m:t>
                        </m:r>
                      </m:den>
                    </m:f>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GB" sz="2400" dirty="0">
                    <a:cs typeface="Times New Roman" panose="02020603050405020304" pitchFamily="18" charset="0"/>
                  </a:rPr>
                  <a:t> </a:t>
                </a:r>
                <a14:m>
                  <m:oMath xmlns:m="http://schemas.openxmlformats.org/officeDocument/2006/math">
                    <m:f>
                      <m:fPr>
                        <m:ctrlPr>
                          <a:rPr lang="en-GB" sz="2400" i="1">
                            <a:latin typeface="Cambria Math" panose="02040503050406030204" pitchFamily="18" charset="0"/>
                            <a:cs typeface="Times New Roman" panose="02020603050405020304" pitchFamily="18" charset="0"/>
                          </a:rPr>
                        </m:ctrlPr>
                      </m:fPr>
                      <m:num>
                        <m:r>
                          <a:rPr lang="en-GB" sz="2400" i="1">
                            <a:latin typeface="Cambria Math" panose="02040503050406030204" pitchFamily="18" charset="0"/>
                            <a:cs typeface="Times New Roman" panose="02020603050405020304" pitchFamily="18" charset="0"/>
                          </a:rPr>
                          <m:t>𝜕</m:t>
                        </m:r>
                        <m:r>
                          <a:rPr lang="en-GB" sz="2400" i="1">
                            <a:latin typeface="Cambria Math" panose="02040503050406030204" pitchFamily="18" charset="0"/>
                            <a:cs typeface="Times New Roman" panose="02020603050405020304" pitchFamily="18" charset="0"/>
                          </a:rPr>
                          <m:t>𝑝</m:t>
                        </m:r>
                      </m:num>
                      <m:den>
                        <m:r>
                          <a:rPr lang="en-GB" sz="2400" i="1">
                            <a:latin typeface="Cambria Math" panose="02040503050406030204" pitchFamily="18" charset="0"/>
                            <a:cs typeface="Times New Roman" panose="02020603050405020304" pitchFamily="18" charset="0"/>
                          </a:rPr>
                          <m:t>𝜕</m:t>
                        </m:r>
                        <m:r>
                          <a:rPr lang="en-GB" sz="2400" i="1">
                            <a:latin typeface="Cambria Math" panose="02040503050406030204" pitchFamily="18" charset="0"/>
                            <a:cs typeface="Times New Roman" panose="02020603050405020304" pitchFamily="18" charset="0"/>
                          </a:rPr>
                          <m:t>𝑥</m:t>
                        </m:r>
                      </m:den>
                    </m:f>
                    <m:f>
                      <m:fPr>
                        <m:ctrlPr>
                          <a:rPr lang="en-GB" sz="2400" i="1" smtClean="0">
                            <a:latin typeface="Cambria Math" panose="02040503050406030204" pitchFamily="18" charset="0"/>
                            <a:cs typeface="Times New Roman" panose="02020603050405020304" pitchFamily="18" charset="0"/>
                          </a:rPr>
                        </m:ctrlPr>
                      </m:fPr>
                      <m:num>
                        <m:r>
                          <a:rPr lang="en-GB" sz="2400" b="0" i="1" smtClean="0">
                            <a:latin typeface="Cambria Math" panose="02040503050406030204" pitchFamily="18" charset="0"/>
                            <a:cs typeface="Times New Roman" panose="02020603050405020304" pitchFamily="18" charset="0"/>
                          </a:rPr>
                          <m:t>𝑟</m:t>
                        </m:r>
                      </m:num>
                      <m:den>
                        <m:r>
                          <a:rPr lang="en-GB" sz="2400" b="0" i="1" smtClean="0">
                            <a:latin typeface="Cambria Math" panose="02040503050406030204" pitchFamily="18" charset="0"/>
                            <a:cs typeface="Times New Roman" panose="02020603050405020304" pitchFamily="18" charset="0"/>
                          </a:rPr>
                          <m:t>2</m:t>
                        </m:r>
                      </m:den>
                    </m:f>
                  </m:oMath>
                </a14:m>
                <a:endParaRPr lang="en-US" sz="2400" dirty="0">
                  <a:latin typeface="Times New Roman" panose="02020603050405020304" pitchFamily="18" charset="0"/>
                  <a:cs typeface="Times New Roman" panose="02020603050405020304" pitchFamily="18" charset="0"/>
                </a:endParaRPr>
              </a:p>
              <a:p>
                <a14:m>
                  <m:oMath xmlns:m="http://schemas.openxmlformats.org/officeDocument/2006/math">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𝜇</m:t>
                    </m:r>
                    <m:f>
                      <m:f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𝑑𝑢</m:t>
                        </m:r>
                      </m:num>
                      <m:den>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𝑑𝑟</m:t>
                        </m:r>
                      </m:den>
                    </m:f>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GB" sz="2400" dirty="0">
                    <a:cs typeface="Times New Roman" panose="02020603050405020304" pitchFamily="18" charset="0"/>
                  </a:rPr>
                  <a:t> </a:t>
                </a:r>
                <a14:m>
                  <m:oMath xmlns:m="http://schemas.openxmlformats.org/officeDocument/2006/math">
                    <m:f>
                      <m:fPr>
                        <m:ctrlPr>
                          <a:rPr lang="en-GB" sz="2400" i="1">
                            <a:latin typeface="Cambria Math" panose="02040503050406030204" pitchFamily="18" charset="0"/>
                            <a:cs typeface="Times New Roman" panose="02020603050405020304" pitchFamily="18" charset="0"/>
                          </a:rPr>
                        </m:ctrlPr>
                      </m:fPr>
                      <m:num>
                        <m:r>
                          <a:rPr lang="en-GB" sz="2400" i="1">
                            <a:latin typeface="Cambria Math" panose="02040503050406030204" pitchFamily="18" charset="0"/>
                            <a:cs typeface="Times New Roman" panose="02020603050405020304" pitchFamily="18" charset="0"/>
                          </a:rPr>
                          <m:t>𝜕</m:t>
                        </m:r>
                        <m:r>
                          <a:rPr lang="en-GB" sz="2400" i="1">
                            <a:latin typeface="Cambria Math" panose="02040503050406030204" pitchFamily="18" charset="0"/>
                            <a:cs typeface="Times New Roman" panose="02020603050405020304" pitchFamily="18" charset="0"/>
                          </a:rPr>
                          <m:t>𝑝</m:t>
                        </m:r>
                      </m:num>
                      <m:den>
                        <m:r>
                          <a:rPr lang="en-GB" sz="2400" i="1">
                            <a:latin typeface="Cambria Math" panose="02040503050406030204" pitchFamily="18" charset="0"/>
                            <a:cs typeface="Times New Roman" panose="02020603050405020304" pitchFamily="18" charset="0"/>
                          </a:rPr>
                          <m:t>𝜕</m:t>
                        </m:r>
                        <m:r>
                          <a:rPr lang="en-GB" sz="2400" i="1">
                            <a:latin typeface="Cambria Math" panose="02040503050406030204" pitchFamily="18" charset="0"/>
                            <a:cs typeface="Times New Roman" panose="02020603050405020304" pitchFamily="18" charset="0"/>
                          </a:rPr>
                          <m:t>𝑥</m:t>
                        </m:r>
                      </m:den>
                    </m:f>
                    <m:f>
                      <m:fPr>
                        <m:ctrlPr>
                          <a:rPr lang="en-GB" sz="2400" i="1" smtClean="0">
                            <a:latin typeface="Cambria Math" panose="02040503050406030204" pitchFamily="18" charset="0"/>
                            <a:cs typeface="Times New Roman" panose="02020603050405020304" pitchFamily="18" charset="0"/>
                          </a:rPr>
                        </m:ctrlPr>
                      </m:fPr>
                      <m:num>
                        <m:r>
                          <a:rPr lang="en-GB" sz="2400" b="0" i="1" smtClean="0">
                            <a:latin typeface="Cambria Math" panose="02040503050406030204" pitchFamily="18" charset="0"/>
                            <a:cs typeface="Times New Roman" panose="02020603050405020304" pitchFamily="18" charset="0"/>
                          </a:rPr>
                          <m:t>𝑟</m:t>
                        </m:r>
                      </m:num>
                      <m:den>
                        <m:r>
                          <a:rPr lang="en-GB" sz="2400" b="0" i="1" smtClean="0">
                            <a:latin typeface="Cambria Math" panose="02040503050406030204" pitchFamily="18" charset="0"/>
                            <a:cs typeface="Times New Roman" panose="02020603050405020304" pitchFamily="18" charset="0"/>
                          </a:rPr>
                          <m:t>2</m:t>
                        </m:r>
                      </m:den>
                    </m:f>
                  </m:oMath>
                </a14:m>
                <a:endParaRPr lang="en-US" sz="2400" dirty="0">
                  <a:latin typeface="Times New Roman" panose="02020603050405020304" pitchFamily="18"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1D696EF3-F5C1-37D7-BB90-7B661C267A4E}"/>
                  </a:ext>
                </a:extLst>
              </p:cNvPr>
              <p:cNvSpPr txBox="1">
                <a:spLocks noRot="1" noChangeAspect="1" noMove="1" noResize="1" noEditPoints="1" noAdjustHandles="1" noChangeArrowheads="1" noChangeShapeType="1" noTextEdit="1"/>
              </p:cNvSpPr>
              <p:nvPr/>
            </p:nvSpPr>
            <p:spPr>
              <a:xfrm>
                <a:off x="5749835" y="1839868"/>
                <a:ext cx="5057502" cy="2070952"/>
              </a:xfrm>
              <a:prstGeom prst="rect">
                <a:avLst/>
              </a:prstGeom>
              <a:blipFill>
                <a:blip r:embed="rId6"/>
                <a:stretch>
                  <a:fillRect l="-361"/>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5E3D7F3-EC20-DDE2-7EE1-EE74B7DD4001}"/>
                  </a:ext>
                </a:extLst>
              </p:cNvPr>
              <p:cNvSpPr txBox="1"/>
              <p:nvPr/>
            </p:nvSpPr>
            <p:spPr>
              <a:xfrm>
                <a:off x="5915299" y="4148352"/>
                <a:ext cx="5057502" cy="85241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𝑢</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GB" sz="2400" b="0" i="1" smtClean="0">
                              <a:latin typeface="Cambria Math" panose="02040503050406030204" pitchFamily="18" charset="0"/>
                              <a:ea typeface="Cambria Math" panose="02040503050406030204" pitchFamily="18" charset="0"/>
                              <a:cs typeface="Times New Roman" panose="02020603050405020304" pitchFamily="18" charset="0"/>
                            </a:rPr>
                            <m:t>1</m:t>
                          </m:r>
                        </m:num>
                        <m:den>
                          <m:r>
                            <a:rPr lang="en-GB" sz="2400" b="0" i="1" smtClean="0">
                              <a:latin typeface="Cambria Math" panose="02040503050406030204" pitchFamily="18" charset="0"/>
                              <a:ea typeface="Cambria Math" panose="02040503050406030204" pitchFamily="18" charset="0"/>
                              <a:cs typeface="Times New Roman" panose="02020603050405020304" pitchFamily="18" charset="0"/>
                            </a:rPr>
                            <m:t>4</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𝜇</m:t>
                          </m:r>
                        </m:den>
                      </m:f>
                      <m:f>
                        <m:f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𝑝</m:t>
                          </m:r>
                        </m:num>
                        <m:den>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𝑥</m:t>
                          </m:r>
                        </m:den>
                      </m:f>
                      <m:sSup>
                        <m:sSup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𝑟</m:t>
                          </m:r>
                        </m:e>
                        <m:sup>
                          <m:r>
                            <a:rPr lang="en-GB" sz="2400"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𝐶</m:t>
                      </m:r>
                    </m:oMath>
                  </m:oMathPara>
                </a14:m>
                <a:endParaRPr lang="en-GB" sz="2400" b="0" dirty="0">
                  <a:ea typeface="Cambria Math" panose="02040503050406030204" pitchFamily="18" charset="0"/>
                  <a:cs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55E3D7F3-EC20-DDE2-7EE1-EE74B7DD4001}"/>
                  </a:ext>
                </a:extLst>
              </p:cNvPr>
              <p:cNvSpPr txBox="1">
                <a:spLocks noRot="1" noChangeAspect="1" noMove="1" noResize="1" noEditPoints="1" noAdjustHandles="1" noChangeArrowheads="1" noChangeShapeType="1" noTextEdit="1"/>
              </p:cNvSpPr>
              <p:nvPr/>
            </p:nvSpPr>
            <p:spPr>
              <a:xfrm>
                <a:off x="5915299" y="4148352"/>
                <a:ext cx="5057502" cy="852413"/>
              </a:xfrm>
              <a:prstGeom prst="rect">
                <a:avLst/>
              </a:prstGeom>
              <a:blipFill>
                <a:blip r:embed="rId7"/>
                <a:stretch>
                  <a:fillRect/>
                </a:stretch>
              </a:blipFill>
            </p:spPr>
            <p:txBody>
              <a:bodyPr/>
              <a:lstStyle/>
              <a:p>
                <a:r>
                  <a:rPr lang="en-GH">
                    <a:noFill/>
                  </a:rPr>
                  <a:t> </a:t>
                </a:r>
              </a:p>
            </p:txBody>
          </p:sp>
        </mc:Fallback>
      </mc:AlternateContent>
      <p:sp>
        <p:nvSpPr>
          <p:cNvPr id="16" name="TextBox 15">
            <a:extLst>
              <a:ext uri="{FF2B5EF4-FFF2-40B4-BE49-F238E27FC236}">
                <a16:creationId xmlns:a16="http://schemas.microsoft.com/office/drawing/2014/main" id="{25B5E5E4-A781-D32C-C2A4-421FA65315EB}"/>
              </a:ext>
            </a:extLst>
          </p:cNvPr>
          <p:cNvSpPr txBox="1"/>
          <p:nvPr/>
        </p:nvSpPr>
        <p:spPr>
          <a:xfrm>
            <a:off x="5608322" y="5243713"/>
            <a:ext cx="6444341" cy="830997"/>
          </a:xfrm>
          <a:prstGeom prst="rect">
            <a:avLst/>
          </a:prstGeom>
          <a:noFill/>
        </p:spPr>
        <p:txBody>
          <a:bodyPr wrap="square">
            <a:spAutoFit/>
          </a:bodyPr>
          <a:lstStyle/>
          <a:p>
            <a:r>
              <a:rPr lang="en-GB" sz="2400" dirty="0">
                <a:latin typeface="Times New Roman" panose="02020603050405020304" pitchFamily="18" charset="0"/>
                <a:cs typeface="Times New Roman" panose="02020603050405020304" pitchFamily="18" charset="0"/>
              </a:rPr>
              <a:t>Using the no-slip boundary condition: </a:t>
            </a:r>
            <a:r>
              <a:rPr lang="en-GB" sz="2400" i="1" dirty="0">
                <a:latin typeface="Times New Roman" panose="02020603050405020304" pitchFamily="18" charset="0"/>
                <a:cs typeface="Times New Roman" panose="02020603050405020304" pitchFamily="18" charset="0"/>
              </a:rPr>
              <a:t>u </a:t>
            </a:r>
            <a:r>
              <a:rPr lang="en-GB" sz="2400" dirty="0">
                <a:latin typeface="Times New Roman" panose="02020603050405020304" pitchFamily="18" charset="0"/>
                <a:cs typeface="Times New Roman" panose="02020603050405020304" pitchFamily="18" charset="0"/>
              </a:rPr>
              <a:t>= 0, </a:t>
            </a:r>
            <a:r>
              <a:rPr lang="en-GB" sz="2400" i="1" dirty="0">
                <a:latin typeface="Times New Roman" panose="02020603050405020304" pitchFamily="18" charset="0"/>
                <a:cs typeface="Times New Roman" panose="02020603050405020304" pitchFamily="18" charset="0"/>
              </a:rPr>
              <a:t>r = </a:t>
            </a:r>
            <a:r>
              <a:rPr lang="en-GB" sz="2400" i="1" dirty="0" err="1">
                <a:latin typeface="Times New Roman" panose="02020603050405020304" pitchFamily="18" charset="0"/>
                <a:cs typeface="Times New Roman" panose="02020603050405020304" pitchFamily="18" charset="0"/>
              </a:rPr>
              <a:t>r</a:t>
            </a:r>
            <a:r>
              <a:rPr lang="en-GB" sz="2400" i="1" baseline="-25000" dirty="0" err="1">
                <a:latin typeface="Times New Roman" panose="02020603050405020304" pitchFamily="18" charset="0"/>
                <a:cs typeface="Times New Roman" panose="02020603050405020304" pitchFamily="18" charset="0"/>
              </a:rPr>
              <a:t>o</a:t>
            </a:r>
            <a:r>
              <a:rPr lang="en-GB" sz="2400" i="1" baseline="-25000"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gives</a:t>
            </a:r>
            <a:endParaRPr lang="en-GH" sz="2400" baseline="-25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9E82C35-0B1E-EC59-960E-FB4073319C08}"/>
                  </a:ext>
                </a:extLst>
              </p:cNvPr>
              <p:cNvSpPr txBox="1"/>
              <p:nvPr/>
            </p:nvSpPr>
            <p:spPr>
              <a:xfrm>
                <a:off x="6411687" y="5868344"/>
                <a:ext cx="5057502" cy="85241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𝐶</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GB" sz="2400" b="0" i="1" smtClean="0">
                              <a:latin typeface="Cambria Math" panose="02040503050406030204" pitchFamily="18" charset="0"/>
                              <a:ea typeface="Cambria Math" panose="02040503050406030204" pitchFamily="18" charset="0"/>
                              <a:cs typeface="Times New Roman" panose="02020603050405020304" pitchFamily="18" charset="0"/>
                            </a:rPr>
                            <m:t>1</m:t>
                          </m:r>
                        </m:num>
                        <m:den>
                          <m:r>
                            <a:rPr lang="en-GB" sz="2400" b="0" i="1" smtClean="0">
                              <a:latin typeface="Cambria Math" panose="02040503050406030204" pitchFamily="18" charset="0"/>
                              <a:ea typeface="Cambria Math" panose="02040503050406030204" pitchFamily="18" charset="0"/>
                              <a:cs typeface="Times New Roman" panose="02020603050405020304" pitchFamily="18" charset="0"/>
                            </a:rPr>
                            <m:t>4</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𝜇</m:t>
                          </m:r>
                        </m:den>
                      </m:f>
                      <m:f>
                        <m:f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𝑝</m:t>
                          </m:r>
                        </m:num>
                        <m:den>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𝑥</m:t>
                          </m:r>
                        </m:den>
                      </m:f>
                      <m:sSup>
                        <m:sSup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GB" sz="2400" i="1">
                                  <a:latin typeface="Cambria Math" panose="02040503050406030204" pitchFamily="18" charset="0"/>
                                  <a:ea typeface="Cambria Math" panose="02040503050406030204" pitchFamily="18" charset="0"/>
                                  <a:cs typeface="Times New Roman" panose="02020603050405020304" pitchFamily="18" charset="0"/>
                                </a:rPr>
                                <m:t>𝑟</m:t>
                              </m:r>
                            </m:e>
                            <m:sub>
                              <m:r>
                                <a:rPr lang="en-GB" sz="2400" b="0" i="1" smtClean="0">
                                  <a:latin typeface="Cambria Math" panose="02040503050406030204" pitchFamily="18" charset="0"/>
                                  <a:ea typeface="Cambria Math" panose="02040503050406030204" pitchFamily="18" charset="0"/>
                                  <a:cs typeface="Times New Roman" panose="02020603050405020304" pitchFamily="18" charset="0"/>
                                </a:rPr>
                                <m:t>0</m:t>
                              </m:r>
                            </m:sub>
                          </m:sSub>
                        </m:e>
                        <m:sup>
                          <m:r>
                            <a:rPr lang="en-GB" sz="2400" b="0" i="1" smtClean="0">
                              <a:latin typeface="Cambria Math" panose="02040503050406030204" pitchFamily="18" charset="0"/>
                              <a:ea typeface="Cambria Math" panose="02040503050406030204" pitchFamily="18" charset="0"/>
                              <a:cs typeface="Times New Roman" panose="02020603050405020304" pitchFamily="18" charset="0"/>
                            </a:rPr>
                            <m:t>2</m:t>
                          </m:r>
                        </m:sup>
                      </m:sSup>
                    </m:oMath>
                  </m:oMathPara>
                </a14:m>
                <a:endParaRPr lang="en-GB" sz="2400" b="0" dirty="0">
                  <a:ea typeface="Cambria Math" panose="02040503050406030204" pitchFamily="18" charset="0"/>
                  <a:cs typeface="Times New Roman" panose="02020603050405020304" pitchFamily="18" charset="0"/>
                </a:endParaRPr>
              </a:p>
            </p:txBody>
          </p:sp>
        </mc:Choice>
        <mc:Fallback xmlns="">
          <p:sp>
            <p:nvSpPr>
              <p:cNvPr id="21" name="TextBox 20">
                <a:extLst>
                  <a:ext uri="{FF2B5EF4-FFF2-40B4-BE49-F238E27FC236}">
                    <a16:creationId xmlns:a16="http://schemas.microsoft.com/office/drawing/2014/main" id="{B9E82C35-0B1E-EC59-960E-FB4073319C08}"/>
                  </a:ext>
                </a:extLst>
              </p:cNvPr>
              <p:cNvSpPr txBox="1">
                <a:spLocks noRot="1" noChangeAspect="1" noMove="1" noResize="1" noEditPoints="1" noAdjustHandles="1" noChangeArrowheads="1" noChangeShapeType="1" noTextEdit="1"/>
              </p:cNvSpPr>
              <p:nvPr/>
            </p:nvSpPr>
            <p:spPr>
              <a:xfrm>
                <a:off x="6411687" y="5868344"/>
                <a:ext cx="5057502" cy="852413"/>
              </a:xfrm>
              <a:prstGeom prst="rect">
                <a:avLst/>
              </a:prstGeom>
              <a:blipFill>
                <a:blip r:embed="rId8"/>
                <a:stretch>
                  <a:fillRect/>
                </a:stretch>
              </a:blipFill>
            </p:spPr>
            <p:txBody>
              <a:bodyPr/>
              <a:lstStyle/>
              <a:p>
                <a:r>
                  <a:rPr lang="en-GH">
                    <a:noFill/>
                  </a:rPr>
                  <a:t> </a:t>
                </a:r>
              </a:p>
            </p:txBody>
          </p:sp>
        </mc:Fallback>
      </mc:AlternateContent>
    </p:spTree>
    <p:extLst>
      <p:ext uri="{BB962C8B-B14F-4D97-AF65-F5344CB8AC3E}">
        <p14:creationId xmlns:p14="http://schemas.microsoft.com/office/powerpoint/2010/main" val="1297254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AB4EB92-0CC8-A997-A6BB-2E83963B39CA}"/>
                  </a:ext>
                </a:extLst>
              </p:cNvPr>
              <p:cNvSpPr txBox="1"/>
              <p:nvPr/>
            </p:nvSpPr>
            <p:spPr>
              <a:xfrm>
                <a:off x="411482" y="1174425"/>
                <a:ext cx="5057502" cy="85241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𝑢</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GB" sz="2400" i="1">
                              <a:latin typeface="Cambria Math" panose="02040503050406030204" pitchFamily="18" charset="0"/>
                              <a:ea typeface="Cambria Math" panose="02040503050406030204" pitchFamily="18" charset="0"/>
                              <a:cs typeface="Times New Roman" panose="02020603050405020304" pitchFamily="18" charset="0"/>
                            </a:rPr>
                          </m:ctrlPr>
                        </m:fPr>
                        <m:num>
                          <m:r>
                            <a:rPr lang="en-GB" sz="2400" i="1">
                              <a:latin typeface="Cambria Math" panose="02040503050406030204" pitchFamily="18" charset="0"/>
                              <a:ea typeface="Cambria Math" panose="02040503050406030204" pitchFamily="18" charset="0"/>
                              <a:cs typeface="Times New Roman" panose="02020603050405020304" pitchFamily="18" charset="0"/>
                            </a:rPr>
                            <m:t>1</m:t>
                          </m:r>
                        </m:num>
                        <m:den>
                          <m:r>
                            <a:rPr lang="en-GB" sz="2400" i="1">
                              <a:latin typeface="Cambria Math" panose="02040503050406030204" pitchFamily="18" charset="0"/>
                              <a:ea typeface="Cambria Math" panose="02040503050406030204" pitchFamily="18" charset="0"/>
                              <a:cs typeface="Times New Roman" panose="02020603050405020304" pitchFamily="18" charset="0"/>
                            </a:rPr>
                            <m:t>4</m:t>
                          </m:r>
                          <m:r>
                            <a:rPr lang="en-GB" sz="2400" i="1">
                              <a:latin typeface="Cambria Math" panose="02040503050406030204" pitchFamily="18" charset="0"/>
                              <a:ea typeface="Cambria Math" panose="02040503050406030204" pitchFamily="18" charset="0"/>
                              <a:cs typeface="Times New Roman" panose="02020603050405020304" pitchFamily="18" charset="0"/>
                            </a:rPr>
                            <m:t>𝜇</m:t>
                          </m:r>
                        </m:den>
                      </m:f>
                      <m:f>
                        <m:fPr>
                          <m:ctrlPr>
                            <a:rPr lang="en-GB" sz="2400" i="1">
                              <a:latin typeface="Cambria Math" panose="02040503050406030204" pitchFamily="18" charset="0"/>
                              <a:ea typeface="Cambria Math" panose="02040503050406030204" pitchFamily="18" charset="0"/>
                              <a:cs typeface="Times New Roman" panose="02020603050405020304" pitchFamily="18" charset="0"/>
                            </a:rPr>
                          </m:ctrlPr>
                        </m:fPr>
                        <m:num>
                          <m:r>
                            <a:rPr lang="en-GB" sz="2400" i="1">
                              <a:latin typeface="Cambria Math" panose="02040503050406030204" pitchFamily="18" charset="0"/>
                              <a:ea typeface="Cambria Math" panose="02040503050406030204" pitchFamily="18" charset="0"/>
                              <a:cs typeface="Times New Roman" panose="02020603050405020304" pitchFamily="18" charset="0"/>
                            </a:rPr>
                            <m:t>𝜕</m:t>
                          </m:r>
                          <m:r>
                            <a:rPr lang="en-GB" sz="2400" i="1">
                              <a:latin typeface="Cambria Math" panose="02040503050406030204" pitchFamily="18" charset="0"/>
                              <a:ea typeface="Cambria Math" panose="02040503050406030204" pitchFamily="18" charset="0"/>
                              <a:cs typeface="Times New Roman" panose="02020603050405020304" pitchFamily="18" charset="0"/>
                            </a:rPr>
                            <m:t>𝑝</m:t>
                          </m:r>
                        </m:num>
                        <m:den>
                          <m:r>
                            <a:rPr lang="en-GB" sz="2400" i="1">
                              <a:latin typeface="Cambria Math" panose="02040503050406030204" pitchFamily="18" charset="0"/>
                              <a:ea typeface="Cambria Math" panose="02040503050406030204" pitchFamily="18" charset="0"/>
                              <a:cs typeface="Times New Roman" panose="02020603050405020304" pitchFamily="18" charset="0"/>
                            </a:rPr>
                            <m:t>𝜕</m:t>
                          </m:r>
                          <m:r>
                            <a:rPr lang="en-GB" sz="2400" i="1">
                              <a:latin typeface="Cambria Math" panose="02040503050406030204" pitchFamily="18" charset="0"/>
                              <a:ea typeface="Cambria Math" panose="02040503050406030204" pitchFamily="18" charset="0"/>
                              <a:cs typeface="Times New Roman" panose="02020603050405020304" pitchFamily="18" charset="0"/>
                            </a:rPr>
                            <m:t>𝑥</m:t>
                          </m:r>
                        </m:den>
                      </m:f>
                      <m:sSup>
                        <m:sSupPr>
                          <m:ctrlPr>
                            <a:rPr lang="en-GB" sz="2400" i="1">
                              <a:latin typeface="Cambria Math" panose="02040503050406030204" pitchFamily="18" charset="0"/>
                              <a:ea typeface="Cambria Math" panose="02040503050406030204" pitchFamily="18" charset="0"/>
                              <a:cs typeface="Times New Roman" panose="02020603050405020304" pitchFamily="18" charset="0"/>
                            </a:rPr>
                          </m:ctrlPr>
                        </m:sSupPr>
                        <m:e>
                          <m:r>
                            <a:rPr lang="en-GB" sz="2400" i="1">
                              <a:latin typeface="Cambria Math" panose="02040503050406030204" pitchFamily="18" charset="0"/>
                              <a:ea typeface="Cambria Math" panose="02040503050406030204" pitchFamily="18" charset="0"/>
                              <a:cs typeface="Times New Roman" panose="02020603050405020304" pitchFamily="18" charset="0"/>
                            </a:rPr>
                            <m:t>𝑟</m:t>
                          </m:r>
                        </m:e>
                        <m:sup>
                          <m:r>
                            <a:rPr lang="en-GB" sz="2400" i="1">
                              <a:latin typeface="Cambria Math" panose="02040503050406030204" pitchFamily="18" charset="0"/>
                              <a:ea typeface="Cambria Math" panose="02040503050406030204" pitchFamily="18" charset="0"/>
                              <a:cs typeface="Times New Roman" panose="02020603050405020304" pitchFamily="18" charset="0"/>
                            </a:rPr>
                            <m:t>2</m:t>
                          </m:r>
                        </m:sup>
                      </m:sSup>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GB" sz="2400" b="0" i="1" smtClean="0">
                              <a:latin typeface="Cambria Math" panose="02040503050406030204" pitchFamily="18" charset="0"/>
                              <a:ea typeface="Cambria Math" panose="02040503050406030204" pitchFamily="18" charset="0"/>
                              <a:cs typeface="Times New Roman" panose="02020603050405020304" pitchFamily="18" charset="0"/>
                            </a:rPr>
                            <m:t>1</m:t>
                          </m:r>
                        </m:num>
                        <m:den>
                          <m:r>
                            <a:rPr lang="en-GB" sz="2400" b="0" i="1" smtClean="0">
                              <a:latin typeface="Cambria Math" panose="02040503050406030204" pitchFamily="18" charset="0"/>
                              <a:ea typeface="Cambria Math" panose="02040503050406030204" pitchFamily="18" charset="0"/>
                              <a:cs typeface="Times New Roman" panose="02020603050405020304" pitchFamily="18" charset="0"/>
                            </a:rPr>
                            <m:t>4</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𝜇</m:t>
                          </m:r>
                        </m:den>
                      </m:f>
                      <m:f>
                        <m:f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𝑝</m:t>
                          </m:r>
                        </m:num>
                        <m:den>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𝑥</m:t>
                          </m:r>
                        </m:den>
                      </m:f>
                      <m:sSup>
                        <m:sSup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GB" sz="2400" i="1">
                                  <a:latin typeface="Cambria Math" panose="02040503050406030204" pitchFamily="18" charset="0"/>
                                  <a:ea typeface="Cambria Math" panose="02040503050406030204" pitchFamily="18" charset="0"/>
                                  <a:cs typeface="Times New Roman" panose="02020603050405020304" pitchFamily="18" charset="0"/>
                                </a:rPr>
                                <m:t>𝑟</m:t>
                              </m:r>
                            </m:e>
                            <m:sub>
                              <m:r>
                                <a:rPr lang="en-GB" sz="2400" b="0" i="1" smtClean="0">
                                  <a:latin typeface="Cambria Math" panose="02040503050406030204" pitchFamily="18" charset="0"/>
                                  <a:ea typeface="Cambria Math" panose="02040503050406030204" pitchFamily="18" charset="0"/>
                                  <a:cs typeface="Times New Roman" panose="02020603050405020304" pitchFamily="18" charset="0"/>
                                </a:rPr>
                                <m:t>0</m:t>
                              </m:r>
                            </m:sub>
                          </m:sSub>
                        </m:e>
                        <m:sup>
                          <m:r>
                            <a:rPr lang="en-GB" sz="2400" b="0" i="1" smtClean="0">
                              <a:latin typeface="Cambria Math" panose="02040503050406030204" pitchFamily="18" charset="0"/>
                              <a:ea typeface="Cambria Math" panose="02040503050406030204" pitchFamily="18" charset="0"/>
                              <a:cs typeface="Times New Roman" panose="02020603050405020304" pitchFamily="18" charset="0"/>
                            </a:rPr>
                            <m:t>2</m:t>
                          </m:r>
                        </m:sup>
                      </m:sSup>
                    </m:oMath>
                  </m:oMathPara>
                </a14:m>
                <a:endParaRPr lang="en-GB" sz="2400" b="0" dirty="0">
                  <a:ea typeface="Cambria Math" panose="02040503050406030204" pitchFamily="18"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FAB4EB92-0CC8-A997-A6BB-2E83963B39CA}"/>
                  </a:ext>
                </a:extLst>
              </p:cNvPr>
              <p:cNvSpPr txBox="1">
                <a:spLocks noRot="1" noChangeAspect="1" noMove="1" noResize="1" noEditPoints="1" noAdjustHandles="1" noChangeArrowheads="1" noChangeShapeType="1" noTextEdit="1"/>
              </p:cNvSpPr>
              <p:nvPr/>
            </p:nvSpPr>
            <p:spPr>
              <a:xfrm>
                <a:off x="411482" y="1174425"/>
                <a:ext cx="5057502" cy="852413"/>
              </a:xfrm>
              <a:prstGeom prst="rect">
                <a:avLst/>
              </a:prstGeom>
              <a:blipFill>
                <a:blip r:embed="rId3"/>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74C99B8-4880-745D-22A3-09012A16F7A5}"/>
                  </a:ext>
                </a:extLst>
              </p:cNvPr>
              <p:cNvSpPr txBox="1"/>
              <p:nvPr/>
            </p:nvSpPr>
            <p:spPr>
              <a:xfrm>
                <a:off x="655322" y="2267350"/>
                <a:ext cx="5057502" cy="85241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GB" sz="2400" i="1">
                              <a:latin typeface="Cambria Math" panose="02040503050406030204" pitchFamily="18" charset="0"/>
                              <a:ea typeface="Cambria Math" panose="02040503050406030204" pitchFamily="18" charset="0"/>
                              <a:cs typeface="Times New Roman" panose="02020603050405020304" pitchFamily="18" charset="0"/>
                            </a:rPr>
                          </m:ctrlPr>
                        </m:fPr>
                        <m:num>
                          <m:r>
                            <a:rPr lang="en-GB" sz="2400" i="1">
                              <a:latin typeface="Cambria Math" panose="02040503050406030204" pitchFamily="18" charset="0"/>
                              <a:ea typeface="Cambria Math" panose="02040503050406030204" pitchFamily="18" charset="0"/>
                              <a:cs typeface="Times New Roman" panose="02020603050405020304" pitchFamily="18" charset="0"/>
                            </a:rPr>
                            <m:t>1</m:t>
                          </m:r>
                        </m:num>
                        <m:den>
                          <m:r>
                            <a:rPr lang="en-GB" sz="2400" i="1">
                              <a:latin typeface="Cambria Math" panose="02040503050406030204" pitchFamily="18" charset="0"/>
                              <a:ea typeface="Cambria Math" panose="02040503050406030204" pitchFamily="18" charset="0"/>
                              <a:cs typeface="Times New Roman" panose="02020603050405020304" pitchFamily="18" charset="0"/>
                            </a:rPr>
                            <m:t>4</m:t>
                          </m:r>
                          <m:r>
                            <a:rPr lang="en-GB" sz="2400" i="1">
                              <a:latin typeface="Cambria Math" panose="02040503050406030204" pitchFamily="18" charset="0"/>
                              <a:ea typeface="Cambria Math" panose="02040503050406030204" pitchFamily="18" charset="0"/>
                              <a:cs typeface="Times New Roman" panose="02020603050405020304" pitchFamily="18" charset="0"/>
                            </a:rPr>
                            <m:t>𝜇</m:t>
                          </m:r>
                        </m:den>
                      </m:f>
                      <m:f>
                        <m:fPr>
                          <m:ctrlPr>
                            <a:rPr lang="en-GB" sz="2400" i="1">
                              <a:latin typeface="Cambria Math" panose="02040503050406030204" pitchFamily="18" charset="0"/>
                              <a:ea typeface="Cambria Math" panose="02040503050406030204" pitchFamily="18" charset="0"/>
                              <a:cs typeface="Times New Roman" panose="02020603050405020304" pitchFamily="18" charset="0"/>
                            </a:rPr>
                          </m:ctrlPr>
                        </m:fPr>
                        <m:num>
                          <m:r>
                            <a:rPr lang="en-GB" sz="2400" i="1">
                              <a:latin typeface="Cambria Math" panose="02040503050406030204" pitchFamily="18" charset="0"/>
                              <a:ea typeface="Cambria Math" panose="02040503050406030204" pitchFamily="18" charset="0"/>
                              <a:cs typeface="Times New Roman" panose="02020603050405020304" pitchFamily="18" charset="0"/>
                            </a:rPr>
                            <m:t>𝜕</m:t>
                          </m:r>
                          <m:r>
                            <a:rPr lang="en-GB" sz="2400" i="1">
                              <a:latin typeface="Cambria Math" panose="02040503050406030204" pitchFamily="18" charset="0"/>
                              <a:ea typeface="Cambria Math" panose="02040503050406030204" pitchFamily="18" charset="0"/>
                              <a:cs typeface="Times New Roman" panose="02020603050405020304" pitchFamily="18" charset="0"/>
                            </a:rPr>
                            <m:t>𝑝</m:t>
                          </m:r>
                        </m:num>
                        <m:den>
                          <m:r>
                            <a:rPr lang="en-GB" sz="2400" i="1">
                              <a:latin typeface="Cambria Math" panose="02040503050406030204" pitchFamily="18" charset="0"/>
                              <a:ea typeface="Cambria Math" panose="02040503050406030204" pitchFamily="18" charset="0"/>
                              <a:cs typeface="Times New Roman" panose="02020603050405020304" pitchFamily="18" charset="0"/>
                            </a:rPr>
                            <m:t>𝜕</m:t>
                          </m:r>
                          <m:r>
                            <a:rPr lang="en-GB" sz="2400" i="1">
                              <a:latin typeface="Cambria Math" panose="02040503050406030204" pitchFamily="18" charset="0"/>
                              <a:ea typeface="Cambria Math" panose="02040503050406030204" pitchFamily="18" charset="0"/>
                              <a:cs typeface="Times New Roman" panose="02020603050405020304" pitchFamily="18" charset="0"/>
                            </a:rPr>
                            <m:t>𝑥</m:t>
                          </m:r>
                        </m:den>
                      </m:f>
                      <m:d>
                        <m:dPr>
                          <m:begChr m:val="["/>
                          <m:endChr m:val="]"/>
                          <m:ctrlPr>
                            <a:rPr lang="en-GB" sz="2400" i="1" smtClean="0">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en-GB" sz="24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𝑟</m:t>
                              </m:r>
                            </m:e>
                            <m:sup>
                              <m:r>
                                <a:rPr lang="en-GB" sz="2400"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sSubSupPr>
                            <m:e>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𝑟</m:t>
                              </m:r>
                            </m:e>
                            <m:sub>
                              <m:r>
                                <a:rPr lang="en-GB" sz="2400" b="0" i="1" smtClean="0">
                                  <a:latin typeface="Cambria Math" panose="02040503050406030204" pitchFamily="18" charset="0"/>
                                  <a:ea typeface="Cambria Math" panose="02040503050406030204" pitchFamily="18" charset="0"/>
                                  <a:cs typeface="Times New Roman" panose="02020603050405020304" pitchFamily="18" charset="0"/>
                                </a:rPr>
                                <m:t>0</m:t>
                              </m:r>
                            </m:sub>
                            <m:sup>
                              <m:r>
                                <a:rPr lang="en-GB" sz="2400" b="0" i="1" smtClean="0">
                                  <a:latin typeface="Cambria Math" panose="02040503050406030204" pitchFamily="18" charset="0"/>
                                  <a:ea typeface="Cambria Math" panose="02040503050406030204" pitchFamily="18" charset="0"/>
                                  <a:cs typeface="Times New Roman" panose="02020603050405020304" pitchFamily="18" charset="0"/>
                                </a:rPr>
                                <m:t>2</m:t>
                              </m:r>
                            </m:sup>
                          </m:sSubSup>
                        </m:e>
                      </m:d>
                    </m:oMath>
                  </m:oMathPara>
                </a14:m>
                <a:endParaRPr lang="en-GB" sz="2400" b="0" dirty="0">
                  <a:ea typeface="Cambria Math" panose="020405030504060302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474C99B8-4880-745D-22A3-09012A16F7A5}"/>
                  </a:ext>
                </a:extLst>
              </p:cNvPr>
              <p:cNvSpPr txBox="1">
                <a:spLocks noRot="1" noChangeAspect="1" noMove="1" noResize="1" noEditPoints="1" noAdjustHandles="1" noChangeArrowheads="1" noChangeShapeType="1" noTextEdit="1"/>
              </p:cNvSpPr>
              <p:nvPr/>
            </p:nvSpPr>
            <p:spPr>
              <a:xfrm>
                <a:off x="655322" y="2267350"/>
                <a:ext cx="5057502" cy="852413"/>
              </a:xfrm>
              <a:prstGeom prst="rect">
                <a:avLst/>
              </a:prstGeom>
              <a:blipFill>
                <a:blip r:embed="rId4"/>
                <a:stretch>
                  <a:fillRect/>
                </a:stretch>
              </a:blipFill>
            </p:spPr>
            <p:txBody>
              <a:bodyPr/>
              <a:lstStyle/>
              <a:p>
                <a:r>
                  <a:rPr lang="en-GH">
                    <a:noFill/>
                  </a:rPr>
                  <a:t> </a:t>
                </a:r>
              </a:p>
            </p:txBody>
          </p:sp>
        </mc:Fallback>
      </mc:AlternateContent>
      <p:sp>
        <p:nvSpPr>
          <p:cNvPr id="9" name="TextBox 8">
            <a:extLst>
              <a:ext uri="{FF2B5EF4-FFF2-40B4-BE49-F238E27FC236}">
                <a16:creationId xmlns:a16="http://schemas.microsoft.com/office/drawing/2014/main" id="{90844AE0-FE19-2CA6-3D8E-6B9205398EF2}"/>
              </a:ext>
            </a:extLst>
          </p:cNvPr>
          <p:cNvSpPr txBox="1"/>
          <p:nvPr/>
        </p:nvSpPr>
        <p:spPr>
          <a:xfrm>
            <a:off x="0" y="4921105"/>
            <a:ext cx="9936481" cy="460895"/>
          </a:xfrm>
          <a:prstGeom prst="rect">
            <a:avLst/>
          </a:prstGeom>
          <a:noFill/>
        </p:spPr>
        <p:txBody>
          <a:bodyPr wrap="square">
            <a:spAutoFit/>
          </a:bodyPr>
          <a:lstStyle/>
          <a:p>
            <a:pPr marL="0" marR="0">
              <a:lnSpc>
                <a:spcPct val="107000"/>
              </a:lnSpc>
              <a:spcBef>
                <a:spcPts val="0"/>
              </a:spcBef>
              <a:spcAft>
                <a:spcPts val="800"/>
              </a:spcAft>
            </a:pPr>
            <a:r>
              <a:rPr lang="en-US" sz="2400" dirty="0">
                <a:latin typeface="Times New Roman" panose="02020603050405020304" pitchFamily="18" charset="0"/>
                <a:ea typeface="Times New Roman" panose="02020603050405020304" pitchFamily="18" charset="0"/>
              </a:rPr>
              <a:t>The above result gives a parabolic profile, often referred to as </a:t>
            </a:r>
            <a:r>
              <a:rPr lang="en-US" sz="2400" b="1" dirty="0">
                <a:latin typeface="Times New Roman" panose="02020603050405020304" pitchFamily="18" charset="0"/>
                <a:ea typeface="Times New Roman" panose="02020603050405020304" pitchFamily="18" charset="0"/>
              </a:rPr>
              <a:t>Poiseuille flow.</a:t>
            </a:r>
            <a:endParaRPr lang="en-US" sz="2400" dirty="0">
              <a:latin typeface="Times New Roman" panose="02020603050405020304" pitchFamily="18" charset="0"/>
              <a:ea typeface="Times New Roman" panose="02020603050405020304" pitchFamily="18" charset="0"/>
            </a:endParaRPr>
          </a:p>
        </p:txBody>
      </p:sp>
      <p:sp>
        <p:nvSpPr>
          <p:cNvPr id="12" name="Title 1">
            <a:extLst>
              <a:ext uri="{FF2B5EF4-FFF2-40B4-BE49-F238E27FC236}">
                <a16:creationId xmlns:a16="http://schemas.microsoft.com/office/drawing/2014/main" id="{7D9DCBB7-9290-2E30-2787-14BC97CFCD25}"/>
              </a:ext>
            </a:extLst>
          </p:cNvPr>
          <p:cNvSpPr txBox="1">
            <a:spLocks/>
          </p:cNvSpPr>
          <p:nvPr/>
        </p:nvSpPr>
        <p:spPr>
          <a:xfrm>
            <a:off x="838200" y="121920"/>
            <a:ext cx="10515600" cy="4534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500" dirty="0">
                <a:latin typeface="Times New Roman" panose="02020603050405020304" pitchFamily="18" charset="0"/>
                <a:cs typeface="Times New Roman" panose="02020603050405020304" pitchFamily="18" charset="0"/>
              </a:rPr>
              <a:t>LAMINAR FLOW IN A PIPE</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3693529-A6CB-CBEC-210F-128549D2B8BD}"/>
                  </a:ext>
                </a:extLst>
              </p:cNvPr>
              <p:cNvSpPr txBox="1"/>
              <p:nvPr/>
            </p:nvSpPr>
            <p:spPr>
              <a:xfrm>
                <a:off x="1038498" y="3656350"/>
                <a:ext cx="5057502" cy="85241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𝑢</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GB" sz="2400" i="1">
                              <a:latin typeface="Cambria Math" panose="02040503050406030204" pitchFamily="18" charset="0"/>
                              <a:ea typeface="Cambria Math" panose="02040503050406030204" pitchFamily="18" charset="0"/>
                              <a:cs typeface="Times New Roman" panose="02020603050405020304" pitchFamily="18" charset="0"/>
                            </a:rPr>
                          </m:ctrlPr>
                        </m:fPr>
                        <m:num>
                          <m:r>
                            <a:rPr lang="en-GB" sz="2400" i="1">
                              <a:latin typeface="Cambria Math" panose="02040503050406030204" pitchFamily="18" charset="0"/>
                              <a:ea typeface="Cambria Math" panose="02040503050406030204" pitchFamily="18" charset="0"/>
                              <a:cs typeface="Times New Roman" panose="02020603050405020304" pitchFamily="18" charset="0"/>
                            </a:rPr>
                            <m:t>1</m:t>
                          </m:r>
                        </m:num>
                        <m:den>
                          <m:r>
                            <a:rPr lang="en-GB" sz="2400" i="1">
                              <a:latin typeface="Cambria Math" panose="02040503050406030204" pitchFamily="18" charset="0"/>
                              <a:ea typeface="Cambria Math" panose="02040503050406030204" pitchFamily="18" charset="0"/>
                              <a:cs typeface="Times New Roman" panose="02020603050405020304" pitchFamily="18" charset="0"/>
                            </a:rPr>
                            <m:t>4</m:t>
                          </m:r>
                          <m:r>
                            <a:rPr lang="en-GB" sz="2400" i="1">
                              <a:latin typeface="Cambria Math" panose="02040503050406030204" pitchFamily="18" charset="0"/>
                              <a:ea typeface="Cambria Math" panose="02040503050406030204" pitchFamily="18" charset="0"/>
                              <a:cs typeface="Times New Roman" panose="02020603050405020304" pitchFamily="18" charset="0"/>
                            </a:rPr>
                            <m:t>𝜇</m:t>
                          </m:r>
                        </m:den>
                      </m:f>
                      <m:f>
                        <m:fPr>
                          <m:ctrlPr>
                            <a:rPr lang="en-GB" sz="2400" i="1">
                              <a:latin typeface="Cambria Math" panose="02040503050406030204" pitchFamily="18" charset="0"/>
                              <a:ea typeface="Cambria Math" panose="02040503050406030204" pitchFamily="18" charset="0"/>
                              <a:cs typeface="Times New Roman" panose="02020603050405020304" pitchFamily="18" charset="0"/>
                            </a:rPr>
                          </m:ctrlPr>
                        </m:fPr>
                        <m:num>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𝑑</m:t>
                          </m:r>
                          <m:r>
                            <a:rPr lang="en-GB" sz="2400" i="1">
                              <a:latin typeface="Cambria Math" panose="02040503050406030204" pitchFamily="18" charset="0"/>
                              <a:ea typeface="Cambria Math" panose="02040503050406030204" pitchFamily="18" charset="0"/>
                              <a:cs typeface="Times New Roman" panose="02020603050405020304" pitchFamily="18" charset="0"/>
                            </a:rPr>
                            <m:t>𝑝</m:t>
                          </m:r>
                        </m:num>
                        <m:den>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𝑑</m:t>
                          </m:r>
                          <m:r>
                            <a:rPr lang="en-GB" sz="2400" i="1">
                              <a:latin typeface="Cambria Math" panose="02040503050406030204" pitchFamily="18" charset="0"/>
                              <a:ea typeface="Cambria Math" panose="02040503050406030204" pitchFamily="18" charset="0"/>
                              <a:cs typeface="Times New Roman" panose="02020603050405020304" pitchFamily="18" charset="0"/>
                            </a:rPr>
                            <m:t>𝑥</m:t>
                          </m:r>
                        </m:den>
                      </m:f>
                      <m:d>
                        <m:dPr>
                          <m:begChr m:val="["/>
                          <m:endChr m:val="]"/>
                          <m:ctrlPr>
                            <a:rPr lang="en-GB" sz="2400" i="1" smtClean="0">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en-GB" sz="24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𝑟</m:t>
                              </m:r>
                            </m:e>
                            <m:sup>
                              <m:r>
                                <a:rPr lang="en-GB" sz="2400"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sSubSupPr>
                            <m:e>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𝑟</m:t>
                              </m:r>
                            </m:e>
                            <m:sub>
                              <m:r>
                                <a:rPr lang="en-GB" sz="2400" b="0" i="1" smtClean="0">
                                  <a:latin typeface="Cambria Math" panose="02040503050406030204" pitchFamily="18" charset="0"/>
                                  <a:ea typeface="Cambria Math" panose="02040503050406030204" pitchFamily="18" charset="0"/>
                                  <a:cs typeface="Times New Roman" panose="02020603050405020304" pitchFamily="18" charset="0"/>
                                </a:rPr>
                                <m:t>0</m:t>
                              </m:r>
                            </m:sub>
                            <m:sup>
                              <m:r>
                                <a:rPr lang="en-GB" sz="2400" b="0" i="1" smtClean="0">
                                  <a:latin typeface="Cambria Math" panose="02040503050406030204" pitchFamily="18" charset="0"/>
                                  <a:ea typeface="Cambria Math" panose="02040503050406030204" pitchFamily="18" charset="0"/>
                                  <a:cs typeface="Times New Roman" panose="02020603050405020304" pitchFamily="18" charset="0"/>
                                </a:rPr>
                                <m:t>2</m:t>
                              </m:r>
                            </m:sup>
                          </m:sSubSup>
                        </m:e>
                      </m:d>
                    </m:oMath>
                  </m:oMathPara>
                </a14:m>
                <a:endParaRPr lang="en-GB" sz="2400" b="0" dirty="0">
                  <a:ea typeface="Cambria Math" panose="02040503050406030204" pitchFamily="18" charset="0"/>
                  <a:cs typeface="Times New Roman" panose="02020603050405020304" pitchFamily="18" charset="0"/>
                </a:endParaRPr>
              </a:p>
            </p:txBody>
          </p:sp>
        </mc:Choice>
        <mc:Fallback xmlns="">
          <p:sp>
            <p:nvSpPr>
              <p:cNvPr id="15" name="TextBox 14">
                <a:extLst>
                  <a:ext uri="{FF2B5EF4-FFF2-40B4-BE49-F238E27FC236}">
                    <a16:creationId xmlns:a16="http://schemas.microsoft.com/office/drawing/2014/main" id="{B3693529-A6CB-CBEC-210F-128549D2B8BD}"/>
                  </a:ext>
                </a:extLst>
              </p:cNvPr>
              <p:cNvSpPr txBox="1">
                <a:spLocks noRot="1" noChangeAspect="1" noMove="1" noResize="1" noEditPoints="1" noAdjustHandles="1" noChangeArrowheads="1" noChangeShapeType="1" noTextEdit="1"/>
              </p:cNvSpPr>
              <p:nvPr/>
            </p:nvSpPr>
            <p:spPr>
              <a:xfrm>
                <a:off x="1038498" y="3656350"/>
                <a:ext cx="5057502" cy="852413"/>
              </a:xfrm>
              <a:prstGeom prst="rect">
                <a:avLst/>
              </a:prstGeom>
              <a:blipFill>
                <a:blip r:embed="rId5"/>
                <a:stretch>
                  <a:fillRect/>
                </a:stretch>
              </a:blipFill>
            </p:spPr>
            <p:txBody>
              <a:bodyPr/>
              <a:lstStyle/>
              <a:p>
                <a:r>
                  <a:rPr lang="en-GH">
                    <a:noFill/>
                  </a:rPr>
                  <a:t> </a:t>
                </a:r>
              </a:p>
            </p:txBody>
          </p:sp>
        </mc:Fallback>
      </mc:AlternateContent>
      <p:sp>
        <p:nvSpPr>
          <p:cNvPr id="17" name="TextBox 16">
            <a:extLst>
              <a:ext uri="{FF2B5EF4-FFF2-40B4-BE49-F238E27FC236}">
                <a16:creationId xmlns:a16="http://schemas.microsoft.com/office/drawing/2014/main" id="{FA8BFA4F-9A3E-AD2E-5699-FA46C377C4F4}"/>
              </a:ext>
            </a:extLst>
          </p:cNvPr>
          <p:cNvSpPr txBox="1"/>
          <p:nvPr/>
        </p:nvSpPr>
        <p:spPr>
          <a:xfrm>
            <a:off x="145869" y="3876897"/>
            <a:ext cx="855616" cy="461665"/>
          </a:xfrm>
          <a:prstGeom prst="rect">
            <a:avLst/>
          </a:prstGeom>
          <a:noFill/>
        </p:spPr>
        <p:txBody>
          <a:bodyPr wrap="square">
            <a:spAutoFit/>
          </a:bodyPr>
          <a:lstStyle/>
          <a:p>
            <a:r>
              <a:rPr lang="en-US" sz="2400" dirty="0">
                <a:latin typeface="Times New Roman" panose="02020603050405020304" pitchFamily="18" charset="0"/>
                <a:ea typeface="Times New Roman" panose="02020603050405020304" pitchFamily="18" charset="0"/>
              </a:rPr>
              <a:t>Or</a:t>
            </a:r>
            <a:endParaRPr lang="en-GH" sz="2400" dirty="0"/>
          </a:p>
        </p:txBody>
      </p:sp>
    </p:spTree>
    <p:extLst>
      <p:ext uri="{BB962C8B-B14F-4D97-AF65-F5344CB8AC3E}">
        <p14:creationId xmlns:p14="http://schemas.microsoft.com/office/powerpoint/2010/main" val="651954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7120" y="1"/>
            <a:ext cx="7477760" cy="487680"/>
          </a:xfrm>
        </p:spPr>
        <p:txBody>
          <a:bodyPr>
            <a:normAutofit fontScale="90000"/>
          </a:bodyPr>
          <a:lstStyle/>
          <a:p>
            <a:pPr lvl="0" indent="-228600" algn="ctr">
              <a:lnSpc>
                <a:spcPct val="107000"/>
              </a:lnSpc>
              <a:spcBef>
                <a:spcPts val="0"/>
              </a:spcBef>
              <a:spcAft>
                <a:spcPts val="800"/>
              </a:spcAft>
              <a:tabLst>
                <a:tab pos="3447415" algn="l"/>
              </a:tabLst>
            </a:pPr>
            <a:r>
              <a:rPr lang="en-US" sz="2800" dirty="0">
                <a:solidFill>
                  <a:prstClr val="black"/>
                </a:solidFill>
                <a:latin typeface="Times New Roman" panose="02020603050405020304" pitchFamily="18" charset="0"/>
                <a:ea typeface="Times New Roman" panose="02020603050405020304" pitchFamily="18" charset="0"/>
              </a:rPr>
              <a:t> </a:t>
            </a:r>
            <a:r>
              <a:rPr lang="en-US" sz="2800" b="1" dirty="0">
                <a:solidFill>
                  <a:prstClr val="black"/>
                </a:solidFill>
                <a:latin typeface="Times New Roman" panose="02020603050405020304" pitchFamily="18" charset="0"/>
                <a:ea typeface="Times New Roman" panose="02020603050405020304" pitchFamily="18" charset="0"/>
              </a:rPr>
              <a:t>OTHER</a:t>
            </a:r>
            <a:r>
              <a:rPr lang="en-US" sz="2800" dirty="0">
                <a:solidFill>
                  <a:prstClr val="black"/>
                </a:solidFill>
                <a:latin typeface="Times New Roman" panose="02020603050405020304" pitchFamily="18" charset="0"/>
                <a:ea typeface="Times New Roman" panose="02020603050405020304" pitchFamily="18" charset="0"/>
              </a:rPr>
              <a:t> </a:t>
            </a:r>
            <a:r>
              <a:rPr lang="en-US" sz="2800" b="1" dirty="0">
                <a:solidFill>
                  <a:prstClr val="black"/>
                </a:solidFill>
                <a:latin typeface="Times New Roman" panose="02020603050405020304" pitchFamily="18" charset="0"/>
                <a:ea typeface="Times New Roman" panose="02020603050405020304" pitchFamily="18" charset="0"/>
              </a:rPr>
              <a:t>PIPE FLOW QUANTITIES </a:t>
            </a:r>
            <a:endParaRPr lang="en-US" sz="28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518160"/>
                <a:ext cx="12192000" cy="2910840"/>
              </a:xfrm>
            </p:spPr>
            <p:txBody>
              <a:bodyPr>
                <a:normAutofit/>
              </a:bodyPr>
              <a:lstStyle/>
              <a:p>
                <a:pPr marL="0" marR="0" indent="0">
                  <a:lnSpc>
                    <a:spcPct val="107000"/>
                  </a:lnSpc>
                  <a:spcBef>
                    <a:spcPts val="0"/>
                  </a:spcBef>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For steady, laminar, developed flow in a circular pipe, the velocity distribution has been shown to be</a:t>
                </a:r>
              </a:p>
              <a:p>
                <a:pPr marL="0" indent="0">
                  <a:spcAft>
                    <a:spcPts val="1200"/>
                  </a:spcAft>
                  <a:buNone/>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sz="3400" i="1">
                        <a:effectLst/>
                        <a:latin typeface="Cambria Math" panose="02040503050406030204" pitchFamily="18" charset="0"/>
                        <a:ea typeface="Times New Roman" panose="02020603050405020304" pitchFamily="18" charset="0"/>
                        <a:cs typeface="Times New Roman" panose="02020603050405020304" pitchFamily="18" charset="0"/>
                      </a:rPr>
                      <m:t>𝑢</m:t>
                    </m:r>
                    <m:d>
                      <m:dPr>
                        <m:ctrlPr>
                          <a:rPr lang="en-US" sz="3400" i="1">
                            <a:effectLst/>
                            <a:latin typeface="Cambria Math" panose="02040503050406030204" pitchFamily="18" charset="0"/>
                            <a:ea typeface="Times New Roman" panose="02020603050405020304" pitchFamily="18" charset="0"/>
                          </a:rPr>
                        </m:ctrlPr>
                      </m:dPr>
                      <m:e>
                        <m:r>
                          <a:rPr lang="en-US" sz="3400" i="1">
                            <a:effectLst/>
                            <a:latin typeface="Cambria Math" panose="02040503050406030204" pitchFamily="18" charset="0"/>
                            <a:ea typeface="Times New Roman" panose="02020603050405020304" pitchFamily="18" charset="0"/>
                            <a:cs typeface="Times New Roman" panose="02020603050405020304" pitchFamily="18" charset="0"/>
                          </a:rPr>
                          <m:t>𝑟</m:t>
                        </m:r>
                      </m:e>
                    </m:d>
                    <m:r>
                      <a:rPr lang="en-US" sz="34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3400" i="1">
                            <a:effectLst/>
                            <a:latin typeface="Cambria Math" panose="02040503050406030204" pitchFamily="18" charset="0"/>
                            <a:ea typeface="Times New Roman" panose="02020603050405020304" pitchFamily="18" charset="0"/>
                          </a:rPr>
                        </m:ctrlPr>
                      </m:fPr>
                      <m:num>
                        <m:r>
                          <a:rPr lang="en-US" sz="34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3400" i="1">
                            <a:effectLst/>
                            <a:latin typeface="Cambria Math" panose="02040503050406030204" pitchFamily="18" charset="0"/>
                            <a:ea typeface="Times New Roman" panose="02020603050405020304" pitchFamily="18" charset="0"/>
                            <a:cs typeface="Times New Roman" panose="02020603050405020304" pitchFamily="18" charset="0"/>
                          </a:rPr>
                          <m:t>4</m:t>
                        </m:r>
                        <m:r>
                          <a:rPr lang="en-US" sz="3400" i="1">
                            <a:effectLst/>
                            <a:latin typeface="Cambria Math" panose="02040503050406030204" pitchFamily="18" charset="0"/>
                            <a:ea typeface="Times New Roman" panose="02020603050405020304" pitchFamily="18" charset="0"/>
                            <a:cs typeface="Times New Roman" panose="02020603050405020304" pitchFamily="18" charset="0"/>
                          </a:rPr>
                          <m:t>𝜇</m:t>
                        </m:r>
                      </m:den>
                    </m:f>
                    <m:f>
                      <m:fPr>
                        <m:ctrlPr>
                          <a:rPr lang="en-US" sz="3400" i="1">
                            <a:effectLst/>
                            <a:latin typeface="Cambria Math" panose="02040503050406030204" pitchFamily="18" charset="0"/>
                            <a:ea typeface="Times New Roman" panose="02020603050405020304" pitchFamily="18" charset="0"/>
                          </a:rPr>
                        </m:ctrlPr>
                      </m:fPr>
                      <m:num>
                        <m:r>
                          <a:rPr lang="en-US" sz="3400" i="1">
                            <a:effectLst/>
                            <a:latin typeface="Cambria Math" panose="02040503050406030204" pitchFamily="18" charset="0"/>
                            <a:ea typeface="Times New Roman" panose="02020603050405020304" pitchFamily="18" charset="0"/>
                            <a:cs typeface="Times New Roman" panose="02020603050405020304" pitchFamily="18" charset="0"/>
                          </a:rPr>
                          <m:t>𝑑</m:t>
                        </m:r>
                        <m:r>
                          <a:rPr lang="en-GB" sz="3400" b="0" i="1" smtClean="0">
                            <a:effectLst/>
                            <a:latin typeface="Cambria Math" panose="02040503050406030204" pitchFamily="18" charset="0"/>
                            <a:ea typeface="Times New Roman" panose="02020603050405020304" pitchFamily="18" charset="0"/>
                            <a:cs typeface="Times New Roman" panose="02020603050405020304" pitchFamily="18" charset="0"/>
                          </a:rPr>
                          <m:t>𝑝</m:t>
                        </m:r>
                      </m:num>
                      <m:den>
                        <m:r>
                          <a:rPr lang="en-US" sz="3400" i="1">
                            <a:effectLst/>
                            <a:latin typeface="Cambria Math" panose="02040503050406030204" pitchFamily="18" charset="0"/>
                            <a:ea typeface="Times New Roman" panose="02020603050405020304" pitchFamily="18" charset="0"/>
                            <a:cs typeface="Times New Roman" panose="02020603050405020304" pitchFamily="18" charset="0"/>
                          </a:rPr>
                          <m:t>𝑑𝑥</m:t>
                        </m:r>
                      </m:den>
                    </m:f>
                    <m:d>
                      <m:dPr>
                        <m:ctrlPr>
                          <a:rPr lang="en-US" sz="3400" i="1">
                            <a:effectLst/>
                            <a:latin typeface="Cambria Math" panose="02040503050406030204" pitchFamily="18" charset="0"/>
                            <a:ea typeface="Times New Roman" panose="02020603050405020304" pitchFamily="18" charset="0"/>
                          </a:rPr>
                        </m:ctrlPr>
                      </m:dPr>
                      <m:e>
                        <m:sSup>
                          <m:sSupPr>
                            <m:ctrlPr>
                              <a:rPr lang="en-US" sz="3400" i="1">
                                <a:effectLst/>
                                <a:latin typeface="Cambria Math" panose="02040503050406030204" pitchFamily="18" charset="0"/>
                                <a:ea typeface="Times New Roman" panose="02020603050405020304" pitchFamily="18" charset="0"/>
                              </a:rPr>
                            </m:ctrlPr>
                          </m:sSupPr>
                          <m:e>
                            <m:r>
                              <a:rPr lang="en-US" sz="3400" i="1">
                                <a:effectLst/>
                                <a:latin typeface="Cambria Math" panose="02040503050406030204" pitchFamily="18" charset="0"/>
                                <a:ea typeface="Times New Roman" panose="02020603050405020304" pitchFamily="18" charset="0"/>
                                <a:cs typeface="Times New Roman" panose="02020603050405020304" pitchFamily="18" charset="0"/>
                              </a:rPr>
                              <m:t>𝑟</m:t>
                            </m:r>
                          </m:e>
                          <m:sup>
                            <m:r>
                              <a:rPr lang="en-US" sz="34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3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n-US" sz="3400" i="1" smtClean="0">
                                <a:effectLst/>
                                <a:latin typeface="Cambria Math" panose="02040503050406030204" pitchFamily="18" charset="0"/>
                                <a:cs typeface="Times New Roman" panose="02020603050405020304" pitchFamily="18" charset="0"/>
                              </a:rPr>
                            </m:ctrlPr>
                          </m:sSubSupPr>
                          <m:e>
                            <m:r>
                              <a:rPr lang="en-GB" sz="3400" b="0" i="1" smtClean="0">
                                <a:effectLst/>
                                <a:latin typeface="Cambria Math" panose="02040503050406030204" pitchFamily="18" charset="0"/>
                                <a:cs typeface="Times New Roman" panose="02020603050405020304" pitchFamily="18" charset="0"/>
                              </a:rPr>
                              <m:t>𝑟</m:t>
                            </m:r>
                          </m:e>
                          <m:sub>
                            <m:r>
                              <a:rPr lang="en-GB" sz="3400" b="0" i="1" smtClean="0">
                                <a:effectLst/>
                                <a:latin typeface="Cambria Math" panose="02040503050406030204" pitchFamily="18" charset="0"/>
                                <a:cs typeface="Times New Roman" panose="02020603050405020304" pitchFamily="18" charset="0"/>
                              </a:rPr>
                              <m:t>0</m:t>
                            </m:r>
                          </m:sub>
                          <m:sup>
                            <m:r>
                              <a:rPr lang="en-GB" sz="3400" b="0" i="1" smtClean="0">
                                <a:effectLst/>
                                <a:latin typeface="Cambria Math" panose="02040503050406030204" pitchFamily="18" charset="0"/>
                                <a:cs typeface="Times New Roman" panose="02020603050405020304" pitchFamily="18" charset="0"/>
                              </a:rPr>
                              <m:t>2</m:t>
                            </m:r>
                          </m:sup>
                        </m:sSubSup>
                      </m:e>
                    </m:d>
                  </m:oMath>
                </a14:m>
                <a:endParaRPr lang="en-US"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Maximum Velocity (</a:t>
                </a:r>
                <a14:m>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GB" sz="2400" b="0" i="1" smtClean="0">
                            <a:latin typeface="Cambria Math" panose="02040503050406030204" pitchFamily="18" charset="0"/>
                            <a:cs typeface="Times New Roman" panose="02020603050405020304" pitchFamily="18" charset="0"/>
                          </a:rPr>
                          <m:t>𝑢</m:t>
                        </m:r>
                      </m:e>
                      <m:sub>
                        <m:r>
                          <a:rPr lang="en-GB" sz="2400" b="0" i="1" smtClean="0">
                            <a:latin typeface="Cambria Math" panose="02040503050406030204" pitchFamily="18" charset="0"/>
                            <a:cs typeface="Times New Roman" panose="02020603050405020304" pitchFamily="18" charset="0"/>
                          </a:rPr>
                          <m:t>𝑚𝑎𝑥</m:t>
                        </m:r>
                      </m:sub>
                    </m:sSub>
                  </m:oMath>
                </a14:m>
                <a:r>
                  <a:rPr lang="en-US" sz="2400" b="1" dirty="0">
                    <a:latin typeface="Times New Roman" panose="02020603050405020304" pitchFamily="18" charset="0"/>
                    <a:cs typeface="Times New Roman" panose="02020603050405020304" pitchFamily="18" charset="0"/>
                  </a:rPr>
                  <a:t>)</a:t>
                </a:r>
              </a:p>
              <a:p>
                <a:pPr marL="0" marR="0" indent="0">
                  <a:lnSpc>
                    <a:spcPct val="107000"/>
                  </a:lnSpc>
                  <a:spcBef>
                    <a:spcPts val="0"/>
                  </a:spcBef>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 velocity is maximum at the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centre</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of the pipe. That is, when </a:t>
                </a:r>
                <a:r>
                  <a:rPr lang="en-US" sz="2400" i="1" dirty="0">
                    <a:effectLst/>
                    <a:latin typeface="Times New Roman" panose="02020603050405020304" pitchFamily="18" charset="0"/>
                    <a:ea typeface="Times New Roman" panose="02020603050405020304" pitchFamily="18" charset="0"/>
                    <a:cs typeface="Times New Roman" panose="02020603050405020304" pitchFamily="18" charset="0"/>
                  </a:rPr>
                  <a:t>r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0</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518160"/>
                <a:ext cx="12192000" cy="2910840"/>
              </a:xfrm>
              <a:blipFill>
                <a:blip r:embed="rId3"/>
                <a:stretch>
                  <a:fillRect l="-750" t="-1674" r="-250"/>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BCBBFF6-B5DB-B9C4-BE94-2F16076F73BF}"/>
                  </a:ext>
                </a:extLst>
              </p:cNvPr>
              <p:cNvSpPr txBox="1"/>
              <p:nvPr/>
            </p:nvSpPr>
            <p:spPr>
              <a:xfrm>
                <a:off x="2473234" y="3359332"/>
                <a:ext cx="5190309" cy="9778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𝑢</m:t>
                          </m:r>
                        </m:e>
                        <m:sub>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𝑚𝑎𝑥</m:t>
                          </m:r>
                        </m:sub>
                      </m:sSub>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fPr>
                        <m:num>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m:t>
                          </m:r>
                        </m:num>
                        <m:den>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4</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𝜇</m:t>
                          </m:r>
                        </m:den>
                      </m:f>
                      <m:f>
                        <m:f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fPr>
                        <m:num>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𝑑𝑝</m:t>
                          </m:r>
                        </m:num>
                        <m:den>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𝑑𝑥</m:t>
                          </m:r>
                        </m:den>
                      </m:f>
                      <m:d>
                        <m:d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dPr>
                        <m:e>
                          <m:sSup>
                            <m:sSup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pPr>
                            <m:e>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0</m:t>
                              </m:r>
                            </m:e>
                            <m:sup>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2</m:t>
                              </m:r>
                            </m:sup>
                          </m:sSup>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sSubSup>
                            <m:sSubSup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SupPr>
                            <m:e>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𝑟</m:t>
                              </m:r>
                            </m:e>
                            <m:sub>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0</m:t>
                              </m:r>
                            </m:sub>
                            <m:sup>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2</m:t>
                              </m:r>
                            </m:sup>
                          </m:sSubSup>
                        </m:e>
                      </m:d>
                    </m:oMath>
                  </m:oMathPara>
                </a14:m>
                <a:endParaRPr lang="en-GH" sz="2800" dirty="0"/>
              </a:p>
            </p:txBody>
          </p:sp>
        </mc:Choice>
        <mc:Fallback xmlns="">
          <p:sp>
            <p:nvSpPr>
              <p:cNvPr id="11" name="TextBox 10">
                <a:extLst>
                  <a:ext uri="{FF2B5EF4-FFF2-40B4-BE49-F238E27FC236}">
                    <a16:creationId xmlns:a16="http://schemas.microsoft.com/office/drawing/2014/main" id="{2BCBBFF6-B5DB-B9C4-BE94-2F16076F73BF}"/>
                  </a:ext>
                </a:extLst>
              </p:cNvPr>
              <p:cNvSpPr txBox="1">
                <a:spLocks noRot="1" noChangeAspect="1" noMove="1" noResize="1" noEditPoints="1" noAdjustHandles="1" noChangeArrowheads="1" noChangeShapeType="1" noTextEdit="1"/>
              </p:cNvSpPr>
              <p:nvPr/>
            </p:nvSpPr>
            <p:spPr>
              <a:xfrm>
                <a:off x="2473234" y="3359332"/>
                <a:ext cx="5190309" cy="977896"/>
              </a:xfrm>
              <a:prstGeom prst="rect">
                <a:avLst/>
              </a:prstGeom>
              <a:blipFill>
                <a:blip r:embed="rId4"/>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A0B3FF2-8C30-510D-A951-4FC644A245BC}"/>
                  </a:ext>
                </a:extLst>
              </p:cNvPr>
              <p:cNvSpPr txBox="1"/>
              <p:nvPr/>
            </p:nvSpPr>
            <p:spPr>
              <a:xfrm>
                <a:off x="2116181" y="4652554"/>
                <a:ext cx="5190309" cy="103118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𝑢</m:t>
                          </m:r>
                        </m:e>
                        <m:sub>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𝑚𝑎𝑥</m:t>
                          </m:r>
                        </m:sub>
                      </m:sSub>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fPr>
                        <m:num>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m:t>
                          </m:r>
                        </m:num>
                        <m:den>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4</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𝜇</m:t>
                          </m:r>
                        </m:den>
                      </m:f>
                      <m:f>
                        <m:f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fPr>
                        <m:num>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𝑑𝑝</m:t>
                          </m:r>
                        </m:num>
                        <m:den>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𝑑𝑥</m:t>
                          </m:r>
                        </m:den>
                      </m:f>
                      <m:sSubSup>
                        <m:sSubSupPr>
                          <m:ctrlPr>
                            <a:rPr lang="en-GB" sz="2800" i="1">
                              <a:solidFill>
                                <a:prstClr val="black"/>
                              </a:solidFill>
                              <a:latin typeface="Cambria Math" panose="02040503050406030204" pitchFamily="18" charset="0"/>
                              <a:cs typeface="Times New Roman" panose="02020603050405020304" pitchFamily="18" charset="0"/>
                            </a:rPr>
                          </m:ctrlPr>
                        </m:sSubSupPr>
                        <m:e>
                          <m:r>
                            <a:rPr lang="en-GB" sz="2800" i="1">
                              <a:solidFill>
                                <a:prstClr val="black"/>
                              </a:solidFill>
                              <a:latin typeface="Cambria Math" panose="02040503050406030204" pitchFamily="18" charset="0"/>
                              <a:cs typeface="Times New Roman" panose="02020603050405020304" pitchFamily="18" charset="0"/>
                            </a:rPr>
                            <m:t>𝑟</m:t>
                          </m:r>
                        </m:e>
                        <m:sub>
                          <m:r>
                            <a:rPr lang="en-GB" sz="2800" i="1">
                              <a:solidFill>
                                <a:prstClr val="black"/>
                              </a:solidFill>
                              <a:latin typeface="Cambria Math" panose="02040503050406030204" pitchFamily="18" charset="0"/>
                              <a:cs typeface="Times New Roman" panose="02020603050405020304" pitchFamily="18" charset="0"/>
                            </a:rPr>
                            <m:t>0</m:t>
                          </m:r>
                        </m:sub>
                        <m:sup>
                          <m:r>
                            <a:rPr lang="en-GB" sz="2800" i="1">
                              <a:solidFill>
                                <a:prstClr val="black"/>
                              </a:solidFill>
                              <a:latin typeface="Cambria Math" panose="02040503050406030204" pitchFamily="18" charset="0"/>
                              <a:cs typeface="Times New Roman" panose="02020603050405020304" pitchFamily="18" charset="0"/>
                            </a:rPr>
                            <m:t>2</m:t>
                          </m:r>
                        </m:sup>
                      </m:sSubSup>
                      <m:r>
                        <a:rPr lang="en-GB" sz="2800" b="0" i="1" smtClean="0">
                          <a:solidFill>
                            <a:prstClr val="black"/>
                          </a:solidFill>
                          <a:latin typeface="Cambria Math" panose="02040503050406030204" pitchFamily="18" charset="0"/>
                          <a:cs typeface="Times New Roman" panose="02020603050405020304" pitchFamily="18" charset="0"/>
                        </a:rPr>
                        <m:t>=</m:t>
                      </m:r>
                      <m:r>
                        <a:rPr lang="en-GB" sz="2800" i="1">
                          <a:solidFill>
                            <a:prstClr val="black"/>
                          </a:solidFill>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a:solidFill>
                                <a:prstClr val="black"/>
                              </a:solidFill>
                              <a:latin typeface="Cambria Math" panose="02040503050406030204" pitchFamily="18" charset="0"/>
                              <a:cs typeface="Times New Roman" panose="02020603050405020304" pitchFamily="18" charset="0"/>
                            </a:rPr>
                          </m:ctrlPr>
                        </m:fPr>
                        <m:num>
                          <m:sSubSup>
                            <m:sSubSupPr>
                              <m:ctrlPr>
                                <a:rPr lang="en-GB" sz="2800" i="1">
                                  <a:solidFill>
                                    <a:prstClr val="black"/>
                                  </a:solidFill>
                                  <a:latin typeface="Cambria Math" panose="02040503050406030204" pitchFamily="18" charset="0"/>
                                  <a:cs typeface="Times New Roman" panose="02020603050405020304" pitchFamily="18" charset="0"/>
                                </a:rPr>
                              </m:ctrlPr>
                            </m:sSubSupPr>
                            <m:e>
                              <m:r>
                                <a:rPr lang="en-GB" sz="2800" i="1">
                                  <a:solidFill>
                                    <a:prstClr val="black"/>
                                  </a:solidFill>
                                  <a:latin typeface="Cambria Math" panose="02040503050406030204" pitchFamily="18" charset="0"/>
                                  <a:cs typeface="Times New Roman" panose="02020603050405020304" pitchFamily="18" charset="0"/>
                                </a:rPr>
                                <m:t>𝑟</m:t>
                              </m:r>
                            </m:e>
                            <m:sub>
                              <m:r>
                                <a:rPr lang="en-GB" sz="2800" i="1">
                                  <a:solidFill>
                                    <a:prstClr val="black"/>
                                  </a:solidFill>
                                  <a:latin typeface="Cambria Math" panose="02040503050406030204" pitchFamily="18" charset="0"/>
                                  <a:cs typeface="Times New Roman" panose="02020603050405020304" pitchFamily="18" charset="0"/>
                                </a:rPr>
                                <m:t>0</m:t>
                              </m:r>
                            </m:sub>
                            <m:sup>
                              <m:r>
                                <a:rPr lang="en-GB" sz="2800" i="1">
                                  <a:solidFill>
                                    <a:prstClr val="black"/>
                                  </a:solidFill>
                                  <a:latin typeface="Cambria Math" panose="02040503050406030204" pitchFamily="18" charset="0"/>
                                  <a:cs typeface="Times New Roman" panose="02020603050405020304" pitchFamily="18" charset="0"/>
                                </a:rPr>
                                <m:t>2</m:t>
                              </m:r>
                            </m:sup>
                          </m:sSubSup>
                        </m:num>
                        <m:den>
                          <m:r>
                            <a:rPr lang="en-GB" sz="2800" i="1">
                              <a:solidFill>
                                <a:prstClr val="black"/>
                              </a:solidFill>
                              <a:latin typeface="Cambria Math" panose="02040503050406030204" pitchFamily="18" charset="0"/>
                              <a:cs typeface="Times New Roman" panose="02020603050405020304" pitchFamily="18" charset="0"/>
                            </a:rPr>
                            <m:t>4</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den>
                      </m:f>
                      <m:f>
                        <m:fPr>
                          <m:ctrlPr>
                            <a:rPr lang="en-GB" sz="2800" i="1">
                              <a:solidFill>
                                <a:prstClr val="black"/>
                              </a:solidFill>
                              <a:latin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cs typeface="Times New Roman" panose="02020603050405020304" pitchFamily="18" charset="0"/>
                            </a:rPr>
                            <m:t>𝑑𝑝</m:t>
                          </m:r>
                        </m:num>
                        <m:den>
                          <m:r>
                            <a:rPr lang="en-GB" sz="2800" i="1">
                              <a:solidFill>
                                <a:prstClr val="black"/>
                              </a:solidFill>
                              <a:latin typeface="Cambria Math" panose="02040503050406030204" pitchFamily="18" charset="0"/>
                              <a:cs typeface="Times New Roman" panose="02020603050405020304" pitchFamily="18" charset="0"/>
                            </a:rPr>
                            <m:t>𝑑𝑥</m:t>
                          </m:r>
                        </m:den>
                      </m:f>
                    </m:oMath>
                  </m:oMathPara>
                </a14:m>
                <a:endParaRPr lang="en-GH" sz="2800" dirty="0"/>
              </a:p>
            </p:txBody>
          </p:sp>
        </mc:Choice>
        <mc:Fallback xmlns="">
          <p:sp>
            <p:nvSpPr>
              <p:cNvPr id="12" name="TextBox 11">
                <a:extLst>
                  <a:ext uri="{FF2B5EF4-FFF2-40B4-BE49-F238E27FC236}">
                    <a16:creationId xmlns:a16="http://schemas.microsoft.com/office/drawing/2014/main" id="{9A0B3FF2-8C30-510D-A951-4FC644A245BC}"/>
                  </a:ext>
                </a:extLst>
              </p:cNvPr>
              <p:cNvSpPr txBox="1">
                <a:spLocks noRot="1" noChangeAspect="1" noMove="1" noResize="1" noEditPoints="1" noAdjustHandles="1" noChangeArrowheads="1" noChangeShapeType="1" noTextEdit="1"/>
              </p:cNvSpPr>
              <p:nvPr/>
            </p:nvSpPr>
            <p:spPr>
              <a:xfrm>
                <a:off x="2116181" y="4652554"/>
                <a:ext cx="5190309" cy="1031180"/>
              </a:xfrm>
              <a:prstGeom prst="rect">
                <a:avLst/>
              </a:prstGeom>
              <a:blipFill>
                <a:blip r:embed="rId5"/>
                <a:stretch>
                  <a:fillRect/>
                </a:stretch>
              </a:blipFill>
            </p:spPr>
            <p:txBody>
              <a:bodyPr/>
              <a:lstStyle/>
              <a:p>
                <a:r>
                  <a:rPr lang="en-GH">
                    <a:noFill/>
                  </a:rPr>
                  <a:t> </a:t>
                </a:r>
              </a:p>
            </p:txBody>
          </p:sp>
        </mc:Fallback>
      </mc:AlternateContent>
    </p:spTree>
    <p:extLst>
      <p:ext uri="{BB962C8B-B14F-4D97-AF65-F5344CB8AC3E}">
        <p14:creationId xmlns:p14="http://schemas.microsoft.com/office/powerpoint/2010/main" val="1520684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7120" y="1"/>
            <a:ext cx="7477760" cy="487680"/>
          </a:xfrm>
        </p:spPr>
        <p:txBody>
          <a:bodyPr>
            <a:normAutofit fontScale="90000"/>
          </a:bodyPr>
          <a:lstStyle/>
          <a:p>
            <a:pPr lvl="0" indent="-228600" algn="ctr">
              <a:lnSpc>
                <a:spcPct val="107000"/>
              </a:lnSpc>
              <a:spcBef>
                <a:spcPts val="0"/>
              </a:spcBef>
              <a:spcAft>
                <a:spcPts val="800"/>
              </a:spcAft>
              <a:tabLst>
                <a:tab pos="3447415" algn="l"/>
              </a:tabLst>
            </a:pPr>
            <a:r>
              <a:rPr lang="en-US" sz="2800" dirty="0">
                <a:solidFill>
                  <a:prstClr val="black"/>
                </a:solidFill>
                <a:latin typeface="Times New Roman" panose="02020603050405020304" pitchFamily="18" charset="0"/>
                <a:ea typeface="Times New Roman" panose="02020603050405020304" pitchFamily="18" charset="0"/>
              </a:rPr>
              <a:t> </a:t>
            </a:r>
            <a:r>
              <a:rPr lang="en-US" sz="2800" b="1" dirty="0">
                <a:solidFill>
                  <a:prstClr val="black"/>
                </a:solidFill>
                <a:latin typeface="Times New Roman" panose="02020603050405020304" pitchFamily="18" charset="0"/>
                <a:ea typeface="Times New Roman" panose="02020603050405020304" pitchFamily="18" charset="0"/>
              </a:rPr>
              <a:t>OTHER</a:t>
            </a:r>
            <a:r>
              <a:rPr lang="en-US" sz="2800" dirty="0">
                <a:solidFill>
                  <a:prstClr val="black"/>
                </a:solidFill>
                <a:latin typeface="Times New Roman" panose="02020603050405020304" pitchFamily="18" charset="0"/>
                <a:ea typeface="Times New Roman" panose="02020603050405020304" pitchFamily="18" charset="0"/>
              </a:rPr>
              <a:t> </a:t>
            </a:r>
            <a:r>
              <a:rPr lang="en-US" sz="2800" b="1" dirty="0">
                <a:solidFill>
                  <a:prstClr val="black"/>
                </a:solidFill>
                <a:latin typeface="Times New Roman" panose="02020603050405020304" pitchFamily="18" charset="0"/>
                <a:ea typeface="Times New Roman" panose="02020603050405020304" pitchFamily="18" charset="0"/>
              </a:rPr>
              <a:t>PIPE FLOW QUANTITIES </a:t>
            </a:r>
            <a:endParaRPr lang="en-US" sz="28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518160"/>
                <a:ext cx="12192000" cy="3722914"/>
              </a:xfrm>
            </p:spPr>
            <p:txBody>
              <a:bodyPr>
                <a:normAutofit/>
              </a:bodyPr>
              <a:lstStyle/>
              <a:p>
                <a:pPr marL="0" marR="0" indent="0">
                  <a:lnSpc>
                    <a:spcPct val="107000"/>
                  </a:lnSpc>
                  <a:spcBef>
                    <a:spcPts val="0"/>
                  </a:spcBef>
                  <a:buNone/>
                </a:pPr>
                <a14:m>
                  <m:oMathPara xmlns:m="http://schemas.openxmlformats.org/officeDocument/2006/math">
                    <m:oMathParaPr>
                      <m:jc m:val="centerGroup"/>
                    </m:oMathParaPr>
                    <m:oMath xmlns:m="http://schemas.openxmlformats.org/officeDocument/2006/math">
                      <m:r>
                        <a:rPr lang="en-US" i="1">
                          <a:effectLst/>
                          <a:latin typeface="Cambria Math" panose="02040503050406030204" pitchFamily="18" charset="0"/>
                          <a:ea typeface="Times New Roman" panose="02020603050405020304" pitchFamily="18" charset="0"/>
                          <a:cs typeface="Times New Roman" panose="02020603050405020304" pitchFamily="18" charset="0"/>
                        </a:rPr>
                        <m:t>𝑢</m:t>
                      </m:r>
                      <m:d>
                        <m:dPr>
                          <m:ctrlPr>
                            <a:rPr lang="en-US" i="1">
                              <a:effectLst/>
                              <a:latin typeface="Cambria Math" panose="02040503050406030204" pitchFamily="18" charset="0"/>
                              <a:ea typeface="Times New Roman" panose="02020603050405020304" pitchFamily="18" charset="0"/>
                            </a:rPr>
                          </m:ctrlPr>
                        </m:dPr>
                        <m:e>
                          <m:r>
                            <a:rPr lang="en-US" i="1">
                              <a:effectLst/>
                              <a:latin typeface="Cambria Math" panose="02040503050406030204" pitchFamily="18" charset="0"/>
                              <a:ea typeface="Times New Roman" panose="02020603050405020304" pitchFamily="18" charset="0"/>
                              <a:cs typeface="Times New Roman" panose="02020603050405020304" pitchFamily="18" charset="0"/>
                            </a:rPr>
                            <m:t>𝑟</m:t>
                          </m:r>
                        </m:e>
                      </m:d>
                      <m:r>
                        <a:rPr lang="en-US"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i="1">
                              <a:effectLst/>
                              <a:latin typeface="Cambria Math" panose="02040503050406030204" pitchFamily="18" charset="0"/>
                              <a:ea typeface="Times New Roman" panose="02020603050405020304" pitchFamily="18" charset="0"/>
                            </a:rPr>
                          </m:ctrlPr>
                        </m:fPr>
                        <m:num>
                          <m:r>
                            <a:rPr lang="en-US"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i="1">
                              <a:effectLst/>
                              <a:latin typeface="Cambria Math" panose="02040503050406030204" pitchFamily="18" charset="0"/>
                              <a:ea typeface="Times New Roman" panose="02020603050405020304" pitchFamily="18" charset="0"/>
                              <a:cs typeface="Times New Roman" panose="02020603050405020304" pitchFamily="18" charset="0"/>
                            </a:rPr>
                            <m:t>4</m:t>
                          </m:r>
                          <m:r>
                            <a:rPr lang="en-US" i="1">
                              <a:effectLst/>
                              <a:latin typeface="Cambria Math" panose="02040503050406030204" pitchFamily="18" charset="0"/>
                              <a:ea typeface="Times New Roman" panose="02020603050405020304" pitchFamily="18" charset="0"/>
                              <a:cs typeface="Times New Roman" panose="02020603050405020304" pitchFamily="18" charset="0"/>
                            </a:rPr>
                            <m:t>𝜇</m:t>
                          </m:r>
                        </m:den>
                      </m:f>
                      <m:f>
                        <m:fPr>
                          <m:ctrlPr>
                            <a:rPr lang="en-US" i="1">
                              <a:effectLst/>
                              <a:latin typeface="Cambria Math" panose="02040503050406030204" pitchFamily="18" charset="0"/>
                              <a:ea typeface="Times New Roman" panose="02020603050405020304" pitchFamily="18" charset="0"/>
                            </a:rPr>
                          </m:ctrlPr>
                        </m:fPr>
                        <m:num>
                          <m:r>
                            <a:rPr lang="en-US" i="1">
                              <a:effectLst/>
                              <a:latin typeface="Cambria Math" panose="02040503050406030204" pitchFamily="18" charset="0"/>
                              <a:ea typeface="Times New Roman" panose="02020603050405020304" pitchFamily="18" charset="0"/>
                              <a:cs typeface="Times New Roman" panose="02020603050405020304" pitchFamily="18" charset="0"/>
                            </a:rPr>
                            <m:t>𝑑</m:t>
                          </m:r>
                          <m:r>
                            <a:rPr lang="en-GB" b="0" i="1" smtClean="0">
                              <a:effectLst/>
                              <a:latin typeface="Cambria Math" panose="02040503050406030204" pitchFamily="18" charset="0"/>
                              <a:ea typeface="Times New Roman" panose="02020603050405020304" pitchFamily="18" charset="0"/>
                              <a:cs typeface="Times New Roman" panose="02020603050405020304" pitchFamily="18" charset="0"/>
                            </a:rPr>
                            <m:t>𝑝</m:t>
                          </m:r>
                        </m:num>
                        <m:den>
                          <m:r>
                            <a:rPr lang="en-US" i="1">
                              <a:effectLst/>
                              <a:latin typeface="Cambria Math" panose="02040503050406030204" pitchFamily="18" charset="0"/>
                              <a:ea typeface="Times New Roman" panose="02020603050405020304" pitchFamily="18" charset="0"/>
                              <a:cs typeface="Times New Roman" panose="02020603050405020304" pitchFamily="18" charset="0"/>
                            </a:rPr>
                            <m:t>𝑑𝑥</m:t>
                          </m:r>
                        </m:den>
                      </m:f>
                      <m:d>
                        <m:dPr>
                          <m:ctrlPr>
                            <a:rPr lang="en-US" i="1">
                              <a:effectLst/>
                              <a:latin typeface="Cambria Math" panose="02040503050406030204" pitchFamily="18" charset="0"/>
                              <a:ea typeface="Times New Roman" panose="02020603050405020304" pitchFamily="18" charset="0"/>
                            </a:rPr>
                          </m:ctrlPr>
                        </m:dPr>
                        <m:e>
                          <m:sSup>
                            <m:sSupPr>
                              <m:ctrlPr>
                                <a:rPr lang="en-US" i="1">
                                  <a:effectLst/>
                                  <a:latin typeface="Cambria Math" panose="02040503050406030204" pitchFamily="18" charset="0"/>
                                  <a:ea typeface="Times New Roman" panose="02020603050405020304" pitchFamily="18" charset="0"/>
                                </a:rPr>
                              </m:ctrlPr>
                            </m:sSupPr>
                            <m:e>
                              <m:r>
                                <a:rPr lang="en-US" i="1">
                                  <a:effectLst/>
                                  <a:latin typeface="Cambria Math" panose="02040503050406030204" pitchFamily="18" charset="0"/>
                                  <a:ea typeface="Times New Roman" panose="02020603050405020304" pitchFamily="18" charset="0"/>
                                  <a:cs typeface="Times New Roman" panose="02020603050405020304" pitchFamily="18" charset="0"/>
                                </a:rPr>
                                <m:t>𝑟</m:t>
                              </m:r>
                            </m:e>
                            <m:sup>
                              <m:r>
                                <a:rPr lang="en-US"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n-US" i="1" smtClean="0">
                                  <a:effectLst/>
                                  <a:latin typeface="Cambria Math" panose="02040503050406030204" pitchFamily="18" charset="0"/>
                                  <a:cs typeface="Times New Roman" panose="02020603050405020304" pitchFamily="18" charset="0"/>
                                </a:rPr>
                              </m:ctrlPr>
                            </m:sSubSupPr>
                            <m:e>
                              <m:r>
                                <a:rPr lang="en-GB" b="0" i="1" smtClean="0">
                                  <a:effectLst/>
                                  <a:latin typeface="Cambria Math" panose="02040503050406030204" pitchFamily="18" charset="0"/>
                                  <a:cs typeface="Times New Roman" panose="02020603050405020304" pitchFamily="18" charset="0"/>
                                </a:rPr>
                                <m:t>𝑟</m:t>
                              </m:r>
                            </m:e>
                            <m:sub>
                              <m:r>
                                <a:rPr lang="en-GB" b="0" i="1" smtClean="0">
                                  <a:effectLst/>
                                  <a:latin typeface="Cambria Math" panose="02040503050406030204" pitchFamily="18" charset="0"/>
                                  <a:cs typeface="Times New Roman" panose="02020603050405020304" pitchFamily="18" charset="0"/>
                                </a:rPr>
                                <m:t>0</m:t>
                              </m:r>
                            </m:sub>
                            <m:sup>
                              <m:r>
                                <a:rPr lang="en-GB" b="0" i="1" smtClean="0">
                                  <a:effectLst/>
                                  <a:latin typeface="Cambria Math" panose="02040503050406030204" pitchFamily="18" charset="0"/>
                                  <a:cs typeface="Times New Roman" panose="02020603050405020304" pitchFamily="18" charset="0"/>
                                </a:rPr>
                                <m:t>2</m:t>
                              </m:r>
                            </m:sup>
                          </m:sSubSup>
                        </m:e>
                      </m:d>
                    </m:oMath>
                  </m:oMathPara>
                </a14:m>
                <a:endParaRPr lang="en-US"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Volume Flow Rate</a:t>
                </a:r>
              </a:p>
              <a:p>
                <a:pPr marL="0" marR="0" indent="0">
                  <a:lnSpc>
                    <a:spcPct val="107000"/>
                  </a:lnSpc>
                  <a:spcBef>
                    <a:spcPts val="0"/>
                  </a:spcBef>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 discharge or volume flow rate through an element of area </a:t>
                </a:r>
                <a:r>
                  <a:rPr lang="en-US" sz="2400" i="1" dirty="0" err="1">
                    <a:effectLst/>
                    <a:latin typeface="Times New Roman" panose="02020603050405020304" pitchFamily="18" charset="0"/>
                    <a:ea typeface="Times New Roman" panose="02020603050405020304" pitchFamily="18" charset="0"/>
                    <a:cs typeface="Times New Roman" panose="02020603050405020304" pitchFamily="18" charset="0"/>
                  </a:rPr>
                  <a:t>dA</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thickness </a:t>
                </a:r>
                <a:r>
                  <a:rPr lang="en-US" sz="2400" i="1" dirty="0" err="1">
                    <a:effectLst/>
                    <a:latin typeface="Times New Roman" panose="02020603050405020304" pitchFamily="18" charset="0"/>
                    <a:ea typeface="Times New Roman" panose="02020603050405020304" pitchFamily="18" charset="0"/>
                    <a:cs typeface="Times New Roman" panose="02020603050405020304" pitchFamily="18" charset="0"/>
                  </a:rPr>
                  <a:t>dr</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 radius </a:t>
                </a:r>
                <a:r>
                  <a:rPr lang="en-US" sz="2400" i="1" dirty="0">
                    <a:effectLst/>
                    <a:latin typeface="Times New Roman" panose="02020603050405020304" pitchFamily="18" charset="0"/>
                    <a:ea typeface="Times New Roman" panose="02020603050405020304" pitchFamily="18" charset="0"/>
                    <a:cs typeface="Times New Roman" panose="02020603050405020304" pitchFamily="18" charset="0"/>
                  </a:rPr>
                  <a:t>r</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from the pipe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centre</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is given by </a:t>
                </a:r>
              </a:p>
              <a:p>
                <a:pPr marL="0" marR="0" indent="0">
                  <a:lnSpc>
                    <a:spcPct val="107000"/>
                  </a:lnSpc>
                  <a:spcBef>
                    <a:spcPts val="0"/>
                  </a:spcBef>
                  <a:spcAft>
                    <a:spcPts val="800"/>
                  </a:spcAft>
                  <a:buNone/>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𝑑𝑄</m:t>
                    </m:r>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rPr>
                      <m:t>𝑢𝑑𝐴</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rPr>
                      <m:t>=</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rPr>
                      <m:t>𝑢</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rPr>
                      <m:t>.2</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𝜋</m:t>
                    </m:r>
                    <m:r>
                      <a:rPr kumimoji="0" lang="en-GB"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𝑟𝑑𝑟</m:t>
                    </m:r>
                  </m:oMath>
                </a14:m>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518160"/>
                <a:ext cx="12192000" cy="3722914"/>
              </a:xfrm>
              <a:blipFill>
                <a:blip r:embed="rId3"/>
                <a:stretch>
                  <a:fillRect l="-750"/>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C44DBB3-42D3-2DBE-2056-76C5DF7E8199}"/>
                  </a:ext>
                </a:extLst>
              </p:cNvPr>
              <p:cNvSpPr txBox="1"/>
              <p:nvPr/>
            </p:nvSpPr>
            <p:spPr>
              <a:xfrm>
                <a:off x="0" y="4241074"/>
                <a:ext cx="4572000" cy="9778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𝑑𝑄</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fPr>
                        <m:num>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m:t>
                          </m:r>
                        </m:num>
                        <m:den>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4</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𝜇</m:t>
                          </m:r>
                        </m:den>
                      </m:f>
                      <m:f>
                        <m:f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fPr>
                        <m:num>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𝑑𝑝</m:t>
                          </m:r>
                        </m:num>
                        <m:den>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𝑑𝑥</m:t>
                          </m:r>
                        </m:den>
                      </m:f>
                      <m:d>
                        <m:d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dPr>
                        <m:e>
                          <m:sSup>
                            <m:sSup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pPr>
                            <m:e>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𝑟</m:t>
                              </m:r>
                            </m:e>
                            <m:sup>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2</m:t>
                              </m:r>
                            </m:sup>
                          </m:sSup>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sSubSup>
                            <m:sSubSup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SupPr>
                            <m:e>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𝑟</m:t>
                              </m:r>
                            </m:e>
                            <m:sub>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0</m:t>
                              </m:r>
                            </m:sub>
                            <m:sup>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2</m:t>
                              </m:r>
                            </m:sup>
                          </m:sSubSup>
                        </m:e>
                      </m:d>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rPr>
                        <m:t>.2</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𝜋</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𝑟𝑑𝑟</m:t>
                      </m:r>
                    </m:oMath>
                  </m:oMathPara>
                </a14:m>
                <a:endParaRPr lang="en-GH" sz="2800" dirty="0"/>
              </a:p>
            </p:txBody>
          </p:sp>
        </mc:Choice>
        <mc:Fallback xmlns="">
          <p:sp>
            <p:nvSpPr>
              <p:cNvPr id="4" name="TextBox 3">
                <a:extLst>
                  <a:ext uri="{FF2B5EF4-FFF2-40B4-BE49-F238E27FC236}">
                    <a16:creationId xmlns:a16="http://schemas.microsoft.com/office/drawing/2014/main" id="{DC44DBB3-42D3-2DBE-2056-76C5DF7E8199}"/>
                  </a:ext>
                </a:extLst>
              </p:cNvPr>
              <p:cNvSpPr txBox="1">
                <a:spLocks noRot="1" noChangeAspect="1" noMove="1" noResize="1" noEditPoints="1" noAdjustHandles="1" noChangeArrowheads="1" noChangeShapeType="1" noTextEdit="1"/>
              </p:cNvSpPr>
              <p:nvPr/>
            </p:nvSpPr>
            <p:spPr>
              <a:xfrm>
                <a:off x="0" y="4241074"/>
                <a:ext cx="4572000" cy="977896"/>
              </a:xfrm>
              <a:prstGeom prst="rect">
                <a:avLst/>
              </a:prstGeom>
              <a:blipFill>
                <a:blip r:embed="rId4"/>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56CE550-8FBA-7C73-85BD-CEE034BF2648}"/>
                  </a:ext>
                </a:extLst>
              </p:cNvPr>
              <p:cNvSpPr txBox="1"/>
              <p:nvPr/>
            </p:nvSpPr>
            <p:spPr>
              <a:xfrm>
                <a:off x="0" y="5361944"/>
                <a:ext cx="4572000" cy="9778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𝑑𝑄</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ea typeface="Cambria Math" panose="02040503050406030204" pitchFamily="18" charset="0"/>
                            </a:rPr>
                            <m:t>𝜋</m:t>
                          </m:r>
                        </m:num>
                        <m:den>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2</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𝜇</m:t>
                          </m:r>
                        </m:den>
                      </m:f>
                      <m:f>
                        <m:f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fPr>
                        <m:num>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𝑑𝑝</m:t>
                          </m:r>
                        </m:num>
                        <m:den>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𝑑𝑥</m:t>
                          </m:r>
                        </m:den>
                      </m:f>
                      <m:d>
                        <m:d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dPr>
                        <m:e>
                          <m:sSup>
                            <m:sSup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pPr>
                            <m:e>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𝑟</m:t>
                              </m:r>
                            </m:e>
                            <m:sup>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3</m:t>
                              </m:r>
                            </m:sup>
                          </m:sSup>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sSubSup>
                            <m:sSubSup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SupPr>
                            <m:e>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𝑟</m:t>
                              </m:r>
                            </m:e>
                            <m:sub>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0</m:t>
                              </m:r>
                            </m:sub>
                            <m:sup>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2</m:t>
                              </m:r>
                            </m:sup>
                          </m:sSubSup>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𝑟</m:t>
                          </m:r>
                        </m:e>
                      </m:d>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𝑑𝑟</m:t>
                      </m:r>
                    </m:oMath>
                  </m:oMathPara>
                </a14:m>
                <a:endParaRPr lang="en-GH" sz="2800" dirty="0"/>
              </a:p>
            </p:txBody>
          </p:sp>
        </mc:Choice>
        <mc:Fallback xmlns="">
          <p:sp>
            <p:nvSpPr>
              <p:cNvPr id="5" name="TextBox 4">
                <a:extLst>
                  <a:ext uri="{FF2B5EF4-FFF2-40B4-BE49-F238E27FC236}">
                    <a16:creationId xmlns:a16="http://schemas.microsoft.com/office/drawing/2014/main" id="{B56CE550-8FBA-7C73-85BD-CEE034BF2648}"/>
                  </a:ext>
                </a:extLst>
              </p:cNvPr>
              <p:cNvSpPr txBox="1">
                <a:spLocks noRot="1" noChangeAspect="1" noMove="1" noResize="1" noEditPoints="1" noAdjustHandles="1" noChangeArrowheads="1" noChangeShapeType="1" noTextEdit="1"/>
              </p:cNvSpPr>
              <p:nvPr/>
            </p:nvSpPr>
            <p:spPr>
              <a:xfrm>
                <a:off x="0" y="5361944"/>
                <a:ext cx="4572000" cy="977896"/>
              </a:xfrm>
              <a:prstGeom prst="rect">
                <a:avLst/>
              </a:prstGeom>
              <a:blipFill>
                <a:blip r:embed="rId5"/>
                <a:stretch>
                  <a:fillRect/>
                </a:stretch>
              </a:blipFill>
            </p:spPr>
            <p:txBody>
              <a:bodyPr/>
              <a:lstStyle/>
              <a:p>
                <a:r>
                  <a:rPr lang="en-GH">
                    <a:noFill/>
                  </a:rPr>
                  <a:t> </a:t>
                </a:r>
              </a:p>
            </p:txBody>
          </p:sp>
        </mc:Fallback>
      </mc:AlternateContent>
      <p:cxnSp>
        <p:nvCxnSpPr>
          <p:cNvPr id="7" name="Straight Connector 6">
            <a:extLst>
              <a:ext uri="{FF2B5EF4-FFF2-40B4-BE49-F238E27FC236}">
                <a16:creationId xmlns:a16="http://schemas.microsoft.com/office/drawing/2014/main" id="{E0605EA5-8E34-C550-972F-5E8EFA8D854E}"/>
              </a:ext>
            </a:extLst>
          </p:cNvPr>
          <p:cNvCxnSpPr>
            <a:cxnSpLocks/>
          </p:cNvCxnSpPr>
          <p:nvPr/>
        </p:nvCxnSpPr>
        <p:spPr>
          <a:xfrm>
            <a:off x="4963885" y="2725783"/>
            <a:ext cx="0" cy="3918857"/>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9ADD51D-2791-04B6-EDF3-780CC0B010AA}"/>
                  </a:ext>
                </a:extLst>
              </p:cNvPr>
              <p:cNvSpPr txBox="1"/>
              <p:nvPr/>
            </p:nvSpPr>
            <p:spPr>
              <a:xfrm>
                <a:off x="5124993" y="2815413"/>
                <a:ext cx="5255623" cy="102605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𝑄</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nary>
                        <m:nary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naryPr>
                        <m:sub>
                          <m:r>
                            <m:rPr>
                              <m:brk m:alnAt="23"/>
                            </m:r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0</m:t>
                          </m:r>
                        </m:sub>
                        <m:sup>
                          <m:sSub>
                            <m:sSub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𝑟</m:t>
                              </m:r>
                            </m:e>
                            <m:sub>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0</m:t>
                              </m:r>
                            </m:sub>
                          </m:sSub>
                        </m:sup>
                        <m:e>
                          <m:f>
                            <m:fPr>
                              <m:ctrlPr>
                                <a:rPr lang="en-GB" sz="2800" i="1">
                                  <a:solidFill>
                                    <a:prstClr val="black"/>
                                  </a:solidFill>
                                  <a:latin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ea typeface="Cambria Math" panose="02040503050406030204" pitchFamily="18" charset="0"/>
                                </a:rPr>
                                <m:t>𝜋</m:t>
                              </m:r>
                            </m:num>
                            <m:den>
                              <m:r>
                                <a:rPr lang="en-GB" sz="2800" i="1">
                                  <a:solidFill>
                                    <a:prstClr val="black"/>
                                  </a:solidFill>
                                  <a:latin typeface="Cambria Math" panose="02040503050406030204" pitchFamily="18" charset="0"/>
                                  <a:cs typeface="Times New Roman" panose="02020603050405020304" pitchFamily="18" charset="0"/>
                                </a:rPr>
                                <m:t>2</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den>
                          </m:f>
                          <m:f>
                            <m:fPr>
                              <m:ctrlPr>
                                <a:rPr lang="en-GB" sz="2800" i="1">
                                  <a:solidFill>
                                    <a:prstClr val="black"/>
                                  </a:solidFill>
                                  <a:latin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cs typeface="Times New Roman" panose="02020603050405020304" pitchFamily="18" charset="0"/>
                                </a:rPr>
                                <m:t>𝑑𝑝</m:t>
                              </m:r>
                            </m:num>
                            <m:den>
                              <m:r>
                                <a:rPr lang="en-GB" sz="2800" i="1">
                                  <a:solidFill>
                                    <a:prstClr val="black"/>
                                  </a:solidFill>
                                  <a:latin typeface="Cambria Math" panose="02040503050406030204" pitchFamily="18" charset="0"/>
                                  <a:cs typeface="Times New Roman" panose="02020603050405020304" pitchFamily="18" charset="0"/>
                                </a:rPr>
                                <m:t>𝑑𝑥</m:t>
                              </m:r>
                            </m:den>
                          </m:f>
                          <m:d>
                            <m:dPr>
                              <m:ctrlPr>
                                <a:rPr lang="en-GB" sz="2800" i="1">
                                  <a:solidFill>
                                    <a:prstClr val="black"/>
                                  </a:solidFill>
                                  <a:latin typeface="Cambria Math" panose="02040503050406030204" pitchFamily="18" charset="0"/>
                                  <a:cs typeface="Times New Roman" panose="02020603050405020304" pitchFamily="18" charset="0"/>
                                </a:rPr>
                              </m:ctrlPr>
                            </m:dPr>
                            <m:e>
                              <m:sSup>
                                <m:sSupPr>
                                  <m:ctrlPr>
                                    <a:rPr lang="en-GB" sz="2800" i="1">
                                      <a:solidFill>
                                        <a:prstClr val="black"/>
                                      </a:solidFill>
                                      <a:latin typeface="Cambria Math" panose="02040503050406030204" pitchFamily="18" charset="0"/>
                                      <a:cs typeface="Times New Roman" panose="02020603050405020304" pitchFamily="18" charset="0"/>
                                    </a:rPr>
                                  </m:ctrlPr>
                                </m:sSupPr>
                                <m:e>
                                  <m:r>
                                    <a:rPr lang="en-GB" sz="2800" i="1">
                                      <a:solidFill>
                                        <a:prstClr val="black"/>
                                      </a:solidFill>
                                      <a:latin typeface="Cambria Math" panose="02040503050406030204" pitchFamily="18" charset="0"/>
                                      <a:cs typeface="Times New Roman" panose="02020603050405020304" pitchFamily="18" charset="0"/>
                                    </a:rPr>
                                    <m:t>𝑟</m:t>
                                  </m:r>
                                </m:e>
                                <m:sup>
                                  <m:r>
                                    <a:rPr lang="en-GB" sz="2800" i="1">
                                      <a:solidFill>
                                        <a:prstClr val="black"/>
                                      </a:solidFill>
                                      <a:latin typeface="Cambria Math" panose="02040503050406030204" pitchFamily="18" charset="0"/>
                                      <a:cs typeface="Times New Roman" panose="02020603050405020304" pitchFamily="18" charset="0"/>
                                    </a:rPr>
                                    <m:t>3</m:t>
                                  </m:r>
                                </m:sup>
                              </m:sSup>
                              <m:r>
                                <a:rPr lang="en-GB" sz="2800" i="1">
                                  <a:solidFill>
                                    <a:prstClr val="black"/>
                                  </a:solidFill>
                                  <a:latin typeface="Cambria Math" panose="02040503050406030204" pitchFamily="18" charset="0"/>
                                  <a:cs typeface="Times New Roman" panose="02020603050405020304" pitchFamily="18" charset="0"/>
                                </a:rPr>
                                <m:t>−</m:t>
                              </m:r>
                              <m:sSubSup>
                                <m:sSubSupPr>
                                  <m:ctrlPr>
                                    <a:rPr lang="en-GB" sz="2800" i="1">
                                      <a:solidFill>
                                        <a:prstClr val="black"/>
                                      </a:solidFill>
                                      <a:latin typeface="Cambria Math" panose="02040503050406030204" pitchFamily="18" charset="0"/>
                                      <a:cs typeface="Times New Roman" panose="02020603050405020304" pitchFamily="18" charset="0"/>
                                    </a:rPr>
                                  </m:ctrlPr>
                                </m:sSubSupPr>
                                <m:e>
                                  <m:r>
                                    <a:rPr lang="en-GB" sz="2800" i="1">
                                      <a:solidFill>
                                        <a:prstClr val="black"/>
                                      </a:solidFill>
                                      <a:latin typeface="Cambria Math" panose="02040503050406030204" pitchFamily="18" charset="0"/>
                                      <a:cs typeface="Times New Roman" panose="02020603050405020304" pitchFamily="18" charset="0"/>
                                    </a:rPr>
                                    <m:t>𝑟</m:t>
                                  </m:r>
                                </m:e>
                                <m:sub>
                                  <m:r>
                                    <a:rPr lang="en-GB" sz="2800" i="1">
                                      <a:solidFill>
                                        <a:prstClr val="black"/>
                                      </a:solidFill>
                                      <a:latin typeface="Cambria Math" panose="02040503050406030204" pitchFamily="18" charset="0"/>
                                      <a:cs typeface="Times New Roman" panose="02020603050405020304" pitchFamily="18" charset="0"/>
                                    </a:rPr>
                                    <m:t>0</m:t>
                                  </m:r>
                                </m:sub>
                                <m:sup>
                                  <m:r>
                                    <a:rPr lang="en-GB" sz="2800" i="1">
                                      <a:solidFill>
                                        <a:prstClr val="black"/>
                                      </a:solidFill>
                                      <a:latin typeface="Cambria Math" panose="02040503050406030204" pitchFamily="18" charset="0"/>
                                      <a:cs typeface="Times New Roman" panose="02020603050405020304" pitchFamily="18" charset="0"/>
                                    </a:rPr>
                                    <m:t>2</m:t>
                                  </m:r>
                                </m:sup>
                              </m:sSubSup>
                              <m:r>
                                <a:rPr lang="en-GB" sz="2800" i="1">
                                  <a:solidFill>
                                    <a:prstClr val="black"/>
                                  </a:solidFill>
                                  <a:latin typeface="Cambria Math" panose="02040503050406030204" pitchFamily="18" charset="0"/>
                                  <a:cs typeface="Times New Roman" panose="02020603050405020304" pitchFamily="18" charset="0"/>
                                </a:rPr>
                                <m:t>𝑟</m:t>
                              </m:r>
                            </m:e>
                          </m:d>
                          <m:r>
                            <a:rPr lang="en-GB" sz="2800" i="1">
                              <a:solidFill>
                                <a:prstClr val="black"/>
                              </a:solidFill>
                              <a:latin typeface="Cambria Math" panose="02040503050406030204" pitchFamily="18" charset="0"/>
                              <a:ea typeface="Cambria Math" panose="02040503050406030204" pitchFamily="18" charset="0"/>
                            </a:rPr>
                            <m:t>𝑑𝑟</m:t>
                          </m:r>
                        </m:e>
                      </m:nary>
                    </m:oMath>
                  </m:oMathPara>
                </a14:m>
                <a:endParaRPr lang="en-GH" sz="2800" dirty="0"/>
              </a:p>
            </p:txBody>
          </p:sp>
        </mc:Choice>
        <mc:Fallback xmlns="">
          <p:sp>
            <p:nvSpPr>
              <p:cNvPr id="9" name="TextBox 8">
                <a:extLst>
                  <a:ext uri="{FF2B5EF4-FFF2-40B4-BE49-F238E27FC236}">
                    <a16:creationId xmlns:a16="http://schemas.microsoft.com/office/drawing/2014/main" id="{09ADD51D-2791-04B6-EDF3-780CC0B010AA}"/>
                  </a:ext>
                </a:extLst>
              </p:cNvPr>
              <p:cNvSpPr txBox="1">
                <a:spLocks noRot="1" noChangeAspect="1" noMove="1" noResize="1" noEditPoints="1" noAdjustHandles="1" noChangeArrowheads="1" noChangeShapeType="1" noTextEdit="1"/>
              </p:cNvSpPr>
              <p:nvPr/>
            </p:nvSpPr>
            <p:spPr>
              <a:xfrm>
                <a:off x="5124993" y="2815413"/>
                <a:ext cx="5255623" cy="1026050"/>
              </a:xfrm>
              <a:prstGeom prst="rect">
                <a:avLst/>
              </a:prstGeom>
              <a:blipFill>
                <a:blip r:embed="rId6"/>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029CA9F-DB92-3259-5DAF-15E192FF19B6}"/>
                  </a:ext>
                </a:extLst>
              </p:cNvPr>
              <p:cNvSpPr txBox="1"/>
              <p:nvPr/>
            </p:nvSpPr>
            <p:spPr>
              <a:xfrm>
                <a:off x="5124992" y="4038967"/>
                <a:ext cx="6300653" cy="118000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𝑄</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a:solidFill>
                                <a:prstClr val="black"/>
                              </a:solidFill>
                              <a:latin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ea typeface="Cambria Math" panose="02040503050406030204" pitchFamily="18" charset="0"/>
                            </a:rPr>
                            <m:t>𝜋</m:t>
                          </m:r>
                        </m:num>
                        <m:den>
                          <m:r>
                            <a:rPr lang="en-GB" sz="2800" i="1">
                              <a:solidFill>
                                <a:prstClr val="black"/>
                              </a:solidFill>
                              <a:latin typeface="Cambria Math" panose="02040503050406030204" pitchFamily="18" charset="0"/>
                              <a:cs typeface="Times New Roman" panose="02020603050405020304" pitchFamily="18" charset="0"/>
                            </a:rPr>
                            <m:t>2</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den>
                      </m:f>
                      <m:f>
                        <m:fPr>
                          <m:ctrlPr>
                            <a:rPr lang="en-GB" sz="2800" i="1">
                              <a:solidFill>
                                <a:prstClr val="black"/>
                              </a:solidFill>
                              <a:latin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cs typeface="Times New Roman" panose="02020603050405020304" pitchFamily="18" charset="0"/>
                            </a:rPr>
                            <m:t>𝑑𝑝</m:t>
                          </m:r>
                        </m:num>
                        <m:den>
                          <m:r>
                            <a:rPr lang="en-GB" sz="2800" i="1">
                              <a:solidFill>
                                <a:prstClr val="black"/>
                              </a:solidFill>
                              <a:latin typeface="Cambria Math" panose="02040503050406030204" pitchFamily="18" charset="0"/>
                              <a:cs typeface="Times New Roman" panose="02020603050405020304" pitchFamily="18" charset="0"/>
                            </a:rPr>
                            <m:t>𝑑𝑥</m:t>
                          </m:r>
                        </m:den>
                      </m:f>
                      <m:sSubSup>
                        <m:sSubSupPr>
                          <m:ctrlPr>
                            <a:rPr lang="en-GB" sz="2800" i="1" smtClean="0">
                              <a:solidFill>
                                <a:prstClr val="black"/>
                              </a:solidFill>
                              <a:latin typeface="Cambria Math" panose="02040503050406030204" pitchFamily="18" charset="0"/>
                              <a:cs typeface="Times New Roman" panose="02020603050405020304" pitchFamily="18" charset="0"/>
                            </a:rPr>
                          </m:ctrlPr>
                        </m:sSubSupPr>
                        <m:e>
                          <m:d>
                            <m:dPr>
                              <m:begChr m:val="["/>
                              <m:endChr m:val="]"/>
                              <m:ctrlPr>
                                <a:rPr lang="en-GB" sz="2800" i="1" smtClean="0">
                                  <a:solidFill>
                                    <a:prstClr val="black"/>
                                  </a:solidFill>
                                  <a:latin typeface="Cambria Math" panose="02040503050406030204" pitchFamily="18" charset="0"/>
                                  <a:cs typeface="Times New Roman" panose="02020603050405020304" pitchFamily="18" charset="0"/>
                                </a:rPr>
                              </m:ctrlPr>
                            </m:dPr>
                            <m:e>
                              <m:f>
                                <m:fPr>
                                  <m:ctrlPr>
                                    <a:rPr lang="en-GB" sz="2800" i="1" smtClean="0">
                                      <a:solidFill>
                                        <a:prstClr val="black"/>
                                      </a:solidFill>
                                      <a:latin typeface="Cambria Math" panose="02040503050406030204" pitchFamily="18" charset="0"/>
                                      <a:cs typeface="Times New Roman" panose="02020603050405020304" pitchFamily="18" charset="0"/>
                                    </a:rPr>
                                  </m:ctrlPr>
                                </m:fPr>
                                <m:num>
                                  <m:sSup>
                                    <m:sSupPr>
                                      <m:ctrlPr>
                                        <a:rPr lang="en-GB" sz="2800" i="1" smtClean="0">
                                          <a:solidFill>
                                            <a:prstClr val="black"/>
                                          </a:solidFill>
                                          <a:latin typeface="Cambria Math" panose="02040503050406030204" pitchFamily="18" charset="0"/>
                                          <a:cs typeface="Times New Roman" panose="02020603050405020304" pitchFamily="18" charset="0"/>
                                        </a:rPr>
                                      </m:ctrlPr>
                                    </m:sSupPr>
                                    <m:e>
                                      <m:r>
                                        <a:rPr lang="en-GB" sz="2800" b="0" i="1" smtClean="0">
                                          <a:solidFill>
                                            <a:prstClr val="black"/>
                                          </a:solidFill>
                                          <a:latin typeface="Cambria Math" panose="02040503050406030204" pitchFamily="18" charset="0"/>
                                          <a:cs typeface="Times New Roman" panose="02020603050405020304" pitchFamily="18" charset="0"/>
                                        </a:rPr>
                                        <m:t>𝑟</m:t>
                                      </m:r>
                                    </m:e>
                                    <m:sup>
                                      <m:r>
                                        <a:rPr lang="en-GB" sz="2800" b="0" i="1" smtClean="0">
                                          <a:solidFill>
                                            <a:prstClr val="black"/>
                                          </a:solidFill>
                                          <a:latin typeface="Cambria Math" panose="02040503050406030204" pitchFamily="18" charset="0"/>
                                          <a:cs typeface="Times New Roman" panose="02020603050405020304" pitchFamily="18" charset="0"/>
                                        </a:rPr>
                                        <m:t>4</m:t>
                                      </m:r>
                                    </m:sup>
                                  </m:sSup>
                                </m:num>
                                <m:den>
                                  <m:r>
                                    <a:rPr lang="en-GB" sz="2800" b="0" i="1" smtClean="0">
                                      <a:solidFill>
                                        <a:prstClr val="black"/>
                                      </a:solidFill>
                                      <a:latin typeface="Cambria Math" panose="02040503050406030204" pitchFamily="18" charset="0"/>
                                      <a:cs typeface="Times New Roman" panose="02020603050405020304" pitchFamily="18" charset="0"/>
                                    </a:rPr>
                                    <m:t>4</m:t>
                                  </m:r>
                                </m:den>
                              </m:f>
                              <m:r>
                                <a:rPr lang="en-GB" sz="2800" b="0" i="1" smtClean="0">
                                  <a:solidFill>
                                    <a:prstClr val="black"/>
                                  </a:solidFill>
                                  <a:latin typeface="Cambria Math" panose="02040503050406030204" pitchFamily="18" charset="0"/>
                                  <a:cs typeface="Times New Roman" panose="02020603050405020304" pitchFamily="18" charset="0"/>
                                </a:rPr>
                                <m:t>−</m:t>
                              </m:r>
                              <m:f>
                                <m:fPr>
                                  <m:ctrlPr>
                                    <a:rPr lang="en-GB" sz="2800" b="0" i="1" smtClean="0">
                                      <a:solidFill>
                                        <a:prstClr val="black"/>
                                      </a:solidFill>
                                      <a:latin typeface="Cambria Math" panose="02040503050406030204" pitchFamily="18" charset="0"/>
                                      <a:cs typeface="Times New Roman" panose="02020603050405020304" pitchFamily="18" charset="0"/>
                                    </a:rPr>
                                  </m:ctrlPr>
                                </m:fPr>
                                <m:num>
                                  <m:sSubSup>
                                    <m:sSubSupPr>
                                      <m:ctrlPr>
                                        <a:rPr lang="en-GB" sz="2800" b="0" i="1" smtClean="0">
                                          <a:solidFill>
                                            <a:prstClr val="black"/>
                                          </a:solidFill>
                                          <a:latin typeface="Cambria Math" panose="02040503050406030204" pitchFamily="18" charset="0"/>
                                          <a:cs typeface="Times New Roman" panose="02020603050405020304" pitchFamily="18" charset="0"/>
                                        </a:rPr>
                                      </m:ctrlPr>
                                    </m:sSubSupPr>
                                    <m:e>
                                      <m:r>
                                        <a:rPr lang="en-GB" sz="2800" b="0" i="1" smtClean="0">
                                          <a:solidFill>
                                            <a:prstClr val="black"/>
                                          </a:solidFill>
                                          <a:latin typeface="Cambria Math" panose="02040503050406030204" pitchFamily="18" charset="0"/>
                                          <a:cs typeface="Times New Roman" panose="02020603050405020304" pitchFamily="18" charset="0"/>
                                        </a:rPr>
                                        <m:t>𝑟</m:t>
                                      </m:r>
                                    </m:e>
                                    <m:sub>
                                      <m:r>
                                        <a:rPr lang="en-GB" sz="2800" b="0" i="1" smtClean="0">
                                          <a:solidFill>
                                            <a:prstClr val="black"/>
                                          </a:solidFill>
                                          <a:latin typeface="Cambria Math" panose="02040503050406030204" pitchFamily="18" charset="0"/>
                                          <a:cs typeface="Times New Roman" panose="02020603050405020304" pitchFamily="18" charset="0"/>
                                        </a:rPr>
                                        <m:t>0</m:t>
                                      </m:r>
                                    </m:sub>
                                    <m:sup>
                                      <m:r>
                                        <a:rPr lang="en-GB" sz="2800" b="0" i="1" smtClean="0">
                                          <a:solidFill>
                                            <a:prstClr val="black"/>
                                          </a:solidFill>
                                          <a:latin typeface="Cambria Math" panose="02040503050406030204" pitchFamily="18" charset="0"/>
                                          <a:cs typeface="Times New Roman" panose="02020603050405020304" pitchFamily="18" charset="0"/>
                                        </a:rPr>
                                        <m:t>2</m:t>
                                      </m:r>
                                    </m:sup>
                                  </m:sSubSup>
                                </m:num>
                                <m:den>
                                  <m:r>
                                    <a:rPr lang="en-GB" sz="2800" b="0" i="1" smtClean="0">
                                      <a:solidFill>
                                        <a:prstClr val="black"/>
                                      </a:solidFill>
                                      <a:latin typeface="Cambria Math" panose="02040503050406030204" pitchFamily="18" charset="0"/>
                                      <a:cs typeface="Times New Roman" panose="02020603050405020304" pitchFamily="18" charset="0"/>
                                    </a:rPr>
                                    <m:t>2</m:t>
                                  </m:r>
                                </m:den>
                              </m:f>
                            </m:e>
                          </m:d>
                        </m:e>
                        <m:sub>
                          <m:r>
                            <a:rPr lang="en-GB" sz="2800" b="0" i="1" smtClean="0">
                              <a:solidFill>
                                <a:prstClr val="black"/>
                              </a:solidFill>
                              <a:latin typeface="Cambria Math" panose="02040503050406030204" pitchFamily="18" charset="0"/>
                              <a:cs typeface="Times New Roman" panose="02020603050405020304" pitchFamily="18" charset="0"/>
                            </a:rPr>
                            <m:t>0</m:t>
                          </m:r>
                        </m:sub>
                        <m:sup>
                          <m:sSub>
                            <m:sSubPr>
                              <m:ctrlPr>
                                <a:rPr lang="en-GB" sz="2800" i="1" smtClean="0">
                                  <a:solidFill>
                                    <a:prstClr val="black"/>
                                  </a:solidFill>
                                  <a:latin typeface="Cambria Math" panose="02040503050406030204" pitchFamily="18" charset="0"/>
                                  <a:cs typeface="Times New Roman" panose="02020603050405020304" pitchFamily="18" charset="0"/>
                                </a:rPr>
                              </m:ctrlPr>
                            </m:sSubPr>
                            <m:e>
                              <m:r>
                                <a:rPr lang="en-GB" sz="2800" b="0" i="1" smtClean="0">
                                  <a:solidFill>
                                    <a:prstClr val="black"/>
                                  </a:solidFill>
                                  <a:latin typeface="Cambria Math" panose="02040503050406030204" pitchFamily="18" charset="0"/>
                                  <a:cs typeface="Times New Roman" panose="02020603050405020304" pitchFamily="18" charset="0"/>
                                </a:rPr>
                                <m:t>𝑟</m:t>
                              </m:r>
                            </m:e>
                            <m:sub>
                              <m:r>
                                <a:rPr lang="en-GB" sz="2800" b="0" i="1" smtClean="0">
                                  <a:solidFill>
                                    <a:prstClr val="black"/>
                                  </a:solidFill>
                                  <a:latin typeface="Cambria Math" panose="02040503050406030204" pitchFamily="18" charset="0"/>
                                  <a:cs typeface="Times New Roman" panose="02020603050405020304" pitchFamily="18" charset="0"/>
                                </a:rPr>
                                <m:t>0</m:t>
                              </m:r>
                            </m:sub>
                          </m:sSub>
                        </m:sup>
                      </m:sSubSup>
                      <m:r>
                        <a:rPr lang="en-GB" sz="2800" b="0" i="1" smtClean="0">
                          <a:solidFill>
                            <a:prstClr val="black"/>
                          </a:solidFill>
                          <a:latin typeface="Cambria Math" panose="02040503050406030204" pitchFamily="18" charset="0"/>
                          <a:cs typeface="Times New Roman" panose="02020603050405020304" pitchFamily="18" charset="0"/>
                        </a:rPr>
                        <m:t>=</m:t>
                      </m:r>
                      <m:f>
                        <m:fPr>
                          <m:ctrlPr>
                            <a:rPr lang="en-GB" sz="2800" i="1">
                              <a:solidFill>
                                <a:prstClr val="black"/>
                              </a:solidFill>
                              <a:latin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ea typeface="Cambria Math" panose="02040503050406030204" pitchFamily="18" charset="0"/>
                            </a:rPr>
                            <m:t>𝜋</m:t>
                          </m:r>
                        </m:num>
                        <m:den>
                          <m:r>
                            <a:rPr lang="en-GB" sz="2800" b="0" i="1" smtClean="0">
                              <a:solidFill>
                                <a:prstClr val="black"/>
                              </a:solidFill>
                              <a:latin typeface="Cambria Math" panose="02040503050406030204" pitchFamily="18" charset="0"/>
                              <a:cs typeface="Times New Roman" panose="02020603050405020304" pitchFamily="18" charset="0"/>
                            </a:rPr>
                            <m:t>8</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den>
                      </m:f>
                      <m:d>
                        <m:d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dPr>
                        <m:e>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m:t>
                              </m:r>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𝑝</m:t>
                              </m:r>
                            </m:num>
                            <m:den>
                              <m: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𝑑𝑥</m:t>
                              </m:r>
                            </m:den>
                          </m:f>
                        </m:e>
                      </m:d>
                      <m:sSubSup>
                        <m:sSubSup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𝑟</m:t>
                          </m:r>
                        </m:e>
                        <m:sub>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m:t>
                          </m:r>
                        </m:sub>
                        <m:sup>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4</m:t>
                          </m:r>
                        </m:sup>
                      </m:sSubSup>
                    </m:oMath>
                  </m:oMathPara>
                </a14:m>
                <a:endParaRPr lang="en-GH" sz="2800" dirty="0"/>
              </a:p>
            </p:txBody>
          </p:sp>
        </mc:Choice>
        <mc:Fallback xmlns="">
          <p:sp>
            <p:nvSpPr>
              <p:cNvPr id="10" name="TextBox 9">
                <a:extLst>
                  <a:ext uri="{FF2B5EF4-FFF2-40B4-BE49-F238E27FC236}">
                    <a16:creationId xmlns:a16="http://schemas.microsoft.com/office/drawing/2014/main" id="{A029CA9F-DB92-3259-5DAF-15E192FF19B6}"/>
                  </a:ext>
                </a:extLst>
              </p:cNvPr>
              <p:cNvSpPr txBox="1">
                <a:spLocks noRot="1" noChangeAspect="1" noMove="1" noResize="1" noEditPoints="1" noAdjustHandles="1" noChangeArrowheads="1" noChangeShapeType="1" noTextEdit="1"/>
              </p:cNvSpPr>
              <p:nvPr/>
            </p:nvSpPr>
            <p:spPr>
              <a:xfrm>
                <a:off x="5124992" y="4038967"/>
                <a:ext cx="6300653" cy="1180003"/>
              </a:xfrm>
              <a:prstGeom prst="rect">
                <a:avLst/>
              </a:prstGeom>
              <a:blipFill>
                <a:blip r:embed="rId7"/>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15874D9-35CC-0BB8-2D40-4034DFF78B59}"/>
                  </a:ext>
                </a:extLst>
              </p:cNvPr>
              <p:cNvSpPr txBox="1"/>
              <p:nvPr/>
            </p:nvSpPr>
            <p:spPr>
              <a:xfrm>
                <a:off x="5124991" y="5320937"/>
                <a:ext cx="6300653" cy="107407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𝑄</m:t>
                      </m:r>
                      <m:r>
                        <a:rPr lang="en-GB" sz="2800" b="0" i="1" smtClean="0">
                          <a:solidFill>
                            <a:prstClr val="black"/>
                          </a:solidFill>
                          <a:latin typeface="Cambria Math" panose="02040503050406030204" pitchFamily="18" charset="0"/>
                          <a:cs typeface="Times New Roman" panose="02020603050405020304" pitchFamily="18" charset="0"/>
                        </a:rPr>
                        <m:t>=−</m:t>
                      </m:r>
                      <m:f>
                        <m:fPr>
                          <m:ctrlPr>
                            <a:rPr lang="en-GB" sz="2800" i="1">
                              <a:solidFill>
                                <a:prstClr val="black"/>
                              </a:solidFill>
                              <a:latin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ea typeface="Cambria Math" panose="02040503050406030204" pitchFamily="18" charset="0"/>
                            </a:rPr>
                            <m:t>𝜋</m:t>
                          </m:r>
                          <m:sSubSup>
                            <m:sSubSupPr>
                              <m:ctrlP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𝑟</m:t>
                              </m:r>
                            </m:e>
                            <m:sub>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m:t>
                              </m:r>
                            </m:sub>
                            <m:sup>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4</m:t>
                              </m:r>
                            </m:sup>
                          </m:sSubSup>
                        </m:num>
                        <m:den>
                          <m:r>
                            <a:rPr lang="en-GB" sz="2800" b="0" i="1" smtClean="0">
                              <a:solidFill>
                                <a:prstClr val="black"/>
                              </a:solidFill>
                              <a:latin typeface="Cambria Math" panose="02040503050406030204" pitchFamily="18" charset="0"/>
                              <a:cs typeface="Times New Roman" panose="02020603050405020304" pitchFamily="18" charset="0"/>
                            </a:rPr>
                            <m:t>8</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den>
                      </m:f>
                      <m:d>
                        <m:d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m:t>
                              </m:r>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𝑝</m:t>
                              </m:r>
                            </m:num>
                            <m:den>
                              <m: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𝑑𝑥</m:t>
                              </m:r>
                            </m:den>
                          </m:f>
                        </m:e>
                      </m:d>
                    </m:oMath>
                  </m:oMathPara>
                </a14:m>
                <a:endParaRPr lang="en-GH" sz="2800" dirty="0"/>
              </a:p>
            </p:txBody>
          </p:sp>
        </mc:Choice>
        <mc:Fallback xmlns="">
          <p:sp>
            <p:nvSpPr>
              <p:cNvPr id="8" name="TextBox 7">
                <a:extLst>
                  <a:ext uri="{FF2B5EF4-FFF2-40B4-BE49-F238E27FC236}">
                    <a16:creationId xmlns:a16="http://schemas.microsoft.com/office/drawing/2014/main" id="{615874D9-35CC-0BB8-2D40-4034DFF78B59}"/>
                  </a:ext>
                </a:extLst>
              </p:cNvPr>
              <p:cNvSpPr txBox="1">
                <a:spLocks noRot="1" noChangeAspect="1" noMove="1" noResize="1" noEditPoints="1" noAdjustHandles="1" noChangeArrowheads="1" noChangeShapeType="1" noTextEdit="1"/>
              </p:cNvSpPr>
              <p:nvPr/>
            </p:nvSpPr>
            <p:spPr>
              <a:xfrm>
                <a:off x="5124991" y="5320937"/>
                <a:ext cx="6300653" cy="1074077"/>
              </a:xfrm>
              <a:prstGeom prst="rect">
                <a:avLst/>
              </a:prstGeom>
              <a:blipFill>
                <a:blip r:embed="rId8"/>
                <a:stretch>
                  <a:fillRect/>
                </a:stretch>
              </a:blipFill>
            </p:spPr>
            <p:txBody>
              <a:bodyPr/>
              <a:lstStyle/>
              <a:p>
                <a:r>
                  <a:rPr lang="en-GH">
                    <a:noFill/>
                  </a:rPr>
                  <a:t> </a:t>
                </a:r>
              </a:p>
            </p:txBody>
          </p:sp>
        </mc:Fallback>
      </mc:AlternateContent>
    </p:spTree>
    <p:extLst>
      <p:ext uri="{BB962C8B-B14F-4D97-AF65-F5344CB8AC3E}">
        <p14:creationId xmlns:p14="http://schemas.microsoft.com/office/powerpoint/2010/main" val="2422217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7120" y="1"/>
            <a:ext cx="7477760" cy="400594"/>
          </a:xfrm>
        </p:spPr>
        <p:txBody>
          <a:bodyPr>
            <a:normAutofit fontScale="90000"/>
          </a:bodyPr>
          <a:lstStyle/>
          <a:p>
            <a:pPr lvl="0" indent="-228600" algn="ctr">
              <a:lnSpc>
                <a:spcPct val="107000"/>
              </a:lnSpc>
              <a:spcBef>
                <a:spcPts val="0"/>
              </a:spcBef>
              <a:spcAft>
                <a:spcPts val="800"/>
              </a:spcAft>
              <a:tabLst>
                <a:tab pos="3447415" algn="l"/>
              </a:tabLst>
            </a:pPr>
            <a:r>
              <a:rPr lang="en-US" sz="2800" dirty="0">
                <a:solidFill>
                  <a:prstClr val="black"/>
                </a:solidFill>
                <a:latin typeface="Times New Roman" panose="02020603050405020304" pitchFamily="18" charset="0"/>
                <a:ea typeface="Times New Roman" panose="02020603050405020304" pitchFamily="18" charset="0"/>
              </a:rPr>
              <a:t> </a:t>
            </a:r>
            <a:r>
              <a:rPr lang="en-US" sz="2400" b="1" dirty="0">
                <a:solidFill>
                  <a:prstClr val="black"/>
                </a:solidFill>
                <a:latin typeface="Times New Roman" panose="02020603050405020304" pitchFamily="18" charset="0"/>
                <a:ea typeface="Times New Roman" panose="02020603050405020304" pitchFamily="18" charset="0"/>
              </a:rPr>
              <a:t>OTHER</a:t>
            </a:r>
            <a:r>
              <a:rPr lang="en-US" sz="2400" dirty="0">
                <a:solidFill>
                  <a:prstClr val="black"/>
                </a:solidFill>
                <a:latin typeface="Times New Roman" panose="02020603050405020304" pitchFamily="18" charset="0"/>
                <a:ea typeface="Times New Roman" panose="02020603050405020304" pitchFamily="18" charset="0"/>
              </a:rPr>
              <a:t> </a:t>
            </a:r>
            <a:r>
              <a:rPr lang="en-US" sz="2400" b="1" dirty="0">
                <a:solidFill>
                  <a:prstClr val="black"/>
                </a:solidFill>
                <a:latin typeface="Times New Roman" panose="02020603050405020304" pitchFamily="18" charset="0"/>
                <a:ea typeface="Times New Roman" panose="02020603050405020304" pitchFamily="18" charset="0"/>
              </a:rPr>
              <a:t>PIPE FLOW QUANTITIES </a:t>
            </a:r>
            <a:endParaRPr lang="en-US" sz="24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518160"/>
                <a:ext cx="12192000" cy="2303417"/>
              </a:xfrm>
            </p:spPr>
            <p:txBody>
              <a:bodyPr>
                <a:normAutofit lnSpcReduction="10000"/>
              </a:bodyPr>
              <a:lstStyle/>
              <a:p>
                <a:pPr marL="0" indent="0">
                  <a:buNone/>
                </a:pPr>
                <a:r>
                  <a:rPr lang="en-US" sz="2600" b="1" dirty="0">
                    <a:latin typeface="Times New Roman" panose="02020603050405020304" pitchFamily="18" charset="0"/>
                    <a:cs typeface="Times New Roman" panose="02020603050405020304" pitchFamily="18" charset="0"/>
                  </a:rPr>
                  <a:t>Average Velocity</a:t>
                </a:r>
              </a:p>
              <a:p>
                <a:pPr marL="0" marR="0" indent="0">
                  <a:lnSpc>
                    <a:spcPct val="107000"/>
                  </a:lnSpc>
                  <a:spcBef>
                    <a:spcPts val="0"/>
                  </a:spcBef>
                  <a:buNone/>
                </a:pPr>
                <a:r>
                  <a:rPr lang="en-US" dirty="0">
                    <a:effectLst/>
                    <a:latin typeface="Times New Roman" panose="02020603050405020304" pitchFamily="18" charset="0"/>
                    <a:ea typeface="Times New Roman" panose="02020603050405020304" pitchFamily="18" charset="0"/>
                  </a:rPr>
                  <a:t>The average velocity </a:t>
                </a:r>
                <a:r>
                  <a:rPr lang="en-US" i="1" dirty="0">
                    <a:effectLst/>
                    <a:latin typeface="Times New Roman" panose="02020603050405020304" pitchFamily="18" charset="0"/>
                    <a:ea typeface="Times New Roman" panose="02020603050405020304" pitchFamily="18" charset="0"/>
                  </a:rPr>
                  <a:t>V</a:t>
                </a:r>
                <a:r>
                  <a:rPr lang="en-US" dirty="0">
                    <a:effectLst/>
                    <a:latin typeface="Times New Roman" panose="02020603050405020304" pitchFamily="18" charset="0"/>
                    <a:ea typeface="Times New Roman" panose="02020603050405020304" pitchFamily="18" charset="0"/>
                  </a:rPr>
                  <a:t> is given by</a:t>
                </a:r>
                <a:endParaRPr lang="en-US" sz="1800" dirty="0">
                  <a:effectLst/>
                  <a:latin typeface="Times New Roman" panose="02020603050405020304" pitchFamily="18" charset="0"/>
                  <a:ea typeface="Times New Roman" panose="02020603050405020304" pitchFamily="18" charset="0"/>
                </a:endParaRPr>
              </a:p>
              <a:p>
                <a:pPr marL="0" marR="0" indent="0">
                  <a:lnSpc>
                    <a:spcPct val="107000"/>
                  </a:lnSpc>
                  <a:spcBef>
                    <a:spcPts val="0"/>
                  </a:spcBef>
                  <a:spcAft>
                    <a:spcPts val="800"/>
                  </a:spcAft>
                  <a:buNone/>
                </a:pPr>
                <a14:m>
                  <m:oMathPara xmlns:m="http://schemas.openxmlformats.org/officeDocument/2006/math">
                    <m:oMathParaPr>
                      <m:jc m:val="centerGroup"/>
                    </m:oMathParaPr>
                    <m:oMath xmlns:m="http://schemas.openxmlformats.org/officeDocument/2006/math">
                      <m:r>
                        <a:rPr lang="en-US" i="1">
                          <a:effectLst/>
                          <a:latin typeface="Cambria Math" panose="02040503050406030204" pitchFamily="18" charset="0"/>
                          <a:ea typeface="Times New Roman" panose="02020603050405020304" pitchFamily="18" charset="0"/>
                        </a:rPr>
                        <m:t>𝑉</m:t>
                      </m:r>
                      <m:r>
                        <a:rPr lang="en-US" i="1">
                          <a:effectLst/>
                          <a:latin typeface="Cambria Math" panose="02040503050406030204" pitchFamily="18" charset="0"/>
                          <a:ea typeface="Times New Roman" panose="02020603050405020304" pitchFamily="18" charset="0"/>
                        </a:rPr>
                        <m:t>=</m:t>
                      </m:r>
                      <m:f>
                        <m:fPr>
                          <m:ctrlPr>
                            <a:rPr lang="en-US" i="1">
                              <a:effectLst/>
                              <a:latin typeface="Cambria Math" panose="02040503050406030204" pitchFamily="18" charset="0"/>
                              <a:ea typeface="Times New Roman" panose="02020603050405020304" pitchFamily="18" charset="0"/>
                            </a:rPr>
                          </m:ctrlPr>
                        </m:fPr>
                        <m:num>
                          <m:r>
                            <a:rPr lang="en-US" i="1">
                              <a:effectLst/>
                              <a:latin typeface="Cambria Math" panose="02040503050406030204" pitchFamily="18" charset="0"/>
                              <a:ea typeface="Times New Roman" panose="02020603050405020304" pitchFamily="18" charset="0"/>
                            </a:rPr>
                            <m:t>𝑄</m:t>
                          </m:r>
                        </m:num>
                        <m:den>
                          <m:r>
                            <a:rPr lang="en-US" i="1">
                              <a:effectLst/>
                              <a:latin typeface="Cambria Math" panose="02040503050406030204" pitchFamily="18" charset="0"/>
                              <a:ea typeface="Times New Roman" panose="02020603050405020304" pitchFamily="18" charset="0"/>
                            </a:rPr>
                            <m:t>𝐴</m:t>
                          </m:r>
                        </m:den>
                      </m:f>
                      <m:r>
                        <a:rPr lang="en-GB" b="0" i="1" smtClean="0">
                          <a:effectLst/>
                          <a:latin typeface="Cambria Math" panose="02040503050406030204" pitchFamily="18" charset="0"/>
                          <a:ea typeface="Times New Roman" panose="02020603050405020304" pitchFamily="18" charset="0"/>
                        </a:rPr>
                        <m:t>=</m:t>
                      </m:r>
                      <m:f>
                        <m:fPr>
                          <m:ctrlPr>
                            <a:rPr lang="en-US" i="1">
                              <a:effectLst/>
                              <a:latin typeface="Cambria Math" panose="02040503050406030204" pitchFamily="18" charset="0"/>
                              <a:ea typeface="Times New Roman" panose="02020603050405020304" pitchFamily="18" charset="0"/>
                            </a:rPr>
                          </m:ctrlPr>
                        </m:fPr>
                        <m:num>
                          <m:f>
                            <m:fPr>
                              <m:ctrlPr>
                                <a:rPr lang="en-GB" i="1">
                                  <a:solidFill>
                                    <a:prstClr val="black"/>
                                  </a:solidFill>
                                  <a:latin typeface="Cambria Math" panose="02040503050406030204" pitchFamily="18" charset="0"/>
                                  <a:cs typeface="Times New Roman" panose="02020603050405020304" pitchFamily="18" charset="0"/>
                                </a:rPr>
                              </m:ctrlPr>
                            </m:fPr>
                            <m:num>
                              <m:r>
                                <a:rPr lang="en-GB" i="1">
                                  <a:solidFill>
                                    <a:prstClr val="black"/>
                                  </a:solidFill>
                                  <a:latin typeface="Cambria Math" panose="02040503050406030204" pitchFamily="18" charset="0"/>
                                  <a:ea typeface="Cambria Math" panose="02040503050406030204" pitchFamily="18" charset="0"/>
                                </a:rPr>
                                <m:t>𝜋</m:t>
                              </m:r>
                            </m:num>
                            <m:den>
                              <m:r>
                                <a:rPr lang="en-GB" i="1">
                                  <a:solidFill>
                                    <a:prstClr val="black"/>
                                  </a:solidFill>
                                  <a:latin typeface="Cambria Math" panose="02040503050406030204" pitchFamily="18" charset="0"/>
                                  <a:cs typeface="Times New Roman" panose="02020603050405020304" pitchFamily="18" charset="0"/>
                                </a:rPr>
                                <m:t>8</m:t>
                              </m:r>
                              <m:r>
                                <a:rPr lang="en-GB"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den>
                          </m:f>
                          <m:d>
                            <m:dPr>
                              <m:ctrlPr>
                                <a:rPr lang="en-GB"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dPr>
                            <m:e>
                              <m:r>
                                <a:rPr lang="en-GB"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GB"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𝑑𝑝</m:t>
                                  </m:r>
                                </m:num>
                                <m:den>
                                  <m:r>
                                    <a:rPr lang="en-GB"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𝑑𝑥</m:t>
                                  </m:r>
                                </m:den>
                              </m:f>
                            </m:e>
                          </m:d>
                          <m:sSubSup>
                            <m:sSubSupPr>
                              <m:ctrlPr>
                                <a:rPr lang="en-GB"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GB"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𝑟</m:t>
                              </m:r>
                            </m:e>
                            <m:sub>
                              <m:r>
                                <a:rPr lang="en-GB"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m:t>
                              </m:r>
                            </m:sub>
                            <m:sup>
                              <m:r>
                                <a:rPr lang="en-GB"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4</m:t>
                              </m:r>
                            </m:sup>
                          </m:sSubSup>
                        </m:num>
                        <m:den>
                          <m:r>
                            <a:rPr lang="en-US" i="1">
                              <a:effectLst/>
                              <a:latin typeface="Cambria Math" panose="02040503050406030204" pitchFamily="18" charset="0"/>
                              <a:ea typeface="Times New Roman" panose="02020603050405020304" pitchFamily="18" charset="0"/>
                            </a:rPr>
                            <m:t>𝜋</m:t>
                          </m:r>
                          <m:sSup>
                            <m:sSupPr>
                              <m:ctrlPr>
                                <a:rPr lang="en-US" i="1">
                                  <a:effectLst/>
                                  <a:latin typeface="Cambria Math" panose="02040503050406030204" pitchFamily="18" charset="0"/>
                                  <a:ea typeface="Times New Roman" panose="02020603050405020304" pitchFamily="18" charset="0"/>
                                </a:rPr>
                              </m:ctrlPr>
                            </m:sSupPr>
                            <m:e>
                              <m:sSub>
                                <m:sSubPr>
                                  <m:ctrlPr>
                                    <a:rPr lang="en-US" i="1">
                                      <a:effectLst/>
                                      <a:latin typeface="Cambria Math" panose="02040503050406030204" pitchFamily="18" charset="0"/>
                                      <a:ea typeface="Times New Roman" panose="02020603050405020304" pitchFamily="18" charset="0"/>
                                    </a:rPr>
                                  </m:ctrlPr>
                                </m:sSubPr>
                                <m:e>
                                  <m:r>
                                    <a:rPr lang="en-US" i="1">
                                      <a:effectLst/>
                                      <a:latin typeface="Cambria Math" panose="02040503050406030204" pitchFamily="18" charset="0"/>
                                      <a:ea typeface="Times New Roman" panose="02020603050405020304" pitchFamily="18" charset="0"/>
                                    </a:rPr>
                                    <m:t>𝑟</m:t>
                                  </m:r>
                                </m:e>
                                <m:sub>
                                  <m:r>
                                    <a:rPr lang="en-US" i="1">
                                      <a:effectLst/>
                                      <a:latin typeface="Cambria Math" panose="02040503050406030204" pitchFamily="18" charset="0"/>
                                      <a:ea typeface="Times New Roman" panose="02020603050405020304" pitchFamily="18" charset="0"/>
                                    </a:rPr>
                                    <m:t>𝑂</m:t>
                                  </m:r>
                                </m:sub>
                              </m:sSub>
                            </m:e>
                            <m:sup>
                              <m:r>
                                <a:rPr lang="en-US" i="1">
                                  <a:effectLst/>
                                  <a:latin typeface="Cambria Math" panose="02040503050406030204" pitchFamily="18" charset="0"/>
                                  <a:ea typeface="Times New Roman" panose="02020603050405020304" pitchFamily="18" charset="0"/>
                                </a:rPr>
                                <m:t>2</m:t>
                              </m:r>
                            </m:sup>
                          </m:sSup>
                        </m:den>
                      </m:f>
                    </m:oMath>
                  </m:oMathPara>
                </a14:m>
                <a:endParaRPr lang="en-US" dirty="0">
                  <a:latin typeface="Times New Roman" panose="02020603050405020304" pitchFamily="18" charset="0"/>
                  <a:ea typeface="Times New Roman" panose="02020603050405020304" pitchFamily="18" charset="0"/>
                </a:endParaRP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518160"/>
                <a:ext cx="12192000" cy="2303417"/>
              </a:xfrm>
              <a:blipFill>
                <a:blip r:embed="rId3"/>
                <a:stretch>
                  <a:fillRect l="-1000" t="-5820"/>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AA8C447-4D37-1450-64EA-24F43E731F25}"/>
                  </a:ext>
                </a:extLst>
              </p:cNvPr>
              <p:cNvSpPr txBox="1"/>
              <p:nvPr/>
            </p:nvSpPr>
            <p:spPr>
              <a:xfrm>
                <a:off x="3796937" y="2751908"/>
                <a:ext cx="6130834" cy="10758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𝑉</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fPr>
                        <m:num>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m:t>
                          </m:r>
                        </m:num>
                        <m:den>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8</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𝜇</m:t>
                          </m:r>
                        </m:den>
                      </m:f>
                      <m:d>
                        <m:dPr>
                          <m:ctrlP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dPr>
                        <m:e>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𝑑𝑝</m:t>
                              </m:r>
                            </m:num>
                            <m:den>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𝑑𝑥</m:t>
                              </m:r>
                            </m:den>
                          </m:f>
                        </m:e>
                      </m:d>
                      <m:sSubSup>
                        <m:sSubSupPr>
                          <m:ctrlPr>
                            <a:rPr lang="en-GB" sz="2800" i="1">
                              <a:solidFill>
                                <a:prstClr val="black"/>
                              </a:solidFill>
                              <a:latin typeface="Cambria Math" panose="02040503050406030204" pitchFamily="18" charset="0"/>
                              <a:cs typeface="Times New Roman" panose="02020603050405020304" pitchFamily="18" charset="0"/>
                            </a:rPr>
                          </m:ctrlPr>
                        </m:sSubSupPr>
                        <m:e>
                          <m:r>
                            <a:rPr lang="en-GB" sz="2800" i="1">
                              <a:solidFill>
                                <a:prstClr val="black"/>
                              </a:solidFill>
                              <a:latin typeface="Cambria Math" panose="02040503050406030204" pitchFamily="18" charset="0"/>
                              <a:cs typeface="Times New Roman" panose="02020603050405020304" pitchFamily="18" charset="0"/>
                            </a:rPr>
                            <m:t>𝑟</m:t>
                          </m:r>
                        </m:e>
                        <m:sub>
                          <m:r>
                            <a:rPr lang="en-GB" sz="2800" i="1">
                              <a:solidFill>
                                <a:prstClr val="black"/>
                              </a:solidFill>
                              <a:latin typeface="Cambria Math" panose="02040503050406030204" pitchFamily="18" charset="0"/>
                              <a:cs typeface="Times New Roman" panose="02020603050405020304" pitchFamily="18" charset="0"/>
                            </a:rPr>
                            <m:t>0</m:t>
                          </m:r>
                        </m:sub>
                        <m:sup>
                          <m:r>
                            <a:rPr lang="en-GB" sz="2800" i="1">
                              <a:solidFill>
                                <a:prstClr val="black"/>
                              </a:solidFill>
                              <a:latin typeface="Cambria Math" panose="02040503050406030204" pitchFamily="18" charset="0"/>
                              <a:cs typeface="Times New Roman" panose="02020603050405020304" pitchFamily="18" charset="0"/>
                            </a:rPr>
                            <m:t>2</m:t>
                          </m:r>
                        </m:sup>
                      </m:sSubSup>
                      <m:r>
                        <a:rPr lang="en-GB" sz="2800" b="0" i="1" smtClean="0">
                          <a:solidFill>
                            <a:prstClr val="black"/>
                          </a:solidFill>
                          <a:latin typeface="Cambria Math" panose="02040503050406030204" pitchFamily="18" charset="0"/>
                          <a:cs typeface="Times New Roman" panose="02020603050405020304" pitchFamily="18" charset="0"/>
                        </a:rPr>
                        <m:t>=−</m:t>
                      </m:r>
                      <m:f>
                        <m:fPr>
                          <m:ctrlPr>
                            <a:rPr lang="en-GB" sz="2800" i="1">
                              <a:solidFill>
                                <a:prstClr val="black"/>
                              </a:solidFill>
                              <a:latin typeface="Cambria Math" panose="02040503050406030204" pitchFamily="18" charset="0"/>
                              <a:cs typeface="Times New Roman" panose="02020603050405020304" pitchFamily="18" charset="0"/>
                            </a:rPr>
                          </m:ctrlPr>
                        </m:fPr>
                        <m:num>
                          <m:sSubSup>
                            <m:sSubSupPr>
                              <m:ctrlPr>
                                <a:rPr lang="en-GB" sz="2800" i="1">
                                  <a:solidFill>
                                    <a:prstClr val="black"/>
                                  </a:solidFill>
                                  <a:latin typeface="Cambria Math" panose="02040503050406030204" pitchFamily="18" charset="0"/>
                                  <a:cs typeface="Times New Roman" panose="02020603050405020304" pitchFamily="18" charset="0"/>
                                </a:rPr>
                              </m:ctrlPr>
                            </m:sSubSupPr>
                            <m:e>
                              <m:r>
                                <a:rPr lang="en-GB" sz="2800" i="1">
                                  <a:solidFill>
                                    <a:prstClr val="black"/>
                                  </a:solidFill>
                                  <a:latin typeface="Cambria Math" panose="02040503050406030204" pitchFamily="18" charset="0"/>
                                  <a:cs typeface="Times New Roman" panose="02020603050405020304" pitchFamily="18" charset="0"/>
                                </a:rPr>
                                <m:t>𝑟</m:t>
                              </m:r>
                            </m:e>
                            <m:sub>
                              <m:r>
                                <a:rPr lang="en-GB" sz="2800" i="1">
                                  <a:solidFill>
                                    <a:prstClr val="black"/>
                                  </a:solidFill>
                                  <a:latin typeface="Cambria Math" panose="02040503050406030204" pitchFamily="18" charset="0"/>
                                  <a:cs typeface="Times New Roman" panose="02020603050405020304" pitchFamily="18" charset="0"/>
                                </a:rPr>
                                <m:t>0</m:t>
                              </m:r>
                            </m:sub>
                            <m:sup>
                              <m:r>
                                <a:rPr lang="en-GB" sz="2800" i="1">
                                  <a:solidFill>
                                    <a:prstClr val="black"/>
                                  </a:solidFill>
                                  <a:latin typeface="Cambria Math" panose="02040503050406030204" pitchFamily="18" charset="0"/>
                                  <a:cs typeface="Times New Roman" panose="02020603050405020304" pitchFamily="18" charset="0"/>
                                </a:rPr>
                                <m:t>2</m:t>
                              </m:r>
                            </m:sup>
                          </m:sSubSup>
                        </m:num>
                        <m:den>
                          <m:r>
                            <a:rPr lang="en-GB" sz="2800" i="1">
                              <a:solidFill>
                                <a:prstClr val="black"/>
                              </a:solidFill>
                              <a:latin typeface="Cambria Math" panose="02040503050406030204" pitchFamily="18" charset="0"/>
                              <a:cs typeface="Times New Roman" panose="02020603050405020304" pitchFamily="18" charset="0"/>
                            </a:rPr>
                            <m:t>8</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den>
                      </m:f>
                      <m:d>
                        <m:dPr>
                          <m:ctrlP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𝑑𝑝</m:t>
                              </m:r>
                            </m:num>
                            <m:den>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𝑑𝑥</m:t>
                              </m:r>
                            </m:den>
                          </m:f>
                        </m:e>
                      </m:d>
                    </m:oMath>
                  </m:oMathPara>
                </a14:m>
                <a:endParaRPr lang="en-GH" sz="2800" dirty="0"/>
              </a:p>
            </p:txBody>
          </p:sp>
        </mc:Choice>
        <mc:Fallback xmlns="">
          <p:sp>
            <p:nvSpPr>
              <p:cNvPr id="4" name="TextBox 3">
                <a:extLst>
                  <a:ext uri="{FF2B5EF4-FFF2-40B4-BE49-F238E27FC236}">
                    <a16:creationId xmlns:a16="http://schemas.microsoft.com/office/drawing/2014/main" id="{EAA8C447-4D37-1450-64EA-24F43E731F25}"/>
                  </a:ext>
                </a:extLst>
              </p:cNvPr>
              <p:cNvSpPr txBox="1">
                <a:spLocks noRot="1" noChangeAspect="1" noMove="1" noResize="1" noEditPoints="1" noAdjustHandles="1" noChangeArrowheads="1" noChangeShapeType="1" noTextEdit="1"/>
              </p:cNvSpPr>
              <p:nvPr/>
            </p:nvSpPr>
            <p:spPr>
              <a:xfrm>
                <a:off x="3796937" y="2751908"/>
                <a:ext cx="6130834" cy="1075872"/>
              </a:xfrm>
              <a:prstGeom prst="rect">
                <a:avLst/>
              </a:prstGeom>
              <a:blipFill>
                <a:blip r:embed="rId4"/>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0E5E005E-BBB8-4401-B9E1-0045DE02B306}"/>
                  </a:ext>
                </a:extLst>
              </p:cNvPr>
              <p:cNvSpPr txBox="1">
                <a:spLocks/>
              </p:cNvSpPr>
              <p:nvPr/>
            </p:nvSpPr>
            <p:spPr>
              <a:xfrm>
                <a:off x="0" y="4171408"/>
                <a:ext cx="12192000" cy="5656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600" b="1" dirty="0">
                    <a:latin typeface="Times New Roman" panose="02020603050405020304" pitchFamily="18" charset="0"/>
                    <a:cs typeface="Times New Roman" panose="02020603050405020304" pitchFamily="18" charset="0"/>
                  </a:rPr>
                  <a:t>Ratio of Maximum to Average Velocity (</a:t>
                </a:r>
                <a14:m>
                  <m:oMath xmlns:m="http://schemas.openxmlformats.org/officeDocument/2006/math">
                    <m:f>
                      <m:fPr>
                        <m:type m:val="lin"/>
                        <m:ctrlPr>
                          <a:rPr lang="en-US" sz="2600" b="1" i="1" smtClean="0">
                            <a:latin typeface="Cambria Math" panose="02040503050406030204" pitchFamily="18" charset="0"/>
                            <a:cs typeface="Times New Roman" panose="02020603050405020304" pitchFamily="18" charset="0"/>
                          </a:rPr>
                        </m:ctrlPr>
                      </m:fPr>
                      <m:num>
                        <m:sSub>
                          <m:sSubPr>
                            <m:ctrlPr>
                              <a:rPr lang="en-US" sz="2600" b="1" i="1" smtClean="0">
                                <a:latin typeface="Cambria Math" panose="02040503050406030204" pitchFamily="18" charset="0"/>
                                <a:cs typeface="Times New Roman" panose="02020603050405020304" pitchFamily="18" charset="0"/>
                              </a:rPr>
                            </m:ctrlPr>
                          </m:sSubPr>
                          <m:e>
                            <m:r>
                              <a:rPr lang="en-GB" sz="2600" b="1" i="1" smtClean="0">
                                <a:latin typeface="Cambria Math" panose="02040503050406030204" pitchFamily="18" charset="0"/>
                                <a:cs typeface="Times New Roman" panose="02020603050405020304" pitchFamily="18" charset="0"/>
                              </a:rPr>
                              <m:t>𝒖</m:t>
                            </m:r>
                          </m:e>
                          <m:sub>
                            <m:r>
                              <a:rPr lang="en-GB" sz="2600" b="1" i="1" smtClean="0">
                                <a:latin typeface="Cambria Math" panose="02040503050406030204" pitchFamily="18" charset="0"/>
                                <a:cs typeface="Times New Roman" panose="02020603050405020304" pitchFamily="18" charset="0"/>
                              </a:rPr>
                              <m:t>𝒎𝒂𝒙</m:t>
                            </m:r>
                          </m:sub>
                        </m:sSub>
                      </m:num>
                      <m:den>
                        <m:r>
                          <a:rPr lang="en-GB" sz="2600" b="1" i="1" smtClean="0">
                            <a:latin typeface="Cambria Math" panose="02040503050406030204" pitchFamily="18" charset="0"/>
                            <a:cs typeface="Times New Roman" panose="02020603050405020304" pitchFamily="18" charset="0"/>
                          </a:rPr>
                          <m:t>𝑽</m:t>
                        </m:r>
                      </m:den>
                    </m:f>
                  </m:oMath>
                </a14:m>
                <a:r>
                  <a:rPr lang="en-US" sz="2600" b="1" dirty="0">
                    <a:latin typeface="Times New Roman" panose="02020603050405020304" pitchFamily="18" charset="0"/>
                    <a:cs typeface="Times New Roman" panose="02020603050405020304" pitchFamily="18" charset="0"/>
                  </a:rPr>
                  <a:t>)</a:t>
                </a:r>
              </a:p>
            </p:txBody>
          </p:sp>
        </mc:Choice>
        <mc:Fallback xmlns="">
          <p:sp>
            <p:nvSpPr>
              <p:cNvPr id="5" name="Content Placeholder 2">
                <a:extLst>
                  <a:ext uri="{FF2B5EF4-FFF2-40B4-BE49-F238E27FC236}">
                    <a16:creationId xmlns:a16="http://schemas.microsoft.com/office/drawing/2014/main" id="{0E5E005E-BBB8-4401-B9E1-0045DE02B306}"/>
                  </a:ext>
                </a:extLst>
              </p:cNvPr>
              <p:cNvSpPr txBox="1">
                <a:spLocks noRot="1" noChangeAspect="1" noMove="1" noResize="1" noEditPoints="1" noAdjustHandles="1" noChangeArrowheads="1" noChangeShapeType="1" noTextEdit="1"/>
              </p:cNvSpPr>
              <p:nvPr/>
            </p:nvSpPr>
            <p:spPr>
              <a:xfrm>
                <a:off x="0" y="4171408"/>
                <a:ext cx="12192000" cy="565695"/>
              </a:xfrm>
              <a:prstGeom prst="rect">
                <a:avLst/>
              </a:prstGeom>
              <a:blipFill>
                <a:blip r:embed="rId5"/>
                <a:stretch>
                  <a:fillRect l="-900" t="-16129" b="-7527"/>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7A8CF6F-F4FC-60C2-971C-8ABA5733750C}"/>
                  </a:ext>
                </a:extLst>
              </p:cNvPr>
              <p:cNvSpPr txBox="1"/>
              <p:nvPr/>
            </p:nvSpPr>
            <p:spPr>
              <a:xfrm>
                <a:off x="269966" y="4639675"/>
                <a:ext cx="3866606" cy="1818896"/>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fPr>
                        <m:num>
                          <m:sSub>
                            <m:sSub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𝑢</m:t>
                              </m:r>
                            </m:e>
                            <m:sub>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𝑚𝑎𝑥</m:t>
                              </m:r>
                            </m:sub>
                          </m:sSub>
                        </m:num>
                        <m:den>
                          <m:r>
                            <a:rPr lang="en-GB" sz="2800" i="1">
                              <a:solidFill>
                                <a:prstClr val="black"/>
                              </a:solidFill>
                              <a:latin typeface="Cambria Math" panose="02040503050406030204" pitchFamily="18" charset="0"/>
                              <a:ea typeface="Times New Roman" panose="02020603050405020304" pitchFamily="18" charset="0"/>
                              <a:cs typeface="Times New Roman" panose="02020603050405020304" pitchFamily="18" charset="0"/>
                            </a:rPr>
                            <m:t>𝑉</m:t>
                          </m:r>
                        </m:den>
                      </m:f>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a:solidFill>
                                    <a:prstClr val="black"/>
                                  </a:solidFill>
                                  <a:latin typeface="Cambria Math" panose="02040503050406030204" pitchFamily="18" charset="0"/>
                                  <a:cs typeface="Times New Roman" panose="02020603050405020304" pitchFamily="18" charset="0"/>
                                </a:rPr>
                              </m:ctrlPr>
                            </m:fPr>
                            <m:num>
                              <m:sSubSup>
                                <m:sSubSupPr>
                                  <m:ctrlPr>
                                    <a:rPr lang="en-GB" sz="2800" i="1">
                                      <a:solidFill>
                                        <a:prstClr val="black"/>
                                      </a:solidFill>
                                      <a:latin typeface="Cambria Math" panose="02040503050406030204" pitchFamily="18" charset="0"/>
                                      <a:cs typeface="Times New Roman" panose="02020603050405020304" pitchFamily="18" charset="0"/>
                                    </a:rPr>
                                  </m:ctrlPr>
                                </m:sSubSupPr>
                                <m:e>
                                  <m:r>
                                    <a:rPr lang="en-GB" sz="2800" i="1">
                                      <a:solidFill>
                                        <a:prstClr val="black"/>
                                      </a:solidFill>
                                      <a:latin typeface="Cambria Math" panose="02040503050406030204" pitchFamily="18" charset="0"/>
                                      <a:cs typeface="Times New Roman" panose="02020603050405020304" pitchFamily="18" charset="0"/>
                                    </a:rPr>
                                    <m:t>𝑟</m:t>
                                  </m:r>
                                </m:e>
                                <m:sub>
                                  <m:r>
                                    <a:rPr lang="en-GB" sz="2800" i="1">
                                      <a:solidFill>
                                        <a:prstClr val="black"/>
                                      </a:solidFill>
                                      <a:latin typeface="Cambria Math" panose="02040503050406030204" pitchFamily="18" charset="0"/>
                                      <a:cs typeface="Times New Roman" panose="02020603050405020304" pitchFamily="18" charset="0"/>
                                    </a:rPr>
                                    <m:t>0</m:t>
                                  </m:r>
                                </m:sub>
                                <m:sup>
                                  <m:r>
                                    <a:rPr lang="en-GB" sz="2800" i="1">
                                      <a:solidFill>
                                        <a:prstClr val="black"/>
                                      </a:solidFill>
                                      <a:latin typeface="Cambria Math" panose="02040503050406030204" pitchFamily="18" charset="0"/>
                                      <a:cs typeface="Times New Roman" panose="02020603050405020304" pitchFamily="18" charset="0"/>
                                    </a:rPr>
                                    <m:t>2</m:t>
                                  </m:r>
                                </m:sup>
                              </m:sSubSup>
                            </m:num>
                            <m:den>
                              <m:r>
                                <a:rPr lang="en-GB" sz="2800" i="1">
                                  <a:solidFill>
                                    <a:prstClr val="black"/>
                                  </a:solidFill>
                                  <a:latin typeface="Cambria Math" panose="02040503050406030204" pitchFamily="18" charset="0"/>
                                  <a:cs typeface="Times New Roman" panose="02020603050405020304" pitchFamily="18" charset="0"/>
                                </a:rPr>
                                <m:t>4</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den>
                          </m:f>
                          <m:f>
                            <m:fPr>
                              <m:ctrlPr>
                                <a:rPr lang="en-GB" sz="2800" i="1">
                                  <a:solidFill>
                                    <a:prstClr val="black"/>
                                  </a:solidFill>
                                  <a:latin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cs typeface="Times New Roman" panose="02020603050405020304" pitchFamily="18" charset="0"/>
                                </a:rPr>
                                <m:t>𝑑𝑝</m:t>
                              </m:r>
                            </m:num>
                            <m:den>
                              <m:r>
                                <a:rPr lang="en-GB" sz="2800" i="1">
                                  <a:solidFill>
                                    <a:prstClr val="black"/>
                                  </a:solidFill>
                                  <a:latin typeface="Cambria Math" panose="02040503050406030204" pitchFamily="18" charset="0"/>
                                  <a:cs typeface="Times New Roman" panose="02020603050405020304" pitchFamily="18" charset="0"/>
                                </a:rPr>
                                <m:t>𝑑𝑥</m:t>
                              </m:r>
                            </m:den>
                          </m:f>
                        </m:num>
                        <m:den>
                          <m:r>
                            <a:rPr lang="en-GB" sz="2800" i="1">
                              <a:solidFill>
                                <a:prstClr val="black"/>
                              </a:solidFill>
                              <a:latin typeface="Cambria Math" panose="02040503050406030204" pitchFamily="18" charset="0"/>
                              <a:cs typeface="Times New Roman" panose="02020603050405020304" pitchFamily="18" charset="0"/>
                            </a:rPr>
                            <m:t>−</m:t>
                          </m:r>
                          <m:f>
                            <m:fPr>
                              <m:ctrlPr>
                                <a:rPr lang="en-GB" sz="2800" i="1">
                                  <a:solidFill>
                                    <a:prstClr val="black"/>
                                  </a:solidFill>
                                  <a:latin typeface="Cambria Math" panose="02040503050406030204" pitchFamily="18" charset="0"/>
                                  <a:cs typeface="Times New Roman" panose="02020603050405020304" pitchFamily="18" charset="0"/>
                                </a:rPr>
                              </m:ctrlPr>
                            </m:fPr>
                            <m:num>
                              <m:sSubSup>
                                <m:sSubSupPr>
                                  <m:ctrlPr>
                                    <a:rPr lang="en-GB" sz="2800" i="1">
                                      <a:solidFill>
                                        <a:prstClr val="black"/>
                                      </a:solidFill>
                                      <a:latin typeface="Cambria Math" panose="02040503050406030204" pitchFamily="18" charset="0"/>
                                      <a:cs typeface="Times New Roman" panose="02020603050405020304" pitchFamily="18" charset="0"/>
                                    </a:rPr>
                                  </m:ctrlPr>
                                </m:sSubSupPr>
                                <m:e>
                                  <m:r>
                                    <a:rPr lang="en-GB" sz="2800" i="1">
                                      <a:solidFill>
                                        <a:prstClr val="black"/>
                                      </a:solidFill>
                                      <a:latin typeface="Cambria Math" panose="02040503050406030204" pitchFamily="18" charset="0"/>
                                      <a:cs typeface="Times New Roman" panose="02020603050405020304" pitchFamily="18" charset="0"/>
                                    </a:rPr>
                                    <m:t>𝑟</m:t>
                                  </m:r>
                                </m:e>
                                <m:sub>
                                  <m:r>
                                    <a:rPr lang="en-GB" sz="2800" i="1">
                                      <a:solidFill>
                                        <a:prstClr val="black"/>
                                      </a:solidFill>
                                      <a:latin typeface="Cambria Math" panose="02040503050406030204" pitchFamily="18" charset="0"/>
                                      <a:cs typeface="Times New Roman" panose="02020603050405020304" pitchFamily="18" charset="0"/>
                                    </a:rPr>
                                    <m:t>0</m:t>
                                  </m:r>
                                </m:sub>
                                <m:sup>
                                  <m:r>
                                    <a:rPr lang="en-GB" sz="2800" i="1">
                                      <a:solidFill>
                                        <a:prstClr val="black"/>
                                      </a:solidFill>
                                      <a:latin typeface="Cambria Math" panose="02040503050406030204" pitchFamily="18" charset="0"/>
                                      <a:cs typeface="Times New Roman" panose="02020603050405020304" pitchFamily="18" charset="0"/>
                                    </a:rPr>
                                    <m:t>2</m:t>
                                  </m:r>
                                </m:sup>
                              </m:sSubSup>
                            </m:num>
                            <m:den>
                              <m:r>
                                <a:rPr lang="en-GB" sz="2800" i="1">
                                  <a:solidFill>
                                    <a:prstClr val="black"/>
                                  </a:solidFill>
                                  <a:latin typeface="Cambria Math" panose="02040503050406030204" pitchFamily="18" charset="0"/>
                                  <a:cs typeface="Times New Roman" panose="02020603050405020304" pitchFamily="18" charset="0"/>
                                </a:rPr>
                                <m:t>8</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den>
                          </m:f>
                          <m:d>
                            <m:dPr>
                              <m:ctrlP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𝑑𝑝</m:t>
                                  </m:r>
                                </m:num>
                                <m:den>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𝑑𝑥</m:t>
                                  </m:r>
                                </m:den>
                              </m:f>
                            </m:e>
                          </m:d>
                        </m:den>
                      </m:f>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=2</m:t>
                      </m:r>
                    </m:oMath>
                  </m:oMathPara>
                </a14:m>
                <a:endParaRPr lang="en-GH" sz="2800" dirty="0"/>
              </a:p>
            </p:txBody>
          </p:sp>
        </mc:Choice>
        <mc:Fallback xmlns="">
          <p:sp>
            <p:nvSpPr>
              <p:cNvPr id="6" name="TextBox 5">
                <a:extLst>
                  <a:ext uri="{FF2B5EF4-FFF2-40B4-BE49-F238E27FC236}">
                    <a16:creationId xmlns:a16="http://schemas.microsoft.com/office/drawing/2014/main" id="{F7A8CF6F-F4FC-60C2-971C-8ABA5733750C}"/>
                  </a:ext>
                </a:extLst>
              </p:cNvPr>
              <p:cNvSpPr txBox="1">
                <a:spLocks noRot="1" noChangeAspect="1" noMove="1" noResize="1" noEditPoints="1" noAdjustHandles="1" noChangeArrowheads="1" noChangeShapeType="1" noTextEdit="1"/>
              </p:cNvSpPr>
              <p:nvPr/>
            </p:nvSpPr>
            <p:spPr>
              <a:xfrm>
                <a:off x="269966" y="4639675"/>
                <a:ext cx="3866606" cy="1818896"/>
              </a:xfrm>
              <a:prstGeom prst="rect">
                <a:avLst/>
              </a:prstGeom>
              <a:blipFill>
                <a:blip r:embed="rId6"/>
                <a:stretch>
                  <a:fillRect/>
                </a:stretch>
              </a:blipFill>
            </p:spPr>
            <p:txBody>
              <a:bodyPr/>
              <a:lstStyle/>
              <a:p>
                <a:r>
                  <a:rPr lang="en-GH">
                    <a:noFill/>
                  </a:rPr>
                  <a:t> </a:t>
                </a:r>
              </a:p>
            </p:txBody>
          </p:sp>
        </mc:Fallback>
      </mc:AlternateContent>
    </p:spTree>
    <p:extLst>
      <p:ext uri="{BB962C8B-B14F-4D97-AF65-F5344CB8AC3E}">
        <p14:creationId xmlns:p14="http://schemas.microsoft.com/office/powerpoint/2010/main" val="1993244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7120" y="1"/>
            <a:ext cx="7477760" cy="400594"/>
          </a:xfrm>
        </p:spPr>
        <p:txBody>
          <a:bodyPr>
            <a:normAutofit fontScale="90000"/>
          </a:bodyPr>
          <a:lstStyle/>
          <a:p>
            <a:pPr lvl="0" indent="-228600" algn="ctr">
              <a:lnSpc>
                <a:spcPct val="107000"/>
              </a:lnSpc>
              <a:spcBef>
                <a:spcPts val="0"/>
              </a:spcBef>
              <a:spcAft>
                <a:spcPts val="800"/>
              </a:spcAft>
              <a:tabLst>
                <a:tab pos="3447415" algn="l"/>
              </a:tabLst>
            </a:pPr>
            <a:r>
              <a:rPr lang="en-US" sz="2800" dirty="0">
                <a:solidFill>
                  <a:prstClr val="black"/>
                </a:solidFill>
                <a:latin typeface="Times New Roman" panose="02020603050405020304" pitchFamily="18" charset="0"/>
                <a:ea typeface="Times New Roman" panose="02020603050405020304" pitchFamily="18" charset="0"/>
              </a:rPr>
              <a:t> </a:t>
            </a:r>
            <a:r>
              <a:rPr lang="en-US" sz="2400" b="1" dirty="0">
                <a:solidFill>
                  <a:prstClr val="black"/>
                </a:solidFill>
                <a:latin typeface="Times New Roman" panose="02020603050405020304" pitchFamily="18" charset="0"/>
                <a:ea typeface="Times New Roman" panose="02020603050405020304" pitchFamily="18" charset="0"/>
              </a:rPr>
              <a:t>OTHER</a:t>
            </a:r>
            <a:r>
              <a:rPr lang="en-US" sz="2400" dirty="0">
                <a:solidFill>
                  <a:prstClr val="black"/>
                </a:solidFill>
                <a:latin typeface="Times New Roman" panose="02020603050405020304" pitchFamily="18" charset="0"/>
                <a:ea typeface="Times New Roman" panose="02020603050405020304" pitchFamily="18" charset="0"/>
              </a:rPr>
              <a:t> </a:t>
            </a:r>
            <a:r>
              <a:rPr lang="en-US" sz="2400" b="1" dirty="0">
                <a:solidFill>
                  <a:prstClr val="black"/>
                </a:solidFill>
                <a:latin typeface="Times New Roman" panose="02020603050405020304" pitchFamily="18" charset="0"/>
                <a:ea typeface="Times New Roman" panose="02020603050405020304" pitchFamily="18" charset="0"/>
              </a:rPr>
              <a:t>PIPE FLOW QUANTITIES </a:t>
            </a:r>
            <a:endParaRPr lang="en-US" sz="2400" dirty="0"/>
          </a:p>
        </p:txBody>
      </p:sp>
      <p:sp>
        <p:nvSpPr>
          <p:cNvPr id="3" name="Content Placeholder 2"/>
          <p:cNvSpPr>
            <a:spLocks noGrp="1"/>
          </p:cNvSpPr>
          <p:nvPr>
            <p:ph idx="1"/>
          </p:nvPr>
        </p:nvSpPr>
        <p:spPr>
          <a:xfrm>
            <a:off x="0" y="518161"/>
            <a:ext cx="12192000" cy="512279"/>
          </a:xfrm>
        </p:spPr>
        <p:txBody>
          <a:bodyPr>
            <a:normAutofit/>
          </a:bodyPr>
          <a:lstStyle/>
          <a:p>
            <a:pPr marL="0" indent="0">
              <a:buNone/>
            </a:pPr>
            <a:r>
              <a:rPr lang="en-US" sz="2600" b="1" dirty="0">
                <a:latin typeface="Times New Roman" panose="02020603050405020304" pitchFamily="18" charset="0"/>
                <a:cs typeface="Times New Roman" panose="02020603050405020304" pitchFamily="18" charset="0"/>
              </a:rPr>
              <a:t>Pressure Drop for a Given Length of Pipe</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AA8C447-4D37-1450-64EA-24F43E731F25}"/>
                  </a:ext>
                </a:extLst>
              </p:cNvPr>
              <p:cNvSpPr txBox="1"/>
              <p:nvPr/>
            </p:nvSpPr>
            <p:spPr>
              <a:xfrm>
                <a:off x="513806" y="4081632"/>
                <a:ext cx="3596708" cy="1075872"/>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𝑄</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a:solidFill>
                                <a:prstClr val="black"/>
                              </a:solidFill>
                              <a:latin typeface="Cambria Math" panose="02040503050406030204" pitchFamily="18" charset="0"/>
                              <a:cs typeface="Times New Roman" panose="02020603050405020304" pitchFamily="18" charset="0"/>
                            </a:rPr>
                          </m:ctrlPr>
                        </m:fPr>
                        <m:num>
                          <m: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𝜋</m:t>
                          </m:r>
                          <m:sSubSup>
                            <m:sSubSupPr>
                              <m:ctrlPr>
                                <a:rPr lang="en-GB" sz="2800" i="1">
                                  <a:solidFill>
                                    <a:prstClr val="black"/>
                                  </a:solidFill>
                                  <a:latin typeface="Cambria Math" panose="02040503050406030204" pitchFamily="18" charset="0"/>
                                  <a:cs typeface="Times New Roman" panose="02020603050405020304" pitchFamily="18" charset="0"/>
                                </a:rPr>
                              </m:ctrlPr>
                            </m:sSubSupPr>
                            <m:e>
                              <m:r>
                                <a:rPr lang="en-GB" sz="2800" i="1">
                                  <a:solidFill>
                                    <a:prstClr val="black"/>
                                  </a:solidFill>
                                  <a:latin typeface="Cambria Math" panose="02040503050406030204" pitchFamily="18" charset="0"/>
                                  <a:cs typeface="Times New Roman" panose="02020603050405020304" pitchFamily="18" charset="0"/>
                                </a:rPr>
                                <m:t>𝑟</m:t>
                              </m:r>
                            </m:e>
                            <m:sub>
                              <m:r>
                                <a:rPr lang="en-GB" sz="2800" i="1">
                                  <a:solidFill>
                                    <a:prstClr val="black"/>
                                  </a:solidFill>
                                  <a:latin typeface="Cambria Math" panose="02040503050406030204" pitchFamily="18" charset="0"/>
                                  <a:cs typeface="Times New Roman" panose="02020603050405020304" pitchFamily="18" charset="0"/>
                                </a:rPr>
                                <m:t>0</m:t>
                              </m:r>
                            </m:sub>
                            <m:sup>
                              <m:r>
                                <a:rPr lang="en-GB" sz="2800" b="0" i="1" smtClean="0">
                                  <a:solidFill>
                                    <a:prstClr val="black"/>
                                  </a:solidFill>
                                  <a:latin typeface="Cambria Math" panose="02040503050406030204" pitchFamily="18" charset="0"/>
                                  <a:cs typeface="Times New Roman" panose="02020603050405020304" pitchFamily="18" charset="0"/>
                                </a:rPr>
                                <m:t>4</m:t>
                              </m:r>
                            </m:sup>
                          </m:sSubSup>
                        </m:num>
                        <m:den>
                          <m:r>
                            <a:rPr lang="en-GB" sz="2800" i="1">
                              <a:solidFill>
                                <a:prstClr val="black"/>
                              </a:solidFill>
                              <a:latin typeface="Cambria Math" panose="02040503050406030204" pitchFamily="18" charset="0"/>
                              <a:cs typeface="Times New Roman" panose="02020603050405020304" pitchFamily="18" charset="0"/>
                            </a:rPr>
                            <m:t>8</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den>
                      </m:f>
                      <m:d>
                        <m:dPr>
                          <m:ctrlP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𝑑𝑝</m:t>
                              </m:r>
                            </m:num>
                            <m:den>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𝑑𝑥</m:t>
                              </m:r>
                            </m:den>
                          </m:f>
                        </m:e>
                      </m:d>
                    </m:oMath>
                  </m:oMathPara>
                </a14:m>
                <a:endParaRPr lang="en-GH" sz="2800" dirty="0"/>
              </a:p>
            </p:txBody>
          </p:sp>
        </mc:Choice>
        <mc:Fallback xmlns="">
          <p:sp>
            <p:nvSpPr>
              <p:cNvPr id="4" name="TextBox 3">
                <a:extLst>
                  <a:ext uri="{FF2B5EF4-FFF2-40B4-BE49-F238E27FC236}">
                    <a16:creationId xmlns:a16="http://schemas.microsoft.com/office/drawing/2014/main" id="{EAA8C447-4D37-1450-64EA-24F43E731F25}"/>
                  </a:ext>
                </a:extLst>
              </p:cNvPr>
              <p:cNvSpPr txBox="1">
                <a:spLocks noRot="1" noChangeAspect="1" noMove="1" noResize="1" noEditPoints="1" noAdjustHandles="1" noChangeArrowheads="1" noChangeShapeType="1" noTextEdit="1"/>
              </p:cNvSpPr>
              <p:nvPr/>
            </p:nvSpPr>
            <p:spPr>
              <a:xfrm>
                <a:off x="513806" y="4081632"/>
                <a:ext cx="3596708" cy="1075872"/>
              </a:xfrm>
              <a:prstGeom prst="rect">
                <a:avLst/>
              </a:prstGeom>
              <a:blipFill>
                <a:blip r:embed="rId3"/>
                <a:stretch>
                  <a:fillRect/>
                </a:stretch>
              </a:blipFill>
            </p:spPr>
            <p:txBody>
              <a:bodyPr/>
              <a:lstStyle/>
              <a:p>
                <a:r>
                  <a:rPr lang="en-GH">
                    <a:noFill/>
                  </a:rPr>
                  <a:t> </a:t>
                </a:r>
              </a:p>
            </p:txBody>
          </p:sp>
        </mc:Fallback>
      </mc:AlternateContent>
      <p:sp>
        <p:nvSpPr>
          <p:cNvPr id="5" name="Content Placeholder 2">
            <a:extLst>
              <a:ext uri="{FF2B5EF4-FFF2-40B4-BE49-F238E27FC236}">
                <a16:creationId xmlns:a16="http://schemas.microsoft.com/office/drawing/2014/main" id="{0E5E005E-BBB8-4401-B9E1-0045DE02B306}"/>
              </a:ext>
            </a:extLst>
          </p:cNvPr>
          <p:cNvSpPr txBox="1">
            <a:spLocks/>
          </p:cNvSpPr>
          <p:nvPr/>
        </p:nvSpPr>
        <p:spPr>
          <a:xfrm>
            <a:off x="0" y="3556147"/>
            <a:ext cx="12192000" cy="5656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600" b="1" dirty="0">
                <a:latin typeface="Times New Roman" panose="02020603050405020304" pitchFamily="18" charset="0"/>
                <a:cs typeface="Times New Roman" panose="02020603050405020304" pitchFamily="18" charset="0"/>
              </a:rPr>
              <a:t>(</a:t>
            </a:r>
            <a:r>
              <a:rPr lang="en-US" sz="2600" b="1" dirty="0" err="1">
                <a:latin typeface="Times New Roman" panose="02020603050405020304" pitchFamily="18" charset="0"/>
                <a:cs typeface="Times New Roman" panose="02020603050405020304" pitchFamily="18" charset="0"/>
              </a:rPr>
              <a:t>i</a:t>
            </a:r>
            <a:r>
              <a:rPr lang="en-US" sz="2600" b="1" dirty="0">
                <a:latin typeface="Times New Roman" panose="02020603050405020304" pitchFamily="18" charset="0"/>
                <a:cs typeface="Times New Roman" panose="02020603050405020304" pitchFamily="18" charset="0"/>
              </a:rPr>
              <a:t>) As a Function of Discharge (</a:t>
            </a:r>
            <a:r>
              <a:rPr lang="en-US" sz="2600" b="1" i="1" dirty="0">
                <a:latin typeface="Times New Roman" panose="02020603050405020304" pitchFamily="18" charset="0"/>
                <a:cs typeface="Times New Roman" panose="02020603050405020304" pitchFamily="18" charset="0"/>
              </a:rPr>
              <a:t>Q</a:t>
            </a:r>
            <a:r>
              <a:rPr lang="en-US" sz="2600" b="1" dirty="0">
                <a:latin typeface="Times New Roman" panose="02020603050405020304" pitchFamily="18" charset="0"/>
                <a:cs typeface="Times New Roman" panose="02020603050405020304" pitchFamily="18" charset="0"/>
              </a:rPr>
              <a:t>)</a:t>
            </a:r>
          </a:p>
        </p:txBody>
      </p:sp>
      <p:grpSp>
        <p:nvGrpSpPr>
          <p:cNvPr id="36" name="Group 35">
            <a:extLst>
              <a:ext uri="{FF2B5EF4-FFF2-40B4-BE49-F238E27FC236}">
                <a16:creationId xmlns:a16="http://schemas.microsoft.com/office/drawing/2014/main" id="{ED4EB3B6-F3D9-E885-347B-CE824CBC66AF}"/>
              </a:ext>
            </a:extLst>
          </p:cNvPr>
          <p:cNvGrpSpPr/>
          <p:nvPr/>
        </p:nvGrpSpPr>
        <p:grpSpPr>
          <a:xfrm>
            <a:off x="3257006" y="896934"/>
            <a:ext cx="4214948" cy="2537020"/>
            <a:chOff x="3257006" y="896934"/>
            <a:chExt cx="4214948" cy="2537020"/>
          </a:xfrm>
        </p:grpSpPr>
        <p:grpSp>
          <p:nvGrpSpPr>
            <p:cNvPr id="25" name="Group 24">
              <a:extLst>
                <a:ext uri="{FF2B5EF4-FFF2-40B4-BE49-F238E27FC236}">
                  <a16:creationId xmlns:a16="http://schemas.microsoft.com/office/drawing/2014/main" id="{96AC43EA-4422-EEFD-B4AE-4BBFE17D5530}"/>
                </a:ext>
              </a:extLst>
            </p:cNvPr>
            <p:cNvGrpSpPr/>
            <p:nvPr/>
          </p:nvGrpSpPr>
          <p:grpSpPr>
            <a:xfrm>
              <a:off x="3257006" y="1419280"/>
              <a:ext cx="4214948" cy="2014674"/>
              <a:chOff x="3257006" y="1419280"/>
              <a:chExt cx="4214948" cy="2014674"/>
            </a:xfrm>
          </p:grpSpPr>
          <p:grpSp>
            <p:nvGrpSpPr>
              <p:cNvPr id="19" name="Group 18">
                <a:extLst>
                  <a:ext uri="{FF2B5EF4-FFF2-40B4-BE49-F238E27FC236}">
                    <a16:creationId xmlns:a16="http://schemas.microsoft.com/office/drawing/2014/main" id="{0A60DF9B-8D62-28BA-F9F3-D958EA466380}"/>
                  </a:ext>
                </a:extLst>
              </p:cNvPr>
              <p:cNvGrpSpPr/>
              <p:nvPr/>
            </p:nvGrpSpPr>
            <p:grpSpPr>
              <a:xfrm>
                <a:off x="3257006" y="1486822"/>
                <a:ext cx="4214948" cy="1278150"/>
                <a:chOff x="3257006" y="1486822"/>
                <a:chExt cx="4214948" cy="1278150"/>
              </a:xfrm>
            </p:grpSpPr>
            <p:grpSp>
              <p:nvGrpSpPr>
                <p:cNvPr id="16" name="Group 15">
                  <a:extLst>
                    <a:ext uri="{FF2B5EF4-FFF2-40B4-BE49-F238E27FC236}">
                      <a16:creationId xmlns:a16="http://schemas.microsoft.com/office/drawing/2014/main" id="{BD20730E-4199-D6E4-C521-379780F3B76D}"/>
                    </a:ext>
                  </a:extLst>
                </p:cNvPr>
                <p:cNvGrpSpPr/>
                <p:nvPr/>
              </p:nvGrpSpPr>
              <p:grpSpPr>
                <a:xfrm>
                  <a:off x="3570514" y="1567543"/>
                  <a:ext cx="3901440" cy="1197429"/>
                  <a:chOff x="3570514" y="1567543"/>
                  <a:chExt cx="3901440" cy="1197429"/>
                </a:xfrm>
              </p:grpSpPr>
              <p:cxnSp>
                <p:nvCxnSpPr>
                  <p:cNvPr id="8" name="Straight Connector 7">
                    <a:extLst>
                      <a:ext uri="{FF2B5EF4-FFF2-40B4-BE49-F238E27FC236}">
                        <a16:creationId xmlns:a16="http://schemas.microsoft.com/office/drawing/2014/main" id="{3717A5A1-B2A5-8A2F-7D40-F6273E57DB4C}"/>
                      </a:ext>
                    </a:extLst>
                  </p:cNvPr>
                  <p:cNvCxnSpPr/>
                  <p:nvPr/>
                </p:nvCxnSpPr>
                <p:spPr>
                  <a:xfrm>
                    <a:off x="3570514" y="1567543"/>
                    <a:ext cx="3901440" cy="0"/>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FD81B585-BD4A-6A5A-94E8-DCB2126E463F}"/>
                      </a:ext>
                    </a:extLst>
                  </p:cNvPr>
                  <p:cNvCxnSpPr/>
                  <p:nvPr/>
                </p:nvCxnSpPr>
                <p:spPr>
                  <a:xfrm>
                    <a:off x="3570514" y="2764972"/>
                    <a:ext cx="3901440" cy="0"/>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F27E5309-ED58-A98F-9447-7D00370545D5}"/>
                      </a:ext>
                    </a:extLst>
                  </p:cNvPr>
                  <p:cNvCxnSpPr/>
                  <p:nvPr/>
                </p:nvCxnSpPr>
                <p:spPr>
                  <a:xfrm>
                    <a:off x="3570514" y="2172788"/>
                    <a:ext cx="3901440" cy="0"/>
                  </a:xfrm>
                  <a:prstGeom prst="line">
                    <a:avLst/>
                  </a:prstGeom>
                  <a:ln w="28575">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0C96515-0C81-D6F8-FD9F-1E6B39EA9686}"/>
                      </a:ext>
                    </a:extLst>
                  </p:cNvPr>
                  <p:cNvCxnSpPr>
                    <a:cxnSpLocks/>
                  </p:cNvCxnSpPr>
                  <p:nvPr/>
                </p:nvCxnSpPr>
                <p:spPr>
                  <a:xfrm>
                    <a:off x="3570514" y="2177141"/>
                    <a:ext cx="540000" cy="0"/>
                  </a:xfrm>
                  <a:prstGeom prst="line">
                    <a:avLst/>
                  </a:prstGeom>
                  <a:ln w="38100">
                    <a:solidFill>
                      <a:schemeClr val="tx1"/>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70399782-9712-EFCE-5A39-A0C614A41B0E}"/>
                      </a:ext>
                    </a:extLst>
                  </p:cNvPr>
                  <p:cNvCxnSpPr>
                    <a:cxnSpLocks/>
                  </p:cNvCxnSpPr>
                  <p:nvPr/>
                </p:nvCxnSpPr>
                <p:spPr>
                  <a:xfrm flipV="1">
                    <a:off x="3579223" y="1672919"/>
                    <a:ext cx="0" cy="508578"/>
                  </a:xfrm>
                  <a:prstGeom prst="line">
                    <a:avLst/>
                  </a:prstGeom>
                  <a:ln w="38100">
                    <a:solidFill>
                      <a:schemeClr val="tx1"/>
                    </a:solidFill>
                    <a:headEnd type="none" w="med" len="med"/>
                    <a:tailEnd type="triangle" w="med" len="med"/>
                  </a:ln>
                </p:spPr>
                <p:style>
                  <a:lnRef idx="1">
                    <a:schemeClr val="dk1"/>
                  </a:lnRef>
                  <a:fillRef idx="0">
                    <a:schemeClr val="dk1"/>
                  </a:fillRef>
                  <a:effectRef idx="0">
                    <a:schemeClr val="dk1"/>
                  </a:effectRef>
                  <a:fontRef idx="minor">
                    <a:schemeClr val="tx1"/>
                  </a:fontRef>
                </p:style>
              </p:cxnSp>
            </p:grpSp>
            <p:sp>
              <p:nvSpPr>
                <p:cNvPr id="17" name="TextBox 16">
                  <a:extLst>
                    <a:ext uri="{FF2B5EF4-FFF2-40B4-BE49-F238E27FC236}">
                      <a16:creationId xmlns:a16="http://schemas.microsoft.com/office/drawing/2014/main" id="{318E88C2-1588-5885-C197-D89459AA3E4E}"/>
                    </a:ext>
                  </a:extLst>
                </p:cNvPr>
                <p:cNvSpPr txBox="1"/>
                <p:nvPr/>
              </p:nvSpPr>
              <p:spPr>
                <a:xfrm>
                  <a:off x="3257006" y="1486822"/>
                  <a:ext cx="322217" cy="461665"/>
                </a:xfrm>
                <a:prstGeom prst="rect">
                  <a:avLst/>
                </a:prstGeom>
                <a:noFill/>
              </p:spPr>
              <p:txBody>
                <a:bodyPr wrap="square" rtlCol="0">
                  <a:spAutoFit/>
                </a:bodyPr>
                <a:lstStyle/>
                <a:p>
                  <a:r>
                    <a:rPr lang="en-GB" sz="2400" i="1" dirty="0">
                      <a:latin typeface="Times New Roman" panose="02020603050405020304" pitchFamily="18" charset="0"/>
                      <a:cs typeface="Times New Roman" panose="02020603050405020304" pitchFamily="18" charset="0"/>
                    </a:rPr>
                    <a:t>y</a:t>
                  </a:r>
                  <a:endParaRPr lang="en-GH" sz="2400" i="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A279EA46-1664-C153-AF13-144286C59F13}"/>
                    </a:ext>
                  </a:extLst>
                </p:cNvPr>
                <p:cNvSpPr txBox="1"/>
                <p:nvPr/>
              </p:nvSpPr>
              <p:spPr>
                <a:xfrm>
                  <a:off x="3992874" y="2033507"/>
                  <a:ext cx="322217" cy="461665"/>
                </a:xfrm>
                <a:prstGeom prst="rect">
                  <a:avLst/>
                </a:prstGeom>
                <a:noFill/>
              </p:spPr>
              <p:txBody>
                <a:bodyPr wrap="square" rtlCol="0">
                  <a:spAutoFit/>
                </a:bodyPr>
                <a:lstStyle/>
                <a:p>
                  <a:r>
                    <a:rPr lang="en-GB" sz="2400" i="1" dirty="0">
                      <a:latin typeface="Times New Roman" panose="02020603050405020304" pitchFamily="18" charset="0"/>
                      <a:cs typeface="Times New Roman" panose="02020603050405020304" pitchFamily="18" charset="0"/>
                    </a:rPr>
                    <a:t>x</a:t>
                  </a:r>
                  <a:endParaRPr lang="en-GH" sz="2400" i="1" dirty="0">
                    <a:latin typeface="Times New Roman" panose="02020603050405020304" pitchFamily="18" charset="0"/>
                    <a:cs typeface="Times New Roman" panose="02020603050405020304" pitchFamily="18" charset="0"/>
                  </a:endParaRPr>
                </a:p>
              </p:txBody>
            </p:sp>
          </p:grpSp>
          <p:cxnSp>
            <p:nvCxnSpPr>
              <p:cNvPr id="21" name="Straight Connector 20">
                <a:extLst>
                  <a:ext uri="{FF2B5EF4-FFF2-40B4-BE49-F238E27FC236}">
                    <a16:creationId xmlns:a16="http://schemas.microsoft.com/office/drawing/2014/main" id="{67201A96-C0BF-90D0-2803-C5A9844D0261}"/>
                  </a:ext>
                </a:extLst>
              </p:cNvPr>
              <p:cNvCxnSpPr/>
              <p:nvPr/>
            </p:nvCxnSpPr>
            <p:spPr>
              <a:xfrm>
                <a:off x="4358636" y="1419281"/>
                <a:ext cx="0" cy="1628939"/>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0799B4F2-EC32-86C9-B1D0-147D3FD5A98E}"/>
                  </a:ext>
                </a:extLst>
              </p:cNvPr>
              <p:cNvCxnSpPr/>
              <p:nvPr/>
            </p:nvCxnSpPr>
            <p:spPr>
              <a:xfrm>
                <a:off x="6692537" y="1419280"/>
                <a:ext cx="0" cy="1628939"/>
              </a:xfrm>
              <a:prstGeom prst="line">
                <a:avLst/>
              </a:prstGeom>
              <a:ln w="28575">
                <a:prstDash val="dash"/>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4DA9A58E-A517-49D6-C864-541B68A6AA0D}"/>
                  </a:ext>
                </a:extLst>
              </p:cNvPr>
              <p:cNvSpPr txBox="1"/>
              <p:nvPr/>
            </p:nvSpPr>
            <p:spPr>
              <a:xfrm>
                <a:off x="4145347" y="2894460"/>
                <a:ext cx="496392" cy="523220"/>
              </a:xfrm>
              <a:prstGeom prst="rect">
                <a:avLst/>
              </a:prstGeom>
              <a:noFill/>
            </p:spPr>
            <p:txBody>
              <a:bodyPr wrap="square" rtlCol="0">
                <a:spAutoFit/>
              </a:bodyPr>
              <a:lstStyle/>
              <a:p>
                <a:r>
                  <a:rPr lang="en-GB" sz="2800" i="1" dirty="0">
                    <a:latin typeface="Times New Roman" panose="02020603050405020304" pitchFamily="18" charset="0"/>
                    <a:cs typeface="Times New Roman" panose="02020603050405020304" pitchFamily="18" charset="0"/>
                  </a:rPr>
                  <a:t>x</a:t>
                </a:r>
                <a:r>
                  <a:rPr lang="en-GB" sz="2800" baseline="-25000" dirty="0">
                    <a:latin typeface="Times New Roman" panose="02020603050405020304" pitchFamily="18" charset="0"/>
                    <a:cs typeface="Times New Roman" panose="02020603050405020304" pitchFamily="18" charset="0"/>
                  </a:rPr>
                  <a:t>1</a:t>
                </a:r>
                <a:endParaRPr lang="en-GH" sz="28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8958F0BE-3ADB-6547-2320-E724781D5F58}"/>
                  </a:ext>
                </a:extLst>
              </p:cNvPr>
              <p:cNvSpPr txBox="1"/>
              <p:nvPr/>
            </p:nvSpPr>
            <p:spPr>
              <a:xfrm>
                <a:off x="6518433" y="2910734"/>
                <a:ext cx="496392" cy="523220"/>
              </a:xfrm>
              <a:prstGeom prst="rect">
                <a:avLst/>
              </a:prstGeom>
              <a:noFill/>
            </p:spPr>
            <p:txBody>
              <a:bodyPr wrap="square" rtlCol="0">
                <a:spAutoFit/>
              </a:bodyPr>
              <a:lstStyle/>
              <a:p>
                <a:r>
                  <a:rPr lang="en-GB" sz="2800" i="1" dirty="0">
                    <a:latin typeface="Times New Roman" panose="02020603050405020304" pitchFamily="18" charset="0"/>
                    <a:cs typeface="Times New Roman" panose="02020603050405020304" pitchFamily="18" charset="0"/>
                  </a:rPr>
                  <a:t>x</a:t>
                </a:r>
                <a:r>
                  <a:rPr lang="en-GB" sz="2800" baseline="-25000" dirty="0">
                    <a:latin typeface="Times New Roman" panose="02020603050405020304" pitchFamily="18" charset="0"/>
                    <a:cs typeface="Times New Roman" panose="02020603050405020304" pitchFamily="18" charset="0"/>
                  </a:rPr>
                  <a:t>2</a:t>
                </a:r>
                <a:endParaRPr lang="en-GH" sz="2800" dirty="0">
                  <a:latin typeface="Times New Roman" panose="02020603050405020304" pitchFamily="18" charset="0"/>
                  <a:cs typeface="Times New Roman" panose="02020603050405020304" pitchFamily="18" charset="0"/>
                </a:endParaRPr>
              </a:p>
            </p:txBody>
          </p:sp>
        </p:grpSp>
        <p:grpSp>
          <p:nvGrpSpPr>
            <p:cNvPr id="28" name="Group 27">
              <a:extLst>
                <a:ext uri="{FF2B5EF4-FFF2-40B4-BE49-F238E27FC236}">
                  <a16:creationId xmlns:a16="http://schemas.microsoft.com/office/drawing/2014/main" id="{AFE5DF94-2B56-AB6C-70BD-ADE03FCEA9F1}"/>
                </a:ext>
              </a:extLst>
            </p:cNvPr>
            <p:cNvGrpSpPr/>
            <p:nvPr/>
          </p:nvGrpSpPr>
          <p:grpSpPr>
            <a:xfrm>
              <a:off x="4136638" y="918399"/>
              <a:ext cx="432000" cy="523220"/>
              <a:chOff x="9509760" y="2120532"/>
              <a:chExt cx="432000" cy="523220"/>
            </a:xfrm>
          </p:grpSpPr>
          <p:sp>
            <p:nvSpPr>
              <p:cNvPr id="26" name="Oval 25">
                <a:extLst>
                  <a:ext uri="{FF2B5EF4-FFF2-40B4-BE49-F238E27FC236}">
                    <a16:creationId xmlns:a16="http://schemas.microsoft.com/office/drawing/2014/main" id="{2C36A41F-55F4-12A0-FAE5-BAFDF1E870C2}"/>
                  </a:ext>
                </a:extLst>
              </p:cNvPr>
              <p:cNvSpPr/>
              <p:nvPr/>
            </p:nvSpPr>
            <p:spPr>
              <a:xfrm>
                <a:off x="9509760" y="2181497"/>
                <a:ext cx="432000" cy="432000"/>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27" name="TextBox 26">
                <a:extLst>
                  <a:ext uri="{FF2B5EF4-FFF2-40B4-BE49-F238E27FC236}">
                    <a16:creationId xmlns:a16="http://schemas.microsoft.com/office/drawing/2014/main" id="{9A8EC3BA-5450-9CB6-E8DE-17AC4E20C825}"/>
                  </a:ext>
                </a:extLst>
              </p:cNvPr>
              <p:cNvSpPr txBox="1"/>
              <p:nvPr/>
            </p:nvSpPr>
            <p:spPr>
              <a:xfrm>
                <a:off x="9557588" y="2120532"/>
                <a:ext cx="361399" cy="523220"/>
              </a:xfrm>
              <a:prstGeom prst="rect">
                <a:avLst/>
              </a:prstGeom>
              <a:noFill/>
            </p:spPr>
            <p:txBody>
              <a:bodyPr wrap="square" rtlCol="0">
                <a:spAutoFit/>
              </a:bodyPr>
              <a:lstStyle/>
              <a:p>
                <a:r>
                  <a:rPr lang="en-GB" sz="2800" dirty="0">
                    <a:latin typeface="Times New Roman" panose="02020603050405020304" pitchFamily="18" charset="0"/>
                    <a:cs typeface="Times New Roman" panose="02020603050405020304" pitchFamily="18" charset="0"/>
                  </a:rPr>
                  <a:t>1</a:t>
                </a:r>
                <a:endParaRPr lang="en-GH" sz="2800" dirty="0">
                  <a:latin typeface="Times New Roman" panose="02020603050405020304" pitchFamily="18" charset="0"/>
                  <a:cs typeface="Times New Roman" panose="02020603050405020304" pitchFamily="18" charset="0"/>
                </a:endParaRPr>
              </a:p>
            </p:txBody>
          </p:sp>
        </p:grpSp>
        <p:grpSp>
          <p:nvGrpSpPr>
            <p:cNvPr id="30" name="Group 29">
              <a:extLst>
                <a:ext uri="{FF2B5EF4-FFF2-40B4-BE49-F238E27FC236}">
                  <a16:creationId xmlns:a16="http://schemas.microsoft.com/office/drawing/2014/main" id="{7161A850-005E-D69E-DE99-F15ABFEEF548}"/>
                </a:ext>
              </a:extLst>
            </p:cNvPr>
            <p:cNvGrpSpPr/>
            <p:nvPr/>
          </p:nvGrpSpPr>
          <p:grpSpPr>
            <a:xfrm>
              <a:off x="6476537" y="896934"/>
              <a:ext cx="432000" cy="523220"/>
              <a:chOff x="9509760" y="2120532"/>
              <a:chExt cx="432000" cy="523220"/>
            </a:xfrm>
          </p:grpSpPr>
          <p:sp>
            <p:nvSpPr>
              <p:cNvPr id="31" name="Oval 30">
                <a:extLst>
                  <a:ext uri="{FF2B5EF4-FFF2-40B4-BE49-F238E27FC236}">
                    <a16:creationId xmlns:a16="http://schemas.microsoft.com/office/drawing/2014/main" id="{65AB4A7C-718C-B2AF-5FAE-ADCA8FF44D71}"/>
                  </a:ext>
                </a:extLst>
              </p:cNvPr>
              <p:cNvSpPr/>
              <p:nvPr/>
            </p:nvSpPr>
            <p:spPr>
              <a:xfrm>
                <a:off x="9509760" y="2181497"/>
                <a:ext cx="432000" cy="432000"/>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32" name="TextBox 31">
                <a:extLst>
                  <a:ext uri="{FF2B5EF4-FFF2-40B4-BE49-F238E27FC236}">
                    <a16:creationId xmlns:a16="http://schemas.microsoft.com/office/drawing/2014/main" id="{A7EA695C-116D-62D4-AC48-5DCC85CA0076}"/>
                  </a:ext>
                </a:extLst>
              </p:cNvPr>
              <p:cNvSpPr txBox="1"/>
              <p:nvPr/>
            </p:nvSpPr>
            <p:spPr>
              <a:xfrm>
                <a:off x="9557588" y="2120532"/>
                <a:ext cx="361399" cy="523220"/>
              </a:xfrm>
              <a:prstGeom prst="rect">
                <a:avLst/>
              </a:prstGeom>
              <a:noFill/>
            </p:spPr>
            <p:txBody>
              <a:bodyPr wrap="square" rtlCol="0">
                <a:spAutoFit/>
              </a:bodyPr>
              <a:lstStyle/>
              <a:p>
                <a:r>
                  <a:rPr lang="en-GB" sz="2800" dirty="0">
                    <a:latin typeface="Times New Roman" panose="02020603050405020304" pitchFamily="18" charset="0"/>
                    <a:cs typeface="Times New Roman" panose="02020603050405020304" pitchFamily="18" charset="0"/>
                  </a:rPr>
                  <a:t>2</a:t>
                </a:r>
                <a:endParaRPr lang="en-GH" sz="2800" dirty="0">
                  <a:latin typeface="Times New Roman" panose="02020603050405020304" pitchFamily="18" charset="0"/>
                  <a:cs typeface="Times New Roman" panose="02020603050405020304" pitchFamily="18" charset="0"/>
                </a:endParaRPr>
              </a:p>
            </p:txBody>
          </p:sp>
        </p:grpSp>
        <p:cxnSp>
          <p:nvCxnSpPr>
            <p:cNvPr id="34" name="Straight Arrow Connector 33">
              <a:extLst>
                <a:ext uri="{FF2B5EF4-FFF2-40B4-BE49-F238E27FC236}">
                  <a16:creationId xmlns:a16="http://schemas.microsoft.com/office/drawing/2014/main" id="{2D133D26-AB21-6FFB-506D-AA5264C4ACA5}"/>
                </a:ext>
              </a:extLst>
            </p:cNvPr>
            <p:cNvCxnSpPr/>
            <p:nvPr/>
          </p:nvCxnSpPr>
          <p:spPr>
            <a:xfrm>
              <a:off x="4365165" y="2943711"/>
              <a:ext cx="2339899" cy="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B2DAE69A-791D-C179-FF30-37E95090476D}"/>
                </a:ext>
              </a:extLst>
            </p:cNvPr>
            <p:cNvSpPr txBox="1"/>
            <p:nvPr/>
          </p:nvSpPr>
          <p:spPr>
            <a:xfrm>
              <a:off x="5270998" y="2889237"/>
              <a:ext cx="496392" cy="523220"/>
            </a:xfrm>
            <a:prstGeom prst="rect">
              <a:avLst/>
            </a:prstGeom>
            <a:noFill/>
          </p:spPr>
          <p:txBody>
            <a:bodyPr wrap="square" rtlCol="0">
              <a:spAutoFit/>
            </a:bodyPr>
            <a:lstStyle/>
            <a:p>
              <a:r>
                <a:rPr lang="en-GB" sz="2800" i="1" dirty="0">
                  <a:latin typeface="Times New Roman" panose="02020603050405020304" pitchFamily="18" charset="0"/>
                  <a:cs typeface="Times New Roman" panose="02020603050405020304" pitchFamily="18" charset="0"/>
                </a:rPr>
                <a:t>L</a:t>
              </a:r>
              <a:endParaRPr lang="en-GH" sz="2800" dirty="0">
                <a:latin typeface="Times New Roman" panose="02020603050405020304" pitchFamily="18" charset="0"/>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ED407B5-1B9E-E29A-68C0-FF766A943A8B}"/>
                  </a:ext>
                </a:extLst>
              </p:cNvPr>
              <p:cNvSpPr txBox="1"/>
              <p:nvPr/>
            </p:nvSpPr>
            <p:spPr>
              <a:xfrm>
                <a:off x="513806" y="5422466"/>
                <a:ext cx="3596708" cy="101470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𝑑𝑝</m:t>
                          </m:r>
                        </m:num>
                        <m:den>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𝑑𝑥</m:t>
                          </m:r>
                        </m:den>
                      </m:f>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smtClean="0">
                              <a:solidFill>
                                <a:prstClr val="black"/>
                              </a:solidFill>
                              <a:latin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cs typeface="Times New Roman" panose="02020603050405020304" pitchFamily="18" charset="0"/>
                            </a:rPr>
                            <m:t>8</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𝑄</m:t>
                          </m:r>
                        </m:num>
                        <m:den>
                          <m:sSubSup>
                            <m:sSubSupPr>
                              <m:ctrlPr>
                                <a:rPr lang="en-GB" sz="2800" i="1">
                                  <a:solidFill>
                                    <a:prstClr val="black"/>
                                  </a:solidFill>
                                  <a:latin typeface="Cambria Math" panose="02040503050406030204" pitchFamily="18" charset="0"/>
                                  <a:cs typeface="Times New Roman" panose="02020603050405020304" pitchFamily="18" charset="0"/>
                                </a:rPr>
                              </m:ctrlPr>
                            </m:sSubSupPr>
                            <m:e>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𝜋</m:t>
                              </m:r>
                              <m:r>
                                <a:rPr lang="en-GB" sz="2800" i="1">
                                  <a:solidFill>
                                    <a:prstClr val="black"/>
                                  </a:solidFill>
                                  <a:latin typeface="Cambria Math" panose="02040503050406030204" pitchFamily="18" charset="0"/>
                                  <a:cs typeface="Times New Roman" panose="02020603050405020304" pitchFamily="18" charset="0"/>
                                </a:rPr>
                                <m:t>𝑟</m:t>
                              </m:r>
                            </m:e>
                            <m:sub>
                              <m:r>
                                <a:rPr lang="en-GB" sz="2800" i="1">
                                  <a:solidFill>
                                    <a:prstClr val="black"/>
                                  </a:solidFill>
                                  <a:latin typeface="Cambria Math" panose="02040503050406030204" pitchFamily="18" charset="0"/>
                                  <a:cs typeface="Times New Roman" panose="02020603050405020304" pitchFamily="18" charset="0"/>
                                </a:rPr>
                                <m:t>0</m:t>
                              </m:r>
                            </m:sub>
                            <m:sup>
                              <m:r>
                                <a:rPr lang="en-GB" sz="2800" i="1">
                                  <a:solidFill>
                                    <a:prstClr val="black"/>
                                  </a:solidFill>
                                  <a:latin typeface="Cambria Math" panose="02040503050406030204" pitchFamily="18" charset="0"/>
                                  <a:cs typeface="Times New Roman" panose="02020603050405020304" pitchFamily="18" charset="0"/>
                                </a:rPr>
                                <m:t>4</m:t>
                              </m:r>
                            </m:sup>
                          </m:sSubSup>
                        </m:den>
                      </m:f>
                    </m:oMath>
                  </m:oMathPara>
                </a14:m>
                <a:endParaRPr lang="en-GH" sz="2800" dirty="0"/>
              </a:p>
            </p:txBody>
          </p:sp>
        </mc:Choice>
        <mc:Fallback xmlns="">
          <p:sp>
            <p:nvSpPr>
              <p:cNvPr id="37" name="TextBox 36">
                <a:extLst>
                  <a:ext uri="{FF2B5EF4-FFF2-40B4-BE49-F238E27FC236}">
                    <a16:creationId xmlns:a16="http://schemas.microsoft.com/office/drawing/2014/main" id="{FED407B5-1B9E-E29A-68C0-FF766A943A8B}"/>
                  </a:ext>
                </a:extLst>
              </p:cNvPr>
              <p:cNvSpPr txBox="1">
                <a:spLocks noRot="1" noChangeAspect="1" noMove="1" noResize="1" noEditPoints="1" noAdjustHandles="1" noChangeArrowheads="1" noChangeShapeType="1" noTextEdit="1"/>
              </p:cNvSpPr>
              <p:nvPr/>
            </p:nvSpPr>
            <p:spPr>
              <a:xfrm>
                <a:off x="513806" y="5422466"/>
                <a:ext cx="3596708" cy="1014701"/>
              </a:xfrm>
              <a:prstGeom prst="rect">
                <a:avLst/>
              </a:prstGeom>
              <a:blipFill>
                <a:blip r:embed="rId4"/>
                <a:stretch>
                  <a:fillRect/>
                </a:stretch>
              </a:blipFill>
            </p:spPr>
            <p:txBody>
              <a:bodyPr/>
              <a:lstStyle/>
              <a:p>
                <a:r>
                  <a:rPr lang="en-GH">
                    <a:noFill/>
                  </a:rPr>
                  <a:t> </a:t>
                </a:r>
              </a:p>
            </p:txBody>
          </p:sp>
        </mc:Fallback>
      </mc:AlternateContent>
      <p:cxnSp>
        <p:nvCxnSpPr>
          <p:cNvPr id="38" name="Straight Connector 37">
            <a:extLst>
              <a:ext uri="{FF2B5EF4-FFF2-40B4-BE49-F238E27FC236}">
                <a16:creationId xmlns:a16="http://schemas.microsoft.com/office/drawing/2014/main" id="{932A1AA9-40C2-3977-3080-A29F445922A9}"/>
              </a:ext>
            </a:extLst>
          </p:cNvPr>
          <p:cNvCxnSpPr>
            <a:cxnSpLocks/>
          </p:cNvCxnSpPr>
          <p:nvPr/>
        </p:nvCxnSpPr>
        <p:spPr>
          <a:xfrm>
            <a:off x="4990014" y="3489963"/>
            <a:ext cx="0" cy="3232183"/>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F1E7B42-A6FF-6A67-591B-B14ABC7D5FEB}"/>
                  </a:ext>
                </a:extLst>
              </p:cNvPr>
              <p:cNvSpPr txBox="1"/>
              <p:nvPr/>
            </p:nvSpPr>
            <p:spPr>
              <a:xfrm>
                <a:off x="5087410" y="3780449"/>
                <a:ext cx="3596708" cy="101470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𝑑𝑝</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smtClean="0">
                              <a:solidFill>
                                <a:prstClr val="black"/>
                              </a:solidFill>
                              <a:latin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cs typeface="Times New Roman" panose="02020603050405020304" pitchFamily="18" charset="0"/>
                            </a:rPr>
                            <m:t>8</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𝑄</m:t>
                          </m:r>
                        </m:num>
                        <m:den>
                          <m:sSubSup>
                            <m:sSubSupPr>
                              <m:ctrlPr>
                                <a:rPr lang="en-GB" sz="2800" i="1">
                                  <a:solidFill>
                                    <a:prstClr val="black"/>
                                  </a:solidFill>
                                  <a:latin typeface="Cambria Math" panose="02040503050406030204" pitchFamily="18" charset="0"/>
                                  <a:cs typeface="Times New Roman" panose="02020603050405020304" pitchFamily="18" charset="0"/>
                                </a:rPr>
                              </m:ctrlPr>
                            </m:sSubSupPr>
                            <m:e>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𝜋</m:t>
                              </m:r>
                              <m:r>
                                <a:rPr lang="en-GB" sz="2800" i="1">
                                  <a:solidFill>
                                    <a:prstClr val="black"/>
                                  </a:solidFill>
                                  <a:latin typeface="Cambria Math" panose="02040503050406030204" pitchFamily="18" charset="0"/>
                                  <a:cs typeface="Times New Roman" panose="02020603050405020304" pitchFamily="18" charset="0"/>
                                </a:rPr>
                                <m:t>𝑟</m:t>
                              </m:r>
                            </m:e>
                            <m:sub>
                              <m:r>
                                <a:rPr lang="en-GB" sz="2800" i="1">
                                  <a:solidFill>
                                    <a:prstClr val="black"/>
                                  </a:solidFill>
                                  <a:latin typeface="Cambria Math" panose="02040503050406030204" pitchFamily="18" charset="0"/>
                                  <a:cs typeface="Times New Roman" panose="02020603050405020304" pitchFamily="18" charset="0"/>
                                </a:rPr>
                                <m:t>0</m:t>
                              </m:r>
                            </m:sub>
                            <m:sup>
                              <m:r>
                                <a:rPr lang="en-GB" sz="2800" i="1">
                                  <a:solidFill>
                                    <a:prstClr val="black"/>
                                  </a:solidFill>
                                  <a:latin typeface="Cambria Math" panose="02040503050406030204" pitchFamily="18" charset="0"/>
                                  <a:cs typeface="Times New Roman" panose="02020603050405020304" pitchFamily="18" charset="0"/>
                                </a:rPr>
                                <m:t>4</m:t>
                              </m:r>
                            </m:sup>
                          </m:sSubSup>
                        </m:den>
                      </m:f>
                      <m:r>
                        <a:rPr lang="en-GB" sz="2800" b="0" i="1" smtClean="0">
                          <a:solidFill>
                            <a:prstClr val="black"/>
                          </a:solidFill>
                          <a:latin typeface="Cambria Math" panose="02040503050406030204" pitchFamily="18" charset="0"/>
                          <a:cs typeface="Times New Roman" panose="02020603050405020304" pitchFamily="18" charset="0"/>
                        </a:rPr>
                        <m:t>𝑑𝑥</m:t>
                      </m:r>
                    </m:oMath>
                  </m:oMathPara>
                </a14:m>
                <a:endParaRPr lang="en-GH" sz="2800" dirty="0"/>
              </a:p>
            </p:txBody>
          </p:sp>
        </mc:Choice>
        <mc:Fallback xmlns="">
          <p:sp>
            <p:nvSpPr>
              <p:cNvPr id="40" name="TextBox 39">
                <a:extLst>
                  <a:ext uri="{FF2B5EF4-FFF2-40B4-BE49-F238E27FC236}">
                    <a16:creationId xmlns:a16="http://schemas.microsoft.com/office/drawing/2014/main" id="{8F1E7B42-A6FF-6A67-591B-B14ABC7D5FEB}"/>
                  </a:ext>
                </a:extLst>
              </p:cNvPr>
              <p:cNvSpPr txBox="1">
                <a:spLocks noRot="1" noChangeAspect="1" noMove="1" noResize="1" noEditPoints="1" noAdjustHandles="1" noChangeArrowheads="1" noChangeShapeType="1" noTextEdit="1"/>
              </p:cNvSpPr>
              <p:nvPr/>
            </p:nvSpPr>
            <p:spPr>
              <a:xfrm>
                <a:off x="5087410" y="3780449"/>
                <a:ext cx="3596708" cy="1014701"/>
              </a:xfrm>
              <a:prstGeom prst="rect">
                <a:avLst/>
              </a:prstGeom>
              <a:blipFill>
                <a:blip r:embed="rId5"/>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ADBDD738-2084-CCFF-5369-12D060CA66F9}"/>
                  </a:ext>
                </a:extLst>
              </p:cNvPr>
              <p:cNvSpPr txBox="1"/>
              <p:nvPr/>
            </p:nvSpPr>
            <p:spPr>
              <a:xfrm>
                <a:off x="5087410" y="4998928"/>
                <a:ext cx="4596521" cy="114999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nary>
                        <m:naryPr>
                          <m:ctrlP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naryPr>
                        <m:sub>
                          <m:sSub>
                            <m:sSubPr>
                              <m:ctrlP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𝑃</m:t>
                              </m:r>
                            </m:e>
                            <m:sub>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1</m:t>
                              </m:r>
                            </m:sub>
                          </m:sSub>
                        </m:sub>
                        <m:sup>
                          <m:sSub>
                            <m:sSubPr>
                              <m:ctrlP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𝑃</m:t>
                              </m:r>
                            </m:e>
                            <m:sub>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m:t>
                              </m:r>
                            </m:sub>
                          </m:sSub>
                        </m:sup>
                        <m:e>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𝑑𝑝</m:t>
                          </m:r>
                        </m:e>
                      </m:nary>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nary>
                        <m:nary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naryPr>
                        <m:sub>
                          <m:sSub>
                            <m:sSub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𝑥</m:t>
                              </m:r>
                            </m:e>
                            <m:sub>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m:t>
                              </m:r>
                            </m:sub>
                          </m:sSub>
                        </m:sub>
                        <m:sup>
                          <m:sSub>
                            <m:sSub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𝑥</m:t>
                              </m:r>
                            </m:e>
                            <m:sub>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2</m:t>
                              </m:r>
                            </m:sub>
                          </m:sSub>
                        </m:sup>
                        <m:e>
                          <m:f>
                            <m:fPr>
                              <m:ctrlPr>
                                <a:rPr lang="en-GB" sz="2800" i="1">
                                  <a:solidFill>
                                    <a:prstClr val="black"/>
                                  </a:solidFill>
                                  <a:latin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cs typeface="Times New Roman" panose="02020603050405020304" pitchFamily="18" charset="0"/>
                                </a:rPr>
                                <m:t>8</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𝑄</m:t>
                              </m:r>
                            </m:num>
                            <m:den>
                              <m:sSubSup>
                                <m:sSubSupPr>
                                  <m:ctrlPr>
                                    <a:rPr lang="en-GB" sz="2800" i="1">
                                      <a:solidFill>
                                        <a:prstClr val="black"/>
                                      </a:solidFill>
                                      <a:latin typeface="Cambria Math" panose="02040503050406030204" pitchFamily="18" charset="0"/>
                                      <a:cs typeface="Times New Roman" panose="02020603050405020304" pitchFamily="18" charset="0"/>
                                    </a:rPr>
                                  </m:ctrlPr>
                                </m:sSubSupPr>
                                <m:e>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𝜋</m:t>
                                  </m:r>
                                  <m:r>
                                    <a:rPr lang="en-GB" sz="2800" i="1">
                                      <a:solidFill>
                                        <a:prstClr val="black"/>
                                      </a:solidFill>
                                      <a:latin typeface="Cambria Math" panose="02040503050406030204" pitchFamily="18" charset="0"/>
                                      <a:cs typeface="Times New Roman" panose="02020603050405020304" pitchFamily="18" charset="0"/>
                                    </a:rPr>
                                    <m:t>𝑟</m:t>
                                  </m:r>
                                </m:e>
                                <m:sub>
                                  <m:r>
                                    <a:rPr lang="en-GB" sz="2800" i="1">
                                      <a:solidFill>
                                        <a:prstClr val="black"/>
                                      </a:solidFill>
                                      <a:latin typeface="Cambria Math" panose="02040503050406030204" pitchFamily="18" charset="0"/>
                                      <a:cs typeface="Times New Roman" panose="02020603050405020304" pitchFamily="18" charset="0"/>
                                    </a:rPr>
                                    <m:t>0</m:t>
                                  </m:r>
                                </m:sub>
                                <m:sup>
                                  <m:r>
                                    <a:rPr lang="en-GB" sz="2800" i="1">
                                      <a:solidFill>
                                        <a:prstClr val="black"/>
                                      </a:solidFill>
                                      <a:latin typeface="Cambria Math" panose="02040503050406030204" pitchFamily="18" charset="0"/>
                                      <a:cs typeface="Times New Roman" panose="02020603050405020304" pitchFamily="18" charset="0"/>
                                    </a:rPr>
                                    <m:t>4</m:t>
                                  </m:r>
                                </m:sup>
                              </m:sSubSup>
                            </m:den>
                          </m:f>
                        </m:e>
                      </m:nary>
                      <m:r>
                        <a:rPr lang="en-GB" sz="2800" b="0" i="1" smtClean="0">
                          <a:solidFill>
                            <a:prstClr val="black"/>
                          </a:solidFill>
                          <a:latin typeface="Cambria Math" panose="02040503050406030204" pitchFamily="18" charset="0"/>
                          <a:cs typeface="Times New Roman" panose="02020603050405020304" pitchFamily="18" charset="0"/>
                        </a:rPr>
                        <m:t>𝑑𝑥</m:t>
                      </m:r>
                    </m:oMath>
                  </m:oMathPara>
                </a14:m>
                <a:endParaRPr lang="en-GH" sz="2800" dirty="0"/>
              </a:p>
            </p:txBody>
          </p:sp>
        </mc:Choice>
        <mc:Fallback xmlns="">
          <p:sp>
            <p:nvSpPr>
              <p:cNvPr id="41" name="TextBox 40">
                <a:extLst>
                  <a:ext uri="{FF2B5EF4-FFF2-40B4-BE49-F238E27FC236}">
                    <a16:creationId xmlns:a16="http://schemas.microsoft.com/office/drawing/2014/main" id="{ADBDD738-2084-CCFF-5369-12D060CA66F9}"/>
                  </a:ext>
                </a:extLst>
              </p:cNvPr>
              <p:cNvSpPr txBox="1">
                <a:spLocks noRot="1" noChangeAspect="1" noMove="1" noResize="1" noEditPoints="1" noAdjustHandles="1" noChangeArrowheads="1" noChangeShapeType="1" noTextEdit="1"/>
              </p:cNvSpPr>
              <p:nvPr/>
            </p:nvSpPr>
            <p:spPr>
              <a:xfrm>
                <a:off x="5087410" y="4998928"/>
                <a:ext cx="4596521" cy="1149995"/>
              </a:xfrm>
              <a:prstGeom prst="rect">
                <a:avLst/>
              </a:prstGeom>
              <a:blipFill>
                <a:blip r:embed="rId6"/>
                <a:stretch>
                  <a:fillRect/>
                </a:stretch>
              </a:blipFill>
            </p:spPr>
            <p:txBody>
              <a:bodyPr/>
              <a:lstStyle/>
              <a:p>
                <a:r>
                  <a:rPr lang="en-GH">
                    <a:noFill/>
                  </a:rPr>
                  <a:t> </a:t>
                </a:r>
              </a:p>
            </p:txBody>
          </p:sp>
        </mc:Fallback>
      </mc:AlternateContent>
    </p:spTree>
    <p:extLst>
      <p:ext uri="{BB962C8B-B14F-4D97-AF65-F5344CB8AC3E}">
        <p14:creationId xmlns:p14="http://schemas.microsoft.com/office/powerpoint/2010/main" val="4019375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7120" y="1"/>
            <a:ext cx="7477760" cy="400594"/>
          </a:xfrm>
        </p:spPr>
        <p:txBody>
          <a:bodyPr>
            <a:normAutofit fontScale="90000"/>
          </a:bodyPr>
          <a:lstStyle/>
          <a:p>
            <a:pPr lvl="0" indent="-228600" algn="ctr">
              <a:lnSpc>
                <a:spcPct val="107000"/>
              </a:lnSpc>
              <a:spcBef>
                <a:spcPts val="0"/>
              </a:spcBef>
              <a:spcAft>
                <a:spcPts val="800"/>
              </a:spcAft>
              <a:tabLst>
                <a:tab pos="3447415" algn="l"/>
              </a:tabLst>
            </a:pPr>
            <a:r>
              <a:rPr lang="en-US" sz="2800" dirty="0">
                <a:solidFill>
                  <a:prstClr val="black"/>
                </a:solidFill>
                <a:latin typeface="Times New Roman" panose="02020603050405020304" pitchFamily="18" charset="0"/>
                <a:ea typeface="Times New Roman" panose="02020603050405020304" pitchFamily="18" charset="0"/>
              </a:rPr>
              <a:t> </a:t>
            </a:r>
            <a:r>
              <a:rPr lang="en-US" sz="2400" b="1" dirty="0">
                <a:solidFill>
                  <a:prstClr val="black"/>
                </a:solidFill>
                <a:latin typeface="Times New Roman" panose="02020603050405020304" pitchFamily="18" charset="0"/>
                <a:ea typeface="Times New Roman" panose="02020603050405020304" pitchFamily="18" charset="0"/>
              </a:rPr>
              <a:t>OTHER</a:t>
            </a:r>
            <a:r>
              <a:rPr lang="en-US" sz="2400" dirty="0">
                <a:solidFill>
                  <a:prstClr val="black"/>
                </a:solidFill>
                <a:latin typeface="Times New Roman" panose="02020603050405020304" pitchFamily="18" charset="0"/>
                <a:ea typeface="Times New Roman" panose="02020603050405020304" pitchFamily="18" charset="0"/>
              </a:rPr>
              <a:t> </a:t>
            </a:r>
            <a:r>
              <a:rPr lang="en-US" sz="2400" b="1" dirty="0">
                <a:solidFill>
                  <a:prstClr val="black"/>
                </a:solidFill>
                <a:latin typeface="Times New Roman" panose="02020603050405020304" pitchFamily="18" charset="0"/>
                <a:ea typeface="Times New Roman" panose="02020603050405020304" pitchFamily="18" charset="0"/>
              </a:rPr>
              <a:t>PIPE FLOW QUANTITIES </a:t>
            </a:r>
            <a:endParaRPr lang="en-US" sz="2400" dirty="0"/>
          </a:p>
        </p:txBody>
      </p:sp>
      <p:sp>
        <p:nvSpPr>
          <p:cNvPr id="3" name="Content Placeholder 2"/>
          <p:cNvSpPr>
            <a:spLocks noGrp="1"/>
          </p:cNvSpPr>
          <p:nvPr>
            <p:ph idx="1"/>
          </p:nvPr>
        </p:nvSpPr>
        <p:spPr>
          <a:xfrm>
            <a:off x="0" y="518161"/>
            <a:ext cx="12192000" cy="512279"/>
          </a:xfrm>
        </p:spPr>
        <p:txBody>
          <a:bodyPr>
            <a:normAutofit/>
          </a:bodyPr>
          <a:lstStyle/>
          <a:p>
            <a:pPr marL="0" indent="0">
              <a:buNone/>
            </a:pPr>
            <a:r>
              <a:rPr lang="en-US" sz="2600" b="1" dirty="0">
                <a:latin typeface="Times New Roman" panose="02020603050405020304" pitchFamily="18" charset="0"/>
                <a:cs typeface="Times New Roman" panose="02020603050405020304" pitchFamily="18" charset="0"/>
              </a:rPr>
              <a:t>Pressure Drop for a Given Length of Pipe</a:t>
            </a:r>
          </a:p>
        </p:txBody>
      </p:sp>
      <p:sp>
        <p:nvSpPr>
          <p:cNvPr id="5" name="Content Placeholder 2">
            <a:extLst>
              <a:ext uri="{FF2B5EF4-FFF2-40B4-BE49-F238E27FC236}">
                <a16:creationId xmlns:a16="http://schemas.microsoft.com/office/drawing/2014/main" id="{0E5E005E-BBB8-4401-B9E1-0045DE02B306}"/>
              </a:ext>
            </a:extLst>
          </p:cNvPr>
          <p:cNvSpPr txBox="1">
            <a:spLocks/>
          </p:cNvSpPr>
          <p:nvPr/>
        </p:nvSpPr>
        <p:spPr>
          <a:xfrm>
            <a:off x="0" y="3556147"/>
            <a:ext cx="12192000" cy="5656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600" b="1" dirty="0">
                <a:latin typeface="Times New Roman" panose="02020603050405020304" pitchFamily="18" charset="0"/>
                <a:cs typeface="Times New Roman" panose="02020603050405020304" pitchFamily="18" charset="0"/>
              </a:rPr>
              <a:t>(</a:t>
            </a:r>
            <a:r>
              <a:rPr lang="en-US" sz="2600" b="1" dirty="0" err="1">
                <a:latin typeface="Times New Roman" panose="02020603050405020304" pitchFamily="18" charset="0"/>
                <a:cs typeface="Times New Roman" panose="02020603050405020304" pitchFamily="18" charset="0"/>
              </a:rPr>
              <a:t>i</a:t>
            </a:r>
            <a:r>
              <a:rPr lang="en-US" sz="2600" b="1" dirty="0">
                <a:latin typeface="Times New Roman" panose="02020603050405020304" pitchFamily="18" charset="0"/>
                <a:cs typeface="Times New Roman" panose="02020603050405020304" pitchFamily="18" charset="0"/>
              </a:rPr>
              <a:t>) As a Function of Discharge (</a:t>
            </a:r>
            <a:r>
              <a:rPr lang="en-US" sz="2600" b="1" i="1" dirty="0">
                <a:latin typeface="Times New Roman" panose="02020603050405020304" pitchFamily="18" charset="0"/>
                <a:cs typeface="Times New Roman" panose="02020603050405020304" pitchFamily="18" charset="0"/>
              </a:rPr>
              <a:t>Q</a:t>
            </a:r>
            <a:r>
              <a:rPr lang="en-US" sz="2600" b="1" dirty="0">
                <a:latin typeface="Times New Roman" panose="02020603050405020304" pitchFamily="18" charset="0"/>
                <a:cs typeface="Times New Roman" panose="02020603050405020304" pitchFamily="18" charset="0"/>
              </a:rPr>
              <a:t>)</a:t>
            </a:r>
          </a:p>
        </p:txBody>
      </p:sp>
      <p:grpSp>
        <p:nvGrpSpPr>
          <p:cNvPr id="36" name="Group 35">
            <a:extLst>
              <a:ext uri="{FF2B5EF4-FFF2-40B4-BE49-F238E27FC236}">
                <a16:creationId xmlns:a16="http://schemas.microsoft.com/office/drawing/2014/main" id="{ED4EB3B6-F3D9-E885-347B-CE824CBC66AF}"/>
              </a:ext>
            </a:extLst>
          </p:cNvPr>
          <p:cNvGrpSpPr/>
          <p:nvPr/>
        </p:nvGrpSpPr>
        <p:grpSpPr>
          <a:xfrm>
            <a:off x="3257006" y="896934"/>
            <a:ext cx="4214948" cy="2537020"/>
            <a:chOff x="3257006" y="896934"/>
            <a:chExt cx="4214948" cy="2537020"/>
          </a:xfrm>
        </p:grpSpPr>
        <p:grpSp>
          <p:nvGrpSpPr>
            <p:cNvPr id="25" name="Group 24">
              <a:extLst>
                <a:ext uri="{FF2B5EF4-FFF2-40B4-BE49-F238E27FC236}">
                  <a16:creationId xmlns:a16="http://schemas.microsoft.com/office/drawing/2014/main" id="{96AC43EA-4422-EEFD-B4AE-4BBFE17D5530}"/>
                </a:ext>
              </a:extLst>
            </p:cNvPr>
            <p:cNvGrpSpPr/>
            <p:nvPr/>
          </p:nvGrpSpPr>
          <p:grpSpPr>
            <a:xfrm>
              <a:off x="3257006" y="1419280"/>
              <a:ext cx="4214948" cy="2014674"/>
              <a:chOff x="3257006" y="1419280"/>
              <a:chExt cx="4214948" cy="2014674"/>
            </a:xfrm>
          </p:grpSpPr>
          <p:grpSp>
            <p:nvGrpSpPr>
              <p:cNvPr id="19" name="Group 18">
                <a:extLst>
                  <a:ext uri="{FF2B5EF4-FFF2-40B4-BE49-F238E27FC236}">
                    <a16:creationId xmlns:a16="http://schemas.microsoft.com/office/drawing/2014/main" id="{0A60DF9B-8D62-28BA-F9F3-D958EA466380}"/>
                  </a:ext>
                </a:extLst>
              </p:cNvPr>
              <p:cNvGrpSpPr/>
              <p:nvPr/>
            </p:nvGrpSpPr>
            <p:grpSpPr>
              <a:xfrm>
                <a:off x="3257006" y="1486822"/>
                <a:ext cx="4214948" cy="1278150"/>
                <a:chOff x="3257006" y="1486822"/>
                <a:chExt cx="4214948" cy="1278150"/>
              </a:xfrm>
            </p:grpSpPr>
            <p:grpSp>
              <p:nvGrpSpPr>
                <p:cNvPr id="16" name="Group 15">
                  <a:extLst>
                    <a:ext uri="{FF2B5EF4-FFF2-40B4-BE49-F238E27FC236}">
                      <a16:creationId xmlns:a16="http://schemas.microsoft.com/office/drawing/2014/main" id="{BD20730E-4199-D6E4-C521-379780F3B76D}"/>
                    </a:ext>
                  </a:extLst>
                </p:cNvPr>
                <p:cNvGrpSpPr/>
                <p:nvPr/>
              </p:nvGrpSpPr>
              <p:grpSpPr>
                <a:xfrm>
                  <a:off x="3570514" y="1567543"/>
                  <a:ext cx="3901440" cy="1197429"/>
                  <a:chOff x="3570514" y="1567543"/>
                  <a:chExt cx="3901440" cy="1197429"/>
                </a:xfrm>
              </p:grpSpPr>
              <p:cxnSp>
                <p:nvCxnSpPr>
                  <p:cNvPr id="8" name="Straight Connector 7">
                    <a:extLst>
                      <a:ext uri="{FF2B5EF4-FFF2-40B4-BE49-F238E27FC236}">
                        <a16:creationId xmlns:a16="http://schemas.microsoft.com/office/drawing/2014/main" id="{3717A5A1-B2A5-8A2F-7D40-F6273E57DB4C}"/>
                      </a:ext>
                    </a:extLst>
                  </p:cNvPr>
                  <p:cNvCxnSpPr/>
                  <p:nvPr/>
                </p:nvCxnSpPr>
                <p:spPr>
                  <a:xfrm>
                    <a:off x="3570514" y="1567543"/>
                    <a:ext cx="3901440" cy="0"/>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FD81B585-BD4A-6A5A-94E8-DCB2126E463F}"/>
                      </a:ext>
                    </a:extLst>
                  </p:cNvPr>
                  <p:cNvCxnSpPr/>
                  <p:nvPr/>
                </p:nvCxnSpPr>
                <p:spPr>
                  <a:xfrm>
                    <a:off x="3570514" y="2764972"/>
                    <a:ext cx="3901440" cy="0"/>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F27E5309-ED58-A98F-9447-7D00370545D5}"/>
                      </a:ext>
                    </a:extLst>
                  </p:cNvPr>
                  <p:cNvCxnSpPr/>
                  <p:nvPr/>
                </p:nvCxnSpPr>
                <p:spPr>
                  <a:xfrm>
                    <a:off x="3570514" y="2172788"/>
                    <a:ext cx="3901440" cy="0"/>
                  </a:xfrm>
                  <a:prstGeom prst="line">
                    <a:avLst/>
                  </a:prstGeom>
                  <a:ln w="28575">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0C96515-0C81-D6F8-FD9F-1E6B39EA9686}"/>
                      </a:ext>
                    </a:extLst>
                  </p:cNvPr>
                  <p:cNvCxnSpPr>
                    <a:cxnSpLocks/>
                  </p:cNvCxnSpPr>
                  <p:nvPr/>
                </p:nvCxnSpPr>
                <p:spPr>
                  <a:xfrm>
                    <a:off x="3570514" y="2177141"/>
                    <a:ext cx="540000" cy="0"/>
                  </a:xfrm>
                  <a:prstGeom prst="line">
                    <a:avLst/>
                  </a:prstGeom>
                  <a:ln w="38100">
                    <a:solidFill>
                      <a:schemeClr val="tx1"/>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70399782-9712-EFCE-5A39-A0C614A41B0E}"/>
                      </a:ext>
                    </a:extLst>
                  </p:cNvPr>
                  <p:cNvCxnSpPr>
                    <a:cxnSpLocks/>
                  </p:cNvCxnSpPr>
                  <p:nvPr/>
                </p:nvCxnSpPr>
                <p:spPr>
                  <a:xfrm flipV="1">
                    <a:off x="3579223" y="1672919"/>
                    <a:ext cx="0" cy="508578"/>
                  </a:xfrm>
                  <a:prstGeom prst="line">
                    <a:avLst/>
                  </a:prstGeom>
                  <a:ln w="38100">
                    <a:solidFill>
                      <a:schemeClr val="tx1"/>
                    </a:solidFill>
                    <a:headEnd type="none" w="med" len="med"/>
                    <a:tailEnd type="triangle" w="med" len="med"/>
                  </a:ln>
                </p:spPr>
                <p:style>
                  <a:lnRef idx="1">
                    <a:schemeClr val="dk1"/>
                  </a:lnRef>
                  <a:fillRef idx="0">
                    <a:schemeClr val="dk1"/>
                  </a:fillRef>
                  <a:effectRef idx="0">
                    <a:schemeClr val="dk1"/>
                  </a:effectRef>
                  <a:fontRef idx="minor">
                    <a:schemeClr val="tx1"/>
                  </a:fontRef>
                </p:style>
              </p:cxnSp>
            </p:grpSp>
            <p:sp>
              <p:nvSpPr>
                <p:cNvPr id="17" name="TextBox 16">
                  <a:extLst>
                    <a:ext uri="{FF2B5EF4-FFF2-40B4-BE49-F238E27FC236}">
                      <a16:creationId xmlns:a16="http://schemas.microsoft.com/office/drawing/2014/main" id="{318E88C2-1588-5885-C197-D89459AA3E4E}"/>
                    </a:ext>
                  </a:extLst>
                </p:cNvPr>
                <p:cNvSpPr txBox="1"/>
                <p:nvPr/>
              </p:nvSpPr>
              <p:spPr>
                <a:xfrm>
                  <a:off x="3257006" y="1486822"/>
                  <a:ext cx="322217" cy="461665"/>
                </a:xfrm>
                <a:prstGeom prst="rect">
                  <a:avLst/>
                </a:prstGeom>
                <a:noFill/>
              </p:spPr>
              <p:txBody>
                <a:bodyPr wrap="square" rtlCol="0">
                  <a:spAutoFit/>
                </a:bodyPr>
                <a:lstStyle/>
                <a:p>
                  <a:r>
                    <a:rPr lang="en-GB" sz="2400" i="1" dirty="0">
                      <a:latin typeface="Times New Roman" panose="02020603050405020304" pitchFamily="18" charset="0"/>
                      <a:cs typeface="Times New Roman" panose="02020603050405020304" pitchFamily="18" charset="0"/>
                    </a:rPr>
                    <a:t>y</a:t>
                  </a:r>
                  <a:endParaRPr lang="en-GH" sz="2400" i="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A279EA46-1664-C153-AF13-144286C59F13}"/>
                    </a:ext>
                  </a:extLst>
                </p:cNvPr>
                <p:cNvSpPr txBox="1"/>
                <p:nvPr/>
              </p:nvSpPr>
              <p:spPr>
                <a:xfrm>
                  <a:off x="3992874" y="2033507"/>
                  <a:ext cx="322217" cy="461665"/>
                </a:xfrm>
                <a:prstGeom prst="rect">
                  <a:avLst/>
                </a:prstGeom>
                <a:noFill/>
              </p:spPr>
              <p:txBody>
                <a:bodyPr wrap="square" rtlCol="0">
                  <a:spAutoFit/>
                </a:bodyPr>
                <a:lstStyle/>
                <a:p>
                  <a:r>
                    <a:rPr lang="en-GB" sz="2400" i="1" dirty="0">
                      <a:latin typeface="Times New Roman" panose="02020603050405020304" pitchFamily="18" charset="0"/>
                      <a:cs typeface="Times New Roman" panose="02020603050405020304" pitchFamily="18" charset="0"/>
                    </a:rPr>
                    <a:t>x</a:t>
                  </a:r>
                  <a:endParaRPr lang="en-GH" sz="2400" i="1" dirty="0">
                    <a:latin typeface="Times New Roman" panose="02020603050405020304" pitchFamily="18" charset="0"/>
                    <a:cs typeface="Times New Roman" panose="02020603050405020304" pitchFamily="18" charset="0"/>
                  </a:endParaRPr>
                </a:p>
              </p:txBody>
            </p:sp>
          </p:grpSp>
          <p:cxnSp>
            <p:nvCxnSpPr>
              <p:cNvPr id="21" name="Straight Connector 20">
                <a:extLst>
                  <a:ext uri="{FF2B5EF4-FFF2-40B4-BE49-F238E27FC236}">
                    <a16:creationId xmlns:a16="http://schemas.microsoft.com/office/drawing/2014/main" id="{67201A96-C0BF-90D0-2803-C5A9844D0261}"/>
                  </a:ext>
                </a:extLst>
              </p:cNvPr>
              <p:cNvCxnSpPr/>
              <p:nvPr/>
            </p:nvCxnSpPr>
            <p:spPr>
              <a:xfrm>
                <a:off x="4358636" y="1419281"/>
                <a:ext cx="0" cy="1628939"/>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0799B4F2-EC32-86C9-B1D0-147D3FD5A98E}"/>
                  </a:ext>
                </a:extLst>
              </p:cNvPr>
              <p:cNvCxnSpPr/>
              <p:nvPr/>
            </p:nvCxnSpPr>
            <p:spPr>
              <a:xfrm>
                <a:off x="6692537" y="1419280"/>
                <a:ext cx="0" cy="1628939"/>
              </a:xfrm>
              <a:prstGeom prst="line">
                <a:avLst/>
              </a:prstGeom>
              <a:ln w="28575">
                <a:prstDash val="dash"/>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4DA9A58E-A517-49D6-C864-541B68A6AA0D}"/>
                  </a:ext>
                </a:extLst>
              </p:cNvPr>
              <p:cNvSpPr txBox="1"/>
              <p:nvPr/>
            </p:nvSpPr>
            <p:spPr>
              <a:xfrm>
                <a:off x="4145347" y="2894460"/>
                <a:ext cx="496392" cy="523220"/>
              </a:xfrm>
              <a:prstGeom prst="rect">
                <a:avLst/>
              </a:prstGeom>
              <a:noFill/>
            </p:spPr>
            <p:txBody>
              <a:bodyPr wrap="square" rtlCol="0">
                <a:spAutoFit/>
              </a:bodyPr>
              <a:lstStyle/>
              <a:p>
                <a:r>
                  <a:rPr lang="en-GB" sz="2800" i="1" dirty="0">
                    <a:latin typeface="Times New Roman" panose="02020603050405020304" pitchFamily="18" charset="0"/>
                    <a:cs typeface="Times New Roman" panose="02020603050405020304" pitchFamily="18" charset="0"/>
                  </a:rPr>
                  <a:t>x</a:t>
                </a:r>
                <a:r>
                  <a:rPr lang="en-GB" sz="2800" baseline="-25000" dirty="0">
                    <a:latin typeface="Times New Roman" panose="02020603050405020304" pitchFamily="18" charset="0"/>
                    <a:cs typeface="Times New Roman" panose="02020603050405020304" pitchFamily="18" charset="0"/>
                  </a:rPr>
                  <a:t>1</a:t>
                </a:r>
                <a:endParaRPr lang="en-GH" sz="28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8958F0BE-3ADB-6547-2320-E724781D5F58}"/>
                  </a:ext>
                </a:extLst>
              </p:cNvPr>
              <p:cNvSpPr txBox="1"/>
              <p:nvPr/>
            </p:nvSpPr>
            <p:spPr>
              <a:xfrm>
                <a:off x="6518433" y="2910734"/>
                <a:ext cx="496392" cy="523220"/>
              </a:xfrm>
              <a:prstGeom prst="rect">
                <a:avLst/>
              </a:prstGeom>
              <a:noFill/>
            </p:spPr>
            <p:txBody>
              <a:bodyPr wrap="square" rtlCol="0">
                <a:spAutoFit/>
              </a:bodyPr>
              <a:lstStyle/>
              <a:p>
                <a:r>
                  <a:rPr lang="en-GB" sz="2800" i="1" dirty="0">
                    <a:latin typeface="Times New Roman" panose="02020603050405020304" pitchFamily="18" charset="0"/>
                    <a:cs typeface="Times New Roman" panose="02020603050405020304" pitchFamily="18" charset="0"/>
                  </a:rPr>
                  <a:t>x</a:t>
                </a:r>
                <a:r>
                  <a:rPr lang="en-GB" sz="2800" baseline="-25000" dirty="0">
                    <a:latin typeface="Times New Roman" panose="02020603050405020304" pitchFamily="18" charset="0"/>
                    <a:cs typeface="Times New Roman" panose="02020603050405020304" pitchFamily="18" charset="0"/>
                  </a:rPr>
                  <a:t>2</a:t>
                </a:r>
                <a:endParaRPr lang="en-GH" sz="2800" dirty="0">
                  <a:latin typeface="Times New Roman" panose="02020603050405020304" pitchFamily="18" charset="0"/>
                  <a:cs typeface="Times New Roman" panose="02020603050405020304" pitchFamily="18" charset="0"/>
                </a:endParaRPr>
              </a:p>
            </p:txBody>
          </p:sp>
        </p:grpSp>
        <p:grpSp>
          <p:nvGrpSpPr>
            <p:cNvPr id="28" name="Group 27">
              <a:extLst>
                <a:ext uri="{FF2B5EF4-FFF2-40B4-BE49-F238E27FC236}">
                  <a16:creationId xmlns:a16="http://schemas.microsoft.com/office/drawing/2014/main" id="{AFE5DF94-2B56-AB6C-70BD-ADE03FCEA9F1}"/>
                </a:ext>
              </a:extLst>
            </p:cNvPr>
            <p:cNvGrpSpPr/>
            <p:nvPr/>
          </p:nvGrpSpPr>
          <p:grpSpPr>
            <a:xfrm>
              <a:off x="4136638" y="918399"/>
              <a:ext cx="432000" cy="523220"/>
              <a:chOff x="9509760" y="2120532"/>
              <a:chExt cx="432000" cy="523220"/>
            </a:xfrm>
          </p:grpSpPr>
          <p:sp>
            <p:nvSpPr>
              <p:cNvPr id="26" name="Oval 25">
                <a:extLst>
                  <a:ext uri="{FF2B5EF4-FFF2-40B4-BE49-F238E27FC236}">
                    <a16:creationId xmlns:a16="http://schemas.microsoft.com/office/drawing/2014/main" id="{2C36A41F-55F4-12A0-FAE5-BAFDF1E870C2}"/>
                  </a:ext>
                </a:extLst>
              </p:cNvPr>
              <p:cNvSpPr/>
              <p:nvPr/>
            </p:nvSpPr>
            <p:spPr>
              <a:xfrm>
                <a:off x="9509760" y="2181497"/>
                <a:ext cx="432000" cy="432000"/>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27" name="TextBox 26">
                <a:extLst>
                  <a:ext uri="{FF2B5EF4-FFF2-40B4-BE49-F238E27FC236}">
                    <a16:creationId xmlns:a16="http://schemas.microsoft.com/office/drawing/2014/main" id="{9A8EC3BA-5450-9CB6-E8DE-17AC4E20C825}"/>
                  </a:ext>
                </a:extLst>
              </p:cNvPr>
              <p:cNvSpPr txBox="1"/>
              <p:nvPr/>
            </p:nvSpPr>
            <p:spPr>
              <a:xfrm>
                <a:off x="9557588" y="2120532"/>
                <a:ext cx="361399" cy="523220"/>
              </a:xfrm>
              <a:prstGeom prst="rect">
                <a:avLst/>
              </a:prstGeom>
              <a:noFill/>
            </p:spPr>
            <p:txBody>
              <a:bodyPr wrap="square" rtlCol="0">
                <a:spAutoFit/>
              </a:bodyPr>
              <a:lstStyle/>
              <a:p>
                <a:r>
                  <a:rPr lang="en-GB" sz="2800" dirty="0">
                    <a:latin typeface="Times New Roman" panose="02020603050405020304" pitchFamily="18" charset="0"/>
                    <a:cs typeface="Times New Roman" panose="02020603050405020304" pitchFamily="18" charset="0"/>
                  </a:rPr>
                  <a:t>1</a:t>
                </a:r>
                <a:endParaRPr lang="en-GH" sz="2800" dirty="0">
                  <a:latin typeface="Times New Roman" panose="02020603050405020304" pitchFamily="18" charset="0"/>
                  <a:cs typeface="Times New Roman" panose="02020603050405020304" pitchFamily="18" charset="0"/>
                </a:endParaRPr>
              </a:p>
            </p:txBody>
          </p:sp>
        </p:grpSp>
        <p:grpSp>
          <p:nvGrpSpPr>
            <p:cNvPr id="30" name="Group 29">
              <a:extLst>
                <a:ext uri="{FF2B5EF4-FFF2-40B4-BE49-F238E27FC236}">
                  <a16:creationId xmlns:a16="http://schemas.microsoft.com/office/drawing/2014/main" id="{7161A850-005E-D69E-DE99-F15ABFEEF548}"/>
                </a:ext>
              </a:extLst>
            </p:cNvPr>
            <p:cNvGrpSpPr/>
            <p:nvPr/>
          </p:nvGrpSpPr>
          <p:grpSpPr>
            <a:xfrm>
              <a:off x="6476537" y="896934"/>
              <a:ext cx="432000" cy="523220"/>
              <a:chOff x="9509760" y="2120532"/>
              <a:chExt cx="432000" cy="523220"/>
            </a:xfrm>
          </p:grpSpPr>
          <p:sp>
            <p:nvSpPr>
              <p:cNvPr id="31" name="Oval 30">
                <a:extLst>
                  <a:ext uri="{FF2B5EF4-FFF2-40B4-BE49-F238E27FC236}">
                    <a16:creationId xmlns:a16="http://schemas.microsoft.com/office/drawing/2014/main" id="{65AB4A7C-718C-B2AF-5FAE-ADCA8FF44D71}"/>
                  </a:ext>
                </a:extLst>
              </p:cNvPr>
              <p:cNvSpPr/>
              <p:nvPr/>
            </p:nvSpPr>
            <p:spPr>
              <a:xfrm>
                <a:off x="9509760" y="2181497"/>
                <a:ext cx="432000" cy="432000"/>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32" name="TextBox 31">
                <a:extLst>
                  <a:ext uri="{FF2B5EF4-FFF2-40B4-BE49-F238E27FC236}">
                    <a16:creationId xmlns:a16="http://schemas.microsoft.com/office/drawing/2014/main" id="{A7EA695C-116D-62D4-AC48-5DCC85CA0076}"/>
                  </a:ext>
                </a:extLst>
              </p:cNvPr>
              <p:cNvSpPr txBox="1"/>
              <p:nvPr/>
            </p:nvSpPr>
            <p:spPr>
              <a:xfrm>
                <a:off x="9557588" y="2120532"/>
                <a:ext cx="361399" cy="523220"/>
              </a:xfrm>
              <a:prstGeom prst="rect">
                <a:avLst/>
              </a:prstGeom>
              <a:noFill/>
            </p:spPr>
            <p:txBody>
              <a:bodyPr wrap="square" rtlCol="0">
                <a:spAutoFit/>
              </a:bodyPr>
              <a:lstStyle/>
              <a:p>
                <a:r>
                  <a:rPr lang="en-GB" sz="2800" dirty="0">
                    <a:latin typeface="Times New Roman" panose="02020603050405020304" pitchFamily="18" charset="0"/>
                    <a:cs typeface="Times New Roman" panose="02020603050405020304" pitchFamily="18" charset="0"/>
                  </a:rPr>
                  <a:t>2</a:t>
                </a:r>
                <a:endParaRPr lang="en-GH" sz="2800" dirty="0">
                  <a:latin typeface="Times New Roman" panose="02020603050405020304" pitchFamily="18" charset="0"/>
                  <a:cs typeface="Times New Roman" panose="02020603050405020304" pitchFamily="18" charset="0"/>
                </a:endParaRPr>
              </a:p>
            </p:txBody>
          </p:sp>
        </p:grpSp>
        <p:cxnSp>
          <p:nvCxnSpPr>
            <p:cNvPr id="34" name="Straight Arrow Connector 33">
              <a:extLst>
                <a:ext uri="{FF2B5EF4-FFF2-40B4-BE49-F238E27FC236}">
                  <a16:creationId xmlns:a16="http://schemas.microsoft.com/office/drawing/2014/main" id="{2D133D26-AB21-6FFB-506D-AA5264C4ACA5}"/>
                </a:ext>
              </a:extLst>
            </p:cNvPr>
            <p:cNvCxnSpPr/>
            <p:nvPr/>
          </p:nvCxnSpPr>
          <p:spPr>
            <a:xfrm>
              <a:off x="4365165" y="2943711"/>
              <a:ext cx="2339899" cy="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B2DAE69A-791D-C179-FF30-37E95090476D}"/>
                </a:ext>
              </a:extLst>
            </p:cNvPr>
            <p:cNvSpPr txBox="1"/>
            <p:nvPr/>
          </p:nvSpPr>
          <p:spPr>
            <a:xfrm>
              <a:off x="5270998" y="2889237"/>
              <a:ext cx="496392" cy="523220"/>
            </a:xfrm>
            <a:prstGeom prst="rect">
              <a:avLst/>
            </a:prstGeom>
            <a:noFill/>
          </p:spPr>
          <p:txBody>
            <a:bodyPr wrap="square" rtlCol="0">
              <a:spAutoFit/>
            </a:bodyPr>
            <a:lstStyle/>
            <a:p>
              <a:r>
                <a:rPr lang="en-GB" sz="2800" i="1" dirty="0">
                  <a:latin typeface="Times New Roman" panose="02020603050405020304" pitchFamily="18" charset="0"/>
                  <a:cs typeface="Times New Roman" panose="02020603050405020304" pitchFamily="18" charset="0"/>
                </a:rPr>
                <a:t>L</a:t>
              </a:r>
              <a:endParaRPr lang="en-GH" sz="2800" dirty="0">
                <a:latin typeface="Times New Roman" panose="02020603050405020304" pitchFamily="18" charset="0"/>
                <a:cs typeface="Times New Roman" panose="02020603050405020304" pitchFamily="18" charset="0"/>
              </a:endParaRPr>
            </a:p>
          </p:txBody>
        </p:sp>
      </p:grpSp>
      <p:cxnSp>
        <p:nvCxnSpPr>
          <p:cNvPr id="38" name="Straight Connector 37">
            <a:extLst>
              <a:ext uri="{FF2B5EF4-FFF2-40B4-BE49-F238E27FC236}">
                <a16:creationId xmlns:a16="http://schemas.microsoft.com/office/drawing/2014/main" id="{932A1AA9-40C2-3977-3080-A29F445922A9}"/>
              </a:ext>
            </a:extLst>
          </p:cNvPr>
          <p:cNvCxnSpPr>
            <a:cxnSpLocks/>
          </p:cNvCxnSpPr>
          <p:nvPr/>
        </p:nvCxnSpPr>
        <p:spPr>
          <a:xfrm>
            <a:off x="4990014" y="3489963"/>
            <a:ext cx="0" cy="3232183"/>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ADBDD738-2084-CCFF-5369-12D060CA66F9}"/>
                  </a:ext>
                </a:extLst>
              </p:cNvPr>
              <p:cNvSpPr txBox="1"/>
              <p:nvPr/>
            </p:nvSpPr>
            <p:spPr>
              <a:xfrm>
                <a:off x="58859" y="4132206"/>
                <a:ext cx="4596521" cy="1006109"/>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Sup>
                        <m:sSubSup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SupPr>
                        <m:e>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d>
                            <m:dPr>
                              <m:begChr m:val="["/>
                              <m:endChr m:val="]"/>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dPr>
                            <m:e>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𝑝</m:t>
                              </m:r>
                            </m:e>
                          </m:d>
                        </m:e>
                        <m:sub>
                          <m:sSub>
                            <m:sSub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𝑃</m:t>
                              </m:r>
                            </m:e>
                            <m:sub>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m:t>
                              </m:r>
                            </m:sub>
                          </m:sSub>
                        </m:sub>
                        <m:sup>
                          <m:sSub>
                            <m:sSub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𝑃</m:t>
                              </m:r>
                            </m:e>
                            <m:sub>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2</m:t>
                              </m:r>
                            </m:sub>
                          </m:sSub>
                        </m:sup>
                      </m:sSubSup>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a:solidFill>
                                <a:prstClr val="black"/>
                              </a:solidFill>
                              <a:latin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cs typeface="Times New Roman" panose="02020603050405020304" pitchFamily="18" charset="0"/>
                            </a:rPr>
                            <m:t>8</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𝑄</m:t>
                          </m:r>
                        </m:num>
                        <m:den>
                          <m:sSubSup>
                            <m:sSubSupPr>
                              <m:ctrlPr>
                                <a:rPr lang="en-GB" sz="2800" i="1">
                                  <a:solidFill>
                                    <a:prstClr val="black"/>
                                  </a:solidFill>
                                  <a:latin typeface="Cambria Math" panose="02040503050406030204" pitchFamily="18" charset="0"/>
                                  <a:cs typeface="Times New Roman" panose="02020603050405020304" pitchFamily="18" charset="0"/>
                                </a:rPr>
                              </m:ctrlPr>
                            </m:sSubSupPr>
                            <m:e>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𝜋</m:t>
                              </m:r>
                              <m:r>
                                <a:rPr lang="en-GB" sz="2800" i="1">
                                  <a:solidFill>
                                    <a:prstClr val="black"/>
                                  </a:solidFill>
                                  <a:latin typeface="Cambria Math" panose="02040503050406030204" pitchFamily="18" charset="0"/>
                                  <a:cs typeface="Times New Roman" panose="02020603050405020304" pitchFamily="18" charset="0"/>
                                </a:rPr>
                                <m:t>𝑟</m:t>
                              </m:r>
                            </m:e>
                            <m:sub>
                              <m:r>
                                <a:rPr lang="en-GB" sz="2800" i="1">
                                  <a:solidFill>
                                    <a:prstClr val="black"/>
                                  </a:solidFill>
                                  <a:latin typeface="Cambria Math" panose="02040503050406030204" pitchFamily="18" charset="0"/>
                                  <a:cs typeface="Times New Roman" panose="02020603050405020304" pitchFamily="18" charset="0"/>
                                </a:rPr>
                                <m:t>0</m:t>
                              </m:r>
                            </m:sub>
                            <m:sup>
                              <m:r>
                                <a:rPr lang="en-GB" sz="2800" i="1">
                                  <a:solidFill>
                                    <a:prstClr val="black"/>
                                  </a:solidFill>
                                  <a:latin typeface="Cambria Math" panose="02040503050406030204" pitchFamily="18" charset="0"/>
                                  <a:cs typeface="Times New Roman" panose="02020603050405020304" pitchFamily="18" charset="0"/>
                                </a:rPr>
                                <m:t>4</m:t>
                              </m:r>
                            </m:sup>
                          </m:sSubSup>
                        </m:den>
                      </m:f>
                      <m:sSubSup>
                        <m:sSubSupPr>
                          <m:ctrlPr>
                            <a:rPr lang="en-GB" sz="2800" i="1" smtClean="0">
                              <a:solidFill>
                                <a:prstClr val="black"/>
                              </a:solidFill>
                              <a:latin typeface="Cambria Math" panose="02040503050406030204" pitchFamily="18" charset="0"/>
                              <a:cs typeface="Times New Roman" panose="02020603050405020304" pitchFamily="18" charset="0"/>
                            </a:rPr>
                          </m:ctrlPr>
                        </m:sSubSupPr>
                        <m:e>
                          <m:d>
                            <m:dPr>
                              <m:begChr m:val="["/>
                              <m:endChr m:val="]"/>
                              <m:ctrlPr>
                                <a:rPr lang="en-GB" sz="2800" i="1" smtClean="0">
                                  <a:solidFill>
                                    <a:prstClr val="black"/>
                                  </a:solidFill>
                                  <a:latin typeface="Cambria Math" panose="02040503050406030204" pitchFamily="18" charset="0"/>
                                  <a:cs typeface="Times New Roman" panose="02020603050405020304" pitchFamily="18" charset="0"/>
                                </a:rPr>
                              </m:ctrlPr>
                            </m:dPr>
                            <m:e>
                              <m:r>
                                <a:rPr lang="en-GB" sz="2800" b="0" i="1" smtClean="0">
                                  <a:solidFill>
                                    <a:prstClr val="black"/>
                                  </a:solidFill>
                                  <a:latin typeface="Cambria Math" panose="02040503050406030204" pitchFamily="18" charset="0"/>
                                  <a:cs typeface="Times New Roman" panose="02020603050405020304" pitchFamily="18" charset="0"/>
                                </a:rPr>
                                <m:t>𝑥</m:t>
                              </m:r>
                            </m:e>
                          </m:d>
                        </m:e>
                        <m:sub>
                          <m:sSub>
                            <m:sSubPr>
                              <m:ctrlPr>
                                <a:rPr lang="en-GB" sz="2800" i="1" smtClean="0">
                                  <a:solidFill>
                                    <a:prstClr val="black"/>
                                  </a:solidFill>
                                  <a:latin typeface="Cambria Math" panose="02040503050406030204" pitchFamily="18" charset="0"/>
                                  <a:cs typeface="Times New Roman" panose="02020603050405020304" pitchFamily="18" charset="0"/>
                                </a:rPr>
                              </m:ctrlPr>
                            </m:sSubPr>
                            <m:e>
                              <m:r>
                                <a:rPr lang="en-GB" sz="2800" b="0" i="1" smtClean="0">
                                  <a:solidFill>
                                    <a:prstClr val="black"/>
                                  </a:solidFill>
                                  <a:latin typeface="Cambria Math" panose="02040503050406030204" pitchFamily="18" charset="0"/>
                                  <a:cs typeface="Times New Roman" panose="02020603050405020304" pitchFamily="18" charset="0"/>
                                </a:rPr>
                                <m:t>𝑥</m:t>
                              </m:r>
                            </m:e>
                            <m:sub>
                              <m:r>
                                <a:rPr lang="en-GB" sz="2800" b="0" i="1" smtClean="0">
                                  <a:solidFill>
                                    <a:prstClr val="black"/>
                                  </a:solidFill>
                                  <a:latin typeface="Cambria Math" panose="02040503050406030204" pitchFamily="18" charset="0"/>
                                  <a:cs typeface="Times New Roman" panose="02020603050405020304" pitchFamily="18" charset="0"/>
                                </a:rPr>
                                <m:t>1</m:t>
                              </m:r>
                            </m:sub>
                          </m:sSub>
                        </m:sub>
                        <m:sup>
                          <m:sSub>
                            <m:sSubPr>
                              <m:ctrlPr>
                                <a:rPr lang="en-GB" sz="2800" i="1" smtClean="0">
                                  <a:solidFill>
                                    <a:prstClr val="black"/>
                                  </a:solidFill>
                                  <a:latin typeface="Cambria Math" panose="02040503050406030204" pitchFamily="18" charset="0"/>
                                  <a:cs typeface="Times New Roman" panose="02020603050405020304" pitchFamily="18" charset="0"/>
                                </a:rPr>
                              </m:ctrlPr>
                            </m:sSubPr>
                            <m:e>
                              <m:r>
                                <a:rPr lang="en-GB" sz="2800" b="0" i="1" smtClean="0">
                                  <a:solidFill>
                                    <a:prstClr val="black"/>
                                  </a:solidFill>
                                  <a:latin typeface="Cambria Math" panose="02040503050406030204" pitchFamily="18" charset="0"/>
                                  <a:cs typeface="Times New Roman" panose="02020603050405020304" pitchFamily="18" charset="0"/>
                                </a:rPr>
                                <m:t>𝑥</m:t>
                              </m:r>
                            </m:e>
                            <m:sub>
                              <m:r>
                                <a:rPr lang="en-GB" sz="2800" b="0" i="1" smtClean="0">
                                  <a:solidFill>
                                    <a:prstClr val="black"/>
                                  </a:solidFill>
                                  <a:latin typeface="Cambria Math" panose="02040503050406030204" pitchFamily="18" charset="0"/>
                                  <a:cs typeface="Times New Roman" panose="02020603050405020304" pitchFamily="18" charset="0"/>
                                </a:rPr>
                                <m:t>2</m:t>
                              </m:r>
                            </m:sub>
                          </m:sSub>
                        </m:sup>
                      </m:sSubSup>
                    </m:oMath>
                  </m:oMathPara>
                </a14:m>
                <a:endParaRPr lang="en-GH" sz="2800" dirty="0"/>
              </a:p>
            </p:txBody>
          </p:sp>
        </mc:Choice>
        <mc:Fallback xmlns="">
          <p:sp>
            <p:nvSpPr>
              <p:cNvPr id="41" name="TextBox 40">
                <a:extLst>
                  <a:ext uri="{FF2B5EF4-FFF2-40B4-BE49-F238E27FC236}">
                    <a16:creationId xmlns:a16="http://schemas.microsoft.com/office/drawing/2014/main" id="{ADBDD738-2084-CCFF-5369-12D060CA66F9}"/>
                  </a:ext>
                </a:extLst>
              </p:cNvPr>
              <p:cNvSpPr txBox="1">
                <a:spLocks noRot="1" noChangeAspect="1" noMove="1" noResize="1" noEditPoints="1" noAdjustHandles="1" noChangeArrowheads="1" noChangeShapeType="1" noTextEdit="1"/>
              </p:cNvSpPr>
              <p:nvPr/>
            </p:nvSpPr>
            <p:spPr>
              <a:xfrm>
                <a:off x="58859" y="4132206"/>
                <a:ext cx="4596521" cy="1006109"/>
              </a:xfrm>
              <a:prstGeom prst="rect">
                <a:avLst/>
              </a:prstGeom>
              <a:blipFill>
                <a:blip r:embed="rId3"/>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1BE6A26-2CFA-F08B-91E3-FD0FC195648E}"/>
                  </a:ext>
                </a:extLst>
              </p:cNvPr>
              <p:cNvSpPr txBox="1"/>
              <p:nvPr/>
            </p:nvSpPr>
            <p:spPr>
              <a:xfrm>
                <a:off x="132882" y="5290457"/>
                <a:ext cx="4596521" cy="1006109"/>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d>
                        <m:d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dPr>
                        <m:e>
                          <m:sSub>
                            <m:sSub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𝑃</m:t>
                              </m:r>
                            </m:e>
                            <m:sub>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2</m:t>
                              </m:r>
                            </m:sub>
                          </m:sSub>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sSub>
                            <m:sSub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𝑃</m:t>
                              </m:r>
                            </m:e>
                            <m:sub>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m:t>
                              </m:r>
                            </m:sub>
                          </m:sSub>
                        </m:e>
                      </m:d>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a:solidFill>
                                <a:prstClr val="black"/>
                              </a:solidFill>
                              <a:latin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cs typeface="Times New Roman" panose="02020603050405020304" pitchFamily="18" charset="0"/>
                            </a:rPr>
                            <m:t>8</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𝑄</m:t>
                          </m:r>
                        </m:num>
                        <m:den>
                          <m:sSubSup>
                            <m:sSubSupPr>
                              <m:ctrlPr>
                                <a:rPr lang="en-GB" sz="2800" i="1">
                                  <a:solidFill>
                                    <a:prstClr val="black"/>
                                  </a:solidFill>
                                  <a:latin typeface="Cambria Math" panose="02040503050406030204" pitchFamily="18" charset="0"/>
                                  <a:cs typeface="Times New Roman" panose="02020603050405020304" pitchFamily="18" charset="0"/>
                                </a:rPr>
                              </m:ctrlPr>
                            </m:sSubSupPr>
                            <m:e>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𝜋</m:t>
                              </m:r>
                              <m:r>
                                <a:rPr lang="en-GB" sz="2800" i="1">
                                  <a:solidFill>
                                    <a:prstClr val="black"/>
                                  </a:solidFill>
                                  <a:latin typeface="Cambria Math" panose="02040503050406030204" pitchFamily="18" charset="0"/>
                                  <a:cs typeface="Times New Roman" panose="02020603050405020304" pitchFamily="18" charset="0"/>
                                </a:rPr>
                                <m:t>𝑟</m:t>
                              </m:r>
                            </m:e>
                            <m:sub>
                              <m:r>
                                <a:rPr lang="en-GB" sz="2800" i="1">
                                  <a:solidFill>
                                    <a:prstClr val="black"/>
                                  </a:solidFill>
                                  <a:latin typeface="Cambria Math" panose="02040503050406030204" pitchFamily="18" charset="0"/>
                                  <a:cs typeface="Times New Roman" panose="02020603050405020304" pitchFamily="18" charset="0"/>
                                </a:rPr>
                                <m:t>0</m:t>
                              </m:r>
                            </m:sub>
                            <m:sup>
                              <m:r>
                                <a:rPr lang="en-GB" sz="2800" i="1">
                                  <a:solidFill>
                                    <a:prstClr val="black"/>
                                  </a:solidFill>
                                  <a:latin typeface="Cambria Math" panose="02040503050406030204" pitchFamily="18" charset="0"/>
                                  <a:cs typeface="Times New Roman" panose="02020603050405020304" pitchFamily="18" charset="0"/>
                                </a:rPr>
                                <m:t>4</m:t>
                              </m:r>
                            </m:sup>
                          </m:sSubSup>
                        </m:den>
                      </m:f>
                      <m:d>
                        <m:dPr>
                          <m:ctrlPr>
                            <a:rPr lang="en-GB" sz="2800" i="1">
                              <a:solidFill>
                                <a:prstClr val="black"/>
                              </a:solidFill>
                              <a:latin typeface="Cambria Math" panose="02040503050406030204" pitchFamily="18" charset="0"/>
                              <a:cs typeface="Times New Roman" panose="02020603050405020304" pitchFamily="18" charset="0"/>
                            </a:rPr>
                          </m:ctrlPr>
                        </m:dPr>
                        <m:e>
                          <m:sSub>
                            <m:sSubPr>
                              <m:ctrlPr>
                                <a:rPr lang="en-GB" sz="2800" i="1">
                                  <a:solidFill>
                                    <a:prstClr val="black"/>
                                  </a:solidFill>
                                  <a:latin typeface="Cambria Math" panose="02040503050406030204" pitchFamily="18" charset="0"/>
                                  <a:cs typeface="Times New Roman" panose="02020603050405020304" pitchFamily="18" charset="0"/>
                                </a:rPr>
                              </m:ctrlPr>
                            </m:sSubPr>
                            <m:e>
                              <m:r>
                                <a:rPr lang="en-GB" sz="2800" b="0" i="1" smtClean="0">
                                  <a:solidFill>
                                    <a:prstClr val="black"/>
                                  </a:solidFill>
                                  <a:latin typeface="Cambria Math" panose="02040503050406030204" pitchFamily="18" charset="0"/>
                                  <a:cs typeface="Times New Roman" panose="02020603050405020304" pitchFamily="18" charset="0"/>
                                </a:rPr>
                                <m:t>𝑥</m:t>
                              </m:r>
                            </m:e>
                            <m:sub>
                              <m:r>
                                <a:rPr lang="en-GB" sz="2800" i="1">
                                  <a:solidFill>
                                    <a:prstClr val="black"/>
                                  </a:solidFill>
                                  <a:latin typeface="Cambria Math" panose="02040503050406030204" pitchFamily="18" charset="0"/>
                                  <a:cs typeface="Times New Roman" panose="02020603050405020304" pitchFamily="18" charset="0"/>
                                </a:rPr>
                                <m:t>2</m:t>
                              </m:r>
                            </m:sub>
                          </m:sSub>
                          <m:r>
                            <a:rPr lang="en-GB" sz="2800" i="1">
                              <a:solidFill>
                                <a:prstClr val="black"/>
                              </a:solidFill>
                              <a:latin typeface="Cambria Math" panose="02040503050406030204" pitchFamily="18" charset="0"/>
                              <a:cs typeface="Times New Roman" panose="02020603050405020304" pitchFamily="18" charset="0"/>
                            </a:rPr>
                            <m:t>−</m:t>
                          </m:r>
                          <m:sSub>
                            <m:sSubPr>
                              <m:ctrlPr>
                                <a:rPr lang="en-GB" sz="2800" i="1">
                                  <a:solidFill>
                                    <a:prstClr val="black"/>
                                  </a:solidFill>
                                  <a:latin typeface="Cambria Math" panose="02040503050406030204" pitchFamily="18" charset="0"/>
                                  <a:cs typeface="Times New Roman" panose="02020603050405020304" pitchFamily="18" charset="0"/>
                                </a:rPr>
                              </m:ctrlPr>
                            </m:sSubPr>
                            <m:e>
                              <m:r>
                                <a:rPr lang="en-GB" sz="2800" b="0" i="1" smtClean="0">
                                  <a:solidFill>
                                    <a:prstClr val="black"/>
                                  </a:solidFill>
                                  <a:latin typeface="Cambria Math" panose="02040503050406030204" pitchFamily="18" charset="0"/>
                                  <a:cs typeface="Times New Roman" panose="02020603050405020304" pitchFamily="18" charset="0"/>
                                </a:rPr>
                                <m:t>𝑥</m:t>
                              </m:r>
                            </m:e>
                            <m:sub>
                              <m:r>
                                <a:rPr lang="en-GB" sz="2800" i="1">
                                  <a:solidFill>
                                    <a:prstClr val="black"/>
                                  </a:solidFill>
                                  <a:latin typeface="Cambria Math" panose="02040503050406030204" pitchFamily="18" charset="0"/>
                                  <a:cs typeface="Times New Roman" panose="02020603050405020304" pitchFamily="18" charset="0"/>
                                </a:rPr>
                                <m:t>1</m:t>
                              </m:r>
                            </m:sub>
                          </m:sSub>
                        </m:e>
                      </m:d>
                    </m:oMath>
                  </m:oMathPara>
                </a14:m>
                <a:endParaRPr lang="en-GH" sz="2800" dirty="0"/>
              </a:p>
            </p:txBody>
          </p:sp>
        </mc:Choice>
        <mc:Fallback xmlns="">
          <p:sp>
            <p:nvSpPr>
              <p:cNvPr id="6" name="TextBox 5">
                <a:extLst>
                  <a:ext uri="{FF2B5EF4-FFF2-40B4-BE49-F238E27FC236}">
                    <a16:creationId xmlns:a16="http://schemas.microsoft.com/office/drawing/2014/main" id="{C1BE6A26-2CFA-F08B-91E3-FD0FC195648E}"/>
                  </a:ext>
                </a:extLst>
              </p:cNvPr>
              <p:cNvSpPr txBox="1">
                <a:spLocks noRot="1" noChangeAspect="1" noMove="1" noResize="1" noEditPoints="1" noAdjustHandles="1" noChangeArrowheads="1" noChangeShapeType="1" noTextEdit="1"/>
              </p:cNvSpPr>
              <p:nvPr/>
            </p:nvSpPr>
            <p:spPr>
              <a:xfrm>
                <a:off x="132882" y="5290457"/>
                <a:ext cx="4596521" cy="1006109"/>
              </a:xfrm>
              <a:prstGeom prst="rect">
                <a:avLst/>
              </a:prstGeom>
              <a:blipFill>
                <a:blip r:embed="rId4"/>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BF1015F-A722-ECB2-6174-3466527A90E4}"/>
                  </a:ext>
                </a:extLst>
              </p:cNvPr>
              <p:cNvSpPr txBox="1"/>
              <p:nvPr/>
            </p:nvSpPr>
            <p:spPr>
              <a:xfrm>
                <a:off x="5301423" y="3757254"/>
                <a:ext cx="2658211" cy="1006109"/>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GB" sz="2800" i="1" smtClean="0">
                              <a:solidFill>
                                <a:prstClr val="black"/>
                              </a:solidFill>
                              <a:latin typeface="Cambria Math" panose="02040503050406030204" pitchFamily="18" charset="0"/>
                              <a:cs typeface="Times New Roman" panose="02020603050405020304" pitchFamily="18" charset="0"/>
                            </a:rPr>
                          </m:ctrlPr>
                        </m:sSubPr>
                        <m:e>
                          <m:r>
                            <a:rPr lang="en-GB" sz="2800" i="1">
                              <a:solidFill>
                                <a:prstClr val="black"/>
                              </a:solidFill>
                              <a:latin typeface="Cambria Math" panose="02040503050406030204" pitchFamily="18" charset="0"/>
                              <a:cs typeface="Times New Roman" panose="02020603050405020304" pitchFamily="18" charset="0"/>
                            </a:rPr>
                            <m:t>𝑃</m:t>
                          </m:r>
                        </m:e>
                        <m:sub>
                          <m:r>
                            <a:rPr lang="en-GB" sz="2800" b="0" i="1" smtClean="0">
                              <a:solidFill>
                                <a:prstClr val="black"/>
                              </a:solidFill>
                              <a:latin typeface="Cambria Math" panose="02040503050406030204" pitchFamily="18" charset="0"/>
                              <a:cs typeface="Times New Roman" panose="02020603050405020304" pitchFamily="18" charset="0"/>
                            </a:rPr>
                            <m:t>1</m:t>
                          </m:r>
                        </m:sub>
                      </m:sSub>
                      <m:r>
                        <a:rPr lang="en-GB" sz="2800" i="1">
                          <a:solidFill>
                            <a:prstClr val="black"/>
                          </a:solidFill>
                          <a:latin typeface="Cambria Math" panose="02040503050406030204" pitchFamily="18" charset="0"/>
                          <a:cs typeface="Times New Roman" panose="02020603050405020304" pitchFamily="18" charset="0"/>
                        </a:rPr>
                        <m:t>−</m:t>
                      </m:r>
                      <m:sSub>
                        <m:sSubPr>
                          <m:ctrlPr>
                            <a:rPr lang="en-GB" sz="2800" i="1">
                              <a:solidFill>
                                <a:prstClr val="black"/>
                              </a:solidFill>
                              <a:latin typeface="Cambria Math" panose="02040503050406030204" pitchFamily="18" charset="0"/>
                              <a:cs typeface="Times New Roman" panose="02020603050405020304" pitchFamily="18" charset="0"/>
                            </a:rPr>
                          </m:ctrlPr>
                        </m:sSubPr>
                        <m:e>
                          <m:r>
                            <a:rPr lang="en-GB" sz="2800" i="1">
                              <a:solidFill>
                                <a:prstClr val="black"/>
                              </a:solidFill>
                              <a:latin typeface="Cambria Math" panose="02040503050406030204" pitchFamily="18" charset="0"/>
                              <a:cs typeface="Times New Roman" panose="02020603050405020304" pitchFamily="18" charset="0"/>
                            </a:rPr>
                            <m:t>𝑃</m:t>
                          </m:r>
                        </m:e>
                        <m:sub>
                          <m:r>
                            <a:rPr lang="en-GB" sz="2800" b="0" i="1" smtClean="0">
                              <a:solidFill>
                                <a:prstClr val="black"/>
                              </a:solidFill>
                              <a:latin typeface="Cambria Math" panose="02040503050406030204" pitchFamily="18" charset="0"/>
                              <a:cs typeface="Times New Roman" panose="02020603050405020304" pitchFamily="18" charset="0"/>
                            </a:rPr>
                            <m:t>2</m:t>
                          </m:r>
                        </m:sub>
                      </m:sSub>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a:solidFill>
                                <a:prstClr val="black"/>
                              </a:solidFill>
                              <a:latin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cs typeface="Times New Roman" panose="02020603050405020304" pitchFamily="18" charset="0"/>
                            </a:rPr>
                            <m:t>8</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𝑄</m:t>
                          </m:r>
                        </m:num>
                        <m:den>
                          <m:sSubSup>
                            <m:sSubSupPr>
                              <m:ctrlPr>
                                <a:rPr lang="en-GB" sz="2800" i="1">
                                  <a:solidFill>
                                    <a:prstClr val="black"/>
                                  </a:solidFill>
                                  <a:latin typeface="Cambria Math" panose="02040503050406030204" pitchFamily="18" charset="0"/>
                                  <a:cs typeface="Times New Roman" panose="02020603050405020304" pitchFamily="18" charset="0"/>
                                </a:rPr>
                              </m:ctrlPr>
                            </m:sSubSupPr>
                            <m:e>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𝜋</m:t>
                              </m:r>
                              <m:r>
                                <a:rPr lang="en-GB" sz="2800" i="1">
                                  <a:solidFill>
                                    <a:prstClr val="black"/>
                                  </a:solidFill>
                                  <a:latin typeface="Cambria Math" panose="02040503050406030204" pitchFamily="18" charset="0"/>
                                  <a:cs typeface="Times New Roman" panose="02020603050405020304" pitchFamily="18" charset="0"/>
                                </a:rPr>
                                <m:t>𝑟</m:t>
                              </m:r>
                            </m:e>
                            <m:sub>
                              <m:r>
                                <a:rPr lang="en-GB" sz="2800" i="1">
                                  <a:solidFill>
                                    <a:prstClr val="black"/>
                                  </a:solidFill>
                                  <a:latin typeface="Cambria Math" panose="02040503050406030204" pitchFamily="18" charset="0"/>
                                  <a:cs typeface="Times New Roman" panose="02020603050405020304" pitchFamily="18" charset="0"/>
                                </a:rPr>
                                <m:t>0</m:t>
                              </m:r>
                            </m:sub>
                            <m:sup>
                              <m:r>
                                <a:rPr lang="en-GB" sz="2800" i="1">
                                  <a:solidFill>
                                    <a:prstClr val="black"/>
                                  </a:solidFill>
                                  <a:latin typeface="Cambria Math" panose="02040503050406030204" pitchFamily="18" charset="0"/>
                                  <a:cs typeface="Times New Roman" panose="02020603050405020304" pitchFamily="18" charset="0"/>
                                </a:rPr>
                                <m:t>4</m:t>
                              </m:r>
                            </m:sup>
                          </m:sSubSup>
                        </m:den>
                      </m:f>
                      <m:r>
                        <a:rPr lang="en-GB" sz="2800" i="1" smtClean="0">
                          <a:solidFill>
                            <a:prstClr val="black"/>
                          </a:solidFill>
                          <a:latin typeface="Cambria Math" panose="02040503050406030204" pitchFamily="18" charset="0"/>
                          <a:cs typeface="Times New Roman" panose="02020603050405020304" pitchFamily="18" charset="0"/>
                        </a:rPr>
                        <m:t>𝐿</m:t>
                      </m:r>
                    </m:oMath>
                  </m:oMathPara>
                </a14:m>
                <a:endParaRPr lang="en-GH" sz="2800" dirty="0"/>
              </a:p>
            </p:txBody>
          </p:sp>
        </mc:Choice>
        <mc:Fallback xmlns="">
          <p:sp>
            <p:nvSpPr>
              <p:cNvPr id="7" name="TextBox 6">
                <a:extLst>
                  <a:ext uri="{FF2B5EF4-FFF2-40B4-BE49-F238E27FC236}">
                    <a16:creationId xmlns:a16="http://schemas.microsoft.com/office/drawing/2014/main" id="{4BF1015F-A722-ECB2-6174-3466527A90E4}"/>
                  </a:ext>
                </a:extLst>
              </p:cNvPr>
              <p:cNvSpPr txBox="1">
                <a:spLocks noRot="1" noChangeAspect="1" noMove="1" noResize="1" noEditPoints="1" noAdjustHandles="1" noChangeArrowheads="1" noChangeShapeType="1" noTextEdit="1"/>
              </p:cNvSpPr>
              <p:nvPr/>
            </p:nvSpPr>
            <p:spPr>
              <a:xfrm>
                <a:off x="5301423" y="3757254"/>
                <a:ext cx="2658211" cy="1006109"/>
              </a:xfrm>
              <a:prstGeom prst="rect">
                <a:avLst/>
              </a:prstGeom>
              <a:blipFill>
                <a:blip r:embed="rId5"/>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F0E574A-0F36-6F4B-36BB-EFEE42D53A18}"/>
                  </a:ext>
                </a:extLst>
              </p:cNvPr>
              <p:cNvSpPr txBox="1"/>
              <p:nvPr/>
            </p:nvSpPr>
            <p:spPr>
              <a:xfrm>
                <a:off x="5250627" y="5186897"/>
                <a:ext cx="2489044" cy="1043299"/>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GB" sz="2800" i="1" smtClean="0">
                              <a:solidFill>
                                <a:prstClr val="black"/>
                              </a:solidFill>
                              <a:latin typeface="Cambria Math" panose="02040503050406030204" pitchFamily="18" charset="0"/>
                              <a:cs typeface="Times New Roman" panose="02020603050405020304" pitchFamily="18" charset="0"/>
                            </a:rPr>
                          </m:ctrlPr>
                        </m:fPr>
                        <m:num>
                          <m:sSub>
                            <m:sSubPr>
                              <m:ctrlPr>
                                <a:rPr lang="en-GB" sz="2800" i="1">
                                  <a:solidFill>
                                    <a:prstClr val="black"/>
                                  </a:solidFill>
                                  <a:latin typeface="Cambria Math" panose="02040503050406030204" pitchFamily="18" charset="0"/>
                                  <a:cs typeface="Times New Roman" panose="02020603050405020304" pitchFamily="18" charset="0"/>
                                </a:rPr>
                              </m:ctrlPr>
                            </m:sSubPr>
                            <m:e>
                              <m:r>
                                <a:rPr lang="en-GB" sz="2800" i="1">
                                  <a:solidFill>
                                    <a:prstClr val="black"/>
                                  </a:solidFill>
                                  <a:latin typeface="Cambria Math" panose="02040503050406030204" pitchFamily="18" charset="0"/>
                                  <a:cs typeface="Times New Roman" panose="02020603050405020304" pitchFamily="18" charset="0"/>
                                </a:rPr>
                                <m:t>𝑃</m:t>
                              </m:r>
                            </m:e>
                            <m:sub>
                              <m:r>
                                <a:rPr lang="en-GB" sz="2800" i="1">
                                  <a:solidFill>
                                    <a:prstClr val="black"/>
                                  </a:solidFill>
                                  <a:latin typeface="Cambria Math" panose="02040503050406030204" pitchFamily="18" charset="0"/>
                                  <a:cs typeface="Times New Roman" panose="02020603050405020304" pitchFamily="18" charset="0"/>
                                </a:rPr>
                                <m:t>1</m:t>
                              </m:r>
                            </m:sub>
                          </m:sSub>
                          <m:r>
                            <a:rPr lang="en-GB" sz="2800" i="1">
                              <a:solidFill>
                                <a:prstClr val="black"/>
                              </a:solidFill>
                              <a:latin typeface="Cambria Math" panose="02040503050406030204" pitchFamily="18" charset="0"/>
                              <a:cs typeface="Times New Roman" panose="02020603050405020304" pitchFamily="18" charset="0"/>
                            </a:rPr>
                            <m:t>−</m:t>
                          </m:r>
                          <m:sSub>
                            <m:sSubPr>
                              <m:ctrlPr>
                                <a:rPr lang="en-GB" sz="2800" i="1">
                                  <a:solidFill>
                                    <a:prstClr val="black"/>
                                  </a:solidFill>
                                  <a:latin typeface="Cambria Math" panose="02040503050406030204" pitchFamily="18" charset="0"/>
                                  <a:cs typeface="Times New Roman" panose="02020603050405020304" pitchFamily="18" charset="0"/>
                                </a:rPr>
                              </m:ctrlPr>
                            </m:sSubPr>
                            <m:e>
                              <m:r>
                                <a:rPr lang="en-GB" sz="2800" i="1">
                                  <a:solidFill>
                                    <a:prstClr val="black"/>
                                  </a:solidFill>
                                  <a:latin typeface="Cambria Math" panose="02040503050406030204" pitchFamily="18" charset="0"/>
                                  <a:cs typeface="Times New Roman" panose="02020603050405020304" pitchFamily="18" charset="0"/>
                                </a:rPr>
                                <m:t>𝑃</m:t>
                              </m:r>
                            </m:e>
                            <m:sub>
                              <m:r>
                                <a:rPr lang="en-GB" sz="2800" i="1">
                                  <a:solidFill>
                                    <a:prstClr val="black"/>
                                  </a:solidFill>
                                  <a:latin typeface="Cambria Math" panose="02040503050406030204" pitchFamily="18" charset="0"/>
                                  <a:cs typeface="Times New Roman" panose="02020603050405020304" pitchFamily="18" charset="0"/>
                                </a:rPr>
                                <m:t>2</m:t>
                              </m:r>
                            </m:sub>
                          </m:sSub>
                        </m:num>
                        <m:den>
                          <m:r>
                            <a:rPr lang="en-GB" sz="2800" i="1">
                              <a:solidFill>
                                <a:prstClr val="black"/>
                              </a:solidFill>
                              <a:latin typeface="Cambria Math" panose="02040503050406030204" pitchFamily="18" charset="0"/>
                              <a:cs typeface="Times New Roman" panose="02020603050405020304" pitchFamily="18" charset="0"/>
                            </a:rPr>
                            <m:t>𝐿</m:t>
                          </m:r>
                        </m:den>
                      </m:f>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a:solidFill>
                                <a:prstClr val="black"/>
                              </a:solidFill>
                              <a:latin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cs typeface="Times New Roman" panose="02020603050405020304" pitchFamily="18" charset="0"/>
                            </a:rPr>
                            <m:t>8</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𝑄</m:t>
                          </m:r>
                        </m:num>
                        <m:den>
                          <m:sSubSup>
                            <m:sSubSupPr>
                              <m:ctrlPr>
                                <a:rPr lang="en-GB" sz="2800" i="1">
                                  <a:solidFill>
                                    <a:prstClr val="black"/>
                                  </a:solidFill>
                                  <a:latin typeface="Cambria Math" panose="02040503050406030204" pitchFamily="18" charset="0"/>
                                  <a:cs typeface="Times New Roman" panose="02020603050405020304" pitchFamily="18" charset="0"/>
                                </a:rPr>
                              </m:ctrlPr>
                            </m:sSubSupPr>
                            <m:e>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𝜋</m:t>
                              </m:r>
                              <m:r>
                                <a:rPr lang="en-GB" sz="2800" i="1">
                                  <a:solidFill>
                                    <a:prstClr val="black"/>
                                  </a:solidFill>
                                  <a:latin typeface="Cambria Math" panose="02040503050406030204" pitchFamily="18" charset="0"/>
                                  <a:cs typeface="Times New Roman" panose="02020603050405020304" pitchFamily="18" charset="0"/>
                                </a:rPr>
                                <m:t>𝑟</m:t>
                              </m:r>
                            </m:e>
                            <m:sub>
                              <m:r>
                                <a:rPr lang="en-GB" sz="2800" i="1">
                                  <a:solidFill>
                                    <a:prstClr val="black"/>
                                  </a:solidFill>
                                  <a:latin typeface="Cambria Math" panose="02040503050406030204" pitchFamily="18" charset="0"/>
                                  <a:cs typeface="Times New Roman" panose="02020603050405020304" pitchFamily="18" charset="0"/>
                                </a:rPr>
                                <m:t>0</m:t>
                              </m:r>
                            </m:sub>
                            <m:sup>
                              <m:r>
                                <a:rPr lang="en-GB" sz="2800" i="1">
                                  <a:solidFill>
                                    <a:prstClr val="black"/>
                                  </a:solidFill>
                                  <a:latin typeface="Cambria Math" panose="02040503050406030204" pitchFamily="18" charset="0"/>
                                  <a:cs typeface="Times New Roman" panose="02020603050405020304" pitchFamily="18" charset="0"/>
                                </a:rPr>
                                <m:t>4</m:t>
                              </m:r>
                            </m:sup>
                          </m:sSubSup>
                        </m:den>
                      </m:f>
                    </m:oMath>
                  </m:oMathPara>
                </a14:m>
                <a:endParaRPr lang="en-GH" sz="2800" dirty="0"/>
              </a:p>
            </p:txBody>
          </p:sp>
        </mc:Choice>
        <mc:Fallback xmlns="">
          <p:sp>
            <p:nvSpPr>
              <p:cNvPr id="13" name="TextBox 12">
                <a:extLst>
                  <a:ext uri="{FF2B5EF4-FFF2-40B4-BE49-F238E27FC236}">
                    <a16:creationId xmlns:a16="http://schemas.microsoft.com/office/drawing/2014/main" id="{4F0E574A-0F36-6F4B-36BB-EFEE42D53A18}"/>
                  </a:ext>
                </a:extLst>
              </p:cNvPr>
              <p:cNvSpPr txBox="1">
                <a:spLocks noRot="1" noChangeAspect="1" noMove="1" noResize="1" noEditPoints="1" noAdjustHandles="1" noChangeArrowheads="1" noChangeShapeType="1" noTextEdit="1"/>
              </p:cNvSpPr>
              <p:nvPr/>
            </p:nvSpPr>
            <p:spPr>
              <a:xfrm>
                <a:off x="5250627" y="5186897"/>
                <a:ext cx="2489044" cy="1043299"/>
              </a:xfrm>
              <a:prstGeom prst="rect">
                <a:avLst/>
              </a:prstGeom>
              <a:blipFill>
                <a:blip r:embed="rId6"/>
                <a:stretch>
                  <a:fillRect/>
                </a:stretch>
              </a:blipFill>
            </p:spPr>
            <p:txBody>
              <a:bodyPr/>
              <a:lstStyle/>
              <a:p>
                <a:r>
                  <a:rPr lang="en-GH">
                    <a:noFill/>
                  </a:rPr>
                  <a:t> </a:t>
                </a:r>
              </a:p>
            </p:txBody>
          </p:sp>
        </mc:Fallback>
      </mc:AlternateContent>
      <p:cxnSp>
        <p:nvCxnSpPr>
          <p:cNvPr id="14" name="Straight Connector 13">
            <a:extLst>
              <a:ext uri="{FF2B5EF4-FFF2-40B4-BE49-F238E27FC236}">
                <a16:creationId xmlns:a16="http://schemas.microsoft.com/office/drawing/2014/main" id="{0B0AA5FA-6631-62CC-2A13-4B4575A87D34}"/>
              </a:ext>
            </a:extLst>
          </p:cNvPr>
          <p:cNvCxnSpPr>
            <a:cxnSpLocks/>
          </p:cNvCxnSpPr>
          <p:nvPr/>
        </p:nvCxnSpPr>
        <p:spPr>
          <a:xfrm>
            <a:off x="8051078" y="3556147"/>
            <a:ext cx="0" cy="3232183"/>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9591768-69FD-7271-1AE7-E11C7F83E9BC}"/>
                  </a:ext>
                </a:extLst>
              </p:cNvPr>
              <p:cNvSpPr txBox="1"/>
              <p:nvPr/>
            </p:nvSpPr>
            <p:spPr>
              <a:xfrm>
                <a:off x="8362487" y="3618787"/>
                <a:ext cx="2993490" cy="89614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GB" sz="2800" i="1" smtClean="0">
                              <a:solidFill>
                                <a:prstClr val="black"/>
                              </a:solidFill>
                              <a:latin typeface="Cambria Math" panose="02040503050406030204" pitchFamily="18" charset="0"/>
                              <a:cs typeface="Times New Roman" panose="02020603050405020304" pitchFamily="18" charset="0"/>
                            </a:rPr>
                          </m:ctrlPr>
                        </m:sSubPr>
                        <m:e>
                          <m:r>
                            <a:rPr lang="en-GB" sz="2800" b="0" i="1" smtClean="0">
                              <a:solidFill>
                                <a:prstClr val="black"/>
                              </a:solidFill>
                              <a:latin typeface="Cambria Math" panose="02040503050406030204" pitchFamily="18" charset="0"/>
                              <a:cs typeface="Times New Roman" panose="02020603050405020304" pitchFamily="18" charset="0"/>
                            </a:rPr>
                            <m:t>𝑟</m:t>
                          </m:r>
                        </m:e>
                        <m:sub>
                          <m:r>
                            <a:rPr lang="en-GB" sz="2800" b="0" i="1" smtClean="0">
                              <a:solidFill>
                                <a:prstClr val="black"/>
                              </a:solidFill>
                              <a:latin typeface="Cambria Math" panose="02040503050406030204" pitchFamily="18" charset="0"/>
                              <a:cs typeface="Times New Roman" panose="02020603050405020304" pitchFamily="18" charset="0"/>
                            </a:rPr>
                            <m:t>0</m:t>
                          </m:r>
                        </m:sub>
                      </m:sSub>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a:solidFill>
                                <a:prstClr val="black"/>
                              </a:solidFill>
                              <a:latin typeface="Cambria Math" panose="02040503050406030204" pitchFamily="18" charset="0"/>
                              <a:cs typeface="Times New Roman" panose="02020603050405020304" pitchFamily="18" charset="0"/>
                            </a:rPr>
                          </m:ctrlPr>
                        </m:fPr>
                        <m:num>
                          <m:r>
                            <a:rPr lang="en-GB" sz="2800" b="0" i="1" smtClean="0">
                              <a:solidFill>
                                <a:prstClr val="black"/>
                              </a:solidFill>
                              <a:latin typeface="Cambria Math" panose="02040503050406030204" pitchFamily="18" charset="0"/>
                              <a:cs typeface="Times New Roman" panose="02020603050405020304" pitchFamily="18" charset="0"/>
                            </a:rPr>
                            <m:t>𝐷</m:t>
                          </m:r>
                        </m:num>
                        <m:den>
                          <m:r>
                            <a:rPr lang="en-GB" sz="2800" b="0" i="1" smtClean="0">
                              <a:solidFill>
                                <a:prstClr val="black"/>
                              </a:solidFill>
                              <a:latin typeface="Cambria Math" panose="02040503050406030204" pitchFamily="18" charset="0"/>
                              <a:cs typeface="Times New Roman" panose="02020603050405020304" pitchFamily="18" charset="0"/>
                            </a:rPr>
                            <m:t>2</m:t>
                          </m:r>
                        </m:den>
                      </m:f>
                    </m:oMath>
                  </m:oMathPara>
                </a14:m>
                <a:endParaRPr lang="en-GH" sz="2800" dirty="0"/>
              </a:p>
            </p:txBody>
          </p:sp>
        </mc:Choice>
        <mc:Fallback xmlns="">
          <p:sp>
            <p:nvSpPr>
              <p:cNvPr id="15" name="TextBox 14">
                <a:extLst>
                  <a:ext uri="{FF2B5EF4-FFF2-40B4-BE49-F238E27FC236}">
                    <a16:creationId xmlns:a16="http://schemas.microsoft.com/office/drawing/2014/main" id="{19591768-69FD-7271-1AE7-E11C7F83E9BC}"/>
                  </a:ext>
                </a:extLst>
              </p:cNvPr>
              <p:cNvSpPr txBox="1">
                <a:spLocks noRot="1" noChangeAspect="1" noMove="1" noResize="1" noEditPoints="1" noAdjustHandles="1" noChangeArrowheads="1" noChangeShapeType="1" noTextEdit="1"/>
              </p:cNvSpPr>
              <p:nvPr/>
            </p:nvSpPr>
            <p:spPr>
              <a:xfrm>
                <a:off x="8362487" y="3618787"/>
                <a:ext cx="2993490" cy="896143"/>
              </a:xfrm>
              <a:prstGeom prst="rect">
                <a:avLst/>
              </a:prstGeom>
              <a:blipFill>
                <a:blip r:embed="rId7"/>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BCABA78-4688-AFFB-451E-9EAB12AD1B99}"/>
                  </a:ext>
                </a:extLst>
              </p:cNvPr>
              <p:cNvSpPr txBox="1"/>
              <p:nvPr/>
            </p:nvSpPr>
            <p:spPr>
              <a:xfrm>
                <a:off x="8278154" y="4863868"/>
                <a:ext cx="2882525" cy="92801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GB" sz="2800" i="1" smtClean="0">
                              <a:solidFill>
                                <a:prstClr val="black"/>
                              </a:solidFill>
                              <a:latin typeface="Cambria Math" panose="02040503050406030204" pitchFamily="18" charset="0"/>
                              <a:cs typeface="Times New Roman" panose="02020603050405020304" pitchFamily="18" charset="0"/>
                            </a:rPr>
                          </m:ctrlPr>
                        </m:fPr>
                        <m:num>
                          <m:sSub>
                            <m:sSubPr>
                              <m:ctrlPr>
                                <a:rPr lang="en-GB" sz="2800" i="1">
                                  <a:solidFill>
                                    <a:prstClr val="black"/>
                                  </a:solidFill>
                                  <a:latin typeface="Cambria Math" panose="02040503050406030204" pitchFamily="18" charset="0"/>
                                  <a:cs typeface="Times New Roman" panose="02020603050405020304" pitchFamily="18" charset="0"/>
                                </a:rPr>
                              </m:ctrlPr>
                            </m:sSubPr>
                            <m:e>
                              <m:r>
                                <a:rPr lang="en-GB" sz="2800" i="1">
                                  <a:solidFill>
                                    <a:prstClr val="black"/>
                                  </a:solidFill>
                                  <a:latin typeface="Cambria Math" panose="02040503050406030204" pitchFamily="18" charset="0"/>
                                  <a:cs typeface="Times New Roman" panose="02020603050405020304" pitchFamily="18" charset="0"/>
                                </a:rPr>
                                <m:t>𝑃</m:t>
                              </m:r>
                            </m:e>
                            <m:sub>
                              <m:r>
                                <a:rPr lang="en-GB" sz="2800" i="1">
                                  <a:solidFill>
                                    <a:prstClr val="black"/>
                                  </a:solidFill>
                                  <a:latin typeface="Cambria Math" panose="02040503050406030204" pitchFamily="18" charset="0"/>
                                  <a:cs typeface="Times New Roman" panose="02020603050405020304" pitchFamily="18" charset="0"/>
                                </a:rPr>
                                <m:t>1</m:t>
                              </m:r>
                            </m:sub>
                          </m:sSub>
                          <m:r>
                            <a:rPr lang="en-GB" sz="2800" i="1">
                              <a:solidFill>
                                <a:prstClr val="black"/>
                              </a:solidFill>
                              <a:latin typeface="Cambria Math" panose="02040503050406030204" pitchFamily="18" charset="0"/>
                              <a:cs typeface="Times New Roman" panose="02020603050405020304" pitchFamily="18" charset="0"/>
                            </a:rPr>
                            <m:t>−</m:t>
                          </m:r>
                          <m:sSub>
                            <m:sSubPr>
                              <m:ctrlPr>
                                <a:rPr lang="en-GB" sz="2800" i="1">
                                  <a:solidFill>
                                    <a:prstClr val="black"/>
                                  </a:solidFill>
                                  <a:latin typeface="Cambria Math" panose="02040503050406030204" pitchFamily="18" charset="0"/>
                                  <a:cs typeface="Times New Roman" panose="02020603050405020304" pitchFamily="18" charset="0"/>
                                </a:rPr>
                              </m:ctrlPr>
                            </m:sSubPr>
                            <m:e>
                              <m:r>
                                <a:rPr lang="en-GB" sz="2800" i="1">
                                  <a:solidFill>
                                    <a:prstClr val="black"/>
                                  </a:solidFill>
                                  <a:latin typeface="Cambria Math" panose="02040503050406030204" pitchFamily="18" charset="0"/>
                                  <a:cs typeface="Times New Roman" panose="02020603050405020304" pitchFamily="18" charset="0"/>
                                </a:rPr>
                                <m:t>𝑃</m:t>
                              </m:r>
                            </m:e>
                            <m:sub>
                              <m:r>
                                <a:rPr lang="en-GB" sz="2800" i="1">
                                  <a:solidFill>
                                    <a:prstClr val="black"/>
                                  </a:solidFill>
                                  <a:latin typeface="Cambria Math" panose="02040503050406030204" pitchFamily="18" charset="0"/>
                                  <a:cs typeface="Times New Roman" panose="02020603050405020304" pitchFamily="18" charset="0"/>
                                </a:rPr>
                                <m:t>2</m:t>
                              </m:r>
                            </m:sub>
                          </m:sSub>
                        </m:num>
                        <m:den>
                          <m:r>
                            <a:rPr lang="en-GB" sz="2800" i="1">
                              <a:solidFill>
                                <a:prstClr val="black"/>
                              </a:solidFill>
                              <a:latin typeface="Cambria Math" panose="02040503050406030204" pitchFamily="18" charset="0"/>
                              <a:cs typeface="Times New Roman" panose="02020603050405020304" pitchFamily="18" charset="0"/>
                            </a:rPr>
                            <m:t>𝐿</m:t>
                          </m:r>
                        </m:den>
                      </m:f>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a:solidFill>
                                <a:prstClr val="black"/>
                              </a:solidFill>
                              <a:latin typeface="Cambria Math" panose="02040503050406030204" pitchFamily="18" charset="0"/>
                              <a:cs typeface="Times New Roman" panose="02020603050405020304" pitchFamily="18" charset="0"/>
                            </a:rPr>
                          </m:ctrlPr>
                        </m:fPr>
                        <m:num>
                          <m:r>
                            <a:rPr lang="en-GB" sz="2800" b="0" i="1" smtClean="0">
                              <a:solidFill>
                                <a:prstClr val="black"/>
                              </a:solidFill>
                              <a:latin typeface="Cambria Math" panose="02040503050406030204" pitchFamily="18" charset="0"/>
                              <a:cs typeface="Times New Roman" panose="02020603050405020304" pitchFamily="18" charset="0"/>
                            </a:rPr>
                            <m:t>12</m:t>
                          </m:r>
                          <m:r>
                            <a:rPr lang="en-GB" sz="2800" i="1">
                              <a:solidFill>
                                <a:prstClr val="black"/>
                              </a:solidFill>
                              <a:latin typeface="Cambria Math" panose="02040503050406030204" pitchFamily="18" charset="0"/>
                              <a:cs typeface="Times New Roman" panose="02020603050405020304" pitchFamily="18" charset="0"/>
                            </a:rPr>
                            <m:t>8</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𝑄</m:t>
                          </m:r>
                        </m:num>
                        <m:den>
                          <m: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𝜋</m:t>
                          </m:r>
                          <m:sSup>
                            <m:sSup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𝐷</m:t>
                              </m:r>
                            </m:e>
                            <m:sup>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4</m:t>
                              </m:r>
                            </m:sup>
                          </m:sSup>
                        </m:den>
                      </m:f>
                    </m:oMath>
                  </m:oMathPara>
                </a14:m>
                <a:endParaRPr lang="en-GH" sz="2800" dirty="0"/>
              </a:p>
            </p:txBody>
          </p:sp>
        </mc:Choice>
        <mc:Fallback xmlns="">
          <p:sp>
            <p:nvSpPr>
              <p:cNvPr id="20" name="TextBox 19">
                <a:extLst>
                  <a:ext uri="{FF2B5EF4-FFF2-40B4-BE49-F238E27FC236}">
                    <a16:creationId xmlns:a16="http://schemas.microsoft.com/office/drawing/2014/main" id="{6BCABA78-4688-AFFB-451E-9EAB12AD1B99}"/>
                  </a:ext>
                </a:extLst>
              </p:cNvPr>
              <p:cNvSpPr txBox="1">
                <a:spLocks noRot="1" noChangeAspect="1" noMove="1" noResize="1" noEditPoints="1" noAdjustHandles="1" noChangeArrowheads="1" noChangeShapeType="1" noTextEdit="1"/>
              </p:cNvSpPr>
              <p:nvPr/>
            </p:nvSpPr>
            <p:spPr>
              <a:xfrm>
                <a:off x="8278154" y="4863868"/>
                <a:ext cx="2882525" cy="928011"/>
              </a:xfrm>
              <a:prstGeom prst="rect">
                <a:avLst/>
              </a:prstGeom>
              <a:blipFill>
                <a:blip r:embed="rId8"/>
                <a:stretch>
                  <a:fillRect/>
                </a:stretch>
              </a:blipFill>
            </p:spPr>
            <p:txBody>
              <a:bodyPr/>
              <a:lstStyle/>
              <a:p>
                <a:r>
                  <a:rPr lang="en-GH">
                    <a:noFill/>
                  </a:rPr>
                  <a:t> </a:t>
                </a:r>
              </a:p>
            </p:txBody>
          </p:sp>
        </mc:Fallback>
      </mc:AlternateContent>
    </p:spTree>
    <p:extLst>
      <p:ext uri="{BB962C8B-B14F-4D97-AF65-F5344CB8AC3E}">
        <p14:creationId xmlns:p14="http://schemas.microsoft.com/office/powerpoint/2010/main" val="1000826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7120" y="1"/>
            <a:ext cx="7477760" cy="400594"/>
          </a:xfrm>
        </p:spPr>
        <p:txBody>
          <a:bodyPr>
            <a:normAutofit fontScale="90000"/>
          </a:bodyPr>
          <a:lstStyle/>
          <a:p>
            <a:pPr lvl="0" indent="-228600" algn="ctr">
              <a:lnSpc>
                <a:spcPct val="107000"/>
              </a:lnSpc>
              <a:spcBef>
                <a:spcPts val="0"/>
              </a:spcBef>
              <a:spcAft>
                <a:spcPts val="800"/>
              </a:spcAft>
              <a:tabLst>
                <a:tab pos="3447415" algn="l"/>
              </a:tabLst>
            </a:pPr>
            <a:r>
              <a:rPr lang="en-US" sz="2800" dirty="0">
                <a:solidFill>
                  <a:prstClr val="black"/>
                </a:solidFill>
                <a:latin typeface="Times New Roman" panose="02020603050405020304" pitchFamily="18" charset="0"/>
                <a:ea typeface="Times New Roman" panose="02020603050405020304" pitchFamily="18" charset="0"/>
              </a:rPr>
              <a:t> </a:t>
            </a:r>
            <a:r>
              <a:rPr lang="en-US" sz="2400" b="1" dirty="0">
                <a:solidFill>
                  <a:prstClr val="black"/>
                </a:solidFill>
                <a:latin typeface="Times New Roman" panose="02020603050405020304" pitchFamily="18" charset="0"/>
                <a:ea typeface="Times New Roman" panose="02020603050405020304" pitchFamily="18" charset="0"/>
              </a:rPr>
              <a:t>OTHER</a:t>
            </a:r>
            <a:r>
              <a:rPr lang="en-US" sz="2400" dirty="0">
                <a:solidFill>
                  <a:prstClr val="black"/>
                </a:solidFill>
                <a:latin typeface="Times New Roman" panose="02020603050405020304" pitchFamily="18" charset="0"/>
                <a:ea typeface="Times New Roman" panose="02020603050405020304" pitchFamily="18" charset="0"/>
              </a:rPr>
              <a:t> </a:t>
            </a:r>
            <a:r>
              <a:rPr lang="en-US" sz="2400" b="1" dirty="0">
                <a:solidFill>
                  <a:prstClr val="black"/>
                </a:solidFill>
                <a:latin typeface="Times New Roman" panose="02020603050405020304" pitchFamily="18" charset="0"/>
                <a:ea typeface="Times New Roman" panose="02020603050405020304" pitchFamily="18" charset="0"/>
              </a:rPr>
              <a:t>PIPE FLOW QUANTITIES </a:t>
            </a:r>
            <a:endParaRPr lang="en-US" sz="2400" dirty="0"/>
          </a:p>
        </p:txBody>
      </p:sp>
      <p:sp>
        <p:nvSpPr>
          <p:cNvPr id="3" name="Content Placeholder 2"/>
          <p:cNvSpPr>
            <a:spLocks noGrp="1"/>
          </p:cNvSpPr>
          <p:nvPr>
            <p:ph idx="1"/>
          </p:nvPr>
        </p:nvSpPr>
        <p:spPr>
          <a:xfrm>
            <a:off x="0" y="518161"/>
            <a:ext cx="12192000" cy="512279"/>
          </a:xfrm>
        </p:spPr>
        <p:txBody>
          <a:bodyPr>
            <a:normAutofit/>
          </a:bodyPr>
          <a:lstStyle/>
          <a:p>
            <a:pPr marL="0" indent="0">
              <a:buNone/>
            </a:pPr>
            <a:r>
              <a:rPr lang="en-US" sz="2600" b="1" dirty="0">
                <a:latin typeface="Times New Roman" panose="02020603050405020304" pitchFamily="18" charset="0"/>
                <a:cs typeface="Times New Roman" panose="02020603050405020304" pitchFamily="18" charset="0"/>
              </a:rPr>
              <a:t>Pressure Drop for a Given Length of Pipe</a:t>
            </a:r>
          </a:p>
        </p:txBody>
      </p:sp>
      <p:sp>
        <p:nvSpPr>
          <p:cNvPr id="5" name="Content Placeholder 2">
            <a:extLst>
              <a:ext uri="{FF2B5EF4-FFF2-40B4-BE49-F238E27FC236}">
                <a16:creationId xmlns:a16="http://schemas.microsoft.com/office/drawing/2014/main" id="{0E5E005E-BBB8-4401-B9E1-0045DE02B306}"/>
              </a:ext>
            </a:extLst>
          </p:cNvPr>
          <p:cNvSpPr txBox="1">
            <a:spLocks/>
          </p:cNvSpPr>
          <p:nvPr/>
        </p:nvSpPr>
        <p:spPr>
          <a:xfrm>
            <a:off x="0" y="3556147"/>
            <a:ext cx="12192000" cy="5656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600" b="1" dirty="0">
                <a:latin typeface="Times New Roman" panose="02020603050405020304" pitchFamily="18" charset="0"/>
                <a:cs typeface="Times New Roman" panose="02020603050405020304" pitchFamily="18" charset="0"/>
              </a:rPr>
              <a:t>(ii) As a Function of Average Velocity (</a:t>
            </a:r>
            <a:r>
              <a:rPr lang="en-US" sz="2600" b="1" i="1" dirty="0">
                <a:latin typeface="Times New Roman" panose="02020603050405020304" pitchFamily="18" charset="0"/>
                <a:cs typeface="Times New Roman" panose="02020603050405020304" pitchFamily="18" charset="0"/>
              </a:rPr>
              <a:t>V</a:t>
            </a:r>
            <a:r>
              <a:rPr lang="en-US" sz="2600" b="1" dirty="0">
                <a:latin typeface="Times New Roman" panose="02020603050405020304" pitchFamily="18" charset="0"/>
                <a:cs typeface="Times New Roman" panose="02020603050405020304" pitchFamily="18" charset="0"/>
              </a:rPr>
              <a:t>)</a:t>
            </a:r>
          </a:p>
        </p:txBody>
      </p:sp>
      <p:grpSp>
        <p:nvGrpSpPr>
          <p:cNvPr id="36" name="Group 35">
            <a:extLst>
              <a:ext uri="{FF2B5EF4-FFF2-40B4-BE49-F238E27FC236}">
                <a16:creationId xmlns:a16="http://schemas.microsoft.com/office/drawing/2014/main" id="{ED4EB3B6-F3D9-E885-347B-CE824CBC66AF}"/>
              </a:ext>
            </a:extLst>
          </p:cNvPr>
          <p:cNvGrpSpPr/>
          <p:nvPr/>
        </p:nvGrpSpPr>
        <p:grpSpPr>
          <a:xfrm>
            <a:off x="3257006" y="896934"/>
            <a:ext cx="4214948" cy="2537020"/>
            <a:chOff x="3257006" y="896934"/>
            <a:chExt cx="4214948" cy="2537020"/>
          </a:xfrm>
        </p:grpSpPr>
        <p:grpSp>
          <p:nvGrpSpPr>
            <p:cNvPr id="25" name="Group 24">
              <a:extLst>
                <a:ext uri="{FF2B5EF4-FFF2-40B4-BE49-F238E27FC236}">
                  <a16:creationId xmlns:a16="http://schemas.microsoft.com/office/drawing/2014/main" id="{96AC43EA-4422-EEFD-B4AE-4BBFE17D5530}"/>
                </a:ext>
              </a:extLst>
            </p:cNvPr>
            <p:cNvGrpSpPr/>
            <p:nvPr/>
          </p:nvGrpSpPr>
          <p:grpSpPr>
            <a:xfrm>
              <a:off x="3257006" y="1419280"/>
              <a:ext cx="4214948" cy="2014674"/>
              <a:chOff x="3257006" y="1419280"/>
              <a:chExt cx="4214948" cy="2014674"/>
            </a:xfrm>
          </p:grpSpPr>
          <p:grpSp>
            <p:nvGrpSpPr>
              <p:cNvPr id="19" name="Group 18">
                <a:extLst>
                  <a:ext uri="{FF2B5EF4-FFF2-40B4-BE49-F238E27FC236}">
                    <a16:creationId xmlns:a16="http://schemas.microsoft.com/office/drawing/2014/main" id="{0A60DF9B-8D62-28BA-F9F3-D958EA466380}"/>
                  </a:ext>
                </a:extLst>
              </p:cNvPr>
              <p:cNvGrpSpPr/>
              <p:nvPr/>
            </p:nvGrpSpPr>
            <p:grpSpPr>
              <a:xfrm>
                <a:off x="3257006" y="1486822"/>
                <a:ext cx="4214948" cy="1278150"/>
                <a:chOff x="3257006" y="1486822"/>
                <a:chExt cx="4214948" cy="1278150"/>
              </a:xfrm>
            </p:grpSpPr>
            <p:grpSp>
              <p:nvGrpSpPr>
                <p:cNvPr id="16" name="Group 15">
                  <a:extLst>
                    <a:ext uri="{FF2B5EF4-FFF2-40B4-BE49-F238E27FC236}">
                      <a16:creationId xmlns:a16="http://schemas.microsoft.com/office/drawing/2014/main" id="{BD20730E-4199-D6E4-C521-379780F3B76D}"/>
                    </a:ext>
                  </a:extLst>
                </p:cNvPr>
                <p:cNvGrpSpPr/>
                <p:nvPr/>
              </p:nvGrpSpPr>
              <p:grpSpPr>
                <a:xfrm>
                  <a:off x="3570514" y="1567543"/>
                  <a:ext cx="3901440" cy="1197429"/>
                  <a:chOff x="3570514" y="1567543"/>
                  <a:chExt cx="3901440" cy="1197429"/>
                </a:xfrm>
              </p:grpSpPr>
              <p:cxnSp>
                <p:nvCxnSpPr>
                  <p:cNvPr id="8" name="Straight Connector 7">
                    <a:extLst>
                      <a:ext uri="{FF2B5EF4-FFF2-40B4-BE49-F238E27FC236}">
                        <a16:creationId xmlns:a16="http://schemas.microsoft.com/office/drawing/2014/main" id="{3717A5A1-B2A5-8A2F-7D40-F6273E57DB4C}"/>
                      </a:ext>
                    </a:extLst>
                  </p:cNvPr>
                  <p:cNvCxnSpPr/>
                  <p:nvPr/>
                </p:nvCxnSpPr>
                <p:spPr>
                  <a:xfrm>
                    <a:off x="3570514" y="1567543"/>
                    <a:ext cx="3901440" cy="0"/>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FD81B585-BD4A-6A5A-94E8-DCB2126E463F}"/>
                      </a:ext>
                    </a:extLst>
                  </p:cNvPr>
                  <p:cNvCxnSpPr/>
                  <p:nvPr/>
                </p:nvCxnSpPr>
                <p:spPr>
                  <a:xfrm>
                    <a:off x="3570514" y="2764972"/>
                    <a:ext cx="3901440" cy="0"/>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F27E5309-ED58-A98F-9447-7D00370545D5}"/>
                      </a:ext>
                    </a:extLst>
                  </p:cNvPr>
                  <p:cNvCxnSpPr/>
                  <p:nvPr/>
                </p:nvCxnSpPr>
                <p:spPr>
                  <a:xfrm>
                    <a:off x="3570514" y="2172788"/>
                    <a:ext cx="3901440" cy="0"/>
                  </a:xfrm>
                  <a:prstGeom prst="line">
                    <a:avLst/>
                  </a:prstGeom>
                  <a:ln w="28575">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0C96515-0C81-D6F8-FD9F-1E6B39EA9686}"/>
                      </a:ext>
                    </a:extLst>
                  </p:cNvPr>
                  <p:cNvCxnSpPr>
                    <a:cxnSpLocks/>
                  </p:cNvCxnSpPr>
                  <p:nvPr/>
                </p:nvCxnSpPr>
                <p:spPr>
                  <a:xfrm>
                    <a:off x="3570514" y="2177141"/>
                    <a:ext cx="540000" cy="0"/>
                  </a:xfrm>
                  <a:prstGeom prst="line">
                    <a:avLst/>
                  </a:prstGeom>
                  <a:ln w="38100">
                    <a:solidFill>
                      <a:schemeClr val="tx1"/>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70399782-9712-EFCE-5A39-A0C614A41B0E}"/>
                      </a:ext>
                    </a:extLst>
                  </p:cNvPr>
                  <p:cNvCxnSpPr>
                    <a:cxnSpLocks/>
                  </p:cNvCxnSpPr>
                  <p:nvPr/>
                </p:nvCxnSpPr>
                <p:spPr>
                  <a:xfrm flipV="1">
                    <a:off x="3579223" y="1672919"/>
                    <a:ext cx="0" cy="508578"/>
                  </a:xfrm>
                  <a:prstGeom prst="line">
                    <a:avLst/>
                  </a:prstGeom>
                  <a:ln w="38100">
                    <a:solidFill>
                      <a:schemeClr val="tx1"/>
                    </a:solidFill>
                    <a:headEnd type="none" w="med" len="med"/>
                    <a:tailEnd type="triangle" w="med" len="med"/>
                  </a:ln>
                </p:spPr>
                <p:style>
                  <a:lnRef idx="1">
                    <a:schemeClr val="dk1"/>
                  </a:lnRef>
                  <a:fillRef idx="0">
                    <a:schemeClr val="dk1"/>
                  </a:fillRef>
                  <a:effectRef idx="0">
                    <a:schemeClr val="dk1"/>
                  </a:effectRef>
                  <a:fontRef idx="minor">
                    <a:schemeClr val="tx1"/>
                  </a:fontRef>
                </p:style>
              </p:cxnSp>
            </p:grpSp>
            <p:sp>
              <p:nvSpPr>
                <p:cNvPr id="17" name="TextBox 16">
                  <a:extLst>
                    <a:ext uri="{FF2B5EF4-FFF2-40B4-BE49-F238E27FC236}">
                      <a16:creationId xmlns:a16="http://schemas.microsoft.com/office/drawing/2014/main" id="{318E88C2-1588-5885-C197-D89459AA3E4E}"/>
                    </a:ext>
                  </a:extLst>
                </p:cNvPr>
                <p:cNvSpPr txBox="1"/>
                <p:nvPr/>
              </p:nvSpPr>
              <p:spPr>
                <a:xfrm>
                  <a:off x="3257006" y="1486822"/>
                  <a:ext cx="322217" cy="461665"/>
                </a:xfrm>
                <a:prstGeom prst="rect">
                  <a:avLst/>
                </a:prstGeom>
                <a:noFill/>
              </p:spPr>
              <p:txBody>
                <a:bodyPr wrap="square" rtlCol="0">
                  <a:spAutoFit/>
                </a:bodyPr>
                <a:lstStyle/>
                <a:p>
                  <a:r>
                    <a:rPr lang="en-GB" sz="2400" i="1" dirty="0">
                      <a:latin typeface="Times New Roman" panose="02020603050405020304" pitchFamily="18" charset="0"/>
                      <a:cs typeface="Times New Roman" panose="02020603050405020304" pitchFamily="18" charset="0"/>
                    </a:rPr>
                    <a:t>y</a:t>
                  </a:r>
                  <a:endParaRPr lang="en-GH" sz="2400" i="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A279EA46-1664-C153-AF13-144286C59F13}"/>
                    </a:ext>
                  </a:extLst>
                </p:cNvPr>
                <p:cNvSpPr txBox="1"/>
                <p:nvPr/>
              </p:nvSpPr>
              <p:spPr>
                <a:xfrm>
                  <a:off x="3992874" y="2033507"/>
                  <a:ext cx="322217" cy="461665"/>
                </a:xfrm>
                <a:prstGeom prst="rect">
                  <a:avLst/>
                </a:prstGeom>
                <a:noFill/>
              </p:spPr>
              <p:txBody>
                <a:bodyPr wrap="square" rtlCol="0">
                  <a:spAutoFit/>
                </a:bodyPr>
                <a:lstStyle/>
                <a:p>
                  <a:r>
                    <a:rPr lang="en-GB" sz="2400" i="1" dirty="0">
                      <a:latin typeface="Times New Roman" panose="02020603050405020304" pitchFamily="18" charset="0"/>
                      <a:cs typeface="Times New Roman" panose="02020603050405020304" pitchFamily="18" charset="0"/>
                    </a:rPr>
                    <a:t>x</a:t>
                  </a:r>
                  <a:endParaRPr lang="en-GH" sz="2400" i="1" dirty="0">
                    <a:latin typeface="Times New Roman" panose="02020603050405020304" pitchFamily="18" charset="0"/>
                    <a:cs typeface="Times New Roman" panose="02020603050405020304" pitchFamily="18" charset="0"/>
                  </a:endParaRPr>
                </a:p>
              </p:txBody>
            </p:sp>
          </p:grpSp>
          <p:cxnSp>
            <p:nvCxnSpPr>
              <p:cNvPr id="21" name="Straight Connector 20">
                <a:extLst>
                  <a:ext uri="{FF2B5EF4-FFF2-40B4-BE49-F238E27FC236}">
                    <a16:creationId xmlns:a16="http://schemas.microsoft.com/office/drawing/2014/main" id="{67201A96-C0BF-90D0-2803-C5A9844D0261}"/>
                  </a:ext>
                </a:extLst>
              </p:cNvPr>
              <p:cNvCxnSpPr/>
              <p:nvPr/>
            </p:nvCxnSpPr>
            <p:spPr>
              <a:xfrm>
                <a:off x="4358636" y="1419281"/>
                <a:ext cx="0" cy="1628939"/>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0799B4F2-EC32-86C9-B1D0-147D3FD5A98E}"/>
                  </a:ext>
                </a:extLst>
              </p:cNvPr>
              <p:cNvCxnSpPr/>
              <p:nvPr/>
            </p:nvCxnSpPr>
            <p:spPr>
              <a:xfrm>
                <a:off x="6692537" y="1419280"/>
                <a:ext cx="0" cy="1628939"/>
              </a:xfrm>
              <a:prstGeom prst="line">
                <a:avLst/>
              </a:prstGeom>
              <a:ln w="28575">
                <a:prstDash val="dash"/>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4DA9A58E-A517-49D6-C864-541B68A6AA0D}"/>
                  </a:ext>
                </a:extLst>
              </p:cNvPr>
              <p:cNvSpPr txBox="1"/>
              <p:nvPr/>
            </p:nvSpPr>
            <p:spPr>
              <a:xfrm>
                <a:off x="4145347" y="2894460"/>
                <a:ext cx="496392" cy="523220"/>
              </a:xfrm>
              <a:prstGeom prst="rect">
                <a:avLst/>
              </a:prstGeom>
              <a:noFill/>
            </p:spPr>
            <p:txBody>
              <a:bodyPr wrap="square" rtlCol="0">
                <a:spAutoFit/>
              </a:bodyPr>
              <a:lstStyle/>
              <a:p>
                <a:r>
                  <a:rPr lang="en-GB" sz="2800" i="1" dirty="0">
                    <a:latin typeface="Times New Roman" panose="02020603050405020304" pitchFamily="18" charset="0"/>
                    <a:cs typeface="Times New Roman" panose="02020603050405020304" pitchFamily="18" charset="0"/>
                  </a:rPr>
                  <a:t>x</a:t>
                </a:r>
                <a:r>
                  <a:rPr lang="en-GB" sz="2800" baseline="-25000" dirty="0">
                    <a:latin typeface="Times New Roman" panose="02020603050405020304" pitchFamily="18" charset="0"/>
                    <a:cs typeface="Times New Roman" panose="02020603050405020304" pitchFamily="18" charset="0"/>
                  </a:rPr>
                  <a:t>1</a:t>
                </a:r>
                <a:endParaRPr lang="en-GH" sz="28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8958F0BE-3ADB-6547-2320-E724781D5F58}"/>
                  </a:ext>
                </a:extLst>
              </p:cNvPr>
              <p:cNvSpPr txBox="1"/>
              <p:nvPr/>
            </p:nvSpPr>
            <p:spPr>
              <a:xfrm>
                <a:off x="6518433" y="2910734"/>
                <a:ext cx="496392" cy="523220"/>
              </a:xfrm>
              <a:prstGeom prst="rect">
                <a:avLst/>
              </a:prstGeom>
              <a:noFill/>
            </p:spPr>
            <p:txBody>
              <a:bodyPr wrap="square" rtlCol="0">
                <a:spAutoFit/>
              </a:bodyPr>
              <a:lstStyle/>
              <a:p>
                <a:r>
                  <a:rPr lang="en-GB" sz="2800" i="1" dirty="0">
                    <a:latin typeface="Times New Roman" panose="02020603050405020304" pitchFamily="18" charset="0"/>
                    <a:cs typeface="Times New Roman" panose="02020603050405020304" pitchFamily="18" charset="0"/>
                  </a:rPr>
                  <a:t>x</a:t>
                </a:r>
                <a:r>
                  <a:rPr lang="en-GB" sz="2800" baseline="-25000" dirty="0">
                    <a:latin typeface="Times New Roman" panose="02020603050405020304" pitchFamily="18" charset="0"/>
                    <a:cs typeface="Times New Roman" panose="02020603050405020304" pitchFamily="18" charset="0"/>
                  </a:rPr>
                  <a:t>2</a:t>
                </a:r>
                <a:endParaRPr lang="en-GH" sz="2800" dirty="0">
                  <a:latin typeface="Times New Roman" panose="02020603050405020304" pitchFamily="18" charset="0"/>
                  <a:cs typeface="Times New Roman" panose="02020603050405020304" pitchFamily="18" charset="0"/>
                </a:endParaRPr>
              </a:p>
            </p:txBody>
          </p:sp>
        </p:grpSp>
        <p:grpSp>
          <p:nvGrpSpPr>
            <p:cNvPr id="28" name="Group 27">
              <a:extLst>
                <a:ext uri="{FF2B5EF4-FFF2-40B4-BE49-F238E27FC236}">
                  <a16:creationId xmlns:a16="http://schemas.microsoft.com/office/drawing/2014/main" id="{AFE5DF94-2B56-AB6C-70BD-ADE03FCEA9F1}"/>
                </a:ext>
              </a:extLst>
            </p:cNvPr>
            <p:cNvGrpSpPr/>
            <p:nvPr/>
          </p:nvGrpSpPr>
          <p:grpSpPr>
            <a:xfrm>
              <a:off x="4136638" y="918399"/>
              <a:ext cx="432000" cy="523220"/>
              <a:chOff x="9509760" y="2120532"/>
              <a:chExt cx="432000" cy="523220"/>
            </a:xfrm>
          </p:grpSpPr>
          <p:sp>
            <p:nvSpPr>
              <p:cNvPr id="26" name="Oval 25">
                <a:extLst>
                  <a:ext uri="{FF2B5EF4-FFF2-40B4-BE49-F238E27FC236}">
                    <a16:creationId xmlns:a16="http://schemas.microsoft.com/office/drawing/2014/main" id="{2C36A41F-55F4-12A0-FAE5-BAFDF1E870C2}"/>
                  </a:ext>
                </a:extLst>
              </p:cNvPr>
              <p:cNvSpPr/>
              <p:nvPr/>
            </p:nvSpPr>
            <p:spPr>
              <a:xfrm>
                <a:off x="9509760" y="2181497"/>
                <a:ext cx="432000" cy="432000"/>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27" name="TextBox 26">
                <a:extLst>
                  <a:ext uri="{FF2B5EF4-FFF2-40B4-BE49-F238E27FC236}">
                    <a16:creationId xmlns:a16="http://schemas.microsoft.com/office/drawing/2014/main" id="{9A8EC3BA-5450-9CB6-E8DE-17AC4E20C825}"/>
                  </a:ext>
                </a:extLst>
              </p:cNvPr>
              <p:cNvSpPr txBox="1"/>
              <p:nvPr/>
            </p:nvSpPr>
            <p:spPr>
              <a:xfrm>
                <a:off x="9557588" y="2120532"/>
                <a:ext cx="361399" cy="523220"/>
              </a:xfrm>
              <a:prstGeom prst="rect">
                <a:avLst/>
              </a:prstGeom>
              <a:noFill/>
            </p:spPr>
            <p:txBody>
              <a:bodyPr wrap="square" rtlCol="0">
                <a:spAutoFit/>
              </a:bodyPr>
              <a:lstStyle/>
              <a:p>
                <a:r>
                  <a:rPr lang="en-GB" sz="2800" dirty="0">
                    <a:latin typeface="Times New Roman" panose="02020603050405020304" pitchFamily="18" charset="0"/>
                    <a:cs typeface="Times New Roman" panose="02020603050405020304" pitchFamily="18" charset="0"/>
                  </a:rPr>
                  <a:t>1</a:t>
                </a:r>
                <a:endParaRPr lang="en-GH" sz="2800" dirty="0">
                  <a:latin typeface="Times New Roman" panose="02020603050405020304" pitchFamily="18" charset="0"/>
                  <a:cs typeface="Times New Roman" panose="02020603050405020304" pitchFamily="18" charset="0"/>
                </a:endParaRPr>
              </a:p>
            </p:txBody>
          </p:sp>
        </p:grpSp>
        <p:grpSp>
          <p:nvGrpSpPr>
            <p:cNvPr id="30" name="Group 29">
              <a:extLst>
                <a:ext uri="{FF2B5EF4-FFF2-40B4-BE49-F238E27FC236}">
                  <a16:creationId xmlns:a16="http://schemas.microsoft.com/office/drawing/2014/main" id="{7161A850-005E-D69E-DE99-F15ABFEEF548}"/>
                </a:ext>
              </a:extLst>
            </p:cNvPr>
            <p:cNvGrpSpPr/>
            <p:nvPr/>
          </p:nvGrpSpPr>
          <p:grpSpPr>
            <a:xfrm>
              <a:off x="6476537" y="896934"/>
              <a:ext cx="432000" cy="523220"/>
              <a:chOff x="9509760" y="2120532"/>
              <a:chExt cx="432000" cy="523220"/>
            </a:xfrm>
          </p:grpSpPr>
          <p:sp>
            <p:nvSpPr>
              <p:cNvPr id="31" name="Oval 30">
                <a:extLst>
                  <a:ext uri="{FF2B5EF4-FFF2-40B4-BE49-F238E27FC236}">
                    <a16:creationId xmlns:a16="http://schemas.microsoft.com/office/drawing/2014/main" id="{65AB4A7C-718C-B2AF-5FAE-ADCA8FF44D71}"/>
                  </a:ext>
                </a:extLst>
              </p:cNvPr>
              <p:cNvSpPr/>
              <p:nvPr/>
            </p:nvSpPr>
            <p:spPr>
              <a:xfrm>
                <a:off x="9509760" y="2181497"/>
                <a:ext cx="432000" cy="432000"/>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32" name="TextBox 31">
                <a:extLst>
                  <a:ext uri="{FF2B5EF4-FFF2-40B4-BE49-F238E27FC236}">
                    <a16:creationId xmlns:a16="http://schemas.microsoft.com/office/drawing/2014/main" id="{A7EA695C-116D-62D4-AC48-5DCC85CA0076}"/>
                  </a:ext>
                </a:extLst>
              </p:cNvPr>
              <p:cNvSpPr txBox="1"/>
              <p:nvPr/>
            </p:nvSpPr>
            <p:spPr>
              <a:xfrm>
                <a:off x="9557588" y="2120532"/>
                <a:ext cx="361399" cy="523220"/>
              </a:xfrm>
              <a:prstGeom prst="rect">
                <a:avLst/>
              </a:prstGeom>
              <a:noFill/>
            </p:spPr>
            <p:txBody>
              <a:bodyPr wrap="square" rtlCol="0">
                <a:spAutoFit/>
              </a:bodyPr>
              <a:lstStyle/>
              <a:p>
                <a:r>
                  <a:rPr lang="en-GB" sz="2800" dirty="0">
                    <a:latin typeface="Times New Roman" panose="02020603050405020304" pitchFamily="18" charset="0"/>
                    <a:cs typeface="Times New Roman" panose="02020603050405020304" pitchFamily="18" charset="0"/>
                  </a:rPr>
                  <a:t>2</a:t>
                </a:r>
                <a:endParaRPr lang="en-GH" sz="2800" dirty="0">
                  <a:latin typeface="Times New Roman" panose="02020603050405020304" pitchFamily="18" charset="0"/>
                  <a:cs typeface="Times New Roman" panose="02020603050405020304" pitchFamily="18" charset="0"/>
                </a:endParaRPr>
              </a:p>
            </p:txBody>
          </p:sp>
        </p:grpSp>
        <p:cxnSp>
          <p:nvCxnSpPr>
            <p:cNvPr id="34" name="Straight Arrow Connector 33">
              <a:extLst>
                <a:ext uri="{FF2B5EF4-FFF2-40B4-BE49-F238E27FC236}">
                  <a16:creationId xmlns:a16="http://schemas.microsoft.com/office/drawing/2014/main" id="{2D133D26-AB21-6FFB-506D-AA5264C4ACA5}"/>
                </a:ext>
              </a:extLst>
            </p:cNvPr>
            <p:cNvCxnSpPr/>
            <p:nvPr/>
          </p:nvCxnSpPr>
          <p:spPr>
            <a:xfrm>
              <a:off x="4365165" y="2943711"/>
              <a:ext cx="2339899" cy="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B2DAE69A-791D-C179-FF30-37E95090476D}"/>
                </a:ext>
              </a:extLst>
            </p:cNvPr>
            <p:cNvSpPr txBox="1"/>
            <p:nvPr/>
          </p:nvSpPr>
          <p:spPr>
            <a:xfrm>
              <a:off x="5270998" y="2889237"/>
              <a:ext cx="496392" cy="523220"/>
            </a:xfrm>
            <a:prstGeom prst="rect">
              <a:avLst/>
            </a:prstGeom>
            <a:noFill/>
          </p:spPr>
          <p:txBody>
            <a:bodyPr wrap="square" rtlCol="0">
              <a:spAutoFit/>
            </a:bodyPr>
            <a:lstStyle/>
            <a:p>
              <a:r>
                <a:rPr lang="en-GB" sz="2800" i="1" dirty="0">
                  <a:latin typeface="Times New Roman" panose="02020603050405020304" pitchFamily="18" charset="0"/>
                  <a:cs typeface="Times New Roman" panose="02020603050405020304" pitchFamily="18" charset="0"/>
                </a:rPr>
                <a:t>L</a:t>
              </a:r>
              <a:endParaRPr lang="en-GH" sz="2800" dirty="0">
                <a:latin typeface="Times New Roman" panose="02020603050405020304" pitchFamily="18" charset="0"/>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23F23C2-1953-9BAC-BEED-1C32BAAF9696}"/>
                  </a:ext>
                </a:extLst>
              </p:cNvPr>
              <p:cNvSpPr txBox="1"/>
              <p:nvPr/>
            </p:nvSpPr>
            <p:spPr>
              <a:xfrm>
                <a:off x="92608" y="4035494"/>
                <a:ext cx="2702843" cy="1075872"/>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𝑉</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a:solidFill>
                                <a:prstClr val="black"/>
                              </a:solidFill>
                              <a:latin typeface="Cambria Math" panose="02040503050406030204" pitchFamily="18" charset="0"/>
                              <a:cs typeface="Times New Roman" panose="02020603050405020304" pitchFamily="18" charset="0"/>
                            </a:rPr>
                          </m:ctrlPr>
                        </m:fPr>
                        <m:num>
                          <m:sSubSup>
                            <m:sSubSupPr>
                              <m:ctrlPr>
                                <a:rPr lang="en-GB" sz="2800" i="1">
                                  <a:solidFill>
                                    <a:prstClr val="black"/>
                                  </a:solidFill>
                                  <a:latin typeface="Cambria Math" panose="02040503050406030204" pitchFamily="18" charset="0"/>
                                  <a:cs typeface="Times New Roman" panose="02020603050405020304" pitchFamily="18" charset="0"/>
                                </a:rPr>
                              </m:ctrlPr>
                            </m:sSubSupPr>
                            <m:e>
                              <m:r>
                                <a:rPr lang="en-GB" sz="2800" i="1">
                                  <a:solidFill>
                                    <a:prstClr val="black"/>
                                  </a:solidFill>
                                  <a:latin typeface="Cambria Math" panose="02040503050406030204" pitchFamily="18" charset="0"/>
                                  <a:cs typeface="Times New Roman" panose="02020603050405020304" pitchFamily="18" charset="0"/>
                                </a:rPr>
                                <m:t>𝑟</m:t>
                              </m:r>
                            </m:e>
                            <m:sub>
                              <m:r>
                                <a:rPr lang="en-GB" sz="2800" i="1">
                                  <a:solidFill>
                                    <a:prstClr val="black"/>
                                  </a:solidFill>
                                  <a:latin typeface="Cambria Math" panose="02040503050406030204" pitchFamily="18" charset="0"/>
                                  <a:cs typeface="Times New Roman" panose="02020603050405020304" pitchFamily="18" charset="0"/>
                                </a:rPr>
                                <m:t>0</m:t>
                              </m:r>
                            </m:sub>
                            <m:sup>
                              <m:r>
                                <a:rPr lang="en-GB" sz="2800" i="1">
                                  <a:solidFill>
                                    <a:prstClr val="black"/>
                                  </a:solidFill>
                                  <a:latin typeface="Cambria Math" panose="02040503050406030204" pitchFamily="18" charset="0"/>
                                  <a:cs typeface="Times New Roman" panose="02020603050405020304" pitchFamily="18" charset="0"/>
                                </a:rPr>
                                <m:t>2</m:t>
                              </m:r>
                            </m:sup>
                          </m:sSubSup>
                        </m:num>
                        <m:den>
                          <m:r>
                            <a:rPr lang="en-GB" sz="2800" i="1">
                              <a:solidFill>
                                <a:prstClr val="black"/>
                              </a:solidFill>
                              <a:latin typeface="Cambria Math" panose="02040503050406030204" pitchFamily="18" charset="0"/>
                              <a:cs typeface="Times New Roman" panose="02020603050405020304" pitchFamily="18" charset="0"/>
                            </a:rPr>
                            <m:t>8</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den>
                      </m:f>
                      <m:d>
                        <m:dPr>
                          <m:ctrlP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𝑑𝑝</m:t>
                              </m:r>
                            </m:num>
                            <m:den>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𝑑𝑥</m:t>
                              </m:r>
                            </m:den>
                          </m:f>
                        </m:e>
                      </m:d>
                    </m:oMath>
                  </m:oMathPara>
                </a14:m>
                <a:endParaRPr lang="en-GH" sz="2800" dirty="0"/>
              </a:p>
            </p:txBody>
          </p:sp>
        </mc:Choice>
        <mc:Fallback xmlns="">
          <p:sp>
            <p:nvSpPr>
              <p:cNvPr id="4" name="TextBox 3">
                <a:extLst>
                  <a:ext uri="{FF2B5EF4-FFF2-40B4-BE49-F238E27FC236}">
                    <a16:creationId xmlns:a16="http://schemas.microsoft.com/office/drawing/2014/main" id="{923F23C2-1953-9BAC-BEED-1C32BAAF9696}"/>
                  </a:ext>
                </a:extLst>
              </p:cNvPr>
              <p:cNvSpPr txBox="1">
                <a:spLocks noRot="1" noChangeAspect="1" noMove="1" noResize="1" noEditPoints="1" noAdjustHandles="1" noChangeArrowheads="1" noChangeShapeType="1" noTextEdit="1"/>
              </p:cNvSpPr>
              <p:nvPr/>
            </p:nvSpPr>
            <p:spPr>
              <a:xfrm>
                <a:off x="92608" y="4035494"/>
                <a:ext cx="2702843" cy="1075872"/>
              </a:xfrm>
              <a:prstGeom prst="rect">
                <a:avLst/>
              </a:prstGeom>
              <a:blipFill>
                <a:blip r:embed="rId3"/>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EA72ACA-3254-376E-3522-CF9B8A2E8075}"/>
                  </a:ext>
                </a:extLst>
              </p:cNvPr>
              <p:cNvSpPr txBox="1"/>
              <p:nvPr/>
            </p:nvSpPr>
            <p:spPr>
              <a:xfrm>
                <a:off x="287356" y="5256630"/>
                <a:ext cx="3596708" cy="101470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𝑑𝑝</m:t>
                          </m:r>
                        </m:num>
                        <m:den>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𝑑𝑥</m:t>
                          </m:r>
                        </m:den>
                      </m:f>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smtClean="0">
                              <a:solidFill>
                                <a:prstClr val="black"/>
                              </a:solidFill>
                              <a:latin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cs typeface="Times New Roman" panose="02020603050405020304" pitchFamily="18" charset="0"/>
                            </a:rPr>
                            <m:t>8</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𝑉</m:t>
                          </m:r>
                        </m:num>
                        <m:den>
                          <m:sSubSup>
                            <m:sSubSupPr>
                              <m:ctrlPr>
                                <a:rPr lang="en-GB" sz="2800" i="1">
                                  <a:solidFill>
                                    <a:prstClr val="black"/>
                                  </a:solidFill>
                                  <a:latin typeface="Cambria Math" panose="02040503050406030204" pitchFamily="18" charset="0"/>
                                  <a:cs typeface="Times New Roman" panose="02020603050405020304" pitchFamily="18" charset="0"/>
                                </a:rPr>
                              </m:ctrlPr>
                            </m:sSubSupPr>
                            <m:e>
                              <m:r>
                                <a:rPr lang="en-GB" sz="2800" i="1">
                                  <a:solidFill>
                                    <a:prstClr val="black"/>
                                  </a:solidFill>
                                  <a:latin typeface="Cambria Math" panose="02040503050406030204" pitchFamily="18" charset="0"/>
                                  <a:cs typeface="Times New Roman" panose="02020603050405020304" pitchFamily="18" charset="0"/>
                                </a:rPr>
                                <m:t>𝑟</m:t>
                              </m:r>
                            </m:e>
                            <m:sub>
                              <m:r>
                                <a:rPr lang="en-GB" sz="2800" i="1">
                                  <a:solidFill>
                                    <a:prstClr val="black"/>
                                  </a:solidFill>
                                  <a:latin typeface="Cambria Math" panose="02040503050406030204" pitchFamily="18" charset="0"/>
                                  <a:cs typeface="Times New Roman" panose="02020603050405020304" pitchFamily="18" charset="0"/>
                                </a:rPr>
                                <m:t>0</m:t>
                              </m:r>
                            </m:sub>
                            <m:sup>
                              <m:r>
                                <a:rPr lang="en-GB" sz="2800" b="0" i="1" smtClean="0">
                                  <a:solidFill>
                                    <a:prstClr val="black"/>
                                  </a:solidFill>
                                  <a:latin typeface="Cambria Math" panose="02040503050406030204" pitchFamily="18" charset="0"/>
                                  <a:cs typeface="Times New Roman" panose="02020603050405020304" pitchFamily="18" charset="0"/>
                                </a:rPr>
                                <m:t>2</m:t>
                              </m:r>
                            </m:sup>
                          </m:sSubSup>
                        </m:den>
                      </m:f>
                    </m:oMath>
                  </m:oMathPara>
                </a14:m>
                <a:endParaRPr lang="en-GH" sz="2800" dirty="0"/>
              </a:p>
            </p:txBody>
          </p:sp>
        </mc:Choice>
        <mc:Fallback xmlns="">
          <p:sp>
            <p:nvSpPr>
              <p:cNvPr id="29" name="TextBox 28">
                <a:extLst>
                  <a:ext uri="{FF2B5EF4-FFF2-40B4-BE49-F238E27FC236}">
                    <a16:creationId xmlns:a16="http://schemas.microsoft.com/office/drawing/2014/main" id="{BEA72ACA-3254-376E-3522-CF9B8A2E8075}"/>
                  </a:ext>
                </a:extLst>
              </p:cNvPr>
              <p:cNvSpPr txBox="1">
                <a:spLocks noRot="1" noChangeAspect="1" noMove="1" noResize="1" noEditPoints="1" noAdjustHandles="1" noChangeArrowheads="1" noChangeShapeType="1" noTextEdit="1"/>
              </p:cNvSpPr>
              <p:nvPr/>
            </p:nvSpPr>
            <p:spPr>
              <a:xfrm>
                <a:off x="287356" y="5256630"/>
                <a:ext cx="3596708" cy="1014701"/>
              </a:xfrm>
              <a:prstGeom prst="rect">
                <a:avLst/>
              </a:prstGeom>
              <a:blipFill>
                <a:blip r:embed="rId4"/>
                <a:stretch>
                  <a:fillRect/>
                </a:stretch>
              </a:blipFill>
            </p:spPr>
            <p:txBody>
              <a:bodyPr/>
              <a:lstStyle/>
              <a:p>
                <a:r>
                  <a:rPr lang="en-GH">
                    <a:noFill/>
                  </a:rPr>
                  <a:t> </a:t>
                </a:r>
              </a:p>
            </p:txBody>
          </p:sp>
        </mc:Fallback>
      </mc:AlternateContent>
      <p:cxnSp>
        <p:nvCxnSpPr>
          <p:cNvPr id="33" name="Straight Connector 32">
            <a:extLst>
              <a:ext uri="{FF2B5EF4-FFF2-40B4-BE49-F238E27FC236}">
                <a16:creationId xmlns:a16="http://schemas.microsoft.com/office/drawing/2014/main" id="{E9DB60AD-A02C-BBCF-41C0-71666F336168}"/>
              </a:ext>
            </a:extLst>
          </p:cNvPr>
          <p:cNvCxnSpPr>
            <a:cxnSpLocks/>
          </p:cNvCxnSpPr>
          <p:nvPr/>
        </p:nvCxnSpPr>
        <p:spPr>
          <a:xfrm>
            <a:off x="2795451" y="3974534"/>
            <a:ext cx="0" cy="2686652"/>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3942CBF8-4C39-828C-D787-DB5138FEB119}"/>
                  </a:ext>
                </a:extLst>
              </p:cNvPr>
              <p:cNvSpPr txBox="1"/>
              <p:nvPr/>
            </p:nvSpPr>
            <p:spPr>
              <a:xfrm>
                <a:off x="2795452" y="4132206"/>
                <a:ext cx="3791456" cy="114999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nary>
                        <m:naryPr>
                          <m:ctrlP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naryPr>
                        <m:sub>
                          <m:sSub>
                            <m:sSubPr>
                              <m:ctrlP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𝑃</m:t>
                              </m:r>
                            </m:e>
                            <m:sub>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1</m:t>
                              </m:r>
                            </m:sub>
                          </m:sSub>
                        </m:sub>
                        <m:sup>
                          <m:sSub>
                            <m:sSubPr>
                              <m:ctrlP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𝑃</m:t>
                              </m:r>
                            </m:e>
                            <m:sub>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m:t>
                              </m:r>
                            </m:sub>
                          </m:sSub>
                        </m:sup>
                        <m:e>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𝑑𝑝</m:t>
                          </m:r>
                        </m:e>
                      </m:nary>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nary>
                        <m:nary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naryPr>
                        <m:sub>
                          <m:sSub>
                            <m:sSub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𝑥</m:t>
                              </m:r>
                            </m:e>
                            <m:sub>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m:t>
                              </m:r>
                            </m:sub>
                          </m:sSub>
                        </m:sub>
                        <m:sup>
                          <m:sSub>
                            <m:sSub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𝑥</m:t>
                              </m:r>
                            </m:e>
                            <m:sub>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2</m:t>
                              </m:r>
                            </m:sub>
                          </m:sSub>
                        </m:sup>
                        <m:e>
                          <m:f>
                            <m:fPr>
                              <m:ctrlPr>
                                <a:rPr lang="en-GB" sz="2800" i="1">
                                  <a:solidFill>
                                    <a:prstClr val="black"/>
                                  </a:solidFill>
                                  <a:latin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cs typeface="Times New Roman" panose="02020603050405020304" pitchFamily="18" charset="0"/>
                                </a:rPr>
                                <m:t>8</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𝑉</m:t>
                              </m:r>
                            </m:num>
                            <m:den>
                              <m:sSubSup>
                                <m:sSubSupPr>
                                  <m:ctrlPr>
                                    <a:rPr lang="en-GB" sz="2800" i="1">
                                      <a:solidFill>
                                        <a:prstClr val="black"/>
                                      </a:solidFill>
                                      <a:latin typeface="Cambria Math" panose="02040503050406030204" pitchFamily="18" charset="0"/>
                                      <a:cs typeface="Times New Roman" panose="02020603050405020304" pitchFamily="18" charset="0"/>
                                    </a:rPr>
                                  </m:ctrlPr>
                                </m:sSubSupPr>
                                <m:e>
                                  <m:r>
                                    <a:rPr lang="en-GB" sz="2800" i="1">
                                      <a:solidFill>
                                        <a:prstClr val="black"/>
                                      </a:solidFill>
                                      <a:latin typeface="Cambria Math" panose="02040503050406030204" pitchFamily="18" charset="0"/>
                                      <a:cs typeface="Times New Roman" panose="02020603050405020304" pitchFamily="18" charset="0"/>
                                    </a:rPr>
                                    <m:t>𝑟</m:t>
                                  </m:r>
                                </m:e>
                                <m:sub>
                                  <m:r>
                                    <a:rPr lang="en-GB" sz="2800" i="1">
                                      <a:solidFill>
                                        <a:prstClr val="black"/>
                                      </a:solidFill>
                                      <a:latin typeface="Cambria Math" panose="02040503050406030204" pitchFamily="18" charset="0"/>
                                      <a:cs typeface="Times New Roman" panose="02020603050405020304" pitchFamily="18" charset="0"/>
                                    </a:rPr>
                                    <m:t>0</m:t>
                                  </m:r>
                                </m:sub>
                                <m:sup>
                                  <m:r>
                                    <a:rPr lang="en-GB" sz="2800" i="1">
                                      <a:solidFill>
                                        <a:prstClr val="black"/>
                                      </a:solidFill>
                                      <a:latin typeface="Cambria Math" panose="02040503050406030204" pitchFamily="18" charset="0"/>
                                      <a:cs typeface="Times New Roman" panose="02020603050405020304" pitchFamily="18" charset="0"/>
                                    </a:rPr>
                                    <m:t>2</m:t>
                                  </m:r>
                                </m:sup>
                              </m:sSubSup>
                            </m:den>
                          </m:f>
                        </m:e>
                      </m:nary>
                      <m:r>
                        <a:rPr lang="en-GB" sz="2800" b="0" i="1" smtClean="0">
                          <a:solidFill>
                            <a:prstClr val="black"/>
                          </a:solidFill>
                          <a:latin typeface="Cambria Math" panose="02040503050406030204" pitchFamily="18" charset="0"/>
                          <a:cs typeface="Times New Roman" panose="02020603050405020304" pitchFamily="18" charset="0"/>
                        </a:rPr>
                        <m:t>𝑑𝑥</m:t>
                      </m:r>
                    </m:oMath>
                  </m:oMathPara>
                </a14:m>
                <a:endParaRPr lang="en-GH" sz="2800" dirty="0"/>
              </a:p>
            </p:txBody>
          </p:sp>
        </mc:Choice>
        <mc:Fallback xmlns="">
          <p:sp>
            <p:nvSpPr>
              <p:cNvPr id="39" name="TextBox 38">
                <a:extLst>
                  <a:ext uri="{FF2B5EF4-FFF2-40B4-BE49-F238E27FC236}">
                    <a16:creationId xmlns:a16="http://schemas.microsoft.com/office/drawing/2014/main" id="{3942CBF8-4C39-828C-D787-DB5138FEB119}"/>
                  </a:ext>
                </a:extLst>
              </p:cNvPr>
              <p:cNvSpPr txBox="1">
                <a:spLocks noRot="1" noChangeAspect="1" noMove="1" noResize="1" noEditPoints="1" noAdjustHandles="1" noChangeArrowheads="1" noChangeShapeType="1" noTextEdit="1"/>
              </p:cNvSpPr>
              <p:nvPr/>
            </p:nvSpPr>
            <p:spPr>
              <a:xfrm>
                <a:off x="2795452" y="4132206"/>
                <a:ext cx="3791456" cy="1149995"/>
              </a:xfrm>
              <a:prstGeom prst="rect">
                <a:avLst/>
              </a:prstGeom>
              <a:blipFill>
                <a:blip r:embed="rId5"/>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DE8B2219-868F-A238-CD04-D8BD2B963E60}"/>
                  </a:ext>
                </a:extLst>
              </p:cNvPr>
              <p:cNvSpPr txBox="1"/>
              <p:nvPr/>
            </p:nvSpPr>
            <p:spPr>
              <a:xfrm>
                <a:off x="3250937" y="5449964"/>
                <a:ext cx="2489044" cy="1043299"/>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GB" sz="2800" i="1" smtClean="0">
                              <a:solidFill>
                                <a:prstClr val="black"/>
                              </a:solidFill>
                              <a:latin typeface="Cambria Math" panose="02040503050406030204" pitchFamily="18" charset="0"/>
                              <a:cs typeface="Times New Roman" panose="02020603050405020304" pitchFamily="18" charset="0"/>
                            </a:rPr>
                          </m:ctrlPr>
                        </m:fPr>
                        <m:num>
                          <m:sSub>
                            <m:sSubPr>
                              <m:ctrlPr>
                                <a:rPr lang="en-GB" sz="2800" i="1">
                                  <a:solidFill>
                                    <a:prstClr val="black"/>
                                  </a:solidFill>
                                  <a:latin typeface="Cambria Math" panose="02040503050406030204" pitchFamily="18" charset="0"/>
                                  <a:cs typeface="Times New Roman" panose="02020603050405020304" pitchFamily="18" charset="0"/>
                                </a:rPr>
                              </m:ctrlPr>
                            </m:sSubPr>
                            <m:e>
                              <m:r>
                                <a:rPr lang="en-GB" sz="2800" i="1">
                                  <a:solidFill>
                                    <a:prstClr val="black"/>
                                  </a:solidFill>
                                  <a:latin typeface="Cambria Math" panose="02040503050406030204" pitchFamily="18" charset="0"/>
                                  <a:cs typeface="Times New Roman" panose="02020603050405020304" pitchFamily="18" charset="0"/>
                                </a:rPr>
                                <m:t>𝑃</m:t>
                              </m:r>
                            </m:e>
                            <m:sub>
                              <m:r>
                                <a:rPr lang="en-GB" sz="2800" i="1">
                                  <a:solidFill>
                                    <a:prstClr val="black"/>
                                  </a:solidFill>
                                  <a:latin typeface="Cambria Math" panose="02040503050406030204" pitchFamily="18" charset="0"/>
                                  <a:cs typeface="Times New Roman" panose="02020603050405020304" pitchFamily="18" charset="0"/>
                                </a:rPr>
                                <m:t>1</m:t>
                              </m:r>
                            </m:sub>
                          </m:sSub>
                          <m:r>
                            <a:rPr lang="en-GB" sz="2800" i="1">
                              <a:solidFill>
                                <a:prstClr val="black"/>
                              </a:solidFill>
                              <a:latin typeface="Cambria Math" panose="02040503050406030204" pitchFamily="18" charset="0"/>
                              <a:cs typeface="Times New Roman" panose="02020603050405020304" pitchFamily="18" charset="0"/>
                            </a:rPr>
                            <m:t>−</m:t>
                          </m:r>
                          <m:sSub>
                            <m:sSubPr>
                              <m:ctrlPr>
                                <a:rPr lang="en-GB" sz="2800" i="1">
                                  <a:solidFill>
                                    <a:prstClr val="black"/>
                                  </a:solidFill>
                                  <a:latin typeface="Cambria Math" panose="02040503050406030204" pitchFamily="18" charset="0"/>
                                  <a:cs typeface="Times New Roman" panose="02020603050405020304" pitchFamily="18" charset="0"/>
                                </a:rPr>
                              </m:ctrlPr>
                            </m:sSubPr>
                            <m:e>
                              <m:r>
                                <a:rPr lang="en-GB" sz="2800" i="1">
                                  <a:solidFill>
                                    <a:prstClr val="black"/>
                                  </a:solidFill>
                                  <a:latin typeface="Cambria Math" panose="02040503050406030204" pitchFamily="18" charset="0"/>
                                  <a:cs typeface="Times New Roman" panose="02020603050405020304" pitchFamily="18" charset="0"/>
                                </a:rPr>
                                <m:t>𝑃</m:t>
                              </m:r>
                            </m:e>
                            <m:sub>
                              <m:r>
                                <a:rPr lang="en-GB" sz="2800" i="1">
                                  <a:solidFill>
                                    <a:prstClr val="black"/>
                                  </a:solidFill>
                                  <a:latin typeface="Cambria Math" panose="02040503050406030204" pitchFamily="18" charset="0"/>
                                  <a:cs typeface="Times New Roman" panose="02020603050405020304" pitchFamily="18" charset="0"/>
                                </a:rPr>
                                <m:t>2</m:t>
                              </m:r>
                            </m:sub>
                          </m:sSub>
                        </m:num>
                        <m:den>
                          <m:r>
                            <a:rPr lang="en-GB" sz="2800" i="1">
                              <a:solidFill>
                                <a:prstClr val="black"/>
                              </a:solidFill>
                              <a:latin typeface="Cambria Math" panose="02040503050406030204" pitchFamily="18" charset="0"/>
                              <a:cs typeface="Times New Roman" panose="02020603050405020304" pitchFamily="18" charset="0"/>
                            </a:rPr>
                            <m:t>𝐿</m:t>
                          </m:r>
                        </m:den>
                      </m:f>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a:solidFill>
                                <a:prstClr val="black"/>
                              </a:solidFill>
                              <a:latin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cs typeface="Times New Roman" panose="02020603050405020304" pitchFamily="18" charset="0"/>
                            </a:rPr>
                            <m:t>8</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𝑉</m:t>
                          </m:r>
                        </m:num>
                        <m:den>
                          <m:sSubSup>
                            <m:sSubSupPr>
                              <m:ctrlPr>
                                <a:rPr lang="en-GB" sz="2800" i="1">
                                  <a:solidFill>
                                    <a:prstClr val="black"/>
                                  </a:solidFill>
                                  <a:latin typeface="Cambria Math" panose="02040503050406030204" pitchFamily="18" charset="0"/>
                                  <a:cs typeface="Times New Roman" panose="02020603050405020304" pitchFamily="18" charset="0"/>
                                </a:rPr>
                              </m:ctrlPr>
                            </m:sSubSupPr>
                            <m:e>
                              <m:r>
                                <a:rPr lang="en-GB" sz="2800" i="1">
                                  <a:solidFill>
                                    <a:prstClr val="black"/>
                                  </a:solidFill>
                                  <a:latin typeface="Cambria Math" panose="02040503050406030204" pitchFamily="18" charset="0"/>
                                  <a:cs typeface="Times New Roman" panose="02020603050405020304" pitchFamily="18" charset="0"/>
                                </a:rPr>
                                <m:t>𝑟</m:t>
                              </m:r>
                            </m:e>
                            <m:sub>
                              <m:r>
                                <a:rPr lang="en-GB" sz="2800" i="1">
                                  <a:solidFill>
                                    <a:prstClr val="black"/>
                                  </a:solidFill>
                                  <a:latin typeface="Cambria Math" panose="02040503050406030204" pitchFamily="18" charset="0"/>
                                  <a:cs typeface="Times New Roman" panose="02020603050405020304" pitchFamily="18" charset="0"/>
                                </a:rPr>
                                <m:t>0</m:t>
                              </m:r>
                            </m:sub>
                            <m:sup>
                              <m:r>
                                <a:rPr lang="en-GB" sz="2800" i="1">
                                  <a:solidFill>
                                    <a:prstClr val="black"/>
                                  </a:solidFill>
                                  <a:latin typeface="Cambria Math" panose="02040503050406030204" pitchFamily="18" charset="0"/>
                                  <a:cs typeface="Times New Roman" panose="02020603050405020304" pitchFamily="18" charset="0"/>
                                </a:rPr>
                                <m:t>2</m:t>
                              </m:r>
                            </m:sup>
                          </m:sSubSup>
                        </m:den>
                      </m:f>
                    </m:oMath>
                  </m:oMathPara>
                </a14:m>
                <a:endParaRPr lang="en-GH" sz="2800" dirty="0"/>
              </a:p>
            </p:txBody>
          </p:sp>
        </mc:Choice>
        <mc:Fallback xmlns="">
          <p:sp>
            <p:nvSpPr>
              <p:cNvPr id="40" name="TextBox 39">
                <a:extLst>
                  <a:ext uri="{FF2B5EF4-FFF2-40B4-BE49-F238E27FC236}">
                    <a16:creationId xmlns:a16="http://schemas.microsoft.com/office/drawing/2014/main" id="{DE8B2219-868F-A238-CD04-D8BD2B963E60}"/>
                  </a:ext>
                </a:extLst>
              </p:cNvPr>
              <p:cNvSpPr txBox="1">
                <a:spLocks noRot="1" noChangeAspect="1" noMove="1" noResize="1" noEditPoints="1" noAdjustHandles="1" noChangeArrowheads="1" noChangeShapeType="1" noTextEdit="1"/>
              </p:cNvSpPr>
              <p:nvPr/>
            </p:nvSpPr>
            <p:spPr>
              <a:xfrm>
                <a:off x="3250937" y="5449964"/>
                <a:ext cx="2489044" cy="1043299"/>
              </a:xfrm>
              <a:prstGeom prst="rect">
                <a:avLst/>
              </a:prstGeom>
              <a:blipFill>
                <a:blip r:embed="rId6"/>
                <a:stretch>
                  <a:fillRect/>
                </a:stretch>
              </a:blipFill>
            </p:spPr>
            <p:txBody>
              <a:bodyPr/>
              <a:lstStyle/>
              <a:p>
                <a:r>
                  <a:rPr lang="en-GH">
                    <a:noFill/>
                  </a:rPr>
                  <a:t> </a:t>
                </a:r>
              </a:p>
            </p:txBody>
          </p:sp>
        </mc:Fallback>
      </mc:AlternateContent>
      <p:cxnSp>
        <p:nvCxnSpPr>
          <p:cNvPr id="42" name="Straight Connector 41">
            <a:extLst>
              <a:ext uri="{FF2B5EF4-FFF2-40B4-BE49-F238E27FC236}">
                <a16:creationId xmlns:a16="http://schemas.microsoft.com/office/drawing/2014/main" id="{C62607B9-2F3B-BCF7-0791-2906D0567501}"/>
              </a:ext>
            </a:extLst>
          </p:cNvPr>
          <p:cNvCxnSpPr>
            <a:cxnSpLocks/>
          </p:cNvCxnSpPr>
          <p:nvPr/>
        </p:nvCxnSpPr>
        <p:spPr>
          <a:xfrm>
            <a:off x="6586908" y="3974534"/>
            <a:ext cx="0" cy="2686652"/>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697EA85F-F2B8-DD5F-C526-4219B764213C}"/>
                  </a:ext>
                </a:extLst>
              </p:cNvPr>
              <p:cNvSpPr txBox="1"/>
              <p:nvPr/>
            </p:nvSpPr>
            <p:spPr>
              <a:xfrm>
                <a:off x="7014825" y="3971283"/>
                <a:ext cx="3222857" cy="974369"/>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GB" sz="2800" i="1" smtClean="0">
                              <a:solidFill>
                                <a:prstClr val="black"/>
                              </a:solidFill>
                              <a:latin typeface="Cambria Math" panose="02040503050406030204" pitchFamily="18" charset="0"/>
                              <a:cs typeface="Times New Roman" panose="02020603050405020304" pitchFamily="18" charset="0"/>
                            </a:rPr>
                          </m:ctrlPr>
                        </m:fPr>
                        <m:num>
                          <m:sSub>
                            <m:sSubPr>
                              <m:ctrlPr>
                                <a:rPr lang="en-GB" sz="2800" i="1">
                                  <a:solidFill>
                                    <a:prstClr val="black"/>
                                  </a:solidFill>
                                  <a:latin typeface="Cambria Math" panose="02040503050406030204" pitchFamily="18" charset="0"/>
                                  <a:cs typeface="Times New Roman" panose="02020603050405020304" pitchFamily="18" charset="0"/>
                                </a:rPr>
                              </m:ctrlPr>
                            </m:sSubPr>
                            <m:e>
                              <m:r>
                                <a:rPr lang="en-GB" sz="2800" i="1">
                                  <a:solidFill>
                                    <a:prstClr val="black"/>
                                  </a:solidFill>
                                  <a:latin typeface="Cambria Math" panose="02040503050406030204" pitchFamily="18" charset="0"/>
                                  <a:cs typeface="Times New Roman" panose="02020603050405020304" pitchFamily="18" charset="0"/>
                                </a:rPr>
                                <m:t>𝑃</m:t>
                              </m:r>
                            </m:e>
                            <m:sub>
                              <m:r>
                                <a:rPr lang="en-GB" sz="2800" i="1">
                                  <a:solidFill>
                                    <a:prstClr val="black"/>
                                  </a:solidFill>
                                  <a:latin typeface="Cambria Math" panose="02040503050406030204" pitchFamily="18" charset="0"/>
                                  <a:cs typeface="Times New Roman" panose="02020603050405020304" pitchFamily="18" charset="0"/>
                                </a:rPr>
                                <m:t>1</m:t>
                              </m:r>
                            </m:sub>
                          </m:sSub>
                          <m:r>
                            <a:rPr lang="en-GB" sz="2800" i="1">
                              <a:solidFill>
                                <a:prstClr val="black"/>
                              </a:solidFill>
                              <a:latin typeface="Cambria Math" panose="02040503050406030204" pitchFamily="18" charset="0"/>
                              <a:cs typeface="Times New Roman" panose="02020603050405020304" pitchFamily="18" charset="0"/>
                            </a:rPr>
                            <m:t>−</m:t>
                          </m:r>
                          <m:sSub>
                            <m:sSubPr>
                              <m:ctrlPr>
                                <a:rPr lang="en-GB" sz="2800" i="1">
                                  <a:solidFill>
                                    <a:prstClr val="black"/>
                                  </a:solidFill>
                                  <a:latin typeface="Cambria Math" panose="02040503050406030204" pitchFamily="18" charset="0"/>
                                  <a:cs typeface="Times New Roman" panose="02020603050405020304" pitchFamily="18" charset="0"/>
                                </a:rPr>
                              </m:ctrlPr>
                            </m:sSubPr>
                            <m:e>
                              <m:r>
                                <a:rPr lang="en-GB" sz="2800" i="1">
                                  <a:solidFill>
                                    <a:prstClr val="black"/>
                                  </a:solidFill>
                                  <a:latin typeface="Cambria Math" panose="02040503050406030204" pitchFamily="18" charset="0"/>
                                  <a:cs typeface="Times New Roman" panose="02020603050405020304" pitchFamily="18" charset="0"/>
                                </a:rPr>
                                <m:t>𝑃</m:t>
                              </m:r>
                            </m:e>
                            <m:sub>
                              <m:r>
                                <a:rPr lang="en-GB" sz="2800" i="1">
                                  <a:solidFill>
                                    <a:prstClr val="black"/>
                                  </a:solidFill>
                                  <a:latin typeface="Cambria Math" panose="02040503050406030204" pitchFamily="18" charset="0"/>
                                  <a:cs typeface="Times New Roman" panose="02020603050405020304" pitchFamily="18" charset="0"/>
                                </a:rPr>
                                <m:t>2</m:t>
                              </m:r>
                            </m:sub>
                          </m:sSub>
                        </m:num>
                        <m:den>
                          <m:r>
                            <a:rPr lang="en-GB" sz="2800" i="1">
                              <a:solidFill>
                                <a:prstClr val="black"/>
                              </a:solidFill>
                              <a:latin typeface="Cambria Math" panose="02040503050406030204" pitchFamily="18" charset="0"/>
                              <a:cs typeface="Times New Roman" panose="02020603050405020304" pitchFamily="18" charset="0"/>
                            </a:rPr>
                            <m:t>𝐿</m:t>
                          </m:r>
                        </m:den>
                      </m:f>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a:solidFill>
                                <a:prstClr val="black"/>
                              </a:solidFill>
                              <a:latin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cs typeface="Times New Roman" panose="02020603050405020304" pitchFamily="18" charset="0"/>
                            </a:rPr>
                            <m:t>8</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𝑉</m:t>
                          </m:r>
                        </m:num>
                        <m:den>
                          <m:sSup>
                            <m:sSup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dPr>
                                <m:e>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𝐷</m:t>
                                  </m:r>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m:t>
                                  </m:r>
                                </m:e>
                              </m:d>
                            </m:e>
                            <m:sup>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m:t>
                              </m:r>
                            </m:sup>
                          </m:sSup>
                        </m:den>
                      </m:f>
                    </m:oMath>
                  </m:oMathPara>
                </a14:m>
                <a:endParaRPr lang="en-GH" sz="2800" dirty="0"/>
              </a:p>
            </p:txBody>
          </p:sp>
        </mc:Choice>
        <mc:Fallback xmlns="">
          <p:sp>
            <p:nvSpPr>
              <p:cNvPr id="43" name="TextBox 42">
                <a:extLst>
                  <a:ext uri="{FF2B5EF4-FFF2-40B4-BE49-F238E27FC236}">
                    <a16:creationId xmlns:a16="http://schemas.microsoft.com/office/drawing/2014/main" id="{697EA85F-F2B8-DD5F-C526-4219B764213C}"/>
                  </a:ext>
                </a:extLst>
              </p:cNvPr>
              <p:cNvSpPr txBox="1">
                <a:spLocks noRot="1" noChangeAspect="1" noMove="1" noResize="1" noEditPoints="1" noAdjustHandles="1" noChangeArrowheads="1" noChangeShapeType="1" noTextEdit="1"/>
              </p:cNvSpPr>
              <p:nvPr/>
            </p:nvSpPr>
            <p:spPr>
              <a:xfrm>
                <a:off x="7014825" y="3971283"/>
                <a:ext cx="3222857" cy="974369"/>
              </a:xfrm>
              <a:prstGeom prst="rect">
                <a:avLst/>
              </a:prstGeom>
              <a:blipFill>
                <a:blip r:embed="rId7"/>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025694B1-2D44-029B-ABCA-EABAE90105F8}"/>
                  </a:ext>
                </a:extLst>
              </p:cNvPr>
              <p:cNvSpPr txBox="1"/>
              <p:nvPr/>
            </p:nvSpPr>
            <p:spPr>
              <a:xfrm>
                <a:off x="7014825" y="5372367"/>
                <a:ext cx="3222857"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GB" sz="2800" i="1" smtClean="0">
                              <a:solidFill>
                                <a:prstClr val="black"/>
                              </a:solidFill>
                              <a:latin typeface="Cambria Math" panose="02040503050406030204" pitchFamily="18" charset="0"/>
                              <a:cs typeface="Times New Roman" panose="02020603050405020304" pitchFamily="18" charset="0"/>
                            </a:rPr>
                          </m:ctrlPr>
                        </m:fPr>
                        <m:num>
                          <m:sSub>
                            <m:sSubPr>
                              <m:ctrlPr>
                                <a:rPr lang="en-GB" sz="2800" i="1">
                                  <a:solidFill>
                                    <a:prstClr val="black"/>
                                  </a:solidFill>
                                  <a:latin typeface="Cambria Math" panose="02040503050406030204" pitchFamily="18" charset="0"/>
                                  <a:cs typeface="Times New Roman" panose="02020603050405020304" pitchFamily="18" charset="0"/>
                                </a:rPr>
                              </m:ctrlPr>
                            </m:sSubPr>
                            <m:e>
                              <m:r>
                                <a:rPr lang="en-GB" sz="2800" i="1">
                                  <a:solidFill>
                                    <a:prstClr val="black"/>
                                  </a:solidFill>
                                  <a:latin typeface="Cambria Math" panose="02040503050406030204" pitchFamily="18" charset="0"/>
                                  <a:cs typeface="Times New Roman" panose="02020603050405020304" pitchFamily="18" charset="0"/>
                                </a:rPr>
                                <m:t>𝑃</m:t>
                              </m:r>
                            </m:e>
                            <m:sub>
                              <m:r>
                                <a:rPr lang="en-GB" sz="2800" i="1">
                                  <a:solidFill>
                                    <a:prstClr val="black"/>
                                  </a:solidFill>
                                  <a:latin typeface="Cambria Math" panose="02040503050406030204" pitchFamily="18" charset="0"/>
                                  <a:cs typeface="Times New Roman" panose="02020603050405020304" pitchFamily="18" charset="0"/>
                                </a:rPr>
                                <m:t>1</m:t>
                              </m:r>
                            </m:sub>
                          </m:sSub>
                          <m:r>
                            <a:rPr lang="en-GB" sz="2800" i="1">
                              <a:solidFill>
                                <a:prstClr val="black"/>
                              </a:solidFill>
                              <a:latin typeface="Cambria Math" panose="02040503050406030204" pitchFamily="18" charset="0"/>
                              <a:cs typeface="Times New Roman" panose="02020603050405020304" pitchFamily="18" charset="0"/>
                            </a:rPr>
                            <m:t>−</m:t>
                          </m:r>
                          <m:sSub>
                            <m:sSubPr>
                              <m:ctrlPr>
                                <a:rPr lang="en-GB" sz="2800" i="1">
                                  <a:solidFill>
                                    <a:prstClr val="black"/>
                                  </a:solidFill>
                                  <a:latin typeface="Cambria Math" panose="02040503050406030204" pitchFamily="18" charset="0"/>
                                  <a:cs typeface="Times New Roman" panose="02020603050405020304" pitchFamily="18" charset="0"/>
                                </a:rPr>
                              </m:ctrlPr>
                            </m:sSubPr>
                            <m:e>
                              <m:r>
                                <a:rPr lang="en-GB" sz="2800" i="1">
                                  <a:solidFill>
                                    <a:prstClr val="black"/>
                                  </a:solidFill>
                                  <a:latin typeface="Cambria Math" panose="02040503050406030204" pitchFamily="18" charset="0"/>
                                  <a:cs typeface="Times New Roman" panose="02020603050405020304" pitchFamily="18" charset="0"/>
                                </a:rPr>
                                <m:t>𝑃</m:t>
                              </m:r>
                            </m:e>
                            <m:sub>
                              <m:r>
                                <a:rPr lang="en-GB" sz="2800" i="1">
                                  <a:solidFill>
                                    <a:prstClr val="black"/>
                                  </a:solidFill>
                                  <a:latin typeface="Cambria Math" panose="02040503050406030204" pitchFamily="18" charset="0"/>
                                  <a:cs typeface="Times New Roman" panose="02020603050405020304" pitchFamily="18" charset="0"/>
                                </a:rPr>
                                <m:t>2</m:t>
                              </m:r>
                            </m:sub>
                          </m:sSub>
                        </m:num>
                        <m:den>
                          <m:r>
                            <a:rPr lang="en-GB" sz="2800" i="1">
                              <a:solidFill>
                                <a:prstClr val="black"/>
                              </a:solidFill>
                              <a:latin typeface="Cambria Math" panose="02040503050406030204" pitchFamily="18" charset="0"/>
                              <a:cs typeface="Times New Roman" panose="02020603050405020304" pitchFamily="18" charset="0"/>
                            </a:rPr>
                            <m:t>𝐿</m:t>
                          </m:r>
                        </m:den>
                      </m:f>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a:solidFill>
                                <a:prstClr val="black"/>
                              </a:solidFill>
                              <a:latin typeface="Cambria Math" panose="02040503050406030204" pitchFamily="18" charset="0"/>
                              <a:cs typeface="Times New Roman" panose="02020603050405020304" pitchFamily="18" charset="0"/>
                            </a:rPr>
                          </m:ctrlPr>
                        </m:fPr>
                        <m:num>
                          <m:r>
                            <a:rPr lang="en-GB" sz="2800" b="0" i="1" smtClean="0">
                              <a:solidFill>
                                <a:prstClr val="black"/>
                              </a:solidFill>
                              <a:latin typeface="Cambria Math" panose="02040503050406030204" pitchFamily="18" charset="0"/>
                              <a:cs typeface="Times New Roman" panose="02020603050405020304" pitchFamily="18" charset="0"/>
                            </a:rPr>
                            <m:t>32</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𝑉</m:t>
                          </m:r>
                        </m:num>
                        <m:den>
                          <m:sSup>
                            <m:sSup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𝐷</m:t>
                              </m:r>
                            </m:e>
                            <m:sup>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m:t>
                              </m:r>
                            </m:sup>
                          </m:sSup>
                        </m:den>
                      </m:f>
                    </m:oMath>
                  </m:oMathPara>
                </a14:m>
                <a:endParaRPr lang="en-GH" sz="2800" dirty="0"/>
              </a:p>
            </p:txBody>
          </p:sp>
        </mc:Choice>
        <mc:Fallback xmlns="">
          <p:sp>
            <p:nvSpPr>
              <p:cNvPr id="44" name="TextBox 43">
                <a:extLst>
                  <a:ext uri="{FF2B5EF4-FFF2-40B4-BE49-F238E27FC236}">
                    <a16:creationId xmlns:a16="http://schemas.microsoft.com/office/drawing/2014/main" id="{025694B1-2D44-029B-ABCA-EABAE90105F8}"/>
                  </a:ext>
                </a:extLst>
              </p:cNvPr>
              <p:cNvSpPr txBox="1">
                <a:spLocks noRot="1" noChangeAspect="1" noMove="1" noResize="1" noEditPoints="1" noAdjustHandles="1" noChangeArrowheads="1" noChangeShapeType="1" noTextEdit="1"/>
              </p:cNvSpPr>
              <p:nvPr/>
            </p:nvSpPr>
            <p:spPr>
              <a:xfrm>
                <a:off x="7014825" y="5372367"/>
                <a:ext cx="3222857" cy="898964"/>
              </a:xfrm>
              <a:prstGeom prst="rect">
                <a:avLst/>
              </a:prstGeom>
              <a:blipFill>
                <a:blip r:embed="rId8"/>
                <a:stretch>
                  <a:fillRect/>
                </a:stretch>
              </a:blipFill>
            </p:spPr>
            <p:txBody>
              <a:bodyPr/>
              <a:lstStyle/>
              <a:p>
                <a:r>
                  <a:rPr lang="en-GH">
                    <a:noFill/>
                  </a:rPr>
                  <a:t> </a:t>
                </a:r>
              </a:p>
            </p:txBody>
          </p:sp>
        </mc:Fallback>
      </mc:AlternateContent>
    </p:spTree>
    <p:extLst>
      <p:ext uri="{BB962C8B-B14F-4D97-AF65-F5344CB8AC3E}">
        <p14:creationId xmlns:p14="http://schemas.microsoft.com/office/powerpoint/2010/main" val="15216916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7120" y="1"/>
            <a:ext cx="7477760" cy="400594"/>
          </a:xfrm>
        </p:spPr>
        <p:txBody>
          <a:bodyPr>
            <a:normAutofit fontScale="90000"/>
          </a:bodyPr>
          <a:lstStyle/>
          <a:p>
            <a:pPr lvl="0" indent="-228600" algn="ctr">
              <a:lnSpc>
                <a:spcPct val="107000"/>
              </a:lnSpc>
              <a:spcBef>
                <a:spcPts val="0"/>
              </a:spcBef>
              <a:spcAft>
                <a:spcPts val="800"/>
              </a:spcAft>
              <a:tabLst>
                <a:tab pos="3447415" algn="l"/>
              </a:tabLst>
            </a:pPr>
            <a:r>
              <a:rPr lang="en-US" sz="2800" dirty="0">
                <a:solidFill>
                  <a:prstClr val="black"/>
                </a:solidFill>
                <a:latin typeface="Times New Roman" panose="02020603050405020304" pitchFamily="18" charset="0"/>
                <a:ea typeface="Times New Roman" panose="02020603050405020304" pitchFamily="18" charset="0"/>
              </a:rPr>
              <a:t> </a:t>
            </a:r>
            <a:r>
              <a:rPr lang="en-US" sz="2400" b="1" dirty="0">
                <a:solidFill>
                  <a:prstClr val="black"/>
                </a:solidFill>
                <a:latin typeface="Times New Roman" panose="02020603050405020304" pitchFamily="18" charset="0"/>
                <a:ea typeface="Times New Roman" panose="02020603050405020304" pitchFamily="18" charset="0"/>
              </a:rPr>
              <a:t>OTHER</a:t>
            </a:r>
            <a:r>
              <a:rPr lang="en-US" sz="2400" dirty="0">
                <a:solidFill>
                  <a:prstClr val="black"/>
                </a:solidFill>
                <a:latin typeface="Times New Roman" panose="02020603050405020304" pitchFamily="18" charset="0"/>
                <a:ea typeface="Times New Roman" panose="02020603050405020304" pitchFamily="18" charset="0"/>
              </a:rPr>
              <a:t> </a:t>
            </a:r>
            <a:r>
              <a:rPr lang="en-US" sz="2400" b="1" dirty="0">
                <a:solidFill>
                  <a:prstClr val="black"/>
                </a:solidFill>
                <a:latin typeface="Times New Roman" panose="02020603050405020304" pitchFamily="18" charset="0"/>
                <a:ea typeface="Times New Roman" panose="02020603050405020304" pitchFamily="18" charset="0"/>
              </a:rPr>
              <a:t>PIPE FLOW QUANTITIES </a:t>
            </a:r>
            <a:endParaRPr lang="en-US" sz="2400" dirty="0"/>
          </a:p>
        </p:txBody>
      </p:sp>
      <p:sp>
        <p:nvSpPr>
          <p:cNvPr id="3" name="Content Placeholder 2"/>
          <p:cNvSpPr>
            <a:spLocks noGrp="1"/>
          </p:cNvSpPr>
          <p:nvPr>
            <p:ph idx="1"/>
          </p:nvPr>
        </p:nvSpPr>
        <p:spPr>
          <a:xfrm>
            <a:off x="0" y="518161"/>
            <a:ext cx="12192000" cy="512279"/>
          </a:xfrm>
        </p:spPr>
        <p:txBody>
          <a:bodyPr>
            <a:normAutofit/>
          </a:bodyPr>
          <a:lstStyle/>
          <a:p>
            <a:pPr marL="0" indent="0">
              <a:buNone/>
            </a:pPr>
            <a:r>
              <a:rPr lang="en-US" sz="2600" b="1" dirty="0">
                <a:latin typeface="Times New Roman" panose="02020603050405020304" pitchFamily="18" charset="0"/>
                <a:cs typeface="Times New Roman" panose="02020603050405020304" pitchFamily="18" charset="0"/>
              </a:rPr>
              <a:t>Pressure Drop for a Given Length of Pipe</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0E5E005E-BBB8-4401-B9E1-0045DE02B306}"/>
                  </a:ext>
                </a:extLst>
              </p:cNvPr>
              <p:cNvSpPr txBox="1">
                <a:spLocks/>
              </p:cNvSpPr>
              <p:nvPr/>
            </p:nvSpPr>
            <p:spPr>
              <a:xfrm>
                <a:off x="0" y="3564856"/>
                <a:ext cx="12192000" cy="5656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600" b="1" dirty="0">
                    <a:latin typeface="Times New Roman" panose="02020603050405020304" pitchFamily="18" charset="0"/>
                    <a:cs typeface="Times New Roman" panose="02020603050405020304" pitchFamily="18" charset="0"/>
                  </a:rPr>
                  <a:t>(iii) As a Function of the Wall Shear Stress (</a:t>
                </a:r>
                <a14:m>
                  <m:oMath xmlns:m="http://schemas.openxmlformats.org/officeDocument/2006/math">
                    <m:sSub>
                      <m:sSubPr>
                        <m:ctrlPr>
                          <a:rPr lang="en-US" sz="2600" b="1" i="1" smtClean="0">
                            <a:latin typeface="Cambria Math" panose="02040503050406030204" pitchFamily="18" charset="0"/>
                            <a:cs typeface="Times New Roman" panose="02020603050405020304" pitchFamily="18" charset="0"/>
                          </a:rPr>
                        </m:ctrlPr>
                      </m:sSubPr>
                      <m:e>
                        <m:r>
                          <a:rPr lang="en-US" sz="2600" b="1" i="1" smtClean="0">
                            <a:latin typeface="Cambria Math" panose="02040503050406030204" pitchFamily="18" charset="0"/>
                            <a:ea typeface="Cambria Math" panose="02040503050406030204" pitchFamily="18" charset="0"/>
                            <a:cs typeface="Times New Roman" panose="02020603050405020304" pitchFamily="18" charset="0"/>
                          </a:rPr>
                          <m:t>𝝉</m:t>
                        </m:r>
                      </m:e>
                      <m:sub>
                        <m:r>
                          <a:rPr lang="en-GB" sz="2600" b="1" i="1" smtClean="0">
                            <a:latin typeface="Cambria Math" panose="02040503050406030204" pitchFamily="18" charset="0"/>
                            <a:cs typeface="Times New Roman" panose="02020603050405020304" pitchFamily="18" charset="0"/>
                          </a:rPr>
                          <m:t>𝒘</m:t>
                        </m:r>
                      </m:sub>
                    </m:sSub>
                  </m:oMath>
                </a14:m>
                <a:r>
                  <a:rPr lang="en-US" sz="2600" b="1" dirty="0">
                    <a:latin typeface="Times New Roman" panose="02020603050405020304" pitchFamily="18" charset="0"/>
                    <a:cs typeface="Times New Roman" panose="02020603050405020304" pitchFamily="18" charset="0"/>
                  </a:rPr>
                  <a:t>)</a:t>
                </a:r>
              </a:p>
            </p:txBody>
          </p:sp>
        </mc:Choice>
        <mc:Fallback xmlns="">
          <p:sp>
            <p:nvSpPr>
              <p:cNvPr id="5" name="Content Placeholder 2">
                <a:extLst>
                  <a:ext uri="{FF2B5EF4-FFF2-40B4-BE49-F238E27FC236}">
                    <a16:creationId xmlns:a16="http://schemas.microsoft.com/office/drawing/2014/main" id="{0E5E005E-BBB8-4401-B9E1-0045DE02B306}"/>
                  </a:ext>
                </a:extLst>
              </p:cNvPr>
              <p:cNvSpPr txBox="1">
                <a:spLocks noRot="1" noChangeAspect="1" noMove="1" noResize="1" noEditPoints="1" noAdjustHandles="1" noChangeArrowheads="1" noChangeShapeType="1" noTextEdit="1"/>
              </p:cNvSpPr>
              <p:nvPr/>
            </p:nvSpPr>
            <p:spPr>
              <a:xfrm>
                <a:off x="0" y="3564856"/>
                <a:ext cx="12192000" cy="565695"/>
              </a:xfrm>
              <a:prstGeom prst="rect">
                <a:avLst/>
              </a:prstGeom>
              <a:blipFill>
                <a:blip r:embed="rId3"/>
                <a:stretch>
                  <a:fillRect l="-900" t="-16129" b="-6452"/>
                </a:stretch>
              </a:blipFill>
            </p:spPr>
            <p:txBody>
              <a:bodyPr/>
              <a:lstStyle/>
              <a:p>
                <a:r>
                  <a:rPr lang="en-GH">
                    <a:noFill/>
                  </a:rPr>
                  <a:t> </a:t>
                </a:r>
              </a:p>
            </p:txBody>
          </p:sp>
        </mc:Fallback>
      </mc:AlternateContent>
      <p:grpSp>
        <p:nvGrpSpPr>
          <p:cNvPr id="36" name="Group 35">
            <a:extLst>
              <a:ext uri="{FF2B5EF4-FFF2-40B4-BE49-F238E27FC236}">
                <a16:creationId xmlns:a16="http://schemas.microsoft.com/office/drawing/2014/main" id="{ED4EB3B6-F3D9-E885-347B-CE824CBC66AF}"/>
              </a:ext>
            </a:extLst>
          </p:cNvPr>
          <p:cNvGrpSpPr/>
          <p:nvPr/>
        </p:nvGrpSpPr>
        <p:grpSpPr>
          <a:xfrm>
            <a:off x="3257006" y="896934"/>
            <a:ext cx="4214948" cy="2537020"/>
            <a:chOff x="3257006" y="896934"/>
            <a:chExt cx="4214948" cy="2537020"/>
          </a:xfrm>
        </p:grpSpPr>
        <p:grpSp>
          <p:nvGrpSpPr>
            <p:cNvPr id="25" name="Group 24">
              <a:extLst>
                <a:ext uri="{FF2B5EF4-FFF2-40B4-BE49-F238E27FC236}">
                  <a16:creationId xmlns:a16="http://schemas.microsoft.com/office/drawing/2014/main" id="{96AC43EA-4422-EEFD-B4AE-4BBFE17D5530}"/>
                </a:ext>
              </a:extLst>
            </p:cNvPr>
            <p:cNvGrpSpPr/>
            <p:nvPr/>
          </p:nvGrpSpPr>
          <p:grpSpPr>
            <a:xfrm>
              <a:off x="3257006" y="1419280"/>
              <a:ext cx="4214948" cy="2014674"/>
              <a:chOff x="3257006" y="1419280"/>
              <a:chExt cx="4214948" cy="2014674"/>
            </a:xfrm>
          </p:grpSpPr>
          <p:grpSp>
            <p:nvGrpSpPr>
              <p:cNvPr id="19" name="Group 18">
                <a:extLst>
                  <a:ext uri="{FF2B5EF4-FFF2-40B4-BE49-F238E27FC236}">
                    <a16:creationId xmlns:a16="http://schemas.microsoft.com/office/drawing/2014/main" id="{0A60DF9B-8D62-28BA-F9F3-D958EA466380}"/>
                  </a:ext>
                </a:extLst>
              </p:cNvPr>
              <p:cNvGrpSpPr/>
              <p:nvPr/>
            </p:nvGrpSpPr>
            <p:grpSpPr>
              <a:xfrm>
                <a:off x="3257006" y="1486822"/>
                <a:ext cx="4214948" cy="1278150"/>
                <a:chOff x="3257006" y="1486822"/>
                <a:chExt cx="4214948" cy="1278150"/>
              </a:xfrm>
            </p:grpSpPr>
            <p:grpSp>
              <p:nvGrpSpPr>
                <p:cNvPr id="16" name="Group 15">
                  <a:extLst>
                    <a:ext uri="{FF2B5EF4-FFF2-40B4-BE49-F238E27FC236}">
                      <a16:creationId xmlns:a16="http://schemas.microsoft.com/office/drawing/2014/main" id="{BD20730E-4199-D6E4-C521-379780F3B76D}"/>
                    </a:ext>
                  </a:extLst>
                </p:cNvPr>
                <p:cNvGrpSpPr/>
                <p:nvPr/>
              </p:nvGrpSpPr>
              <p:grpSpPr>
                <a:xfrm>
                  <a:off x="3570514" y="1567543"/>
                  <a:ext cx="3901440" cy="1197429"/>
                  <a:chOff x="3570514" y="1567543"/>
                  <a:chExt cx="3901440" cy="1197429"/>
                </a:xfrm>
              </p:grpSpPr>
              <p:cxnSp>
                <p:nvCxnSpPr>
                  <p:cNvPr id="8" name="Straight Connector 7">
                    <a:extLst>
                      <a:ext uri="{FF2B5EF4-FFF2-40B4-BE49-F238E27FC236}">
                        <a16:creationId xmlns:a16="http://schemas.microsoft.com/office/drawing/2014/main" id="{3717A5A1-B2A5-8A2F-7D40-F6273E57DB4C}"/>
                      </a:ext>
                    </a:extLst>
                  </p:cNvPr>
                  <p:cNvCxnSpPr/>
                  <p:nvPr/>
                </p:nvCxnSpPr>
                <p:spPr>
                  <a:xfrm>
                    <a:off x="3570514" y="1567543"/>
                    <a:ext cx="3901440" cy="0"/>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FD81B585-BD4A-6A5A-94E8-DCB2126E463F}"/>
                      </a:ext>
                    </a:extLst>
                  </p:cNvPr>
                  <p:cNvCxnSpPr/>
                  <p:nvPr/>
                </p:nvCxnSpPr>
                <p:spPr>
                  <a:xfrm>
                    <a:off x="3570514" y="2764972"/>
                    <a:ext cx="3901440" cy="0"/>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F27E5309-ED58-A98F-9447-7D00370545D5}"/>
                      </a:ext>
                    </a:extLst>
                  </p:cNvPr>
                  <p:cNvCxnSpPr/>
                  <p:nvPr/>
                </p:nvCxnSpPr>
                <p:spPr>
                  <a:xfrm>
                    <a:off x="3570514" y="2172788"/>
                    <a:ext cx="3901440" cy="0"/>
                  </a:xfrm>
                  <a:prstGeom prst="line">
                    <a:avLst/>
                  </a:prstGeom>
                  <a:ln w="28575">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0C96515-0C81-D6F8-FD9F-1E6B39EA9686}"/>
                      </a:ext>
                    </a:extLst>
                  </p:cNvPr>
                  <p:cNvCxnSpPr>
                    <a:cxnSpLocks/>
                  </p:cNvCxnSpPr>
                  <p:nvPr/>
                </p:nvCxnSpPr>
                <p:spPr>
                  <a:xfrm>
                    <a:off x="3570514" y="2177141"/>
                    <a:ext cx="540000" cy="0"/>
                  </a:xfrm>
                  <a:prstGeom prst="line">
                    <a:avLst/>
                  </a:prstGeom>
                  <a:ln w="38100">
                    <a:solidFill>
                      <a:schemeClr val="tx1"/>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70399782-9712-EFCE-5A39-A0C614A41B0E}"/>
                      </a:ext>
                    </a:extLst>
                  </p:cNvPr>
                  <p:cNvCxnSpPr>
                    <a:cxnSpLocks/>
                  </p:cNvCxnSpPr>
                  <p:nvPr/>
                </p:nvCxnSpPr>
                <p:spPr>
                  <a:xfrm flipV="1">
                    <a:off x="3579223" y="1672919"/>
                    <a:ext cx="0" cy="508578"/>
                  </a:xfrm>
                  <a:prstGeom prst="line">
                    <a:avLst/>
                  </a:prstGeom>
                  <a:ln w="38100">
                    <a:solidFill>
                      <a:schemeClr val="tx1"/>
                    </a:solidFill>
                    <a:headEnd type="none" w="med" len="med"/>
                    <a:tailEnd type="triangle" w="med" len="med"/>
                  </a:ln>
                </p:spPr>
                <p:style>
                  <a:lnRef idx="1">
                    <a:schemeClr val="dk1"/>
                  </a:lnRef>
                  <a:fillRef idx="0">
                    <a:schemeClr val="dk1"/>
                  </a:fillRef>
                  <a:effectRef idx="0">
                    <a:schemeClr val="dk1"/>
                  </a:effectRef>
                  <a:fontRef idx="minor">
                    <a:schemeClr val="tx1"/>
                  </a:fontRef>
                </p:style>
              </p:cxnSp>
            </p:grpSp>
            <p:sp>
              <p:nvSpPr>
                <p:cNvPr id="17" name="TextBox 16">
                  <a:extLst>
                    <a:ext uri="{FF2B5EF4-FFF2-40B4-BE49-F238E27FC236}">
                      <a16:creationId xmlns:a16="http://schemas.microsoft.com/office/drawing/2014/main" id="{318E88C2-1588-5885-C197-D89459AA3E4E}"/>
                    </a:ext>
                  </a:extLst>
                </p:cNvPr>
                <p:cNvSpPr txBox="1"/>
                <p:nvPr/>
              </p:nvSpPr>
              <p:spPr>
                <a:xfrm>
                  <a:off x="3257006" y="1486822"/>
                  <a:ext cx="322217" cy="461665"/>
                </a:xfrm>
                <a:prstGeom prst="rect">
                  <a:avLst/>
                </a:prstGeom>
                <a:noFill/>
              </p:spPr>
              <p:txBody>
                <a:bodyPr wrap="square" rtlCol="0">
                  <a:spAutoFit/>
                </a:bodyPr>
                <a:lstStyle/>
                <a:p>
                  <a:r>
                    <a:rPr lang="en-GB" sz="2400" i="1" dirty="0">
                      <a:latin typeface="Times New Roman" panose="02020603050405020304" pitchFamily="18" charset="0"/>
                      <a:cs typeface="Times New Roman" panose="02020603050405020304" pitchFamily="18" charset="0"/>
                    </a:rPr>
                    <a:t>y</a:t>
                  </a:r>
                  <a:endParaRPr lang="en-GH" sz="2400" i="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A279EA46-1664-C153-AF13-144286C59F13}"/>
                    </a:ext>
                  </a:extLst>
                </p:cNvPr>
                <p:cNvSpPr txBox="1"/>
                <p:nvPr/>
              </p:nvSpPr>
              <p:spPr>
                <a:xfrm>
                  <a:off x="3992874" y="2033507"/>
                  <a:ext cx="322217" cy="461665"/>
                </a:xfrm>
                <a:prstGeom prst="rect">
                  <a:avLst/>
                </a:prstGeom>
                <a:noFill/>
              </p:spPr>
              <p:txBody>
                <a:bodyPr wrap="square" rtlCol="0">
                  <a:spAutoFit/>
                </a:bodyPr>
                <a:lstStyle/>
                <a:p>
                  <a:r>
                    <a:rPr lang="en-GB" sz="2400" i="1" dirty="0">
                      <a:latin typeface="Times New Roman" panose="02020603050405020304" pitchFamily="18" charset="0"/>
                      <a:cs typeface="Times New Roman" panose="02020603050405020304" pitchFamily="18" charset="0"/>
                    </a:rPr>
                    <a:t>x</a:t>
                  </a:r>
                  <a:endParaRPr lang="en-GH" sz="2400" i="1" dirty="0">
                    <a:latin typeface="Times New Roman" panose="02020603050405020304" pitchFamily="18" charset="0"/>
                    <a:cs typeface="Times New Roman" panose="02020603050405020304" pitchFamily="18" charset="0"/>
                  </a:endParaRPr>
                </a:p>
              </p:txBody>
            </p:sp>
          </p:grpSp>
          <p:cxnSp>
            <p:nvCxnSpPr>
              <p:cNvPr id="21" name="Straight Connector 20">
                <a:extLst>
                  <a:ext uri="{FF2B5EF4-FFF2-40B4-BE49-F238E27FC236}">
                    <a16:creationId xmlns:a16="http://schemas.microsoft.com/office/drawing/2014/main" id="{67201A96-C0BF-90D0-2803-C5A9844D0261}"/>
                  </a:ext>
                </a:extLst>
              </p:cNvPr>
              <p:cNvCxnSpPr/>
              <p:nvPr/>
            </p:nvCxnSpPr>
            <p:spPr>
              <a:xfrm>
                <a:off x="4358636" y="1419281"/>
                <a:ext cx="0" cy="1628939"/>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0799B4F2-EC32-86C9-B1D0-147D3FD5A98E}"/>
                  </a:ext>
                </a:extLst>
              </p:cNvPr>
              <p:cNvCxnSpPr/>
              <p:nvPr/>
            </p:nvCxnSpPr>
            <p:spPr>
              <a:xfrm>
                <a:off x="6692537" y="1419280"/>
                <a:ext cx="0" cy="1628939"/>
              </a:xfrm>
              <a:prstGeom prst="line">
                <a:avLst/>
              </a:prstGeom>
              <a:ln w="28575">
                <a:prstDash val="dash"/>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4DA9A58E-A517-49D6-C864-541B68A6AA0D}"/>
                  </a:ext>
                </a:extLst>
              </p:cNvPr>
              <p:cNvSpPr txBox="1"/>
              <p:nvPr/>
            </p:nvSpPr>
            <p:spPr>
              <a:xfrm>
                <a:off x="4145347" y="2894460"/>
                <a:ext cx="496392" cy="523220"/>
              </a:xfrm>
              <a:prstGeom prst="rect">
                <a:avLst/>
              </a:prstGeom>
              <a:noFill/>
            </p:spPr>
            <p:txBody>
              <a:bodyPr wrap="square" rtlCol="0">
                <a:spAutoFit/>
              </a:bodyPr>
              <a:lstStyle/>
              <a:p>
                <a:r>
                  <a:rPr lang="en-GB" sz="2800" i="1" dirty="0">
                    <a:latin typeface="Times New Roman" panose="02020603050405020304" pitchFamily="18" charset="0"/>
                    <a:cs typeface="Times New Roman" panose="02020603050405020304" pitchFamily="18" charset="0"/>
                  </a:rPr>
                  <a:t>x</a:t>
                </a:r>
                <a:r>
                  <a:rPr lang="en-GB" sz="2800" baseline="-25000" dirty="0">
                    <a:latin typeface="Times New Roman" panose="02020603050405020304" pitchFamily="18" charset="0"/>
                    <a:cs typeface="Times New Roman" panose="02020603050405020304" pitchFamily="18" charset="0"/>
                  </a:rPr>
                  <a:t>1</a:t>
                </a:r>
                <a:endParaRPr lang="en-GH" sz="28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8958F0BE-3ADB-6547-2320-E724781D5F58}"/>
                  </a:ext>
                </a:extLst>
              </p:cNvPr>
              <p:cNvSpPr txBox="1"/>
              <p:nvPr/>
            </p:nvSpPr>
            <p:spPr>
              <a:xfrm>
                <a:off x="6518433" y="2910734"/>
                <a:ext cx="496392" cy="523220"/>
              </a:xfrm>
              <a:prstGeom prst="rect">
                <a:avLst/>
              </a:prstGeom>
              <a:noFill/>
            </p:spPr>
            <p:txBody>
              <a:bodyPr wrap="square" rtlCol="0">
                <a:spAutoFit/>
              </a:bodyPr>
              <a:lstStyle/>
              <a:p>
                <a:r>
                  <a:rPr lang="en-GB" sz="2800" i="1" dirty="0">
                    <a:latin typeface="Times New Roman" panose="02020603050405020304" pitchFamily="18" charset="0"/>
                    <a:cs typeface="Times New Roman" panose="02020603050405020304" pitchFamily="18" charset="0"/>
                  </a:rPr>
                  <a:t>x</a:t>
                </a:r>
                <a:r>
                  <a:rPr lang="en-GB" sz="2800" baseline="-25000" dirty="0">
                    <a:latin typeface="Times New Roman" panose="02020603050405020304" pitchFamily="18" charset="0"/>
                    <a:cs typeface="Times New Roman" panose="02020603050405020304" pitchFamily="18" charset="0"/>
                  </a:rPr>
                  <a:t>2</a:t>
                </a:r>
                <a:endParaRPr lang="en-GH" sz="2800" dirty="0">
                  <a:latin typeface="Times New Roman" panose="02020603050405020304" pitchFamily="18" charset="0"/>
                  <a:cs typeface="Times New Roman" panose="02020603050405020304" pitchFamily="18" charset="0"/>
                </a:endParaRPr>
              </a:p>
            </p:txBody>
          </p:sp>
        </p:grpSp>
        <p:grpSp>
          <p:nvGrpSpPr>
            <p:cNvPr id="28" name="Group 27">
              <a:extLst>
                <a:ext uri="{FF2B5EF4-FFF2-40B4-BE49-F238E27FC236}">
                  <a16:creationId xmlns:a16="http://schemas.microsoft.com/office/drawing/2014/main" id="{AFE5DF94-2B56-AB6C-70BD-ADE03FCEA9F1}"/>
                </a:ext>
              </a:extLst>
            </p:cNvPr>
            <p:cNvGrpSpPr/>
            <p:nvPr/>
          </p:nvGrpSpPr>
          <p:grpSpPr>
            <a:xfrm>
              <a:off x="4136638" y="918399"/>
              <a:ext cx="432000" cy="523220"/>
              <a:chOff x="9509760" y="2120532"/>
              <a:chExt cx="432000" cy="523220"/>
            </a:xfrm>
          </p:grpSpPr>
          <p:sp>
            <p:nvSpPr>
              <p:cNvPr id="26" name="Oval 25">
                <a:extLst>
                  <a:ext uri="{FF2B5EF4-FFF2-40B4-BE49-F238E27FC236}">
                    <a16:creationId xmlns:a16="http://schemas.microsoft.com/office/drawing/2014/main" id="{2C36A41F-55F4-12A0-FAE5-BAFDF1E870C2}"/>
                  </a:ext>
                </a:extLst>
              </p:cNvPr>
              <p:cNvSpPr/>
              <p:nvPr/>
            </p:nvSpPr>
            <p:spPr>
              <a:xfrm>
                <a:off x="9509760" y="2181497"/>
                <a:ext cx="432000" cy="432000"/>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27" name="TextBox 26">
                <a:extLst>
                  <a:ext uri="{FF2B5EF4-FFF2-40B4-BE49-F238E27FC236}">
                    <a16:creationId xmlns:a16="http://schemas.microsoft.com/office/drawing/2014/main" id="{9A8EC3BA-5450-9CB6-E8DE-17AC4E20C825}"/>
                  </a:ext>
                </a:extLst>
              </p:cNvPr>
              <p:cNvSpPr txBox="1"/>
              <p:nvPr/>
            </p:nvSpPr>
            <p:spPr>
              <a:xfrm>
                <a:off x="9557588" y="2120532"/>
                <a:ext cx="361399" cy="523220"/>
              </a:xfrm>
              <a:prstGeom prst="rect">
                <a:avLst/>
              </a:prstGeom>
              <a:noFill/>
            </p:spPr>
            <p:txBody>
              <a:bodyPr wrap="square" rtlCol="0">
                <a:spAutoFit/>
              </a:bodyPr>
              <a:lstStyle/>
              <a:p>
                <a:r>
                  <a:rPr lang="en-GB" sz="2800" dirty="0">
                    <a:latin typeface="Times New Roman" panose="02020603050405020304" pitchFamily="18" charset="0"/>
                    <a:cs typeface="Times New Roman" panose="02020603050405020304" pitchFamily="18" charset="0"/>
                  </a:rPr>
                  <a:t>1</a:t>
                </a:r>
                <a:endParaRPr lang="en-GH" sz="2800" dirty="0">
                  <a:latin typeface="Times New Roman" panose="02020603050405020304" pitchFamily="18" charset="0"/>
                  <a:cs typeface="Times New Roman" panose="02020603050405020304" pitchFamily="18" charset="0"/>
                </a:endParaRPr>
              </a:p>
            </p:txBody>
          </p:sp>
        </p:grpSp>
        <p:grpSp>
          <p:nvGrpSpPr>
            <p:cNvPr id="30" name="Group 29">
              <a:extLst>
                <a:ext uri="{FF2B5EF4-FFF2-40B4-BE49-F238E27FC236}">
                  <a16:creationId xmlns:a16="http://schemas.microsoft.com/office/drawing/2014/main" id="{7161A850-005E-D69E-DE99-F15ABFEEF548}"/>
                </a:ext>
              </a:extLst>
            </p:cNvPr>
            <p:cNvGrpSpPr/>
            <p:nvPr/>
          </p:nvGrpSpPr>
          <p:grpSpPr>
            <a:xfrm>
              <a:off x="6476537" y="896934"/>
              <a:ext cx="432000" cy="523220"/>
              <a:chOff x="9509760" y="2120532"/>
              <a:chExt cx="432000" cy="523220"/>
            </a:xfrm>
          </p:grpSpPr>
          <p:sp>
            <p:nvSpPr>
              <p:cNvPr id="31" name="Oval 30">
                <a:extLst>
                  <a:ext uri="{FF2B5EF4-FFF2-40B4-BE49-F238E27FC236}">
                    <a16:creationId xmlns:a16="http://schemas.microsoft.com/office/drawing/2014/main" id="{65AB4A7C-718C-B2AF-5FAE-ADCA8FF44D71}"/>
                  </a:ext>
                </a:extLst>
              </p:cNvPr>
              <p:cNvSpPr/>
              <p:nvPr/>
            </p:nvSpPr>
            <p:spPr>
              <a:xfrm>
                <a:off x="9509760" y="2181497"/>
                <a:ext cx="432000" cy="432000"/>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32" name="TextBox 31">
                <a:extLst>
                  <a:ext uri="{FF2B5EF4-FFF2-40B4-BE49-F238E27FC236}">
                    <a16:creationId xmlns:a16="http://schemas.microsoft.com/office/drawing/2014/main" id="{A7EA695C-116D-62D4-AC48-5DCC85CA0076}"/>
                  </a:ext>
                </a:extLst>
              </p:cNvPr>
              <p:cNvSpPr txBox="1"/>
              <p:nvPr/>
            </p:nvSpPr>
            <p:spPr>
              <a:xfrm>
                <a:off x="9557588" y="2120532"/>
                <a:ext cx="361399" cy="523220"/>
              </a:xfrm>
              <a:prstGeom prst="rect">
                <a:avLst/>
              </a:prstGeom>
              <a:noFill/>
            </p:spPr>
            <p:txBody>
              <a:bodyPr wrap="square" rtlCol="0">
                <a:spAutoFit/>
              </a:bodyPr>
              <a:lstStyle/>
              <a:p>
                <a:r>
                  <a:rPr lang="en-GB" sz="2800" dirty="0">
                    <a:latin typeface="Times New Roman" panose="02020603050405020304" pitchFamily="18" charset="0"/>
                    <a:cs typeface="Times New Roman" panose="02020603050405020304" pitchFamily="18" charset="0"/>
                  </a:rPr>
                  <a:t>2</a:t>
                </a:r>
                <a:endParaRPr lang="en-GH" sz="2800" dirty="0">
                  <a:latin typeface="Times New Roman" panose="02020603050405020304" pitchFamily="18" charset="0"/>
                  <a:cs typeface="Times New Roman" panose="02020603050405020304" pitchFamily="18" charset="0"/>
                </a:endParaRPr>
              </a:p>
            </p:txBody>
          </p:sp>
        </p:grpSp>
        <p:cxnSp>
          <p:nvCxnSpPr>
            <p:cNvPr id="34" name="Straight Arrow Connector 33">
              <a:extLst>
                <a:ext uri="{FF2B5EF4-FFF2-40B4-BE49-F238E27FC236}">
                  <a16:creationId xmlns:a16="http://schemas.microsoft.com/office/drawing/2014/main" id="{2D133D26-AB21-6FFB-506D-AA5264C4ACA5}"/>
                </a:ext>
              </a:extLst>
            </p:cNvPr>
            <p:cNvCxnSpPr/>
            <p:nvPr/>
          </p:nvCxnSpPr>
          <p:spPr>
            <a:xfrm>
              <a:off x="4365165" y="2943711"/>
              <a:ext cx="2339899" cy="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B2DAE69A-791D-C179-FF30-37E95090476D}"/>
                </a:ext>
              </a:extLst>
            </p:cNvPr>
            <p:cNvSpPr txBox="1"/>
            <p:nvPr/>
          </p:nvSpPr>
          <p:spPr>
            <a:xfrm>
              <a:off x="5270998" y="2889237"/>
              <a:ext cx="496392" cy="523220"/>
            </a:xfrm>
            <a:prstGeom prst="rect">
              <a:avLst/>
            </a:prstGeom>
            <a:noFill/>
          </p:spPr>
          <p:txBody>
            <a:bodyPr wrap="square" rtlCol="0">
              <a:spAutoFit/>
            </a:bodyPr>
            <a:lstStyle/>
            <a:p>
              <a:r>
                <a:rPr lang="en-GB" sz="2800" i="1" dirty="0">
                  <a:latin typeface="Times New Roman" panose="02020603050405020304" pitchFamily="18" charset="0"/>
                  <a:cs typeface="Times New Roman" panose="02020603050405020304" pitchFamily="18" charset="0"/>
                </a:rPr>
                <a:t>L</a:t>
              </a:r>
              <a:endParaRPr lang="en-GH" sz="2800" dirty="0">
                <a:latin typeface="Times New Roman" panose="02020603050405020304" pitchFamily="18" charset="0"/>
                <a:cs typeface="Times New Roman" panose="02020603050405020304" pitchFamily="18" charset="0"/>
              </a:endParaRPr>
            </a:p>
          </p:txBody>
        </p:sp>
      </p:grpSp>
      <p:cxnSp>
        <p:nvCxnSpPr>
          <p:cNvPr id="33" name="Straight Connector 32">
            <a:extLst>
              <a:ext uri="{FF2B5EF4-FFF2-40B4-BE49-F238E27FC236}">
                <a16:creationId xmlns:a16="http://schemas.microsoft.com/office/drawing/2014/main" id="{E9DB60AD-A02C-BBCF-41C0-71666F336168}"/>
              </a:ext>
            </a:extLst>
          </p:cNvPr>
          <p:cNvCxnSpPr>
            <a:cxnSpLocks/>
          </p:cNvCxnSpPr>
          <p:nvPr/>
        </p:nvCxnSpPr>
        <p:spPr>
          <a:xfrm>
            <a:off x="3949331" y="4025334"/>
            <a:ext cx="0" cy="2686652"/>
          </a:xfrm>
          <a:prstGeom prst="line">
            <a:avLst/>
          </a:prstGeom>
          <a:ln w="38100"/>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EC328498-2DA9-AE60-4049-58D54186AE87}"/>
              </a:ext>
            </a:extLst>
          </p:cNvPr>
          <p:cNvSpPr txBox="1"/>
          <p:nvPr/>
        </p:nvSpPr>
        <p:spPr>
          <a:xfrm>
            <a:off x="0" y="4121842"/>
            <a:ext cx="1018903" cy="461665"/>
          </a:xfrm>
          <a:prstGeom prst="rect">
            <a:avLst/>
          </a:prstGeom>
          <a:noFill/>
        </p:spPr>
        <p:txBody>
          <a:bodyPr wrap="square">
            <a:spAutoFit/>
          </a:bodyPr>
          <a:lstStyle/>
          <a:p>
            <a:r>
              <a:rPr lang="en-GB" sz="2400" dirty="0">
                <a:latin typeface="Times New Roman" panose="02020603050405020304" pitchFamily="18" charset="0"/>
                <a:cs typeface="Times New Roman" panose="02020603050405020304" pitchFamily="18" charset="0"/>
              </a:rPr>
              <a:t>Recall</a:t>
            </a:r>
            <a:endParaRPr lang="en-GH"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39BB6CBD-B7A9-A386-1AFC-F7F1C28DB516}"/>
                  </a:ext>
                </a:extLst>
              </p:cNvPr>
              <p:cNvSpPr txBox="1"/>
              <p:nvPr/>
            </p:nvSpPr>
            <p:spPr>
              <a:xfrm>
                <a:off x="1451139" y="3936258"/>
                <a:ext cx="2702843" cy="93897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𝜏</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lang="en-GB" sz="2800" b="0" i="1" smtClean="0">
                          <a:solidFill>
                            <a:prstClr val="black"/>
                          </a:solidFill>
                          <a:latin typeface="Cambria Math" panose="02040503050406030204" pitchFamily="18" charset="0"/>
                          <a:cs typeface="Times New Roman" panose="02020603050405020304" pitchFamily="18" charset="0"/>
                        </a:rPr>
                        <m:t>−</m:t>
                      </m:r>
                      <m:f>
                        <m:fPr>
                          <m:ctrlP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𝑑𝑝</m:t>
                          </m:r>
                        </m:num>
                        <m:den>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𝑑𝑥</m:t>
                          </m:r>
                        </m:den>
                      </m:f>
                      <m:f>
                        <m:f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𝑟</m:t>
                          </m:r>
                        </m:num>
                        <m:den>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m:t>
                          </m:r>
                        </m:den>
                      </m:f>
                    </m:oMath>
                  </m:oMathPara>
                </a14:m>
                <a:endParaRPr lang="en-GH" sz="2800" dirty="0"/>
              </a:p>
            </p:txBody>
          </p:sp>
        </mc:Choice>
        <mc:Fallback xmlns="">
          <p:sp>
            <p:nvSpPr>
              <p:cNvPr id="41" name="TextBox 40">
                <a:extLst>
                  <a:ext uri="{FF2B5EF4-FFF2-40B4-BE49-F238E27FC236}">
                    <a16:creationId xmlns:a16="http://schemas.microsoft.com/office/drawing/2014/main" id="{39BB6CBD-B7A9-A386-1AFC-F7F1C28DB516}"/>
                  </a:ext>
                </a:extLst>
              </p:cNvPr>
              <p:cNvSpPr txBox="1">
                <a:spLocks noRot="1" noChangeAspect="1" noMove="1" noResize="1" noEditPoints="1" noAdjustHandles="1" noChangeArrowheads="1" noChangeShapeType="1" noTextEdit="1"/>
              </p:cNvSpPr>
              <p:nvPr/>
            </p:nvSpPr>
            <p:spPr>
              <a:xfrm>
                <a:off x="1451139" y="3936258"/>
                <a:ext cx="2702843" cy="938975"/>
              </a:xfrm>
              <a:prstGeom prst="rect">
                <a:avLst/>
              </a:prstGeom>
              <a:blipFill>
                <a:blip r:embed="rId4"/>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C079F527-6DA7-05A2-26A3-E224736A6A84}"/>
                  </a:ext>
                </a:extLst>
              </p:cNvPr>
              <p:cNvSpPr txBox="1"/>
              <p:nvPr/>
            </p:nvSpPr>
            <p:spPr>
              <a:xfrm>
                <a:off x="17417" y="4913016"/>
                <a:ext cx="2429689" cy="461665"/>
              </a:xfrm>
              <a:prstGeom prst="rect">
                <a:avLst/>
              </a:prstGeom>
              <a:noFill/>
            </p:spPr>
            <p:txBody>
              <a:bodyPr wrap="square">
                <a:spAutoFit/>
              </a:bodyPr>
              <a:lstStyle/>
              <a:p>
                <a:r>
                  <a:rPr lang="en-GB" sz="2400" dirty="0">
                    <a:latin typeface="Times New Roman" panose="02020603050405020304" pitchFamily="18" charset="0"/>
                    <a:cs typeface="Times New Roman" panose="02020603050405020304" pitchFamily="18" charset="0"/>
                  </a:rPr>
                  <a:t>At </a:t>
                </a:r>
                <a14:m>
                  <m:oMath xmlns:m="http://schemas.openxmlformats.org/officeDocument/2006/math">
                    <m:r>
                      <a:rPr lang="en-GB" sz="2400" b="0" i="1" smtClean="0">
                        <a:latin typeface="Cambria Math" panose="02040503050406030204" pitchFamily="18" charset="0"/>
                        <a:cs typeface="Times New Roman" panose="02020603050405020304" pitchFamily="18" charset="0"/>
                      </a:rPr>
                      <m:t>𝑟</m:t>
                    </m:r>
                    <m:r>
                      <a:rPr lang="en-GB" sz="2400" b="0" i="1" smtClean="0">
                        <a:latin typeface="Cambria Math" panose="02040503050406030204" pitchFamily="18" charset="0"/>
                        <a:cs typeface="Times New Roman" panose="02020603050405020304" pitchFamily="18" charset="0"/>
                      </a:rPr>
                      <m:t>=</m:t>
                    </m:r>
                    <m:sSub>
                      <m:sSubPr>
                        <m:ctrlPr>
                          <a:rPr lang="en-GB" sz="2400" b="0" i="1" smtClean="0">
                            <a:latin typeface="Cambria Math" panose="02040503050406030204" pitchFamily="18" charset="0"/>
                            <a:cs typeface="Times New Roman" panose="02020603050405020304" pitchFamily="18" charset="0"/>
                          </a:rPr>
                        </m:ctrlPr>
                      </m:sSubPr>
                      <m:e>
                        <m:r>
                          <a:rPr lang="en-GB" sz="2400" b="0" i="1" smtClean="0">
                            <a:latin typeface="Cambria Math" panose="02040503050406030204" pitchFamily="18" charset="0"/>
                            <a:cs typeface="Times New Roman" panose="02020603050405020304" pitchFamily="18" charset="0"/>
                          </a:rPr>
                          <m:t>𝑟</m:t>
                        </m:r>
                      </m:e>
                      <m:sub>
                        <m:r>
                          <a:rPr lang="en-GB" sz="2400" b="0" i="1" smtClean="0">
                            <a:latin typeface="Cambria Math" panose="02040503050406030204" pitchFamily="18" charset="0"/>
                            <a:cs typeface="Times New Roman" panose="02020603050405020304" pitchFamily="18" charset="0"/>
                          </a:rPr>
                          <m:t>0</m:t>
                        </m:r>
                      </m:sub>
                    </m:sSub>
                    <m:r>
                      <m:rPr>
                        <m:nor/>
                      </m:rPr>
                      <a:rPr lang="en-GB" sz="2400" b="0" i="0" smtClean="0">
                        <a:latin typeface="Cambria Math" panose="02040503050406030204" pitchFamily="18" charset="0"/>
                        <a:cs typeface="Times New Roman" panose="02020603050405020304" pitchFamily="18" charset="0"/>
                      </a:rPr>
                      <m:t>, </m:t>
                    </m:r>
                    <m: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𝜏</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𝜏</m:t>
                        </m:r>
                      </m:e>
                      <m:sub>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𝑤</m:t>
                        </m:r>
                      </m:sub>
                    </m:sSub>
                  </m:oMath>
                </a14:m>
                <a:endParaRPr lang="en-GH" sz="2400" dirty="0">
                  <a:latin typeface="Times New Roman" panose="02020603050405020304" pitchFamily="18" charset="0"/>
                  <a:cs typeface="Times New Roman" panose="02020603050405020304" pitchFamily="18" charset="0"/>
                </a:endParaRPr>
              </a:p>
            </p:txBody>
          </p:sp>
        </mc:Choice>
        <mc:Fallback xmlns="">
          <p:sp>
            <p:nvSpPr>
              <p:cNvPr id="45" name="TextBox 44">
                <a:extLst>
                  <a:ext uri="{FF2B5EF4-FFF2-40B4-BE49-F238E27FC236}">
                    <a16:creationId xmlns:a16="http://schemas.microsoft.com/office/drawing/2014/main" id="{C079F527-6DA7-05A2-26A3-E224736A6A84}"/>
                  </a:ext>
                </a:extLst>
              </p:cNvPr>
              <p:cNvSpPr txBox="1">
                <a:spLocks noRot="1" noChangeAspect="1" noMove="1" noResize="1" noEditPoints="1" noAdjustHandles="1" noChangeArrowheads="1" noChangeShapeType="1" noTextEdit="1"/>
              </p:cNvSpPr>
              <p:nvPr/>
            </p:nvSpPr>
            <p:spPr>
              <a:xfrm>
                <a:off x="17417" y="4913016"/>
                <a:ext cx="2429689" cy="461665"/>
              </a:xfrm>
              <a:prstGeom prst="rect">
                <a:avLst/>
              </a:prstGeom>
              <a:blipFill>
                <a:blip r:embed="rId5"/>
                <a:stretch>
                  <a:fillRect l="-4020" t="-10526" b="-28947"/>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C11CC021-0273-6273-3290-2B5E0A513FD5}"/>
                  </a:ext>
                </a:extLst>
              </p:cNvPr>
              <p:cNvSpPr txBox="1"/>
              <p:nvPr/>
            </p:nvSpPr>
            <p:spPr>
              <a:xfrm>
                <a:off x="227585" y="5368660"/>
                <a:ext cx="3430014" cy="93897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𝜏</m:t>
                          </m:r>
                        </m:e>
                        <m:sub>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𝑤</m:t>
                          </m:r>
                        </m:sub>
                      </m:sSub>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lang="en-GB" sz="2800" b="0" i="1" smtClean="0">
                          <a:solidFill>
                            <a:prstClr val="black"/>
                          </a:solidFill>
                          <a:latin typeface="Cambria Math" panose="02040503050406030204" pitchFamily="18" charset="0"/>
                          <a:cs typeface="Times New Roman" panose="02020603050405020304" pitchFamily="18" charset="0"/>
                        </a:rPr>
                        <m:t>−</m:t>
                      </m:r>
                      <m:f>
                        <m:fPr>
                          <m:ctrlP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𝑑𝑝</m:t>
                          </m:r>
                        </m:num>
                        <m:den>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𝑑𝑥</m:t>
                          </m:r>
                        </m:den>
                      </m:f>
                      <m:f>
                        <m:f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𝑟</m:t>
                              </m:r>
                            </m:e>
                            <m:sub>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m:t>
                              </m:r>
                            </m:sub>
                          </m:sSub>
                        </m:num>
                        <m:den>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m:t>
                          </m:r>
                        </m:den>
                      </m:f>
                    </m:oMath>
                  </m:oMathPara>
                </a14:m>
                <a:endParaRPr lang="en-GH" sz="2800" dirty="0"/>
              </a:p>
            </p:txBody>
          </p:sp>
        </mc:Choice>
        <mc:Fallback xmlns="">
          <p:sp>
            <p:nvSpPr>
              <p:cNvPr id="46" name="TextBox 45">
                <a:extLst>
                  <a:ext uri="{FF2B5EF4-FFF2-40B4-BE49-F238E27FC236}">
                    <a16:creationId xmlns:a16="http://schemas.microsoft.com/office/drawing/2014/main" id="{C11CC021-0273-6273-3290-2B5E0A513FD5}"/>
                  </a:ext>
                </a:extLst>
              </p:cNvPr>
              <p:cNvSpPr txBox="1">
                <a:spLocks noRot="1" noChangeAspect="1" noMove="1" noResize="1" noEditPoints="1" noAdjustHandles="1" noChangeArrowheads="1" noChangeShapeType="1" noTextEdit="1"/>
              </p:cNvSpPr>
              <p:nvPr/>
            </p:nvSpPr>
            <p:spPr>
              <a:xfrm>
                <a:off x="227585" y="5368660"/>
                <a:ext cx="3430014" cy="938975"/>
              </a:xfrm>
              <a:prstGeom prst="rect">
                <a:avLst/>
              </a:prstGeom>
              <a:blipFill>
                <a:blip r:embed="rId6"/>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ADC0370A-B2EA-B6CE-D687-B1E3C81DA681}"/>
                  </a:ext>
                </a:extLst>
              </p:cNvPr>
              <p:cNvSpPr txBox="1"/>
              <p:nvPr/>
            </p:nvSpPr>
            <p:spPr>
              <a:xfrm>
                <a:off x="4315091" y="4007857"/>
                <a:ext cx="3430014" cy="97494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800" i="1" smtClean="0">
                          <a:solidFill>
                            <a:prstClr val="black"/>
                          </a:solidFill>
                          <a:latin typeface="Cambria Math" panose="02040503050406030204" pitchFamily="18" charset="0"/>
                          <a:cs typeface="Times New Roman" panose="02020603050405020304" pitchFamily="18" charset="0"/>
                        </a:rPr>
                        <m:t>−</m:t>
                      </m:r>
                      <m:f>
                        <m:fPr>
                          <m:ctrlP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𝑑𝑝</m:t>
                          </m:r>
                        </m:num>
                        <m:den>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𝑑𝑥</m:t>
                          </m:r>
                        </m:den>
                      </m:f>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m:t>
                              </m:r>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𝜏</m:t>
                              </m:r>
                            </m:e>
                            <m:sub>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𝑤</m:t>
                              </m:r>
                            </m:sub>
                          </m:sSub>
                        </m:num>
                        <m:den>
                          <m:sSub>
                            <m:sSubPr>
                              <m:ctrlP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𝑟</m:t>
                              </m:r>
                            </m:e>
                            <m:sub>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m:t>
                              </m:r>
                            </m:sub>
                          </m:sSub>
                        </m:den>
                      </m:f>
                    </m:oMath>
                  </m:oMathPara>
                </a14:m>
                <a:endParaRPr lang="en-GH" sz="2800" dirty="0"/>
              </a:p>
            </p:txBody>
          </p:sp>
        </mc:Choice>
        <mc:Fallback xmlns="">
          <p:sp>
            <p:nvSpPr>
              <p:cNvPr id="47" name="TextBox 46">
                <a:extLst>
                  <a:ext uri="{FF2B5EF4-FFF2-40B4-BE49-F238E27FC236}">
                    <a16:creationId xmlns:a16="http://schemas.microsoft.com/office/drawing/2014/main" id="{ADC0370A-B2EA-B6CE-D687-B1E3C81DA681}"/>
                  </a:ext>
                </a:extLst>
              </p:cNvPr>
              <p:cNvSpPr txBox="1">
                <a:spLocks noRot="1" noChangeAspect="1" noMove="1" noResize="1" noEditPoints="1" noAdjustHandles="1" noChangeArrowheads="1" noChangeShapeType="1" noTextEdit="1"/>
              </p:cNvSpPr>
              <p:nvPr/>
            </p:nvSpPr>
            <p:spPr>
              <a:xfrm>
                <a:off x="4315091" y="4007857"/>
                <a:ext cx="3430014" cy="974947"/>
              </a:xfrm>
              <a:prstGeom prst="rect">
                <a:avLst/>
              </a:prstGeom>
              <a:blipFill>
                <a:blip r:embed="rId7"/>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A8A236C1-8359-B362-085B-E662C5DD422E}"/>
                  </a:ext>
                </a:extLst>
              </p:cNvPr>
              <p:cNvSpPr txBox="1"/>
              <p:nvPr/>
            </p:nvSpPr>
            <p:spPr>
              <a:xfrm>
                <a:off x="4187651" y="5290457"/>
                <a:ext cx="3430014" cy="97494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GB" sz="2800" i="1">
                              <a:solidFill>
                                <a:prstClr val="black"/>
                              </a:solidFill>
                              <a:latin typeface="Cambria Math" panose="02040503050406030204" pitchFamily="18" charset="0"/>
                              <a:cs typeface="Times New Roman" panose="02020603050405020304" pitchFamily="18" charset="0"/>
                            </a:rPr>
                          </m:ctrlPr>
                        </m:fPr>
                        <m:num>
                          <m:sSub>
                            <m:sSubPr>
                              <m:ctrlPr>
                                <a:rPr lang="en-GB" sz="2800" i="1">
                                  <a:solidFill>
                                    <a:prstClr val="black"/>
                                  </a:solidFill>
                                  <a:latin typeface="Cambria Math" panose="02040503050406030204" pitchFamily="18" charset="0"/>
                                  <a:cs typeface="Times New Roman" panose="02020603050405020304" pitchFamily="18" charset="0"/>
                                </a:rPr>
                              </m:ctrlPr>
                            </m:sSubPr>
                            <m:e>
                              <m:r>
                                <a:rPr lang="en-GB" sz="2800" i="1">
                                  <a:solidFill>
                                    <a:prstClr val="black"/>
                                  </a:solidFill>
                                  <a:latin typeface="Cambria Math" panose="02040503050406030204" pitchFamily="18" charset="0"/>
                                  <a:cs typeface="Times New Roman" panose="02020603050405020304" pitchFamily="18" charset="0"/>
                                </a:rPr>
                                <m:t>𝑃</m:t>
                              </m:r>
                            </m:e>
                            <m:sub>
                              <m:r>
                                <a:rPr lang="en-GB" sz="2800" i="1">
                                  <a:solidFill>
                                    <a:prstClr val="black"/>
                                  </a:solidFill>
                                  <a:latin typeface="Cambria Math" panose="02040503050406030204" pitchFamily="18" charset="0"/>
                                  <a:cs typeface="Times New Roman" panose="02020603050405020304" pitchFamily="18" charset="0"/>
                                </a:rPr>
                                <m:t>1</m:t>
                              </m:r>
                            </m:sub>
                          </m:sSub>
                          <m:r>
                            <a:rPr lang="en-GB" sz="2800" i="1">
                              <a:solidFill>
                                <a:prstClr val="black"/>
                              </a:solidFill>
                              <a:latin typeface="Cambria Math" panose="02040503050406030204" pitchFamily="18" charset="0"/>
                              <a:cs typeface="Times New Roman" panose="02020603050405020304" pitchFamily="18" charset="0"/>
                            </a:rPr>
                            <m:t>−</m:t>
                          </m:r>
                          <m:sSub>
                            <m:sSubPr>
                              <m:ctrlPr>
                                <a:rPr lang="en-GB" sz="2800" i="1">
                                  <a:solidFill>
                                    <a:prstClr val="black"/>
                                  </a:solidFill>
                                  <a:latin typeface="Cambria Math" panose="02040503050406030204" pitchFamily="18" charset="0"/>
                                  <a:cs typeface="Times New Roman" panose="02020603050405020304" pitchFamily="18" charset="0"/>
                                </a:rPr>
                              </m:ctrlPr>
                            </m:sSubPr>
                            <m:e>
                              <m:r>
                                <a:rPr lang="en-GB" sz="2800" i="1">
                                  <a:solidFill>
                                    <a:prstClr val="black"/>
                                  </a:solidFill>
                                  <a:latin typeface="Cambria Math" panose="02040503050406030204" pitchFamily="18" charset="0"/>
                                  <a:cs typeface="Times New Roman" panose="02020603050405020304" pitchFamily="18" charset="0"/>
                                </a:rPr>
                                <m:t>𝑃</m:t>
                              </m:r>
                            </m:e>
                            <m:sub>
                              <m:r>
                                <a:rPr lang="en-GB" sz="2800" i="1">
                                  <a:solidFill>
                                    <a:prstClr val="black"/>
                                  </a:solidFill>
                                  <a:latin typeface="Cambria Math" panose="02040503050406030204" pitchFamily="18" charset="0"/>
                                  <a:cs typeface="Times New Roman" panose="02020603050405020304" pitchFamily="18" charset="0"/>
                                </a:rPr>
                                <m:t>2</m:t>
                              </m:r>
                            </m:sub>
                          </m:sSub>
                        </m:num>
                        <m:den>
                          <m:r>
                            <a:rPr lang="en-GB" sz="2800" i="1">
                              <a:solidFill>
                                <a:prstClr val="black"/>
                              </a:solidFill>
                              <a:latin typeface="Cambria Math" panose="02040503050406030204" pitchFamily="18" charset="0"/>
                              <a:cs typeface="Times New Roman" panose="02020603050405020304" pitchFamily="18" charset="0"/>
                            </a:rPr>
                            <m:t>𝐿</m:t>
                          </m:r>
                        </m:den>
                      </m:f>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m:t>
                              </m:r>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𝜏</m:t>
                              </m:r>
                            </m:e>
                            <m:sub>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𝑤</m:t>
                              </m:r>
                            </m:sub>
                          </m:sSub>
                        </m:num>
                        <m:den>
                          <m:sSub>
                            <m:sSubPr>
                              <m:ctrlP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𝑟</m:t>
                              </m:r>
                            </m:e>
                            <m:sub>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m:t>
                              </m:r>
                            </m:sub>
                          </m:sSub>
                        </m:den>
                      </m:f>
                    </m:oMath>
                  </m:oMathPara>
                </a14:m>
                <a:endParaRPr lang="en-GH" sz="2800" dirty="0"/>
              </a:p>
            </p:txBody>
          </p:sp>
        </mc:Choice>
        <mc:Fallback xmlns="">
          <p:sp>
            <p:nvSpPr>
              <p:cNvPr id="48" name="TextBox 47">
                <a:extLst>
                  <a:ext uri="{FF2B5EF4-FFF2-40B4-BE49-F238E27FC236}">
                    <a16:creationId xmlns:a16="http://schemas.microsoft.com/office/drawing/2014/main" id="{A8A236C1-8359-B362-085B-E662C5DD422E}"/>
                  </a:ext>
                </a:extLst>
              </p:cNvPr>
              <p:cNvSpPr txBox="1">
                <a:spLocks noRot="1" noChangeAspect="1" noMove="1" noResize="1" noEditPoints="1" noAdjustHandles="1" noChangeArrowheads="1" noChangeShapeType="1" noTextEdit="1"/>
              </p:cNvSpPr>
              <p:nvPr/>
            </p:nvSpPr>
            <p:spPr>
              <a:xfrm>
                <a:off x="4187651" y="5290457"/>
                <a:ext cx="3430014" cy="974947"/>
              </a:xfrm>
              <a:prstGeom prst="rect">
                <a:avLst/>
              </a:prstGeom>
              <a:blipFill>
                <a:blip r:embed="rId8"/>
                <a:stretch>
                  <a:fillRect/>
                </a:stretch>
              </a:blipFill>
            </p:spPr>
            <p:txBody>
              <a:bodyPr/>
              <a:lstStyle/>
              <a:p>
                <a:r>
                  <a:rPr lang="en-GH">
                    <a:noFill/>
                  </a:rPr>
                  <a:t> </a:t>
                </a:r>
              </a:p>
            </p:txBody>
          </p:sp>
        </mc:Fallback>
      </mc:AlternateContent>
      <p:cxnSp>
        <p:nvCxnSpPr>
          <p:cNvPr id="49" name="Straight Connector 48">
            <a:extLst>
              <a:ext uri="{FF2B5EF4-FFF2-40B4-BE49-F238E27FC236}">
                <a16:creationId xmlns:a16="http://schemas.microsoft.com/office/drawing/2014/main" id="{5B0D0C26-B850-13B5-5A48-5C9236527C1F}"/>
              </a:ext>
            </a:extLst>
          </p:cNvPr>
          <p:cNvCxnSpPr>
            <a:cxnSpLocks/>
          </p:cNvCxnSpPr>
          <p:nvPr/>
        </p:nvCxnSpPr>
        <p:spPr>
          <a:xfrm>
            <a:off x="7193274" y="4007857"/>
            <a:ext cx="0" cy="2686652"/>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0CF3507F-1D7E-C61F-E3F8-9E3A5663F4C5}"/>
                  </a:ext>
                </a:extLst>
              </p:cNvPr>
              <p:cNvSpPr txBox="1"/>
              <p:nvPr/>
            </p:nvSpPr>
            <p:spPr>
              <a:xfrm>
                <a:off x="7419766" y="3838994"/>
                <a:ext cx="3430014" cy="101213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GB" sz="2800" i="1">
                              <a:solidFill>
                                <a:prstClr val="black"/>
                              </a:solidFill>
                              <a:latin typeface="Cambria Math" panose="02040503050406030204" pitchFamily="18" charset="0"/>
                              <a:cs typeface="Times New Roman" panose="02020603050405020304" pitchFamily="18" charset="0"/>
                            </a:rPr>
                          </m:ctrlPr>
                        </m:fPr>
                        <m:num>
                          <m:r>
                            <m:rPr>
                              <m:sty m:val="p"/>
                            </m:rPr>
                            <a:rPr lang="el-GR"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Δ</m:t>
                          </m:r>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𝑃</m:t>
                          </m:r>
                        </m:num>
                        <m:den>
                          <m:r>
                            <a:rPr lang="en-GB" sz="2800" i="1">
                              <a:solidFill>
                                <a:prstClr val="black"/>
                              </a:solidFill>
                              <a:latin typeface="Cambria Math" panose="02040503050406030204" pitchFamily="18" charset="0"/>
                              <a:cs typeface="Times New Roman" panose="02020603050405020304" pitchFamily="18" charset="0"/>
                            </a:rPr>
                            <m:t>𝐿</m:t>
                          </m:r>
                        </m:den>
                      </m:f>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m:t>
                              </m:r>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𝜏</m:t>
                              </m:r>
                            </m:e>
                            <m:sub>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𝑤</m:t>
                              </m:r>
                            </m:sub>
                          </m:sSub>
                        </m:num>
                        <m:den>
                          <m:sSub>
                            <m:sSubPr>
                              <m:ctrlP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𝑟</m:t>
                              </m:r>
                            </m:e>
                            <m:sub>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m:t>
                              </m:r>
                            </m:sub>
                          </m:sSub>
                        </m:den>
                      </m:f>
                    </m:oMath>
                  </m:oMathPara>
                </a14:m>
                <a:endParaRPr lang="en-GH" sz="2800" dirty="0"/>
              </a:p>
            </p:txBody>
          </p:sp>
        </mc:Choice>
        <mc:Fallback xmlns="">
          <p:sp>
            <p:nvSpPr>
              <p:cNvPr id="50" name="TextBox 49">
                <a:extLst>
                  <a:ext uri="{FF2B5EF4-FFF2-40B4-BE49-F238E27FC236}">
                    <a16:creationId xmlns:a16="http://schemas.microsoft.com/office/drawing/2014/main" id="{0CF3507F-1D7E-C61F-E3F8-9E3A5663F4C5}"/>
                  </a:ext>
                </a:extLst>
              </p:cNvPr>
              <p:cNvSpPr txBox="1">
                <a:spLocks noRot="1" noChangeAspect="1" noMove="1" noResize="1" noEditPoints="1" noAdjustHandles="1" noChangeArrowheads="1" noChangeShapeType="1" noTextEdit="1"/>
              </p:cNvSpPr>
              <p:nvPr/>
            </p:nvSpPr>
            <p:spPr>
              <a:xfrm>
                <a:off x="7419766" y="3838994"/>
                <a:ext cx="3430014" cy="1012137"/>
              </a:xfrm>
              <a:prstGeom prst="rect">
                <a:avLst/>
              </a:prstGeom>
              <a:blipFill>
                <a:blip r:embed="rId9"/>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3479F609-CFA0-F217-8E3D-5566DA1F070D}"/>
                  </a:ext>
                </a:extLst>
              </p:cNvPr>
              <p:cNvSpPr txBox="1"/>
              <p:nvPr/>
            </p:nvSpPr>
            <p:spPr>
              <a:xfrm>
                <a:off x="7419766" y="5164262"/>
                <a:ext cx="3430014" cy="101213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m:rPr>
                          <m:sty m:val="p"/>
                        </m:rPr>
                        <a:rPr lang="el-GR"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Δ</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𝑃</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m:t>
                              </m:r>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𝜏</m:t>
                              </m:r>
                            </m:e>
                            <m:sub>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𝑤</m:t>
                              </m:r>
                            </m:sub>
                          </m:sSub>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𝐿</m:t>
                          </m:r>
                        </m:num>
                        <m:den>
                          <m:sSub>
                            <m:sSubPr>
                              <m:ctrlP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𝑟</m:t>
                              </m:r>
                            </m:e>
                            <m:sub>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m:t>
                              </m:r>
                            </m:sub>
                          </m:sSub>
                        </m:den>
                      </m:f>
                    </m:oMath>
                  </m:oMathPara>
                </a14:m>
                <a:endParaRPr lang="en-GH" sz="2800" dirty="0"/>
              </a:p>
            </p:txBody>
          </p:sp>
        </mc:Choice>
        <mc:Fallback xmlns="">
          <p:sp>
            <p:nvSpPr>
              <p:cNvPr id="51" name="TextBox 50">
                <a:extLst>
                  <a:ext uri="{FF2B5EF4-FFF2-40B4-BE49-F238E27FC236}">
                    <a16:creationId xmlns:a16="http://schemas.microsoft.com/office/drawing/2014/main" id="{3479F609-CFA0-F217-8E3D-5566DA1F070D}"/>
                  </a:ext>
                </a:extLst>
              </p:cNvPr>
              <p:cNvSpPr txBox="1">
                <a:spLocks noRot="1" noChangeAspect="1" noMove="1" noResize="1" noEditPoints="1" noAdjustHandles="1" noChangeArrowheads="1" noChangeShapeType="1" noTextEdit="1"/>
              </p:cNvSpPr>
              <p:nvPr/>
            </p:nvSpPr>
            <p:spPr>
              <a:xfrm>
                <a:off x="7419766" y="5164262"/>
                <a:ext cx="3430014" cy="1012137"/>
              </a:xfrm>
              <a:prstGeom prst="rect">
                <a:avLst/>
              </a:prstGeom>
              <a:blipFill>
                <a:blip r:embed="rId10"/>
                <a:stretch>
                  <a:fillRect/>
                </a:stretch>
              </a:blipFill>
            </p:spPr>
            <p:txBody>
              <a:bodyPr/>
              <a:lstStyle/>
              <a:p>
                <a:r>
                  <a:rPr lang="en-GH">
                    <a:noFill/>
                  </a:rPr>
                  <a:t> </a:t>
                </a:r>
              </a:p>
            </p:txBody>
          </p:sp>
        </mc:Fallback>
      </mc:AlternateContent>
    </p:spTree>
    <p:extLst>
      <p:ext uri="{BB962C8B-B14F-4D97-AF65-F5344CB8AC3E}">
        <p14:creationId xmlns:p14="http://schemas.microsoft.com/office/powerpoint/2010/main" val="42715580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7120" y="1"/>
            <a:ext cx="7477760" cy="400594"/>
          </a:xfrm>
        </p:spPr>
        <p:txBody>
          <a:bodyPr>
            <a:normAutofit fontScale="90000"/>
          </a:bodyPr>
          <a:lstStyle/>
          <a:p>
            <a:pPr lvl="0" indent="-228600" algn="ctr">
              <a:lnSpc>
                <a:spcPct val="107000"/>
              </a:lnSpc>
              <a:spcBef>
                <a:spcPts val="0"/>
              </a:spcBef>
              <a:spcAft>
                <a:spcPts val="800"/>
              </a:spcAft>
              <a:tabLst>
                <a:tab pos="3447415" algn="l"/>
              </a:tabLst>
            </a:pPr>
            <a:r>
              <a:rPr lang="en-US" sz="2800" dirty="0">
                <a:solidFill>
                  <a:prstClr val="black"/>
                </a:solidFill>
                <a:latin typeface="Times New Roman" panose="02020603050405020304" pitchFamily="18" charset="0"/>
                <a:ea typeface="Times New Roman" panose="02020603050405020304" pitchFamily="18" charset="0"/>
              </a:rPr>
              <a:t> </a:t>
            </a:r>
            <a:r>
              <a:rPr lang="en-US" sz="2400" b="1" dirty="0">
                <a:solidFill>
                  <a:prstClr val="black"/>
                </a:solidFill>
                <a:latin typeface="Times New Roman" panose="02020603050405020304" pitchFamily="18" charset="0"/>
                <a:ea typeface="Times New Roman" panose="02020603050405020304" pitchFamily="18" charset="0"/>
              </a:rPr>
              <a:t>OTHER</a:t>
            </a:r>
            <a:r>
              <a:rPr lang="en-US" sz="2400" dirty="0">
                <a:solidFill>
                  <a:prstClr val="black"/>
                </a:solidFill>
                <a:latin typeface="Times New Roman" panose="02020603050405020304" pitchFamily="18" charset="0"/>
                <a:ea typeface="Times New Roman" panose="02020603050405020304" pitchFamily="18" charset="0"/>
              </a:rPr>
              <a:t> </a:t>
            </a:r>
            <a:r>
              <a:rPr lang="en-US" sz="2400" b="1" dirty="0">
                <a:solidFill>
                  <a:prstClr val="black"/>
                </a:solidFill>
                <a:latin typeface="Times New Roman" panose="02020603050405020304" pitchFamily="18" charset="0"/>
                <a:ea typeface="Times New Roman" panose="02020603050405020304" pitchFamily="18" charset="0"/>
              </a:rPr>
              <a:t>PIPE FLOW QUANTITIES </a:t>
            </a:r>
            <a:endParaRPr lang="en-US" sz="2400" dirty="0"/>
          </a:p>
        </p:txBody>
      </p:sp>
      <p:sp>
        <p:nvSpPr>
          <p:cNvPr id="3" name="Content Placeholder 2"/>
          <p:cNvSpPr>
            <a:spLocks noGrp="1"/>
          </p:cNvSpPr>
          <p:nvPr>
            <p:ph idx="1"/>
          </p:nvPr>
        </p:nvSpPr>
        <p:spPr>
          <a:xfrm>
            <a:off x="0" y="440783"/>
            <a:ext cx="12192000" cy="512279"/>
          </a:xfrm>
        </p:spPr>
        <p:txBody>
          <a:bodyPr>
            <a:normAutofit/>
          </a:bodyPr>
          <a:lstStyle/>
          <a:p>
            <a:pPr marL="0" indent="0">
              <a:buNone/>
            </a:pPr>
            <a:r>
              <a:rPr lang="en-US" sz="2600" b="1" dirty="0">
                <a:latin typeface="Times New Roman" panose="02020603050405020304" pitchFamily="18" charset="0"/>
                <a:cs typeface="Times New Roman" panose="02020603050405020304" pitchFamily="18" charset="0"/>
              </a:rPr>
              <a:t>Pressure Drop for a Given Length of Pipe</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0E5E005E-BBB8-4401-B9E1-0045DE02B306}"/>
                  </a:ext>
                </a:extLst>
              </p:cNvPr>
              <p:cNvSpPr txBox="1">
                <a:spLocks/>
              </p:cNvSpPr>
              <p:nvPr/>
            </p:nvSpPr>
            <p:spPr>
              <a:xfrm>
                <a:off x="17417" y="933109"/>
                <a:ext cx="6161902" cy="5656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600" b="1" dirty="0">
                    <a:latin typeface="Times New Roman" panose="02020603050405020304" pitchFamily="18" charset="0"/>
                    <a:cs typeface="Times New Roman" panose="02020603050405020304" pitchFamily="18" charset="0"/>
                  </a:rPr>
                  <a:t>(iv) As a Function of the friction factor (</a:t>
                </a:r>
                <a14:m>
                  <m:oMath xmlns:m="http://schemas.openxmlformats.org/officeDocument/2006/math">
                    <m:r>
                      <a:rPr lang="en-GB" sz="2600" b="1" i="1" smtClean="0">
                        <a:latin typeface="Cambria Math" panose="02040503050406030204" pitchFamily="18" charset="0"/>
                        <a:cs typeface="Times New Roman" panose="02020603050405020304" pitchFamily="18" charset="0"/>
                      </a:rPr>
                      <m:t>𝒇</m:t>
                    </m:r>
                  </m:oMath>
                </a14:m>
                <a:r>
                  <a:rPr lang="en-US" sz="2600" b="1" dirty="0">
                    <a:latin typeface="Times New Roman" panose="02020603050405020304" pitchFamily="18" charset="0"/>
                    <a:cs typeface="Times New Roman" panose="02020603050405020304" pitchFamily="18" charset="0"/>
                  </a:rPr>
                  <a:t>)</a:t>
                </a:r>
              </a:p>
            </p:txBody>
          </p:sp>
        </mc:Choice>
        <mc:Fallback xmlns="">
          <p:sp>
            <p:nvSpPr>
              <p:cNvPr id="5" name="Content Placeholder 2">
                <a:extLst>
                  <a:ext uri="{FF2B5EF4-FFF2-40B4-BE49-F238E27FC236}">
                    <a16:creationId xmlns:a16="http://schemas.microsoft.com/office/drawing/2014/main" id="{0E5E005E-BBB8-4401-B9E1-0045DE02B306}"/>
                  </a:ext>
                </a:extLst>
              </p:cNvPr>
              <p:cNvSpPr txBox="1">
                <a:spLocks noRot="1" noChangeAspect="1" noMove="1" noResize="1" noEditPoints="1" noAdjustHandles="1" noChangeArrowheads="1" noChangeShapeType="1" noTextEdit="1"/>
              </p:cNvSpPr>
              <p:nvPr/>
            </p:nvSpPr>
            <p:spPr>
              <a:xfrm>
                <a:off x="17417" y="933109"/>
                <a:ext cx="6161902" cy="565695"/>
              </a:xfrm>
              <a:prstGeom prst="rect">
                <a:avLst/>
              </a:prstGeom>
              <a:blipFill>
                <a:blip r:embed="rId3"/>
                <a:stretch>
                  <a:fillRect l="-1780" t="-16129" r="-692" b="-7527"/>
                </a:stretch>
              </a:blipFill>
            </p:spPr>
            <p:txBody>
              <a:bodyPr/>
              <a:lstStyle/>
              <a:p>
                <a:r>
                  <a:rPr lang="en-GH">
                    <a:noFill/>
                  </a:rPr>
                  <a:t> </a:t>
                </a:r>
              </a:p>
            </p:txBody>
          </p:sp>
        </mc:Fallback>
      </mc:AlternateContent>
      <p:sp>
        <p:nvSpPr>
          <p:cNvPr id="6" name="TextBox 5">
            <a:extLst>
              <a:ext uri="{FF2B5EF4-FFF2-40B4-BE49-F238E27FC236}">
                <a16:creationId xmlns:a16="http://schemas.microsoft.com/office/drawing/2014/main" id="{EC328498-2DA9-AE60-4049-58D54186AE87}"/>
              </a:ext>
            </a:extLst>
          </p:cNvPr>
          <p:cNvSpPr txBox="1"/>
          <p:nvPr/>
        </p:nvSpPr>
        <p:spPr>
          <a:xfrm>
            <a:off x="17416" y="1408706"/>
            <a:ext cx="11843658" cy="830997"/>
          </a:xfrm>
          <a:prstGeom prst="rect">
            <a:avLst/>
          </a:prstGeom>
          <a:noFill/>
        </p:spPr>
        <p:txBody>
          <a:bodyPr wrap="square">
            <a:spAutoFit/>
          </a:bodyPr>
          <a:lstStyle/>
          <a:p>
            <a:r>
              <a:rPr lang="en-GB" sz="2400" dirty="0">
                <a:latin typeface="Times New Roman" panose="02020603050405020304" pitchFamily="18" charset="0"/>
                <a:cs typeface="Times New Roman" panose="02020603050405020304" pitchFamily="18" charset="0"/>
              </a:rPr>
              <a:t>For any generic fully developed internal flow (laminar, turbulent, circular or non-circular pipe), the pressure drop is expressed as</a:t>
            </a:r>
            <a:endParaRPr lang="en-GH"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ED823E2-8EE5-F894-8EBF-1DDC5ED4533D}"/>
                  </a:ext>
                </a:extLst>
              </p:cNvPr>
              <p:cNvSpPr txBox="1"/>
              <p:nvPr/>
            </p:nvSpPr>
            <p:spPr>
              <a:xfrm>
                <a:off x="1841861" y="2239703"/>
                <a:ext cx="3430014" cy="95410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l-GR"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Δ</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𝑃</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𝑓</m:t>
                      </m:r>
                      <m:f>
                        <m:f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𝐿</m:t>
                          </m:r>
                        </m:num>
                        <m:den>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𝐷</m:t>
                          </m:r>
                        </m:den>
                      </m:f>
                      <m:f>
                        <m:f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𝜌</m:t>
                          </m:r>
                          <m:sSup>
                            <m:sSup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𝑉</m:t>
                              </m:r>
                            </m:e>
                            <m:sup>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m:t>
                              </m:r>
                            </m:sup>
                          </m:sSup>
                        </m:num>
                        <m:den>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m:t>
                          </m:r>
                        </m:den>
                      </m:f>
                    </m:oMath>
                  </m:oMathPara>
                </a14:m>
                <a:endParaRPr lang="en-GH" sz="2800" dirty="0"/>
              </a:p>
            </p:txBody>
          </p:sp>
        </mc:Choice>
        <mc:Fallback xmlns="">
          <p:sp>
            <p:nvSpPr>
              <p:cNvPr id="4" name="TextBox 3">
                <a:extLst>
                  <a:ext uri="{FF2B5EF4-FFF2-40B4-BE49-F238E27FC236}">
                    <a16:creationId xmlns:a16="http://schemas.microsoft.com/office/drawing/2014/main" id="{FED823E2-8EE5-F894-8EBF-1DDC5ED4533D}"/>
                  </a:ext>
                </a:extLst>
              </p:cNvPr>
              <p:cNvSpPr txBox="1">
                <a:spLocks noRot="1" noChangeAspect="1" noMove="1" noResize="1" noEditPoints="1" noAdjustHandles="1" noChangeArrowheads="1" noChangeShapeType="1" noTextEdit="1"/>
              </p:cNvSpPr>
              <p:nvPr/>
            </p:nvSpPr>
            <p:spPr>
              <a:xfrm>
                <a:off x="1841861" y="2239703"/>
                <a:ext cx="3430014" cy="954107"/>
              </a:xfrm>
              <a:prstGeom prst="rect">
                <a:avLst/>
              </a:prstGeom>
              <a:blipFill>
                <a:blip r:embed="rId4"/>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EF5EF64-A0FC-FCB6-C32E-81222D731A7A}"/>
                  </a:ext>
                </a:extLst>
              </p:cNvPr>
              <p:cNvSpPr txBox="1"/>
              <p:nvPr/>
            </p:nvSpPr>
            <p:spPr>
              <a:xfrm>
                <a:off x="0" y="3153728"/>
                <a:ext cx="11843658" cy="461665"/>
              </a:xfrm>
              <a:prstGeom prst="rect">
                <a:avLst/>
              </a:prstGeom>
              <a:noFill/>
            </p:spPr>
            <p:txBody>
              <a:bodyPr wrap="square">
                <a:spAutoFit/>
              </a:bodyPr>
              <a:lstStyle/>
              <a:p>
                <a:r>
                  <a:rPr lang="en-GB" sz="2400" dirty="0">
                    <a:latin typeface="Times New Roman" panose="02020603050405020304" pitchFamily="18" charset="0"/>
                    <a:cs typeface="Times New Roman" panose="02020603050405020304" pitchFamily="18" charset="0"/>
                  </a:rPr>
                  <a:t>where </a:t>
                </a:r>
                <a14:m>
                  <m:oMath xmlns:m="http://schemas.openxmlformats.org/officeDocument/2006/math">
                    <m:r>
                      <a:rPr lang="en-GB" sz="2400" i="1" smtClean="0">
                        <a:latin typeface="Cambria Math" panose="02040503050406030204" pitchFamily="18" charset="0"/>
                        <a:ea typeface="Cambria Math" panose="02040503050406030204" pitchFamily="18" charset="0"/>
                        <a:cs typeface="Times New Roman" panose="02020603050405020304" pitchFamily="18" charset="0"/>
                      </a:rPr>
                      <m:t>𝜌</m:t>
                    </m:r>
                    <m:sSup>
                      <m:sSupPr>
                        <m:ctrlPr>
                          <a:rPr lang="en-GB" sz="24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𝑉</m:t>
                        </m:r>
                      </m:e>
                      <m:sup>
                        <m:r>
                          <a:rPr lang="en-GB" sz="2400"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en-GB" sz="2400" b="0" i="1" smtClean="0">
                        <a:latin typeface="Cambria Math" panose="02040503050406030204" pitchFamily="18" charset="0"/>
                        <a:ea typeface="Cambria Math" panose="02040503050406030204" pitchFamily="18" charset="0"/>
                        <a:cs typeface="Times New Roman" panose="02020603050405020304" pitchFamily="18" charset="0"/>
                      </a:rPr>
                      <m:t>/2</m:t>
                    </m:r>
                  </m:oMath>
                </a14:m>
                <a:r>
                  <a:rPr lang="en-GB" sz="2400" dirty="0">
                    <a:latin typeface="Times New Roman" panose="02020603050405020304" pitchFamily="18" charset="0"/>
                    <a:cs typeface="Times New Roman" panose="02020603050405020304" pitchFamily="18" charset="0"/>
                  </a:rPr>
                  <a:t> is the dynamic pressure and </a:t>
                </a:r>
                <a:r>
                  <a:rPr lang="en-GB" sz="2400" i="1" dirty="0">
                    <a:latin typeface="Times New Roman" panose="02020603050405020304" pitchFamily="18" charset="0"/>
                    <a:cs typeface="Times New Roman" panose="02020603050405020304" pitchFamily="18" charset="0"/>
                  </a:rPr>
                  <a:t>f</a:t>
                </a:r>
                <a:r>
                  <a:rPr lang="en-GB" sz="2400" dirty="0">
                    <a:latin typeface="Times New Roman" panose="02020603050405020304" pitchFamily="18" charset="0"/>
                    <a:cs typeface="Times New Roman" panose="02020603050405020304" pitchFamily="18" charset="0"/>
                  </a:rPr>
                  <a:t> is the Darcy-</a:t>
                </a:r>
                <a:r>
                  <a:rPr lang="en-GB" sz="2400" dirty="0" err="1">
                    <a:latin typeface="Times New Roman" panose="02020603050405020304" pitchFamily="18" charset="0"/>
                    <a:cs typeface="Times New Roman" panose="02020603050405020304" pitchFamily="18" charset="0"/>
                  </a:rPr>
                  <a:t>Weisbach</a:t>
                </a:r>
                <a:r>
                  <a:rPr lang="en-GB" sz="2400" dirty="0">
                    <a:latin typeface="Times New Roman" panose="02020603050405020304" pitchFamily="18" charset="0"/>
                    <a:cs typeface="Times New Roman" panose="02020603050405020304" pitchFamily="18" charset="0"/>
                  </a:rPr>
                  <a:t> friction factor, given by </a:t>
                </a:r>
                <a:endParaRPr lang="en-GH" sz="2400" dirty="0">
                  <a:latin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AEF5EF64-A0FC-FCB6-C32E-81222D731A7A}"/>
                  </a:ext>
                </a:extLst>
              </p:cNvPr>
              <p:cNvSpPr txBox="1">
                <a:spLocks noRot="1" noChangeAspect="1" noMove="1" noResize="1" noEditPoints="1" noAdjustHandles="1" noChangeArrowheads="1" noChangeShapeType="1" noTextEdit="1"/>
              </p:cNvSpPr>
              <p:nvPr/>
            </p:nvSpPr>
            <p:spPr>
              <a:xfrm>
                <a:off x="0" y="3153728"/>
                <a:ext cx="11843658" cy="461665"/>
              </a:xfrm>
              <a:prstGeom prst="rect">
                <a:avLst/>
              </a:prstGeom>
              <a:blipFill>
                <a:blip r:embed="rId5"/>
                <a:stretch>
                  <a:fillRect l="-772" t="-10526" b="-28947"/>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7817483-05D5-56CE-08F4-1F14695AB5A0}"/>
                  </a:ext>
                </a:extLst>
              </p:cNvPr>
              <p:cNvSpPr txBox="1"/>
              <p:nvPr/>
            </p:nvSpPr>
            <p:spPr>
              <a:xfrm>
                <a:off x="1383361" y="3558449"/>
                <a:ext cx="3430014" cy="97469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𝑓</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8</m:t>
                          </m:r>
                          <m:sSub>
                            <m:sSub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𝜏</m:t>
                              </m:r>
                            </m:e>
                            <m:sub>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𝑤</m:t>
                              </m:r>
                            </m:sub>
                          </m:sSub>
                        </m:num>
                        <m:den>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𝜌</m:t>
                          </m:r>
                          <m:sSup>
                            <m:sSupPr>
                              <m:ctrlP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𝑉</m:t>
                              </m:r>
                            </m:e>
                            <m:sup>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m:t>
                              </m:r>
                            </m:sup>
                          </m:sSup>
                        </m:den>
                      </m:f>
                    </m:oMath>
                  </m:oMathPara>
                </a14:m>
                <a:endParaRPr lang="en-GH" sz="2800" dirty="0"/>
              </a:p>
            </p:txBody>
          </p:sp>
        </mc:Choice>
        <mc:Fallback xmlns="">
          <p:sp>
            <p:nvSpPr>
              <p:cNvPr id="13" name="TextBox 12">
                <a:extLst>
                  <a:ext uri="{FF2B5EF4-FFF2-40B4-BE49-F238E27FC236}">
                    <a16:creationId xmlns:a16="http://schemas.microsoft.com/office/drawing/2014/main" id="{17817483-05D5-56CE-08F4-1F14695AB5A0}"/>
                  </a:ext>
                </a:extLst>
              </p:cNvPr>
              <p:cNvSpPr txBox="1">
                <a:spLocks noRot="1" noChangeAspect="1" noMove="1" noResize="1" noEditPoints="1" noAdjustHandles="1" noChangeArrowheads="1" noChangeShapeType="1" noTextEdit="1"/>
              </p:cNvSpPr>
              <p:nvPr/>
            </p:nvSpPr>
            <p:spPr>
              <a:xfrm>
                <a:off x="1383361" y="3558449"/>
                <a:ext cx="3430014" cy="974690"/>
              </a:xfrm>
              <a:prstGeom prst="rect">
                <a:avLst/>
              </a:prstGeom>
              <a:blipFill>
                <a:blip r:embed="rId6"/>
                <a:stretch>
                  <a:fillRect/>
                </a:stretch>
              </a:blipFill>
            </p:spPr>
            <p:txBody>
              <a:bodyPr/>
              <a:lstStyle/>
              <a:p>
                <a:r>
                  <a:rPr lang="en-GH">
                    <a:noFill/>
                  </a:rPr>
                  <a:t> </a:t>
                </a:r>
              </a:p>
            </p:txBody>
          </p:sp>
        </mc:Fallback>
      </mc:AlternateContent>
      <p:sp>
        <p:nvSpPr>
          <p:cNvPr id="14" name="TextBox 13">
            <a:extLst>
              <a:ext uri="{FF2B5EF4-FFF2-40B4-BE49-F238E27FC236}">
                <a16:creationId xmlns:a16="http://schemas.microsoft.com/office/drawing/2014/main" id="{169EE66B-FC74-06CE-4CDB-3B66EDAAFC78}"/>
              </a:ext>
            </a:extLst>
          </p:cNvPr>
          <p:cNvSpPr txBox="1"/>
          <p:nvPr/>
        </p:nvSpPr>
        <p:spPr>
          <a:xfrm>
            <a:off x="17416" y="4617901"/>
            <a:ext cx="11843658" cy="461665"/>
          </a:xfrm>
          <a:prstGeom prst="rect">
            <a:avLst/>
          </a:prstGeom>
          <a:noFill/>
        </p:spPr>
        <p:txBody>
          <a:bodyPr wrap="square">
            <a:spAutoFit/>
          </a:bodyPr>
          <a:lstStyle/>
          <a:p>
            <a:r>
              <a:rPr lang="en-GB" sz="2400" dirty="0">
                <a:latin typeface="Times New Roman" panose="02020603050405020304" pitchFamily="18" charset="0"/>
                <a:cs typeface="Times New Roman" panose="02020603050405020304" pitchFamily="18" charset="0"/>
              </a:rPr>
              <a:t>This is different from the friction coefficient or Fanning friction factor </a:t>
            </a:r>
            <a:r>
              <a:rPr lang="en-GB" sz="2400" i="1" dirty="0">
                <a:latin typeface="Times New Roman" panose="02020603050405020304" pitchFamily="18" charset="0"/>
                <a:cs typeface="Times New Roman" panose="02020603050405020304" pitchFamily="18" charset="0"/>
              </a:rPr>
              <a:t>C</a:t>
            </a:r>
            <a:r>
              <a:rPr lang="en-GB" sz="2400" i="1" baseline="-25000" dirty="0">
                <a:latin typeface="Times New Roman" panose="02020603050405020304" pitchFamily="18" charset="0"/>
                <a:cs typeface="Times New Roman" panose="02020603050405020304" pitchFamily="18" charset="0"/>
              </a:rPr>
              <a:t>f</a:t>
            </a:r>
            <a:r>
              <a:rPr lang="en-GB" sz="2400" dirty="0">
                <a:latin typeface="Times New Roman" panose="02020603050405020304" pitchFamily="18" charset="0"/>
                <a:cs typeface="Times New Roman" panose="02020603050405020304" pitchFamily="18" charset="0"/>
              </a:rPr>
              <a:t> given by</a:t>
            </a:r>
            <a:endParaRPr lang="en-GH"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D1121CA-D0CA-BC79-9A89-DFA2F756A713}"/>
                  </a:ext>
                </a:extLst>
              </p:cNvPr>
              <p:cNvSpPr txBox="1"/>
              <p:nvPr/>
            </p:nvSpPr>
            <p:spPr>
              <a:xfrm>
                <a:off x="1383361" y="5164328"/>
                <a:ext cx="3430014" cy="97469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𝐶</m:t>
                          </m:r>
                        </m:e>
                        <m:sub>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𝑓</m:t>
                          </m:r>
                        </m:sub>
                      </m:sSub>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m:t>
                          </m:r>
                          <m:sSub>
                            <m:sSub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𝜏</m:t>
                              </m:r>
                            </m:e>
                            <m:sub>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𝑤</m:t>
                              </m:r>
                            </m:sub>
                          </m:sSub>
                        </m:num>
                        <m:den>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𝜌</m:t>
                          </m:r>
                          <m:sSup>
                            <m:sSupPr>
                              <m:ctrlP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𝑉</m:t>
                              </m:r>
                            </m:e>
                            <m:sup>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m:t>
                              </m:r>
                            </m:sup>
                          </m:sSup>
                        </m:den>
                      </m:f>
                    </m:oMath>
                  </m:oMathPara>
                </a14:m>
                <a:endParaRPr lang="en-GH" sz="2800" dirty="0"/>
              </a:p>
            </p:txBody>
          </p:sp>
        </mc:Choice>
        <mc:Fallback xmlns="">
          <p:sp>
            <p:nvSpPr>
              <p:cNvPr id="15" name="TextBox 14">
                <a:extLst>
                  <a:ext uri="{FF2B5EF4-FFF2-40B4-BE49-F238E27FC236}">
                    <a16:creationId xmlns:a16="http://schemas.microsoft.com/office/drawing/2014/main" id="{9D1121CA-D0CA-BC79-9A89-DFA2F756A713}"/>
                  </a:ext>
                </a:extLst>
              </p:cNvPr>
              <p:cNvSpPr txBox="1">
                <a:spLocks noRot="1" noChangeAspect="1" noMove="1" noResize="1" noEditPoints="1" noAdjustHandles="1" noChangeArrowheads="1" noChangeShapeType="1" noTextEdit="1"/>
              </p:cNvSpPr>
              <p:nvPr/>
            </p:nvSpPr>
            <p:spPr>
              <a:xfrm>
                <a:off x="1383361" y="5164328"/>
                <a:ext cx="3430014" cy="974690"/>
              </a:xfrm>
              <a:prstGeom prst="rect">
                <a:avLst/>
              </a:prstGeom>
              <a:blipFill>
                <a:blip r:embed="rId7"/>
                <a:stretch>
                  <a:fillRect/>
                </a:stretch>
              </a:blipFill>
            </p:spPr>
            <p:txBody>
              <a:bodyPr/>
              <a:lstStyle/>
              <a:p>
                <a:r>
                  <a:rPr lang="en-GH">
                    <a:noFill/>
                  </a:rPr>
                  <a:t> </a:t>
                </a:r>
              </a:p>
            </p:txBody>
          </p:sp>
        </mc:Fallback>
      </mc:AlternateContent>
      <p:sp>
        <p:nvSpPr>
          <p:cNvPr id="20" name="TextBox 19">
            <a:extLst>
              <a:ext uri="{FF2B5EF4-FFF2-40B4-BE49-F238E27FC236}">
                <a16:creationId xmlns:a16="http://schemas.microsoft.com/office/drawing/2014/main" id="{81216FCF-20A5-9FB5-55A9-ACE28CF35E1B}"/>
              </a:ext>
            </a:extLst>
          </p:cNvPr>
          <p:cNvSpPr txBox="1"/>
          <p:nvPr/>
        </p:nvSpPr>
        <p:spPr>
          <a:xfrm>
            <a:off x="17416" y="6132384"/>
            <a:ext cx="11843658" cy="461665"/>
          </a:xfrm>
          <a:prstGeom prst="rect">
            <a:avLst/>
          </a:prstGeom>
          <a:noFill/>
        </p:spPr>
        <p:txBody>
          <a:bodyPr wrap="square">
            <a:spAutoFit/>
          </a:bodyPr>
          <a:lstStyle/>
          <a:p>
            <a:r>
              <a:rPr lang="en-GB" sz="2400" dirty="0">
                <a:latin typeface="Times New Roman" panose="02020603050405020304" pitchFamily="18" charset="0"/>
                <a:cs typeface="Times New Roman" panose="02020603050405020304" pitchFamily="18" charset="0"/>
              </a:rPr>
              <a:t>which is more widely used in characterizing turbulent flows.</a:t>
            </a:r>
            <a:endParaRPr lang="en-GH"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26393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7120" y="1"/>
            <a:ext cx="7477760" cy="400594"/>
          </a:xfrm>
        </p:spPr>
        <p:txBody>
          <a:bodyPr>
            <a:normAutofit fontScale="90000"/>
          </a:bodyPr>
          <a:lstStyle/>
          <a:p>
            <a:pPr lvl="0" indent="-228600" algn="ctr">
              <a:lnSpc>
                <a:spcPct val="107000"/>
              </a:lnSpc>
              <a:spcBef>
                <a:spcPts val="0"/>
              </a:spcBef>
              <a:spcAft>
                <a:spcPts val="800"/>
              </a:spcAft>
              <a:tabLst>
                <a:tab pos="3447415" algn="l"/>
              </a:tabLst>
            </a:pPr>
            <a:r>
              <a:rPr lang="en-US" sz="2800" dirty="0">
                <a:solidFill>
                  <a:prstClr val="black"/>
                </a:solidFill>
                <a:latin typeface="Times New Roman" panose="02020603050405020304" pitchFamily="18" charset="0"/>
                <a:ea typeface="Times New Roman" panose="02020603050405020304" pitchFamily="18" charset="0"/>
              </a:rPr>
              <a:t> </a:t>
            </a:r>
            <a:r>
              <a:rPr lang="en-US" sz="2400" b="1" dirty="0">
                <a:solidFill>
                  <a:prstClr val="black"/>
                </a:solidFill>
                <a:latin typeface="Times New Roman" panose="02020603050405020304" pitchFamily="18" charset="0"/>
                <a:ea typeface="Times New Roman" panose="02020603050405020304" pitchFamily="18" charset="0"/>
              </a:rPr>
              <a:t>OTHER</a:t>
            </a:r>
            <a:r>
              <a:rPr lang="en-US" sz="2400" dirty="0">
                <a:solidFill>
                  <a:prstClr val="black"/>
                </a:solidFill>
                <a:latin typeface="Times New Roman" panose="02020603050405020304" pitchFamily="18" charset="0"/>
                <a:ea typeface="Times New Roman" panose="02020603050405020304" pitchFamily="18" charset="0"/>
              </a:rPr>
              <a:t> </a:t>
            </a:r>
            <a:r>
              <a:rPr lang="en-US" sz="2400" b="1" dirty="0">
                <a:solidFill>
                  <a:prstClr val="black"/>
                </a:solidFill>
                <a:latin typeface="Times New Roman" panose="02020603050405020304" pitchFamily="18" charset="0"/>
                <a:ea typeface="Times New Roman" panose="02020603050405020304" pitchFamily="18" charset="0"/>
              </a:rPr>
              <a:t>PIPE FLOW QUANTITIES </a:t>
            </a:r>
            <a:endParaRPr lang="en-US" sz="2400" dirty="0"/>
          </a:p>
        </p:txBody>
      </p:sp>
      <p:sp>
        <p:nvSpPr>
          <p:cNvPr id="3" name="Content Placeholder 2"/>
          <p:cNvSpPr>
            <a:spLocks noGrp="1"/>
          </p:cNvSpPr>
          <p:nvPr>
            <p:ph idx="1"/>
          </p:nvPr>
        </p:nvSpPr>
        <p:spPr>
          <a:xfrm>
            <a:off x="0" y="440783"/>
            <a:ext cx="12192000" cy="512279"/>
          </a:xfrm>
        </p:spPr>
        <p:txBody>
          <a:bodyPr>
            <a:normAutofit/>
          </a:bodyPr>
          <a:lstStyle/>
          <a:p>
            <a:pPr marL="0" indent="0">
              <a:buNone/>
            </a:pPr>
            <a:r>
              <a:rPr lang="en-US" sz="2600" b="1" dirty="0">
                <a:latin typeface="Times New Roman" panose="02020603050405020304" pitchFamily="18" charset="0"/>
                <a:cs typeface="Times New Roman" panose="02020603050405020304" pitchFamily="18" charset="0"/>
              </a:rPr>
              <a:t>Friction Factor</a:t>
            </a:r>
          </a:p>
        </p:txBody>
      </p:sp>
      <p:sp>
        <p:nvSpPr>
          <p:cNvPr id="6" name="TextBox 5">
            <a:extLst>
              <a:ext uri="{FF2B5EF4-FFF2-40B4-BE49-F238E27FC236}">
                <a16:creationId xmlns:a16="http://schemas.microsoft.com/office/drawing/2014/main" id="{EC328498-2DA9-AE60-4049-58D54186AE87}"/>
              </a:ext>
            </a:extLst>
          </p:cNvPr>
          <p:cNvSpPr txBox="1"/>
          <p:nvPr/>
        </p:nvSpPr>
        <p:spPr>
          <a:xfrm>
            <a:off x="0" y="856239"/>
            <a:ext cx="11843658" cy="461665"/>
          </a:xfrm>
          <a:prstGeom prst="rect">
            <a:avLst/>
          </a:prstGeom>
          <a:noFill/>
        </p:spPr>
        <p:txBody>
          <a:bodyPr wrap="square">
            <a:spAutoFit/>
          </a:bodyPr>
          <a:lstStyle/>
          <a:p>
            <a:r>
              <a:rPr lang="en-GB" sz="2400" dirty="0">
                <a:latin typeface="Times New Roman" panose="02020603050405020304" pitchFamily="18" charset="0"/>
                <a:cs typeface="Times New Roman" panose="02020603050405020304" pitchFamily="18" charset="0"/>
              </a:rPr>
              <a:t>For laminar flow in a pipe, the friction factor is also given by</a:t>
            </a:r>
            <a:endParaRPr lang="en-GH"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ED823E2-8EE5-F894-8EBF-1DDC5ED4533D}"/>
                  </a:ext>
                </a:extLst>
              </p:cNvPr>
              <p:cNvSpPr txBox="1"/>
              <p:nvPr/>
            </p:nvSpPr>
            <p:spPr>
              <a:xfrm>
                <a:off x="1981198" y="1393920"/>
                <a:ext cx="3430014"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𝑓</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6</m:t>
                          </m:r>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4</m:t>
                          </m:r>
                        </m:num>
                        <m:den>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𝑅𝑒</m:t>
                          </m:r>
                        </m:den>
                      </m:f>
                    </m:oMath>
                  </m:oMathPara>
                </a14:m>
                <a:endParaRPr lang="en-GH" sz="2800" dirty="0"/>
              </a:p>
            </p:txBody>
          </p:sp>
        </mc:Choice>
        <mc:Fallback xmlns="">
          <p:sp>
            <p:nvSpPr>
              <p:cNvPr id="4" name="TextBox 3">
                <a:extLst>
                  <a:ext uri="{FF2B5EF4-FFF2-40B4-BE49-F238E27FC236}">
                    <a16:creationId xmlns:a16="http://schemas.microsoft.com/office/drawing/2014/main" id="{FED823E2-8EE5-F894-8EBF-1DDC5ED4533D}"/>
                  </a:ext>
                </a:extLst>
              </p:cNvPr>
              <p:cNvSpPr txBox="1">
                <a:spLocks noRot="1" noChangeAspect="1" noMove="1" noResize="1" noEditPoints="1" noAdjustHandles="1" noChangeArrowheads="1" noChangeShapeType="1" noTextEdit="1"/>
              </p:cNvSpPr>
              <p:nvPr/>
            </p:nvSpPr>
            <p:spPr>
              <a:xfrm>
                <a:off x="1981198" y="1393920"/>
                <a:ext cx="3430014" cy="898964"/>
              </a:xfrm>
              <a:prstGeom prst="rect">
                <a:avLst/>
              </a:prstGeom>
              <a:blipFill>
                <a:blip r:embed="rId3"/>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EF5EF64-A0FC-FCB6-C32E-81222D731A7A}"/>
                  </a:ext>
                </a:extLst>
              </p:cNvPr>
              <p:cNvSpPr txBox="1"/>
              <p:nvPr/>
            </p:nvSpPr>
            <p:spPr>
              <a:xfrm>
                <a:off x="0" y="2368900"/>
                <a:ext cx="11843658" cy="461665"/>
              </a:xfrm>
              <a:prstGeom prst="rect">
                <a:avLst/>
              </a:prstGeom>
              <a:noFill/>
            </p:spPr>
            <p:txBody>
              <a:bodyPr wrap="square">
                <a:spAutoFit/>
              </a:bodyPr>
              <a:lstStyle/>
              <a:p>
                <a:r>
                  <a:rPr lang="en-GB" sz="2400" dirty="0">
                    <a:latin typeface="Times New Roman" panose="02020603050405020304" pitchFamily="18" charset="0"/>
                    <a:cs typeface="Times New Roman" panose="02020603050405020304" pitchFamily="18" charset="0"/>
                  </a:rPr>
                  <a:t>where </a:t>
                </a:r>
                <a14:m>
                  <m:oMath xmlns:m="http://schemas.openxmlformats.org/officeDocument/2006/math">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𝑅𝑒</m:t>
                    </m:r>
                    <m:r>
                      <a:rPr lang="en-GB" sz="2400" b="0" i="0" smtClean="0">
                        <a:latin typeface="Cambria Math" panose="02040503050406030204" pitchFamily="18" charset="0"/>
                        <a:ea typeface="Cambria Math" panose="02040503050406030204" pitchFamily="18" charset="0"/>
                        <a:cs typeface="Times New Roman" panose="02020603050405020304" pitchFamily="18" charset="0"/>
                      </a:rPr>
                      <m:t>=</m:t>
                    </m:r>
                    <m:r>
                      <a:rPr lang="en-GB" sz="2400" i="1" smtClean="0">
                        <a:latin typeface="Cambria Math" panose="02040503050406030204" pitchFamily="18" charset="0"/>
                        <a:ea typeface="Cambria Math" panose="02040503050406030204" pitchFamily="18" charset="0"/>
                        <a:cs typeface="Times New Roman" panose="02020603050405020304" pitchFamily="18" charset="0"/>
                      </a:rPr>
                      <m:t>𝜌</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𝑉𝐷</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𝜇</m:t>
                    </m:r>
                  </m:oMath>
                </a14:m>
                <a:r>
                  <a:rPr lang="en-GB" sz="2400" dirty="0">
                    <a:latin typeface="Times New Roman" panose="02020603050405020304" pitchFamily="18" charset="0"/>
                    <a:cs typeface="Times New Roman" panose="02020603050405020304" pitchFamily="18" charset="0"/>
                  </a:rPr>
                  <a:t> is the Reynolds number based on the pipe diameter and average velocity.</a:t>
                </a:r>
                <a:endParaRPr lang="en-GH" sz="2400" dirty="0">
                  <a:latin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AEF5EF64-A0FC-FCB6-C32E-81222D731A7A}"/>
                  </a:ext>
                </a:extLst>
              </p:cNvPr>
              <p:cNvSpPr txBox="1">
                <a:spLocks noRot="1" noChangeAspect="1" noMove="1" noResize="1" noEditPoints="1" noAdjustHandles="1" noChangeArrowheads="1" noChangeShapeType="1" noTextEdit="1"/>
              </p:cNvSpPr>
              <p:nvPr/>
            </p:nvSpPr>
            <p:spPr>
              <a:xfrm>
                <a:off x="0" y="2368900"/>
                <a:ext cx="11843658" cy="461665"/>
              </a:xfrm>
              <a:prstGeom prst="rect">
                <a:avLst/>
              </a:prstGeom>
              <a:blipFill>
                <a:blip r:embed="rId4"/>
                <a:stretch>
                  <a:fillRect l="-772" t="-10667" b="-30667"/>
                </a:stretch>
              </a:blipFill>
            </p:spPr>
            <p:txBody>
              <a:bodyPr/>
              <a:lstStyle/>
              <a:p>
                <a:r>
                  <a:rPr lang="en-GH">
                    <a:noFill/>
                  </a:rPr>
                  <a:t> </a:t>
                </a:r>
              </a:p>
            </p:txBody>
          </p:sp>
        </mc:Fallback>
      </mc:AlternateContent>
    </p:spTree>
    <p:extLst>
      <p:ext uri="{BB962C8B-B14F-4D97-AF65-F5344CB8AC3E}">
        <p14:creationId xmlns:p14="http://schemas.microsoft.com/office/powerpoint/2010/main" val="16389989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6159" y="0"/>
            <a:ext cx="7477760" cy="418011"/>
          </a:xfrm>
        </p:spPr>
        <p:txBody>
          <a:bodyPr>
            <a:normAutofit fontScale="90000"/>
          </a:bodyPr>
          <a:lstStyle/>
          <a:p>
            <a:pPr lvl="0" indent="-228600" algn="ctr">
              <a:lnSpc>
                <a:spcPct val="107000"/>
              </a:lnSpc>
              <a:spcBef>
                <a:spcPts val="0"/>
              </a:spcBef>
              <a:spcAft>
                <a:spcPts val="800"/>
              </a:spcAft>
              <a:tabLst>
                <a:tab pos="3447415" algn="l"/>
              </a:tabLst>
            </a:pPr>
            <a:r>
              <a:rPr lang="en-US" sz="2800" dirty="0">
                <a:solidFill>
                  <a:prstClr val="black"/>
                </a:solidFill>
                <a:latin typeface="Times New Roman" panose="02020603050405020304" pitchFamily="18" charset="0"/>
                <a:ea typeface="Times New Roman" panose="02020603050405020304" pitchFamily="18" charset="0"/>
              </a:rPr>
              <a:t> </a:t>
            </a:r>
            <a:r>
              <a:rPr lang="en-US" sz="2400" b="1" dirty="0">
                <a:solidFill>
                  <a:prstClr val="black"/>
                </a:solidFill>
                <a:latin typeface="Times New Roman" panose="02020603050405020304" pitchFamily="18" charset="0"/>
                <a:ea typeface="Times New Roman" panose="02020603050405020304" pitchFamily="18" charset="0"/>
              </a:rPr>
              <a:t>SOLVED EXAMPLES</a:t>
            </a:r>
            <a:endParaRPr lang="en-US" sz="2400" dirty="0"/>
          </a:p>
        </p:txBody>
      </p:sp>
      <p:sp>
        <p:nvSpPr>
          <p:cNvPr id="8" name="Content Placeholder 2">
            <a:extLst>
              <a:ext uri="{FF2B5EF4-FFF2-40B4-BE49-F238E27FC236}">
                <a16:creationId xmlns:a16="http://schemas.microsoft.com/office/drawing/2014/main" id="{0812B3CE-26E5-D623-E4C6-56DA91FED8E2}"/>
              </a:ext>
            </a:extLst>
          </p:cNvPr>
          <p:cNvSpPr>
            <a:spLocks noGrp="1"/>
          </p:cNvSpPr>
          <p:nvPr>
            <p:ph idx="1"/>
          </p:nvPr>
        </p:nvSpPr>
        <p:spPr>
          <a:xfrm>
            <a:off x="0" y="478971"/>
            <a:ext cx="12192000" cy="2299064"/>
          </a:xfrm>
        </p:spPr>
        <p:txBody>
          <a:bodyPr>
            <a:normAutofit/>
          </a:bodyPr>
          <a:lstStyle/>
          <a:p>
            <a:pPr marL="0" indent="0">
              <a:spcAft>
                <a:spcPts val="600"/>
              </a:spcAft>
              <a:buNone/>
            </a:pPr>
            <a:r>
              <a:rPr lang="en-GB" sz="2400" b="1" dirty="0">
                <a:latin typeface="Times New Roman" panose="02020603050405020304" pitchFamily="18" charset="0"/>
                <a:cs typeface="Times New Roman" panose="02020603050405020304" pitchFamily="18" charset="0"/>
              </a:rPr>
              <a:t>Example 1</a:t>
            </a:r>
            <a:r>
              <a:rPr lang="en-GB" sz="2400" dirty="0">
                <a:latin typeface="Times New Roman" panose="02020603050405020304" pitchFamily="18" charset="0"/>
                <a:cs typeface="Times New Roman" panose="02020603050405020304" pitchFamily="18" charset="0"/>
              </a:rPr>
              <a:t>: Oil, of relative density 0.83 and dynamic viscosity 0.08 kg/(m.s), passes through a circular pipe of 12 mm diameter with a mean velocity of 2.3 m/s. Determine:</a:t>
            </a:r>
          </a:p>
          <a:p>
            <a:pPr marL="0" indent="0">
              <a:spcBef>
                <a:spcPts val="0"/>
              </a:spcBef>
              <a:buNone/>
            </a:pPr>
            <a:r>
              <a:rPr lang="en-GB" sz="2400" dirty="0">
                <a:latin typeface="Times New Roman" panose="02020603050405020304" pitchFamily="18" charset="0"/>
                <a:cs typeface="Times New Roman" panose="02020603050405020304" pitchFamily="18" charset="0"/>
              </a:rPr>
              <a:t>(a) the Reynolds number;</a:t>
            </a:r>
          </a:p>
          <a:p>
            <a:pPr marL="0" indent="0">
              <a:spcBef>
                <a:spcPts val="0"/>
              </a:spcBef>
              <a:buNone/>
            </a:pPr>
            <a:r>
              <a:rPr lang="en-GB" sz="2400" dirty="0">
                <a:latin typeface="Times New Roman" panose="02020603050405020304" pitchFamily="18" charset="0"/>
                <a:cs typeface="Times New Roman" panose="02020603050405020304" pitchFamily="18" charset="0"/>
              </a:rPr>
              <a:t>(b) the maximum velocity;</a:t>
            </a:r>
          </a:p>
          <a:p>
            <a:pPr marL="0" indent="0">
              <a:spcBef>
                <a:spcPts val="0"/>
              </a:spcBef>
              <a:buNone/>
            </a:pPr>
            <a:r>
              <a:rPr lang="en-GB" sz="2400" dirty="0">
                <a:latin typeface="Times New Roman" panose="02020603050405020304" pitchFamily="18" charset="0"/>
                <a:cs typeface="Times New Roman" panose="02020603050405020304" pitchFamily="18" charset="0"/>
              </a:rPr>
              <a:t>(c) the volumetric flow rate;</a:t>
            </a:r>
          </a:p>
          <a:p>
            <a:pPr marL="0" indent="0">
              <a:spcBef>
                <a:spcPts val="0"/>
              </a:spcBef>
              <a:buNone/>
            </a:pPr>
            <a:r>
              <a:rPr lang="en-GB" sz="2400" dirty="0">
                <a:latin typeface="Times New Roman" panose="02020603050405020304" pitchFamily="18" charset="0"/>
                <a:cs typeface="Times New Roman" panose="02020603050405020304" pitchFamily="18" charset="0"/>
              </a:rPr>
              <a:t>(d) the pressure drop per unit length.</a:t>
            </a:r>
            <a:endParaRPr lang="en-US"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ED98C4A-0469-A51E-879A-115E1D2E54D4}"/>
              </a:ext>
            </a:extLst>
          </p:cNvPr>
          <p:cNvSpPr txBox="1"/>
          <p:nvPr/>
        </p:nvSpPr>
        <p:spPr>
          <a:xfrm>
            <a:off x="0" y="2703957"/>
            <a:ext cx="1341120" cy="461665"/>
          </a:xfrm>
          <a:prstGeom prst="rect">
            <a:avLst/>
          </a:prstGeom>
          <a:noFill/>
        </p:spPr>
        <p:txBody>
          <a:bodyPr wrap="square">
            <a:spAutoFit/>
          </a:bodyPr>
          <a:lstStyle/>
          <a:p>
            <a:r>
              <a:rPr kumimoji="0" lang="en-GB"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Solution</a:t>
            </a:r>
            <a:endParaRPr lang="en-GH"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9378634-DA7D-F65B-B8B8-CF44912A7AE2}"/>
                  </a:ext>
                </a:extLst>
              </p:cNvPr>
              <p:cNvSpPr txBox="1"/>
              <p:nvPr/>
            </p:nvSpPr>
            <p:spPr>
              <a:xfrm>
                <a:off x="137743" y="3032545"/>
                <a:ext cx="5228914" cy="46057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4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𝜌</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=0.83 ×1000</m:t>
                      </m:r>
                      <m:f>
                        <m:fPr>
                          <m:type m:val="lin"/>
                          <m:ctrlP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GB" sz="24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kg</m:t>
                          </m:r>
                        </m:num>
                        <m:den>
                          <m:sSup>
                            <m:sSupPr>
                              <m:ctrlP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GB" sz="24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m:t>
                              </m:r>
                            </m:e>
                            <m:sup>
                              <m:r>
                                <a:rPr lang="en-GB" sz="24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3</m:t>
                              </m:r>
                            </m:sup>
                          </m:sSup>
                        </m:den>
                      </m:f>
                      <m: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=830</m:t>
                      </m:r>
                      <m:f>
                        <m:fPr>
                          <m:type m:val="lin"/>
                          <m:ctrlP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GB" sz="2400" i="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kg</m:t>
                          </m:r>
                        </m:num>
                        <m:den>
                          <m:sSup>
                            <m:sSupPr>
                              <m:ctrlP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GB" sz="2400" i="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m:t>
                              </m:r>
                            </m:e>
                            <m:sup>
                              <m:r>
                                <a:rPr lang="en-GB" sz="2400" i="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3</m:t>
                              </m:r>
                            </m:sup>
                          </m:sSup>
                        </m:den>
                      </m:f>
                    </m:oMath>
                  </m:oMathPara>
                </a14:m>
                <a:endParaRPr lang="en-GH" sz="2400" baseline="30000" dirty="0"/>
              </a:p>
            </p:txBody>
          </p:sp>
        </mc:Choice>
        <mc:Fallback xmlns="">
          <p:sp>
            <p:nvSpPr>
              <p:cNvPr id="7" name="TextBox 6">
                <a:extLst>
                  <a:ext uri="{FF2B5EF4-FFF2-40B4-BE49-F238E27FC236}">
                    <a16:creationId xmlns:a16="http://schemas.microsoft.com/office/drawing/2014/main" id="{F9378634-DA7D-F65B-B8B8-CF44912A7AE2}"/>
                  </a:ext>
                </a:extLst>
              </p:cNvPr>
              <p:cNvSpPr txBox="1">
                <a:spLocks noRot="1" noChangeAspect="1" noMove="1" noResize="1" noEditPoints="1" noAdjustHandles="1" noChangeArrowheads="1" noChangeShapeType="1" noTextEdit="1"/>
              </p:cNvSpPr>
              <p:nvPr/>
            </p:nvSpPr>
            <p:spPr>
              <a:xfrm>
                <a:off x="137743" y="3032545"/>
                <a:ext cx="5228914" cy="460575"/>
              </a:xfrm>
              <a:prstGeom prst="rect">
                <a:avLst/>
              </a:prstGeom>
              <a:blipFill>
                <a:blip r:embed="rId3"/>
                <a:stretch>
                  <a:fillRect l="-350" t="-122368" r="-8051" b="-193421"/>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10E8E3A-F9B0-20FC-451F-21F5D1399689}"/>
                  </a:ext>
                </a:extLst>
              </p:cNvPr>
              <p:cNvSpPr txBox="1"/>
              <p:nvPr/>
            </p:nvSpPr>
            <p:spPr>
              <a:xfrm>
                <a:off x="137743" y="3517342"/>
                <a:ext cx="5130942" cy="46057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4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0.08</m:t>
                      </m:r>
                      <m:f>
                        <m:fPr>
                          <m:type m:val="lin"/>
                          <m:ctrlP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GB" sz="2400" i="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kg</m:t>
                          </m:r>
                        </m:num>
                        <m:den>
                          <m: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m:t>
                          </m:r>
                          <m: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s</m:t>
                          </m:r>
                          <m: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den>
                      </m:f>
                    </m:oMath>
                  </m:oMathPara>
                </a14:m>
                <a:endParaRPr lang="en-GH" sz="2400" baseline="30000" dirty="0"/>
              </a:p>
            </p:txBody>
          </p:sp>
        </mc:Choice>
        <mc:Fallback xmlns="">
          <p:sp>
            <p:nvSpPr>
              <p:cNvPr id="9" name="TextBox 8">
                <a:extLst>
                  <a:ext uri="{FF2B5EF4-FFF2-40B4-BE49-F238E27FC236}">
                    <a16:creationId xmlns:a16="http://schemas.microsoft.com/office/drawing/2014/main" id="{F10E8E3A-F9B0-20FC-451F-21F5D1399689}"/>
                  </a:ext>
                </a:extLst>
              </p:cNvPr>
              <p:cNvSpPr txBox="1">
                <a:spLocks noRot="1" noChangeAspect="1" noMove="1" noResize="1" noEditPoints="1" noAdjustHandles="1" noChangeArrowheads="1" noChangeShapeType="1" noTextEdit="1"/>
              </p:cNvSpPr>
              <p:nvPr/>
            </p:nvSpPr>
            <p:spPr>
              <a:xfrm>
                <a:off x="137743" y="3517342"/>
                <a:ext cx="5130942" cy="460575"/>
              </a:xfrm>
              <a:prstGeom prst="rect">
                <a:avLst/>
              </a:prstGeom>
              <a:blipFill>
                <a:blip r:embed="rId4"/>
                <a:stretch>
                  <a:fillRect l="-357" t="-123684" b="-192105"/>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2D08073-2A51-A257-860A-3A8C41BAB8D3}"/>
                  </a:ext>
                </a:extLst>
              </p:cNvPr>
              <p:cNvSpPr txBox="1"/>
              <p:nvPr/>
            </p:nvSpPr>
            <p:spPr>
              <a:xfrm>
                <a:off x="137743" y="4012696"/>
                <a:ext cx="4756475" cy="46057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𝐷</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=12 </m:t>
                      </m:r>
                      <m:r>
                        <m:rPr>
                          <m:sty m:val="p"/>
                        </m:rP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mm</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=0.012 </m:t>
                      </m:r>
                      <m:r>
                        <m:rPr>
                          <m:sty m:val="p"/>
                        </m:rP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m:t>
                      </m:r>
                    </m:oMath>
                  </m:oMathPara>
                </a14:m>
                <a:endParaRPr lang="en-GH" sz="2400" baseline="30000" dirty="0"/>
              </a:p>
            </p:txBody>
          </p:sp>
        </mc:Choice>
        <mc:Fallback xmlns="">
          <p:sp>
            <p:nvSpPr>
              <p:cNvPr id="10" name="TextBox 9">
                <a:extLst>
                  <a:ext uri="{FF2B5EF4-FFF2-40B4-BE49-F238E27FC236}">
                    <a16:creationId xmlns:a16="http://schemas.microsoft.com/office/drawing/2014/main" id="{12D08073-2A51-A257-860A-3A8C41BAB8D3}"/>
                  </a:ext>
                </a:extLst>
              </p:cNvPr>
              <p:cNvSpPr txBox="1">
                <a:spLocks noRot="1" noChangeAspect="1" noMove="1" noResize="1" noEditPoints="1" noAdjustHandles="1" noChangeArrowheads="1" noChangeShapeType="1" noTextEdit="1"/>
              </p:cNvSpPr>
              <p:nvPr/>
            </p:nvSpPr>
            <p:spPr>
              <a:xfrm>
                <a:off x="137743" y="4012696"/>
                <a:ext cx="4756475" cy="460575"/>
              </a:xfrm>
              <a:prstGeom prst="rect">
                <a:avLst/>
              </a:prstGeom>
              <a:blipFill>
                <a:blip r:embed="rId5"/>
                <a:stretch>
                  <a:fillRect l="-385"/>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1D1537-E26B-514E-3946-262488EE0A40}"/>
                  </a:ext>
                </a:extLst>
              </p:cNvPr>
              <p:cNvSpPr txBox="1"/>
              <p:nvPr/>
            </p:nvSpPr>
            <p:spPr>
              <a:xfrm>
                <a:off x="102909" y="4508050"/>
                <a:ext cx="5061273" cy="46057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𝑉</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=2.3</m:t>
                      </m:r>
                      <m:f>
                        <m:fPr>
                          <m:type m:val="lin"/>
                          <m:ctrlP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m:t>
                          </m:r>
                        </m:num>
                        <m:den>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𝑠</m:t>
                          </m:r>
                        </m:den>
                      </m:f>
                    </m:oMath>
                  </m:oMathPara>
                </a14:m>
                <a:endParaRPr lang="en-GH" sz="2400" baseline="30000" dirty="0"/>
              </a:p>
            </p:txBody>
          </p:sp>
        </mc:Choice>
        <mc:Fallback xmlns="">
          <p:sp>
            <p:nvSpPr>
              <p:cNvPr id="11" name="TextBox 10">
                <a:extLst>
                  <a:ext uri="{FF2B5EF4-FFF2-40B4-BE49-F238E27FC236}">
                    <a16:creationId xmlns:a16="http://schemas.microsoft.com/office/drawing/2014/main" id="{ED1D1537-E26B-514E-3946-262488EE0A40}"/>
                  </a:ext>
                </a:extLst>
              </p:cNvPr>
              <p:cNvSpPr txBox="1">
                <a:spLocks noRot="1" noChangeAspect="1" noMove="1" noResize="1" noEditPoints="1" noAdjustHandles="1" noChangeArrowheads="1" noChangeShapeType="1" noTextEdit="1"/>
              </p:cNvSpPr>
              <p:nvPr/>
            </p:nvSpPr>
            <p:spPr>
              <a:xfrm>
                <a:off x="102909" y="4508050"/>
                <a:ext cx="5061273" cy="460575"/>
              </a:xfrm>
              <a:prstGeom prst="rect">
                <a:avLst/>
              </a:prstGeom>
              <a:blipFill>
                <a:blip r:embed="rId6"/>
                <a:stretch>
                  <a:fillRect l="-361" t="-125333" b="-196000"/>
                </a:stretch>
              </a:blipFill>
            </p:spPr>
            <p:txBody>
              <a:bodyPr/>
              <a:lstStyle/>
              <a:p>
                <a:r>
                  <a:rPr lang="en-GH">
                    <a:noFill/>
                  </a:rPr>
                  <a:t> </a:t>
                </a:r>
              </a:p>
            </p:txBody>
          </p:sp>
        </mc:Fallback>
      </mc:AlternateContent>
      <p:sp>
        <p:nvSpPr>
          <p:cNvPr id="12" name="TextBox 11">
            <a:extLst>
              <a:ext uri="{FF2B5EF4-FFF2-40B4-BE49-F238E27FC236}">
                <a16:creationId xmlns:a16="http://schemas.microsoft.com/office/drawing/2014/main" id="{E8C2D57D-5DF4-5784-DDF9-EEDD2AD75B37}"/>
              </a:ext>
            </a:extLst>
          </p:cNvPr>
          <p:cNvSpPr txBox="1"/>
          <p:nvPr/>
        </p:nvSpPr>
        <p:spPr>
          <a:xfrm>
            <a:off x="0" y="5003021"/>
            <a:ext cx="653143" cy="461665"/>
          </a:xfrm>
          <a:prstGeom prst="rect">
            <a:avLst/>
          </a:prstGeom>
          <a:noFill/>
        </p:spPr>
        <p:txBody>
          <a:bodyPr wrap="square">
            <a:spAutoFit/>
          </a:bodyPr>
          <a:lstStyle/>
          <a:p>
            <a:r>
              <a:rPr kumimoji="0" lang="en-GB"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a:t>
            </a:r>
            <a:endParaRPr lang="en-GH"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FDD881C-0805-F5B6-DB44-B97092973BD4}"/>
                  </a:ext>
                </a:extLst>
              </p:cNvPr>
              <p:cNvSpPr txBox="1"/>
              <p:nvPr/>
            </p:nvSpPr>
            <p:spPr>
              <a:xfrm>
                <a:off x="326571" y="5203320"/>
                <a:ext cx="4942113" cy="1367234"/>
              </a:xfrm>
              <a:prstGeom prst="rect">
                <a:avLst/>
              </a:prstGeom>
              <a:noFill/>
            </p:spPr>
            <p:txBody>
              <a:bodyPr wrap="square" rtlCol="0">
                <a:spAutoFit/>
              </a:bodyPr>
              <a:lstStyle/>
              <a:p>
                <a:pPr>
                  <a:spcAft>
                    <a:spcPts val="1200"/>
                  </a:spcAft>
                </a:pPr>
                <a14:m>
                  <m:oMathPara xmlns:m="http://schemas.openxmlformats.org/officeDocument/2006/math">
                    <m:oMathParaPr>
                      <m:jc m:val="left"/>
                    </m:oMathParaPr>
                    <m:oMath xmlns:m="http://schemas.openxmlformats.org/officeDocument/2006/math">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𝑅𝑒</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𝜌</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𝑉𝐷</m:t>
                          </m:r>
                        </m:num>
                        <m:den>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den>
                      </m:f>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830×2.3×0.012</m:t>
                          </m:r>
                        </m:num>
                        <m:den>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0.08</m:t>
                          </m:r>
                        </m:den>
                      </m:f>
                    </m:oMath>
                  </m:oMathPara>
                </a14:m>
                <a:endParaRPr lang="en-GB" sz="2400" b="0" i="1"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endParaRPr>
              </a:p>
              <a:p>
                <a:r>
                  <a:rPr lang="en-GB" sz="2400" b="0" dirty="0">
                    <a:solidFill>
                      <a:prstClr val="black"/>
                    </a:solidFill>
                    <a:ea typeface="Cambria Math" panose="02040503050406030204" pitchFamily="18" charset="0"/>
                    <a:cs typeface="Times New Roman" panose="02020603050405020304" pitchFamily="18" charset="0"/>
                  </a:rPr>
                  <a:t>      </a:t>
                </a:r>
                <a14:m>
                  <m:oMath xmlns:m="http://schemas.openxmlformats.org/officeDocument/2006/math">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=286</m:t>
                    </m:r>
                  </m:oMath>
                </a14:m>
                <a:endParaRPr lang="en-GH" sz="2400" baseline="30000" dirty="0"/>
              </a:p>
            </p:txBody>
          </p:sp>
        </mc:Choice>
        <mc:Fallback xmlns="">
          <p:sp>
            <p:nvSpPr>
              <p:cNvPr id="13" name="TextBox 12">
                <a:extLst>
                  <a:ext uri="{FF2B5EF4-FFF2-40B4-BE49-F238E27FC236}">
                    <a16:creationId xmlns:a16="http://schemas.microsoft.com/office/drawing/2014/main" id="{5FDD881C-0805-F5B6-DB44-B97092973BD4}"/>
                  </a:ext>
                </a:extLst>
              </p:cNvPr>
              <p:cNvSpPr txBox="1">
                <a:spLocks noRot="1" noChangeAspect="1" noMove="1" noResize="1" noEditPoints="1" noAdjustHandles="1" noChangeArrowheads="1" noChangeShapeType="1" noTextEdit="1"/>
              </p:cNvSpPr>
              <p:nvPr/>
            </p:nvSpPr>
            <p:spPr>
              <a:xfrm>
                <a:off x="326571" y="5203320"/>
                <a:ext cx="4942113" cy="1367234"/>
              </a:xfrm>
              <a:prstGeom prst="rect">
                <a:avLst/>
              </a:prstGeom>
              <a:blipFill>
                <a:blip r:embed="rId7"/>
                <a:stretch>
                  <a:fillRect/>
                </a:stretch>
              </a:blipFill>
            </p:spPr>
            <p:txBody>
              <a:bodyPr/>
              <a:lstStyle/>
              <a:p>
                <a:r>
                  <a:rPr lang="en-GH">
                    <a:noFill/>
                  </a:rPr>
                  <a:t> </a:t>
                </a:r>
              </a:p>
            </p:txBody>
          </p:sp>
        </mc:Fallback>
      </mc:AlternateContent>
      <p:cxnSp>
        <p:nvCxnSpPr>
          <p:cNvPr id="15" name="Straight Connector 14">
            <a:extLst>
              <a:ext uri="{FF2B5EF4-FFF2-40B4-BE49-F238E27FC236}">
                <a16:creationId xmlns:a16="http://schemas.microsoft.com/office/drawing/2014/main" id="{2F32C08E-83FB-78A1-5CF5-11D1FEF4BA72}"/>
              </a:ext>
            </a:extLst>
          </p:cNvPr>
          <p:cNvCxnSpPr/>
          <p:nvPr/>
        </p:nvCxnSpPr>
        <p:spPr>
          <a:xfrm>
            <a:off x="5773783" y="1236617"/>
            <a:ext cx="0" cy="5503817"/>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F60928D-FE48-C933-1F49-530E8E6068C1}"/>
                  </a:ext>
                </a:extLst>
              </p:cNvPr>
              <p:cNvSpPr txBox="1"/>
              <p:nvPr/>
            </p:nvSpPr>
            <p:spPr>
              <a:xfrm>
                <a:off x="6180909" y="1358237"/>
                <a:ext cx="2196735"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𝑅𝑒</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=286</m:t>
                      </m:r>
                    </m:oMath>
                  </m:oMathPara>
                </a14:m>
                <a:endParaRPr lang="en-GH" sz="2400" dirty="0"/>
              </a:p>
            </p:txBody>
          </p:sp>
        </mc:Choice>
        <mc:Fallback xmlns="">
          <p:sp>
            <p:nvSpPr>
              <p:cNvPr id="17" name="TextBox 16">
                <a:extLst>
                  <a:ext uri="{FF2B5EF4-FFF2-40B4-BE49-F238E27FC236}">
                    <a16:creationId xmlns:a16="http://schemas.microsoft.com/office/drawing/2014/main" id="{EF60928D-FE48-C933-1F49-530E8E6068C1}"/>
                  </a:ext>
                </a:extLst>
              </p:cNvPr>
              <p:cNvSpPr txBox="1">
                <a:spLocks noRot="1" noChangeAspect="1" noMove="1" noResize="1" noEditPoints="1" noAdjustHandles="1" noChangeArrowheads="1" noChangeShapeType="1" noTextEdit="1"/>
              </p:cNvSpPr>
              <p:nvPr/>
            </p:nvSpPr>
            <p:spPr>
              <a:xfrm>
                <a:off x="6180909" y="1358237"/>
                <a:ext cx="2196735" cy="461665"/>
              </a:xfrm>
              <a:prstGeom prst="rect">
                <a:avLst/>
              </a:prstGeom>
              <a:blipFill>
                <a:blip r:embed="rId8"/>
                <a:stretch>
                  <a:fillRect l="-833"/>
                </a:stretch>
              </a:blipFill>
            </p:spPr>
            <p:txBody>
              <a:bodyPr/>
              <a:lstStyle/>
              <a:p>
                <a:r>
                  <a:rPr lang="en-GH">
                    <a:noFill/>
                  </a:rPr>
                  <a:t> </a:t>
                </a:r>
              </a:p>
            </p:txBody>
          </p:sp>
        </mc:Fallback>
      </mc:AlternateContent>
      <p:sp>
        <p:nvSpPr>
          <p:cNvPr id="18" name="TextBox 17">
            <a:extLst>
              <a:ext uri="{FF2B5EF4-FFF2-40B4-BE49-F238E27FC236}">
                <a16:creationId xmlns:a16="http://schemas.microsoft.com/office/drawing/2014/main" id="{758CEB96-27BD-0B4D-B11B-98881C2D9FE4}"/>
              </a:ext>
            </a:extLst>
          </p:cNvPr>
          <p:cNvSpPr txBox="1"/>
          <p:nvPr/>
        </p:nvSpPr>
        <p:spPr>
          <a:xfrm>
            <a:off x="5821681" y="1771499"/>
            <a:ext cx="6197239" cy="1200329"/>
          </a:xfrm>
          <a:prstGeom prst="rect">
            <a:avLst/>
          </a:prstGeom>
          <a:noFill/>
        </p:spPr>
        <p:txBody>
          <a:bodyPr wrap="square">
            <a:spAutoFit/>
          </a:bodyPr>
          <a:lstStyle/>
          <a:p>
            <a:pPr algn="just"/>
            <a:r>
              <a:rPr kumimoji="0" lang="en-GB"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This value</a:t>
            </a:r>
            <a:r>
              <a:rPr lang="en-GB" sz="2400" dirty="0">
                <a:solidFill>
                  <a:prstClr val="black"/>
                </a:solidFill>
                <a:latin typeface="Times New Roman" panose="02020603050405020304" pitchFamily="18" charset="0"/>
                <a:cs typeface="Times New Roman" panose="02020603050405020304" pitchFamily="18" charset="0"/>
              </a:rPr>
              <a:t> of </a:t>
            </a:r>
            <a:r>
              <a:rPr lang="en-GB" sz="2400" i="1" dirty="0">
                <a:solidFill>
                  <a:prstClr val="black"/>
                </a:solidFill>
                <a:latin typeface="Times New Roman" panose="02020603050405020304" pitchFamily="18" charset="0"/>
                <a:cs typeface="Times New Roman" panose="02020603050405020304" pitchFamily="18" charset="0"/>
              </a:rPr>
              <a:t>Re</a:t>
            </a:r>
            <a:r>
              <a:rPr lang="en-GB" sz="2400" dirty="0">
                <a:solidFill>
                  <a:prstClr val="black"/>
                </a:solidFill>
                <a:latin typeface="Times New Roman" panose="02020603050405020304" pitchFamily="18" charset="0"/>
                <a:cs typeface="Times New Roman" panose="02020603050405020304" pitchFamily="18" charset="0"/>
              </a:rPr>
              <a:t> is well within the range of laminar flows, so the relations for laminar flow may be used</a:t>
            </a:r>
            <a:endParaRPr lang="en-GH" dirty="0"/>
          </a:p>
        </p:txBody>
      </p:sp>
      <p:sp>
        <p:nvSpPr>
          <p:cNvPr id="19" name="TextBox 18">
            <a:extLst>
              <a:ext uri="{FF2B5EF4-FFF2-40B4-BE49-F238E27FC236}">
                <a16:creationId xmlns:a16="http://schemas.microsoft.com/office/drawing/2014/main" id="{F81B55E8-21D9-3FBD-71C6-5DFD37372CDE}"/>
              </a:ext>
            </a:extLst>
          </p:cNvPr>
          <p:cNvSpPr txBox="1"/>
          <p:nvPr/>
        </p:nvSpPr>
        <p:spPr>
          <a:xfrm>
            <a:off x="5730239" y="2973790"/>
            <a:ext cx="609600" cy="461665"/>
          </a:xfrm>
          <a:prstGeom prst="rect">
            <a:avLst/>
          </a:prstGeom>
          <a:noFill/>
        </p:spPr>
        <p:txBody>
          <a:bodyPr wrap="square">
            <a:spAutoFit/>
          </a:bodyPr>
          <a:lstStyle/>
          <a:p>
            <a:r>
              <a:rPr kumimoji="0" lang="en-GB"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t>
            </a:r>
            <a:endParaRPr lang="en-GH"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CE84158-EB38-C67C-3B32-AD55FAB58ED1}"/>
                  </a:ext>
                </a:extLst>
              </p:cNvPr>
              <p:cNvSpPr txBox="1"/>
              <p:nvPr/>
            </p:nvSpPr>
            <p:spPr>
              <a:xfrm>
                <a:off x="6248397" y="3044914"/>
                <a:ext cx="5037909" cy="1401987"/>
              </a:xfrm>
              <a:prstGeom prst="rect">
                <a:avLst/>
              </a:prstGeom>
              <a:noFill/>
            </p:spPr>
            <p:txBody>
              <a:bodyPr wrap="square" rtlCol="0">
                <a:spAutoFit/>
              </a:bodyPr>
              <a:lstStyle/>
              <a:p>
                <a:pPr>
                  <a:spcAft>
                    <a:spcPts val="1200"/>
                  </a:spcAft>
                </a:pPr>
                <a14:m>
                  <m:oMathPara xmlns:m="http://schemas.openxmlformats.org/officeDocument/2006/math">
                    <m:oMathParaPr>
                      <m:jc m:val="left"/>
                    </m:oMathParaPr>
                    <m:oMath xmlns:m="http://schemas.openxmlformats.org/officeDocument/2006/math">
                      <m:f>
                        <m:fPr>
                          <m:ctrlP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𝑢</m:t>
                              </m:r>
                            </m:e>
                            <m:sub>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𝑚𝑎𝑥</m:t>
                              </m:r>
                            </m:sub>
                          </m:sSub>
                        </m:num>
                        <m:den>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𝑉</m:t>
                          </m:r>
                        </m:den>
                      </m:f>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m:t>
                      </m:r>
                    </m:oMath>
                  </m:oMathPara>
                </a14:m>
                <a:endParaRPr lang="en-GB" sz="2400" b="0" i="1" baseline="300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endParaRPr>
              </a:p>
              <a:p>
                <a:pPr>
                  <a:spcAft>
                    <a:spcPts val="1200"/>
                  </a:spcAft>
                </a:pPr>
                <a14:m>
                  <m:oMathPara xmlns:m="http://schemas.openxmlformats.org/officeDocument/2006/math">
                    <m:oMathParaPr>
                      <m:jc m:val="left"/>
                    </m:oMathParaPr>
                    <m:oMath xmlns:m="http://schemas.openxmlformats.org/officeDocument/2006/math">
                      <m:sSub>
                        <m:sSubPr>
                          <m:ctrlP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𝑢</m:t>
                          </m:r>
                        </m:e>
                        <m:sub>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𝑚𝑎𝑥</m:t>
                          </m:r>
                        </m:sub>
                      </m:sSub>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𝑉</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=2×2.3=4.6 </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𝑚</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𝑠</m:t>
                      </m:r>
                    </m:oMath>
                  </m:oMathPara>
                </a14:m>
                <a:endParaRPr lang="en-GB" sz="2400" b="0" i="1"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20" name="TextBox 19">
                <a:extLst>
                  <a:ext uri="{FF2B5EF4-FFF2-40B4-BE49-F238E27FC236}">
                    <a16:creationId xmlns:a16="http://schemas.microsoft.com/office/drawing/2014/main" id="{9CE84158-EB38-C67C-3B32-AD55FAB58ED1}"/>
                  </a:ext>
                </a:extLst>
              </p:cNvPr>
              <p:cNvSpPr txBox="1">
                <a:spLocks noRot="1" noChangeAspect="1" noMove="1" noResize="1" noEditPoints="1" noAdjustHandles="1" noChangeArrowheads="1" noChangeShapeType="1" noTextEdit="1"/>
              </p:cNvSpPr>
              <p:nvPr/>
            </p:nvSpPr>
            <p:spPr>
              <a:xfrm>
                <a:off x="6248397" y="3044914"/>
                <a:ext cx="5037909" cy="1401987"/>
              </a:xfrm>
              <a:prstGeom prst="rect">
                <a:avLst/>
              </a:prstGeom>
              <a:blipFill>
                <a:blip r:embed="rId9"/>
                <a:stretch>
                  <a:fillRect/>
                </a:stretch>
              </a:blipFill>
            </p:spPr>
            <p:txBody>
              <a:bodyPr/>
              <a:lstStyle/>
              <a:p>
                <a:r>
                  <a:rPr lang="en-GH">
                    <a:noFill/>
                  </a:rPr>
                  <a:t> </a:t>
                </a:r>
              </a:p>
            </p:txBody>
          </p:sp>
        </mc:Fallback>
      </mc:AlternateContent>
      <p:sp>
        <p:nvSpPr>
          <p:cNvPr id="21" name="TextBox 20">
            <a:extLst>
              <a:ext uri="{FF2B5EF4-FFF2-40B4-BE49-F238E27FC236}">
                <a16:creationId xmlns:a16="http://schemas.microsoft.com/office/drawing/2014/main" id="{15A64E0A-16CE-CBCB-77E2-306E5E5F5646}"/>
              </a:ext>
            </a:extLst>
          </p:cNvPr>
          <p:cNvSpPr txBox="1"/>
          <p:nvPr/>
        </p:nvSpPr>
        <p:spPr>
          <a:xfrm>
            <a:off x="5730239" y="4349893"/>
            <a:ext cx="609600" cy="461665"/>
          </a:xfrm>
          <a:prstGeom prst="rect">
            <a:avLst/>
          </a:prstGeom>
          <a:noFill/>
        </p:spPr>
        <p:txBody>
          <a:bodyPr wrap="square">
            <a:spAutoFit/>
          </a:bodyPr>
          <a:lstStyle/>
          <a:p>
            <a:r>
              <a:rPr kumimoji="0" lang="en-GB"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a:t>
            </a:r>
            <a:endParaRPr lang="en-GH"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0977D87-8DAB-E56C-D053-75EBEDF02BA8}"/>
                  </a:ext>
                </a:extLst>
              </p:cNvPr>
              <p:cNvSpPr txBox="1"/>
              <p:nvPr/>
            </p:nvSpPr>
            <p:spPr>
              <a:xfrm>
                <a:off x="6248397" y="4421017"/>
                <a:ext cx="5037909" cy="167642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𝑄</m:t>
                          </m:r>
                        </m:num>
                        <m:den>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𝐴</m:t>
                          </m:r>
                        </m:den>
                      </m:f>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𝑉</m:t>
                      </m:r>
                    </m:oMath>
                  </m:oMathPara>
                </a14:m>
                <a:endParaRPr lang="en-GB" sz="2400" b="0" i="1"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endParaRPr>
              </a:p>
              <a:p>
                <a:pPr>
                  <a:spcAft>
                    <a:spcPts val="1200"/>
                  </a:spcAft>
                </a:pPr>
                <a14:m>
                  <m:oMathPara xmlns:m="http://schemas.openxmlformats.org/officeDocument/2006/math">
                    <m:oMathParaPr>
                      <m:jc m:val="left"/>
                    </m:oMathParaPr>
                    <m:oMath xmlns:m="http://schemas.openxmlformats.org/officeDocument/2006/math">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𝑄</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𝐴𝑉</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𝜋</m:t>
                          </m:r>
                          <m:sSup>
                            <m:sSupPr>
                              <m:ctrlP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𝐷</m:t>
                              </m:r>
                            </m:e>
                            <m:sup>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m:t>
                              </m:r>
                            </m:sup>
                          </m:sSup>
                        </m:num>
                        <m:den>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4</m:t>
                          </m:r>
                        </m:den>
                      </m:f>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𝑉</m:t>
                      </m:r>
                    </m:oMath>
                  </m:oMathPara>
                </a14:m>
                <a:endParaRPr lang="en-GB" sz="2400" b="0" i="1"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22" name="TextBox 21">
                <a:extLst>
                  <a:ext uri="{FF2B5EF4-FFF2-40B4-BE49-F238E27FC236}">
                    <a16:creationId xmlns:a16="http://schemas.microsoft.com/office/drawing/2014/main" id="{60977D87-8DAB-E56C-D053-75EBEDF02BA8}"/>
                  </a:ext>
                </a:extLst>
              </p:cNvPr>
              <p:cNvSpPr txBox="1">
                <a:spLocks noRot="1" noChangeAspect="1" noMove="1" noResize="1" noEditPoints="1" noAdjustHandles="1" noChangeArrowheads="1" noChangeShapeType="1" noTextEdit="1"/>
              </p:cNvSpPr>
              <p:nvPr/>
            </p:nvSpPr>
            <p:spPr>
              <a:xfrm>
                <a:off x="6248397" y="4421017"/>
                <a:ext cx="5037909" cy="1676421"/>
              </a:xfrm>
              <a:prstGeom prst="rect">
                <a:avLst/>
              </a:prstGeom>
              <a:blipFill>
                <a:blip r:embed="rId10"/>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5B829D7-E42C-6116-603B-91EBF4A76D2C}"/>
                  </a:ext>
                </a:extLst>
              </p:cNvPr>
              <p:cNvSpPr txBox="1"/>
              <p:nvPr/>
            </p:nvSpPr>
            <p:spPr>
              <a:xfrm>
                <a:off x="5906587" y="5873821"/>
                <a:ext cx="6024154" cy="984950"/>
              </a:xfrm>
              <a:prstGeom prst="rect">
                <a:avLst/>
              </a:prstGeom>
              <a:noFill/>
            </p:spPr>
            <p:txBody>
              <a:bodyPr wrap="square" rtlCol="0">
                <a:spAutoFit/>
              </a:bodyPr>
              <a:lstStyle/>
              <a:p>
                <a:pPr>
                  <a:spcAft>
                    <a:spcPts val="1200"/>
                  </a:spcAft>
                </a:pPr>
                <a14:m>
                  <m:oMathPara xmlns:m="http://schemas.openxmlformats.org/officeDocument/2006/math">
                    <m:oMathParaPr>
                      <m:jc m:val="left"/>
                    </m:oMathParaPr>
                    <m:oMath xmlns:m="http://schemas.openxmlformats.org/officeDocument/2006/math">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𝑄</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𝜋</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0.012</m:t>
                              </m:r>
                            </m:e>
                            <m:sup>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m:t>
                              </m:r>
                            </m:sup>
                          </m:sSup>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×2.3</m:t>
                          </m:r>
                        </m:num>
                        <m:den>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4</m:t>
                          </m:r>
                        </m:den>
                      </m:f>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=2.6×</m:t>
                      </m:r>
                      <m:sSup>
                        <m:sSupPr>
                          <m:ctrlP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10</m:t>
                          </m:r>
                        </m:e>
                        <m:sup>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−4</m:t>
                          </m:r>
                        </m:sup>
                      </m:sSup>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m:t>
                      </m:r>
                      <m:r>
                        <a:rPr lang="en-GB" sz="2400" b="0" i="0" baseline="3000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3</m:t>
                      </m:r>
                      <m: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s</m:t>
                      </m:r>
                    </m:oMath>
                  </m:oMathPara>
                </a14:m>
                <a:endParaRPr lang="en-GB" sz="2400" b="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23" name="TextBox 22">
                <a:extLst>
                  <a:ext uri="{FF2B5EF4-FFF2-40B4-BE49-F238E27FC236}">
                    <a16:creationId xmlns:a16="http://schemas.microsoft.com/office/drawing/2014/main" id="{45B829D7-E42C-6116-603B-91EBF4A76D2C}"/>
                  </a:ext>
                </a:extLst>
              </p:cNvPr>
              <p:cNvSpPr txBox="1">
                <a:spLocks noRot="1" noChangeAspect="1" noMove="1" noResize="1" noEditPoints="1" noAdjustHandles="1" noChangeArrowheads="1" noChangeShapeType="1" noTextEdit="1"/>
              </p:cNvSpPr>
              <p:nvPr/>
            </p:nvSpPr>
            <p:spPr>
              <a:xfrm>
                <a:off x="5906587" y="5873821"/>
                <a:ext cx="6024154" cy="984950"/>
              </a:xfrm>
              <a:prstGeom prst="rect">
                <a:avLst/>
              </a:prstGeom>
              <a:blipFill>
                <a:blip r:embed="rId11"/>
                <a:stretch>
                  <a:fillRect/>
                </a:stretch>
              </a:blipFill>
            </p:spPr>
            <p:txBody>
              <a:bodyPr/>
              <a:lstStyle/>
              <a:p>
                <a:r>
                  <a:rPr lang="en-GH">
                    <a:noFill/>
                  </a:rPr>
                  <a:t> </a:t>
                </a:r>
              </a:p>
            </p:txBody>
          </p:sp>
        </mc:Fallback>
      </mc:AlternateContent>
    </p:spTree>
    <p:extLst>
      <p:ext uri="{BB962C8B-B14F-4D97-AF65-F5344CB8AC3E}">
        <p14:creationId xmlns:p14="http://schemas.microsoft.com/office/powerpoint/2010/main" val="13684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6159" y="0"/>
            <a:ext cx="7477760" cy="418011"/>
          </a:xfrm>
        </p:spPr>
        <p:txBody>
          <a:bodyPr>
            <a:normAutofit fontScale="90000"/>
          </a:bodyPr>
          <a:lstStyle/>
          <a:p>
            <a:pPr lvl="0" indent="-228600" algn="ctr">
              <a:lnSpc>
                <a:spcPct val="107000"/>
              </a:lnSpc>
              <a:spcBef>
                <a:spcPts val="0"/>
              </a:spcBef>
              <a:spcAft>
                <a:spcPts val="800"/>
              </a:spcAft>
              <a:tabLst>
                <a:tab pos="3447415" algn="l"/>
              </a:tabLst>
            </a:pPr>
            <a:r>
              <a:rPr lang="en-US" sz="2800" dirty="0">
                <a:solidFill>
                  <a:prstClr val="black"/>
                </a:solidFill>
                <a:latin typeface="Times New Roman" panose="02020603050405020304" pitchFamily="18" charset="0"/>
                <a:ea typeface="Times New Roman" panose="02020603050405020304" pitchFamily="18" charset="0"/>
              </a:rPr>
              <a:t> </a:t>
            </a:r>
            <a:r>
              <a:rPr lang="en-US" sz="2400" b="1" dirty="0">
                <a:solidFill>
                  <a:prstClr val="black"/>
                </a:solidFill>
                <a:latin typeface="Times New Roman" panose="02020603050405020304" pitchFamily="18" charset="0"/>
                <a:ea typeface="Times New Roman" panose="02020603050405020304" pitchFamily="18" charset="0"/>
              </a:rPr>
              <a:t>SOLVED EXAMPLES</a:t>
            </a:r>
            <a:endParaRPr lang="en-US" sz="2400" dirty="0"/>
          </a:p>
        </p:txBody>
      </p:sp>
      <p:sp>
        <p:nvSpPr>
          <p:cNvPr id="8" name="Content Placeholder 2">
            <a:extLst>
              <a:ext uri="{FF2B5EF4-FFF2-40B4-BE49-F238E27FC236}">
                <a16:creationId xmlns:a16="http://schemas.microsoft.com/office/drawing/2014/main" id="{0812B3CE-26E5-D623-E4C6-56DA91FED8E2}"/>
              </a:ext>
            </a:extLst>
          </p:cNvPr>
          <p:cNvSpPr>
            <a:spLocks noGrp="1"/>
          </p:cNvSpPr>
          <p:nvPr>
            <p:ph idx="1"/>
          </p:nvPr>
        </p:nvSpPr>
        <p:spPr>
          <a:xfrm>
            <a:off x="0" y="478971"/>
            <a:ext cx="12192000" cy="2299064"/>
          </a:xfrm>
        </p:spPr>
        <p:txBody>
          <a:bodyPr>
            <a:normAutofit/>
          </a:bodyPr>
          <a:lstStyle/>
          <a:p>
            <a:pPr marL="0" indent="0">
              <a:spcAft>
                <a:spcPts val="600"/>
              </a:spcAft>
              <a:buNone/>
            </a:pPr>
            <a:r>
              <a:rPr lang="en-GB" sz="2400" b="1" dirty="0">
                <a:latin typeface="Times New Roman" panose="02020603050405020304" pitchFamily="18" charset="0"/>
                <a:cs typeface="Times New Roman" panose="02020603050405020304" pitchFamily="18" charset="0"/>
              </a:rPr>
              <a:t>Example 1</a:t>
            </a:r>
            <a:r>
              <a:rPr lang="en-GB" sz="2400" dirty="0">
                <a:latin typeface="Times New Roman" panose="02020603050405020304" pitchFamily="18" charset="0"/>
                <a:cs typeface="Times New Roman" panose="02020603050405020304" pitchFamily="18" charset="0"/>
              </a:rPr>
              <a:t>: Oil, of relative density 0.83 and dynamic viscosity 0.08 kg/(m.s), passes through a circular pipe of 12 mm diameter with a mean velocity of 2.3 m/s. Determine:</a:t>
            </a:r>
          </a:p>
          <a:p>
            <a:pPr marL="0" indent="0">
              <a:spcBef>
                <a:spcPts val="0"/>
              </a:spcBef>
              <a:buNone/>
            </a:pPr>
            <a:r>
              <a:rPr lang="en-GB" sz="2400" dirty="0">
                <a:latin typeface="Times New Roman" panose="02020603050405020304" pitchFamily="18" charset="0"/>
                <a:cs typeface="Times New Roman" panose="02020603050405020304" pitchFamily="18" charset="0"/>
              </a:rPr>
              <a:t>(a) the Reynolds number;</a:t>
            </a:r>
          </a:p>
          <a:p>
            <a:pPr marL="0" indent="0">
              <a:spcBef>
                <a:spcPts val="0"/>
              </a:spcBef>
              <a:buNone/>
            </a:pPr>
            <a:r>
              <a:rPr lang="en-GB" sz="2400" dirty="0">
                <a:latin typeface="Times New Roman" panose="02020603050405020304" pitchFamily="18" charset="0"/>
                <a:cs typeface="Times New Roman" panose="02020603050405020304" pitchFamily="18" charset="0"/>
              </a:rPr>
              <a:t>(b) the maximum velocity;</a:t>
            </a:r>
          </a:p>
          <a:p>
            <a:pPr marL="0" indent="0">
              <a:spcBef>
                <a:spcPts val="0"/>
              </a:spcBef>
              <a:buNone/>
            </a:pPr>
            <a:r>
              <a:rPr lang="en-GB" sz="2400" dirty="0">
                <a:latin typeface="Times New Roman" panose="02020603050405020304" pitchFamily="18" charset="0"/>
                <a:cs typeface="Times New Roman" panose="02020603050405020304" pitchFamily="18" charset="0"/>
              </a:rPr>
              <a:t>(c) the volumetric flow rate;</a:t>
            </a:r>
          </a:p>
          <a:p>
            <a:pPr marL="0" indent="0">
              <a:spcBef>
                <a:spcPts val="0"/>
              </a:spcBef>
              <a:buNone/>
            </a:pPr>
            <a:r>
              <a:rPr lang="en-GB" sz="2400" dirty="0">
                <a:latin typeface="Times New Roman" panose="02020603050405020304" pitchFamily="18" charset="0"/>
                <a:cs typeface="Times New Roman" panose="02020603050405020304" pitchFamily="18" charset="0"/>
              </a:rPr>
              <a:t>(d) the pressure drop per unit length.</a:t>
            </a:r>
            <a:endParaRPr lang="en-US"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ED98C4A-0469-A51E-879A-115E1D2E54D4}"/>
              </a:ext>
            </a:extLst>
          </p:cNvPr>
          <p:cNvSpPr txBox="1"/>
          <p:nvPr/>
        </p:nvSpPr>
        <p:spPr>
          <a:xfrm>
            <a:off x="0" y="2703957"/>
            <a:ext cx="1341120" cy="461665"/>
          </a:xfrm>
          <a:prstGeom prst="rect">
            <a:avLst/>
          </a:prstGeom>
          <a:noFill/>
        </p:spPr>
        <p:txBody>
          <a:bodyPr wrap="square">
            <a:spAutoFit/>
          </a:bodyPr>
          <a:lstStyle/>
          <a:p>
            <a:r>
              <a:rPr kumimoji="0" lang="en-GB"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Solution</a:t>
            </a:r>
            <a:endParaRPr lang="en-GH"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9378634-DA7D-F65B-B8B8-CF44912A7AE2}"/>
                  </a:ext>
                </a:extLst>
              </p:cNvPr>
              <p:cNvSpPr txBox="1"/>
              <p:nvPr/>
            </p:nvSpPr>
            <p:spPr>
              <a:xfrm>
                <a:off x="137743" y="3032545"/>
                <a:ext cx="5228914" cy="46057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4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𝜌</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=0.83 ×1000</m:t>
                      </m:r>
                      <m:f>
                        <m:fPr>
                          <m:type m:val="lin"/>
                          <m:ctrlP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GB" sz="24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kg</m:t>
                          </m:r>
                        </m:num>
                        <m:den>
                          <m:sSup>
                            <m:sSupPr>
                              <m:ctrlP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GB" sz="24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m:t>
                              </m:r>
                            </m:e>
                            <m:sup>
                              <m:r>
                                <a:rPr lang="en-GB" sz="24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3</m:t>
                              </m:r>
                            </m:sup>
                          </m:sSup>
                        </m:den>
                      </m:f>
                      <m: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=830</m:t>
                      </m:r>
                      <m:f>
                        <m:fPr>
                          <m:type m:val="lin"/>
                          <m:ctrlP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GB" sz="2400" i="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kg</m:t>
                          </m:r>
                        </m:num>
                        <m:den>
                          <m:sSup>
                            <m:sSupPr>
                              <m:ctrlP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GB" sz="2400" i="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m:t>
                              </m:r>
                            </m:e>
                            <m:sup>
                              <m:r>
                                <a:rPr lang="en-GB" sz="2400" i="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3</m:t>
                              </m:r>
                            </m:sup>
                          </m:sSup>
                        </m:den>
                      </m:f>
                    </m:oMath>
                  </m:oMathPara>
                </a14:m>
                <a:endParaRPr lang="en-GH" sz="2400" baseline="30000" dirty="0"/>
              </a:p>
            </p:txBody>
          </p:sp>
        </mc:Choice>
        <mc:Fallback xmlns="">
          <p:sp>
            <p:nvSpPr>
              <p:cNvPr id="7" name="TextBox 6">
                <a:extLst>
                  <a:ext uri="{FF2B5EF4-FFF2-40B4-BE49-F238E27FC236}">
                    <a16:creationId xmlns:a16="http://schemas.microsoft.com/office/drawing/2014/main" id="{F9378634-DA7D-F65B-B8B8-CF44912A7AE2}"/>
                  </a:ext>
                </a:extLst>
              </p:cNvPr>
              <p:cNvSpPr txBox="1">
                <a:spLocks noRot="1" noChangeAspect="1" noMove="1" noResize="1" noEditPoints="1" noAdjustHandles="1" noChangeArrowheads="1" noChangeShapeType="1" noTextEdit="1"/>
              </p:cNvSpPr>
              <p:nvPr/>
            </p:nvSpPr>
            <p:spPr>
              <a:xfrm>
                <a:off x="137743" y="3032545"/>
                <a:ext cx="5228914" cy="460575"/>
              </a:xfrm>
              <a:prstGeom prst="rect">
                <a:avLst/>
              </a:prstGeom>
              <a:blipFill>
                <a:blip r:embed="rId3"/>
                <a:stretch>
                  <a:fillRect l="-350" t="-122368" r="-8051" b="-193421"/>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10E8E3A-F9B0-20FC-451F-21F5D1399689}"/>
                  </a:ext>
                </a:extLst>
              </p:cNvPr>
              <p:cNvSpPr txBox="1"/>
              <p:nvPr/>
            </p:nvSpPr>
            <p:spPr>
              <a:xfrm>
                <a:off x="137743" y="3517342"/>
                <a:ext cx="5130942" cy="46057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4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0.08</m:t>
                      </m:r>
                      <m:f>
                        <m:fPr>
                          <m:type m:val="lin"/>
                          <m:ctrlP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GB" sz="2400" i="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kg</m:t>
                          </m:r>
                        </m:num>
                        <m:den>
                          <m: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m:t>
                          </m:r>
                          <m: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s</m:t>
                          </m:r>
                          <m: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den>
                      </m:f>
                    </m:oMath>
                  </m:oMathPara>
                </a14:m>
                <a:endParaRPr lang="en-GH" sz="2400" baseline="30000" dirty="0"/>
              </a:p>
            </p:txBody>
          </p:sp>
        </mc:Choice>
        <mc:Fallback xmlns="">
          <p:sp>
            <p:nvSpPr>
              <p:cNvPr id="9" name="TextBox 8">
                <a:extLst>
                  <a:ext uri="{FF2B5EF4-FFF2-40B4-BE49-F238E27FC236}">
                    <a16:creationId xmlns:a16="http://schemas.microsoft.com/office/drawing/2014/main" id="{F10E8E3A-F9B0-20FC-451F-21F5D1399689}"/>
                  </a:ext>
                </a:extLst>
              </p:cNvPr>
              <p:cNvSpPr txBox="1">
                <a:spLocks noRot="1" noChangeAspect="1" noMove="1" noResize="1" noEditPoints="1" noAdjustHandles="1" noChangeArrowheads="1" noChangeShapeType="1" noTextEdit="1"/>
              </p:cNvSpPr>
              <p:nvPr/>
            </p:nvSpPr>
            <p:spPr>
              <a:xfrm>
                <a:off x="137743" y="3517342"/>
                <a:ext cx="5130942" cy="460575"/>
              </a:xfrm>
              <a:prstGeom prst="rect">
                <a:avLst/>
              </a:prstGeom>
              <a:blipFill>
                <a:blip r:embed="rId4"/>
                <a:stretch>
                  <a:fillRect l="-357" t="-123684" b="-192105"/>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2D08073-2A51-A257-860A-3A8C41BAB8D3}"/>
                  </a:ext>
                </a:extLst>
              </p:cNvPr>
              <p:cNvSpPr txBox="1"/>
              <p:nvPr/>
            </p:nvSpPr>
            <p:spPr>
              <a:xfrm>
                <a:off x="137743" y="4012696"/>
                <a:ext cx="4756475" cy="46057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𝐷</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=12 </m:t>
                      </m:r>
                      <m:r>
                        <m:rPr>
                          <m:sty m:val="p"/>
                        </m:rP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mm</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=0.012 </m:t>
                      </m:r>
                      <m:r>
                        <m:rPr>
                          <m:sty m:val="p"/>
                        </m:rP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m:t>
                      </m:r>
                    </m:oMath>
                  </m:oMathPara>
                </a14:m>
                <a:endParaRPr lang="en-GH" sz="2400" baseline="30000" dirty="0"/>
              </a:p>
            </p:txBody>
          </p:sp>
        </mc:Choice>
        <mc:Fallback xmlns="">
          <p:sp>
            <p:nvSpPr>
              <p:cNvPr id="10" name="TextBox 9">
                <a:extLst>
                  <a:ext uri="{FF2B5EF4-FFF2-40B4-BE49-F238E27FC236}">
                    <a16:creationId xmlns:a16="http://schemas.microsoft.com/office/drawing/2014/main" id="{12D08073-2A51-A257-860A-3A8C41BAB8D3}"/>
                  </a:ext>
                </a:extLst>
              </p:cNvPr>
              <p:cNvSpPr txBox="1">
                <a:spLocks noRot="1" noChangeAspect="1" noMove="1" noResize="1" noEditPoints="1" noAdjustHandles="1" noChangeArrowheads="1" noChangeShapeType="1" noTextEdit="1"/>
              </p:cNvSpPr>
              <p:nvPr/>
            </p:nvSpPr>
            <p:spPr>
              <a:xfrm>
                <a:off x="137743" y="4012696"/>
                <a:ext cx="4756475" cy="460575"/>
              </a:xfrm>
              <a:prstGeom prst="rect">
                <a:avLst/>
              </a:prstGeom>
              <a:blipFill>
                <a:blip r:embed="rId5"/>
                <a:stretch>
                  <a:fillRect l="-385"/>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1D1537-E26B-514E-3946-262488EE0A40}"/>
                  </a:ext>
                </a:extLst>
              </p:cNvPr>
              <p:cNvSpPr txBox="1"/>
              <p:nvPr/>
            </p:nvSpPr>
            <p:spPr>
              <a:xfrm>
                <a:off x="102909" y="4508050"/>
                <a:ext cx="5061273" cy="46057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𝑉</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=2.3</m:t>
                      </m:r>
                      <m:f>
                        <m:fPr>
                          <m:type m:val="lin"/>
                          <m:ctrlP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m:t>
                          </m:r>
                        </m:num>
                        <m:den>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𝑠</m:t>
                          </m:r>
                        </m:den>
                      </m:f>
                    </m:oMath>
                  </m:oMathPara>
                </a14:m>
                <a:endParaRPr lang="en-GH" sz="2400" baseline="30000" dirty="0"/>
              </a:p>
            </p:txBody>
          </p:sp>
        </mc:Choice>
        <mc:Fallback xmlns="">
          <p:sp>
            <p:nvSpPr>
              <p:cNvPr id="11" name="TextBox 10">
                <a:extLst>
                  <a:ext uri="{FF2B5EF4-FFF2-40B4-BE49-F238E27FC236}">
                    <a16:creationId xmlns:a16="http://schemas.microsoft.com/office/drawing/2014/main" id="{ED1D1537-E26B-514E-3946-262488EE0A40}"/>
                  </a:ext>
                </a:extLst>
              </p:cNvPr>
              <p:cNvSpPr txBox="1">
                <a:spLocks noRot="1" noChangeAspect="1" noMove="1" noResize="1" noEditPoints="1" noAdjustHandles="1" noChangeArrowheads="1" noChangeShapeType="1" noTextEdit="1"/>
              </p:cNvSpPr>
              <p:nvPr/>
            </p:nvSpPr>
            <p:spPr>
              <a:xfrm>
                <a:off x="102909" y="4508050"/>
                <a:ext cx="5061273" cy="460575"/>
              </a:xfrm>
              <a:prstGeom prst="rect">
                <a:avLst/>
              </a:prstGeom>
              <a:blipFill>
                <a:blip r:embed="rId6"/>
                <a:stretch>
                  <a:fillRect l="-361" t="-125333" b="-196000"/>
                </a:stretch>
              </a:blipFill>
            </p:spPr>
            <p:txBody>
              <a:bodyPr/>
              <a:lstStyle/>
              <a:p>
                <a:r>
                  <a:rPr lang="en-GH">
                    <a:noFill/>
                  </a:rPr>
                  <a:t> </a:t>
                </a:r>
              </a:p>
            </p:txBody>
          </p:sp>
        </mc:Fallback>
      </mc:AlternateContent>
      <p:sp>
        <p:nvSpPr>
          <p:cNvPr id="12" name="TextBox 11">
            <a:extLst>
              <a:ext uri="{FF2B5EF4-FFF2-40B4-BE49-F238E27FC236}">
                <a16:creationId xmlns:a16="http://schemas.microsoft.com/office/drawing/2014/main" id="{E8C2D57D-5DF4-5784-DDF9-EEDD2AD75B37}"/>
              </a:ext>
            </a:extLst>
          </p:cNvPr>
          <p:cNvSpPr txBox="1"/>
          <p:nvPr/>
        </p:nvSpPr>
        <p:spPr>
          <a:xfrm>
            <a:off x="0" y="5003021"/>
            <a:ext cx="653143" cy="461665"/>
          </a:xfrm>
          <a:prstGeom prst="rect">
            <a:avLst/>
          </a:prstGeom>
          <a:noFill/>
        </p:spPr>
        <p:txBody>
          <a:bodyPr wrap="square">
            <a:spAutoFit/>
          </a:bodyPr>
          <a:lstStyle/>
          <a:p>
            <a:r>
              <a:rPr kumimoji="0" lang="en-GB"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a:t>
            </a:r>
            <a:endParaRPr lang="en-GH"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FDD881C-0805-F5B6-DB44-B97092973BD4}"/>
                  </a:ext>
                </a:extLst>
              </p:cNvPr>
              <p:cNvSpPr txBox="1"/>
              <p:nvPr/>
            </p:nvSpPr>
            <p:spPr>
              <a:xfrm>
                <a:off x="431074" y="5348997"/>
                <a:ext cx="5447212" cy="1509003"/>
              </a:xfrm>
              <a:prstGeom prst="rect">
                <a:avLst/>
              </a:prstGeom>
              <a:noFill/>
            </p:spPr>
            <p:txBody>
              <a:bodyPr wrap="square" rtlCol="0">
                <a:spAutoFit/>
              </a:bodyPr>
              <a:lstStyle/>
              <a:p>
                <a:pPr>
                  <a:spcAft>
                    <a:spcPts val="1200"/>
                  </a:spcAft>
                </a:pPr>
                <a14:m>
                  <m:oMathPara xmlns:m="http://schemas.openxmlformats.org/officeDocument/2006/math">
                    <m:oMathParaPr>
                      <m:jc m:val="left"/>
                    </m:oMathParaPr>
                    <m:oMath xmlns:m="http://schemas.openxmlformats.org/officeDocument/2006/math">
                      <m:f>
                        <m:fPr>
                          <m:ctrlP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𝑃</m:t>
                          </m:r>
                        </m:num>
                        <m:den>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𝐿</m:t>
                          </m:r>
                        </m:den>
                      </m:f>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128</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𝑄</m:t>
                          </m:r>
                        </m:num>
                        <m:den>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𝜋</m:t>
                          </m:r>
                          <m:sSup>
                            <m:sSupPr>
                              <m:ctrlP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𝐷</m:t>
                              </m:r>
                            </m:e>
                            <m:sup>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4</m:t>
                              </m:r>
                            </m:sup>
                          </m:sSup>
                        </m:den>
                      </m:f>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128×0.08×2.6×</m:t>
                          </m:r>
                          <m:sSup>
                            <m:sSupPr>
                              <m:ctrlP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10</m:t>
                              </m:r>
                            </m:e>
                            <m:sup>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−4</m:t>
                              </m:r>
                            </m:sup>
                          </m:sSup>
                        </m:num>
                        <m:den>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𝜋</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0.012</m:t>
                              </m:r>
                            </m:e>
                            <m:sup>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4</m:t>
                              </m:r>
                            </m:sup>
                          </m:sSup>
                        </m:den>
                      </m:f>
                    </m:oMath>
                  </m:oMathPara>
                </a14:m>
                <a:endParaRPr lang="en-GB" sz="2400" b="0" i="1"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endParaRPr>
              </a:p>
              <a:p>
                <a:pPr>
                  <a:spcAft>
                    <a:spcPts val="1200"/>
                  </a:spcAft>
                </a:pPr>
                <a14:m>
                  <m:oMathPara xmlns:m="http://schemas.openxmlformats.org/officeDocument/2006/math">
                    <m:oMathParaPr>
                      <m:jc m:val="left"/>
                    </m:oMathParaPr>
                    <m:oMath xmlns:m="http://schemas.openxmlformats.org/officeDocument/2006/math">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=4.1</m:t>
                      </m:r>
                      <m:r>
                        <m:rPr>
                          <m:sty m:val="p"/>
                        </m:rP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kPa</m:t>
                      </m:r>
                      <m: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m:t>
                      </m:r>
                    </m:oMath>
                  </m:oMathPara>
                </a14:m>
                <a:endParaRPr lang="en-GB" sz="2400" b="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13" name="TextBox 12">
                <a:extLst>
                  <a:ext uri="{FF2B5EF4-FFF2-40B4-BE49-F238E27FC236}">
                    <a16:creationId xmlns:a16="http://schemas.microsoft.com/office/drawing/2014/main" id="{5FDD881C-0805-F5B6-DB44-B97092973BD4}"/>
                  </a:ext>
                </a:extLst>
              </p:cNvPr>
              <p:cNvSpPr txBox="1">
                <a:spLocks noRot="1" noChangeAspect="1" noMove="1" noResize="1" noEditPoints="1" noAdjustHandles="1" noChangeArrowheads="1" noChangeShapeType="1" noTextEdit="1"/>
              </p:cNvSpPr>
              <p:nvPr/>
            </p:nvSpPr>
            <p:spPr>
              <a:xfrm>
                <a:off x="431074" y="5348997"/>
                <a:ext cx="5447212" cy="1509003"/>
              </a:xfrm>
              <a:prstGeom prst="rect">
                <a:avLst/>
              </a:prstGeom>
              <a:blipFill>
                <a:blip r:embed="rId7"/>
                <a:stretch>
                  <a:fillRect/>
                </a:stretch>
              </a:blipFill>
            </p:spPr>
            <p:txBody>
              <a:bodyPr/>
              <a:lstStyle/>
              <a:p>
                <a:r>
                  <a:rPr lang="en-GH">
                    <a:noFill/>
                  </a:rPr>
                  <a:t> </a:t>
                </a:r>
              </a:p>
            </p:txBody>
          </p:sp>
        </mc:Fallback>
      </mc:AlternateContent>
    </p:spTree>
    <p:extLst>
      <p:ext uri="{BB962C8B-B14F-4D97-AF65-F5344CB8AC3E}">
        <p14:creationId xmlns:p14="http://schemas.microsoft.com/office/powerpoint/2010/main" val="15622322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6159" y="0"/>
            <a:ext cx="7477760" cy="418011"/>
          </a:xfrm>
        </p:spPr>
        <p:txBody>
          <a:bodyPr>
            <a:normAutofit fontScale="90000"/>
          </a:bodyPr>
          <a:lstStyle/>
          <a:p>
            <a:pPr lvl="0" indent="-228600" algn="ctr">
              <a:lnSpc>
                <a:spcPct val="107000"/>
              </a:lnSpc>
              <a:spcBef>
                <a:spcPts val="0"/>
              </a:spcBef>
              <a:spcAft>
                <a:spcPts val="800"/>
              </a:spcAft>
              <a:tabLst>
                <a:tab pos="3447415" algn="l"/>
              </a:tabLst>
            </a:pPr>
            <a:r>
              <a:rPr lang="en-US" sz="2800" dirty="0">
                <a:solidFill>
                  <a:prstClr val="black"/>
                </a:solidFill>
                <a:latin typeface="Times New Roman" panose="02020603050405020304" pitchFamily="18" charset="0"/>
                <a:ea typeface="Times New Roman" panose="02020603050405020304" pitchFamily="18" charset="0"/>
              </a:rPr>
              <a:t> </a:t>
            </a:r>
            <a:r>
              <a:rPr lang="en-US" sz="2400" b="1" dirty="0">
                <a:solidFill>
                  <a:prstClr val="black"/>
                </a:solidFill>
                <a:latin typeface="Times New Roman" panose="02020603050405020304" pitchFamily="18" charset="0"/>
                <a:ea typeface="Times New Roman" panose="02020603050405020304" pitchFamily="18" charset="0"/>
              </a:rPr>
              <a:t>SOLVED EXAMPLES</a:t>
            </a:r>
            <a:endParaRPr lang="en-US" sz="2400" dirty="0"/>
          </a:p>
        </p:txBody>
      </p:sp>
      <p:sp>
        <p:nvSpPr>
          <p:cNvPr id="8" name="Content Placeholder 2">
            <a:extLst>
              <a:ext uri="{FF2B5EF4-FFF2-40B4-BE49-F238E27FC236}">
                <a16:creationId xmlns:a16="http://schemas.microsoft.com/office/drawing/2014/main" id="{0812B3CE-26E5-D623-E4C6-56DA91FED8E2}"/>
              </a:ext>
            </a:extLst>
          </p:cNvPr>
          <p:cNvSpPr>
            <a:spLocks noGrp="1"/>
          </p:cNvSpPr>
          <p:nvPr>
            <p:ph idx="1"/>
          </p:nvPr>
        </p:nvSpPr>
        <p:spPr>
          <a:xfrm>
            <a:off x="0" y="478971"/>
            <a:ext cx="12192000" cy="1509003"/>
          </a:xfrm>
        </p:spPr>
        <p:txBody>
          <a:bodyPr>
            <a:normAutofit/>
          </a:bodyPr>
          <a:lstStyle/>
          <a:p>
            <a:pPr marL="0" indent="0" algn="just">
              <a:spcAft>
                <a:spcPts val="600"/>
              </a:spcAft>
              <a:buNone/>
            </a:pPr>
            <a:r>
              <a:rPr lang="en-GB" sz="2400" b="1" dirty="0">
                <a:latin typeface="Times New Roman" panose="02020603050405020304" pitchFamily="18" charset="0"/>
                <a:cs typeface="Times New Roman" panose="02020603050405020304" pitchFamily="18" charset="0"/>
              </a:rPr>
              <a:t>Example 2</a:t>
            </a:r>
            <a:r>
              <a:rPr lang="en-GB" sz="2400" dirty="0">
                <a:latin typeface="Times New Roman" panose="02020603050405020304" pitchFamily="18" charset="0"/>
                <a:cs typeface="Times New Roman" panose="02020603050405020304" pitchFamily="18" charset="0"/>
              </a:rPr>
              <a:t>: An oil of viscosity 0.1 Ns/m</a:t>
            </a:r>
            <a:r>
              <a:rPr lang="en-GB" sz="2400" baseline="30000" dirty="0">
                <a:latin typeface="Times New Roman" panose="02020603050405020304" pitchFamily="18" charset="0"/>
                <a:cs typeface="Times New Roman" panose="02020603050405020304" pitchFamily="18" charset="0"/>
              </a:rPr>
              <a:t>2</a:t>
            </a:r>
            <a:r>
              <a:rPr lang="en-GB" sz="2400" dirty="0">
                <a:latin typeface="Times New Roman" panose="02020603050405020304" pitchFamily="18" charset="0"/>
                <a:cs typeface="Times New Roman" panose="02020603050405020304" pitchFamily="18" charset="0"/>
              </a:rPr>
              <a:t> and density 900 kg/m</a:t>
            </a:r>
            <a:r>
              <a:rPr lang="en-GB" sz="2400" baseline="30000" dirty="0">
                <a:latin typeface="Times New Roman" panose="02020603050405020304" pitchFamily="18" charset="0"/>
                <a:cs typeface="Times New Roman" panose="02020603050405020304" pitchFamily="18" charset="0"/>
              </a:rPr>
              <a:t>3</a:t>
            </a:r>
            <a:r>
              <a:rPr lang="en-GB" sz="2400" dirty="0">
                <a:latin typeface="Times New Roman" panose="02020603050405020304" pitchFamily="18" charset="0"/>
                <a:cs typeface="Times New Roman" panose="02020603050405020304" pitchFamily="18" charset="0"/>
              </a:rPr>
              <a:t> is flowing through a circular pipe of diameter 50 mm. The flow rate through the pipe is 3.5 litre/s. Find the pressure drop across a length of 300 m of the pipe and the shear stress at the pipe wall. Assume the flow is laminar.</a:t>
            </a:r>
            <a:endParaRPr lang="en-US"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ED98C4A-0469-A51E-879A-115E1D2E54D4}"/>
              </a:ext>
            </a:extLst>
          </p:cNvPr>
          <p:cNvSpPr txBox="1"/>
          <p:nvPr/>
        </p:nvSpPr>
        <p:spPr>
          <a:xfrm>
            <a:off x="1" y="1918916"/>
            <a:ext cx="1341120" cy="461665"/>
          </a:xfrm>
          <a:prstGeom prst="rect">
            <a:avLst/>
          </a:prstGeom>
          <a:noFill/>
        </p:spPr>
        <p:txBody>
          <a:bodyPr wrap="square">
            <a:spAutoFit/>
          </a:bodyPr>
          <a:lstStyle/>
          <a:p>
            <a:r>
              <a:rPr kumimoji="0" lang="en-GB"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Solution</a:t>
            </a:r>
            <a:endParaRPr lang="en-GH"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9378634-DA7D-F65B-B8B8-CF44912A7AE2}"/>
                  </a:ext>
                </a:extLst>
              </p:cNvPr>
              <p:cNvSpPr txBox="1"/>
              <p:nvPr/>
            </p:nvSpPr>
            <p:spPr>
              <a:xfrm>
                <a:off x="137744" y="2247504"/>
                <a:ext cx="2344199" cy="46057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4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𝜌</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900</m:t>
                      </m:r>
                      <m:f>
                        <m:fPr>
                          <m:type m:val="lin"/>
                          <m:ctrlP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GB" sz="2400" i="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kg</m:t>
                          </m:r>
                        </m:num>
                        <m:den>
                          <m:sSup>
                            <m:sSupPr>
                              <m:ctrlP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GB" sz="2400" i="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m:t>
                              </m:r>
                            </m:e>
                            <m:sup>
                              <m:r>
                                <a:rPr lang="en-GB" sz="2400" i="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3</m:t>
                              </m:r>
                            </m:sup>
                          </m:sSup>
                        </m:den>
                      </m:f>
                      <m: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GH" sz="2400" baseline="30000" dirty="0"/>
              </a:p>
            </p:txBody>
          </p:sp>
        </mc:Choice>
        <mc:Fallback xmlns="">
          <p:sp>
            <p:nvSpPr>
              <p:cNvPr id="7" name="TextBox 6">
                <a:extLst>
                  <a:ext uri="{FF2B5EF4-FFF2-40B4-BE49-F238E27FC236}">
                    <a16:creationId xmlns:a16="http://schemas.microsoft.com/office/drawing/2014/main" id="{F9378634-DA7D-F65B-B8B8-CF44912A7AE2}"/>
                  </a:ext>
                </a:extLst>
              </p:cNvPr>
              <p:cNvSpPr txBox="1">
                <a:spLocks noRot="1" noChangeAspect="1" noMove="1" noResize="1" noEditPoints="1" noAdjustHandles="1" noChangeArrowheads="1" noChangeShapeType="1" noTextEdit="1"/>
              </p:cNvSpPr>
              <p:nvPr/>
            </p:nvSpPr>
            <p:spPr>
              <a:xfrm>
                <a:off x="137744" y="2247504"/>
                <a:ext cx="2344199" cy="460575"/>
              </a:xfrm>
              <a:prstGeom prst="rect">
                <a:avLst/>
              </a:prstGeom>
              <a:blipFill>
                <a:blip r:embed="rId3"/>
                <a:stretch>
                  <a:fillRect l="-781" t="-124000" r="-13802" b="-197333"/>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10E8E3A-F9B0-20FC-451F-21F5D1399689}"/>
                  </a:ext>
                </a:extLst>
              </p:cNvPr>
              <p:cNvSpPr txBox="1"/>
              <p:nvPr/>
            </p:nvSpPr>
            <p:spPr>
              <a:xfrm>
                <a:off x="2328748" y="2259615"/>
                <a:ext cx="2687389" cy="461665"/>
              </a:xfrm>
              <a:prstGeom prst="rect">
                <a:avLst/>
              </a:prstGeom>
              <a:noFill/>
            </p:spPr>
            <p:txBody>
              <a:bodyPr wrap="square" rtlCol="0">
                <a:spAutoFit/>
              </a:bodyPr>
              <a:lstStyle/>
              <a:p>
                <a14:m>
                  <m:oMath xmlns:m="http://schemas.openxmlformats.org/officeDocument/2006/math">
                    <m:r>
                      <a:rPr lang="en-GB" sz="24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0.08</m:t>
                    </m:r>
                    <m:f>
                      <m:fPr>
                        <m:type m:val="lin"/>
                        <m:ctrlP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GB" sz="2400" i="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kg</m:t>
                        </m:r>
                      </m:num>
                      <m:den>
                        <m: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m:t>
                        </m:r>
                        <m: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s</m:t>
                        </m:r>
                        <m: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den>
                    </m:f>
                  </m:oMath>
                </a14:m>
                <a:r>
                  <a:rPr lang="en-GB" sz="2400" dirty="0"/>
                  <a:t>;</a:t>
                </a:r>
                <a:endParaRPr lang="en-GH" sz="2400" baseline="30000" dirty="0"/>
              </a:p>
            </p:txBody>
          </p:sp>
        </mc:Choice>
        <mc:Fallback xmlns="">
          <p:sp>
            <p:nvSpPr>
              <p:cNvPr id="9" name="TextBox 8">
                <a:extLst>
                  <a:ext uri="{FF2B5EF4-FFF2-40B4-BE49-F238E27FC236}">
                    <a16:creationId xmlns:a16="http://schemas.microsoft.com/office/drawing/2014/main" id="{F10E8E3A-F9B0-20FC-451F-21F5D1399689}"/>
                  </a:ext>
                </a:extLst>
              </p:cNvPr>
              <p:cNvSpPr txBox="1">
                <a:spLocks noRot="1" noChangeAspect="1" noMove="1" noResize="1" noEditPoints="1" noAdjustHandles="1" noChangeArrowheads="1" noChangeShapeType="1" noTextEdit="1"/>
              </p:cNvSpPr>
              <p:nvPr/>
            </p:nvSpPr>
            <p:spPr>
              <a:xfrm>
                <a:off x="2328748" y="2259615"/>
                <a:ext cx="2687389" cy="461665"/>
              </a:xfrm>
              <a:prstGeom prst="rect">
                <a:avLst/>
              </a:prstGeom>
              <a:blipFill>
                <a:blip r:embed="rId4"/>
                <a:stretch>
                  <a:fillRect l="-454" t="-126667" r="-3401" b="-194667"/>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2D08073-2A51-A257-860A-3A8C41BAB8D3}"/>
                  </a:ext>
                </a:extLst>
              </p:cNvPr>
              <p:cNvSpPr txBox="1"/>
              <p:nvPr/>
            </p:nvSpPr>
            <p:spPr>
              <a:xfrm>
                <a:off x="4907284" y="2288729"/>
                <a:ext cx="3139435" cy="45313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𝐷</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=50 </m:t>
                      </m:r>
                      <m:r>
                        <m:rPr>
                          <m:sty m:val="p"/>
                        </m:rP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mm</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=0.05 </m:t>
                      </m:r>
                      <m:r>
                        <m:rPr>
                          <m:sty m:val="p"/>
                        </m:rP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m:t>
                      </m:r>
                      <m: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GH" sz="2400" baseline="30000" dirty="0"/>
              </a:p>
            </p:txBody>
          </p:sp>
        </mc:Choice>
        <mc:Fallback xmlns="">
          <p:sp>
            <p:nvSpPr>
              <p:cNvPr id="10" name="TextBox 9">
                <a:extLst>
                  <a:ext uri="{FF2B5EF4-FFF2-40B4-BE49-F238E27FC236}">
                    <a16:creationId xmlns:a16="http://schemas.microsoft.com/office/drawing/2014/main" id="{12D08073-2A51-A257-860A-3A8C41BAB8D3}"/>
                  </a:ext>
                </a:extLst>
              </p:cNvPr>
              <p:cNvSpPr txBox="1">
                <a:spLocks noRot="1" noChangeAspect="1" noMove="1" noResize="1" noEditPoints="1" noAdjustHandles="1" noChangeArrowheads="1" noChangeShapeType="1" noTextEdit="1"/>
              </p:cNvSpPr>
              <p:nvPr/>
            </p:nvSpPr>
            <p:spPr>
              <a:xfrm>
                <a:off x="4907284" y="2288729"/>
                <a:ext cx="3139435" cy="453137"/>
              </a:xfrm>
              <a:prstGeom prst="rect">
                <a:avLst/>
              </a:prstGeom>
              <a:blipFill>
                <a:blip r:embed="rId5"/>
                <a:stretch>
                  <a:fillRect l="-388" b="-1333"/>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1D1537-E26B-514E-3946-262488EE0A40}"/>
                  </a:ext>
                </a:extLst>
              </p:cNvPr>
              <p:cNvSpPr txBox="1"/>
              <p:nvPr/>
            </p:nvSpPr>
            <p:spPr>
              <a:xfrm>
                <a:off x="137744" y="2674869"/>
                <a:ext cx="5061273" cy="46057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𝑄</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=3.5</m:t>
                      </m:r>
                      <m:f>
                        <m:fPr>
                          <m:type m:val="lin"/>
                          <m:ctrlP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litres</m:t>
                          </m:r>
                        </m:num>
                        <m:den>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𝑠</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=3.5×</m:t>
                          </m:r>
                          <m:sSup>
                            <m:sSupPr>
                              <m:ctrlP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10</m:t>
                              </m:r>
                            </m:e>
                            <m:sup>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−3</m:t>
                              </m:r>
                            </m:sup>
                          </m:sSup>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m:t>
                          </m:r>
                          <m:r>
                            <a:rPr lang="en-GB" sz="2400" b="0" i="0" baseline="3000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3</m:t>
                          </m:r>
                          <m: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s</m:t>
                          </m:r>
                        </m:den>
                      </m:f>
                    </m:oMath>
                  </m:oMathPara>
                </a14:m>
                <a:endParaRPr lang="en-GH" sz="2400" baseline="30000" dirty="0"/>
              </a:p>
            </p:txBody>
          </p:sp>
        </mc:Choice>
        <mc:Fallback xmlns="">
          <p:sp>
            <p:nvSpPr>
              <p:cNvPr id="11" name="TextBox 10">
                <a:extLst>
                  <a:ext uri="{FF2B5EF4-FFF2-40B4-BE49-F238E27FC236}">
                    <a16:creationId xmlns:a16="http://schemas.microsoft.com/office/drawing/2014/main" id="{ED1D1537-E26B-514E-3946-262488EE0A40}"/>
                  </a:ext>
                </a:extLst>
              </p:cNvPr>
              <p:cNvSpPr txBox="1">
                <a:spLocks noRot="1" noChangeAspect="1" noMove="1" noResize="1" noEditPoints="1" noAdjustHandles="1" noChangeArrowheads="1" noChangeShapeType="1" noTextEdit="1"/>
              </p:cNvSpPr>
              <p:nvPr/>
            </p:nvSpPr>
            <p:spPr>
              <a:xfrm>
                <a:off x="137744" y="2674869"/>
                <a:ext cx="5061273" cy="460575"/>
              </a:xfrm>
              <a:prstGeom prst="rect">
                <a:avLst/>
              </a:prstGeom>
              <a:blipFill>
                <a:blip r:embed="rId6"/>
                <a:stretch>
                  <a:fillRect l="-843" t="-124000" b="-197333"/>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FDD881C-0805-F5B6-DB44-B97092973BD4}"/>
                  </a:ext>
                </a:extLst>
              </p:cNvPr>
              <p:cNvSpPr txBox="1"/>
              <p:nvPr/>
            </p:nvSpPr>
            <p:spPr>
              <a:xfrm>
                <a:off x="137744" y="3252524"/>
                <a:ext cx="2024743" cy="940066"/>
              </a:xfrm>
              <a:prstGeom prst="rect">
                <a:avLst/>
              </a:prstGeom>
              <a:noFill/>
            </p:spPr>
            <p:txBody>
              <a:bodyPr wrap="square" rtlCol="0">
                <a:spAutoFit/>
              </a:bodyPr>
              <a:lstStyle/>
              <a:p>
                <a:pPr>
                  <a:spcAft>
                    <a:spcPts val="1200"/>
                  </a:spcAft>
                </a:pPr>
                <a14:m>
                  <m:oMathPara xmlns:m="http://schemas.openxmlformats.org/officeDocument/2006/math">
                    <m:oMathParaPr>
                      <m:jc m:val="left"/>
                    </m:oMathParaPr>
                    <m:oMath xmlns:m="http://schemas.openxmlformats.org/officeDocument/2006/math">
                      <m:f>
                        <m:fPr>
                          <m:ctrlP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𝑃</m:t>
                          </m:r>
                        </m:num>
                        <m:den>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𝐿</m:t>
                          </m:r>
                        </m:den>
                      </m:f>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128</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𝑄</m:t>
                          </m:r>
                        </m:num>
                        <m:den>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𝜋</m:t>
                          </m:r>
                          <m:sSup>
                            <m:sSupPr>
                              <m:ctrlP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𝐷</m:t>
                              </m:r>
                            </m:e>
                            <m:sup>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4</m:t>
                              </m:r>
                            </m:sup>
                          </m:sSup>
                        </m:den>
                      </m:f>
                    </m:oMath>
                  </m:oMathPara>
                </a14:m>
                <a:endParaRPr lang="en-GB" sz="2400" b="0" i="1"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13" name="TextBox 12">
                <a:extLst>
                  <a:ext uri="{FF2B5EF4-FFF2-40B4-BE49-F238E27FC236}">
                    <a16:creationId xmlns:a16="http://schemas.microsoft.com/office/drawing/2014/main" id="{5FDD881C-0805-F5B6-DB44-B97092973BD4}"/>
                  </a:ext>
                </a:extLst>
              </p:cNvPr>
              <p:cNvSpPr txBox="1">
                <a:spLocks noRot="1" noChangeAspect="1" noMove="1" noResize="1" noEditPoints="1" noAdjustHandles="1" noChangeArrowheads="1" noChangeShapeType="1" noTextEdit="1"/>
              </p:cNvSpPr>
              <p:nvPr/>
            </p:nvSpPr>
            <p:spPr>
              <a:xfrm>
                <a:off x="137744" y="3252524"/>
                <a:ext cx="2024743" cy="940066"/>
              </a:xfrm>
              <a:prstGeom prst="rect">
                <a:avLst/>
              </a:prstGeom>
              <a:blipFill>
                <a:blip r:embed="rId7"/>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EC05174-B2C0-B8B5-012E-1C7215D6CB76}"/>
                  </a:ext>
                </a:extLst>
              </p:cNvPr>
              <p:cNvSpPr txBox="1"/>
              <p:nvPr/>
            </p:nvSpPr>
            <p:spPr>
              <a:xfrm>
                <a:off x="7842069" y="2301696"/>
                <a:ext cx="3069768" cy="46057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𝐿</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=300 </m:t>
                      </m:r>
                      <m:r>
                        <m:rPr>
                          <m:sty m:val="p"/>
                        </m:rP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m:t>
                      </m:r>
                    </m:oMath>
                  </m:oMathPara>
                </a14:m>
                <a:endParaRPr lang="en-GH" sz="2400" baseline="30000" dirty="0"/>
              </a:p>
            </p:txBody>
          </p:sp>
        </mc:Choice>
        <mc:Fallback xmlns="">
          <p:sp>
            <p:nvSpPr>
              <p:cNvPr id="3" name="TextBox 2">
                <a:extLst>
                  <a:ext uri="{FF2B5EF4-FFF2-40B4-BE49-F238E27FC236}">
                    <a16:creationId xmlns:a16="http://schemas.microsoft.com/office/drawing/2014/main" id="{CEC05174-B2C0-B8B5-012E-1C7215D6CB76}"/>
                  </a:ext>
                </a:extLst>
              </p:cNvPr>
              <p:cNvSpPr txBox="1">
                <a:spLocks noRot="1" noChangeAspect="1" noMove="1" noResize="1" noEditPoints="1" noAdjustHandles="1" noChangeArrowheads="1" noChangeShapeType="1" noTextEdit="1"/>
              </p:cNvSpPr>
              <p:nvPr/>
            </p:nvSpPr>
            <p:spPr>
              <a:xfrm>
                <a:off x="7842069" y="2301696"/>
                <a:ext cx="3069768" cy="460575"/>
              </a:xfrm>
              <a:prstGeom prst="rect">
                <a:avLst/>
              </a:prstGeom>
              <a:blipFill>
                <a:blip r:embed="rId8"/>
                <a:stretch>
                  <a:fillRect l="-397"/>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322827D-39E9-7A5A-24C0-7A7961DAB659}"/>
                  </a:ext>
                </a:extLst>
              </p:cNvPr>
              <p:cNvSpPr txBox="1"/>
              <p:nvPr/>
            </p:nvSpPr>
            <p:spPr>
              <a:xfrm>
                <a:off x="137743" y="4192590"/>
                <a:ext cx="6324017" cy="987322"/>
              </a:xfrm>
              <a:prstGeom prst="rect">
                <a:avLst/>
              </a:prstGeom>
              <a:noFill/>
            </p:spPr>
            <p:txBody>
              <a:bodyPr wrap="square" rtlCol="0">
                <a:spAutoFit/>
              </a:bodyPr>
              <a:lstStyle/>
              <a:p>
                <a:pPr>
                  <a:spcAft>
                    <a:spcPts val="1200"/>
                  </a:spcAft>
                </a:pPr>
                <a14:m>
                  <m:oMathPara xmlns:m="http://schemas.openxmlformats.org/officeDocument/2006/math">
                    <m:oMathParaPr>
                      <m:jc m:val="left"/>
                    </m:oMathParaPr>
                    <m:oMath xmlns:m="http://schemas.openxmlformats.org/officeDocument/2006/math">
                      <m:r>
                        <a:rPr lang="en-GB" sz="24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GB" sz="24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𝑃</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128</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𝑄𝐿</m:t>
                          </m:r>
                        </m:num>
                        <m:den>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𝜋</m:t>
                          </m:r>
                          <m:sSup>
                            <m:sSupPr>
                              <m:ctrlP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𝐷</m:t>
                              </m:r>
                            </m:e>
                            <m:sup>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4</m:t>
                              </m:r>
                            </m:sup>
                          </m:sSup>
                        </m:den>
                      </m:f>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128×0.</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1</m:t>
                          </m:r>
                          <m: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3</m:t>
                          </m:r>
                          <m: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5</m:t>
                          </m:r>
                          <m: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10</m:t>
                              </m:r>
                            </m:e>
                            <m:sup>
                              <m: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3</m:t>
                              </m:r>
                            </m:sup>
                          </m:sSup>
                        </m:num>
                        <m:den>
                          <m: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𝜋</m:t>
                          </m:r>
                          <m: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0.0</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5</m:t>
                              </m:r>
                            </m:e>
                            <m:sup>
                              <m:r>
                                <a:rPr lang="en-GB"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4</m:t>
                              </m:r>
                            </m:sup>
                          </m:sSup>
                        </m:den>
                      </m:f>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×300</m:t>
                      </m:r>
                    </m:oMath>
                  </m:oMathPara>
                </a14:m>
                <a:endParaRPr lang="en-GB" sz="2400" b="0" i="1"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F322827D-39E9-7A5A-24C0-7A7961DAB659}"/>
                  </a:ext>
                </a:extLst>
              </p:cNvPr>
              <p:cNvSpPr txBox="1">
                <a:spLocks noRot="1" noChangeAspect="1" noMove="1" noResize="1" noEditPoints="1" noAdjustHandles="1" noChangeArrowheads="1" noChangeShapeType="1" noTextEdit="1"/>
              </p:cNvSpPr>
              <p:nvPr/>
            </p:nvSpPr>
            <p:spPr>
              <a:xfrm>
                <a:off x="137743" y="4192590"/>
                <a:ext cx="6324017" cy="987322"/>
              </a:xfrm>
              <a:prstGeom prst="rect">
                <a:avLst/>
              </a:prstGeom>
              <a:blipFill>
                <a:blip r:embed="rId9"/>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D4AB737-F879-FF48-D6C1-E0D4B3B096E2}"/>
                  </a:ext>
                </a:extLst>
              </p:cNvPr>
              <p:cNvSpPr txBox="1"/>
              <p:nvPr/>
            </p:nvSpPr>
            <p:spPr>
              <a:xfrm>
                <a:off x="137743" y="5335537"/>
                <a:ext cx="3434947" cy="615553"/>
              </a:xfrm>
              <a:prstGeom prst="rect">
                <a:avLst/>
              </a:prstGeom>
              <a:noFill/>
            </p:spPr>
            <p:txBody>
              <a:bodyPr wrap="square" rtlCol="0">
                <a:spAutoFit/>
              </a:bodyPr>
              <a:lstStyle/>
              <a:p>
                <a:pPr>
                  <a:spcAft>
                    <a:spcPts val="1200"/>
                  </a:spcAft>
                </a:pPr>
                <a14:m>
                  <m:oMathPara xmlns:m="http://schemas.openxmlformats.org/officeDocument/2006/math">
                    <m:oMathParaPr>
                      <m:jc m:val="left"/>
                    </m:oMathParaPr>
                    <m:oMath xmlns:m="http://schemas.openxmlformats.org/officeDocument/2006/math">
                      <m:r>
                        <a:rPr lang="en-GB" sz="24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GB" sz="24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𝑃</m:t>
                      </m:r>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=684.5 </m:t>
                      </m:r>
                      <m:r>
                        <m:rPr>
                          <m:sty m:val="p"/>
                        </m:rPr>
                        <a:rPr lang="en-GB" sz="2400" b="0" i="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kPa</m:t>
                      </m:r>
                    </m:oMath>
                  </m:oMathPara>
                </a14:m>
                <a:endParaRPr lang="en-GB" sz="2400" b="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BD4AB737-F879-FF48-D6C1-E0D4B3B096E2}"/>
                  </a:ext>
                </a:extLst>
              </p:cNvPr>
              <p:cNvSpPr txBox="1">
                <a:spLocks noRot="1" noChangeAspect="1" noMove="1" noResize="1" noEditPoints="1" noAdjustHandles="1" noChangeArrowheads="1" noChangeShapeType="1" noTextEdit="1"/>
              </p:cNvSpPr>
              <p:nvPr/>
            </p:nvSpPr>
            <p:spPr>
              <a:xfrm>
                <a:off x="137743" y="5335537"/>
                <a:ext cx="3434947" cy="615553"/>
              </a:xfrm>
              <a:prstGeom prst="rect">
                <a:avLst/>
              </a:prstGeom>
              <a:blipFill>
                <a:blip r:embed="rId10"/>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11EE6AF-6EEB-230E-0108-BF675E3FB0D3}"/>
                  </a:ext>
                </a:extLst>
              </p:cNvPr>
              <p:cNvSpPr txBox="1"/>
              <p:nvPr/>
            </p:nvSpPr>
            <p:spPr>
              <a:xfrm>
                <a:off x="55022" y="6106715"/>
                <a:ext cx="5143995"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nor/>
                        </m:rPr>
                        <a:rPr lang="en-GB" sz="2400" b="0" i="0" smtClean="0">
                          <a:solidFill>
                            <a:prstClr val="black"/>
                          </a:solidFill>
                          <a:latin typeface="Times New Roman" panose="02020603050405020304" pitchFamily="18" charset="0"/>
                          <a:ea typeface="Cambria Math" panose="02040503050406030204" pitchFamily="18" charset="0"/>
                          <a:cs typeface="Times New Roman" panose="02020603050405020304" pitchFamily="18" charset="0"/>
                        </a:rPr>
                        <m:t>The</m:t>
                      </m:r>
                      <m:r>
                        <m:rPr>
                          <m:nor/>
                        </m:rPr>
                        <a:rPr lang="en-GB" sz="2400" b="0" i="0" smtClean="0">
                          <a:solidFill>
                            <a:prstClr val="black"/>
                          </a:solidFill>
                          <a:latin typeface="Times New Roman" panose="02020603050405020304" pitchFamily="18" charset="0"/>
                          <a:ea typeface="Cambria Math" panose="02040503050406030204" pitchFamily="18" charset="0"/>
                          <a:cs typeface="Times New Roman" panose="02020603050405020304" pitchFamily="18" charset="0"/>
                        </a:rPr>
                        <m:t> </m:t>
                      </m:r>
                      <m:r>
                        <m:rPr>
                          <m:nor/>
                        </m:rPr>
                        <a:rPr lang="en-GB" sz="2400" b="0" i="0" smtClean="0">
                          <a:solidFill>
                            <a:prstClr val="black"/>
                          </a:solidFill>
                          <a:latin typeface="Times New Roman" panose="02020603050405020304" pitchFamily="18" charset="0"/>
                          <a:ea typeface="Cambria Math" panose="02040503050406030204" pitchFamily="18" charset="0"/>
                          <a:cs typeface="Times New Roman" panose="02020603050405020304" pitchFamily="18" charset="0"/>
                        </a:rPr>
                        <m:t>wall</m:t>
                      </m:r>
                      <m:r>
                        <m:rPr>
                          <m:nor/>
                        </m:rPr>
                        <a:rPr lang="en-GB" sz="2400" b="0" i="0" smtClean="0">
                          <a:solidFill>
                            <a:prstClr val="black"/>
                          </a:solidFill>
                          <a:latin typeface="Times New Roman" panose="02020603050405020304" pitchFamily="18" charset="0"/>
                          <a:ea typeface="Cambria Math" panose="02040503050406030204" pitchFamily="18" charset="0"/>
                          <a:cs typeface="Times New Roman" panose="02020603050405020304" pitchFamily="18" charset="0"/>
                        </a:rPr>
                        <m:t> </m:t>
                      </m:r>
                      <m:r>
                        <m:rPr>
                          <m:nor/>
                        </m:rPr>
                        <a:rPr lang="en-GB" sz="2400" b="0" i="0" smtClean="0">
                          <a:solidFill>
                            <a:prstClr val="black"/>
                          </a:solidFill>
                          <a:latin typeface="Times New Roman" panose="02020603050405020304" pitchFamily="18" charset="0"/>
                          <a:ea typeface="Cambria Math" panose="02040503050406030204" pitchFamily="18" charset="0"/>
                          <a:cs typeface="Times New Roman" panose="02020603050405020304" pitchFamily="18" charset="0"/>
                        </a:rPr>
                        <m:t>shear</m:t>
                      </m:r>
                      <m:r>
                        <m:rPr>
                          <m:nor/>
                        </m:rPr>
                        <a:rPr lang="en-GB" sz="2400" b="0" i="0" smtClean="0">
                          <a:solidFill>
                            <a:prstClr val="black"/>
                          </a:solidFill>
                          <a:latin typeface="Times New Roman" panose="02020603050405020304" pitchFamily="18" charset="0"/>
                          <a:ea typeface="Cambria Math" panose="02040503050406030204" pitchFamily="18" charset="0"/>
                          <a:cs typeface="Times New Roman" panose="02020603050405020304" pitchFamily="18" charset="0"/>
                        </a:rPr>
                        <m:t> </m:t>
                      </m:r>
                      <m:r>
                        <m:rPr>
                          <m:nor/>
                        </m:rPr>
                        <a:rPr lang="en-GB" sz="2400" b="0" i="0" smtClean="0">
                          <a:solidFill>
                            <a:prstClr val="black"/>
                          </a:solidFill>
                          <a:latin typeface="Times New Roman" panose="02020603050405020304" pitchFamily="18" charset="0"/>
                          <a:ea typeface="Cambria Math" panose="02040503050406030204" pitchFamily="18" charset="0"/>
                          <a:cs typeface="Times New Roman" panose="02020603050405020304" pitchFamily="18" charset="0"/>
                        </a:rPr>
                        <m:t>stress</m:t>
                      </m:r>
                      <m:r>
                        <m:rPr>
                          <m:nor/>
                        </m:rPr>
                        <a:rPr lang="en-GB" sz="2400" b="0" i="0" smtClean="0">
                          <a:solidFill>
                            <a:prstClr val="black"/>
                          </a:solidFill>
                          <a:latin typeface="Times New Roman" panose="02020603050405020304" pitchFamily="18" charset="0"/>
                          <a:ea typeface="Cambria Math" panose="02040503050406030204" pitchFamily="18" charset="0"/>
                          <a:cs typeface="Times New Roman" panose="02020603050405020304" pitchFamily="18" charset="0"/>
                        </a:rPr>
                        <m:t> </m:t>
                      </m:r>
                      <m:sSub>
                        <m:sSubPr>
                          <m:ctrlP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𝜏</m:t>
                          </m:r>
                        </m:e>
                        <m:sub>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m:t>
                          </m:r>
                        </m:sub>
                      </m:sSub>
                      <m:r>
                        <a:rPr lang="en-GB"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m:rPr>
                          <m:nor/>
                        </m:rPr>
                        <a:rPr lang="en-GB" sz="2400" b="0" i="0" smtClean="0">
                          <a:solidFill>
                            <a:prstClr val="black"/>
                          </a:solidFill>
                          <a:latin typeface="Times New Roman" panose="02020603050405020304" pitchFamily="18" charset="0"/>
                          <a:ea typeface="Cambria Math" panose="02040503050406030204" pitchFamily="18" charset="0"/>
                          <a:cs typeface="Times New Roman" panose="02020603050405020304" pitchFamily="18" charset="0"/>
                        </a:rPr>
                        <m:t>is</m:t>
                      </m:r>
                      <m:r>
                        <m:rPr>
                          <m:nor/>
                        </m:rPr>
                        <a:rPr lang="en-GB" sz="2400" b="0" i="0" smtClean="0">
                          <a:solidFill>
                            <a:prstClr val="black"/>
                          </a:solidFill>
                          <a:latin typeface="Times New Roman" panose="02020603050405020304" pitchFamily="18" charset="0"/>
                          <a:ea typeface="Cambria Math" panose="02040503050406030204" pitchFamily="18" charset="0"/>
                          <a:cs typeface="Times New Roman" panose="02020603050405020304" pitchFamily="18" charset="0"/>
                        </a:rPr>
                        <m:t> </m:t>
                      </m:r>
                      <m:r>
                        <m:rPr>
                          <m:nor/>
                        </m:rPr>
                        <a:rPr lang="en-GB" sz="2400" b="0" i="0" smtClean="0">
                          <a:solidFill>
                            <a:prstClr val="black"/>
                          </a:solidFill>
                          <a:latin typeface="Times New Roman" panose="02020603050405020304" pitchFamily="18" charset="0"/>
                          <a:ea typeface="Cambria Math" panose="02040503050406030204" pitchFamily="18" charset="0"/>
                          <a:cs typeface="Times New Roman" panose="02020603050405020304" pitchFamily="18" charset="0"/>
                        </a:rPr>
                        <m:t>given</m:t>
                      </m:r>
                      <m:r>
                        <m:rPr>
                          <m:nor/>
                        </m:rPr>
                        <a:rPr lang="en-GB" sz="2400" b="0" i="0" smtClean="0">
                          <a:solidFill>
                            <a:prstClr val="black"/>
                          </a:solidFill>
                          <a:latin typeface="Times New Roman" panose="02020603050405020304" pitchFamily="18" charset="0"/>
                          <a:ea typeface="Cambria Math" panose="02040503050406030204" pitchFamily="18" charset="0"/>
                          <a:cs typeface="Times New Roman" panose="02020603050405020304" pitchFamily="18" charset="0"/>
                        </a:rPr>
                        <m:t> </m:t>
                      </m:r>
                      <m:r>
                        <m:rPr>
                          <m:nor/>
                        </m:rPr>
                        <a:rPr lang="en-GB" sz="2400" b="0" i="0" smtClean="0">
                          <a:solidFill>
                            <a:prstClr val="black"/>
                          </a:solidFill>
                          <a:latin typeface="Times New Roman" panose="02020603050405020304" pitchFamily="18" charset="0"/>
                          <a:ea typeface="Cambria Math" panose="02040503050406030204" pitchFamily="18" charset="0"/>
                          <a:cs typeface="Times New Roman" panose="02020603050405020304" pitchFamily="18" charset="0"/>
                        </a:rPr>
                        <m:t>by</m:t>
                      </m:r>
                    </m:oMath>
                  </m:oMathPara>
                </a14:m>
                <a:endParaRPr lang="en-GH" sz="2400" dirty="0">
                  <a:latin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id="{711EE6AF-6EEB-230E-0108-BF675E3FB0D3}"/>
                  </a:ext>
                </a:extLst>
              </p:cNvPr>
              <p:cNvSpPr txBox="1">
                <a:spLocks noRot="1" noChangeAspect="1" noMove="1" noResize="1" noEditPoints="1" noAdjustHandles="1" noChangeArrowheads="1" noChangeShapeType="1" noTextEdit="1"/>
              </p:cNvSpPr>
              <p:nvPr/>
            </p:nvSpPr>
            <p:spPr>
              <a:xfrm>
                <a:off x="55022" y="6106715"/>
                <a:ext cx="5143995" cy="461665"/>
              </a:xfrm>
              <a:prstGeom prst="rect">
                <a:avLst/>
              </a:prstGeom>
              <a:blipFill>
                <a:blip r:embed="rId11"/>
                <a:stretch>
                  <a:fillRect l="-355" b="-20000"/>
                </a:stretch>
              </a:blipFill>
            </p:spPr>
            <p:txBody>
              <a:bodyPr/>
              <a:lstStyle/>
              <a:p>
                <a:r>
                  <a:rPr lang="en-GH">
                    <a:noFill/>
                  </a:rPr>
                  <a:t> </a:t>
                </a:r>
              </a:p>
            </p:txBody>
          </p:sp>
        </mc:Fallback>
      </mc:AlternateContent>
      <p:cxnSp>
        <p:nvCxnSpPr>
          <p:cNvPr id="15" name="Straight Connector 14">
            <a:extLst>
              <a:ext uri="{FF2B5EF4-FFF2-40B4-BE49-F238E27FC236}">
                <a16:creationId xmlns:a16="http://schemas.microsoft.com/office/drawing/2014/main" id="{52429F86-5D73-11AE-58E3-9F4489CE1B9A}"/>
              </a:ext>
            </a:extLst>
          </p:cNvPr>
          <p:cNvCxnSpPr>
            <a:cxnSpLocks/>
          </p:cNvCxnSpPr>
          <p:nvPr/>
        </p:nvCxnSpPr>
        <p:spPr>
          <a:xfrm>
            <a:off x="6561903" y="2741866"/>
            <a:ext cx="0" cy="3982665"/>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E271D49-1C49-26CA-C299-0B4E21742195}"/>
                  </a:ext>
                </a:extLst>
              </p:cNvPr>
              <p:cNvSpPr txBox="1"/>
              <p:nvPr/>
            </p:nvSpPr>
            <p:spPr>
              <a:xfrm>
                <a:off x="6662048" y="2905156"/>
                <a:ext cx="2272946" cy="97494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l-GR"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Δ</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𝑃</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m:t>
                              </m:r>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𝜏</m:t>
                              </m:r>
                            </m:e>
                            <m:sub>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m:t>
                              </m:r>
                            </m:sub>
                          </m:sSub>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𝐿</m:t>
                          </m:r>
                        </m:num>
                        <m:den>
                          <m:sSub>
                            <m:sSubPr>
                              <m:ctrlP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𝑟</m:t>
                              </m:r>
                            </m:e>
                            <m:sub>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m:t>
                              </m:r>
                            </m:sub>
                          </m:sSub>
                        </m:den>
                      </m:f>
                    </m:oMath>
                  </m:oMathPara>
                </a14:m>
                <a:endParaRPr lang="en-GH" sz="2800" dirty="0"/>
              </a:p>
            </p:txBody>
          </p:sp>
        </mc:Choice>
        <mc:Fallback xmlns="">
          <p:sp>
            <p:nvSpPr>
              <p:cNvPr id="17" name="TextBox 16">
                <a:extLst>
                  <a:ext uri="{FF2B5EF4-FFF2-40B4-BE49-F238E27FC236}">
                    <a16:creationId xmlns:a16="http://schemas.microsoft.com/office/drawing/2014/main" id="{0E271D49-1C49-26CA-C299-0B4E21742195}"/>
                  </a:ext>
                </a:extLst>
              </p:cNvPr>
              <p:cNvSpPr txBox="1">
                <a:spLocks noRot="1" noChangeAspect="1" noMove="1" noResize="1" noEditPoints="1" noAdjustHandles="1" noChangeArrowheads="1" noChangeShapeType="1" noTextEdit="1"/>
              </p:cNvSpPr>
              <p:nvPr/>
            </p:nvSpPr>
            <p:spPr>
              <a:xfrm>
                <a:off x="6662048" y="2905156"/>
                <a:ext cx="2272946" cy="974947"/>
              </a:xfrm>
              <a:prstGeom prst="rect">
                <a:avLst/>
              </a:prstGeom>
              <a:blipFill>
                <a:blip r:embed="rId12"/>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2A72724-FA76-DA7A-50D8-543E13874C35}"/>
                  </a:ext>
                </a:extLst>
              </p:cNvPr>
              <p:cNvSpPr txBox="1"/>
              <p:nvPr/>
            </p:nvSpPr>
            <p:spPr>
              <a:xfrm>
                <a:off x="6662046" y="3908930"/>
                <a:ext cx="2447115"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𝜏</m:t>
                          </m:r>
                        </m:e>
                        <m:sub>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𝑤</m:t>
                          </m:r>
                        </m:sub>
                      </m:sSub>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𝑟</m:t>
                              </m:r>
                            </m:e>
                            <m:sub>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m:t>
                              </m:r>
                            </m:sub>
                          </m:sSub>
                          <m:r>
                            <m:rPr>
                              <m:sty m:val="p"/>
                            </m:rPr>
                            <a:rPr lang="el-GR"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Δ</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𝑃</m:t>
                          </m:r>
                        </m:num>
                        <m:den>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m:t>
                          </m:r>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𝐿</m:t>
                          </m:r>
                        </m:den>
                      </m:f>
                    </m:oMath>
                  </m:oMathPara>
                </a14:m>
                <a:endParaRPr lang="en-GH" sz="2800" dirty="0"/>
              </a:p>
            </p:txBody>
          </p:sp>
        </mc:Choice>
        <mc:Fallback xmlns="">
          <p:sp>
            <p:nvSpPr>
              <p:cNvPr id="18" name="TextBox 17">
                <a:extLst>
                  <a:ext uri="{FF2B5EF4-FFF2-40B4-BE49-F238E27FC236}">
                    <a16:creationId xmlns:a16="http://schemas.microsoft.com/office/drawing/2014/main" id="{A2A72724-FA76-DA7A-50D8-543E13874C35}"/>
                  </a:ext>
                </a:extLst>
              </p:cNvPr>
              <p:cNvSpPr txBox="1">
                <a:spLocks noRot="1" noChangeAspect="1" noMove="1" noResize="1" noEditPoints="1" noAdjustHandles="1" noChangeArrowheads="1" noChangeShapeType="1" noTextEdit="1"/>
              </p:cNvSpPr>
              <p:nvPr/>
            </p:nvSpPr>
            <p:spPr>
              <a:xfrm>
                <a:off x="6662046" y="3908930"/>
                <a:ext cx="2447115" cy="898964"/>
              </a:xfrm>
              <a:prstGeom prst="rect">
                <a:avLst/>
              </a:prstGeom>
              <a:blipFill>
                <a:blip r:embed="rId13"/>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213F06A-3F93-8C94-E0FD-EDB2961E0065}"/>
                  </a:ext>
                </a:extLst>
              </p:cNvPr>
              <p:cNvSpPr txBox="1"/>
              <p:nvPr/>
            </p:nvSpPr>
            <p:spPr>
              <a:xfrm>
                <a:off x="6662047" y="5017047"/>
                <a:ext cx="4798428" cy="95410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en-GB" sz="28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𝜏</m:t>
                          </m:r>
                        </m:e>
                        <m:sub>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𝑤</m:t>
                          </m:r>
                        </m:sub>
                      </m:sSub>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28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0.025×684.5×</m:t>
                          </m:r>
                          <m:sSup>
                            <m:sSupPr>
                              <m:ctrlP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10</m:t>
                              </m:r>
                            </m:e>
                            <m:sup>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3</m:t>
                              </m:r>
                            </m:sup>
                          </m:sSup>
                        </m:num>
                        <m:den>
                          <m:r>
                            <a:rPr lang="en-GB" sz="28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2×300</m:t>
                          </m:r>
                        </m:den>
                      </m:f>
                    </m:oMath>
                  </m:oMathPara>
                </a14:m>
                <a:endParaRPr lang="en-GH" sz="2800" dirty="0"/>
              </a:p>
            </p:txBody>
          </p:sp>
        </mc:Choice>
        <mc:Fallback xmlns="">
          <p:sp>
            <p:nvSpPr>
              <p:cNvPr id="19" name="TextBox 18">
                <a:extLst>
                  <a:ext uri="{FF2B5EF4-FFF2-40B4-BE49-F238E27FC236}">
                    <a16:creationId xmlns:a16="http://schemas.microsoft.com/office/drawing/2014/main" id="{8213F06A-3F93-8C94-E0FD-EDB2961E0065}"/>
                  </a:ext>
                </a:extLst>
              </p:cNvPr>
              <p:cNvSpPr txBox="1">
                <a:spLocks noRot="1" noChangeAspect="1" noMove="1" noResize="1" noEditPoints="1" noAdjustHandles="1" noChangeArrowheads="1" noChangeShapeType="1" noTextEdit="1"/>
              </p:cNvSpPr>
              <p:nvPr/>
            </p:nvSpPr>
            <p:spPr>
              <a:xfrm>
                <a:off x="6662047" y="5017047"/>
                <a:ext cx="4798428" cy="954107"/>
              </a:xfrm>
              <a:prstGeom prst="rect">
                <a:avLst/>
              </a:prstGeom>
              <a:blipFill>
                <a:blip r:embed="rId14"/>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913561F-84B0-9E62-2ED8-42C150F7EEC9}"/>
                  </a:ext>
                </a:extLst>
              </p:cNvPr>
              <p:cNvSpPr txBox="1"/>
              <p:nvPr/>
            </p:nvSpPr>
            <p:spPr>
              <a:xfrm>
                <a:off x="7080059" y="6117430"/>
                <a:ext cx="4798428"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=28.52 </m:t>
                      </m:r>
                      <m:r>
                        <m:rPr>
                          <m:sty m:val="p"/>
                        </m:rPr>
                        <a:rPr kumimoji="0" lang="en-GB" sz="2800" b="0" i="0"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Pa</m:t>
                      </m:r>
                    </m:oMath>
                  </m:oMathPara>
                </a14:m>
                <a:endParaRPr lang="en-GH" sz="2800" dirty="0"/>
              </a:p>
            </p:txBody>
          </p:sp>
        </mc:Choice>
        <mc:Fallback xmlns="">
          <p:sp>
            <p:nvSpPr>
              <p:cNvPr id="20" name="TextBox 19">
                <a:extLst>
                  <a:ext uri="{FF2B5EF4-FFF2-40B4-BE49-F238E27FC236}">
                    <a16:creationId xmlns:a16="http://schemas.microsoft.com/office/drawing/2014/main" id="{6913561F-84B0-9E62-2ED8-42C150F7EEC9}"/>
                  </a:ext>
                </a:extLst>
              </p:cNvPr>
              <p:cNvSpPr txBox="1">
                <a:spLocks noRot="1" noChangeAspect="1" noMove="1" noResize="1" noEditPoints="1" noAdjustHandles="1" noChangeArrowheads="1" noChangeShapeType="1" noTextEdit="1"/>
              </p:cNvSpPr>
              <p:nvPr/>
            </p:nvSpPr>
            <p:spPr>
              <a:xfrm>
                <a:off x="7080059" y="6117430"/>
                <a:ext cx="4798428" cy="523220"/>
              </a:xfrm>
              <a:prstGeom prst="rect">
                <a:avLst/>
              </a:prstGeom>
              <a:blipFill>
                <a:blip r:embed="rId15"/>
                <a:stretch>
                  <a:fillRect/>
                </a:stretch>
              </a:blipFill>
            </p:spPr>
            <p:txBody>
              <a:bodyPr/>
              <a:lstStyle/>
              <a:p>
                <a:r>
                  <a:rPr lang="en-GH">
                    <a:noFill/>
                  </a:rPr>
                  <a:t> </a:t>
                </a:r>
              </a:p>
            </p:txBody>
          </p:sp>
        </mc:Fallback>
      </mc:AlternateContent>
    </p:spTree>
    <p:extLst>
      <p:ext uri="{BB962C8B-B14F-4D97-AF65-F5344CB8AC3E}">
        <p14:creationId xmlns:p14="http://schemas.microsoft.com/office/powerpoint/2010/main" val="35619005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280"/>
            <a:ext cx="10515600" cy="475765"/>
          </a:xfrm>
        </p:spPr>
        <p:txBody>
          <a:bodyPr/>
          <a:lstStyle/>
          <a:p>
            <a:pPr marL="63500" lvl="0" indent="-228600" algn="ctr">
              <a:spcBef>
                <a:spcPts val="0"/>
              </a:spcBef>
            </a:pPr>
            <a: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j-cs"/>
              </a:rPr>
              <a:t> </a:t>
            </a: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j-cs"/>
              </a:rPr>
              <a:t>SOLVED EXAMPLES</a:t>
            </a:r>
            <a:endParaRPr lang="en-US" dirty="0"/>
          </a:p>
        </p:txBody>
      </p:sp>
      <p:sp>
        <p:nvSpPr>
          <p:cNvPr id="3" name="Content Placeholder 2"/>
          <p:cNvSpPr>
            <a:spLocks noGrp="1"/>
          </p:cNvSpPr>
          <p:nvPr>
            <p:ph idx="1"/>
          </p:nvPr>
        </p:nvSpPr>
        <p:spPr>
          <a:xfrm>
            <a:off x="0" y="802336"/>
            <a:ext cx="12192000" cy="5557520"/>
          </a:xfrm>
        </p:spPr>
        <p:txBody>
          <a:bodyPr>
            <a:normAutofit/>
          </a:bodyPr>
          <a:lstStyle/>
          <a:p>
            <a:pPr marL="0" marR="0" indent="0">
              <a:lnSpc>
                <a:spcPct val="100000"/>
              </a:lnSpc>
              <a:spcBef>
                <a:spcPts val="0"/>
              </a:spcBef>
              <a:spcAft>
                <a:spcPts val="0"/>
              </a:spcAft>
              <a:buNone/>
            </a:pPr>
            <a:r>
              <a:rPr lang="en-US" sz="2400" b="1" dirty="0">
                <a:solidFill>
                  <a:prstClr val="black"/>
                </a:solidFill>
                <a:latin typeface="Times New Roman" panose="02020603050405020304" pitchFamily="18" charset="0"/>
                <a:ea typeface="Times New Roman" panose="02020603050405020304" pitchFamily="18" charset="0"/>
              </a:rPr>
              <a:t>Example 3</a:t>
            </a:r>
            <a:r>
              <a:rPr lang="en-US" sz="2400" dirty="0">
                <a:solidFill>
                  <a:prstClr val="black"/>
                </a:solidFill>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a:t>
            </a:r>
            <a:r>
              <a:rPr lang="en-US" sz="2400" spc="-5" dirty="0">
                <a:effectLst/>
                <a:latin typeface="Times New Roman" panose="02020603050405020304" pitchFamily="18" charset="0"/>
                <a:ea typeface="Times New Roman" panose="02020603050405020304" pitchFamily="18" charset="0"/>
              </a:rPr>
              <a:t>e</a:t>
            </a:r>
            <a:r>
              <a:rPr lang="en-US" sz="2400" dirty="0">
                <a:effectLst/>
                <a:latin typeface="Times New Roman" panose="02020603050405020304" pitchFamily="18" charset="0"/>
                <a:ea typeface="Times New Roman" panose="02020603050405020304" pitchFamily="18" charset="0"/>
              </a:rPr>
              <a:t>rive</a:t>
            </a:r>
            <a:r>
              <a:rPr lang="en-US" sz="2400" spc="-5" dirty="0">
                <a:effectLst/>
                <a:latin typeface="Times New Roman" panose="02020603050405020304" pitchFamily="18" charset="0"/>
                <a:ea typeface="Times New Roman" panose="02020603050405020304" pitchFamily="18" charset="0"/>
              </a:rPr>
              <a:t> a</a:t>
            </a:r>
            <a:r>
              <a:rPr lang="en-US" sz="2400" dirty="0">
                <a:effectLst/>
                <a:latin typeface="Times New Roman" panose="02020603050405020304" pitchFamily="18" charset="0"/>
                <a:ea typeface="Times New Roman" panose="02020603050405020304" pitchFamily="18" charset="0"/>
              </a:rPr>
              <a:t>n</a:t>
            </a:r>
            <a:r>
              <a:rPr lang="en-US" sz="2400" spc="10" dirty="0">
                <a:effectLst/>
                <a:latin typeface="Times New Roman" panose="02020603050405020304" pitchFamily="18" charset="0"/>
                <a:ea typeface="Times New Roman" panose="02020603050405020304" pitchFamily="18" charset="0"/>
              </a:rPr>
              <a:t> </a:t>
            </a:r>
            <a:r>
              <a:rPr lang="en-US" sz="2400" spc="-5" dirty="0">
                <a:effectLst/>
                <a:latin typeface="Times New Roman" panose="02020603050405020304" pitchFamily="18" charset="0"/>
                <a:ea typeface="Times New Roman" panose="02020603050405020304" pitchFamily="18" charset="0"/>
              </a:rPr>
              <a:t>e</a:t>
            </a:r>
            <a:r>
              <a:rPr lang="en-US" sz="2400" spc="10" dirty="0">
                <a:effectLst/>
                <a:latin typeface="Times New Roman" panose="02020603050405020304" pitchFamily="18" charset="0"/>
                <a:ea typeface="Times New Roman" panose="02020603050405020304" pitchFamily="18" charset="0"/>
              </a:rPr>
              <a:t>x</a:t>
            </a:r>
            <a:r>
              <a:rPr lang="en-US" sz="2400" dirty="0">
                <a:effectLst/>
                <a:latin typeface="Times New Roman" panose="02020603050405020304" pitchFamily="18" charset="0"/>
                <a:ea typeface="Times New Roman" panose="02020603050405020304" pitchFamily="18" charset="0"/>
              </a:rPr>
              <a:t>p</a:t>
            </a:r>
            <a:r>
              <a:rPr lang="en-US" sz="2400" spc="-5" dirty="0">
                <a:effectLst/>
                <a:latin typeface="Times New Roman" panose="02020603050405020304" pitchFamily="18" charset="0"/>
                <a:ea typeface="Times New Roman" panose="02020603050405020304" pitchFamily="18" charset="0"/>
              </a:rPr>
              <a:t>re</a:t>
            </a:r>
            <a:r>
              <a:rPr lang="en-US" sz="2400" dirty="0">
                <a:effectLst/>
                <a:latin typeface="Times New Roman" panose="02020603050405020304" pitchFamily="18" charset="0"/>
                <a:ea typeface="Times New Roman" panose="02020603050405020304" pitchFamily="18" charset="0"/>
              </a:rPr>
              <a:t>ss</a:t>
            </a:r>
            <a:r>
              <a:rPr lang="en-US" sz="2400" spc="5" dirty="0">
                <a:effectLst/>
                <a:latin typeface="Times New Roman" panose="02020603050405020304" pitchFamily="18" charset="0"/>
                <a:ea typeface="Times New Roman" panose="02020603050405020304" pitchFamily="18" charset="0"/>
              </a:rPr>
              <a:t>i</a:t>
            </a:r>
            <a:r>
              <a:rPr lang="en-US" sz="2400" dirty="0">
                <a:effectLst/>
                <a:latin typeface="Times New Roman" panose="02020603050405020304" pitchFamily="18" charset="0"/>
                <a:ea typeface="Times New Roman" panose="02020603050405020304" pitchFamily="18" charset="0"/>
              </a:rPr>
              <a:t>on f</a:t>
            </a:r>
            <a:r>
              <a:rPr lang="en-US" sz="2400" spc="-5" dirty="0">
                <a:effectLst/>
                <a:latin typeface="Times New Roman" panose="02020603050405020304" pitchFamily="18" charset="0"/>
                <a:ea typeface="Times New Roman" panose="02020603050405020304" pitchFamily="18" charset="0"/>
              </a:rPr>
              <a:t>o</a:t>
            </a:r>
            <a:r>
              <a:rPr lang="en-US" sz="2400" dirty="0">
                <a:effectLst/>
                <a:latin typeface="Times New Roman" panose="02020603050405020304" pitchFamily="18" charset="0"/>
                <a:ea typeface="Times New Roman" panose="02020603050405020304" pitchFamily="18" charset="0"/>
              </a:rPr>
              <a:t>r</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 v</a:t>
            </a:r>
            <a:r>
              <a:rPr lang="en-US" sz="2400" spc="-5" dirty="0">
                <a:effectLst/>
                <a:latin typeface="Times New Roman" panose="02020603050405020304" pitchFamily="18" charset="0"/>
                <a:ea typeface="Times New Roman" panose="02020603050405020304" pitchFamily="18" charset="0"/>
              </a:rPr>
              <a:t>e</a:t>
            </a:r>
            <a:r>
              <a:rPr lang="en-US" sz="2400" dirty="0">
                <a:effectLst/>
                <a:latin typeface="Times New Roman" panose="02020603050405020304" pitchFamily="18" charset="0"/>
                <a:ea typeface="Times New Roman" panose="02020603050405020304" pitchFamily="18" charset="0"/>
              </a:rPr>
              <a:t>loci</a:t>
            </a:r>
            <a:r>
              <a:rPr lang="en-US" sz="2400" spc="15" dirty="0">
                <a:effectLst/>
                <a:latin typeface="Times New Roman" panose="02020603050405020304" pitchFamily="18" charset="0"/>
                <a:ea typeface="Times New Roman" panose="02020603050405020304" pitchFamily="18" charset="0"/>
              </a:rPr>
              <a:t>t</a:t>
            </a:r>
            <a:r>
              <a:rPr lang="en-US" sz="2400" dirty="0">
                <a:effectLst/>
                <a:latin typeface="Times New Roman" panose="02020603050405020304" pitchFamily="18" charset="0"/>
                <a:ea typeface="Times New Roman" panose="02020603050405020304" pitchFamily="18" charset="0"/>
              </a:rPr>
              <a:t>y</a:t>
            </a:r>
            <a:r>
              <a:rPr lang="en-US" sz="2400" spc="-2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dis</a:t>
            </a:r>
            <a:r>
              <a:rPr lang="en-US" sz="2400" spc="5" dirty="0">
                <a:effectLst/>
                <a:latin typeface="Times New Roman" panose="02020603050405020304" pitchFamily="18" charset="0"/>
                <a:ea typeface="Times New Roman" panose="02020603050405020304" pitchFamily="18" charset="0"/>
              </a:rPr>
              <a:t>t</a:t>
            </a:r>
            <a:r>
              <a:rPr lang="en-US" sz="2400" dirty="0">
                <a:effectLst/>
                <a:latin typeface="Times New Roman" panose="02020603050405020304" pitchFamily="18" charset="0"/>
                <a:ea typeface="Times New Roman" panose="02020603050405020304" pitchFamily="18" charset="0"/>
              </a:rPr>
              <a:t>ribution b</a:t>
            </a:r>
            <a:r>
              <a:rPr lang="en-US" sz="2400" spc="-5" dirty="0">
                <a:effectLst/>
                <a:latin typeface="Times New Roman" panose="02020603050405020304" pitchFamily="18" charset="0"/>
                <a:ea typeface="Times New Roman" panose="02020603050405020304" pitchFamily="18" charset="0"/>
              </a:rPr>
              <a:t>e</a:t>
            </a:r>
            <a:r>
              <a:rPr lang="en-US" sz="2400" dirty="0">
                <a:effectLst/>
                <a:latin typeface="Times New Roman" panose="02020603050405020304" pitchFamily="18" charset="0"/>
                <a:ea typeface="Times New Roman" panose="02020603050405020304" pitchFamily="18" charset="0"/>
              </a:rPr>
              <a:t>tw</a:t>
            </a:r>
            <a:r>
              <a:rPr lang="en-US" sz="2400" spc="-5" dirty="0">
                <a:effectLst/>
                <a:latin typeface="Times New Roman" panose="02020603050405020304" pitchFamily="18" charset="0"/>
                <a:ea typeface="Times New Roman" panose="02020603050405020304" pitchFamily="18" charset="0"/>
              </a:rPr>
              <a:t>ee</a:t>
            </a:r>
            <a:r>
              <a:rPr lang="en-US" sz="2400" dirty="0">
                <a:effectLst/>
                <a:latin typeface="Times New Roman" panose="02020603050405020304" pitchFamily="18" charset="0"/>
                <a:ea typeface="Times New Roman" panose="02020603050405020304" pitchFamily="18" charset="0"/>
              </a:rPr>
              <a:t>n ho</a:t>
            </a:r>
            <a:r>
              <a:rPr lang="en-US" sz="2400" spc="-5" dirty="0">
                <a:effectLst/>
                <a:latin typeface="Times New Roman" panose="02020603050405020304" pitchFamily="18" charset="0"/>
                <a:ea typeface="Times New Roman" panose="02020603050405020304" pitchFamily="18" charset="0"/>
              </a:rPr>
              <a:t>r</a:t>
            </a:r>
            <a:r>
              <a:rPr lang="en-US" sz="2400" dirty="0">
                <a:effectLst/>
                <a:latin typeface="Times New Roman" panose="02020603050405020304" pitchFamily="18" charset="0"/>
                <a:ea typeface="Times New Roman" panose="02020603050405020304" pitchFamily="18" charset="0"/>
              </a:rPr>
              <a:t>i</a:t>
            </a:r>
            <a:r>
              <a:rPr lang="en-US" sz="2400" spc="10" dirty="0">
                <a:effectLst/>
                <a:latin typeface="Times New Roman" panose="02020603050405020304" pitchFamily="18" charset="0"/>
                <a:ea typeface="Times New Roman" panose="02020603050405020304" pitchFamily="18" charset="0"/>
              </a:rPr>
              <a:t>z</a:t>
            </a:r>
            <a:r>
              <a:rPr lang="en-US" sz="2400" dirty="0">
                <a:effectLst/>
                <a:latin typeface="Times New Roman" panose="02020603050405020304" pitchFamily="18" charset="0"/>
                <a:ea typeface="Times New Roman" panose="02020603050405020304" pitchFamily="18" charset="0"/>
              </a:rPr>
              <a:t>ontal, </a:t>
            </a:r>
            <a:r>
              <a:rPr lang="en-US" sz="2400" spc="-5" dirty="0">
                <a:effectLst/>
                <a:latin typeface="Times New Roman" panose="02020603050405020304" pitchFamily="18" charset="0"/>
                <a:ea typeface="Times New Roman" panose="02020603050405020304" pitchFamily="18" charset="0"/>
              </a:rPr>
              <a:t>c</a:t>
            </a:r>
            <a:r>
              <a:rPr lang="en-US" sz="2400" dirty="0">
                <a:effectLst/>
                <a:latin typeface="Times New Roman" panose="02020603050405020304" pitchFamily="18" charset="0"/>
                <a:ea typeface="Times New Roman" panose="02020603050405020304" pitchFamily="18" charset="0"/>
              </a:rPr>
              <a:t>on</a:t>
            </a:r>
            <a:r>
              <a:rPr lang="en-US" sz="2400" spc="5" dirty="0">
                <a:effectLst/>
                <a:latin typeface="Times New Roman" panose="02020603050405020304" pitchFamily="18" charset="0"/>
                <a:ea typeface="Times New Roman" panose="02020603050405020304" pitchFamily="18" charset="0"/>
              </a:rPr>
              <a:t>c</a:t>
            </a:r>
            <a:r>
              <a:rPr lang="en-US" sz="2400" spc="-5" dirty="0">
                <a:effectLst/>
                <a:latin typeface="Times New Roman" panose="02020603050405020304" pitchFamily="18" charset="0"/>
                <a:ea typeface="Times New Roman" panose="02020603050405020304" pitchFamily="18" charset="0"/>
              </a:rPr>
              <a:t>e</a:t>
            </a:r>
            <a:r>
              <a:rPr lang="en-US" sz="2400" dirty="0">
                <a:effectLst/>
                <a:latin typeface="Times New Roman" panose="02020603050405020304" pitchFamily="18" charset="0"/>
                <a:ea typeface="Times New Roman" panose="02020603050405020304" pitchFamily="18" charset="0"/>
              </a:rPr>
              <a:t>ntric</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pipes </a:t>
            </a:r>
            <a:r>
              <a:rPr lang="en-US" sz="2400" spc="-5" dirty="0">
                <a:effectLst/>
                <a:latin typeface="Times New Roman" panose="02020603050405020304" pitchFamily="18" charset="0"/>
                <a:ea typeface="Times New Roman" panose="02020603050405020304" pitchFamily="18" charset="0"/>
              </a:rPr>
              <a:t>f</a:t>
            </a:r>
            <a:r>
              <a:rPr lang="en-US" sz="2400" dirty="0">
                <a:effectLst/>
                <a:latin typeface="Times New Roman" panose="02020603050405020304" pitchFamily="18" charset="0"/>
                <a:ea typeface="Times New Roman" panose="02020603050405020304" pitchFamily="18" charset="0"/>
              </a:rPr>
              <a:t>or ste</a:t>
            </a:r>
            <a:r>
              <a:rPr lang="en-US" sz="2400" spc="-5" dirty="0">
                <a:effectLst/>
                <a:latin typeface="Times New Roman" panose="02020603050405020304" pitchFamily="18" charset="0"/>
                <a:ea typeface="Times New Roman" panose="02020603050405020304" pitchFamily="18" charset="0"/>
              </a:rPr>
              <a:t>a</a:t>
            </a:r>
            <a:r>
              <a:rPr lang="en-US" sz="2400" spc="10" dirty="0">
                <a:effectLst/>
                <a:latin typeface="Times New Roman" panose="02020603050405020304" pitchFamily="18" charset="0"/>
                <a:ea typeface="Times New Roman" panose="02020603050405020304" pitchFamily="18" charset="0"/>
              </a:rPr>
              <a:t>d</a:t>
            </a:r>
            <a:r>
              <a:rPr lang="en-US" sz="2400" spc="-25" dirty="0">
                <a:effectLst/>
                <a:latin typeface="Times New Roman" panose="02020603050405020304" pitchFamily="18" charset="0"/>
                <a:ea typeface="Times New Roman" panose="02020603050405020304" pitchFamily="18" charset="0"/>
              </a:rPr>
              <a:t>y</a:t>
            </a:r>
            <a:r>
              <a:rPr lang="en-US" sz="2400" dirty="0">
                <a:effectLst/>
                <a:latin typeface="Times New Roman" panose="02020603050405020304" pitchFamily="18" charset="0"/>
                <a:ea typeface="Times New Roman" panose="02020603050405020304" pitchFamily="18" charset="0"/>
              </a:rPr>
              <a:t>, i</a:t>
            </a:r>
            <a:r>
              <a:rPr lang="en-US" sz="2400" spc="15" dirty="0">
                <a:effectLst/>
                <a:latin typeface="Times New Roman" panose="02020603050405020304" pitchFamily="18" charset="0"/>
                <a:ea typeface="Times New Roman" panose="02020603050405020304" pitchFamily="18" charset="0"/>
              </a:rPr>
              <a:t>n</a:t>
            </a:r>
            <a:r>
              <a:rPr lang="en-US" sz="2400" spc="-5" dirty="0">
                <a:effectLst/>
                <a:latin typeface="Times New Roman" panose="02020603050405020304" pitchFamily="18" charset="0"/>
                <a:ea typeface="Times New Roman" panose="02020603050405020304" pitchFamily="18" charset="0"/>
              </a:rPr>
              <a:t>c</a:t>
            </a:r>
            <a:r>
              <a:rPr lang="en-US" sz="2400" dirty="0">
                <a:effectLst/>
                <a:latin typeface="Times New Roman" panose="02020603050405020304" pitchFamily="18" charset="0"/>
                <a:ea typeface="Times New Roman" panose="02020603050405020304" pitchFamily="18" charset="0"/>
              </a:rPr>
              <a:t>ompr</a:t>
            </a:r>
            <a:r>
              <a:rPr lang="en-US" sz="2400" spc="-5" dirty="0">
                <a:effectLst/>
                <a:latin typeface="Times New Roman" panose="02020603050405020304" pitchFamily="18" charset="0"/>
                <a:ea typeface="Times New Roman" panose="02020603050405020304" pitchFamily="18" charset="0"/>
              </a:rPr>
              <a:t>e</a:t>
            </a:r>
            <a:r>
              <a:rPr lang="en-US" sz="2400" dirty="0">
                <a:effectLst/>
                <a:latin typeface="Times New Roman" panose="02020603050405020304" pitchFamily="18" charset="0"/>
                <a:ea typeface="Times New Roman" panose="02020603050405020304" pitchFamily="18" charset="0"/>
              </a:rPr>
              <a:t>ss</a:t>
            </a:r>
            <a:r>
              <a:rPr lang="en-US" sz="2400" spc="5" dirty="0">
                <a:effectLst/>
                <a:latin typeface="Times New Roman" panose="02020603050405020304" pitchFamily="18" charset="0"/>
                <a:ea typeface="Times New Roman" panose="02020603050405020304" pitchFamily="18" charset="0"/>
              </a:rPr>
              <a:t>i</a:t>
            </a:r>
            <a:r>
              <a:rPr lang="en-US" sz="2400" dirty="0">
                <a:effectLst/>
                <a:latin typeface="Times New Roman" panose="02020603050405020304" pitchFamily="18" charset="0"/>
                <a:ea typeface="Times New Roman" panose="02020603050405020304" pitchFamily="18" charset="0"/>
              </a:rPr>
              <a:t>ble </a:t>
            </a:r>
            <a:r>
              <a:rPr lang="en-US" sz="2400" spc="10" dirty="0">
                <a:effectLst/>
                <a:latin typeface="Times New Roman" panose="02020603050405020304" pitchFamily="18" charset="0"/>
                <a:ea typeface="Times New Roman" panose="02020603050405020304" pitchFamily="18" charset="0"/>
              </a:rPr>
              <a:t>d</a:t>
            </a:r>
            <a:r>
              <a:rPr lang="en-US" sz="2400" spc="-5" dirty="0">
                <a:effectLst/>
                <a:latin typeface="Times New Roman" panose="02020603050405020304" pitchFamily="18" charset="0"/>
                <a:ea typeface="Times New Roman" panose="02020603050405020304" pitchFamily="18" charset="0"/>
              </a:rPr>
              <a:t>e</a:t>
            </a:r>
            <a:r>
              <a:rPr lang="en-US" sz="2400" dirty="0">
                <a:effectLst/>
                <a:latin typeface="Times New Roman" panose="02020603050405020304" pitchFamily="18" charset="0"/>
                <a:ea typeface="Times New Roman" panose="02020603050405020304" pitchFamily="18" charset="0"/>
              </a:rPr>
              <a:t>v</a:t>
            </a:r>
            <a:r>
              <a:rPr lang="en-US" sz="2400" spc="-5" dirty="0">
                <a:effectLst/>
                <a:latin typeface="Times New Roman" panose="02020603050405020304" pitchFamily="18" charset="0"/>
                <a:ea typeface="Times New Roman" panose="02020603050405020304" pitchFamily="18" charset="0"/>
              </a:rPr>
              <a:t>e</a:t>
            </a:r>
            <a:r>
              <a:rPr lang="en-US" sz="2400" dirty="0">
                <a:effectLst/>
                <a:latin typeface="Times New Roman" panose="02020603050405020304" pitchFamily="18" charset="0"/>
                <a:ea typeface="Times New Roman" panose="02020603050405020304" pitchFamily="18" charset="0"/>
              </a:rPr>
              <a:t>loped </a:t>
            </a:r>
            <a:r>
              <a:rPr lang="en-US" sz="2400" spc="-5" dirty="0">
                <a:effectLst/>
                <a:latin typeface="Times New Roman" panose="02020603050405020304" pitchFamily="18" charset="0"/>
                <a:ea typeface="Times New Roman" panose="02020603050405020304" pitchFamily="18" charset="0"/>
              </a:rPr>
              <a:t>f</a:t>
            </a:r>
            <a:r>
              <a:rPr lang="en-US" sz="2400" dirty="0">
                <a:effectLst/>
                <a:latin typeface="Times New Roman" panose="02020603050405020304" pitchFamily="18" charset="0"/>
                <a:ea typeface="Times New Roman" panose="02020603050405020304" pitchFamily="18" charset="0"/>
              </a:rPr>
              <a:t>low.</a:t>
            </a:r>
          </a:p>
        </p:txBody>
      </p:sp>
      <p:pic>
        <p:nvPicPr>
          <p:cNvPr id="4" name="Picture 3"/>
          <p:cNvPicPr/>
          <p:nvPr/>
        </p:nvPicPr>
        <p:blipFill>
          <a:blip r:embed="rId3">
            <a:extLst>
              <a:ext uri="{28A0092B-C50C-407E-A947-70E740481C1C}">
                <a14:useLocalDpi xmlns:a14="http://schemas.microsoft.com/office/drawing/2010/main" val="0"/>
              </a:ext>
            </a:extLst>
          </a:blip>
          <a:srcRect/>
          <a:stretch>
            <a:fillRect/>
          </a:stretch>
        </p:blipFill>
        <p:spPr bwMode="auto">
          <a:xfrm>
            <a:off x="2229393" y="2002973"/>
            <a:ext cx="7637417" cy="3596638"/>
          </a:xfrm>
          <a:prstGeom prst="rect">
            <a:avLst/>
          </a:prstGeom>
          <a:noFill/>
          <a:ln>
            <a:noFill/>
          </a:ln>
        </p:spPr>
      </p:pic>
    </p:spTree>
    <p:extLst>
      <p:ext uri="{BB962C8B-B14F-4D97-AF65-F5344CB8AC3E}">
        <p14:creationId xmlns:p14="http://schemas.microsoft.com/office/powerpoint/2010/main" val="10390183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87086"/>
                <a:ext cx="12192000" cy="6598194"/>
              </a:xfrm>
            </p:spPr>
            <p:txBody>
              <a:bodyPr>
                <a:normAutofit fontScale="85000" lnSpcReduction="20000"/>
              </a:bodyPr>
              <a:lstStyle/>
              <a:p>
                <a:pPr marL="0" marR="370205" indent="0" algn="ctr">
                  <a:lnSpc>
                    <a:spcPct val="114000"/>
                  </a:lnSpc>
                  <a:spcBef>
                    <a:spcPts val="145"/>
                  </a:spcBef>
                  <a:spcAft>
                    <a:spcPts val="0"/>
                  </a:spcAft>
                  <a:buNone/>
                </a:pPr>
                <a:r>
                  <a:rPr lang="en-US" dirty="0">
                    <a:effectLst/>
                    <a:latin typeface="Times New Roman" panose="02020603050405020304" pitchFamily="18" charset="0"/>
                    <a:ea typeface="Times New Roman" panose="02020603050405020304" pitchFamily="18" charset="0"/>
                  </a:rPr>
                  <a:t> </a:t>
                </a:r>
                <a:r>
                  <a:rPr lang="en-US" dirty="0">
                    <a:solidFill>
                      <a:prstClr val="black"/>
                    </a:solidFill>
                    <a:latin typeface="Times New Roman" panose="02020603050405020304" pitchFamily="18" charset="0"/>
                    <a:ea typeface="Times New Roman" panose="02020603050405020304" pitchFamily="18" charset="0"/>
                  </a:rPr>
                  <a:t>SOLUTION</a:t>
                </a:r>
                <a:endParaRPr lang="en-US" dirty="0">
                  <a:effectLst/>
                  <a:latin typeface="Times New Roman" panose="02020603050405020304" pitchFamily="18" charset="0"/>
                  <a:ea typeface="Times New Roman" panose="02020603050405020304" pitchFamily="18" charset="0"/>
                </a:endParaRPr>
              </a:p>
              <a:p>
                <a:pPr marL="0" marR="370205" indent="0">
                  <a:lnSpc>
                    <a:spcPct val="114000"/>
                  </a:lnSpc>
                  <a:spcBef>
                    <a:spcPts val="145"/>
                  </a:spcBef>
                  <a:spcAft>
                    <a:spcPts val="0"/>
                  </a:spcAft>
                  <a:buNone/>
                </a:pPr>
                <a:r>
                  <a:rPr lang="en-US" dirty="0">
                    <a:effectLst/>
                    <a:ea typeface="Times New Roman" panose="02020603050405020304" pitchFamily="18" charset="0"/>
                  </a:rPr>
                  <a:t>         </a:t>
                </a:r>
                <a14:m>
                  <m:oMath xmlns:m="http://schemas.openxmlformats.org/officeDocument/2006/math">
                    <m:r>
                      <a:rPr lang="en-US" i="1">
                        <a:effectLst/>
                        <a:latin typeface="Cambria Math" panose="02040503050406030204" pitchFamily="18" charset="0"/>
                        <a:ea typeface="Times New Roman" panose="02020603050405020304" pitchFamily="18" charset="0"/>
                      </a:rPr>
                      <m:t>𝑝</m:t>
                    </m:r>
                    <m:r>
                      <a:rPr lang="en-US" i="1">
                        <a:effectLst/>
                        <a:latin typeface="Cambria Math" panose="02040503050406030204" pitchFamily="18" charset="0"/>
                        <a:ea typeface="Times New Roman" panose="02020603050405020304" pitchFamily="18" charset="0"/>
                      </a:rPr>
                      <m:t>2</m:t>
                    </m:r>
                    <m:r>
                      <a:rPr lang="en-US" i="1">
                        <a:effectLst/>
                        <a:latin typeface="Cambria Math" panose="02040503050406030204" pitchFamily="18" charset="0"/>
                        <a:ea typeface="Times New Roman" panose="02020603050405020304" pitchFamily="18" charset="0"/>
                      </a:rPr>
                      <m:t>𝜋</m:t>
                    </m:r>
                    <m:r>
                      <a:rPr lang="en-US" i="1">
                        <a:effectLst/>
                        <a:latin typeface="Cambria Math" panose="02040503050406030204" pitchFamily="18" charset="0"/>
                        <a:ea typeface="Times New Roman" panose="02020603050405020304" pitchFamily="18" charset="0"/>
                      </a:rPr>
                      <m:t>𝑑𝑟</m:t>
                    </m:r>
                    <m:r>
                      <a:rPr lang="en-US" i="1">
                        <a:effectLst/>
                        <a:latin typeface="Cambria Math" panose="02040503050406030204" pitchFamily="18" charset="0"/>
                        <a:ea typeface="Times New Roman" panose="02020603050405020304" pitchFamily="18" charset="0"/>
                      </a:rPr>
                      <m:t>−</m:t>
                    </m:r>
                    <m:d>
                      <m:dPr>
                        <m:ctrlPr>
                          <a:rPr lang="en-US" i="1">
                            <a:effectLst/>
                            <a:latin typeface="Cambria Math" panose="02040503050406030204" pitchFamily="18" charset="0"/>
                            <a:ea typeface="Times New Roman" panose="02020603050405020304" pitchFamily="18" charset="0"/>
                          </a:rPr>
                        </m:ctrlPr>
                      </m:dPr>
                      <m:e>
                        <m:r>
                          <a:rPr lang="en-US" i="1">
                            <a:effectLst/>
                            <a:latin typeface="Cambria Math" panose="02040503050406030204" pitchFamily="18" charset="0"/>
                            <a:ea typeface="Times New Roman" panose="02020603050405020304" pitchFamily="18" charset="0"/>
                          </a:rPr>
                          <m:t>𝑝</m:t>
                        </m:r>
                        <m:r>
                          <a:rPr lang="en-US" i="1">
                            <a:effectLst/>
                            <a:latin typeface="Cambria Math" panose="02040503050406030204" pitchFamily="18" charset="0"/>
                            <a:ea typeface="Times New Roman" panose="02020603050405020304" pitchFamily="18" charset="0"/>
                          </a:rPr>
                          <m:t>+</m:t>
                        </m:r>
                        <m:r>
                          <a:rPr lang="en-US" i="1">
                            <a:effectLst/>
                            <a:latin typeface="Cambria Math" panose="02040503050406030204" pitchFamily="18" charset="0"/>
                            <a:ea typeface="Times New Roman" panose="02020603050405020304" pitchFamily="18" charset="0"/>
                          </a:rPr>
                          <m:t>𝑑𝑝</m:t>
                        </m:r>
                      </m:e>
                    </m:d>
                    <m:r>
                      <a:rPr lang="en-US" i="1">
                        <a:effectLst/>
                        <a:latin typeface="Cambria Math" panose="02040503050406030204" pitchFamily="18" charset="0"/>
                        <a:ea typeface="Times New Roman" panose="02020603050405020304" pitchFamily="18" charset="0"/>
                      </a:rPr>
                      <m:t>2</m:t>
                    </m:r>
                    <m:r>
                      <a:rPr lang="en-US" i="1">
                        <a:effectLst/>
                        <a:latin typeface="Cambria Math" panose="02040503050406030204" pitchFamily="18" charset="0"/>
                        <a:ea typeface="Times New Roman" panose="02020603050405020304" pitchFamily="18" charset="0"/>
                      </a:rPr>
                      <m:t>𝜋</m:t>
                    </m:r>
                    <m:r>
                      <a:rPr lang="en-US" i="1">
                        <a:effectLst/>
                        <a:latin typeface="Cambria Math" panose="02040503050406030204" pitchFamily="18" charset="0"/>
                        <a:ea typeface="Times New Roman" panose="02020603050405020304" pitchFamily="18" charset="0"/>
                      </a:rPr>
                      <m:t>𝑟𝑑𝑟</m:t>
                    </m:r>
                    <m:r>
                      <a:rPr lang="en-US" i="1">
                        <a:effectLst/>
                        <a:latin typeface="Cambria Math" panose="02040503050406030204" pitchFamily="18" charset="0"/>
                        <a:ea typeface="Times New Roman" panose="02020603050405020304" pitchFamily="18" charset="0"/>
                      </a:rPr>
                      <m:t>+</m:t>
                    </m:r>
                    <m:r>
                      <a:rPr lang="en-US" i="1">
                        <a:effectLst/>
                        <a:latin typeface="Cambria Math" panose="02040503050406030204" pitchFamily="18" charset="0"/>
                        <a:ea typeface="Times New Roman" panose="02020603050405020304" pitchFamily="18" charset="0"/>
                      </a:rPr>
                      <m:t>𝜏</m:t>
                    </m:r>
                    <m:r>
                      <a:rPr lang="en-US" i="1">
                        <a:effectLst/>
                        <a:latin typeface="Cambria Math" panose="02040503050406030204" pitchFamily="18" charset="0"/>
                        <a:ea typeface="Times New Roman" panose="02020603050405020304" pitchFamily="18" charset="0"/>
                      </a:rPr>
                      <m:t>2</m:t>
                    </m:r>
                    <m:r>
                      <a:rPr lang="en-US" i="1">
                        <a:effectLst/>
                        <a:latin typeface="Cambria Math" panose="02040503050406030204" pitchFamily="18" charset="0"/>
                        <a:ea typeface="Times New Roman" panose="02020603050405020304" pitchFamily="18" charset="0"/>
                      </a:rPr>
                      <m:t>𝜋</m:t>
                    </m:r>
                    <m:r>
                      <a:rPr lang="en-US" i="1">
                        <a:effectLst/>
                        <a:latin typeface="Cambria Math" panose="02040503050406030204" pitchFamily="18" charset="0"/>
                        <a:ea typeface="Times New Roman" panose="02020603050405020304" pitchFamily="18" charset="0"/>
                      </a:rPr>
                      <m:t>𝑟𝑑𝑥</m:t>
                    </m:r>
                    <m:r>
                      <a:rPr lang="en-US" i="1">
                        <a:effectLst/>
                        <a:latin typeface="Cambria Math" panose="02040503050406030204" pitchFamily="18" charset="0"/>
                        <a:ea typeface="Times New Roman" panose="02020603050405020304" pitchFamily="18" charset="0"/>
                      </a:rPr>
                      <m:t>−</m:t>
                    </m:r>
                    <m:d>
                      <m:dPr>
                        <m:ctrlPr>
                          <a:rPr lang="en-US" i="1">
                            <a:effectLst/>
                            <a:latin typeface="Cambria Math" panose="02040503050406030204" pitchFamily="18" charset="0"/>
                            <a:ea typeface="Times New Roman" panose="02020603050405020304" pitchFamily="18" charset="0"/>
                          </a:rPr>
                        </m:ctrlPr>
                      </m:dPr>
                      <m:e>
                        <m:r>
                          <a:rPr lang="en-US" i="1">
                            <a:effectLst/>
                            <a:latin typeface="Cambria Math" panose="02040503050406030204" pitchFamily="18" charset="0"/>
                            <a:ea typeface="Times New Roman" panose="02020603050405020304" pitchFamily="18" charset="0"/>
                          </a:rPr>
                          <m:t>𝜏</m:t>
                        </m:r>
                        <m:r>
                          <a:rPr lang="en-US" i="1">
                            <a:effectLst/>
                            <a:latin typeface="Cambria Math" panose="02040503050406030204" pitchFamily="18" charset="0"/>
                            <a:ea typeface="Times New Roman" panose="02020603050405020304" pitchFamily="18" charset="0"/>
                          </a:rPr>
                          <m:t>+</m:t>
                        </m:r>
                        <m:r>
                          <a:rPr lang="en-US" i="1">
                            <a:effectLst/>
                            <a:latin typeface="Cambria Math" panose="02040503050406030204" pitchFamily="18" charset="0"/>
                            <a:ea typeface="Times New Roman" panose="02020603050405020304" pitchFamily="18" charset="0"/>
                          </a:rPr>
                          <m:t>𝑑</m:t>
                        </m:r>
                        <m:r>
                          <a:rPr lang="en-US" i="1">
                            <a:effectLst/>
                            <a:latin typeface="Cambria Math" panose="02040503050406030204" pitchFamily="18" charset="0"/>
                            <a:ea typeface="Times New Roman" panose="02020603050405020304" pitchFamily="18" charset="0"/>
                          </a:rPr>
                          <m:t>𝜏</m:t>
                        </m:r>
                      </m:e>
                    </m:d>
                    <m:r>
                      <a:rPr lang="en-US" i="1">
                        <a:effectLst/>
                        <a:latin typeface="Cambria Math" panose="02040503050406030204" pitchFamily="18" charset="0"/>
                        <a:ea typeface="Times New Roman" panose="02020603050405020304" pitchFamily="18" charset="0"/>
                      </a:rPr>
                      <m:t>2</m:t>
                    </m:r>
                    <m:r>
                      <a:rPr lang="en-US" i="1">
                        <a:effectLst/>
                        <a:latin typeface="Cambria Math" panose="02040503050406030204" pitchFamily="18" charset="0"/>
                        <a:ea typeface="Times New Roman" panose="02020603050405020304" pitchFamily="18" charset="0"/>
                      </a:rPr>
                      <m:t>𝜋</m:t>
                    </m:r>
                    <m:d>
                      <m:dPr>
                        <m:ctrlPr>
                          <a:rPr lang="en-US" i="1">
                            <a:effectLst/>
                            <a:latin typeface="Cambria Math" panose="02040503050406030204" pitchFamily="18" charset="0"/>
                            <a:ea typeface="Times New Roman" panose="02020603050405020304" pitchFamily="18" charset="0"/>
                          </a:rPr>
                        </m:ctrlPr>
                      </m:dPr>
                      <m:e>
                        <m:r>
                          <a:rPr lang="en-US" i="1">
                            <a:effectLst/>
                            <a:latin typeface="Cambria Math" panose="02040503050406030204" pitchFamily="18" charset="0"/>
                            <a:ea typeface="Times New Roman" panose="02020603050405020304" pitchFamily="18" charset="0"/>
                          </a:rPr>
                          <m:t>𝑟</m:t>
                        </m:r>
                        <m:r>
                          <a:rPr lang="en-US" i="1">
                            <a:effectLst/>
                            <a:latin typeface="Cambria Math" panose="02040503050406030204" pitchFamily="18" charset="0"/>
                            <a:ea typeface="Times New Roman" panose="02020603050405020304" pitchFamily="18" charset="0"/>
                          </a:rPr>
                          <m:t>+</m:t>
                        </m:r>
                        <m:r>
                          <a:rPr lang="en-US" i="1">
                            <a:effectLst/>
                            <a:latin typeface="Cambria Math" panose="02040503050406030204" pitchFamily="18" charset="0"/>
                            <a:ea typeface="Times New Roman" panose="02020603050405020304" pitchFamily="18" charset="0"/>
                          </a:rPr>
                          <m:t>𝑑𝑟</m:t>
                        </m:r>
                      </m:e>
                    </m:d>
                    <m:r>
                      <a:rPr lang="en-US" i="1">
                        <a:effectLst/>
                        <a:latin typeface="Cambria Math" panose="02040503050406030204" pitchFamily="18" charset="0"/>
                        <a:ea typeface="Times New Roman" panose="02020603050405020304" pitchFamily="18" charset="0"/>
                      </a:rPr>
                      <m:t>𝑑𝑥</m:t>
                    </m:r>
                    <m:r>
                      <a:rPr lang="en-US" i="1">
                        <a:effectLst/>
                        <a:latin typeface="Cambria Math" panose="02040503050406030204" pitchFamily="18" charset="0"/>
                        <a:ea typeface="Times New Roman" panose="02020603050405020304" pitchFamily="18" charset="0"/>
                      </a:rPr>
                      <m:t>=0</m:t>
                    </m:r>
                  </m:oMath>
                </a14:m>
                <a:endParaRPr lang="en-US" dirty="0">
                  <a:effectLst/>
                  <a:latin typeface="Times New Roman" panose="02020603050405020304" pitchFamily="18" charset="0"/>
                  <a:ea typeface="Times New Roman" panose="02020603050405020304" pitchFamily="18" charset="0"/>
                </a:endParaRPr>
              </a:p>
              <a:p>
                <a:pPr marL="0" marR="370205" indent="0">
                  <a:lnSpc>
                    <a:spcPct val="114000"/>
                  </a:lnSpc>
                  <a:spcBef>
                    <a:spcPts val="145"/>
                  </a:spcBef>
                  <a:spcAft>
                    <a:spcPts val="0"/>
                  </a:spcAft>
                  <a:buNone/>
                </a:pPr>
                <a:r>
                  <a:rPr lang="en-US" dirty="0">
                    <a:effectLst/>
                    <a:latin typeface="Times New Roman" panose="02020603050405020304" pitchFamily="18" charset="0"/>
                    <a:ea typeface="Times New Roman" panose="02020603050405020304" pitchFamily="18" charset="0"/>
                  </a:rPr>
                  <a:t>Simplifying, there results</a:t>
                </a:r>
              </a:p>
              <a:p>
                <a:pPr marL="0" marR="370205" indent="0">
                  <a:lnSpc>
                    <a:spcPct val="114000"/>
                  </a:lnSpc>
                  <a:spcBef>
                    <a:spcPts val="145"/>
                  </a:spcBef>
                  <a:spcAft>
                    <a:spcPts val="600"/>
                  </a:spcAft>
                  <a:buNone/>
                </a:pPr>
                <a:r>
                  <a:rPr lang="en-US" dirty="0">
                    <a:effectLst/>
                    <a:ea typeface="Times New Roman" panose="02020603050405020304" pitchFamily="18" charset="0"/>
                  </a:rPr>
                  <a:t>       </a:t>
                </a:r>
                <a14:m>
                  <m:oMath xmlns:m="http://schemas.openxmlformats.org/officeDocument/2006/math">
                    <m:f>
                      <m:fPr>
                        <m:ctrlPr>
                          <a:rPr lang="en-US" i="1">
                            <a:effectLst/>
                            <a:latin typeface="Cambria Math" panose="02040503050406030204" pitchFamily="18" charset="0"/>
                            <a:ea typeface="Times New Roman" panose="02020603050405020304" pitchFamily="18" charset="0"/>
                          </a:rPr>
                        </m:ctrlPr>
                      </m:fPr>
                      <m:num>
                        <m:r>
                          <a:rPr lang="en-US" i="1">
                            <a:effectLst/>
                            <a:latin typeface="Cambria Math" panose="02040503050406030204" pitchFamily="18" charset="0"/>
                            <a:ea typeface="Times New Roman" panose="02020603050405020304" pitchFamily="18" charset="0"/>
                          </a:rPr>
                          <m:t>𝑑𝑝</m:t>
                        </m:r>
                      </m:num>
                      <m:den>
                        <m:r>
                          <a:rPr lang="en-US" i="1">
                            <a:effectLst/>
                            <a:latin typeface="Cambria Math" panose="02040503050406030204" pitchFamily="18" charset="0"/>
                            <a:ea typeface="Times New Roman" panose="02020603050405020304" pitchFamily="18" charset="0"/>
                          </a:rPr>
                          <m:t>𝑑𝑥</m:t>
                        </m:r>
                      </m:den>
                    </m:f>
                    <m:r>
                      <a:rPr lang="en-US" i="1">
                        <a:effectLst/>
                        <a:latin typeface="Cambria Math" panose="02040503050406030204" pitchFamily="18" charset="0"/>
                        <a:ea typeface="Times New Roman" panose="02020603050405020304" pitchFamily="18" charset="0"/>
                      </a:rPr>
                      <m:t>=−</m:t>
                    </m:r>
                    <m:f>
                      <m:fPr>
                        <m:ctrlPr>
                          <a:rPr lang="en-US" i="1">
                            <a:effectLst/>
                            <a:latin typeface="Cambria Math" panose="02040503050406030204" pitchFamily="18" charset="0"/>
                            <a:ea typeface="Times New Roman" panose="02020603050405020304" pitchFamily="18" charset="0"/>
                          </a:rPr>
                        </m:ctrlPr>
                      </m:fPr>
                      <m:num>
                        <m:r>
                          <a:rPr lang="en-US" i="1">
                            <a:effectLst/>
                            <a:latin typeface="Cambria Math" panose="02040503050406030204" pitchFamily="18" charset="0"/>
                            <a:ea typeface="Times New Roman" panose="02020603050405020304" pitchFamily="18" charset="0"/>
                          </a:rPr>
                          <m:t>𝜏</m:t>
                        </m:r>
                      </m:num>
                      <m:den>
                        <m:r>
                          <a:rPr lang="en-US" i="1">
                            <a:effectLst/>
                            <a:latin typeface="Cambria Math" panose="02040503050406030204" pitchFamily="18" charset="0"/>
                            <a:ea typeface="Times New Roman" panose="02020603050405020304" pitchFamily="18" charset="0"/>
                          </a:rPr>
                          <m:t>𝑟</m:t>
                        </m:r>
                      </m:den>
                    </m:f>
                    <m:r>
                      <a:rPr lang="en-US" i="1">
                        <a:effectLst/>
                        <a:latin typeface="Cambria Math" panose="02040503050406030204" pitchFamily="18" charset="0"/>
                        <a:ea typeface="Times New Roman" panose="02020603050405020304" pitchFamily="18" charset="0"/>
                      </a:rPr>
                      <m:t>−</m:t>
                    </m:r>
                    <m:f>
                      <m:fPr>
                        <m:ctrlPr>
                          <a:rPr lang="en-US" i="1">
                            <a:effectLst/>
                            <a:latin typeface="Cambria Math" panose="02040503050406030204" pitchFamily="18" charset="0"/>
                            <a:ea typeface="Times New Roman" panose="02020603050405020304" pitchFamily="18" charset="0"/>
                          </a:rPr>
                        </m:ctrlPr>
                      </m:fPr>
                      <m:num>
                        <m:r>
                          <a:rPr lang="en-US" i="1">
                            <a:effectLst/>
                            <a:latin typeface="Cambria Math" panose="02040503050406030204" pitchFamily="18" charset="0"/>
                            <a:ea typeface="Times New Roman" panose="02020603050405020304" pitchFamily="18" charset="0"/>
                          </a:rPr>
                          <m:t>𝑑</m:t>
                        </m:r>
                        <m:r>
                          <a:rPr lang="en-US" i="1">
                            <a:effectLst/>
                            <a:latin typeface="Cambria Math" panose="02040503050406030204" pitchFamily="18" charset="0"/>
                            <a:ea typeface="Times New Roman" panose="02020603050405020304" pitchFamily="18" charset="0"/>
                          </a:rPr>
                          <m:t>𝜏</m:t>
                        </m:r>
                      </m:num>
                      <m:den>
                        <m:r>
                          <a:rPr lang="en-US" i="1">
                            <a:effectLst/>
                            <a:latin typeface="Cambria Math" panose="02040503050406030204" pitchFamily="18" charset="0"/>
                            <a:ea typeface="Times New Roman" panose="02020603050405020304" pitchFamily="18" charset="0"/>
                          </a:rPr>
                          <m:t>𝑑𝑟</m:t>
                        </m:r>
                      </m:den>
                    </m:f>
                  </m:oMath>
                </a14:m>
                <a:endParaRPr lang="en-US"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dirty="0">
                    <a:effectLst/>
                    <a:latin typeface="Times New Roman" panose="02020603050405020304" pitchFamily="18" charset="0"/>
                    <a:ea typeface="Times New Roman" panose="02020603050405020304" pitchFamily="18" charset="0"/>
                  </a:rPr>
                  <a:t>       Substituting </a:t>
                </a:r>
                <a14:m>
                  <m:oMath xmlns:m="http://schemas.openxmlformats.org/officeDocument/2006/math">
                    <m:r>
                      <a:rPr lang="en-US" i="1">
                        <a:effectLst/>
                        <a:latin typeface="Cambria Math" panose="02040503050406030204" pitchFamily="18" charset="0"/>
                        <a:ea typeface="Times New Roman" panose="02020603050405020304" pitchFamily="18" charset="0"/>
                      </a:rPr>
                      <m:t> </m:t>
                    </m:r>
                    <m:r>
                      <a:rPr lang="en-US" i="1">
                        <a:effectLst/>
                        <a:latin typeface="Cambria Math" panose="02040503050406030204" pitchFamily="18" charset="0"/>
                        <a:ea typeface="Times New Roman" panose="02020603050405020304" pitchFamily="18" charset="0"/>
                      </a:rPr>
                      <m:t>𝑟</m:t>
                    </m:r>
                    <m:r>
                      <a:rPr lang="en-US" i="1">
                        <a:effectLst/>
                        <a:latin typeface="Cambria Math" panose="02040503050406030204" pitchFamily="18" charset="0"/>
                        <a:ea typeface="Times New Roman" panose="02020603050405020304" pitchFamily="18" charset="0"/>
                      </a:rPr>
                      <m:t>=−</m:t>
                    </m:r>
                    <m:f>
                      <m:fPr>
                        <m:type m:val="lin"/>
                        <m:ctrlPr>
                          <a:rPr lang="en-US" i="1">
                            <a:effectLst/>
                            <a:latin typeface="Cambria Math" panose="02040503050406030204" pitchFamily="18" charset="0"/>
                            <a:ea typeface="Times New Roman" panose="02020603050405020304" pitchFamily="18" charset="0"/>
                          </a:rPr>
                        </m:ctrlPr>
                      </m:fPr>
                      <m:num>
                        <m:r>
                          <a:rPr lang="en-US" i="1">
                            <a:effectLst/>
                            <a:latin typeface="Cambria Math" panose="02040503050406030204" pitchFamily="18" charset="0"/>
                            <a:ea typeface="Times New Roman" panose="02020603050405020304" pitchFamily="18" charset="0"/>
                          </a:rPr>
                          <m:t>𝜇</m:t>
                        </m:r>
                        <m:r>
                          <a:rPr lang="en-US" i="1">
                            <a:effectLst/>
                            <a:latin typeface="Cambria Math" panose="02040503050406030204" pitchFamily="18" charset="0"/>
                            <a:ea typeface="Times New Roman" panose="02020603050405020304" pitchFamily="18" charset="0"/>
                          </a:rPr>
                          <m:t>𝑑𝑢</m:t>
                        </m:r>
                      </m:num>
                      <m:den>
                        <m:r>
                          <a:rPr lang="en-US" i="1">
                            <a:effectLst/>
                            <a:latin typeface="Cambria Math" panose="02040503050406030204" pitchFamily="18" charset="0"/>
                            <a:ea typeface="Times New Roman" panose="02020603050405020304" pitchFamily="18" charset="0"/>
                          </a:rPr>
                          <m:t>𝑑𝑟</m:t>
                        </m:r>
                      </m:den>
                    </m:f>
                  </m:oMath>
                </a14:m>
                <a:r>
                  <a:rPr lang="en-US" dirty="0">
                    <a:effectLst/>
                    <a:latin typeface="Times New Roman" panose="02020603050405020304" pitchFamily="18" charset="0"/>
                    <a:ea typeface="Times New Roman" panose="02020603050405020304" pitchFamily="18" charset="0"/>
                  </a:rPr>
                  <a:t> we have</a:t>
                </a:r>
              </a:p>
              <a:p>
                <a:pPr marL="0" marR="0" indent="0">
                  <a:spcBef>
                    <a:spcPts val="0"/>
                  </a:spcBef>
                  <a:spcAft>
                    <a:spcPts val="0"/>
                  </a:spcAft>
                  <a:buNone/>
                </a:pPr>
                <a14:m>
                  <m:oMathPara xmlns:m="http://schemas.openxmlformats.org/officeDocument/2006/math">
                    <m:oMathParaPr>
                      <m:jc m:val="left"/>
                    </m:oMathParaPr>
                    <m:oMath xmlns:m="http://schemas.openxmlformats.org/officeDocument/2006/math">
                      <m:f>
                        <m:fPr>
                          <m:ctrlPr>
                            <a:rPr lang="en-US" i="1">
                              <a:effectLst/>
                              <a:latin typeface="Cambria Math" panose="02040503050406030204" pitchFamily="18" charset="0"/>
                              <a:ea typeface="Times New Roman" panose="02020603050405020304" pitchFamily="18" charset="0"/>
                            </a:rPr>
                          </m:ctrlPr>
                        </m:fPr>
                        <m:num>
                          <m:r>
                            <a:rPr lang="en-US" i="1">
                              <a:effectLst/>
                              <a:latin typeface="Cambria Math" panose="02040503050406030204" pitchFamily="18" charset="0"/>
                              <a:ea typeface="Times New Roman" panose="02020603050405020304" pitchFamily="18" charset="0"/>
                            </a:rPr>
                            <m:t>𝑑𝑝</m:t>
                          </m:r>
                        </m:num>
                        <m:den>
                          <m:r>
                            <a:rPr lang="en-US" i="1">
                              <a:effectLst/>
                              <a:latin typeface="Cambria Math" panose="02040503050406030204" pitchFamily="18" charset="0"/>
                              <a:ea typeface="Times New Roman" panose="02020603050405020304" pitchFamily="18" charset="0"/>
                            </a:rPr>
                            <m:t>𝑑𝑥</m:t>
                          </m:r>
                        </m:den>
                      </m:f>
                      <m:r>
                        <a:rPr lang="en-US" i="1">
                          <a:effectLst/>
                          <a:latin typeface="Cambria Math" panose="02040503050406030204" pitchFamily="18" charset="0"/>
                          <a:ea typeface="Times New Roman" panose="02020603050405020304" pitchFamily="18" charset="0"/>
                        </a:rPr>
                        <m:t>=</m:t>
                      </m:r>
                      <m:r>
                        <a:rPr lang="en-US" i="1">
                          <a:effectLst/>
                          <a:latin typeface="Cambria Math" panose="02040503050406030204" pitchFamily="18" charset="0"/>
                          <a:ea typeface="Times New Roman" panose="02020603050405020304" pitchFamily="18" charset="0"/>
                        </a:rPr>
                        <m:t>𝜇</m:t>
                      </m:r>
                      <m:r>
                        <a:rPr lang="en-US" i="1">
                          <a:effectLst/>
                          <a:latin typeface="Cambria Math" panose="02040503050406030204" pitchFamily="18" charset="0"/>
                          <a:ea typeface="Times New Roman" panose="02020603050405020304" pitchFamily="18" charset="0"/>
                        </a:rPr>
                        <m:t>(</m:t>
                      </m:r>
                      <m:f>
                        <m:fPr>
                          <m:ctrlPr>
                            <a:rPr lang="en-US" i="1">
                              <a:effectLst/>
                              <a:latin typeface="Cambria Math" panose="02040503050406030204" pitchFamily="18" charset="0"/>
                              <a:ea typeface="Times New Roman" panose="02020603050405020304" pitchFamily="18" charset="0"/>
                            </a:rPr>
                          </m:ctrlPr>
                        </m:fPr>
                        <m:num>
                          <m:r>
                            <a:rPr lang="en-US" i="1">
                              <a:effectLst/>
                              <a:latin typeface="Cambria Math" panose="02040503050406030204" pitchFamily="18" charset="0"/>
                              <a:ea typeface="Times New Roman" panose="02020603050405020304" pitchFamily="18" charset="0"/>
                            </a:rPr>
                            <m:t>1</m:t>
                          </m:r>
                        </m:num>
                        <m:den>
                          <m:r>
                            <a:rPr lang="en-US" i="1">
                              <a:effectLst/>
                              <a:latin typeface="Cambria Math" panose="02040503050406030204" pitchFamily="18" charset="0"/>
                              <a:ea typeface="Times New Roman" panose="02020603050405020304" pitchFamily="18" charset="0"/>
                            </a:rPr>
                            <m:t>𝑟</m:t>
                          </m:r>
                        </m:den>
                      </m:f>
                      <m:f>
                        <m:fPr>
                          <m:ctrlPr>
                            <a:rPr lang="en-US" i="1">
                              <a:effectLst/>
                              <a:latin typeface="Cambria Math" panose="02040503050406030204" pitchFamily="18" charset="0"/>
                              <a:ea typeface="Times New Roman" panose="02020603050405020304" pitchFamily="18" charset="0"/>
                            </a:rPr>
                          </m:ctrlPr>
                        </m:fPr>
                        <m:num>
                          <m:r>
                            <a:rPr lang="en-US" i="1">
                              <a:effectLst/>
                              <a:latin typeface="Cambria Math" panose="02040503050406030204" pitchFamily="18" charset="0"/>
                              <a:ea typeface="Times New Roman" panose="02020603050405020304" pitchFamily="18" charset="0"/>
                            </a:rPr>
                            <m:t>𝑑𝑢</m:t>
                          </m:r>
                        </m:num>
                        <m:den>
                          <m:r>
                            <a:rPr lang="en-US" i="1">
                              <a:effectLst/>
                              <a:latin typeface="Cambria Math" panose="02040503050406030204" pitchFamily="18" charset="0"/>
                              <a:ea typeface="Times New Roman" panose="02020603050405020304" pitchFamily="18" charset="0"/>
                            </a:rPr>
                            <m:t>𝑑𝑟</m:t>
                          </m:r>
                        </m:den>
                      </m:f>
                      <m:r>
                        <a:rPr lang="en-US" i="1">
                          <a:effectLst/>
                          <a:latin typeface="Cambria Math" panose="02040503050406030204" pitchFamily="18" charset="0"/>
                          <a:ea typeface="Times New Roman" panose="02020603050405020304" pitchFamily="18" charset="0"/>
                        </a:rPr>
                        <m:t>+</m:t>
                      </m:r>
                      <m:f>
                        <m:fPr>
                          <m:ctrlPr>
                            <a:rPr lang="en-US" i="1">
                              <a:effectLst/>
                              <a:latin typeface="Cambria Math" panose="02040503050406030204" pitchFamily="18" charset="0"/>
                              <a:ea typeface="Times New Roman" panose="02020603050405020304" pitchFamily="18" charset="0"/>
                            </a:rPr>
                          </m:ctrlPr>
                        </m:fPr>
                        <m:num>
                          <m:sSup>
                            <m:sSupPr>
                              <m:ctrlPr>
                                <a:rPr lang="en-US" i="1">
                                  <a:effectLst/>
                                  <a:latin typeface="Cambria Math" panose="02040503050406030204" pitchFamily="18" charset="0"/>
                                  <a:ea typeface="Times New Roman" panose="02020603050405020304" pitchFamily="18" charset="0"/>
                                </a:rPr>
                              </m:ctrlPr>
                            </m:sSupPr>
                            <m:e>
                              <m:r>
                                <a:rPr lang="en-US" i="1">
                                  <a:effectLst/>
                                  <a:latin typeface="Cambria Math" panose="02040503050406030204" pitchFamily="18" charset="0"/>
                                  <a:ea typeface="Times New Roman" panose="02020603050405020304" pitchFamily="18" charset="0"/>
                                </a:rPr>
                                <m:t>𝑑</m:t>
                              </m:r>
                            </m:e>
                            <m:sup>
                              <m:r>
                                <a:rPr lang="en-US" i="1">
                                  <a:effectLst/>
                                  <a:latin typeface="Cambria Math" panose="02040503050406030204" pitchFamily="18" charset="0"/>
                                  <a:ea typeface="Times New Roman" panose="02020603050405020304" pitchFamily="18" charset="0"/>
                                </a:rPr>
                                <m:t>2</m:t>
                              </m:r>
                            </m:sup>
                          </m:sSup>
                          <m:r>
                            <a:rPr lang="en-US" i="1">
                              <a:effectLst/>
                              <a:latin typeface="Cambria Math" panose="02040503050406030204" pitchFamily="18" charset="0"/>
                              <a:ea typeface="Times New Roman" panose="02020603050405020304" pitchFamily="18" charset="0"/>
                            </a:rPr>
                            <m:t>𝑢</m:t>
                          </m:r>
                        </m:num>
                        <m:den>
                          <m:r>
                            <a:rPr lang="en-US" i="1">
                              <a:effectLst/>
                              <a:latin typeface="Cambria Math" panose="02040503050406030204" pitchFamily="18" charset="0"/>
                              <a:ea typeface="Times New Roman" panose="02020603050405020304" pitchFamily="18" charset="0"/>
                            </a:rPr>
                            <m:t>𝑑</m:t>
                          </m:r>
                          <m:sSup>
                            <m:sSupPr>
                              <m:ctrlPr>
                                <a:rPr lang="en-US" i="1">
                                  <a:effectLst/>
                                  <a:latin typeface="Cambria Math" panose="02040503050406030204" pitchFamily="18" charset="0"/>
                                  <a:ea typeface="Times New Roman" panose="02020603050405020304" pitchFamily="18" charset="0"/>
                                </a:rPr>
                              </m:ctrlPr>
                            </m:sSupPr>
                            <m:e>
                              <m:r>
                                <a:rPr lang="en-US" i="1">
                                  <a:effectLst/>
                                  <a:latin typeface="Cambria Math" panose="02040503050406030204" pitchFamily="18" charset="0"/>
                                  <a:ea typeface="Times New Roman" panose="02020603050405020304" pitchFamily="18" charset="0"/>
                                </a:rPr>
                                <m:t>𝑟</m:t>
                              </m:r>
                            </m:e>
                            <m:sup>
                              <m:r>
                                <a:rPr lang="en-US" i="1">
                                  <a:effectLst/>
                                  <a:latin typeface="Cambria Math" panose="02040503050406030204" pitchFamily="18" charset="0"/>
                                  <a:ea typeface="Times New Roman" panose="02020603050405020304" pitchFamily="18" charset="0"/>
                                </a:rPr>
                                <m:t>2</m:t>
                              </m:r>
                            </m:sup>
                          </m:sSup>
                        </m:den>
                      </m:f>
                      <m:r>
                        <a:rPr lang="en-US" i="1">
                          <a:effectLst/>
                          <a:latin typeface="Cambria Math" panose="02040503050406030204" pitchFamily="18" charset="0"/>
                          <a:ea typeface="Times New Roman" panose="02020603050405020304" pitchFamily="18" charset="0"/>
                        </a:rPr>
                        <m:t>)</m:t>
                      </m:r>
                    </m:oMath>
                  </m:oMathPara>
                </a14:m>
                <a:endParaRPr lang="en-US" dirty="0">
                  <a:effectLst/>
                  <a:latin typeface="Times New Roman" panose="02020603050405020304" pitchFamily="18" charset="0"/>
                  <a:ea typeface="Times New Roman" panose="02020603050405020304" pitchFamily="18" charset="0"/>
                </a:endParaRPr>
              </a:p>
              <a:p>
                <a:pPr marL="0" marR="0" indent="0">
                  <a:lnSpc>
                    <a:spcPct val="107000"/>
                  </a:lnSpc>
                  <a:spcBef>
                    <a:spcPts val="0"/>
                  </a:spcBef>
                  <a:spcAft>
                    <a:spcPts val="800"/>
                  </a:spcAft>
                  <a:buNone/>
                </a:pPr>
                <a14:m>
                  <m:oMathPara xmlns:m="http://schemas.openxmlformats.org/officeDocument/2006/math">
                    <m:oMathParaPr>
                      <m:jc m:val="left"/>
                    </m:oMathParaPr>
                    <m:oMath xmlns:m="http://schemas.openxmlformats.org/officeDocument/2006/math">
                      <m:r>
                        <a:rPr lang="en-US" i="1">
                          <a:effectLst/>
                          <a:latin typeface="Cambria Math" panose="02040503050406030204" pitchFamily="18" charset="0"/>
                          <a:ea typeface="Times New Roman" panose="02020603050405020304" pitchFamily="18" charset="0"/>
                        </a:rPr>
                        <m:t>=</m:t>
                      </m:r>
                      <m:f>
                        <m:fPr>
                          <m:ctrlPr>
                            <a:rPr lang="en-US" i="1">
                              <a:effectLst/>
                              <a:latin typeface="Cambria Math" panose="02040503050406030204" pitchFamily="18" charset="0"/>
                              <a:ea typeface="Times New Roman" panose="02020603050405020304" pitchFamily="18" charset="0"/>
                            </a:rPr>
                          </m:ctrlPr>
                        </m:fPr>
                        <m:num>
                          <m:r>
                            <a:rPr lang="en-US" i="1">
                              <a:effectLst/>
                              <a:latin typeface="Cambria Math" panose="02040503050406030204" pitchFamily="18" charset="0"/>
                              <a:ea typeface="Times New Roman" panose="02020603050405020304" pitchFamily="18" charset="0"/>
                            </a:rPr>
                            <m:t>𝑢</m:t>
                          </m:r>
                        </m:num>
                        <m:den>
                          <m:r>
                            <a:rPr lang="en-US" i="1">
                              <a:effectLst/>
                              <a:latin typeface="Cambria Math" panose="02040503050406030204" pitchFamily="18" charset="0"/>
                              <a:ea typeface="Times New Roman" panose="02020603050405020304" pitchFamily="18" charset="0"/>
                            </a:rPr>
                            <m:t>𝑟</m:t>
                          </m:r>
                        </m:den>
                      </m:f>
                      <m:f>
                        <m:fPr>
                          <m:ctrlPr>
                            <a:rPr lang="en-US" i="1">
                              <a:effectLst/>
                              <a:latin typeface="Cambria Math" panose="02040503050406030204" pitchFamily="18" charset="0"/>
                              <a:ea typeface="Times New Roman" panose="02020603050405020304" pitchFamily="18" charset="0"/>
                            </a:rPr>
                          </m:ctrlPr>
                        </m:fPr>
                        <m:num>
                          <m:r>
                            <a:rPr lang="en-US" i="1">
                              <a:effectLst/>
                              <a:latin typeface="Cambria Math" panose="02040503050406030204" pitchFamily="18" charset="0"/>
                              <a:ea typeface="Times New Roman" panose="02020603050405020304" pitchFamily="18" charset="0"/>
                            </a:rPr>
                            <m:t>𝑑</m:t>
                          </m:r>
                        </m:num>
                        <m:den>
                          <m:r>
                            <a:rPr lang="en-US" i="1">
                              <a:effectLst/>
                              <a:latin typeface="Cambria Math" panose="02040503050406030204" pitchFamily="18" charset="0"/>
                              <a:ea typeface="Times New Roman" panose="02020603050405020304" pitchFamily="18" charset="0"/>
                            </a:rPr>
                            <m:t>𝑑𝑟</m:t>
                          </m:r>
                        </m:den>
                      </m:f>
                      <m:r>
                        <a:rPr lang="en-US" i="1">
                          <a:effectLst/>
                          <a:latin typeface="Cambria Math" panose="02040503050406030204" pitchFamily="18" charset="0"/>
                          <a:ea typeface="Times New Roman" panose="02020603050405020304" pitchFamily="18" charset="0"/>
                        </a:rPr>
                        <m:t>(</m:t>
                      </m:r>
                      <m:r>
                        <a:rPr lang="en-US" i="1">
                          <a:effectLst/>
                          <a:latin typeface="Cambria Math" panose="02040503050406030204" pitchFamily="18" charset="0"/>
                          <a:ea typeface="Times New Roman" panose="02020603050405020304" pitchFamily="18" charset="0"/>
                        </a:rPr>
                        <m:t>𝑟</m:t>
                      </m:r>
                      <m:f>
                        <m:fPr>
                          <m:ctrlPr>
                            <a:rPr lang="en-US" i="1">
                              <a:effectLst/>
                              <a:latin typeface="Cambria Math" panose="02040503050406030204" pitchFamily="18" charset="0"/>
                              <a:ea typeface="Times New Roman" panose="02020603050405020304" pitchFamily="18" charset="0"/>
                            </a:rPr>
                          </m:ctrlPr>
                        </m:fPr>
                        <m:num>
                          <m:r>
                            <a:rPr lang="en-US" i="1">
                              <a:effectLst/>
                              <a:latin typeface="Cambria Math" panose="02040503050406030204" pitchFamily="18" charset="0"/>
                              <a:ea typeface="Times New Roman" panose="02020603050405020304" pitchFamily="18" charset="0"/>
                            </a:rPr>
                            <m:t>𝑑𝑢</m:t>
                          </m:r>
                        </m:num>
                        <m:den>
                          <m:r>
                            <a:rPr lang="en-US" i="1">
                              <a:effectLst/>
                              <a:latin typeface="Cambria Math" panose="02040503050406030204" pitchFamily="18" charset="0"/>
                              <a:ea typeface="Times New Roman" panose="02020603050405020304" pitchFamily="18" charset="0"/>
                            </a:rPr>
                            <m:t>𝑑𝑟</m:t>
                          </m:r>
                        </m:den>
                      </m:f>
                      <m:r>
                        <a:rPr lang="en-US" i="1">
                          <a:effectLst/>
                          <a:latin typeface="Cambria Math" panose="02040503050406030204" pitchFamily="18" charset="0"/>
                          <a:ea typeface="Times New Roman" panose="02020603050405020304" pitchFamily="18" charset="0"/>
                        </a:rPr>
                        <m:t>)</m:t>
                      </m:r>
                    </m:oMath>
                  </m:oMathPara>
                </a14:m>
                <a:endParaRPr lang="en-US" dirty="0">
                  <a:effectLst/>
                  <a:latin typeface="Times New Roman" panose="02020603050405020304" pitchFamily="18" charset="0"/>
                  <a:ea typeface="Times New Roman" panose="02020603050405020304" pitchFamily="18" charset="0"/>
                </a:endParaRPr>
              </a:p>
              <a:p>
                <a:pPr marL="0" marR="370205" indent="0">
                  <a:lnSpc>
                    <a:spcPct val="114000"/>
                  </a:lnSpc>
                  <a:spcBef>
                    <a:spcPts val="145"/>
                  </a:spcBef>
                  <a:spcAft>
                    <a:spcPts val="0"/>
                  </a:spcAft>
                  <a:buNone/>
                </a:pPr>
                <a:r>
                  <a:rPr lang="en-US" dirty="0">
                    <a:latin typeface="Times New Roman" panose="02020603050405020304" pitchFamily="18" charset="0"/>
                    <a:ea typeface="Times New Roman" panose="02020603050405020304" pitchFamily="18" charset="0"/>
                  </a:rPr>
                  <a:t>This is integrated to yield</a:t>
                </a:r>
              </a:p>
              <a:p>
                <a:pPr marL="0" marR="370205" indent="0">
                  <a:lnSpc>
                    <a:spcPct val="114000"/>
                  </a:lnSpc>
                  <a:spcBef>
                    <a:spcPts val="145"/>
                  </a:spcBef>
                  <a:spcAft>
                    <a:spcPts val="0"/>
                  </a:spcAft>
                  <a:buNone/>
                </a:pPr>
                <a:endParaRPr lang="en-US" dirty="0">
                  <a:latin typeface="Times New Roman" panose="02020603050405020304" pitchFamily="18" charset="0"/>
                  <a:ea typeface="Times New Roman" panose="02020603050405020304" pitchFamily="18" charset="0"/>
                </a:endParaRPr>
              </a:p>
              <a:p>
                <a:pPr marL="0" marR="0" indent="0">
                  <a:lnSpc>
                    <a:spcPct val="107000"/>
                  </a:lnSpc>
                  <a:spcBef>
                    <a:spcPts val="0"/>
                  </a:spcBef>
                  <a:spcAft>
                    <a:spcPts val="800"/>
                  </a:spcAft>
                  <a:buNone/>
                </a:pPr>
                <a:r>
                  <a:rPr lang="en-US" dirty="0">
                    <a:ea typeface="Times New Roman" panose="02020603050405020304" pitchFamily="18" charset="0"/>
                  </a:rPr>
                  <a:t>                   </a:t>
                </a:r>
                <a14:m>
                  <m:oMath xmlns:m="http://schemas.openxmlformats.org/officeDocument/2006/math">
                    <m:r>
                      <a:rPr lang="en-US" i="1">
                        <a:latin typeface="Cambria Math" panose="02040503050406030204" pitchFamily="18" charset="0"/>
                        <a:ea typeface="Times New Roman" panose="02020603050405020304" pitchFamily="18" charset="0"/>
                      </a:rPr>
                      <m:t>𝑟</m:t>
                    </m:r>
                    <m:f>
                      <m:fPr>
                        <m:ctrlPr>
                          <a:rPr lang="en-US" i="1">
                            <a:latin typeface="Cambria Math" panose="02040503050406030204" pitchFamily="18" charset="0"/>
                            <a:ea typeface="Times New Roman" panose="02020603050405020304" pitchFamily="18" charset="0"/>
                          </a:rPr>
                        </m:ctrlPr>
                      </m:fPr>
                      <m:num>
                        <m:r>
                          <a:rPr lang="en-US" i="1">
                            <a:latin typeface="Cambria Math" panose="02040503050406030204" pitchFamily="18" charset="0"/>
                            <a:ea typeface="Times New Roman" panose="02020603050405020304" pitchFamily="18" charset="0"/>
                          </a:rPr>
                          <m:t>𝑑𝑢</m:t>
                        </m:r>
                      </m:num>
                      <m:den>
                        <m:r>
                          <a:rPr lang="en-US" i="1">
                            <a:latin typeface="Cambria Math" panose="02040503050406030204" pitchFamily="18" charset="0"/>
                            <a:ea typeface="Times New Roman" panose="02020603050405020304" pitchFamily="18" charset="0"/>
                          </a:rPr>
                          <m:t>𝑑𝑟</m:t>
                        </m:r>
                      </m:den>
                    </m:f>
                    <m:r>
                      <a:rPr lang="en-US" i="1">
                        <a:latin typeface="Cambria Math" panose="02040503050406030204" pitchFamily="18" charset="0"/>
                        <a:ea typeface="Times New Roman" panose="02020603050405020304" pitchFamily="18" charset="0"/>
                      </a:rPr>
                      <m:t>=</m:t>
                    </m:r>
                    <m:f>
                      <m:fPr>
                        <m:ctrlPr>
                          <a:rPr lang="en-US" i="1">
                            <a:latin typeface="Cambria Math" panose="02040503050406030204" pitchFamily="18" charset="0"/>
                            <a:ea typeface="Times New Roman" panose="02020603050405020304" pitchFamily="18" charset="0"/>
                          </a:rPr>
                        </m:ctrlPr>
                      </m:fPr>
                      <m:num>
                        <m:r>
                          <a:rPr lang="en-US" i="1">
                            <a:latin typeface="Cambria Math" panose="02040503050406030204" pitchFamily="18" charset="0"/>
                            <a:ea typeface="Times New Roman" panose="02020603050405020304" pitchFamily="18" charset="0"/>
                          </a:rPr>
                          <m:t>1</m:t>
                        </m:r>
                      </m:num>
                      <m:den>
                        <m:r>
                          <a:rPr lang="en-US" i="1">
                            <a:latin typeface="Cambria Math" panose="02040503050406030204" pitchFamily="18" charset="0"/>
                            <a:ea typeface="Times New Roman" panose="02020603050405020304" pitchFamily="18" charset="0"/>
                          </a:rPr>
                          <m:t>2</m:t>
                        </m:r>
                        <m:r>
                          <a:rPr lang="en-US" i="1">
                            <a:latin typeface="Cambria Math" panose="02040503050406030204" pitchFamily="18" charset="0"/>
                            <a:ea typeface="Times New Roman" panose="02020603050405020304" pitchFamily="18" charset="0"/>
                          </a:rPr>
                          <m:t>𝜇</m:t>
                        </m:r>
                      </m:den>
                    </m:f>
                    <m:f>
                      <m:fPr>
                        <m:ctrlPr>
                          <a:rPr lang="en-US" i="1">
                            <a:latin typeface="Cambria Math" panose="02040503050406030204" pitchFamily="18" charset="0"/>
                            <a:ea typeface="Times New Roman" panose="02020603050405020304" pitchFamily="18" charset="0"/>
                          </a:rPr>
                        </m:ctrlPr>
                      </m:fPr>
                      <m:num>
                        <m:r>
                          <a:rPr lang="en-US" i="1">
                            <a:latin typeface="Cambria Math" panose="02040503050406030204" pitchFamily="18" charset="0"/>
                            <a:ea typeface="Times New Roman" panose="02020603050405020304" pitchFamily="18" charset="0"/>
                          </a:rPr>
                          <m:t>𝑑𝑝</m:t>
                        </m:r>
                      </m:num>
                      <m:den>
                        <m:r>
                          <a:rPr lang="en-US" i="1">
                            <a:latin typeface="Cambria Math" panose="02040503050406030204" pitchFamily="18" charset="0"/>
                            <a:ea typeface="Times New Roman" panose="02020603050405020304" pitchFamily="18" charset="0"/>
                          </a:rPr>
                          <m:t>𝑑𝑥</m:t>
                        </m:r>
                      </m:den>
                    </m:f>
                    <m:sSup>
                      <m:sSupPr>
                        <m:ctrlPr>
                          <a:rPr lang="en-US" i="1">
                            <a:latin typeface="Cambria Math" panose="02040503050406030204" pitchFamily="18" charset="0"/>
                            <a:ea typeface="Times New Roman" panose="02020603050405020304" pitchFamily="18" charset="0"/>
                          </a:rPr>
                        </m:ctrlPr>
                      </m:sSupPr>
                      <m:e>
                        <m:r>
                          <a:rPr lang="en-US" i="1">
                            <a:latin typeface="Cambria Math" panose="02040503050406030204" pitchFamily="18" charset="0"/>
                            <a:ea typeface="Times New Roman" panose="02020603050405020304" pitchFamily="18" charset="0"/>
                          </a:rPr>
                          <m:t>𝑟</m:t>
                        </m:r>
                      </m:e>
                      <m:sup>
                        <m:r>
                          <a:rPr lang="en-US" i="1">
                            <a:latin typeface="Cambria Math" panose="02040503050406030204" pitchFamily="18" charset="0"/>
                            <a:ea typeface="Times New Roman" panose="02020603050405020304" pitchFamily="18" charset="0"/>
                          </a:rPr>
                          <m:t>2</m:t>
                        </m:r>
                      </m:sup>
                    </m:sSup>
                    <m:r>
                      <a:rPr lang="en-US" i="1">
                        <a:latin typeface="Cambria Math" panose="02040503050406030204" pitchFamily="18" charset="0"/>
                        <a:ea typeface="Times New Roman" panose="02020603050405020304" pitchFamily="18" charset="0"/>
                      </a:rPr>
                      <m:t>+</m:t>
                    </m:r>
                    <m:r>
                      <a:rPr lang="en-US" i="1">
                        <a:latin typeface="Cambria Math" panose="02040503050406030204" pitchFamily="18" charset="0"/>
                        <a:ea typeface="Times New Roman" panose="02020603050405020304" pitchFamily="18" charset="0"/>
                      </a:rPr>
                      <m:t>𝐴</m:t>
                    </m:r>
                  </m:oMath>
                </a14:m>
                <a:endParaRPr lang="en-US" dirty="0">
                  <a:latin typeface="Times New Roman" panose="02020603050405020304" pitchFamily="18" charset="0"/>
                  <a:ea typeface="Times New Roman" panose="02020603050405020304" pitchFamily="18" charset="0"/>
                </a:endParaRPr>
              </a:p>
              <a:p>
                <a:pPr marL="0" marR="370205" indent="0">
                  <a:lnSpc>
                    <a:spcPct val="114000"/>
                  </a:lnSpc>
                  <a:spcBef>
                    <a:spcPts val="0"/>
                  </a:spcBef>
                  <a:spcAft>
                    <a:spcPts val="600"/>
                  </a:spcAft>
                  <a:buNone/>
                </a:pPr>
                <a:r>
                  <a:rPr lang="en-US" dirty="0">
                    <a:latin typeface="Times New Roman" panose="02020603050405020304" pitchFamily="18" charset="0"/>
                    <a:ea typeface="Times New Roman" panose="02020603050405020304" pitchFamily="18" charset="0"/>
                  </a:rPr>
                  <a:t>Integration again gives</a:t>
                </a:r>
              </a:p>
              <a:p>
                <a:pPr marL="0" marR="0" indent="0">
                  <a:lnSpc>
                    <a:spcPct val="107000"/>
                  </a:lnSpc>
                  <a:spcBef>
                    <a:spcPts val="0"/>
                  </a:spcBef>
                  <a:spcAft>
                    <a:spcPts val="800"/>
                  </a:spcAft>
                  <a:buNone/>
                </a:pPr>
                <a:r>
                  <a:rPr lang="en-US" dirty="0">
                    <a:ea typeface="Times New Roman" panose="02020603050405020304" pitchFamily="18" charset="0"/>
                  </a:rPr>
                  <a:t>                 </a:t>
                </a:r>
                <a14:m>
                  <m:oMath xmlns:m="http://schemas.openxmlformats.org/officeDocument/2006/math">
                    <m:r>
                      <a:rPr lang="en-US" i="1">
                        <a:latin typeface="Cambria Math" panose="02040503050406030204" pitchFamily="18" charset="0"/>
                        <a:ea typeface="Times New Roman" panose="02020603050405020304" pitchFamily="18" charset="0"/>
                      </a:rPr>
                      <m:t>𝑢</m:t>
                    </m:r>
                    <m:d>
                      <m:dPr>
                        <m:ctrlPr>
                          <a:rPr lang="en-US" i="1">
                            <a:latin typeface="Cambria Math" panose="02040503050406030204" pitchFamily="18" charset="0"/>
                            <a:ea typeface="Times New Roman" panose="02020603050405020304" pitchFamily="18" charset="0"/>
                          </a:rPr>
                        </m:ctrlPr>
                      </m:dPr>
                      <m:e>
                        <m:r>
                          <a:rPr lang="en-US" i="1">
                            <a:latin typeface="Cambria Math" panose="02040503050406030204" pitchFamily="18" charset="0"/>
                            <a:ea typeface="Times New Roman" panose="02020603050405020304" pitchFamily="18" charset="0"/>
                          </a:rPr>
                          <m:t>𝑟</m:t>
                        </m:r>
                      </m:e>
                    </m:d>
                    <m:r>
                      <a:rPr lang="en-US" i="1">
                        <a:latin typeface="Cambria Math" panose="02040503050406030204" pitchFamily="18" charset="0"/>
                        <a:ea typeface="Times New Roman" panose="02020603050405020304" pitchFamily="18" charset="0"/>
                      </a:rPr>
                      <m:t>=</m:t>
                    </m:r>
                    <m:f>
                      <m:fPr>
                        <m:ctrlPr>
                          <a:rPr lang="en-US" i="1">
                            <a:latin typeface="Cambria Math" panose="02040503050406030204" pitchFamily="18" charset="0"/>
                            <a:ea typeface="Times New Roman" panose="02020603050405020304" pitchFamily="18" charset="0"/>
                          </a:rPr>
                        </m:ctrlPr>
                      </m:fPr>
                      <m:num>
                        <m:r>
                          <a:rPr lang="en-US" i="1">
                            <a:latin typeface="Cambria Math" panose="02040503050406030204" pitchFamily="18" charset="0"/>
                            <a:ea typeface="Times New Roman" panose="02020603050405020304" pitchFamily="18" charset="0"/>
                          </a:rPr>
                          <m:t>1</m:t>
                        </m:r>
                      </m:num>
                      <m:den>
                        <m:r>
                          <a:rPr lang="en-US" i="1">
                            <a:latin typeface="Cambria Math" panose="02040503050406030204" pitchFamily="18" charset="0"/>
                            <a:ea typeface="Times New Roman" panose="02020603050405020304" pitchFamily="18" charset="0"/>
                          </a:rPr>
                          <m:t>4</m:t>
                        </m:r>
                        <m:r>
                          <a:rPr lang="en-US" i="1">
                            <a:latin typeface="Cambria Math" panose="02040503050406030204" pitchFamily="18" charset="0"/>
                            <a:ea typeface="Times New Roman" panose="02020603050405020304" pitchFamily="18" charset="0"/>
                          </a:rPr>
                          <m:t>𝜇</m:t>
                        </m:r>
                      </m:den>
                    </m:f>
                    <m:f>
                      <m:fPr>
                        <m:ctrlPr>
                          <a:rPr lang="en-US" i="1">
                            <a:latin typeface="Cambria Math" panose="02040503050406030204" pitchFamily="18" charset="0"/>
                            <a:ea typeface="Times New Roman" panose="02020603050405020304" pitchFamily="18" charset="0"/>
                          </a:rPr>
                        </m:ctrlPr>
                      </m:fPr>
                      <m:num>
                        <m:r>
                          <a:rPr lang="en-US" i="1">
                            <a:latin typeface="Cambria Math" panose="02040503050406030204" pitchFamily="18" charset="0"/>
                            <a:ea typeface="Times New Roman" panose="02020603050405020304" pitchFamily="18" charset="0"/>
                          </a:rPr>
                          <m:t>𝑑𝑝</m:t>
                        </m:r>
                      </m:num>
                      <m:den>
                        <m:r>
                          <a:rPr lang="en-US" i="1">
                            <a:latin typeface="Cambria Math" panose="02040503050406030204" pitchFamily="18" charset="0"/>
                            <a:ea typeface="Times New Roman" panose="02020603050405020304" pitchFamily="18" charset="0"/>
                          </a:rPr>
                          <m:t>𝑑𝑥</m:t>
                        </m:r>
                      </m:den>
                    </m:f>
                    <m:sSup>
                      <m:sSupPr>
                        <m:ctrlPr>
                          <a:rPr lang="en-US" i="1">
                            <a:latin typeface="Cambria Math" panose="02040503050406030204" pitchFamily="18" charset="0"/>
                            <a:ea typeface="Times New Roman" panose="02020603050405020304" pitchFamily="18" charset="0"/>
                          </a:rPr>
                        </m:ctrlPr>
                      </m:sSupPr>
                      <m:e>
                        <m:r>
                          <a:rPr lang="en-US" i="1">
                            <a:latin typeface="Cambria Math" panose="02040503050406030204" pitchFamily="18" charset="0"/>
                            <a:ea typeface="Times New Roman" panose="02020603050405020304" pitchFamily="18" charset="0"/>
                          </a:rPr>
                          <m:t>𝑟</m:t>
                        </m:r>
                      </m:e>
                      <m:sup>
                        <m:r>
                          <a:rPr lang="en-US" i="1">
                            <a:latin typeface="Cambria Math" panose="02040503050406030204" pitchFamily="18" charset="0"/>
                            <a:ea typeface="Times New Roman" panose="02020603050405020304" pitchFamily="18" charset="0"/>
                          </a:rPr>
                          <m:t>2</m:t>
                        </m:r>
                      </m:sup>
                    </m:sSup>
                    <m:r>
                      <a:rPr lang="en-US" i="1">
                        <a:latin typeface="Cambria Math" panose="02040503050406030204" pitchFamily="18" charset="0"/>
                        <a:ea typeface="Times New Roman" panose="02020603050405020304" pitchFamily="18" charset="0"/>
                      </a:rPr>
                      <m:t>+</m:t>
                    </m:r>
                    <m:r>
                      <a:rPr lang="en-US" i="1">
                        <a:latin typeface="Cambria Math" panose="02040503050406030204" pitchFamily="18" charset="0"/>
                        <a:ea typeface="Times New Roman" panose="02020603050405020304" pitchFamily="18" charset="0"/>
                      </a:rPr>
                      <m:t>𝐴𝑙𝑛𝑟</m:t>
                    </m:r>
                    <m:r>
                      <a:rPr lang="en-US" i="1">
                        <a:latin typeface="Cambria Math" panose="02040503050406030204" pitchFamily="18" charset="0"/>
                        <a:ea typeface="Times New Roman" panose="02020603050405020304" pitchFamily="18" charset="0"/>
                      </a:rPr>
                      <m:t>+</m:t>
                    </m:r>
                    <m:r>
                      <a:rPr lang="en-US" i="1">
                        <a:latin typeface="Cambria Math" panose="02040503050406030204" pitchFamily="18" charset="0"/>
                        <a:ea typeface="Times New Roman" panose="02020603050405020304" pitchFamily="18" charset="0"/>
                      </a:rPr>
                      <m:t>𝐵</m:t>
                    </m:r>
                  </m:oMath>
                </a14:m>
                <a:endParaRPr lang="en-US" dirty="0">
                  <a:latin typeface="Times New Roman" panose="02020603050405020304" pitchFamily="18" charset="0"/>
                  <a:ea typeface="Times New Roman" panose="02020603050405020304" pitchFamily="18" charset="0"/>
                </a:endParaRPr>
              </a:p>
              <a:p>
                <a:pPr marL="0" marR="370205" indent="0">
                  <a:lnSpc>
                    <a:spcPct val="114000"/>
                  </a:lnSpc>
                  <a:spcBef>
                    <a:spcPts val="145"/>
                  </a:spcBef>
                  <a:spcAft>
                    <a:spcPts val="0"/>
                  </a:spcAft>
                  <a:buNone/>
                </a:pPr>
                <a:r>
                  <a:rPr lang="en-US" dirty="0">
                    <a:latin typeface="Times New Roman" panose="02020603050405020304" pitchFamily="18" charset="0"/>
                    <a:ea typeface="Times New Roman" panose="02020603050405020304" pitchFamily="18" charset="0"/>
                  </a:rPr>
                  <a:t>Where A and B are arbitrary constants. </a:t>
                </a:r>
              </a:p>
              <a:p>
                <a:pPr marL="0" marR="370205" indent="0">
                  <a:lnSpc>
                    <a:spcPct val="114000"/>
                  </a:lnSpc>
                  <a:spcBef>
                    <a:spcPts val="145"/>
                  </a:spcBef>
                  <a:spcAft>
                    <a:spcPts val="0"/>
                  </a:spcAft>
                  <a:buNone/>
                </a:pPr>
                <a:r>
                  <a:rPr lang="en-US" dirty="0">
                    <a:latin typeface="Times New Roman" panose="02020603050405020304" pitchFamily="18" charset="0"/>
                    <a:ea typeface="Times New Roman" panose="02020603050405020304" pitchFamily="18" charset="0"/>
                  </a:rPr>
                  <a:t>They are found by setting </a:t>
                </a:r>
                <a14:m>
                  <m:oMath xmlns:m="http://schemas.openxmlformats.org/officeDocument/2006/math">
                    <m:r>
                      <a:rPr lang="en-US" i="1">
                        <a:latin typeface="Cambria Math" panose="02040503050406030204" pitchFamily="18" charset="0"/>
                        <a:ea typeface="Times New Roman" panose="02020603050405020304" pitchFamily="18" charset="0"/>
                      </a:rPr>
                      <m:t>𝑢</m:t>
                    </m:r>
                    <m:r>
                      <a:rPr lang="en-US" i="1">
                        <a:latin typeface="Cambria Math" panose="02040503050406030204" pitchFamily="18" charset="0"/>
                        <a:ea typeface="Times New Roman" panose="02020603050405020304" pitchFamily="18" charset="0"/>
                      </a:rPr>
                      <m:t>=0</m:t>
                    </m:r>
                  </m:oMath>
                </a14:m>
                <a:r>
                  <a:rPr lang="en-US" dirty="0">
                    <a:latin typeface="Times New Roman" panose="02020603050405020304" pitchFamily="18" charset="0"/>
                    <a:ea typeface="Times New Roman" panose="02020603050405020304" pitchFamily="18" charset="0"/>
                  </a:rPr>
                  <a:t> at </a:t>
                </a:r>
                <a14:m>
                  <m:oMath xmlns:m="http://schemas.openxmlformats.org/officeDocument/2006/math">
                    <m:r>
                      <a:rPr lang="en-US" i="1">
                        <a:latin typeface="Cambria Math" panose="02040503050406030204" pitchFamily="18" charset="0"/>
                        <a:ea typeface="Times New Roman" panose="02020603050405020304" pitchFamily="18" charset="0"/>
                      </a:rPr>
                      <m:t>𝑟</m:t>
                    </m:r>
                    <m:r>
                      <a:rPr lang="en-US" i="1">
                        <a:latin typeface="Cambria Math" panose="02040503050406030204" pitchFamily="18" charset="0"/>
                        <a:ea typeface="Times New Roman" panose="02020603050405020304" pitchFamily="18" charset="0"/>
                      </a:rPr>
                      <m:t>=</m:t>
                    </m:r>
                    <m:sSub>
                      <m:sSubPr>
                        <m:ctrlPr>
                          <a:rPr lang="en-US" i="1">
                            <a:latin typeface="Cambria Math" panose="02040503050406030204" pitchFamily="18" charset="0"/>
                            <a:ea typeface="Times New Roman" panose="02020603050405020304" pitchFamily="18" charset="0"/>
                          </a:rPr>
                        </m:ctrlPr>
                      </m:sSubPr>
                      <m:e>
                        <m:r>
                          <a:rPr lang="en-US" i="1">
                            <a:latin typeface="Cambria Math" panose="02040503050406030204" pitchFamily="18" charset="0"/>
                            <a:ea typeface="Times New Roman" panose="02020603050405020304" pitchFamily="18" charset="0"/>
                          </a:rPr>
                          <m:t>𝑟</m:t>
                        </m:r>
                      </m:e>
                      <m:sub>
                        <m:r>
                          <a:rPr lang="en-US" i="1">
                            <a:latin typeface="Cambria Math" panose="02040503050406030204" pitchFamily="18" charset="0"/>
                            <a:ea typeface="Times New Roman" panose="02020603050405020304" pitchFamily="18" charset="0"/>
                          </a:rPr>
                          <m:t>1</m:t>
                        </m:r>
                      </m:sub>
                    </m:sSub>
                  </m:oMath>
                </a14:m>
                <a:r>
                  <a:rPr lang="en-US" dirty="0">
                    <a:latin typeface="Times New Roman" panose="02020603050405020304" pitchFamily="18" charset="0"/>
                    <a:ea typeface="Times New Roman" panose="02020603050405020304" pitchFamily="18" charset="0"/>
                  </a:rPr>
                  <a:t> and at </a:t>
                </a:r>
                <a14:m>
                  <m:oMath xmlns:m="http://schemas.openxmlformats.org/officeDocument/2006/math">
                    <m:r>
                      <a:rPr lang="en-US" i="1">
                        <a:latin typeface="Cambria Math" panose="02040503050406030204" pitchFamily="18" charset="0"/>
                        <a:ea typeface="Times New Roman" panose="02020603050405020304" pitchFamily="18" charset="0"/>
                      </a:rPr>
                      <m:t>𝑟</m:t>
                    </m:r>
                    <m:r>
                      <a:rPr lang="en-US" i="1">
                        <a:latin typeface="Cambria Math" panose="02040503050406030204" pitchFamily="18" charset="0"/>
                        <a:ea typeface="Times New Roman" panose="02020603050405020304" pitchFamily="18" charset="0"/>
                      </a:rPr>
                      <m:t>=</m:t>
                    </m:r>
                    <m:sSub>
                      <m:sSubPr>
                        <m:ctrlPr>
                          <a:rPr lang="en-US" i="1">
                            <a:latin typeface="Cambria Math" panose="02040503050406030204" pitchFamily="18" charset="0"/>
                            <a:ea typeface="Times New Roman" panose="02020603050405020304" pitchFamily="18" charset="0"/>
                          </a:rPr>
                        </m:ctrlPr>
                      </m:sSubPr>
                      <m:e>
                        <m:r>
                          <a:rPr lang="en-US" i="1">
                            <a:latin typeface="Cambria Math" panose="02040503050406030204" pitchFamily="18" charset="0"/>
                            <a:ea typeface="Times New Roman" panose="02020603050405020304" pitchFamily="18" charset="0"/>
                          </a:rPr>
                          <m:t>𝑟</m:t>
                        </m:r>
                      </m:e>
                      <m:sub>
                        <m:r>
                          <a:rPr lang="en-US" i="1">
                            <a:latin typeface="Cambria Math" panose="02040503050406030204" pitchFamily="18" charset="0"/>
                            <a:ea typeface="Times New Roman" panose="02020603050405020304" pitchFamily="18" charset="0"/>
                          </a:rPr>
                          <m:t>2</m:t>
                        </m:r>
                      </m:sub>
                    </m:sSub>
                  </m:oMath>
                </a14:m>
                <a:r>
                  <a:rPr lang="en-US" dirty="0">
                    <a:latin typeface="Times New Roman" panose="02020603050405020304" pitchFamily="18" charset="0"/>
                    <a:ea typeface="Times New Roman" panose="02020603050405020304" pitchFamily="18" charset="0"/>
                  </a:rPr>
                  <a:t>;</a:t>
                </a:r>
              </a:p>
              <a:p>
                <a:pPr marL="0" marR="0">
                  <a:lnSpc>
                    <a:spcPct val="107000"/>
                  </a:lnSpc>
                  <a:spcBef>
                    <a:spcPts val="0"/>
                  </a:spcBef>
                  <a:spcAft>
                    <a:spcPts val="800"/>
                  </a:spcAft>
                </a:pPr>
                <a:endParaRPr lang="en-US" sz="1800" dirty="0">
                  <a:effectLst/>
                  <a:latin typeface="Times New Roman" panose="02020603050405020304" pitchFamily="18" charset="0"/>
                  <a:ea typeface="Times New Roman" panose="02020603050405020304" pitchFamily="18" charset="0"/>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87086"/>
                <a:ext cx="12192000" cy="6598194"/>
              </a:xfrm>
              <a:blipFill>
                <a:blip r:embed="rId3"/>
                <a:stretch>
                  <a:fillRect l="-750" t="-1016" b="-1108"/>
                </a:stretch>
              </a:blipFill>
            </p:spPr>
            <p:txBody>
              <a:bodyPr/>
              <a:lstStyle/>
              <a:p>
                <a:r>
                  <a:rPr lang="en-GH">
                    <a:noFill/>
                  </a:rPr>
                  <a:t> </a:t>
                </a:r>
              </a:p>
            </p:txBody>
          </p:sp>
        </mc:Fallback>
      </mc:AlternateContent>
    </p:spTree>
    <p:extLst>
      <p:ext uri="{BB962C8B-B14F-4D97-AF65-F5344CB8AC3E}">
        <p14:creationId xmlns:p14="http://schemas.microsoft.com/office/powerpoint/2010/main" val="29132793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104503"/>
                <a:ext cx="12192000" cy="6601097"/>
              </a:xfrm>
            </p:spPr>
            <p:txBody>
              <a:bodyPr>
                <a:normAutofit fontScale="62500" lnSpcReduction="20000"/>
              </a:bodyPr>
              <a:lstStyle/>
              <a:p>
                <a:pPr marL="0" marR="370205" indent="0">
                  <a:lnSpc>
                    <a:spcPct val="114000"/>
                  </a:lnSpc>
                  <a:spcBef>
                    <a:spcPts val="145"/>
                  </a:spcBef>
                  <a:spcAft>
                    <a:spcPts val="0"/>
                  </a:spcAft>
                  <a:buNone/>
                </a:pPr>
                <a:r>
                  <a:rPr lang="en-US" sz="3100" dirty="0">
                    <a:effectLst/>
                    <a:latin typeface="Times New Roman" panose="02020603050405020304" pitchFamily="18" charset="0"/>
                    <a:ea typeface="Times New Roman" panose="02020603050405020304" pitchFamily="18" charset="0"/>
                  </a:rPr>
                  <a:t>That is,</a:t>
                </a:r>
                <a:r>
                  <a:rPr lang="en-US" sz="3100" dirty="0">
                    <a:latin typeface="Times New Roman" panose="02020603050405020304" pitchFamily="18" charset="0"/>
                    <a:ea typeface="Times New Roman" panose="02020603050405020304" pitchFamily="18" charset="0"/>
                  </a:rPr>
                  <a:t>       </a:t>
                </a:r>
                <a14:m>
                  <m:oMath xmlns:m="http://schemas.openxmlformats.org/officeDocument/2006/math">
                    <m:r>
                      <a:rPr lang="en-US" sz="3100" i="1">
                        <a:effectLst/>
                        <a:latin typeface="Cambria Math" panose="02040503050406030204" pitchFamily="18" charset="0"/>
                        <a:ea typeface="Times New Roman" panose="02020603050405020304" pitchFamily="18" charset="0"/>
                      </a:rPr>
                      <m:t>0=</m:t>
                    </m:r>
                    <m:f>
                      <m:fPr>
                        <m:ctrlPr>
                          <a:rPr lang="en-US" sz="3100" i="1">
                            <a:effectLst/>
                            <a:latin typeface="Cambria Math" panose="02040503050406030204" pitchFamily="18" charset="0"/>
                            <a:ea typeface="Times New Roman" panose="02020603050405020304" pitchFamily="18" charset="0"/>
                          </a:rPr>
                        </m:ctrlPr>
                      </m:fPr>
                      <m:num>
                        <m:r>
                          <a:rPr lang="en-US" sz="3100" i="1">
                            <a:effectLst/>
                            <a:latin typeface="Cambria Math" panose="02040503050406030204" pitchFamily="18" charset="0"/>
                            <a:ea typeface="Times New Roman" panose="02020603050405020304" pitchFamily="18" charset="0"/>
                          </a:rPr>
                          <m:t>1</m:t>
                        </m:r>
                      </m:num>
                      <m:den>
                        <m:r>
                          <a:rPr lang="en-US" sz="3100" i="1">
                            <a:effectLst/>
                            <a:latin typeface="Cambria Math" panose="02040503050406030204" pitchFamily="18" charset="0"/>
                            <a:ea typeface="Times New Roman" panose="02020603050405020304" pitchFamily="18" charset="0"/>
                          </a:rPr>
                          <m:t>4</m:t>
                        </m:r>
                        <m:r>
                          <a:rPr lang="en-US" sz="3100" i="1">
                            <a:effectLst/>
                            <a:latin typeface="Cambria Math" panose="02040503050406030204" pitchFamily="18" charset="0"/>
                            <a:ea typeface="Times New Roman" panose="02020603050405020304" pitchFamily="18" charset="0"/>
                          </a:rPr>
                          <m:t>𝜇</m:t>
                        </m:r>
                      </m:den>
                    </m:f>
                    <m:f>
                      <m:fPr>
                        <m:ctrlPr>
                          <a:rPr lang="en-US" sz="3100" i="1">
                            <a:effectLst/>
                            <a:latin typeface="Cambria Math" panose="02040503050406030204" pitchFamily="18" charset="0"/>
                            <a:ea typeface="Times New Roman" panose="02020603050405020304" pitchFamily="18" charset="0"/>
                          </a:rPr>
                        </m:ctrlPr>
                      </m:fPr>
                      <m:num>
                        <m:r>
                          <a:rPr lang="en-US" sz="3100" i="1">
                            <a:effectLst/>
                            <a:latin typeface="Cambria Math" panose="02040503050406030204" pitchFamily="18" charset="0"/>
                            <a:ea typeface="Times New Roman" panose="02020603050405020304" pitchFamily="18" charset="0"/>
                          </a:rPr>
                          <m:t>𝑑𝑝</m:t>
                        </m:r>
                      </m:num>
                      <m:den>
                        <m:r>
                          <a:rPr lang="en-US" sz="3100" i="1">
                            <a:effectLst/>
                            <a:latin typeface="Cambria Math" panose="02040503050406030204" pitchFamily="18" charset="0"/>
                            <a:ea typeface="Times New Roman" panose="02020603050405020304" pitchFamily="18" charset="0"/>
                          </a:rPr>
                          <m:t>𝑑𝑥</m:t>
                        </m:r>
                      </m:den>
                    </m:f>
                    <m:sSup>
                      <m:sSupPr>
                        <m:ctrlPr>
                          <a:rPr lang="en-US" sz="3100" i="1">
                            <a:effectLst/>
                            <a:latin typeface="Cambria Math" panose="02040503050406030204" pitchFamily="18" charset="0"/>
                            <a:ea typeface="Times New Roman" panose="02020603050405020304" pitchFamily="18" charset="0"/>
                          </a:rPr>
                        </m:ctrlPr>
                      </m:sSupPr>
                      <m:e>
                        <m:sSub>
                          <m:sSubPr>
                            <m:ctrlPr>
                              <a:rPr lang="en-US" sz="3100" i="1">
                                <a:effectLst/>
                                <a:latin typeface="Cambria Math" panose="02040503050406030204" pitchFamily="18" charset="0"/>
                                <a:ea typeface="Times New Roman" panose="02020603050405020304" pitchFamily="18" charset="0"/>
                              </a:rPr>
                            </m:ctrlPr>
                          </m:sSubPr>
                          <m:e>
                            <m:r>
                              <a:rPr lang="en-US" sz="3100" i="1">
                                <a:effectLst/>
                                <a:latin typeface="Cambria Math" panose="02040503050406030204" pitchFamily="18" charset="0"/>
                                <a:ea typeface="Times New Roman" panose="02020603050405020304" pitchFamily="18" charset="0"/>
                              </a:rPr>
                              <m:t>𝑟</m:t>
                            </m:r>
                          </m:e>
                          <m:sub>
                            <m:r>
                              <a:rPr lang="en-US" sz="3100" i="1">
                                <a:effectLst/>
                                <a:latin typeface="Cambria Math" panose="02040503050406030204" pitchFamily="18" charset="0"/>
                                <a:ea typeface="Times New Roman" panose="02020603050405020304" pitchFamily="18" charset="0"/>
                              </a:rPr>
                              <m:t>1</m:t>
                            </m:r>
                          </m:sub>
                        </m:sSub>
                      </m:e>
                      <m:sup>
                        <m:r>
                          <a:rPr lang="en-US" sz="3100" i="1">
                            <a:effectLst/>
                            <a:latin typeface="Cambria Math" panose="02040503050406030204" pitchFamily="18" charset="0"/>
                            <a:ea typeface="Times New Roman" panose="02020603050405020304" pitchFamily="18" charset="0"/>
                          </a:rPr>
                          <m:t>2</m:t>
                        </m:r>
                      </m:sup>
                    </m:sSup>
                    <m:r>
                      <a:rPr lang="en-US" sz="3100" i="1">
                        <a:effectLst/>
                        <a:latin typeface="Cambria Math" panose="02040503050406030204" pitchFamily="18" charset="0"/>
                        <a:ea typeface="Times New Roman" panose="02020603050405020304" pitchFamily="18" charset="0"/>
                      </a:rPr>
                      <m:t>+</m:t>
                    </m:r>
                    <m:r>
                      <a:rPr lang="en-US" sz="3100" i="1">
                        <a:effectLst/>
                        <a:latin typeface="Cambria Math" panose="02040503050406030204" pitchFamily="18" charset="0"/>
                        <a:ea typeface="Times New Roman" panose="02020603050405020304" pitchFamily="18" charset="0"/>
                      </a:rPr>
                      <m:t>𝐴𝑙𝑛</m:t>
                    </m:r>
                    <m:sSub>
                      <m:sSubPr>
                        <m:ctrlPr>
                          <a:rPr lang="en-US" sz="3100" i="1">
                            <a:effectLst/>
                            <a:latin typeface="Cambria Math" panose="02040503050406030204" pitchFamily="18" charset="0"/>
                            <a:ea typeface="Times New Roman" panose="02020603050405020304" pitchFamily="18" charset="0"/>
                          </a:rPr>
                        </m:ctrlPr>
                      </m:sSubPr>
                      <m:e>
                        <m:r>
                          <a:rPr lang="en-US" sz="3100" i="1">
                            <a:effectLst/>
                            <a:latin typeface="Cambria Math" panose="02040503050406030204" pitchFamily="18" charset="0"/>
                            <a:ea typeface="Times New Roman" panose="02020603050405020304" pitchFamily="18" charset="0"/>
                          </a:rPr>
                          <m:t>𝑟</m:t>
                        </m:r>
                      </m:e>
                      <m:sub>
                        <m:r>
                          <a:rPr lang="en-US" sz="3100" i="1">
                            <a:effectLst/>
                            <a:latin typeface="Cambria Math" panose="02040503050406030204" pitchFamily="18" charset="0"/>
                            <a:ea typeface="Times New Roman" panose="02020603050405020304" pitchFamily="18" charset="0"/>
                          </a:rPr>
                          <m:t>1</m:t>
                        </m:r>
                      </m:sub>
                    </m:sSub>
                    <m:r>
                      <a:rPr lang="en-US" sz="3100" i="1">
                        <a:effectLst/>
                        <a:latin typeface="Cambria Math" panose="02040503050406030204" pitchFamily="18" charset="0"/>
                        <a:ea typeface="Times New Roman" panose="02020603050405020304" pitchFamily="18" charset="0"/>
                      </a:rPr>
                      <m:t>+</m:t>
                    </m:r>
                    <m:r>
                      <a:rPr lang="en-US" sz="3100" i="1">
                        <a:effectLst/>
                        <a:latin typeface="Cambria Math" panose="02040503050406030204" pitchFamily="18" charset="0"/>
                        <a:ea typeface="Times New Roman" panose="02020603050405020304" pitchFamily="18" charset="0"/>
                      </a:rPr>
                      <m:t>𝐵</m:t>
                    </m:r>
                  </m:oMath>
                </a14:m>
                <a:endParaRPr lang="en-US" sz="31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3100" dirty="0">
                    <a:effectLst/>
                    <a:latin typeface="Times New Roman" panose="02020603050405020304" pitchFamily="18" charset="0"/>
                    <a:ea typeface="Times New Roman" panose="02020603050405020304" pitchFamily="18" charset="0"/>
                  </a:rPr>
                  <a:t> </a:t>
                </a:r>
              </a:p>
              <a:p>
                <a:pPr marL="0" marR="0" indent="0">
                  <a:spcBef>
                    <a:spcPts val="0"/>
                  </a:spcBef>
                  <a:spcAft>
                    <a:spcPts val="0"/>
                  </a:spcAft>
                  <a:buNone/>
                </a:pPr>
                <a:r>
                  <a:rPr lang="en-US" sz="3100" dirty="0">
                    <a:effectLst/>
                    <a:ea typeface="Times New Roman" panose="02020603050405020304" pitchFamily="18" charset="0"/>
                  </a:rPr>
                  <a:t>         </a:t>
                </a:r>
                <a14:m>
                  <m:oMath xmlns:m="http://schemas.openxmlformats.org/officeDocument/2006/math">
                    <m:r>
                      <a:rPr lang="en-US" sz="3100" i="1">
                        <a:effectLst/>
                        <a:latin typeface="Cambria Math" panose="02040503050406030204" pitchFamily="18" charset="0"/>
                        <a:ea typeface="Times New Roman" panose="02020603050405020304" pitchFamily="18" charset="0"/>
                      </a:rPr>
                      <m:t>0=</m:t>
                    </m:r>
                    <m:f>
                      <m:fPr>
                        <m:ctrlPr>
                          <a:rPr lang="en-US" sz="3100" i="1">
                            <a:effectLst/>
                            <a:latin typeface="Cambria Math" panose="02040503050406030204" pitchFamily="18" charset="0"/>
                            <a:ea typeface="Times New Roman" panose="02020603050405020304" pitchFamily="18" charset="0"/>
                          </a:rPr>
                        </m:ctrlPr>
                      </m:fPr>
                      <m:num>
                        <m:r>
                          <a:rPr lang="en-US" sz="3100" i="1">
                            <a:effectLst/>
                            <a:latin typeface="Cambria Math" panose="02040503050406030204" pitchFamily="18" charset="0"/>
                            <a:ea typeface="Times New Roman" panose="02020603050405020304" pitchFamily="18" charset="0"/>
                          </a:rPr>
                          <m:t>1</m:t>
                        </m:r>
                      </m:num>
                      <m:den>
                        <m:r>
                          <a:rPr lang="en-US" sz="3100" i="1">
                            <a:effectLst/>
                            <a:latin typeface="Cambria Math" panose="02040503050406030204" pitchFamily="18" charset="0"/>
                            <a:ea typeface="Times New Roman" panose="02020603050405020304" pitchFamily="18" charset="0"/>
                          </a:rPr>
                          <m:t>4</m:t>
                        </m:r>
                        <m:r>
                          <a:rPr lang="en-US" sz="3100" i="1">
                            <a:effectLst/>
                            <a:latin typeface="Cambria Math" panose="02040503050406030204" pitchFamily="18" charset="0"/>
                            <a:ea typeface="Times New Roman" panose="02020603050405020304" pitchFamily="18" charset="0"/>
                          </a:rPr>
                          <m:t>𝜇</m:t>
                        </m:r>
                      </m:den>
                    </m:f>
                    <m:f>
                      <m:fPr>
                        <m:ctrlPr>
                          <a:rPr lang="en-US" sz="3100" i="1">
                            <a:effectLst/>
                            <a:latin typeface="Cambria Math" panose="02040503050406030204" pitchFamily="18" charset="0"/>
                            <a:ea typeface="Times New Roman" panose="02020603050405020304" pitchFamily="18" charset="0"/>
                          </a:rPr>
                        </m:ctrlPr>
                      </m:fPr>
                      <m:num>
                        <m:r>
                          <a:rPr lang="en-US" sz="3100" i="1">
                            <a:effectLst/>
                            <a:latin typeface="Cambria Math" panose="02040503050406030204" pitchFamily="18" charset="0"/>
                            <a:ea typeface="Times New Roman" panose="02020603050405020304" pitchFamily="18" charset="0"/>
                          </a:rPr>
                          <m:t>𝑑𝑝</m:t>
                        </m:r>
                      </m:num>
                      <m:den>
                        <m:r>
                          <a:rPr lang="en-US" sz="3100" i="1">
                            <a:effectLst/>
                            <a:latin typeface="Cambria Math" panose="02040503050406030204" pitchFamily="18" charset="0"/>
                            <a:ea typeface="Times New Roman" panose="02020603050405020304" pitchFamily="18" charset="0"/>
                          </a:rPr>
                          <m:t>𝑑𝑥</m:t>
                        </m:r>
                      </m:den>
                    </m:f>
                    <m:sSup>
                      <m:sSupPr>
                        <m:ctrlPr>
                          <a:rPr lang="en-US" sz="3100" i="1">
                            <a:effectLst/>
                            <a:latin typeface="Cambria Math" panose="02040503050406030204" pitchFamily="18" charset="0"/>
                            <a:ea typeface="Times New Roman" panose="02020603050405020304" pitchFamily="18" charset="0"/>
                          </a:rPr>
                        </m:ctrlPr>
                      </m:sSupPr>
                      <m:e>
                        <m:sSub>
                          <m:sSubPr>
                            <m:ctrlPr>
                              <a:rPr lang="en-US" sz="3100" i="1">
                                <a:effectLst/>
                                <a:latin typeface="Cambria Math" panose="02040503050406030204" pitchFamily="18" charset="0"/>
                                <a:ea typeface="Times New Roman" panose="02020603050405020304" pitchFamily="18" charset="0"/>
                              </a:rPr>
                            </m:ctrlPr>
                          </m:sSubPr>
                          <m:e>
                            <m:r>
                              <a:rPr lang="en-US" sz="3100" i="1">
                                <a:effectLst/>
                                <a:latin typeface="Cambria Math" panose="02040503050406030204" pitchFamily="18" charset="0"/>
                                <a:ea typeface="Times New Roman" panose="02020603050405020304" pitchFamily="18" charset="0"/>
                              </a:rPr>
                              <m:t>𝑟</m:t>
                            </m:r>
                          </m:e>
                          <m:sub>
                            <m:r>
                              <a:rPr lang="en-US" sz="3100" i="1">
                                <a:effectLst/>
                                <a:latin typeface="Cambria Math" panose="02040503050406030204" pitchFamily="18" charset="0"/>
                                <a:ea typeface="Times New Roman" panose="02020603050405020304" pitchFamily="18" charset="0"/>
                              </a:rPr>
                              <m:t>2</m:t>
                            </m:r>
                          </m:sub>
                        </m:sSub>
                      </m:e>
                      <m:sup>
                        <m:r>
                          <a:rPr lang="en-US" sz="3100" i="1">
                            <a:effectLst/>
                            <a:latin typeface="Cambria Math" panose="02040503050406030204" pitchFamily="18" charset="0"/>
                            <a:ea typeface="Times New Roman" panose="02020603050405020304" pitchFamily="18" charset="0"/>
                          </a:rPr>
                          <m:t>2</m:t>
                        </m:r>
                      </m:sup>
                    </m:sSup>
                    <m:r>
                      <a:rPr lang="en-US" sz="3100" i="1">
                        <a:effectLst/>
                        <a:latin typeface="Cambria Math" panose="02040503050406030204" pitchFamily="18" charset="0"/>
                        <a:ea typeface="Times New Roman" panose="02020603050405020304" pitchFamily="18" charset="0"/>
                      </a:rPr>
                      <m:t>+</m:t>
                    </m:r>
                    <m:r>
                      <a:rPr lang="en-US" sz="3100" i="1">
                        <a:effectLst/>
                        <a:latin typeface="Cambria Math" panose="02040503050406030204" pitchFamily="18" charset="0"/>
                        <a:ea typeface="Times New Roman" panose="02020603050405020304" pitchFamily="18" charset="0"/>
                      </a:rPr>
                      <m:t>𝐴𝑙𝑛</m:t>
                    </m:r>
                    <m:sSub>
                      <m:sSubPr>
                        <m:ctrlPr>
                          <a:rPr lang="en-US" sz="3100" i="1">
                            <a:effectLst/>
                            <a:latin typeface="Cambria Math" panose="02040503050406030204" pitchFamily="18" charset="0"/>
                            <a:ea typeface="Times New Roman" panose="02020603050405020304" pitchFamily="18" charset="0"/>
                          </a:rPr>
                        </m:ctrlPr>
                      </m:sSubPr>
                      <m:e>
                        <m:r>
                          <a:rPr lang="en-US" sz="3100" i="1">
                            <a:effectLst/>
                            <a:latin typeface="Cambria Math" panose="02040503050406030204" pitchFamily="18" charset="0"/>
                            <a:ea typeface="Times New Roman" panose="02020603050405020304" pitchFamily="18" charset="0"/>
                          </a:rPr>
                          <m:t>𝑟</m:t>
                        </m:r>
                      </m:e>
                      <m:sub>
                        <m:r>
                          <a:rPr lang="en-US" sz="3100" i="1">
                            <a:effectLst/>
                            <a:latin typeface="Cambria Math" panose="02040503050406030204" pitchFamily="18" charset="0"/>
                            <a:ea typeface="Times New Roman" panose="02020603050405020304" pitchFamily="18" charset="0"/>
                          </a:rPr>
                          <m:t>2</m:t>
                        </m:r>
                      </m:sub>
                    </m:sSub>
                    <m:r>
                      <a:rPr lang="en-US" sz="3100" i="1">
                        <a:effectLst/>
                        <a:latin typeface="Cambria Math" panose="02040503050406030204" pitchFamily="18" charset="0"/>
                        <a:ea typeface="Times New Roman" panose="02020603050405020304" pitchFamily="18" charset="0"/>
                      </a:rPr>
                      <m:t>+</m:t>
                    </m:r>
                    <m:r>
                      <a:rPr lang="en-US" sz="3100" i="1">
                        <a:effectLst/>
                        <a:latin typeface="Cambria Math" panose="02040503050406030204" pitchFamily="18" charset="0"/>
                        <a:ea typeface="Times New Roman" panose="02020603050405020304" pitchFamily="18" charset="0"/>
                      </a:rPr>
                      <m:t>𝐵</m:t>
                    </m:r>
                  </m:oMath>
                </a14:m>
                <a:endParaRPr lang="en-US" sz="31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endParaRPr lang="en-US" sz="31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3100" dirty="0">
                    <a:effectLst/>
                    <a:latin typeface="Times New Roman" panose="02020603050405020304" pitchFamily="18" charset="0"/>
                    <a:ea typeface="Times New Roman" panose="02020603050405020304" pitchFamily="18" charset="0"/>
                  </a:rPr>
                  <a:t>The solution is </a:t>
                </a:r>
              </a:p>
              <a:p>
                <a:pPr marL="0" marR="0" indent="0">
                  <a:spcBef>
                    <a:spcPts val="1200"/>
                  </a:spcBef>
                  <a:spcAft>
                    <a:spcPts val="0"/>
                  </a:spcAft>
                  <a:buNone/>
                </a:pPr>
                <a:r>
                  <a:rPr lang="en-US" sz="3100" dirty="0">
                    <a:effectLst/>
                    <a:ea typeface="Times New Roman" panose="02020603050405020304" pitchFamily="18" charset="0"/>
                  </a:rPr>
                  <a:t>          </a:t>
                </a:r>
                <a14:m>
                  <m:oMath xmlns:m="http://schemas.openxmlformats.org/officeDocument/2006/math">
                    <m:r>
                      <a:rPr lang="en-US" sz="3100" i="1">
                        <a:effectLst/>
                        <a:latin typeface="Cambria Math" panose="02040503050406030204" pitchFamily="18" charset="0"/>
                        <a:ea typeface="Times New Roman" panose="02020603050405020304" pitchFamily="18" charset="0"/>
                      </a:rPr>
                      <m:t>𝐴</m:t>
                    </m:r>
                    <m:r>
                      <a:rPr lang="en-US" sz="3100" i="1">
                        <a:effectLst/>
                        <a:latin typeface="Cambria Math" panose="02040503050406030204" pitchFamily="18" charset="0"/>
                        <a:ea typeface="Times New Roman" panose="02020603050405020304" pitchFamily="18" charset="0"/>
                      </a:rPr>
                      <m:t>=</m:t>
                    </m:r>
                    <m:f>
                      <m:fPr>
                        <m:ctrlPr>
                          <a:rPr lang="en-US" sz="3100" i="1">
                            <a:effectLst/>
                            <a:latin typeface="Cambria Math" panose="02040503050406030204" pitchFamily="18" charset="0"/>
                            <a:ea typeface="Times New Roman" panose="02020603050405020304" pitchFamily="18" charset="0"/>
                          </a:rPr>
                        </m:ctrlPr>
                      </m:fPr>
                      <m:num>
                        <m:r>
                          <a:rPr lang="en-US" sz="3100" i="1">
                            <a:effectLst/>
                            <a:latin typeface="Cambria Math" panose="02040503050406030204" pitchFamily="18" charset="0"/>
                            <a:ea typeface="Times New Roman" panose="02020603050405020304" pitchFamily="18" charset="0"/>
                          </a:rPr>
                          <m:t>1</m:t>
                        </m:r>
                      </m:num>
                      <m:den>
                        <m:r>
                          <a:rPr lang="en-US" sz="3100" i="1">
                            <a:effectLst/>
                            <a:latin typeface="Cambria Math" panose="02040503050406030204" pitchFamily="18" charset="0"/>
                            <a:ea typeface="Times New Roman" panose="02020603050405020304" pitchFamily="18" charset="0"/>
                          </a:rPr>
                          <m:t>4</m:t>
                        </m:r>
                        <m:r>
                          <a:rPr lang="en-US" sz="3100" i="1">
                            <a:effectLst/>
                            <a:latin typeface="Cambria Math" panose="02040503050406030204" pitchFamily="18" charset="0"/>
                            <a:ea typeface="Times New Roman" panose="02020603050405020304" pitchFamily="18" charset="0"/>
                          </a:rPr>
                          <m:t>𝜇</m:t>
                        </m:r>
                      </m:den>
                    </m:f>
                    <m:f>
                      <m:fPr>
                        <m:ctrlPr>
                          <a:rPr lang="en-US" sz="3100" i="1">
                            <a:effectLst/>
                            <a:latin typeface="Cambria Math" panose="02040503050406030204" pitchFamily="18" charset="0"/>
                            <a:ea typeface="Times New Roman" panose="02020603050405020304" pitchFamily="18" charset="0"/>
                          </a:rPr>
                        </m:ctrlPr>
                      </m:fPr>
                      <m:num>
                        <m:r>
                          <a:rPr lang="en-US" sz="3100" i="1">
                            <a:effectLst/>
                            <a:latin typeface="Cambria Math" panose="02040503050406030204" pitchFamily="18" charset="0"/>
                            <a:ea typeface="Times New Roman" panose="02020603050405020304" pitchFamily="18" charset="0"/>
                          </a:rPr>
                          <m:t>𝑑𝑝</m:t>
                        </m:r>
                      </m:num>
                      <m:den>
                        <m:r>
                          <a:rPr lang="en-US" sz="3100" i="1">
                            <a:effectLst/>
                            <a:latin typeface="Cambria Math" panose="02040503050406030204" pitchFamily="18" charset="0"/>
                            <a:ea typeface="Times New Roman" panose="02020603050405020304" pitchFamily="18" charset="0"/>
                          </a:rPr>
                          <m:t>𝑑𝑥</m:t>
                        </m:r>
                      </m:den>
                    </m:f>
                    <m:f>
                      <m:fPr>
                        <m:ctrlPr>
                          <a:rPr lang="en-US" sz="3100" i="1">
                            <a:effectLst/>
                            <a:latin typeface="Cambria Math" panose="02040503050406030204" pitchFamily="18" charset="0"/>
                            <a:ea typeface="Times New Roman" panose="02020603050405020304" pitchFamily="18" charset="0"/>
                          </a:rPr>
                        </m:ctrlPr>
                      </m:fPr>
                      <m:num>
                        <m:sSup>
                          <m:sSupPr>
                            <m:ctrlPr>
                              <a:rPr lang="en-US" sz="3100" i="1">
                                <a:effectLst/>
                                <a:latin typeface="Cambria Math" panose="02040503050406030204" pitchFamily="18" charset="0"/>
                                <a:ea typeface="Times New Roman" panose="02020603050405020304" pitchFamily="18" charset="0"/>
                              </a:rPr>
                            </m:ctrlPr>
                          </m:sSupPr>
                          <m:e>
                            <m:sSub>
                              <m:sSubPr>
                                <m:ctrlPr>
                                  <a:rPr lang="en-US" sz="3100" i="1">
                                    <a:effectLst/>
                                    <a:latin typeface="Cambria Math" panose="02040503050406030204" pitchFamily="18" charset="0"/>
                                    <a:ea typeface="Times New Roman" panose="02020603050405020304" pitchFamily="18" charset="0"/>
                                  </a:rPr>
                                </m:ctrlPr>
                              </m:sSubPr>
                              <m:e>
                                <m:r>
                                  <a:rPr lang="en-US" sz="3100" i="1">
                                    <a:effectLst/>
                                    <a:latin typeface="Cambria Math" panose="02040503050406030204" pitchFamily="18" charset="0"/>
                                    <a:ea typeface="Times New Roman" panose="02020603050405020304" pitchFamily="18" charset="0"/>
                                  </a:rPr>
                                  <m:t>𝑟</m:t>
                                </m:r>
                              </m:e>
                              <m:sub>
                                <m:r>
                                  <a:rPr lang="en-US" sz="3100" i="1">
                                    <a:effectLst/>
                                    <a:latin typeface="Cambria Math" panose="02040503050406030204" pitchFamily="18" charset="0"/>
                                    <a:ea typeface="Times New Roman" panose="02020603050405020304" pitchFamily="18" charset="0"/>
                                  </a:rPr>
                                  <m:t>1</m:t>
                                </m:r>
                              </m:sub>
                            </m:sSub>
                          </m:e>
                          <m:sup>
                            <m:r>
                              <a:rPr lang="en-US" sz="3100" i="1">
                                <a:effectLst/>
                                <a:latin typeface="Cambria Math" panose="02040503050406030204" pitchFamily="18" charset="0"/>
                                <a:ea typeface="Times New Roman" panose="02020603050405020304" pitchFamily="18" charset="0"/>
                              </a:rPr>
                              <m:t>2</m:t>
                            </m:r>
                          </m:sup>
                        </m:sSup>
                        <m:r>
                          <a:rPr lang="en-US" sz="3100" i="1">
                            <a:effectLst/>
                            <a:latin typeface="Cambria Math" panose="02040503050406030204" pitchFamily="18" charset="0"/>
                            <a:ea typeface="Times New Roman" panose="02020603050405020304" pitchFamily="18" charset="0"/>
                          </a:rPr>
                          <m:t>−</m:t>
                        </m:r>
                        <m:sSup>
                          <m:sSupPr>
                            <m:ctrlPr>
                              <a:rPr lang="en-US" sz="3100" i="1">
                                <a:effectLst/>
                                <a:latin typeface="Cambria Math" panose="02040503050406030204" pitchFamily="18" charset="0"/>
                                <a:ea typeface="Times New Roman" panose="02020603050405020304" pitchFamily="18" charset="0"/>
                              </a:rPr>
                            </m:ctrlPr>
                          </m:sSupPr>
                          <m:e>
                            <m:sSub>
                              <m:sSubPr>
                                <m:ctrlPr>
                                  <a:rPr lang="en-US" sz="3100" i="1">
                                    <a:effectLst/>
                                    <a:latin typeface="Cambria Math" panose="02040503050406030204" pitchFamily="18" charset="0"/>
                                    <a:ea typeface="Times New Roman" panose="02020603050405020304" pitchFamily="18" charset="0"/>
                                  </a:rPr>
                                </m:ctrlPr>
                              </m:sSubPr>
                              <m:e>
                                <m:r>
                                  <a:rPr lang="en-US" sz="3100" i="1">
                                    <a:effectLst/>
                                    <a:latin typeface="Cambria Math" panose="02040503050406030204" pitchFamily="18" charset="0"/>
                                    <a:ea typeface="Times New Roman" panose="02020603050405020304" pitchFamily="18" charset="0"/>
                                  </a:rPr>
                                  <m:t>𝑟</m:t>
                                </m:r>
                              </m:e>
                              <m:sub>
                                <m:r>
                                  <a:rPr lang="en-US" sz="3100" i="1">
                                    <a:effectLst/>
                                    <a:latin typeface="Cambria Math" panose="02040503050406030204" pitchFamily="18" charset="0"/>
                                    <a:ea typeface="Times New Roman" panose="02020603050405020304" pitchFamily="18" charset="0"/>
                                  </a:rPr>
                                  <m:t>2</m:t>
                                </m:r>
                              </m:sub>
                            </m:sSub>
                          </m:e>
                          <m:sup>
                            <m:r>
                              <a:rPr lang="en-US" sz="3100" i="1">
                                <a:effectLst/>
                                <a:latin typeface="Cambria Math" panose="02040503050406030204" pitchFamily="18" charset="0"/>
                                <a:ea typeface="Times New Roman" panose="02020603050405020304" pitchFamily="18" charset="0"/>
                              </a:rPr>
                              <m:t>2</m:t>
                            </m:r>
                          </m:sup>
                        </m:sSup>
                      </m:num>
                      <m:den>
                        <m:r>
                          <m:rPr>
                            <m:sty m:val="p"/>
                          </m:rPr>
                          <a:rPr lang="en-US" sz="3100">
                            <a:effectLst/>
                            <a:latin typeface="Cambria Math" panose="02040503050406030204" pitchFamily="18" charset="0"/>
                            <a:ea typeface="Times New Roman" panose="02020603050405020304" pitchFamily="18" charset="0"/>
                          </a:rPr>
                          <m:t>ln</m:t>
                        </m:r>
                        <m:r>
                          <a:rPr lang="en-US" sz="3100">
                            <a:effectLst/>
                            <a:latin typeface="Cambria Math" panose="02040503050406030204" pitchFamily="18" charset="0"/>
                            <a:ea typeface="Times New Roman" panose="02020603050405020304" pitchFamily="18" charset="0"/>
                          </a:rPr>
                          <m:t>⁡</m:t>
                        </m:r>
                        <m:r>
                          <a:rPr lang="en-US" sz="3100" i="1">
                            <a:effectLst/>
                            <a:latin typeface="Cambria Math" panose="02040503050406030204" pitchFamily="18" charset="0"/>
                            <a:ea typeface="Times New Roman" panose="02020603050405020304" pitchFamily="18" charset="0"/>
                          </a:rPr>
                          <m:t>(</m:t>
                        </m:r>
                        <m:f>
                          <m:fPr>
                            <m:type m:val="lin"/>
                            <m:ctrlPr>
                              <a:rPr lang="en-US" sz="3100" i="1">
                                <a:effectLst/>
                                <a:latin typeface="Cambria Math" panose="02040503050406030204" pitchFamily="18" charset="0"/>
                                <a:ea typeface="Times New Roman" panose="02020603050405020304" pitchFamily="18" charset="0"/>
                              </a:rPr>
                            </m:ctrlPr>
                          </m:fPr>
                          <m:num>
                            <m:sSub>
                              <m:sSubPr>
                                <m:ctrlPr>
                                  <a:rPr lang="en-US" sz="3100" i="1">
                                    <a:effectLst/>
                                    <a:latin typeface="Cambria Math" panose="02040503050406030204" pitchFamily="18" charset="0"/>
                                    <a:ea typeface="Times New Roman" panose="02020603050405020304" pitchFamily="18" charset="0"/>
                                  </a:rPr>
                                </m:ctrlPr>
                              </m:sSubPr>
                              <m:e>
                                <m:r>
                                  <a:rPr lang="en-US" sz="3100" i="1">
                                    <a:effectLst/>
                                    <a:latin typeface="Cambria Math" panose="02040503050406030204" pitchFamily="18" charset="0"/>
                                    <a:ea typeface="Times New Roman" panose="02020603050405020304" pitchFamily="18" charset="0"/>
                                  </a:rPr>
                                  <m:t>𝑟</m:t>
                                </m:r>
                              </m:e>
                              <m:sub>
                                <m:r>
                                  <a:rPr lang="en-US" sz="3100" i="1">
                                    <a:effectLst/>
                                    <a:latin typeface="Cambria Math" panose="02040503050406030204" pitchFamily="18" charset="0"/>
                                    <a:ea typeface="Times New Roman" panose="02020603050405020304" pitchFamily="18" charset="0"/>
                                  </a:rPr>
                                  <m:t>2</m:t>
                                </m:r>
                              </m:sub>
                            </m:sSub>
                          </m:num>
                          <m:den>
                            <m:sSub>
                              <m:sSubPr>
                                <m:ctrlPr>
                                  <a:rPr lang="en-US" sz="3100" i="1">
                                    <a:effectLst/>
                                    <a:latin typeface="Cambria Math" panose="02040503050406030204" pitchFamily="18" charset="0"/>
                                    <a:ea typeface="Times New Roman" panose="02020603050405020304" pitchFamily="18" charset="0"/>
                                  </a:rPr>
                                </m:ctrlPr>
                              </m:sSubPr>
                              <m:e>
                                <m:r>
                                  <a:rPr lang="en-US" sz="3100" i="1">
                                    <a:effectLst/>
                                    <a:latin typeface="Cambria Math" panose="02040503050406030204" pitchFamily="18" charset="0"/>
                                    <a:ea typeface="Times New Roman" panose="02020603050405020304" pitchFamily="18" charset="0"/>
                                  </a:rPr>
                                  <m:t>𝑟</m:t>
                                </m:r>
                              </m:e>
                              <m:sub>
                                <m:r>
                                  <a:rPr lang="en-US" sz="3100" i="1">
                                    <a:effectLst/>
                                    <a:latin typeface="Cambria Math" panose="02040503050406030204" pitchFamily="18" charset="0"/>
                                    <a:ea typeface="Times New Roman" panose="02020603050405020304" pitchFamily="18" charset="0"/>
                                  </a:rPr>
                                  <m:t>1</m:t>
                                </m:r>
                              </m:sub>
                            </m:sSub>
                            <m:r>
                              <a:rPr lang="en-US" sz="3100" i="1">
                                <a:effectLst/>
                                <a:latin typeface="Cambria Math" panose="02040503050406030204" pitchFamily="18" charset="0"/>
                                <a:ea typeface="Times New Roman" panose="02020603050405020304" pitchFamily="18" charset="0"/>
                              </a:rPr>
                              <m:t>)</m:t>
                            </m:r>
                          </m:den>
                        </m:f>
                      </m:den>
                    </m:f>
                  </m:oMath>
                </a14:m>
                <a:endParaRPr lang="en-US" sz="3100" dirty="0">
                  <a:effectLst/>
                  <a:latin typeface="Times New Roman" panose="02020603050405020304" pitchFamily="18" charset="0"/>
                  <a:ea typeface="Times New Roman" panose="02020603050405020304" pitchFamily="18" charset="0"/>
                </a:endParaRPr>
              </a:p>
              <a:p>
                <a:pPr marL="0" marR="0" indent="0">
                  <a:spcBef>
                    <a:spcPts val="1200"/>
                  </a:spcBef>
                  <a:spcAft>
                    <a:spcPts val="0"/>
                  </a:spcAft>
                  <a:buNone/>
                </a:pPr>
                <a:endParaRPr lang="en-US" sz="3100" i="1" dirty="0">
                  <a:effectLst/>
                  <a:latin typeface="Cambria Math" panose="02040503050406030204" pitchFamily="18" charset="0"/>
                  <a:ea typeface="Times New Roman" panose="02020603050405020304" pitchFamily="18" charset="0"/>
                </a:endParaRPr>
              </a:p>
              <a:p>
                <a:pPr marL="0" marR="0" indent="0">
                  <a:spcBef>
                    <a:spcPts val="1200"/>
                  </a:spcBef>
                  <a:spcAft>
                    <a:spcPts val="0"/>
                  </a:spcAft>
                  <a:buNone/>
                </a:pPr>
                <a14:m>
                  <m:oMathPara xmlns:m="http://schemas.openxmlformats.org/officeDocument/2006/math">
                    <m:oMathParaPr>
                      <m:jc m:val="left"/>
                    </m:oMathParaPr>
                    <m:oMath xmlns:m="http://schemas.openxmlformats.org/officeDocument/2006/math">
                      <m:r>
                        <a:rPr lang="en-US" sz="3100" i="1">
                          <a:effectLst/>
                          <a:latin typeface="Cambria Math" panose="02040503050406030204" pitchFamily="18" charset="0"/>
                          <a:ea typeface="Times New Roman" panose="02020603050405020304" pitchFamily="18" charset="0"/>
                        </a:rPr>
                        <m:t>𝐵</m:t>
                      </m:r>
                      <m:r>
                        <a:rPr lang="en-US" sz="3100" i="1">
                          <a:effectLst/>
                          <a:latin typeface="Cambria Math" panose="02040503050406030204" pitchFamily="18" charset="0"/>
                          <a:ea typeface="Times New Roman" panose="02020603050405020304" pitchFamily="18" charset="0"/>
                        </a:rPr>
                        <m:t>=−</m:t>
                      </m:r>
                      <m:r>
                        <a:rPr lang="en-US" sz="3100" i="1">
                          <a:effectLst/>
                          <a:latin typeface="Cambria Math" panose="02040503050406030204" pitchFamily="18" charset="0"/>
                          <a:ea typeface="Times New Roman" panose="02020603050405020304" pitchFamily="18" charset="0"/>
                        </a:rPr>
                        <m:t>𝐴𝑙𝑛</m:t>
                      </m:r>
                      <m:sSub>
                        <m:sSubPr>
                          <m:ctrlPr>
                            <a:rPr lang="en-US" sz="3100" i="1">
                              <a:effectLst/>
                              <a:latin typeface="Cambria Math" panose="02040503050406030204" pitchFamily="18" charset="0"/>
                              <a:ea typeface="Times New Roman" panose="02020603050405020304" pitchFamily="18" charset="0"/>
                            </a:rPr>
                          </m:ctrlPr>
                        </m:sSubPr>
                        <m:e>
                          <m:r>
                            <a:rPr lang="en-US" sz="3100" i="1">
                              <a:effectLst/>
                              <a:latin typeface="Cambria Math" panose="02040503050406030204" pitchFamily="18" charset="0"/>
                              <a:ea typeface="Times New Roman" panose="02020603050405020304" pitchFamily="18" charset="0"/>
                            </a:rPr>
                            <m:t>𝑟</m:t>
                          </m:r>
                        </m:e>
                        <m:sub>
                          <m:r>
                            <a:rPr lang="en-US" sz="3100" i="1">
                              <a:effectLst/>
                              <a:latin typeface="Cambria Math" panose="02040503050406030204" pitchFamily="18" charset="0"/>
                              <a:ea typeface="Times New Roman" panose="02020603050405020304" pitchFamily="18" charset="0"/>
                            </a:rPr>
                            <m:t>2</m:t>
                          </m:r>
                        </m:sub>
                      </m:sSub>
                      <m:r>
                        <a:rPr lang="en-US" sz="3100" i="1">
                          <a:effectLst/>
                          <a:latin typeface="Cambria Math" panose="02040503050406030204" pitchFamily="18" charset="0"/>
                          <a:ea typeface="Times New Roman" panose="02020603050405020304" pitchFamily="18" charset="0"/>
                        </a:rPr>
                        <m:t>−</m:t>
                      </m:r>
                      <m:f>
                        <m:fPr>
                          <m:ctrlPr>
                            <a:rPr lang="en-US" sz="3100" i="1">
                              <a:effectLst/>
                              <a:latin typeface="Cambria Math" panose="02040503050406030204" pitchFamily="18" charset="0"/>
                              <a:ea typeface="Times New Roman" panose="02020603050405020304" pitchFamily="18" charset="0"/>
                            </a:rPr>
                          </m:ctrlPr>
                        </m:fPr>
                        <m:num>
                          <m:sSup>
                            <m:sSupPr>
                              <m:ctrlPr>
                                <a:rPr lang="en-US" sz="3100" i="1">
                                  <a:effectLst/>
                                  <a:latin typeface="Cambria Math" panose="02040503050406030204" pitchFamily="18" charset="0"/>
                                  <a:ea typeface="Times New Roman" panose="02020603050405020304" pitchFamily="18" charset="0"/>
                                </a:rPr>
                              </m:ctrlPr>
                            </m:sSupPr>
                            <m:e>
                              <m:sSub>
                                <m:sSubPr>
                                  <m:ctrlPr>
                                    <a:rPr lang="en-US" sz="3100" i="1">
                                      <a:effectLst/>
                                      <a:latin typeface="Cambria Math" panose="02040503050406030204" pitchFamily="18" charset="0"/>
                                      <a:ea typeface="Times New Roman" panose="02020603050405020304" pitchFamily="18" charset="0"/>
                                    </a:rPr>
                                  </m:ctrlPr>
                                </m:sSubPr>
                                <m:e>
                                  <m:r>
                                    <a:rPr lang="en-US" sz="3100" i="1">
                                      <a:effectLst/>
                                      <a:latin typeface="Cambria Math" panose="02040503050406030204" pitchFamily="18" charset="0"/>
                                      <a:ea typeface="Times New Roman" panose="02020603050405020304" pitchFamily="18" charset="0"/>
                                    </a:rPr>
                                    <m:t>𝑟</m:t>
                                  </m:r>
                                </m:e>
                                <m:sub>
                                  <m:r>
                                    <a:rPr lang="en-US" sz="3100" i="1">
                                      <a:effectLst/>
                                      <a:latin typeface="Cambria Math" panose="02040503050406030204" pitchFamily="18" charset="0"/>
                                      <a:ea typeface="Times New Roman" panose="02020603050405020304" pitchFamily="18" charset="0"/>
                                    </a:rPr>
                                    <m:t>2</m:t>
                                  </m:r>
                                </m:sub>
                              </m:sSub>
                            </m:e>
                            <m:sup>
                              <m:r>
                                <a:rPr lang="en-US" sz="3100" i="1">
                                  <a:effectLst/>
                                  <a:latin typeface="Cambria Math" panose="02040503050406030204" pitchFamily="18" charset="0"/>
                                  <a:ea typeface="Times New Roman" panose="02020603050405020304" pitchFamily="18" charset="0"/>
                                </a:rPr>
                                <m:t>2</m:t>
                              </m:r>
                            </m:sup>
                          </m:sSup>
                        </m:num>
                        <m:den>
                          <m:r>
                            <a:rPr lang="en-US" sz="3100" i="1">
                              <a:effectLst/>
                              <a:latin typeface="Cambria Math" panose="02040503050406030204" pitchFamily="18" charset="0"/>
                              <a:ea typeface="Times New Roman" panose="02020603050405020304" pitchFamily="18" charset="0"/>
                            </a:rPr>
                            <m:t>4</m:t>
                          </m:r>
                          <m:r>
                            <a:rPr lang="en-US" sz="3100" i="1">
                              <a:effectLst/>
                              <a:latin typeface="Cambria Math" panose="02040503050406030204" pitchFamily="18" charset="0"/>
                              <a:ea typeface="Times New Roman" panose="02020603050405020304" pitchFamily="18" charset="0"/>
                            </a:rPr>
                            <m:t>𝜇</m:t>
                          </m:r>
                        </m:den>
                      </m:f>
                      <m:f>
                        <m:fPr>
                          <m:ctrlPr>
                            <a:rPr lang="en-US" sz="3100" i="1">
                              <a:effectLst/>
                              <a:latin typeface="Cambria Math" panose="02040503050406030204" pitchFamily="18" charset="0"/>
                              <a:ea typeface="Times New Roman" panose="02020603050405020304" pitchFamily="18" charset="0"/>
                            </a:rPr>
                          </m:ctrlPr>
                        </m:fPr>
                        <m:num>
                          <m:r>
                            <a:rPr lang="en-US" sz="3100" i="1">
                              <a:effectLst/>
                              <a:latin typeface="Cambria Math" panose="02040503050406030204" pitchFamily="18" charset="0"/>
                              <a:ea typeface="Times New Roman" panose="02020603050405020304" pitchFamily="18" charset="0"/>
                            </a:rPr>
                            <m:t>𝑑𝑝</m:t>
                          </m:r>
                        </m:num>
                        <m:den>
                          <m:r>
                            <a:rPr lang="en-US" sz="3100" i="1">
                              <a:effectLst/>
                              <a:latin typeface="Cambria Math" panose="02040503050406030204" pitchFamily="18" charset="0"/>
                              <a:ea typeface="Times New Roman" panose="02020603050405020304" pitchFamily="18" charset="0"/>
                            </a:rPr>
                            <m:t>𝑑𝑥</m:t>
                          </m:r>
                        </m:den>
                      </m:f>
                    </m:oMath>
                  </m:oMathPara>
                </a14:m>
                <a:endParaRPr lang="en-US" sz="3100" dirty="0">
                  <a:effectLst/>
                  <a:latin typeface="Times New Roman" panose="02020603050405020304" pitchFamily="18" charset="0"/>
                  <a:ea typeface="Times New Roman" panose="02020603050405020304" pitchFamily="18" charset="0"/>
                </a:endParaRPr>
              </a:p>
              <a:p>
                <a:pPr marL="0" marR="0" indent="0">
                  <a:spcBef>
                    <a:spcPts val="1200"/>
                  </a:spcBef>
                  <a:spcAft>
                    <a:spcPts val="0"/>
                  </a:spcAft>
                  <a:buNone/>
                </a:pPr>
                <a:r>
                  <a:rPr lang="en-US" sz="3100" dirty="0">
                    <a:latin typeface="Times New Roman" panose="02020603050405020304" pitchFamily="18" charset="0"/>
                    <a:ea typeface="Times New Roman" panose="02020603050405020304" pitchFamily="18" charset="0"/>
                  </a:rPr>
                  <a:t>thus</a:t>
                </a:r>
              </a:p>
              <a:p>
                <a:pPr marL="0" marR="0">
                  <a:spcBef>
                    <a:spcPts val="1200"/>
                  </a:spcBef>
                  <a:spcAft>
                    <a:spcPts val="0"/>
                  </a:spcAft>
                </a:pPr>
                <a:endParaRPr lang="en-US" sz="3100" i="1" dirty="0">
                  <a:latin typeface="Cambria Math" panose="02040503050406030204" pitchFamily="18" charset="0"/>
                  <a:ea typeface="Times New Roman" panose="02020603050405020304" pitchFamily="18" charset="0"/>
                </a:endParaRPr>
              </a:p>
              <a:p>
                <a:pPr marL="0" marR="0" indent="0">
                  <a:spcBef>
                    <a:spcPts val="1200"/>
                  </a:spcBef>
                  <a:spcAft>
                    <a:spcPts val="0"/>
                  </a:spcAft>
                  <a:buNone/>
                </a:pPr>
                <a14:m>
                  <m:oMathPara xmlns:m="http://schemas.openxmlformats.org/officeDocument/2006/math">
                    <m:oMathParaPr>
                      <m:jc m:val="left"/>
                    </m:oMathParaPr>
                    <m:oMath xmlns:m="http://schemas.openxmlformats.org/officeDocument/2006/math">
                      <m:r>
                        <a:rPr lang="en-US" sz="3100" i="1">
                          <a:latin typeface="Cambria Math" panose="02040503050406030204" pitchFamily="18" charset="0"/>
                          <a:ea typeface="Times New Roman" panose="02020603050405020304" pitchFamily="18" charset="0"/>
                        </a:rPr>
                        <m:t>𝑢</m:t>
                      </m:r>
                      <m:d>
                        <m:dPr>
                          <m:ctrlPr>
                            <a:rPr lang="en-US" sz="3100" i="1">
                              <a:latin typeface="Cambria Math" panose="02040503050406030204" pitchFamily="18" charset="0"/>
                              <a:ea typeface="Times New Roman" panose="02020603050405020304" pitchFamily="18" charset="0"/>
                            </a:rPr>
                          </m:ctrlPr>
                        </m:dPr>
                        <m:e>
                          <m:r>
                            <a:rPr lang="en-US" sz="3100" i="1">
                              <a:latin typeface="Cambria Math" panose="02040503050406030204" pitchFamily="18" charset="0"/>
                              <a:ea typeface="Times New Roman" panose="02020603050405020304" pitchFamily="18" charset="0"/>
                            </a:rPr>
                            <m:t>𝑟</m:t>
                          </m:r>
                        </m:e>
                      </m:d>
                      <m:r>
                        <a:rPr lang="en-US" sz="3100" i="1">
                          <a:latin typeface="Cambria Math" panose="02040503050406030204" pitchFamily="18" charset="0"/>
                          <a:ea typeface="Times New Roman" panose="02020603050405020304" pitchFamily="18" charset="0"/>
                        </a:rPr>
                        <m:t>=</m:t>
                      </m:r>
                      <m:f>
                        <m:fPr>
                          <m:ctrlPr>
                            <a:rPr lang="en-US" sz="3100" i="1">
                              <a:latin typeface="Cambria Math" panose="02040503050406030204" pitchFamily="18" charset="0"/>
                              <a:ea typeface="Times New Roman" panose="02020603050405020304" pitchFamily="18" charset="0"/>
                            </a:rPr>
                          </m:ctrlPr>
                        </m:fPr>
                        <m:num>
                          <m:r>
                            <a:rPr lang="en-US" sz="3100" i="1">
                              <a:latin typeface="Cambria Math" panose="02040503050406030204" pitchFamily="18" charset="0"/>
                              <a:ea typeface="Times New Roman" panose="02020603050405020304" pitchFamily="18" charset="0"/>
                            </a:rPr>
                            <m:t>1</m:t>
                          </m:r>
                        </m:num>
                        <m:den>
                          <m:r>
                            <a:rPr lang="en-US" sz="3100" i="1">
                              <a:latin typeface="Cambria Math" panose="02040503050406030204" pitchFamily="18" charset="0"/>
                              <a:ea typeface="Times New Roman" panose="02020603050405020304" pitchFamily="18" charset="0"/>
                            </a:rPr>
                            <m:t>4</m:t>
                          </m:r>
                          <m:r>
                            <a:rPr lang="en-US" sz="3100" i="1">
                              <a:latin typeface="Cambria Math" panose="02040503050406030204" pitchFamily="18" charset="0"/>
                              <a:ea typeface="Times New Roman" panose="02020603050405020304" pitchFamily="18" charset="0"/>
                            </a:rPr>
                            <m:t>𝜇</m:t>
                          </m:r>
                        </m:den>
                      </m:f>
                      <m:f>
                        <m:fPr>
                          <m:ctrlPr>
                            <a:rPr lang="en-US" sz="3100" i="1">
                              <a:latin typeface="Cambria Math" panose="02040503050406030204" pitchFamily="18" charset="0"/>
                              <a:ea typeface="Times New Roman" panose="02020603050405020304" pitchFamily="18" charset="0"/>
                            </a:rPr>
                          </m:ctrlPr>
                        </m:fPr>
                        <m:num>
                          <m:r>
                            <a:rPr lang="en-US" sz="3100" i="1">
                              <a:latin typeface="Cambria Math" panose="02040503050406030204" pitchFamily="18" charset="0"/>
                              <a:ea typeface="Times New Roman" panose="02020603050405020304" pitchFamily="18" charset="0"/>
                            </a:rPr>
                            <m:t>𝑑𝑝</m:t>
                          </m:r>
                        </m:num>
                        <m:den>
                          <m:r>
                            <a:rPr lang="en-US" sz="3100" i="1">
                              <a:latin typeface="Cambria Math" panose="02040503050406030204" pitchFamily="18" charset="0"/>
                              <a:ea typeface="Times New Roman" panose="02020603050405020304" pitchFamily="18" charset="0"/>
                            </a:rPr>
                            <m:t>𝑑𝑥</m:t>
                          </m:r>
                        </m:den>
                      </m:f>
                      <m:r>
                        <a:rPr lang="en-US" sz="3100" i="1">
                          <a:latin typeface="Cambria Math" panose="02040503050406030204" pitchFamily="18" charset="0"/>
                          <a:ea typeface="Times New Roman" panose="02020603050405020304" pitchFamily="18" charset="0"/>
                        </a:rPr>
                        <m:t>[</m:t>
                      </m:r>
                      <m:sSup>
                        <m:sSupPr>
                          <m:ctrlPr>
                            <a:rPr lang="en-US" sz="3100" i="1">
                              <a:latin typeface="Cambria Math" panose="02040503050406030204" pitchFamily="18" charset="0"/>
                              <a:ea typeface="Times New Roman" panose="02020603050405020304" pitchFamily="18" charset="0"/>
                            </a:rPr>
                          </m:ctrlPr>
                        </m:sSupPr>
                        <m:e>
                          <m:r>
                            <a:rPr lang="en-US" sz="3100" i="1">
                              <a:latin typeface="Cambria Math" panose="02040503050406030204" pitchFamily="18" charset="0"/>
                              <a:ea typeface="Times New Roman" panose="02020603050405020304" pitchFamily="18" charset="0"/>
                            </a:rPr>
                            <m:t>𝑟</m:t>
                          </m:r>
                        </m:e>
                        <m:sup>
                          <m:r>
                            <a:rPr lang="en-US" sz="3100" i="1">
                              <a:latin typeface="Cambria Math" panose="02040503050406030204" pitchFamily="18" charset="0"/>
                              <a:ea typeface="Times New Roman" panose="02020603050405020304" pitchFamily="18" charset="0"/>
                            </a:rPr>
                            <m:t>2</m:t>
                          </m:r>
                        </m:sup>
                      </m:sSup>
                      <m:r>
                        <a:rPr lang="en-US" sz="3100" i="1">
                          <a:latin typeface="Cambria Math" panose="02040503050406030204" pitchFamily="18" charset="0"/>
                          <a:ea typeface="Times New Roman" panose="02020603050405020304" pitchFamily="18" charset="0"/>
                        </a:rPr>
                        <m:t>−</m:t>
                      </m:r>
                      <m:sSup>
                        <m:sSupPr>
                          <m:ctrlPr>
                            <a:rPr lang="en-US" sz="3100" i="1">
                              <a:latin typeface="Cambria Math" panose="02040503050406030204" pitchFamily="18" charset="0"/>
                              <a:ea typeface="Times New Roman" panose="02020603050405020304" pitchFamily="18" charset="0"/>
                            </a:rPr>
                          </m:ctrlPr>
                        </m:sSupPr>
                        <m:e>
                          <m:sSub>
                            <m:sSubPr>
                              <m:ctrlPr>
                                <a:rPr lang="en-US" sz="3100" i="1">
                                  <a:latin typeface="Cambria Math" panose="02040503050406030204" pitchFamily="18" charset="0"/>
                                  <a:ea typeface="Times New Roman" panose="02020603050405020304" pitchFamily="18" charset="0"/>
                                </a:rPr>
                              </m:ctrlPr>
                            </m:sSubPr>
                            <m:e>
                              <m:r>
                                <a:rPr lang="en-US" sz="3100" i="1">
                                  <a:latin typeface="Cambria Math" panose="02040503050406030204" pitchFamily="18" charset="0"/>
                                  <a:ea typeface="Times New Roman" panose="02020603050405020304" pitchFamily="18" charset="0"/>
                                </a:rPr>
                                <m:t>𝑟</m:t>
                              </m:r>
                            </m:e>
                            <m:sub>
                              <m:r>
                                <a:rPr lang="en-US" sz="3100" i="1">
                                  <a:latin typeface="Cambria Math" panose="02040503050406030204" pitchFamily="18" charset="0"/>
                                  <a:ea typeface="Times New Roman" panose="02020603050405020304" pitchFamily="18" charset="0"/>
                                </a:rPr>
                                <m:t>2</m:t>
                              </m:r>
                            </m:sub>
                          </m:sSub>
                        </m:e>
                        <m:sup>
                          <m:r>
                            <a:rPr lang="en-US" sz="3100" i="1">
                              <a:latin typeface="Cambria Math" panose="02040503050406030204" pitchFamily="18" charset="0"/>
                              <a:ea typeface="Times New Roman" panose="02020603050405020304" pitchFamily="18" charset="0"/>
                            </a:rPr>
                            <m:t>2</m:t>
                          </m:r>
                        </m:sup>
                      </m:sSup>
                      <m:r>
                        <a:rPr lang="en-US" sz="3100" i="1">
                          <a:latin typeface="Cambria Math" panose="02040503050406030204" pitchFamily="18" charset="0"/>
                          <a:ea typeface="Times New Roman" panose="02020603050405020304" pitchFamily="18" charset="0"/>
                        </a:rPr>
                        <m:t>+</m:t>
                      </m:r>
                      <m:f>
                        <m:fPr>
                          <m:ctrlPr>
                            <a:rPr lang="en-US" sz="3100" i="1">
                              <a:latin typeface="Cambria Math" panose="02040503050406030204" pitchFamily="18" charset="0"/>
                              <a:ea typeface="Times New Roman" panose="02020603050405020304" pitchFamily="18" charset="0"/>
                            </a:rPr>
                          </m:ctrlPr>
                        </m:fPr>
                        <m:num>
                          <m:sSup>
                            <m:sSupPr>
                              <m:ctrlPr>
                                <a:rPr lang="en-US" sz="3100" i="1">
                                  <a:latin typeface="Cambria Math" panose="02040503050406030204" pitchFamily="18" charset="0"/>
                                  <a:ea typeface="Times New Roman" panose="02020603050405020304" pitchFamily="18" charset="0"/>
                                </a:rPr>
                              </m:ctrlPr>
                            </m:sSupPr>
                            <m:e>
                              <m:sSub>
                                <m:sSubPr>
                                  <m:ctrlPr>
                                    <a:rPr lang="en-US" sz="3100" i="1">
                                      <a:latin typeface="Cambria Math" panose="02040503050406030204" pitchFamily="18" charset="0"/>
                                      <a:ea typeface="Times New Roman" panose="02020603050405020304" pitchFamily="18" charset="0"/>
                                    </a:rPr>
                                  </m:ctrlPr>
                                </m:sSubPr>
                                <m:e>
                                  <m:r>
                                    <a:rPr lang="en-US" sz="3100" i="1">
                                      <a:latin typeface="Cambria Math" panose="02040503050406030204" pitchFamily="18" charset="0"/>
                                      <a:ea typeface="Times New Roman" panose="02020603050405020304" pitchFamily="18" charset="0"/>
                                    </a:rPr>
                                    <m:t>𝑟</m:t>
                                  </m:r>
                                </m:e>
                                <m:sub>
                                  <m:r>
                                    <a:rPr lang="en-US" sz="3100" i="1">
                                      <a:latin typeface="Cambria Math" panose="02040503050406030204" pitchFamily="18" charset="0"/>
                                      <a:ea typeface="Times New Roman" panose="02020603050405020304" pitchFamily="18" charset="0"/>
                                    </a:rPr>
                                    <m:t>2</m:t>
                                  </m:r>
                                </m:sub>
                              </m:sSub>
                            </m:e>
                            <m:sup>
                              <m:r>
                                <a:rPr lang="en-US" sz="3100" i="1">
                                  <a:latin typeface="Cambria Math" panose="02040503050406030204" pitchFamily="18" charset="0"/>
                                  <a:ea typeface="Times New Roman" panose="02020603050405020304" pitchFamily="18" charset="0"/>
                                </a:rPr>
                                <m:t>2</m:t>
                              </m:r>
                            </m:sup>
                          </m:sSup>
                          <m:r>
                            <a:rPr lang="en-US" sz="3100" i="1">
                              <a:latin typeface="Cambria Math" panose="02040503050406030204" pitchFamily="18" charset="0"/>
                              <a:ea typeface="Times New Roman" panose="02020603050405020304" pitchFamily="18" charset="0"/>
                            </a:rPr>
                            <m:t>−</m:t>
                          </m:r>
                          <m:sSup>
                            <m:sSupPr>
                              <m:ctrlPr>
                                <a:rPr lang="en-US" sz="3100" i="1">
                                  <a:latin typeface="Cambria Math" panose="02040503050406030204" pitchFamily="18" charset="0"/>
                                  <a:ea typeface="Times New Roman" panose="02020603050405020304" pitchFamily="18" charset="0"/>
                                </a:rPr>
                              </m:ctrlPr>
                            </m:sSupPr>
                            <m:e>
                              <m:sSub>
                                <m:sSubPr>
                                  <m:ctrlPr>
                                    <a:rPr lang="en-US" sz="3100" i="1">
                                      <a:latin typeface="Cambria Math" panose="02040503050406030204" pitchFamily="18" charset="0"/>
                                      <a:ea typeface="Times New Roman" panose="02020603050405020304" pitchFamily="18" charset="0"/>
                                    </a:rPr>
                                  </m:ctrlPr>
                                </m:sSubPr>
                                <m:e>
                                  <m:r>
                                    <a:rPr lang="en-US" sz="3100" i="1">
                                      <a:latin typeface="Cambria Math" panose="02040503050406030204" pitchFamily="18" charset="0"/>
                                      <a:ea typeface="Times New Roman" panose="02020603050405020304" pitchFamily="18" charset="0"/>
                                    </a:rPr>
                                    <m:t>𝑟</m:t>
                                  </m:r>
                                </m:e>
                                <m:sub>
                                  <m:r>
                                    <a:rPr lang="en-US" sz="3100" i="1">
                                      <a:latin typeface="Cambria Math" panose="02040503050406030204" pitchFamily="18" charset="0"/>
                                      <a:ea typeface="Times New Roman" panose="02020603050405020304" pitchFamily="18" charset="0"/>
                                    </a:rPr>
                                    <m:t>1</m:t>
                                  </m:r>
                                </m:sub>
                              </m:sSub>
                            </m:e>
                            <m:sup>
                              <m:r>
                                <a:rPr lang="en-US" sz="3100" i="1">
                                  <a:latin typeface="Cambria Math" panose="02040503050406030204" pitchFamily="18" charset="0"/>
                                  <a:ea typeface="Times New Roman" panose="02020603050405020304" pitchFamily="18" charset="0"/>
                                </a:rPr>
                                <m:t>2</m:t>
                              </m:r>
                            </m:sup>
                          </m:sSup>
                        </m:num>
                        <m:den>
                          <m:r>
                            <m:rPr>
                              <m:sty m:val="p"/>
                            </m:rPr>
                            <a:rPr lang="en-US" sz="3100">
                              <a:latin typeface="Cambria Math" panose="02040503050406030204" pitchFamily="18" charset="0"/>
                              <a:ea typeface="Times New Roman" panose="02020603050405020304" pitchFamily="18" charset="0"/>
                            </a:rPr>
                            <m:t>ln</m:t>
                          </m:r>
                          <m:r>
                            <a:rPr lang="en-US" sz="3100">
                              <a:latin typeface="Cambria Math" panose="02040503050406030204" pitchFamily="18" charset="0"/>
                              <a:ea typeface="Times New Roman" panose="02020603050405020304" pitchFamily="18" charset="0"/>
                            </a:rPr>
                            <m:t>⁡</m:t>
                          </m:r>
                          <m:r>
                            <a:rPr lang="en-US" sz="3100" i="1">
                              <a:latin typeface="Cambria Math" panose="02040503050406030204" pitchFamily="18" charset="0"/>
                              <a:ea typeface="Times New Roman" panose="02020603050405020304" pitchFamily="18" charset="0"/>
                            </a:rPr>
                            <m:t>(</m:t>
                          </m:r>
                          <m:f>
                            <m:fPr>
                              <m:type m:val="lin"/>
                              <m:ctrlPr>
                                <a:rPr lang="en-US" sz="3100" i="1">
                                  <a:latin typeface="Cambria Math" panose="02040503050406030204" pitchFamily="18" charset="0"/>
                                  <a:ea typeface="Times New Roman" panose="02020603050405020304" pitchFamily="18" charset="0"/>
                                </a:rPr>
                              </m:ctrlPr>
                            </m:fPr>
                            <m:num>
                              <m:sSub>
                                <m:sSubPr>
                                  <m:ctrlPr>
                                    <a:rPr lang="en-US" sz="3100" i="1">
                                      <a:latin typeface="Cambria Math" panose="02040503050406030204" pitchFamily="18" charset="0"/>
                                      <a:ea typeface="Times New Roman" panose="02020603050405020304" pitchFamily="18" charset="0"/>
                                    </a:rPr>
                                  </m:ctrlPr>
                                </m:sSubPr>
                                <m:e>
                                  <m:r>
                                    <a:rPr lang="en-US" sz="3100" i="1">
                                      <a:latin typeface="Cambria Math" panose="02040503050406030204" pitchFamily="18" charset="0"/>
                                      <a:ea typeface="Times New Roman" panose="02020603050405020304" pitchFamily="18" charset="0"/>
                                    </a:rPr>
                                    <m:t>𝑟</m:t>
                                  </m:r>
                                </m:e>
                                <m:sub>
                                  <m:r>
                                    <a:rPr lang="en-US" sz="3100" i="1">
                                      <a:latin typeface="Cambria Math" panose="02040503050406030204" pitchFamily="18" charset="0"/>
                                      <a:ea typeface="Times New Roman" panose="02020603050405020304" pitchFamily="18" charset="0"/>
                                    </a:rPr>
                                    <m:t>2</m:t>
                                  </m:r>
                                </m:sub>
                              </m:sSub>
                            </m:num>
                            <m:den>
                              <m:sSub>
                                <m:sSubPr>
                                  <m:ctrlPr>
                                    <a:rPr lang="en-US" sz="3100" i="1">
                                      <a:latin typeface="Cambria Math" panose="02040503050406030204" pitchFamily="18" charset="0"/>
                                      <a:ea typeface="Times New Roman" panose="02020603050405020304" pitchFamily="18" charset="0"/>
                                    </a:rPr>
                                  </m:ctrlPr>
                                </m:sSubPr>
                                <m:e>
                                  <m:r>
                                    <a:rPr lang="en-US" sz="3100" i="1">
                                      <a:latin typeface="Cambria Math" panose="02040503050406030204" pitchFamily="18" charset="0"/>
                                      <a:ea typeface="Times New Roman" panose="02020603050405020304" pitchFamily="18" charset="0"/>
                                    </a:rPr>
                                    <m:t>𝑟</m:t>
                                  </m:r>
                                </m:e>
                                <m:sub>
                                  <m:r>
                                    <a:rPr lang="en-US" sz="3100" i="1">
                                      <a:latin typeface="Cambria Math" panose="02040503050406030204" pitchFamily="18" charset="0"/>
                                      <a:ea typeface="Times New Roman" panose="02020603050405020304" pitchFamily="18" charset="0"/>
                                    </a:rPr>
                                    <m:t>1</m:t>
                                  </m:r>
                                </m:sub>
                              </m:sSub>
                              <m:r>
                                <a:rPr lang="en-US" sz="3100" i="1">
                                  <a:latin typeface="Cambria Math" panose="02040503050406030204" pitchFamily="18" charset="0"/>
                                  <a:ea typeface="Times New Roman" panose="02020603050405020304" pitchFamily="18" charset="0"/>
                                </a:rPr>
                                <m:t>)</m:t>
                              </m:r>
                            </m:den>
                          </m:f>
                        </m:den>
                      </m:f>
                      <m:r>
                        <m:rPr>
                          <m:sty m:val="p"/>
                        </m:rPr>
                        <a:rPr lang="en-US" sz="3100">
                          <a:latin typeface="Cambria Math" panose="02040503050406030204" pitchFamily="18" charset="0"/>
                          <a:ea typeface="Times New Roman" panose="02020603050405020304" pitchFamily="18" charset="0"/>
                        </a:rPr>
                        <m:t>ln</m:t>
                      </m:r>
                      <m:r>
                        <a:rPr lang="en-US" sz="3100">
                          <a:latin typeface="Cambria Math" panose="02040503050406030204" pitchFamily="18" charset="0"/>
                          <a:ea typeface="Times New Roman" panose="02020603050405020304" pitchFamily="18" charset="0"/>
                        </a:rPr>
                        <m:t>⁡</m:t>
                      </m:r>
                      <m:r>
                        <a:rPr lang="en-US" sz="3100" i="1">
                          <a:latin typeface="Cambria Math" panose="02040503050406030204" pitchFamily="18" charset="0"/>
                          <a:ea typeface="Times New Roman" panose="02020603050405020304" pitchFamily="18" charset="0"/>
                        </a:rPr>
                        <m:t>(</m:t>
                      </m:r>
                      <m:f>
                        <m:fPr>
                          <m:type m:val="lin"/>
                          <m:ctrlPr>
                            <a:rPr lang="en-US" sz="3100" i="1">
                              <a:latin typeface="Cambria Math" panose="02040503050406030204" pitchFamily="18" charset="0"/>
                              <a:ea typeface="Times New Roman" panose="02020603050405020304" pitchFamily="18" charset="0"/>
                            </a:rPr>
                          </m:ctrlPr>
                        </m:fPr>
                        <m:num>
                          <m:r>
                            <a:rPr lang="en-US" sz="3100" i="1">
                              <a:latin typeface="Cambria Math" panose="02040503050406030204" pitchFamily="18" charset="0"/>
                              <a:ea typeface="Times New Roman" panose="02020603050405020304" pitchFamily="18" charset="0"/>
                            </a:rPr>
                            <m:t>𝑟</m:t>
                          </m:r>
                        </m:num>
                        <m:den>
                          <m:sSub>
                            <m:sSubPr>
                              <m:ctrlPr>
                                <a:rPr lang="en-US" sz="3100" i="1">
                                  <a:latin typeface="Cambria Math" panose="02040503050406030204" pitchFamily="18" charset="0"/>
                                  <a:ea typeface="Times New Roman" panose="02020603050405020304" pitchFamily="18" charset="0"/>
                                </a:rPr>
                              </m:ctrlPr>
                            </m:sSubPr>
                            <m:e>
                              <m:r>
                                <a:rPr lang="en-US" sz="3100" i="1">
                                  <a:latin typeface="Cambria Math" panose="02040503050406030204" pitchFamily="18" charset="0"/>
                                  <a:ea typeface="Times New Roman" panose="02020603050405020304" pitchFamily="18" charset="0"/>
                                </a:rPr>
                                <m:t>𝑟</m:t>
                              </m:r>
                            </m:e>
                            <m:sub>
                              <m:r>
                                <a:rPr lang="en-US" sz="3100" i="1">
                                  <a:latin typeface="Cambria Math" panose="02040503050406030204" pitchFamily="18" charset="0"/>
                                  <a:ea typeface="Times New Roman" panose="02020603050405020304" pitchFamily="18" charset="0"/>
                                </a:rPr>
                                <m:t>2</m:t>
                              </m:r>
                            </m:sub>
                          </m:sSub>
                          <m:r>
                            <a:rPr lang="en-US" sz="3100" i="1">
                              <a:latin typeface="Cambria Math" panose="02040503050406030204" pitchFamily="18" charset="0"/>
                              <a:ea typeface="Times New Roman" panose="02020603050405020304" pitchFamily="18" charset="0"/>
                            </a:rPr>
                            <m:t>)</m:t>
                          </m:r>
                        </m:den>
                      </m:f>
                      <m:r>
                        <a:rPr lang="en-US" sz="3100" i="1">
                          <a:latin typeface="Cambria Math" panose="02040503050406030204" pitchFamily="18" charset="0"/>
                          <a:ea typeface="Times New Roman" panose="02020603050405020304" pitchFamily="18" charset="0"/>
                        </a:rPr>
                        <m:t>]</m:t>
                      </m:r>
                    </m:oMath>
                  </m:oMathPara>
                </a14:m>
                <a:endParaRPr lang="en-US" sz="3100" dirty="0">
                  <a:latin typeface="Times New Roman" panose="02020603050405020304" pitchFamily="18" charset="0"/>
                  <a:ea typeface="Times New Roman" panose="02020603050405020304" pitchFamily="18" charset="0"/>
                </a:endParaRPr>
              </a:p>
              <a:p>
                <a:pPr marL="0" marR="0" indent="0">
                  <a:spcBef>
                    <a:spcPts val="1200"/>
                  </a:spcBef>
                  <a:spcAft>
                    <a:spcPts val="1200"/>
                  </a:spcAft>
                  <a:buNone/>
                </a:pPr>
                <a:r>
                  <a:rPr lang="en-US" sz="3100" dirty="0">
                    <a:latin typeface="Times New Roman" panose="02020603050405020304" pitchFamily="18" charset="0"/>
                    <a:ea typeface="Times New Roman" panose="02020603050405020304" pitchFamily="18" charset="0"/>
                  </a:rPr>
                  <a:t>This is integrated to give the flow rate</a:t>
                </a:r>
              </a:p>
              <a:p>
                <a:pPr marL="0" marR="0" indent="0">
                  <a:spcBef>
                    <a:spcPts val="1200"/>
                  </a:spcBef>
                  <a:spcAft>
                    <a:spcPts val="1800"/>
                  </a:spcAft>
                  <a:buNone/>
                </a:pPr>
                <a14:m>
                  <m:oMathPara xmlns:m="http://schemas.openxmlformats.org/officeDocument/2006/math">
                    <m:oMathParaPr>
                      <m:jc m:val="left"/>
                    </m:oMathParaPr>
                    <m:oMath xmlns:m="http://schemas.openxmlformats.org/officeDocument/2006/math">
                      <m:r>
                        <a:rPr lang="en-US" sz="3100" i="1">
                          <a:latin typeface="Cambria Math" panose="02040503050406030204" pitchFamily="18" charset="0"/>
                          <a:ea typeface="Times New Roman" panose="02020603050405020304" pitchFamily="18" charset="0"/>
                        </a:rPr>
                        <m:t>𝑄</m:t>
                      </m:r>
                      <m:r>
                        <a:rPr lang="en-US" sz="3100" i="1">
                          <a:latin typeface="Cambria Math" panose="02040503050406030204" pitchFamily="18" charset="0"/>
                          <a:ea typeface="Times New Roman" panose="02020603050405020304" pitchFamily="18" charset="0"/>
                        </a:rPr>
                        <m:t>=</m:t>
                      </m:r>
                      <m:nary>
                        <m:naryPr>
                          <m:limLoc m:val="subSup"/>
                          <m:ctrlPr>
                            <a:rPr lang="en-US" sz="3100" i="1">
                              <a:latin typeface="Cambria Math" panose="02040503050406030204" pitchFamily="18" charset="0"/>
                              <a:ea typeface="Times New Roman" panose="02020603050405020304" pitchFamily="18" charset="0"/>
                            </a:rPr>
                          </m:ctrlPr>
                        </m:naryPr>
                        <m:sub>
                          <m:sSub>
                            <m:sSubPr>
                              <m:ctrlPr>
                                <a:rPr lang="en-US" sz="3100" i="1">
                                  <a:latin typeface="Cambria Math" panose="02040503050406030204" pitchFamily="18" charset="0"/>
                                  <a:ea typeface="Times New Roman" panose="02020603050405020304" pitchFamily="18" charset="0"/>
                                </a:rPr>
                              </m:ctrlPr>
                            </m:sSubPr>
                            <m:e>
                              <m:r>
                                <a:rPr lang="en-US" sz="3100" i="1">
                                  <a:latin typeface="Cambria Math" panose="02040503050406030204" pitchFamily="18" charset="0"/>
                                  <a:ea typeface="Times New Roman" panose="02020603050405020304" pitchFamily="18" charset="0"/>
                                </a:rPr>
                                <m:t>𝑟</m:t>
                              </m:r>
                            </m:e>
                            <m:sub>
                              <m:r>
                                <a:rPr lang="en-US" sz="3100" i="1">
                                  <a:latin typeface="Cambria Math" panose="02040503050406030204" pitchFamily="18" charset="0"/>
                                  <a:ea typeface="Times New Roman" panose="02020603050405020304" pitchFamily="18" charset="0"/>
                                </a:rPr>
                                <m:t>1</m:t>
                              </m:r>
                            </m:sub>
                          </m:sSub>
                        </m:sub>
                        <m:sup>
                          <m:sSub>
                            <m:sSubPr>
                              <m:ctrlPr>
                                <a:rPr lang="en-US" sz="3100" i="1">
                                  <a:latin typeface="Cambria Math" panose="02040503050406030204" pitchFamily="18" charset="0"/>
                                  <a:ea typeface="Times New Roman" panose="02020603050405020304" pitchFamily="18" charset="0"/>
                                </a:rPr>
                              </m:ctrlPr>
                            </m:sSubPr>
                            <m:e>
                              <m:r>
                                <a:rPr lang="en-US" sz="3100" i="1">
                                  <a:latin typeface="Cambria Math" panose="02040503050406030204" pitchFamily="18" charset="0"/>
                                  <a:ea typeface="Times New Roman" panose="02020603050405020304" pitchFamily="18" charset="0"/>
                                </a:rPr>
                                <m:t>𝑟</m:t>
                              </m:r>
                            </m:e>
                            <m:sub>
                              <m:r>
                                <a:rPr lang="en-US" sz="3100" i="1">
                                  <a:latin typeface="Cambria Math" panose="02040503050406030204" pitchFamily="18" charset="0"/>
                                  <a:ea typeface="Times New Roman" panose="02020603050405020304" pitchFamily="18" charset="0"/>
                                </a:rPr>
                                <m:t>2</m:t>
                              </m:r>
                            </m:sub>
                          </m:sSub>
                        </m:sup>
                        <m:e>
                          <m:r>
                            <a:rPr lang="en-US" sz="3100" i="1">
                              <a:latin typeface="Cambria Math" panose="02040503050406030204" pitchFamily="18" charset="0"/>
                              <a:ea typeface="Times New Roman" panose="02020603050405020304" pitchFamily="18" charset="0"/>
                            </a:rPr>
                            <m:t>𝑢</m:t>
                          </m:r>
                          <m:d>
                            <m:dPr>
                              <m:ctrlPr>
                                <a:rPr lang="en-US" sz="3100" i="1">
                                  <a:latin typeface="Cambria Math" panose="02040503050406030204" pitchFamily="18" charset="0"/>
                                  <a:ea typeface="Times New Roman" panose="02020603050405020304" pitchFamily="18" charset="0"/>
                                </a:rPr>
                              </m:ctrlPr>
                            </m:dPr>
                            <m:e>
                              <m:r>
                                <a:rPr lang="en-US" sz="3100" i="1">
                                  <a:latin typeface="Cambria Math" panose="02040503050406030204" pitchFamily="18" charset="0"/>
                                  <a:ea typeface="Times New Roman" panose="02020603050405020304" pitchFamily="18" charset="0"/>
                                </a:rPr>
                                <m:t>𝑟</m:t>
                              </m:r>
                            </m:e>
                          </m:d>
                          <m:r>
                            <a:rPr lang="en-US" sz="3100" i="1">
                              <a:latin typeface="Cambria Math" panose="02040503050406030204" pitchFamily="18" charset="0"/>
                              <a:ea typeface="Times New Roman" panose="02020603050405020304" pitchFamily="18" charset="0"/>
                            </a:rPr>
                            <m:t>2</m:t>
                          </m:r>
                          <m:r>
                            <a:rPr lang="en-US" sz="3100" i="1">
                              <a:latin typeface="Cambria Math" panose="02040503050406030204" pitchFamily="18" charset="0"/>
                              <a:ea typeface="Times New Roman" panose="02020603050405020304" pitchFamily="18" charset="0"/>
                            </a:rPr>
                            <m:t>𝜋</m:t>
                          </m:r>
                          <m:r>
                            <a:rPr lang="en-US" sz="3100" i="1">
                              <a:latin typeface="Cambria Math" panose="02040503050406030204" pitchFamily="18" charset="0"/>
                              <a:ea typeface="Times New Roman" panose="02020603050405020304" pitchFamily="18" charset="0"/>
                            </a:rPr>
                            <m:t>𝑟𝑑𝑟</m:t>
                          </m:r>
                        </m:e>
                      </m:nary>
                    </m:oMath>
                  </m:oMathPara>
                </a14:m>
                <a:endParaRPr lang="en-US" sz="3100" dirty="0">
                  <a:latin typeface="Times New Roman" panose="02020603050405020304" pitchFamily="18" charset="0"/>
                  <a:ea typeface="Times New Roman" panose="02020603050405020304" pitchFamily="18" charset="0"/>
                </a:endParaRPr>
              </a:p>
              <a:p>
                <a:pPr marL="0" marR="0" indent="0">
                  <a:spcBef>
                    <a:spcPts val="1200"/>
                  </a:spcBef>
                  <a:spcAft>
                    <a:spcPts val="0"/>
                  </a:spcAft>
                  <a:buNone/>
                </a:pPr>
                <a14:m>
                  <m:oMathPara xmlns:m="http://schemas.openxmlformats.org/officeDocument/2006/math">
                    <m:oMathParaPr>
                      <m:jc m:val="left"/>
                    </m:oMathParaPr>
                    <m:oMath xmlns:m="http://schemas.openxmlformats.org/officeDocument/2006/math">
                      <m:r>
                        <a:rPr lang="en-US" sz="3100" i="1">
                          <a:latin typeface="Cambria Math" panose="02040503050406030204" pitchFamily="18" charset="0"/>
                          <a:ea typeface="Times New Roman" panose="02020603050405020304" pitchFamily="18" charset="0"/>
                        </a:rPr>
                        <m:t>=</m:t>
                      </m:r>
                      <m:f>
                        <m:fPr>
                          <m:ctrlPr>
                            <a:rPr lang="en-US" sz="3100" i="1">
                              <a:latin typeface="Cambria Math" panose="02040503050406030204" pitchFamily="18" charset="0"/>
                              <a:ea typeface="Times New Roman" panose="02020603050405020304" pitchFamily="18" charset="0"/>
                            </a:rPr>
                          </m:ctrlPr>
                        </m:fPr>
                        <m:num>
                          <m:r>
                            <a:rPr lang="en-US" sz="3100" i="1">
                              <a:latin typeface="Cambria Math" panose="02040503050406030204" pitchFamily="18" charset="0"/>
                              <a:ea typeface="Times New Roman" panose="02020603050405020304" pitchFamily="18" charset="0"/>
                            </a:rPr>
                            <m:t>𝜋</m:t>
                          </m:r>
                        </m:num>
                        <m:den>
                          <m:r>
                            <a:rPr lang="en-US" sz="3100" i="1">
                              <a:latin typeface="Cambria Math" panose="02040503050406030204" pitchFamily="18" charset="0"/>
                              <a:ea typeface="Times New Roman" panose="02020603050405020304" pitchFamily="18" charset="0"/>
                            </a:rPr>
                            <m:t>8</m:t>
                          </m:r>
                          <m:r>
                            <a:rPr lang="en-US" sz="3100" i="1">
                              <a:latin typeface="Cambria Math" panose="02040503050406030204" pitchFamily="18" charset="0"/>
                              <a:ea typeface="Times New Roman" panose="02020603050405020304" pitchFamily="18" charset="0"/>
                            </a:rPr>
                            <m:t>𝜇</m:t>
                          </m:r>
                        </m:den>
                      </m:f>
                      <m:f>
                        <m:fPr>
                          <m:ctrlPr>
                            <a:rPr lang="en-US" sz="3100" i="1">
                              <a:latin typeface="Cambria Math" panose="02040503050406030204" pitchFamily="18" charset="0"/>
                              <a:ea typeface="Times New Roman" panose="02020603050405020304" pitchFamily="18" charset="0"/>
                            </a:rPr>
                          </m:ctrlPr>
                        </m:fPr>
                        <m:num>
                          <m:r>
                            <a:rPr lang="en-US" sz="3100" i="1">
                              <a:latin typeface="Cambria Math" panose="02040503050406030204" pitchFamily="18" charset="0"/>
                              <a:ea typeface="Times New Roman" panose="02020603050405020304" pitchFamily="18" charset="0"/>
                            </a:rPr>
                            <m:t>𝑑𝑝</m:t>
                          </m:r>
                        </m:num>
                        <m:den>
                          <m:r>
                            <a:rPr lang="en-US" sz="3100" i="1">
                              <a:latin typeface="Cambria Math" panose="02040503050406030204" pitchFamily="18" charset="0"/>
                              <a:ea typeface="Times New Roman" panose="02020603050405020304" pitchFamily="18" charset="0"/>
                            </a:rPr>
                            <m:t>𝑑𝑥</m:t>
                          </m:r>
                        </m:den>
                      </m:f>
                      <m:r>
                        <a:rPr lang="en-US" sz="3100" i="1">
                          <a:latin typeface="Cambria Math" panose="02040503050406030204" pitchFamily="18" charset="0"/>
                          <a:ea typeface="Times New Roman" panose="02020603050405020304" pitchFamily="18" charset="0"/>
                        </a:rPr>
                        <m:t>[</m:t>
                      </m:r>
                      <m:sSup>
                        <m:sSupPr>
                          <m:ctrlPr>
                            <a:rPr lang="en-US" sz="3100" i="1">
                              <a:latin typeface="Cambria Math" panose="02040503050406030204" pitchFamily="18" charset="0"/>
                              <a:ea typeface="Times New Roman" panose="02020603050405020304" pitchFamily="18" charset="0"/>
                            </a:rPr>
                          </m:ctrlPr>
                        </m:sSupPr>
                        <m:e>
                          <m:sSub>
                            <m:sSubPr>
                              <m:ctrlPr>
                                <a:rPr lang="en-US" sz="3100" i="1">
                                  <a:latin typeface="Cambria Math" panose="02040503050406030204" pitchFamily="18" charset="0"/>
                                  <a:ea typeface="Times New Roman" panose="02020603050405020304" pitchFamily="18" charset="0"/>
                                </a:rPr>
                              </m:ctrlPr>
                            </m:sSubPr>
                            <m:e>
                              <m:r>
                                <a:rPr lang="en-US" sz="3100" i="1">
                                  <a:latin typeface="Cambria Math" panose="02040503050406030204" pitchFamily="18" charset="0"/>
                                  <a:ea typeface="Times New Roman" panose="02020603050405020304" pitchFamily="18" charset="0"/>
                                </a:rPr>
                                <m:t>𝑟</m:t>
                              </m:r>
                            </m:e>
                            <m:sub>
                              <m:r>
                                <a:rPr lang="en-US" sz="3100" i="1">
                                  <a:latin typeface="Cambria Math" panose="02040503050406030204" pitchFamily="18" charset="0"/>
                                  <a:ea typeface="Times New Roman" panose="02020603050405020304" pitchFamily="18" charset="0"/>
                                </a:rPr>
                                <m:t>2</m:t>
                              </m:r>
                            </m:sub>
                          </m:sSub>
                        </m:e>
                        <m:sup>
                          <m:r>
                            <a:rPr lang="en-US" sz="3100" i="1">
                              <a:latin typeface="Cambria Math" panose="02040503050406030204" pitchFamily="18" charset="0"/>
                              <a:ea typeface="Times New Roman" panose="02020603050405020304" pitchFamily="18" charset="0"/>
                            </a:rPr>
                            <m:t>4</m:t>
                          </m:r>
                        </m:sup>
                      </m:sSup>
                      <m:r>
                        <a:rPr lang="en-US" sz="3100" i="1">
                          <a:latin typeface="Cambria Math" panose="02040503050406030204" pitchFamily="18" charset="0"/>
                          <a:ea typeface="Times New Roman" panose="02020603050405020304" pitchFamily="18" charset="0"/>
                        </a:rPr>
                        <m:t>−</m:t>
                      </m:r>
                      <m:sSup>
                        <m:sSupPr>
                          <m:ctrlPr>
                            <a:rPr lang="en-US" sz="3100" i="1">
                              <a:latin typeface="Cambria Math" panose="02040503050406030204" pitchFamily="18" charset="0"/>
                              <a:ea typeface="Times New Roman" panose="02020603050405020304" pitchFamily="18" charset="0"/>
                            </a:rPr>
                          </m:ctrlPr>
                        </m:sSupPr>
                        <m:e>
                          <m:sSub>
                            <m:sSubPr>
                              <m:ctrlPr>
                                <a:rPr lang="en-US" sz="3100" i="1">
                                  <a:latin typeface="Cambria Math" panose="02040503050406030204" pitchFamily="18" charset="0"/>
                                  <a:ea typeface="Times New Roman" panose="02020603050405020304" pitchFamily="18" charset="0"/>
                                </a:rPr>
                              </m:ctrlPr>
                            </m:sSubPr>
                            <m:e>
                              <m:r>
                                <a:rPr lang="en-US" sz="3100" i="1">
                                  <a:latin typeface="Cambria Math" panose="02040503050406030204" pitchFamily="18" charset="0"/>
                                  <a:ea typeface="Times New Roman" panose="02020603050405020304" pitchFamily="18" charset="0"/>
                                </a:rPr>
                                <m:t>𝑟</m:t>
                              </m:r>
                            </m:e>
                            <m:sub>
                              <m:r>
                                <a:rPr lang="en-US" sz="3100" i="1">
                                  <a:latin typeface="Cambria Math" panose="02040503050406030204" pitchFamily="18" charset="0"/>
                                  <a:ea typeface="Times New Roman" panose="02020603050405020304" pitchFamily="18" charset="0"/>
                                </a:rPr>
                                <m:t>1</m:t>
                              </m:r>
                            </m:sub>
                          </m:sSub>
                        </m:e>
                        <m:sup>
                          <m:r>
                            <a:rPr lang="en-US" sz="3100" i="1">
                              <a:latin typeface="Cambria Math" panose="02040503050406030204" pitchFamily="18" charset="0"/>
                              <a:ea typeface="Times New Roman" panose="02020603050405020304" pitchFamily="18" charset="0"/>
                            </a:rPr>
                            <m:t>4</m:t>
                          </m:r>
                        </m:sup>
                      </m:sSup>
                      <m:r>
                        <a:rPr lang="en-US" sz="3100" i="1">
                          <a:latin typeface="Cambria Math" panose="02040503050406030204" pitchFamily="18" charset="0"/>
                          <a:ea typeface="Times New Roman" panose="02020603050405020304" pitchFamily="18" charset="0"/>
                        </a:rPr>
                        <m:t>+</m:t>
                      </m:r>
                      <m:f>
                        <m:fPr>
                          <m:ctrlPr>
                            <a:rPr lang="en-US" sz="3100" i="1">
                              <a:latin typeface="Cambria Math" panose="02040503050406030204" pitchFamily="18" charset="0"/>
                              <a:ea typeface="Times New Roman" panose="02020603050405020304" pitchFamily="18" charset="0"/>
                            </a:rPr>
                          </m:ctrlPr>
                        </m:fPr>
                        <m:num>
                          <m:sSup>
                            <m:sSupPr>
                              <m:ctrlPr>
                                <a:rPr lang="en-US" sz="3100" i="1">
                                  <a:latin typeface="Cambria Math" panose="02040503050406030204" pitchFamily="18" charset="0"/>
                                  <a:ea typeface="Times New Roman" panose="02020603050405020304" pitchFamily="18" charset="0"/>
                                </a:rPr>
                              </m:ctrlPr>
                            </m:sSupPr>
                            <m:e>
                              <m:r>
                                <a:rPr lang="en-US" sz="3100" i="1">
                                  <a:latin typeface="Cambria Math" panose="02040503050406030204" pitchFamily="18" charset="0"/>
                                  <a:ea typeface="Times New Roman" panose="02020603050405020304" pitchFamily="18" charset="0"/>
                                </a:rPr>
                                <m:t>(</m:t>
                              </m:r>
                              <m:sSup>
                                <m:sSupPr>
                                  <m:ctrlPr>
                                    <a:rPr lang="en-US" sz="3100" i="1">
                                      <a:latin typeface="Cambria Math" panose="02040503050406030204" pitchFamily="18" charset="0"/>
                                      <a:ea typeface="Times New Roman" panose="02020603050405020304" pitchFamily="18" charset="0"/>
                                    </a:rPr>
                                  </m:ctrlPr>
                                </m:sSupPr>
                                <m:e>
                                  <m:sSub>
                                    <m:sSubPr>
                                      <m:ctrlPr>
                                        <a:rPr lang="en-US" sz="3100" i="1">
                                          <a:latin typeface="Cambria Math" panose="02040503050406030204" pitchFamily="18" charset="0"/>
                                          <a:ea typeface="Times New Roman" panose="02020603050405020304" pitchFamily="18" charset="0"/>
                                        </a:rPr>
                                      </m:ctrlPr>
                                    </m:sSubPr>
                                    <m:e>
                                      <m:r>
                                        <a:rPr lang="en-US" sz="3100" i="1">
                                          <a:latin typeface="Cambria Math" panose="02040503050406030204" pitchFamily="18" charset="0"/>
                                          <a:ea typeface="Times New Roman" panose="02020603050405020304" pitchFamily="18" charset="0"/>
                                        </a:rPr>
                                        <m:t>𝑟</m:t>
                                      </m:r>
                                    </m:e>
                                    <m:sub>
                                      <m:r>
                                        <a:rPr lang="en-US" sz="3100" i="1">
                                          <a:latin typeface="Cambria Math" panose="02040503050406030204" pitchFamily="18" charset="0"/>
                                          <a:ea typeface="Times New Roman" panose="02020603050405020304" pitchFamily="18" charset="0"/>
                                        </a:rPr>
                                        <m:t>2</m:t>
                                      </m:r>
                                    </m:sub>
                                  </m:sSub>
                                </m:e>
                                <m:sup>
                                  <m:r>
                                    <a:rPr lang="en-US" sz="3100" i="1">
                                      <a:latin typeface="Cambria Math" panose="02040503050406030204" pitchFamily="18" charset="0"/>
                                      <a:ea typeface="Times New Roman" panose="02020603050405020304" pitchFamily="18" charset="0"/>
                                    </a:rPr>
                                    <m:t>2</m:t>
                                  </m:r>
                                </m:sup>
                              </m:sSup>
                              <m:r>
                                <a:rPr lang="en-US" sz="3100" i="1">
                                  <a:latin typeface="Cambria Math" panose="02040503050406030204" pitchFamily="18" charset="0"/>
                                  <a:ea typeface="Times New Roman" panose="02020603050405020304" pitchFamily="18" charset="0"/>
                                </a:rPr>
                                <m:t>−</m:t>
                              </m:r>
                              <m:sSup>
                                <m:sSupPr>
                                  <m:ctrlPr>
                                    <a:rPr lang="en-US" sz="3100" i="1">
                                      <a:latin typeface="Cambria Math" panose="02040503050406030204" pitchFamily="18" charset="0"/>
                                      <a:ea typeface="Times New Roman" panose="02020603050405020304" pitchFamily="18" charset="0"/>
                                    </a:rPr>
                                  </m:ctrlPr>
                                </m:sSupPr>
                                <m:e>
                                  <m:sSub>
                                    <m:sSubPr>
                                      <m:ctrlPr>
                                        <a:rPr lang="en-US" sz="3100" i="1">
                                          <a:latin typeface="Cambria Math" panose="02040503050406030204" pitchFamily="18" charset="0"/>
                                          <a:ea typeface="Times New Roman" panose="02020603050405020304" pitchFamily="18" charset="0"/>
                                        </a:rPr>
                                      </m:ctrlPr>
                                    </m:sSubPr>
                                    <m:e>
                                      <m:r>
                                        <a:rPr lang="en-US" sz="3100" i="1">
                                          <a:latin typeface="Cambria Math" panose="02040503050406030204" pitchFamily="18" charset="0"/>
                                          <a:ea typeface="Times New Roman" panose="02020603050405020304" pitchFamily="18" charset="0"/>
                                        </a:rPr>
                                        <m:t>𝑟</m:t>
                                      </m:r>
                                    </m:e>
                                    <m:sub>
                                      <m:r>
                                        <a:rPr lang="en-US" sz="3100" i="1">
                                          <a:latin typeface="Cambria Math" panose="02040503050406030204" pitchFamily="18" charset="0"/>
                                          <a:ea typeface="Times New Roman" panose="02020603050405020304" pitchFamily="18" charset="0"/>
                                        </a:rPr>
                                        <m:t>1</m:t>
                                      </m:r>
                                    </m:sub>
                                  </m:sSub>
                                </m:e>
                                <m:sup>
                                  <m:r>
                                    <a:rPr lang="en-US" sz="3100" i="1">
                                      <a:latin typeface="Cambria Math" panose="02040503050406030204" pitchFamily="18" charset="0"/>
                                      <a:ea typeface="Times New Roman" panose="02020603050405020304" pitchFamily="18" charset="0"/>
                                    </a:rPr>
                                    <m:t>2</m:t>
                                  </m:r>
                                </m:sup>
                              </m:sSup>
                              <m:r>
                                <a:rPr lang="en-US" sz="3100" i="1">
                                  <a:latin typeface="Cambria Math" panose="02040503050406030204" pitchFamily="18" charset="0"/>
                                  <a:ea typeface="Times New Roman" panose="02020603050405020304" pitchFamily="18" charset="0"/>
                                </a:rPr>
                                <m:t>)</m:t>
                              </m:r>
                            </m:e>
                            <m:sup>
                              <m:r>
                                <a:rPr lang="en-US" sz="3100" i="1">
                                  <a:latin typeface="Cambria Math" panose="02040503050406030204" pitchFamily="18" charset="0"/>
                                  <a:ea typeface="Times New Roman" panose="02020603050405020304" pitchFamily="18" charset="0"/>
                                </a:rPr>
                                <m:t>2</m:t>
                              </m:r>
                            </m:sup>
                          </m:sSup>
                        </m:num>
                        <m:den>
                          <m:r>
                            <m:rPr>
                              <m:sty m:val="p"/>
                            </m:rPr>
                            <a:rPr lang="en-US" sz="3100">
                              <a:latin typeface="Cambria Math" panose="02040503050406030204" pitchFamily="18" charset="0"/>
                              <a:ea typeface="Times New Roman" panose="02020603050405020304" pitchFamily="18" charset="0"/>
                            </a:rPr>
                            <m:t>ln</m:t>
                          </m:r>
                          <m:r>
                            <a:rPr lang="en-US" sz="3100">
                              <a:latin typeface="Cambria Math" panose="02040503050406030204" pitchFamily="18" charset="0"/>
                              <a:ea typeface="Times New Roman" panose="02020603050405020304" pitchFamily="18" charset="0"/>
                            </a:rPr>
                            <m:t>⁡</m:t>
                          </m:r>
                          <m:r>
                            <a:rPr lang="en-US" sz="3100" i="1">
                              <a:latin typeface="Cambria Math" panose="02040503050406030204" pitchFamily="18" charset="0"/>
                              <a:ea typeface="Times New Roman" panose="02020603050405020304" pitchFamily="18" charset="0"/>
                            </a:rPr>
                            <m:t>(</m:t>
                          </m:r>
                          <m:f>
                            <m:fPr>
                              <m:type m:val="lin"/>
                              <m:ctrlPr>
                                <a:rPr lang="en-US" sz="3100" i="1">
                                  <a:latin typeface="Cambria Math" panose="02040503050406030204" pitchFamily="18" charset="0"/>
                                  <a:ea typeface="Times New Roman" panose="02020603050405020304" pitchFamily="18" charset="0"/>
                                </a:rPr>
                              </m:ctrlPr>
                            </m:fPr>
                            <m:num>
                              <m:sSub>
                                <m:sSubPr>
                                  <m:ctrlPr>
                                    <a:rPr lang="en-US" sz="3100" i="1">
                                      <a:latin typeface="Cambria Math" panose="02040503050406030204" pitchFamily="18" charset="0"/>
                                      <a:ea typeface="Times New Roman" panose="02020603050405020304" pitchFamily="18" charset="0"/>
                                    </a:rPr>
                                  </m:ctrlPr>
                                </m:sSubPr>
                                <m:e>
                                  <m:r>
                                    <a:rPr lang="en-US" sz="3100" i="1">
                                      <a:latin typeface="Cambria Math" panose="02040503050406030204" pitchFamily="18" charset="0"/>
                                      <a:ea typeface="Times New Roman" panose="02020603050405020304" pitchFamily="18" charset="0"/>
                                    </a:rPr>
                                    <m:t>𝑟</m:t>
                                  </m:r>
                                </m:e>
                                <m:sub>
                                  <m:r>
                                    <a:rPr lang="en-US" sz="3100" i="1">
                                      <a:latin typeface="Cambria Math" panose="02040503050406030204" pitchFamily="18" charset="0"/>
                                      <a:ea typeface="Times New Roman" panose="02020603050405020304" pitchFamily="18" charset="0"/>
                                    </a:rPr>
                                    <m:t>2</m:t>
                                  </m:r>
                                </m:sub>
                              </m:sSub>
                            </m:num>
                            <m:den>
                              <m:sSub>
                                <m:sSubPr>
                                  <m:ctrlPr>
                                    <a:rPr lang="en-US" sz="3100" i="1">
                                      <a:latin typeface="Cambria Math" panose="02040503050406030204" pitchFamily="18" charset="0"/>
                                      <a:ea typeface="Times New Roman" panose="02020603050405020304" pitchFamily="18" charset="0"/>
                                    </a:rPr>
                                  </m:ctrlPr>
                                </m:sSubPr>
                                <m:e>
                                  <m:r>
                                    <a:rPr lang="en-US" sz="3100" i="1">
                                      <a:latin typeface="Cambria Math" panose="02040503050406030204" pitchFamily="18" charset="0"/>
                                      <a:ea typeface="Times New Roman" panose="02020603050405020304" pitchFamily="18" charset="0"/>
                                    </a:rPr>
                                    <m:t>𝑟</m:t>
                                  </m:r>
                                </m:e>
                                <m:sub>
                                  <m:r>
                                    <a:rPr lang="en-US" sz="3100" i="1">
                                      <a:latin typeface="Cambria Math" panose="02040503050406030204" pitchFamily="18" charset="0"/>
                                      <a:ea typeface="Times New Roman" panose="02020603050405020304" pitchFamily="18" charset="0"/>
                                    </a:rPr>
                                    <m:t>1</m:t>
                                  </m:r>
                                </m:sub>
                              </m:sSub>
                              <m:r>
                                <a:rPr lang="en-US" sz="3100" i="1">
                                  <a:latin typeface="Cambria Math" panose="02040503050406030204" pitchFamily="18" charset="0"/>
                                  <a:ea typeface="Times New Roman" panose="02020603050405020304" pitchFamily="18" charset="0"/>
                                </a:rPr>
                                <m:t>)</m:t>
                              </m:r>
                            </m:den>
                          </m:f>
                        </m:den>
                      </m:f>
                    </m:oMath>
                  </m:oMathPara>
                </a14:m>
                <a:endParaRPr lang="en-US" sz="3100" dirty="0">
                  <a:effectLst/>
                  <a:latin typeface="Times New Roman" panose="02020603050405020304" pitchFamily="18" charset="0"/>
                  <a:ea typeface="Times New Roman" panose="02020603050405020304" pitchFamily="18" charset="0"/>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104503"/>
                <a:ext cx="12192000" cy="6601097"/>
              </a:xfrm>
              <a:blipFill>
                <a:blip r:embed="rId3"/>
                <a:stretch>
                  <a:fillRect l="-450"/>
                </a:stretch>
              </a:blipFill>
            </p:spPr>
            <p:txBody>
              <a:bodyPr/>
              <a:lstStyle/>
              <a:p>
                <a:r>
                  <a:rPr lang="en-GH">
                    <a:noFill/>
                  </a:rPr>
                  <a:t> </a:t>
                </a:r>
              </a:p>
            </p:txBody>
          </p:sp>
        </mc:Fallback>
      </mc:AlternateContent>
    </p:spTree>
    <p:extLst>
      <p:ext uri="{BB962C8B-B14F-4D97-AF65-F5344CB8AC3E}">
        <p14:creationId xmlns:p14="http://schemas.microsoft.com/office/powerpoint/2010/main" val="41592025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507B9B8A-9B70-1C5C-4E60-09514C3A6288}"/>
                  </a:ext>
                </a:extLst>
              </p:cNvPr>
              <p:cNvSpPr>
                <a:spLocks noGrp="1"/>
              </p:cNvSpPr>
              <p:nvPr>
                <p:ph idx="1"/>
              </p:nvPr>
            </p:nvSpPr>
            <p:spPr>
              <a:xfrm>
                <a:off x="193040" y="762000"/>
                <a:ext cx="11430000" cy="5923280"/>
              </a:xfrm>
            </p:spPr>
            <p:txBody>
              <a:bodyPr>
                <a:noAutofit/>
              </a:bodyPr>
              <a:lstStyle/>
              <a:p>
                <a:pPr>
                  <a:spcAft>
                    <a:spcPts val="1800"/>
                  </a:spcAft>
                </a:pPr>
                <a:r>
                  <a:rPr lang="en-CA" sz="2400" dirty="0"/>
                  <a:t>In ME 252, it was seen that for inviscid flow between any two sections or stations, the total energy per unit weight is given by the Bernoulli theorem as</a:t>
                </a:r>
                <a:endParaRPr kumimoji="0" lang="en-CA" sz="2400" b="0" i="1" u="none" strike="noStrike" kern="1200" cap="none" spc="0" normalizeH="0" baseline="0" noProof="0" dirty="0">
                  <a:ln>
                    <a:noFill/>
                  </a:ln>
                  <a:solidFill>
                    <a:schemeClr val="tx1"/>
                  </a:solidFill>
                  <a:effectLst/>
                  <a:uLnTx/>
                  <a:uFillTx/>
                  <a:cs typeface="+mn-cs"/>
                </a:endParaRPr>
              </a:p>
              <a:p>
                <a:pPr marL="0" indent="0" algn="ctr">
                  <a:lnSpc>
                    <a:spcPct val="100000"/>
                  </a:lnSpc>
                  <a:spcBef>
                    <a:spcPts val="0"/>
                  </a:spcBef>
                  <a:buNone/>
                </a:pPr>
                <a14:m>
                  <m:oMathPara xmlns:m="http://schemas.openxmlformats.org/officeDocument/2006/math">
                    <m:oMathParaPr>
                      <m:jc m:val="centerGroup"/>
                    </m:oMathParaPr>
                    <m:oMath xmlns:m="http://schemas.openxmlformats.org/officeDocument/2006/math">
                      <m:d>
                        <m:dPr>
                          <m:ctrlPr>
                            <a:rPr kumimoji="0" lang="en-CA" sz="2400" b="0"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dPr>
                        <m:e>
                          <m:f>
                            <m:fPr>
                              <m:ctrlPr>
                                <a:rPr kumimoji="0" lang="en-CA" sz="2400" b="0" i="1" u="none" strike="noStrike" kern="1200" cap="none" spc="0" normalizeH="0" baseline="0" noProof="0">
                                  <a:ln>
                                    <a:noFill/>
                                  </a:ln>
                                  <a:solidFill>
                                    <a:schemeClr val="tx1"/>
                                  </a:solidFill>
                                  <a:effectLst/>
                                  <a:uLnTx/>
                                  <a:uFillTx/>
                                  <a:latin typeface="Cambria Math" panose="02040503050406030204" pitchFamily="18" charset="0"/>
                                  <a:cs typeface="+mn-cs"/>
                                </a:rPr>
                              </m:ctrlPr>
                            </m:fPr>
                            <m:num>
                              <m:sSub>
                                <m:sSubPr>
                                  <m:ctrlPr>
                                    <a:rPr kumimoji="0" lang="en-CA" sz="24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CA" sz="2400" b="0" i="1" u="none" strike="noStrike" kern="1200" cap="none" spc="0" normalizeH="0" baseline="0" noProof="0">
                                      <a:ln>
                                        <a:noFill/>
                                      </a:ln>
                                      <a:solidFill>
                                        <a:schemeClr val="tx1"/>
                                      </a:solidFill>
                                      <a:effectLst/>
                                      <a:uLnTx/>
                                      <a:uFillTx/>
                                      <a:latin typeface="Cambria Math" panose="02040503050406030204" pitchFamily="18" charset="0"/>
                                      <a:cs typeface="+mn-cs"/>
                                    </a:rPr>
                                    <m:t>𝑝</m:t>
                                  </m:r>
                                </m:e>
                                <m:sub>
                                  <m:r>
                                    <a:rPr kumimoji="0" lang="en-CA" sz="2400" b="0" i="1" u="none" strike="noStrike" kern="1200" cap="none" spc="0" normalizeH="0" baseline="0" noProof="0">
                                      <a:ln>
                                        <a:noFill/>
                                      </a:ln>
                                      <a:solidFill>
                                        <a:schemeClr val="tx1"/>
                                      </a:solidFill>
                                      <a:effectLst/>
                                      <a:uLnTx/>
                                      <a:uFillTx/>
                                      <a:latin typeface="Cambria Math" panose="02040503050406030204" pitchFamily="18" charset="0"/>
                                      <a:cs typeface="+mn-cs"/>
                                    </a:rPr>
                                    <m:t>1</m:t>
                                  </m:r>
                                </m:sub>
                              </m:sSub>
                            </m:num>
                            <m:den>
                              <m:r>
                                <a:rPr kumimoji="0" lang="en-CA" sz="24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𝜌</m:t>
                              </m:r>
                              <m:r>
                                <a:rPr kumimoji="0" lang="en-GB" sz="24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𝑔</m:t>
                              </m:r>
                            </m:den>
                          </m:f>
                          <m:r>
                            <a:rPr kumimoji="0" lang="en-CA" sz="24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m:t>
                          </m:r>
                          <m:f>
                            <m:fPr>
                              <m:ctrlPr>
                                <a:rPr kumimoji="0" lang="en-CA" sz="2400" b="0" i="1" u="none" strike="noStrike" kern="1200" cap="none" spc="0" normalizeH="0" baseline="0" noProof="0">
                                  <a:ln>
                                    <a:noFill/>
                                  </a:ln>
                                  <a:solidFill>
                                    <a:schemeClr val="tx1"/>
                                  </a:solidFill>
                                  <a:effectLst/>
                                  <a:uLnTx/>
                                  <a:uFillTx/>
                                  <a:latin typeface="Cambria Math" panose="02040503050406030204" pitchFamily="18" charset="0"/>
                                  <a:cs typeface="+mn-cs"/>
                                </a:rPr>
                              </m:ctrlPr>
                            </m:fPr>
                            <m:num>
                              <m:sSubSup>
                                <m:sSubSupPr>
                                  <m:ctrlPr>
                                    <a:rPr kumimoji="0" lang="en-CA" sz="24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ctrlPr>
                                </m:sSubSupPr>
                                <m:e>
                                  <m:r>
                                    <a:rPr kumimoji="0" lang="en-GB" sz="24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𝑉</m:t>
                                  </m:r>
                                </m:e>
                                <m:sub>
                                  <m:r>
                                    <a:rPr kumimoji="0" lang="en-CA" sz="24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1</m:t>
                                  </m:r>
                                </m:sub>
                                <m:sup>
                                  <m:r>
                                    <a:rPr kumimoji="0" lang="en-CA" sz="24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2</m:t>
                                  </m:r>
                                </m:sup>
                              </m:sSubSup>
                            </m:num>
                            <m:den>
                              <m:r>
                                <a:rPr kumimoji="0" lang="en-CA" sz="24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2</m:t>
                              </m:r>
                              <m:r>
                                <a:rPr kumimoji="0" lang="en-GB" sz="24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𝑔</m:t>
                              </m:r>
                            </m:den>
                          </m:f>
                          <m:r>
                            <a:rPr kumimoji="0" lang="en-CA" sz="24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m:t>
                          </m:r>
                          <m:sSub>
                            <m:sSubPr>
                              <m:ctrlPr>
                                <a:rPr kumimoji="0" lang="en-CA" sz="24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CA" sz="2400" b="0" i="1" u="none" strike="noStrike" kern="1200" cap="none" spc="0" normalizeH="0" baseline="0" noProof="0">
                                  <a:ln>
                                    <a:noFill/>
                                  </a:ln>
                                  <a:solidFill>
                                    <a:schemeClr val="tx1"/>
                                  </a:solidFill>
                                  <a:effectLst/>
                                  <a:uLnTx/>
                                  <a:uFillTx/>
                                  <a:latin typeface="Cambria Math" panose="02040503050406030204" pitchFamily="18" charset="0"/>
                                  <a:cs typeface="+mn-cs"/>
                                </a:rPr>
                                <m:t>𝑧</m:t>
                              </m:r>
                            </m:e>
                            <m:sub>
                              <m:r>
                                <a:rPr kumimoji="0" lang="en-CA" sz="2400" b="0" i="1" u="none" strike="noStrike" kern="1200" cap="none" spc="0" normalizeH="0" baseline="0" noProof="0">
                                  <a:ln>
                                    <a:noFill/>
                                  </a:ln>
                                  <a:solidFill>
                                    <a:schemeClr val="tx1"/>
                                  </a:solidFill>
                                  <a:effectLst/>
                                  <a:uLnTx/>
                                  <a:uFillTx/>
                                  <a:latin typeface="Cambria Math" panose="02040503050406030204" pitchFamily="18" charset="0"/>
                                  <a:cs typeface="+mn-cs"/>
                                </a:rPr>
                                <m:t>1</m:t>
                              </m:r>
                            </m:sub>
                          </m:sSub>
                        </m:e>
                      </m:d>
                      <m:r>
                        <a:rPr kumimoji="0" lang="en-GB" sz="2400" b="0"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d>
                        <m:dPr>
                          <m:ctrlPr>
                            <a:rPr lang="en-CA" sz="2400" i="1">
                              <a:latin typeface="Cambria Math" panose="02040503050406030204" pitchFamily="18" charset="0"/>
                            </a:rPr>
                          </m:ctrlPr>
                        </m:dPr>
                        <m:e>
                          <m:f>
                            <m:fPr>
                              <m:ctrlPr>
                                <a:rPr lang="en-CA" sz="2400" i="1">
                                  <a:latin typeface="Cambria Math" panose="02040503050406030204" pitchFamily="18" charset="0"/>
                                </a:rPr>
                              </m:ctrlPr>
                            </m:fPr>
                            <m:num>
                              <m:sSub>
                                <m:sSubPr>
                                  <m:ctrlPr>
                                    <a:rPr lang="en-CA" sz="2400" i="1">
                                      <a:latin typeface="Cambria Math" panose="02040503050406030204" pitchFamily="18" charset="0"/>
                                    </a:rPr>
                                  </m:ctrlPr>
                                </m:sSubPr>
                                <m:e>
                                  <m:r>
                                    <a:rPr lang="en-CA" sz="2400" i="1">
                                      <a:latin typeface="Cambria Math" panose="02040503050406030204" pitchFamily="18" charset="0"/>
                                    </a:rPr>
                                    <m:t>𝑝</m:t>
                                  </m:r>
                                </m:e>
                                <m:sub>
                                  <m:r>
                                    <a:rPr lang="en-CA" sz="2400" i="1">
                                      <a:latin typeface="Cambria Math" panose="02040503050406030204" pitchFamily="18" charset="0"/>
                                    </a:rPr>
                                    <m:t>2</m:t>
                                  </m:r>
                                </m:sub>
                              </m:sSub>
                            </m:num>
                            <m:den>
                              <m:r>
                                <a:rPr lang="en-CA" sz="2400" i="1">
                                  <a:latin typeface="Cambria Math" panose="02040503050406030204" pitchFamily="18" charset="0"/>
                                  <a:ea typeface="Cambria Math" panose="02040503050406030204" pitchFamily="18" charset="0"/>
                                </a:rPr>
                                <m:t>𝜌</m:t>
                              </m:r>
                              <m:r>
                                <a:rPr lang="en-GB" sz="2400" b="0" i="1" smtClean="0">
                                  <a:latin typeface="Cambria Math" panose="02040503050406030204" pitchFamily="18" charset="0"/>
                                  <a:ea typeface="Cambria Math" panose="02040503050406030204" pitchFamily="18" charset="0"/>
                                </a:rPr>
                                <m:t>𝑔</m:t>
                              </m:r>
                            </m:den>
                          </m:f>
                          <m:r>
                            <a:rPr lang="en-CA" sz="2400" i="1">
                              <a:latin typeface="Cambria Math" panose="02040503050406030204" pitchFamily="18" charset="0"/>
                              <a:ea typeface="Cambria Math" panose="02040503050406030204" pitchFamily="18" charset="0"/>
                            </a:rPr>
                            <m:t>+</m:t>
                          </m:r>
                          <m:f>
                            <m:fPr>
                              <m:ctrlPr>
                                <a:rPr lang="en-CA" sz="2400" i="1">
                                  <a:latin typeface="Cambria Math" panose="02040503050406030204" pitchFamily="18" charset="0"/>
                                </a:rPr>
                              </m:ctrlPr>
                            </m:fPr>
                            <m:num>
                              <m:sSubSup>
                                <m:sSubSupPr>
                                  <m:ctrlPr>
                                    <a:rPr lang="en-CA" sz="2400" i="1">
                                      <a:latin typeface="Cambria Math" panose="02040503050406030204" pitchFamily="18" charset="0"/>
                                      <a:ea typeface="Cambria Math" panose="02040503050406030204" pitchFamily="18" charset="0"/>
                                    </a:rPr>
                                  </m:ctrlPr>
                                </m:sSubSupPr>
                                <m:e>
                                  <m:r>
                                    <a:rPr lang="en-GB" sz="2400" i="1">
                                      <a:latin typeface="Cambria Math" panose="02040503050406030204" pitchFamily="18" charset="0"/>
                                      <a:ea typeface="Cambria Math" panose="02040503050406030204" pitchFamily="18" charset="0"/>
                                    </a:rPr>
                                    <m:t>𝑉</m:t>
                                  </m:r>
                                </m:e>
                                <m:sub>
                                  <m:r>
                                    <a:rPr lang="en-GB" sz="2400" b="0" i="1" smtClean="0">
                                      <a:latin typeface="Cambria Math" panose="02040503050406030204" pitchFamily="18" charset="0"/>
                                      <a:ea typeface="Cambria Math" panose="02040503050406030204" pitchFamily="18" charset="0"/>
                                    </a:rPr>
                                    <m:t>2</m:t>
                                  </m:r>
                                </m:sub>
                                <m:sup>
                                  <m:r>
                                    <a:rPr lang="en-CA" sz="2400" i="1">
                                      <a:latin typeface="Cambria Math" panose="02040503050406030204" pitchFamily="18" charset="0"/>
                                      <a:ea typeface="Cambria Math" panose="02040503050406030204" pitchFamily="18" charset="0"/>
                                    </a:rPr>
                                    <m:t>2</m:t>
                                  </m:r>
                                </m:sup>
                              </m:sSubSup>
                            </m:num>
                            <m:den>
                              <m:r>
                                <a:rPr lang="en-CA" sz="2400" i="1">
                                  <a:latin typeface="Cambria Math" panose="02040503050406030204" pitchFamily="18" charset="0"/>
                                  <a:ea typeface="Cambria Math" panose="02040503050406030204" pitchFamily="18" charset="0"/>
                                </a:rPr>
                                <m:t>2</m:t>
                              </m:r>
                              <m:r>
                                <a:rPr lang="en-GB" sz="2400" b="0" i="1" smtClean="0">
                                  <a:latin typeface="Cambria Math" panose="02040503050406030204" pitchFamily="18" charset="0"/>
                                  <a:ea typeface="Cambria Math" panose="02040503050406030204" pitchFamily="18" charset="0"/>
                                </a:rPr>
                                <m:t>𝑔</m:t>
                              </m:r>
                            </m:den>
                          </m:f>
                          <m:r>
                            <a:rPr lang="en-CA" sz="2400" i="1">
                              <a:latin typeface="Cambria Math" panose="02040503050406030204" pitchFamily="18" charset="0"/>
                              <a:ea typeface="Cambria Math" panose="02040503050406030204" pitchFamily="18" charset="0"/>
                            </a:rPr>
                            <m:t>+</m:t>
                          </m:r>
                          <m:sSub>
                            <m:sSubPr>
                              <m:ctrlPr>
                                <a:rPr lang="en-CA" sz="2400" i="1">
                                  <a:latin typeface="Cambria Math" panose="02040503050406030204" pitchFamily="18" charset="0"/>
                                </a:rPr>
                              </m:ctrlPr>
                            </m:sSubPr>
                            <m:e>
                              <m:r>
                                <a:rPr lang="en-CA" sz="2400" i="1">
                                  <a:latin typeface="Cambria Math" panose="02040503050406030204" pitchFamily="18" charset="0"/>
                                </a:rPr>
                                <m:t>𝑧</m:t>
                              </m:r>
                            </m:e>
                            <m:sub>
                              <m:r>
                                <a:rPr lang="en-CA" sz="2400" i="1">
                                  <a:latin typeface="Cambria Math" panose="02040503050406030204" pitchFamily="18" charset="0"/>
                                </a:rPr>
                                <m:t>2</m:t>
                              </m:r>
                            </m:sub>
                          </m:sSub>
                        </m:e>
                      </m:d>
                    </m:oMath>
                  </m:oMathPara>
                </a14:m>
                <a:endParaRPr lang="en-CA" sz="2400" dirty="0"/>
              </a:p>
              <a:p>
                <a:pPr marL="0" indent="0">
                  <a:spcBef>
                    <a:spcPts val="1200"/>
                  </a:spcBef>
                  <a:buNone/>
                </a:pPr>
                <a:r>
                  <a:rPr lang="en-CA" sz="2400" dirty="0"/>
                  <a:t>which is based on the assumption of frictionless flow and uniform velocity profile at all sections.</a:t>
                </a:r>
              </a:p>
              <a:p>
                <a:pPr>
                  <a:lnSpc>
                    <a:spcPct val="100000"/>
                  </a:lnSpc>
                </a:pPr>
                <a:r>
                  <a:rPr lang="en-CA" sz="2400" dirty="0"/>
                  <a:t>That is, the expression</a:t>
                </a:r>
                <a:endParaRPr kumimoji="0" lang="en-CA" sz="2400" b="0" i="1" u="none" strike="noStrike" kern="1200" cap="none" spc="0" normalizeH="0" baseline="0" noProof="0" dirty="0">
                  <a:ln>
                    <a:noFill/>
                  </a:ln>
                  <a:solidFill>
                    <a:schemeClr val="tx1"/>
                  </a:solidFill>
                  <a:effectLst/>
                  <a:uLnTx/>
                  <a:uFillTx/>
                  <a:cs typeface="+mn-cs"/>
                </a:endParaRPr>
              </a:p>
              <a:p>
                <a:pPr marL="0" indent="0" algn="ctr">
                  <a:lnSpc>
                    <a:spcPct val="100000"/>
                  </a:lnSpc>
                  <a:spcBef>
                    <a:spcPts val="0"/>
                  </a:spcBef>
                  <a:buNone/>
                </a:pPr>
                <a14:m>
                  <m:oMathPara xmlns:m="http://schemas.openxmlformats.org/officeDocument/2006/math">
                    <m:oMathParaPr>
                      <m:jc m:val="centerGroup"/>
                    </m:oMathParaPr>
                    <m:oMath xmlns:m="http://schemas.openxmlformats.org/officeDocument/2006/math">
                      <m:d>
                        <m:dPr>
                          <m:ctrlPr>
                            <a:rPr kumimoji="0" lang="en-CA" sz="2400" b="0"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dPr>
                        <m:e>
                          <m:f>
                            <m:fPr>
                              <m:ctrlPr>
                                <a:rPr kumimoji="0" lang="en-CA" sz="2400" b="0" i="1" u="none" strike="noStrike" kern="1200" cap="none" spc="0" normalizeH="0" baseline="0" noProof="0">
                                  <a:ln>
                                    <a:noFill/>
                                  </a:ln>
                                  <a:solidFill>
                                    <a:schemeClr val="tx1"/>
                                  </a:solidFill>
                                  <a:effectLst/>
                                  <a:uLnTx/>
                                  <a:uFillTx/>
                                  <a:latin typeface="Cambria Math" panose="02040503050406030204" pitchFamily="18" charset="0"/>
                                  <a:cs typeface="+mn-cs"/>
                                </a:rPr>
                              </m:ctrlPr>
                            </m:fPr>
                            <m:num>
                              <m:r>
                                <a:rPr kumimoji="0" lang="en-GB" sz="24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𝑝</m:t>
                              </m:r>
                            </m:num>
                            <m:den>
                              <m:r>
                                <a:rPr kumimoji="0" lang="en-CA" sz="24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𝜌</m:t>
                              </m:r>
                              <m:r>
                                <a:rPr kumimoji="0" lang="en-GB" sz="24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𝑔</m:t>
                              </m:r>
                            </m:den>
                          </m:f>
                          <m:r>
                            <a:rPr kumimoji="0" lang="en-CA" sz="24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m:t>
                          </m:r>
                          <m:f>
                            <m:fPr>
                              <m:ctrlPr>
                                <a:rPr kumimoji="0" lang="en-CA" sz="2400" b="0" i="1" u="none" strike="noStrike" kern="1200" cap="none" spc="0" normalizeH="0" baseline="0" noProof="0">
                                  <a:ln>
                                    <a:noFill/>
                                  </a:ln>
                                  <a:solidFill>
                                    <a:schemeClr val="tx1"/>
                                  </a:solidFill>
                                  <a:effectLst/>
                                  <a:uLnTx/>
                                  <a:uFillTx/>
                                  <a:latin typeface="Cambria Math" panose="02040503050406030204" pitchFamily="18" charset="0"/>
                                  <a:cs typeface="+mn-cs"/>
                                </a:rPr>
                              </m:ctrlPr>
                            </m:fPr>
                            <m:num>
                              <m:sSup>
                                <m:sSupPr>
                                  <m:ctrlPr>
                                    <a:rPr kumimoji="0" lang="en-CA" sz="2400" b="0"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pPr>
                                <m:e>
                                  <m:r>
                                    <a:rPr kumimoji="0" lang="en-GB" sz="24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𝑉</m:t>
                                  </m:r>
                                </m:e>
                                <m:sup>
                                  <m:r>
                                    <a:rPr kumimoji="0" lang="en-GB" sz="2400" b="0" i="1" u="none" strike="noStrike" kern="1200" cap="none" spc="0" normalizeH="0" baseline="0" noProof="0" smtClean="0">
                                      <a:ln>
                                        <a:noFill/>
                                      </a:ln>
                                      <a:solidFill>
                                        <a:schemeClr val="tx1"/>
                                      </a:solidFill>
                                      <a:effectLst/>
                                      <a:uLnTx/>
                                      <a:uFillTx/>
                                      <a:latin typeface="Cambria Math" panose="02040503050406030204" pitchFamily="18" charset="0"/>
                                      <a:cs typeface="+mn-cs"/>
                                    </a:rPr>
                                    <m:t>2</m:t>
                                  </m:r>
                                </m:sup>
                              </m:sSup>
                            </m:num>
                            <m:den>
                              <m:r>
                                <a:rPr kumimoji="0" lang="en-CA" sz="24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2</m:t>
                              </m:r>
                              <m:r>
                                <a:rPr kumimoji="0" lang="en-GB" sz="24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𝑔</m:t>
                              </m:r>
                            </m:den>
                          </m:f>
                          <m:r>
                            <a:rPr kumimoji="0" lang="en-CA" sz="24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m:t>
                          </m:r>
                          <m:r>
                            <a:rPr kumimoji="0" lang="en-GB" sz="24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𝑧</m:t>
                          </m:r>
                        </m:e>
                      </m:d>
                    </m:oMath>
                  </m:oMathPara>
                </a14:m>
                <a:endParaRPr lang="en-CA" sz="2400" dirty="0"/>
              </a:p>
              <a:p>
                <a:pPr marL="0" indent="0">
                  <a:lnSpc>
                    <a:spcPct val="100000"/>
                  </a:lnSpc>
                  <a:spcBef>
                    <a:spcPts val="1200"/>
                  </a:spcBef>
                  <a:buNone/>
                </a:pPr>
                <a:r>
                  <a:rPr lang="en-CA" sz="2400" dirty="0"/>
                  <a:t>which is a measure of the total mechanical energy per unit weight (or total head) in the flow is constant.</a:t>
                </a:r>
              </a:p>
              <a:p>
                <a:pPr>
                  <a:lnSpc>
                    <a:spcPct val="100000"/>
                  </a:lnSpc>
                  <a:spcBef>
                    <a:spcPts val="1200"/>
                  </a:spcBef>
                </a:pPr>
                <a:r>
                  <a:rPr lang="en-CA" sz="2400" dirty="0"/>
                  <a:t>For flows affected by viscosity (e.g., flow in pipes), the total head (total mechanical energy per unit mass ) can not be assumed to be constant! Why?</a:t>
                </a:r>
                <a:endParaRPr kumimoji="0" lang="en-CA" sz="2400" b="0" i="1" u="none" strike="noStrike" kern="1200" cap="none" spc="0" normalizeH="0" baseline="0" noProof="0" dirty="0">
                  <a:ln>
                    <a:noFill/>
                  </a:ln>
                  <a:solidFill>
                    <a:schemeClr val="tx1"/>
                  </a:solidFill>
                  <a:effectLst/>
                  <a:uLnTx/>
                  <a:uFillTx/>
                  <a:cs typeface="+mn-cs"/>
                </a:endParaRPr>
              </a:p>
            </p:txBody>
          </p:sp>
        </mc:Choice>
        <mc:Fallback xmlns="">
          <p:sp>
            <p:nvSpPr>
              <p:cNvPr id="5" name="Content Placeholder 2">
                <a:extLst>
                  <a:ext uri="{FF2B5EF4-FFF2-40B4-BE49-F238E27FC236}">
                    <a16:creationId xmlns:a16="http://schemas.microsoft.com/office/drawing/2014/main" id="{507B9B8A-9B70-1C5C-4E60-09514C3A6288}"/>
                  </a:ext>
                </a:extLst>
              </p:cNvPr>
              <p:cNvSpPr>
                <a:spLocks noGrp="1" noRot="1" noChangeAspect="1" noMove="1" noResize="1" noEditPoints="1" noAdjustHandles="1" noChangeArrowheads="1" noChangeShapeType="1" noTextEdit="1"/>
              </p:cNvSpPr>
              <p:nvPr>
                <p:ph idx="1"/>
              </p:nvPr>
            </p:nvSpPr>
            <p:spPr>
              <a:xfrm>
                <a:off x="193040" y="762000"/>
                <a:ext cx="11430000" cy="5923280"/>
              </a:xfrm>
              <a:blipFill>
                <a:blip r:embed="rId3"/>
                <a:stretch>
                  <a:fillRect l="-853" t="-1440" b="-823"/>
                </a:stretch>
              </a:blipFill>
            </p:spPr>
            <p:txBody>
              <a:bodyPr/>
              <a:lstStyle/>
              <a:p>
                <a:r>
                  <a:rPr lang="en-GH">
                    <a:noFill/>
                  </a:rPr>
                  <a:t> </a:t>
                </a:r>
              </a:p>
            </p:txBody>
          </p:sp>
        </mc:Fallback>
      </mc:AlternateContent>
      <p:sp>
        <p:nvSpPr>
          <p:cNvPr id="7" name="Title 1">
            <a:extLst>
              <a:ext uri="{FF2B5EF4-FFF2-40B4-BE49-F238E27FC236}">
                <a16:creationId xmlns:a16="http://schemas.microsoft.com/office/drawing/2014/main" id="{83F72B3C-9DA7-5FDC-9186-C2D4086C5F16}"/>
              </a:ext>
            </a:extLst>
          </p:cNvPr>
          <p:cNvSpPr txBox="1">
            <a:spLocks/>
          </p:cNvSpPr>
          <p:nvPr/>
        </p:nvSpPr>
        <p:spPr>
          <a:xfrm>
            <a:off x="1696720" y="93707"/>
            <a:ext cx="7886700" cy="56894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000" b="1" kern="1200">
                <a:solidFill>
                  <a:srgbClr val="0000FF"/>
                </a:solidFill>
                <a:latin typeface="Myriad Web Pro"/>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CA" sz="2800" b="1" i="0" u="none" strike="noStrike" kern="1200" cap="none" spc="0" normalizeH="0" baseline="0" noProof="0" dirty="0">
                <a:ln>
                  <a:noFill/>
                </a:ln>
                <a:solidFill>
                  <a:schemeClr val="tx1"/>
                </a:solidFill>
                <a:effectLst/>
                <a:uLnTx/>
                <a:uFillTx/>
                <a:latin typeface="+mn-lt"/>
                <a:ea typeface="+mj-ea"/>
                <a:cs typeface="+mj-cs"/>
              </a:rPr>
              <a:t>Energy Considerations in Pipe Flow</a:t>
            </a:r>
          </a:p>
        </p:txBody>
      </p:sp>
    </p:spTree>
    <p:extLst>
      <p:ext uri="{BB962C8B-B14F-4D97-AF65-F5344CB8AC3E}">
        <p14:creationId xmlns:p14="http://schemas.microsoft.com/office/powerpoint/2010/main" val="12418404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507B9B8A-9B70-1C5C-4E60-09514C3A6288}"/>
                  </a:ext>
                </a:extLst>
              </p:cNvPr>
              <p:cNvSpPr>
                <a:spLocks noGrp="1"/>
              </p:cNvSpPr>
              <p:nvPr>
                <p:ph idx="1"/>
              </p:nvPr>
            </p:nvSpPr>
            <p:spPr>
              <a:xfrm>
                <a:off x="193040" y="711200"/>
                <a:ext cx="11998960" cy="6073414"/>
              </a:xfrm>
            </p:spPr>
            <p:txBody>
              <a:bodyPr>
                <a:noAutofit/>
              </a:bodyPr>
              <a:lstStyle/>
              <a:p>
                <a:pPr>
                  <a:lnSpc>
                    <a:spcPct val="100000"/>
                  </a:lnSpc>
                  <a:spcAft>
                    <a:spcPts val="1800"/>
                  </a:spcAft>
                </a:pPr>
                <a:r>
                  <a:rPr lang="en-CA" sz="2400" dirty="0"/>
                  <a:t>For viscous flow, the total head or total mechanical energy per unit mass will continuously decrease in the flow direction as friction “eats” the mechanical energy.</a:t>
                </a:r>
              </a:p>
              <a:p>
                <a:pPr>
                  <a:lnSpc>
                    <a:spcPct val="100000"/>
                  </a:lnSpc>
                  <a:spcBef>
                    <a:spcPts val="0"/>
                  </a:spcBef>
                </a:pPr>
                <a:r>
                  <a:rPr lang="en-CA" sz="2400" dirty="0"/>
                  <a:t>This calls for modification of the Bernoulli equation to account for energy loss due to</a:t>
                </a:r>
              </a:p>
              <a:p>
                <a:pPr marL="0" indent="0">
                  <a:lnSpc>
                    <a:spcPct val="100000"/>
                  </a:lnSpc>
                  <a:spcBef>
                    <a:spcPts val="0"/>
                  </a:spcBef>
                  <a:spcAft>
                    <a:spcPts val="1800"/>
                  </a:spcAft>
                  <a:buNone/>
                </a:pPr>
                <a:r>
                  <a:rPr lang="en-CA" sz="2400" dirty="0"/>
                  <a:t>fluid friction</a:t>
                </a:r>
              </a:p>
              <a:p>
                <a:pPr>
                  <a:lnSpc>
                    <a:spcPct val="100000"/>
                  </a:lnSpc>
                  <a:spcBef>
                    <a:spcPts val="0"/>
                  </a:spcBef>
                  <a:spcAft>
                    <a:spcPts val="1800"/>
                  </a:spcAft>
                </a:pPr>
                <a:r>
                  <a:rPr lang="en-CA" sz="2400" dirty="0"/>
                  <a:t>To derive the modified </a:t>
                </a:r>
                <a:r>
                  <a:rPr lang="en-CA" sz="2400" dirty="0" err="1"/>
                  <a:t>Bernoullin</a:t>
                </a:r>
                <a:r>
                  <a:rPr lang="en-CA" sz="2400" dirty="0"/>
                  <a:t> equation, we use the control volume formulation of the first law of thermodynamics, setting </a:t>
                </a:r>
                <a:r>
                  <a:rPr lang="en-CA" sz="2400" i="1" dirty="0"/>
                  <a:t>N = E</a:t>
                </a:r>
                <a:r>
                  <a:rPr lang="en-CA" sz="2400" dirty="0"/>
                  <a:t> and </a:t>
                </a:r>
                <a:r>
                  <a:rPr lang="el-GR" sz="2400" i="1" dirty="0">
                    <a:latin typeface="Times New Roman" panose="02020603050405020304" pitchFamily="18" charset="0"/>
                    <a:cs typeface="Times New Roman" panose="02020603050405020304" pitchFamily="18" charset="0"/>
                  </a:rPr>
                  <a:t>η</a:t>
                </a:r>
                <a:r>
                  <a:rPr lang="en-GB" sz="2400" i="1" dirty="0">
                    <a:latin typeface="Times New Roman" panose="02020603050405020304" pitchFamily="18" charset="0"/>
                    <a:cs typeface="Times New Roman" panose="02020603050405020304" pitchFamily="18" charset="0"/>
                  </a:rPr>
                  <a:t> = e </a:t>
                </a:r>
                <a:r>
                  <a:rPr lang="en-GB" sz="2400" dirty="0">
                    <a:latin typeface="Times New Roman" panose="02020603050405020304" pitchFamily="18" charset="0"/>
                    <a:cs typeface="Times New Roman" panose="02020603050405020304" pitchFamily="18" charset="0"/>
                  </a:rPr>
                  <a:t>in the RTT.</a:t>
                </a:r>
              </a:p>
              <a:p>
                <a:pPr marL="0" indent="0">
                  <a:lnSpc>
                    <a:spcPct val="100000"/>
                  </a:lnSpc>
                  <a:spcBef>
                    <a:spcPts val="0"/>
                  </a:spcBef>
                  <a:spcAft>
                    <a:spcPts val="1800"/>
                  </a:spcAft>
                  <a:buNone/>
                </a:pPr>
                <a14:m>
                  <m:oMathPara xmlns:m="http://schemas.openxmlformats.org/officeDocument/2006/math">
                    <m:oMathParaPr>
                      <m:jc m:val="centerGroup"/>
                    </m:oMathParaPr>
                    <m:oMath xmlns:m="http://schemas.openxmlformats.org/officeDocument/2006/math">
                      <m:sSub>
                        <m:sSubPr>
                          <m:ctrlPr>
                            <a:rPr lang="en-CA" sz="2400" i="1" smtClean="0">
                              <a:solidFill>
                                <a:schemeClr val="tx1"/>
                              </a:solidFill>
                              <a:latin typeface="Cambria Math" panose="02040503050406030204" pitchFamily="18" charset="0"/>
                            </a:rPr>
                          </m:ctrlPr>
                        </m:sSubPr>
                        <m:e>
                          <m:acc>
                            <m:accPr>
                              <m:chr m:val="̇"/>
                              <m:ctrlPr>
                                <a:rPr lang="en-CA" sz="2400" i="1" smtClean="0">
                                  <a:solidFill>
                                    <a:schemeClr val="tx1"/>
                                  </a:solidFill>
                                  <a:latin typeface="Cambria Math" panose="02040503050406030204" pitchFamily="18" charset="0"/>
                                </a:rPr>
                              </m:ctrlPr>
                            </m:accPr>
                            <m:e>
                              <m:r>
                                <a:rPr lang="en-GB" sz="2400" b="0" i="1" smtClean="0">
                                  <a:solidFill>
                                    <a:schemeClr val="tx1"/>
                                  </a:solidFill>
                                  <a:latin typeface="Cambria Math" panose="02040503050406030204" pitchFamily="18" charset="0"/>
                                </a:rPr>
                                <m:t>𝑄</m:t>
                              </m:r>
                            </m:e>
                          </m:acc>
                          <m:r>
                            <a:rPr lang="en-GB" sz="2400" b="0" i="1" smtClean="0">
                              <a:solidFill>
                                <a:schemeClr val="tx1"/>
                              </a:solidFill>
                              <a:latin typeface="Cambria Math" panose="02040503050406030204" pitchFamily="18" charset="0"/>
                            </a:rPr>
                            <m:t>−</m:t>
                          </m:r>
                          <m:acc>
                            <m:accPr>
                              <m:chr m:val="̇"/>
                              <m:ctrlPr>
                                <a:rPr lang="en-GB" sz="2400" b="0" i="1" smtClean="0">
                                  <a:solidFill>
                                    <a:schemeClr val="tx1"/>
                                  </a:solidFill>
                                  <a:latin typeface="Cambria Math" panose="02040503050406030204" pitchFamily="18" charset="0"/>
                                </a:rPr>
                              </m:ctrlPr>
                            </m:accPr>
                            <m:e>
                              <m:r>
                                <a:rPr lang="en-GB" sz="2400" b="0" i="1" smtClean="0">
                                  <a:solidFill>
                                    <a:schemeClr val="tx1"/>
                                  </a:solidFill>
                                  <a:latin typeface="Cambria Math" panose="02040503050406030204" pitchFamily="18" charset="0"/>
                                </a:rPr>
                                <m:t>𝑊</m:t>
                              </m:r>
                            </m:e>
                          </m:acc>
                          <m:r>
                            <a:rPr lang="en-GB" sz="2400" b="0" i="1" smtClean="0">
                              <a:solidFill>
                                <a:schemeClr val="tx1"/>
                              </a:solidFill>
                              <a:latin typeface="Cambria Math" panose="02040503050406030204" pitchFamily="18" charset="0"/>
                            </a:rPr>
                            <m:t>=</m:t>
                          </m:r>
                          <m:d>
                            <m:dPr>
                              <m:begChr m:val=""/>
                              <m:ctrlPr>
                                <a:rPr lang="en-CA" sz="2400" i="1" smtClean="0">
                                  <a:solidFill>
                                    <a:schemeClr val="tx1"/>
                                  </a:solidFill>
                                  <a:latin typeface="Cambria Math" panose="02040503050406030204" pitchFamily="18" charset="0"/>
                                </a:rPr>
                              </m:ctrlPr>
                            </m:dPr>
                            <m:e>
                              <m:f>
                                <m:fPr>
                                  <m:ctrlPr>
                                    <a:rPr lang="en-CA" sz="2400" i="1" smtClean="0">
                                      <a:solidFill>
                                        <a:schemeClr val="tx1"/>
                                      </a:solidFill>
                                      <a:latin typeface="Cambria Math" panose="02040503050406030204" pitchFamily="18" charset="0"/>
                                    </a:rPr>
                                  </m:ctrlPr>
                                </m:fPr>
                                <m:num>
                                  <m:r>
                                    <a:rPr lang="en-GB" sz="2400" b="0" i="1" smtClean="0">
                                      <a:solidFill>
                                        <a:schemeClr val="tx1"/>
                                      </a:solidFill>
                                      <a:latin typeface="Cambria Math" panose="02040503050406030204" pitchFamily="18" charset="0"/>
                                    </a:rPr>
                                    <m:t>𝑑𝐸</m:t>
                                  </m:r>
                                </m:num>
                                <m:den>
                                  <m:r>
                                    <a:rPr lang="en-GB" sz="2400" b="0" i="1" smtClean="0">
                                      <a:solidFill>
                                        <a:schemeClr val="tx1"/>
                                      </a:solidFill>
                                      <a:latin typeface="Cambria Math" panose="02040503050406030204" pitchFamily="18" charset="0"/>
                                    </a:rPr>
                                    <m:t>𝑑𝑡</m:t>
                                  </m:r>
                                </m:den>
                              </m:f>
                            </m:e>
                          </m:d>
                        </m:e>
                        <m:sub>
                          <m:r>
                            <a:rPr lang="en-GB" sz="2400" b="0" i="1" smtClean="0">
                              <a:solidFill>
                                <a:schemeClr val="tx1"/>
                              </a:solidFill>
                              <a:latin typeface="Cambria Math" panose="02040503050406030204" pitchFamily="18" charset="0"/>
                            </a:rPr>
                            <m:t>𝑠𝑦𝑠𝑡𝑒𝑚</m:t>
                          </m:r>
                        </m:sub>
                      </m:sSub>
                      <m:r>
                        <a:rPr lang="en-CA" sz="2400" b="0" i="1">
                          <a:solidFill>
                            <a:schemeClr val="tx1"/>
                          </a:solidFill>
                          <a:latin typeface="Cambria Math" panose="02040503050406030204" pitchFamily="18" charset="0"/>
                        </a:rPr>
                        <m:t>=</m:t>
                      </m:r>
                      <m:f>
                        <m:fPr>
                          <m:ctrlPr>
                            <a:rPr lang="en-CA" sz="2400" i="1">
                              <a:solidFill>
                                <a:schemeClr val="tx1"/>
                              </a:solidFill>
                              <a:latin typeface="Cambria Math" panose="02040503050406030204" pitchFamily="18" charset="0"/>
                            </a:rPr>
                          </m:ctrlPr>
                        </m:fPr>
                        <m:num>
                          <m:r>
                            <a:rPr lang="en-CA" sz="2400" b="0" i="1">
                              <a:solidFill>
                                <a:schemeClr val="tx1"/>
                              </a:solidFill>
                              <a:latin typeface="Cambria Math" panose="02040503050406030204" pitchFamily="18" charset="0"/>
                              <a:ea typeface="Cambria Math" panose="02040503050406030204" pitchFamily="18" charset="0"/>
                            </a:rPr>
                            <m:t>𝜕</m:t>
                          </m:r>
                        </m:num>
                        <m:den>
                          <m:r>
                            <a:rPr lang="en-CA" sz="2400" b="0" i="1">
                              <a:solidFill>
                                <a:schemeClr val="tx1"/>
                              </a:solidFill>
                              <a:latin typeface="Cambria Math" panose="02040503050406030204" pitchFamily="18" charset="0"/>
                              <a:ea typeface="Cambria Math" panose="02040503050406030204" pitchFamily="18" charset="0"/>
                            </a:rPr>
                            <m:t>𝜕</m:t>
                          </m:r>
                          <m:r>
                            <a:rPr lang="en-CA" sz="2400" b="0" i="1">
                              <a:solidFill>
                                <a:schemeClr val="tx1"/>
                              </a:solidFill>
                              <a:latin typeface="Cambria Math" panose="02040503050406030204" pitchFamily="18" charset="0"/>
                              <a:ea typeface="Cambria Math" panose="02040503050406030204" pitchFamily="18" charset="0"/>
                            </a:rPr>
                            <m:t>𝑡</m:t>
                          </m:r>
                        </m:den>
                      </m:f>
                      <m:nary>
                        <m:naryPr>
                          <m:ctrlPr>
                            <a:rPr lang="en-CA" sz="2400" i="1">
                              <a:solidFill>
                                <a:schemeClr val="tx1"/>
                              </a:solidFill>
                              <a:latin typeface="Cambria Math" panose="02040503050406030204" pitchFamily="18" charset="0"/>
                            </a:rPr>
                          </m:ctrlPr>
                        </m:naryPr>
                        <m:sub>
                          <m:r>
                            <m:rPr>
                              <m:brk m:alnAt="23"/>
                            </m:rPr>
                            <a:rPr lang="en-CA" sz="2400" b="0" i="1">
                              <a:solidFill>
                                <a:schemeClr val="tx1"/>
                              </a:solidFill>
                              <a:latin typeface="Cambria Math" panose="02040503050406030204" pitchFamily="18" charset="0"/>
                            </a:rPr>
                            <m:t>𝐶</m:t>
                          </m:r>
                          <m:r>
                            <a:rPr lang="en-CA" sz="2400" b="0" i="1">
                              <a:solidFill>
                                <a:schemeClr val="tx1"/>
                              </a:solidFill>
                              <a:latin typeface="Cambria Math" panose="02040503050406030204" pitchFamily="18" charset="0"/>
                            </a:rPr>
                            <m:t>𝑉</m:t>
                          </m:r>
                        </m:sub>
                        <m:sup/>
                        <m:e>
                          <m:r>
                            <a:rPr lang="en-CA" sz="2400" b="0" i="1">
                              <a:solidFill>
                                <a:schemeClr val="tx1"/>
                              </a:solidFill>
                              <a:latin typeface="Cambria Math" panose="02040503050406030204" pitchFamily="18" charset="0"/>
                            </a:rPr>
                            <m:t>𝑒</m:t>
                          </m:r>
                          <m:r>
                            <a:rPr lang="en-CA" sz="2400" b="0" i="1">
                              <a:solidFill>
                                <a:schemeClr val="tx1"/>
                              </a:solidFill>
                              <a:latin typeface="Cambria Math" panose="02040503050406030204" pitchFamily="18" charset="0"/>
                              <a:ea typeface="Cambria Math" panose="02040503050406030204" pitchFamily="18" charset="0"/>
                            </a:rPr>
                            <m:t>𝜌</m:t>
                          </m:r>
                          <m:r>
                            <a:rPr lang="en-CA" sz="2400" b="0" i="1">
                              <a:solidFill>
                                <a:schemeClr val="tx1"/>
                              </a:solidFill>
                              <a:latin typeface="Cambria Math" panose="02040503050406030204" pitchFamily="18" charset="0"/>
                              <a:ea typeface="Cambria Math" panose="02040503050406030204" pitchFamily="18" charset="0"/>
                            </a:rPr>
                            <m:t>𝑑𝑉</m:t>
                          </m:r>
                        </m:e>
                      </m:nary>
                      <m:r>
                        <a:rPr lang="en-CA" sz="2400" b="0">
                          <a:solidFill>
                            <a:schemeClr val="tx1"/>
                          </a:solidFill>
                          <a:latin typeface="Cambria Math" panose="02040503050406030204" pitchFamily="18" charset="0"/>
                          <a:ea typeface="Cambria Math" panose="02040503050406030204" pitchFamily="18" charset="0"/>
                        </a:rPr>
                        <m:t>+</m:t>
                      </m:r>
                      <m:nary>
                        <m:naryPr>
                          <m:ctrlPr>
                            <a:rPr lang="en-CA" sz="2400" i="1">
                              <a:solidFill>
                                <a:schemeClr val="tx1"/>
                              </a:solidFill>
                              <a:latin typeface="Cambria Math" panose="02040503050406030204" pitchFamily="18" charset="0"/>
                            </a:rPr>
                          </m:ctrlPr>
                        </m:naryPr>
                        <m:sub>
                          <m:r>
                            <m:rPr>
                              <m:brk m:alnAt="23"/>
                            </m:rPr>
                            <a:rPr lang="en-CA" sz="2400" b="0" i="1">
                              <a:solidFill>
                                <a:schemeClr val="tx1"/>
                              </a:solidFill>
                              <a:latin typeface="Cambria Math" panose="02040503050406030204" pitchFamily="18" charset="0"/>
                            </a:rPr>
                            <m:t>𝐶</m:t>
                          </m:r>
                          <m:r>
                            <a:rPr lang="en-CA" sz="2400" b="0" i="1">
                              <a:solidFill>
                                <a:schemeClr val="tx1"/>
                              </a:solidFill>
                              <a:latin typeface="Cambria Math" panose="02040503050406030204" pitchFamily="18" charset="0"/>
                            </a:rPr>
                            <m:t>𝑆</m:t>
                          </m:r>
                        </m:sub>
                        <m:sup/>
                        <m:e>
                          <m:r>
                            <a:rPr lang="en-GB" sz="2400" b="0" i="1" smtClean="0">
                              <a:solidFill>
                                <a:schemeClr val="tx1"/>
                              </a:solidFill>
                              <a:latin typeface="Cambria Math" panose="02040503050406030204" pitchFamily="18" charset="0"/>
                            </a:rPr>
                            <m:t>𝑒</m:t>
                          </m:r>
                          <m:r>
                            <a:rPr lang="en-CA" sz="2400" b="0" i="1" smtClean="0">
                              <a:solidFill>
                                <a:schemeClr val="tx1"/>
                              </a:solidFill>
                              <a:latin typeface="Cambria Math" panose="02040503050406030204" pitchFamily="18" charset="0"/>
                              <a:ea typeface="Cambria Math" panose="02040503050406030204" pitchFamily="18" charset="0"/>
                            </a:rPr>
                            <m:t>𝜌</m:t>
                          </m:r>
                          <m:acc>
                            <m:accPr>
                              <m:chr m:val="⃗"/>
                              <m:ctrlPr>
                                <a:rPr lang="en-CA" sz="2400" i="1">
                                  <a:solidFill>
                                    <a:schemeClr val="tx1"/>
                                  </a:solidFill>
                                  <a:latin typeface="Cambria Math" panose="02040503050406030204" pitchFamily="18" charset="0"/>
                                  <a:ea typeface="Cambria Math" panose="02040503050406030204" pitchFamily="18" charset="0"/>
                                </a:rPr>
                              </m:ctrlPr>
                            </m:accPr>
                            <m:e>
                              <m:r>
                                <a:rPr lang="en-CA" sz="2400" b="0" i="1">
                                  <a:solidFill>
                                    <a:schemeClr val="tx1"/>
                                  </a:solidFill>
                                  <a:latin typeface="Cambria Math" panose="02040503050406030204" pitchFamily="18" charset="0"/>
                                  <a:ea typeface="Cambria Math" panose="02040503050406030204" pitchFamily="18" charset="0"/>
                                </a:rPr>
                                <m:t>𝑉</m:t>
                              </m:r>
                            </m:e>
                          </m:acc>
                          <m:r>
                            <a:rPr lang="en-CA" sz="2400" b="0" i="1">
                              <a:solidFill>
                                <a:schemeClr val="tx1"/>
                              </a:solidFill>
                              <a:latin typeface="Cambria Math" panose="02040503050406030204" pitchFamily="18" charset="0"/>
                              <a:ea typeface="Cambria Math" panose="02040503050406030204" pitchFamily="18" charset="0"/>
                            </a:rPr>
                            <m:t>∙</m:t>
                          </m:r>
                          <m:r>
                            <a:rPr lang="en-CA" sz="2400" b="0" i="1">
                              <a:solidFill>
                                <a:schemeClr val="tx1"/>
                              </a:solidFill>
                              <a:latin typeface="Cambria Math" panose="02040503050406030204" pitchFamily="18" charset="0"/>
                              <a:ea typeface="Cambria Math" panose="02040503050406030204" pitchFamily="18" charset="0"/>
                            </a:rPr>
                            <m:t>𝑑</m:t>
                          </m:r>
                          <m:acc>
                            <m:accPr>
                              <m:chr m:val="⃗"/>
                              <m:ctrlPr>
                                <a:rPr lang="en-CA" sz="2400" i="1">
                                  <a:solidFill>
                                    <a:schemeClr val="tx1"/>
                                  </a:solidFill>
                                  <a:latin typeface="Cambria Math" panose="02040503050406030204" pitchFamily="18" charset="0"/>
                                  <a:ea typeface="Cambria Math" panose="02040503050406030204" pitchFamily="18" charset="0"/>
                                </a:rPr>
                              </m:ctrlPr>
                            </m:accPr>
                            <m:e>
                              <m:r>
                                <a:rPr lang="en-CA" sz="2400" b="0" i="1">
                                  <a:solidFill>
                                    <a:schemeClr val="tx1"/>
                                  </a:solidFill>
                                  <a:latin typeface="Cambria Math" panose="02040503050406030204" pitchFamily="18" charset="0"/>
                                  <a:ea typeface="Cambria Math" panose="02040503050406030204" pitchFamily="18" charset="0"/>
                                </a:rPr>
                                <m:t>𝐴</m:t>
                              </m:r>
                            </m:e>
                          </m:acc>
                        </m:e>
                      </m:nary>
                    </m:oMath>
                  </m:oMathPara>
                </a14:m>
                <a:endParaRPr lang="en-CA" sz="2400" dirty="0"/>
              </a:p>
              <a:p>
                <a:pPr marL="0" indent="0">
                  <a:lnSpc>
                    <a:spcPct val="100000"/>
                  </a:lnSpc>
                  <a:spcBef>
                    <a:spcPts val="0"/>
                  </a:spcBef>
                  <a:spcAft>
                    <a:spcPts val="1200"/>
                  </a:spcAft>
                  <a:buNone/>
                </a:pPr>
                <a:r>
                  <a:rPr lang="en-CA" sz="2400" dirty="0"/>
                  <a:t>By substituting </a:t>
                </a:r>
                <a:r>
                  <a:rPr lang="en-CA" sz="2400" i="1" dirty="0"/>
                  <a:t>e = u </a:t>
                </a:r>
                <a:r>
                  <a:rPr lang="en-CA" sz="2400" dirty="0"/>
                  <a:t>+</a:t>
                </a:r>
                <a:r>
                  <a:rPr lang="en-CA" sz="2400" i="1" dirty="0"/>
                  <a:t> v</a:t>
                </a:r>
                <a:r>
                  <a:rPr lang="en-CA" sz="2400" baseline="30000" dirty="0"/>
                  <a:t>2</a:t>
                </a:r>
                <a:r>
                  <a:rPr lang="en-CA" sz="2400" dirty="0"/>
                  <a:t>/2 +</a:t>
                </a:r>
                <a:r>
                  <a:rPr lang="en-CA" sz="2400" i="1" dirty="0"/>
                  <a:t> </a:t>
                </a:r>
                <a:r>
                  <a:rPr lang="en-CA" sz="2400" i="1" dirty="0" err="1"/>
                  <a:t>gz</a:t>
                </a:r>
                <a:r>
                  <a:rPr lang="en-CA" sz="2400" dirty="0"/>
                  <a:t> and </a:t>
                </a:r>
                <a14:m>
                  <m:oMath xmlns:m="http://schemas.openxmlformats.org/officeDocument/2006/math">
                    <m:acc>
                      <m:accPr>
                        <m:chr m:val="̇"/>
                        <m:ctrlPr>
                          <a:rPr lang="en-CA" sz="2400" i="1" smtClean="0">
                            <a:latin typeface="Cambria Math" panose="02040503050406030204" pitchFamily="18" charset="0"/>
                          </a:rPr>
                        </m:ctrlPr>
                      </m:accPr>
                      <m:e>
                        <m:r>
                          <a:rPr lang="en-GB" sz="2400" b="0" i="1" smtClean="0">
                            <a:latin typeface="Cambria Math" panose="02040503050406030204" pitchFamily="18" charset="0"/>
                          </a:rPr>
                          <m:t>𝑊</m:t>
                        </m:r>
                      </m:e>
                    </m:acc>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acc>
                          <m:accPr>
                            <m:chr m:val="̇"/>
                            <m:ctrlPr>
                              <a:rPr lang="en-GB" sz="2400" b="0" i="1" smtClean="0">
                                <a:latin typeface="Cambria Math" panose="02040503050406030204" pitchFamily="18" charset="0"/>
                              </a:rPr>
                            </m:ctrlPr>
                          </m:accPr>
                          <m:e>
                            <m:r>
                              <a:rPr lang="en-GB" sz="2400" b="0" i="1" smtClean="0">
                                <a:latin typeface="Cambria Math" panose="02040503050406030204" pitchFamily="18" charset="0"/>
                              </a:rPr>
                              <m:t>𝑊</m:t>
                            </m:r>
                          </m:e>
                        </m:acc>
                      </m:e>
                      <m:sub>
                        <m:r>
                          <a:rPr lang="en-GB" sz="2400" b="0" i="1" smtClean="0">
                            <a:latin typeface="Cambria Math" panose="02040503050406030204" pitchFamily="18" charset="0"/>
                          </a:rPr>
                          <m:t>𝑠h𝑎𝑓𝑡</m:t>
                        </m:r>
                      </m:sub>
                    </m:sSub>
                    <m:r>
                      <a:rPr lang="en-GB" sz="2400" b="0" i="1" smtClean="0">
                        <a:latin typeface="Cambria Math" panose="02040503050406030204" pitchFamily="18" charset="0"/>
                      </a:rPr>
                      <m:t>+</m:t>
                    </m:r>
                  </m:oMath>
                </a14:m>
                <a:r>
                  <a:rPr lang="en-CA" sz="2400" dirty="0"/>
                  <a:t> </a:t>
                </a:r>
                <a14:m>
                  <m:oMath xmlns:m="http://schemas.openxmlformats.org/officeDocument/2006/math">
                    <m:sSub>
                      <m:sSubPr>
                        <m:ctrlPr>
                          <a:rPr lang="en-GB" sz="2400" i="1">
                            <a:latin typeface="Cambria Math" panose="02040503050406030204" pitchFamily="18" charset="0"/>
                          </a:rPr>
                        </m:ctrlPr>
                      </m:sSubPr>
                      <m:e>
                        <m:acc>
                          <m:accPr>
                            <m:chr m:val="̇"/>
                            <m:ctrlPr>
                              <a:rPr lang="en-GB" sz="2400" i="1">
                                <a:latin typeface="Cambria Math" panose="02040503050406030204" pitchFamily="18" charset="0"/>
                              </a:rPr>
                            </m:ctrlPr>
                          </m:accPr>
                          <m:e>
                            <m:r>
                              <a:rPr lang="en-GB" sz="2400" i="1">
                                <a:latin typeface="Cambria Math" panose="02040503050406030204" pitchFamily="18" charset="0"/>
                              </a:rPr>
                              <m:t>𝑊</m:t>
                            </m:r>
                          </m:e>
                        </m:acc>
                      </m:e>
                      <m:sub>
                        <m:r>
                          <a:rPr lang="en-GB" sz="2400" b="0" i="1" smtClean="0">
                            <a:latin typeface="Cambria Math" panose="02040503050406030204" pitchFamily="18" charset="0"/>
                          </a:rPr>
                          <m:t>𝑛𝑜𝑟𝑚𝑎𝑙</m:t>
                        </m:r>
                      </m:sub>
                    </m:sSub>
                    <m:r>
                      <a:rPr lang="en-GB" sz="2400" b="0" i="1" smtClean="0">
                        <a:latin typeface="Cambria Math" panose="02040503050406030204" pitchFamily="18" charset="0"/>
                      </a:rPr>
                      <m:t>+</m:t>
                    </m:r>
                    <m:sSub>
                      <m:sSubPr>
                        <m:ctrlPr>
                          <a:rPr lang="en-GB" sz="2400" i="1">
                            <a:latin typeface="Cambria Math" panose="02040503050406030204" pitchFamily="18" charset="0"/>
                          </a:rPr>
                        </m:ctrlPr>
                      </m:sSubPr>
                      <m:e>
                        <m:acc>
                          <m:accPr>
                            <m:chr m:val="̇"/>
                            <m:ctrlPr>
                              <a:rPr lang="en-GB" sz="2400" i="1">
                                <a:latin typeface="Cambria Math" panose="02040503050406030204" pitchFamily="18" charset="0"/>
                              </a:rPr>
                            </m:ctrlPr>
                          </m:accPr>
                          <m:e>
                            <m:r>
                              <a:rPr lang="en-GB" sz="2400" i="1">
                                <a:latin typeface="Cambria Math" panose="02040503050406030204" pitchFamily="18" charset="0"/>
                              </a:rPr>
                              <m:t>𝑊</m:t>
                            </m:r>
                          </m:e>
                        </m:acc>
                      </m:e>
                      <m:sub>
                        <m:r>
                          <a:rPr lang="en-GB" sz="2400" i="1">
                            <a:latin typeface="Cambria Math" panose="02040503050406030204" pitchFamily="18" charset="0"/>
                          </a:rPr>
                          <m:t>𝑠h</m:t>
                        </m:r>
                        <m:r>
                          <a:rPr lang="en-GB" sz="2400" b="0" i="1" smtClean="0">
                            <a:latin typeface="Cambria Math" panose="02040503050406030204" pitchFamily="18" charset="0"/>
                          </a:rPr>
                          <m:t>𝑒𝑎𝑟</m:t>
                        </m:r>
                      </m:sub>
                    </m:sSub>
                    <m:r>
                      <a:rPr lang="en-GB" sz="2400" b="0" i="1" smtClean="0">
                        <a:latin typeface="Cambria Math" panose="02040503050406030204" pitchFamily="18" charset="0"/>
                      </a:rPr>
                      <m:t>+</m:t>
                    </m:r>
                    <m:sSub>
                      <m:sSubPr>
                        <m:ctrlPr>
                          <a:rPr lang="en-GB" sz="2400" i="1">
                            <a:latin typeface="Cambria Math" panose="02040503050406030204" pitchFamily="18" charset="0"/>
                          </a:rPr>
                        </m:ctrlPr>
                      </m:sSubPr>
                      <m:e>
                        <m:acc>
                          <m:accPr>
                            <m:chr m:val="̇"/>
                            <m:ctrlPr>
                              <a:rPr lang="en-GB" sz="2400" i="1">
                                <a:latin typeface="Cambria Math" panose="02040503050406030204" pitchFamily="18" charset="0"/>
                              </a:rPr>
                            </m:ctrlPr>
                          </m:accPr>
                          <m:e>
                            <m:r>
                              <a:rPr lang="en-GB" sz="2400" i="1">
                                <a:latin typeface="Cambria Math" panose="02040503050406030204" pitchFamily="18" charset="0"/>
                              </a:rPr>
                              <m:t>𝑊</m:t>
                            </m:r>
                          </m:e>
                        </m:acc>
                      </m:e>
                      <m:sub>
                        <m:r>
                          <a:rPr lang="en-GB" sz="2400" b="0" i="1" smtClean="0">
                            <a:latin typeface="Cambria Math" panose="02040503050406030204" pitchFamily="18" charset="0"/>
                          </a:rPr>
                          <m:t>𝑜𝑡h𝑒𝑟</m:t>
                        </m:r>
                      </m:sub>
                    </m:sSub>
                  </m:oMath>
                </a14:m>
                <a:r>
                  <a:rPr lang="en-CA" sz="2400" dirty="0"/>
                  <a:t>, and simplifying, the integral form of the energy conservation equation becomes</a:t>
                </a:r>
              </a:p>
              <a:p>
                <a:pPr marL="0" indent="0">
                  <a:lnSpc>
                    <a:spcPct val="100000"/>
                  </a:lnSpc>
                  <a:spcBef>
                    <a:spcPts val="0"/>
                  </a:spcBef>
                  <a:spcAft>
                    <a:spcPts val="1800"/>
                  </a:spcAft>
                  <a:buNone/>
                </a:pPr>
                <a14:m>
                  <m:oMathPara xmlns:m="http://schemas.openxmlformats.org/officeDocument/2006/math">
                    <m:oMathParaPr>
                      <m:jc m:val="centerGroup"/>
                    </m:oMathParaPr>
                    <m:oMath xmlns:m="http://schemas.openxmlformats.org/officeDocument/2006/math">
                      <m:acc>
                        <m:accPr>
                          <m:chr m:val="̇"/>
                          <m:ctrlPr>
                            <a:rPr lang="en-CA" sz="2400" i="1" smtClean="0">
                              <a:solidFill>
                                <a:schemeClr val="tx1"/>
                              </a:solidFill>
                              <a:latin typeface="Cambria Math" panose="02040503050406030204" pitchFamily="18" charset="0"/>
                            </a:rPr>
                          </m:ctrlPr>
                        </m:accPr>
                        <m:e>
                          <m:r>
                            <a:rPr lang="en-CA" sz="2400" b="0" i="1">
                              <a:solidFill>
                                <a:schemeClr val="tx1"/>
                              </a:solidFill>
                              <a:latin typeface="Cambria Math" panose="02040503050406030204" pitchFamily="18" charset="0"/>
                            </a:rPr>
                            <m:t>𝑄</m:t>
                          </m:r>
                        </m:e>
                      </m:acc>
                      <m:r>
                        <a:rPr lang="en-CA" sz="2400" b="0" i="1" smtClean="0">
                          <a:solidFill>
                            <a:schemeClr val="tx1"/>
                          </a:solidFill>
                          <a:latin typeface="Cambria Math" panose="02040503050406030204" pitchFamily="18" charset="0"/>
                        </a:rPr>
                        <m:t>−</m:t>
                      </m:r>
                      <m:sSub>
                        <m:sSubPr>
                          <m:ctrlPr>
                            <a:rPr lang="en-CA" sz="2400" i="1">
                              <a:solidFill>
                                <a:schemeClr val="tx1"/>
                              </a:solidFill>
                              <a:latin typeface="Cambria Math" panose="02040503050406030204" pitchFamily="18" charset="0"/>
                            </a:rPr>
                          </m:ctrlPr>
                        </m:sSubPr>
                        <m:e>
                          <m:acc>
                            <m:accPr>
                              <m:chr m:val="̇"/>
                              <m:ctrlPr>
                                <a:rPr lang="en-CA" sz="2400" i="1">
                                  <a:solidFill>
                                    <a:schemeClr val="tx1"/>
                                  </a:solidFill>
                                  <a:latin typeface="Cambria Math" panose="02040503050406030204" pitchFamily="18" charset="0"/>
                                </a:rPr>
                              </m:ctrlPr>
                            </m:accPr>
                            <m:e>
                              <m:r>
                                <a:rPr lang="en-CA" sz="2400" b="0" i="1">
                                  <a:solidFill>
                                    <a:schemeClr val="tx1"/>
                                  </a:solidFill>
                                  <a:latin typeface="Cambria Math" panose="02040503050406030204" pitchFamily="18" charset="0"/>
                                </a:rPr>
                                <m:t>𝑊</m:t>
                              </m:r>
                            </m:e>
                          </m:acc>
                        </m:e>
                        <m:sub>
                          <m:r>
                            <a:rPr lang="en-CA" sz="2400" b="0" i="1">
                              <a:solidFill>
                                <a:schemeClr val="tx1"/>
                              </a:solidFill>
                              <a:latin typeface="Cambria Math" panose="02040503050406030204" pitchFamily="18" charset="0"/>
                            </a:rPr>
                            <m:t>𝑠</m:t>
                          </m:r>
                        </m:sub>
                      </m:sSub>
                      <m:r>
                        <a:rPr lang="en-CA" sz="2400" b="0">
                          <a:solidFill>
                            <a:schemeClr val="tx1"/>
                          </a:solidFill>
                          <a:latin typeface="Cambria Math" panose="02040503050406030204" pitchFamily="18" charset="0"/>
                        </a:rPr>
                        <m:t>−</m:t>
                      </m:r>
                      <m:sSub>
                        <m:sSubPr>
                          <m:ctrlPr>
                            <a:rPr lang="en-CA" sz="2400" i="1">
                              <a:solidFill>
                                <a:schemeClr val="tx1"/>
                              </a:solidFill>
                              <a:latin typeface="Cambria Math" panose="02040503050406030204" pitchFamily="18" charset="0"/>
                            </a:rPr>
                          </m:ctrlPr>
                        </m:sSubPr>
                        <m:e>
                          <m:acc>
                            <m:accPr>
                              <m:chr m:val="̇"/>
                              <m:ctrlPr>
                                <a:rPr lang="en-CA" sz="2400" i="1">
                                  <a:solidFill>
                                    <a:schemeClr val="tx1"/>
                                  </a:solidFill>
                                  <a:latin typeface="Cambria Math" panose="02040503050406030204" pitchFamily="18" charset="0"/>
                                </a:rPr>
                              </m:ctrlPr>
                            </m:accPr>
                            <m:e>
                              <m:r>
                                <a:rPr lang="en-CA" sz="2400" b="0" i="1">
                                  <a:solidFill>
                                    <a:schemeClr val="tx1"/>
                                  </a:solidFill>
                                  <a:latin typeface="Cambria Math" panose="02040503050406030204" pitchFamily="18" charset="0"/>
                                </a:rPr>
                                <m:t>𝑊</m:t>
                              </m:r>
                            </m:e>
                          </m:acc>
                        </m:e>
                        <m:sub>
                          <m:r>
                            <a:rPr lang="en-CA" sz="2400" b="0" i="1">
                              <a:solidFill>
                                <a:schemeClr val="tx1"/>
                              </a:solidFill>
                              <a:latin typeface="Cambria Math" panose="02040503050406030204" pitchFamily="18" charset="0"/>
                            </a:rPr>
                            <m:t>𝑠h𝑒𝑎𝑟</m:t>
                          </m:r>
                        </m:sub>
                      </m:sSub>
                      <m:r>
                        <a:rPr lang="en-CA" sz="2400" b="0" i="1">
                          <a:solidFill>
                            <a:schemeClr val="tx1"/>
                          </a:solidFill>
                          <a:latin typeface="Cambria Math" panose="02040503050406030204" pitchFamily="18" charset="0"/>
                        </a:rPr>
                        <m:t>−</m:t>
                      </m:r>
                      <m:sSub>
                        <m:sSubPr>
                          <m:ctrlPr>
                            <a:rPr lang="en-CA" sz="2400" i="1">
                              <a:solidFill>
                                <a:schemeClr val="tx1"/>
                              </a:solidFill>
                              <a:latin typeface="Cambria Math" panose="02040503050406030204" pitchFamily="18" charset="0"/>
                            </a:rPr>
                          </m:ctrlPr>
                        </m:sSubPr>
                        <m:e>
                          <m:acc>
                            <m:accPr>
                              <m:chr m:val="̇"/>
                              <m:ctrlPr>
                                <a:rPr lang="en-CA" sz="2400" i="1">
                                  <a:solidFill>
                                    <a:schemeClr val="tx1"/>
                                  </a:solidFill>
                                  <a:latin typeface="Cambria Math" panose="02040503050406030204" pitchFamily="18" charset="0"/>
                                </a:rPr>
                              </m:ctrlPr>
                            </m:accPr>
                            <m:e>
                              <m:r>
                                <a:rPr lang="en-CA" sz="2400" b="0" i="1">
                                  <a:solidFill>
                                    <a:schemeClr val="tx1"/>
                                  </a:solidFill>
                                  <a:latin typeface="Cambria Math" panose="02040503050406030204" pitchFamily="18" charset="0"/>
                                </a:rPr>
                                <m:t>𝑊</m:t>
                              </m:r>
                            </m:e>
                          </m:acc>
                        </m:e>
                        <m:sub>
                          <m:r>
                            <a:rPr lang="en-CA" sz="2400" b="0" i="1">
                              <a:solidFill>
                                <a:schemeClr val="tx1"/>
                              </a:solidFill>
                              <a:latin typeface="Cambria Math" panose="02040503050406030204" pitchFamily="18" charset="0"/>
                            </a:rPr>
                            <m:t>𝑜𝑡h𝑒𝑟</m:t>
                          </m:r>
                        </m:sub>
                      </m:sSub>
                      <m:r>
                        <a:rPr lang="en-CA" sz="2400" b="0" i="1">
                          <a:solidFill>
                            <a:schemeClr val="tx1"/>
                          </a:solidFill>
                          <a:latin typeface="Cambria Math" panose="02040503050406030204" pitchFamily="18" charset="0"/>
                        </a:rPr>
                        <m:t>=</m:t>
                      </m:r>
                      <m:f>
                        <m:fPr>
                          <m:ctrlPr>
                            <a:rPr lang="en-CA" sz="2400" i="1">
                              <a:solidFill>
                                <a:schemeClr val="tx1"/>
                              </a:solidFill>
                              <a:latin typeface="Cambria Math" panose="02040503050406030204" pitchFamily="18" charset="0"/>
                            </a:rPr>
                          </m:ctrlPr>
                        </m:fPr>
                        <m:num>
                          <m:r>
                            <a:rPr lang="en-CA" sz="2400" b="0" i="1">
                              <a:solidFill>
                                <a:schemeClr val="tx1"/>
                              </a:solidFill>
                              <a:latin typeface="Cambria Math" panose="02040503050406030204" pitchFamily="18" charset="0"/>
                              <a:ea typeface="Cambria Math" panose="02040503050406030204" pitchFamily="18" charset="0"/>
                            </a:rPr>
                            <m:t>𝜕</m:t>
                          </m:r>
                        </m:num>
                        <m:den>
                          <m:r>
                            <a:rPr lang="en-CA" sz="2400" b="0" i="1">
                              <a:solidFill>
                                <a:schemeClr val="tx1"/>
                              </a:solidFill>
                              <a:latin typeface="Cambria Math" panose="02040503050406030204" pitchFamily="18" charset="0"/>
                              <a:ea typeface="Cambria Math" panose="02040503050406030204" pitchFamily="18" charset="0"/>
                            </a:rPr>
                            <m:t>𝜕</m:t>
                          </m:r>
                          <m:r>
                            <a:rPr lang="en-CA" sz="2400" b="0" i="1">
                              <a:solidFill>
                                <a:schemeClr val="tx1"/>
                              </a:solidFill>
                              <a:latin typeface="Cambria Math" panose="02040503050406030204" pitchFamily="18" charset="0"/>
                              <a:ea typeface="Cambria Math" panose="02040503050406030204" pitchFamily="18" charset="0"/>
                            </a:rPr>
                            <m:t>𝑡</m:t>
                          </m:r>
                        </m:den>
                      </m:f>
                      <m:nary>
                        <m:naryPr>
                          <m:ctrlPr>
                            <a:rPr lang="en-CA" sz="2400" i="1">
                              <a:solidFill>
                                <a:schemeClr val="tx1"/>
                              </a:solidFill>
                              <a:latin typeface="Cambria Math" panose="02040503050406030204" pitchFamily="18" charset="0"/>
                            </a:rPr>
                          </m:ctrlPr>
                        </m:naryPr>
                        <m:sub>
                          <m:r>
                            <m:rPr>
                              <m:brk m:alnAt="23"/>
                            </m:rPr>
                            <a:rPr lang="en-CA" sz="2400" b="0" i="1">
                              <a:solidFill>
                                <a:schemeClr val="tx1"/>
                              </a:solidFill>
                              <a:latin typeface="Cambria Math" panose="02040503050406030204" pitchFamily="18" charset="0"/>
                            </a:rPr>
                            <m:t>𝐶</m:t>
                          </m:r>
                          <m:r>
                            <a:rPr lang="en-CA" sz="2400" b="0" i="1">
                              <a:solidFill>
                                <a:schemeClr val="tx1"/>
                              </a:solidFill>
                              <a:latin typeface="Cambria Math" panose="02040503050406030204" pitchFamily="18" charset="0"/>
                            </a:rPr>
                            <m:t>𝑉</m:t>
                          </m:r>
                        </m:sub>
                        <m:sup/>
                        <m:e>
                          <m:r>
                            <a:rPr lang="en-CA" sz="2400" b="0" i="1">
                              <a:solidFill>
                                <a:schemeClr val="tx1"/>
                              </a:solidFill>
                              <a:latin typeface="Cambria Math" panose="02040503050406030204" pitchFamily="18" charset="0"/>
                            </a:rPr>
                            <m:t>𝑒</m:t>
                          </m:r>
                          <m:r>
                            <a:rPr lang="en-CA" sz="2400" b="0" i="1">
                              <a:solidFill>
                                <a:schemeClr val="tx1"/>
                              </a:solidFill>
                              <a:latin typeface="Cambria Math" panose="02040503050406030204" pitchFamily="18" charset="0"/>
                              <a:ea typeface="Cambria Math" panose="02040503050406030204" pitchFamily="18" charset="0"/>
                            </a:rPr>
                            <m:t>𝜌</m:t>
                          </m:r>
                          <m:r>
                            <a:rPr lang="en-CA" sz="2400" b="0" i="1">
                              <a:solidFill>
                                <a:schemeClr val="tx1"/>
                              </a:solidFill>
                              <a:latin typeface="Cambria Math" panose="02040503050406030204" pitchFamily="18" charset="0"/>
                              <a:ea typeface="Cambria Math" panose="02040503050406030204" pitchFamily="18" charset="0"/>
                            </a:rPr>
                            <m:t>𝑑𝑉</m:t>
                          </m:r>
                        </m:e>
                      </m:nary>
                      <m:r>
                        <a:rPr lang="en-CA" sz="2400" b="0">
                          <a:solidFill>
                            <a:schemeClr val="tx1"/>
                          </a:solidFill>
                          <a:latin typeface="Cambria Math" panose="02040503050406030204" pitchFamily="18" charset="0"/>
                          <a:ea typeface="Cambria Math" panose="02040503050406030204" pitchFamily="18" charset="0"/>
                        </a:rPr>
                        <m:t>+</m:t>
                      </m:r>
                      <m:nary>
                        <m:naryPr>
                          <m:ctrlPr>
                            <a:rPr lang="en-CA" sz="2400" i="1">
                              <a:solidFill>
                                <a:schemeClr val="tx1"/>
                              </a:solidFill>
                              <a:latin typeface="Cambria Math" panose="02040503050406030204" pitchFamily="18" charset="0"/>
                            </a:rPr>
                          </m:ctrlPr>
                        </m:naryPr>
                        <m:sub>
                          <m:r>
                            <m:rPr>
                              <m:brk m:alnAt="23"/>
                            </m:rPr>
                            <a:rPr lang="en-CA" sz="2400" b="0" i="1">
                              <a:solidFill>
                                <a:schemeClr val="tx1"/>
                              </a:solidFill>
                              <a:latin typeface="Cambria Math" panose="02040503050406030204" pitchFamily="18" charset="0"/>
                            </a:rPr>
                            <m:t>𝐶</m:t>
                          </m:r>
                          <m:r>
                            <a:rPr lang="en-CA" sz="2400" b="0" i="1">
                              <a:solidFill>
                                <a:schemeClr val="tx1"/>
                              </a:solidFill>
                              <a:latin typeface="Cambria Math" panose="02040503050406030204" pitchFamily="18" charset="0"/>
                            </a:rPr>
                            <m:t>𝑆</m:t>
                          </m:r>
                        </m:sub>
                        <m:sup/>
                        <m:e>
                          <m:r>
                            <a:rPr lang="en-CA" sz="2400" b="0" i="1">
                              <a:solidFill>
                                <a:schemeClr val="tx1"/>
                              </a:solidFill>
                              <a:latin typeface="Cambria Math" panose="02040503050406030204" pitchFamily="18" charset="0"/>
                            </a:rPr>
                            <m:t>[</m:t>
                          </m:r>
                          <m:d>
                            <m:dPr>
                              <m:ctrlPr>
                                <a:rPr lang="en-CA" sz="2400" i="1">
                                  <a:solidFill>
                                    <a:schemeClr val="tx1"/>
                                  </a:solidFill>
                                  <a:latin typeface="Cambria Math" panose="02040503050406030204" pitchFamily="18" charset="0"/>
                                </a:rPr>
                              </m:ctrlPr>
                            </m:dPr>
                            <m:e>
                              <m:r>
                                <a:rPr lang="en-CA" sz="2400" b="0" i="1" smtClean="0">
                                  <a:solidFill>
                                    <a:schemeClr val="tx1"/>
                                  </a:solidFill>
                                  <a:latin typeface="Cambria Math" panose="02040503050406030204" pitchFamily="18" charset="0"/>
                                </a:rPr>
                                <m:t>𝑢</m:t>
                              </m:r>
                              <m:r>
                                <a:rPr lang="en-GB" sz="2400" b="0" i="1" smtClean="0">
                                  <a:solidFill>
                                    <a:schemeClr val="tx1"/>
                                  </a:solidFill>
                                  <a:latin typeface="Cambria Math" panose="02040503050406030204" pitchFamily="18" charset="0"/>
                                </a:rPr>
                                <m:t>+</m:t>
                              </m:r>
                              <m:r>
                                <a:rPr lang="en-CA" sz="2400" b="0" i="1" smtClean="0">
                                  <a:solidFill>
                                    <a:schemeClr val="tx1"/>
                                  </a:solidFill>
                                  <a:latin typeface="Cambria Math" panose="02040503050406030204" pitchFamily="18" charset="0"/>
                                </a:rPr>
                                <m:t>𝑃</m:t>
                              </m:r>
                              <m:r>
                                <a:rPr lang="en-CA" sz="2400" b="0" i="1">
                                  <a:solidFill>
                                    <a:schemeClr val="tx1"/>
                                  </a:solidFill>
                                  <a:latin typeface="Cambria Math" panose="02040503050406030204" pitchFamily="18" charset="0"/>
                                </a:rPr>
                                <m:t>𝑣</m:t>
                              </m:r>
                            </m:e>
                          </m:d>
                          <m:r>
                            <a:rPr lang="en-CA" sz="2400" b="0" i="1">
                              <a:solidFill>
                                <a:schemeClr val="tx1"/>
                              </a:solidFill>
                              <a:latin typeface="Cambria Math" panose="02040503050406030204" pitchFamily="18" charset="0"/>
                            </a:rPr>
                            <m:t>+</m:t>
                          </m:r>
                          <m:f>
                            <m:fPr>
                              <m:ctrlPr>
                                <a:rPr lang="en-CA" sz="2400" i="1">
                                  <a:solidFill>
                                    <a:schemeClr val="tx1"/>
                                  </a:solidFill>
                                  <a:latin typeface="Cambria Math" panose="02040503050406030204" pitchFamily="18" charset="0"/>
                                  <a:cs typeface="Times New Roman" panose="02020603050405020304" pitchFamily="18" charset="0"/>
                                </a:rPr>
                              </m:ctrlPr>
                            </m:fPr>
                            <m:num>
                              <m:sSup>
                                <m:sSupPr>
                                  <m:ctrlPr>
                                    <a:rPr lang="en-CA" sz="2400" i="1">
                                      <a:solidFill>
                                        <a:schemeClr val="tx1"/>
                                      </a:solidFill>
                                      <a:latin typeface="Cambria Math" panose="02040503050406030204" pitchFamily="18" charset="0"/>
                                      <a:cs typeface="Times New Roman" panose="02020603050405020304" pitchFamily="18" charset="0"/>
                                    </a:rPr>
                                  </m:ctrlPr>
                                </m:sSupPr>
                                <m:e>
                                  <m:r>
                                    <a:rPr lang="en-CA" sz="2400" b="0" i="1">
                                      <a:solidFill>
                                        <a:schemeClr val="tx1"/>
                                      </a:solidFill>
                                      <a:latin typeface="Cambria Math" panose="02040503050406030204" pitchFamily="18" charset="0"/>
                                      <a:cs typeface="Times New Roman" panose="02020603050405020304" pitchFamily="18" charset="0"/>
                                    </a:rPr>
                                    <m:t>𝑉</m:t>
                                  </m:r>
                                </m:e>
                                <m:sup>
                                  <m:r>
                                    <a:rPr lang="en-CA" sz="2400" b="0" i="1">
                                      <a:solidFill>
                                        <a:schemeClr val="tx1"/>
                                      </a:solidFill>
                                      <a:latin typeface="Cambria Math" panose="02040503050406030204" pitchFamily="18" charset="0"/>
                                      <a:cs typeface="Times New Roman" panose="02020603050405020304" pitchFamily="18" charset="0"/>
                                    </a:rPr>
                                    <m:t>2</m:t>
                                  </m:r>
                                </m:sup>
                              </m:sSup>
                            </m:num>
                            <m:den>
                              <m:r>
                                <a:rPr lang="en-CA" sz="2400" b="0" i="1">
                                  <a:solidFill>
                                    <a:schemeClr val="tx1"/>
                                  </a:solidFill>
                                  <a:latin typeface="Cambria Math" panose="02040503050406030204" pitchFamily="18" charset="0"/>
                                  <a:cs typeface="Times New Roman" panose="02020603050405020304" pitchFamily="18" charset="0"/>
                                </a:rPr>
                                <m:t>2</m:t>
                              </m:r>
                            </m:den>
                          </m:f>
                          <m:r>
                            <a:rPr lang="en-CA" sz="2400" b="0" i="1">
                              <a:solidFill>
                                <a:schemeClr val="tx1"/>
                              </a:solidFill>
                              <a:latin typeface="Cambria Math" panose="02040503050406030204" pitchFamily="18" charset="0"/>
                              <a:cs typeface="Times New Roman" panose="02020603050405020304" pitchFamily="18" charset="0"/>
                            </a:rPr>
                            <m:t>+</m:t>
                          </m:r>
                          <m:r>
                            <a:rPr lang="en-CA" sz="2400" b="0" i="1">
                              <a:solidFill>
                                <a:schemeClr val="tx1"/>
                              </a:solidFill>
                              <a:latin typeface="Cambria Math" panose="02040503050406030204" pitchFamily="18" charset="0"/>
                              <a:cs typeface="Times New Roman" panose="02020603050405020304" pitchFamily="18" charset="0"/>
                            </a:rPr>
                            <m:t>𝑔𝑧</m:t>
                          </m:r>
                          <m:r>
                            <a:rPr lang="en-CA" sz="2400" b="0" i="1">
                              <a:solidFill>
                                <a:schemeClr val="tx1"/>
                              </a:solidFill>
                              <a:latin typeface="Cambria Math" panose="02040503050406030204" pitchFamily="18" charset="0"/>
                            </a:rPr>
                            <m:t>]</m:t>
                          </m:r>
                          <m:r>
                            <a:rPr lang="en-CA" sz="2400" b="0" i="1" smtClean="0">
                              <a:solidFill>
                                <a:schemeClr val="tx1"/>
                              </a:solidFill>
                              <a:latin typeface="Cambria Math" panose="02040503050406030204" pitchFamily="18" charset="0"/>
                              <a:ea typeface="Cambria Math" panose="02040503050406030204" pitchFamily="18" charset="0"/>
                            </a:rPr>
                            <m:t>𝜌</m:t>
                          </m:r>
                          <m:acc>
                            <m:accPr>
                              <m:chr m:val="⃗"/>
                              <m:ctrlPr>
                                <a:rPr lang="en-CA" sz="2400" i="1">
                                  <a:solidFill>
                                    <a:schemeClr val="tx1"/>
                                  </a:solidFill>
                                  <a:latin typeface="Cambria Math" panose="02040503050406030204" pitchFamily="18" charset="0"/>
                                  <a:ea typeface="Cambria Math" panose="02040503050406030204" pitchFamily="18" charset="0"/>
                                </a:rPr>
                              </m:ctrlPr>
                            </m:accPr>
                            <m:e>
                              <m:r>
                                <a:rPr lang="en-CA" sz="2400" b="0" i="1">
                                  <a:solidFill>
                                    <a:schemeClr val="tx1"/>
                                  </a:solidFill>
                                  <a:latin typeface="Cambria Math" panose="02040503050406030204" pitchFamily="18" charset="0"/>
                                  <a:ea typeface="Cambria Math" panose="02040503050406030204" pitchFamily="18" charset="0"/>
                                </a:rPr>
                                <m:t>𝑉</m:t>
                              </m:r>
                            </m:e>
                          </m:acc>
                          <m:r>
                            <a:rPr lang="en-CA" sz="2400" b="0" i="1">
                              <a:solidFill>
                                <a:schemeClr val="tx1"/>
                              </a:solidFill>
                              <a:latin typeface="Cambria Math" panose="02040503050406030204" pitchFamily="18" charset="0"/>
                              <a:ea typeface="Cambria Math" panose="02040503050406030204" pitchFamily="18" charset="0"/>
                            </a:rPr>
                            <m:t>∙</m:t>
                          </m:r>
                          <m:r>
                            <a:rPr lang="en-CA" sz="2400" b="0" i="1">
                              <a:solidFill>
                                <a:schemeClr val="tx1"/>
                              </a:solidFill>
                              <a:latin typeface="Cambria Math" panose="02040503050406030204" pitchFamily="18" charset="0"/>
                              <a:ea typeface="Cambria Math" panose="02040503050406030204" pitchFamily="18" charset="0"/>
                            </a:rPr>
                            <m:t>𝑑</m:t>
                          </m:r>
                          <m:acc>
                            <m:accPr>
                              <m:chr m:val="⃗"/>
                              <m:ctrlPr>
                                <a:rPr lang="en-CA" sz="2400" i="1">
                                  <a:solidFill>
                                    <a:schemeClr val="tx1"/>
                                  </a:solidFill>
                                  <a:latin typeface="Cambria Math" panose="02040503050406030204" pitchFamily="18" charset="0"/>
                                  <a:ea typeface="Cambria Math" panose="02040503050406030204" pitchFamily="18" charset="0"/>
                                </a:rPr>
                              </m:ctrlPr>
                            </m:accPr>
                            <m:e>
                              <m:r>
                                <a:rPr lang="en-CA" sz="2400" b="0" i="1">
                                  <a:solidFill>
                                    <a:schemeClr val="tx1"/>
                                  </a:solidFill>
                                  <a:latin typeface="Cambria Math" panose="02040503050406030204" pitchFamily="18" charset="0"/>
                                  <a:ea typeface="Cambria Math" panose="02040503050406030204" pitchFamily="18" charset="0"/>
                                </a:rPr>
                                <m:t>𝐴</m:t>
                              </m:r>
                            </m:e>
                          </m:acc>
                        </m:e>
                      </m:nary>
                    </m:oMath>
                  </m:oMathPara>
                </a14:m>
                <a:endParaRPr lang="en-CA" sz="2400" dirty="0">
                  <a:solidFill>
                    <a:schemeClr val="tx1"/>
                  </a:solidFill>
                </a:endParaRPr>
              </a:p>
              <a:p>
                <a:pPr marL="0" indent="0">
                  <a:lnSpc>
                    <a:spcPct val="100000"/>
                  </a:lnSpc>
                  <a:spcBef>
                    <a:spcPts val="0"/>
                  </a:spcBef>
                  <a:spcAft>
                    <a:spcPts val="1800"/>
                  </a:spcAft>
                  <a:buNone/>
                </a:pPr>
                <a:endParaRPr lang="en-CA" sz="2400" dirty="0"/>
              </a:p>
            </p:txBody>
          </p:sp>
        </mc:Choice>
        <mc:Fallback xmlns="">
          <p:sp>
            <p:nvSpPr>
              <p:cNvPr id="5" name="Content Placeholder 2">
                <a:extLst>
                  <a:ext uri="{FF2B5EF4-FFF2-40B4-BE49-F238E27FC236}">
                    <a16:creationId xmlns:a16="http://schemas.microsoft.com/office/drawing/2014/main" id="{507B9B8A-9B70-1C5C-4E60-09514C3A6288}"/>
                  </a:ext>
                </a:extLst>
              </p:cNvPr>
              <p:cNvSpPr>
                <a:spLocks noGrp="1" noRot="1" noChangeAspect="1" noMove="1" noResize="1" noEditPoints="1" noAdjustHandles="1" noChangeArrowheads="1" noChangeShapeType="1" noTextEdit="1"/>
              </p:cNvSpPr>
              <p:nvPr>
                <p:ph idx="1"/>
              </p:nvPr>
            </p:nvSpPr>
            <p:spPr>
              <a:xfrm>
                <a:off x="193040" y="711200"/>
                <a:ext cx="11998960" cy="6073414"/>
              </a:xfrm>
              <a:blipFill>
                <a:blip r:embed="rId3"/>
                <a:stretch>
                  <a:fillRect l="-813" t="-803"/>
                </a:stretch>
              </a:blipFill>
            </p:spPr>
            <p:txBody>
              <a:bodyPr/>
              <a:lstStyle/>
              <a:p>
                <a:r>
                  <a:rPr lang="en-GH">
                    <a:noFill/>
                  </a:rPr>
                  <a:t> </a:t>
                </a:r>
              </a:p>
            </p:txBody>
          </p:sp>
        </mc:Fallback>
      </mc:AlternateContent>
      <p:sp>
        <p:nvSpPr>
          <p:cNvPr id="7" name="Title 1">
            <a:extLst>
              <a:ext uri="{FF2B5EF4-FFF2-40B4-BE49-F238E27FC236}">
                <a16:creationId xmlns:a16="http://schemas.microsoft.com/office/drawing/2014/main" id="{83F72B3C-9DA7-5FDC-9186-C2D4086C5F16}"/>
              </a:ext>
            </a:extLst>
          </p:cNvPr>
          <p:cNvSpPr txBox="1">
            <a:spLocks/>
          </p:cNvSpPr>
          <p:nvPr/>
        </p:nvSpPr>
        <p:spPr>
          <a:xfrm>
            <a:off x="1696720" y="73386"/>
            <a:ext cx="7886700" cy="57685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000" b="1" kern="1200">
                <a:solidFill>
                  <a:srgbClr val="0000FF"/>
                </a:solidFill>
                <a:latin typeface="Myriad Web Pro"/>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CA" sz="2800" b="1" i="0" u="none" strike="noStrike" kern="1200" cap="none" spc="0" normalizeH="0" baseline="0" noProof="0" dirty="0">
                <a:ln>
                  <a:noFill/>
                </a:ln>
                <a:solidFill>
                  <a:schemeClr val="tx1"/>
                </a:solidFill>
                <a:effectLst/>
                <a:uLnTx/>
                <a:uFillTx/>
                <a:latin typeface="+mn-lt"/>
                <a:ea typeface="+mj-ea"/>
                <a:cs typeface="+mj-cs"/>
              </a:rPr>
              <a:t>Energy Considerations in Pipe Flow</a:t>
            </a:r>
          </a:p>
        </p:txBody>
      </p:sp>
    </p:spTree>
    <p:extLst>
      <p:ext uri="{BB962C8B-B14F-4D97-AF65-F5344CB8AC3E}">
        <p14:creationId xmlns:p14="http://schemas.microsoft.com/office/powerpoint/2010/main" val="31158518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507B9B8A-9B70-1C5C-4E60-09514C3A6288}"/>
                  </a:ext>
                </a:extLst>
              </p:cNvPr>
              <p:cNvSpPr>
                <a:spLocks noGrp="1"/>
              </p:cNvSpPr>
              <p:nvPr>
                <p:ph idx="1"/>
              </p:nvPr>
            </p:nvSpPr>
            <p:spPr>
              <a:xfrm>
                <a:off x="447040" y="863600"/>
                <a:ext cx="11430000" cy="5527040"/>
              </a:xfrm>
            </p:spPr>
            <p:txBody>
              <a:bodyPr>
                <a:normAutofit/>
              </a:bodyPr>
              <a:lstStyle/>
              <a:p>
                <a:r>
                  <a:rPr lang="en-CA" sz="2400" b="1" dirty="0"/>
                  <a:t>Consider a steady flow through a pipe shown below:</a:t>
                </a:r>
              </a:p>
              <a:p>
                <a:endParaRPr lang="en-CA" sz="2400" dirty="0"/>
              </a:p>
              <a:p>
                <a:pPr marL="0" indent="0">
                  <a:buNone/>
                </a:pPr>
                <a:endParaRPr lang="en-CA" sz="2400" dirty="0"/>
              </a:p>
              <a:p>
                <a:endParaRPr lang="en-CA" sz="2400" dirty="0"/>
              </a:p>
              <a:p>
                <a:endParaRPr lang="en-CA" sz="2400" dirty="0"/>
              </a:p>
              <a:p>
                <a:endParaRPr lang="en-CA" sz="2400" dirty="0"/>
              </a:p>
              <a:p>
                <a:endParaRPr lang="en-CA" sz="2400" dirty="0"/>
              </a:p>
              <a:p>
                <a:endParaRPr lang="en-CA" sz="2400" dirty="0"/>
              </a:p>
              <a:p>
                <a:pPr>
                  <a:lnSpc>
                    <a:spcPct val="100000"/>
                  </a:lnSpc>
                </a:pPr>
                <a:r>
                  <a:rPr lang="en-CA" sz="2400" b="1" dirty="0"/>
                  <a:t>The basic energy equation is given as </a:t>
                </a:r>
              </a:p>
              <a:p>
                <a:pPr marL="0" indent="0">
                  <a:lnSpc>
                    <a:spcPct val="100000"/>
                  </a:lnSpc>
                  <a:buNone/>
                </a:pPr>
                <a:endParaRPr lang="en-CA" sz="2400" b="1" dirty="0">
                  <a:solidFill>
                    <a:schemeClr val="tx1"/>
                  </a:solidFill>
                </a:endParaRPr>
              </a:p>
              <a:p>
                <a:pPr marL="0" indent="0">
                  <a:lnSpc>
                    <a:spcPct val="100000"/>
                  </a:lnSpc>
                  <a:buNone/>
                </a:pPr>
                <a14:m>
                  <m:oMathPara xmlns:m="http://schemas.openxmlformats.org/officeDocument/2006/math">
                    <m:oMathParaPr>
                      <m:jc m:val="centerGroup"/>
                    </m:oMathParaPr>
                    <m:oMath xmlns:m="http://schemas.openxmlformats.org/officeDocument/2006/math">
                      <m:acc>
                        <m:accPr>
                          <m:chr m:val="̇"/>
                          <m:ctrlPr>
                            <a:rPr lang="en-CA" sz="2400" b="1" i="1" smtClean="0">
                              <a:solidFill>
                                <a:schemeClr val="tx1"/>
                              </a:solidFill>
                              <a:latin typeface="Cambria Math" panose="02040503050406030204" pitchFamily="18" charset="0"/>
                            </a:rPr>
                          </m:ctrlPr>
                        </m:accPr>
                        <m:e>
                          <m:r>
                            <a:rPr lang="en-CA" sz="2400" b="1" i="1">
                              <a:solidFill>
                                <a:schemeClr val="tx1"/>
                              </a:solidFill>
                              <a:latin typeface="Cambria Math" panose="02040503050406030204" pitchFamily="18" charset="0"/>
                            </a:rPr>
                            <m:t>𝑸</m:t>
                          </m:r>
                        </m:e>
                      </m:acc>
                      <m:r>
                        <a:rPr lang="en-CA" sz="2400" b="1" i="1" smtClean="0">
                          <a:solidFill>
                            <a:schemeClr val="tx1"/>
                          </a:solidFill>
                          <a:latin typeface="Cambria Math" panose="02040503050406030204" pitchFamily="18" charset="0"/>
                        </a:rPr>
                        <m:t>−</m:t>
                      </m:r>
                      <m:sSub>
                        <m:sSubPr>
                          <m:ctrlPr>
                            <a:rPr lang="en-CA" sz="2400" b="1" i="1">
                              <a:solidFill>
                                <a:schemeClr val="tx1"/>
                              </a:solidFill>
                              <a:latin typeface="Cambria Math" panose="02040503050406030204" pitchFamily="18" charset="0"/>
                            </a:rPr>
                          </m:ctrlPr>
                        </m:sSubPr>
                        <m:e>
                          <m:acc>
                            <m:accPr>
                              <m:chr m:val="̇"/>
                              <m:ctrlPr>
                                <a:rPr lang="en-CA" sz="2400" b="1" i="1">
                                  <a:solidFill>
                                    <a:schemeClr val="tx1"/>
                                  </a:solidFill>
                                  <a:latin typeface="Cambria Math" panose="02040503050406030204" pitchFamily="18" charset="0"/>
                                </a:rPr>
                              </m:ctrlPr>
                            </m:accPr>
                            <m:e>
                              <m:r>
                                <a:rPr lang="en-CA" sz="2400" b="1" i="1">
                                  <a:solidFill>
                                    <a:schemeClr val="tx1"/>
                                  </a:solidFill>
                                  <a:latin typeface="Cambria Math" panose="02040503050406030204" pitchFamily="18" charset="0"/>
                                </a:rPr>
                                <m:t>𝑾</m:t>
                              </m:r>
                            </m:e>
                          </m:acc>
                        </m:e>
                        <m:sub>
                          <m:r>
                            <a:rPr lang="en-CA" sz="2400" b="1" i="1">
                              <a:solidFill>
                                <a:schemeClr val="tx1"/>
                              </a:solidFill>
                              <a:latin typeface="Cambria Math" panose="02040503050406030204" pitchFamily="18" charset="0"/>
                            </a:rPr>
                            <m:t>𝒔</m:t>
                          </m:r>
                        </m:sub>
                      </m:sSub>
                      <m:r>
                        <a:rPr lang="en-CA" sz="2400" b="1">
                          <a:solidFill>
                            <a:schemeClr val="tx1"/>
                          </a:solidFill>
                          <a:latin typeface="Cambria Math" panose="02040503050406030204" pitchFamily="18" charset="0"/>
                        </a:rPr>
                        <m:t>−</m:t>
                      </m:r>
                      <m:sSub>
                        <m:sSubPr>
                          <m:ctrlPr>
                            <a:rPr lang="en-CA" sz="2400" b="1" i="1">
                              <a:solidFill>
                                <a:schemeClr val="tx1"/>
                              </a:solidFill>
                              <a:latin typeface="Cambria Math" panose="02040503050406030204" pitchFamily="18" charset="0"/>
                            </a:rPr>
                          </m:ctrlPr>
                        </m:sSubPr>
                        <m:e>
                          <m:acc>
                            <m:accPr>
                              <m:chr m:val="̇"/>
                              <m:ctrlPr>
                                <a:rPr lang="en-CA" sz="2400" b="1" i="1">
                                  <a:solidFill>
                                    <a:schemeClr val="tx1"/>
                                  </a:solidFill>
                                  <a:latin typeface="Cambria Math" panose="02040503050406030204" pitchFamily="18" charset="0"/>
                                </a:rPr>
                              </m:ctrlPr>
                            </m:accPr>
                            <m:e>
                              <m:r>
                                <a:rPr lang="en-CA" sz="2400" b="1" i="1">
                                  <a:solidFill>
                                    <a:schemeClr val="tx1"/>
                                  </a:solidFill>
                                  <a:latin typeface="Cambria Math" panose="02040503050406030204" pitchFamily="18" charset="0"/>
                                </a:rPr>
                                <m:t>𝑾</m:t>
                              </m:r>
                            </m:e>
                          </m:acc>
                        </m:e>
                        <m:sub>
                          <m:r>
                            <a:rPr lang="en-CA" sz="2400" b="1" i="1">
                              <a:solidFill>
                                <a:schemeClr val="tx1"/>
                              </a:solidFill>
                              <a:latin typeface="Cambria Math" panose="02040503050406030204" pitchFamily="18" charset="0"/>
                            </a:rPr>
                            <m:t>𝒔𝒉𝒆𝒂𝒓</m:t>
                          </m:r>
                        </m:sub>
                      </m:sSub>
                      <m:r>
                        <a:rPr lang="en-CA" sz="2400" b="1" i="1">
                          <a:solidFill>
                            <a:schemeClr val="tx1"/>
                          </a:solidFill>
                          <a:latin typeface="Cambria Math" panose="02040503050406030204" pitchFamily="18" charset="0"/>
                        </a:rPr>
                        <m:t>−</m:t>
                      </m:r>
                      <m:sSub>
                        <m:sSubPr>
                          <m:ctrlPr>
                            <a:rPr lang="en-CA" sz="2400" b="1" i="1">
                              <a:solidFill>
                                <a:schemeClr val="tx1"/>
                              </a:solidFill>
                              <a:latin typeface="Cambria Math" panose="02040503050406030204" pitchFamily="18" charset="0"/>
                            </a:rPr>
                          </m:ctrlPr>
                        </m:sSubPr>
                        <m:e>
                          <m:acc>
                            <m:accPr>
                              <m:chr m:val="̇"/>
                              <m:ctrlPr>
                                <a:rPr lang="en-CA" sz="2400" b="1" i="1">
                                  <a:solidFill>
                                    <a:schemeClr val="tx1"/>
                                  </a:solidFill>
                                  <a:latin typeface="Cambria Math" panose="02040503050406030204" pitchFamily="18" charset="0"/>
                                </a:rPr>
                              </m:ctrlPr>
                            </m:accPr>
                            <m:e>
                              <m:r>
                                <a:rPr lang="en-CA" sz="2400" b="1" i="1">
                                  <a:solidFill>
                                    <a:schemeClr val="tx1"/>
                                  </a:solidFill>
                                  <a:latin typeface="Cambria Math" panose="02040503050406030204" pitchFamily="18" charset="0"/>
                                </a:rPr>
                                <m:t>𝑾</m:t>
                              </m:r>
                            </m:e>
                          </m:acc>
                        </m:e>
                        <m:sub>
                          <m:r>
                            <a:rPr lang="en-CA" sz="2400" b="1" i="1">
                              <a:solidFill>
                                <a:schemeClr val="tx1"/>
                              </a:solidFill>
                              <a:latin typeface="Cambria Math" panose="02040503050406030204" pitchFamily="18" charset="0"/>
                            </a:rPr>
                            <m:t>𝒐𝒕𝒉𝒆𝒓</m:t>
                          </m:r>
                        </m:sub>
                      </m:sSub>
                      <m:r>
                        <a:rPr lang="en-CA" sz="2400" b="1" i="1">
                          <a:solidFill>
                            <a:schemeClr val="tx1"/>
                          </a:solidFill>
                          <a:latin typeface="Cambria Math" panose="02040503050406030204" pitchFamily="18" charset="0"/>
                        </a:rPr>
                        <m:t>=</m:t>
                      </m:r>
                      <m:f>
                        <m:fPr>
                          <m:ctrlPr>
                            <a:rPr lang="en-CA" sz="2400" b="1" i="1">
                              <a:solidFill>
                                <a:schemeClr val="tx1"/>
                              </a:solidFill>
                              <a:latin typeface="Cambria Math" panose="02040503050406030204" pitchFamily="18" charset="0"/>
                            </a:rPr>
                          </m:ctrlPr>
                        </m:fPr>
                        <m:num>
                          <m:r>
                            <a:rPr lang="en-CA" sz="2400" b="1" i="1">
                              <a:solidFill>
                                <a:schemeClr val="tx1"/>
                              </a:solidFill>
                              <a:latin typeface="Cambria Math" panose="02040503050406030204" pitchFamily="18" charset="0"/>
                              <a:ea typeface="Cambria Math" panose="02040503050406030204" pitchFamily="18" charset="0"/>
                            </a:rPr>
                            <m:t>𝝏</m:t>
                          </m:r>
                        </m:num>
                        <m:den>
                          <m:r>
                            <a:rPr lang="en-CA" sz="2400" b="1" i="1">
                              <a:solidFill>
                                <a:schemeClr val="tx1"/>
                              </a:solidFill>
                              <a:latin typeface="Cambria Math" panose="02040503050406030204" pitchFamily="18" charset="0"/>
                              <a:ea typeface="Cambria Math" panose="02040503050406030204" pitchFamily="18" charset="0"/>
                            </a:rPr>
                            <m:t>𝝏</m:t>
                          </m:r>
                          <m:r>
                            <a:rPr lang="en-CA" sz="2400" b="1" i="1">
                              <a:solidFill>
                                <a:schemeClr val="tx1"/>
                              </a:solidFill>
                              <a:latin typeface="Cambria Math" panose="02040503050406030204" pitchFamily="18" charset="0"/>
                              <a:ea typeface="Cambria Math" panose="02040503050406030204" pitchFamily="18" charset="0"/>
                            </a:rPr>
                            <m:t>𝒕</m:t>
                          </m:r>
                        </m:den>
                      </m:f>
                      <m:nary>
                        <m:naryPr>
                          <m:ctrlPr>
                            <a:rPr lang="en-CA" sz="2400" b="1" i="1">
                              <a:solidFill>
                                <a:schemeClr val="tx1"/>
                              </a:solidFill>
                              <a:latin typeface="Cambria Math" panose="02040503050406030204" pitchFamily="18" charset="0"/>
                            </a:rPr>
                          </m:ctrlPr>
                        </m:naryPr>
                        <m:sub>
                          <m:r>
                            <m:rPr>
                              <m:brk m:alnAt="23"/>
                            </m:rPr>
                            <a:rPr lang="en-CA" sz="2400" b="1" i="1">
                              <a:solidFill>
                                <a:schemeClr val="tx1"/>
                              </a:solidFill>
                              <a:latin typeface="Cambria Math" panose="02040503050406030204" pitchFamily="18" charset="0"/>
                            </a:rPr>
                            <m:t>𝑪</m:t>
                          </m:r>
                          <m:r>
                            <a:rPr lang="en-CA" sz="2400" b="1" i="1">
                              <a:solidFill>
                                <a:schemeClr val="tx1"/>
                              </a:solidFill>
                              <a:latin typeface="Cambria Math" panose="02040503050406030204" pitchFamily="18" charset="0"/>
                            </a:rPr>
                            <m:t>𝑽</m:t>
                          </m:r>
                        </m:sub>
                        <m:sup/>
                        <m:e>
                          <m:r>
                            <a:rPr lang="en-CA" sz="2400" b="1" i="1">
                              <a:solidFill>
                                <a:schemeClr val="tx1"/>
                              </a:solidFill>
                              <a:latin typeface="Cambria Math" panose="02040503050406030204" pitchFamily="18" charset="0"/>
                            </a:rPr>
                            <m:t>𝒆</m:t>
                          </m:r>
                          <m:r>
                            <a:rPr lang="en-CA" sz="2400" b="1" i="1">
                              <a:solidFill>
                                <a:schemeClr val="tx1"/>
                              </a:solidFill>
                              <a:latin typeface="Cambria Math" panose="02040503050406030204" pitchFamily="18" charset="0"/>
                              <a:ea typeface="Cambria Math" panose="02040503050406030204" pitchFamily="18" charset="0"/>
                            </a:rPr>
                            <m:t>𝝆</m:t>
                          </m:r>
                          <m:r>
                            <a:rPr lang="en-CA" sz="2400" b="1" i="1">
                              <a:solidFill>
                                <a:schemeClr val="tx1"/>
                              </a:solidFill>
                              <a:latin typeface="Cambria Math" panose="02040503050406030204" pitchFamily="18" charset="0"/>
                              <a:ea typeface="Cambria Math" panose="02040503050406030204" pitchFamily="18" charset="0"/>
                            </a:rPr>
                            <m:t>𝒅𝑽</m:t>
                          </m:r>
                        </m:e>
                      </m:nary>
                      <m:r>
                        <a:rPr lang="en-CA" sz="2400" b="1">
                          <a:solidFill>
                            <a:schemeClr val="tx1"/>
                          </a:solidFill>
                          <a:latin typeface="Cambria Math" panose="02040503050406030204" pitchFamily="18" charset="0"/>
                          <a:ea typeface="Cambria Math" panose="02040503050406030204" pitchFamily="18" charset="0"/>
                        </a:rPr>
                        <m:t>+</m:t>
                      </m:r>
                      <m:nary>
                        <m:naryPr>
                          <m:ctrlPr>
                            <a:rPr lang="en-CA" sz="2400" b="1" i="1">
                              <a:solidFill>
                                <a:schemeClr val="tx1"/>
                              </a:solidFill>
                              <a:latin typeface="Cambria Math" panose="02040503050406030204" pitchFamily="18" charset="0"/>
                            </a:rPr>
                          </m:ctrlPr>
                        </m:naryPr>
                        <m:sub>
                          <m:r>
                            <m:rPr>
                              <m:brk m:alnAt="23"/>
                            </m:rPr>
                            <a:rPr lang="en-CA" sz="2400" b="1" i="1">
                              <a:solidFill>
                                <a:schemeClr val="tx1"/>
                              </a:solidFill>
                              <a:latin typeface="Cambria Math" panose="02040503050406030204" pitchFamily="18" charset="0"/>
                            </a:rPr>
                            <m:t>𝑪</m:t>
                          </m:r>
                          <m:r>
                            <a:rPr lang="en-CA" sz="2400" b="1" i="1">
                              <a:solidFill>
                                <a:schemeClr val="tx1"/>
                              </a:solidFill>
                              <a:latin typeface="Cambria Math" panose="02040503050406030204" pitchFamily="18" charset="0"/>
                            </a:rPr>
                            <m:t>𝑺</m:t>
                          </m:r>
                        </m:sub>
                        <m:sup/>
                        <m:e>
                          <m:r>
                            <a:rPr lang="en-CA" sz="2400" b="1" i="1">
                              <a:solidFill>
                                <a:schemeClr val="tx1"/>
                              </a:solidFill>
                              <a:latin typeface="Cambria Math" panose="02040503050406030204" pitchFamily="18" charset="0"/>
                            </a:rPr>
                            <m:t>[</m:t>
                          </m:r>
                          <m:d>
                            <m:dPr>
                              <m:ctrlPr>
                                <a:rPr lang="en-CA" sz="2400" b="1" i="1">
                                  <a:solidFill>
                                    <a:schemeClr val="tx1"/>
                                  </a:solidFill>
                                  <a:latin typeface="Cambria Math" panose="02040503050406030204" pitchFamily="18" charset="0"/>
                                </a:rPr>
                              </m:ctrlPr>
                            </m:dPr>
                            <m:e>
                              <m:r>
                                <a:rPr lang="en-CA" sz="2400" b="1" i="1" smtClean="0">
                                  <a:solidFill>
                                    <a:schemeClr val="tx1"/>
                                  </a:solidFill>
                                  <a:latin typeface="Cambria Math" panose="02040503050406030204" pitchFamily="18" charset="0"/>
                                </a:rPr>
                                <m:t>𝒖</m:t>
                              </m:r>
                              <m:r>
                                <a:rPr lang="en-GB" sz="2400" b="1" i="1" smtClean="0">
                                  <a:solidFill>
                                    <a:schemeClr val="tx1"/>
                                  </a:solidFill>
                                  <a:latin typeface="Cambria Math" panose="02040503050406030204" pitchFamily="18" charset="0"/>
                                </a:rPr>
                                <m:t>+</m:t>
                              </m:r>
                              <m:r>
                                <a:rPr lang="en-CA" sz="2400" b="1" i="1" smtClean="0">
                                  <a:solidFill>
                                    <a:schemeClr val="tx1"/>
                                  </a:solidFill>
                                  <a:latin typeface="Cambria Math" panose="02040503050406030204" pitchFamily="18" charset="0"/>
                                </a:rPr>
                                <m:t>𝑷</m:t>
                              </m:r>
                              <m:r>
                                <a:rPr lang="en-CA" sz="2400" b="1" i="1">
                                  <a:solidFill>
                                    <a:schemeClr val="tx1"/>
                                  </a:solidFill>
                                  <a:latin typeface="Cambria Math" panose="02040503050406030204" pitchFamily="18" charset="0"/>
                                </a:rPr>
                                <m:t>𝒗</m:t>
                              </m:r>
                            </m:e>
                          </m:d>
                          <m:r>
                            <a:rPr lang="en-CA" sz="2400" b="1" i="1">
                              <a:solidFill>
                                <a:schemeClr val="tx1"/>
                              </a:solidFill>
                              <a:latin typeface="Cambria Math" panose="02040503050406030204" pitchFamily="18" charset="0"/>
                            </a:rPr>
                            <m:t>+</m:t>
                          </m:r>
                          <m:f>
                            <m:fPr>
                              <m:ctrlPr>
                                <a:rPr lang="en-CA" sz="2400" b="1" i="1">
                                  <a:solidFill>
                                    <a:schemeClr val="tx1"/>
                                  </a:solidFill>
                                  <a:latin typeface="Cambria Math" panose="02040503050406030204" pitchFamily="18" charset="0"/>
                                  <a:cs typeface="Times New Roman" panose="02020603050405020304" pitchFamily="18" charset="0"/>
                                </a:rPr>
                              </m:ctrlPr>
                            </m:fPr>
                            <m:num>
                              <m:sSup>
                                <m:sSupPr>
                                  <m:ctrlPr>
                                    <a:rPr lang="en-CA" sz="2400" b="1" i="1">
                                      <a:solidFill>
                                        <a:schemeClr val="tx1"/>
                                      </a:solidFill>
                                      <a:latin typeface="Cambria Math" panose="02040503050406030204" pitchFamily="18" charset="0"/>
                                      <a:cs typeface="Times New Roman" panose="02020603050405020304" pitchFamily="18" charset="0"/>
                                    </a:rPr>
                                  </m:ctrlPr>
                                </m:sSupPr>
                                <m:e>
                                  <m:r>
                                    <a:rPr lang="en-CA" sz="2400" b="1" i="1">
                                      <a:solidFill>
                                        <a:schemeClr val="tx1"/>
                                      </a:solidFill>
                                      <a:latin typeface="Cambria Math" panose="02040503050406030204" pitchFamily="18" charset="0"/>
                                      <a:cs typeface="Times New Roman" panose="02020603050405020304" pitchFamily="18" charset="0"/>
                                    </a:rPr>
                                    <m:t>𝑽</m:t>
                                  </m:r>
                                </m:e>
                                <m:sup>
                                  <m:r>
                                    <a:rPr lang="en-CA" sz="2400" b="1" i="1">
                                      <a:solidFill>
                                        <a:schemeClr val="tx1"/>
                                      </a:solidFill>
                                      <a:latin typeface="Cambria Math" panose="02040503050406030204" pitchFamily="18" charset="0"/>
                                      <a:cs typeface="Times New Roman" panose="02020603050405020304" pitchFamily="18" charset="0"/>
                                    </a:rPr>
                                    <m:t>𝟐</m:t>
                                  </m:r>
                                </m:sup>
                              </m:sSup>
                            </m:num>
                            <m:den>
                              <m:r>
                                <a:rPr lang="en-CA" sz="2400" b="1" i="1">
                                  <a:solidFill>
                                    <a:schemeClr val="tx1"/>
                                  </a:solidFill>
                                  <a:latin typeface="Cambria Math" panose="02040503050406030204" pitchFamily="18" charset="0"/>
                                  <a:cs typeface="Times New Roman" panose="02020603050405020304" pitchFamily="18" charset="0"/>
                                </a:rPr>
                                <m:t>𝟐</m:t>
                              </m:r>
                            </m:den>
                          </m:f>
                          <m:r>
                            <a:rPr lang="en-CA" sz="2400" b="1" i="1">
                              <a:solidFill>
                                <a:schemeClr val="tx1"/>
                              </a:solidFill>
                              <a:latin typeface="Cambria Math" panose="02040503050406030204" pitchFamily="18" charset="0"/>
                              <a:cs typeface="Times New Roman" panose="02020603050405020304" pitchFamily="18" charset="0"/>
                            </a:rPr>
                            <m:t>+</m:t>
                          </m:r>
                          <m:r>
                            <a:rPr lang="en-CA" sz="2400" b="1" i="1">
                              <a:solidFill>
                                <a:schemeClr val="tx1"/>
                              </a:solidFill>
                              <a:latin typeface="Cambria Math" panose="02040503050406030204" pitchFamily="18" charset="0"/>
                              <a:cs typeface="Times New Roman" panose="02020603050405020304" pitchFamily="18" charset="0"/>
                            </a:rPr>
                            <m:t>𝒈𝒛</m:t>
                          </m:r>
                          <m:r>
                            <a:rPr lang="en-CA" sz="2400" b="1" i="1">
                              <a:solidFill>
                                <a:schemeClr val="tx1"/>
                              </a:solidFill>
                              <a:latin typeface="Cambria Math" panose="02040503050406030204" pitchFamily="18" charset="0"/>
                            </a:rPr>
                            <m:t>]</m:t>
                          </m:r>
                          <m:r>
                            <a:rPr lang="en-CA" sz="2400" b="1" i="1" smtClean="0">
                              <a:solidFill>
                                <a:schemeClr val="tx1"/>
                              </a:solidFill>
                              <a:latin typeface="Cambria Math" panose="02040503050406030204" pitchFamily="18" charset="0"/>
                              <a:ea typeface="Cambria Math" panose="02040503050406030204" pitchFamily="18" charset="0"/>
                            </a:rPr>
                            <m:t>𝝆</m:t>
                          </m:r>
                          <m:acc>
                            <m:accPr>
                              <m:chr m:val="⃗"/>
                              <m:ctrlPr>
                                <a:rPr lang="en-CA" sz="2400" b="1" i="1">
                                  <a:solidFill>
                                    <a:schemeClr val="tx1"/>
                                  </a:solidFill>
                                  <a:latin typeface="Cambria Math" panose="02040503050406030204" pitchFamily="18" charset="0"/>
                                  <a:ea typeface="Cambria Math" panose="02040503050406030204" pitchFamily="18" charset="0"/>
                                </a:rPr>
                              </m:ctrlPr>
                            </m:accPr>
                            <m:e>
                              <m:r>
                                <a:rPr lang="en-CA" sz="2400" b="1" i="1">
                                  <a:solidFill>
                                    <a:schemeClr val="tx1"/>
                                  </a:solidFill>
                                  <a:latin typeface="Cambria Math" panose="02040503050406030204" pitchFamily="18" charset="0"/>
                                  <a:ea typeface="Cambria Math" panose="02040503050406030204" pitchFamily="18" charset="0"/>
                                </a:rPr>
                                <m:t>𝑽</m:t>
                              </m:r>
                            </m:e>
                          </m:acc>
                          <m:r>
                            <a:rPr lang="en-CA" sz="2400" b="1" i="1">
                              <a:solidFill>
                                <a:schemeClr val="tx1"/>
                              </a:solidFill>
                              <a:latin typeface="Cambria Math" panose="02040503050406030204" pitchFamily="18" charset="0"/>
                              <a:ea typeface="Cambria Math" panose="02040503050406030204" pitchFamily="18" charset="0"/>
                            </a:rPr>
                            <m:t>∙</m:t>
                          </m:r>
                          <m:r>
                            <a:rPr lang="en-CA" sz="2400" b="1" i="1">
                              <a:solidFill>
                                <a:schemeClr val="tx1"/>
                              </a:solidFill>
                              <a:latin typeface="Cambria Math" panose="02040503050406030204" pitchFamily="18" charset="0"/>
                              <a:ea typeface="Cambria Math" panose="02040503050406030204" pitchFamily="18" charset="0"/>
                            </a:rPr>
                            <m:t>𝒅</m:t>
                          </m:r>
                          <m:acc>
                            <m:accPr>
                              <m:chr m:val="⃗"/>
                              <m:ctrlPr>
                                <a:rPr lang="en-CA" sz="2400" b="1" i="1">
                                  <a:solidFill>
                                    <a:schemeClr val="tx1"/>
                                  </a:solidFill>
                                  <a:latin typeface="Cambria Math" panose="02040503050406030204" pitchFamily="18" charset="0"/>
                                  <a:ea typeface="Cambria Math" panose="02040503050406030204" pitchFamily="18" charset="0"/>
                                </a:rPr>
                              </m:ctrlPr>
                            </m:accPr>
                            <m:e>
                              <m:r>
                                <a:rPr lang="en-CA" sz="2400" b="1" i="1">
                                  <a:solidFill>
                                    <a:schemeClr val="tx1"/>
                                  </a:solidFill>
                                  <a:latin typeface="Cambria Math" panose="02040503050406030204" pitchFamily="18" charset="0"/>
                                  <a:ea typeface="Cambria Math" panose="02040503050406030204" pitchFamily="18" charset="0"/>
                                </a:rPr>
                                <m:t>𝑨</m:t>
                              </m:r>
                            </m:e>
                          </m:acc>
                        </m:e>
                      </m:nary>
                    </m:oMath>
                  </m:oMathPara>
                </a14:m>
                <a:endParaRPr lang="en-CA" sz="2400" b="1" dirty="0">
                  <a:solidFill>
                    <a:schemeClr val="tx1"/>
                  </a:solidFill>
                </a:endParaRPr>
              </a:p>
            </p:txBody>
          </p:sp>
        </mc:Choice>
        <mc:Fallback xmlns="">
          <p:sp>
            <p:nvSpPr>
              <p:cNvPr id="5" name="Content Placeholder 2">
                <a:extLst>
                  <a:ext uri="{FF2B5EF4-FFF2-40B4-BE49-F238E27FC236}">
                    <a16:creationId xmlns:a16="http://schemas.microsoft.com/office/drawing/2014/main" id="{507B9B8A-9B70-1C5C-4E60-09514C3A6288}"/>
                  </a:ext>
                </a:extLst>
              </p:cNvPr>
              <p:cNvSpPr>
                <a:spLocks noGrp="1" noRot="1" noChangeAspect="1" noMove="1" noResize="1" noEditPoints="1" noAdjustHandles="1" noChangeArrowheads="1" noChangeShapeType="1" noTextEdit="1"/>
              </p:cNvSpPr>
              <p:nvPr>
                <p:ph idx="1"/>
              </p:nvPr>
            </p:nvSpPr>
            <p:spPr>
              <a:xfrm>
                <a:off x="447040" y="863600"/>
                <a:ext cx="11430000" cy="5527040"/>
              </a:xfrm>
              <a:blipFill>
                <a:blip r:embed="rId3"/>
                <a:stretch>
                  <a:fillRect l="-693" t="-1545"/>
                </a:stretch>
              </a:blipFill>
            </p:spPr>
            <p:txBody>
              <a:bodyPr/>
              <a:lstStyle/>
              <a:p>
                <a:r>
                  <a:rPr lang="en-GH">
                    <a:noFill/>
                  </a:rPr>
                  <a:t> </a:t>
                </a:r>
              </a:p>
            </p:txBody>
          </p:sp>
        </mc:Fallback>
      </mc:AlternateContent>
      <p:sp>
        <p:nvSpPr>
          <p:cNvPr id="7" name="Title 1">
            <a:extLst>
              <a:ext uri="{FF2B5EF4-FFF2-40B4-BE49-F238E27FC236}">
                <a16:creationId xmlns:a16="http://schemas.microsoft.com/office/drawing/2014/main" id="{83F72B3C-9DA7-5FDC-9186-C2D4086C5F16}"/>
              </a:ext>
            </a:extLst>
          </p:cNvPr>
          <p:cNvSpPr txBox="1">
            <a:spLocks/>
          </p:cNvSpPr>
          <p:nvPr/>
        </p:nvSpPr>
        <p:spPr>
          <a:xfrm>
            <a:off x="1696720" y="93707"/>
            <a:ext cx="7886700" cy="56894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000" b="1" kern="1200">
                <a:solidFill>
                  <a:srgbClr val="0000FF"/>
                </a:solidFill>
                <a:latin typeface="Myriad Web Pro"/>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CA" sz="2800" b="1" i="0" u="none" strike="noStrike" kern="1200" cap="none" spc="0" normalizeH="0" baseline="0" noProof="0" dirty="0">
                <a:ln>
                  <a:noFill/>
                </a:ln>
                <a:solidFill>
                  <a:schemeClr val="tx1"/>
                </a:solidFill>
                <a:effectLst/>
                <a:uLnTx/>
                <a:uFillTx/>
                <a:latin typeface="+mn-lt"/>
                <a:ea typeface="+mj-ea"/>
                <a:cs typeface="+mj-cs"/>
              </a:rPr>
              <a:t>Energy Considerations in Pipe Flow</a:t>
            </a:r>
          </a:p>
        </p:txBody>
      </p:sp>
      <p:pic>
        <p:nvPicPr>
          <p:cNvPr id="8" name="Picture 7" descr="fig08_12.jpg">
            <a:extLst>
              <a:ext uri="{FF2B5EF4-FFF2-40B4-BE49-F238E27FC236}">
                <a16:creationId xmlns:a16="http://schemas.microsoft.com/office/drawing/2014/main" id="{F9F68ABB-2D99-1503-A762-48CD614090E4}"/>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2674062" y="1466749"/>
            <a:ext cx="5189777" cy="2495651"/>
          </a:xfrm>
          <a:prstGeom prst="rect">
            <a:avLst/>
          </a:prstGeom>
          <a:noFill/>
          <a:ln>
            <a:noFill/>
          </a:ln>
        </p:spPr>
      </p:pic>
    </p:spTree>
    <p:extLst>
      <p:ext uri="{BB962C8B-B14F-4D97-AF65-F5344CB8AC3E}">
        <p14:creationId xmlns:p14="http://schemas.microsoft.com/office/powerpoint/2010/main" val="4186953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3F72B3C-9DA7-5FDC-9186-C2D4086C5F16}"/>
              </a:ext>
            </a:extLst>
          </p:cNvPr>
          <p:cNvSpPr txBox="1">
            <a:spLocks/>
          </p:cNvSpPr>
          <p:nvPr/>
        </p:nvSpPr>
        <p:spPr>
          <a:xfrm>
            <a:off x="1717040" y="40640"/>
            <a:ext cx="7886700" cy="56894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000" b="1" kern="1200">
                <a:solidFill>
                  <a:srgbClr val="0000FF"/>
                </a:solidFill>
                <a:latin typeface="Myriad Web Pro"/>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CA" sz="2800" b="1" i="0" u="none" strike="noStrike" kern="1200" cap="none" spc="0" normalizeH="0" baseline="0" noProof="0" dirty="0">
                <a:ln>
                  <a:noFill/>
                </a:ln>
                <a:solidFill>
                  <a:schemeClr val="tx1"/>
                </a:solidFill>
                <a:effectLst/>
                <a:uLnTx/>
                <a:uFillTx/>
                <a:latin typeface="+mn-lt"/>
                <a:ea typeface="+mj-ea"/>
                <a:cs typeface="+mj-cs"/>
              </a:rPr>
              <a:t>Energy Considerations in Pipe Flow</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3F569CF5-A4BD-E56D-71B6-9CEC70203475}"/>
                  </a:ext>
                </a:extLst>
              </p:cNvPr>
              <p:cNvSpPr>
                <a:spLocks noGrp="1"/>
              </p:cNvSpPr>
              <p:nvPr>
                <p:ph idx="1"/>
              </p:nvPr>
            </p:nvSpPr>
            <p:spPr>
              <a:xfrm>
                <a:off x="50800" y="669906"/>
                <a:ext cx="12110720" cy="5771534"/>
              </a:xfrm>
            </p:spPr>
            <p:txBody>
              <a:bodyPr>
                <a:noAutofit/>
              </a:bodyPr>
              <a:lstStyle/>
              <a:p>
                <a:pPr marL="0" indent="0">
                  <a:lnSpc>
                    <a:spcPct val="100000"/>
                  </a:lnSpc>
                  <a:spcBef>
                    <a:spcPts val="0"/>
                  </a:spcBef>
                  <a:buNone/>
                </a:pPr>
                <a14:m>
                  <m:oMathPara xmlns:m="http://schemas.openxmlformats.org/officeDocument/2006/math">
                    <m:oMathParaPr>
                      <m:jc m:val="centerGroup"/>
                    </m:oMathParaPr>
                    <m:oMath xmlns:m="http://schemas.openxmlformats.org/officeDocument/2006/math">
                      <m:acc>
                        <m:accPr>
                          <m:chr m:val="̇"/>
                          <m:ctrlPr>
                            <a:rPr lang="en-CA" sz="2400" b="1" i="1" smtClean="0">
                              <a:solidFill>
                                <a:schemeClr val="tx1"/>
                              </a:solidFill>
                              <a:latin typeface="Cambria Math" panose="02040503050406030204" pitchFamily="18" charset="0"/>
                            </a:rPr>
                          </m:ctrlPr>
                        </m:accPr>
                        <m:e>
                          <m:r>
                            <a:rPr lang="en-CA" sz="2400" b="1" i="1">
                              <a:solidFill>
                                <a:schemeClr val="tx1"/>
                              </a:solidFill>
                              <a:latin typeface="Cambria Math" panose="02040503050406030204" pitchFamily="18" charset="0"/>
                            </a:rPr>
                            <m:t>𝑸</m:t>
                          </m:r>
                        </m:e>
                      </m:acc>
                      <m:r>
                        <a:rPr lang="en-CA" sz="2400" b="1" i="1">
                          <a:solidFill>
                            <a:schemeClr val="tx1"/>
                          </a:solidFill>
                          <a:latin typeface="Cambria Math" panose="02040503050406030204" pitchFamily="18" charset="0"/>
                        </a:rPr>
                        <m:t>−</m:t>
                      </m:r>
                      <m:sSub>
                        <m:sSubPr>
                          <m:ctrlPr>
                            <a:rPr lang="en-CA" sz="2400" b="1" i="1">
                              <a:solidFill>
                                <a:schemeClr val="tx1"/>
                              </a:solidFill>
                              <a:latin typeface="Cambria Math" panose="02040503050406030204" pitchFamily="18" charset="0"/>
                            </a:rPr>
                          </m:ctrlPr>
                        </m:sSubPr>
                        <m:e>
                          <m:acc>
                            <m:accPr>
                              <m:chr m:val="̇"/>
                              <m:ctrlPr>
                                <a:rPr lang="en-CA" sz="2400" b="1" i="1">
                                  <a:solidFill>
                                    <a:schemeClr val="tx1"/>
                                  </a:solidFill>
                                  <a:latin typeface="Cambria Math" panose="02040503050406030204" pitchFamily="18" charset="0"/>
                                </a:rPr>
                              </m:ctrlPr>
                            </m:accPr>
                            <m:e>
                              <m:r>
                                <a:rPr lang="en-CA" sz="2400" b="1" i="1">
                                  <a:solidFill>
                                    <a:schemeClr val="tx1"/>
                                  </a:solidFill>
                                  <a:latin typeface="Cambria Math" panose="02040503050406030204" pitchFamily="18" charset="0"/>
                                </a:rPr>
                                <m:t>𝑾</m:t>
                              </m:r>
                            </m:e>
                          </m:acc>
                        </m:e>
                        <m:sub>
                          <m:r>
                            <a:rPr lang="en-CA" sz="2400" b="1" i="1">
                              <a:solidFill>
                                <a:schemeClr val="tx1"/>
                              </a:solidFill>
                              <a:latin typeface="Cambria Math" panose="02040503050406030204" pitchFamily="18" charset="0"/>
                            </a:rPr>
                            <m:t>𝒔</m:t>
                          </m:r>
                        </m:sub>
                      </m:sSub>
                      <m:r>
                        <a:rPr lang="en-CA" sz="2400" b="1">
                          <a:solidFill>
                            <a:schemeClr val="tx1"/>
                          </a:solidFill>
                          <a:latin typeface="Cambria Math" panose="02040503050406030204" pitchFamily="18" charset="0"/>
                        </a:rPr>
                        <m:t>−</m:t>
                      </m:r>
                      <m:sSub>
                        <m:sSubPr>
                          <m:ctrlPr>
                            <a:rPr lang="en-CA" sz="2400" b="1" i="1">
                              <a:solidFill>
                                <a:schemeClr val="tx1"/>
                              </a:solidFill>
                              <a:latin typeface="Cambria Math" panose="02040503050406030204" pitchFamily="18" charset="0"/>
                            </a:rPr>
                          </m:ctrlPr>
                        </m:sSubPr>
                        <m:e>
                          <m:acc>
                            <m:accPr>
                              <m:chr m:val="̇"/>
                              <m:ctrlPr>
                                <a:rPr lang="en-CA" sz="2400" b="1" i="1">
                                  <a:solidFill>
                                    <a:schemeClr val="tx1"/>
                                  </a:solidFill>
                                  <a:latin typeface="Cambria Math" panose="02040503050406030204" pitchFamily="18" charset="0"/>
                                </a:rPr>
                              </m:ctrlPr>
                            </m:accPr>
                            <m:e>
                              <m:r>
                                <a:rPr lang="en-CA" sz="2400" b="1" i="1">
                                  <a:solidFill>
                                    <a:schemeClr val="tx1"/>
                                  </a:solidFill>
                                  <a:latin typeface="Cambria Math" panose="02040503050406030204" pitchFamily="18" charset="0"/>
                                </a:rPr>
                                <m:t>𝑾</m:t>
                              </m:r>
                            </m:e>
                          </m:acc>
                        </m:e>
                        <m:sub>
                          <m:r>
                            <a:rPr lang="en-CA" sz="2400" b="1" i="1">
                              <a:solidFill>
                                <a:schemeClr val="tx1"/>
                              </a:solidFill>
                              <a:latin typeface="Cambria Math" panose="02040503050406030204" pitchFamily="18" charset="0"/>
                            </a:rPr>
                            <m:t>𝒔𝒉𝒆𝒂𝒓</m:t>
                          </m:r>
                        </m:sub>
                      </m:sSub>
                      <m:r>
                        <a:rPr lang="en-CA" sz="2400" b="1" i="1">
                          <a:solidFill>
                            <a:schemeClr val="tx1"/>
                          </a:solidFill>
                          <a:latin typeface="Cambria Math" panose="02040503050406030204" pitchFamily="18" charset="0"/>
                        </a:rPr>
                        <m:t>−</m:t>
                      </m:r>
                      <m:sSub>
                        <m:sSubPr>
                          <m:ctrlPr>
                            <a:rPr lang="en-CA" sz="2400" b="1" i="1">
                              <a:solidFill>
                                <a:schemeClr val="tx1"/>
                              </a:solidFill>
                              <a:latin typeface="Cambria Math" panose="02040503050406030204" pitchFamily="18" charset="0"/>
                            </a:rPr>
                          </m:ctrlPr>
                        </m:sSubPr>
                        <m:e>
                          <m:acc>
                            <m:accPr>
                              <m:chr m:val="̇"/>
                              <m:ctrlPr>
                                <a:rPr lang="en-CA" sz="2400" b="1" i="1">
                                  <a:solidFill>
                                    <a:schemeClr val="tx1"/>
                                  </a:solidFill>
                                  <a:latin typeface="Cambria Math" panose="02040503050406030204" pitchFamily="18" charset="0"/>
                                </a:rPr>
                              </m:ctrlPr>
                            </m:accPr>
                            <m:e>
                              <m:r>
                                <a:rPr lang="en-CA" sz="2400" b="1" i="1">
                                  <a:solidFill>
                                    <a:schemeClr val="tx1"/>
                                  </a:solidFill>
                                  <a:latin typeface="Cambria Math" panose="02040503050406030204" pitchFamily="18" charset="0"/>
                                </a:rPr>
                                <m:t>𝑾</m:t>
                              </m:r>
                            </m:e>
                          </m:acc>
                        </m:e>
                        <m:sub>
                          <m:r>
                            <a:rPr lang="en-CA" sz="2400" b="1" i="1">
                              <a:solidFill>
                                <a:schemeClr val="tx1"/>
                              </a:solidFill>
                              <a:latin typeface="Cambria Math" panose="02040503050406030204" pitchFamily="18" charset="0"/>
                            </a:rPr>
                            <m:t>𝒐𝒕𝒉𝒆𝒓</m:t>
                          </m:r>
                        </m:sub>
                      </m:sSub>
                      <m:r>
                        <a:rPr lang="en-CA" sz="2400" b="1" i="1">
                          <a:solidFill>
                            <a:schemeClr val="tx1"/>
                          </a:solidFill>
                          <a:latin typeface="Cambria Math" panose="02040503050406030204" pitchFamily="18" charset="0"/>
                        </a:rPr>
                        <m:t>=</m:t>
                      </m:r>
                      <m:f>
                        <m:fPr>
                          <m:ctrlPr>
                            <a:rPr lang="en-CA" sz="2400" b="1" i="1">
                              <a:solidFill>
                                <a:schemeClr val="tx1"/>
                              </a:solidFill>
                              <a:latin typeface="Cambria Math" panose="02040503050406030204" pitchFamily="18" charset="0"/>
                            </a:rPr>
                          </m:ctrlPr>
                        </m:fPr>
                        <m:num>
                          <m:r>
                            <a:rPr lang="en-CA" sz="2400" b="1" i="1">
                              <a:solidFill>
                                <a:schemeClr val="tx1"/>
                              </a:solidFill>
                              <a:latin typeface="Cambria Math" panose="02040503050406030204" pitchFamily="18" charset="0"/>
                              <a:ea typeface="Cambria Math" panose="02040503050406030204" pitchFamily="18" charset="0"/>
                            </a:rPr>
                            <m:t>𝝏</m:t>
                          </m:r>
                        </m:num>
                        <m:den>
                          <m:r>
                            <a:rPr lang="en-CA" sz="2400" b="1" i="1">
                              <a:solidFill>
                                <a:schemeClr val="tx1"/>
                              </a:solidFill>
                              <a:latin typeface="Cambria Math" panose="02040503050406030204" pitchFamily="18" charset="0"/>
                              <a:ea typeface="Cambria Math" panose="02040503050406030204" pitchFamily="18" charset="0"/>
                            </a:rPr>
                            <m:t>𝝏</m:t>
                          </m:r>
                          <m:r>
                            <a:rPr lang="en-CA" sz="2400" b="1" i="1">
                              <a:solidFill>
                                <a:schemeClr val="tx1"/>
                              </a:solidFill>
                              <a:latin typeface="Cambria Math" panose="02040503050406030204" pitchFamily="18" charset="0"/>
                              <a:ea typeface="Cambria Math" panose="02040503050406030204" pitchFamily="18" charset="0"/>
                            </a:rPr>
                            <m:t>𝒕</m:t>
                          </m:r>
                        </m:den>
                      </m:f>
                      <m:nary>
                        <m:naryPr>
                          <m:ctrlPr>
                            <a:rPr lang="en-CA" sz="2400" b="1" i="1">
                              <a:solidFill>
                                <a:schemeClr val="tx1"/>
                              </a:solidFill>
                              <a:latin typeface="Cambria Math" panose="02040503050406030204" pitchFamily="18" charset="0"/>
                            </a:rPr>
                          </m:ctrlPr>
                        </m:naryPr>
                        <m:sub>
                          <m:r>
                            <m:rPr>
                              <m:brk m:alnAt="23"/>
                            </m:rPr>
                            <a:rPr lang="en-CA" sz="2400" b="1" i="1">
                              <a:solidFill>
                                <a:schemeClr val="tx1"/>
                              </a:solidFill>
                              <a:latin typeface="Cambria Math" panose="02040503050406030204" pitchFamily="18" charset="0"/>
                            </a:rPr>
                            <m:t>𝑪</m:t>
                          </m:r>
                          <m:r>
                            <a:rPr lang="en-CA" sz="2400" b="1" i="1">
                              <a:solidFill>
                                <a:schemeClr val="tx1"/>
                              </a:solidFill>
                              <a:latin typeface="Cambria Math" panose="02040503050406030204" pitchFamily="18" charset="0"/>
                            </a:rPr>
                            <m:t>𝑽</m:t>
                          </m:r>
                        </m:sub>
                        <m:sup/>
                        <m:e>
                          <m:r>
                            <a:rPr lang="en-CA" sz="2400" b="1" i="1">
                              <a:solidFill>
                                <a:schemeClr val="tx1"/>
                              </a:solidFill>
                              <a:latin typeface="Cambria Math" panose="02040503050406030204" pitchFamily="18" charset="0"/>
                            </a:rPr>
                            <m:t>𝒆</m:t>
                          </m:r>
                          <m:r>
                            <a:rPr lang="en-CA" sz="2400" b="1" i="1">
                              <a:solidFill>
                                <a:schemeClr val="tx1"/>
                              </a:solidFill>
                              <a:latin typeface="Cambria Math" panose="02040503050406030204" pitchFamily="18" charset="0"/>
                              <a:ea typeface="Cambria Math" panose="02040503050406030204" pitchFamily="18" charset="0"/>
                            </a:rPr>
                            <m:t>𝝆</m:t>
                          </m:r>
                          <m:r>
                            <a:rPr lang="en-CA" sz="2400" b="1" i="1">
                              <a:solidFill>
                                <a:schemeClr val="tx1"/>
                              </a:solidFill>
                              <a:latin typeface="Cambria Math" panose="02040503050406030204" pitchFamily="18" charset="0"/>
                              <a:ea typeface="Cambria Math" panose="02040503050406030204" pitchFamily="18" charset="0"/>
                            </a:rPr>
                            <m:t>𝒅𝑽</m:t>
                          </m:r>
                        </m:e>
                      </m:nary>
                      <m:r>
                        <a:rPr lang="en-CA" sz="2400" b="1">
                          <a:solidFill>
                            <a:schemeClr val="tx1"/>
                          </a:solidFill>
                          <a:latin typeface="Cambria Math" panose="02040503050406030204" pitchFamily="18" charset="0"/>
                          <a:ea typeface="Cambria Math" panose="02040503050406030204" pitchFamily="18" charset="0"/>
                        </a:rPr>
                        <m:t>+</m:t>
                      </m:r>
                      <m:nary>
                        <m:naryPr>
                          <m:ctrlPr>
                            <a:rPr lang="en-CA" sz="2400" b="1" i="1">
                              <a:solidFill>
                                <a:schemeClr val="tx1"/>
                              </a:solidFill>
                              <a:latin typeface="Cambria Math" panose="02040503050406030204" pitchFamily="18" charset="0"/>
                            </a:rPr>
                          </m:ctrlPr>
                        </m:naryPr>
                        <m:sub>
                          <m:r>
                            <m:rPr>
                              <m:brk m:alnAt="23"/>
                            </m:rPr>
                            <a:rPr lang="en-CA" sz="2400" b="1" i="1">
                              <a:solidFill>
                                <a:schemeClr val="tx1"/>
                              </a:solidFill>
                              <a:latin typeface="Cambria Math" panose="02040503050406030204" pitchFamily="18" charset="0"/>
                            </a:rPr>
                            <m:t>𝑪</m:t>
                          </m:r>
                          <m:r>
                            <a:rPr lang="en-CA" sz="2400" b="1" i="1">
                              <a:solidFill>
                                <a:schemeClr val="tx1"/>
                              </a:solidFill>
                              <a:latin typeface="Cambria Math" panose="02040503050406030204" pitchFamily="18" charset="0"/>
                            </a:rPr>
                            <m:t>𝑺</m:t>
                          </m:r>
                        </m:sub>
                        <m:sup/>
                        <m:e>
                          <m:r>
                            <a:rPr lang="en-CA" sz="2400" b="1" i="1">
                              <a:solidFill>
                                <a:schemeClr val="tx1"/>
                              </a:solidFill>
                              <a:latin typeface="Cambria Math" panose="02040503050406030204" pitchFamily="18" charset="0"/>
                            </a:rPr>
                            <m:t>[</m:t>
                          </m:r>
                          <m:d>
                            <m:dPr>
                              <m:ctrlPr>
                                <a:rPr lang="en-CA" sz="2400" b="1" i="1">
                                  <a:solidFill>
                                    <a:schemeClr val="tx1"/>
                                  </a:solidFill>
                                  <a:latin typeface="Cambria Math" panose="02040503050406030204" pitchFamily="18" charset="0"/>
                                </a:rPr>
                              </m:ctrlPr>
                            </m:dPr>
                            <m:e>
                              <m:r>
                                <a:rPr lang="en-CA" sz="2400" b="1" i="1">
                                  <a:solidFill>
                                    <a:schemeClr val="tx1"/>
                                  </a:solidFill>
                                  <a:latin typeface="Cambria Math" panose="02040503050406030204" pitchFamily="18" charset="0"/>
                                </a:rPr>
                                <m:t>𝒖</m:t>
                              </m:r>
                              <m:r>
                                <a:rPr lang="en-CA" sz="2400" b="1" i="1">
                                  <a:solidFill>
                                    <a:schemeClr val="tx1"/>
                                  </a:solidFill>
                                  <a:latin typeface="Cambria Math" panose="02040503050406030204" pitchFamily="18" charset="0"/>
                                </a:rPr>
                                <m:t>−</m:t>
                              </m:r>
                              <m:r>
                                <a:rPr lang="en-CA" sz="2400" b="1" i="1">
                                  <a:solidFill>
                                    <a:schemeClr val="tx1"/>
                                  </a:solidFill>
                                  <a:latin typeface="Cambria Math" panose="02040503050406030204" pitchFamily="18" charset="0"/>
                                </a:rPr>
                                <m:t>𝑷𝒗</m:t>
                              </m:r>
                            </m:e>
                          </m:d>
                          <m:r>
                            <a:rPr lang="en-CA" sz="2400" b="1" i="1">
                              <a:solidFill>
                                <a:schemeClr val="tx1"/>
                              </a:solidFill>
                              <a:latin typeface="Cambria Math" panose="02040503050406030204" pitchFamily="18" charset="0"/>
                            </a:rPr>
                            <m:t>+</m:t>
                          </m:r>
                          <m:f>
                            <m:fPr>
                              <m:ctrlPr>
                                <a:rPr lang="en-CA" sz="2400" b="1" i="1">
                                  <a:solidFill>
                                    <a:schemeClr val="tx1"/>
                                  </a:solidFill>
                                  <a:latin typeface="Cambria Math" panose="02040503050406030204" pitchFamily="18" charset="0"/>
                                  <a:cs typeface="Times New Roman" panose="02020603050405020304" pitchFamily="18" charset="0"/>
                                </a:rPr>
                              </m:ctrlPr>
                            </m:fPr>
                            <m:num>
                              <m:sSup>
                                <m:sSupPr>
                                  <m:ctrlPr>
                                    <a:rPr lang="en-CA" sz="2400" b="1" i="1">
                                      <a:solidFill>
                                        <a:schemeClr val="tx1"/>
                                      </a:solidFill>
                                      <a:latin typeface="Cambria Math" panose="02040503050406030204" pitchFamily="18" charset="0"/>
                                      <a:cs typeface="Times New Roman" panose="02020603050405020304" pitchFamily="18" charset="0"/>
                                    </a:rPr>
                                  </m:ctrlPr>
                                </m:sSupPr>
                                <m:e>
                                  <m:r>
                                    <a:rPr lang="en-CA" sz="2400" b="1" i="1">
                                      <a:solidFill>
                                        <a:schemeClr val="tx1"/>
                                      </a:solidFill>
                                      <a:latin typeface="Cambria Math" panose="02040503050406030204" pitchFamily="18" charset="0"/>
                                      <a:cs typeface="Times New Roman" panose="02020603050405020304" pitchFamily="18" charset="0"/>
                                    </a:rPr>
                                    <m:t>𝑽</m:t>
                                  </m:r>
                                </m:e>
                                <m:sup>
                                  <m:r>
                                    <a:rPr lang="en-CA" sz="2400" b="1" i="1">
                                      <a:solidFill>
                                        <a:schemeClr val="tx1"/>
                                      </a:solidFill>
                                      <a:latin typeface="Cambria Math" panose="02040503050406030204" pitchFamily="18" charset="0"/>
                                      <a:cs typeface="Times New Roman" panose="02020603050405020304" pitchFamily="18" charset="0"/>
                                    </a:rPr>
                                    <m:t>𝟐</m:t>
                                  </m:r>
                                </m:sup>
                              </m:sSup>
                            </m:num>
                            <m:den>
                              <m:r>
                                <a:rPr lang="en-CA" sz="2400" b="1" i="1">
                                  <a:solidFill>
                                    <a:schemeClr val="tx1"/>
                                  </a:solidFill>
                                  <a:latin typeface="Cambria Math" panose="02040503050406030204" pitchFamily="18" charset="0"/>
                                  <a:cs typeface="Times New Roman" panose="02020603050405020304" pitchFamily="18" charset="0"/>
                                </a:rPr>
                                <m:t>𝟐</m:t>
                              </m:r>
                            </m:den>
                          </m:f>
                          <m:r>
                            <a:rPr lang="en-CA" sz="2400" b="1" i="1">
                              <a:solidFill>
                                <a:schemeClr val="tx1"/>
                              </a:solidFill>
                              <a:latin typeface="Cambria Math" panose="02040503050406030204" pitchFamily="18" charset="0"/>
                              <a:cs typeface="Times New Roman" panose="02020603050405020304" pitchFamily="18" charset="0"/>
                            </a:rPr>
                            <m:t>+</m:t>
                          </m:r>
                          <m:r>
                            <a:rPr lang="en-CA" sz="2400" b="1" i="1">
                              <a:solidFill>
                                <a:schemeClr val="tx1"/>
                              </a:solidFill>
                              <a:latin typeface="Cambria Math" panose="02040503050406030204" pitchFamily="18" charset="0"/>
                              <a:cs typeface="Times New Roman" panose="02020603050405020304" pitchFamily="18" charset="0"/>
                            </a:rPr>
                            <m:t>𝒈𝒛</m:t>
                          </m:r>
                          <m:r>
                            <a:rPr lang="en-CA" sz="2400" b="1" i="1">
                              <a:solidFill>
                                <a:schemeClr val="tx1"/>
                              </a:solidFill>
                              <a:latin typeface="Cambria Math" panose="02040503050406030204" pitchFamily="18" charset="0"/>
                            </a:rPr>
                            <m:t>]</m:t>
                          </m:r>
                          <m:r>
                            <a:rPr lang="en-CA" sz="2400" b="1" i="1">
                              <a:solidFill>
                                <a:schemeClr val="tx1"/>
                              </a:solidFill>
                              <a:latin typeface="Cambria Math" panose="02040503050406030204" pitchFamily="18" charset="0"/>
                              <a:ea typeface="Cambria Math" panose="02040503050406030204" pitchFamily="18" charset="0"/>
                            </a:rPr>
                            <m:t>𝝆</m:t>
                          </m:r>
                          <m:acc>
                            <m:accPr>
                              <m:chr m:val="⃗"/>
                              <m:ctrlPr>
                                <a:rPr lang="en-CA" sz="2400" b="1" i="1">
                                  <a:solidFill>
                                    <a:schemeClr val="tx1"/>
                                  </a:solidFill>
                                  <a:latin typeface="Cambria Math" panose="02040503050406030204" pitchFamily="18" charset="0"/>
                                  <a:ea typeface="Cambria Math" panose="02040503050406030204" pitchFamily="18" charset="0"/>
                                </a:rPr>
                              </m:ctrlPr>
                            </m:accPr>
                            <m:e>
                              <m:r>
                                <a:rPr lang="en-CA" sz="2400" b="1" i="1">
                                  <a:solidFill>
                                    <a:schemeClr val="tx1"/>
                                  </a:solidFill>
                                  <a:latin typeface="Cambria Math" panose="02040503050406030204" pitchFamily="18" charset="0"/>
                                  <a:ea typeface="Cambria Math" panose="02040503050406030204" pitchFamily="18" charset="0"/>
                                </a:rPr>
                                <m:t>𝑽</m:t>
                              </m:r>
                            </m:e>
                          </m:acc>
                          <m:r>
                            <a:rPr lang="en-CA" sz="2400" b="1" i="1">
                              <a:solidFill>
                                <a:schemeClr val="tx1"/>
                              </a:solidFill>
                              <a:latin typeface="Cambria Math" panose="02040503050406030204" pitchFamily="18" charset="0"/>
                              <a:ea typeface="Cambria Math" panose="02040503050406030204" pitchFamily="18" charset="0"/>
                            </a:rPr>
                            <m:t>∙</m:t>
                          </m:r>
                          <m:r>
                            <a:rPr lang="en-CA" sz="2400" b="1" i="1">
                              <a:solidFill>
                                <a:schemeClr val="tx1"/>
                              </a:solidFill>
                              <a:latin typeface="Cambria Math" panose="02040503050406030204" pitchFamily="18" charset="0"/>
                              <a:ea typeface="Cambria Math" panose="02040503050406030204" pitchFamily="18" charset="0"/>
                            </a:rPr>
                            <m:t>𝒅</m:t>
                          </m:r>
                          <m:acc>
                            <m:accPr>
                              <m:chr m:val="⃗"/>
                              <m:ctrlPr>
                                <a:rPr lang="en-CA" sz="2400" b="1" i="1">
                                  <a:solidFill>
                                    <a:schemeClr val="tx1"/>
                                  </a:solidFill>
                                  <a:latin typeface="Cambria Math" panose="02040503050406030204" pitchFamily="18" charset="0"/>
                                  <a:ea typeface="Cambria Math" panose="02040503050406030204" pitchFamily="18" charset="0"/>
                                </a:rPr>
                              </m:ctrlPr>
                            </m:accPr>
                            <m:e>
                              <m:r>
                                <a:rPr lang="en-CA" sz="2400" b="1" i="1">
                                  <a:solidFill>
                                    <a:schemeClr val="tx1"/>
                                  </a:solidFill>
                                  <a:latin typeface="Cambria Math" panose="02040503050406030204" pitchFamily="18" charset="0"/>
                                  <a:ea typeface="Cambria Math" panose="02040503050406030204" pitchFamily="18" charset="0"/>
                                </a:rPr>
                                <m:t>𝑨</m:t>
                              </m:r>
                            </m:e>
                          </m:acc>
                        </m:e>
                      </m:nary>
                    </m:oMath>
                  </m:oMathPara>
                </a14:m>
                <a:endParaRPr lang="en-CA" sz="2400" b="1" u="sng" dirty="0"/>
              </a:p>
              <a:p>
                <a:pPr>
                  <a:lnSpc>
                    <a:spcPct val="120000"/>
                  </a:lnSpc>
                  <a:spcBef>
                    <a:spcPts val="0"/>
                  </a:spcBef>
                </a:pPr>
                <a:r>
                  <a:rPr lang="en-CA" sz="2400" b="1" u="sng" dirty="0"/>
                  <a:t>Assumptions </a:t>
                </a:r>
                <a:endParaRPr lang="en-CA" sz="2400" b="1" i="1" dirty="0"/>
              </a:p>
              <a:p>
                <a:pPr marL="0" indent="0">
                  <a:lnSpc>
                    <a:spcPct val="100000"/>
                  </a:lnSpc>
                  <a:spcBef>
                    <a:spcPts val="0"/>
                  </a:spcBef>
                  <a:buNone/>
                </a:pPr>
                <a:r>
                  <a:rPr lang="en-CA" sz="2400" b="1" i="1" dirty="0"/>
                  <a:t>   </a:t>
                </a:r>
                <a14:m>
                  <m:oMath xmlns:m="http://schemas.openxmlformats.org/officeDocument/2006/math">
                    <m:sSub>
                      <m:sSubPr>
                        <m:ctrlPr>
                          <a:rPr lang="en-CA" sz="2400" b="1" i="1">
                            <a:latin typeface="Cambria Math" panose="02040503050406030204" pitchFamily="18" charset="0"/>
                          </a:rPr>
                        </m:ctrlPr>
                      </m:sSubPr>
                      <m:e>
                        <m:acc>
                          <m:accPr>
                            <m:chr m:val="̇"/>
                            <m:ctrlPr>
                              <a:rPr lang="en-CA" sz="2400" b="1" i="1">
                                <a:latin typeface="Cambria Math" panose="02040503050406030204" pitchFamily="18" charset="0"/>
                              </a:rPr>
                            </m:ctrlPr>
                          </m:accPr>
                          <m:e>
                            <m:r>
                              <a:rPr lang="en-CA" sz="2400" b="1" i="1" smtClean="0">
                                <a:latin typeface="Cambria Math" panose="02040503050406030204" pitchFamily="18" charset="0"/>
                              </a:rPr>
                              <m:t>  </m:t>
                            </m:r>
                            <m:r>
                              <a:rPr lang="en-GB" sz="2400" b="1" i="1" smtClean="0">
                                <a:latin typeface="Cambria Math" panose="02040503050406030204" pitchFamily="18" charset="0"/>
                              </a:rPr>
                              <m:t>  </m:t>
                            </m:r>
                            <m:r>
                              <a:rPr lang="en-CA" sz="2400" b="1" i="1">
                                <a:latin typeface="Cambria Math" panose="02040503050406030204" pitchFamily="18" charset="0"/>
                              </a:rPr>
                              <m:t>𝑾</m:t>
                            </m:r>
                          </m:e>
                        </m:acc>
                      </m:e>
                      <m:sub>
                        <m:r>
                          <a:rPr lang="en-CA" sz="2400" b="1" i="1">
                            <a:latin typeface="Cambria Math" panose="02040503050406030204" pitchFamily="18" charset="0"/>
                          </a:rPr>
                          <m:t>𝒔</m:t>
                        </m:r>
                      </m:sub>
                    </m:sSub>
                    <m:r>
                      <a:rPr lang="en-CA" sz="2400" b="1" i="1" smtClean="0">
                        <a:latin typeface="Cambria Math" panose="02040503050406030204" pitchFamily="18" charset="0"/>
                      </a:rPr>
                      <m:t>=</m:t>
                    </m:r>
                    <m:r>
                      <a:rPr lang="en-CA" sz="2400" b="1" i="1" smtClean="0">
                        <a:latin typeface="Cambria Math" panose="02040503050406030204" pitchFamily="18" charset="0"/>
                      </a:rPr>
                      <m:t>𝟎</m:t>
                    </m:r>
                    <m:r>
                      <a:rPr lang="en-CA" sz="2400" b="1" i="1" smtClean="0">
                        <a:latin typeface="Cambria Math" panose="02040503050406030204" pitchFamily="18" charset="0"/>
                      </a:rPr>
                      <m:t>, </m:t>
                    </m:r>
                    <m:sSub>
                      <m:sSubPr>
                        <m:ctrlPr>
                          <a:rPr lang="en-CA" sz="2400" b="1" i="1">
                            <a:latin typeface="Cambria Math" panose="02040503050406030204" pitchFamily="18" charset="0"/>
                          </a:rPr>
                        </m:ctrlPr>
                      </m:sSubPr>
                      <m:e>
                        <m:acc>
                          <m:accPr>
                            <m:chr m:val="̇"/>
                            <m:ctrlPr>
                              <a:rPr lang="en-CA" sz="2400" b="1" i="1">
                                <a:latin typeface="Cambria Math" panose="02040503050406030204" pitchFamily="18" charset="0"/>
                              </a:rPr>
                            </m:ctrlPr>
                          </m:accPr>
                          <m:e>
                            <m:r>
                              <a:rPr lang="en-CA" sz="2400" b="1" i="1">
                                <a:latin typeface="Cambria Math" panose="02040503050406030204" pitchFamily="18" charset="0"/>
                              </a:rPr>
                              <m:t>𝑾</m:t>
                            </m:r>
                          </m:e>
                        </m:acc>
                      </m:e>
                      <m:sub>
                        <m:r>
                          <a:rPr lang="en-CA" sz="2400" b="1" i="1">
                            <a:latin typeface="Cambria Math" panose="02040503050406030204" pitchFamily="18" charset="0"/>
                          </a:rPr>
                          <m:t>𝒐𝒕𝒉𝒆𝒓</m:t>
                        </m:r>
                      </m:sub>
                    </m:sSub>
                    <m:r>
                      <a:rPr lang="en-CA" sz="2400" b="1" i="1" smtClean="0">
                        <a:latin typeface="Cambria Math" panose="02040503050406030204" pitchFamily="18" charset="0"/>
                      </a:rPr>
                      <m:t>=</m:t>
                    </m:r>
                    <m:r>
                      <a:rPr lang="en-CA" sz="2400" b="1" i="1" smtClean="0">
                        <a:latin typeface="Cambria Math" panose="02040503050406030204" pitchFamily="18" charset="0"/>
                      </a:rPr>
                      <m:t>𝟎</m:t>
                    </m:r>
                  </m:oMath>
                </a14:m>
                <a:endParaRPr lang="en-CA" sz="2400" b="1" u="sng" dirty="0"/>
              </a:p>
              <a:p>
                <a:pPr marL="457200" lvl="1" indent="0">
                  <a:lnSpc>
                    <a:spcPct val="100000"/>
                  </a:lnSpc>
                  <a:spcBef>
                    <a:spcPts val="0"/>
                  </a:spcBef>
                  <a:buNone/>
                </a:pPr>
                <a14:m>
                  <m:oMath xmlns:m="http://schemas.openxmlformats.org/officeDocument/2006/math">
                    <m:sSub>
                      <m:sSubPr>
                        <m:ctrlPr>
                          <a:rPr lang="en-CA" b="1" i="1">
                            <a:latin typeface="Cambria Math" panose="02040503050406030204" pitchFamily="18" charset="0"/>
                          </a:rPr>
                        </m:ctrlPr>
                      </m:sSubPr>
                      <m:e>
                        <m:acc>
                          <m:accPr>
                            <m:chr m:val="̇"/>
                            <m:ctrlPr>
                              <a:rPr lang="en-CA" b="1" i="1">
                                <a:latin typeface="Cambria Math" panose="02040503050406030204" pitchFamily="18" charset="0"/>
                              </a:rPr>
                            </m:ctrlPr>
                          </m:accPr>
                          <m:e>
                            <m:r>
                              <a:rPr lang="en-CA" b="1" i="1">
                                <a:latin typeface="Cambria Math" panose="02040503050406030204" pitchFamily="18" charset="0"/>
                              </a:rPr>
                              <m:t>𝑾</m:t>
                            </m:r>
                          </m:e>
                        </m:acc>
                      </m:e>
                      <m:sub>
                        <m:r>
                          <a:rPr lang="en-CA" b="1" i="1" smtClean="0">
                            <a:latin typeface="Cambria Math" panose="02040503050406030204" pitchFamily="18" charset="0"/>
                          </a:rPr>
                          <m:t>𝒔𝒉𝒆𝒂𝒓</m:t>
                        </m:r>
                      </m:sub>
                    </m:sSub>
                    <m:r>
                      <a:rPr lang="en-CA" b="1" i="1" smtClean="0">
                        <a:latin typeface="Cambria Math" panose="02040503050406030204" pitchFamily="18" charset="0"/>
                      </a:rPr>
                      <m:t>=</m:t>
                    </m:r>
                    <m:r>
                      <a:rPr lang="en-CA" b="1" i="1" smtClean="0">
                        <a:latin typeface="Cambria Math" panose="02040503050406030204" pitchFamily="18" charset="0"/>
                      </a:rPr>
                      <m:t>𝟎</m:t>
                    </m:r>
                  </m:oMath>
                </a14:m>
                <a:r>
                  <a:rPr lang="en-CA" b="1" dirty="0"/>
                  <a:t> (because the velocity at the wall is zero)</a:t>
                </a:r>
              </a:p>
              <a:p>
                <a:pPr marL="457200" lvl="1" indent="0">
                  <a:lnSpc>
                    <a:spcPct val="100000"/>
                  </a:lnSpc>
                  <a:spcBef>
                    <a:spcPts val="0"/>
                  </a:spcBef>
                  <a:buNone/>
                </a:pPr>
                <a:r>
                  <a:rPr lang="en-CA" b="1" dirty="0"/>
                  <a:t>Steady flow</a:t>
                </a:r>
              </a:p>
              <a:p>
                <a:pPr marL="457200" lvl="1" indent="0">
                  <a:lnSpc>
                    <a:spcPct val="100000"/>
                  </a:lnSpc>
                  <a:spcBef>
                    <a:spcPts val="0"/>
                  </a:spcBef>
                  <a:buNone/>
                </a:pPr>
                <a:r>
                  <a:rPr lang="en-CA" b="1" dirty="0"/>
                  <a:t>Incompressible flow</a:t>
                </a:r>
              </a:p>
              <a:p>
                <a:pPr marL="457200" lvl="1" indent="0">
                  <a:lnSpc>
                    <a:spcPct val="100000"/>
                  </a:lnSpc>
                  <a:spcBef>
                    <a:spcPts val="0"/>
                  </a:spcBef>
                  <a:buNone/>
                </a:pPr>
                <a:r>
                  <a:rPr lang="en-CA" b="1" dirty="0"/>
                  <a:t>Internal energy and pressure uniform across sections (1) and (2) </a:t>
                </a:r>
              </a:p>
              <a:p>
                <a:pPr>
                  <a:lnSpc>
                    <a:spcPct val="150000"/>
                  </a:lnSpc>
                </a:pPr>
                <a:r>
                  <a:rPr lang="en-CA" sz="2400" b="1" dirty="0"/>
                  <a:t>These assumptions reduce the basic equation to:</a:t>
                </a:r>
              </a:p>
              <a:p>
                <a:pPr marL="0" indent="0">
                  <a:lnSpc>
                    <a:spcPct val="100000"/>
                  </a:lnSpc>
                  <a:spcBef>
                    <a:spcPts val="0"/>
                  </a:spcBef>
                  <a:buNone/>
                </a:pPr>
                <a14:m>
                  <m:oMathPara xmlns:m="http://schemas.openxmlformats.org/officeDocument/2006/math">
                    <m:oMathParaPr>
                      <m:jc m:val="centerGroup"/>
                    </m:oMathParaPr>
                    <m:oMath xmlns:m="http://schemas.openxmlformats.org/officeDocument/2006/math">
                      <m:acc>
                        <m:accPr>
                          <m:chr m:val="̇"/>
                          <m:ctrlPr>
                            <a:rPr lang="en-CA" sz="2400" b="1" i="1" smtClean="0">
                              <a:solidFill>
                                <a:schemeClr val="tx1"/>
                              </a:solidFill>
                              <a:latin typeface="Cambria Math" panose="02040503050406030204" pitchFamily="18" charset="0"/>
                            </a:rPr>
                          </m:ctrlPr>
                        </m:accPr>
                        <m:e>
                          <m:r>
                            <a:rPr lang="en-CA" sz="2400" b="1" i="1">
                              <a:solidFill>
                                <a:schemeClr val="tx1"/>
                              </a:solidFill>
                              <a:latin typeface="Cambria Math" panose="02040503050406030204" pitchFamily="18" charset="0"/>
                            </a:rPr>
                            <m:t>𝑸</m:t>
                          </m:r>
                        </m:e>
                      </m:acc>
                      <m:r>
                        <a:rPr lang="en-CA" sz="2400" b="1" i="1">
                          <a:solidFill>
                            <a:schemeClr val="tx1"/>
                          </a:solidFill>
                          <a:latin typeface="Cambria Math" panose="02040503050406030204" pitchFamily="18" charset="0"/>
                        </a:rPr>
                        <m:t>=</m:t>
                      </m:r>
                      <m:acc>
                        <m:accPr>
                          <m:chr m:val="̇"/>
                          <m:ctrlPr>
                            <a:rPr lang="en-CA" sz="2400" b="1" i="1" smtClean="0">
                              <a:solidFill>
                                <a:schemeClr val="tx1"/>
                              </a:solidFill>
                              <a:latin typeface="Cambria Math" panose="02040503050406030204" pitchFamily="18" charset="0"/>
                            </a:rPr>
                          </m:ctrlPr>
                        </m:accPr>
                        <m:e>
                          <m:r>
                            <a:rPr lang="en-CA" sz="2400" b="1" i="1" smtClean="0">
                              <a:solidFill>
                                <a:schemeClr val="tx1"/>
                              </a:solidFill>
                              <a:latin typeface="Cambria Math" panose="02040503050406030204" pitchFamily="18" charset="0"/>
                            </a:rPr>
                            <m:t>𝒎</m:t>
                          </m:r>
                        </m:e>
                      </m:acc>
                      <m:d>
                        <m:dPr>
                          <m:ctrlPr>
                            <a:rPr lang="en-CA" sz="2400" b="1" i="1" smtClean="0">
                              <a:solidFill>
                                <a:schemeClr val="tx1"/>
                              </a:solidFill>
                              <a:latin typeface="Cambria Math" panose="02040503050406030204" pitchFamily="18" charset="0"/>
                            </a:rPr>
                          </m:ctrlPr>
                        </m:dPr>
                        <m:e>
                          <m:sSub>
                            <m:sSubPr>
                              <m:ctrlPr>
                                <a:rPr lang="en-CA" sz="2400" b="1" i="1" smtClean="0">
                                  <a:solidFill>
                                    <a:schemeClr val="tx1"/>
                                  </a:solidFill>
                                  <a:latin typeface="Cambria Math" panose="02040503050406030204" pitchFamily="18" charset="0"/>
                                </a:rPr>
                              </m:ctrlPr>
                            </m:sSubPr>
                            <m:e>
                              <m:r>
                                <a:rPr lang="en-CA" sz="2400" b="1" i="1" smtClean="0">
                                  <a:solidFill>
                                    <a:schemeClr val="tx1"/>
                                  </a:solidFill>
                                  <a:latin typeface="Cambria Math" panose="02040503050406030204" pitchFamily="18" charset="0"/>
                                </a:rPr>
                                <m:t>𝒖</m:t>
                              </m:r>
                            </m:e>
                            <m:sub>
                              <m:r>
                                <a:rPr lang="en-CA" sz="2400" b="1" i="1" smtClean="0">
                                  <a:solidFill>
                                    <a:schemeClr val="tx1"/>
                                  </a:solidFill>
                                  <a:latin typeface="Cambria Math" panose="02040503050406030204" pitchFamily="18" charset="0"/>
                                </a:rPr>
                                <m:t>𝟐</m:t>
                              </m:r>
                            </m:sub>
                          </m:sSub>
                          <m:r>
                            <a:rPr lang="en-CA" sz="2400" b="1" i="1" smtClean="0">
                              <a:solidFill>
                                <a:schemeClr val="tx1"/>
                              </a:solidFill>
                              <a:latin typeface="Cambria Math" panose="02040503050406030204" pitchFamily="18" charset="0"/>
                            </a:rPr>
                            <m:t>−</m:t>
                          </m:r>
                          <m:sSub>
                            <m:sSubPr>
                              <m:ctrlPr>
                                <a:rPr lang="en-CA" sz="2400" b="1" i="1">
                                  <a:solidFill>
                                    <a:schemeClr val="tx1"/>
                                  </a:solidFill>
                                  <a:latin typeface="Cambria Math" panose="02040503050406030204" pitchFamily="18" charset="0"/>
                                </a:rPr>
                              </m:ctrlPr>
                            </m:sSubPr>
                            <m:e>
                              <m:r>
                                <a:rPr lang="en-CA" sz="2400" b="1" i="1">
                                  <a:solidFill>
                                    <a:schemeClr val="tx1"/>
                                  </a:solidFill>
                                  <a:latin typeface="Cambria Math" panose="02040503050406030204" pitchFamily="18" charset="0"/>
                                </a:rPr>
                                <m:t>𝒖</m:t>
                              </m:r>
                            </m:e>
                            <m:sub>
                              <m:r>
                                <a:rPr lang="en-CA" sz="2400" b="1" i="1" smtClean="0">
                                  <a:solidFill>
                                    <a:schemeClr val="tx1"/>
                                  </a:solidFill>
                                  <a:latin typeface="Cambria Math" panose="02040503050406030204" pitchFamily="18" charset="0"/>
                                </a:rPr>
                                <m:t>𝟏</m:t>
                              </m:r>
                            </m:sub>
                          </m:sSub>
                        </m:e>
                      </m:d>
                      <m:r>
                        <a:rPr lang="en-CA" sz="2400" b="1" i="1" smtClean="0">
                          <a:solidFill>
                            <a:schemeClr val="tx1"/>
                          </a:solidFill>
                          <a:latin typeface="Cambria Math" panose="02040503050406030204" pitchFamily="18" charset="0"/>
                        </a:rPr>
                        <m:t>+</m:t>
                      </m:r>
                      <m:acc>
                        <m:accPr>
                          <m:chr m:val="̇"/>
                          <m:ctrlPr>
                            <a:rPr lang="en-CA" sz="2400" b="1" i="1">
                              <a:solidFill>
                                <a:schemeClr val="tx1"/>
                              </a:solidFill>
                              <a:latin typeface="Cambria Math" panose="02040503050406030204" pitchFamily="18" charset="0"/>
                            </a:rPr>
                          </m:ctrlPr>
                        </m:accPr>
                        <m:e>
                          <m:r>
                            <a:rPr lang="en-CA" sz="2400" b="1" i="1">
                              <a:solidFill>
                                <a:schemeClr val="tx1"/>
                              </a:solidFill>
                              <a:latin typeface="Cambria Math" panose="02040503050406030204" pitchFamily="18" charset="0"/>
                            </a:rPr>
                            <m:t>𝒎</m:t>
                          </m:r>
                        </m:e>
                      </m:acc>
                      <m:d>
                        <m:dPr>
                          <m:ctrlPr>
                            <a:rPr lang="en-CA" sz="2400" b="1" i="1">
                              <a:solidFill>
                                <a:schemeClr val="tx1"/>
                              </a:solidFill>
                              <a:latin typeface="Cambria Math" panose="02040503050406030204" pitchFamily="18" charset="0"/>
                            </a:rPr>
                          </m:ctrlPr>
                        </m:dPr>
                        <m:e>
                          <m:f>
                            <m:fPr>
                              <m:ctrlPr>
                                <a:rPr lang="en-CA" sz="2400" b="1" i="1" smtClean="0">
                                  <a:solidFill>
                                    <a:schemeClr val="tx1"/>
                                  </a:solidFill>
                                  <a:latin typeface="Cambria Math" panose="02040503050406030204" pitchFamily="18" charset="0"/>
                                </a:rPr>
                              </m:ctrlPr>
                            </m:fPr>
                            <m:num>
                              <m:sSub>
                                <m:sSubPr>
                                  <m:ctrlPr>
                                    <a:rPr lang="en-CA" sz="2400" b="1" i="1">
                                      <a:solidFill>
                                        <a:schemeClr val="tx1"/>
                                      </a:solidFill>
                                      <a:latin typeface="Cambria Math" panose="02040503050406030204" pitchFamily="18" charset="0"/>
                                    </a:rPr>
                                  </m:ctrlPr>
                                </m:sSubPr>
                                <m:e>
                                  <m:r>
                                    <a:rPr lang="en-CA" sz="2400" b="1" i="1" smtClean="0">
                                      <a:solidFill>
                                        <a:schemeClr val="tx1"/>
                                      </a:solidFill>
                                      <a:latin typeface="Cambria Math" panose="02040503050406030204" pitchFamily="18" charset="0"/>
                                    </a:rPr>
                                    <m:t>𝒑</m:t>
                                  </m:r>
                                </m:e>
                                <m:sub>
                                  <m:r>
                                    <a:rPr lang="en-CA" sz="2400" b="1" i="1">
                                      <a:solidFill>
                                        <a:schemeClr val="tx1"/>
                                      </a:solidFill>
                                      <a:latin typeface="Cambria Math" panose="02040503050406030204" pitchFamily="18" charset="0"/>
                                    </a:rPr>
                                    <m:t>𝟐</m:t>
                                  </m:r>
                                </m:sub>
                              </m:sSub>
                            </m:num>
                            <m:den>
                              <m:r>
                                <a:rPr lang="en-CA" sz="2400" b="1" i="1" smtClean="0">
                                  <a:solidFill>
                                    <a:schemeClr val="tx1"/>
                                  </a:solidFill>
                                  <a:latin typeface="Cambria Math" panose="02040503050406030204" pitchFamily="18" charset="0"/>
                                  <a:ea typeface="Cambria Math" panose="02040503050406030204" pitchFamily="18" charset="0"/>
                                </a:rPr>
                                <m:t>𝝆</m:t>
                              </m:r>
                            </m:den>
                          </m:f>
                          <m:r>
                            <a:rPr lang="en-CA" sz="2400" b="1" i="1">
                              <a:solidFill>
                                <a:schemeClr val="tx1"/>
                              </a:solidFill>
                              <a:latin typeface="Cambria Math" panose="02040503050406030204" pitchFamily="18" charset="0"/>
                            </a:rPr>
                            <m:t>−</m:t>
                          </m:r>
                          <m:f>
                            <m:fPr>
                              <m:ctrlPr>
                                <a:rPr lang="en-CA" sz="2400" b="1" i="1">
                                  <a:solidFill>
                                    <a:schemeClr val="tx1"/>
                                  </a:solidFill>
                                  <a:latin typeface="Cambria Math" panose="02040503050406030204" pitchFamily="18" charset="0"/>
                                </a:rPr>
                              </m:ctrlPr>
                            </m:fPr>
                            <m:num>
                              <m:sSub>
                                <m:sSubPr>
                                  <m:ctrlPr>
                                    <a:rPr lang="en-CA" sz="2400" b="1" i="1">
                                      <a:solidFill>
                                        <a:schemeClr val="tx1"/>
                                      </a:solidFill>
                                      <a:latin typeface="Cambria Math" panose="02040503050406030204" pitchFamily="18" charset="0"/>
                                    </a:rPr>
                                  </m:ctrlPr>
                                </m:sSubPr>
                                <m:e>
                                  <m:r>
                                    <a:rPr lang="en-CA" sz="2400" b="1" i="1">
                                      <a:solidFill>
                                        <a:schemeClr val="tx1"/>
                                      </a:solidFill>
                                      <a:latin typeface="Cambria Math" panose="02040503050406030204" pitchFamily="18" charset="0"/>
                                    </a:rPr>
                                    <m:t>𝒑</m:t>
                                  </m:r>
                                </m:e>
                                <m:sub>
                                  <m:r>
                                    <a:rPr lang="en-CA" sz="2400" b="1" i="1" smtClean="0">
                                      <a:solidFill>
                                        <a:schemeClr val="tx1"/>
                                      </a:solidFill>
                                      <a:latin typeface="Cambria Math" panose="02040503050406030204" pitchFamily="18" charset="0"/>
                                    </a:rPr>
                                    <m:t>𝟏</m:t>
                                  </m:r>
                                </m:sub>
                              </m:sSub>
                            </m:num>
                            <m:den>
                              <m:r>
                                <a:rPr lang="en-CA" sz="2400" b="1" i="1">
                                  <a:solidFill>
                                    <a:schemeClr val="tx1"/>
                                  </a:solidFill>
                                  <a:latin typeface="Cambria Math" panose="02040503050406030204" pitchFamily="18" charset="0"/>
                                  <a:ea typeface="Cambria Math" panose="02040503050406030204" pitchFamily="18" charset="0"/>
                                </a:rPr>
                                <m:t>𝝆</m:t>
                              </m:r>
                            </m:den>
                          </m:f>
                        </m:e>
                      </m:d>
                      <m:r>
                        <a:rPr lang="en-CA" sz="2400" b="1" i="1" smtClean="0">
                          <a:solidFill>
                            <a:schemeClr val="tx1"/>
                          </a:solidFill>
                          <a:latin typeface="Cambria Math" panose="02040503050406030204" pitchFamily="18" charset="0"/>
                        </a:rPr>
                        <m:t>+</m:t>
                      </m:r>
                      <m:acc>
                        <m:accPr>
                          <m:chr m:val="̇"/>
                          <m:ctrlPr>
                            <a:rPr lang="en-CA" sz="2400" b="1" i="1">
                              <a:solidFill>
                                <a:schemeClr val="tx1"/>
                              </a:solidFill>
                              <a:latin typeface="Cambria Math" panose="02040503050406030204" pitchFamily="18" charset="0"/>
                            </a:rPr>
                          </m:ctrlPr>
                        </m:accPr>
                        <m:e>
                          <m:r>
                            <a:rPr lang="en-CA" sz="2400" b="1" i="1">
                              <a:solidFill>
                                <a:schemeClr val="tx1"/>
                              </a:solidFill>
                              <a:latin typeface="Cambria Math" panose="02040503050406030204" pitchFamily="18" charset="0"/>
                            </a:rPr>
                            <m:t>𝒎</m:t>
                          </m:r>
                        </m:e>
                      </m:acc>
                      <m:r>
                        <a:rPr lang="en-CA" sz="2400" b="1" i="1" smtClean="0">
                          <a:solidFill>
                            <a:schemeClr val="tx1"/>
                          </a:solidFill>
                          <a:latin typeface="Cambria Math" panose="02040503050406030204" pitchFamily="18" charset="0"/>
                        </a:rPr>
                        <m:t>𝒈</m:t>
                      </m:r>
                      <m:d>
                        <m:dPr>
                          <m:ctrlPr>
                            <a:rPr lang="en-CA" sz="2400" b="1" i="1">
                              <a:solidFill>
                                <a:schemeClr val="tx1"/>
                              </a:solidFill>
                              <a:latin typeface="Cambria Math" panose="02040503050406030204" pitchFamily="18" charset="0"/>
                            </a:rPr>
                          </m:ctrlPr>
                        </m:dPr>
                        <m:e>
                          <m:sSub>
                            <m:sSubPr>
                              <m:ctrlPr>
                                <a:rPr lang="en-CA" sz="2400" b="1" i="1">
                                  <a:solidFill>
                                    <a:schemeClr val="tx1"/>
                                  </a:solidFill>
                                  <a:latin typeface="Cambria Math" panose="02040503050406030204" pitchFamily="18" charset="0"/>
                                </a:rPr>
                              </m:ctrlPr>
                            </m:sSubPr>
                            <m:e>
                              <m:r>
                                <a:rPr lang="en-CA" sz="2400" b="1" i="1" smtClean="0">
                                  <a:solidFill>
                                    <a:schemeClr val="tx1"/>
                                  </a:solidFill>
                                  <a:latin typeface="Cambria Math" panose="02040503050406030204" pitchFamily="18" charset="0"/>
                                </a:rPr>
                                <m:t>𝒛</m:t>
                              </m:r>
                            </m:e>
                            <m:sub>
                              <m:r>
                                <a:rPr lang="en-CA" sz="2400" b="1" i="1">
                                  <a:solidFill>
                                    <a:schemeClr val="tx1"/>
                                  </a:solidFill>
                                  <a:latin typeface="Cambria Math" panose="02040503050406030204" pitchFamily="18" charset="0"/>
                                </a:rPr>
                                <m:t>𝟐</m:t>
                              </m:r>
                            </m:sub>
                          </m:sSub>
                          <m:r>
                            <a:rPr lang="en-CA" sz="2400" b="1" i="1">
                              <a:solidFill>
                                <a:schemeClr val="tx1"/>
                              </a:solidFill>
                              <a:latin typeface="Cambria Math" panose="02040503050406030204" pitchFamily="18" charset="0"/>
                            </a:rPr>
                            <m:t>−</m:t>
                          </m:r>
                          <m:sSub>
                            <m:sSubPr>
                              <m:ctrlPr>
                                <a:rPr lang="en-CA" sz="2400" b="1" i="1">
                                  <a:solidFill>
                                    <a:schemeClr val="tx1"/>
                                  </a:solidFill>
                                  <a:latin typeface="Cambria Math" panose="02040503050406030204" pitchFamily="18" charset="0"/>
                                </a:rPr>
                              </m:ctrlPr>
                            </m:sSubPr>
                            <m:e>
                              <m:r>
                                <a:rPr lang="en-CA" sz="2400" b="1" i="1" smtClean="0">
                                  <a:solidFill>
                                    <a:schemeClr val="tx1"/>
                                  </a:solidFill>
                                  <a:latin typeface="Cambria Math" panose="02040503050406030204" pitchFamily="18" charset="0"/>
                                </a:rPr>
                                <m:t>𝒛</m:t>
                              </m:r>
                            </m:e>
                            <m:sub>
                              <m:r>
                                <a:rPr lang="en-CA" sz="2400" b="1" i="1">
                                  <a:solidFill>
                                    <a:schemeClr val="tx1"/>
                                  </a:solidFill>
                                  <a:latin typeface="Cambria Math" panose="02040503050406030204" pitchFamily="18" charset="0"/>
                                </a:rPr>
                                <m:t>𝟏</m:t>
                              </m:r>
                            </m:sub>
                          </m:sSub>
                        </m:e>
                      </m:d>
                      <m:r>
                        <a:rPr lang="en-CA" sz="2400" b="1" i="1" smtClean="0">
                          <a:solidFill>
                            <a:schemeClr val="tx1"/>
                          </a:solidFill>
                          <a:latin typeface="Cambria Math" panose="02040503050406030204" pitchFamily="18" charset="0"/>
                        </a:rPr>
                        <m:t>+</m:t>
                      </m:r>
                      <m:acc>
                        <m:accPr>
                          <m:chr m:val="̇"/>
                          <m:ctrlPr>
                            <a:rPr lang="en-CA" sz="2400" b="1" i="1">
                              <a:solidFill>
                                <a:schemeClr val="tx1"/>
                              </a:solidFill>
                              <a:latin typeface="Cambria Math" panose="02040503050406030204" pitchFamily="18" charset="0"/>
                            </a:rPr>
                          </m:ctrlPr>
                        </m:accPr>
                        <m:e>
                          <m:r>
                            <a:rPr lang="en-CA" sz="2400" b="1" i="1">
                              <a:solidFill>
                                <a:schemeClr val="tx1"/>
                              </a:solidFill>
                              <a:latin typeface="Cambria Math" panose="02040503050406030204" pitchFamily="18" charset="0"/>
                            </a:rPr>
                            <m:t>𝒎</m:t>
                          </m:r>
                        </m:e>
                      </m:acc>
                      <m:d>
                        <m:dPr>
                          <m:ctrlPr>
                            <a:rPr lang="en-CA" sz="2400" b="1" i="1">
                              <a:solidFill>
                                <a:schemeClr val="tx1"/>
                              </a:solidFill>
                              <a:latin typeface="Cambria Math" panose="02040503050406030204" pitchFamily="18" charset="0"/>
                            </a:rPr>
                          </m:ctrlPr>
                        </m:dPr>
                        <m:e>
                          <m:f>
                            <m:fPr>
                              <m:ctrlPr>
                                <a:rPr lang="en-CA" sz="2400" b="1" i="1" smtClean="0">
                                  <a:solidFill>
                                    <a:schemeClr val="tx1"/>
                                  </a:solidFill>
                                  <a:latin typeface="Cambria Math" panose="02040503050406030204" pitchFamily="18" charset="0"/>
                                </a:rPr>
                              </m:ctrlPr>
                            </m:fPr>
                            <m:num>
                              <m:sSub>
                                <m:sSubPr>
                                  <m:ctrlPr>
                                    <a:rPr lang="en-CA" sz="2400" b="1" i="1">
                                      <a:solidFill>
                                        <a:schemeClr val="tx1"/>
                                      </a:solidFill>
                                      <a:latin typeface="Cambria Math" panose="02040503050406030204" pitchFamily="18" charset="0"/>
                                    </a:rPr>
                                  </m:ctrlPr>
                                </m:sSubPr>
                                <m:e>
                                  <m:r>
                                    <a:rPr lang="en-CA" sz="2400" b="1" i="1" smtClean="0">
                                      <a:solidFill>
                                        <a:schemeClr val="tx1"/>
                                      </a:solidFill>
                                      <a:latin typeface="Cambria Math" panose="02040503050406030204" pitchFamily="18" charset="0"/>
                                      <a:ea typeface="Cambria Math" panose="02040503050406030204" pitchFamily="18" charset="0"/>
                                    </a:rPr>
                                    <m:t>𝜶</m:t>
                                  </m:r>
                                </m:e>
                                <m:sub>
                                  <m:r>
                                    <a:rPr lang="en-CA" sz="2400" b="1" i="1">
                                      <a:solidFill>
                                        <a:schemeClr val="tx1"/>
                                      </a:solidFill>
                                      <a:latin typeface="Cambria Math" panose="02040503050406030204" pitchFamily="18" charset="0"/>
                                    </a:rPr>
                                    <m:t>𝟐</m:t>
                                  </m:r>
                                </m:sub>
                              </m:sSub>
                              <m:sSubSup>
                                <m:sSubSupPr>
                                  <m:ctrlPr>
                                    <a:rPr lang="en-CA" sz="2400" b="1" i="1">
                                      <a:solidFill>
                                        <a:schemeClr val="tx1"/>
                                      </a:solidFill>
                                      <a:latin typeface="Cambria Math" panose="02040503050406030204" pitchFamily="18" charset="0"/>
                                      <a:ea typeface="Cambria Math" panose="02040503050406030204" pitchFamily="18" charset="0"/>
                                    </a:rPr>
                                  </m:ctrlPr>
                                </m:sSubSupPr>
                                <m:e>
                                  <m:acc>
                                    <m:accPr>
                                      <m:chr m:val="̅"/>
                                      <m:ctrlPr>
                                        <a:rPr lang="en-CA" sz="2400" b="1" i="1">
                                          <a:solidFill>
                                            <a:schemeClr val="tx1"/>
                                          </a:solidFill>
                                          <a:latin typeface="Cambria Math" panose="02040503050406030204" pitchFamily="18" charset="0"/>
                                          <a:ea typeface="Cambria Math" panose="02040503050406030204" pitchFamily="18" charset="0"/>
                                        </a:rPr>
                                      </m:ctrlPr>
                                    </m:accPr>
                                    <m:e>
                                      <m:r>
                                        <a:rPr lang="en-CA" sz="2400" b="1" i="1">
                                          <a:solidFill>
                                            <a:schemeClr val="tx1"/>
                                          </a:solidFill>
                                          <a:latin typeface="Cambria Math" panose="02040503050406030204" pitchFamily="18" charset="0"/>
                                          <a:ea typeface="Cambria Math" panose="02040503050406030204" pitchFamily="18" charset="0"/>
                                        </a:rPr>
                                        <m:t>𝑽</m:t>
                                      </m:r>
                                    </m:e>
                                  </m:acc>
                                </m:e>
                                <m:sub>
                                  <m:r>
                                    <a:rPr lang="en-CA" sz="2400" b="1" i="1">
                                      <a:solidFill>
                                        <a:schemeClr val="tx1"/>
                                      </a:solidFill>
                                      <a:latin typeface="Cambria Math" panose="02040503050406030204" pitchFamily="18" charset="0"/>
                                      <a:ea typeface="Cambria Math" panose="02040503050406030204" pitchFamily="18" charset="0"/>
                                    </a:rPr>
                                    <m:t>𝟐</m:t>
                                  </m:r>
                                </m:sub>
                                <m:sup>
                                  <m:r>
                                    <a:rPr lang="en-CA" sz="2400" b="1" i="1">
                                      <a:solidFill>
                                        <a:schemeClr val="tx1"/>
                                      </a:solidFill>
                                      <a:latin typeface="Cambria Math" panose="02040503050406030204" pitchFamily="18" charset="0"/>
                                      <a:ea typeface="Cambria Math" panose="02040503050406030204" pitchFamily="18" charset="0"/>
                                    </a:rPr>
                                    <m:t>𝟐</m:t>
                                  </m:r>
                                </m:sup>
                              </m:sSubSup>
                            </m:num>
                            <m:den>
                              <m:r>
                                <a:rPr lang="en-CA" sz="2400" b="1" i="1" smtClean="0">
                                  <a:solidFill>
                                    <a:schemeClr val="tx1"/>
                                  </a:solidFill>
                                  <a:latin typeface="Cambria Math" panose="02040503050406030204" pitchFamily="18" charset="0"/>
                                  <a:ea typeface="Cambria Math" panose="02040503050406030204" pitchFamily="18" charset="0"/>
                                </a:rPr>
                                <m:t>𝟐</m:t>
                              </m:r>
                            </m:den>
                          </m:f>
                          <m:r>
                            <a:rPr lang="en-CA" sz="2400" b="1" i="1">
                              <a:solidFill>
                                <a:schemeClr val="tx1"/>
                              </a:solidFill>
                              <a:latin typeface="Cambria Math" panose="02040503050406030204" pitchFamily="18" charset="0"/>
                            </a:rPr>
                            <m:t>−</m:t>
                          </m:r>
                          <m:f>
                            <m:fPr>
                              <m:ctrlPr>
                                <a:rPr lang="en-CA" sz="2400" b="1" i="1">
                                  <a:solidFill>
                                    <a:schemeClr val="tx1"/>
                                  </a:solidFill>
                                  <a:latin typeface="Cambria Math" panose="02040503050406030204" pitchFamily="18" charset="0"/>
                                </a:rPr>
                              </m:ctrlPr>
                            </m:fPr>
                            <m:num>
                              <m:sSub>
                                <m:sSubPr>
                                  <m:ctrlPr>
                                    <a:rPr lang="en-CA" sz="2400" b="1" i="1">
                                      <a:solidFill>
                                        <a:schemeClr val="tx1"/>
                                      </a:solidFill>
                                      <a:latin typeface="Cambria Math" panose="02040503050406030204" pitchFamily="18" charset="0"/>
                                    </a:rPr>
                                  </m:ctrlPr>
                                </m:sSubPr>
                                <m:e>
                                  <m:r>
                                    <a:rPr lang="en-CA" sz="2400" b="1" i="1">
                                      <a:solidFill>
                                        <a:schemeClr val="tx1"/>
                                      </a:solidFill>
                                      <a:latin typeface="Cambria Math" panose="02040503050406030204" pitchFamily="18" charset="0"/>
                                      <a:ea typeface="Cambria Math" panose="02040503050406030204" pitchFamily="18" charset="0"/>
                                    </a:rPr>
                                    <m:t>𝜶</m:t>
                                  </m:r>
                                </m:e>
                                <m:sub>
                                  <m:r>
                                    <a:rPr lang="en-CA" sz="2400" b="1" i="1" smtClean="0">
                                      <a:solidFill>
                                        <a:schemeClr val="tx1"/>
                                      </a:solidFill>
                                      <a:latin typeface="Cambria Math" panose="02040503050406030204" pitchFamily="18" charset="0"/>
                                    </a:rPr>
                                    <m:t>𝟏</m:t>
                                  </m:r>
                                </m:sub>
                              </m:sSub>
                              <m:sSubSup>
                                <m:sSubSupPr>
                                  <m:ctrlPr>
                                    <a:rPr lang="en-CA" sz="2400" b="1" i="1">
                                      <a:solidFill>
                                        <a:schemeClr val="tx1"/>
                                      </a:solidFill>
                                      <a:latin typeface="Cambria Math" panose="02040503050406030204" pitchFamily="18" charset="0"/>
                                      <a:ea typeface="Cambria Math" panose="02040503050406030204" pitchFamily="18" charset="0"/>
                                    </a:rPr>
                                  </m:ctrlPr>
                                </m:sSubSupPr>
                                <m:e>
                                  <m:acc>
                                    <m:accPr>
                                      <m:chr m:val="̅"/>
                                      <m:ctrlPr>
                                        <a:rPr lang="en-CA" sz="2400" b="1" i="1" smtClean="0">
                                          <a:solidFill>
                                            <a:schemeClr val="tx1"/>
                                          </a:solidFill>
                                          <a:latin typeface="Cambria Math" panose="02040503050406030204" pitchFamily="18" charset="0"/>
                                          <a:ea typeface="Cambria Math" panose="02040503050406030204" pitchFamily="18" charset="0"/>
                                        </a:rPr>
                                      </m:ctrlPr>
                                    </m:accPr>
                                    <m:e>
                                      <m:r>
                                        <a:rPr lang="en-CA" sz="2400" b="1" i="1">
                                          <a:solidFill>
                                            <a:schemeClr val="tx1"/>
                                          </a:solidFill>
                                          <a:latin typeface="Cambria Math" panose="02040503050406030204" pitchFamily="18" charset="0"/>
                                          <a:ea typeface="Cambria Math" panose="02040503050406030204" pitchFamily="18" charset="0"/>
                                        </a:rPr>
                                        <m:t>𝑽</m:t>
                                      </m:r>
                                    </m:e>
                                  </m:acc>
                                </m:e>
                                <m:sub>
                                  <m:r>
                                    <a:rPr lang="en-CA" sz="2400" b="1" i="1" smtClean="0">
                                      <a:solidFill>
                                        <a:schemeClr val="tx1"/>
                                      </a:solidFill>
                                      <a:latin typeface="Cambria Math" panose="02040503050406030204" pitchFamily="18" charset="0"/>
                                      <a:ea typeface="Cambria Math" panose="02040503050406030204" pitchFamily="18" charset="0"/>
                                    </a:rPr>
                                    <m:t>𝟏</m:t>
                                  </m:r>
                                </m:sub>
                                <m:sup>
                                  <m:r>
                                    <a:rPr lang="en-CA" sz="2400" b="1" i="1">
                                      <a:solidFill>
                                        <a:schemeClr val="tx1"/>
                                      </a:solidFill>
                                      <a:latin typeface="Cambria Math" panose="02040503050406030204" pitchFamily="18" charset="0"/>
                                      <a:ea typeface="Cambria Math" panose="02040503050406030204" pitchFamily="18" charset="0"/>
                                    </a:rPr>
                                    <m:t>𝟐</m:t>
                                  </m:r>
                                </m:sup>
                              </m:sSubSup>
                            </m:num>
                            <m:den>
                              <m:r>
                                <a:rPr lang="en-CA" sz="2400" b="1" i="1" smtClean="0">
                                  <a:solidFill>
                                    <a:schemeClr val="tx1"/>
                                  </a:solidFill>
                                  <a:latin typeface="Cambria Math" panose="02040503050406030204" pitchFamily="18" charset="0"/>
                                  <a:ea typeface="Cambria Math" panose="02040503050406030204" pitchFamily="18" charset="0"/>
                                </a:rPr>
                                <m:t>𝟐</m:t>
                              </m:r>
                            </m:den>
                          </m:f>
                        </m:e>
                      </m:d>
                    </m:oMath>
                  </m:oMathPara>
                </a14:m>
                <a:endParaRPr lang="en-CA" sz="2400" b="1" dirty="0">
                  <a:solidFill>
                    <a:schemeClr val="tx1"/>
                  </a:solidFill>
                </a:endParaRPr>
              </a:p>
              <a:p>
                <a:pPr>
                  <a:lnSpc>
                    <a:spcPct val="150000"/>
                  </a:lnSpc>
                  <a:spcBef>
                    <a:spcPts val="0"/>
                  </a:spcBef>
                </a:pPr>
                <a:r>
                  <a:rPr lang="en-CA" sz="2400" b="1" dirty="0">
                    <a:solidFill>
                      <a:schemeClr val="tx1"/>
                    </a:solidFill>
                  </a:rPr>
                  <a:t>Note that </a:t>
                </a:r>
                <a14:m>
                  <m:oMath xmlns:m="http://schemas.openxmlformats.org/officeDocument/2006/math">
                    <m:r>
                      <a:rPr lang="en-CA" sz="2400" b="1" i="1">
                        <a:solidFill>
                          <a:schemeClr val="tx1"/>
                        </a:solidFill>
                        <a:latin typeface="Cambria Math" panose="02040503050406030204" pitchFamily="18" charset="0"/>
                        <a:ea typeface="Cambria Math" panose="02040503050406030204" pitchFamily="18" charset="0"/>
                      </a:rPr>
                      <m:t>𝜶</m:t>
                    </m:r>
                  </m:oMath>
                </a14:m>
                <a:r>
                  <a:rPr lang="en-CA" sz="2400" b="1" dirty="0">
                    <a:solidFill>
                      <a:schemeClr val="tx1"/>
                    </a:solidFill>
                  </a:rPr>
                  <a:t> is called the kinetic energy coefficient</a:t>
                </a:r>
              </a:p>
            </p:txBody>
          </p:sp>
        </mc:Choice>
        <mc:Fallback xmlns="">
          <p:sp>
            <p:nvSpPr>
              <p:cNvPr id="4" name="Content Placeholder 2">
                <a:extLst>
                  <a:ext uri="{FF2B5EF4-FFF2-40B4-BE49-F238E27FC236}">
                    <a16:creationId xmlns:a16="http://schemas.microsoft.com/office/drawing/2014/main" id="{3F569CF5-A4BD-E56D-71B6-9CEC70203475}"/>
                  </a:ext>
                </a:extLst>
              </p:cNvPr>
              <p:cNvSpPr>
                <a:spLocks noGrp="1" noRot="1" noChangeAspect="1" noMove="1" noResize="1" noEditPoints="1" noAdjustHandles="1" noChangeArrowheads="1" noChangeShapeType="1" noTextEdit="1"/>
              </p:cNvSpPr>
              <p:nvPr>
                <p:ph idx="1"/>
              </p:nvPr>
            </p:nvSpPr>
            <p:spPr>
              <a:xfrm>
                <a:off x="50800" y="669906"/>
                <a:ext cx="12110720" cy="5771534"/>
              </a:xfrm>
              <a:blipFill>
                <a:blip r:embed="rId3"/>
                <a:stretch>
                  <a:fillRect l="-654"/>
                </a:stretch>
              </a:blipFill>
            </p:spPr>
            <p:txBody>
              <a:bodyPr/>
              <a:lstStyle/>
              <a:p>
                <a:r>
                  <a:rPr lang="en-GH">
                    <a:noFill/>
                  </a:rPr>
                  <a:t> </a:t>
                </a:r>
              </a:p>
            </p:txBody>
          </p:sp>
        </mc:Fallback>
      </mc:AlternateContent>
    </p:spTree>
    <p:extLst>
      <p:ext uri="{BB962C8B-B14F-4D97-AF65-F5344CB8AC3E}">
        <p14:creationId xmlns:p14="http://schemas.microsoft.com/office/powerpoint/2010/main" val="1130855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3F72B3C-9DA7-5FDC-9186-C2D4086C5F16}"/>
              </a:ext>
            </a:extLst>
          </p:cNvPr>
          <p:cNvSpPr txBox="1">
            <a:spLocks/>
          </p:cNvSpPr>
          <p:nvPr/>
        </p:nvSpPr>
        <p:spPr>
          <a:xfrm>
            <a:off x="1717040" y="40640"/>
            <a:ext cx="7886700" cy="56894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000" b="1" kern="1200">
                <a:solidFill>
                  <a:srgbClr val="0000FF"/>
                </a:solidFill>
                <a:latin typeface="Myriad Web Pro"/>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CA" sz="2800" b="1" i="0" u="none" strike="noStrike" kern="1200" cap="none" spc="0" normalizeH="0" baseline="0" noProof="0" dirty="0">
                <a:ln>
                  <a:noFill/>
                </a:ln>
                <a:solidFill>
                  <a:schemeClr val="tx1"/>
                </a:solidFill>
                <a:effectLst/>
                <a:uLnTx/>
                <a:uFillTx/>
                <a:latin typeface="+mn-lt"/>
                <a:ea typeface="+mj-ea"/>
                <a:cs typeface="+mj-cs"/>
              </a:rPr>
              <a:t>Energy Considerations in Pipe Flow</a:t>
            </a: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073556E4-83C1-BB27-AFE3-F86E199A1BB9}"/>
                  </a:ext>
                </a:extLst>
              </p:cNvPr>
              <p:cNvSpPr txBox="1">
                <a:spLocks/>
              </p:cNvSpPr>
              <p:nvPr/>
            </p:nvSpPr>
            <p:spPr>
              <a:xfrm>
                <a:off x="121920" y="619760"/>
                <a:ext cx="11663680" cy="61163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yriad Web Pr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10000"/>
                  </a:lnSpc>
                  <a:spcBef>
                    <a:spcPts val="1000"/>
                  </a:spcBef>
                  <a:spcAft>
                    <a:spcPts val="1200"/>
                  </a:spcAft>
                  <a:buClrTx/>
                  <a:buSzTx/>
                  <a:buFont typeface="Arial" panose="020B0604020202020204" pitchFamily="34" charset="0"/>
                  <a:buChar char="•"/>
                  <a:tabLst/>
                  <a:defRPr/>
                </a:pPr>
                <a:r>
                  <a:rPr kumimoji="0" lang="en-CA" sz="2600" i="0" u="none" strike="noStrike" kern="1200" cap="none" spc="0" normalizeH="0" baseline="0" noProof="0" dirty="0">
                    <a:ln>
                      <a:noFill/>
                    </a:ln>
                    <a:solidFill>
                      <a:schemeClr val="tx1"/>
                    </a:solidFill>
                    <a:effectLst/>
                    <a:uLnTx/>
                    <a:uFillTx/>
                    <a:latin typeface="+mn-lt"/>
                    <a:cs typeface="+mn-cs"/>
                  </a:rPr>
                  <a:t>Dividing through by the mass flow rate and rearranging, we have</a:t>
                </a:r>
              </a:p>
              <a:p>
                <a:pPr marL="0" lvl="0" indent="0">
                  <a:lnSpc>
                    <a:spcPct val="110000"/>
                  </a:lnSpc>
                  <a:spcAft>
                    <a:spcPts val="1200"/>
                  </a:spcAft>
                  <a:buNone/>
                  <a:defRPr/>
                </a:pPr>
                <a14:m>
                  <m:oMathPara xmlns:m="http://schemas.openxmlformats.org/officeDocument/2006/math">
                    <m:oMathParaPr>
                      <m:jc m:val="centerGroup"/>
                    </m:oMathParaPr>
                    <m:oMath xmlns:m="http://schemas.openxmlformats.org/officeDocument/2006/math">
                      <m:f>
                        <m:fPr>
                          <m:ctrlP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fPr>
                        <m:num>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rPr>
                            <m:t>𝛿</m:t>
                          </m:r>
                          <m:r>
                            <a:rPr kumimoji="0" lang="en-GB" sz="2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rPr>
                            <m:t>𝑄</m:t>
                          </m:r>
                        </m:num>
                        <m:den>
                          <m:r>
                            <a:rPr kumimoji="0" lang="en-GB"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𝑑𝑚</m:t>
                          </m:r>
                        </m:den>
                      </m:f>
                      <m:r>
                        <a:rPr kumimoji="0" lang="en-GB"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sSub>
                        <m:sSubPr>
                          <m:ctrlPr>
                            <a:rPr kumimoji="0" lang="en-GB"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0" lang="en-GB"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𝑢</m:t>
                          </m:r>
                        </m:e>
                        <m:sub>
                          <m:r>
                            <a:rPr kumimoji="0" lang="en-GB"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2</m:t>
                          </m:r>
                        </m:sub>
                      </m:sSub>
                      <m:r>
                        <a:rPr kumimoji="0" lang="en-GB"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sSub>
                        <m:sSubPr>
                          <m:ctrlPr>
                            <a:rPr kumimoji="0" lang="en-GB"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0" lang="en-GB"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𝑢</m:t>
                          </m:r>
                        </m:e>
                        <m:sub>
                          <m:r>
                            <a:rPr kumimoji="0" lang="en-GB"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1</m:t>
                          </m:r>
                        </m:sub>
                      </m:sSub>
                      <m:r>
                        <a:rPr kumimoji="0" lang="en-GB"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f>
                        <m:fPr>
                          <m:ctrlP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fPr>
                        <m:num>
                          <m:sSub>
                            <m:sSub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𝑝</m:t>
                              </m:r>
                            </m:e>
                            <m:sub>
                              <m:r>
                                <a:rPr kumimoji="0" lang="en-GB"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2</m:t>
                              </m:r>
                            </m:sub>
                          </m:sSub>
                        </m:num>
                        <m:den>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𝜌</m:t>
                          </m:r>
                        </m:den>
                      </m:f>
                      <m:r>
                        <a:rPr kumimoji="0" lang="en-GB" sz="2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m:t>
                      </m:r>
                      <m:f>
                        <m:fPr>
                          <m:ctrlPr>
                            <a:rPr lang="en-CA" sz="2600" i="1">
                              <a:latin typeface="Cambria Math" panose="02040503050406030204" pitchFamily="18" charset="0"/>
                            </a:rPr>
                          </m:ctrlPr>
                        </m:fPr>
                        <m:num>
                          <m:sSub>
                            <m:sSubPr>
                              <m:ctrlPr>
                                <a:rPr lang="en-CA" sz="2600" i="1">
                                  <a:latin typeface="Cambria Math" panose="02040503050406030204" pitchFamily="18" charset="0"/>
                                </a:rPr>
                              </m:ctrlPr>
                            </m:sSubPr>
                            <m:e>
                              <m:r>
                                <a:rPr lang="en-CA" sz="2600" i="1">
                                  <a:latin typeface="Cambria Math" panose="02040503050406030204" pitchFamily="18" charset="0"/>
                                </a:rPr>
                                <m:t>𝑝</m:t>
                              </m:r>
                            </m:e>
                            <m:sub>
                              <m:r>
                                <a:rPr lang="en-CA" sz="2600" i="1">
                                  <a:latin typeface="Cambria Math" panose="02040503050406030204" pitchFamily="18" charset="0"/>
                                </a:rPr>
                                <m:t>1</m:t>
                              </m:r>
                            </m:sub>
                          </m:sSub>
                        </m:num>
                        <m:den>
                          <m:r>
                            <a:rPr lang="en-CA" sz="2600" i="1">
                              <a:latin typeface="Cambria Math" panose="02040503050406030204" pitchFamily="18" charset="0"/>
                              <a:ea typeface="Cambria Math" panose="02040503050406030204" pitchFamily="18" charset="0"/>
                            </a:rPr>
                            <m:t>𝜌</m:t>
                          </m:r>
                        </m:den>
                      </m:f>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m:t>
                      </m:r>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𝑔</m:t>
                      </m:r>
                      <m:sSub>
                        <m:sSub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𝑧</m:t>
                          </m:r>
                        </m:e>
                        <m:sub>
                          <m:r>
                            <a:rPr kumimoji="0" lang="en-GB"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2</m:t>
                          </m:r>
                        </m:sub>
                      </m:sSub>
                      <m:r>
                        <a:rPr kumimoji="0" lang="en-GB"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r>
                        <a:rPr lang="en-CA" sz="2600" i="1">
                          <a:latin typeface="Cambria Math" panose="02040503050406030204" pitchFamily="18" charset="0"/>
                          <a:ea typeface="Cambria Math" panose="02040503050406030204" pitchFamily="18" charset="0"/>
                        </a:rPr>
                        <m:t>𝑔</m:t>
                      </m:r>
                      <m:sSub>
                        <m:sSubPr>
                          <m:ctrlPr>
                            <a:rPr lang="en-CA" sz="2600" i="1">
                              <a:latin typeface="Cambria Math" panose="02040503050406030204" pitchFamily="18" charset="0"/>
                            </a:rPr>
                          </m:ctrlPr>
                        </m:sSubPr>
                        <m:e>
                          <m:r>
                            <a:rPr lang="en-CA" sz="2600" i="1">
                              <a:latin typeface="Cambria Math" panose="02040503050406030204" pitchFamily="18" charset="0"/>
                            </a:rPr>
                            <m:t>𝑧</m:t>
                          </m:r>
                        </m:e>
                        <m:sub>
                          <m:r>
                            <a:rPr lang="en-CA" sz="2600" i="1">
                              <a:latin typeface="Cambria Math" panose="02040503050406030204" pitchFamily="18" charset="0"/>
                            </a:rPr>
                            <m:t>1</m:t>
                          </m:r>
                        </m:sub>
                      </m:sSub>
                      <m:r>
                        <a:rPr kumimoji="0" lang="en-GB"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f>
                        <m:fPr>
                          <m:ctrlPr>
                            <a:rPr lang="en-CA" sz="2600" i="1">
                              <a:latin typeface="Cambria Math" panose="02040503050406030204" pitchFamily="18" charset="0"/>
                            </a:rPr>
                          </m:ctrlPr>
                        </m:fPr>
                        <m:num>
                          <m:sSub>
                            <m:sSubPr>
                              <m:ctrlPr>
                                <a:rPr lang="en-CA" sz="2600" i="1">
                                  <a:latin typeface="Cambria Math" panose="02040503050406030204" pitchFamily="18" charset="0"/>
                                </a:rPr>
                              </m:ctrlPr>
                            </m:sSubPr>
                            <m:e>
                              <m:r>
                                <a:rPr lang="en-CA" sz="2600" i="1">
                                  <a:latin typeface="Cambria Math" panose="02040503050406030204" pitchFamily="18" charset="0"/>
                                  <a:ea typeface="Cambria Math" panose="02040503050406030204" pitchFamily="18" charset="0"/>
                                </a:rPr>
                                <m:t>𝛼</m:t>
                              </m:r>
                            </m:e>
                            <m:sub>
                              <m:r>
                                <a:rPr lang="en-GB" sz="2600" b="0" i="1" smtClean="0">
                                  <a:latin typeface="Cambria Math" panose="02040503050406030204" pitchFamily="18" charset="0"/>
                                </a:rPr>
                                <m:t>2</m:t>
                              </m:r>
                            </m:sub>
                          </m:sSub>
                          <m:sSubSup>
                            <m:sSubSupPr>
                              <m:ctrlPr>
                                <a:rPr lang="en-CA" sz="2600" i="1">
                                  <a:latin typeface="Cambria Math" panose="02040503050406030204" pitchFamily="18" charset="0"/>
                                  <a:ea typeface="Cambria Math" panose="02040503050406030204" pitchFamily="18" charset="0"/>
                                </a:rPr>
                              </m:ctrlPr>
                            </m:sSubSupPr>
                            <m:e>
                              <m:acc>
                                <m:accPr>
                                  <m:chr m:val="̅"/>
                                  <m:ctrlPr>
                                    <a:rPr lang="en-CA" sz="2600" i="1">
                                      <a:latin typeface="Cambria Math" panose="02040503050406030204" pitchFamily="18" charset="0"/>
                                      <a:ea typeface="Cambria Math" panose="02040503050406030204" pitchFamily="18" charset="0"/>
                                    </a:rPr>
                                  </m:ctrlPr>
                                </m:accPr>
                                <m:e>
                                  <m:r>
                                    <a:rPr lang="en-CA" sz="2600" i="1">
                                      <a:latin typeface="Cambria Math" panose="02040503050406030204" pitchFamily="18" charset="0"/>
                                      <a:ea typeface="Cambria Math" panose="02040503050406030204" pitchFamily="18" charset="0"/>
                                    </a:rPr>
                                    <m:t>𝑉</m:t>
                                  </m:r>
                                </m:e>
                              </m:acc>
                            </m:e>
                            <m:sub>
                              <m:r>
                                <a:rPr lang="en-GB" sz="2600" b="0" i="1" smtClean="0">
                                  <a:latin typeface="Cambria Math" panose="02040503050406030204" pitchFamily="18" charset="0"/>
                                  <a:ea typeface="Cambria Math" panose="02040503050406030204" pitchFamily="18" charset="0"/>
                                </a:rPr>
                                <m:t>2</m:t>
                              </m:r>
                            </m:sub>
                            <m:sup>
                              <m:r>
                                <a:rPr lang="en-CA" sz="2600" i="1">
                                  <a:latin typeface="Cambria Math" panose="02040503050406030204" pitchFamily="18" charset="0"/>
                                  <a:ea typeface="Cambria Math" panose="02040503050406030204" pitchFamily="18" charset="0"/>
                                </a:rPr>
                                <m:t>2</m:t>
                              </m:r>
                            </m:sup>
                          </m:sSubSup>
                        </m:num>
                        <m:den>
                          <m:r>
                            <a:rPr lang="en-CA" sz="2600" i="1">
                              <a:latin typeface="Cambria Math" panose="02040503050406030204" pitchFamily="18" charset="0"/>
                              <a:ea typeface="Cambria Math" panose="02040503050406030204" pitchFamily="18" charset="0"/>
                            </a:rPr>
                            <m:t>2</m:t>
                          </m:r>
                        </m:den>
                      </m:f>
                      <m:r>
                        <a:rPr lang="en-GB" sz="2600" b="0" i="1" smtClean="0">
                          <a:latin typeface="Cambria Math" panose="02040503050406030204" pitchFamily="18" charset="0"/>
                          <a:ea typeface="Cambria Math" panose="02040503050406030204" pitchFamily="18" charset="0"/>
                        </a:rPr>
                        <m:t>−</m:t>
                      </m:r>
                      <m:f>
                        <m:fPr>
                          <m:ctrlPr>
                            <a:rPr lang="en-CA" sz="2600" i="1">
                              <a:latin typeface="Cambria Math" panose="02040503050406030204" pitchFamily="18" charset="0"/>
                            </a:rPr>
                          </m:ctrlPr>
                        </m:fPr>
                        <m:num>
                          <m:sSub>
                            <m:sSubPr>
                              <m:ctrlPr>
                                <a:rPr lang="en-CA" sz="2600" i="1">
                                  <a:latin typeface="Cambria Math" panose="02040503050406030204" pitchFamily="18" charset="0"/>
                                </a:rPr>
                              </m:ctrlPr>
                            </m:sSubPr>
                            <m:e>
                              <m:r>
                                <a:rPr lang="en-CA" sz="2600" i="1">
                                  <a:latin typeface="Cambria Math" panose="02040503050406030204" pitchFamily="18" charset="0"/>
                                  <a:ea typeface="Cambria Math" panose="02040503050406030204" pitchFamily="18" charset="0"/>
                                </a:rPr>
                                <m:t>𝛼</m:t>
                              </m:r>
                            </m:e>
                            <m:sub>
                              <m:r>
                                <a:rPr lang="en-CA" sz="2600" i="1">
                                  <a:latin typeface="Cambria Math" panose="02040503050406030204" pitchFamily="18" charset="0"/>
                                </a:rPr>
                                <m:t>1</m:t>
                              </m:r>
                            </m:sub>
                          </m:sSub>
                          <m:sSubSup>
                            <m:sSubSupPr>
                              <m:ctrlPr>
                                <a:rPr lang="en-CA" sz="2600" i="1">
                                  <a:latin typeface="Cambria Math" panose="02040503050406030204" pitchFamily="18" charset="0"/>
                                  <a:ea typeface="Cambria Math" panose="02040503050406030204" pitchFamily="18" charset="0"/>
                                </a:rPr>
                              </m:ctrlPr>
                            </m:sSubSupPr>
                            <m:e>
                              <m:acc>
                                <m:accPr>
                                  <m:chr m:val="̅"/>
                                  <m:ctrlPr>
                                    <a:rPr lang="en-CA" sz="2600" i="1">
                                      <a:latin typeface="Cambria Math" panose="02040503050406030204" pitchFamily="18" charset="0"/>
                                      <a:ea typeface="Cambria Math" panose="02040503050406030204" pitchFamily="18" charset="0"/>
                                    </a:rPr>
                                  </m:ctrlPr>
                                </m:accPr>
                                <m:e>
                                  <m:r>
                                    <a:rPr lang="en-CA" sz="2600" i="1">
                                      <a:latin typeface="Cambria Math" panose="02040503050406030204" pitchFamily="18" charset="0"/>
                                      <a:ea typeface="Cambria Math" panose="02040503050406030204" pitchFamily="18" charset="0"/>
                                    </a:rPr>
                                    <m:t>𝑉</m:t>
                                  </m:r>
                                </m:e>
                              </m:acc>
                            </m:e>
                            <m:sub>
                              <m:r>
                                <a:rPr lang="en-CA" sz="2600" i="1">
                                  <a:latin typeface="Cambria Math" panose="02040503050406030204" pitchFamily="18" charset="0"/>
                                  <a:ea typeface="Cambria Math" panose="02040503050406030204" pitchFamily="18" charset="0"/>
                                </a:rPr>
                                <m:t>1</m:t>
                              </m:r>
                            </m:sub>
                            <m:sup>
                              <m:r>
                                <a:rPr lang="en-CA" sz="2600" i="1">
                                  <a:latin typeface="Cambria Math" panose="02040503050406030204" pitchFamily="18" charset="0"/>
                                  <a:ea typeface="Cambria Math" panose="02040503050406030204" pitchFamily="18" charset="0"/>
                                </a:rPr>
                                <m:t>2</m:t>
                              </m:r>
                            </m:sup>
                          </m:sSubSup>
                        </m:num>
                        <m:den>
                          <m:r>
                            <a:rPr lang="en-CA" sz="2600" i="1">
                              <a:latin typeface="Cambria Math" panose="02040503050406030204" pitchFamily="18" charset="0"/>
                              <a:ea typeface="Cambria Math" panose="02040503050406030204" pitchFamily="18" charset="0"/>
                            </a:rPr>
                            <m:t>2</m:t>
                          </m:r>
                        </m:den>
                      </m:f>
                    </m:oMath>
                  </m:oMathPara>
                </a14:m>
                <a:endParaRPr kumimoji="0" lang="en-CA" sz="2600" i="0" u="none" strike="noStrike" kern="1200" cap="none" spc="0" normalizeH="0" baseline="0" noProof="0" dirty="0">
                  <a:ln>
                    <a:noFill/>
                  </a:ln>
                  <a:solidFill>
                    <a:schemeClr val="tx1"/>
                  </a:solidFill>
                  <a:effectLst/>
                  <a:uLnTx/>
                  <a:uFillTx/>
                  <a:latin typeface="+mn-lt"/>
                  <a:cs typeface="+mn-cs"/>
                </a:endParaRPr>
              </a:p>
              <a:p>
                <a:pPr marL="0" lvl="0" indent="0">
                  <a:lnSpc>
                    <a:spcPct val="110000"/>
                  </a:lnSpc>
                  <a:spcBef>
                    <a:spcPts val="1200"/>
                  </a:spcBef>
                  <a:spcAft>
                    <a:spcPts val="1200"/>
                  </a:spcAft>
                  <a:buNone/>
                  <a:defRPr/>
                </a:pPr>
                <a14:m>
                  <m:oMathPara xmlns:m="http://schemas.openxmlformats.org/officeDocument/2006/math">
                    <m:oMathParaPr>
                      <m:jc m:val="centerGroup"/>
                    </m:oMathParaPr>
                    <m:oMath xmlns:m="http://schemas.openxmlformats.org/officeDocument/2006/math">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rPr>
                        <m:t>⟹</m:t>
                      </m:r>
                      <m:r>
                        <a:rPr kumimoji="0" lang="en-GB" sz="2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rPr>
                        <m:t>   </m:t>
                      </m:r>
                      <m:d>
                        <m:dPr>
                          <m:ctrlP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dPr>
                        <m:e>
                          <m:f>
                            <m:f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fPr>
                            <m:num>
                              <m:sSub>
                                <m:sSub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𝑝</m:t>
                                  </m:r>
                                </m:e>
                                <m:sub>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1</m:t>
                                  </m:r>
                                </m:sub>
                              </m:sSub>
                            </m:num>
                            <m:den>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𝜌</m:t>
                              </m:r>
                            </m:den>
                          </m:f>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m:t>
                          </m:r>
                          <m:f>
                            <m:f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fPr>
                            <m:num>
                              <m:sSub>
                                <m:sSub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𝛼</m:t>
                                  </m:r>
                                </m:e>
                                <m:sub>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1</m:t>
                                  </m:r>
                                </m:sub>
                              </m:sSub>
                              <m:sSubSup>
                                <m:sSubSup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ctrlPr>
                                </m:sSubSupPr>
                                <m:e>
                                  <m:acc>
                                    <m:accPr>
                                      <m:chr m:val="̅"/>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ctrlPr>
                                    </m:acc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𝑉</m:t>
                                      </m:r>
                                    </m:e>
                                  </m:acc>
                                </m:e>
                                <m:sub>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1</m:t>
                                  </m:r>
                                </m:sub>
                                <m:sup>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2</m:t>
                                  </m:r>
                                </m:sup>
                              </m:sSubSup>
                            </m:num>
                            <m:den>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2</m:t>
                              </m:r>
                            </m:den>
                          </m:f>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m:t>
                          </m:r>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𝑔</m:t>
                          </m:r>
                          <m:sSub>
                            <m:sSub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𝑧</m:t>
                              </m:r>
                            </m:e>
                            <m:sub>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1</m:t>
                              </m:r>
                            </m:sub>
                          </m:sSub>
                        </m:e>
                      </m:d>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d>
                        <m:d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dPr>
                        <m:e>
                          <m:f>
                            <m:f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fPr>
                            <m:num>
                              <m:sSub>
                                <m:sSub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𝑝</m:t>
                                  </m:r>
                                </m:e>
                                <m:sub>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2</m:t>
                                  </m:r>
                                </m:sub>
                              </m:sSub>
                            </m:num>
                            <m:den>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𝜌</m:t>
                              </m:r>
                            </m:den>
                          </m:f>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m:t>
                          </m:r>
                          <m:f>
                            <m:f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fPr>
                            <m:num>
                              <m:sSub>
                                <m:sSub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𝛼</m:t>
                                  </m:r>
                                </m:e>
                                <m:sub>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2</m:t>
                                  </m:r>
                                </m:sub>
                              </m:sSub>
                              <m:sSubSup>
                                <m:sSubSup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ctrlPr>
                                </m:sSubSupPr>
                                <m:e>
                                  <m:acc>
                                    <m:accPr>
                                      <m:chr m:val="̅"/>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ctrlPr>
                                    </m:acc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𝑉</m:t>
                                      </m:r>
                                    </m:e>
                                  </m:acc>
                                </m:e>
                                <m:sub>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2</m:t>
                                  </m:r>
                                </m:sub>
                                <m:sup>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2</m:t>
                                  </m:r>
                                </m:sup>
                              </m:sSubSup>
                            </m:num>
                            <m:den>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2</m:t>
                              </m:r>
                            </m:den>
                          </m:f>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m:t>
                          </m:r>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𝑔</m:t>
                          </m:r>
                          <m:sSub>
                            <m:sSub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𝑧</m:t>
                              </m:r>
                            </m:e>
                            <m:sub>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2</m:t>
                              </m:r>
                            </m:sub>
                          </m:sSub>
                        </m:e>
                      </m:d>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d>
                        <m:dPr>
                          <m:ctrlPr>
                            <a:rPr kumimoji="0" lang="en-GB"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dPr>
                        <m:e>
                          <m:sSub>
                            <m:sSubPr>
                              <m:ctrlPr>
                                <a:rPr lang="en-GB" sz="2600" i="1">
                                  <a:latin typeface="Cambria Math" panose="02040503050406030204" pitchFamily="18" charset="0"/>
                                </a:rPr>
                              </m:ctrlPr>
                            </m:sSubPr>
                            <m:e>
                              <m:r>
                                <a:rPr lang="en-GB" sz="2600" i="1">
                                  <a:latin typeface="Cambria Math" panose="02040503050406030204" pitchFamily="18" charset="0"/>
                                </a:rPr>
                                <m:t>𝑢</m:t>
                              </m:r>
                            </m:e>
                            <m:sub>
                              <m:r>
                                <a:rPr lang="en-GB" sz="2600" i="1">
                                  <a:latin typeface="Cambria Math" panose="02040503050406030204" pitchFamily="18" charset="0"/>
                                </a:rPr>
                                <m:t>2</m:t>
                              </m:r>
                            </m:sub>
                          </m:sSub>
                          <m:r>
                            <a:rPr lang="en-GB" sz="2600" i="1">
                              <a:latin typeface="Cambria Math" panose="02040503050406030204" pitchFamily="18" charset="0"/>
                            </a:rPr>
                            <m:t>−</m:t>
                          </m:r>
                          <m:sSub>
                            <m:sSubPr>
                              <m:ctrlPr>
                                <a:rPr lang="en-GB" sz="2600" i="1">
                                  <a:latin typeface="Cambria Math" panose="02040503050406030204" pitchFamily="18" charset="0"/>
                                </a:rPr>
                              </m:ctrlPr>
                            </m:sSubPr>
                            <m:e>
                              <m:r>
                                <a:rPr lang="en-GB" sz="2600" i="1">
                                  <a:latin typeface="Cambria Math" panose="02040503050406030204" pitchFamily="18" charset="0"/>
                                </a:rPr>
                                <m:t>𝑢</m:t>
                              </m:r>
                            </m:e>
                            <m:sub>
                              <m:r>
                                <a:rPr lang="en-GB" sz="2600" i="1">
                                  <a:latin typeface="Cambria Math" panose="02040503050406030204" pitchFamily="18" charset="0"/>
                                </a:rPr>
                                <m:t>1</m:t>
                              </m:r>
                            </m:sub>
                          </m:sSub>
                        </m:e>
                      </m:d>
                      <m:r>
                        <a:rPr lang="en-GB" sz="2600" b="0" i="1" smtClean="0">
                          <a:latin typeface="Cambria Math" panose="02040503050406030204" pitchFamily="18" charset="0"/>
                        </a:rPr>
                        <m:t>−</m:t>
                      </m:r>
                      <m:f>
                        <m:fPr>
                          <m:ctrlPr>
                            <a:rPr lang="en-CA" sz="2600" i="1">
                              <a:latin typeface="Cambria Math" panose="02040503050406030204" pitchFamily="18" charset="0"/>
                            </a:rPr>
                          </m:ctrlPr>
                        </m:fPr>
                        <m:num>
                          <m:r>
                            <a:rPr lang="en-CA" sz="2600" i="1">
                              <a:latin typeface="Cambria Math" panose="02040503050406030204" pitchFamily="18" charset="0"/>
                              <a:ea typeface="Cambria Math" panose="02040503050406030204" pitchFamily="18" charset="0"/>
                            </a:rPr>
                            <m:t>𝛿</m:t>
                          </m:r>
                          <m:r>
                            <a:rPr lang="en-GB" sz="2600" i="1">
                              <a:latin typeface="Cambria Math" panose="02040503050406030204" pitchFamily="18" charset="0"/>
                              <a:ea typeface="Cambria Math" panose="02040503050406030204" pitchFamily="18" charset="0"/>
                            </a:rPr>
                            <m:t>𝑄</m:t>
                          </m:r>
                        </m:num>
                        <m:den>
                          <m:r>
                            <a:rPr lang="en-GB" sz="2600" i="1">
                              <a:latin typeface="Cambria Math" panose="02040503050406030204" pitchFamily="18" charset="0"/>
                            </a:rPr>
                            <m:t>𝑑𝑚</m:t>
                          </m:r>
                        </m:den>
                      </m:f>
                    </m:oMath>
                  </m:oMathPara>
                </a14:m>
                <a:endParaRPr kumimoji="0" lang="en-CA" sz="2600" b="0" i="0" u="none" strike="noStrike" kern="1200" cap="none" spc="0" normalizeH="0" baseline="0" noProof="0" dirty="0">
                  <a:ln>
                    <a:noFill/>
                  </a:ln>
                  <a:solidFill>
                    <a:schemeClr val="tx1"/>
                  </a:solidFill>
                  <a:effectLst/>
                  <a:uLnTx/>
                  <a:uFillTx/>
                  <a:latin typeface="+mn-lt"/>
                  <a:cs typeface="+mn-cs"/>
                </a:endParaRPr>
              </a:p>
              <a:p>
                <a:pPr>
                  <a:lnSpc>
                    <a:spcPct val="110000"/>
                  </a:lnSpc>
                  <a:defRPr/>
                </a:pPr>
                <a:r>
                  <a:rPr lang="en-CA" sz="2600" dirty="0">
                    <a:latin typeface="+mn-lt"/>
                  </a:rPr>
                  <a:t>Writing [</a:t>
                </a:r>
                <a14:m>
                  <m:oMath xmlns:m="http://schemas.openxmlformats.org/officeDocument/2006/math">
                    <m:d>
                      <m:dPr>
                        <m:ctrlPr>
                          <a:rPr kumimoji="0" lang="en-GB"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dPr>
                      <m:e>
                        <m:sSub>
                          <m:sSubPr>
                            <m:ctrlPr>
                              <a:rPr lang="en-GB" sz="2600" i="1">
                                <a:latin typeface="Cambria Math" panose="02040503050406030204" pitchFamily="18" charset="0"/>
                              </a:rPr>
                            </m:ctrlPr>
                          </m:sSubPr>
                          <m:e>
                            <m:r>
                              <a:rPr lang="en-GB" sz="2600" i="1">
                                <a:latin typeface="Cambria Math" panose="02040503050406030204" pitchFamily="18" charset="0"/>
                              </a:rPr>
                              <m:t>𝑢</m:t>
                            </m:r>
                          </m:e>
                          <m:sub>
                            <m:r>
                              <a:rPr lang="en-GB" sz="2600" i="1">
                                <a:latin typeface="Cambria Math" panose="02040503050406030204" pitchFamily="18" charset="0"/>
                              </a:rPr>
                              <m:t>2</m:t>
                            </m:r>
                          </m:sub>
                        </m:sSub>
                        <m:r>
                          <a:rPr lang="en-GB" sz="2600" i="1">
                            <a:latin typeface="Cambria Math" panose="02040503050406030204" pitchFamily="18" charset="0"/>
                          </a:rPr>
                          <m:t>−</m:t>
                        </m:r>
                        <m:sSub>
                          <m:sSubPr>
                            <m:ctrlPr>
                              <a:rPr lang="en-GB" sz="2600" i="1">
                                <a:latin typeface="Cambria Math" panose="02040503050406030204" pitchFamily="18" charset="0"/>
                              </a:rPr>
                            </m:ctrlPr>
                          </m:sSubPr>
                          <m:e>
                            <m:r>
                              <a:rPr lang="en-GB" sz="2600" i="1">
                                <a:latin typeface="Cambria Math" panose="02040503050406030204" pitchFamily="18" charset="0"/>
                              </a:rPr>
                              <m:t>𝑢</m:t>
                            </m:r>
                          </m:e>
                          <m:sub>
                            <m:r>
                              <a:rPr lang="en-GB" sz="2600" i="1">
                                <a:latin typeface="Cambria Math" panose="02040503050406030204" pitchFamily="18" charset="0"/>
                              </a:rPr>
                              <m:t>1</m:t>
                            </m:r>
                          </m:sub>
                        </m:sSub>
                      </m:e>
                    </m:d>
                    <m:r>
                      <a:rPr lang="en-GB" sz="2600" b="0" i="1" smtClean="0">
                        <a:latin typeface="Cambria Math" panose="02040503050406030204" pitchFamily="18" charset="0"/>
                      </a:rPr>
                      <m:t>−</m:t>
                    </m:r>
                    <m:f>
                      <m:fPr>
                        <m:ctrlPr>
                          <a:rPr lang="en-CA" sz="2600" i="1">
                            <a:latin typeface="Cambria Math" panose="02040503050406030204" pitchFamily="18" charset="0"/>
                          </a:rPr>
                        </m:ctrlPr>
                      </m:fPr>
                      <m:num>
                        <m:r>
                          <a:rPr lang="en-CA" sz="2600" i="1">
                            <a:latin typeface="Cambria Math" panose="02040503050406030204" pitchFamily="18" charset="0"/>
                            <a:ea typeface="Cambria Math" panose="02040503050406030204" pitchFamily="18" charset="0"/>
                          </a:rPr>
                          <m:t>𝛿</m:t>
                        </m:r>
                        <m:r>
                          <a:rPr lang="en-GB" sz="2600" i="1">
                            <a:latin typeface="Cambria Math" panose="02040503050406030204" pitchFamily="18" charset="0"/>
                            <a:ea typeface="Cambria Math" panose="02040503050406030204" pitchFamily="18" charset="0"/>
                          </a:rPr>
                          <m:t>𝑄</m:t>
                        </m:r>
                      </m:num>
                      <m:den>
                        <m:r>
                          <a:rPr lang="en-GB" sz="2600" i="1">
                            <a:latin typeface="Cambria Math" panose="02040503050406030204" pitchFamily="18" charset="0"/>
                          </a:rPr>
                          <m:t>𝑑𝑚</m:t>
                        </m:r>
                      </m:den>
                    </m:f>
                  </m:oMath>
                </a14:m>
                <a:r>
                  <a:rPr kumimoji="0" lang="en-CA" sz="2600" b="0" i="0" u="none" strike="noStrike" kern="1200" cap="none" spc="0" normalizeH="0" baseline="0" noProof="0" dirty="0">
                    <a:ln>
                      <a:noFill/>
                    </a:ln>
                    <a:solidFill>
                      <a:schemeClr val="tx1"/>
                    </a:solidFill>
                    <a:effectLst/>
                    <a:uLnTx/>
                    <a:uFillTx/>
                    <a:latin typeface="+mn-lt"/>
                    <a:cs typeface="+mn-cs"/>
                  </a:rPr>
                  <a:t>] as</a:t>
                </a:r>
                <a:r>
                  <a:rPr kumimoji="0" lang="en-CA" sz="2600" b="0" i="0" u="none" strike="noStrike" kern="1200" cap="none" spc="0" normalizeH="0" noProof="0" dirty="0">
                    <a:ln>
                      <a:noFill/>
                    </a:ln>
                    <a:solidFill>
                      <a:schemeClr val="tx1"/>
                    </a:solidFill>
                    <a:effectLst/>
                    <a:uLnTx/>
                    <a:uFillTx/>
                    <a:latin typeface="+mn-lt"/>
                    <a:cs typeface="+mn-cs"/>
                  </a:rPr>
                  <a:t> the total energy loss per unit mass, </a:t>
                </a:r>
                <a14:m>
                  <m:oMath xmlns:m="http://schemas.openxmlformats.org/officeDocument/2006/math">
                    <m:sSub>
                      <m:sSubPr>
                        <m:ctrlPr>
                          <a:rPr lang="en-CA" sz="2600" i="1">
                            <a:latin typeface="Cambria Math" panose="02040503050406030204" pitchFamily="18" charset="0"/>
                          </a:rPr>
                        </m:ctrlPr>
                      </m:sSubPr>
                      <m:e>
                        <m:r>
                          <a:rPr lang="en-CA" sz="2600" i="1">
                            <a:latin typeface="Cambria Math" panose="02040503050406030204" pitchFamily="18" charset="0"/>
                          </a:rPr>
                          <m:t>h</m:t>
                        </m:r>
                      </m:e>
                      <m:sub>
                        <m:r>
                          <a:rPr lang="en-CA" sz="2600" i="1">
                            <a:latin typeface="Cambria Math" panose="02040503050406030204" pitchFamily="18" charset="0"/>
                          </a:rPr>
                          <m:t>𝑙𝑇</m:t>
                        </m:r>
                      </m:sub>
                    </m:sSub>
                  </m:oMath>
                </a14:m>
                <a:r>
                  <a:rPr kumimoji="0" lang="en-CA" sz="2600" b="0" i="0" u="none" strike="noStrike" kern="1200" cap="none" spc="0" normalizeH="0" baseline="0" noProof="0" dirty="0">
                    <a:ln>
                      <a:noFill/>
                    </a:ln>
                    <a:solidFill>
                      <a:schemeClr val="tx1"/>
                    </a:solidFill>
                    <a:effectLst/>
                    <a:uLnTx/>
                    <a:uFillTx/>
                    <a:latin typeface="+mn-lt"/>
                    <a:cs typeface="+mn-cs"/>
                  </a:rPr>
                  <a:t>, we have</a:t>
                </a:r>
              </a:p>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endParaRPr kumimoji="0" lang="en-CA" sz="2600" b="0" i="1" u="none" strike="noStrike" kern="1200" cap="none" spc="0" normalizeH="0" baseline="0" noProof="0" dirty="0">
                  <a:ln>
                    <a:noFill/>
                  </a:ln>
                  <a:solidFill>
                    <a:schemeClr val="tx1"/>
                  </a:solidFill>
                  <a:effectLst/>
                  <a:uLnTx/>
                  <a:uFillTx/>
                  <a:latin typeface="+mn-lt"/>
                  <a:cs typeface="+mn-cs"/>
                </a:endParaRPr>
              </a:p>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d>
                        <m:dPr>
                          <m:ctrlP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dPr>
                        <m:e>
                          <m:f>
                            <m:f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fPr>
                            <m:num>
                              <m:sSub>
                                <m:sSub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𝑝</m:t>
                                  </m:r>
                                </m:e>
                                <m:sub>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1</m:t>
                                  </m:r>
                                </m:sub>
                              </m:sSub>
                            </m:num>
                            <m:den>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𝜌</m:t>
                              </m:r>
                            </m:den>
                          </m:f>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m:t>
                          </m:r>
                          <m:f>
                            <m:f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fPr>
                            <m:num>
                              <m:sSub>
                                <m:sSub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𝛼</m:t>
                                  </m:r>
                                </m:e>
                                <m:sub>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1</m:t>
                                  </m:r>
                                </m:sub>
                              </m:sSub>
                              <m:sSubSup>
                                <m:sSubSup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ctrlPr>
                                </m:sSubSupPr>
                                <m:e>
                                  <m:acc>
                                    <m:accPr>
                                      <m:chr m:val="̅"/>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ctrlPr>
                                    </m:acc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𝑉</m:t>
                                      </m:r>
                                    </m:e>
                                  </m:acc>
                                </m:e>
                                <m:sub>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1</m:t>
                                  </m:r>
                                </m:sub>
                                <m:sup>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2</m:t>
                                  </m:r>
                                </m:sup>
                              </m:sSubSup>
                            </m:num>
                            <m:den>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2</m:t>
                              </m:r>
                            </m:den>
                          </m:f>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m:t>
                          </m:r>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𝑔</m:t>
                          </m:r>
                          <m:sSub>
                            <m:sSub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𝑧</m:t>
                              </m:r>
                            </m:e>
                            <m:sub>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1</m:t>
                              </m:r>
                            </m:sub>
                          </m:sSub>
                        </m:e>
                      </m:d>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d>
                        <m:d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dPr>
                        <m:e>
                          <m:f>
                            <m:f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fPr>
                            <m:num>
                              <m:sSub>
                                <m:sSub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𝑝</m:t>
                                  </m:r>
                                </m:e>
                                <m:sub>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2</m:t>
                                  </m:r>
                                </m:sub>
                              </m:sSub>
                            </m:num>
                            <m:den>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𝜌</m:t>
                              </m:r>
                            </m:den>
                          </m:f>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m:t>
                          </m:r>
                          <m:f>
                            <m:f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fPr>
                            <m:num>
                              <m:sSub>
                                <m:sSub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𝛼</m:t>
                                  </m:r>
                                </m:e>
                                <m:sub>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2</m:t>
                                  </m:r>
                                </m:sub>
                              </m:sSub>
                              <m:sSubSup>
                                <m:sSubSup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ctrlPr>
                                </m:sSubSupPr>
                                <m:e>
                                  <m:acc>
                                    <m:accPr>
                                      <m:chr m:val="̅"/>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ctrlPr>
                                    </m:acc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𝑉</m:t>
                                      </m:r>
                                    </m:e>
                                  </m:acc>
                                </m:e>
                                <m:sub>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2</m:t>
                                  </m:r>
                                </m:sub>
                                <m:sup>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2</m:t>
                                  </m:r>
                                </m:sup>
                              </m:sSubSup>
                            </m:num>
                            <m:den>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2</m:t>
                              </m:r>
                            </m:den>
                          </m:f>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m:t>
                          </m:r>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𝑔</m:t>
                          </m:r>
                          <m:sSub>
                            <m:sSub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𝑧</m:t>
                              </m:r>
                            </m:e>
                            <m:sub>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2</m:t>
                              </m:r>
                            </m:sub>
                          </m:sSub>
                        </m:e>
                      </m:d>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sSub>
                        <m:sSubPr>
                          <m:ctrlP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h</m:t>
                          </m:r>
                        </m:e>
                        <m:sub>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𝑙𝑇</m:t>
                          </m:r>
                        </m:sub>
                      </m:sSub>
                    </m:oMath>
                  </m:oMathPara>
                </a14:m>
                <a:endParaRPr kumimoji="0" lang="en-CA" sz="2600" b="0" i="1" u="none" strike="noStrike" kern="1200" cap="none" spc="0" normalizeH="0" baseline="0" noProof="0" dirty="0">
                  <a:ln>
                    <a:noFill/>
                  </a:ln>
                  <a:solidFill>
                    <a:schemeClr val="tx1"/>
                  </a:solidFill>
                  <a:effectLst/>
                  <a:uLnTx/>
                  <a:uFillTx/>
                  <a:latin typeface="+mn-lt"/>
                  <a:cs typeface="+mn-cs"/>
                </a:endParaRPr>
              </a:p>
              <a:p>
                <a:pPr>
                  <a:lnSpc>
                    <a:spcPct val="110000"/>
                  </a:lnSpc>
                  <a:defRPr/>
                </a:pPr>
                <a:r>
                  <a:rPr kumimoji="0" lang="en-CA" sz="2600" i="0" u="none" strike="noStrike" kern="1200" cap="none" spc="0" normalizeH="0" baseline="0" noProof="0" dirty="0">
                    <a:ln>
                      <a:noFill/>
                    </a:ln>
                    <a:solidFill>
                      <a:schemeClr val="tx1"/>
                    </a:solidFill>
                    <a:effectLst/>
                    <a:uLnTx/>
                    <a:uFillTx/>
                    <a:latin typeface="+mn-lt"/>
                    <a:cs typeface="+mn-cs"/>
                  </a:rPr>
                  <a:t>Dividing through by </a:t>
                </a:r>
                <a:r>
                  <a:rPr kumimoji="0" lang="en-CA" sz="2600" i="1" u="none" strike="noStrike" kern="1200" cap="none" spc="0" normalizeH="0" baseline="0" noProof="0" dirty="0">
                    <a:ln>
                      <a:noFill/>
                    </a:ln>
                    <a:solidFill>
                      <a:schemeClr val="tx1"/>
                    </a:solidFill>
                    <a:effectLst/>
                    <a:uLnTx/>
                    <a:uFillTx/>
                    <a:latin typeface="+mn-lt"/>
                    <a:cs typeface="+mn-cs"/>
                  </a:rPr>
                  <a:t>g</a:t>
                </a:r>
                <a:r>
                  <a:rPr kumimoji="0" lang="en-CA" sz="2600" i="0" u="none" strike="noStrike" kern="1200" cap="none" spc="0" normalizeH="0" baseline="0" noProof="0" dirty="0">
                    <a:ln>
                      <a:noFill/>
                    </a:ln>
                    <a:solidFill>
                      <a:schemeClr val="tx1"/>
                    </a:solidFill>
                    <a:effectLst/>
                    <a:uLnTx/>
                    <a:uFillTx/>
                    <a:latin typeface="+mn-lt"/>
                    <a:cs typeface="+mn-cs"/>
                  </a:rPr>
                  <a:t>, gives the equivalent total energy loss per unit weight as</a:t>
                </a:r>
              </a:p>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endParaRPr kumimoji="0" lang="en-CA" sz="2600" b="0" i="1" u="none" strike="noStrike" kern="1200" cap="none" spc="0" normalizeH="0" baseline="0" noProof="0" dirty="0">
                  <a:ln>
                    <a:noFill/>
                  </a:ln>
                  <a:solidFill>
                    <a:schemeClr val="tx1"/>
                  </a:solidFill>
                  <a:effectLst/>
                  <a:uLnTx/>
                  <a:uFillTx/>
                  <a:latin typeface="+mn-lt"/>
                  <a:cs typeface="+mn-cs"/>
                </a:endParaRPr>
              </a:p>
            </p:txBody>
          </p:sp>
        </mc:Choice>
        <mc:Fallback xmlns="">
          <p:sp>
            <p:nvSpPr>
              <p:cNvPr id="6" name="Content Placeholder 2">
                <a:extLst>
                  <a:ext uri="{FF2B5EF4-FFF2-40B4-BE49-F238E27FC236}">
                    <a16:creationId xmlns:a16="http://schemas.microsoft.com/office/drawing/2014/main" id="{073556E4-83C1-BB27-AFE3-F86E199A1BB9}"/>
                  </a:ext>
                </a:extLst>
              </p:cNvPr>
              <p:cNvSpPr txBox="1">
                <a:spLocks noRot="1" noChangeAspect="1" noMove="1" noResize="1" noEditPoints="1" noAdjustHandles="1" noChangeArrowheads="1" noChangeShapeType="1" noTextEdit="1"/>
              </p:cNvSpPr>
              <p:nvPr/>
            </p:nvSpPr>
            <p:spPr>
              <a:xfrm>
                <a:off x="121920" y="619760"/>
                <a:ext cx="11663680" cy="6116320"/>
              </a:xfrm>
              <a:prstGeom prst="rect">
                <a:avLst/>
              </a:prstGeom>
              <a:blipFill>
                <a:blip r:embed="rId3"/>
                <a:stretch>
                  <a:fillRect l="-784" t="-598"/>
                </a:stretch>
              </a:blipFill>
            </p:spPr>
            <p:txBody>
              <a:bodyPr/>
              <a:lstStyle/>
              <a:p>
                <a:r>
                  <a:rPr lang="en-GH">
                    <a:noFill/>
                  </a:rPr>
                  <a:t> </a:t>
                </a:r>
              </a:p>
            </p:txBody>
          </p:sp>
        </mc:Fallback>
      </mc:AlternateContent>
    </p:spTree>
    <p:extLst>
      <p:ext uri="{BB962C8B-B14F-4D97-AF65-F5344CB8AC3E}">
        <p14:creationId xmlns:p14="http://schemas.microsoft.com/office/powerpoint/2010/main" val="32776387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3F72B3C-9DA7-5FDC-9186-C2D4086C5F16}"/>
              </a:ext>
            </a:extLst>
          </p:cNvPr>
          <p:cNvSpPr txBox="1">
            <a:spLocks/>
          </p:cNvSpPr>
          <p:nvPr/>
        </p:nvSpPr>
        <p:spPr>
          <a:xfrm>
            <a:off x="1717040" y="40640"/>
            <a:ext cx="7886700" cy="56894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000" b="1" kern="1200">
                <a:solidFill>
                  <a:srgbClr val="0000FF"/>
                </a:solidFill>
                <a:latin typeface="Myriad Web Pro"/>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CA" sz="2800" b="1" i="0" u="none" strike="noStrike" kern="1200" cap="none" spc="0" normalizeH="0" baseline="0" noProof="0" dirty="0">
                <a:ln>
                  <a:noFill/>
                </a:ln>
                <a:solidFill>
                  <a:schemeClr val="tx1"/>
                </a:solidFill>
                <a:effectLst/>
                <a:uLnTx/>
                <a:uFillTx/>
                <a:latin typeface="+mn-lt"/>
                <a:ea typeface="+mj-ea"/>
                <a:cs typeface="+mj-cs"/>
              </a:rPr>
              <a:t>Energy Considerations in Pipe Flow</a:t>
            </a: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073556E4-83C1-BB27-AFE3-F86E199A1BB9}"/>
                  </a:ext>
                </a:extLst>
              </p:cNvPr>
              <p:cNvSpPr txBox="1">
                <a:spLocks/>
              </p:cNvSpPr>
              <p:nvPr/>
            </p:nvSpPr>
            <p:spPr>
              <a:xfrm>
                <a:off x="132080" y="782320"/>
                <a:ext cx="11663680" cy="4622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yriad Web Pr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endParaRPr kumimoji="0" lang="en-CA" sz="2600" b="0" i="1" u="none" strike="noStrike" kern="1200" cap="none" spc="0" normalizeH="0" baseline="0" noProof="0" dirty="0">
                  <a:ln>
                    <a:noFill/>
                  </a:ln>
                  <a:solidFill>
                    <a:schemeClr val="tx1"/>
                  </a:solidFill>
                  <a:effectLst/>
                  <a:uLnTx/>
                  <a:uFillTx/>
                  <a:latin typeface="+mn-lt"/>
                  <a:cs typeface="+mn-cs"/>
                </a:endParaRPr>
              </a:p>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d>
                        <m:dPr>
                          <m:ctrlP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dPr>
                        <m:e>
                          <m:f>
                            <m:f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fPr>
                            <m:num>
                              <m:sSub>
                                <m:sSub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𝑝</m:t>
                                  </m:r>
                                </m:e>
                                <m:sub>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1</m:t>
                                  </m:r>
                                </m:sub>
                              </m:sSub>
                            </m:num>
                            <m:den>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𝜌</m:t>
                              </m:r>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𝑔</m:t>
                              </m:r>
                            </m:den>
                          </m:f>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m:t>
                          </m:r>
                          <m:f>
                            <m:f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fPr>
                            <m:num>
                              <m:sSub>
                                <m:sSub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𝛼</m:t>
                                  </m:r>
                                </m:e>
                                <m:sub>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1</m:t>
                                  </m:r>
                                </m:sub>
                              </m:sSub>
                              <m:sSubSup>
                                <m:sSubSup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ctrlPr>
                                </m:sSubSupPr>
                                <m:e>
                                  <m:acc>
                                    <m:accPr>
                                      <m:chr m:val="̅"/>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ctrlPr>
                                    </m:acc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𝑉</m:t>
                                      </m:r>
                                    </m:e>
                                  </m:acc>
                                </m:e>
                                <m:sub>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1</m:t>
                                  </m:r>
                                </m:sub>
                                <m:sup>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2</m:t>
                                  </m:r>
                                </m:sup>
                              </m:sSubSup>
                            </m:num>
                            <m:den>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2</m:t>
                              </m:r>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𝑔</m:t>
                              </m:r>
                            </m:den>
                          </m:f>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m:t>
                          </m:r>
                          <m:sSub>
                            <m:sSub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𝑧</m:t>
                              </m:r>
                            </m:e>
                            <m:sub>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1</m:t>
                              </m:r>
                            </m:sub>
                          </m:sSub>
                        </m:e>
                      </m:d>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m:t>
                      </m:r>
                      <m:d>
                        <m:d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dPr>
                        <m:e>
                          <m:f>
                            <m:f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fPr>
                            <m:num>
                              <m:sSub>
                                <m:sSub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𝑝</m:t>
                                  </m:r>
                                </m:e>
                                <m:sub>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2</m:t>
                                  </m:r>
                                </m:sub>
                              </m:sSub>
                            </m:num>
                            <m:den>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𝜌</m:t>
                              </m:r>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𝑔</m:t>
                              </m:r>
                            </m:den>
                          </m:f>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m:t>
                          </m:r>
                          <m:f>
                            <m:f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fPr>
                            <m:num>
                              <m:sSub>
                                <m:sSub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𝛼</m:t>
                                  </m:r>
                                </m:e>
                                <m:sub>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2</m:t>
                                  </m:r>
                                </m:sub>
                              </m:sSub>
                              <m:sSubSup>
                                <m:sSubSup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ctrlPr>
                                </m:sSubSupPr>
                                <m:e>
                                  <m:acc>
                                    <m:accPr>
                                      <m:chr m:val="̅"/>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ctrlPr>
                                    </m:acc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𝑉</m:t>
                                      </m:r>
                                    </m:e>
                                  </m:acc>
                                </m:e>
                                <m:sub>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2</m:t>
                                  </m:r>
                                </m:sub>
                                <m:sup>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2</m:t>
                                  </m:r>
                                </m:sup>
                              </m:sSubSup>
                            </m:num>
                            <m:den>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2</m:t>
                              </m:r>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𝑔</m:t>
                              </m:r>
                            </m:den>
                          </m:f>
                          <m:r>
                            <a:rPr kumimoji="0" lang="en-CA" sz="2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m:t>
                          </m:r>
                          <m:sSub>
                            <m:sSub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𝑧</m:t>
                              </m:r>
                            </m:e>
                            <m:sub>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2</m:t>
                              </m:r>
                            </m:sub>
                          </m:sSub>
                        </m:e>
                      </m:d>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m:t>
                      </m:r>
                      <m:f>
                        <m:fPr>
                          <m:ctrlP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fPr>
                        <m:num>
                          <m:sSub>
                            <m:sSub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h</m:t>
                              </m:r>
                            </m:e>
                            <m:sub>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𝑙𝑇</m:t>
                              </m:r>
                            </m:sub>
                          </m:sSub>
                        </m:num>
                        <m:den>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𝑔</m:t>
                          </m:r>
                        </m:den>
                      </m:f>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sSub>
                        <m:sSubPr>
                          <m:ctrlP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𝐻</m:t>
                          </m:r>
                        </m:e>
                        <m:sub>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𝑙𝑇</m:t>
                          </m:r>
                        </m:sub>
                      </m:sSub>
                    </m:oMath>
                  </m:oMathPara>
                </a14:m>
                <a:endParaRPr kumimoji="0" lang="en-CA" sz="2600" b="0" i="0" u="none" strike="noStrike" kern="1200" cap="none" spc="0" normalizeH="0" baseline="0" noProof="0" dirty="0">
                  <a:ln>
                    <a:noFill/>
                  </a:ln>
                  <a:solidFill>
                    <a:schemeClr val="tx1"/>
                  </a:solidFill>
                  <a:effectLst/>
                  <a:uLnTx/>
                  <a:uFillTx/>
                  <a:latin typeface="+mn-lt"/>
                  <a:cs typeface="+mn-cs"/>
                </a:endParaRPr>
              </a:p>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endParaRPr kumimoji="0" lang="en-CA" sz="2600" b="0" i="0" u="none" strike="noStrike" kern="1200" cap="none" spc="0" normalizeH="0" baseline="0" noProof="0" dirty="0">
                  <a:ln>
                    <a:noFill/>
                  </a:ln>
                  <a:solidFill>
                    <a:schemeClr val="tx1"/>
                  </a:solidFill>
                  <a:effectLst/>
                  <a:uLnTx/>
                  <a:uFillTx/>
                  <a:latin typeface="+mn-lt"/>
                  <a:cs typeface="+mn-cs"/>
                </a:endParaRPr>
              </a:p>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CA" sz="2600" i="0" u="none" strike="noStrike" kern="1200" cap="none" spc="0" normalizeH="0" baseline="0" noProof="0" dirty="0">
                    <a:ln>
                      <a:noFill/>
                    </a:ln>
                    <a:solidFill>
                      <a:schemeClr val="tx1"/>
                    </a:solidFill>
                    <a:effectLst/>
                    <a:uLnTx/>
                    <a:uFillTx/>
                    <a:latin typeface="+mn-lt"/>
                    <a:cs typeface="+mn-cs"/>
                  </a:rPr>
                  <a:t>where </a:t>
                </a:r>
                <a14:m>
                  <m:oMath xmlns:m="http://schemas.openxmlformats.org/officeDocument/2006/math">
                    <m:sSub>
                      <m:sSubPr>
                        <m:ctrlPr>
                          <a:rPr kumimoji="0" lang="en-CA" sz="260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h</m:t>
                        </m:r>
                      </m:e>
                      <m:sub>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𝑙𝑇</m:t>
                        </m:r>
                      </m:sub>
                    </m:sSub>
                  </m:oMath>
                </a14:m>
                <a:r>
                  <a:rPr kumimoji="0" lang="en-CA" sz="2600" i="0" u="none" strike="noStrike" kern="1200" cap="none" spc="0" normalizeH="0" baseline="0" noProof="0" dirty="0">
                    <a:ln>
                      <a:noFill/>
                    </a:ln>
                    <a:solidFill>
                      <a:schemeClr val="tx1"/>
                    </a:solidFill>
                    <a:effectLst/>
                    <a:uLnTx/>
                    <a:uFillTx/>
                    <a:latin typeface="+mn-lt"/>
                    <a:cs typeface="+mn-cs"/>
                  </a:rPr>
                  <a:t> (or </a:t>
                </a:r>
                <a14:m>
                  <m:oMath xmlns:m="http://schemas.openxmlformats.org/officeDocument/2006/math">
                    <m:sSub>
                      <m:sSubPr>
                        <m:ctrlPr>
                          <a:rPr kumimoji="0" lang="en-CA" sz="2600"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𝐻</m:t>
                        </m:r>
                      </m:e>
                      <m:sub>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𝑙𝑇</m:t>
                        </m:r>
                      </m:sub>
                    </m:sSub>
                  </m:oMath>
                </a14:m>
                <a:r>
                  <a:rPr kumimoji="0" lang="en-CA" sz="2600" i="0" u="none" strike="noStrike" kern="1200" cap="none" spc="0" normalizeH="0" baseline="0" noProof="0" dirty="0">
                    <a:ln>
                      <a:noFill/>
                    </a:ln>
                    <a:solidFill>
                      <a:schemeClr val="tx1"/>
                    </a:solidFill>
                    <a:effectLst/>
                    <a:uLnTx/>
                    <a:uFillTx/>
                    <a:latin typeface="+mn-lt"/>
                    <a:cs typeface="+mn-cs"/>
                  </a:rPr>
                  <a:t>) is the total head loss between sections (1) and (2).</a:t>
                </a:r>
              </a:p>
              <a:p>
                <a:pPr marL="0" marR="0" lvl="0" indent="0" algn="l" defTabSz="914400" rtl="0" eaLnBrk="1" fontAlgn="auto" latinLnBrk="0" hangingPunct="1">
                  <a:lnSpc>
                    <a:spcPct val="110000"/>
                  </a:lnSpc>
                  <a:spcBef>
                    <a:spcPts val="1800"/>
                  </a:spcBef>
                  <a:spcAft>
                    <a:spcPts val="0"/>
                  </a:spcAft>
                  <a:buClrTx/>
                  <a:buSzTx/>
                  <a:buFont typeface="Arial" panose="020B0604020202020204" pitchFamily="34" charset="0"/>
                  <a:buNone/>
                  <a:tabLst/>
                  <a:defRPr/>
                </a:pPr>
                <a:r>
                  <a:rPr kumimoji="0" lang="en-CA" sz="2600" i="0" u="none" strike="noStrike" kern="1200" cap="none" spc="0" normalizeH="0" baseline="0" noProof="0" dirty="0">
                    <a:ln>
                      <a:noFill/>
                    </a:ln>
                    <a:solidFill>
                      <a:schemeClr val="tx1"/>
                    </a:solidFill>
                    <a:effectLst/>
                    <a:uLnTx/>
                    <a:uFillTx/>
                    <a:latin typeface="+mn-lt"/>
                    <a:cs typeface="+mn-cs"/>
                  </a:rPr>
                  <a:t>Units: </a:t>
                </a:r>
                <a14:m>
                  <m:oMath xmlns:m="http://schemas.openxmlformats.org/officeDocument/2006/math">
                    <m:sSub>
                      <m:sSubPr>
                        <m:ctrlPr>
                          <a:rPr kumimoji="0" lang="en-CA" sz="2600"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h</m:t>
                        </m:r>
                      </m:e>
                      <m:sub>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𝑙𝑇</m:t>
                        </m:r>
                      </m:sub>
                    </m:sSub>
                  </m:oMath>
                </a14:m>
                <a:r>
                  <a:rPr kumimoji="0" lang="en-CA" sz="2600" i="0" u="none" strike="noStrike" kern="1200" cap="none" spc="0" normalizeH="0" baseline="0" noProof="0" dirty="0">
                    <a:ln>
                      <a:noFill/>
                    </a:ln>
                    <a:solidFill>
                      <a:schemeClr val="tx1"/>
                    </a:solidFill>
                    <a:effectLst/>
                    <a:uLnTx/>
                    <a:uFillTx/>
                    <a:latin typeface="+mn-lt"/>
                    <a:cs typeface="+mn-cs"/>
                  </a:rPr>
                  <a:t> (</a:t>
                </a:r>
                <a14:m>
                  <m:oMath xmlns:m="http://schemas.openxmlformats.org/officeDocument/2006/math">
                    <m:sSup>
                      <m:sSupPr>
                        <m:ctrlPr>
                          <a:rPr kumimoji="0" lang="en-CA" sz="2600" i="1" u="none" strike="noStrike" kern="1200" cap="none" spc="0" normalizeH="0" baseline="0" noProof="0">
                            <a:ln>
                              <a:noFill/>
                            </a:ln>
                            <a:solidFill>
                              <a:schemeClr val="tx1"/>
                            </a:solidFill>
                            <a:effectLst/>
                            <a:uLnTx/>
                            <a:uFillTx/>
                            <a:latin typeface="Cambria Math" panose="02040503050406030204" pitchFamily="18" charset="0"/>
                            <a:cs typeface="+mn-cs"/>
                          </a:rPr>
                        </m:ctrlPr>
                      </m:sSup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𝑚</m:t>
                        </m:r>
                      </m:e>
                      <m:sup>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2</m:t>
                        </m:r>
                      </m:sup>
                    </m:sSup>
                    <m:sSup>
                      <m:sSupPr>
                        <m:ctrlPr>
                          <a:rPr kumimoji="0" lang="en-CA" sz="2600" i="1" u="none" strike="noStrike" kern="1200" cap="none" spc="0" normalizeH="0" baseline="0" noProof="0">
                            <a:ln>
                              <a:noFill/>
                            </a:ln>
                            <a:solidFill>
                              <a:schemeClr val="tx1"/>
                            </a:solidFill>
                            <a:effectLst/>
                            <a:uLnTx/>
                            <a:uFillTx/>
                            <a:latin typeface="Cambria Math" panose="02040503050406030204" pitchFamily="18" charset="0"/>
                            <a:cs typeface="+mn-cs"/>
                          </a:rPr>
                        </m:ctrlPr>
                      </m:sSup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𝑠</m:t>
                        </m:r>
                      </m:e>
                      <m:sup>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−2</m:t>
                        </m:r>
                      </m:sup>
                    </m:sSup>
                  </m:oMath>
                </a14:m>
                <a:r>
                  <a:rPr kumimoji="0" lang="en-CA" sz="2600" i="0" u="none" strike="noStrike" kern="1200" cap="none" spc="0" normalizeH="0" baseline="0" noProof="0" dirty="0">
                    <a:ln>
                      <a:noFill/>
                    </a:ln>
                    <a:solidFill>
                      <a:schemeClr val="tx1"/>
                    </a:solidFill>
                    <a:effectLst/>
                    <a:uLnTx/>
                    <a:uFillTx/>
                    <a:latin typeface="+mn-lt"/>
                    <a:cs typeface="+mn-cs"/>
                  </a:rPr>
                  <a:t>) and </a:t>
                </a:r>
                <a14:m>
                  <m:oMath xmlns:m="http://schemas.openxmlformats.org/officeDocument/2006/math">
                    <m:sSub>
                      <m:sSubPr>
                        <m:ctrlPr>
                          <a:rPr kumimoji="0" lang="en-CA" sz="2600"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𝐻</m:t>
                        </m:r>
                      </m:e>
                      <m:sub>
                        <m:r>
                          <a:rPr kumimoji="0" lang="en-CA" sz="2600" b="0" i="1" u="none" strike="noStrike" kern="1200" cap="none" spc="0" normalizeH="0" baseline="0" noProof="0">
                            <a:ln>
                              <a:noFill/>
                            </a:ln>
                            <a:solidFill>
                              <a:schemeClr val="tx1"/>
                            </a:solidFill>
                            <a:effectLst/>
                            <a:uLnTx/>
                            <a:uFillTx/>
                            <a:latin typeface="Cambria Math" panose="02040503050406030204" pitchFamily="18" charset="0"/>
                            <a:cs typeface="+mn-cs"/>
                          </a:rPr>
                          <m:t>𝑙𝑇</m:t>
                        </m:r>
                      </m:sub>
                    </m:sSub>
                  </m:oMath>
                </a14:m>
                <a:r>
                  <a:rPr kumimoji="0" lang="en-CA" sz="2600" i="0" u="none" strike="noStrike" kern="1200" cap="none" spc="0" normalizeH="0" baseline="0" noProof="0" dirty="0">
                    <a:ln>
                      <a:noFill/>
                    </a:ln>
                    <a:solidFill>
                      <a:schemeClr val="tx1"/>
                    </a:solidFill>
                    <a:effectLst/>
                    <a:uLnTx/>
                    <a:uFillTx/>
                    <a:latin typeface="+mn-lt"/>
                    <a:cs typeface="+mn-cs"/>
                  </a:rPr>
                  <a:t> (m)</a:t>
                </a:r>
              </a:p>
            </p:txBody>
          </p:sp>
        </mc:Choice>
        <mc:Fallback xmlns="">
          <p:sp>
            <p:nvSpPr>
              <p:cNvPr id="6" name="Content Placeholder 2">
                <a:extLst>
                  <a:ext uri="{FF2B5EF4-FFF2-40B4-BE49-F238E27FC236}">
                    <a16:creationId xmlns:a16="http://schemas.microsoft.com/office/drawing/2014/main" id="{073556E4-83C1-BB27-AFE3-F86E199A1BB9}"/>
                  </a:ext>
                </a:extLst>
              </p:cNvPr>
              <p:cNvSpPr txBox="1">
                <a:spLocks noRot="1" noChangeAspect="1" noMove="1" noResize="1" noEditPoints="1" noAdjustHandles="1" noChangeArrowheads="1" noChangeShapeType="1" noTextEdit="1"/>
              </p:cNvSpPr>
              <p:nvPr/>
            </p:nvSpPr>
            <p:spPr>
              <a:xfrm>
                <a:off x="132080" y="782320"/>
                <a:ext cx="11663680" cy="4622800"/>
              </a:xfrm>
              <a:prstGeom prst="rect">
                <a:avLst/>
              </a:prstGeom>
              <a:blipFill>
                <a:blip r:embed="rId3"/>
                <a:stretch>
                  <a:fillRect l="-941"/>
                </a:stretch>
              </a:blipFill>
            </p:spPr>
            <p:txBody>
              <a:bodyPr/>
              <a:lstStyle/>
              <a:p>
                <a:r>
                  <a:rPr lang="en-GH">
                    <a:noFill/>
                  </a:rPr>
                  <a:t> </a:t>
                </a:r>
              </a:p>
            </p:txBody>
          </p:sp>
        </mc:Fallback>
      </mc:AlternateContent>
    </p:spTree>
    <p:extLst>
      <p:ext uri="{BB962C8B-B14F-4D97-AF65-F5344CB8AC3E}">
        <p14:creationId xmlns:p14="http://schemas.microsoft.com/office/powerpoint/2010/main" val="21187901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3F72B3C-9DA7-5FDC-9186-C2D4086C5F16}"/>
              </a:ext>
            </a:extLst>
          </p:cNvPr>
          <p:cNvSpPr txBox="1">
            <a:spLocks/>
          </p:cNvSpPr>
          <p:nvPr/>
        </p:nvSpPr>
        <p:spPr>
          <a:xfrm>
            <a:off x="1717040" y="60960"/>
            <a:ext cx="7886700" cy="56894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000" b="1" kern="1200">
                <a:solidFill>
                  <a:srgbClr val="0000FF"/>
                </a:solidFill>
                <a:latin typeface="Myriad Web Pro"/>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CA" sz="2800" b="1" i="0" u="none" strike="noStrike" kern="1200" cap="none" spc="0" normalizeH="0" baseline="0" noProof="0" dirty="0">
                <a:ln>
                  <a:noFill/>
                </a:ln>
                <a:solidFill>
                  <a:schemeClr val="tx1"/>
                </a:solidFill>
                <a:effectLst/>
                <a:uLnTx/>
                <a:uFillTx/>
                <a:latin typeface="+mn-lt"/>
                <a:ea typeface="+mj-ea"/>
                <a:cs typeface="+mj-cs"/>
              </a:rPr>
              <a:t>Kinetic Energy Coefficient (</a:t>
            </a:r>
            <a:r>
              <a:rPr kumimoji="0" lang="el-GR" sz="2800" b="1" i="1" u="none" strike="noStrike" kern="1200" cap="none" spc="0" normalizeH="0" baseline="0" noProof="0" dirty="0">
                <a:ln>
                  <a:noFill/>
                </a:ln>
                <a:solidFill>
                  <a:schemeClr val="tx1"/>
                </a:solidFill>
                <a:effectLst/>
                <a:uLnTx/>
                <a:uFillTx/>
                <a:latin typeface="+mn-lt"/>
                <a:ea typeface="+mj-ea"/>
                <a:cs typeface="+mj-cs"/>
              </a:rPr>
              <a:t>α</a:t>
            </a:r>
            <a:r>
              <a:rPr kumimoji="0" lang="en-CA" sz="2800" b="1" i="0" u="none" strike="noStrike" kern="1200" cap="none" spc="0" normalizeH="0" baseline="0" noProof="0" dirty="0">
                <a:ln>
                  <a:noFill/>
                </a:ln>
                <a:solidFill>
                  <a:schemeClr val="tx1"/>
                </a:solidFill>
                <a:effectLst/>
                <a:uLnTx/>
                <a:uFillTx/>
                <a:latin typeface="+mn-lt"/>
                <a:ea typeface="+mj-ea"/>
                <a:cs typeface="+mj-cs"/>
              </a:rPr>
              <a:t>)</a:t>
            </a:r>
          </a:p>
        </p:txBody>
      </p:sp>
      <mc:AlternateContent xmlns:mc="http://schemas.openxmlformats.org/markup-compatibility/2006" xmlns:a14="http://schemas.microsoft.com/office/drawing/2010/main">
        <mc:Choice Requires="a14">
          <p:sp>
            <p:nvSpPr>
              <p:cNvPr id="2" name="Content Placeholder 2">
                <a:extLst>
                  <a:ext uri="{FF2B5EF4-FFF2-40B4-BE49-F238E27FC236}">
                    <a16:creationId xmlns:a16="http://schemas.microsoft.com/office/drawing/2014/main" id="{EF8B9937-B757-7B3C-CEAC-053BB4B3CE48}"/>
                  </a:ext>
                </a:extLst>
              </p:cNvPr>
              <p:cNvSpPr>
                <a:spLocks noGrp="1"/>
              </p:cNvSpPr>
              <p:nvPr>
                <p:ph idx="1"/>
              </p:nvPr>
            </p:nvSpPr>
            <p:spPr>
              <a:xfrm>
                <a:off x="91440" y="656281"/>
                <a:ext cx="12009120" cy="2523799"/>
              </a:xfrm>
            </p:spPr>
            <p:txBody>
              <a:bodyPr>
                <a:normAutofit lnSpcReduction="10000"/>
              </a:bodyPr>
              <a:lstStyle/>
              <a:p>
                <a:pPr algn="just">
                  <a:lnSpc>
                    <a:spcPct val="110000"/>
                  </a:lnSpc>
                  <a:spcBef>
                    <a:spcPts val="0"/>
                  </a:spcBef>
                </a:pPr>
                <a:r>
                  <a:rPr lang="en-CA" sz="2600" dirty="0">
                    <a:solidFill>
                      <a:schemeClr val="tx1"/>
                    </a:solidFill>
                  </a:rPr>
                  <a:t>Kinetic energy coefficient is a correction factor that allows the use of </a:t>
                </a:r>
                <a:r>
                  <a:rPr lang="en-CA" sz="2600" u="sng" dirty="0">
                    <a:solidFill>
                      <a:schemeClr val="tx1"/>
                    </a:solidFill>
                  </a:rPr>
                  <a:t>average velocity</a:t>
                </a:r>
                <a:r>
                  <a:rPr lang="en-CA" sz="2600" dirty="0">
                    <a:solidFill>
                      <a:schemeClr val="tx1"/>
                    </a:solidFill>
                  </a:rPr>
                  <a:t>,</a:t>
                </a:r>
              </a:p>
              <a:p>
                <a:pPr marL="0" indent="0" algn="just">
                  <a:lnSpc>
                    <a:spcPct val="110000"/>
                  </a:lnSpc>
                  <a:spcBef>
                    <a:spcPts val="0"/>
                  </a:spcBef>
                  <a:buNone/>
                </a:pPr>
                <a:r>
                  <a:rPr lang="en-CA" sz="2600" dirty="0">
                    <a:solidFill>
                      <a:schemeClr val="tx1"/>
                    </a:solidFill>
                  </a:rPr>
                  <a:t> </a:t>
                </a:r>
                <a14:m>
                  <m:oMath xmlns:m="http://schemas.openxmlformats.org/officeDocument/2006/math">
                    <m:acc>
                      <m:accPr>
                        <m:chr m:val="̅"/>
                        <m:ctrlPr>
                          <a:rPr lang="en-CA" sz="2600" i="1" smtClean="0">
                            <a:solidFill>
                              <a:schemeClr val="tx1"/>
                            </a:solidFill>
                            <a:latin typeface="Cambria Math" panose="02040503050406030204" pitchFamily="18" charset="0"/>
                          </a:rPr>
                        </m:ctrlPr>
                      </m:accPr>
                      <m:e>
                        <m:r>
                          <a:rPr lang="en-CA" sz="2600" b="0" i="1" smtClean="0">
                            <a:solidFill>
                              <a:schemeClr val="tx1"/>
                            </a:solidFill>
                            <a:latin typeface="Cambria Math" panose="02040503050406030204" pitchFamily="18" charset="0"/>
                          </a:rPr>
                          <m:t>𝑉</m:t>
                        </m:r>
                      </m:e>
                    </m:acc>
                  </m:oMath>
                </a14:m>
                <a:r>
                  <a:rPr lang="en-CA" sz="2600" dirty="0">
                    <a:solidFill>
                      <a:schemeClr val="tx1"/>
                    </a:solidFill>
                  </a:rPr>
                  <a:t>  in the energy equation to compute the kinetic energy at a cross section. </a:t>
                </a:r>
              </a:p>
              <a:p>
                <a:pPr>
                  <a:lnSpc>
                    <a:spcPct val="150000"/>
                  </a:lnSpc>
                  <a:spcBef>
                    <a:spcPts val="1200"/>
                  </a:spcBef>
                  <a:spcAft>
                    <a:spcPts val="600"/>
                  </a:spcAft>
                </a:pPr>
                <a:r>
                  <a:rPr lang="en-CA" sz="2600" dirty="0">
                    <a:solidFill>
                      <a:schemeClr val="tx1"/>
                    </a:solidFill>
                  </a:rPr>
                  <a:t>Laminar flow: </a:t>
                </a:r>
                <a14:m>
                  <m:oMath xmlns:m="http://schemas.openxmlformats.org/officeDocument/2006/math">
                    <m:r>
                      <a:rPr lang="en-CA" sz="2600" b="0" i="1">
                        <a:solidFill>
                          <a:schemeClr val="tx1"/>
                        </a:solidFill>
                        <a:latin typeface="Cambria Math" panose="02040503050406030204" pitchFamily="18" charset="0"/>
                        <a:ea typeface="Cambria Math" panose="02040503050406030204" pitchFamily="18" charset="0"/>
                      </a:rPr>
                      <m:t>𝛼</m:t>
                    </m:r>
                    <m:r>
                      <a:rPr lang="en-CA" sz="2600" b="0" i="1">
                        <a:solidFill>
                          <a:schemeClr val="tx1"/>
                        </a:solidFill>
                        <a:latin typeface="Cambria Math" panose="02040503050406030204" pitchFamily="18" charset="0"/>
                        <a:ea typeface="Cambria Math" panose="02040503050406030204" pitchFamily="18" charset="0"/>
                      </a:rPr>
                      <m:t>=2</m:t>
                    </m:r>
                  </m:oMath>
                </a14:m>
                <a:endParaRPr lang="en-CA" sz="2600" dirty="0">
                  <a:solidFill>
                    <a:schemeClr val="tx1"/>
                  </a:solidFill>
                  <a:ea typeface="Cambria Math" panose="02040503050406030204" pitchFamily="18" charset="0"/>
                </a:endParaRPr>
              </a:p>
              <a:p>
                <a:pPr>
                  <a:lnSpc>
                    <a:spcPct val="150000"/>
                  </a:lnSpc>
                  <a:spcBef>
                    <a:spcPts val="1200"/>
                  </a:spcBef>
                  <a:spcAft>
                    <a:spcPts val="600"/>
                  </a:spcAft>
                </a:pPr>
                <a:r>
                  <a:rPr lang="en-CA" sz="2600" dirty="0">
                    <a:solidFill>
                      <a:schemeClr val="tx1"/>
                    </a:solidFill>
                  </a:rPr>
                  <a:t>Turbulent flow: </a:t>
                </a:r>
                <a14:m>
                  <m:oMath xmlns:m="http://schemas.openxmlformats.org/officeDocument/2006/math">
                    <m:r>
                      <a:rPr lang="en-CA" sz="2600" b="0" i="1">
                        <a:solidFill>
                          <a:schemeClr val="tx1"/>
                        </a:solidFill>
                        <a:latin typeface="Cambria Math" panose="02040503050406030204" pitchFamily="18" charset="0"/>
                        <a:ea typeface="Cambria Math" panose="02040503050406030204" pitchFamily="18" charset="0"/>
                      </a:rPr>
                      <m:t>1</m:t>
                    </m:r>
                    <m:r>
                      <a:rPr lang="en-CA" sz="2600" b="0">
                        <a:solidFill>
                          <a:schemeClr val="tx1"/>
                        </a:solidFill>
                        <a:latin typeface="Cambria Math" panose="02040503050406030204" pitchFamily="18" charset="0"/>
                        <a:ea typeface="Cambria Math" panose="02040503050406030204" pitchFamily="18" charset="0"/>
                      </a:rPr>
                      <m:t>.</m:t>
                    </m:r>
                    <m:r>
                      <a:rPr lang="en-CA" sz="2600" b="0" i="1">
                        <a:solidFill>
                          <a:schemeClr val="tx1"/>
                        </a:solidFill>
                        <a:latin typeface="Cambria Math" panose="02040503050406030204" pitchFamily="18" charset="0"/>
                        <a:ea typeface="Cambria Math" panose="02040503050406030204" pitchFamily="18" charset="0"/>
                      </a:rPr>
                      <m:t>03</m:t>
                    </m:r>
                    <m:r>
                      <a:rPr lang="en-CA" sz="2600" b="0">
                        <a:solidFill>
                          <a:schemeClr val="tx1"/>
                        </a:solidFill>
                        <a:latin typeface="Cambria Math" panose="02040503050406030204" pitchFamily="18" charset="0"/>
                        <a:ea typeface="Cambria Math" panose="02040503050406030204" pitchFamily="18" charset="0"/>
                      </a:rPr>
                      <m:t> </m:t>
                    </m:r>
                    <m:r>
                      <a:rPr lang="en-CA" sz="2600" b="0" i="1">
                        <a:solidFill>
                          <a:schemeClr val="tx1"/>
                        </a:solidFill>
                        <a:latin typeface="Cambria Math" panose="02040503050406030204" pitchFamily="18" charset="0"/>
                        <a:ea typeface="Cambria Math" panose="02040503050406030204" pitchFamily="18" charset="0"/>
                      </a:rPr>
                      <m:t>≤</m:t>
                    </m:r>
                    <m:r>
                      <a:rPr lang="en-CA" sz="2600" b="0" i="1">
                        <a:solidFill>
                          <a:schemeClr val="tx1"/>
                        </a:solidFill>
                        <a:latin typeface="Cambria Math" panose="02040503050406030204" pitchFamily="18" charset="0"/>
                        <a:ea typeface="Cambria Math" panose="02040503050406030204" pitchFamily="18" charset="0"/>
                      </a:rPr>
                      <m:t>𝛼</m:t>
                    </m:r>
                    <m:r>
                      <a:rPr lang="en-CA" sz="2600" b="0" i="1">
                        <a:solidFill>
                          <a:schemeClr val="tx1"/>
                        </a:solidFill>
                        <a:latin typeface="Cambria Math" panose="02040503050406030204" pitchFamily="18" charset="0"/>
                        <a:ea typeface="Cambria Math" panose="02040503050406030204" pitchFamily="18" charset="0"/>
                      </a:rPr>
                      <m:t>≤1.08 (</m:t>
                    </m:r>
                    <m:r>
                      <a:rPr lang="en-CA" sz="2600" b="0" i="1">
                        <a:solidFill>
                          <a:schemeClr val="tx1"/>
                        </a:solidFill>
                        <a:latin typeface="Cambria Math" panose="02040503050406030204" pitchFamily="18" charset="0"/>
                        <a:ea typeface="Cambria Math" panose="02040503050406030204" pitchFamily="18" charset="0"/>
                      </a:rPr>
                      <m:t>𝑢𝑠𝑒</m:t>
                    </m:r>
                    <m:r>
                      <a:rPr lang="en-CA" sz="2600" b="0" i="1">
                        <a:solidFill>
                          <a:schemeClr val="tx1"/>
                        </a:solidFill>
                        <a:latin typeface="Cambria Math" panose="02040503050406030204" pitchFamily="18" charset="0"/>
                        <a:ea typeface="Cambria Math" panose="02040503050406030204" pitchFamily="18" charset="0"/>
                      </a:rPr>
                      <m:t> </m:t>
                    </m:r>
                    <m:r>
                      <a:rPr lang="en-CA" sz="2600" b="0" i="1">
                        <a:solidFill>
                          <a:schemeClr val="tx1"/>
                        </a:solidFill>
                        <a:latin typeface="Cambria Math" panose="02040503050406030204" pitchFamily="18" charset="0"/>
                        <a:ea typeface="Cambria Math" panose="02040503050406030204" pitchFamily="18" charset="0"/>
                      </a:rPr>
                      <m:t>𝛼</m:t>
                    </m:r>
                    <m:r>
                      <a:rPr lang="en-CA" sz="2600" b="0" i="1">
                        <a:solidFill>
                          <a:schemeClr val="tx1"/>
                        </a:solidFill>
                        <a:latin typeface="Cambria Math" panose="02040503050406030204" pitchFamily="18" charset="0"/>
                        <a:ea typeface="Cambria Math" panose="02040503050406030204" pitchFamily="18" charset="0"/>
                      </a:rPr>
                      <m:t>=1)</m:t>
                    </m:r>
                  </m:oMath>
                </a14:m>
                <a:endParaRPr lang="en-CA" sz="2600" dirty="0">
                  <a:solidFill>
                    <a:schemeClr val="tx1"/>
                  </a:solidFill>
                </a:endParaRPr>
              </a:p>
              <a:p>
                <a:pPr>
                  <a:lnSpc>
                    <a:spcPct val="150000"/>
                  </a:lnSpc>
                  <a:spcBef>
                    <a:spcPts val="1200"/>
                  </a:spcBef>
                  <a:spcAft>
                    <a:spcPts val="600"/>
                  </a:spcAft>
                </a:pPr>
                <a:endParaRPr lang="en-CA" sz="1600" b="1" dirty="0"/>
              </a:p>
            </p:txBody>
          </p:sp>
        </mc:Choice>
        <mc:Fallback xmlns="">
          <p:sp>
            <p:nvSpPr>
              <p:cNvPr id="2" name="Content Placeholder 2">
                <a:extLst>
                  <a:ext uri="{FF2B5EF4-FFF2-40B4-BE49-F238E27FC236}">
                    <a16:creationId xmlns:a16="http://schemas.microsoft.com/office/drawing/2014/main" id="{EF8B9937-B757-7B3C-CEAC-053BB4B3CE48}"/>
                  </a:ext>
                </a:extLst>
              </p:cNvPr>
              <p:cNvSpPr>
                <a:spLocks noGrp="1" noRot="1" noChangeAspect="1" noMove="1" noResize="1" noEditPoints="1" noAdjustHandles="1" noChangeArrowheads="1" noChangeShapeType="1" noTextEdit="1"/>
              </p:cNvSpPr>
              <p:nvPr>
                <p:ph idx="1"/>
              </p:nvPr>
            </p:nvSpPr>
            <p:spPr>
              <a:xfrm>
                <a:off x="91440" y="656281"/>
                <a:ext cx="12009120" cy="2523799"/>
              </a:xfrm>
              <a:blipFill>
                <a:blip r:embed="rId3"/>
                <a:stretch>
                  <a:fillRect l="-761" t="-2174"/>
                </a:stretch>
              </a:blipFill>
            </p:spPr>
            <p:txBody>
              <a:bodyPr/>
              <a:lstStyle/>
              <a:p>
                <a:r>
                  <a:rPr lang="en-GH">
                    <a:noFill/>
                  </a:rPr>
                  <a:t> </a:t>
                </a:r>
              </a:p>
            </p:txBody>
          </p:sp>
        </mc:Fallback>
      </mc:AlternateContent>
      <p:pic>
        <p:nvPicPr>
          <p:cNvPr id="3" name="Picture 2">
            <a:extLst>
              <a:ext uri="{FF2B5EF4-FFF2-40B4-BE49-F238E27FC236}">
                <a16:creationId xmlns:a16="http://schemas.microsoft.com/office/drawing/2014/main" id="{7EF79849-EC2B-A4DD-A4B2-01E80432AFB1}"/>
              </a:ext>
            </a:extLst>
          </p:cNvPr>
          <p:cNvPicPr>
            <a:picLocks noChangeAspect="1"/>
          </p:cNvPicPr>
          <p:nvPr/>
        </p:nvPicPr>
        <p:blipFill rotWithShape="1">
          <a:blip r:embed="rId4"/>
          <a:srcRect t="5655" b="1954"/>
          <a:stretch/>
        </p:blipFill>
        <p:spPr>
          <a:xfrm>
            <a:off x="1486852" y="3155661"/>
            <a:ext cx="8215948" cy="3510562"/>
          </a:xfrm>
          <a:prstGeom prst="rect">
            <a:avLst/>
          </a:prstGeom>
        </p:spPr>
      </p:pic>
    </p:spTree>
    <p:extLst>
      <p:ext uri="{BB962C8B-B14F-4D97-AF65-F5344CB8AC3E}">
        <p14:creationId xmlns:p14="http://schemas.microsoft.com/office/powerpoint/2010/main" val="33743032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60582"/>
            <a:ext cx="9466217" cy="975111"/>
          </a:xfrm>
        </p:spPr>
        <p:txBody>
          <a:bodyPr>
            <a:normAutofit/>
          </a:bodyPr>
          <a:lstStyle/>
          <a:p>
            <a:pPr>
              <a:lnSpc>
                <a:spcPct val="100000"/>
              </a:lnSpc>
              <a:spcBef>
                <a:spcPts val="0"/>
              </a:spcBef>
            </a:pPr>
            <a:r>
              <a:rPr lang="en-CA" sz="2400" dirty="0">
                <a:latin typeface="Times New Roman" panose="02020603050405020304" pitchFamily="18" charset="0"/>
                <a:cs typeface="Times New Roman" panose="02020603050405020304" pitchFamily="18" charset="0"/>
              </a:rPr>
              <a:t>Consider a typical piping system shown below. </a:t>
            </a:r>
          </a:p>
          <a:p>
            <a:pPr>
              <a:lnSpc>
                <a:spcPct val="100000"/>
              </a:lnSpc>
              <a:spcBef>
                <a:spcPts val="0"/>
              </a:spcBef>
            </a:pPr>
            <a:r>
              <a:rPr lang="en-CA" sz="2400" dirty="0">
                <a:latin typeface="Times New Roman" panose="02020603050405020304" pitchFamily="18" charset="0"/>
                <a:cs typeface="Times New Roman" panose="02020603050405020304" pitchFamily="18" charset="0"/>
              </a:rPr>
              <a:t>Identify the sources of head loss</a:t>
            </a:r>
          </a:p>
        </p:txBody>
      </p:sp>
      <p:pic>
        <p:nvPicPr>
          <p:cNvPr id="7" name="Picture 6"/>
          <p:cNvPicPr>
            <a:picLocks noChangeAspect="1"/>
          </p:cNvPicPr>
          <p:nvPr/>
        </p:nvPicPr>
        <p:blipFill rotWithShape="1">
          <a:blip r:embed="rId3"/>
          <a:srcRect l="1" r="-715"/>
          <a:stretch/>
        </p:blipFill>
        <p:spPr>
          <a:xfrm>
            <a:off x="1527218" y="1909569"/>
            <a:ext cx="7474226" cy="3631095"/>
          </a:xfrm>
          <a:prstGeom prst="rect">
            <a:avLst/>
          </a:prstGeom>
        </p:spPr>
      </p:pic>
      <p:sp>
        <p:nvSpPr>
          <p:cNvPr id="2" name="Rectangle 1"/>
          <p:cNvSpPr/>
          <p:nvPr/>
        </p:nvSpPr>
        <p:spPr>
          <a:xfrm>
            <a:off x="3839855" y="94509"/>
            <a:ext cx="4528804" cy="461665"/>
          </a:xfrm>
          <a:prstGeom prst="rect">
            <a:avLst/>
          </a:prstGeom>
        </p:spPr>
        <p:txBody>
          <a:bodyPr wrap="none">
            <a:spAutoFit/>
          </a:bodyPr>
          <a:lstStyle/>
          <a:p>
            <a:r>
              <a:rPr lang="en-US" sz="2400" b="1" dirty="0">
                <a:solidFill>
                  <a:prstClr val="black"/>
                </a:solidFill>
                <a:latin typeface="Times New Roman" panose="02020603050405020304" pitchFamily="18" charset="0"/>
                <a:ea typeface="Times New Roman" panose="02020603050405020304" pitchFamily="18" charset="0"/>
              </a:rPr>
              <a:t>HEAD LOSSES IN PIPE FLOW</a:t>
            </a:r>
            <a:endParaRPr lang="en-CA" sz="2400"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A3E71783-52AD-25B1-11B1-75F99CEE981B}"/>
                  </a:ext>
                </a:extLst>
              </p:cNvPr>
              <p:cNvSpPr txBox="1">
                <a:spLocks/>
              </p:cNvSpPr>
              <p:nvPr/>
            </p:nvSpPr>
            <p:spPr>
              <a:xfrm>
                <a:off x="0" y="6169915"/>
                <a:ext cx="10164796" cy="361281"/>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dirty="0">
                    <a:solidFill>
                      <a:schemeClr val="tx1"/>
                    </a:solidFill>
                    <a:latin typeface="Times New Roman" panose="02020603050405020304" pitchFamily="18" charset="0"/>
                    <a:cs typeface="Times New Roman" panose="02020603050405020304" pitchFamily="18" charset="0"/>
                  </a:rPr>
                  <a:t>Head losses: friction in pipes, </a:t>
                </a:r>
                <a14:m>
                  <m:oMath xmlns:m="http://schemas.openxmlformats.org/officeDocument/2006/math">
                    <m:sSup>
                      <m:sSupPr>
                        <m:ctrlPr>
                          <a:rPr lang="en-CA" i="1" dirty="0">
                            <a:solidFill>
                              <a:schemeClr val="tx1"/>
                            </a:solidFill>
                            <a:latin typeface="Cambria Math" panose="02040503050406030204" pitchFamily="18" charset="0"/>
                          </a:rPr>
                        </m:ctrlPr>
                      </m:sSupPr>
                      <m:e>
                        <m:r>
                          <a:rPr lang="en-CA" b="0" i="1" dirty="0">
                            <a:solidFill>
                              <a:schemeClr val="tx1"/>
                            </a:solidFill>
                            <a:latin typeface="Cambria Math" panose="02040503050406030204" pitchFamily="18" charset="0"/>
                          </a:rPr>
                          <m:t>90</m:t>
                        </m:r>
                      </m:e>
                      <m:sup>
                        <m:r>
                          <a:rPr lang="en-CA" b="0" i="1" dirty="0">
                            <a:solidFill>
                              <a:schemeClr val="tx1"/>
                            </a:solidFill>
                            <a:latin typeface="Cambria Math" panose="02040503050406030204" pitchFamily="18" charset="0"/>
                            <a:ea typeface="Cambria Math" panose="02040503050406030204" pitchFamily="18" charset="0"/>
                          </a:rPr>
                          <m:t>°</m:t>
                        </m:r>
                      </m:sup>
                    </m:sSup>
                  </m:oMath>
                </a14:m>
                <a:r>
                  <a:rPr lang="en-CA" dirty="0">
                    <a:solidFill>
                      <a:schemeClr val="tx1"/>
                    </a:solidFill>
                    <a:latin typeface="Times New Roman" panose="02020603050405020304" pitchFamily="18" charset="0"/>
                    <a:cs typeface="Times New Roman" panose="02020603050405020304" pitchFamily="18" charset="0"/>
                  </a:rPr>
                  <a:t> and </a:t>
                </a:r>
                <a14:m>
                  <m:oMath xmlns:m="http://schemas.openxmlformats.org/officeDocument/2006/math">
                    <m:sSup>
                      <m:sSupPr>
                        <m:ctrlPr>
                          <a:rPr lang="en-CA" i="1" dirty="0">
                            <a:solidFill>
                              <a:schemeClr val="tx1"/>
                            </a:solidFill>
                            <a:latin typeface="Cambria Math" panose="02040503050406030204" pitchFamily="18" charset="0"/>
                          </a:rPr>
                        </m:ctrlPr>
                      </m:sSupPr>
                      <m:e>
                        <m:r>
                          <a:rPr lang="en-CA" b="0" i="1" dirty="0">
                            <a:solidFill>
                              <a:schemeClr val="tx1"/>
                            </a:solidFill>
                            <a:latin typeface="Cambria Math" panose="02040503050406030204" pitchFamily="18" charset="0"/>
                          </a:rPr>
                          <m:t>45</m:t>
                        </m:r>
                      </m:e>
                      <m:sup>
                        <m:r>
                          <a:rPr lang="en-CA" b="0" i="1" dirty="0">
                            <a:solidFill>
                              <a:schemeClr val="tx1"/>
                            </a:solidFill>
                            <a:latin typeface="Cambria Math" panose="02040503050406030204" pitchFamily="18" charset="0"/>
                            <a:ea typeface="Cambria Math" panose="02040503050406030204" pitchFamily="18" charset="0"/>
                          </a:rPr>
                          <m:t>°</m:t>
                        </m:r>
                      </m:sup>
                    </m:sSup>
                  </m:oMath>
                </a14:m>
                <a:r>
                  <a:rPr lang="en-CA" dirty="0">
                    <a:solidFill>
                      <a:schemeClr val="tx1"/>
                    </a:solidFill>
                    <a:latin typeface="Times New Roman" panose="02020603050405020304" pitchFamily="18" charset="0"/>
                    <a:cs typeface="Times New Roman" panose="02020603050405020304" pitchFamily="18" charset="0"/>
                  </a:rPr>
                  <a:t> elbows, gate valve, contraction</a:t>
                </a:r>
              </a:p>
              <a:p>
                <a:pPr marL="0" indent="0">
                  <a:buFont typeface="Arial" panose="020B0604020202020204" pitchFamily="34" charset="0"/>
                  <a:buNone/>
                </a:pPr>
                <a:endParaRPr lang="en-CA" dirty="0"/>
              </a:p>
            </p:txBody>
          </p:sp>
        </mc:Choice>
        <mc:Fallback xmlns="">
          <p:sp>
            <p:nvSpPr>
              <p:cNvPr id="4" name="Content Placeholder 2">
                <a:extLst>
                  <a:ext uri="{FF2B5EF4-FFF2-40B4-BE49-F238E27FC236}">
                    <a16:creationId xmlns:a16="http://schemas.microsoft.com/office/drawing/2014/main" id="{A3E71783-52AD-25B1-11B1-75F99CEE981B}"/>
                  </a:ext>
                </a:extLst>
              </p:cNvPr>
              <p:cNvSpPr txBox="1">
                <a:spLocks noRot="1" noChangeAspect="1" noMove="1" noResize="1" noEditPoints="1" noAdjustHandles="1" noChangeArrowheads="1" noChangeShapeType="1" noTextEdit="1"/>
              </p:cNvSpPr>
              <p:nvPr/>
            </p:nvSpPr>
            <p:spPr>
              <a:xfrm>
                <a:off x="0" y="6169915"/>
                <a:ext cx="10164796" cy="361281"/>
              </a:xfrm>
              <a:prstGeom prst="rect">
                <a:avLst/>
              </a:prstGeom>
              <a:blipFill>
                <a:blip r:embed="rId4"/>
                <a:stretch>
                  <a:fillRect l="-780" t="-40678" b="-38983"/>
                </a:stretch>
              </a:blipFill>
            </p:spPr>
            <p:txBody>
              <a:bodyPr/>
              <a:lstStyle/>
              <a:p>
                <a:r>
                  <a:rPr lang="en-GH">
                    <a:noFill/>
                  </a:rPr>
                  <a:t> </a:t>
                </a:r>
              </a:p>
            </p:txBody>
          </p:sp>
        </mc:Fallback>
      </mc:AlternateContent>
      <p:sp>
        <p:nvSpPr>
          <p:cNvPr id="5" name="TextBox 4">
            <a:extLst>
              <a:ext uri="{FF2B5EF4-FFF2-40B4-BE49-F238E27FC236}">
                <a16:creationId xmlns:a16="http://schemas.microsoft.com/office/drawing/2014/main" id="{259B89FF-7A60-0F7E-B5A1-5C21F661022A}"/>
              </a:ext>
            </a:extLst>
          </p:cNvPr>
          <p:cNvSpPr txBox="1"/>
          <p:nvPr/>
        </p:nvSpPr>
        <p:spPr>
          <a:xfrm>
            <a:off x="0" y="698917"/>
            <a:ext cx="11277599" cy="461665"/>
          </a:xfrm>
          <a:prstGeom prst="rect">
            <a:avLst/>
          </a:prstGeom>
          <a:noFill/>
        </p:spPr>
        <p:txBody>
          <a:bodyPr wrap="square">
            <a:spAutoFit/>
          </a:bodyPr>
          <a:lstStyle/>
          <a:p>
            <a:r>
              <a:rPr kumimoji="0" lang="en-GB"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It is often necessary to determine the head loss, </a:t>
            </a:r>
            <a:r>
              <a:rPr kumimoji="0" lang="en-GB" sz="24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a:t>
            </a:r>
            <a:r>
              <a:rPr kumimoji="0" lang="en-GB" sz="2400" b="0" i="1" u="none" strike="noStrike" kern="1200" cap="none" spc="0" normalizeH="0" baseline="-2500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a:t>
            </a:r>
            <a:r>
              <a:rPr kumimoji="0" lang="en-GB"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in a pipe flow.</a:t>
            </a:r>
            <a:endParaRPr lang="en-GH" dirty="0"/>
          </a:p>
        </p:txBody>
      </p:sp>
    </p:spTree>
    <p:extLst>
      <p:ext uri="{BB962C8B-B14F-4D97-AF65-F5344CB8AC3E}">
        <p14:creationId xmlns:p14="http://schemas.microsoft.com/office/powerpoint/2010/main" val="29277030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48" y="94491"/>
            <a:ext cx="7886700" cy="487036"/>
          </a:xfrm>
        </p:spPr>
        <p:txBody>
          <a:bodyPr>
            <a:normAutofit fontScale="90000"/>
          </a:bodyPr>
          <a:lstStyle/>
          <a:p>
            <a:pPr algn="ctr"/>
            <a:r>
              <a:rPr lang="en-CA" sz="3200" b="1" dirty="0">
                <a:latin typeface="Times New Roman" panose="02020603050405020304" pitchFamily="18" charset="0"/>
                <a:cs typeface="Times New Roman" panose="02020603050405020304" pitchFamily="18" charset="0"/>
              </a:rPr>
              <a:t>Types of Head Losses</a:t>
            </a:r>
          </a:p>
        </p:txBody>
      </p:sp>
      <p:pic>
        <p:nvPicPr>
          <p:cNvPr id="12" name="Content Placeholder 11"/>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845186" y="4061959"/>
            <a:ext cx="1280559" cy="1166708"/>
          </a:xfrm>
        </p:spPr>
      </p:pic>
      <p:grpSp>
        <p:nvGrpSpPr>
          <p:cNvPr id="33" name="Group 32"/>
          <p:cNvGrpSpPr/>
          <p:nvPr/>
        </p:nvGrpSpPr>
        <p:grpSpPr>
          <a:xfrm>
            <a:off x="2596444" y="2167466"/>
            <a:ext cx="6999110" cy="1309508"/>
            <a:chOff x="1072444" y="2167466"/>
            <a:chExt cx="6999110" cy="1309508"/>
          </a:xfrm>
        </p:grpSpPr>
        <p:sp>
          <p:nvSpPr>
            <p:cNvPr id="5" name="Right Brace 4"/>
            <p:cNvSpPr/>
            <p:nvPr/>
          </p:nvSpPr>
          <p:spPr>
            <a:xfrm rot="16200000">
              <a:off x="4368798" y="-112890"/>
              <a:ext cx="406401" cy="4967114"/>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6" name="Rectangle: Rounded Corners 5"/>
                <p:cNvSpPr/>
                <p:nvPr/>
              </p:nvSpPr>
              <p:spPr>
                <a:xfrm>
                  <a:off x="1072444" y="2573863"/>
                  <a:ext cx="2201333" cy="90311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CA" b="1" dirty="0"/>
                    <a:t>Major losses</a:t>
                  </a:r>
                </a:p>
                <a:p>
                  <a:pPr algn="ctr"/>
                  <a:r>
                    <a:rPr lang="en-CA" b="1" dirty="0">
                      <a:solidFill>
                        <a:schemeClr val="bg1"/>
                      </a:solidFill>
                    </a:rPr>
                    <a:t>(</a:t>
                  </a:r>
                  <a14:m>
                    <m:oMath xmlns:m="http://schemas.openxmlformats.org/officeDocument/2006/math">
                      <m:sSub>
                        <m:sSubPr>
                          <m:ctrlPr>
                            <a:rPr lang="en-CA" b="1" i="1" dirty="0">
                              <a:solidFill>
                                <a:schemeClr val="bg1"/>
                              </a:solidFill>
                              <a:latin typeface="Cambria Math" panose="02040503050406030204" pitchFamily="18" charset="0"/>
                            </a:rPr>
                          </m:ctrlPr>
                        </m:sSubPr>
                        <m:e>
                          <m:r>
                            <a:rPr lang="en-CA" b="1" i="1" dirty="0">
                              <a:solidFill>
                                <a:schemeClr val="bg1"/>
                              </a:solidFill>
                              <a:latin typeface="Cambria Math" panose="02040503050406030204" pitchFamily="18" charset="0"/>
                            </a:rPr>
                            <m:t>𝒉</m:t>
                          </m:r>
                        </m:e>
                        <m:sub>
                          <m:r>
                            <a:rPr lang="en-CA" b="1" i="1" dirty="0">
                              <a:solidFill>
                                <a:schemeClr val="bg1"/>
                              </a:solidFill>
                              <a:latin typeface="Cambria Math" panose="02040503050406030204" pitchFamily="18" charset="0"/>
                            </a:rPr>
                            <m:t>𝒍</m:t>
                          </m:r>
                        </m:sub>
                      </m:sSub>
                    </m:oMath>
                  </a14:m>
                  <a:r>
                    <a:rPr lang="en-CA" b="1" dirty="0">
                      <a:solidFill>
                        <a:schemeClr val="bg1"/>
                      </a:solidFill>
                    </a:rPr>
                    <a:t>)</a:t>
                  </a:r>
                </a:p>
              </p:txBody>
            </p:sp>
          </mc:Choice>
          <mc:Fallback xmlns="">
            <p:sp>
              <p:nvSpPr>
                <p:cNvPr id="6" name="Rectangle: Rounded Corners 5"/>
                <p:cNvSpPr>
                  <a:spLocks noRot="1" noChangeAspect="1" noMove="1" noResize="1" noEditPoints="1" noAdjustHandles="1" noChangeArrowheads="1" noChangeShapeType="1" noTextEdit="1"/>
                </p:cNvSpPr>
                <p:nvPr/>
              </p:nvSpPr>
              <p:spPr>
                <a:xfrm>
                  <a:off x="1072444" y="2573863"/>
                  <a:ext cx="2201333" cy="903111"/>
                </a:xfrm>
                <a:prstGeom prst="roundRect">
                  <a:avLst/>
                </a:prstGeom>
                <a:blipFill>
                  <a:blip r:embed="rId4"/>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 name="Rectangle: Rounded Corners 6"/>
                <p:cNvSpPr/>
                <p:nvPr/>
              </p:nvSpPr>
              <p:spPr>
                <a:xfrm>
                  <a:off x="5870221" y="2573863"/>
                  <a:ext cx="2201333" cy="90311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b="1" dirty="0"/>
                    <a:t>Minor Losses</a:t>
                  </a:r>
                </a:p>
                <a:p>
                  <a:pPr algn="ctr"/>
                  <a:r>
                    <a:rPr lang="en-CA" b="1" dirty="0"/>
                    <a:t>(</a:t>
                  </a:r>
                  <a14:m>
                    <m:oMath xmlns:m="http://schemas.openxmlformats.org/officeDocument/2006/math">
                      <m:sSub>
                        <m:sSubPr>
                          <m:ctrlPr>
                            <a:rPr lang="en-CA" b="1" i="1" dirty="0">
                              <a:solidFill>
                                <a:schemeClr val="bg1"/>
                              </a:solidFill>
                              <a:latin typeface="Cambria Math" panose="02040503050406030204" pitchFamily="18" charset="0"/>
                            </a:rPr>
                          </m:ctrlPr>
                        </m:sSubPr>
                        <m:e>
                          <m:r>
                            <a:rPr lang="en-CA" b="1" i="1" dirty="0">
                              <a:solidFill>
                                <a:schemeClr val="bg1"/>
                              </a:solidFill>
                              <a:latin typeface="Cambria Math" panose="02040503050406030204" pitchFamily="18" charset="0"/>
                            </a:rPr>
                            <m:t>𝒉</m:t>
                          </m:r>
                        </m:e>
                        <m:sub>
                          <m:r>
                            <a:rPr lang="en-CA" b="1" i="1" dirty="0">
                              <a:solidFill>
                                <a:schemeClr val="bg1"/>
                              </a:solidFill>
                              <a:latin typeface="Cambria Math" panose="02040503050406030204" pitchFamily="18" charset="0"/>
                            </a:rPr>
                            <m:t>𝒍𝒎</m:t>
                          </m:r>
                        </m:sub>
                      </m:sSub>
                    </m:oMath>
                  </a14:m>
                  <a:r>
                    <a:rPr lang="en-CA" b="1" dirty="0"/>
                    <a:t>)</a:t>
                  </a:r>
                </a:p>
              </p:txBody>
            </p:sp>
          </mc:Choice>
          <mc:Fallback xmlns="">
            <p:sp>
              <p:nvSpPr>
                <p:cNvPr id="7" name="Rectangle: Rounded Corners 6"/>
                <p:cNvSpPr>
                  <a:spLocks noRot="1" noChangeAspect="1" noMove="1" noResize="1" noEditPoints="1" noAdjustHandles="1" noChangeArrowheads="1" noChangeShapeType="1" noTextEdit="1"/>
                </p:cNvSpPr>
                <p:nvPr/>
              </p:nvSpPr>
              <p:spPr>
                <a:xfrm>
                  <a:off x="5870221" y="2573863"/>
                  <a:ext cx="2201333" cy="903111"/>
                </a:xfrm>
                <a:prstGeom prst="roundRect">
                  <a:avLst/>
                </a:prstGeom>
                <a:blipFill>
                  <a:blip r:embed="rId5"/>
                  <a:stretch>
                    <a:fillRect/>
                  </a:stretch>
                </a:blipFill>
              </p:spPr>
              <p:txBody>
                <a:bodyPr/>
                <a:lstStyle/>
                <a:p>
                  <a:r>
                    <a:rPr lang="en-CA">
                      <a:noFill/>
                    </a:rPr>
                    <a:t> </a:t>
                  </a:r>
                </a:p>
              </p:txBody>
            </p:sp>
          </mc:Fallback>
        </mc:AlternateContent>
      </p:grpSp>
      <p:grpSp>
        <p:nvGrpSpPr>
          <p:cNvPr id="34" name="Group 33"/>
          <p:cNvGrpSpPr/>
          <p:nvPr/>
        </p:nvGrpSpPr>
        <p:grpSpPr>
          <a:xfrm>
            <a:off x="2215444" y="3476975"/>
            <a:ext cx="2833510" cy="1190855"/>
            <a:chOff x="691444" y="3476974"/>
            <a:chExt cx="2833510" cy="1190855"/>
          </a:xfrm>
        </p:grpSpPr>
        <p:cxnSp>
          <p:nvCxnSpPr>
            <p:cNvPr id="9" name="Straight Arrow Connector 8"/>
            <p:cNvCxnSpPr/>
            <p:nvPr/>
          </p:nvCxnSpPr>
          <p:spPr>
            <a:xfrm>
              <a:off x="2088442" y="3476974"/>
              <a:ext cx="0" cy="50800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691444" y="3984975"/>
              <a:ext cx="2833510" cy="68285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CA" b="1" dirty="0"/>
                <a:t>frictional/viscous forces</a:t>
              </a:r>
            </a:p>
          </p:txBody>
        </p:sp>
      </p:grpSp>
      <p:pic>
        <p:nvPicPr>
          <p:cNvPr id="17" name="Picture 16"/>
          <p:cNvPicPr>
            <a:picLocks noChangeAspect="1"/>
          </p:cNvPicPr>
          <p:nvPr/>
        </p:nvPicPr>
        <p:blipFill rotWithShape="1">
          <a:blip r:embed="rId6" cstate="print">
            <a:extLst>
              <a:ext uri="{28A0092B-C50C-407E-A947-70E740481C1C}">
                <a14:useLocalDpi xmlns:a14="http://schemas.microsoft.com/office/drawing/2010/main" val="0"/>
              </a:ext>
            </a:extLst>
          </a:blip>
          <a:srcRect l="360" t="-1643" r="2192" b="2866"/>
          <a:stretch/>
        </p:blipFill>
        <p:spPr>
          <a:xfrm>
            <a:off x="8173153" y="4019575"/>
            <a:ext cx="1783643" cy="1206442"/>
          </a:xfrm>
          <a:prstGeom prst="rect">
            <a:avLst/>
          </a:prstGeom>
        </p:spPr>
      </p:pic>
      <p:grpSp>
        <p:nvGrpSpPr>
          <p:cNvPr id="32" name="Group 31"/>
          <p:cNvGrpSpPr/>
          <p:nvPr/>
        </p:nvGrpSpPr>
        <p:grpSpPr>
          <a:xfrm>
            <a:off x="6485464" y="3476975"/>
            <a:ext cx="2669826" cy="584985"/>
            <a:chOff x="4961464" y="3476974"/>
            <a:chExt cx="2669826" cy="584985"/>
          </a:xfrm>
        </p:grpSpPr>
        <p:cxnSp>
          <p:nvCxnSpPr>
            <p:cNvPr id="19" name="Straight Connector 18"/>
            <p:cNvCxnSpPr>
              <a:stCxn id="7" idx="2"/>
            </p:cNvCxnSpPr>
            <p:nvPr/>
          </p:nvCxnSpPr>
          <p:spPr>
            <a:xfrm flipH="1">
              <a:off x="6970887" y="3476974"/>
              <a:ext cx="1" cy="2540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1" name="Straight Connector 20"/>
            <p:cNvCxnSpPr>
              <a:cxnSpLocks/>
            </p:cNvCxnSpPr>
            <p:nvPr/>
          </p:nvCxnSpPr>
          <p:spPr>
            <a:xfrm flipH="1">
              <a:off x="4961464" y="3730974"/>
              <a:ext cx="266982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a:endCxn id="12" idx="0"/>
            </p:cNvCxnSpPr>
            <p:nvPr/>
          </p:nvCxnSpPr>
          <p:spPr>
            <a:xfrm>
              <a:off x="4961464" y="3730974"/>
              <a:ext cx="1" cy="330985"/>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7631289" y="3730974"/>
              <a:ext cx="1" cy="330985"/>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7" name="TextBox 26"/>
          <p:cNvSpPr txBox="1"/>
          <p:nvPr/>
        </p:nvSpPr>
        <p:spPr>
          <a:xfrm>
            <a:off x="5644445" y="2974623"/>
            <a:ext cx="65" cy="276999"/>
          </a:xfrm>
          <a:prstGeom prst="rect">
            <a:avLst/>
          </a:prstGeom>
          <a:noFill/>
        </p:spPr>
        <p:txBody>
          <a:bodyPr wrap="none" lIns="0" tIns="0" rIns="0" bIns="0" rtlCol="0">
            <a:spAutoFit/>
          </a:bodyPr>
          <a:lstStyle/>
          <a:p>
            <a:endParaRPr lang="en-CA" dirty="0"/>
          </a:p>
        </p:txBody>
      </p:sp>
      <p:sp>
        <p:nvSpPr>
          <p:cNvPr id="28" name="TextBox 27"/>
          <p:cNvSpPr txBox="1"/>
          <p:nvPr/>
        </p:nvSpPr>
        <p:spPr>
          <a:xfrm>
            <a:off x="6000396" y="5272966"/>
            <a:ext cx="726033" cy="338554"/>
          </a:xfrm>
          <a:prstGeom prst="rect">
            <a:avLst/>
          </a:prstGeom>
          <a:noFill/>
        </p:spPr>
        <p:txBody>
          <a:bodyPr wrap="none" rtlCol="0">
            <a:spAutoFit/>
          </a:bodyPr>
          <a:lstStyle/>
          <a:p>
            <a:r>
              <a:rPr lang="en-CA" sz="1600" b="1" dirty="0">
                <a:latin typeface="Myriad Web Pro"/>
              </a:rPr>
              <a:t>Valves</a:t>
            </a:r>
          </a:p>
        </p:txBody>
      </p:sp>
      <p:sp>
        <p:nvSpPr>
          <p:cNvPr id="29" name="TextBox 28"/>
          <p:cNvSpPr txBox="1"/>
          <p:nvPr/>
        </p:nvSpPr>
        <p:spPr>
          <a:xfrm>
            <a:off x="7461956" y="5316915"/>
            <a:ext cx="3048001" cy="584775"/>
          </a:xfrm>
          <a:prstGeom prst="rect">
            <a:avLst/>
          </a:prstGeom>
          <a:noFill/>
        </p:spPr>
        <p:txBody>
          <a:bodyPr wrap="square" rtlCol="0">
            <a:spAutoFit/>
          </a:bodyPr>
          <a:lstStyle/>
          <a:p>
            <a:r>
              <a:rPr lang="en-CA" sz="1600" b="1" dirty="0">
                <a:latin typeface="Myriad Web Pro"/>
              </a:rPr>
              <a:t>Fittings: bends, expansions and contractions</a:t>
            </a:r>
          </a:p>
        </p:txBody>
      </p:sp>
      <mc:AlternateContent xmlns:mc="http://schemas.openxmlformats.org/markup-compatibility/2006" xmlns:a14="http://schemas.microsoft.com/office/drawing/2010/main">
        <mc:Choice Requires="a14">
          <p:sp>
            <p:nvSpPr>
              <p:cNvPr id="4" name="Oval 3"/>
              <p:cNvSpPr/>
              <p:nvPr/>
            </p:nvSpPr>
            <p:spPr>
              <a:xfrm>
                <a:off x="4289777" y="1219201"/>
                <a:ext cx="3612446" cy="948267"/>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CA" b="1" dirty="0"/>
                  <a:t>Total Head losses</a:t>
                </a:r>
              </a:p>
              <a:p>
                <a:pPr algn="ctr"/>
                <a:r>
                  <a:rPr lang="en-CA" b="1" dirty="0"/>
                  <a:t>(</a:t>
                </a:r>
                <a14:m>
                  <m:oMath xmlns:m="http://schemas.openxmlformats.org/officeDocument/2006/math">
                    <m:sSub>
                      <m:sSubPr>
                        <m:ctrlPr>
                          <a:rPr lang="en-CA" b="1" i="1" dirty="0">
                            <a:latin typeface="Cambria Math" panose="02040503050406030204" pitchFamily="18" charset="0"/>
                          </a:rPr>
                        </m:ctrlPr>
                      </m:sSubPr>
                      <m:e>
                        <m:r>
                          <a:rPr lang="en-CA" b="1" i="1" dirty="0">
                            <a:latin typeface="Cambria Math" panose="02040503050406030204" pitchFamily="18" charset="0"/>
                          </a:rPr>
                          <m:t>𝒉</m:t>
                        </m:r>
                      </m:e>
                      <m:sub>
                        <m:r>
                          <a:rPr lang="en-CA" b="1" i="1" dirty="0">
                            <a:latin typeface="Cambria Math" panose="02040503050406030204" pitchFamily="18" charset="0"/>
                          </a:rPr>
                          <m:t>𝒍𝑻</m:t>
                        </m:r>
                      </m:sub>
                    </m:sSub>
                  </m:oMath>
                </a14:m>
                <a:r>
                  <a:rPr lang="en-CA" b="1" dirty="0"/>
                  <a:t> =  </a:t>
                </a:r>
                <a14:m>
                  <m:oMath xmlns:m="http://schemas.openxmlformats.org/officeDocument/2006/math">
                    <m:sSub>
                      <m:sSubPr>
                        <m:ctrlPr>
                          <a:rPr lang="en-CA" b="1" i="1" dirty="0">
                            <a:solidFill>
                              <a:srgbClr val="FF0000"/>
                            </a:solidFill>
                            <a:latin typeface="Cambria Math" panose="02040503050406030204" pitchFamily="18" charset="0"/>
                          </a:rPr>
                        </m:ctrlPr>
                      </m:sSubPr>
                      <m:e>
                        <m:r>
                          <a:rPr lang="en-CA" b="1" i="1" dirty="0">
                            <a:solidFill>
                              <a:srgbClr val="FF0000"/>
                            </a:solidFill>
                            <a:latin typeface="Cambria Math" panose="02040503050406030204" pitchFamily="18" charset="0"/>
                          </a:rPr>
                          <m:t>𝒉</m:t>
                        </m:r>
                      </m:e>
                      <m:sub>
                        <m:r>
                          <a:rPr lang="en-CA" b="1" i="1" dirty="0">
                            <a:solidFill>
                              <a:srgbClr val="FF0000"/>
                            </a:solidFill>
                            <a:latin typeface="Cambria Math" panose="02040503050406030204" pitchFamily="18" charset="0"/>
                          </a:rPr>
                          <m:t>𝒍</m:t>
                        </m:r>
                      </m:sub>
                    </m:sSub>
                  </m:oMath>
                </a14:m>
                <a:r>
                  <a:rPr lang="en-CA" b="1" dirty="0"/>
                  <a:t> + </a:t>
                </a:r>
                <a14:m>
                  <m:oMath xmlns:m="http://schemas.openxmlformats.org/officeDocument/2006/math">
                    <m:sSub>
                      <m:sSubPr>
                        <m:ctrlPr>
                          <a:rPr lang="en-CA" b="1" i="1" dirty="0">
                            <a:solidFill>
                              <a:srgbClr val="0000FF"/>
                            </a:solidFill>
                            <a:latin typeface="Cambria Math" panose="02040503050406030204" pitchFamily="18" charset="0"/>
                          </a:rPr>
                        </m:ctrlPr>
                      </m:sSubPr>
                      <m:e>
                        <m:r>
                          <a:rPr lang="en-CA" b="1" i="1" dirty="0">
                            <a:solidFill>
                              <a:srgbClr val="0000FF"/>
                            </a:solidFill>
                            <a:latin typeface="Cambria Math" panose="02040503050406030204" pitchFamily="18" charset="0"/>
                          </a:rPr>
                          <m:t> </m:t>
                        </m:r>
                        <m:r>
                          <a:rPr lang="en-CA" b="1" i="1" dirty="0">
                            <a:solidFill>
                              <a:srgbClr val="0000FF"/>
                            </a:solidFill>
                            <a:latin typeface="Cambria Math" panose="02040503050406030204" pitchFamily="18" charset="0"/>
                          </a:rPr>
                          <m:t>𝒉</m:t>
                        </m:r>
                      </m:e>
                      <m:sub>
                        <m:r>
                          <a:rPr lang="en-CA" b="1" i="1" dirty="0">
                            <a:solidFill>
                              <a:srgbClr val="0000FF"/>
                            </a:solidFill>
                            <a:latin typeface="Cambria Math" panose="02040503050406030204" pitchFamily="18" charset="0"/>
                          </a:rPr>
                          <m:t>𝒍𝒎</m:t>
                        </m:r>
                      </m:sub>
                    </m:sSub>
                  </m:oMath>
                </a14:m>
                <a:r>
                  <a:rPr lang="en-CA" b="1" dirty="0"/>
                  <a:t>)</a:t>
                </a:r>
              </a:p>
            </p:txBody>
          </p:sp>
        </mc:Choice>
        <mc:Fallback xmlns="">
          <p:sp>
            <p:nvSpPr>
              <p:cNvPr id="4" name="Oval 3"/>
              <p:cNvSpPr>
                <a:spLocks noRot="1" noChangeAspect="1" noMove="1" noResize="1" noEditPoints="1" noAdjustHandles="1" noChangeArrowheads="1" noChangeShapeType="1" noTextEdit="1"/>
              </p:cNvSpPr>
              <p:nvPr/>
            </p:nvSpPr>
            <p:spPr>
              <a:xfrm>
                <a:off x="4289777" y="1219201"/>
                <a:ext cx="3612446" cy="948267"/>
              </a:xfrm>
              <a:prstGeom prst="ellipse">
                <a:avLst/>
              </a:prstGeom>
              <a:blipFill>
                <a:blip r:embed="rId7"/>
                <a:stretch>
                  <a:fillRect/>
                </a:stretch>
              </a:blipFill>
            </p:spPr>
            <p:txBody>
              <a:bodyPr/>
              <a:lstStyle/>
              <a:p>
                <a:r>
                  <a:rPr lang="en-GH">
                    <a:noFill/>
                  </a:rPr>
                  <a:t> </a:t>
                </a:r>
              </a:p>
            </p:txBody>
          </p:sp>
        </mc:Fallback>
      </mc:AlternateContent>
    </p:spTree>
    <p:extLst>
      <p:ext uri="{BB962C8B-B14F-4D97-AF65-F5344CB8AC3E}">
        <p14:creationId xmlns:p14="http://schemas.microsoft.com/office/powerpoint/2010/main" val="2515979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772479" y="352565"/>
            <a:ext cx="7886700" cy="568940"/>
          </a:xfrm>
        </p:spPr>
        <p:txBody>
          <a:bodyPr>
            <a:normAutofit/>
          </a:bodyPr>
          <a:lstStyle/>
          <a:p>
            <a:pPr algn="ctr"/>
            <a:r>
              <a:rPr kumimoji="0" lang="en-CA" sz="29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Types of Head Losses</a:t>
            </a:r>
            <a:endParaRPr lang="en-CA" sz="18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772479" y="1226788"/>
                <a:ext cx="8816008" cy="4085442"/>
              </a:xfrm>
            </p:spPr>
            <p:txBody>
              <a:bodyPr>
                <a:normAutofit/>
              </a:bodyPr>
              <a:lstStyle/>
              <a:p>
                <a:pPr>
                  <a:lnSpc>
                    <a:spcPct val="100000"/>
                  </a:lnSpc>
                  <a:spcBef>
                    <a:spcPts val="1800"/>
                  </a:spcBef>
                  <a:spcAft>
                    <a:spcPts val="1200"/>
                  </a:spcAft>
                </a:pPr>
                <a:r>
                  <a:rPr lang="en-CA" sz="2400" dirty="0">
                    <a:solidFill>
                      <a:schemeClr val="tx1"/>
                    </a:solidFill>
                    <a:latin typeface="Times New Roman" panose="02020603050405020304" pitchFamily="18" charset="0"/>
                    <a:cs typeface="Times New Roman" panose="02020603050405020304" pitchFamily="18" charset="0"/>
                  </a:rPr>
                  <a:t>Head losses are grouped into Major and Minor losses</a:t>
                </a:r>
              </a:p>
              <a:p>
                <a:pPr>
                  <a:lnSpc>
                    <a:spcPct val="100000"/>
                  </a:lnSpc>
                  <a:spcBef>
                    <a:spcPts val="1800"/>
                  </a:spcBef>
                  <a:spcAft>
                    <a:spcPts val="1200"/>
                  </a:spcAft>
                </a:pPr>
                <a:r>
                  <a:rPr lang="en-CA" sz="2400" dirty="0">
                    <a:solidFill>
                      <a:schemeClr val="tx1"/>
                    </a:solidFill>
                    <a:latin typeface="Times New Roman" panose="02020603050405020304" pitchFamily="18" charset="0"/>
                    <a:cs typeface="Times New Roman" panose="02020603050405020304" pitchFamily="18" charset="0"/>
                  </a:rPr>
                  <a:t>Major losses (</a:t>
                </a:r>
                <a14:m>
                  <m:oMath xmlns:m="http://schemas.openxmlformats.org/officeDocument/2006/math">
                    <m:sSub>
                      <m:sSubPr>
                        <m:ctrlPr>
                          <a:rPr lang="en-CA" sz="2400" i="1" dirty="0">
                            <a:solidFill>
                              <a:schemeClr val="tx1"/>
                            </a:solidFill>
                            <a:latin typeface="Cambria Math" panose="02040503050406030204" pitchFamily="18" charset="0"/>
                          </a:rPr>
                        </m:ctrlPr>
                      </m:sSubPr>
                      <m:e>
                        <m:r>
                          <a:rPr lang="en-GB" sz="2400" b="0" i="1" dirty="0" smtClean="0">
                            <a:solidFill>
                              <a:schemeClr val="tx1"/>
                            </a:solidFill>
                            <a:latin typeface="Cambria Math" panose="02040503050406030204" pitchFamily="18" charset="0"/>
                          </a:rPr>
                          <m:t>h</m:t>
                        </m:r>
                      </m:e>
                      <m:sub>
                        <m:r>
                          <a:rPr lang="en-CA" sz="2400" b="0" i="1" dirty="0" smtClean="0">
                            <a:solidFill>
                              <a:schemeClr val="tx1"/>
                            </a:solidFill>
                            <a:latin typeface="Cambria Math" panose="02040503050406030204" pitchFamily="18" charset="0"/>
                          </a:rPr>
                          <m:t>𝑙</m:t>
                        </m:r>
                      </m:sub>
                    </m:sSub>
                  </m:oMath>
                </a14:m>
                <a:r>
                  <a:rPr lang="en-CA" sz="2400" dirty="0">
                    <a:solidFill>
                      <a:schemeClr val="tx1"/>
                    </a:solidFill>
                    <a:latin typeface="Times New Roman" panose="02020603050405020304" pitchFamily="18" charset="0"/>
                    <a:cs typeface="Times New Roman" panose="02020603050405020304" pitchFamily="18" charset="0"/>
                  </a:rPr>
                  <a:t>): due to frictional/viscous forces </a:t>
                </a:r>
              </a:p>
              <a:p>
                <a:pPr>
                  <a:lnSpc>
                    <a:spcPct val="100000"/>
                  </a:lnSpc>
                  <a:spcBef>
                    <a:spcPts val="1800"/>
                  </a:spcBef>
                  <a:spcAft>
                    <a:spcPts val="1200"/>
                  </a:spcAft>
                </a:pPr>
                <a:r>
                  <a:rPr lang="en-CA" sz="2400" dirty="0">
                    <a:solidFill>
                      <a:schemeClr val="tx1"/>
                    </a:solidFill>
                    <a:latin typeface="Times New Roman" panose="02020603050405020304" pitchFamily="18" charset="0"/>
                    <a:cs typeface="Times New Roman" panose="02020603050405020304" pitchFamily="18" charset="0"/>
                  </a:rPr>
                  <a:t>Minor losses (</a:t>
                </a:r>
                <a14:m>
                  <m:oMath xmlns:m="http://schemas.openxmlformats.org/officeDocument/2006/math">
                    <m:sSub>
                      <m:sSubPr>
                        <m:ctrlPr>
                          <a:rPr lang="en-CA" sz="2400" i="1" dirty="0">
                            <a:solidFill>
                              <a:schemeClr val="tx1"/>
                            </a:solidFill>
                            <a:latin typeface="Cambria Math" panose="02040503050406030204" pitchFamily="18" charset="0"/>
                          </a:rPr>
                        </m:ctrlPr>
                      </m:sSubPr>
                      <m:e>
                        <m:r>
                          <a:rPr lang="en-GB" sz="2400" b="0" i="1" dirty="0" smtClean="0">
                            <a:solidFill>
                              <a:schemeClr val="tx1"/>
                            </a:solidFill>
                            <a:latin typeface="Cambria Math" panose="02040503050406030204" pitchFamily="18" charset="0"/>
                          </a:rPr>
                          <m:t>h</m:t>
                        </m:r>
                      </m:e>
                      <m:sub>
                        <m:r>
                          <a:rPr lang="en-CA" sz="2400" b="0" i="1" dirty="0" smtClean="0">
                            <a:solidFill>
                              <a:schemeClr val="tx1"/>
                            </a:solidFill>
                            <a:latin typeface="Cambria Math" panose="02040503050406030204" pitchFamily="18" charset="0"/>
                          </a:rPr>
                          <m:t>𝑙𝑚</m:t>
                        </m:r>
                      </m:sub>
                    </m:sSub>
                  </m:oMath>
                </a14:m>
                <a:r>
                  <a:rPr lang="en-CA" sz="2400" dirty="0">
                    <a:solidFill>
                      <a:schemeClr val="tx1"/>
                    </a:solidFill>
                    <a:latin typeface="Times New Roman" panose="02020603050405020304" pitchFamily="18" charset="0"/>
                    <a:cs typeface="Times New Roman" panose="02020603050405020304" pitchFamily="18" charset="0"/>
                  </a:rPr>
                  <a:t>): valves, bends, contractions and expansions</a:t>
                </a:r>
              </a:p>
              <a:p>
                <a:pPr>
                  <a:lnSpc>
                    <a:spcPct val="100000"/>
                  </a:lnSpc>
                  <a:spcBef>
                    <a:spcPts val="1800"/>
                  </a:spcBef>
                  <a:spcAft>
                    <a:spcPts val="1200"/>
                  </a:spcAft>
                </a:pPr>
                <a:r>
                  <a:rPr lang="en-CA" sz="2400" dirty="0">
                    <a:solidFill>
                      <a:schemeClr val="tx1"/>
                    </a:solidFill>
                    <a:latin typeface="Times New Roman" panose="02020603050405020304" pitchFamily="18" charset="0"/>
                    <a:cs typeface="Times New Roman" panose="02020603050405020304" pitchFamily="18" charset="0"/>
                  </a:rPr>
                  <a:t>Total head loss, </a:t>
                </a:r>
                <a14:m>
                  <m:oMath xmlns:m="http://schemas.openxmlformats.org/officeDocument/2006/math">
                    <m:sSub>
                      <m:sSubPr>
                        <m:ctrlPr>
                          <a:rPr lang="en-CA" sz="2400" i="1" dirty="0">
                            <a:solidFill>
                              <a:schemeClr val="tx1"/>
                            </a:solidFill>
                            <a:latin typeface="Cambria Math" panose="02040503050406030204" pitchFamily="18" charset="0"/>
                          </a:rPr>
                        </m:ctrlPr>
                      </m:sSubPr>
                      <m:e>
                        <m:r>
                          <a:rPr lang="en-GB" sz="2400" b="0" i="1" dirty="0" smtClean="0">
                            <a:solidFill>
                              <a:schemeClr val="tx1"/>
                            </a:solidFill>
                            <a:latin typeface="Cambria Math" panose="02040503050406030204" pitchFamily="18" charset="0"/>
                          </a:rPr>
                          <m:t>h</m:t>
                        </m:r>
                      </m:e>
                      <m:sub>
                        <m:r>
                          <a:rPr lang="en-CA" sz="2400" b="0" i="1" dirty="0" smtClean="0">
                            <a:solidFill>
                              <a:schemeClr val="tx1"/>
                            </a:solidFill>
                            <a:latin typeface="Cambria Math" panose="02040503050406030204" pitchFamily="18" charset="0"/>
                          </a:rPr>
                          <m:t>𝑙𝑇</m:t>
                        </m:r>
                      </m:sub>
                    </m:sSub>
                    <m:r>
                      <a:rPr lang="en-CA" sz="2400" b="0" i="1" dirty="0" smtClean="0">
                        <a:solidFill>
                          <a:schemeClr val="tx1"/>
                        </a:solidFill>
                        <a:latin typeface="Cambria Math" panose="02040503050406030204" pitchFamily="18" charset="0"/>
                      </a:rPr>
                      <m:t> = </m:t>
                    </m:r>
                    <m:sSub>
                      <m:sSubPr>
                        <m:ctrlPr>
                          <a:rPr lang="en-CA" sz="2400" i="1" dirty="0">
                            <a:solidFill>
                              <a:schemeClr val="tx1"/>
                            </a:solidFill>
                            <a:latin typeface="Cambria Math" panose="02040503050406030204" pitchFamily="18" charset="0"/>
                          </a:rPr>
                        </m:ctrlPr>
                      </m:sSubPr>
                      <m:e>
                        <m:r>
                          <a:rPr lang="en-GB" sz="2400" b="0" i="1" dirty="0" smtClean="0">
                            <a:solidFill>
                              <a:schemeClr val="tx1"/>
                            </a:solidFill>
                            <a:latin typeface="Cambria Math" panose="02040503050406030204" pitchFamily="18" charset="0"/>
                          </a:rPr>
                          <m:t>h</m:t>
                        </m:r>
                      </m:e>
                      <m:sub>
                        <m:r>
                          <a:rPr lang="en-CA" sz="2400" b="0" i="1" dirty="0" smtClean="0">
                            <a:solidFill>
                              <a:schemeClr val="tx1"/>
                            </a:solidFill>
                            <a:latin typeface="Cambria Math" panose="02040503050406030204" pitchFamily="18" charset="0"/>
                          </a:rPr>
                          <m:t>𝑙</m:t>
                        </m:r>
                      </m:sub>
                    </m:sSub>
                    <m:r>
                      <a:rPr lang="en-CA" sz="2400" b="0" i="1" dirty="0" smtClean="0">
                        <a:solidFill>
                          <a:schemeClr val="tx1"/>
                        </a:solidFill>
                        <a:latin typeface="Cambria Math" panose="02040503050406030204" pitchFamily="18" charset="0"/>
                      </a:rPr>
                      <m:t> + </m:t>
                    </m:r>
                    <m:sSub>
                      <m:sSubPr>
                        <m:ctrlPr>
                          <a:rPr lang="en-CA" sz="2400" i="1" dirty="0">
                            <a:solidFill>
                              <a:schemeClr val="tx1"/>
                            </a:solidFill>
                            <a:latin typeface="Cambria Math" panose="02040503050406030204" pitchFamily="18" charset="0"/>
                          </a:rPr>
                        </m:ctrlPr>
                      </m:sSubPr>
                      <m:e>
                        <m:r>
                          <a:rPr lang="en-GB" sz="2400" b="0" i="1" dirty="0" smtClean="0">
                            <a:solidFill>
                              <a:schemeClr val="tx1"/>
                            </a:solidFill>
                            <a:latin typeface="Cambria Math" panose="02040503050406030204" pitchFamily="18" charset="0"/>
                          </a:rPr>
                          <m:t>h</m:t>
                        </m:r>
                      </m:e>
                      <m:sub>
                        <m:r>
                          <a:rPr lang="en-CA" sz="2400" b="0" i="1" dirty="0" smtClean="0">
                            <a:solidFill>
                              <a:schemeClr val="tx1"/>
                            </a:solidFill>
                            <a:latin typeface="Cambria Math" panose="02040503050406030204" pitchFamily="18" charset="0"/>
                          </a:rPr>
                          <m:t>𝑙𝑚</m:t>
                        </m:r>
                        <m:r>
                          <m:rPr>
                            <m:nor/>
                          </m:rPr>
                          <a:rPr lang="en-CA" sz="2400" dirty="0">
                            <a:solidFill>
                              <a:schemeClr val="tx1"/>
                            </a:solidFill>
                            <a:latin typeface="Times New Roman" panose="02020603050405020304" pitchFamily="18" charset="0"/>
                            <a:cs typeface="Times New Roman" panose="02020603050405020304" pitchFamily="18" charset="0"/>
                          </a:rPr>
                          <m:t> </m:t>
                        </m:r>
                      </m:sub>
                    </m:sSub>
                  </m:oMath>
                </a14:m>
                <a:endParaRPr lang="en-CA" sz="2400" dirty="0">
                  <a:solidFill>
                    <a:schemeClr val="tx1"/>
                  </a:solidFill>
                  <a:latin typeface="Times New Roman" panose="02020603050405020304" pitchFamily="18" charset="0"/>
                  <a:cs typeface="Times New Roman" panose="02020603050405020304" pitchFamily="18" charset="0"/>
                </a:endParaRPr>
              </a:p>
              <a:p>
                <a:pPr>
                  <a:lnSpc>
                    <a:spcPct val="100000"/>
                  </a:lnSpc>
                  <a:spcBef>
                    <a:spcPts val="1800"/>
                  </a:spcBef>
                  <a:spcAft>
                    <a:spcPts val="1200"/>
                  </a:spcAft>
                </a:pPr>
                <a:r>
                  <a:rPr lang="en-CA" sz="2400" dirty="0">
                    <a:latin typeface="Times New Roman" panose="02020603050405020304" pitchFamily="18" charset="0"/>
                    <a:cs typeface="Times New Roman" panose="02020603050405020304" pitchFamily="18" charset="0"/>
                  </a:rPr>
                  <a:t>Or, </a:t>
                </a:r>
                <a14:m>
                  <m:oMath xmlns:m="http://schemas.openxmlformats.org/officeDocument/2006/math">
                    <m:sSub>
                      <m:sSubPr>
                        <m:ctrlPr>
                          <a:rPr lang="en-CA" sz="2400" i="1" dirty="0" smtClean="0">
                            <a:solidFill>
                              <a:schemeClr val="tx1"/>
                            </a:solidFill>
                            <a:latin typeface="Cambria Math" panose="02040503050406030204" pitchFamily="18" charset="0"/>
                          </a:rPr>
                        </m:ctrlPr>
                      </m:sSubPr>
                      <m:e>
                        <m:r>
                          <a:rPr lang="en-GB" sz="2400" b="0" i="1" dirty="0" smtClean="0">
                            <a:solidFill>
                              <a:schemeClr val="tx1"/>
                            </a:solidFill>
                            <a:latin typeface="Cambria Math" panose="02040503050406030204" pitchFamily="18" charset="0"/>
                          </a:rPr>
                          <m:t>𝐻</m:t>
                        </m:r>
                      </m:e>
                      <m:sub>
                        <m:r>
                          <a:rPr lang="en-CA" sz="2400" b="0" i="1" dirty="0" smtClean="0">
                            <a:solidFill>
                              <a:schemeClr val="tx1"/>
                            </a:solidFill>
                            <a:latin typeface="Cambria Math" panose="02040503050406030204" pitchFamily="18" charset="0"/>
                          </a:rPr>
                          <m:t>𝑙𝑇</m:t>
                        </m:r>
                      </m:sub>
                    </m:sSub>
                    <m:r>
                      <a:rPr lang="en-CA" sz="2400" b="0" i="1" dirty="0" smtClean="0">
                        <a:solidFill>
                          <a:schemeClr val="tx1"/>
                        </a:solidFill>
                        <a:latin typeface="Cambria Math" panose="02040503050406030204" pitchFamily="18" charset="0"/>
                      </a:rPr>
                      <m:t> = </m:t>
                    </m:r>
                    <m:sSub>
                      <m:sSubPr>
                        <m:ctrlPr>
                          <a:rPr lang="en-CA" sz="2400" i="1" dirty="0">
                            <a:solidFill>
                              <a:schemeClr val="tx1"/>
                            </a:solidFill>
                            <a:latin typeface="Cambria Math" panose="02040503050406030204" pitchFamily="18" charset="0"/>
                          </a:rPr>
                        </m:ctrlPr>
                      </m:sSubPr>
                      <m:e>
                        <m:r>
                          <a:rPr lang="en-GB" sz="2400" b="0" i="1" dirty="0" smtClean="0">
                            <a:solidFill>
                              <a:schemeClr val="tx1"/>
                            </a:solidFill>
                            <a:latin typeface="Cambria Math" panose="02040503050406030204" pitchFamily="18" charset="0"/>
                          </a:rPr>
                          <m:t>𝐻</m:t>
                        </m:r>
                      </m:e>
                      <m:sub>
                        <m:r>
                          <a:rPr lang="en-CA" sz="2400" b="0" i="1" dirty="0" smtClean="0">
                            <a:solidFill>
                              <a:schemeClr val="tx1"/>
                            </a:solidFill>
                            <a:latin typeface="Cambria Math" panose="02040503050406030204" pitchFamily="18" charset="0"/>
                          </a:rPr>
                          <m:t>𝑙</m:t>
                        </m:r>
                      </m:sub>
                    </m:sSub>
                    <m:r>
                      <a:rPr lang="en-CA" sz="2400" b="0" i="1" dirty="0" smtClean="0">
                        <a:solidFill>
                          <a:schemeClr val="tx1"/>
                        </a:solidFill>
                        <a:latin typeface="Cambria Math" panose="02040503050406030204" pitchFamily="18" charset="0"/>
                      </a:rPr>
                      <m:t> + </m:t>
                    </m:r>
                    <m:sSub>
                      <m:sSubPr>
                        <m:ctrlPr>
                          <a:rPr lang="en-CA" sz="2400" i="1" dirty="0">
                            <a:solidFill>
                              <a:schemeClr val="tx1"/>
                            </a:solidFill>
                            <a:latin typeface="Cambria Math" panose="02040503050406030204" pitchFamily="18" charset="0"/>
                          </a:rPr>
                        </m:ctrlPr>
                      </m:sSubPr>
                      <m:e>
                        <m:r>
                          <a:rPr lang="en-GB" sz="2400" b="0" i="1" dirty="0" smtClean="0">
                            <a:solidFill>
                              <a:schemeClr val="tx1"/>
                            </a:solidFill>
                            <a:latin typeface="Cambria Math" panose="02040503050406030204" pitchFamily="18" charset="0"/>
                          </a:rPr>
                          <m:t>𝐻</m:t>
                        </m:r>
                      </m:e>
                      <m:sub>
                        <m:r>
                          <a:rPr lang="en-CA" sz="2400" b="0" i="1" dirty="0" smtClean="0">
                            <a:solidFill>
                              <a:schemeClr val="tx1"/>
                            </a:solidFill>
                            <a:latin typeface="Cambria Math" panose="02040503050406030204" pitchFamily="18" charset="0"/>
                          </a:rPr>
                          <m:t>𝑙𝑚</m:t>
                        </m:r>
                        <m:r>
                          <m:rPr>
                            <m:nor/>
                          </m:rPr>
                          <a:rPr lang="en-CA" sz="2400" dirty="0">
                            <a:solidFill>
                              <a:schemeClr val="tx1"/>
                            </a:solidFill>
                            <a:latin typeface="Times New Roman" panose="02020603050405020304" pitchFamily="18" charset="0"/>
                            <a:cs typeface="Times New Roman" panose="02020603050405020304" pitchFamily="18" charset="0"/>
                          </a:rPr>
                          <m:t> </m:t>
                        </m:r>
                      </m:sub>
                    </m:sSub>
                  </m:oMath>
                </a14:m>
                <a:endParaRPr lang="en-CA" sz="24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772479" y="1226788"/>
                <a:ext cx="8816008" cy="4085442"/>
              </a:xfrm>
              <a:blipFill>
                <a:blip r:embed="rId3"/>
                <a:stretch>
                  <a:fillRect l="-968" t="-1194"/>
                </a:stretch>
              </a:blipFill>
            </p:spPr>
            <p:txBody>
              <a:bodyPr/>
              <a:lstStyle/>
              <a:p>
                <a:r>
                  <a:rPr lang="en-GH">
                    <a:noFill/>
                  </a:rPr>
                  <a:t> </a:t>
                </a:r>
              </a:p>
            </p:txBody>
          </p:sp>
        </mc:Fallback>
      </mc:AlternateContent>
    </p:spTree>
    <p:extLst>
      <p:ext uri="{BB962C8B-B14F-4D97-AF65-F5344CB8AC3E}">
        <p14:creationId xmlns:p14="http://schemas.microsoft.com/office/powerpoint/2010/main" val="26936679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3425"/>
            <a:ext cx="10515600" cy="467798"/>
          </a:xfrm>
        </p:spPr>
        <p:txBody>
          <a:bodyPr>
            <a:noAutofit/>
          </a:bodyPr>
          <a:lstStyle/>
          <a:p>
            <a:pPr algn="ctr"/>
            <a:r>
              <a:rPr lang="en-CA" sz="2800" b="1" dirty="0">
                <a:latin typeface="Times New Roman" panose="02020603050405020304" pitchFamily="18" charset="0"/>
                <a:cs typeface="Times New Roman" panose="02020603050405020304" pitchFamily="18" charset="0"/>
              </a:rPr>
              <a:t>Calculation of Major Losses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17542" y="829724"/>
                <a:ext cx="9849395" cy="5510116"/>
              </a:xfrm>
            </p:spPr>
            <p:txBody>
              <a:bodyPr>
                <a:noAutofit/>
              </a:bodyPr>
              <a:lstStyle/>
              <a:p>
                <a:pPr marL="0" indent="0">
                  <a:lnSpc>
                    <a:spcPct val="120000"/>
                  </a:lnSpc>
                  <a:spcAft>
                    <a:spcPts val="1200"/>
                  </a:spcAft>
                  <a:buNone/>
                </a:pPr>
                <a:r>
                  <a:rPr lang="en-CA" sz="2400" dirty="0">
                    <a:solidFill>
                      <a:schemeClr val="tx1"/>
                    </a:solidFill>
                    <a:latin typeface="Times New Roman" panose="02020603050405020304" pitchFamily="18" charset="0"/>
                    <a:cs typeface="Times New Roman" panose="02020603050405020304" pitchFamily="18" charset="0"/>
                  </a:rPr>
                  <a:t>The major head losses in a pipe flow can be expressed as follows: </a:t>
                </a:r>
              </a:p>
              <a:p>
                <a:pPr marL="0" indent="0">
                  <a:lnSpc>
                    <a:spcPct val="120000"/>
                  </a:lnSpc>
                  <a:buNone/>
                </a:pPr>
                <a14:m>
                  <m:oMathPara xmlns:m="http://schemas.openxmlformats.org/officeDocument/2006/math">
                    <m:oMathParaPr>
                      <m:jc m:val="centerGroup"/>
                    </m:oMathParaPr>
                    <m:oMath xmlns:m="http://schemas.openxmlformats.org/officeDocument/2006/math">
                      <m:sSub>
                        <m:sSubPr>
                          <m:ctrlPr>
                            <a:rPr lang="en-CA" i="1">
                              <a:solidFill>
                                <a:schemeClr val="tx1"/>
                              </a:solidFill>
                              <a:latin typeface="Cambria Math" panose="02040503050406030204" pitchFamily="18" charset="0"/>
                            </a:rPr>
                          </m:ctrlPr>
                        </m:sSubPr>
                        <m:e>
                          <m:r>
                            <a:rPr lang="en-GB" b="0" i="1" smtClean="0">
                              <a:solidFill>
                                <a:schemeClr val="tx1"/>
                              </a:solidFill>
                              <a:latin typeface="Cambria Math" panose="02040503050406030204" pitchFamily="18" charset="0"/>
                            </a:rPr>
                            <m:t>𝐻</m:t>
                          </m:r>
                        </m:e>
                        <m:sub>
                          <m:r>
                            <a:rPr lang="en-CA" b="0" i="1" smtClean="0">
                              <a:solidFill>
                                <a:schemeClr val="tx1"/>
                              </a:solidFill>
                              <a:latin typeface="Cambria Math" panose="02040503050406030204" pitchFamily="18" charset="0"/>
                            </a:rPr>
                            <m:t>𝑙</m:t>
                          </m:r>
                        </m:sub>
                      </m:sSub>
                      <m:r>
                        <a:rPr lang="en-CA" b="0" i="1" smtClean="0">
                          <a:solidFill>
                            <a:schemeClr val="tx1"/>
                          </a:solidFill>
                          <a:latin typeface="Cambria Math" panose="02040503050406030204" pitchFamily="18" charset="0"/>
                        </a:rPr>
                        <m:t>=</m:t>
                      </m:r>
                      <m:r>
                        <a:rPr lang="en-CA" b="0" i="1" smtClean="0">
                          <a:solidFill>
                            <a:schemeClr val="tx1"/>
                          </a:solidFill>
                          <a:latin typeface="Cambria Math" panose="02040503050406030204" pitchFamily="18" charset="0"/>
                        </a:rPr>
                        <m:t>𝑓</m:t>
                      </m:r>
                      <m:f>
                        <m:fPr>
                          <m:ctrlPr>
                            <a:rPr lang="en-CA" i="1">
                              <a:solidFill>
                                <a:schemeClr val="tx1"/>
                              </a:solidFill>
                              <a:latin typeface="Cambria Math" panose="02040503050406030204" pitchFamily="18" charset="0"/>
                            </a:rPr>
                          </m:ctrlPr>
                        </m:fPr>
                        <m:num>
                          <m:r>
                            <a:rPr lang="en-CA" b="0" i="1" smtClean="0">
                              <a:solidFill>
                                <a:schemeClr val="tx1"/>
                              </a:solidFill>
                              <a:latin typeface="Cambria Math" panose="02040503050406030204" pitchFamily="18" charset="0"/>
                            </a:rPr>
                            <m:t>𝐿</m:t>
                          </m:r>
                        </m:num>
                        <m:den>
                          <m:r>
                            <a:rPr lang="en-CA" b="0" i="1" smtClean="0">
                              <a:solidFill>
                                <a:schemeClr val="tx1"/>
                              </a:solidFill>
                              <a:latin typeface="Cambria Math" panose="02040503050406030204" pitchFamily="18" charset="0"/>
                            </a:rPr>
                            <m:t>𝐷</m:t>
                          </m:r>
                        </m:den>
                      </m:f>
                      <m:f>
                        <m:fPr>
                          <m:ctrlPr>
                            <a:rPr lang="en-CA" i="1">
                              <a:solidFill>
                                <a:schemeClr val="tx1"/>
                              </a:solidFill>
                              <a:latin typeface="Cambria Math" panose="02040503050406030204" pitchFamily="18" charset="0"/>
                            </a:rPr>
                          </m:ctrlPr>
                        </m:fPr>
                        <m:num>
                          <m:sSup>
                            <m:sSupPr>
                              <m:ctrlPr>
                                <a:rPr lang="en-CA" i="1">
                                  <a:solidFill>
                                    <a:schemeClr val="tx1"/>
                                  </a:solidFill>
                                  <a:latin typeface="Cambria Math" panose="02040503050406030204" pitchFamily="18" charset="0"/>
                                </a:rPr>
                              </m:ctrlPr>
                            </m:sSupPr>
                            <m:e>
                              <m:acc>
                                <m:accPr>
                                  <m:chr m:val="̅"/>
                                  <m:ctrlPr>
                                    <a:rPr lang="en-CA" i="1">
                                      <a:solidFill>
                                        <a:schemeClr val="tx1"/>
                                      </a:solidFill>
                                      <a:latin typeface="Cambria Math" panose="02040503050406030204" pitchFamily="18" charset="0"/>
                                    </a:rPr>
                                  </m:ctrlPr>
                                </m:accPr>
                                <m:e>
                                  <m:r>
                                    <a:rPr lang="en-CA" b="0" i="1" smtClean="0">
                                      <a:solidFill>
                                        <a:schemeClr val="tx1"/>
                                      </a:solidFill>
                                      <a:latin typeface="Cambria Math" panose="02040503050406030204" pitchFamily="18" charset="0"/>
                                    </a:rPr>
                                    <m:t>𝑉</m:t>
                                  </m:r>
                                </m:e>
                              </m:acc>
                            </m:e>
                            <m:sup>
                              <m:r>
                                <a:rPr lang="en-CA" b="0" i="1" smtClean="0">
                                  <a:solidFill>
                                    <a:schemeClr val="tx1"/>
                                  </a:solidFill>
                                  <a:latin typeface="Cambria Math" panose="02040503050406030204" pitchFamily="18" charset="0"/>
                                </a:rPr>
                                <m:t>2</m:t>
                              </m:r>
                            </m:sup>
                          </m:sSup>
                        </m:num>
                        <m:den>
                          <m:r>
                            <a:rPr lang="en-CA" b="0" i="1" smtClean="0">
                              <a:solidFill>
                                <a:schemeClr val="tx1"/>
                              </a:solidFill>
                              <a:latin typeface="Cambria Math" panose="02040503050406030204" pitchFamily="18" charset="0"/>
                            </a:rPr>
                            <m:t>2</m:t>
                          </m:r>
                          <m:r>
                            <a:rPr lang="en-CA" b="0" i="1" smtClean="0">
                              <a:solidFill>
                                <a:schemeClr val="tx1"/>
                              </a:solidFill>
                              <a:latin typeface="Cambria Math" panose="02040503050406030204" pitchFamily="18" charset="0"/>
                            </a:rPr>
                            <m:t>𝑔</m:t>
                          </m:r>
                        </m:den>
                      </m:f>
                    </m:oMath>
                  </m:oMathPara>
                </a14:m>
                <a:endParaRPr lang="en-CA" dirty="0">
                  <a:solidFill>
                    <a:schemeClr val="tx1"/>
                  </a:solidFill>
                  <a:latin typeface="Times New Roman" panose="02020603050405020304" pitchFamily="18" charset="0"/>
                  <a:cs typeface="Times New Roman" panose="02020603050405020304" pitchFamily="18" charset="0"/>
                </a:endParaRPr>
              </a:p>
              <a:p>
                <a:pPr marL="0" indent="0">
                  <a:lnSpc>
                    <a:spcPct val="120000"/>
                  </a:lnSpc>
                  <a:spcBef>
                    <a:spcPts val="1800"/>
                  </a:spcBef>
                  <a:buNone/>
                </a:pPr>
                <a14:m>
                  <m:oMath xmlns:m="http://schemas.openxmlformats.org/officeDocument/2006/math">
                    <m:r>
                      <a:rPr lang="en-CA" sz="2400" b="0" i="1" smtClean="0">
                        <a:solidFill>
                          <a:schemeClr val="tx1"/>
                        </a:solidFill>
                        <a:latin typeface="Cambria Math" panose="02040503050406030204" pitchFamily="18" charset="0"/>
                      </a:rPr>
                      <m:t>𝐿</m:t>
                    </m:r>
                  </m:oMath>
                </a14:m>
                <a:r>
                  <a:rPr lang="en-CA" sz="2400" dirty="0">
                    <a:solidFill>
                      <a:schemeClr val="tx1"/>
                    </a:solidFill>
                    <a:latin typeface="Times New Roman" panose="02020603050405020304" pitchFamily="18" charset="0"/>
                    <a:cs typeface="Times New Roman" panose="02020603050405020304" pitchFamily="18" charset="0"/>
                  </a:rPr>
                  <a:t> is the length of the pipe</a:t>
                </a:r>
              </a:p>
              <a:p>
                <a:pPr marL="0" indent="0">
                  <a:lnSpc>
                    <a:spcPct val="120000"/>
                  </a:lnSpc>
                  <a:buNone/>
                </a:pPr>
                <a14:m>
                  <m:oMath xmlns:m="http://schemas.openxmlformats.org/officeDocument/2006/math">
                    <m:r>
                      <a:rPr lang="en-CA" sz="2400" b="0" i="1" smtClean="0">
                        <a:solidFill>
                          <a:schemeClr val="tx1"/>
                        </a:solidFill>
                        <a:latin typeface="Cambria Math" panose="02040503050406030204" pitchFamily="18" charset="0"/>
                      </a:rPr>
                      <m:t>𝐷</m:t>
                    </m:r>
                  </m:oMath>
                </a14:m>
                <a:r>
                  <a:rPr lang="en-CA" sz="2400" dirty="0">
                    <a:solidFill>
                      <a:schemeClr val="tx1"/>
                    </a:solidFill>
                    <a:latin typeface="Times New Roman" panose="02020603050405020304" pitchFamily="18" charset="0"/>
                    <a:cs typeface="Times New Roman" panose="02020603050405020304" pitchFamily="18" charset="0"/>
                  </a:rPr>
                  <a:t> is the pipe diameter</a:t>
                </a:r>
              </a:p>
              <a:p>
                <a:pPr marL="0" indent="0">
                  <a:lnSpc>
                    <a:spcPct val="120000"/>
                  </a:lnSpc>
                  <a:buNone/>
                </a:pPr>
                <a14:m>
                  <m:oMath xmlns:m="http://schemas.openxmlformats.org/officeDocument/2006/math">
                    <m:acc>
                      <m:accPr>
                        <m:chr m:val="̅"/>
                        <m:ctrlPr>
                          <a:rPr lang="en-CA" sz="2400" i="1">
                            <a:solidFill>
                              <a:schemeClr val="tx1"/>
                            </a:solidFill>
                            <a:latin typeface="Cambria Math" panose="02040503050406030204" pitchFamily="18" charset="0"/>
                          </a:rPr>
                        </m:ctrlPr>
                      </m:accPr>
                      <m:e>
                        <m:r>
                          <a:rPr lang="en-CA" sz="2400" b="0" i="1" smtClean="0">
                            <a:solidFill>
                              <a:schemeClr val="tx1"/>
                            </a:solidFill>
                            <a:latin typeface="Cambria Math" panose="02040503050406030204" pitchFamily="18" charset="0"/>
                          </a:rPr>
                          <m:t>𝑉</m:t>
                        </m:r>
                      </m:e>
                    </m:acc>
                  </m:oMath>
                </a14:m>
                <a:r>
                  <a:rPr lang="en-CA" sz="2400" dirty="0">
                    <a:solidFill>
                      <a:schemeClr val="tx1"/>
                    </a:solidFill>
                    <a:latin typeface="Times New Roman" panose="02020603050405020304" pitchFamily="18" charset="0"/>
                    <a:cs typeface="Times New Roman" panose="02020603050405020304" pitchFamily="18" charset="0"/>
                  </a:rPr>
                  <a:t> is average velocity</a:t>
                </a:r>
              </a:p>
              <a:p>
                <a:pPr marL="0" indent="0">
                  <a:lnSpc>
                    <a:spcPct val="120000"/>
                  </a:lnSpc>
                  <a:buNone/>
                </a:pPr>
                <a14:m>
                  <m:oMath xmlns:m="http://schemas.openxmlformats.org/officeDocument/2006/math">
                    <m:r>
                      <a:rPr lang="en-CA" sz="2400" b="0" i="1" smtClean="0">
                        <a:solidFill>
                          <a:schemeClr val="tx1"/>
                        </a:solidFill>
                        <a:latin typeface="Cambria Math" panose="02040503050406030204" pitchFamily="18" charset="0"/>
                      </a:rPr>
                      <m:t>𝑓</m:t>
                    </m:r>
                  </m:oMath>
                </a14:m>
                <a:r>
                  <a:rPr lang="en-CA" sz="2400" dirty="0">
                    <a:solidFill>
                      <a:schemeClr val="tx1"/>
                    </a:solidFill>
                    <a:latin typeface="Times New Roman" panose="02020603050405020304" pitchFamily="18" charset="0"/>
                    <a:cs typeface="Times New Roman" panose="02020603050405020304" pitchFamily="18" charset="0"/>
                  </a:rPr>
                  <a:t> is the friction factor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17542" y="829724"/>
                <a:ext cx="9849395" cy="5510116"/>
              </a:xfrm>
              <a:blipFill>
                <a:blip r:embed="rId2"/>
                <a:stretch>
                  <a:fillRect l="-990" t="-221"/>
                </a:stretch>
              </a:blipFill>
            </p:spPr>
            <p:txBody>
              <a:bodyPr/>
              <a:lstStyle/>
              <a:p>
                <a:r>
                  <a:rPr lang="en-GH">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6" name="Ink 5"/>
              <p14:cNvContentPartPr/>
              <p14:nvPr/>
            </p14:nvContentPartPr>
            <p14:xfrm>
              <a:off x="5442240" y="2296440"/>
              <a:ext cx="581040" cy="75600"/>
            </p14:xfrm>
          </p:contentPart>
        </mc:Choice>
        <mc:Fallback xmlns="">
          <p:pic>
            <p:nvPicPr>
              <p:cNvPr id="6" name="Ink 5"/>
              <p:cNvPicPr/>
              <p:nvPr/>
            </p:nvPicPr>
            <p:blipFill>
              <a:blip r:embed="rId4"/>
              <a:stretch>
                <a:fillRect/>
              </a:stretch>
            </p:blipFill>
            <p:spPr>
              <a:xfrm>
                <a:off x="5432880" y="2287080"/>
                <a:ext cx="599760" cy="94320"/>
              </a:xfrm>
              <a:prstGeom prst="rect">
                <a:avLst/>
              </a:prstGeom>
            </p:spPr>
          </p:pic>
        </mc:Fallback>
      </mc:AlternateContent>
    </p:spTree>
    <p:extLst>
      <p:ext uri="{BB962C8B-B14F-4D97-AF65-F5344CB8AC3E}">
        <p14:creationId xmlns:p14="http://schemas.microsoft.com/office/powerpoint/2010/main" val="39903091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2152650" y="271586"/>
                <a:ext cx="7886700" cy="568940"/>
              </a:xfrm>
            </p:spPr>
            <p:txBody>
              <a:bodyPr>
                <a:normAutofit/>
              </a:bodyPr>
              <a:lstStyle/>
              <a:p>
                <a:pPr algn="ctr"/>
                <a:r>
                  <a:rPr lang="en-CA" sz="2800" b="1" dirty="0">
                    <a:latin typeface="Times New Roman" panose="02020603050405020304" pitchFamily="18" charset="0"/>
                    <a:cs typeface="Times New Roman" panose="02020603050405020304" pitchFamily="18" charset="0"/>
                  </a:rPr>
                  <a:t>Calculation of Friction Factor, </a:t>
                </a:r>
                <a14:m>
                  <m:oMath xmlns:m="http://schemas.openxmlformats.org/officeDocument/2006/math">
                    <m:r>
                      <a:rPr lang="en-CA" sz="2800" b="1" i="1" dirty="0">
                        <a:latin typeface="Cambria Math" panose="02040503050406030204" pitchFamily="18" charset="0"/>
                      </a:rPr>
                      <m:t>𝒇</m:t>
                    </m:r>
                  </m:oMath>
                </a14:m>
                <a:endParaRPr lang="en-CA" sz="2800" b="1" dirty="0">
                  <a:latin typeface="Times New Roman" panose="02020603050405020304" pitchFamily="18" charset="0"/>
                  <a:cs typeface="Times New Roman" panose="02020603050405020304" pitchFamily="18" charset="0"/>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2152650" y="271586"/>
                <a:ext cx="7886700" cy="568940"/>
              </a:xfrm>
              <a:blipFill>
                <a:blip r:embed="rId2"/>
                <a:stretch>
                  <a:fillRect t="-10753" b="-21505"/>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1137648"/>
                <a:ext cx="11353800" cy="4566466"/>
              </a:xfrm>
            </p:spPr>
            <p:txBody>
              <a:bodyPr>
                <a:normAutofit fontScale="92500" lnSpcReduction="10000"/>
              </a:bodyPr>
              <a:lstStyle/>
              <a:p>
                <a:pPr>
                  <a:lnSpc>
                    <a:spcPct val="100000"/>
                  </a:lnSpc>
                  <a:spcBef>
                    <a:spcPts val="1800"/>
                  </a:spcBef>
                  <a:spcAft>
                    <a:spcPts val="1200"/>
                  </a:spcAft>
                </a:pPr>
                <a:r>
                  <a:rPr lang="en-CA" sz="2600" dirty="0">
                    <a:solidFill>
                      <a:schemeClr val="tx1"/>
                    </a:solidFill>
                    <a:latin typeface="Times New Roman" panose="02020603050405020304" pitchFamily="18" charset="0"/>
                    <a:cs typeface="Times New Roman" panose="02020603050405020304" pitchFamily="18" charset="0"/>
                  </a:rPr>
                  <a:t>The friction factor, </a:t>
                </a:r>
                <a14:m>
                  <m:oMath xmlns:m="http://schemas.openxmlformats.org/officeDocument/2006/math">
                    <m:r>
                      <a:rPr lang="en-CA" sz="2600" b="0" i="1" dirty="0">
                        <a:solidFill>
                          <a:schemeClr val="tx1"/>
                        </a:solidFill>
                        <a:latin typeface="Cambria Math" panose="02040503050406030204" pitchFamily="18" charset="0"/>
                      </a:rPr>
                      <m:t>𝑓</m:t>
                    </m:r>
                  </m:oMath>
                </a14:m>
                <a:r>
                  <a:rPr lang="en-CA" sz="2600" dirty="0">
                    <a:solidFill>
                      <a:schemeClr val="tx1"/>
                    </a:solidFill>
                    <a:latin typeface="Times New Roman" panose="02020603050405020304" pitchFamily="18" charset="0"/>
                    <a:cs typeface="Times New Roman" panose="02020603050405020304" pitchFamily="18" charset="0"/>
                  </a:rPr>
                  <a:t>  depends on </a:t>
                </a:r>
              </a:p>
              <a:p>
                <a:pPr lvl="1">
                  <a:lnSpc>
                    <a:spcPct val="100000"/>
                  </a:lnSpc>
                  <a:spcBef>
                    <a:spcPts val="1800"/>
                  </a:spcBef>
                  <a:spcAft>
                    <a:spcPts val="1200"/>
                  </a:spcAft>
                </a:pPr>
                <a:r>
                  <a:rPr lang="en-CA" sz="2600" dirty="0">
                    <a:solidFill>
                      <a:schemeClr val="tx1"/>
                    </a:solidFill>
                    <a:latin typeface="Times New Roman" panose="02020603050405020304" pitchFamily="18" charset="0"/>
                    <a:cs typeface="Times New Roman" panose="02020603050405020304" pitchFamily="18" charset="0"/>
                  </a:rPr>
                  <a:t>Flow regime (</a:t>
                </a:r>
                <a:r>
                  <a:rPr lang="en-CA" sz="2600" i="1" dirty="0">
                    <a:solidFill>
                      <a:schemeClr val="tx1"/>
                    </a:solidFill>
                    <a:latin typeface="Times New Roman" panose="02020603050405020304" pitchFamily="18" charset="0"/>
                    <a:cs typeface="Times New Roman" panose="02020603050405020304" pitchFamily="18" charset="0"/>
                  </a:rPr>
                  <a:t>Re</a:t>
                </a:r>
                <a:r>
                  <a:rPr lang="en-CA" sz="2600" dirty="0">
                    <a:solidFill>
                      <a:schemeClr val="tx1"/>
                    </a:solidFill>
                    <a:latin typeface="Times New Roman" panose="02020603050405020304" pitchFamily="18" charset="0"/>
                    <a:cs typeface="Times New Roman" panose="02020603050405020304" pitchFamily="18" charset="0"/>
                  </a:rPr>
                  <a:t>): Laminar or Turbulent </a:t>
                </a:r>
              </a:p>
              <a:p>
                <a:pPr lvl="1">
                  <a:lnSpc>
                    <a:spcPct val="100000"/>
                  </a:lnSpc>
                  <a:spcBef>
                    <a:spcPts val="1800"/>
                  </a:spcBef>
                  <a:spcAft>
                    <a:spcPts val="1200"/>
                  </a:spcAft>
                </a:pPr>
                <a:r>
                  <a:rPr lang="en-CA" sz="2600" dirty="0">
                    <a:solidFill>
                      <a:schemeClr val="tx1"/>
                    </a:solidFill>
                    <a:latin typeface="Times New Roman" panose="02020603050405020304" pitchFamily="18" charset="0"/>
                    <a:cs typeface="Times New Roman" panose="02020603050405020304" pitchFamily="18" charset="0"/>
                  </a:rPr>
                  <a:t>Surface condition (for turbulent flows): Smooth or Rough</a:t>
                </a:r>
              </a:p>
              <a:p>
                <a:pPr>
                  <a:lnSpc>
                    <a:spcPct val="100000"/>
                  </a:lnSpc>
                  <a:spcBef>
                    <a:spcPts val="1800"/>
                  </a:spcBef>
                  <a:spcAft>
                    <a:spcPts val="1200"/>
                  </a:spcAft>
                </a:pPr>
                <a:r>
                  <a:rPr lang="en-CA" sz="2600" dirty="0">
                    <a:solidFill>
                      <a:schemeClr val="tx1"/>
                    </a:solidFill>
                    <a:latin typeface="Times New Roman" panose="02020603050405020304" pitchFamily="18" charset="0"/>
                    <a:cs typeface="Times New Roman" panose="02020603050405020304" pitchFamily="18" charset="0"/>
                  </a:rPr>
                  <a:t>The friction factor, </a:t>
                </a:r>
                <a14:m>
                  <m:oMath xmlns:m="http://schemas.openxmlformats.org/officeDocument/2006/math">
                    <m:r>
                      <a:rPr lang="en-CA" sz="2600" b="0" i="1" dirty="0">
                        <a:solidFill>
                          <a:schemeClr val="tx1"/>
                        </a:solidFill>
                        <a:latin typeface="Cambria Math" panose="02040503050406030204" pitchFamily="18" charset="0"/>
                      </a:rPr>
                      <m:t>𝑓</m:t>
                    </m:r>
                  </m:oMath>
                </a14:m>
                <a:r>
                  <a:rPr lang="en-CA" sz="2600" dirty="0">
                    <a:solidFill>
                      <a:schemeClr val="tx1"/>
                    </a:solidFill>
                    <a:latin typeface="Times New Roman" panose="02020603050405020304" pitchFamily="18" charset="0"/>
                    <a:cs typeface="Times New Roman" panose="02020603050405020304" pitchFamily="18" charset="0"/>
                  </a:rPr>
                  <a:t> can be obtained from correlations (equations) or Moody chart</a:t>
                </a:r>
              </a:p>
              <a:p>
                <a:pPr>
                  <a:lnSpc>
                    <a:spcPct val="100000"/>
                  </a:lnSpc>
                  <a:spcBef>
                    <a:spcPts val="1800"/>
                  </a:spcBef>
                  <a:spcAft>
                    <a:spcPts val="1200"/>
                  </a:spcAft>
                </a:pPr>
                <a:r>
                  <a:rPr lang="en-CA" sz="2600" dirty="0">
                    <a:solidFill>
                      <a:schemeClr val="tx1"/>
                    </a:solidFill>
                    <a:latin typeface="Times New Roman" panose="02020603050405020304" pitchFamily="18" charset="0"/>
                    <a:cs typeface="Times New Roman" panose="02020603050405020304" pitchFamily="18" charset="0"/>
                  </a:rPr>
                  <a:t>For a laminar flow, </a:t>
                </a:r>
                <a14:m>
                  <m:oMath xmlns:m="http://schemas.openxmlformats.org/officeDocument/2006/math">
                    <m:r>
                      <a:rPr lang="en-CA" sz="2600" b="0" i="1" dirty="0">
                        <a:solidFill>
                          <a:schemeClr val="tx1"/>
                        </a:solidFill>
                        <a:latin typeface="Cambria Math" panose="02040503050406030204" pitchFamily="18" charset="0"/>
                      </a:rPr>
                      <m:t>𝑓</m:t>
                    </m:r>
                  </m:oMath>
                </a14:m>
                <a:r>
                  <a:rPr lang="en-CA" sz="2600" dirty="0">
                    <a:solidFill>
                      <a:schemeClr val="tx1"/>
                    </a:solidFill>
                    <a:latin typeface="Times New Roman" panose="02020603050405020304" pitchFamily="18" charset="0"/>
                    <a:cs typeface="Times New Roman" panose="02020603050405020304" pitchFamily="18" charset="0"/>
                  </a:rPr>
                  <a:t> depends only on </a:t>
                </a:r>
                <a:r>
                  <a:rPr lang="en-CA" sz="2600" i="1" dirty="0">
                    <a:solidFill>
                      <a:schemeClr val="tx1"/>
                    </a:solidFill>
                    <a:latin typeface="Times New Roman" panose="02020603050405020304" pitchFamily="18" charset="0"/>
                    <a:cs typeface="Times New Roman" panose="02020603050405020304" pitchFamily="18" charset="0"/>
                  </a:rPr>
                  <a:t>Re</a:t>
                </a:r>
                <a:r>
                  <a:rPr lang="en-CA" sz="2600" dirty="0">
                    <a:solidFill>
                      <a:schemeClr val="tx1"/>
                    </a:solidFill>
                    <a:latin typeface="Times New Roman" panose="02020603050405020304" pitchFamily="18" charset="0"/>
                    <a:cs typeface="Times New Roman" panose="02020603050405020304" pitchFamily="18" charset="0"/>
                  </a:rPr>
                  <a:t>: </a:t>
                </a:r>
                <a:endParaRPr lang="en-CA" sz="2600" i="1" dirty="0">
                  <a:solidFill>
                    <a:schemeClr val="tx1"/>
                  </a:solidFill>
                  <a:latin typeface="Times New Roman" panose="02020603050405020304" pitchFamily="18" charset="0"/>
                  <a:cs typeface="Times New Roman" panose="02020603050405020304" pitchFamily="18" charset="0"/>
                </a:endParaRPr>
              </a:p>
              <a:p>
                <a:pPr marL="0" indent="0" algn="ctr">
                  <a:lnSpc>
                    <a:spcPct val="100000"/>
                  </a:lnSpc>
                  <a:spcBef>
                    <a:spcPts val="1800"/>
                  </a:spcBef>
                  <a:spcAft>
                    <a:spcPts val="1200"/>
                  </a:spcAft>
                  <a:buNone/>
                </a:pPr>
                <a14:m>
                  <m:oMath xmlns:m="http://schemas.openxmlformats.org/officeDocument/2006/math">
                    <m:r>
                      <a:rPr lang="en-CA" sz="3000" b="0" i="1" dirty="0">
                        <a:solidFill>
                          <a:schemeClr val="tx1"/>
                        </a:solidFill>
                        <a:latin typeface="Cambria Math" panose="02040503050406030204" pitchFamily="18" charset="0"/>
                      </a:rPr>
                      <m:t>𝑓</m:t>
                    </m:r>
                    <m:r>
                      <a:rPr lang="en-CA" sz="3000" b="0" i="1" dirty="0">
                        <a:solidFill>
                          <a:schemeClr val="tx1"/>
                        </a:solidFill>
                        <a:latin typeface="Cambria Math" panose="02040503050406030204" pitchFamily="18" charset="0"/>
                      </a:rPr>
                      <m:t>=</m:t>
                    </m:r>
                    <m:f>
                      <m:fPr>
                        <m:ctrlPr>
                          <a:rPr lang="en-CA" sz="3000" i="1" dirty="0">
                            <a:solidFill>
                              <a:schemeClr val="tx1"/>
                            </a:solidFill>
                            <a:latin typeface="Cambria Math" panose="02040503050406030204" pitchFamily="18" charset="0"/>
                          </a:rPr>
                        </m:ctrlPr>
                      </m:fPr>
                      <m:num>
                        <m:r>
                          <a:rPr lang="en-CA" sz="3000" b="0" i="1" dirty="0">
                            <a:solidFill>
                              <a:schemeClr val="tx1"/>
                            </a:solidFill>
                            <a:latin typeface="Cambria Math" panose="02040503050406030204" pitchFamily="18" charset="0"/>
                          </a:rPr>
                          <m:t>64</m:t>
                        </m:r>
                      </m:num>
                      <m:den>
                        <m:r>
                          <a:rPr lang="en-CA" sz="3000" b="0" i="1" dirty="0">
                            <a:solidFill>
                              <a:schemeClr val="tx1"/>
                            </a:solidFill>
                            <a:latin typeface="Cambria Math" panose="02040503050406030204" pitchFamily="18" charset="0"/>
                          </a:rPr>
                          <m:t>𝑅𝑒</m:t>
                        </m:r>
                      </m:den>
                    </m:f>
                  </m:oMath>
                </a14:m>
                <a:r>
                  <a:rPr lang="en-CA" sz="3000" dirty="0">
                    <a:solidFill>
                      <a:schemeClr val="tx1"/>
                    </a:solidFill>
                    <a:latin typeface="Times New Roman" panose="02020603050405020304" pitchFamily="18" charset="0"/>
                    <a:cs typeface="Times New Roman" panose="02020603050405020304" pitchFamily="18" charset="0"/>
                  </a:rPr>
                  <a:t> </a:t>
                </a:r>
              </a:p>
              <a:p>
                <a:pPr marL="0" indent="0">
                  <a:lnSpc>
                    <a:spcPct val="100000"/>
                  </a:lnSpc>
                  <a:buNone/>
                </a:pPr>
                <a:endParaRPr lang="en-CA" dirty="0">
                  <a:solidFill>
                    <a:srgbClr val="FF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1137648"/>
                <a:ext cx="11353800" cy="4566466"/>
              </a:xfrm>
              <a:blipFill>
                <a:blip r:embed="rId3"/>
                <a:stretch>
                  <a:fillRect l="-698" t="-1869"/>
                </a:stretch>
              </a:blipFill>
            </p:spPr>
            <p:txBody>
              <a:bodyPr/>
              <a:lstStyle/>
              <a:p>
                <a:r>
                  <a:rPr lang="en-GH">
                    <a:noFill/>
                  </a:rPr>
                  <a:t> </a:t>
                </a:r>
              </a:p>
            </p:txBody>
          </p:sp>
        </mc:Fallback>
      </mc:AlternateContent>
    </p:spTree>
    <p:extLst>
      <p:ext uri="{BB962C8B-B14F-4D97-AF65-F5344CB8AC3E}">
        <p14:creationId xmlns:p14="http://schemas.microsoft.com/office/powerpoint/2010/main" val="33366429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38200" y="365125"/>
                <a:ext cx="10515600" cy="463395"/>
              </a:xfrm>
            </p:spPr>
            <p:txBody>
              <a:bodyPr>
                <a:normAutofit fontScale="90000"/>
              </a:bodyPr>
              <a:lstStyle/>
              <a:p>
                <a:pPr algn="ctr"/>
                <a:r>
                  <a:rPr kumimoji="0" lang="en-CA" sz="28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Calculation of Friction Factor, </a:t>
                </a:r>
                <a14:m>
                  <m:oMath xmlns:m="http://schemas.openxmlformats.org/officeDocument/2006/math">
                    <m:r>
                      <a:rPr kumimoji="0" lang="en-CA" sz="2800" b="1" i="1" u="none" strike="noStrike" kern="1200" cap="none" spc="0" normalizeH="0" baseline="0" noProof="0" dirty="0">
                        <a:ln>
                          <a:noFill/>
                        </a:ln>
                        <a:solidFill>
                          <a:prstClr val="black"/>
                        </a:solidFill>
                        <a:effectLst/>
                        <a:uLnTx/>
                        <a:uFillTx/>
                        <a:latin typeface="Cambria Math" panose="02040503050406030204" pitchFamily="18" charset="0"/>
                        <a:ea typeface="+mj-ea"/>
                        <a:cs typeface="+mj-cs"/>
                      </a:rPr>
                      <m:t>𝒇</m:t>
                    </m:r>
                  </m:oMath>
                </a14:m>
                <a:endParaRPr lang="en-CA" sz="1800"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38200" y="365125"/>
                <a:ext cx="10515600" cy="463395"/>
              </a:xfrm>
              <a:blipFill>
                <a:blip r:embed="rId2"/>
                <a:stretch>
                  <a:fillRect t="-17105" b="-26316"/>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3177" y="1097579"/>
                <a:ext cx="11364686" cy="5329347"/>
              </a:xfrm>
            </p:spPr>
            <p:txBody>
              <a:bodyPr>
                <a:normAutofit fontScale="92500" lnSpcReduction="20000"/>
              </a:bodyPr>
              <a:lstStyle/>
              <a:p>
                <a:pPr>
                  <a:lnSpc>
                    <a:spcPct val="170000"/>
                  </a:lnSpc>
                  <a:spcBef>
                    <a:spcPts val="600"/>
                  </a:spcBef>
                  <a:spcAft>
                    <a:spcPts val="600"/>
                  </a:spcAft>
                </a:pPr>
                <a:r>
                  <a:rPr lang="en-CA" sz="2400" dirty="0">
                    <a:solidFill>
                      <a:schemeClr val="tx1"/>
                    </a:solidFill>
                    <a:latin typeface="Times New Roman" panose="02020603050405020304" pitchFamily="18" charset="0"/>
                    <a:cs typeface="Times New Roman" panose="02020603050405020304" pitchFamily="18" charset="0"/>
                  </a:rPr>
                  <a:t>For turbulent flow (</a:t>
                </a:r>
                <a14:m>
                  <m:oMath xmlns:m="http://schemas.openxmlformats.org/officeDocument/2006/math">
                    <m:r>
                      <a:rPr lang="en-CA" sz="2400" b="0" i="1" dirty="0">
                        <a:solidFill>
                          <a:schemeClr val="tx1"/>
                        </a:solidFill>
                        <a:latin typeface="Cambria Math" panose="02040503050406030204" pitchFamily="18" charset="0"/>
                      </a:rPr>
                      <m:t>𝑅𝑒</m:t>
                    </m:r>
                    <m:r>
                      <a:rPr lang="en-CA" sz="2400" b="0" i="1" dirty="0">
                        <a:solidFill>
                          <a:schemeClr val="tx1"/>
                        </a:solidFill>
                        <a:latin typeface="Cambria Math" panose="02040503050406030204" pitchFamily="18" charset="0"/>
                      </a:rPr>
                      <m:t>&gt;2300</m:t>
                    </m:r>
                  </m:oMath>
                </a14:m>
                <a:r>
                  <a:rPr lang="en-CA" sz="2400" dirty="0">
                    <a:solidFill>
                      <a:schemeClr val="tx1"/>
                    </a:solidFill>
                    <a:latin typeface="Times New Roman" panose="02020603050405020304" pitchFamily="18" charset="0"/>
                    <a:cs typeface="Times New Roman" panose="02020603050405020304" pitchFamily="18" charset="0"/>
                  </a:rPr>
                  <a:t>), the walls of the pipe may be</a:t>
                </a:r>
              </a:p>
              <a:p>
                <a:pPr lvl="1">
                  <a:lnSpc>
                    <a:spcPct val="170000"/>
                  </a:lnSpc>
                  <a:spcBef>
                    <a:spcPts val="600"/>
                  </a:spcBef>
                  <a:spcAft>
                    <a:spcPts val="600"/>
                  </a:spcAft>
                </a:pPr>
                <a:r>
                  <a:rPr lang="en-CA" dirty="0">
                    <a:solidFill>
                      <a:schemeClr val="tx1"/>
                    </a:solidFill>
                    <a:latin typeface="Times New Roman" panose="02020603050405020304" pitchFamily="18" charset="0"/>
                    <a:cs typeface="Times New Roman" panose="02020603050405020304" pitchFamily="18" charset="0"/>
                  </a:rPr>
                  <a:t>hydraulically smooth </a:t>
                </a:r>
              </a:p>
              <a:p>
                <a:pPr lvl="1">
                  <a:lnSpc>
                    <a:spcPct val="170000"/>
                  </a:lnSpc>
                  <a:spcBef>
                    <a:spcPts val="600"/>
                  </a:spcBef>
                  <a:spcAft>
                    <a:spcPts val="600"/>
                  </a:spcAft>
                </a:pPr>
                <a:r>
                  <a:rPr lang="en-CA" dirty="0">
                    <a:solidFill>
                      <a:schemeClr val="tx1"/>
                    </a:solidFill>
                    <a:latin typeface="Times New Roman" panose="02020603050405020304" pitchFamily="18" charset="0"/>
                    <a:cs typeface="Times New Roman" panose="02020603050405020304" pitchFamily="18" charset="0"/>
                  </a:rPr>
                  <a:t>transitionally rough</a:t>
                </a:r>
              </a:p>
              <a:p>
                <a:pPr lvl="1">
                  <a:lnSpc>
                    <a:spcPct val="170000"/>
                  </a:lnSpc>
                  <a:spcBef>
                    <a:spcPts val="600"/>
                  </a:spcBef>
                  <a:spcAft>
                    <a:spcPts val="600"/>
                  </a:spcAft>
                </a:pPr>
                <a:r>
                  <a:rPr lang="en-CA" dirty="0">
                    <a:solidFill>
                      <a:schemeClr val="tx1"/>
                    </a:solidFill>
                    <a:latin typeface="Times New Roman" panose="02020603050405020304" pitchFamily="18" charset="0"/>
                    <a:cs typeface="Times New Roman" panose="02020603050405020304" pitchFamily="18" charset="0"/>
                  </a:rPr>
                  <a:t>fully rough.</a:t>
                </a:r>
              </a:p>
              <a:p>
                <a:pPr marL="457200" lvl="1" indent="0">
                  <a:lnSpc>
                    <a:spcPct val="170000"/>
                  </a:lnSpc>
                  <a:spcBef>
                    <a:spcPts val="600"/>
                  </a:spcBef>
                  <a:spcAft>
                    <a:spcPts val="600"/>
                  </a:spcAft>
                  <a:buNone/>
                </a:pPr>
                <a:endParaRPr lang="en-CA" dirty="0">
                  <a:solidFill>
                    <a:schemeClr val="tx1"/>
                  </a:solidFill>
                  <a:latin typeface="Times New Roman" panose="02020603050405020304" pitchFamily="18" charset="0"/>
                  <a:cs typeface="Times New Roman" panose="02020603050405020304" pitchFamily="18" charset="0"/>
                </a:endParaRPr>
              </a:p>
              <a:p>
                <a:pPr>
                  <a:lnSpc>
                    <a:spcPct val="170000"/>
                  </a:lnSpc>
                  <a:spcBef>
                    <a:spcPts val="600"/>
                  </a:spcBef>
                  <a:spcAft>
                    <a:spcPts val="600"/>
                  </a:spcAft>
                </a:pPr>
                <a:r>
                  <a:rPr lang="en-CA" sz="2400" dirty="0">
                    <a:solidFill>
                      <a:schemeClr val="tx1"/>
                    </a:solidFill>
                    <a:latin typeface="Times New Roman" panose="02020603050405020304" pitchFamily="18" charset="0"/>
                    <a:cs typeface="Times New Roman" panose="02020603050405020304" pitchFamily="18" charset="0"/>
                  </a:rPr>
                  <a:t>For a turbulent flow over a smooth wall (</a:t>
                </a:r>
                <a14:m>
                  <m:oMath xmlns:m="http://schemas.openxmlformats.org/officeDocument/2006/math">
                    <m:r>
                      <a:rPr lang="en-CA" sz="2400" b="0" i="1" dirty="0">
                        <a:solidFill>
                          <a:schemeClr val="tx1"/>
                        </a:solidFill>
                        <a:latin typeface="Cambria Math" panose="02040503050406030204" pitchFamily="18" charset="0"/>
                      </a:rPr>
                      <m:t>2300&lt;</m:t>
                    </m:r>
                    <m:r>
                      <a:rPr lang="en-CA" sz="2400" b="0" i="1" dirty="0">
                        <a:solidFill>
                          <a:schemeClr val="tx1"/>
                        </a:solidFill>
                        <a:latin typeface="Cambria Math" panose="02040503050406030204" pitchFamily="18" charset="0"/>
                      </a:rPr>
                      <m:t>𝑅𝑒</m:t>
                    </m:r>
                    <m:r>
                      <a:rPr lang="en-CA" sz="2400" b="0" i="1" dirty="0">
                        <a:solidFill>
                          <a:schemeClr val="tx1"/>
                        </a:solidFill>
                        <a:latin typeface="Cambria Math" panose="02040503050406030204" pitchFamily="18" charset="0"/>
                      </a:rPr>
                      <m:t>&lt;</m:t>
                    </m:r>
                    <m:sSup>
                      <m:sSupPr>
                        <m:ctrlPr>
                          <a:rPr lang="en-CA" sz="2400" i="1" dirty="0">
                            <a:solidFill>
                              <a:schemeClr val="tx1"/>
                            </a:solidFill>
                            <a:latin typeface="Cambria Math" panose="02040503050406030204" pitchFamily="18" charset="0"/>
                          </a:rPr>
                        </m:ctrlPr>
                      </m:sSupPr>
                      <m:e>
                        <m:r>
                          <a:rPr lang="en-CA" sz="2400" b="0" i="1" dirty="0">
                            <a:solidFill>
                              <a:schemeClr val="tx1"/>
                            </a:solidFill>
                            <a:latin typeface="Cambria Math" panose="02040503050406030204" pitchFamily="18" charset="0"/>
                          </a:rPr>
                          <m:t>10</m:t>
                        </m:r>
                      </m:e>
                      <m:sup>
                        <m:r>
                          <a:rPr lang="en-CA" sz="2400" b="0" i="1" dirty="0">
                            <a:solidFill>
                              <a:schemeClr val="tx1"/>
                            </a:solidFill>
                            <a:latin typeface="Cambria Math" panose="02040503050406030204" pitchFamily="18" charset="0"/>
                          </a:rPr>
                          <m:t>5</m:t>
                        </m:r>
                      </m:sup>
                    </m:sSup>
                  </m:oMath>
                </a14:m>
                <a:r>
                  <a:rPr lang="en-CA" sz="2400" dirty="0">
                    <a:solidFill>
                      <a:schemeClr val="tx1"/>
                    </a:solidFill>
                    <a:latin typeface="Times New Roman" panose="02020603050405020304" pitchFamily="18" charset="0"/>
                    <a:cs typeface="Times New Roman" panose="02020603050405020304" pitchFamily="18" charset="0"/>
                  </a:rPr>
                  <a:t>)</a:t>
                </a:r>
              </a:p>
              <a:p>
                <a:pPr marL="457200" lvl="1" indent="0">
                  <a:lnSpc>
                    <a:spcPct val="170000"/>
                  </a:lnSpc>
                  <a:spcBef>
                    <a:spcPts val="600"/>
                  </a:spcBef>
                  <a:spcAft>
                    <a:spcPts val="600"/>
                  </a:spcAft>
                  <a:buNone/>
                </a:pPr>
                <a:r>
                  <a:rPr lang="en-CA" dirty="0">
                    <a:solidFill>
                      <a:schemeClr val="tx1"/>
                    </a:solidFill>
                    <a:latin typeface="Times New Roman" panose="02020603050405020304" pitchFamily="18" charset="0"/>
                    <a:cs typeface="Times New Roman" panose="02020603050405020304" pitchFamily="18" charset="0"/>
                  </a:rPr>
                  <a:t>Blasius correlation:</a:t>
                </a:r>
              </a:p>
              <a:p>
                <a:pPr marL="457200" lvl="1" indent="0">
                  <a:lnSpc>
                    <a:spcPct val="170000"/>
                  </a:lnSpc>
                  <a:spcBef>
                    <a:spcPts val="0"/>
                  </a:spcBef>
                  <a:spcAft>
                    <a:spcPts val="600"/>
                  </a:spcAft>
                  <a:buNone/>
                </a:pPr>
                <a14:m>
                  <m:oMathPara xmlns:m="http://schemas.openxmlformats.org/officeDocument/2006/math">
                    <m:oMathParaPr>
                      <m:jc m:val="centerGroup"/>
                    </m:oMathParaPr>
                    <m:oMath xmlns:m="http://schemas.openxmlformats.org/officeDocument/2006/math">
                      <m:r>
                        <a:rPr lang="en-CA" b="0" i="1" dirty="0">
                          <a:solidFill>
                            <a:schemeClr val="tx1"/>
                          </a:solidFill>
                          <a:latin typeface="Cambria Math" panose="02040503050406030204" pitchFamily="18" charset="0"/>
                        </a:rPr>
                        <m:t>𝑓</m:t>
                      </m:r>
                      <m:r>
                        <a:rPr lang="en-CA" b="0" i="1" dirty="0">
                          <a:solidFill>
                            <a:schemeClr val="tx1"/>
                          </a:solidFill>
                          <a:latin typeface="Cambria Math" panose="02040503050406030204" pitchFamily="18" charset="0"/>
                        </a:rPr>
                        <m:t>=0.3164</m:t>
                      </m:r>
                      <m:sSup>
                        <m:sSupPr>
                          <m:ctrlPr>
                            <a:rPr lang="en-CA" i="1" dirty="0">
                              <a:solidFill>
                                <a:schemeClr val="tx1"/>
                              </a:solidFill>
                              <a:latin typeface="Cambria Math" panose="02040503050406030204" pitchFamily="18" charset="0"/>
                            </a:rPr>
                          </m:ctrlPr>
                        </m:sSupPr>
                        <m:e>
                          <m:r>
                            <a:rPr lang="en-CA" b="0" i="1" dirty="0">
                              <a:solidFill>
                                <a:schemeClr val="tx1"/>
                              </a:solidFill>
                              <a:latin typeface="Cambria Math" panose="02040503050406030204" pitchFamily="18" charset="0"/>
                            </a:rPr>
                            <m:t>𝑅𝑒</m:t>
                          </m:r>
                          <m:r>
                            <m:rPr>
                              <m:nor/>
                            </m:rPr>
                            <a:rPr lang="en-CA" dirty="0">
                              <a:solidFill>
                                <a:schemeClr val="tx1"/>
                              </a:solidFill>
                              <a:latin typeface="Times New Roman" panose="02020603050405020304" pitchFamily="18" charset="0"/>
                              <a:cs typeface="Times New Roman" panose="02020603050405020304" pitchFamily="18" charset="0"/>
                            </a:rPr>
                            <m:t> </m:t>
                          </m:r>
                        </m:e>
                        <m:sup>
                          <m:r>
                            <a:rPr lang="en-CA" b="0" i="1" dirty="0">
                              <a:solidFill>
                                <a:schemeClr val="tx1"/>
                              </a:solidFill>
                              <a:latin typeface="Cambria Math" panose="02040503050406030204" pitchFamily="18" charset="0"/>
                            </a:rPr>
                            <m:t>−0.25</m:t>
                          </m:r>
                        </m:sup>
                      </m:sSup>
                    </m:oMath>
                  </m:oMathPara>
                </a14:m>
                <a:endParaRPr lang="en-CA" dirty="0">
                  <a:solidFill>
                    <a:srgbClr val="FF0000"/>
                  </a:solidFill>
                  <a:latin typeface="Times New Roman" panose="02020603050405020304" pitchFamily="18" charset="0"/>
                  <a:cs typeface="Times New Roman" panose="02020603050405020304" pitchFamily="18" charset="0"/>
                </a:endParaRPr>
              </a:p>
              <a:p>
                <a:pPr marL="0" indent="0">
                  <a:lnSpc>
                    <a:spcPct val="150000"/>
                  </a:lnSpc>
                  <a:buNone/>
                </a:pPr>
                <a:endParaRPr lang="en-CA" dirty="0">
                  <a:solidFill>
                    <a:srgbClr val="FF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3177" y="1097579"/>
                <a:ext cx="11364686" cy="5329347"/>
              </a:xfrm>
              <a:blipFill>
                <a:blip r:embed="rId3"/>
                <a:stretch>
                  <a:fillRect l="-644"/>
                </a:stretch>
              </a:blipFill>
            </p:spPr>
            <p:txBody>
              <a:bodyPr/>
              <a:lstStyle/>
              <a:p>
                <a:r>
                  <a:rPr lang="en-GH">
                    <a:noFill/>
                  </a:rPr>
                  <a:t> </a:t>
                </a:r>
              </a:p>
            </p:txBody>
          </p:sp>
        </mc:Fallback>
      </mc:AlternateContent>
    </p:spTree>
    <p:extLst>
      <p:ext uri="{BB962C8B-B14F-4D97-AF65-F5344CB8AC3E}">
        <p14:creationId xmlns:p14="http://schemas.microsoft.com/office/powerpoint/2010/main" val="34814402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733697" y="88249"/>
                <a:ext cx="10515600" cy="463395"/>
              </a:xfrm>
            </p:spPr>
            <p:txBody>
              <a:bodyPr>
                <a:normAutofit fontScale="90000"/>
              </a:bodyPr>
              <a:lstStyle/>
              <a:p>
                <a:pPr algn="ctr"/>
                <a:r>
                  <a:rPr kumimoji="0" lang="en-CA" sz="28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Calculation of Friction Factor, </a:t>
                </a:r>
                <a14:m>
                  <m:oMath xmlns:m="http://schemas.openxmlformats.org/officeDocument/2006/math">
                    <m:r>
                      <a:rPr kumimoji="0" lang="en-CA" sz="2800" b="1" i="1" u="none" strike="noStrike" kern="1200" cap="none" spc="0" normalizeH="0" baseline="0" noProof="0" dirty="0">
                        <a:ln>
                          <a:noFill/>
                        </a:ln>
                        <a:solidFill>
                          <a:prstClr val="black"/>
                        </a:solidFill>
                        <a:effectLst/>
                        <a:uLnTx/>
                        <a:uFillTx/>
                        <a:latin typeface="Cambria Math" panose="02040503050406030204" pitchFamily="18" charset="0"/>
                        <a:ea typeface="+mj-ea"/>
                        <a:cs typeface="+mj-cs"/>
                      </a:rPr>
                      <m:t>𝒇</m:t>
                    </m:r>
                  </m:oMath>
                </a14:m>
                <a:endParaRPr lang="en-CA" sz="1800"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733697" y="88249"/>
                <a:ext cx="10515600" cy="463395"/>
              </a:xfrm>
              <a:blipFill>
                <a:blip r:embed="rId2"/>
                <a:stretch>
                  <a:fillRect t="-17105" b="-27632"/>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0492" y="679269"/>
                <a:ext cx="9292046" cy="5712823"/>
              </a:xfrm>
            </p:spPr>
            <p:txBody>
              <a:bodyPr>
                <a:normAutofit fontScale="92500" lnSpcReduction="20000"/>
              </a:bodyPr>
              <a:lstStyle/>
              <a:p>
                <a:pPr>
                  <a:lnSpc>
                    <a:spcPct val="120000"/>
                  </a:lnSpc>
                  <a:spcBef>
                    <a:spcPts val="1200"/>
                  </a:spcBef>
                  <a:spcAft>
                    <a:spcPts val="600"/>
                  </a:spcAft>
                </a:pPr>
                <a:r>
                  <a:rPr lang="en-CA" sz="2600" dirty="0">
                    <a:latin typeface="Times New Roman" panose="02020603050405020304" pitchFamily="18" charset="0"/>
                    <a:cs typeface="Times New Roman" panose="02020603050405020304" pitchFamily="18" charset="0"/>
                  </a:rPr>
                  <a:t>Turbulent flow over transitionally rough or fully rough walls</a:t>
                </a:r>
              </a:p>
              <a:p>
                <a:pPr lvl="1">
                  <a:lnSpc>
                    <a:spcPct val="120000"/>
                  </a:lnSpc>
                  <a:spcBef>
                    <a:spcPts val="1200"/>
                  </a:spcBef>
                  <a:spcAft>
                    <a:spcPts val="600"/>
                  </a:spcAft>
                </a:pPr>
                <a:r>
                  <a:rPr lang="en-CA" sz="2600" dirty="0">
                    <a:latin typeface="Times New Roman" panose="02020603050405020304" pitchFamily="18" charset="0"/>
                    <a:cs typeface="Times New Roman" panose="02020603050405020304" pitchFamily="18" charset="0"/>
                  </a:rPr>
                  <a:t>Colebrook correlation:</a:t>
                </a:r>
              </a:p>
              <a:p>
                <a:pPr marL="0" indent="0" algn="ctr">
                  <a:lnSpc>
                    <a:spcPct val="120000"/>
                  </a:lnSpc>
                  <a:spcBef>
                    <a:spcPts val="1200"/>
                  </a:spcBef>
                  <a:spcAft>
                    <a:spcPts val="600"/>
                  </a:spcAft>
                  <a:buNone/>
                </a:pPr>
                <a:r>
                  <a:rPr lang="en-CA" sz="24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f>
                      <m:fPr>
                        <m:ctrlPr>
                          <a:rPr lang="en-CA" sz="2400" i="1">
                            <a:solidFill>
                              <a:schemeClr val="tx1"/>
                            </a:solidFill>
                            <a:latin typeface="Cambria Math" panose="02040503050406030204" pitchFamily="18" charset="0"/>
                          </a:rPr>
                        </m:ctrlPr>
                      </m:fPr>
                      <m:num>
                        <m:r>
                          <a:rPr lang="en-CA" sz="2400" b="0" i="1" smtClean="0">
                            <a:solidFill>
                              <a:schemeClr val="tx1"/>
                            </a:solidFill>
                            <a:latin typeface="Cambria Math" panose="02040503050406030204" pitchFamily="18" charset="0"/>
                          </a:rPr>
                          <m:t>1</m:t>
                        </m:r>
                      </m:num>
                      <m:den>
                        <m:rad>
                          <m:radPr>
                            <m:degHide m:val="on"/>
                            <m:ctrlPr>
                              <a:rPr lang="en-CA" sz="2400" i="1">
                                <a:solidFill>
                                  <a:schemeClr val="tx1"/>
                                </a:solidFill>
                                <a:latin typeface="Cambria Math" panose="02040503050406030204" pitchFamily="18" charset="0"/>
                              </a:rPr>
                            </m:ctrlPr>
                          </m:radPr>
                          <m:deg/>
                          <m:e>
                            <m:r>
                              <a:rPr lang="en-CA" sz="2400" b="0" i="1" smtClean="0">
                                <a:solidFill>
                                  <a:schemeClr val="tx1"/>
                                </a:solidFill>
                                <a:latin typeface="Cambria Math" panose="02040503050406030204" pitchFamily="18" charset="0"/>
                              </a:rPr>
                              <m:t>𝑓</m:t>
                            </m:r>
                          </m:e>
                        </m:rad>
                      </m:den>
                    </m:f>
                    <m:r>
                      <a:rPr lang="en-CA" sz="2400" b="0" i="1" smtClean="0">
                        <a:solidFill>
                          <a:schemeClr val="tx1"/>
                        </a:solidFill>
                        <a:latin typeface="Cambria Math" panose="02040503050406030204" pitchFamily="18" charset="0"/>
                      </a:rPr>
                      <m:t>=−2.0</m:t>
                    </m:r>
                    <m:func>
                      <m:funcPr>
                        <m:ctrlPr>
                          <a:rPr lang="en-CA" sz="2400" i="1">
                            <a:solidFill>
                              <a:schemeClr val="tx1"/>
                            </a:solidFill>
                            <a:latin typeface="Cambria Math" panose="02040503050406030204" pitchFamily="18" charset="0"/>
                          </a:rPr>
                        </m:ctrlPr>
                      </m:funcPr>
                      <m:fName>
                        <m:r>
                          <a:rPr lang="en-CA" sz="2400" b="0" i="1" smtClean="0">
                            <a:solidFill>
                              <a:schemeClr val="tx1"/>
                            </a:solidFill>
                            <a:latin typeface="Cambria Math" panose="02040503050406030204" pitchFamily="18" charset="0"/>
                          </a:rPr>
                          <m:t>𝑙𝑜𝑔</m:t>
                        </m:r>
                      </m:fName>
                      <m:e>
                        <m:d>
                          <m:dPr>
                            <m:ctrlPr>
                              <a:rPr lang="en-CA" sz="2400" i="1">
                                <a:solidFill>
                                  <a:schemeClr val="tx1"/>
                                </a:solidFill>
                                <a:latin typeface="Cambria Math" panose="02040503050406030204" pitchFamily="18" charset="0"/>
                              </a:rPr>
                            </m:ctrlPr>
                          </m:dPr>
                          <m:e>
                            <m:f>
                              <m:fPr>
                                <m:ctrlPr>
                                  <a:rPr lang="en-CA" sz="2400" i="1">
                                    <a:solidFill>
                                      <a:schemeClr val="tx1"/>
                                    </a:solidFill>
                                    <a:latin typeface="Cambria Math" panose="02040503050406030204" pitchFamily="18" charset="0"/>
                                  </a:rPr>
                                </m:ctrlPr>
                              </m:fPr>
                              <m:num>
                                <m:r>
                                  <a:rPr lang="en-CA" sz="2400" b="0" i="1" smtClean="0">
                                    <a:solidFill>
                                      <a:schemeClr val="tx1"/>
                                    </a:solidFill>
                                    <a:latin typeface="Cambria Math" panose="02040503050406030204" pitchFamily="18" charset="0"/>
                                  </a:rPr>
                                  <m:t>𝑒</m:t>
                                </m:r>
                                <m:r>
                                  <a:rPr lang="en-CA" sz="2400" b="0" i="1" smtClean="0">
                                    <a:solidFill>
                                      <a:schemeClr val="tx1"/>
                                    </a:solidFill>
                                    <a:latin typeface="Cambria Math" panose="02040503050406030204" pitchFamily="18" charset="0"/>
                                  </a:rPr>
                                  <m:t>/</m:t>
                                </m:r>
                                <m:r>
                                  <a:rPr lang="en-CA" sz="2400" b="0" i="1" smtClean="0">
                                    <a:solidFill>
                                      <a:schemeClr val="tx1"/>
                                    </a:solidFill>
                                    <a:latin typeface="Cambria Math" panose="02040503050406030204" pitchFamily="18" charset="0"/>
                                  </a:rPr>
                                  <m:t>𝐷</m:t>
                                </m:r>
                              </m:num>
                              <m:den>
                                <m:r>
                                  <a:rPr lang="en-CA" sz="2400" b="0" i="1" smtClean="0">
                                    <a:solidFill>
                                      <a:schemeClr val="tx1"/>
                                    </a:solidFill>
                                    <a:latin typeface="Cambria Math" panose="02040503050406030204" pitchFamily="18" charset="0"/>
                                  </a:rPr>
                                  <m:t>3.7</m:t>
                                </m:r>
                              </m:den>
                            </m:f>
                            <m:r>
                              <a:rPr lang="en-CA" sz="2400" b="0" i="1" smtClean="0">
                                <a:solidFill>
                                  <a:schemeClr val="tx1"/>
                                </a:solidFill>
                                <a:latin typeface="Cambria Math" panose="02040503050406030204" pitchFamily="18" charset="0"/>
                              </a:rPr>
                              <m:t>+</m:t>
                            </m:r>
                            <m:f>
                              <m:fPr>
                                <m:ctrlPr>
                                  <a:rPr lang="en-CA" sz="2400" i="1">
                                    <a:solidFill>
                                      <a:schemeClr val="tx1"/>
                                    </a:solidFill>
                                    <a:latin typeface="Cambria Math" panose="02040503050406030204" pitchFamily="18" charset="0"/>
                                  </a:rPr>
                                </m:ctrlPr>
                              </m:fPr>
                              <m:num>
                                <m:r>
                                  <a:rPr lang="en-CA" sz="2400" b="0" i="1" smtClean="0">
                                    <a:solidFill>
                                      <a:schemeClr val="tx1"/>
                                    </a:solidFill>
                                    <a:latin typeface="Cambria Math" panose="02040503050406030204" pitchFamily="18" charset="0"/>
                                  </a:rPr>
                                  <m:t>2.51</m:t>
                                </m:r>
                              </m:num>
                              <m:den>
                                <m:r>
                                  <a:rPr lang="en-CA" sz="2400" b="0" i="1" smtClean="0">
                                    <a:solidFill>
                                      <a:schemeClr val="tx1"/>
                                    </a:solidFill>
                                    <a:latin typeface="Cambria Math" panose="02040503050406030204" pitchFamily="18" charset="0"/>
                                  </a:rPr>
                                  <m:t>𝑅𝑒</m:t>
                                </m:r>
                                <m:rad>
                                  <m:radPr>
                                    <m:degHide m:val="on"/>
                                    <m:ctrlPr>
                                      <a:rPr lang="en-CA" sz="2400" i="1">
                                        <a:solidFill>
                                          <a:schemeClr val="tx1"/>
                                        </a:solidFill>
                                        <a:latin typeface="Cambria Math" panose="02040503050406030204" pitchFamily="18" charset="0"/>
                                      </a:rPr>
                                    </m:ctrlPr>
                                  </m:radPr>
                                  <m:deg/>
                                  <m:e>
                                    <m:r>
                                      <a:rPr lang="en-CA" sz="2400" b="0" i="1" smtClean="0">
                                        <a:solidFill>
                                          <a:schemeClr val="tx1"/>
                                        </a:solidFill>
                                        <a:latin typeface="Cambria Math" panose="02040503050406030204" pitchFamily="18" charset="0"/>
                                      </a:rPr>
                                      <m:t>𝑓</m:t>
                                    </m:r>
                                  </m:e>
                                </m:rad>
                              </m:den>
                            </m:f>
                          </m:e>
                        </m:d>
                      </m:e>
                    </m:func>
                  </m:oMath>
                </a14:m>
                <a:endParaRPr lang="en-CA" sz="2400" dirty="0">
                  <a:solidFill>
                    <a:schemeClr val="tx1"/>
                  </a:solidFill>
                  <a:latin typeface="Times New Roman" panose="02020603050405020304" pitchFamily="18" charset="0"/>
                  <a:cs typeface="Times New Roman" panose="02020603050405020304" pitchFamily="18" charset="0"/>
                </a:endParaRPr>
              </a:p>
              <a:p>
                <a:pPr marL="914400" lvl="2" indent="0">
                  <a:lnSpc>
                    <a:spcPct val="120000"/>
                  </a:lnSpc>
                  <a:spcBef>
                    <a:spcPts val="1200"/>
                  </a:spcBef>
                  <a:spcAft>
                    <a:spcPts val="600"/>
                  </a:spcAft>
                  <a:buNone/>
                </a:pPr>
                <a:endParaRPr lang="en-CA" sz="2400" dirty="0">
                  <a:solidFill>
                    <a:schemeClr val="tx1"/>
                  </a:solidFill>
                  <a:latin typeface="Times New Roman" panose="02020603050405020304" pitchFamily="18" charset="0"/>
                  <a:cs typeface="Times New Roman" panose="02020603050405020304" pitchFamily="18" charset="0"/>
                </a:endParaRPr>
              </a:p>
              <a:p>
                <a:pPr marL="914400" lvl="2" indent="0">
                  <a:lnSpc>
                    <a:spcPct val="120000"/>
                  </a:lnSpc>
                  <a:spcBef>
                    <a:spcPts val="1200"/>
                  </a:spcBef>
                  <a:spcAft>
                    <a:spcPts val="600"/>
                  </a:spcAft>
                  <a:buNone/>
                </a:pPr>
                <a14:m>
                  <m:oMathPara xmlns:m="http://schemas.openxmlformats.org/officeDocument/2006/math">
                    <m:oMathParaPr>
                      <m:jc m:val="center"/>
                    </m:oMathParaPr>
                    <m:oMath xmlns:m="http://schemas.openxmlformats.org/officeDocument/2006/math">
                      <m:f>
                        <m:fPr>
                          <m:ctrlPr>
                            <a:rPr lang="en-CA" sz="2400" i="1">
                              <a:solidFill>
                                <a:schemeClr val="tx1"/>
                              </a:solidFill>
                              <a:latin typeface="Cambria Math" panose="02040503050406030204" pitchFamily="18" charset="0"/>
                            </a:rPr>
                          </m:ctrlPr>
                        </m:fPr>
                        <m:num>
                          <m:r>
                            <a:rPr lang="en-CA" sz="2400" b="0" i="1" smtClean="0">
                              <a:solidFill>
                                <a:schemeClr val="tx1"/>
                              </a:solidFill>
                              <a:latin typeface="Cambria Math" panose="02040503050406030204" pitchFamily="18" charset="0"/>
                            </a:rPr>
                            <m:t>1</m:t>
                          </m:r>
                        </m:num>
                        <m:den>
                          <m:rad>
                            <m:radPr>
                              <m:degHide m:val="on"/>
                              <m:ctrlPr>
                                <a:rPr lang="en-CA" sz="2400" i="1">
                                  <a:solidFill>
                                    <a:schemeClr val="tx1"/>
                                  </a:solidFill>
                                  <a:latin typeface="Cambria Math" panose="02040503050406030204" pitchFamily="18" charset="0"/>
                                </a:rPr>
                              </m:ctrlPr>
                            </m:radPr>
                            <m:deg/>
                            <m:e>
                              <m:r>
                                <a:rPr lang="en-CA" sz="2400" b="0" i="1" smtClean="0">
                                  <a:solidFill>
                                    <a:schemeClr val="tx1"/>
                                  </a:solidFill>
                                  <a:latin typeface="Cambria Math" panose="02040503050406030204" pitchFamily="18" charset="0"/>
                                </a:rPr>
                                <m:t>𝑓</m:t>
                              </m:r>
                            </m:e>
                          </m:rad>
                        </m:den>
                      </m:f>
                      <m:r>
                        <a:rPr lang="en-CA" sz="2400" b="0" i="1" smtClean="0">
                          <a:solidFill>
                            <a:schemeClr val="tx1"/>
                          </a:solidFill>
                          <a:latin typeface="Cambria Math" panose="02040503050406030204" pitchFamily="18" charset="0"/>
                        </a:rPr>
                        <m:t>=−1.8</m:t>
                      </m:r>
                      <m:func>
                        <m:funcPr>
                          <m:ctrlPr>
                            <a:rPr lang="en-CA" sz="2400" i="1">
                              <a:solidFill>
                                <a:schemeClr val="tx1"/>
                              </a:solidFill>
                              <a:latin typeface="Cambria Math" panose="02040503050406030204" pitchFamily="18" charset="0"/>
                            </a:rPr>
                          </m:ctrlPr>
                        </m:funcPr>
                        <m:fName>
                          <m:r>
                            <a:rPr lang="en-CA" sz="2400" b="0" i="1" smtClean="0">
                              <a:solidFill>
                                <a:schemeClr val="tx1"/>
                              </a:solidFill>
                              <a:latin typeface="Cambria Math" panose="02040503050406030204" pitchFamily="18" charset="0"/>
                            </a:rPr>
                            <m:t>𝑙𝑜𝑔</m:t>
                          </m:r>
                        </m:fName>
                        <m:e>
                          <m:d>
                            <m:dPr>
                              <m:ctrlPr>
                                <a:rPr lang="en-CA" sz="2400" i="1">
                                  <a:solidFill>
                                    <a:schemeClr val="tx1"/>
                                  </a:solidFill>
                                  <a:latin typeface="Cambria Math" panose="02040503050406030204" pitchFamily="18" charset="0"/>
                                </a:rPr>
                              </m:ctrlPr>
                            </m:dPr>
                            <m:e>
                              <m:sSup>
                                <m:sSupPr>
                                  <m:ctrlPr>
                                    <a:rPr lang="en-CA" sz="2400" i="1">
                                      <a:solidFill>
                                        <a:schemeClr val="tx1"/>
                                      </a:solidFill>
                                      <a:latin typeface="Cambria Math" panose="02040503050406030204" pitchFamily="18" charset="0"/>
                                    </a:rPr>
                                  </m:ctrlPr>
                                </m:sSupPr>
                                <m:e>
                                  <m:d>
                                    <m:dPr>
                                      <m:ctrlPr>
                                        <a:rPr lang="en-CA" sz="2400" i="1">
                                          <a:solidFill>
                                            <a:schemeClr val="tx1"/>
                                          </a:solidFill>
                                          <a:latin typeface="Cambria Math" panose="02040503050406030204" pitchFamily="18" charset="0"/>
                                        </a:rPr>
                                      </m:ctrlPr>
                                    </m:dPr>
                                    <m:e>
                                      <m:f>
                                        <m:fPr>
                                          <m:ctrlPr>
                                            <a:rPr lang="en-CA" sz="2400" i="1">
                                              <a:solidFill>
                                                <a:schemeClr val="tx1"/>
                                              </a:solidFill>
                                              <a:latin typeface="Cambria Math" panose="02040503050406030204" pitchFamily="18" charset="0"/>
                                            </a:rPr>
                                          </m:ctrlPr>
                                        </m:fPr>
                                        <m:num>
                                          <m:r>
                                            <a:rPr lang="en-CA" sz="2400" b="0" i="1" smtClean="0">
                                              <a:solidFill>
                                                <a:schemeClr val="tx1"/>
                                              </a:solidFill>
                                              <a:latin typeface="Cambria Math" panose="02040503050406030204" pitchFamily="18" charset="0"/>
                                            </a:rPr>
                                            <m:t>𝑒</m:t>
                                          </m:r>
                                          <m:r>
                                            <a:rPr lang="en-CA" sz="2400" b="0" i="1" smtClean="0">
                                              <a:solidFill>
                                                <a:schemeClr val="tx1"/>
                                              </a:solidFill>
                                              <a:latin typeface="Cambria Math" panose="02040503050406030204" pitchFamily="18" charset="0"/>
                                            </a:rPr>
                                            <m:t>/</m:t>
                                          </m:r>
                                          <m:r>
                                            <a:rPr lang="en-CA" sz="2400" b="0" i="1" smtClean="0">
                                              <a:solidFill>
                                                <a:schemeClr val="tx1"/>
                                              </a:solidFill>
                                              <a:latin typeface="Cambria Math" panose="02040503050406030204" pitchFamily="18" charset="0"/>
                                            </a:rPr>
                                            <m:t>𝐷</m:t>
                                          </m:r>
                                        </m:num>
                                        <m:den>
                                          <m:r>
                                            <a:rPr lang="en-CA" sz="2400" b="0" i="1" smtClean="0">
                                              <a:solidFill>
                                                <a:schemeClr val="tx1"/>
                                              </a:solidFill>
                                              <a:latin typeface="Cambria Math" panose="02040503050406030204" pitchFamily="18" charset="0"/>
                                            </a:rPr>
                                            <m:t>3.7</m:t>
                                          </m:r>
                                        </m:den>
                                      </m:f>
                                    </m:e>
                                  </m:d>
                                </m:e>
                                <m:sup>
                                  <m:r>
                                    <a:rPr lang="en-CA" sz="2400" b="0" i="1" smtClean="0">
                                      <a:solidFill>
                                        <a:schemeClr val="tx1"/>
                                      </a:solidFill>
                                      <a:latin typeface="Cambria Math" panose="02040503050406030204" pitchFamily="18" charset="0"/>
                                    </a:rPr>
                                    <m:t>1.11</m:t>
                                  </m:r>
                                </m:sup>
                              </m:sSup>
                              <m:r>
                                <a:rPr lang="en-CA" sz="2400" b="0" i="1" smtClean="0">
                                  <a:solidFill>
                                    <a:schemeClr val="tx1"/>
                                  </a:solidFill>
                                  <a:latin typeface="Cambria Math" panose="02040503050406030204" pitchFamily="18" charset="0"/>
                                </a:rPr>
                                <m:t>+</m:t>
                              </m:r>
                              <m:f>
                                <m:fPr>
                                  <m:ctrlPr>
                                    <a:rPr lang="en-CA" sz="2400" i="1">
                                      <a:solidFill>
                                        <a:schemeClr val="tx1"/>
                                      </a:solidFill>
                                      <a:latin typeface="Cambria Math" panose="02040503050406030204" pitchFamily="18" charset="0"/>
                                    </a:rPr>
                                  </m:ctrlPr>
                                </m:fPr>
                                <m:num>
                                  <m:r>
                                    <a:rPr lang="en-CA" sz="2400" b="0" i="1" smtClean="0">
                                      <a:solidFill>
                                        <a:schemeClr val="tx1"/>
                                      </a:solidFill>
                                      <a:latin typeface="Cambria Math" panose="02040503050406030204" pitchFamily="18" charset="0"/>
                                    </a:rPr>
                                    <m:t>6.9</m:t>
                                  </m:r>
                                </m:num>
                                <m:den>
                                  <m:r>
                                    <a:rPr lang="en-CA" sz="2400" b="0" i="1" smtClean="0">
                                      <a:solidFill>
                                        <a:schemeClr val="tx1"/>
                                      </a:solidFill>
                                      <a:latin typeface="Cambria Math" panose="02040503050406030204" pitchFamily="18" charset="0"/>
                                    </a:rPr>
                                    <m:t>𝑅𝑒</m:t>
                                  </m:r>
                                </m:den>
                              </m:f>
                            </m:e>
                          </m:d>
                        </m:e>
                      </m:func>
                    </m:oMath>
                  </m:oMathPara>
                </a14:m>
                <a:endParaRPr lang="en-CA" sz="2400" dirty="0">
                  <a:solidFill>
                    <a:schemeClr val="tx1"/>
                  </a:solidFill>
                  <a:latin typeface="Times New Roman" panose="02020603050405020304" pitchFamily="18" charset="0"/>
                  <a:cs typeface="Times New Roman" panose="02020603050405020304" pitchFamily="18" charset="0"/>
                </a:endParaRPr>
              </a:p>
              <a:p>
                <a:pPr lvl="2">
                  <a:lnSpc>
                    <a:spcPct val="120000"/>
                  </a:lnSpc>
                  <a:spcBef>
                    <a:spcPts val="1200"/>
                  </a:spcBef>
                  <a:spcAft>
                    <a:spcPts val="600"/>
                  </a:spcAft>
                </a:pPr>
                <a:endParaRPr lang="en-CA" sz="2400" dirty="0">
                  <a:solidFill>
                    <a:schemeClr val="tx1"/>
                  </a:solidFill>
                  <a:latin typeface="Times New Roman" panose="02020603050405020304" pitchFamily="18" charset="0"/>
                  <a:cs typeface="Times New Roman" panose="02020603050405020304" pitchFamily="18" charset="0"/>
                </a:endParaRPr>
              </a:p>
              <a:p>
                <a:pPr marL="914400" lvl="2" indent="0">
                  <a:lnSpc>
                    <a:spcPct val="120000"/>
                  </a:lnSpc>
                  <a:spcBef>
                    <a:spcPts val="1200"/>
                  </a:spcBef>
                  <a:spcAft>
                    <a:spcPts val="600"/>
                  </a:spcAft>
                  <a:buNone/>
                </a:pPr>
                <a14:m>
                  <m:oMathPara xmlns:m="http://schemas.openxmlformats.org/officeDocument/2006/math">
                    <m:oMathParaPr>
                      <m:jc m:val="center"/>
                    </m:oMathParaPr>
                    <m:oMath xmlns:m="http://schemas.openxmlformats.org/officeDocument/2006/math">
                      <m:sSub>
                        <m:sSubPr>
                          <m:ctrlPr>
                            <a:rPr lang="en-CA" sz="2400" i="1">
                              <a:solidFill>
                                <a:schemeClr val="tx1"/>
                              </a:solidFill>
                              <a:latin typeface="Cambria Math" panose="02040503050406030204" pitchFamily="18" charset="0"/>
                            </a:rPr>
                          </m:ctrlPr>
                        </m:sSubPr>
                        <m:e>
                          <m:r>
                            <a:rPr lang="en-CA" sz="2400" b="0" i="1" smtClean="0">
                              <a:solidFill>
                                <a:schemeClr val="tx1"/>
                              </a:solidFill>
                              <a:latin typeface="Cambria Math" panose="02040503050406030204" pitchFamily="18" charset="0"/>
                            </a:rPr>
                            <m:t>𝑓</m:t>
                          </m:r>
                        </m:e>
                        <m:sub>
                          <m:r>
                            <a:rPr lang="en-CA" sz="2400" b="0" i="1" smtClean="0">
                              <a:solidFill>
                                <a:schemeClr val="tx1"/>
                              </a:solidFill>
                              <a:latin typeface="Cambria Math" panose="02040503050406030204" pitchFamily="18" charset="0"/>
                            </a:rPr>
                            <m:t>𝑜</m:t>
                          </m:r>
                        </m:sub>
                      </m:sSub>
                      <m:r>
                        <a:rPr lang="en-CA" sz="2400" b="0" i="1" smtClean="0">
                          <a:solidFill>
                            <a:schemeClr val="tx1"/>
                          </a:solidFill>
                          <a:latin typeface="Cambria Math" panose="02040503050406030204" pitchFamily="18" charset="0"/>
                        </a:rPr>
                        <m:t>=0.25</m:t>
                      </m:r>
                      <m:sSup>
                        <m:sSupPr>
                          <m:ctrlPr>
                            <a:rPr lang="en-CA" sz="2400" i="1">
                              <a:solidFill>
                                <a:schemeClr val="tx1"/>
                              </a:solidFill>
                              <a:latin typeface="Cambria Math" panose="02040503050406030204" pitchFamily="18" charset="0"/>
                            </a:rPr>
                          </m:ctrlPr>
                        </m:sSupPr>
                        <m:e>
                          <m:d>
                            <m:dPr>
                              <m:begChr m:val="["/>
                              <m:endChr m:val="]"/>
                              <m:ctrlPr>
                                <a:rPr lang="en-CA" sz="2400" i="1">
                                  <a:solidFill>
                                    <a:schemeClr val="tx1"/>
                                  </a:solidFill>
                                  <a:latin typeface="Cambria Math" panose="02040503050406030204" pitchFamily="18" charset="0"/>
                                </a:rPr>
                              </m:ctrlPr>
                            </m:dPr>
                            <m:e>
                              <m:func>
                                <m:funcPr>
                                  <m:ctrlPr>
                                    <a:rPr lang="en-CA" sz="2400" i="1">
                                      <a:solidFill>
                                        <a:schemeClr val="tx1"/>
                                      </a:solidFill>
                                      <a:latin typeface="Cambria Math" panose="02040503050406030204" pitchFamily="18" charset="0"/>
                                    </a:rPr>
                                  </m:ctrlPr>
                                </m:funcPr>
                                <m:fName>
                                  <m:r>
                                    <a:rPr lang="en-CA" sz="2400" b="0" i="1" smtClean="0">
                                      <a:solidFill>
                                        <a:schemeClr val="tx1"/>
                                      </a:solidFill>
                                      <a:latin typeface="Cambria Math" panose="02040503050406030204" pitchFamily="18" charset="0"/>
                                    </a:rPr>
                                    <m:t>𝑙𝑜𝑔</m:t>
                                  </m:r>
                                </m:fName>
                                <m:e>
                                  <m:d>
                                    <m:dPr>
                                      <m:ctrlPr>
                                        <a:rPr lang="en-CA" sz="2400" i="1">
                                          <a:solidFill>
                                            <a:schemeClr val="tx1"/>
                                          </a:solidFill>
                                          <a:latin typeface="Cambria Math" panose="02040503050406030204" pitchFamily="18" charset="0"/>
                                        </a:rPr>
                                      </m:ctrlPr>
                                    </m:dPr>
                                    <m:e>
                                      <m:f>
                                        <m:fPr>
                                          <m:ctrlPr>
                                            <a:rPr lang="en-CA" sz="2400" i="1">
                                              <a:solidFill>
                                                <a:schemeClr val="tx1"/>
                                              </a:solidFill>
                                              <a:latin typeface="Cambria Math" panose="02040503050406030204" pitchFamily="18" charset="0"/>
                                            </a:rPr>
                                          </m:ctrlPr>
                                        </m:fPr>
                                        <m:num>
                                          <m:r>
                                            <a:rPr lang="en-CA" sz="2400" b="0" i="1" smtClean="0">
                                              <a:solidFill>
                                                <a:schemeClr val="tx1"/>
                                              </a:solidFill>
                                              <a:latin typeface="Cambria Math" panose="02040503050406030204" pitchFamily="18" charset="0"/>
                                            </a:rPr>
                                            <m:t>𝑒</m:t>
                                          </m:r>
                                          <m:r>
                                            <a:rPr lang="en-CA" sz="2400" b="0" i="1" smtClean="0">
                                              <a:solidFill>
                                                <a:schemeClr val="tx1"/>
                                              </a:solidFill>
                                              <a:latin typeface="Cambria Math" panose="02040503050406030204" pitchFamily="18" charset="0"/>
                                            </a:rPr>
                                            <m:t>/</m:t>
                                          </m:r>
                                          <m:r>
                                            <a:rPr lang="en-CA" sz="2400" b="0" i="1" smtClean="0">
                                              <a:solidFill>
                                                <a:schemeClr val="tx1"/>
                                              </a:solidFill>
                                              <a:latin typeface="Cambria Math" panose="02040503050406030204" pitchFamily="18" charset="0"/>
                                            </a:rPr>
                                            <m:t>𝐷</m:t>
                                          </m:r>
                                        </m:num>
                                        <m:den>
                                          <m:r>
                                            <a:rPr lang="en-CA" sz="2400" b="0" i="1" smtClean="0">
                                              <a:solidFill>
                                                <a:schemeClr val="tx1"/>
                                              </a:solidFill>
                                              <a:latin typeface="Cambria Math" panose="02040503050406030204" pitchFamily="18" charset="0"/>
                                            </a:rPr>
                                            <m:t>3.7</m:t>
                                          </m:r>
                                        </m:den>
                                      </m:f>
                                      <m:r>
                                        <a:rPr lang="en-CA" sz="2400" b="0" i="1" smtClean="0">
                                          <a:solidFill>
                                            <a:schemeClr val="tx1"/>
                                          </a:solidFill>
                                          <a:latin typeface="Cambria Math" panose="02040503050406030204" pitchFamily="18" charset="0"/>
                                        </a:rPr>
                                        <m:t>+</m:t>
                                      </m:r>
                                      <m:f>
                                        <m:fPr>
                                          <m:ctrlPr>
                                            <a:rPr lang="en-CA" sz="2400" i="1">
                                              <a:solidFill>
                                                <a:schemeClr val="tx1"/>
                                              </a:solidFill>
                                              <a:latin typeface="Cambria Math" panose="02040503050406030204" pitchFamily="18" charset="0"/>
                                            </a:rPr>
                                          </m:ctrlPr>
                                        </m:fPr>
                                        <m:num>
                                          <m:r>
                                            <a:rPr lang="en-CA" sz="2400" b="0" i="1" smtClean="0">
                                              <a:solidFill>
                                                <a:schemeClr val="tx1"/>
                                              </a:solidFill>
                                              <a:latin typeface="Cambria Math" panose="02040503050406030204" pitchFamily="18" charset="0"/>
                                            </a:rPr>
                                            <m:t>5.74</m:t>
                                          </m:r>
                                        </m:num>
                                        <m:den>
                                          <m:sSup>
                                            <m:sSupPr>
                                              <m:ctrlPr>
                                                <a:rPr lang="en-CA" sz="2400" i="1">
                                                  <a:solidFill>
                                                    <a:schemeClr val="tx1"/>
                                                  </a:solidFill>
                                                  <a:latin typeface="Cambria Math" panose="02040503050406030204" pitchFamily="18" charset="0"/>
                                                </a:rPr>
                                              </m:ctrlPr>
                                            </m:sSupPr>
                                            <m:e>
                                              <m:r>
                                                <a:rPr lang="en-CA" sz="2400" b="0" i="1" smtClean="0">
                                                  <a:solidFill>
                                                    <a:schemeClr val="tx1"/>
                                                  </a:solidFill>
                                                  <a:latin typeface="Cambria Math" panose="02040503050406030204" pitchFamily="18" charset="0"/>
                                                </a:rPr>
                                                <m:t>𝑅𝑒</m:t>
                                              </m:r>
                                            </m:e>
                                            <m:sup>
                                              <m:r>
                                                <a:rPr lang="en-CA" sz="2400" b="0" i="1" smtClean="0">
                                                  <a:solidFill>
                                                    <a:schemeClr val="tx1"/>
                                                  </a:solidFill>
                                                  <a:latin typeface="Cambria Math" panose="02040503050406030204" pitchFamily="18" charset="0"/>
                                                </a:rPr>
                                                <m:t>0.9</m:t>
                                              </m:r>
                                            </m:sup>
                                          </m:sSup>
                                        </m:den>
                                      </m:f>
                                    </m:e>
                                  </m:d>
                                </m:e>
                              </m:func>
                            </m:e>
                          </m:d>
                        </m:e>
                        <m:sup>
                          <m:r>
                            <a:rPr lang="en-CA" sz="2400" b="0" i="1" smtClean="0">
                              <a:solidFill>
                                <a:schemeClr val="tx1"/>
                              </a:solidFill>
                              <a:latin typeface="Cambria Math" panose="02040503050406030204" pitchFamily="18" charset="0"/>
                            </a:rPr>
                            <m:t>−2</m:t>
                          </m:r>
                        </m:sup>
                      </m:sSup>
                    </m:oMath>
                  </m:oMathPara>
                </a14:m>
                <a:endParaRPr lang="en-CA" sz="2400" dirty="0">
                  <a:solidFill>
                    <a:schemeClr val="tx1"/>
                  </a:solidFill>
                  <a:latin typeface="Times New Roman" panose="02020603050405020304" pitchFamily="18" charset="0"/>
                  <a:cs typeface="Times New Roman" panose="02020603050405020304" pitchFamily="18" charset="0"/>
                </a:endParaRPr>
              </a:p>
              <a:p>
                <a:pPr marL="0" indent="0">
                  <a:lnSpc>
                    <a:spcPct val="150000"/>
                  </a:lnSpc>
                  <a:buNone/>
                </a:pPr>
                <a:endParaRPr lang="en-CA" sz="2000" dirty="0">
                  <a:solidFill>
                    <a:srgbClr val="FF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0492" y="679269"/>
                <a:ext cx="9292046" cy="5712823"/>
              </a:xfrm>
              <a:blipFill>
                <a:blip r:embed="rId3"/>
                <a:stretch>
                  <a:fillRect l="-919" t="-853"/>
                </a:stretch>
              </a:blipFill>
            </p:spPr>
            <p:txBody>
              <a:bodyPr/>
              <a:lstStyle/>
              <a:p>
                <a:r>
                  <a:rPr lang="en-GH">
                    <a:noFill/>
                  </a:rPr>
                  <a:t> </a:t>
                </a:r>
              </a:p>
            </p:txBody>
          </p:sp>
        </mc:Fallback>
      </mc:AlternateContent>
      <p:sp>
        <p:nvSpPr>
          <p:cNvPr id="6" name="TextBox 5"/>
          <p:cNvSpPr txBox="1"/>
          <p:nvPr/>
        </p:nvSpPr>
        <p:spPr>
          <a:xfrm>
            <a:off x="8715266" y="2085658"/>
            <a:ext cx="851400" cy="369332"/>
          </a:xfrm>
          <a:prstGeom prst="rect">
            <a:avLst/>
          </a:prstGeom>
          <a:noFill/>
        </p:spPr>
        <p:txBody>
          <a:bodyPr wrap="square" rtlCol="0">
            <a:spAutoFit/>
          </a:bodyPr>
          <a:lstStyle/>
          <a:p>
            <a:r>
              <a:rPr lang="en-CA" dirty="0">
                <a:latin typeface="Myriad Web Pro"/>
              </a:rPr>
              <a:t>[1]</a:t>
            </a:r>
          </a:p>
        </p:txBody>
      </p:sp>
      <p:sp>
        <p:nvSpPr>
          <p:cNvPr id="7" name="TextBox 6"/>
          <p:cNvSpPr txBox="1"/>
          <p:nvPr/>
        </p:nvSpPr>
        <p:spPr>
          <a:xfrm>
            <a:off x="8715266" y="3676713"/>
            <a:ext cx="851400" cy="369332"/>
          </a:xfrm>
          <a:prstGeom prst="rect">
            <a:avLst/>
          </a:prstGeom>
          <a:noFill/>
        </p:spPr>
        <p:txBody>
          <a:bodyPr wrap="square" rtlCol="0">
            <a:spAutoFit/>
          </a:bodyPr>
          <a:lstStyle/>
          <a:p>
            <a:r>
              <a:rPr lang="en-CA" dirty="0">
                <a:latin typeface="Myriad Web Pro"/>
              </a:rPr>
              <a:t>[2]</a:t>
            </a:r>
          </a:p>
        </p:txBody>
      </p:sp>
      <p:sp>
        <p:nvSpPr>
          <p:cNvPr id="8" name="TextBox 7"/>
          <p:cNvSpPr txBox="1"/>
          <p:nvPr/>
        </p:nvSpPr>
        <p:spPr>
          <a:xfrm>
            <a:off x="8715266" y="5471265"/>
            <a:ext cx="851399" cy="369332"/>
          </a:xfrm>
          <a:prstGeom prst="rect">
            <a:avLst/>
          </a:prstGeom>
          <a:noFill/>
        </p:spPr>
        <p:txBody>
          <a:bodyPr wrap="square" rtlCol="0">
            <a:spAutoFit/>
          </a:bodyPr>
          <a:lstStyle/>
          <a:p>
            <a:r>
              <a:rPr lang="en-CA" dirty="0">
                <a:latin typeface="Myriad Web Pro"/>
              </a:rPr>
              <a:t>[3]</a:t>
            </a:r>
          </a:p>
        </p:txBody>
      </p:sp>
    </p:spTree>
    <p:extLst>
      <p:ext uri="{BB962C8B-B14F-4D97-AF65-F5344CB8AC3E}">
        <p14:creationId xmlns:p14="http://schemas.microsoft.com/office/powerpoint/2010/main" val="11854803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703" y="130360"/>
            <a:ext cx="10709366" cy="422810"/>
          </a:xfrm>
        </p:spPr>
        <p:txBody>
          <a:bodyPr>
            <a:normAutofit fontScale="90000"/>
          </a:bodyPr>
          <a:lstStyle/>
          <a:p>
            <a:pPr algn="ctr"/>
            <a:r>
              <a:rPr kumimoji="0" lang="en-CA" sz="28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Calculation of Friction Factor (Moody Chart)</a:t>
            </a:r>
            <a:endParaRPr lang="en-CA" sz="18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74468" y="623524"/>
                <a:ext cx="9588137" cy="517891"/>
              </a:xfrm>
            </p:spPr>
            <p:txBody>
              <a:bodyPr>
                <a:noAutofit/>
              </a:bodyPr>
              <a:lstStyle/>
              <a:p>
                <a:r>
                  <a:rPr lang="en-CA" sz="2400" dirty="0">
                    <a:latin typeface="Times New Roman" panose="02020603050405020304" pitchFamily="18" charset="0"/>
                    <a:cs typeface="Times New Roman" panose="02020603050405020304" pitchFamily="18" charset="0"/>
                  </a:rPr>
                  <a:t>The moody chart can also be used to determine the friction factor, </a:t>
                </a:r>
                <a14:m>
                  <m:oMath xmlns:m="http://schemas.openxmlformats.org/officeDocument/2006/math">
                    <m:r>
                      <a:rPr lang="en-CA" sz="2400" b="0" i="1" dirty="0">
                        <a:latin typeface="Cambria Math" panose="02040503050406030204" pitchFamily="18" charset="0"/>
                      </a:rPr>
                      <m:t>𝑓</m:t>
                    </m:r>
                  </m:oMath>
                </a14:m>
                <a:endParaRPr lang="en-CA" sz="24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74468" y="623524"/>
                <a:ext cx="9588137" cy="517891"/>
              </a:xfrm>
              <a:blipFill>
                <a:blip r:embed="rId3"/>
                <a:stretch>
                  <a:fillRect l="-826" t="-16471" b="-8235"/>
                </a:stretch>
              </a:blipFill>
            </p:spPr>
            <p:txBody>
              <a:bodyPr/>
              <a:lstStyle/>
              <a:p>
                <a:r>
                  <a:rPr lang="en-GH">
                    <a:noFill/>
                  </a:rPr>
                  <a:t> </a:t>
                </a:r>
              </a:p>
            </p:txBody>
          </p:sp>
        </mc:Fallback>
      </mc:AlternateContent>
      <p:grpSp>
        <p:nvGrpSpPr>
          <p:cNvPr id="5" name="Group 4">
            <a:extLst>
              <a:ext uri="{FF2B5EF4-FFF2-40B4-BE49-F238E27FC236}">
                <a16:creationId xmlns:a16="http://schemas.microsoft.com/office/drawing/2014/main" id="{751B5472-CC7C-3E3B-328B-7536E4C8D1E3}"/>
              </a:ext>
            </a:extLst>
          </p:cNvPr>
          <p:cNvGrpSpPr/>
          <p:nvPr/>
        </p:nvGrpSpPr>
        <p:grpSpPr>
          <a:xfrm>
            <a:off x="707572" y="1141414"/>
            <a:ext cx="8488679" cy="5468391"/>
            <a:chOff x="2096217" y="1435471"/>
            <a:chExt cx="7352961" cy="5007569"/>
          </a:xfrm>
        </p:grpSpPr>
        <p:pic>
          <p:nvPicPr>
            <p:cNvPr id="4" name="Picture 3" descr="fig08_13.jpg"/>
            <p:cNvPicPr/>
            <p:nvPr/>
          </p:nvPicPr>
          <p:blipFill>
            <a:blip r:embed="rId4">
              <a:extLst>
                <a:ext uri="{28A0092B-C50C-407E-A947-70E740481C1C}">
                  <a14:useLocalDpi xmlns:a14="http://schemas.microsoft.com/office/drawing/2010/main" val="0"/>
                </a:ext>
              </a:extLst>
            </a:blip>
            <a:srcRect/>
            <a:stretch>
              <a:fillRect/>
            </a:stretch>
          </p:blipFill>
          <p:spPr bwMode="auto">
            <a:xfrm>
              <a:off x="2844801" y="1435471"/>
              <a:ext cx="6604377" cy="4497876"/>
            </a:xfrm>
            <a:prstGeom prst="rect">
              <a:avLst/>
            </a:prstGeom>
            <a:noFill/>
            <a:ln>
              <a:noFill/>
            </a:ln>
          </p:spPr>
        </p:pic>
        <p:cxnSp>
          <p:nvCxnSpPr>
            <p:cNvPr id="6" name="Straight Connector 5"/>
            <p:cNvCxnSpPr/>
            <p:nvPr/>
          </p:nvCxnSpPr>
          <p:spPr>
            <a:xfrm flipH="1" flipV="1">
              <a:off x="3334734" y="1435472"/>
              <a:ext cx="781164" cy="2728603"/>
            </a:xfrm>
            <a:prstGeom prst="line">
              <a:avLst/>
            </a:prstGeom>
            <a:ln w="28575">
              <a:solidFill>
                <a:srgbClr val="00FF00"/>
              </a:solidFill>
            </a:ln>
          </p:spPr>
          <p:style>
            <a:lnRef idx="1">
              <a:schemeClr val="accent1"/>
            </a:lnRef>
            <a:fillRef idx="0">
              <a:schemeClr val="accent1"/>
            </a:fillRef>
            <a:effectRef idx="0">
              <a:schemeClr val="accent1"/>
            </a:effectRef>
            <a:fontRef idx="minor">
              <a:schemeClr val="tx1"/>
            </a:fontRef>
          </p:style>
        </p:cxnSp>
        <p:sp>
          <p:nvSpPr>
            <p:cNvPr id="10" name="Freeform 9"/>
            <p:cNvSpPr/>
            <p:nvPr/>
          </p:nvSpPr>
          <p:spPr>
            <a:xfrm>
              <a:off x="4399263" y="1455241"/>
              <a:ext cx="4472553" cy="3853411"/>
            </a:xfrm>
            <a:custGeom>
              <a:avLst/>
              <a:gdLst>
                <a:gd name="connsiteX0" fmla="*/ 0 w 3985146"/>
                <a:gd name="connsiteY0" fmla="*/ 0 h 3446060"/>
                <a:gd name="connsiteX1" fmla="*/ 1555845 w 3985146"/>
                <a:gd name="connsiteY1" fmla="*/ 1794681 h 3446060"/>
                <a:gd name="connsiteX2" fmla="*/ 3985146 w 3985146"/>
                <a:gd name="connsiteY2" fmla="*/ 3446060 h 3446060"/>
                <a:gd name="connsiteX0" fmla="*/ 0 w 3985146"/>
                <a:gd name="connsiteY0" fmla="*/ 0 h 3446060"/>
                <a:gd name="connsiteX1" fmla="*/ 1555845 w 3985146"/>
                <a:gd name="connsiteY1" fmla="*/ 1794681 h 3446060"/>
                <a:gd name="connsiteX2" fmla="*/ 3985146 w 3985146"/>
                <a:gd name="connsiteY2" fmla="*/ 3446060 h 3446060"/>
                <a:gd name="connsiteX0" fmla="*/ 0 w 3985146"/>
                <a:gd name="connsiteY0" fmla="*/ 0 h 3446060"/>
                <a:gd name="connsiteX1" fmla="*/ 1555845 w 3985146"/>
                <a:gd name="connsiteY1" fmla="*/ 1794681 h 3446060"/>
                <a:gd name="connsiteX2" fmla="*/ 3985146 w 3985146"/>
                <a:gd name="connsiteY2" fmla="*/ 3446060 h 3446060"/>
              </a:gdLst>
              <a:ahLst/>
              <a:cxnLst>
                <a:cxn ang="0">
                  <a:pos x="connsiteX0" y="connsiteY0"/>
                </a:cxn>
                <a:cxn ang="0">
                  <a:pos x="connsiteX1" y="connsiteY1"/>
                </a:cxn>
                <a:cxn ang="0">
                  <a:pos x="connsiteX2" y="connsiteY2"/>
                </a:cxn>
              </a:cxnLst>
              <a:rect l="l" t="t" r="r" b="b"/>
              <a:pathLst>
                <a:path w="3985146" h="3446060">
                  <a:moveTo>
                    <a:pt x="0" y="0"/>
                  </a:moveTo>
                  <a:cubicBezTo>
                    <a:pt x="445827" y="610169"/>
                    <a:pt x="891654" y="1220338"/>
                    <a:pt x="1555845" y="1794681"/>
                  </a:cubicBezTo>
                  <a:cubicBezTo>
                    <a:pt x="2220036" y="2369024"/>
                    <a:pt x="3030939" y="2970664"/>
                    <a:pt x="3985146" y="3446060"/>
                  </a:cubicBezTo>
                </a:path>
              </a:pathLst>
            </a:cu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Freeform 10"/>
            <p:cNvSpPr/>
            <p:nvPr/>
          </p:nvSpPr>
          <p:spPr>
            <a:xfrm>
              <a:off x="4058341" y="2799166"/>
              <a:ext cx="3792265" cy="2707999"/>
            </a:xfrm>
            <a:custGeom>
              <a:avLst/>
              <a:gdLst>
                <a:gd name="connsiteX0" fmla="*/ 0 w 3378994"/>
                <a:gd name="connsiteY0" fmla="*/ 0 h 2421731"/>
                <a:gd name="connsiteX1" fmla="*/ 1864519 w 3378994"/>
                <a:gd name="connsiteY1" fmla="*/ 1571625 h 2421731"/>
                <a:gd name="connsiteX2" fmla="*/ 3378994 w 3378994"/>
                <a:gd name="connsiteY2" fmla="*/ 2421731 h 2421731"/>
                <a:gd name="connsiteX0" fmla="*/ 0 w 3378994"/>
                <a:gd name="connsiteY0" fmla="*/ 0 h 2421731"/>
                <a:gd name="connsiteX1" fmla="*/ 1864519 w 3378994"/>
                <a:gd name="connsiteY1" fmla="*/ 1571625 h 2421731"/>
                <a:gd name="connsiteX2" fmla="*/ 3378994 w 3378994"/>
                <a:gd name="connsiteY2" fmla="*/ 2421731 h 2421731"/>
              </a:gdLst>
              <a:ahLst/>
              <a:cxnLst>
                <a:cxn ang="0">
                  <a:pos x="connsiteX0" y="connsiteY0"/>
                </a:cxn>
                <a:cxn ang="0">
                  <a:pos x="connsiteX1" y="connsiteY1"/>
                </a:cxn>
                <a:cxn ang="0">
                  <a:pos x="connsiteX2" y="connsiteY2"/>
                </a:cxn>
              </a:cxnLst>
              <a:rect l="l" t="t" r="r" b="b"/>
              <a:pathLst>
                <a:path w="3378994" h="2421731">
                  <a:moveTo>
                    <a:pt x="0" y="0"/>
                  </a:moveTo>
                  <a:cubicBezTo>
                    <a:pt x="579238" y="648295"/>
                    <a:pt x="1301353" y="1168003"/>
                    <a:pt x="1864519" y="1571625"/>
                  </a:cubicBezTo>
                  <a:cubicBezTo>
                    <a:pt x="2427685" y="1975247"/>
                    <a:pt x="2903339" y="2198489"/>
                    <a:pt x="3378994" y="2421731"/>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8" name="Straight Connector 7"/>
            <p:cNvCxnSpPr>
              <a:cxnSpLocks/>
            </p:cNvCxnSpPr>
            <p:nvPr/>
          </p:nvCxnSpPr>
          <p:spPr>
            <a:xfrm flipV="1">
              <a:off x="5976966" y="2480441"/>
              <a:ext cx="0" cy="3026724"/>
            </a:xfrm>
            <a:prstGeom prst="line">
              <a:avLst/>
            </a:prstGeom>
            <a:ln w="28575">
              <a:solidFill>
                <a:srgbClr val="00B05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Freeform: Shape 13"/>
            <p:cNvSpPr/>
            <p:nvPr/>
          </p:nvSpPr>
          <p:spPr>
            <a:xfrm>
              <a:off x="5971555" y="3717118"/>
              <a:ext cx="2889288" cy="54107"/>
            </a:xfrm>
            <a:custGeom>
              <a:avLst/>
              <a:gdLst>
                <a:gd name="connsiteX0" fmla="*/ 2889288 w 2889288"/>
                <a:gd name="connsiteY0" fmla="*/ 54107 h 54107"/>
                <a:gd name="connsiteX1" fmla="*/ 551886 w 2889288"/>
                <a:gd name="connsiteY1" fmla="*/ 54107 h 54107"/>
                <a:gd name="connsiteX2" fmla="*/ 0 w 2889288"/>
                <a:gd name="connsiteY2" fmla="*/ 0 h 54107"/>
              </a:gdLst>
              <a:ahLst/>
              <a:cxnLst>
                <a:cxn ang="0">
                  <a:pos x="connsiteX0" y="connsiteY0"/>
                </a:cxn>
                <a:cxn ang="0">
                  <a:pos x="connsiteX1" y="connsiteY1"/>
                </a:cxn>
                <a:cxn ang="0">
                  <a:pos x="connsiteX2" y="connsiteY2"/>
                </a:cxn>
              </a:cxnLst>
              <a:rect l="l" t="t" r="r" b="b"/>
              <a:pathLst>
                <a:path w="2889288" h="54107">
                  <a:moveTo>
                    <a:pt x="2889288" y="54107"/>
                  </a:moveTo>
                  <a:lnTo>
                    <a:pt x="551886" y="54107"/>
                  </a:lnTo>
                  <a:cubicBezTo>
                    <a:pt x="70338" y="45089"/>
                    <a:pt x="35169" y="22544"/>
                    <a:pt x="0" y="0"/>
                  </a:cubicBezTo>
                </a:path>
              </a:pathLst>
            </a:custGeom>
            <a:noFill/>
            <a:ln w="28575">
              <a:solidFill>
                <a:srgbClr val="0000F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8" name="Straight Arrow Connector 17"/>
            <p:cNvCxnSpPr>
              <a:cxnSpLocks/>
            </p:cNvCxnSpPr>
            <p:nvPr/>
          </p:nvCxnSpPr>
          <p:spPr>
            <a:xfrm>
              <a:off x="3277052" y="3727939"/>
              <a:ext cx="2689093" cy="0"/>
            </a:xfrm>
            <a:prstGeom prst="straightConnector1">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3" name="Group 22"/>
            <p:cNvGrpSpPr/>
            <p:nvPr/>
          </p:nvGrpSpPr>
          <p:grpSpPr>
            <a:xfrm>
              <a:off x="4556861" y="6219581"/>
              <a:ext cx="3176606" cy="223459"/>
              <a:chOff x="3032861" y="6219580"/>
              <a:chExt cx="3176606" cy="223459"/>
            </a:xfrm>
          </p:grpSpPr>
          <mc:AlternateContent xmlns:mc="http://schemas.openxmlformats.org/markup-compatibility/2006" xmlns:a14="http://schemas.microsoft.com/office/drawing/2010/main">
            <mc:Choice Requires="a14">
              <p:sp>
                <p:nvSpPr>
                  <p:cNvPr id="21" name="TextBox 20"/>
                  <p:cNvSpPr txBox="1"/>
                  <p:nvPr/>
                </p:nvSpPr>
                <p:spPr>
                  <a:xfrm>
                    <a:off x="3032861" y="6219580"/>
                    <a:ext cx="1119922" cy="22345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CA" sz="1400" b="1" i="1">
                              <a:solidFill>
                                <a:srgbClr val="FF0000"/>
                              </a:solidFill>
                              <a:latin typeface="Cambria Math" panose="02040503050406030204" pitchFamily="18" charset="0"/>
                            </a:rPr>
                            <m:t>𝑹𝒆</m:t>
                          </m:r>
                          <m:r>
                            <a:rPr lang="en-CA" sz="1400" b="1" i="1">
                              <a:solidFill>
                                <a:srgbClr val="FF0000"/>
                              </a:solidFill>
                              <a:latin typeface="Cambria Math" panose="02040503050406030204" pitchFamily="18" charset="0"/>
                            </a:rPr>
                            <m:t>=</m:t>
                          </m:r>
                          <m:r>
                            <a:rPr lang="en-CA" sz="1400" b="1" i="1">
                              <a:solidFill>
                                <a:srgbClr val="FF0000"/>
                              </a:solidFill>
                              <a:latin typeface="Cambria Math" panose="02040503050406030204" pitchFamily="18" charset="0"/>
                            </a:rPr>
                            <m:t>𝟐</m:t>
                          </m:r>
                          <m:r>
                            <a:rPr lang="en-CA" sz="1400" b="1" i="1">
                              <a:solidFill>
                                <a:srgbClr val="FF0000"/>
                              </a:solidFill>
                              <a:latin typeface="Cambria Math" panose="02040503050406030204" pitchFamily="18" charset="0"/>
                            </a:rPr>
                            <m:t>×</m:t>
                          </m:r>
                          <m:sSup>
                            <m:sSupPr>
                              <m:ctrlPr>
                                <a:rPr lang="en-CA" sz="1400" b="1" i="1">
                                  <a:solidFill>
                                    <a:srgbClr val="FF0000"/>
                                  </a:solidFill>
                                  <a:latin typeface="Cambria Math" panose="02040503050406030204" pitchFamily="18" charset="0"/>
                                  <a:ea typeface="Cambria Math" panose="02040503050406030204" pitchFamily="18" charset="0"/>
                                </a:rPr>
                              </m:ctrlPr>
                            </m:sSupPr>
                            <m:e>
                              <m:r>
                                <a:rPr lang="en-CA" sz="1400" b="1" i="1">
                                  <a:solidFill>
                                    <a:srgbClr val="FF0000"/>
                                  </a:solidFill>
                                  <a:latin typeface="Cambria Math" panose="02040503050406030204" pitchFamily="18" charset="0"/>
                                  <a:ea typeface="Cambria Math" panose="02040503050406030204" pitchFamily="18" charset="0"/>
                                </a:rPr>
                                <m:t>𝟏𝟎</m:t>
                              </m:r>
                            </m:e>
                            <m:sup>
                              <m:r>
                                <a:rPr lang="en-CA" sz="1400" b="1" i="1">
                                  <a:solidFill>
                                    <a:srgbClr val="FF0000"/>
                                  </a:solidFill>
                                  <a:latin typeface="Cambria Math" panose="02040503050406030204" pitchFamily="18" charset="0"/>
                                  <a:ea typeface="Cambria Math" panose="02040503050406030204" pitchFamily="18" charset="0"/>
                                </a:rPr>
                                <m:t>𝟓</m:t>
                              </m:r>
                            </m:sup>
                          </m:sSup>
                        </m:oMath>
                      </m:oMathPara>
                    </a14:m>
                    <a:endParaRPr lang="en-CA" sz="1400" b="1" dirty="0">
                      <a:solidFill>
                        <a:srgbClr val="FF0000"/>
                      </a:solidFill>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3032861" y="6219580"/>
                    <a:ext cx="1119922" cy="223459"/>
                  </a:xfrm>
                  <a:prstGeom prst="rect">
                    <a:avLst/>
                  </a:prstGeom>
                  <a:blipFill>
                    <a:blip r:embed="rId5"/>
                    <a:stretch>
                      <a:fillRect l="-3279" r="-1093" b="-8108"/>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5111538" y="6219580"/>
                    <a:ext cx="109792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CA" sz="1400" b="1" i="1">
                              <a:solidFill>
                                <a:srgbClr val="FF0000"/>
                              </a:solidFill>
                              <a:latin typeface="Cambria Math" panose="02040503050406030204" pitchFamily="18" charset="0"/>
                            </a:rPr>
                            <m:t>𝒆</m:t>
                          </m:r>
                          <m:r>
                            <a:rPr lang="en-CA" sz="1400" b="1" i="1">
                              <a:solidFill>
                                <a:srgbClr val="FF0000"/>
                              </a:solidFill>
                              <a:latin typeface="Cambria Math" panose="02040503050406030204" pitchFamily="18" charset="0"/>
                            </a:rPr>
                            <m:t>/</m:t>
                          </m:r>
                          <m:r>
                            <a:rPr lang="en-CA" sz="1400" b="1" i="1">
                              <a:solidFill>
                                <a:srgbClr val="FF0000"/>
                              </a:solidFill>
                              <a:latin typeface="Cambria Math" panose="02040503050406030204" pitchFamily="18" charset="0"/>
                            </a:rPr>
                            <m:t>𝑫</m:t>
                          </m:r>
                          <m:r>
                            <a:rPr lang="en-CA" sz="1400" b="1" i="1">
                              <a:solidFill>
                                <a:srgbClr val="FF0000"/>
                              </a:solidFill>
                              <a:latin typeface="Cambria Math" panose="02040503050406030204" pitchFamily="18" charset="0"/>
                            </a:rPr>
                            <m:t>=</m:t>
                          </m:r>
                          <m:r>
                            <a:rPr lang="en-CA" sz="1400" b="1" i="1">
                              <a:solidFill>
                                <a:srgbClr val="FF0000"/>
                              </a:solidFill>
                              <a:latin typeface="Cambria Math" panose="02040503050406030204" pitchFamily="18" charset="0"/>
                            </a:rPr>
                            <m:t>𝟎</m:t>
                          </m:r>
                          <m:r>
                            <a:rPr lang="en-CA" sz="1400" b="1" i="1">
                              <a:solidFill>
                                <a:srgbClr val="FF0000"/>
                              </a:solidFill>
                              <a:latin typeface="Cambria Math" panose="02040503050406030204" pitchFamily="18" charset="0"/>
                            </a:rPr>
                            <m:t>.</m:t>
                          </m:r>
                          <m:r>
                            <a:rPr lang="en-CA" sz="1400" b="1" i="1">
                              <a:solidFill>
                                <a:srgbClr val="FF0000"/>
                              </a:solidFill>
                              <a:latin typeface="Cambria Math" panose="02040503050406030204" pitchFamily="18" charset="0"/>
                            </a:rPr>
                            <m:t>𝟎𝟎𝟐</m:t>
                          </m:r>
                        </m:oMath>
                      </m:oMathPara>
                    </a14:m>
                    <a:endParaRPr lang="en-CA" sz="1400" b="1" dirty="0">
                      <a:solidFill>
                        <a:srgbClr val="FF0000"/>
                      </a:solidFill>
                    </a:endParaRPr>
                  </a:p>
                </p:txBody>
              </p:sp>
            </mc:Choice>
            <mc:Fallback xmlns="">
              <p:sp>
                <p:nvSpPr>
                  <p:cNvPr id="22" name="TextBox 21"/>
                  <p:cNvSpPr txBox="1">
                    <a:spLocks noRot="1" noChangeAspect="1" noMove="1" noResize="1" noEditPoints="1" noAdjustHandles="1" noChangeArrowheads="1" noChangeShapeType="1" noTextEdit="1"/>
                  </p:cNvSpPr>
                  <p:nvPr/>
                </p:nvSpPr>
                <p:spPr>
                  <a:xfrm>
                    <a:off x="5111538" y="6219580"/>
                    <a:ext cx="1097929" cy="215444"/>
                  </a:xfrm>
                  <a:prstGeom prst="rect">
                    <a:avLst/>
                  </a:prstGeom>
                  <a:blipFill>
                    <a:blip r:embed="rId6"/>
                    <a:stretch>
                      <a:fillRect l="-2222" r="-2778" b="-33333"/>
                    </a:stretch>
                  </a:blipFill>
                </p:spPr>
                <p:txBody>
                  <a:bodyPr/>
                  <a:lstStyle/>
                  <a:p>
                    <a:r>
                      <a:rPr lang="en-CA">
                        <a:noFill/>
                      </a:rPr>
                      <a:t> </a:t>
                    </a:r>
                  </a:p>
                </p:txBody>
              </p:sp>
            </mc:Fallback>
          </mc:AlternateContent>
        </p:grpSp>
        <mc:AlternateContent xmlns:mc="http://schemas.openxmlformats.org/markup-compatibility/2006" xmlns:a14="http://schemas.microsoft.com/office/drawing/2010/main">
          <mc:Choice Requires="a14">
            <p:sp>
              <p:nvSpPr>
                <p:cNvPr id="24" name="TextBox 23"/>
                <p:cNvSpPr txBox="1"/>
                <p:nvPr/>
              </p:nvSpPr>
              <p:spPr>
                <a:xfrm>
                  <a:off x="2096217" y="3684409"/>
                  <a:ext cx="749179"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CA" sz="1200" b="1" i="1">
                            <a:solidFill>
                              <a:srgbClr val="FF0000"/>
                            </a:solidFill>
                            <a:latin typeface="Cambria Math" panose="02040503050406030204" pitchFamily="18" charset="0"/>
                          </a:rPr>
                          <m:t>𝒇</m:t>
                        </m:r>
                        <m:r>
                          <a:rPr lang="en-CA" sz="1200" b="1" i="1">
                            <a:solidFill>
                              <a:srgbClr val="FF0000"/>
                            </a:solidFill>
                            <a:latin typeface="Cambria Math" panose="02040503050406030204" pitchFamily="18" charset="0"/>
                          </a:rPr>
                          <m:t>=</m:t>
                        </m:r>
                        <m:r>
                          <a:rPr lang="en-CA" sz="1200" b="1" i="1">
                            <a:solidFill>
                              <a:srgbClr val="FF0000"/>
                            </a:solidFill>
                            <a:latin typeface="Cambria Math" panose="02040503050406030204" pitchFamily="18" charset="0"/>
                          </a:rPr>
                          <m:t>𝟎</m:t>
                        </m:r>
                        <m:r>
                          <a:rPr lang="en-CA" sz="1200" b="1" i="1">
                            <a:solidFill>
                              <a:srgbClr val="FF0000"/>
                            </a:solidFill>
                            <a:latin typeface="Cambria Math" panose="02040503050406030204" pitchFamily="18" charset="0"/>
                          </a:rPr>
                          <m:t>.</m:t>
                        </m:r>
                        <m:r>
                          <a:rPr lang="en-CA" sz="1200" b="1" i="1">
                            <a:solidFill>
                              <a:srgbClr val="FF0000"/>
                            </a:solidFill>
                            <a:latin typeface="Cambria Math" panose="02040503050406030204" pitchFamily="18" charset="0"/>
                          </a:rPr>
                          <m:t>𝟎𝟐𝟒</m:t>
                        </m:r>
                      </m:oMath>
                    </m:oMathPara>
                  </a14:m>
                  <a:endParaRPr lang="en-CA" sz="1200" b="1" dirty="0">
                    <a:solidFill>
                      <a:srgbClr val="FF0000"/>
                    </a:solidFill>
                  </a:endParaRPr>
                </a:p>
              </p:txBody>
            </p:sp>
          </mc:Choice>
          <mc:Fallback xmlns="">
            <p:sp>
              <p:nvSpPr>
                <p:cNvPr id="24" name="TextBox 23"/>
                <p:cNvSpPr txBox="1">
                  <a:spLocks noRot="1" noChangeAspect="1" noMove="1" noResize="1" noEditPoints="1" noAdjustHandles="1" noChangeArrowheads="1" noChangeShapeType="1" noTextEdit="1"/>
                </p:cNvSpPr>
                <p:nvPr/>
              </p:nvSpPr>
              <p:spPr>
                <a:xfrm>
                  <a:off x="2096217" y="3684409"/>
                  <a:ext cx="749179" cy="184666"/>
                </a:xfrm>
                <a:prstGeom prst="rect">
                  <a:avLst/>
                </a:prstGeom>
                <a:blipFill>
                  <a:blip r:embed="rId7"/>
                  <a:stretch>
                    <a:fillRect t="-3030" b="-21212"/>
                  </a:stretch>
                </a:blipFill>
              </p:spPr>
              <p:txBody>
                <a:bodyPr/>
                <a:lstStyle/>
                <a:p>
                  <a:r>
                    <a:rPr lang="en-GH">
                      <a:noFill/>
                    </a:rPr>
                    <a:t> </a:t>
                  </a:r>
                </a:p>
              </p:txBody>
            </p:sp>
          </mc:Fallback>
        </mc:AlternateContent>
      </p:grpSp>
    </p:spTree>
    <p:extLst>
      <p:ext uri="{BB962C8B-B14F-4D97-AF65-F5344CB8AC3E}">
        <p14:creationId xmlns:p14="http://schemas.microsoft.com/office/powerpoint/2010/main" val="12636569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1867" y="114424"/>
            <a:ext cx="8605275" cy="568940"/>
          </a:xfrm>
        </p:spPr>
        <p:txBody>
          <a:bodyPr>
            <a:normAutofit/>
          </a:bodyPr>
          <a:lstStyle/>
          <a:p>
            <a:pPr algn="ctr"/>
            <a:r>
              <a:rPr kumimoji="0" lang="en-CA" sz="24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Calculation of Friction Factor (Moody Chart)</a:t>
            </a:r>
            <a:endParaRPr lang="en-CA" sz="24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079763" y="709657"/>
                <a:ext cx="7886700" cy="5095413"/>
              </a:xfrm>
            </p:spPr>
            <p:txBody>
              <a:bodyPr>
                <a:normAutofit/>
              </a:bodyPr>
              <a:lstStyle/>
              <a:p>
                <a:r>
                  <a:rPr lang="en-CA" sz="1600" b="1" dirty="0"/>
                  <a:t>Find the friction factor, </a:t>
                </a:r>
                <a14:m>
                  <m:oMath xmlns:m="http://schemas.openxmlformats.org/officeDocument/2006/math">
                    <m:r>
                      <a:rPr lang="en-CA" sz="1600" b="1" i="1" dirty="0">
                        <a:latin typeface="Cambria Math" panose="02040503050406030204" pitchFamily="18" charset="0"/>
                      </a:rPr>
                      <m:t>𝒇</m:t>
                    </m:r>
                  </m:oMath>
                </a14:m>
                <a:r>
                  <a:rPr lang="en-CA" sz="1600" b="1" dirty="0"/>
                  <a:t> for </a:t>
                </a:r>
                <a14:m>
                  <m:oMath xmlns:m="http://schemas.openxmlformats.org/officeDocument/2006/math">
                    <m:r>
                      <a:rPr lang="en-CA" sz="1600" b="1" i="1" dirty="0">
                        <a:latin typeface="Cambria Math" panose="02040503050406030204" pitchFamily="18" charset="0"/>
                      </a:rPr>
                      <m:t>𝑹𝒆</m:t>
                    </m:r>
                    <m:r>
                      <a:rPr lang="en-CA" sz="1600" b="1" i="1" dirty="0">
                        <a:latin typeface="Cambria Math" panose="02040503050406030204" pitchFamily="18" charset="0"/>
                      </a:rPr>
                      <m:t> =</m:t>
                    </m:r>
                    <m:r>
                      <a:rPr lang="en-CA" sz="1600" b="1" i="1" dirty="0">
                        <a:latin typeface="Cambria Math" panose="02040503050406030204" pitchFamily="18" charset="0"/>
                      </a:rPr>
                      <m:t>𝟏</m:t>
                    </m:r>
                    <m:r>
                      <a:rPr lang="en-CA" sz="1600" b="1" i="1" dirty="0">
                        <a:latin typeface="Cambria Math" panose="02040503050406030204" pitchFamily="18" charset="0"/>
                      </a:rPr>
                      <m:t>×</m:t>
                    </m:r>
                    <m:sSup>
                      <m:sSupPr>
                        <m:ctrlPr>
                          <a:rPr lang="en-CA" sz="1600" b="1" i="1" dirty="0">
                            <a:latin typeface="Cambria Math" panose="02040503050406030204" pitchFamily="18" charset="0"/>
                            <a:ea typeface="Cambria Math" panose="02040503050406030204" pitchFamily="18" charset="0"/>
                          </a:rPr>
                        </m:ctrlPr>
                      </m:sSupPr>
                      <m:e>
                        <m:r>
                          <a:rPr lang="en-CA" sz="1600" b="1" i="1" dirty="0">
                            <a:latin typeface="Cambria Math" panose="02040503050406030204" pitchFamily="18" charset="0"/>
                            <a:ea typeface="Cambria Math" panose="02040503050406030204" pitchFamily="18" charset="0"/>
                          </a:rPr>
                          <m:t>𝟏𝟎</m:t>
                        </m:r>
                      </m:e>
                      <m:sup>
                        <m:r>
                          <a:rPr lang="en-CA" sz="1600" b="1" i="1" dirty="0">
                            <a:latin typeface="Cambria Math" panose="02040503050406030204" pitchFamily="18" charset="0"/>
                            <a:ea typeface="Cambria Math" panose="02040503050406030204" pitchFamily="18" charset="0"/>
                          </a:rPr>
                          <m:t>𝟕</m:t>
                        </m:r>
                      </m:sup>
                    </m:sSup>
                  </m:oMath>
                </a14:m>
                <a:r>
                  <a:rPr lang="en-CA" sz="1600" b="1" dirty="0"/>
                  <a:t> and </a:t>
                </a:r>
                <a14:m>
                  <m:oMath xmlns:m="http://schemas.openxmlformats.org/officeDocument/2006/math">
                    <m:r>
                      <a:rPr lang="en-CA" sz="1600" b="1" i="1" dirty="0">
                        <a:latin typeface="Cambria Math" panose="02040503050406030204" pitchFamily="18" charset="0"/>
                      </a:rPr>
                      <m:t>𝒆</m:t>
                    </m:r>
                    <m:r>
                      <a:rPr lang="en-CA" sz="1600" b="1" i="1" dirty="0">
                        <a:latin typeface="Cambria Math" panose="02040503050406030204" pitchFamily="18" charset="0"/>
                      </a:rPr>
                      <m:t>/</m:t>
                    </m:r>
                    <m:r>
                      <a:rPr lang="en-CA" sz="1600" b="1" i="1" dirty="0">
                        <a:latin typeface="Cambria Math" panose="02040503050406030204" pitchFamily="18" charset="0"/>
                      </a:rPr>
                      <m:t>𝑫</m:t>
                    </m:r>
                    <m:r>
                      <a:rPr lang="en-CA" sz="1600" b="1" i="1" dirty="0">
                        <a:latin typeface="Cambria Math" panose="02040503050406030204" pitchFamily="18" charset="0"/>
                      </a:rPr>
                      <m:t> =</m:t>
                    </m:r>
                    <m:r>
                      <a:rPr lang="en-CA" sz="1600" b="1" i="1" dirty="0">
                        <a:latin typeface="Cambria Math" panose="02040503050406030204" pitchFamily="18" charset="0"/>
                      </a:rPr>
                      <m:t>𝟎</m:t>
                    </m:r>
                    <m:r>
                      <a:rPr lang="en-CA" sz="1600" b="1" i="1" dirty="0">
                        <a:latin typeface="Cambria Math" panose="02040503050406030204" pitchFamily="18" charset="0"/>
                      </a:rPr>
                      <m:t>.</m:t>
                    </m:r>
                    <m:r>
                      <a:rPr lang="en-CA" sz="1600" b="1" i="1" dirty="0">
                        <a:latin typeface="Cambria Math" panose="02040503050406030204" pitchFamily="18" charset="0"/>
                      </a:rPr>
                      <m:t>𝟎𝟏</m:t>
                    </m:r>
                    <m:r>
                      <a:rPr lang="en-CA" sz="1600" b="1" i="1" dirty="0">
                        <a:latin typeface="Cambria Math" panose="02040503050406030204" pitchFamily="18" charset="0"/>
                      </a:rPr>
                      <m:t> </m:t>
                    </m:r>
                  </m:oMath>
                </a14:m>
                <a:endParaRPr lang="en-CA" sz="16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079763" y="709657"/>
                <a:ext cx="7886700" cy="5095413"/>
              </a:xfrm>
              <a:blipFill>
                <a:blip r:embed="rId3"/>
                <a:stretch>
                  <a:fillRect l="-309" t="-718"/>
                </a:stretch>
              </a:blipFill>
            </p:spPr>
            <p:txBody>
              <a:bodyPr/>
              <a:lstStyle/>
              <a:p>
                <a:r>
                  <a:rPr lang="en-GH">
                    <a:noFill/>
                  </a:rPr>
                  <a:t> </a:t>
                </a:r>
              </a:p>
            </p:txBody>
          </p:sp>
        </mc:Fallback>
      </mc:AlternateContent>
      <p:pic>
        <p:nvPicPr>
          <p:cNvPr id="4" name="Picture 3" descr="fig08_13.jpg"/>
          <p:cNvPicPr/>
          <p:nvPr/>
        </p:nvPicPr>
        <p:blipFill>
          <a:blip r:embed="rId4">
            <a:extLst>
              <a:ext uri="{28A0092B-C50C-407E-A947-70E740481C1C}">
                <a14:useLocalDpi xmlns:a14="http://schemas.microsoft.com/office/drawing/2010/main" val="0"/>
              </a:ext>
            </a:extLst>
          </a:blip>
          <a:srcRect/>
          <a:stretch>
            <a:fillRect/>
          </a:stretch>
        </p:blipFill>
        <p:spPr bwMode="auto">
          <a:xfrm>
            <a:off x="2199862" y="1219200"/>
            <a:ext cx="8262729" cy="5526157"/>
          </a:xfrm>
          <a:prstGeom prst="rect">
            <a:avLst/>
          </a:prstGeom>
          <a:noFill/>
          <a:ln>
            <a:noFill/>
          </a:ln>
        </p:spPr>
      </p:pic>
    </p:spTree>
    <p:extLst>
      <p:ext uri="{BB962C8B-B14F-4D97-AF65-F5344CB8AC3E}">
        <p14:creationId xmlns:p14="http://schemas.microsoft.com/office/powerpoint/2010/main" val="777132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9251" y="33451"/>
            <a:ext cx="7886700" cy="522844"/>
          </a:xfrm>
        </p:spPr>
        <p:txBody>
          <a:bodyPr>
            <a:normAutofit/>
          </a:bodyPr>
          <a:lstStyle/>
          <a:p>
            <a:pPr algn="ctr"/>
            <a:r>
              <a:rPr kumimoji="0" lang="en-CA" sz="25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Calculation of Friction Factor (Moody Chart)</a:t>
            </a:r>
            <a:endParaRPr lang="en-CA" sz="18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079763" y="709657"/>
                <a:ext cx="7886700" cy="5095413"/>
              </a:xfrm>
            </p:spPr>
            <p:txBody>
              <a:bodyPr>
                <a:normAutofit/>
              </a:bodyPr>
              <a:lstStyle/>
              <a:p>
                <a:r>
                  <a:rPr lang="en-CA" sz="1600" b="1" dirty="0"/>
                  <a:t>Find the friction factor, </a:t>
                </a:r>
                <a14:m>
                  <m:oMath xmlns:m="http://schemas.openxmlformats.org/officeDocument/2006/math">
                    <m:r>
                      <a:rPr lang="en-CA" sz="1600" b="1" i="1" dirty="0">
                        <a:latin typeface="Cambria Math" panose="02040503050406030204" pitchFamily="18" charset="0"/>
                      </a:rPr>
                      <m:t>𝒇</m:t>
                    </m:r>
                  </m:oMath>
                </a14:m>
                <a:r>
                  <a:rPr lang="en-CA" sz="1600" b="1" dirty="0"/>
                  <a:t> for </a:t>
                </a:r>
                <a14:m>
                  <m:oMath xmlns:m="http://schemas.openxmlformats.org/officeDocument/2006/math">
                    <m:r>
                      <a:rPr lang="en-CA" sz="1600" b="1" i="1" dirty="0">
                        <a:latin typeface="Cambria Math" panose="02040503050406030204" pitchFamily="18" charset="0"/>
                      </a:rPr>
                      <m:t>𝑹𝒆</m:t>
                    </m:r>
                    <m:r>
                      <a:rPr lang="en-CA" sz="1600" b="1" i="1" dirty="0">
                        <a:latin typeface="Cambria Math" panose="02040503050406030204" pitchFamily="18" charset="0"/>
                      </a:rPr>
                      <m:t> =</m:t>
                    </m:r>
                    <m:r>
                      <a:rPr lang="en-CA" sz="1600" b="1" i="1" dirty="0">
                        <a:latin typeface="Cambria Math" panose="02040503050406030204" pitchFamily="18" charset="0"/>
                      </a:rPr>
                      <m:t>𝟏</m:t>
                    </m:r>
                    <m:r>
                      <a:rPr lang="en-CA" sz="1600" b="1" i="1" dirty="0">
                        <a:latin typeface="Cambria Math" panose="02040503050406030204" pitchFamily="18" charset="0"/>
                      </a:rPr>
                      <m:t>×</m:t>
                    </m:r>
                    <m:sSup>
                      <m:sSupPr>
                        <m:ctrlPr>
                          <a:rPr lang="en-CA" sz="1600" b="1" i="1" dirty="0">
                            <a:latin typeface="Cambria Math" panose="02040503050406030204" pitchFamily="18" charset="0"/>
                            <a:ea typeface="Cambria Math" panose="02040503050406030204" pitchFamily="18" charset="0"/>
                          </a:rPr>
                        </m:ctrlPr>
                      </m:sSupPr>
                      <m:e>
                        <m:r>
                          <a:rPr lang="en-CA" sz="1600" b="1" i="1" dirty="0">
                            <a:latin typeface="Cambria Math" panose="02040503050406030204" pitchFamily="18" charset="0"/>
                            <a:ea typeface="Cambria Math" panose="02040503050406030204" pitchFamily="18" charset="0"/>
                          </a:rPr>
                          <m:t>𝟏𝟎</m:t>
                        </m:r>
                      </m:e>
                      <m:sup>
                        <m:r>
                          <a:rPr lang="en-CA" sz="1600" b="1" i="1" dirty="0">
                            <a:latin typeface="Cambria Math" panose="02040503050406030204" pitchFamily="18" charset="0"/>
                            <a:ea typeface="Cambria Math" panose="02040503050406030204" pitchFamily="18" charset="0"/>
                          </a:rPr>
                          <m:t>𝟕</m:t>
                        </m:r>
                      </m:sup>
                    </m:sSup>
                  </m:oMath>
                </a14:m>
                <a:r>
                  <a:rPr lang="en-CA" sz="1600" b="1" dirty="0"/>
                  <a:t> and </a:t>
                </a:r>
                <a14:m>
                  <m:oMath xmlns:m="http://schemas.openxmlformats.org/officeDocument/2006/math">
                    <m:r>
                      <a:rPr lang="en-CA" sz="1600" b="1" i="1" dirty="0">
                        <a:latin typeface="Cambria Math" panose="02040503050406030204" pitchFamily="18" charset="0"/>
                      </a:rPr>
                      <m:t>𝒆</m:t>
                    </m:r>
                    <m:r>
                      <a:rPr lang="en-CA" sz="1600" b="1" i="1" dirty="0">
                        <a:latin typeface="Cambria Math" panose="02040503050406030204" pitchFamily="18" charset="0"/>
                      </a:rPr>
                      <m:t>/</m:t>
                    </m:r>
                    <m:r>
                      <a:rPr lang="en-CA" sz="1600" b="1" i="1" dirty="0">
                        <a:latin typeface="Cambria Math" panose="02040503050406030204" pitchFamily="18" charset="0"/>
                      </a:rPr>
                      <m:t>𝑫</m:t>
                    </m:r>
                    <m:r>
                      <a:rPr lang="en-CA" sz="1600" b="1" i="1" dirty="0">
                        <a:latin typeface="Cambria Math" panose="02040503050406030204" pitchFamily="18" charset="0"/>
                      </a:rPr>
                      <m:t> =</m:t>
                    </m:r>
                    <m:r>
                      <a:rPr lang="en-CA" sz="1600" b="1" i="1" dirty="0">
                        <a:latin typeface="Cambria Math" panose="02040503050406030204" pitchFamily="18" charset="0"/>
                      </a:rPr>
                      <m:t>𝟎</m:t>
                    </m:r>
                    <m:r>
                      <a:rPr lang="en-CA" sz="1600" b="1" i="1" dirty="0">
                        <a:latin typeface="Cambria Math" panose="02040503050406030204" pitchFamily="18" charset="0"/>
                      </a:rPr>
                      <m:t>.</m:t>
                    </m:r>
                    <m:r>
                      <a:rPr lang="en-CA" sz="1600" b="1" i="1" dirty="0">
                        <a:latin typeface="Cambria Math" panose="02040503050406030204" pitchFamily="18" charset="0"/>
                      </a:rPr>
                      <m:t>𝟎𝟏</m:t>
                    </m:r>
                    <m:r>
                      <a:rPr lang="en-CA" sz="1600" b="1" i="1" dirty="0">
                        <a:latin typeface="Cambria Math" panose="02040503050406030204" pitchFamily="18" charset="0"/>
                      </a:rPr>
                      <m:t> </m:t>
                    </m:r>
                  </m:oMath>
                </a14:m>
                <a:endParaRPr lang="en-CA" sz="16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079763" y="709657"/>
                <a:ext cx="7886700" cy="5095413"/>
              </a:xfrm>
              <a:blipFill>
                <a:blip r:embed="rId3"/>
                <a:stretch>
                  <a:fillRect l="-309" t="-718"/>
                </a:stretch>
              </a:blipFill>
            </p:spPr>
            <p:txBody>
              <a:bodyPr/>
              <a:lstStyle/>
              <a:p>
                <a:r>
                  <a:rPr lang="en-GH">
                    <a:noFill/>
                  </a:rPr>
                  <a:t> </a:t>
                </a:r>
              </a:p>
            </p:txBody>
          </p:sp>
        </mc:Fallback>
      </mc:AlternateContent>
      <p:pic>
        <p:nvPicPr>
          <p:cNvPr id="4" name="Picture 3" descr="fig08_13.jpg"/>
          <p:cNvPicPr/>
          <p:nvPr/>
        </p:nvPicPr>
        <p:blipFill>
          <a:blip r:embed="rId4">
            <a:extLst>
              <a:ext uri="{28A0092B-C50C-407E-A947-70E740481C1C}">
                <a14:useLocalDpi xmlns:a14="http://schemas.microsoft.com/office/drawing/2010/main" val="0"/>
              </a:ext>
            </a:extLst>
          </a:blip>
          <a:srcRect/>
          <a:stretch>
            <a:fillRect/>
          </a:stretch>
        </p:blipFill>
        <p:spPr bwMode="auto">
          <a:xfrm>
            <a:off x="2199862" y="1219201"/>
            <a:ext cx="7249316" cy="5379219"/>
          </a:xfrm>
          <a:prstGeom prst="rect">
            <a:avLst/>
          </a:prstGeom>
          <a:noFill/>
          <a:ln>
            <a:noFill/>
          </a:ln>
        </p:spPr>
      </p:pic>
      <p:cxnSp>
        <p:nvCxnSpPr>
          <p:cNvPr id="6" name="Straight Arrow Connector 5"/>
          <p:cNvCxnSpPr/>
          <p:nvPr/>
        </p:nvCxnSpPr>
        <p:spPr>
          <a:xfrm flipV="1">
            <a:off x="7613371" y="3107635"/>
            <a:ext cx="6626" cy="2908852"/>
          </a:xfrm>
          <a:prstGeom prst="straightConnector1">
            <a:avLst/>
          </a:prstGeom>
          <a:ln w="28575">
            <a:solidFill>
              <a:srgbClr val="00FF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7613371" y="3107635"/>
            <a:ext cx="1172820" cy="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2643809" y="3107635"/>
            <a:ext cx="4996067"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199863" y="2995752"/>
            <a:ext cx="511679" cy="261610"/>
          </a:xfrm>
          <a:prstGeom prst="rect">
            <a:avLst/>
          </a:prstGeom>
          <a:noFill/>
        </p:spPr>
        <p:txBody>
          <a:bodyPr wrap="none" rtlCol="0">
            <a:spAutoFit/>
          </a:bodyPr>
          <a:lstStyle/>
          <a:p>
            <a:r>
              <a:rPr lang="en-CA" sz="1100" b="1" dirty="0">
                <a:solidFill>
                  <a:srgbClr val="FF0000"/>
                </a:solidFill>
              </a:rPr>
              <a:t>0.038</a:t>
            </a:r>
          </a:p>
        </p:txBody>
      </p:sp>
      <mc:AlternateContent xmlns:mc="http://schemas.openxmlformats.org/markup-compatibility/2006" xmlns:p14="http://schemas.microsoft.com/office/powerpoint/2010/main">
        <mc:Choice Requires="p14">
          <p:contentPart p14:bwMode="auto" r:id="rId5">
            <p14:nvContentPartPr>
              <p14:cNvPr id="5" name="Ink 4"/>
              <p14:cNvContentPartPr/>
              <p14:nvPr/>
            </p14:nvContentPartPr>
            <p14:xfrm>
              <a:off x="7628160" y="3078360"/>
              <a:ext cx="25200" cy="17640"/>
            </p14:xfrm>
          </p:contentPart>
        </mc:Choice>
        <mc:Fallback xmlns="">
          <p:pic>
            <p:nvPicPr>
              <p:cNvPr id="5" name="Ink 4"/>
              <p:cNvPicPr/>
              <p:nvPr/>
            </p:nvPicPr>
            <p:blipFill>
              <a:blip r:embed="rId6"/>
              <a:stretch>
                <a:fillRect/>
              </a:stretch>
            </p:blipFill>
            <p:spPr>
              <a:xfrm>
                <a:off x="7618800" y="3069000"/>
                <a:ext cx="43920" cy="36360"/>
              </a:xfrm>
              <a:prstGeom prst="rect">
                <a:avLst/>
              </a:prstGeom>
            </p:spPr>
          </p:pic>
        </mc:Fallback>
      </mc:AlternateContent>
    </p:spTree>
    <p:extLst>
      <p:ext uri="{BB962C8B-B14F-4D97-AF65-F5344CB8AC3E}">
        <p14:creationId xmlns:p14="http://schemas.microsoft.com/office/powerpoint/2010/main" val="13633037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24000" y="371062"/>
            <a:ext cx="8594178" cy="5479774"/>
          </a:xfrm>
          <a:prstGeom prst="rect">
            <a:avLst/>
          </a:prstGeom>
        </p:spPr>
      </p:pic>
    </p:spTree>
    <p:extLst>
      <p:ext uri="{BB962C8B-B14F-4D97-AF65-F5344CB8AC3E}">
        <p14:creationId xmlns:p14="http://schemas.microsoft.com/office/powerpoint/2010/main" val="12282036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1001486" y="196947"/>
                <a:ext cx="10430692" cy="566692"/>
              </a:xfrm>
            </p:spPr>
            <p:txBody>
              <a:bodyPr>
                <a:normAutofit/>
              </a:bodyPr>
              <a:lstStyle/>
              <a:p>
                <a:pPr algn="ctr"/>
                <a:r>
                  <a:rPr lang="en-CA" sz="2400" b="1" dirty="0">
                    <a:latin typeface="Times New Roman" panose="02020603050405020304" pitchFamily="18" charset="0"/>
                    <a:cs typeface="Times New Roman" panose="02020603050405020304" pitchFamily="18" charset="0"/>
                  </a:rPr>
                  <a:t>Roughness, </a:t>
                </a:r>
                <a14:m>
                  <m:oMath xmlns:m="http://schemas.openxmlformats.org/officeDocument/2006/math">
                    <m:r>
                      <a:rPr lang="en-CA" sz="2400" b="1" i="1" dirty="0">
                        <a:latin typeface="Cambria Math" panose="02040503050406030204" pitchFamily="18" charset="0"/>
                      </a:rPr>
                      <m:t>𝒆</m:t>
                    </m:r>
                  </m:oMath>
                </a14:m>
                <a:endParaRPr lang="en-CA" sz="2400" b="1" dirty="0">
                  <a:latin typeface="Times New Roman" panose="02020603050405020304" pitchFamily="18" charset="0"/>
                  <a:cs typeface="Times New Roman" panose="02020603050405020304" pitchFamily="18" charset="0"/>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1001486" y="196947"/>
                <a:ext cx="10430692" cy="566692"/>
              </a:xfrm>
              <a:blipFill>
                <a:blip r:embed="rId2"/>
                <a:stretch>
                  <a:fillRect t="-2151" b="-11828"/>
                </a:stretch>
              </a:blipFill>
            </p:spPr>
            <p:txBody>
              <a:bodyPr/>
              <a:lstStyle/>
              <a:p>
                <a:r>
                  <a:rPr lang="en-GH">
                    <a:noFill/>
                  </a:rPr>
                  <a:t> </a:t>
                </a:r>
              </a:p>
            </p:txBody>
          </p:sp>
        </mc:Fallback>
      </mc:AlternateContent>
      <p:pic>
        <p:nvPicPr>
          <p:cNvPr id="4" name="Picture 2" descr="Z:\newmedia\Ebook-Novella\Wiley\jira\bcs2793\Fox9e\Work\Image_gallery\Ch08\images\fox_9e_table_08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4666" y="1367045"/>
            <a:ext cx="7182669" cy="4076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p:cNvCxnSpPr/>
          <p:nvPr/>
        </p:nvCxnSpPr>
        <p:spPr>
          <a:xfrm>
            <a:off x="2504666" y="3975652"/>
            <a:ext cx="718266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2504666" y="4273826"/>
            <a:ext cx="7182669" cy="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7679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286"/>
            <a:ext cx="10515600" cy="470898"/>
          </a:xfrm>
        </p:spPr>
        <p:txBody>
          <a:bodyPr>
            <a:normAutofit/>
          </a:bodyPr>
          <a:lstStyle/>
          <a:p>
            <a:pPr algn="ctr"/>
            <a:r>
              <a:rPr lang="en-CA" sz="2400" b="1" dirty="0">
                <a:latin typeface="Times New Roman" panose="02020603050405020304" pitchFamily="18" charset="0"/>
                <a:cs typeface="Times New Roman" panose="02020603050405020304" pitchFamily="18" charset="0"/>
              </a:rPr>
              <a:t>Summary of Major Head Losses</a:t>
            </a:r>
          </a:p>
        </p:txBody>
      </p:sp>
      <mc:AlternateContent xmlns:mc="http://schemas.openxmlformats.org/markup-compatibility/2006" xmlns:a14="http://schemas.microsoft.com/office/drawing/2010/main">
        <mc:Choice Requires="a14">
          <p:sp>
            <p:nvSpPr>
              <p:cNvPr id="4" name="Rectangle 3"/>
              <p:cNvSpPr/>
              <p:nvPr/>
            </p:nvSpPr>
            <p:spPr>
              <a:xfrm>
                <a:off x="4338136" y="1040809"/>
                <a:ext cx="1465401" cy="7037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CA" b="1" i="1" smtClean="0">
                              <a:solidFill>
                                <a:schemeClr val="tx1"/>
                              </a:solidFill>
                              <a:latin typeface="Cambria Math" panose="02040503050406030204" pitchFamily="18" charset="0"/>
                            </a:rPr>
                          </m:ctrlPr>
                        </m:sSubPr>
                        <m:e>
                          <m:r>
                            <a:rPr lang="en-GB" b="1" i="1" smtClean="0">
                              <a:solidFill>
                                <a:schemeClr val="tx1"/>
                              </a:solidFill>
                              <a:latin typeface="Cambria Math" panose="02040503050406030204" pitchFamily="18" charset="0"/>
                            </a:rPr>
                            <m:t>𝑯</m:t>
                          </m:r>
                        </m:e>
                        <m:sub>
                          <m:r>
                            <a:rPr lang="en-CA" b="1" i="1">
                              <a:solidFill>
                                <a:schemeClr val="tx1"/>
                              </a:solidFill>
                              <a:latin typeface="Cambria Math" panose="02040503050406030204" pitchFamily="18" charset="0"/>
                            </a:rPr>
                            <m:t>𝒍</m:t>
                          </m:r>
                        </m:sub>
                      </m:sSub>
                      <m:r>
                        <a:rPr lang="en-CA" b="1" i="1">
                          <a:solidFill>
                            <a:schemeClr val="tx1"/>
                          </a:solidFill>
                          <a:latin typeface="Cambria Math" panose="02040503050406030204" pitchFamily="18" charset="0"/>
                        </a:rPr>
                        <m:t>=</m:t>
                      </m:r>
                      <m:r>
                        <a:rPr lang="en-CA" b="1" i="1">
                          <a:solidFill>
                            <a:schemeClr val="tx1"/>
                          </a:solidFill>
                          <a:latin typeface="Cambria Math" panose="02040503050406030204" pitchFamily="18" charset="0"/>
                        </a:rPr>
                        <m:t>𝒇</m:t>
                      </m:r>
                      <m:f>
                        <m:fPr>
                          <m:ctrlPr>
                            <a:rPr lang="en-CA" b="1" i="1">
                              <a:solidFill>
                                <a:schemeClr val="tx1"/>
                              </a:solidFill>
                              <a:latin typeface="Cambria Math" panose="02040503050406030204" pitchFamily="18" charset="0"/>
                            </a:rPr>
                          </m:ctrlPr>
                        </m:fPr>
                        <m:num>
                          <m:r>
                            <a:rPr lang="en-CA" b="1" i="1">
                              <a:solidFill>
                                <a:schemeClr val="tx1"/>
                              </a:solidFill>
                              <a:latin typeface="Cambria Math" panose="02040503050406030204" pitchFamily="18" charset="0"/>
                            </a:rPr>
                            <m:t>𝑳</m:t>
                          </m:r>
                        </m:num>
                        <m:den>
                          <m:r>
                            <a:rPr lang="en-CA" b="1" i="1">
                              <a:solidFill>
                                <a:schemeClr val="tx1"/>
                              </a:solidFill>
                              <a:latin typeface="Cambria Math" panose="02040503050406030204" pitchFamily="18" charset="0"/>
                            </a:rPr>
                            <m:t>𝑫</m:t>
                          </m:r>
                        </m:den>
                      </m:f>
                      <m:f>
                        <m:fPr>
                          <m:ctrlPr>
                            <a:rPr lang="en-CA" b="1" i="1">
                              <a:solidFill>
                                <a:schemeClr val="tx1"/>
                              </a:solidFill>
                              <a:latin typeface="Cambria Math" panose="02040503050406030204" pitchFamily="18" charset="0"/>
                            </a:rPr>
                          </m:ctrlPr>
                        </m:fPr>
                        <m:num>
                          <m:sSup>
                            <m:sSupPr>
                              <m:ctrlPr>
                                <a:rPr lang="en-CA" b="1" i="1">
                                  <a:solidFill>
                                    <a:schemeClr val="tx1"/>
                                  </a:solidFill>
                                  <a:latin typeface="Cambria Math" panose="02040503050406030204" pitchFamily="18" charset="0"/>
                                </a:rPr>
                              </m:ctrlPr>
                            </m:sSupPr>
                            <m:e>
                              <m:acc>
                                <m:accPr>
                                  <m:chr m:val="̅"/>
                                  <m:ctrlPr>
                                    <a:rPr lang="en-CA" b="1" i="1">
                                      <a:solidFill>
                                        <a:schemeClr val="tx1"/>
                                      </a:solidFill>
                                      <a:latin typeface="Cambria Math" panose="02040503050406030204" pitchFamily="18" charset="0"/>
                                    </a:rPr>
                                  </m:ctrlPr>
                                </m:accPr>
                                <m:e>
                                  <m:r>
                                    <a:rPr lang="en-CA" b="1" i="1">
                                      <a:solidFill>
                                        <a:schemeClr val="tx1"/>
                                      </a:solidFill>
                                      <a:latin typeface="Cambria Math" panose="02040503050406030204" pitchFamily="18" charset="0"/>
                                    </a:rPr>
                                    <m:t>𝑽</m:t>
                                  </m:r>
                                </m:e>
                              </m:acc>
                            </m:e>
                            <m:sup>
                              <m:r>
                                <a:rPr lang="en-CA" b="1" i="1">
                                  <a:solidFill>
                                    <a:schemeClr val="tx1"/>
                                  </a:solidFill>
                                  <a:latin typeface="Cambria Math" panose="02040503050406030204" pitchFamily="18" charset="0"/>
                                </a:rPr>
                                <m:t>𝟐</m:t>
                              </m:r>
                            </m:sup>
                          </m:sSup>
                        </m:num>
                        <m:den>
                          <m:r>
                            <a:rPr lang="en-CA" b="1" i="1">
                              <a:solidFill>
                                <a:schemeClr val="tx1"/>
                              </a:solidFill>
                              <a:latin typeface="Cambria Math" panose="02040503050406030204" pitchFamily="18" charset="0"/>
                            </a:rPr>
                            <m:t>𝟐</m:t>
                          </m:r>
                          <m:r>
                            <a:rPr lang="en-GB" b="1" i="1" smtClean="0">
                              <a:solidFill>
                                <a:schemeClr val="tx1"/>
                              </a:solidFill>
                              <a:latin typeface="Cambria Math" panose="02040503050406030204" pitchFamily="18" charset="0"/>
                            </a:rPr>
                            <m:t>𝒈</m:t>
                          </m:r>
                        </m:den>
                      </m:f>
                    </m:oMath>
                  </m:oMathPara>
                </a14:m>
                <a:endParaRPr lang="en-CA" dirty="0"/>
              </a:p>
            </p:txBody>
          </p:sp>
        </mc:Choice>
        <mc:Fallback xmlns="">
          <p:sp>
            <p:nvSpPr>
              <p:cNvPr id="4" name="Rectangle 3"/>
              <p:cNvSpPr>
                <a:spLocks noRot="1" noChangeAspect="1" noMove="1" noResize="1" noEditPoints="1" noAdjustHandles="1" noChangeArrowheads="1" noChangeShapeType="1" noTextEdit="1"/>
              </p:cNvSpPr>
              <p:nvPr/>
            </p:nvSpPr>
            <p:spPr>
              <a:xfrm>
                <a:off x="4338136" y="1040809"/>
                <a:ext cx="1465401" cy="703782"/>
              </a:xfrm>
              <a:prstGeom prst="rect">
                <a:avLst/>
              </a:prstGeom>
              <a:blipFill>
                <a:blip r:embed="rId2"/>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570815" y="2059953"/>
                <a:ext cx="10337075" cy="2400657"/>
              </a:xfrm>
              <a:prstGeom prst="rect">
                <a:avLst/>
              </a:prstGeom>
              <a:noFill/>
            </p:spPr>
            <p:txBody>
              <a:bodyPr wrap="square" rtlCol="0">
                <a:spAutoFit/>
              </a:bodyPr>
              <a:lstStyle/>
              <a:p>
                <a:pPr marL="342900" indent="-342900">
                  <a:spcAft>
                    <a:spcPts val="1800"/>
                  </a:spcAft>
                  <a:buFont typeface="Wingdings" panose="05000000000000000000" pitchFamily="2" charset="2"/>
                  <a:buChar char="q"/>
                </a:pPr>
                <a:r>
                  <a:rPr lang="en-CA" sz="2400" dirty="0">
                    <a:latin typeface="Times New Roman" panose="02020603050405020304" pitchFamily="18" charset="0"/>
                    <a:cs typeface="Times New Roman" panose="02020603050405020304" pitchFamily="18" charset="0"/>
                  </a:rPr>
                  <a:t>Calculate Reynolds number</a:t>
                </a:r>
              </a:p>
              <a:p>
                <a:pPr marL="342900" indent="-342900">
                  <a:buFont typeface="Wingdings" panose="05000000000000000000" pitchFamily="2" charset="2"/>
                  <a:buChar char="q"/>
                </a:pPr>
                <a:r>
                  <a:rPr lang="en-CA" sz="2400" dirty="0">
                    <a:latin typeface="Times New Roman" panose="02020603050405020304" pitchFamily="18" charset="0"/>
                    <a:cs typeface="Times New Roman" panose="02020603050405020304" pitchFamily="18" charset="0"/>
                  </a:rPr>
                  <a:t>Determine flow regime: Laminar vs Turbulent</a:t>
                </a:r>
              </a:p>
              <a:p>
                <a:pPr marL="742950" lvl="1" indent="-285750">
                  <a:buFont typeface="Arial" panose="020B0604020202020204" pitchFamily="34" charset="0"/>
                  <a:buChar char="•"/>
                </a:pPr>
                <a:r>
                  <a:rPr lang="en-CA" sz="2400" dirty="0">
                    <a:latin typeface="Times New Roman" panose="02020603050405020304" pitchFamily="18" charset="0"/>
                    <a:cs typeface="Times New Roman" panose="02020603050405020304" pitchFamily="18" charset="0"/>
                  </a:rPr>
                  <a:t>If turbulent, determine if surface is smooth or rough</a:t>
                </a:r>
              </a:p>
              <a:p>
                <a:pPr marL="742950" lvl="1" indent="-285750">
                  <a:spcAft>
                    <a:spcPts val="1800"/>
                  </a:spcAft>
                  <a:buFont typeface="Arial" panose="020B0604020202020204" pitchFamily="34" charset="0"/>
                  <a:buChar char="•"/>
                </a:pPr>
                <a:r>
                  <a:rPr lang="en-CA" sz="2400" dirty="0">
                    <a:latin typeface="Times New Roman" panose="02020603050405020304" pitchFamily="18" charset="0"/>
                    <a:cs typeface="Times New Roman" panose="02020603050405020304" pitchFamily="18" charset="0"/>
                  </a:rPr>
                  <a:t>If rough, determine pipe material and determine roughness height</a:t>
                </a:r>
              </a:p>
              <a:p>
                <a:pPr marL="342900" indent="-342900">
                  <a:buFont typeface="Wingdings" panose="05000000000000000000" pitchFamily="2" charset="2"/>
                  <a:buChar char="q"/>
                </a:pPr>
                <a:r>
                  <a:rPr lang="en-CA" sz="2400" dirty="0">
                    <a:latin typeface="Times New Roman" panose="02020603050405020304" pitchFamily="18" charset="0"/>
                    <a:cs typeface="Times New Roman" panose="02020603050405020304" pitchFamily="18" charset="0"/>
                  </a:rPr>
                  <a:t>Determine friction factor, </a:t>
                </a:r>
                <a14:m>
                  <m:oMath xmlns:m="http://schemas.openxmlformats.org/officeDocument/2006/math">
                    <m:r>
                      <a:rPr lang="en-CA" sz="2400" b="0" i="1" smtClean="0">
                        <a:solidFill>
                          <a:srgbClr val="00FF00"/>
                        </a:solidFill>
                        <a:latin typeface="Cambria Math" panose="02040503050406030204" pitchFamily="18" charset="0"/>
                      </a:rPr>
                      <m:t>𝑓</m:t>
                    </m:r>
                    <m:r>
                      <a:rPr lang="en-CA" sz="2400" b="0" i="1" smtClean="0">
                        <a:solidFill>
                          <a:srgbClr val="00FF00"/>
                        </a:solidFill>
                        <a:latin typeface="Cambria Math" panose="02040503050406030204" pitchFamily="18" charset="0"/>
                      </a:rPr>
                      <m:t>, </m:t>
                    </m:r>
                  </m:oMath>
                </a14:m>
                <a:r>
                  <a:rPr lang="en-CA" sz="2400" dirty="0">
                    <a:latin typeface="Times New Roman" panose="02020603050405020304" pitchFamily="18" charset="0"/>
                    <a:cs typeface="Times New Roman" panose="02020603050405020304" pitchFamily="18" charset="0"/>
                  </a:rPr>
                  <a:t>using Moody chart or appropriate correlation </a:t>
                </a:r>
              </a:p>
            </p:txBody>
          </p:sp>
        </mc:Choice>
        <mc:Fallback xmlns="">
          <p:sp>
            <p:nvSpPr>
              <p:cNvPr id="5" name="TextBox 4"/>
              <p:cNvSpPr txBox="1">
                <a:spLocks noRot="1" noChangeAspect="1" noMove="1" noResize="1" noEditPoints="1" noAdjustHandles="1" noChangeArrowheads="1" noChangeShapeType="1" noTextEdit="1"/>
              </p:cNvSpPr>
              <p:nvPr/>
            </p:nvSpPr>
            <p:spPr>
              <a:xfrm>
                <a:off x="570815" y="2059953"/>
                <a:ext cx="10337075" cy="2400657"/>
              </a:xfrm>
              <a:prstGeom prst="rect">
                <a:avLst/>
              </a:prstGeom>
              <a:blipFill>
                <a:blip r:embed="rId3"/>
                <a:stretch>
                  <a:fillRect l="-826" t="-2030" b="-4822"/>
                </a:stretch>
              </a:blipFill>
            </p:spPr>
            <p:txBody>
              <a:bodyPr/>
              <a:lstStyle/>
              <a:p>
                <a:r>
                  <a:rPr lang="en-GH">
                    <a:noFill/>
                  </a:rPr>
                  <a:t> </a:t>
                </a:r>
              </a:p>
            </p:txBody>
          </p:sp>
        </mc:Fallback>
      </mc:AlternateContent>
    </p:spTree>
    <p:extLst>
      <p:ext uri="{BB962C8B-B14F-4D97-AF65-F5344CB8AC3E}">
        <p14:creationId xmlns:p14="http://schemas.microsoft.com/office/powerpoint/2010/main" val="1468193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8479"/>
            <a:ext cx="10515600" cy="581530"/>
          </a:xfrm>
        </p:spPr>
        <p:txBody>
          <a:bodyPr>
            <a:normAutofit/>
          </a:bodyPr>
          <a:lstStyle/>
          <a:p>
            <a:pPr algn="ctr"/>
            <a:r>
              <a:rPr lang="en-CA" sz="2400" b="1" dirty="0">
                <a:latin typeface="Times New Roman" panose="02020603050405020304" pitchFamily="18" charset="0"/>
                <a:cs typeface="Times New Roman" panose="02020603050405020304" pitchFamily="18" charset="0"/>
              </a:rPr>
              <a:t>Calculation of Minor Losses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892990" y="1097579"/>
                <a:ext cx="8406020" cy="4931901"/>
              </a:xfrm>
            </p:spPr>
            <p:txBody>
              <a:bodyPr>
                <a:noAutofit/>
              </a:bodyPr>
              <a:lstStyle/>
              <a:p>
                <a:pPr>
                  <a:lnSpc>
                    <a:spcPct val="150000"/>
                  </a:lnSpc>
                  <a:spcAft>
                    <a:spcPts val="600"/>
                  </a:spcAft>
                </a:pPr>
                <a:r>
                  <a:rPr lang="en-CA" sz="1600" b="1" dirty="0"/>
                  <a:t>Minor head losses are usually expressed in one of the following two ways: </a:t>
                </a:r>
              </a:p>
              <a:p>
                <a:pPr marL="0" indent="0">
                  <a:lnSpc>
                    <a:spcPct val="150000"/>
                  </a:lnSpc>
                  <a:spcAft>
                    <a:spcPts val="600"/>
                  </a:spcAft>
                  <a:buNone/>
                </a:pPr>
                <a14:m>
                  <m:oMathPara xmlns:m="http://schemas.openxmlformats.org/officeDocument/2006/math">
                    <m:oMathParaPr>
                      <m:jc m:val="centerGroup"/>
                    </m:oMathParaPr>
                    <m:oMath xmlns:m="http://schemas.openxmlformats.org/officeDocument/2006/math">
                      <m:sSubSup>
                        <m:sSubSupPr>
                          <m:ctrlPr>
                            <a:rPr lang="en-CA" sz="1600" b="1" i="1" smtClean="0">
                              <a:latin typeface="Cambria Math" panose="02040503050406030204" pitchFamily="18" charset="0"/>
                            </a:rPr>
                          </m:ctrlPr>
                        </m:sSubSupPr>
                        <m:e>
                          <m:r>
                            <a:rPr lang="en-GB" sz="1600" b="1" i="1" smtClean="0">
                              <a:latin typeface="Cambria Math" panose="02040503050406030204" pitchFamily="18" charset="0"/>
                            </a:rPr>
                            <m:t>𝒉</m:t>
                          </m:r>
                        </m:e>
                        <m:sub>
                          <m:r>
                            <a:rPr lang="en-GB" sz="1600" b="1" i="1" smtClean="0">
                              <a:latin typeface="Cambria Math" panose="02040503050406030204" pitchFamily="18" charset="0"/>
                            </a:rPr>
                            <m:t>𝒍𝒎</m:t>
                          </m:r>
                        </m:sub>
                        <m:sup>
                          <m:r>
                            <a:rPr lang="en-GB" sz="1600" b="1" i="1" smtClean="0">
                              <a:latin typeface="Cambria Math" panose="02040503050406030204" pitchFamily="18" charset="0"/>
                            </a:rPr>
                            <m:t>𝒌</m:t>
                          </m:r>
                        </m:sup>
                      </m:sSubSup>
                      <m:r>
                        <a:rPr lang="en-CA" sz="1600" b="1" i="1">
                          <a:latin typeface="Cambria Math" panose="02040503050406030204" pitchFamily="18" charset="0"/>
                        </a:rPr>
                        <m:t>=</m:t>
                      </m:r>
                      <m:r>
                        <a:rPr lang="en-CA" sz="1600" b="1" i="1" smtClean="0">
                          <a:solidFill>
                            <a:schemeClr val="tx1"/>
                          </a:solidFill>
                          <a:latin typeface="Cambria Math" panose="02040503050406030204" pitchFamily="18" charset="0"/>
                        </a:rPr>
                        <m:t>𝑲</m:t>
                      </m:r>
                      <m:f>
                        <m:fPr>
                          <m:ctrlPr>
                            <a:rPr lang="en-CA" sz="1600" b="1" i="1">
                              <a:solidFill>
                                <a:schemeClr val="tx1"/>
                              </a:solidFill>
                              <a:latin typeface="Cambria Math" panose="02040503050406030204" pitchFamily="18" charset="0"/>
                            </a:rPr>
                          </m:ctrlPr>
                        </m:fPr>
                        <m:num>
                          <m:sSup>
                            <m:sSupPr>
                              <m:ctrlPr>
                                <a:rPr lang="en-CA" sz="1600" b="1" i="1">
                                  <a:solidFill>
                                    <a:schemeClr val="tx1"/>
                                  </a:solidFill>
                                  <a:latin typeface="Cambria Math" panose="02040503050406030204" pitchFamily="18" charset="0"/>
                                </a:rPr>
                              </m:ctrlPr>
                            </m:sSupPr>
                            <m:e>
                              <m:acc>
                                <m:accPr>
                                  <m:chr m:val="̅"/>
                                  <m:ctrlPr>
                                    <a:rPr lang="en-CA" sz="1600" b="1" i="1">
                                      <a:solidFill>
                                        <a:schemeClr val="tx1"/>
                                      </a:solidFill>
                                      <a:latin typeface="Cambria Math" panose="02040503050406030204" pitchFamily="18" charset="0"/>
                                    </a:rPr>
                                  </m:ctrlPr>
                                </m:accPr>
                                <m:e>
                                  <m:r>
                                    <a:rPr lang="en-CA" sz="1600" b="1" i="1">
                                      <a:solidFill>
                                        <a:schemeClr val="tx1"/>
                                      </a:solidFill>
                                      <a:latin typeface="Cambria Math" panose="02040503050406030204" pitchFamily="18" charset="0"/>
                                    </a:rPr>
                                    <m:t>𝑽</m:t>
                                  </m:r>
                                </m:e>
                              </m:acc>
                            </m:e>
                            <m:sup>
                              <m:r>
                                <a:rPr lang="en-CA" sz="1600" b="1" i="1">
                                  <a:solidFill>
                                    <a:schemeClr val="tx1"/>
                                  </a:solidFill>
                                  <a:latin typeface="Cambria Math" panose="02040503050406030204" pitchFamily="18" charset="0"/>
                                </a:rPr>
                                <m:t>𝟐</m:t>
                              </m:r>
                            </m:sup>
                          </m:sSup>
                        </m:num>
                        <m:den>
                          <m:r>
                            <a:rPr lang="en-CA" sz="1600" b="1" i="1">
                              <a:solidFill>
                                <a:schemeClr val="tx1"/>
                              </a:solidFill>
                              <a:latin typeface="Cambria Math" panose="02040503050406030204" pitchFamily="18" charset="0"/>
                            </a:rPr>
                            <m:t>𝟐</m:t>
                          </m:r>
                        </m:den>
                      </m:f>
                    </m:oMath>
                  </m:oMathPara>
                </a14:m>
                <a:endParaRPr lang="en-CA" sz="1600" b="1" dirty="0"/>
              </a:p>
              <a:p>
                <a:pPr marL="0" indent="0">
                  <a:lnSpc>
                    <a:spcPct val="150000"/>
                  </a:lnSpc>
                  <a:spcAft>
                    <a:spcPts val="600"/>
                  </a:spcAft>
                  <a:buNone/>
                </a:pPr>
                <a:r>
                  <a:rPr lang="en-CA" sz="1600" b="1" dirty="0"/>
                  <a:t>where </a:t>
                </a:r>
                <a14:m>
                  <m:oMath xmlns:m="http://schemas.openxmlformats.org/officeDocument/2006/math">
                    <m:r>
                      <a:rPr lang="en-CA" sz="1600" b="1" i="1" dirty="0">
                        <a:solidFill>
                          <a:srgbClr val="FF0000"/>
                        </a:solidFill>
                        <a:latin typeface="Cambria Math" panose="02040503050406030204" pitchFamily="18" charset="0"/>
                      </a:rPr>
                      <m:t>𝑲</m:t>
                    </m:r>
                  </m:oMath>
                </a14:m>
                <a:r>
                  <a:rPr lang="en-CA" sz="1600" b="1" dirty="0"/>
                  <a:t> is the loss coefficient.</a:t>
                </a:r>
              </a:p>
              <a:p>
                <a:pPr marL="0" indent="0">
                  <a:lnSpc>
                    <a:spcPct val="150000"/>
                  </a:lnSpc>
                  <a:spcAft>
                    <a:spcPts val="600"/>
                  </a:spcAft>
                  <a:buNone/>
                </a:pPr>
                <a14:m>
                  <m:oMathPara xmlns:m="http://schemas.openxmlformats.org/officeDocument/2006/math">
                    <m:oMathParaPr>
                      <m:jc m:val="centerGroup"/>
                    </m:oMathParaPr>
                    <m:oMath xmlns:m="http://schemas.openxmlformats.org/officeDocument/2006/math">
                      <m:sSubSup>
                        <m:sSubSupPr>
                          <m:ctrlPr>
                            <a:rPr lang="en-CA" sz="1600" b="1" i="1">
                              <a:latin typeface="Cambria Math" panose="02040503050406030204" pitchFamily="18" charset="0"/>
                            </a:rPr>
                          </m:ctrlPr>
                        </m:sSubSupPr>
                        <m:e>
                          <m:r>
                            <a:rPr lang="en-GB" sz="1600" b="1" i="1">
                              <a:latin typeface="Cambria Math" panose="02040503050406030204" pitchFamily="18" charset="0"/>
                            </a:rPr>
                            <m:t>𝒉</m:t>
                          </m:r>
                        </m:e>
                        <m:sub>
                          <m:r>
                            <a:rPr lang="en-GB" sz="1600" b="1" i="1">
                              <a:latin typeface="Cambria Math" panose="02040503050406030204" pitchFamily="18" charset="0"/>
                            </a:rPr>
                            <m:t>𝒍𝒎</m:t>
                          </m:r>
                        </m:sub>
                        <m:sup>
                          <m:r>
                            <a:rPr lang="en-GB" sz="1600" b="1" i="1">
                              <a:latin typeface="Cambria Math" panose="02040503050406030204" pitchFamily="18" charset="0"/>
                            </a:rPr>
                            <m:t>𝒌</m:t>
                          </m:r>
                        </m:sup>
                      </m:sSubSup>
                      <m:r>
                        <a:rPr lang="en-CA" sz="1600" b="1" i="1">
                          <a:latin typeface="Cambria Math" panose="02040503050406030204" pitchFamily="18" charset="0"/>
                        </a:rPr>
                        <m:t>=</m:t>
                      </m:r>
                      <m:r>
                        <a:rPr lang="en-CA" sz="1600" b="1" i="1" smtClean="0">
                          <a:solidFill>
                            <a:schemeClr val="tx1"/>
                          </a:solidFill>
                          <a:latin typeface="Cambria Math" panose="02040503050406030204" pitchFamily="18" charset="0"/>
                        </a:rPr>
                        <m:t>𝒇</m:t>
                      </m:r>
                      <m:f>
                        <m:fPr>
                          <m:ctrlPr>
                            <a:rPr lang="en-CA" sz="1600" b="1" i="1">
                              <a:solidFill>
                                <a:schemeClr val="tx1"/>
                              </a:solidFill>
                              <a:latin typeface="Cambria Math" panose="02040503050406030204" pitchFamily="18" charset="0"/>
                            </a:rPr>
                          </m:ctrlPr>
                        </m:fPr>
                        <m:num>
                          <m:sSub>
                            <m:sSubPr>
                              <m:ctrlPr>
                                <a:rPr lang="en-CA" sz="1600" b="1" i="1">
                                  <a:solidFill>
                                    <a:schemeClr val="tx1"/>
                                  </a:solidFill>
                                  <a:latin typeface="Cambria Math" panose="02040503050406030204" pitchFamily="18" charset="0"/>
                                </a:rPr>
                              </m:ctrlPr>
                            </m:sSubPr>
                            <m:e>
                              <m:r>
                                <a:rPr lang="en-CA" sz="1600" b="1" i="1">
                                  <a:solidFill>
                                    <a:schemeClr val="tx1"/>
                                  </a:solidFill>
                                  <a:latin typeface="Cambria Math" panose="02040503050406030204" pitchFamily="18" charset="0"/>
                                </a:rPr>
                                <m:t>𝑳</m:t>
                              </m:r>
                            </m:e>
                            <m:sub>
                              <m:r>
                                <a:rPr lang="en-CA" sz="1600" b="1" i="1">
                                  <a:solidFill>
                                    <a:schemeClr val="tx1"/>
                                  </a:solidFill>
                                  <a:latin typeface="Cambria Math" panose="02040503050406030204" pitchFamily="18" charset="0"/>
                                </a:rPr>
                                <m:t>𝒆</m:t>
                              </m:r>
                            </m:sub>
                          </m:sSub>
                        </m:num>
                        <m:den>
                          <m:r>
                            <a:rPr lang="en-CA" sz="1600" b="1" i="1">
                              <a:solidFill>
                                <a:schemeClr val="tx1"/>
                              </a:solidFill>
                              <a:latin typeface="Cambria Math" panose="02040503050406030204" pitchFamily="18" charset="0"/>
                            </a:rPr>
                            <m:t>𝑫</m:t>
                          </m:r>
                        </m:den>
                      </m:f>
                      <m:f>
                        <m:fPr>
                          <m:ctrlPr>
                            <a:rPr lang="en-CA" sz="1600" b="1" i="1">
                              <a:solidFill>
                                <a:schemeClr val="tx1"/>
                              </a:solidFill>
                              <a:latin typeface="Cambria Math" panose="02040503050406030204" pitchFamily="18" charset="0"/>
                            </a:rPr>
                          </m:ctrlPr>
                        </m:fPr>
                        <m:num>
                          <m:sSup>
                            <m:sSupPr>
                              <m:ctrlPr>
                                <a:rPr lang="en-CA" sz="1600" b="1" i="1">
                                  <a:solidFill>
                                    <a:schemeClr val="tx1"/>
                                  </a:solidFill>
                                  <a:latin typeface="Cambria Math" panose="02040503050406030204" pitchFamily="18" charset="0"/>
                                </a:rPr>
                              </m:ctrlPr>
                            </m:sSupPr>
                            <m:e>
                              <m:acc>
                                <m:accPr>
                                  <m:chr m:val="̅"/>
                                  <m:ctrlPr>
                                    <a:rPr lang="en-CA" sz="1600" b="1" i="1">
                                      <a:solidFill>
                                        <a:schemeClr val="tx1"/>
                                      </a:solidFill>
                                      <a:latin typeface="Cambria Math" panose="02040503050406030204" pitchFamily="18" charset="0"/>
                                    </a:rPr>
                                  </m:ctrlPr>
                                </m:accPr>
                                <m:e>
                                  <m:r>
                                    <a:rPr lang="en-CA" sz="1600" b="1" i="1">
                                      <a:solidFill>
                                        <a:schemeClr val="tx1"/>
                                      </a:solidFill>
                                      <a:latin typeface="Cambria Math" panose="02040503050406030204" pitchFamily="18" charset="0"/>
                                    </a:rPr>
                                    <m:t>𝑽</m:t>
                                  </m:r>
                                </m:e>
                              </m:acc>
                            </m:e>
                            <m:sup>
                              <m:r>
                                <a:rPr lang="en-CA" sz="1600" b="1" i="1">
                                  <a:solidFill>
                                    <a:schemeClr val="tx1"/>
                                  </a:solidFill>
                                  <a:latin typeface="Cambria Math" panose="02040503050406030204" pitchFamily="18" charset="0"/>
                                </a:rPr>
                                <m:t>𝟐</m:t>
                              </m:r>
                            </m:sup>
                          </m:sSup>
                        </m:num>
                        <m:den>
                          <m:r>
                            <a:rPr lang="en-CA" sz="1600" b="1" i="1">
                              <a:solidFill>
                                <a:schemeClr val="tx1"/>
                              </a:solidFill>
                              <a:latin typeface="Cambria Math" panose="02040503050406030204" pitchFamily="18" charset="0"/>
                            </a:rPr>
                            <m:t>𝟐</m:t>
                          </m:r>
                        </m:den>
                      </m:f>
                    </m:oMath>
                  </m:oMathPara>
                </a14:m>
                <a:endParaRPr lang="en-CA" sz="1600" b="1" dirty="0"/>
              </a:p>
              <a:p>
                <a:pPr marL="0" indent="0">
                  <a:lnSpc>
                    <a:spcPct val="150000"/>
                  </a:lnSpc>
                  <a:spcAft>
                    <a:spcPts val="600"/>
                  </a:spcAft>
                  <a:buNone/>
                </a:pPr>
                <a:r>
                  <a:rPr lang="en-CA" sz="1600" b="1" dirty="0">
                    <a:solidFill>
                      <a:schemeClr val="tx1"/>
                    </a:solidFill>
                  </a:rPr>
                  <a:t>where </a:t>
                </a:r>
                <a14:m>
                  <m:oMath xmlns:m="http://schemas.openxmlformats.org/officeDocument/2006/math">
                    <m:sSub>
                      <m:sSubPr>
                        <m:ctrlPr>
                          <a:rPr lang="en-CA" sz="1600" b="1" i="1" dirty="0">
                            <a:solidFill>
                              <a:schemeClr val="tx1"/>
                            </a:solidFill>
                            <a:latin typeface="Cambria Math" panose="02040503050406030204" pitchFamily="18" charset="0"/>
                          </a:rPr>
                        </m:ctrlPr>
                      </m:sSubPr>
                      <m:e>
                        <m:r>
                          <a:rPr lang="en-CA" sz="1600" b="1" i="1" dirty="0">
                            <a:solidFill>
                              <a:schemeClr val="tx1"/>
                            </a:solidFill>
                            <a:latin typeface="Cambria Math" panose="02040503050406030204" pitchFamily="18" charset="0"/>
                          </a:rPr>
                          <m:t>𝑳</m:t>
                        </m:r>
                      </m:e>
                      <m:sub>
                        <m:r>
                          <a:rPr lang="en-CA" sz="1600" b="1" i="1" dirty="0">
                            <a:solidFill>
                              <a:schemeClr val="tx1"/>
                            </a:solidFill>
                            <a:latin typeface="Cambria Math" panose="02040503050406030204" pitchFamily="18" charset="0"/>
                          </a:rPr>
                          <m:t>𝒆</m:t>
                        </m:r>
                      </m:sub>
                    </m:sSub>
                  </m:oMath>
                </a14:m>
                <a:r>
                  <a:rPr lang="en-CA" sz="1600" b="1" dirty="0">
                    <a:solidFill>
                      <a:schemeClr val="tx1"/>
                    </a:solidFill>
                  </a:rPr>
                  <a:t> is an equivalent length of a straight pipe</a:t>
                </a:r>
              </a:p>
              <a:p>
                <a:pPr>
                  <a:lnSpc>
                    <a:spcPct val="150000"/>
                  </a:lnSpc>
                  <a:spcAft>
                    <a:spcPts val="600"/>
                  </a:spcAft>
                </a:pPr>
                <a14:m>
                  <m:oMath xmlns:m="http://schemas.openxmlformats.org/officeDocument/2006/math">
                    <m:r>
                      <a:rPr lang="en-CA" sz="1600" b="1" i="1">
                        <a:solidFill>
                          <a:schemeClr val="tx1"/>
                        </a:solidFill>
                        <a:latin typeface="Cambria Math" panose="02040503050406030204" pitchFamily="18" charset="0"/>
                      </a:rPr>
                      <m:t>𝒇</m:t>
                    </m:r>
                  </m:oMath>
                </a14:m>
                <a:r>
                  <a:rPr lang="en-CA" sz="1600" b="1" dirty="0">
                    <a:solidFill>
                      <a:schemeClr val="tx1"/>
                    </a:solidFill>
                  </a:rPr>
                  <a:t> is the friction factor obtained from the flow through the main pipe</a:t>
                </a:r>
              </a:p>
              <a:p>
                <a:pPr>
                  <a:lnSpc>
                    <a:spcPct val="150000"/>
                  </a:lnSpc>
                  <a:spcAft>
                    <a:spcPts val="600"/>
                  </a:spcAft>
                </a:pPr>
                <a:r>
                  <a:rPr lang="en-CA" sz="1600" b="1" dirty="0">
                    <a:solidFill>
                      <a:schemeClr val="tx1"/>
                    </a:solidFill>
                  </a:rPr>
                  <a:t>Values of the loss coefficients, </a:t>
                </a:r>
                <a14:m>
                  <m:oMath xmlns:m="http://schemas.openxmlformats.org/officeDocument/2006/math">
                    <m:r>
                      <a:rPr lang="en-CA" sz="1600" b="1" i="1" dirty="0">
                        <a:solidFill>
                          <a:schemeClr val="tx1"/>
                        </a:solidFill>
                        <a:latin typeface="Cambria Math" panose="02040503050406030204" pitchFamily="18" charset="0"/>
                      </a:rPr>
                      <m:t>𝑲</m:t>
                    </m:r>
                  </m:oMath>
                </a14:m>
                <a:r>
                  <a:rPr lang="en-CA" sz="1600" b="1" dirty="0">
                    <a:solidFill>
                      <a:schemeClr val="tx1"/>
                    </a:solidFill>
                  </a:rPr>
                  <a:t> and dimensionless equivalent lengths </a:t>
                </a:r>
                <a14:m>
                  <m:oMath xmlns:m="http://schemas.openxmlformats.org/officeDocument/2006/math">
                    <m:r>
                      <a:rPr lang="en-CA" sz="1600" b="1" i="1" dirty="0" smtClean="0">
                        <a:solidFill>
                          <a:schemeClr val="tx1"/>
                        </a:solidFill>
                        <a:latin typeface="Cambria Math" panose="02040503050406030204" pitchFamily="18" charset="0"/>
                      </a:rPr>
                      <m:t>𝑳</m:t>
                    </m:r>
                    <m:r>
                      <a:rPr lang="en-CA" sz="1600" b="1" i="1" baseline="-25000" dirty="0">
                        <a:solidFill>
                          <a:schemeClr val="tx1"/>
                        </a:solidFill>
                        <a:latin typeface="Cambria Math" panose="02040503050406030204" pitchFamily="18" charset="0"/>
                      </a:rPr>
                      <m:t>𝒆</m:t>
                    </m:r>
                    <m:r>
                      <a:rPr lang="en-CA" sz="1600" b="1" i="1" dirty="0">
                        <a:solidFill>
                          <a:schemeClr val="tx1"/>
                        </a:solidFill>
                        <a:latin typeface="Cambria Math" panose="02040503050406030204" pitchFamily="18" charset="0"/>
                      </a:rPr>
                      <m:t>/</m:t>
                    </m:r>
                    <m:r>
                      <a:rPr lang="en-CA" sz="1600" b="1" i="1" dirty="0">
                        <a:solidFill>
                          <a:schemeClr val="tx1"/>
                        </a:solidFill>
                        <a:latin typeface="Cambria Math" panose="02040503050406030204" pitchFamily="18" charset="0"/>
                      </a:rPr>
                      <m:t>𝑫</m:t>
                    </m:r>
                  </m:oMath>
                </a14:m>
                <a:r>
                  <a:rPr lang="en-CA" sz="1600" b="1" dirty="0">
                    <a:solidFill>
                      <a:schemeClr val="tx1"/>
                    </a:solidFill>
                  </a:rPr>
                  <a:t> for some common fittings are available in textbooks.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892990" y="1097579"/>
                <a:ext cx="8406020" cy="4931901"/>
              </a:xfrm>
              <a:blipFill>
                <a:blip r:embed="rId2"/>
                <a:stretch>
                  <a:fillRect l="-435"/>
                </a:stretch>
              </a:blipFill>
            </p:spPr>
            <p:txBody>
              <a:bodyPr/>
              <a:lstStyle/>
              <a:p>
                <a:r>
                  <a:rPr lang="en-GH">
                    <a:noFill/>
                  </a:rPr>
                  <a:t> </a:t>
                </a:r>
              </a:p>
            </p:txBody>
          </p:sp>
        </mc:Fallback>
      </mc:AlternateContent>
      <p:sp>
        <p:nvSpPr>
          <p:cNvPr id="4" name="TextBox 3"/>
          <p:cNvSpPr txBox="1"/>
          <p:nvPr/>
        </p:nvSpPr>
        <p:spPr>
          <a:xfrm>
            <a:off x="8582610" y="1860009"/>
            <a:ext cx="654399" cy="369332"/>
          </a:xfrm>
          <a:prstGeom prst="rect">
            <a:avLst/>
          </a:prstGeom>
          <a:noFill/>
        </p:spPr>
        <p:txBody>
          <a:bodyPr wrap="square" rtlCol="0">
            <a:spAutoFit/>
          </a:bodyPr>
          <a:lstStyle/>
          <a:p>
            <a:r>
              <a:rPr lang="en-CA" dirty="0">
                <a:latin typeface="Myriad Web Pro"/>
              </a:rPr>
              <a:t>[6a]</a:t>
            </a:r>
          </a:p>
        </p:txBody>
      </p:sp>
      <p:sp>
        <p:nvSpPr>
          <p:cNvPr id="5" name="TextBox 4"/>
          <p:cNvSpPr txBox="1"/>
          <p:nvPr/>
        </p:nvSpPr>
        <p:spPr>
          <a:xfrm>
            <a:off x="8522974" y="3195078"/>
            <a:ext cx="654399" cy="369332"/>
          </a:xfrm>
          <a:prstGeom prst="rect">
            <a:avLst/>
          </a:prstGeom>
          <a:noFill/>
        </p:spPr>
        <p:txBody>
          <a:bodyPr wrap="square" rtlCol="0">
            <a:spAutoFit/>
          </a:bodyPr>
          <a:lstStyle/>
          <a:p>
            <a:r>
              <a:rPr lang="en-CA" dirty="0">
                <a:latin typeface="Myriad Web Pro"/>
              </a:rPr>
              <a:t>[6b]</a:t>
            </a:r>
          </a:p>
        </p:txBody>
      </p:sp>
    </p:spTree>
    <p:extLst>
      <p:ext uri="{BB962C8B-B14F-4D97-AF65-F5344CB8AC3E}">
        <p14:creationId xmlns:p14="http://schemas.microsoft.com/office/powerpoint/2010/main" val="9773475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1800" dirty="0"/>
              <a:t>Minor Loss: Contraction and Expansion</a:t>
            </a:r>
          </a:p>
        </p:txBody>
      </p:sp>
      <p:pic>
        <p:nvPicPr>
          <p:cNvPr id="4" name="Picture 2" descr="Z:\newmedia\Ebook-Novella\Wiley\jira\bcs2793\Fox9e\Work\Image_gallery\Ch08\images\fox_9e_fig_08_1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4371" y="1000595"/>
            <a:ext cx="6205076" cy="3770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5" name="Rectangle 4"/>
              <p:cNvSpPr/>
              <p:nvPr/>
            </p:nvSpPr>
            <p:spPr>
              <a:xfrm>
                <a:off x="4945928" y="4837295"/>
                <a:ext cx="1391598" cy="65338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CA" b="1" i="1">
                              <a:latin typeface="Cambria Math" panose="02040503050406030204" pitchFamily="18" charset="0"/>
                            </a:rPr>
                          </m:ctrlPr>
                        </m:sSubPr>
                        <m:e>
                          <m:r>
                            <a:rPr lang="en-CA" b="1" i="1">
                              <a:latin typeface="Cambria Math" panose="02040503050406030204" pitchFamily="18" charset="0"/>
                            </a:rPr>
                            <m:t>𝒉</m:t>
                          </m:r>
                        </m:e>
                        <m:sub>
                          <m:r>
                            <a:rPr lang="en-CA" b="1" i="1">
                              <a:latin typeface="Cambria Math" panose="02040503050406030204" pitchFamily="18" charset="0"/>
                            </a:rPr>
                            <m:t>𝒍𝒎</m:t>
                          </m:r>
                        </m:sub>
                      </m:sSub>
                      <m:r>
                        <a:rPr lang="en-CA" b="1" i="1">
                          <a:latin typeface="Cambria Math" panose="02040503050406030204" pitchFamily="18" charset="0"/>
                        </a:rPr>
                        <m:t>=</m:t>
                      </m:r>
                      <m:r>
                        <a:rPr lang="en-CA" b="1" i="1" smtClean="0">
                          <a:solidFill>
                            <a:schemeClr val="tx1"/>
                          </a:solidFill>
                          <a:latin typeface="Cambria Math" panose="02040503050406030204" pitchFamily="18" charset="0"/>
                        </a:rPr>
                        <m:t>𝑲</m:t>
                      </m:r>
                      <m:f>
                        <m:fPr>
                          <m:ctrlPr>
                            <a:rPr lang="en-CA" b="1" i="1">
                              <a:solidFill>
                                <a:schemeClr val="tx1"/>
                              </a:solidFill>
                              <a:latin typeface="Cambria Math" panose="02040503050406030204" pitchFamily="18" charset="0"/>
                            </a:rPr>
                          </m:ctrlPr>
                        </m:fPr>
                        <m:num>
                          <m:sSup>
                            <m:sSupPr>
                              <m:ctrlPr>
                                <a:rPr lang="en-CA" b="1" i="1">
                                  <a:solidFill>
                                    <a:schemeClr val="tx1"/>
                                  </a:solidFill>
                                  <a:latin typeface="Cambria Math" panose="02040503050406030204" pitchFamily="18" charset="0"/>
                                </a:rPr>
                              </m:ctrlPr>
                            </m:sSupPr>
                            <m:e>
                              <m:acc>
                                <m:accPr>
                                  <m:chr m:val="̅"/>
                                  <m:ctrlPr>
                                    <a:rPr lang="en-CA" b="1" i="1">
                                      <a:solidFill>
                                        <a:schemeClr val="tx1"/>
                                      </a:solidFill>
                                      <a:latin typeface="Cambria Math" panose="02040503050406030204" pitchFamily="18" charset="0"/>
                                    </a:rPr>
                                  </m:ctrlPr>
                                </m:accPr>
                                <m:e>
                                  <m:r>
                                    <a:rPr lang="en-CA" b="1" i="1">
                                      <a:solidFill>
                                        <a:schemeClr val="tx1"/>
                                      </a:solidFill>
                                      <a:latin typeface="Cambria Math" panose="02040503050406030204" pitchFamily="18" charset="0"/>
                                    </a:rPr>
                                    <m:t>𝑽</m:t>
                                  </m:r>
                                </m:e>
                              </m:acc>
                            </m:e>
                            <m:sup>
                              <m:r>
                                <a:rPr lang="en-CA" b="1" i="1">
                                  <a:solidFill>
                                    <a:schemeClr val="tx1"/>
                                  </a:solidFill>
                                  <a:latin typeface="Cambria Math" panose="02040503050406030204" pitchFamily="18" charset="0"/>
                                </a:rPr>
                                <m:t>𝟐</m:t>
                              </m:r>
                            </m:sup>
                          </m:sSup>
                        </m:num>
                        <m:den>
                          <m:r>
                            <a:rPr lang="en-CA" b="1" i="1">
                              <a:solidFill>
                                <a:schemeClr val="tx1"/>
                              </a:solidFill>
                              <a:latin typeface="Cambria Math" panose="02040503050406030204" pitchFamily="18" charset="0"/>
                            </a:rPr>
                            <m:t>𝟐</m:t>
                          </m:r>
                        </m:den>
                      </m:f>
                    </m:oMath>
                  </m:oMathPara>
                </a14:m>
                <a:endParaRPr lang="en-CA" b="1" dirty="0"/>
              </a:p>
            </p:txBody>
          </p:sp>
        </mc:Choice>
        <mc:Fallback xmlns="">
          <p:sp>
            <p:nvSpPr>
              <p:cNvPr id="5" name="Rectangle 4"/>
              <p:cNvSpPr>
                <a:spLocks noRot="1" noChangeAspect="1" noMove="1" noResize="1" noEditPoints="1" noAdjustHandles="1" noChangeArrowheads="1" noChangeShapeType="1" noTextEdit="1"/>
              </p:cNvSpPr>
              <p:nvPr/>
            </p:nvSpPr>
            <p:spPr>
              <a:xfrm>
                <a:off x="4945928" y="4837295"/>
                <a:ext cx="1391598" cy="653384"/>
              </a:xfrm>
              <a:prstGeom prst="rect">
                <a:avLst/>
              </a:prstGeom>
              <a:blipFill>
                <a:blip r:embed="rId4"/>
                <a:stretch>
                  <a:fillRect/>
                </a:stretch>
              </a:blipFill>
            </p:spPr>
            <p:txBody>
              <a:bodyPr/>
              <a:lstStyle/>
              <a:p>
                <a:r>
                  <a:rPr lang="en-GH">
                    <a:noFill/>
                  </a:rPr>
                  <a:t> </a:t>
                </a:r>
              </a:p>
            </p:txBody>
          </p:sp>
        </mc:Fallback>
      </mc:AlternateContent>
    </p:spTree>
    <p:extLst>
      <p:ext uri="{BB962C8B-B14F-4D97-AF65-F5344CB8AC3E}">
        <p14:creationId xmlns:p14="http://schemas.microsoft.com/office/powerpoint/2010/main" val="1821658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1800" dirty="0"/>
              <a:t>Minor Loss: Pipe Entrances</a:t>
            </a:r>
          </a:p>
        </p:txBody>
      </p:sp>
      <mc:AlternateContent xmlns:mc="http://schemas.openxmlformats.org/markup-compatibility/2006" xmlns:a14="http://schemas.microsoft.com/office/drawing/2010/main">
        <mc:Choice Requires="a14">
          <p:sp>
            <p:nvSpPr>
              <p:cNvPr id="5" name="Rectangle 4"/>
              <p:cNvSpPr/>
              <p:nvPr/>
            </p:nvSpPr>
            <p:spPr>
              <a:xfrm>
                <a:off x="5409754" y="5354131"/>
                <a:ext cx="1260410" cy="5911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CA" sz="1600" b="1" i="1" smtClean="0">
                              <a:solidFill>
                                <a:schemeClr val="tx1"/>
                              </a:solidFill>
                              <a:latin typeface="Cambria Math" panose="02040503050406030204" pitchFamily="18" charset="0"/>
                            </a:rPr>
                          </m:ctrlPr>
                        </m:sSubPr>
                        <m:e>
                          <m:r>
                            <a:rPr lang="en-CA" sz="1600" b="1" i="1">
                              <a:solidFill>
                                <a:schemeClr val="tx1"/>
                              </a:solidFill>
                              <a:latin typeface="Cambria Math" panose="02040503050406030204" pitchFamily="18" charset="0"/>
                            </a:rPr>
                            <m:t>𝒉</m:t>
                          </m:r>
                        </m:e>
                        <m:sub>
                          <m:r>
                            <a:rPr lang="en-CA" sz="1600" b="1" i="1">
                              <a:solidFill>
                                <a:schemeClr val="tx1"/>
                              </a:solidFill>
                              <a:latin typeface="Cambria Math" panose="02040503050406030204" pitchFamily="18" charset="0"/>
                            </a:rPr>
                            <m:t>𝒍𝒎</m:t>
                          </m:r>
                        </m:sub>
                      </m:sSub>
                      <m:r>
                        <a:rPr lang="en-CA" sz="1600" b="1" i="1">
                          <a:solidFill>
                            <a:schemeClr val="tx1"/>
                          </a:solidFill>
                          <a:latin typeface="Cambria Math" panose="02040503050406030204" pitchFamily="18" charset="0"/>
                        </a:rPr>
                        <m:t>=</m:t>
                      </m:r>
                      <m:r>
                        <a:rPr lang="en-CA" sz="1600" b="1" i="1">
                          <a:solidFill>
                            <a:schemeClr val="tx1"/>
                          </a:solidFill>
                          <a:latin typeface="Cambria Math" panose="02040503050406030204" pitchFamily="18" charset="0"/>
                        </a:rPr>
                        <m:t>𝑲</m:t>
                      </m:r>
                      <m:f>
                        <m:fPr>
                          <m:ctrlPr>
                            <a:rPr lang="en-CA" sz="1600" b="1" i="1">
                              <a:solidFill>
                                <a:schemeClr val="tx1"/>
                              </a:solidFill>
                              <a:latin typeface="Cambria Math" panose="02040503050406030204" pitchFamily="18" charset="0"/>
                            </a:rPr>
                          </m:ctrlPr>
                        </m:fPr>
                        <m:num>
                          <m:sSup>
                            <m:sSupPr>
                              <m:ctrlPr>
                                <a:rPr lang="en-CA" sz="1600" b="1" i="1">
                                  <a:solidFill>
                                    <a:schemeClr val="tx1"/>
                                  </a:solidFill>
                                  <a:latin typeface="Cambria Math" panose="02040503050406030204" pitchFamily="18" charset="0"/>
                                </a:rPr>
                              </m:ctrlPr>
                            </m:sSupPr>
                            <m:e>
                              <m:acc>
                                <m:accPr>
                                  <m:chr m:val="̅"/>
                                  <m:ctrlPr>
                                    <a:rPr lang="en-CA" sz="1600" b="1" i="1">
                                      <a:solidFill>
                                        <a:schemeClr val="tx1"/>
                                      </a:solidFill>
                                      <a:latin typeface="Cambria Math" panose="02040503050406030204" pitchFamily="18" charset="0"/>
                                    </a:rPr>
                                  </m:ctrlPr>
                                </m:accPr>
                                <m:e>
                                  <m:r>
                                    <a:rPr lang="en-CA" sz="1600" b="1" i="1">
                                      <a:solidFill>
                                        <a:schemeClr val="tx1"/>
                                      </a:solidFill>
                                      <a:latin typeface="Cambria Math" panose="02040503050406030204" pitchFamily="18" charset="0"/>
                                    </a:rPr>
                                    <m:t>𝑽</m:t>
                                  </m:r>
                                </m:e>
                              </m:acc>
                            </m:e>
                            <m:sup>
                              <m:r>
                                <a:rPr lang="en-CA" sz="1600" b="1" i="1">
                                  <a:solidFill>
                                    <a:schemeClr val="tx1"/>
                                  </a:solidFill>
                                  <a:latin typeface="Cambria Math" panose="02040503050406030204" pitchFamily="18" charset="0"/>
                                </a:rPr>
                                <m:t>𝟐</m:t>
                              </m:r>
                            </m:sup>
                          </m:sSup>
                        </m:num>
                        <m:den>
                          <m:r>
                            <a:rPr lang="en-CA" sz="1600" b="1" i="1">
                              <a:solidFill>
                                <a:schemeClr val="tx1"/>
                              </a:solidFill>
                              <a:latin typeface="Cambria Math" panose="02040503050406030204" pitchFamily="18" charset="0"/>
                            </a:rPr>
                            <m:t>𝟐</m:t>
                          </m:r>
                        </m:den>
                      </m:f>
                    </m:oMath>
                  </m:oMathPara>
                </a14:m>
                <a:endParaRPr lang="en-CA" sz="1600" b="1" dirty="0"/>
              </a:p>
            </p:txBody>
          </p:sp>
        </mc:Choice>
        <mc:Fallback xmlns="">
          <p:sp>
            <p:nvSpPr>
              <p:cNvPr id="5" name="Rectangle 4"/>
              <p:cNvSpPr>
                <a:spLocks noRot="1" noChangeAspect="1" noMove="1" noResize="1" noEditPoints="1" noAdjustHandles="1" noChangeArrowheads="1" noChangeShapeType="1" noTextEdit="1"/>
              </p:cNvSpPr>
              <p:nvPr/>
            </p:nvSpPr>
            <p:spPr>
              <a:xfrm>
                <a:off x="5409754" y="5354131"/>
                <a:ext cx="1260410" cy="591124"/>
              </a:xfrm>
              <a:prstGeom prst="rect">
                <a:avLst/>
              </a:prstGeom>
              <a:blipFill>
                <a:blip r:embed="rId3"/>
                <a:stretch>
                  <a:fillRect/>
                </a:stretch>
              </a:blipFill>
            </p:spPr>
            <p:txBody>
              <a:bodyPr/>
              <a:lstStyle/>
              <a:p>
                <a:r>
                  <a:rPr lang="en-GH">
                    <a:noFill/>
                  </a:rPr>
                  <a:t> </a:t>
                </a:r>
              </a:p>
            </p:txBody>
          </p:sp>
        </mc:Fallback>
      </mc:AlternateContent>
      <p:pic>
        <p:nvPicPr>
          <p:cNvPr id="6" name="Picture 2" descr="Z:\newmedia\Ebook-Novella\Wiley\jira\bcs2793\Fox9e\Work\Image_gallery\Ch08\images\fox_9e_table_08_02.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7389" y="1358162"/>
            <a:ext cx="8277225"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842997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1800" dirty="0"/>
              <a:t>Minor Loss: Valves and Fittings</a:t>
            </a:r>
          </a:p>
        </p:txBody>
      </p:sp>
      <mc:AlternateContent xmlns:mc="http://schemas.openxmlformats.org/markup-compatibility/2006" xmlns:a14="http://schemas.microsoft.com/office/drawing/2010/main">
        <mc:Choice Requires="a14">
          <p:sp>
            <p:nvSpPr>
              <p:cNvPr id="7" name="Rectangle 6"/>
              <p:cNvSpPr/>
              <p:nvPr/>
            </p:nvSpPr>
            <p:spPr>
              <a:xfrm>
                <a:off x="5409754" y="5354131"/>
                <a:ext cx="1260410" cy="5911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CA" sz="1600" b="1" i="1">
                              <a:latin typeface="Cambria Math" panose="02040503050406030204" pitchFamily="18" charset="0"/>
                            </a:rPr>
                          </m:ctrlPr>
                        </m:sSubPr>
                        <m:e>
                          <m:r>
                            <a:rPr lang="en-CA" sz="1600" b="1" i="1">
                              <a:latin typeface="Cambria Math" panose="02040503050406030204" pitchFamily="18" charset="0"/>
                            </a:rPr>
                            <m:t>𝒉</m:t>
                          </m:r>
                        </m:e>
                        <m:sub>
                          <m:r>
                            <a:rPr lang="en-CA" sz="1600" b="1" i="1">
                              <a:latin typeface="Cambria Math" panose="02040503050406030204" pitchFamily="18" charset="0"/>
                            </a:rPr>
                            <m:t>𝒍𝒎</m:t>
                          </m:r>
                        </m:sub>
                      </m:sSub>
                      <m:r>
                        <a:rPr lang="en-CA" sz="1600" b="1" i="1">
                          <a:latin typeface="Cambria Math" panose="02040503050406030204" pitchFamily="18" charset="0"/>
                        </a:rPr>
                        <m:t>=</m:t>
                      </m:r>
                      <m:r>
                        <a:rPr lang="en-CA" sz="1600" b="1" i="1">
                          <a:solidFill>
                            <a:srgbClr val="FF0000"/>
                          </a:solidFill>
                          <a:latin typeface="Cambria Math" panose="02040503050406030204" pitchFamily="18" charset="0"/>
                        </a:rPr>
                        <m:t>𝑲</m:t>
                      </m:r>
                      <m:f>
                        <m:fPr>
                          <m:ctrlPr>
                            <a:rPr lang="en-CA" sz="1600" b="1" i="1">
                              <a:latin typeface="Cambria Math" panose="02040503050406030204" pitchFamily="18" charset="0"/>
                            </a:rPr>
                          </m:ctrlPr>
                        </m:fPr>
                        <m:num>
                          <m:sSup>
                            <m:sSupPr>
                              <m:ctrlPr>
                                <a:rPr lang="en-CA" sz="1600" b="1" i="1">
                                  <a:latin typeface="Cambria Math" panose="02040503050406030204" pitchFamily="18" charset="0"/>
                                </a:rPr>
                              </m:ctrlPr>
                            </m:sSupPr>
                            <m:e>
                              <m:acc>
                                <m:accPr>
                                  <m:chr m:val="̅"/>
                                  <m:ctrlPr>
                                    <a:rPr lang="en-CA" sz="1600" b="1" i="1">
                                      <a:latin typeface="Cambria Math" panose="02040503050406030204" pitchFamily="18" charset="0"/>
                                    </a:rPr>
                                  </m:ctrlPr>
                                </m:accPr>
                                <m:e>
                                  <m:r>
                                    <a:rPr lang="en-CA" sz="1600" b="1" i="1">
                                      <a:latin typeface="Cambria Math" panose="02040503050406030204" pitchFamily="18" charset="0"/>
                                    </a:rPr>
                                    <m:t>𝑽</m:t>
                                  </m:r>
                                </m:e>
                              </m:acc>
                            </m:e>
                            <m:sup>
                              <m:r>
                                <a:rPr lang="en-CA" sz="1600" b="1" i="1">
                                  <a:latin typeface="Cambria Math" panose="02040503050406030204" pitchFamily="18" charset="0"/>
                                </a:rPr>
                                <m:t>𝟐</m:t>
                              </m:r>
                            </m:sup>
                          </m:sSup>
                        </m:num>
                        <m:den>
                          <m:r>
                            <a:rPr lang="en-CA" sz="1600" b="1" i="1">
                              <a:latin typeface="Cambria Math" panose="02040503050406030204" pitchFamily="18" charset="0"/>
                            </a:rPr>
                            <m:t>𝟐</m:t>
                          </m:r>
                        </m:den>
                      </m:f>
                    </m:oMath>
                  </m:oMathPara>
                </a14:m>
                <a:endParaRPr lang="en-CA" sz="1600" b="1" dirty="0"/>
              </a:p>
            </p:txBody>
          </p:sp>
        </mc:Choice>
        <mc:Fallback xmlns="">
          <p:sp>
            <p:nvSpPr>
              <p:cNvPr id="7" name="Rectangle 6"/>
              <p:cNvSpPr>
                <a:spLocks noRot="1" noChangeAspect="1" noMove="1" noResize="1" noEditPoints="1" noAdjustHandles="1" noChangeArrowheads="1" noChangeShapeType="1" noTextEdit="1"/>
              </p:cNvSpPr>
              <p:nvPr/>
            </p:nvSpPr>
            <p:spPr>
              <a:xfrm>
                <a:off x="5409754" y="5354131"/>
                <a:ext cx="1260410" cy="591124"/>
              </a:xfrm>
              <a:prstGeom prst="rect">
                <a:avLst/>
              </a:prstGeom>
              <a:blipFill>
                <a:blip r:embed="rId2"/>
                <a:stretch>
                  <a:fillRect/>
                </a:stretch>
              </a:blipFill>
            </p:spPr>
            <p:txBody>
              <a:bodyPr/>
              <a:lstStyle/>
              <a:p>
                <a:r>
                  <a:rPr lang="en-GH">
                    <a:noFill/>
                  </a:rPr>
                  <a:t> </a:t>
                </a:r>
              </a:p>
            </p:txBody>
          </p:sp>
        </mc:Fallback>
      </mc:AlternateContent>
      <p:grpSp>
        <p:nvGrpSpPr>
          <p:cNvPr id="17" name="Group 16"/>
          <p:cNvGrpSpPr/>
          <p:nvPr/>
        </p:nvGrpSpPr>
        <p:grpSpPr>
          <a:xfrm>
            <a:off x="2094466" y="1119188"/>
            <a:ext cx="8334375" cy="3857625"/>
            <a:chOff x="570465" y="1119187"/>
            <a:chExt cx="8334375" cy="3857625"/>
          </a:xfrm>
        </p:grpSpPr>
        <p:grpSp>
          <p:nvGrpSpPr>
            <p:cNvPr id="15" name="Group 14"/>
            <p:cNvGrpSpPr/>
            <p:nvPr/>
          </p:nvGrpSpPr>
          <p:grpSpPr>
            <a:xfrm>
              <a:off x="570465" y="1119187"/>
              <a:ext cx="8334375" cy="3857625"/>
              <a:chOff x="404813" y="1143000"/>
              <a:chExt cx="8334375" cy="3857625"/>
            </a:xfrm>
          </p:grpSpPr>
          <p:pic>
            <p:nvPicPr>
              <p:cNvPr id="6" name="Picture 2" descr="Z:\newmedia\Ebook-Novella\Wiley\jira\bcs2793\Fox9e\Work\Image_gallery\Ch08\images\fox_9e_table_08_0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813" y="1143000"/>
                <a:ext cx="8334375"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p:cNvCxnSpPr/>
              <p:nvPr/>
            </p:nvCxnSpPr>
            <p:spPr>
              <a:xfrm flipV="1">
                <a:off x="2325757" y="2676939"/>
                <a:ext cx="2332382" cy="1"/>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325757" y="2239617"/>
                <a:ext cx="2332382" cy="1"/>
              </a:xfrm>
              <a:prstGeom prst="line">
                <a:avLst/>
              </a:prstGeom>
              <a:ln w="12700">
                <a:solidFill>
                  <a:srgbClr val="00FF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2325757" y="3558208"/>
                <a:ext cx="2332382" cy="1"/>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6871252" y="2681416"/>
                <a:ext cx="1781797" cy="0"/>
              </a:xfrm>
              <a:prstGeom prst="line">
                <a:avLst/>
              </a:prstGeom>
              <a:ln w="12700">
                <a:solidFill>
                  <a:srgbClr val="00FF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6871252" y="3138616"/>
                <a:ext cx="1781797"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4" name="Straight Connector 3"/>
            <p:cNvCxnSpPr/>
            <p:nvPr/>
          </p:nvCxnSpPr>
          <p:spPr>
            <a:xfrm>
              <a:off x="5012014" y="1659835"/>
              <a:ext cx="0" cy="305131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p14="http://schemas.microsoft.com/office/powerpoint/2010/main">
        <mc:Choice Requires="p14">
          <p:contentPart p14:bwMode="auto" r:id="rId4">
            <p14:nvContentPartPr>
              <p14:cNvPr id="3" name="Ink 2"/>
              <p14:cNvContentPartPr/>
              <p14:nvPr/>
            </p14:nvContentPartPr>
            <p14:xfrm>
              <a:off x="2167680" y="2250720"/>
              <a:ext cx="762120" cy="2230200"/>
            </p14:xfrm>
          </p:contentPart>
        </mc:Choice>
        <mc:Fallback xmlns="">
          <p:pic>
            <p:nvPicPr>
              <p:cNvPr id="3" name="Ink 2"/>
              <p:cNvPicPr/>
              <p:nvPr/>
            </p:nvPicPr>
            <p:blipFill>
              <a:blip r:embed="rId5"/>
              <a:stretch>
                <a:fillRect/>
              </a:stretch>
            </p:blipFill>
            <p:spPr>
              <a:xfrm>
                <a:off x="2158320" y="2241360"/>
                <a:ext cx="780840" cy="2248920"/>
              </a:xfrm>
              <a:prstGeom prst="rect">
                <a:avLst/>
              </a:prstGeom>
            </p:spPr>
          </p:pic>
        </mc:Fallback>
      </mc:AlternateContent>
    </p:spTree>
    <p:extLst>
      <p:ext uri="{BB962C8B-B14F-4D97-AF65-F5344CB8AC3E}">
        <p14:creationId xmlns:p14="http://schemas.microsoft.com/office/powerpoint/2010/main" val="35561675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5203" y="370879"/>
            <a:ext cx="7886700" cy="568940"/>
          </a:xfrm>
        </p:spPr>
        <p:txBody>
          <a:bodyPr>
            <a:normAutofit/>
          </a:bodyPr>
          <a:lstStyle/>
          <a:p>
            <a:r>
              <a:rPr lang="en-CA" sz="1800" dirty="0"/>
              <a:t>Solution of Pipe Flow Problems: </a:t>
            </a:r>
            <a:r>
              <a:rPr lang="en-CA" sz="1800" dirty="0">
                <a:solidFill>
                  <a:srgbClr val="FF0000"/>
                </a:solidFill>
              </a:rPr>
              <a:t>Single Path</a:t>
            </a:r>
          </a:p>
        </p:txBody>
      </p:sp>
      <p:sp>
        <p:nvSpPr>
          <p:cNvPr id="3" name="Content Placeholder 2"/>
          <p:cNvSpPr>
            <a:spLocks noGrp="1"/>
          </p:cNvSpPr>
          <p:nvPr>
            <p:ph idx="1"/>
          </p:nvPr>
        </p:nvSpPr>
        <p:spPr/>
        <p:txBody>
          <a:bodyPr>
            <a:normAutofit/>
          </a:bodyPr>
          <a:lstStyle/>
          <a:p>
            <a:pPr>
              <a:lnSpc>
                <a:spcPct val="160000"/>
              </a:lnSpc>
            </a:pPr>
            <a:endParaRPr lang="en-CA" dirty="0"/>
          </a:p>
          <a:p>
            <a:pPr>
              <a:lnSpc>
                <a:spcPct val="160000"/>
              </a:lnSpc>
            </a:pPr>
            <a:endParaRPr lang="en-CA" dirty="0"/>
          </a:p>
          <a:p>
            <a:pPr>
              <a:lnSpc>
                <a:spcPct val="160000"/>
              </a:lnSpc>
            </a:pPr>
            <a:endParaRPr lang="en-CA" dirty="0"/>
          </a:p>
          <a:p>
            <a:pPr>
              <a:lnSpc>
                <a:spcPct val="160000"/>
              </a:lnSpc>
            </a:pPr>
            <a:endParaRPr lang="en-CA" dirty="0"/>
          </a:p>
          <a:p>
            <a:pPr>
              <a:lnSpc>
                <a:spcPct val="110000"/>
              </a:lnSpc>
            </a:pPr>
            <a:endParaRPr lang="en-CA" dirty="0"/>
          </a:p>
          <a:p>
            <a:pPr marL="0" indent="0">
              <a:lnSpc>
                <a:spcPct val="110000"/>
              </a:lnSpc>
              <a:buNone/>
            </a:pPr>
            <a:endParaRPr lang="en-CA" dirty="0"/>
          </a:p>
          <a:p>
            <a:pPr>
              <a:lnSpc>
                <a:spcPct val="160000"/>
              </a:lnSpc>
            </a:pPr>
            <a:endParaRPr lang="en-CA" dirty="0"/>
          </a:p>
        </p:txBody>
      </p:sp>
      <p:grpSp>
        <p:nvGrpSpPr>
          <p:cNvPr id="4" name="Group 3"/>
          <p:cNvGrpSpPr/>
          <p:nvPr/>
        </p:nvGrpSpPr>
        <p:grpSpPr>
          <a:xfrm>
            <a:off x="1433245" y="1724656"/>
            <a:ext cx="5371560" cy="2071173"/>
            <a:chOff x="994777" y="1941985"/>
            <a:chExt cx="5656807" cy="2321435"/>
          </a:xfrm>
        </p:grpSpPr>
        <p:sp>
          <p:nvSpPr>
            <p:cNvPr id="5" name="Rectangle 4"/>
            <p:cNvSpPr/>
            <p:nvPr/>
          </p:nvSpPr>
          <p:spPr>
            <a:xfrm>
              <a:off x="1986844" y="2991556"/>
              <a:ext cx="4447823" cy="191911"/>
            </a:xfrm>
            <a:prstGeom prst="rect">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Oval 5"/>
            <p:cNvSpPr/>
            <p:nvPr/>
          </p:nvSpPr>
          <p:spPr>
            <a:xfrm>
              <a:off x="4176888" y="2946400"/>
              <a:ext cx="270934" cy="270934"/>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7" name="Straight Connector 6"/>
            <p:cNvCxnSpPr>
              <a:stCxn id="6" idx="1"/>
              <a:endCxn id="6" idx="5"/>
            </p:cNvCxnSpPr>
            <p:nvPr/>
          </p:nvCxnSpPr>
          <p:spPr>
            <a:xfrm>
              <a:off x="4216565" y="2986077"/>
              <a:ext cx="191580" cy="1915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6" idx="7"/>
              <a:endCxn id="5" idx="2"/>
            </p:cNvCxnSpPr>
            <p:nvPr/>
          </p:nvCxnSpPr>
          <p:spPr>
            <a:xfrm flipH="1">
              <a:off x="4210756" y="2986077"/>
              <a:ext cx="197389" cy="19739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cxnSpLocks/>
            </p:cNvCxnSpPr>
            <p:nvPr/>
          </p:nvCxnSpPr>
          <p:spPr>
            <a:xfrm flipV="1">
              <a:off x="4308231" y="2769578"/>
              <a:ext cx="0" cy="32091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cxnSpLocks/>
            </p:cNvCxnSpPr>
            <p:nvPr/>
          </p:nvCxnSpPr>
          <p:spPr>
            <a:xfrm>
              <a:off x="4176888" y="2769577"/>
              <a:ext cx="27093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2039814" y="2470638"/>
              <a:ext cx="351694" cy="351694"/>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Rectangle 11"/>
            <p:cNvSpPr/>
            <p:nvPr/>
          </p:nvSpPr>
          <p:spPr>
            <a:xfrm>
              <a:off x="2169502" y="2822332"/>
              <a:ext cx="92319" cy="16922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3" name="Straight Arrow Connector 12"/>
            <p:cNvCxnSpPr>
              <a:cxnSpLocks/>
              <a:endCxn id="11" idx="1"/>
            </p:cNvCxnSpPr>
            <p:nvPr/>
          </p:nvCxnSpPr>
          <p:spPr>
            <a:xfrm flipH="1" flipV="1">
              <a:off x="2091318" y="2522142"/>
              <a:ext cx="124343" cy="15326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6057355" y="2470638"/>
              <a:ext cx="351694" cy="351694"/>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Rectangle 14"/>
            <p:cNvSpPr/>
            <p:nvPr/>
          </p:nvSpPr>
          <p:spPr>
            <a:xfrm>
              <a:off x="6187043" y="2822332"/>
              <a:ext cx="92319" cy="16922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6" name="Straight Arrow Connector 15"/>
            <p:cNvCxnSpPr>
              <a:cxnSpLocks/>
              <a:endCxn id="14" idx="7"/>
            </p:cNvCxnSpPr>
            <p:nvPr/>
          </p:nvCxnSpPr>
          <p:spPr>
            <a:xfrm flipV="1">
              <a:off x="6233203" y="2522142"/>
              <a:ext cx="124342" cy="15327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cxnSpLocks/>
            </p:cNvCxnSpPr>
            <p:nvPr/>
          </p:nvCxnSpPr>
          <p:spPr>
            <a:xfrm>
              <a:off x="2905858" y="2822332"/>
              <a:ext cx="0" cy="163745"/>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cxnSpLocks/>
            </p:cNvCxnSpPr>
            <p:nvPr/>
          </p:nvCxnSpPr>
          <p:spPr>
            <a:xfrm flipV="1">
              <a:off x="2905858" y="3183467"/>
              <a:ext cx="0" cy="163745"/>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2039816" y="3268541"/>
              <a:ext cx="259372" cy="259372"/>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dirty="0">
                  <a:latin typeface="Myriad Web Pro"/>
                </a:rPr>
                <a:t>1</a:t>
              </a:r>
            </a:p>
          </p:txBody>
        </p:sp>
        <p:sp>
          <p:nvSpPr>
            <p:cNvPr id="20" name="Oval 19"/>
            <p:cNvSpPr/>
            <p:nvPr/>
          </p:nvSpPr>
          <p:spPr>
            <a:xfrm>
              <a:off x="6106965" y="3268541"/>
              <a:ext cx="259372" cy="259372"/>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dirty="0">
                  <a:latin typeface="Myriad Web Pro"/>
                </a:rPr>
                <a:t>2</a:t>
              </a:r>
            </a:p>
          </p:txBody>
        </p:sp>
        <p:cxnSp>
          <p:nvCxnSpPr>
            <p:cNvPr id="21" name="Straight Arrow Connector 20"/>
            <p:cNvCxnSpPr/>
            <p:nvPr/>
          </p:nvCxnSpPr>
          <p:spPr>
            <a:xfrm>
              <a:off x="2169502" y="3789485"/>
              <a:ext cx="4125872" cy="0"/>
            </a:xfrm>
            <a:prstGeom prst="straightConnector1">
              <a:avLst/>
            </a:prstGeom>
            <a:ln w="3810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2169502" y="3719146"/>
              <a:ext cx="0" cy="14946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6295374" y="3719146"/>
              <a:ext cx="0" cy="14946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1345721" y="3090496"/>
              <a:ext cx="517585" cy="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p:cNvSpPr txBox="1"/>
                <p:nvPr/>
              </p:nvSpPr>
              <p:spPr>
                <a:xfrm>
                  <a:off x="3814057" y="3849461"/>
                  <a:ext cx="836762" cy="413959"/>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CA" i="1" dirty="0">
                            <a:solidFill>
                              <a:srgbClr val="FF0000"/>
                            </a:solidFill>
                            <a:latin typeface="Cambria Math" panose="02040503050406030204" pitchFamily="18" charset="0"/>
                          </a:rPr>
                          <m:t>𝐿</m:t>
                        </m:r>
                      </m:oMath>
                    </m:oMathPara>
                  </a14:m>
                  <a:endParaRPr lang="en-CA" dirty="0">
                    <a:solidFill>
                      <a:srgbClr val="FF0000"/>
                    </a:solidFill>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3814057" y="3849461"/>
                  <a:ext cx="836762" cy="413959"/>
                </a:xfrm>
                <a:prstGeom prst="rect">
                  <a:avLst/>
                </a:prstGeom>
                <a:blipFill>
                  <a:blip r:embed="rId3"/>
                  <a:stretch>
                    <a:fillRect/>
                  </a:stretch>
                </a:blipFill>
                <a:ln>
                  <a:noFill/>
                </a:ln>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2699853" y="2529891"/>
                  <a:ext cx="836762" cy="41395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i="1" dirty="0">
                            <a:solidFill>
                              <a:srgbClr val="008000"/>
                            </a:solidFill>
                            <a:latin typeface="Cambria Math" panose="02040503050406030204" pitchFamily="18" charset="0"/>
                          </a:rPr>
                          <m:t>𝐷</m:t>
                        </m:r>
                      </m:oMath>
                    </m:oMathPara>
                  </a14:m>
                  <a:endParaRPr lang="en-CA" dirty="0">
                    <a:solidFill>
                      <a:srgbClr val="008000"/>
                    </a:solidFill>
                  </a:endParaRPr>
                </a:p>
              </p:txBody>
            </p:sp>
          </mc:Choice>
          <mc:Fallback xmlns="">
            <p:sp>
              <p:nvSpPr>
                <p:cNvPr id="26" name="TextBox 25"/>
                <p:cNvSpPr txBox="1">
                  <a:spLocks noRot="1" noChangeAspect="1" noMove="1" noResize="1" noEditPoints="1" noAdjustHandles="1" noChangeArrowheads="1" noChangeShapeType="1" noTextEdit="1"/>
                </p:cNvSpPr>
                <p:nvPr/>
              </p:nvSpPr>
              <p:spPr>
                <a:xfrm>
                  <a:off x="2699853" y="2529891"/>
                  <a:ext cx="836762" cy="413959"/>
                </a:xfrm>
                <a:prstGeom prst="rect">
                  <a:avLst/>
                </a:prstGeom>
                <a:blipFill>
                  <a:blip r:embed="rId4"/>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994777" y="2589677"/>
                  <a:ext cx="836762" cy="413959"/>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CA" i="1" dirty="0">
                            <a:solidFill>
                              <a:srgbClr val="0000FF"/>
                            </a:solidFill>
                            <a:latin typeface="Cambria Math" panose="02040503050406030204" pitchFamily="18" charset="0"/>
                          </a:rPr>
                          <m:t>𝑄</m:t>
                        </m:r>
                      </m:oMath>
                    </m:oMathPara>
                  </a14:m>
                  <a:endParaRPr lang="en-CA" dirty="0">
                    <a:solidFill>
                      <a:srgbClr val="0000FF"/>
                    </a:solidFill>
                  </a:endParaRPr>
                </a:p>
              </p:txBody>
            </p:sp>
          </mc:Choice>
          <mc:Fallback xmlns="">
            <p:sp>
              <p:nvSpPr>
                <p:cNvPr id="27" name="TextBox 26"/>
                <p:cNvSpPr txBox="1">
                  <a:spLocks noRot="1" noChangeAspect="1" noMove="1" noResize="1" noEditPoints="1" noAdjustHandles="1" noChangeArrowheads="1" noChangeShapeType="1" noTextEdit="1"/>
                </p:cNvSpPr>
                <p:nvPr/>
              </p:nvSpPr>
              <p:spPr>
                <a:xfrm>
                  <a:off x="994777" y="2589677"/>
                  <a:ext cx="836762" cy="413959"/>
                </a:xfrm>
                <a:prstGeom prst="rect">
                  <a:avLst/>
                </a:prstGeom>
                <a:blipFill>
                  <a:blip r:embed="rId5"/>
                  <a:stretch>
                    <a:fillRect b="-10000"/>
                  </a:stretch>
                </a:blipFill>
                <a:ln>
                  <a:noFill/>
                </a:ln>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1797280" y="1968003"/>
                  <a:ext cx="836762" cy="413959"/>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i="1" dirty="0">
                                <a:latin typeface="Cambria Math" panose="02040503050406030204" pitchFamily="18" charset="0"/>
                              </a:rPr>
                            </m:ctrlPr>
                          </m:sSubPr>
                          <m:e>
                            <m:r>
                              <a:rPr lang="en-CA" i="1" dirty="0">
                                <a:latin typeface="Cambria Math" panose="02040503050406030204" pitchFamily="18" charset="0"/>
                              </a:rPr>
                              <m:t>𝑃</m:t>
                            </m:r>
                          </m:e>
                          <m:sub>
                            <m:r>
                              <a:rPr lang="en-CA" i="1" dirty="0">
                                <a:latin typeface="Cambria Math" panose="02040503050406030204" pitchFamily="18" charset="0"/>
                              </a:rPr>
                              <m:t>1</m:t>
                            </m:r>
                          </m:sub>
                        </m:sSub>
                      </m:oMath>
                    </m:oMathPara>
                  </a14:m>
                  <a:endParaRPr lang="en-CA" dirty="0"/>
                </a:p>
              </p:txBody>
            </p:sp>
          </mc:Choice>
          <mc:Fallback xmlns="">
            <p:sp>
              <p:nvSpPr>
                <p:cNvPr id="28" name="TextBox 27"/>
                <p:cNvSpPr txBox="1">
                  <a:spLocks noRot="1" noChangeAspect="1" noMove="1" noResize="1" noEditPoints="1" noAdjustHandles="1" noChangeArrowheads="1" noChangeShapeType="1" noTextEdit="1"/>
                </p:cNvSpPr>
                <p:nvPr/>
              </p:nvSpPr>
              <p:spPr>
                <a:xfrm>
                  <a:off x="1797280" y="1968003"/>
                  <a:ext cx="836762" cy="413959"/>
                </a:xfrm>
                <a:prstGeom prst="rect">
                  <a:avLst/>
                </a:prstGeom>
                <a:blipFill>
                  <a:blip r:embed="rId6"/>
                  <a:stretch>
                    <a:fillRect/>
                  </a:stretch>
                </a:blipFill>
                <a:ln>
                  <a:noFill/>
                </a:ln>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5814822" y="1968003"/>
                  <a:ext cx="836762" cy="413959"/>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i="1" dirty="0">
                                <a:latin typeface="Cambria Math" panose="02040503050406030204" pitchFamily="18" charset="0"/>
                              </a:rPr>
                            </m:ctrlPr>
                          </m:sSubPr>
                          <m:e>
                            <m:r>
                              <a:rPr lang="en-CA" i="1" dirty="0">
                                <a:latin typeface="Cambria Math" panose="02040503050406030204" pitchFamily="18" charset="0"/>
                              </a:rPr>
                              <m:t>𝑃</m:t>
                            </m:r>
                          </m:e>
                          <m:sub>
                            <m:r>
                              <a:rPr lang="en-CA" i="1" dirty="0">
                                <a:latin typeface="Cambria Math" panose="02040503050406030204" pitchFamily="18" charset="0"/>
                              </a:rPr>
                              <m:t>2</m:t>
                            </m:r>
                          </m:sub>
                        </m:sSub>
                      </m:oMath>
                    </m:oMathPara>
                  </a14:m>
                  <a:endParaRPr lang="en-CA" dirty="0"/>
                </a:p>
              </p:txBody>
            </p:sp>
          </mc:Choice>
          <mc:Fallback xmlns="">
            <p:sp>
              <p:nvSpPr>
                <p:cNvPr id="29" name="TextBox 28"/>
                <p:cNvSpPr txBox="1">
                  <a:spLocks noRot="1" noChangeAspect="1" noMove="1" noResize="1" noEditPoints="1" noAdjustHandles="1" noChangeArrowheads="1" noChangeShapeType="1" noTextEdit="1"/>
                </p:cNvSpPr>
                <p:nvPr/>
              </p:nvSpPr>
              <p:spPr>
                <a:xfrm>
                  <a:off x="5814822" y="1968003"/>
                  <a:ext cx="836762" cy="413959"/>
                </a:xfrm>
                <a:prstGeom prst="rect">
                  <a:avLst/>
                </a:prstGeom>
                <a:blipFill>
                  <a:blip r:embed="rId7"/>
                  <a:stretch>
                    <a:fillRect/>
                  </a:stretch>
                </a:blipFill>
                <a:ln>
                  <a:noFill/>
                </a:ln>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3125606" y="1941985"/>
                  <a:ext cx="2213663" cy="413959"/>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CA" b="1" i="1" dirty="0">
                            <a:latin typeface="Cambria Math" panose="02040503050406030204" pitchFamily="18" charset="0"/>
                            <a:ea typeface="Cambria Math" panose="02040503050406030204" pitchFamily="18" charset="0"/>
                          </a:rPr>
                          <m:t>∆</m:t>
                        </m:r>
                        <m:r>
                          <a:rPr lang="en-CA" b="1" i="1" dirty="0">
                            <a:latin typeface="Cambria Math" panose="02040503050406030204" pitchFamily="18" charset="0"/>
                            <a:ea typeface="Cambria Math" panose="02040503050406030204" pitchFamily="18" charset="0"/>
                          </a:rPr>
                          <m:t>𝑷</m:t>
                        </m:r>
                        <m:r>
                          <a:rPr lang="en-CA" i="1" dirty="0">
                            <a:latin typeface="Cambria Math" panose="02040503050406030204" pitchFamily="18" charset="0"/>
                            <a:ea typeface="Cambria Math" panose="02040503050406030204" pitchFamily="18" charset="0"/>
                          </a:rPr>
                          <m:t>=</m:t>
                        </m:r>
                        <m:sSub>
                          <m:sSubPr>
                            <m:ctrlPr>
                              <a:rPr lang="en-CA" i="1" dirty="0">
                                <a:latin typeface="Cambria Math" panose="02040503050406030204" pitchFamily="18" charset="0"/>
                              </a:rPr>
                            </m:ctrlPr>
                          </m:sSubPr>
                          <m:e>
                            <m:r>
                              <a:rPr lang="en-CA" i="1" dirty="0">
                                <a:latin typeface="Cambria Math" panose="02040503050406030204" pitchFamily="18" charset="0"/>
                              </a:rPr>
                              <m:t>𝑃</m:t>
                            </m:r>
                          </m:e>
                          <m:sub>
                            <m:r>
                              <a:rPr lang="en-CA" i="1" dirty="0">
                                <a:latin typeface="Cambria Math" panose="02040503050406030204" pitchFamily="18" charset="0"/>
                              </a:rPr>
                              <m:t>1</m:t>
                            </m:r>
                          </m:sub>
                        </m:sSub>
                        <m:r>
                          <a:rPr lang="en-CA" i="1" dirty="0">
                            <a:latin typeface="Cambria Math" panose="02040503050406030204" pitchFamily="18" charset="0"/>
                          </a:rPr>
                          <m:t>−</m:t>
                        </m:r>
                        <m:sSub>
                          <m:sSubPr>
                            <m:ctrlPr>
                              <a:rPr lang="en-CA" i="1" dirty="0">
                                <a:latin typeface="Cambria Math" panose="02040503050406030204" pitchFamily="18" charset="0"/>
                              </a:rPr>
                            </m:ctrlPr>
                          </m:sSubPr>
                          <m:e>
                            <m:r>
                              <a:rPr lang="en-CA" i="1" dirty="0">
                                <a:latin typeface="Cambria Math" panose="02040503050406030204" pitchFamily="18" charset="0"/>
                              </a:rPr>
                              <m:t>𝑃</m:t>
                            </m:r>
                          </m:e>
                          <m:sub>
                            <m:r>
                              <a:rPr lang="en-CA" i="1" dirty="0">
                                <a:latin typeface="Cambria Math" panose="02040503050406030204" pitchFamily="18" charset="0"/>
                              </a:rPr>
                              <m:t>2</m:t>
                            </m:r>
                          </m:sub>
                        </m:sSub>
                      </m:oMath>
                    </m:oMathPara>
                  </a14:m>
                  <a:endParaRPr lang="en-CA" dirty="0"/>
                </a:p>
              </p:txBody>
            </p:sp>
          </mc:Choice>
          <mc:Fallback xmlns="">
            <p:sp>
              <p:nvSpPr>
                <p:cNvPr id="30" name="TextBox 29"/>
                <p:cNvSpPr txBox="1">
                  <a:spLocks noRot="1" noChangeAspect="1" noMove="1" noResize="1" noEditPoints="1" noAdjustHandles="1" noChangeArrowheads="1" noChangeShapeType="1" noTextEdit="1"/>
                </p:cNvSpPr>
                <p:nvPr/>
              </p:nvSpPr>
              <p:spPr>
                <a:xfrm>
                  <a:off x="3125606" y="1941985"/>
                  <a:ext cx="2213663" cy="413959"/>
                </a:xfrm>
                <a:prstGeom prst="rect">
                  <a:avLst/>
                </a:prstGeom>
                <a:blipFill>
                  <a:blip r:embed="rId8"/>
                  <a:stretch>
                    <a:fillRect/>
                  </a:stretch>
                </a:blipFill>
                <a:ln>
                  <a:noFill/>
                </a:ln>
              </p:spPr>
              <p:txBody>
                <a:bodyPr/>
                <a:lstStyle/>
                <a:p>
                  <a:r>
                    <a:rPr lang="en-GH">
                      <a:noFill/>
                    </a:rPr>
                    <a:t> </a:t>
                  </a:r>
                </a:p>
              </p:txBody>
            </p:sp>
          </mc:Fallback>
        </mc:AlternateContent>
      </p:grpSp>
      <p:pic>
        <p:nvPicPr>
          <p:cNvPr id="32" name="Picture 1" descr="fig08_18.jpg"/>
          <p:cNvPicPr>
            <a:picLocks noChangeAspect="1"/>
          </p:cNvPicPr>
          <p:nvPr>
            <p:custDataLst>
              <p:tags r:id="rId1"/>
            </p:custDataLst>
          </p:nvPr>
        </p:nvPicPr>
        <p:blipFill rotWithShape="1">
          <a:blip r:embed="rId9">
            <a:extLst>
              <a:ext uri="{28A0092B-C50C-407E-A947-70E740481C1C}">
                <a14:useLocalDpi xmlns:a14="http://schemas.microsoft.com/office/drawing/2010/main" val="0"/>
              </a:ext>
            </a:extLst>
          </a:blip>
          <a:srcRect r="40849"/>
          <a:stretch/>
        </p:blipFill>
        <p:spPr bwMode="auto">
          <a:xfrm>
            <a:off x="7408769" y="2249183"/>
            <a:ext cx="3107881" cy="3714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78059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2441" y="62438"/>
            <a:ext cx="7886700" cy="568940"/>
          </a:xfrm>
        </p:spPr>
        <p:txBody>
          <a:bodyPr>
            <a:normAutofit/>
          </a:bodyPr>
          <a:lstStyle/>
          <a:p>
            <a:r>
              <a:rPr lang="en-CA" sz="1800" dirty="0"/>
              <a:t>Solution of Pipe Flow Problems: </a:t>
            </a:r>
            <a:r>
              <a:rPr lang="en-CA" sz="1800" dirty="0">
                <a:solidFill>
                  <a:srgbClr val="FF0000"/>
                </a:solidFill>
              </a:rPr>
              <a:t>Single Path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 y="631378"/>
                <a:ext cx="11660777" cy="6115796"/>
              </a:xfrm>
            </p:spPr>
            <p:txBody>
              <a:bodyPr>
                <a:normAutofit fontScale="92500" lnSpcReduction="10000"/>
              </a:bodyPr>
              <a:lstStyle/>
              <a:p>
                <a:pPr marL="0" indent="0">
                  <a:lnSpc>
                    <a:spcPct val="170000"/>
                  </a:lnSpc>
                  <a:buNone/>
                </a:pPr>
                <a14:m>
                  <m:oMath xmlns:m="http://schemas.openxmlformats.org/officeDocument/2006/math">
                    <m:sSub>
                      <m:sSubPr>
                        <m:ctrlPr>
                          <a:rPr lang="en-CA" sz="2300" b="1" i="1" smtClean="0">
                            <a:latin typeface="Cambria Math" panose="02040503050406030204" pitchFamily="18" charset="0"/>
                          </a:rPr>
                        </m:ctrlPr>
                      </m:sSubPr>
                      <m:e>
                        <m:r>
                          <a:rPr lang="en-CA" sz="2300" b="1" i="1">
                            <a:latin typeface="Cambria Math" panose="02040503050406030204" pitchFamily="18" charset="0"/>
                          </a:rPr>
                          <m:t>                              </m:t>
                        </m:r>
                        <m:r>
                          <a:rPr lang="en-GB" sz="2300" b="1" i="1" smtClean="0">
                            <a:latin typeface="Cambria Math" panose="02040503050406030204" pitchFamily="18" charset="0"/>
                          </a:rPr>
                          <m:t>𝑯</m:t>
                        </m:r>
                      </m:e>
                      <m:sub>
                        <m:r>
                          <a:rPr lang="en-CA" sz="2300" b="1" i="1">
                            <a:latin typeface="Cambria Math" panose="02040503050406030204" pitchFamily="18" charset="0"/>
                          </a:rPr>
                          <m:t>𝒍</m:t>
                        </m:r>
                      </m:sub>
                    </m:sSub>
                    <m:r>
                      <a:rPr lang="en-CA" sz="2300" b="1" i="1">
                        <a:latin typeface="Cambria Math" panose="02040503050406030204" pitchFamily="18" charset="0"/>
                      </a:rPr>
                      <m:t>=</m:t>
                    </m:r>
                    <m:r>
                      <a:rPr lang="en-CA" sz="2300" b="1" i="1">
                        <a:latin typeface="Cambria Math" panose="02040503050406030204" pitchFamily="18" charset="0"/>
                      </a:rPr>
                      <m:t>𝒇</m:t>
                    </m:r>
                    <m:f>
                      <m:fPr>
                        <m:ctrlPr>
                          <a:rPr lang="en-CA" sz="2300" b="1" i="1">
                            <a:latin typeface="Cambria Math" panose="02040503050406030204" pitchFamily="18" charset="0"/>
                          </a:rPr>
                        </m:ctrlPr>
                      </m:fPr>
                      <m:num>
                        <m:r>
                          <a:rPr lang="en-CA" sz="2300" b="1" i="1">
                            <a:solidFill>
                              <a:srgbClr val="FF0000"/>
                            </a:solidFill>
                            <a:latin typeface="Cambria Math" panose="02040503050406030204" pitchFamily="18" charset="0"/>
                          </a:rPr>
                          <m:t>𝑳</m:t>
                        </m:r>
                      </m:num>
                      <m:den>
                        <m:r>
                          <a:rPr lang="en-CA" sz="2300" b="1" i="1">
                            <a:solidFill>
                              <a:srgbClr val="008000"/>
                            </a:solidFill>
                            <a:latin typeface="Cambria Math" panose="02040503050406030204" pitchFamily="18" charset="0"/>
                          </a:rPr>
                          <m:t>𝑫</m:t>
                        </m:r>
                      </m:den>
                    </m:f>
                    <m:f>
                      <m:fPr>
                        <m:ctrlPr>
                          <a:rPr lang="en-CA" sz="2300" b="1" i="1">
                            <a:latin typeface="Cambria Math" panose="02040503050406030204" pitchFamily="18" charset="0"/>
                          </a:rPr>
                        </m:ctrlPr>
                      </m:fPr>
                      <m:num>
                        <m:sSup>
                          <m:sSupPr>
                            <m:ctrlPr>
                              <a:rPr lang="en-CA" sz="2300" b="1" i="1">
                                <a:solidFill>
                                  <a:srgbClr val="0000FF"/>
                                </a:solidFill>
                                <a:latin typeface="Cambria Math" panose="02040503050406030204" pitchFamily="18" charset="0"/>
                              </a:rPr>
                            </m:ctrlPr>
                          </m:sSupPr>
                          <m:e>
                            <m:acc>
                              <m:accPr>
                                <m:chr m:val="̅"/>
                                <m:ctrlPr>
                                  <a:rPr lang="en-CA" sz="2300" b="1" i="1">
                                    <a:solidFill>
                                      <a:srgbClr val="0000FF"/>
                                    </a:solidFill>
                                    <a:latin typeface="Cambria Math" panose="02040503050406030204" pitchFamily="18" charset="0"/>
                                  </a:rPr>
                                </m:ctrlPr>
                              </m:accPr>
                              <m:e>
                                <m:r>
                                  <a:rPr lang="en-CA" sz="2300" b="1" i="1">
                                    <a:solidFill>
                                      <a:srgbClr val="0000FF"/>
                                    </a:solidFill>
                                    <a:latin typeface="Cambria Math" panose="02040503050406030204" pitchFamily="18" charset="0"/>
                                  </a:rPr>
                                  <m:t>𝑽</m:t>
                                </m:r>
                              </m:e>
                            </m:acc>
                          </m:e>
                          <m:sup>
                            <m:r>
                              <a:rPr lang="en-CA" sz="2300" b="1" i="1">
                                <a:solidFill>
                                  <a:srgbClr val="0000FF"/>
                                </a:solidFill>
                                <a:latin typeface="Cambria Math" panose="02040503050406030204" pitchFamily="18" charset="0"/>
                              </a:rPr>
                              <m:t>𝟐</m:t>
                            </m:r>
                          </m:sup>
                        </m:sSup>
                      </m:num>
                      <m:den>
                        <m:r>
                          <a:rPr lang="en-CA" sz="2300" b="1" i="1">
                            <a:latin typeface="Cambria Math" panose="02040503050406030204" pitchFamily="18" charset="0"/>
                          </a:rPr>
                          <m:t>𝟐</m:t>
                        </m:r>
                        <m:r>
                          <a:rPr lang="en-GB" sz="2300" b="1" i="1" smtClean="0">
                            <a:latin typeface="Cambria Math" panose="02040503050406030204" pitchFamily="18" charset="0"/>
                          </a:rPr>
                          <m:t>𝒈</m:t>
                        </m:r>
                      </m:den>
                    </m:f>
                  </m:oMath>
                </a14:m>
                <a:r>
                  <a:rPr lang="en-CA" sz="2300" b="1" dirty="0"/>
                  <a:t>                        </a:t>
                </a:r>
                <a14:m>
                  <m:oMath xmlns:m="http://schemas.openxmlformats.org/officeDocument/2006/math">
                    <m:sSub>
                      <m:sSubPr>
                        <m:ctrlPr>
                          <a:rPr lang="en-CA" sz="2300" b="1" i="1">
                            <a:latin typeface="Cambria Math" panose="02040503050406030204" pitchFamily="18" charset="0"/>
                          </a:rPr>
                        </m:ctrlPr>
                      </m:sSubPr>
                      <m:e>
                        <m:r>
                          <a:rPr lang="en-CA" sz="2300" b="1" i="1">
                            <a:latin typeface="Cambria Math" panose="02040503050406030204" pitchFamily="18" charset="0"/>
                          </a:rPr>
                          <m:t>𝒉</m:t>
                        </m:r>
                      </m:e>
                      <m:sub>
                        <m:r>
                          <a:rPr lang="en-CA" sz="2300" b="1" i="1">
                            <a:latin typeface="Cambria Math" panose="02040503050406030204" pitchFamily="18" charset="0"/>
                          </a:rPr>
                          <m:t>𝒍𝒎</m:t>
                        </m:r>
                      </m:sub>
                    </m:sSub>
                    <m:r>
                      <a:rPr lang="en-CA" sz="2300" b="1" i="1">
                        <a:latin typeface="Cambria Math" panose="02040503050406030204" pitchFamily="18" charset="0"/>
                      </a:rPr>
                      <m:t>=</m:t>
                    </m:r>
                    <m:r>
                      <a:rPr lang="en-CA" sz="2300" b="1" i="1">
                        <a:latin typeface="Cambria Math" panose="02040503050406030204" pitchFamily="18" charset="0"/>
                      </a:rPr>
                      <m:t>𝑲</m:t>
                    </m:r>
                    <m:f>
                      <m:fPr>
                        <m:ctrlPr>
                          <a:rPr lang="en-CA" sz="2300" b="1" i="1">
                            <a:latin typeface="Cambria Math" panose="02040503050406030204" pitchFamily="18" charset="0"/>
                          </a:rPr>
                        </m:ctrlPr>
                      </m:fPr>
                      <m:num>
                        <m:sSup>
                          <m:sSupPr>
                            <m:ctrlPr>
                              <a:rPr lang="en-CA" sz="2300" b="1" i="1">
                                <a:solidFill>
                                  <a:srgbClr val="0000FF"/>
                                </a:solidFill>
                                <a:latin typeface="Cambria Math" panose="02040503050406030204" pitchFamily="18" charset="0"/>
                              </a:rPr>
                            </m:ctrlPr>
                          </m:sSupPr>
                          <m:e>
                            <m:acc>
                              <m:accPr>
                                <m:chr m:val="̅"/>
                                <m:ctrlPr>
                                  <a:rPr lang="en-CA" sz="2300" b="1" i="1">
                                    <a:solidFill>
                                      <a:srgbClr val="0000FF"/>
                                    </a:solidFill>
                                    <a:latin typeface="Cambria Math" panose="02040503050406030204" pitchFamily="18" charset="0"/>
                                  </a:rPr>
                                </m:ctrlPr>
                              </m:accPr>
                              <m:e>
                                <m:r>
                                  <a:rPr lang="en-CA" sz="2300" b="1" i="1">
                                    <a:solidFill>
                                      <a:srgbClr val="0000FF"/>
                                    </a:solidFill>
                                    <a:latin typeface="Cambria Math" panose="02040503050406030204" pitchFamily="18" charset="0"/>
                                  </a:rPr>
                                  <m:t>𝑽</m:t>
                                </m:r>
                              </m:e>
                            </m:acc>
                          </m:e>
                          <m:sup>
                            <m:r>
                              <a:rPr lang="en-CA" sz="2300" b="1" i="1">
                                <a:solidFill>
                                  <a:srgbClr val="0000FF"/>
                                </a:solidFill>
                                <a:latin typeface="Cambria Math" panose="02040503050406030204" pitchFamily="18" charset="0"/>
                              </a:rPr>
                              <m:t>𝟐</m:t>
                            </m:r>
                          </m:sup>
                        </m:sSup>
                      </m:num>
                      <m:den>
                        <m:r>
                          <a:rPr lang="en-CA" sz="2300" b="1" i="1">
                            <a:latin typeface="Cambria Math" panose="02040503050406030204" pitchFamily="18" charset="0"/>
                          </a:rPr>
                          <m:t>𝟐</m:t>
                        </m:r>
                      </m:den>
                    </m:f>
                  </m:oMath>
                </a14:m>
                <a:r>
                  <a:rPr lang="en-CA" sz="2300" b="1" dirty="0"/>
                  <a:t> </a:t>
                </a:r>
                <a14:m>
                  <m:oMath xmlns:m="http://schemas.openxmlformats.org/officeDocument/2006/math">
                    <m:r>
                      <a:rPr lang="en-CA" b="1" i="0" smtClean="0">
                        <a:latin typeface="Cambria Math" panose="02040503050406030204" pitchFamily="18" charset="0"/>
                      </a:rPr>
                      <m:t>                   </m:t>
                    </m:r>
                    <m:r>
                      <a:rPr lang="en-CA" b="1" i="1">
                        <a:latin typeface="Cambria Math" panose="02040503050406030204" pitchFamily="18" charset="0"/>
                      </a:rPr>
                      <m:t>𝒇</m:t>
                    </m:r>
                    <m:r>
                      <a:rPr lang="en-CA" b="1" i="1" dirty="0">
                        <a:latin typeface="Cambria Math" panose="02040503050406030204" pitchFamily="18" charset="0"/>
                      </a:rPr>
                      <m:t>(</m:t>
                    </m:r>
                    <m:r>
                      <a:rPr lang="en-CA" b="1" i="1" dirty="0">
                        <a:solidFill>
                          <a:srgbClr val="0000FF"/>
                        </a:solidFill>
                        <a:latin typeface="Cambria Math" panose="02040503050406030204" pitchFamily="18" charset="0"/>
                      </a:rPr>
                      <m:t>𝑹𝒆</m:t>
                    </m:r>
                    <m:r>
                      <a:rPr lang="en-CA" b="1" i="1" dirty="0">
                        <a:solidFill>
                          <a:srgbClr val="0000FF"/>
                        </a:solidFill>
                        <a:latin typeface="Cambria Math" panose="02040503050406030204" pitchFamily="18" charset="0"/>
                      </a:rPr>
                      <m:t>=</m:t>
                    </m:r>
                    <m:f>
                      <m:fPr>
                        <m:ctrlPr>
                          <a:rPr lang="en-CA" b="1" i="1" dirty="0">
                            <a:solidFill>
                              <a:srgbClr val="0000FF"/>
                            </a:solidFill>
                            <a:latin typeface="Cambria Math" panose="02040503050406030204" pitchFamily="18" charset="0"/>
                          </a:rPr>
                        </m:ctrlPr>
                      </m:fPr>
                      <m:num>
                        <m:acc>
                          <m:accPr>
                            <m:chr m:val="̅"/>
                            <m:ctrlPr>
                              <a:rPr lang="en-CA" b="1" i="1" dirty="0">
                                <a:solidFill>
                                  <a:srgbClr val="0000FF"/>
                                </a:solidFill>
                                <a:latin typeface="Cambria Math" panose="02040503050406030204" pitchFamily="18" charset="0"/>
                              </a:rPr>
                            </m:ctrlPr>
                          </m:accPr>
                          <m:e>
                            <m:r>
                              <a:rPr lang="en-CA" b="1" i="1" dirty="0">
                                <a:solidFill>
                                  <a:srgbClr val="0000FF"/>
                                </a:solidFill>
                                <a:latin typeface="Cambria Math" panose="02040503050406030204" pitchFamily="18" charset="0"/>
                              </a:rPr>
                              <m:t>𝑽</m:t>
                            </m:r>
                          </m:e>
                        </m:acc>
                        <m:r>
                          <a:rPr lang="en-CA" b="1" i="1">
                            <a:solidFill>
                              <a:srgbClr val="008000"/>
                            </a:solidFill>
                            <a:latin typeface="Cambria Math" panose="02040503050406030204" pitchFamily="18" charset="0"/>
                          </a:rPr>
                          <m:t>𝑫</m:t>
                        </m:r>
                      </m:num>
                      <m:den>
                        <m:r>
                          <a:rPr lang="en-CA" b="1" i="1" dirty="0">
                            <a:solidFill>
                              <a:srgbClr val="0000FF"/>
                            </a:solidFill>
                            <a:latin typeface="Cambria Math" panose="02040503050406030204" pitchFamily="18" charset="0"/>
                            <a:ea typeface="Cambria Math" panose="02040503050406030204" pitchFamily="18" charset="0"/>
                          </a:rPr>
                          <m:t>𝝂</m:t>
                        </m:r>
                      </m:den>
                    </m:f>
                    <m:r>
                      <a:rPr lang="en-CA" b="1" i="1" dirty="0" err="1">
                        <a:latin typeface="Cambria Math" panose="02040503050406030204" pitchFamily="18" charset="0"/>
                      </a:rPr>
                      <m:t>,</m:t>
                    </m:r>
                    <m:r>
                      <a:rPr lang="en-CA" b="1" i="1" dirty="0" err="1">
                        <a:latin typeface="Cambria Math" panose="02040503050406030204" pitchFamily="18" charset="0"/>
                      </a:rPr>
                      <m:t>𝒆</m:t>
                    </m:r>
                    <m:r>
                      <a:rPr lang="en-CA" b="1" i="1" dirty="0">
                        <a:latin typeface="Cambria Math" panose="02040503050406030204" pitchFamily="18" charset="0"/>
                      </a:rPr>
                      <m:t>/</m:t>
                    </m:r>
                    <m:r>
                      <a:rPr lang="en-CA" b="1" i="1" dirty="0">
                        <a:solidFill>
                          <a:srgbClr val="008000"/>
                        </a:solidFill>
                        <a:latin typeface="Cambria Math" panose="02040503050406030204" pitchFamily="18" charset="0"/>
                      </a:rPr>
                      <m:t>𝑫</m:t>
                    </m:r>
                  </m:oMath>
                </a14:m>
                <a:r>
                  <a:rPr lang="en-CA" sz="2300" b="1" dirty="0"/>
                  <a:t>)</a:t>
                </a:r>
              </a:p>
              <a:p>
                <a:pPr marL="0" indent="0">
                  <a:lnSpc>
                    <a:spcPct val="170000"/>
                  </a:lnSpc>
                  <a:spcBef>
                    <a:spcPts val="1800"/>
                  </a:spcBef>
                  <a:spcAft>
                    <a:spcPts val="600"/>
                  </a:spcAft>
                  <a:buNone/>
                </a:pPr>
                <a:r>
                  <a:rPr lang="en-CA" sz="2000" dirty="0">
                    <a:solidFill>
                      <a:schemeClr val="tx1"/>
                    </a:solidFill>
                  </a:rPr>
                  <a:t>Our goal is to determine one of the following:</a:t>
                </a:r>
              </a:p>
              <a:p>
                <a:pPr marL="457200" indent="-457200">
                  <a:lnSpc>
                    <a:spcPct val="120000"/>
                  </a:lnSpc>
                  <a:spcAft>
                    <a:spcPts val="600"/>
                  </a:spcAft>
                  <a:buFont typeface="+mj-lt"/>
                  <a:buAutoNum type="arabicPeriod"/>
                </a:pPr>
                <a:r>
                  <a:rPr lang="en-CA" sz="2000" dirty="0">
                    <a:solidFill>
                      <a:schemeClr val="tx1"/>
                    </a:solidFill>
                  </a:rPr>
                  <a:t>Find </a:t>
                </a:r>
                <a14:m>
                  <m:oMath xmlns:m="http://schemas.openxmlformats.org/officeDocument/2006/math">
                    <m:r>
                      <a:rPr lang="en-CA" sz="2000" b="0" i="1" dirty="0" smtClean="0">
                        <a:solidFill>
                          <a:schemeClr val="tx1"/>
                        </a:solidFill>
                        <a:latin typeface="Cambria Math" panose="02040503050406030204" pitchFamily="18" charset="0"/>
                        <a:ea typeface="Cambria Math" panose="02040503050406030204" pitchFamily="18" charset="0"/>
                      </a:rPr>
                      <m:t>∆</m:t>
                    </m:r>
                    <m:r>
                      <a:rPr lang="en-CA" sz="2000" b="0" i="1" dirty="0" smtClean="0">
                        <a:solidFill>
                          <a:schemeClr val="tx1"/>
                        </a:solidFill>
                        <a:latin typeface="Cambria Math" panose="02040503050406030204" pitchFamily="18" charset="0"/>
                      </a:rPr>
                      <m:t>𝑝</m:t>
                    </m:r>
                  </m:oMath>
                </a14:m>
                <a:r>
                  <a:rPr lang="en-CA" sz="2000" dirty="0">
                    <a:solidFill>
                      <a:schemeClr val="tx1"/>
                    </a:solidFill>
                  </a:rPr>
                  <a:t> for a given </a:t>
                </a:r>
                <a14:m>
                  <m:oMath xmlns:m="http://schemas.openxmlformats.org/officeDocument/2006/math">
                    <m:r>
                      <a:rPr lang="en-CA" sz="2000" b="0" i="1" dirty="0" smtClean="0">
                        <a:solidFill>
                          <a:schemeClr val="tx1"/>
                        </a:solidFill>
                        <a:latin typeface="Cambria Math" panose="02040503050406030204" pitchFamily="18" charset="0"/>
                      </a:rPr>
                      <m:t>𝐿</m:t>
                    </m:r>
                    <m:r>
                      <a:rPr lang="en-CA" sz="2000" b="0" i="1" dirty="0" smtClean="0">
                        <a:solidFill>
                          <a:schemeClr val="tx1"/>
                        </a:solidFill>
                        <a:latin typeface="Cambria Math" panose="02040503050406030204" pitchFamily="18" charset="0"/>
                      </a:rPr>
                      <m:t>, </m:t>
                    </m:r>
                    <m:r>
                      <a:rPr lang="en-CA" sz="2000" b="0" i="1" dirty="0" smtClean="0">
                        <a:solidFill>
                          <a:schemeClr val="tx1"/>
                        </a:solidFill>
                        <a:latin typeface="Cambria Math" panose="02040503050406030204" pitchFamily="18" charset="0"/>
                      </a:rPr>
                      <m:t>𝐷</m:t>
                    </m:r>
                    <m:r>
                      <a:rPr lang="en-CA" sz="2000" b="0" i="1" dirty="0" smtClean="0">
                        <a:solidFill>
                          <a:schemeClr val="tx1"/>
                        </a:solidFill>
                        <a:latin typeface="Cambria Math" panose="02040503050406030204" pitchFamily="18" charset="0"/>
                      </a:rPr>
                      <m:t> </m:t>
                    </m:r>
                  </m:oMath>
                </a14:m>
                <a:r>
                  <a:rPr lang="en-CA" sz="2000" dirty="0">
                    <a:solidFill>
                      <a:schemeClr val="tx1"/>
                    </a:solidFill>
                  </a:rPr>
                  <a:t>and </a:t>
                </a:r>
                <a14:m>
                  <m:oMath xmlns:m="http://schemas.openxmlformats.org/officeDocument/2006/math">
                    <m:r>
                      <a:rPr lang="en-CA" sz="2000" b="0" i="1" dirty="0" smtClean="0">
                        <a:solidFill>
                          <a:schemeClr val="tx1"/>
                        </a:solidFill>
                        <a:latin typeface="Cambria Math" panose="02040503050406030204" pitchFamily="18" charset="0"/>
                      </a:rPr>
                      <m:t>𝑄</m:t>
                    </m:r>
                  </m:oMath>
                </a14:m>
                <a:r>
                  <a:rPr lang="en-CA" sz="2000" dirty="0">
                    <a:solidFill>
                      <a:schemeClr val="tx1"/>
                    </a:solidFill>
                  </a:rPr>
                  <a:t>:  Use energy equation directly</a:t>
                </a:r>
              </a:p>
              <a:p>
                <a:pPr marL="457200" indent="-457200">
                  <a:lnSpc>
                    <a:spcPct val="120000"/>
                  </a:lnSpc>
                  <a:spcAft>
                    <a:spcPts val="600"/>
                  </a:spcAft>
                  <a:buFont typeface="+mj-lt"/>
                  <a:buAutoNum type="arabicPeriod"/>
                </a:pPr>
                <a:r>
                  <a:rPr lang="en-CA" sz="2000" dirty="0">
                    <a:solidFill>
                      <a:schemeClr val="tx1"/>
                    </a:solidFill>
                  </a:rPr>
                  <a:t>Find </a:t>
                </a:r>
                <a14:m>
                  <m:oMath xmlns:m="http://schemas.openxmlformats.org/officeDocument/2006/math">
                    <m:r>
                      <a:rPr lang="en-CA" sz="2000" b="0" i="1" dirty="0" smtClean="0">
                        <a:solidFill>
                          <a:schemeClr val="tx1"/>
                        </a:solidFill>
                        <a:latin typeface="Cambria Math" panose="02040503050406030204" pitchFamily="18" charset="0"/>
                      </a:rPr>
                      <m:t>𝐿</m:t>
                    </m:r>
                  </m:oMath>
                </a14:m>
                <a:r>
                  <a:rPr lang="en-CA" sz="2000" dirty="0">
                    <a:solidFill>
                      <a:schemeClr val="tx1"/>
                    </a:solidFill>
                  </a:rPr>
                  <a:t> for a given </a:t>
                </a:r>
                <a14:m>
                  <m:oMath xmlns:m="http://schemas.openxmlformats.org/officeDocument/2006/math">
                    <m:r>
                      <a:rPr lang="en-CA" sz="2000" b="0" i="1" dirty="0" smtClean="0">
                        <a:solidFill>
                          <a:schemeClr val="tx1"/>
                        </a:solidFill>
                        <a:latin typeface="Cambria Math" panose="02040503050406030204" pitchFamily="18" charset="0"/>
                        <a:ea typeface="Cambria Math" panose="02040503050406030204" pitchFamily="18" charset="0"/>
                      </a:rPr>
                      <m:t>∆</m:t>
                    </m:r>
                    <m:r>
                      <a:rPr lang="en-CA" sz="2000" b="0" i="1" dirty="0" smtClean="0">
                        <a:solidFill>
                          <a:schemeClr val="tx1"/>
                        </a:solidFill>
                        <a:latin typeface="Cambria Math" panose="02040503050406030204" pitchFamily="18" charset="0"/>
                      </a:rPr>
                      <m:t>𝑝</m:t>
                    </m:r>
                  </m:oMath>
                </a14:m>
                <a:r>
                  <a:rPr lang="en-CA" sz="2000" dirty="0">
                    <a:solidFill>
                      <a:schemeClr val="tx1"/>
                    </a:solidFill>
                  </a:rPr>
                  <a:t> , </a:t>
                </a:r>
                <a14:m>
                  <m:oMath xmlns:m="http://schemas.openxmlformats.org/officeDocument/2006/math">
                    <m:r>
                      <a:rPr lang="en-CA" sz="2000" b="0" i="1" dirty="0" smtClean="0">
                        <a:solidFill>
                          <a:schemeClr val="tx1"/>
                        </a:solidFill>
                        <a:latin typeface="Cambria Math" panose="02040503050406030204" pitchFamily="18" charset="0"/>
                      </a:rPr>
                      <m:t>𝐷</m:t>
                    </m:r>
                  </m:oMath>
                </a14:m>
                <a:r>
                  <a:rPr lang="en-CA" sz="2000" dirty="0">
                    <a:solidFill>
                      <a:schemeClr val="tx1"/>
                    </a:solidFill>
                  </a:rPr>
                  <a:t> and </a:t>
                </a:r>
                <a14:m>
                  <m:oMath xmlns:m="http://schemas.openxmlformats.org/officeDocument/2006/math">
                    <m:r>
                      <a:rPr lang="en-CA" sz="2000" b="0" i="1" dirty="0" smtClean="0">
                        <a:solidFill>
                          <a:schemeClr val="tx1"/>
                        </a:solidFill>
                        <a:latin typeface="Cambria Math" panose="02040503050406030204" pitchFamily="18" charset="0"/>
                      </a:rPr>
                      <m:t>𝑄</m:t>
                    </m:r>
                  </m:oMath>
                </a14:m>
                <a:r>
                  <a:rPr lang="en-CA" sz="2000" dirty="0">
                    <a:solidFill>
                      <a:schemeClr val="tx1"/>
                    </a:solidFill>
                  </a:rPr>
                  <a:t>: Use energy equation directly</a:t>
                </a:r>
              </a:p>
              <a:p>
                <a:pPr marL="457200" indent="-457200">
                  <a:lnSpc>
                    <a:spcPct val="120000"/>
                  </a:lnSpc>
                  <a:spcAft>
                    <a:spcPts val="600"/>
                  </a:spcAft>
                  <a:buFont typeface="+mj-lt"/>
                  <a:buAutoNum type="arabicPeriod"/>
                </a:pPr>
                <a:r>
                  <a:rPr lang="en-US" sz="2000" dirty="0">
                    <a:solidFill>
                      <a:schemeClr val="tx1"/>
                    </a:solidFill>
                  </a:rPr>
                  <a:t>Find </a:t>
                </a:r>
                <a14:m>
                  <m:oMath xmlns:m="http://schemas.openxmlformats.org/officeDocument/2006/math">
                    <m:r>
                      <a:rPr lang="en-US" sz="2000" b="0" i="1" dirty="0" smtClean="0">
                        <a:solidFill>
                          <a:schemeClr val="tx1"/>
                        </a:solidFill>
                        <a:latin typeface="Cambria Math" panose="02040503050406030204" pitchFamily="18" charset="0"/>
                      </a:rPr>
                      <m:t>𝑄</m:t>
                    </m:r>
                  </m:oMath>
                </a14:m>
                <a:r>
                  <a:rPr lang="en-US" sz="2000" dirty="0">
                    <a:solidFill>
                      <a:schemeClr val="tx1"/>
                    </a:solidFill>
                  </a:rPr>
                  <a:t> for a given </a:t>
                </a:r>
                <a14:m>
                  <m:oMath xmlns:m="http://schemas.openxmlformats.org/officeDocument/2006/math">
                    <m:r>
                      <a:rPr lang="en-CA" sz="2000" b="0" i="1" dirty="0" smtClean="0">
                        <a:solidFill>
                          <a:schemeClr val="tx1"/>
                        </a:solidFill>
                        <a:latin typeface="Cambria Math" panose="02040503050406030204" pitchFamily="18" charset="0"/>
                        <a:ea typeface="Cambria Math" panose="02040503050406030204" pitchFamily="18" charset="0"/>
                      </a:rPr>
                      <m:t>∆</m:t>
                    </m:r>
                    <m:r>
                      <a:rPr lang="en-CA" sz="2000" b="0" i="1" dirty="0" smtClean="0">
                        <a:solidFill>
                          <a:schemeClr val="tx1"/>
                        </a:solidFill>
                        <a:latin typeface="Cambria Math" panose="02040503050406030204" pitchFamily="18" charset="0"/>
                      </a:rPr>
                      <m:t>𝑝</m:t>
                    </m:r>
                  </m:oMath>
                </a14:m>
                <a:r>
                  <a:rPr lang="en-CA" sz="2000" dirty="0">
                    <a:solidFill>
                      <a:schemeClr val="tx1"/>
                    </a:solidFill>
                  </a:rPr>
                  <a:t> </a:t>
                </a:r>
                <a:r>
                  <a:rPr lang="en-US" sz="2000" dirty="0">
                    <a:solidFill>
                      <a:schemeClr val="tx1"/>
                    </a:solidFill>
                  </a:rPr>
                  <a:t>, </a:t>
                </a:r>
                <a14:m>
                  <m:oMath xmlns:m="http://schemas.openxmlformats.org/officeDocument/2006/math">
                    <m:r>
                      <a:rPr lang="en-US" sz="2000" b="0" i="1" dirty="0" smtClean="0">
                        <a:solidFill>
                          <a:schemeClr val="tx1"/>
                        </a:solidFill>
                        <a:latin typeface="Cambria Math" panose="02040503050406030204" pitchFamily="18" charset="0"/>
                      </a:rPr>
                      <m:t>𝐿</m:t>
                    </m:r>
                  </m:oMath>
                </a14:m>
                <a:r>
                  <a:rPr lang="en-US" sz="2000" dirty="0">
                    <a:solidFill>
                      <a:schemeClr val="tx1"/>
                    </a:solidFill>
                  </a:rPr>
                  <a:t>, and </a:t>
                </a:r>
                <a14:m>
                  <m:oMath xmlns:m="http://schemas.openxmlformats.org/officeDocument/2006/math">
                    <m:r>
                      <a:rPr lang="en-US" sz="2000" b="0" i="1" dirty="0" smtClean="0">
                        <a:solidFill>
                          <a:schemeClr val="tx1"/>
                        </a:solidFill>
                        <a:latin typeface="Cambria Math" panose="02040503050406030204" pitchFamily="18" charset="0"/>
                      </a:rPr>
                      <m:t>𝐷</m:t>
                    </m:r>
                  </m:oMath>
                </a14:m>
                <a:r>
                  <a:rPr lang="en-US" sz="2000" dirty="0">
                    <a:solidFill>
                      <a:schemeClr val="tx1"/>
                    </a:solidFill>
                  </a:rPr>
                  <a:t>: </a:t>
                </a:r>
              </a:p>
              <a:p>
                <a:pPr marL="0" indent="0">
                  <a:lnSpc>
                    <a:spcPct val="120000"/>
                  </a:lnSpc>
                  <a:spcAft>
                    <a:spcPts val="600"/>
                  </a:spcAft>
                  <a:buNone/>
                </a:pPr>
                <a:r>
                  <a:rPr lang="en-US" sz="2000" dirty="0">
                    <a:solidFill>
                      <a:schemeClr val="tx1"/>
                    </a:solidFill>
                  </a:rPr>
                  <a:t>``	Manually iterate energy equation and friction factor formula to find </a:t>
                </a:r>
                <a14:m>
                  <m:oMath xmlns:m="http://schemas.openxmlformats.org/officeDocument/2006/math">
                    <m:r>
                      <a:rPr lang="en-US" sz="2000" b="0" i="1" dirty="0" smtClean="0">
                        <a:solidFill>
                          <a:schemeClr val="tx1"/>
                        </a:solidFill>
                        <a:latin typeface="Cambria Math" panose="02040503050406030204" pitchFamily="18" charset="0"/>
                      </a:rPr>
                      <m:t>𝑉</m:t>
                    </m:r>
                  </m:oMath>
                </a14:m>
                <a:r>
                  <a:rPr lang="en-US" sz="2000" dirty="0">
                    <a:solidFill>
                      <a:schemeClr val="tx1"/>
                    </a:solidFill>
                  </a:rPr>
                  <a:t> (or </a:t>
                </a:r>
                <a14:m>
                  <m:oMath xmlns:m="http://schemas.openxmlformats.org/officeDocument/2006/math">
                    <m:r>
                      <a:rPr lang="en-US" sz="2000" b="0" i="1" dirty="0" smtClean="0">
                        <a:solidFill>
                          <a:schemeClr val="tx1"/>
                        </a:solidFill>
                        <a:latin typeface="Cambria Math" panose="02040503050406030204" pitchFamily="18" charset="0"/>
                      </a:rPr>
                      <m:t>𝑄</m:t>
                    </m:r>
                  </m:oMath>
                </a14:m>
                <a:r>
                  <a:rPr lang="en-US" sz="2000" dirty="0">
                    <a:solidFill>
                      <a:schemeClr val="tx1"/>
                    </a:solidFill>
                  </a:rPr>
                  <a:t>), or </a:t>
                </a:r>
              </a:p>
              <a:p>
                <a:pPr marL="0" indent="0">
                  <a:lnSpc>
                    <a:spcPct val="120000"/>
                  </a:lnSpc>
                  <a:spcAft>
                    <a:spcPts val="600"/>
                  </a:spcAft>
                  <a:buNone/>
                </a:pPr>
                <a:r>
                  <a:rPr lang="en-US" sz="2000" dirty="0">
                    <a:solidFill>
                      <a:schemeClr val="tx1"/>
                    </a:solidFill>
                  </a:rPr>
                  <a:t>	Directly solve, simultaneously, energy equation and friction factor formula using Excel</a:t>
                </a:r>
              </a:p>
              <a:p>
                <a:pPr marL="457200" indent="-457200">
                  <a:lnSpc>
                    <a:spcPct val="120000"/>
                  </a:lnSpc>
                  <a:spcAft>
                    <a:spcPts val="600"/>
                  </a:spcAft>
                  <a:buFont typeface="+mj-lt"/>
                  <a:buAutoNum type="arabicPeriod" startAt="4"/>
                </a:pPr>
                <a:r>
                  <a:rPr lang="en-US" sz="2000" dirty="0">
                    <a:solidFill>
                      <a:schemeClr val="tx1"/>
                    </a:solidFill>
                  </a:rPr>
                  <a:t>Find </a:t>
                </a:r>
                <a14:m>
                  <m:oMath xmlns:m="http://schemas.openxmlformats.org/officeDocument/2006/math">
                    <m:r>
                      <a:rPr lang="en-CA" sz="2000" b="0" i="1" dirty="0" smtClean="0">
                        <a:solidFill>
                          <a:schemeClr val="tx1"/>
                        </a:solidFill>
                        <a:latin typeface="Cambria Math" panose="02040503050406030204" pitchFamily="18" charset="0"/>
                      </a:rPr>
                      <m:t>𝐷</m:t>
                    </m:r>
                  </m:oMath>
                </a14:m>
                <a:r>
                  <a:rPr lang="en-US" sz="2000" dirty="0">
                    <a:solidFill>
                      <a:schemeClr val="tx1"/>
                    </a:solidFill>
                  </a:rPr>
                  <a:t> for a given </a:t>
                </a:r>
                <a14:m>
                  <m:oMath xmlns:m="http://schemas.openxmlformats.org/officeDocument/2006/math">
                    <m:r>
                      <a:rPr lang="en-CA" sz="2000" b="0" i="1" dirty="0" smtClean="0">
                        <a:solidFill>
                          <a:schemeClr val="tx1"/>
                        </a:solidFill>
                        <a:latin typeface="Cambria Math" panose="02040503050406030204" pitchFamily="18" charset="0"/>
                        <a:ea typeface="Cambria Math" panose="02040503050406030204" pitchFamily="18" charset="0"/>
                      </a:rPr>
                      <m:t>∆</m:t>
                    </m:r>
                    <m:r>
                      <a:rPr lang="en-CA" sz="2000" b="0" i="1" dirty="0" smtClean="0">
                        <a:solidFill>
                          <a:schemeClr val="tx1"/>
                        </a:solidFill>
                        <a:latin typeface="Cambria Math" panose="02040503050406030204" pitchFamily="18" charset="0"/>
                      </a:rPr>
                      <m:t>𝑝</m:t>
                    </m:r>
                  </m:oMath>
                </a14:m>
                <a:r>
                  <a:rPr lang="en-CA" sz="2000" dirty="0">
                    <a:solidFill>
                      <a:schemeClr val="tx1"/>
                    </a:solidFill>
                  </a:rPr>
                  <a:t> </a:t>
                </a:r>
                <a:r>
                  <a:rPr lang="en-US" sz="2000" dirty="0">
                    <a:solidFill>
                      <a:schemeClr val="tx1"/>
                    </a:solidFill>
                  </a:rPr>
                  <a:t>, </a:t>
                </a:r>
                <a14:m>
                  <m:oMath xmlns:m="http://schemas.openxmlformats.org/officeDocument/2006/math">
                    <m:r>
                      <a:rPr lang="en-US" sz="2000" b="0" i="1" dirty="0" smtClean="0">
                        <a:solidFill>
                          <a:schemeClr val="tx1"/>
                        </a:solidFill>
                        <a:latin typeface="Cambria Math" panose="02040503050406030204" pitchFamily="18" charset="0"/>
                      </a:rPr>
                      <m:t>𝐿</m:t>
                    </m:r>
                  </m:oMath>
                </a14:m>
                <a:r>
                  <a:rPr lang="en-US" sz="2000" dirty="0">
                    <a:solidFill>
                      <a:schemeClr val="tx1"/>
                    </a:solidFill>
                  </a:rPr>
                  <a:t>, and </a:t>
                </a:r>
                <a14:m>
                  <m:oMath xmlns:m="http://schemas.openxmlformats.org/officeDocument/2006/math">
                    <m:r>
                      <a:rPr lang="en-CA" sz="2000" b="0" i="1" dirty="0" smtClean="0">
                        <a:solidFill>
                          <a:schemeClr val="tx1"/>
                        </a:solidFill>
                        <a:latin typeface="Cambria Math" panose="02040503050406030204" pitchFamily="18" charset="0"/>
                      </a:rPr>
                      <m:t>𝑄</m:t>
                    </m:r>
                  </m:oMath>
                </a14:m>
                <a:r>
                  <a:rPr lang="en-US" sz="2000" dirty="0">
                    <a:solidFill>
                      <a:schemeClr val="tx1"/>
                    </a:solidFill>
                  </a:rPr>
                  <a:t>: </a:t>
                </a:r>
              </a:p>
              <a:p>
                <a:pPr marL="0" indent="0">
                  <a:lnSpc>
                    <a:spcPct val="120000"/>
                  </a:lnSpc>
                  <a:spcAft>
                    <a:spcPts val="600"/>
                  </a:spcAft>
                  <a:buNone/>
                </a:pPr>
                <a:r>
                  <a:rPr lang="en-US" sz="2000" dirty="0">
                    <a:solidFill>
                      <a:schemeClr val="tx1"/>
                    </a:solidFill>
                  </a:rPr>
                  <a:t>	Manually iterate energy equation and friction factor formula to find </a:t>
                </a:r>
                <a14:m>
                  <m:oMath xmlns:m="http://schemas.openxmlformats.org/officeDocument/2006/math">
                    <m:r>
                      <a:rPr lang="en-CA" sz="2000" b="0" i="1" dirty="0" smtClean="0">
                        <a:solidFill>
                          <a:schemeClr val="tx1"/>
                        </a:solidFill>
                        <a:latin typeface="Cambria Math" panose="02040503050406030204" pitchFamily="18" charset="0"/>
                      </a:rPr>
                      <m:t>𝐷</m:t>
                    </m:r>
                  </m:oMath>
                </a14:m>
                <a:r>
                  <a:rPr lang="en-US" sz="2000" dirty="0">
                    <a:solidFill>
                      <a:schemeClr val="tx1"/>
                    </a:solidFill>
                  </a:rPr>
                  <a:t>, or </a:t>
                </a:r>
              </a:p>
              <a:p>
                <a:pPr marL="0" indent="0">
                  <a:lnSpc>
                    <a:spcPct val="120000"/>
                  </a:lnSpc>
                  <a:spcAft>
                    <a:spcPts val="600"/>
                  </a:spcAft>
                  <a:buNone/>
                </a:pPr>
                <a:r>
                  <a:rPr lang="en-US" sz="2000" dirty="0">
                    <a:solidFill>
                      <a:schemeClr val="tx1"/>
                    </a:solidFill>
                  </a:rPr>
                  <a:t>	Directly solve, simultaneously, energy equation and friction factor formula using Excel</a:t>
                </a:r>
              </a:p>
              <a:p>
                <a:pPr marL="0" indent="0">
                  <a:lnSpc>
                    <a:spcPct val="120000"/>
                  </a:lnSpc>
                  <a:buNone/>
                </a:pPr>
                <a:endParaRPr lang="en-CA" sz="2200" b="1" dirty="0">
                  <a:solidFill>
                    <a:srgbClr val="0000FF"/>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 y="631378"/>
                <a:ext cx="11660777" cy="6115796"/>
              </a:xfrm>
              <a:blipFill>
                <a:blip r:embed="rId2"/>
                <a:stretch>
                  <a:fillRect l="-523"/>
                </a:stretch>
              </a:blipFill>
            </p:spPr>
            <p:txBody>
              <a:bodyPr/>
              <a:lstStyle/>
              <a:p>
                <a:r>
                  <a:rPr lang="en-GH">
                    <a:noFill/>
                  </a:rPr>
                  <a:t> </a:t>
                </a:r>
              </a:p>
            </p:txBody>
          </p:sp>
        </mc:Fallback>
      </mc:AlternateContent>
    </p:spTree>
    <p:extLst>
      <p:ext uri="{BB962C8B-B14F-4D97-AF65-F5344CB8AC3E}">
        <p14:creationId xmlns:p14="http://schemas.microsoft.com/office/powerpoint/2010/main" val="41397245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359" y="646964"/>
            <a:ext cx="7886700" cy="568940"/>
          </a:xfrm>
        </p:spPr>
        <p:txBody>
          <a:bodyPr>
            <a:normAutofit/>
          </a:bodyPr>
          <a:lstStyle/>
          <a:p>
            <a:r>
              <a:rPr lang="en-CA" sz="2400" b="1" u="sng" dirty="0">
                <a:latin typeface="Times New Roman" panose="02020603050405020304" pitchFamily="18" charset="0"/>
                <a:cs typeface="Times New Roman" panose="02020603050405020304" pitchFamily="18" charset="0"/>
              </a:rPr>
              <a:t>Noncircular Ducts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82880" y="2460552"/>
                <a:ext cx="11382103" cy="3992499"/>
              </a:xfrm>
            </p:spPr>
            <p:txBody>
              <a:bodyPr>
                <a:normAutofit/>
              </a:bodyPr>
              <a:lstStyle/>
              <a:p>
                <a:pPr algn="just">
                  <a:lnSpc>
                    <a:spcPct val="150000"/>
                  </a:lnSpc>
                  <a:spcBef>
                    <a:spcPts val="1200"/>
                  </a:spcBef>
                  <a:spcAft>
                    <a:spcPts val="600"/>
                  </a:spcAft>
                </a:pPr>
                <a:r>
                  <a:rPr lang="en-US" sz="2400" dirty="0">
                    <a:solidFill>
                      <a:schemeClr val="tx1"/>
                    </a:solidFill>
                    <a:latin typeface="Times New Roman" panose="02020603050405020304" pitchFamily="18" charset="0"/>
                    <a:cs typeface="Times New Roman" panose="02020603050405020304" pitchFamily="18" charset="0"/>
                  </a:rPr>
                  <a:t>For non-circular ducts, we use the concept of hydraulic diameter, i.e., we replace the diameter (</a:t>
                </a:r>
                <a14:m>
                  <m:oMath xmlns:m="http://schemas.openxmlformats.org/officeDocument/2006/math">
                    <m:r>
                      <a:rPr lang="en-US" sz="2400" b="0" i="1" dirty="0">
                        <a:solidFill>
                          <a:schemeClr val="tx1"/>
                        </a:solidFill>
                        <a:latin typeface="Cambria Math" panose="02040503050406030204" pitchFamily="18" charset="0"/>
                      </a:rPr>
                      <m:t>𝐷</m:t>
                    </m:r>
                  </m:oMath>
                </a14:m>
                <a:r>
                  <a:rPr lang="en-US" sz="2400" dirty="0">
                    <a:solidFill>
                      <a:schemeClr val="tx1"/>
                    </a:solidFill>
                    <a:latin typeface="Times New Roman" panose="02020603050405020304" pitchFamily="18" charset="0"/>
                    <a:cs typeface="Times New Roman" panose="02020603050405020304" pitchFamily="18" charset="0"/>
                  </a:rPr>
                  <a:t>) in our analysis by the hydraulic diameter (</a:t>
                </a:r>
                <a14:m>
                  <m:oMath xmlns:m="http://schemas.openxmlformats.org/officeDocument/2006/math">
                    <m:sSub>
                      <m:sSubPr>
                        <m:ctrlPr>
                          <a:rPr lang="en-US" sz="2400" i="1" dirty="0">
                            <a:solidFill>
                              <a:schemeClr val="tx1"/>
                            </a:solidFill>
                            <a:latin typeface="Cambria Math" panose="02040503050406030204" pitchFamily="18" charset="0"/>
                          </a:rPr>
                        </m:ctrlPr>
                      </m:sSubPr>
                      <m:e>
                        <m:r>
                          <a:rPr lang="en-US" sz="2400" b="0" i="1" dirty="0">
                            <a:solidFill>
                              <a:schemeClr val="tx1"/>
                            </a:solidFill>
                            <a:latin typeface="Cambria Math" panose="02040503050406030204" pitchFamily="18" charset="0"/>
                          </a:rPr>
                          <m:t>𝐷</m:t>
                        </m:r>
                      </m:e>
                      <m:sub>
                        <m:r>
                          <a:rPr lang="en-US" sz="2400" b="0" i="1" dirty="0">
                            <a:solidFill>
                              <a:schemeClr val="tx1"/>
                            </a:solidFill>
                            <a:latin typeface="Cambria Math" panose="02040503050406030204" pitchFamily="18" charset="0"/>
                          </a:rPr>
                          <m:t>h</m:t>
                        </m:r>
                      </m:sub>
                    </m:sSub>
                  </m:oMath>
                </a14:m>
                <a:r>
                  <a:rPr lang="en-US" sz="2400" dirty="0">
                    <a:solidFill>
                      <a:schemeClr val="tx1"/>
                    </a:solidFill>
                    <a:latin typeface="Times New Roman" panose="02020603050405020304" pitchFamily="18" charset="0"/>
                    <a:cs typeface="Times New Roman" panose="02020603050405020304" pitchFamily="18" charset="0"/>
                  </a:rPr>
                  <a:t>) of the non-circular duct. </a:t>
                </a:r>
              </a:p>
              <a:p>
                <a:pPr algn="just">
                  <a:lnSpc>
                    <a:spcPct val="150000"/>
                  </a:lnSpc>
                  <a:spcBef>
                    <a:spcPts val="1200"/>
                  </a:spcBef>
                  <a:spcAft>
                    <a:spcPts val="600"/>
                  </a:spcAft>
                </a:pPr>
                <a:r>
                  <a:rPr lang="en-US" sz="2400" dirty="0">
                    <a:solidFill>
                      <a:schemeClr val="tx1"/>
                    </a:solidFill>
                    <a:latin typeface="Times New Roman" panose="02020603050405020304" pitchFamily="18" charset="0"/>
                    <a:cs typeface="Times New Roman" panose="02020603050405020304" pitchFamily="18" charset="0"/>
                  </a:rPr>
                  <a:t>The hydraulic diameter can be calculated from the following:</a:t>
                </a:r>
              </a:p>
              <a:p>
                <a:pPr marL="0" indent="0" algn="just">
                  <a:lnSpc>
                    <a:spcPct val="150000"/>
                  </a:lnSpc>
                  <a:spcBef>
                    <a:spcPts val="1200"/>
                  </a:spcBef>
                  <a:spcAft>
                    <a:spcPts val="600"/>
                  </a:spcAft>
                  <a:buNone/>
                </a:pPr>
                <a14:m>
                  <m:oMathPara xmlns:m="http://schemas.openxmlformats.org/officeDocument/2006/math">
                    <m:oMathParaPr>
                      <m:jc m:val="centerGroup"/>
                    </m:oMathParaPr>
                    <m:oMath xmlns:m="http://schemas.openxmlformats.org/officeDocument/2006/math">
                      <m:sSub>
                        <m:sSubPr>
                          <m:ctrlPr>
                            <a:rPr lang="en-US" sz="2400" i="1">
                              <a:solidFill>
                                <a:schemeClr val="tx1"/>
                              </a:solidFill>
                              <a:latin typeface="Cambria Math" panose="02040503050406030204" pitchFamily="18" charset="0"/>
                            </a:rPr>
                          </m:ctrlPr>
                        </m:sSubPr>
                        <m:e>
                          <m:r>
                            <a:rPr lang="en-CA" sz="2400" b="0" i="1">
                              <a:solidFill>
                                <a:schemeClr val="tx1"/>
                              </a:solidFill>
                              <a:latin typeface="Cambria Math" panose="02040503050406030204" pitchFamily="18" charset="0"/>
                            </a:rPr>
                            <m:t>𝐷</m:t>
                          </m:r>
                        </m:e>
                        <m:sub>
                          <m:r>
                            <a:rPr lang="en-CA" sz="2400" b="0" i="1">
                              <a:solidFill>
                                <a:schemeClr val="tx1"/>
                              </a:solidFill>
                              <a:latin typeface="Cambria Math" panose="02040503050406030204" pitchFamily="18" charset="0"/>
                            </a:rPr>
                            <m:t>h</m:t>
                          </m:r>
                        </m:sub>
                      </m:sSub>
                      <m:r>
                        <a:rPr lang="en-CA" sz="2400" b="0" i="1">
                          <a:solidFill>
                            <a:schemeClr val="tx1"/>
                          </a:solidFill>
                          <a:latin typeface="Cambria Math" panose="02040503050406030204" pitchFamily="18" charset="0"/>
                        </a:rPr>
                        <m:t>=</m:t>
                      </m:r>
                      <m:f>
                        <m:fPr>
                          <m:ctrlPr>
                            <a:rPr lang="en-CA" sz="2400" i="1">
                              <a:solidFill>
                                <a:schemeClr val="tx1"/>
                              </a:solidFill>
                              <a:latin typeface="Cambria Math" panose="02040503050406030204" pitchFamily="18" charset="0"/>
                            </a:rPr>
                          </m:ctrlPr>
                        </m:fPr>
                        <m:num>
                          <m:r>
                            <a:rPr lang="en-CA" sz="2400" b="0" i="1">
                              <a:solidFill>
                                <a:schemeClr val="tx1"/>
                              </a:solidFill>
                              <a:latin typeface="Cambria Math" panose="02040503050406030204" pitchFamily="18" charset="0"/>
                            </a:rPr>
                            <m:t>4</m:t>
                          </m:r>
                          <m:r>
                            <a:rPr lang="en-CA" sz="2400" b="0" i="1">
                              <a:solidFill>
                                <a:schemeClr val="tx1"/>
                              </a:solidFill>
                              <a:latin typeface="Cambria Math" panose="02040503050406030204" pitchFamily="18" charset="0"/>
                            </a:rPr>
                            <m:t>𝐴</m:t>
                          </m:r>
                        </m:num>
                        <m:den>
                          <m:r>
                            <a:rPr lang="en-CA" sz="2400" b="0" i="1">
                              <a:solidFill>
                                <a:schemeClr val="tx1"/>
                              </a:solidFill>
                              <a:latin typeface="Cambria Math" panose="02040503050406030204" pitchFamily="18" charset="0"/>
                            </a:rPr>
                            <m:t>𝑃</m:t>
                          </m:r>
                        </m:den>
                      </m:f>
                    </m:oMath>
                  </m:oMathPara>
                </a14:m>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lnSpc>
                    <a:spcPct val="150000"/>
                  </a:lnSpc>
                  <a:spcBef>
                    <a:spcPts val="1200"/>
                  </a:spcBef>
                  <a:spcAft>
                    <a:spcPts val="600"/>
                  </a:spcAft>
                  <a:buNone/>
                </a:pPr>
                <a:r>
                  <a:rPr lang="en-US" sz="2400" dirty="0">
                    <a:solidFill>
                      <a:schemeClr val="tx1"/>
                    </a:solidFill>
                    <a:latin typeface="Times New Roman" panose="02020603050405020304" pitchFamily="18" charset="0"/>
                    <a:cs typeface="Times New Roman" panose="02020603050405020304" pitchFamily="18" charset="0"/>
                  </a:rPr>
                  <a:t>where </a:t>
                </a:r>
                <a14:m>
                  <m:oMath xmlns:m="http://schemas.openxmlformats.org/officeDocument/2006/math">
                    <m:r>
                      <a:rPr lang="en-US" sz="2400" b="0" i="1" dirty="0">
                        <a:solidFill>
                          <a:schemeClr val="tx1"/>
                        </a:solidFill>
                        <a:latin typeface="Cambria Math" panose="02040503050406030204" pitchFamily="18" charset="0"/>
                      </a:rPr>
                      <m:t>𝐴</m:t>
                    </m:r>
                  </m:oMath>
                </a14:m>
                <a:r>
                  <a:rPr lang="en-US" sz="2400" dirty="0">
                    <a:solidFill>
                      <a:schemeClr val="tx1"/>
                    </a:solidFill>
                    <a:latin typeface="Times New Roman" panose="02020603050405020304" pitchFamily="18" charset="0"/>
                    <a:cs typeface="Times New Roman" panose="02020603050405020304" pitchFamily="18" charset="0"/>
                  </a:rPr>
                  <a:t> is the cross-sectional area, and </a:t>
                </a:r>
                <a:r>
                  <a:rPr lang="en-US" sz="2400" i="1" dirty="0">
                    <a:solidFill>
                      <a:schemeClr val="tx1"/>
                    </a:solidFill>
                    <a:latin typeface="Times New Roman" panose="02020603050405020304" pitchFamily="18" charset="0"/>
                    <a:cs typeface="Times New Roman" panose="02020603050405020304" pitchFamily="18" charset="0"/>
                  </a:rPr>
                  <a:t>P</a:t>
                </a:r>
                <a:r>
                  <a:rPr lang="en-US" sz="2400" dirty="0">
                    <a:solidFill>
                      <a:schemeClr val="tx1"/>
                    </a:solidFill>
                    <a:latin typeface="Times New Roman" panose="02020603050405020304" pitchFamily="18" charset="0"/>
                    <a:cs typeface="Times New Roman" panose="02020603050405020304" pitchFamily="18" charset="0"/>
                  </a:rPr>
                  <a:t> is the </a:t>
                </a:r>
                <a:r>
                  <a:rPr lang="en-US" sz="2400" u="sng" dirty="0">
                    <a:solidFill>
                      <a:schemeClr val="tx1"/>
                    </a:solidFill>
                    <a:latin typeface="Times New Roman" panose="02020603050405020304" pitchFamily="18" charset="0"/>
                    <a:cs typeface="Times New Roman" panose="02020603050405020304" pitchFamily="18" charset="0"/>
                  </a:rPr>
                  <a:t>wetted</a:t>
                </a:r>
                <a:r>
                  <a:rPr lang="en-US" sz="2400" dirty="0">
                    <a:solidFill>
                      <a:schemeClr val="tx1"/>
                    </a:solidFill>
                    <a:latin typeface="Times New Roman" panose="02020603050405020304" pitchFamily="18" charset="0"/>
                    <a:cs typeface="Times New Roman" panose="02020603050405020304" pitchFamily="18" charset="0"/>
                  </a:rPr>
                  <a:t> perimeter.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82880" y="2460552"/>
                <a:ext cx="11382103" cy="3992499"/>
              </a:xfrm>
              <a:blipFill>
                <a:blip r:embed="rId2"/>
                <a:stretch>
                  <a:fillRect l="-803" r="-803"/>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863104" y="1441696"/>
                <a:ext cx="1465401" cy="7037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CA" b="1" i="1" smtClean="0">
                              <a:solidFill>
                                <a:schemeClr val="tx1"/>
                              </a:solidFill>
                              <a:latin typeface="Cambria Math" panose="02040503050406030204" pitchFamily="18" charset="0"/>
                            </a:rPr>
                          </m:ctrlPr>
                        </m:sSubPr>
                        <m:e>
                          <m:r>
                            <a:rPr lang="en-GB" b="1" i="1" smtClean="0">
                              <a:solidFill>
                                <a:schemeClr val="tx1"/>
                              </a:solidFill>
                              <a:latin typeface="Cambria Math" panose="02040503050406030204" pitchFamily="18" charset="0"/>
                            </a:rPr>
                            <m:t>𝑯</m:t>
                          </m:r>
                        </m:e>
                        <m:sub>
                          <m:r>
                            <a:rPr lang="en-CA" b="1" i="1">
                              <a:solidFill>
                                <a:schemeClr val="tx1"/>
                              </a:solidFill>
                              <a:latin typeface="Cambria Math" panose="02040503050406030204" pitchFamily="18" charset="0"/>
                            </a:rPr>
                            <m:t>𝒍</m:t>
                          </m:r>
                        </m:sub>
                      </m:sSub>
                      <m:r>
                        <a:rPr lang="en-CA" b="1" i="1">
                          <a:solidFill>
                            <a:schemeClr val="tx1"/>
                          </a:solidFill>
                          <a:latin typeface="Cambria Math" panose="02040503050406030204" pitchFamily="18" charset="0"/>
                        </a:rPr>
                        <m:t>=</m:t>
                      </m:r>
                      <m:r>
                        <a:rPr lang="en-CA" b="1" i="1">
                          <a:solidFill>
                            <a:schemeClr val="tx1"/>
                          </a:solidFill>
                          <a:latin typeface="Cambria Math" panose="02040503050406030204" pitchFamily="18" charset="0"/>
                        </a:rPr>
                        <m:t>𝒇</m:t>
                      </m:r>
                      <m:f>
                        <m:fPr>
                          <m:ctrlPr>
                            <a:rPr lang="en-CA" b="1" i="1">
                              <a:solidFill>
                                <a:schemeClr val="tx1"/>
                              </a:solidFill>
                              <a:latin typeface="Cambria Math" panose="02040503050406030204" pitchFamily="18" charset="0"/>
                            </a:rPr>
                          </m:ctrlPr>
                        </m:fPr>
                        <m:num>
                          <m:r>
                            <a:rPr lang="en-CA" b="1" i="1">
                              <a:solidFill>
                                <a:schemeClr val="tx1"/>
                              </a:solidFill>
                              <a:latin typeface="Cambria Math" panose="02040503050406030204" pitchFamily="18" charset="0"/>
                            </a:rPr>
                            <m:t>𝑳</m:t>
                          </m:r>
                        </m:num>
                        <m:den>
                          <m:r>
                            <a:rPr lang="en-CA" b="1" i="1">
                              <a:solidFill>
                                <a:schemeClr val="tx1"/>
                              </a:solidFill>
                              <a:latin typeface="Cambria Math" panose="02040503050406030204" pitchFamily="18" charset="0"/>
                            </a:rPr>
                            <m:t>𝑫</m:t>
                          </m:r>
                        </m:den>
                      </m:f>
                      <m:f>
                        <m:fPr>
                          <m:ctrlPr>
                            <a:rPr lang="en-CA" b="1" i="1">
                              <a:solidFill>
                                <a:schemeClr val="tx1"/>
                              </a:solidFill>
                              <a:latin typeface="Cambria Math" panose="02040503050406030204" pitchFamily="18" charset="0"/>
                            </a:rPr>
                          </m:ctrlPr>
                        </m:fPr>
                        <m:num>
                          <m:sSup>
                            <m:sSupPr>
                              <m:ctrlPr>
                                <a:rPr lang="en-CA" b="1" i="1">
                                  <a:solidFill>
                                    <a:schemeClr val="tx1"/>
                                  </a:solidFill>
                                  <a:latin typeface="Cambria Math" panose="02040503050406030204" pitchFamily="18" charset="0"/>
                                </a:rPr>
                              </m:ctrlPr>
                            </m:sSupPr>
                            <m:e>
                              <m:acc>
                                <m:accPr>
                                  <m:chr m:val="̅"/>
                                  <m:ctrlPr>
                                    <a:rPr lang="en-CA" b="1" i="1">
                                      <a:solidFill>
                                        <a:schemeClr val="tx1"/>
                                      </a:solidFill>
                                      <a:latin typeface="Cambria Math" panose="02040503050406030204" pitchFamily="18" charset="0"/>
                                    </a:rPr>
                                  </m:ctrlPr>
                                </m:accPr>
                                <m:e>
                                  <m:r>
                                    <a:rPr lang="en-CA" b="1" i="1">
                                      <a:solidFill>
                                        <a:schemeClr val="tx1"/>
                                      </a:solidFill>
                                      <a:latin typeface="Cambria Math" panose="02040503050406030204" pitchFamily="18" charset="0"/>
                                    </a:rPr>
                                    <m:t>𝑽</m:t>
                                  </m:r>
                                </m:e>
                              </m:acc>
                            </m:e>
                            <m:sup>
                              <m:r>
                                <a:rPr lang="en-CA" b="1" i="1">
                                  <a:solidFill>
                                    <a:schemeClr val="tx1"/>
                                  </a:solidFill>
                                  <a:latin typeface="Cambria Math" panose="02040503050406030204" pitchFamily="18" charset="0"/>
                                </a:rPr>
                                <m:t>𝟐</m:t>
                              </m:r>
                            </m:sup>
                          </m:sSup>
                        </m:num>
                        <m:den>
                          <m:r>
                            <a:rPr lang="en-CA" b="1" i="1">
                              <a:solidFill>
                                <a:schemeClr val="tx1"/>
                              </a:solidFill>
                              <a:latin typeface="Cambria Math" panose="02040503050406030204" pitchFamily="18" charset="0"/>
                            </a:rPr>
                            <m:t>𝟐</m:t>
                          </m:r>
                          <m:r>
                            <a:rPr lang="en-GB" b="1" i="1" smtClean="0">
                              <a:solidFill>
                                <a:schemeClr val="tx1"/>
                              </a:solidFill>
                              <a:latin typeface="Cambria Math" panose="02040503050406030204" pitchFamily="18" charset="0"/>
                            </a:rPr>
                            <m:t>𝒈</m:t>
                          </m:r>
                        </m:den>
                      </m:f>
                    </m:oMath>
                  </m:oMathPara>
                </a14:m>
                <a:endParaRPr lang="en-CA" dirty="0"/>
              </a:p>
            </p:txBody>
          </p:sp>
        </mc:Choice>
        <mc:Fallback xmlns="">
          <p:sp>
            <p:nvSpPr>
              <p:cNvPr id="6" name="Rectangle 5"/>
              <p:cNvSpPr>
                <a:spLocks noRot="1" noChangeAspect="1" noMove="1" noResize="1" noEditPoints="1" noAdjustHandles="1" noChangeArrowheads="1" noChangeShapeType="1" noTextEdit="1"/>
              </p:cNvSpPr>
              <p:nvPr/>
            </p:nvSpPr>
            <p:spPr>
              <a:xfrm>
                <a:off x="1863104" y="1441696"/>
                <a:ext cx="1465401" cy="703782"/>
              </a:xfrm>
              <a:prstGeom prst="rect">
                <a:avLst/>
              </a:prstGeom>
              <a:blipFill>
                <a:blip r:embed="rId3"/>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6871209" y="1450308"/>
                <a:ext cx="1919115" cy="6910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CA" b="1" i="1" smtClean="0">
                          <a:solidFill>
                            <a:schemeClr val="tx1"/>
                          </a:solidFill>
                          <a:latin typeface="Cambria Math" panose="02040503050406030204" pitchFamily="18" charset="0"/>
                        </a:rPr>
                        <m:t>𝑹𝒆</m:t>
                      </m:r>
                      <m:r>
                        <a:rPr lang="en-CA" b="1" i="1" smtClean="0">
                          <a:solidFill>
                            <a:schemeClr val="tx1"/>
                          </a:solidFill>
                          <a:latin typeface="Cambria Math" panose="02040503050406030204" pitchFamily="18" charset="0"/>
                        </a:rPr>
                        <m:t>=</m:t>
                      </m:r>
                      <m:f>
                        <m:fPr>
                          <m:ctrlPr>
                            <a:rPr lang="en-CA" b="1" i="1">
                              <a:solidFill>
                                <a:schemeClr val="tx1"/>
                              </a:solidFill>
                              <a:latin typeface="Cambria Math" panose="02040503050406030204" pitchFamily="18" charset="0"/>
                            </a:rPr>
                          </m:ctrlPr>
                        </m:fPr>
                        <m:num>
                          <m:r>
                            <a:rPr lang="en-CA" b="1" i="1">
                              <a:solidFill>
                                <a:schemeClr val="tx1"/>
                              </a:solidFill>
                              <a:latin typeface="Cambria Math" panose="02040503050406030204" pitchFamily="18" charset="0"/>
                              <a:ea typeface="Cambria Math" panose="02040503050406030204" pitchFamily="18" charset="0"/>
                            </a:rPr>
                            <m:t>𝝆</m:t>
                          </m:r>
                          <m:acc>
                            <m:accPr>
                              <m:chr m:val="̅"/>
                              <m:ctrlPr>
                                <a:rPr lang="en-CA" b="1" i="1">
                                  <a:solidFill>
                                    <a:schemeClr val="tx1"/>
                                  </a:solidFill>
                                  <a:latin typeface="Cambria Math" panose="02040503050406030204" pitchFamily="18" charset="0"/>
                                  <a:ea typeface="Cambria Math" panose="02040503050406030204" pitchFamily="18" charset="0"/>
                                </a:rPr>
                              </m:ctrlPr>
                            </m:accPr>
                            <m:e>
                              <m:r>
                                <a:rPr lang="en-CA" b="1" i="1">
                                  <a:solidFill>
                                    <a:schemeClr val="tx1"/>
                                  </a:solidFill>
                                  <a:latin typeface="Cambria Math" panose="02040503050406030204" pitchFamily="18" charset="0"/>
                                  <a:ea typeface="Cambria Math" panose="02040503050406030204" pitchFamily="18" charset="0"/>
                                </a:rPr>
                                <m:t>𝑽</m:t>
                              </m:r>
                            </m:e>
                          </m:acc>
                          <m:r>
                            <a:rPr lang="en-CA" b="1" i="1">
                              <a:solidFill>
                                <a:schemeClr val="tx1"/>
                              </a:solidFill>
                              <a:latin typeface="Cambria Math" panose="02040503050406030204" pitchFamily="18" charset="0"/>
                            </a:rPr>
                            <m:t>𝑫</m:t>
                          </m:r>
                        </m:num>
                        <m:den>
                          <m:r>
                            <a:rPr lang="en-CA" b="1" i="1">
                              <a:solidFill>
                                <a:schemeClr val="tx1"/>
                              </a:solidFill>
                              <a:latin typeface="Cambria Math" panose="02040503050406030204" pitchFamily="18" charset="0"/>
                              <a:ea typeface="Cambria Math" panose="02040503050406030204" pitchFamily="18" charset="0"/>
                            </a:rPr>
                            <m:t>𝝁</m:t>
                          </m:r>
                        </m:den>
                      </m:f>
                      <m:r>
                        <a:rPr lang="en-CA" b="1" i="1">
                          <a:solidFill>
                            <a:schemeClr val="tx1"/>
                          </a:solidFill>
                          <a:latin typeface="Cambria Math" panose="02040503050406030204" pitchFamily="18" charset="0"/>
                        </a:rPr>
                        <m:t>=</m:t>
                      </m:r>
                      <m:f>
                        <m:fPr>
                          <m:ctrlPr>
                            <a:rPr lang="en-CA" b="1" i="1">
                              <a:solidFill>
                                <a:schemeClr val="tx1"/>
                              </a:solidFill>
                              <a:latin typeface="Cambria Math" panose="02040503050406030204" pitchFamily="18" charset="0"/>
                            </a:rPr>
                          </m:ctrlPr>
                        </m:fPr>
                        <m:num>
                          <m:acc>
                            <m:accPr>
                              <m:chr m:val="̅"/>
                              <m:ctrlPr>
                                <a:rPr lang="en-CA" b="1" i="1">
                                  <a:solidFill>
                                    <a:schemeClr val="tx1"/>
                                  </a:solidFill>
                                  <a:latin typeface="Cambria Math" panose="02040503050406030204" pitchFamily="18" charset="0"/>
                                  <a:ea typeface="Cambria Math" panose="02040503050406030204" pitchFamily="18" charset="0"/>
                                </a:rPr>
                              </m:ctrlPr>
                            </m:accPr>
                            <m:e>
                              <m:r>
                                <a:rPr lang="en-CA" b="1" i="1">
                                  <a:solidFill>
                                    <a:schemeClr val="tx1"/>
                                  </a:solidFill>
                                  <a:latin typeface="Cambria Math" panose="02040503050406030204" pitchFamily="18" charset="0"/>
                                  <a:ea typeface="Cambria Math" panose="02040503050406030204" pitchFamily="18" charset="0"/>
                                </a:rPr>
                                <m:t>𝑽</m:t>
                              </m:r>
                            </m:e>
                          </m:acc>
                          <m:r>
                            <a:rPr lang="en-CA" b="1" i="1">
                              <a:solidFill>
                                <a:schemeClr val="tx1"/>
                              </a:solidFill>
                              <a:latin typeface="Cambria Math" panose="02040503050406030204" pitchFamily="18" charset="0"/>
                            </a:rPr>
                            <m:t>𝑫</m:t>
                          </m:r>
                        </m:num>
                        <m:den>
                          <m:r>
                            <a:rPr lang="en-CA" b="1" i="1">
                              <a:solidFill>
                                <a:schemeClr val="tx1"/>
                              </a:solidFill>
                              <a:latin typeface="Cambria Math" panose="02040503050406030204" pitchFamily="18" charset="0"/>
                              <a:ea typeface="Cambria Math" panose="02040503050406030204" pitchFamily="18" charset="0"/>
                            </a:rPr>
                            <m:t>𝝂</m:t>
                          </m:r>
                        </m:den>
                      </m:f>
                    </m:oMath>
                  </m:oMathPara>
                </a14:m>
                <a:endParaRPr lang="en-CA" dirty="0"/>
              </a:p>
            </p:txBody>
          </p:sp>
        </mc:Choice>
        <mc:Fallback xmlns="">
          <p:sp>
            <p:nvSpPr>
              <p:cNvPr id="7" name="Rectangle 6"/>
              <p:cNvSpPr>
                <a:spLocks noRot="1" noChangeAspect="1" noMove="1" noResize="1" noEditPoints="1" noAdjustHandles="1" noChangeArrowheads="1" noChangeShapeType="1" noTextEdit="1"/>
              </p:cNvSpPr>
              <p:nvPr/>
            </p:nvSpPr>
            <p:spPr>
              <a:xfrm>
                <a:off x="6871209" y="1450308"/>
                <a:ext cx="1919115" cy="691087"/>
              </a:xfrm>
              <a:prstGeom prst="rect">
                <a:avLst/>
              </a:prstGeom>
              <a:blipFill>
                <a:blip r:embed="rId4"/>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4282844" y="1507611"/>
                <a:ext cx="1621854" cy="501356"/>
              </a:xfrm>
              <a:prstGeom prst="rect">
                <a:avLst/>
              </a:prstGeom>
            </p:spPr>
            <p:txBody>
              <a:bodyPr wrap="none">
                <a:spAutoFit/>
              </a:bodyPr>
              <a:lstStyle/>
              <a:p>
                <a14:m>
                  <m:oMath xmlns:m="http://schemas.openxmlformats.org/officeDocument/2006/math">
                    <m:r>
                      <a:rPr lang="en-CA" sz="2000" b="1" i="1" smtClean="0">
                        <a:solidFill>
                          <a:schemeClr val="tx1"/>
                        </a:solidFill>
                        <a:latin typeface="Cambria Math" panose="02040503050406030204" pitchFamily="18" charset="0"/>
                      </a:rPr>
                      <m:t>𝒇</m:t>
                    </m:r>
                    <m:r>
                      <a:rPr lang="en-CA" sz="2000" b="1" i="1" smtClean="0">
                        <a:solidFill>
                          <a:schemeClr val="tx1"/>
                        </a:solidFill>
                        <a:latin typeface="Cambria Math" panose="02040503050406030204" pitchFamily="18" charset="0"/>
                      </a:rPr>
                      <m:t>=(</m:t>
                    </m:r>
                    <m:r>
                      <a:rPr lang="en-CA" sz="2000" b="1" i="1">
                        <a:solidFill>
                          <a:schemeClr val="tx1"/>
                        </a:solidFill>
                        <a:latin typeface="Cambria Math" panose="02040503050406030204" pitchFamily="18" charset="0"/>
                      </a:rPr>
                      <m:t>𝑹𝒆</m:t>
                    </m:r>
                    <m:r>
                      <a:rPr lang="en-CA" sz="2000" b="1" i="1">
                        <a:solidFill>
                          <a:schemeClr val="tx1"/>
                        </a:solidFill>
                        <a:latin typeface="Cambria Math" panose="02040503050406030204" pitchFamily="18" charset="0"/>
                      </a:rPr>
                      <m:t>,</m:t>
                    </m:r>
                    <m:f>
                      <m:fPr>
                        <m:ctrlPr>
                          <a:rPr lang="en-CA" sz="2000" b="1" i="1">
                            <a:solidFill>
                              <a:schemeClr val="tx1"/>
                            </a:solidFill>
                            <a:latin typeface="Cambria Math" panose="02040503050406030204" pitchFamily="18" charset="0"/>
                          </a:rPr>
                        </m:ctrlPr>
                      </m:fPr>
                      <m:num>
                        <m:r>
                          <a:rPr lang="en-CA" sz="2000" b="1" i="1">
                            <a:solidFill>
                              <a:schemeClr val="tx1"/>
                            </a:solidFill>
                            <a:latin typeface="Cambria Math" panose="02040503050406030204" pitchFamily="18" charset="0"/>
                          </a:rPr>
                          <m:t>𝒆</m:t>
                        </m:r>
                      </m:num>
                      <m:den>
                        <m:r>
                          <a:rPr lang="en-CA" sz="2000" b="1" i="1">
                            <a:solidFill>
                              <a:schemeClr val="tx1"/>
                            </a:solidFill>
                            <a:latin typeface="Cambria Math" panose="02040503050406030204" pitchFamily="18" charset="0"/>
                          </a:rPr>
                          <m:t>𝑫</m:t>
                        </m:r>
                      </m:den>
                    </m:f>
                    <m:r>
                      <a:rPr lang="en-CA" sz="2000" b="1" i="1">
                        <a:solidFill>
                          <a:schemeClr val="tx1"/>
                        </a:solidFill>
                        <a:latin typeface="Cambria Math" panose="02040503050406030204" pitchFamily="18" charset="0"/>
                      </a:rPr>
                      <m:t>)</m:t>
                    </m:r>
                  </m:oMath>
                </a14:m>
                <a:r>
                  <a:rPr lang="en-CA" sz="2000" dirty="0">
                    <a:solidFill>
                      <a:schemeClr val="tx1"/>
                    </a:solidFill>
                  </a:rPr>
                  <a:t> </a:t>
                </a:r>
              </a:p>
            </p:txBody>
          </p:sp>
        </mc:Choice>
        <mc:Fallback xmlns="">
          <p:sp>
            <p:nvSpPr>
              <p:cNvPr id="8" name="Rectangle 7"/>
              <p:cNvSpPr>
                <a:spLocks noRot="1" noChangeAspect="1" noMove="1" noResize="1" noEditPoints="1" noAdjustHandles="1" noChangeArrowheads="1" noChangeShapeType="1" noTextEdit="1"/>
              </p:cNvSpPr>
              <p:nvPr/>
            </p:nvSpPr>
            <p:spPr>
              <a:xfrm>
                <a:off x="4282844" y="1507611"/>
                <a:ext cx="1621854" cy="501356"/>
              </a:xfrm>
              <a:prstGeom prst="rect">
                <a:avLst/>
              </a:prstGeom>
              <a:blipFill>
                <a:blip r:embed="rId5"/>
                <a:stretch>
                  <a:fillRect l="-1880" b="-2410"/>
                </a:stretch>
              </a:blipFill>
            </p:spPr>
            <p:txBody>
              <a:bodyPr/>
              <a:lstStyle/>
              <a:p>
                <a:r>
                  <a:rPr lang="en-GH">
                    <a:noFill/>
                  </a:rPr>
                  <a:t> </a:t>
                </a:r>
              </a:p>
            </p:txBody>
          </p:sp>
        </mc:Fallback>
      </mc:AlternateContent>
    </p:spTree>
    <p:extLst>
      <p:ext uri="{BB962C8B-B14F-4D97-AF65-F5344CB8AC3E}">
        <p14:creationId xmlns:p14="http://schemas.microsoft.com/office/powerpoint/2010/main" val="3319921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1753" y="118112"/>
            <a:ext cx="7886700" cy="568940"/>
          </a:xfrm>
        </p:spPr>
        <p:txBody>
          <a:bodyPr>
            <a:normAutofit/>
          </a:bodyPr>
          <a:lstStyle/>
          <a:p>
            <a:r>
              <a:rPr lang="en-CA" sz="2400" b="1" u="sng" dirty="0">
                <a:latin typeface="Times New Roman" panose="02020603050405020304" pitchFamily="18" charset="0"/>
                <a:cs typeface="Times New Roman" panose="02020603050405020304" pitchFamily="18" charset="0"/>
              </a:rPr>
              <a:t>Noncircular Ducts</a:t>
            </a:r>
          </a:p>
        </p:txBody>
      </p:sp>
      <mc:AlternateContent xmlns:mc="http://schemas.openxmlformats.org/markup-compatibility/2006" xmlns:a14="http://schemas.microsoft.com/office/drawing/2010/main">
        <mc:Choice Requires="a14">
          <p:sp>
            <p:nvSpPr>
              <p:cNvPr id="6" name="TextBox 5"/>
              <p:cNvSpPr txBox="1"/>
              <p:nvPr/>
            </p:nvSpPr>
            <p:spPr>
              <a:xfrm>
                <a:off x="4130975" y="812406"/>
                <a:ext cx="3421321" cy="5003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CA" sz="1600" b="1" i="1">
                          <a:latin typeface="Cambria Math" panose="02040503050406030204" pitchFamily="18" charset="0"/>
                        </a:rPr>
                        <m:t>𝑨</m:t>
                      </m:r>
                      <m:r>
                        <a:rPr lang="en-CA" sz="1600" b="1" i="1">
                          <a:latin typeface="Cambria Math" panose="02040503050406030204" pitchFamily="18" charset="0"/>
                        </a:rPr>
                        <m:t>=</m:t>
                      </m:r>
                      <m:r>
                        <a:rPr lang="en-CA" sz="1600" b="1" i="1">
                          <a:latin typeface="Cambria Math" panose="02040503050406030204" pitchFamily="18" charset="0"/>
                        </a:rPr>
                        <m:t>𝒉</m:t>
                      </m:r>
                      <m:r>
                        <a:rPr lang="en-CA" sz="1600" b="1" i="1">
                          <a:latin typeface="Cambria Math" panose="02040503050406030204" pitchFamily="18" charset="0"/>
                        </a:rPr>
                        <m:t> × </m:t>
                      </m:r>
                      <m:r>
                        <a:rPr lang="en-CA" sz="1600" b="1" i="1">
                          <a:latin typeface="Cambria Math" panose="02040503050406030204" pitchFamily="18" charset="0"/>
                        </a:rPr>
                        <m:t>𝒉</m:t>
                      </m:r>
                      <m:r>
                        <a:rPr lang="en-CA" sz="1600" b="1" i="1">
                          <a:latin typeface="Cambria Math" panose="02040503050406030204" pitchFamily="18" charset="0"/>
                        </a:rPr>
                        <m:t>;  </m:t>
                      </m:r>
                      <m:r>
                        <a:rPr lang="en-CA" sz="1600" b="1" i="1">
                          <a:latin typeface="Cambria Math" panose="02040503050406030204" pitchFamily="18" charset="0"/>
                        </a:rPr>
                        <m:t>𝑷</m:t>
                      </m:r>
                      <m:r>
                        <a:rPr lang="en-CA" sz="1600" b="1" i="1">
                          <a:latin typeface="Cambria Math" panose="02040503050406030204" pitchFamily="18" charset="0"/>
                        </a:rPr>
                        <m:t>=</m:t>
                      </m:r>
                      <m:r>
                        <a:rPr lang="en-CA" sz="1600" b="1" i="1">
                          <a:latin typeface="Cambria Math" panose="02040503050406030204" pitchFamily="18" charset="0"/>
                        </a:rPr>
                        <m:t>𝟒</m:t>
                      </m:r>
                      <m:r>
                        <a:rPr lang="en-CA" sz="1600" b="1" i="1">
                          <a:latin typeface="Cambria Math" panose="02040503050406030204" pitchFamily="18" charset="0"/>
                        </a:rPr>
                        <m:t>𝒉</m:t>
                      </m:r>
                      <m:r>
                        <a:rPr lang="en-CA" sz="1600" b="1" i="1">
                          <a:latin typeface="Cambria Math" panose="02040503050406030204" pitchFamily="18" charset="0"/>
                        </a:rPr>
                        <m:t> </m:t>
                      </m:r>
                      <m:sSub>
                        <m:sSubPr>
                          <m:ctrlPr>
                            <a:rPr lang="en-CA" sz="1600" b="1" i="1">
                              <a:solidFill>
                                <a:srgbClr val="0000FF"/>
                              </a:solidFill>
                              <a:latin typeface="Cambria Math" panose="02040503050406030204" pitchFamily="18" charset="0"/>
                              <a:sym typeface="Symbol" panose="05050102010706020507" pitchFamily="18" charset="2"/>
                            </a:rPr>
                          </m:ctrlPr>
                        </m:sSubPr>
                        <m:e>
                          <m:r>
                            <a:rPr lang="en-CA" sz="1600" b="1" i="1">
                              <a:solidFill>
                                <a:srgbClr val="0000FF"/>
                              </a:solidFill>
                              <a:latin typeface="Cambria Math" panose="02040503050406030204" pitchFamily="18" charset="0"/>
                              <a:sym typeface="Symbol" panose="05050102010706020507" pitchFamily="18" charset="2"/>
                            </a:rPr>
                            <m:t>𝑫</m:t>
                          </m:r>
                        </m:e>
                        <m:sub>
                          <m:r>
                            <a:rPr lang="en-CA" sz="1600" b="1" i="1">
                              <a:solidFill>
                                <a:srgbClr val="0000FF"/>
                              </a:solidFill>
                              <a:latin typeface="Cambria Math" panose="02040503050406030204" pitchFamily="18" charset="0"/>
                              <a:sym typeface="Symbol" panose="05050102010706020507" pitchFamily="18" charset="2"/>
                            </a:rPr>
                            <m:t>𝒉</m:t>
                          </m:r>
                        </m:sub>
                      </m:sSub>
                      <m:r>
                        <a:rPr lang="en-CA" sz="1600" b="1" i="1">
                          <a:solidFill>
                            <a:srgbClr val="0000FF"/>
                          </a:solidFill>
                          <a:latin typeface="Cambria Math" panose="02040503050406030204" pitchFamily="18" charset="0"/>
                          <a:sym typeface="Symbol" panose="05050102010706020507" pitchFamily="18" charset="2"/>
                        </a:rPr>
                        <m:t>= </m:t>
                      </m:r>
                      <m:f>
                        <m:fPr>
                          <m:ctrlPr>
                            <a:rPr lang="en-CA" sz="1600" b="1" i="1">
                              <a:solidFill>
                                <a:srgbClr val="0000FF"/>
                              </a:solidFill>
                              <a:latin typeface="Cambria Math" panose="02040503050406030204" pitchFamily="18" charset="0"/>
                              <a:sym typeface="Symbol" panose="05050102010706020507" pitchFamily="18" charset="2"/>
                            </a:rPr>
                          </m:ctrlPr>
                        </m:fPr>
                        <m:num>
                          <m:r>
                            <a:rPr lang="en-CA" sz="1600" b="1" i="1">
                              <a:solidFill>
                                <a:srgbClr val="0000FF"/>
                              </a:solidFill>
                              <a:latin typeface="Cambria Math" panose="02040503050406030204" pitchFamily="18" charset="0"/>
                              <a:sym typeface="Symbol" panose="05050102010706020507" pitchFamily="18" charset="2"/>
                            </a:rPr>
                            <m:t>𝟒</m:t>
                          </m:r>
                          <m:sSup>
                            <m:sSupPr>
                              <m:ctrlPr>
                                <a:rPr lang="en-CA" sz="1600" b="1" i="1">
                                  <a:solidFill>
                                    <a:srgbClr val="0000FF"/>
                                  </a:solidFill>
                                  <a:latin typeface="Cambria Math" panose="02040503050406030204" pitchFamily="18" charset="0"/>
                                  <a:sym typeface="Symbol" panose="05050102010706020507" pitchFamily="18" charset="2"/>
                                </a:rPr>
                              </m:ctrlPr>
                            </m:sSupPr>
                            <m:e>
                              <m:r>
                                <a:rPr lang="en-CA" sz="1600" b="1" i="1">
                                  <a:solidFill>
                                    <a:srgbClr val="0000FF"/>
                                  </a:solidFill>
                                  <a:latin typeface="Cambria Math" panose="02040503050406030204" pitchFamily="18" charset="0"/>
                                  <a:sym typeface="Symbol" panose="05050102010706020507" pitchFamily="18" charset="2"/>
                                </a:rPr>
                                <m:t>𝒉</m:t>
                              </m:r>
                            </m:e>
                            <m:sup>
                              <m:r>
                                <a:rPr lang="en-CA" sz="1600" b="1" i="1">
                                  <a:solidFill>
                                    <a:srgbClr val="0000FF"/>
                                  </a:solidFill>
                                  <a:latin typeface="Cambria Math" panose="02040503050406030204" pitchFamily="18" charset="0"/>
                                  <a:sym typeface="Symbol" panose="05050102010706020507" pitchFamily="18" charset="2"/>
                                </a:rPr>
                                <m:t>𝟐</m:t>
                              </m:r>
                            </m:sup>
                          </m:sSup>
                        </m:num>
                        <m:den>
                          <m:r>
                            <a:rPr lang="en-CA" sz="1600" b="1" i="1">
                              <a:solidFill>
                                <a:srgbClr val="0000FF"/>
                              </a:solidFill>
                              <a:latin typeface="Cambria Math" panose="02040503050406030204" pitchFamily="18" charset="0"/>
                              <a:sym typeface="Symbol" panose="05050102010706020507" pitchFamily="18" charset="2"/>
                            </a:rPr>
                            <m:t>𝟒</m:t>
                          </m:r>
                          <m:r>
                            <a:rPr lang="en-CA" sz="1600" b="1" i="1">
                              <a:solidFill>
                                <a:srgbClr val="0000FF"/>
                              </a:solidFill>
                              <a:latin typeface="Cambria Math" panose="02040503050406030204" pitchFamily="18" charset="0"/>
                              <a:sym typeface="Symbol" panose="05050102010706020507" pitchFamily="18" charset="2"/>
                            </a:rPr>
                            <m:t>𝒉</m:t>
                          </m:r>
                        </m:den>
                      </m:f>
                      <m:r>
                        <a:rPr lang="en-CA" sz="1600" b="1" i="1">
                          <a:solidFill>
                            <a:srgbClr val="0000FF"/>
                          </a:solidFill>
                          <a:latin typeface="Cambria Math" panose="02040503050406030204" pitchFamily="18" charset="0"/>
                          <a:sym typeface="Symbol" panose="05050102010706020507" pitchFamily="18" charset="2"/>
                        </a:rPr>
                        <m:t> =</m:t>
                      </m:r>
                      <m:r>
                        <a:rPr lang="en-CA" sz="1600" b="1" i="1">
                          <a:solidFill>
                            <a:srgbClr val="0000FF"/>
                          </a:solidFill>
                          <a:latin typeface="Cambria Math" panose="02040503050406030204" pitchFamily="18" charset="0"/>
                          <a:sym typeface="Symbol" panose="05050102010706020507" pitchFamily="18" charset="2"/>
                        </a:rPr>
                        <m:t>𝒉</m:t>
                      </m:r>
                    </m:oMath>
                  </m:oMathPara>
                </a14:m>
                <a:endParaRPr lang="en-CA" sz="1600" b="1" dirty="0">
                  <a:solidFill>
                    <a:srgbClr val="0000FF"/>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4130975" y="812406"/>
                <a:ext cx="3421321" cy="500393"/>
              </a:xfrm>
              <a:prstGeom prst="rect">
                <a:avLst/>
              </a:prstGeom>
              <a:blipFill>
                <a:blip r:embed="rId2"/>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3838756" y="2274055"/>
                <a:ext cx="5633049" cy="59490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CA" sz="1600" b="1" i="1">
                          <a:latin typeface="Cambria Math" panose="02040503050406030204" pitchFamily="18" charset="0"/>
                        </a:rPr>
                        <m:t>𝑨</m:t>
                      </m:r>
                      <m:r>
                        <a:rPr lang="en-CA" sz="1600" b="1" i="1">
                          <a:latin typeface="Cambria Math" panose="02040503050406030204" pitchFamily="18" charset="0"/>
                        </a:rPr>
                        <m:t>=</m:t>
                      </m:r>
                      <m:r>
                        <a:rPr lang="en-CA" sz="1600" b="1" i="1">
                          <a:latin typeface="Cambria Math" panose="02040503050406030204" pitchFamily="18" charset="0"/>
                        </a:rPr>
                        <m:t>𝒃</m:t>
                      </m:r>
                      <m:r>
                        <a:rPr lang="en-CA" sz="1600" b="1" i="1">
                          <a:latin typeface="Cambria Math" panose="02040503050406030204" pitchFamily="18" charset="0"/>
                        </a:rPr>
                        <m:t> × </m:t>
                      </m:r>
                      <m:r>
                        <a:rPr lang="en-CA" sz="1600" b="1" i="1">
                          <a:latin typeface="Cambria Math" panose="02040503050406030204" pitchFamily="18" charset="0"/>
                        </a:rPr>
                        <m:t>𝒉</m:t>
                      </m:r>
                      <m:r>
                        <a:rPr lang="en-CA" sz="1600" b="1" i="1">
                          <a:latin typeface="Cambria Math" panose="02040503050406030204" pitchFamily="18" charset="0"/>
                        </a:rPr>
                        <m:t>;  </m:t>
                      </m:r>
                      <m:r>
                        <a:rPr lang="en-CA" sz="1600" b="1" i="1">
                          <a:latin typeface="Cambria Math" panose="02040503050406030204" pitchFamily="18" charset="0"/>
                        </a:rPr>
                        <m:t>𝑷</m:t>
                      </m:r>
                      <m:r>
                        <a:rPr lang="en-CA" sz="1600" b="1" i="1">
                          <a:latin typeface="Cambria Math" panose="02040503050406030204" pitchFamily="18" charset="0"/>
                        </a:rPr>
                        <m:t>=</m:t>
                      </m:r>
                      <m:r>
                        <a:rPr lang="en-CA" sz="1600" b="1" i="1">
                          <a:latin typeface="Cambria Math" panose="02040503050406030204" pitchFamily="18" charset="0"/>
                        </a:rPr>
                        <m:t>𝟐</m:t>
                      </m:r>
                      <m:d>
                        <m:dPr>
                          <m:ctrlPr>
                            <a:rPr lang="en-CA" sz="1600" b="1" i="1">
                              <a:latin typeface="Cambria Math" panose="02040503050406030204" pitchFamily="18" charset="0"/>
                            </a:rPr>
                          </m:ctrlPr>
                        </m:dPr>
                        <m:e>
                          <m:r>
                            <a:rPr lang="en-CA" sz="1600" b="1" i="1">
                              <a:latin typeface="Cambria Math" panose="02040503050406030204" pitchFamily="18" charset="0"/>
                            </a:rPr>
                            <m:t>𝒃</m:t>
                          </m:r>
                          <m:r>
                            <a:rPr lang="en-CA" sz="1600" b="1" i="1">
                              <a:latin typeface="Cambria Math" panose="02040503050406030204" pitchFamily="18" charset="0"/>
                            </a:rPr>
                            <m:t>+</m:t>
                          </m:r>
                          <m:r>
                            <a:rPr lang="en-CA" sz="1600" b="1" i="1">
                              <a:latin typeface="Cambria Math" panose="02040503050406030204" pitchFamily="18" charset="0"/>
                            </a:rPr>
                            <m:t>𝒉</m:t>
                          </m:r>
                        </m:e>
                      </m:d>
                      <m:r>
                        <a:rPr lang="en-CA" sz="1600" b="1" i="1">
                          <a:latin typeface="Cambria Math" panose="02040503050406030204" pitchFamily="18" charset="0"/>
                        </a:rPr>
                        <m:t>  </m:t>
                      </m:r>
                      <m:r>
                        <a:rPr lang="en-CA" sz="1600" b="1" i="1">
                          <a:latin typeface="Cambria Math" panose="02040503050406030204" pitchFamily="18" charset="0"/>
                          <a:sym typeface="Symbol" panose="05050102010706020507" pitchFamily="18" charset="2"/>
                        </a:rPr>
                        <m:t></m:t>
                      </m:r>
                      <m:r>
                        <a:rPr lang="en-CA" sz="1600" b="1" i="1">
                          <a:latin typeface="Cambria Math" panose="02040503050406030204" pitchFamily="18" charset="0"/>
                        </a:rPr>
                        <m:t> </m:t>
                      </m:r>
                      <m:sSub>
                        <m:sSubPr>
                          <m:ctrlPr>
                            <a:rPr lang="en-CA" sz="1600" b="1" i="1">
                              <a:solidFill>
                                <a:srgbClr val="0000FF"/>
                              </a:solidFill>
                              <a:latin typeface="Cambria Math" panose="02040503050406030204" pitchFamily="18" charset="0"/>
                              <a:sym typeface="Symbol" panose="05050102010706020507" pitchFamily="18" charset="2"/>
                            </a:rPr>
                          </m:ctrlPr>
                        </m:sSubPr>
                        <m:e>
                          <m:r>
                            <a:rPr lang="en-CA" sz="1600" b="1" i="1">
                              <a:solidFill>
                                <a:srgbClr val="0000FF"/>
                              </a:solidFill>
                              <a:latin typeface="Cambria Math" panose="02040503050406030204" pitchFamily="18" charset="0"/>
                              <a:sym typeface="Symbol" panose="05050102010706020507" pitchFamily="18" charset="2"/>
                            </a:rPr>
                            <m:t>𝑫</m:t>
                          </m:r>
                        </m:e>
                        <m:sub>
                          <m:r>
                            <a:rPr lang="en-CA" sz="1600" b="1" i="1">
                              <a:solidFill>
                                <a:srgbClr val="0000FF"/>
                              </a:solidFill>
                              <a:latin typeface="Cambria Math" panose="02040503050406030204" pitchFamily="18" charset="0"/>
                              <a:sym typeface="Symbol" panose="05050102010706020507" pitchFamily="18" charset="2"/>
                            </a:rPr>
                            <m:t>𝒉</m:t>
                          </m:r>
                        </m:sub>
                      </m:sSub>
                      <m:r>
                        <a:rPr lang="en-CA" sz="1600" b="1" i="1">
                          <a:solidFill>
                            <a:srgbClr val="0000FF"/>
                          </a:solidFill>
                          <a:latin typeface="Cambria Math" panose="02040503050406030204" pitchFamily="18" charset="0"/>
                          <a:sym typeface="Symbol" panose="05050102010706020507" pitchFamily="18" charset="2"/>
                        </a:rPr>
                        <m:t>= </m:t>
                      </m:r>
                      <m:f>
                        <m:fPr>
                          <m:ctrlPr>
                            <a:rPr lang="en-CA" sz="1600" b="1" i="1">
                              <a:solidFill>
                                <a:srgbClr val="0000FF"/>
                              </a:solidFill>
                              <a:latin typeface="Cambria Math" panose="02040503050406030204" pitchFamily="18" charset="0"/>
                              <a:sym typeface="Symbol" panose="05050102010706020507" pitchFamily="18" charset="2"/>
                            </a:rPr>
                          </m:ctrlPr>
                        </m:fPr>
                        <m:num>
                          <m:r>
                            <a:rPr lang="en-CA" sz="1600" b="1" i="1">
                              <a:solidFill>
                                <a:srgbClr val="0000FF"/>
                              </a:solidFill>
                              <a:latin typeface="Cambria Math" panose="02040503050406030204" pitchFamily="18" charset="0"/>
                              <a:sym typeface="Symbol" panose="05050102010706020507" pitchFamily="18" charset="2"/>
                            </a:rPr>
                            <m:t>𝟒</m:t>
                          </m:r>
                          <m:r>
                            <a:rPr lang="en-CA" sz="1600" b="1" i="1">
                              <a:solidFill>
                                <a:srgbClr val="0000FF"/>
                              </a:solidFill>
                              <a:latin typeface="Cambria Math" panose="02040503050406030204" pitchFamily="18" charset="0"/>
                              <a:sym typeface="Symbol" panose="05050102010706020507" pitchFamily="18" charset="2"/>
                            </a:rPr>
                            <m:t>𝒃𝒉</m:t>
                          </m:r>
                        </m:num>
                        <m:den>
                          <m:r>
                            <a:rPr lang="en-CA" sz="1600" b="1" i="1">
                              <a:solidFill>
                                <a:srgbClr val="0000FF"/>
                              </a:solidFill>
                              <a:latin typeface="Cambria Math" panose="02040503050406030204" pitchFamily="18" charset="0"/>
                            </a:rPr>
                            <m:t>𝟐</m:t>
                          </m:r>
                          <m:d>
                            <m:dPr>
                              <m:ctrlPr>
                                <a:rPr lang="en-CA" sz="1600" b="1" i="1">
                                  <a:solidFill>
                                    <a:srgbClr val="0000FF"/>
                                  </a:solidFill>
                                  <a:latin typeface="Cambria Math" panose="02040503050406030204" pitchFamily="18" charset="0"/>
                                </a:rPr>
                              </m:ctrlPr>
                            </m:dPr>
                            <m:e>
                              <m:r>
                                <a:rPr lang="en-CA" sz="1600" b="1" i="1">
                                  <a:solidFill>
                                    <a:srgbClr val="0000FF"/>
                                  </a:solidFill>
                                  <a:latin typeface="Cambria Math" panose="02040503050406030204" pitchFamily="18" charset="0"/>
                                </a:rPr>
                                <m:t>𝒃</m:t>
                              </m:r>
                              <m:r>
                                <a:rPr lang="en-CA" sz="1600" b="1" i="1">
                                  <a:solidFill>
                                    <a:srgbClr val="0000FF"/>
                                  </a:solidFill>
                                  <a:latin typeface="Cambria Math" panose="02040503050406030204" pitchFamily="18" charset="0"/>
                                </a:rPr>
                                <m:t>+</m:t>
                              </m:r>
                              <m:r>
                                <a:rPr lang="en-CA" sz="1600" b="1" i="1">
                                  <a:solidFill>
                                    <a:srgbClr val="0000FF"/>
                                  </a:solidFill>
                                  <a:latin typeface="Cambria Math" panose="02040503050406030204" pitchFamily="18" charset="0"/>
                                </a:rPr>
                                <m:t>𝒉</m:t>
                              </m:r>
                            </m:e>
                          </m:d>
                        </m:den>
                      </m:f>
                      <m:r>
                        <a:rPr lang="en-CA" sz="1600" b="1" i="1">
                          <a:solidFill>
                            <a:srgbClr val="0000FF"/>
                          </a:solidFill>
                          <a:latin typeface="Cambria Math" panose="02040503050406030204" pitchFamily="18" charset="0"/>
                          <a:sym typeface="Symbol" panose="05050102010706020507" pitchFamily="18" charset="2"/>
                        </a:rPr>
                        <m:t> =</m:t>
                      </m:r>
                      <m:f>
                        <m:fPr>
                          <m:ctrlPr>
                            <a:rPr lang="en-CA" sz="1600" b="1" i="1">
                              <a:solidFill>
                                <a:srgbClr val="0000FF"/>
                              </a:solidFill>
                              <a:latin typeface="Cambria Math" panose="02040503050406030204" pitchFamily="18" charset="0"/>
                              <a:sym typeface="Symbol" panose="05050102010706020507" pitchFamily="18" charset="2"/>
                            </a:rPr>
                          </m:ctrlPr>
                        </m:fPr>
                        <m:num>
                          <m:r>
                            <a:rPr lang="en-CA" sz="1600" b="1" i="1">
                              <a:solidFill>
                                <a:srgbClr val="0000FF"/>
                              </a:solidFill>
                              <a:latin typeface="Cambria Math" panose="02040503050406030204" pitchFamily="18" charset="0"/>
                              <a:sym typeface="Symbol" panose="05050102010706020507" pitchFamily="18" charset="2"/>
                            </a:rPr>
                            <m:t>𝟐</m:t>
                          </m:r>
                          <m:r>
                            <a:rPr lang="en-CA" sz="1600" b="1" i="1">
                              <a:solidFill>
                                <a:srgbClr val="0000FF"/>
                              </a:solidFill>
                              <a:latin typeface="Cambria Math" panose="02040503050406030204" pitchFamily="18" charset="0"/>
                              <a:sym typeface="Symbol" panose="05050102010706020507" pitchFamily="18" charset="2"/>
                            </a:rPr>
                            <m:t>𝒃𝒉</m:t>
                          </m:r>
                        </m:num>
                        <m:den>
                          <m:d>
                            <m:dPr>
                              <m:ctrlPr>
                                <a:rPr lang="en-CA" sz="1600" b="1" i="1">
                                  <a:solidFill>
                                    <a:srgbClr val="0000FF"/>
                                  </a:solidFill>
                                  <a:latin typeface="Cambria Math" panose="02040503050406030204" pitchFamily="18" charset="0"/>
                                </a:rPr>
                              </m:ctrlPr>
                            </m:dPr>
                            <m:e>
                              <m:r>
                                <a:rPr lang="en-CA" sz="1600" b="1" i="1">
                                  <a:solidFill>
                                    <a:srgbClr val="0000FF"/>
                                  </a:solidFill>
                                  <a:latin typeface="Cambria Math" panose="02040503050406030204" pitchFamily="18" charset="0"/>
                                </a:rPr>
                                <m:t>𝒃</m:t>
                              </m:r>
                              <m:r>
                                <a:rPr lang="en-CA" sz="1600" b="1" i="1">
                                  <a:solidFill>
                                    <a:srgbClr val="0000FF"/>
                                  </a:solidFill>
                                  <a:latin typeface="Cambria Math" panose="02040503050406030204" pitchFamily="18" charset="0"/>
                                </a:rPr>
                                <m:t>+</m:t>
                              </m:r>
                              <m:r>
                                <a:rPr lang="en-CA" sz="1600" b="1" i="1">
                                  <a:solidFill>
                                    <a:srgbClr val="0000FF"/>
                                  </a:solidFill>
                                  <a:latin typeface="Cambria Math" panose="02040503050406030204" pitchFamily="18" charset="0"/>
                                </a:rPr>
                                <m:t>𝒉</m:t>
                              </m:r>
                            </m:e>
                          </m:d>
                        </m:den>
                      </m:f>
                    </m:oMath>
                  </m:oMathPara>
                </a14:m>
                <a:endParaRPr lang="en-CA" sz="1600" b="1" dirty="0"/>
              </a:p>
            </p:txBody>
          </p:sp>
        </mc:Choice>
        <mc:Fallback xmlns="">
          <p:sp>
            <p:nvSpPr>
              <p:cNvPr id="7" name="Rectangle 6"/>
              <p:cNvSpPr>
                <a:spLocks noRot="1" noChangeAspect="1" noMove="1" noResize="1" noEditPoints="1" noAdjustHandles="1" noChangeArrowheads="1" noChangeShapeType="1" noTextEdit="1"/>
              </p:cNvSpPr>
              <p:nvPr/>
            </p:nvSpPr>
            <p:spPr>
              <a:xfrm>
                <a:off x="3838756" y="2274055"/>
                <a:ext cx="5633049" cy="594906"/>
              </a:xfrm>
              <a:prstGeom prst="rect">
                <a:avLst/>
              </a:prstGeom>
              <a:blipFill>
                <a:blip r:embed="rId3"/>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4217240" y="3758341"/>
                <a:ext cx="4572000" cy="594265"/>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r>
                        <a:rPr lang="en-CA" sz="1600" b="1" i="1">
                          <a:latin typeface="Cambria Math" panose="02040503050406030204" pitchFamily="18" charset="0"/>
                        </a:rPr>
                        <m:t>𝑨</m:t>
                      </m:r>
                      <m:r>
                        <a:rPr lang="en-CA" sz="1600" b="1" i="1">
                          <a:latin typeface="Cambria Math" panose="02040503050406030204" pitchFamily="18" charset="0"/>
                        </a:rPr>
                        <m:t>=</m:t>
                      </m:r>
                      <m:f>
                        <m:fPr>
                          <m:ctrlPr>
                            <a:rPr lang="en-CA" sz="1600" b="1" i="1">
                              <a:latin typeface="Cambria Math" panose="02040503050406030204" pitchFamily="18" charset="0"/>
                              <a:sym typeface="Symbol" panose="05050102010706020507" pitchFamily="18" charset="2"/>
                            </a:rPr>
                          </m:ctrlPr>
                        </m:fPr>
                        <m:num>
                          <m:r>
                            <a:rPr lang="en-CA" sz="1600" b="1" i="1">
                              <a:latin typeface="Cambria Math" panose="02040503050406030204" pitchFamily="18" charset="0"/>
                              <a:sym typeface="Symbol" panose="05050102010706020507" pitchFamily="18" charset="2"/>
                            </a:rPr>
                            <m:t></m:t>
                          </m:r>
                          <m:sSup>
                            <m:sSupPr>
                              <m:ctrlPr>
                                <a:rPr lang="en-CA" sz="1600" b="1" i="1">
                                  <a:latin typeface="Cambria Math" panose="02040503050406030204" pitchFamily="18" charset="0"/>
                                  <a:sym typeface="Symbol" panose="05050102010706020507" pitchFamily="18" charset="2"/>
                                </a:rPr>
                              </m:ctrlPr>
                            </m:sSupPr>
                            <m:e>
                              <m:r>
                                <a:rPr lang="en-CA" sz="1600" b="1" i="1">
                                  <a:latin typeface="Cambria Math" panose="02040503050406030204" pitchFamily="18" charset="0"/>
                                  <a:sym typeface="Symbol" panose="05050102010706020507" pitchFamily="18" charset="2"/>
                                </a:rPr>
                                <m:t>𝑫</m:t>
                              </m:r>
                            </m:e>
                            <m:sup>
                              <m:r>
                                <a:rPr lang="en-CA" sz="1600" b="1" i="1">
                                  <a:latin typeface="Cambria Math" panose="02040503050406030204" pitchFamily="18" charset="0"/>
                                  <a:sym typeface="Symbol" panose="05050102010706020507" pitchFamily="18" charset="2"/>
                                </a:rPr>
                                <m:t>𝟐</m:t>
                              </m:r>
                            </m:sup>
                          </m:sSup>
                        </m:num>
                        <m:den>
                          <m:r>
                            <a:rPr lang="en-CA" sz="1600" b="1" i="1">
                              <a:latin typeface="Cambria Math" panose="02040503050406030204" pitchFamily="18" charset="0"/>
                            </a:rPr>
                            <m:t>𝟒</m:t>
                          </m:r>
                        </m:den>
                      </m:f>
                      <m:r>
                        <a:rPr lang="en-CA" sz="1600" b="1" i="1">
                          <a:latin typeface="Cambria Math" panose="02040503050406030204" pitchFamily="18" charset="0"/>
                        </a:rPr>
                        <m:t>;  </m:t>
                      </m:r>
                      <m:r>
                        <a:rPr lang="en-CA" sz="1600" b="1" i="1">
                          <a:latin typeface="Cambria Math" panose="02040503050406030204" pitchFamily="18" charset="0"/>
                        </a:rPr>
                        <m:t>𝑷</m:t>
                      </m:r>
                      <m:r>
                        <a:rPr lang="en-CA" sz="1600" b="1" i="1">
                          <a:latin typeface="Cambria Math" panose="02040503050406030204" pitchFamily="18" charset="0"/>
                        </a:rPr>
                        <m:t>=</m:t>
                      </m:r>
                      <m:r>
                        <a:rPr lang="en-CA" sz="1600" b="1" i="1" smtClean="0">
                          <a:latin typeface="Cambria Math" panose="02040503050406030204" pitchFamily="18" charset="0"/>
                          <a:ea typeface="Cambria Math" panose="02040503050406030204" pitchFamily="18" charset="0"/>
                        </a:rPr>
                        <m:t>𝝅</m:t>
                      </m:r>
                      <m:r>
                        <a:rPr lang="en-CA" sz="1600" b="1" i="1">
                          <a:latin typeface="Cambria Math" panose="02040503050406030204" pitchFamily="18" charset="0"/>
                          <a:sym typeface="Symbol" panose="05050102010706020507" pitchFamily="18" charset="2"/>
                        </a:rPr>
                        <m:t>𝑫</m:t>
                      </m:r>
                      <m:r>
                        <a:rPr lang="en-CA" sz="1600" b="1" i="1">
                          <a:latin typeface="Cambria Math" panose="02040503050406030204" pitchFamily="18" charset="0"/>
                          <a:sym typeface="Symbol" panose="05050102010706020507" pitchFamily="18" charset="2"/>
                        </a:rPr>
                        <m:t>    </m:t>
                      </m:r>
                      <m:sSub>
                        <m:sSubPr>
                          <m:ctrlPr>
                            <a:rPr lang="en-CA" sz="1600" b="1" i="1">
                              <a:solidFill>
                                <a:srgbClr val="0000FF"/>
                              </a:solidFill>
                              <a:latin typeface="Cambria Math" panose="02040503050406030204" pitchFamily="18" charset="0"/>
                              <a:sym typeface="Symbol" panose="05050102010706020507" pitchFamily="18" charset="2"/>
                            </a:rPr>
                          </m:ctrlPr>
                        </m:sSubPr>
                        <m:e>
                          <m:r>
                            <a:rPr lang="en-CA" sz="1600" b="1" i="1">
                              <a:solidFill>
                                <a:srgbClr val="0000FF"/>
                              </a:solidFill>
                              <a:latin typeface="Cambria Math" panose="02040503050406030204" pitchFamily="18" charset="0"/>
                              <a:sym typeface="Symbol" panose="05050102010706020507" pitchFamily="18" charset="2"/>
                            </a:rPr>
                            <m:t>𝑫</m:t>
                          </m:r>
                        </m:e>
                        <m:sub>
                          <m:r>
                            <a:rPr lang="en-CA" sz="1600" b="1" i="1">
                              <a:solidFill>
                                <a:srgbClr val="0000FF"/>
                              </a:solidFill>
                              <a:latin typeface="Cambria Math" panose="02040503050406030204" pitchFamily="18" charset="0"/>
                              <a:sym typeface="Symbol" panose="05050102010706020507" pitchFamily="18" charset="2"/>
                            </a:rPr>
                            <m:t>𝒉</m:t>
                          </m:r>
                        </m:sub>
                      </m:sSub>
                      <m:r>
                        <a:rPr lang="en-CA" sz="1600" b="1" i="1">
                          <a:solidFill>
                            <a:srgbClr val="0000FF"/>
                          </a:solidFill>
                          <a:latin typeface="Cambria Math" panose="02040503050406030204" pitchFamily="18" charset="0"/>
                          <a:sym typeface="Symbol" panose="05050102010706020507" pitchFamily="18" charset="2"/>
                        </a:rPr>
                        <m:t>= </m:t>
                      </m:r>
                      <m:f>
                        <m:fPr>
                          <m:ctrlPr>
                            <a:rPr lang="en-CA" sz="1600" b="1" i="1">
                              <a:solidFill>
                                <a:srgbClr val="0000FF"/>
                              </a:solidFill>
                              <a:latin typeface="Cambria Math" panose="02040503050406030204" pitchFamily="18" charset="0"/>
                              <a:sym typeface="Symbol" panose="05050102010706020507" pitchFamily="18" charset="2"/>
                            </a:rPr>
                          </m:ctrlPr>
                        </m:fPr>
                        <m:num>
                          <m:r>
                            <a:rPr lang="en-CA" sz="1600" b="1" i="1">
                              <a:solidFill>
                                <a:srgbClr val="0000FF"/>
                              </a:solidFill>
                              <a:latin typeface="Cambria Math" panose="02040503050406030204" pitchFamily="18" charset="0"/>
                              <a:sym typeface="Symbol" panose="05050102010706020507" pitchFamily="18" charset="2"/>
                            </a:rPr>
                            <m:t></m:t>
                          </m:r>
                          <m:sSup>
                            <m:sSupPr>
                              <m:ctrlPr>
                                <a:rPr lang="en-CA" sz="1600" b="1" i="1">
                                  <a:solidFill>
                                    <a:srgbClr val="0000FF"/>
                                  </a:solidFill>
                                  <a:latin typeface="Cambria Math" panose="02040503050406030204" pitchFamily="18" charset="0"/>
                                  <a:sym typeface="Symbol" panose="05050102010706020507" pitchFamily="18" charset="2"/>
                                </a:rPr>
                              </m:ctrlPr>
                            </m:sSupPr>
                            <m:e>
                              <m:r>
                                <a:rPr lang="en-CA" sz="1600" b="1" i="1">
                                  <a:solidFill>
                                    <a:srgbClr val="0000FF"/>
                                  </a:solidFill>
                                  <a:latin typeface="Cambria Math" panose="02040503050406030204" pitchFamily="18" charset="0"/>
                                  <a:sym typeface="Symbol" panose="05050102010706020507" pitchFamily="18" charset="2"/>
                                </a:rPr>
                                <m:t>𝑫</m:t>
                              </m:r>
                            </m:e>
                            <m:sup>
                              <m:r>
                                <a:rPr lang="en-CA" sz="1600" b="1" i="1">
                                  <a:solidFill>
                                    <a:srgbClr val="0000FF"/>
                                  </a:solidFill>
                                  <a:latin typeface="Cambria Math" panose="02040503050406030204" pitchFamily="18" charset="0"/>
                                  <a:sym typeface="Symbol" panose="05050102010706020507" pitchFamily="18" charset="2"/>
                                </a:rPr>
                                <m:t>𝟐</m:t>
                              </m:r>
                            </m:sup>
                          </m:sSup>
                        </m:num>
                        <m:den>
                          <m:r>
                            <a:rPr lang="en-CA" sz="1600" b="1" i="1">
                              <a:solidFill>
                                <a:srgbClr val="0000FF"/>
                              </a:solidFill>
                              <a:latin typeface="Cambria Math" panose="02040503050406030204" pitchFamily="18" charset="0"/>
                              <a:sym typeface="Symbol" panose="05050102010706020507" pitchFamily="18" charset="2"/>
                            </a:rPr>
                            <m:t></m:t>
                          </m:r>
                          <m:r>
                            <a:rPr lang="en-CA" sz="1600" b="1" i="1">
                              <a:solidFill>
                                <a:srgbClr val="0000FF"/>
                              </a:solidFill>
                              <a:latin typeface="Cambria Math" panose="02040503050406030204" pitchFamily="18" charset="0"/>
                              <a:sym typeface="Symbol" panose="05050102010706020507" pitchFamily="18" charset="2"/>
                            </a:rPr>
                            <m:t>𝑫</m:t>
                          </m:r>
                        </m:den>
                      </m:f>
                      <m:r>
                        <a:rPr lang="en-CA" sz="1600" b="1" i="1">
                          <a:solidFill>
                            <a:srgbClr val="0000FF"/>
                          </a:solidFill>
                          <a:latin typeface="Cambria Math" panose="02040503050406030204" pitchFamily="18" charset="0"/>
                          <a:sym typeface="Symbol" panose="05050102010706020507" pitchFamily="18" charset="2"/>
                        </a:rPr>
                        <m:t> =</m:t>
                      </m:r>
                      <m:r>
                        <a:rPr lang="en-CA" sz="1600" b="1" i="1">
                          <a:solidFill>
                            <a:srgbClr val="0000FF"/>
                          </a:solidFill>
                          <a:latin typeface="Cambria Math" panose="02040503050406030204" pitchFamily="18" charset="0"/>
                          <a:sym typeface="Symbol" panose="05050102010706020507" pitchFamily="18" charset="2"/>
                        </a:rPr>
                        <m:t>𝑫</m:t>
                      </m:r>
                    </m:oMath>
                  </m:oMathPara>
                </a14:m>
                <a:endParaRPr lang="en-CA" sz="1600" dirty="0">
                  <a:solidFill>
                    <a:srgbClr val="0000FF"/>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4217240" y="3758341"/>
                <a:ext cx="4572000" cy="594265"/>
              </a:xfrm>
              <a:prstGeom prst="rect">
                <a:avLst/>
              </a:prstGeom>
              <a:blipFill>
                <a:blip r:embed="rId4"/>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3812555" y="5418915"/>
                <a:ext cx="5753819" cy="56419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CA" sz="1600" b="1" i="1">
                          <a:latin typeface="Cambria Math" panose="02040503050406030204" pitchFamily="18" charset="0"/>
                        </a:rPr>
                        <m:t>𝑨</m:t>
                      </m:r>
                      <m:r>
                        <a:rPr lang="en-CA" sz="1600" b="1" i="1">
                          <a:latin typeface="Cambria Math" panose="02040503050406030204" pitchFamily="18" charset="0"/>
                        </a:rPr>
                        <m:t>=</m:t>
                      </m:r>
                      <m:r>
                        <a:rPr lang="en-CA" sz="1600" b="1" i="1">
                          <a:latin typeface="Cambria Math" panose="02040503050406030204" pitchFamily="18" charset="0"/>
                        </a:rPr>
                        <m:t>𝒃</m:t>
                      </m:r>
                      <m:r>
                        <a:rPr lang="en-CA" sz="1600" b="1" i="1">
                          <a:latin typeface="Cambria Math" panose="02040503050406030204" pitchFamily="18" charset="0"/>
                        </a:rPr>
                        <m:t> × </m:t>
                      </m:r>
                      <m:r>
                        <a:rPr lang="en-CA" sz="1600" b="1" i="1">
                          <a:latin typeface="Cambria Math" panose="02040503050406030204" pitchFamily="18" charset="0"/>
                        </a:rPr>
                        <m:t>𝒉</m:t>
                      </m:r>
                      <m:r>
                        <a:rPr lang="en-CA" sz="1600" b="1" i="1">
                          <a:latin typeface="Cambria Math" panose="02040503050406030204" pitchFamily="18" charset="0"/>
                        </a:rPr>
                        <m:t>;  </m:t>
                      </m:r>
                      <m:r>
                        <a:rPr lang="en-CA" sz="1600" b="1" i="1">
                          <a:latin typeface="Cambria Math" panose="02040503050406030204" pitchFamily="18" charset="0"/>
                        </a:rPr>
                        <m:t>𝑷</m:t>
                      </m:r>
                      <m:r>
                        <a:rPr lang="en-CA" sz="1600" b="1" i="1">
                          <a:latin typeface="Cambria Math" panose="02040503050406030204" pitchFamily="18" charset="0"/>
                        </a:rPr>
                        <m:t>=</m:t>
                      </m:r>
                      <m:r>
                        <a:rPr lang="en-CA" sz="1600" b="1" i="1">
                          <a:latin typeface="Cambria Math" panose="02040503050406030204" pitchFamily="18" charset="0"/>
                        </a:rPr>
                        <m:t>𝒃</m:t>
                      </m:r>
                      <m:r>
                        <a:rPr lang="en-CA" sz="1600" b="1" i="1">
                          <a:latin typeface="Cambria Math" panose="02040503050406030204" pitchFamily="18" charset="0"/>
                        </a:rPr>
                        <m:t>+</m:t>
                      </m:r>
                      <m:r>
                        <a:rPr lang="en-CA" sz="1600" b="1" i="1">
                          <a:latin typeface="Cambria Math" panose="02040503050406030204" pitchFamily="18" charset="0"/>
                        </a:rPr>
                        <m:t>𝟐</m:t>
                      </m:r>
                      <m:r>
                        <a:rPr lang="en-CA" sz="1600" b="1" i="1">
                          <a:latin typeface="Cambria Math" panose="02040503050406030204" pitchFamily="18" charset="0"/>
                        </a:rPr>
                        <m:t>𝒉</m:t>
                      </m:r>
                      <m:r>
                        <a:rPr lang="en-CA" sz="1600" b="1" i="1">
                          <a:latin typeface="Cambria Math" panose="02040503050406030204" pitchFamily="18" charset="0"/>
                        </a:rPr>
                        <m:t> ⟹</m:t>
                      </m:r>
                      <m:sSub>
                        <m:sSubPr>
                          <m:ctrlPr>
                            <a:rPr lang="en-CA" sz="1600" b="1" i="1">
                              <a:solidFill>
                                <a:srgbClr val="0000FF"/>
                              </a:solidFill>
                              <a:latin typeface="Cambria Math" panose="02040503050406030204" pitchFamily="18" charset="0"/>
                              <a:sym typeface="Symbol" panose="05050102010706020507" pitchFamily="18" charset="2"/>
                            </a:rPr>
                          </m:ctrlPr>
                        </m:sSubPr>
                        <m:e>
                          <m:r>
                            <a:rPr lang="en-CA" sz="1600" b="1" i="1">
                              <a:solidFill>
                                <a:srgbClr val="0000FF"/>
                              </a:solidFill>
                              <a:latin typeface="Cambria Math" panose="02040503050406030204" pitchFamily="18" charset="0"/>
                              <a:sym typeface="Symbol" panose="05050102010706020507" pitchFamily="18" charset="2"/>
                            </a:rPr>
                            <m:t> </m:t>
                          </m:r>
                          <m:r>
                            <a:rPr lang="en-CA" sz="1600" b="1" i="1">
                              <a:solidFill>
                                <a:srgbClr val="0000FF"/>
                              </a:solidFill>
                              <a:latin typeface="Cambria Math" panose="02040503050406030204" pitchFamily="18" charset="0"/>
                              <a:sym typeface="Symbol" panose="05050102010706020507" pitchFamily="18" charset="2"/>
                            </a:rPr>
                            <m:t>𝑫</m:t>
                          </m:r>
                        </m:e>
                        <m:sub>
                          <m:r>
                            <a:rPr lang="en-CA" sz="1600" b="1" i="1">
                              <a:solidFill>
                                <a:srgbClr val="0000FF"/>
                              </a:solidFill>
                              <a:latin typeface="Cambria Math" panose="02040503050406030204" pitchFamily="18" charset="0"/>
                              <a:sym typeface="Symbol" panose="05050102010706020507" pitchFamily="18" charset="2"/>
                            </a:rPr>
                            <m:t>𝒉</m:t>
                          </m:r>
                        </m:sub>
                      </m:sSub>
                      <m:r>
                        <a:rPr lang="en-CA" sz="1600" b="1" i="1">
                          <a:solidFill>
                            <a:srgbClr val="0000FF"/>
                          </a:solidFill>
                          <a:latin typeface="Cambria Math" panose="02040503050406030204" pitchFamily="18" charset="0"/>
                          <a:sym typeface="Symbol" panose="05050102010706020507" pitchFamily="18" charset="2"/>
                        </a:rPr>
                        <m:t>= </m:t>
                      </m:r>
                      <m:f>
                        <m:fPr>
                          <m:ctrlPr>
                            <a:rPr lang="en-CA" sz="1600" b="1" i="1">
                              <a:solidFill>
                                <a:srgbClr val="0000FF"/>
                              </a:solidFill>
                              <a:latin typeface="Cambria Math" panose="02040503050406030204" pitchFamily="18" charset="0"/>
                              <a:sym typeface="Symbol" panose="05050102010706020507" pitchFamily="18" charset="2"/>
                            </a:rPr>
                          </m:ctrlPr>
                        </m:fPr>
                        <m:num>
                          <m:r>
                            <a:rPr lang="en-CA" sz="1600" b="1" i="1">
                              <a:solidFill>
                                <a:srgbClr val="0000FF"/>
                              </a:solidFill>
                              <a:latin typeface="Cambria Math" panose="02040503050406030204" pitchFamily="18" charset="0"/>
                              <a:sym typeface="Symbol" panose="05050102010706020507" pitchFamily="18" charset="2"/>
                            </a:rPr>
                            <m:t>𝟒</m:t>
                          </m:r>
                          <m:r>
                            <a:rPr lang="en-CA" sz="1600" b="1" i="1">
                              <a:solidFill>
                                <a:srgbClr val="0000FF"/>
                              </a:solidFill>
                              <a:latin typeface="Cambria Math" panose="02040503050406030204" pitchFamily="18" charset="0"/>
                              <a:sym typeface="Symbol" panose="05050102010706020507" pitchFamily="18" charset="2"/>
                            </a:rPr>
                            <m:t>𝒃𝒉</m:t>
                          </m:r>
                        </m:num>
                        <m:den>
                          <m:r>
                            <a:rPr lang="en-CA" sz="1600" b="1" i="1">
                              <a:solidFill>
                                <a:srgbClr val="0000FF"/>
                              </a:solidFill>
                              <a:latin typeface="Cambria Math" panose="02040503050406030204" pitchFamily="18" charset="0"/>
                            </a:rPr>
                            <m:t>𝒃</m:t>
                          </m:r>
                          <m:r>
                            <a:rPr lang="en-CA" sz="1600" b="1" i="1">
                              <a:solidFill>
                                <a:srgbClr val="0000FF"/>
                              </a:solidFill>
                              <a:latin typeface="Cambria Math" panose="02040503050406030204" pitchFamily="18" charset="0"/>
                            </a:rPr>
                            <m:t>+</m:t>
                          </m:r>
                          <m:r>
                            <a:rPr lang="en-CA" sz="1600" b="1" i="1">
                              <a:solidFill>
                                <a:srgbClr val="0000FF"/>
                              </a:solidFill>
                              <a:latin typeface="Cambria Math" panose="02040503050406030204" pitchFamily="18" charset="0"/>
                            </a:rPr>
                            <m:t>𝟐</m:t>
                          </m:r>
                          <m:r>
                            <a:rPr lang="en-CA" sz="1600" b="1" i="1">
                              <a:solidFill>
                                <a:srgbClr val="0000FF"/>
                              </a:solidFill>
                              <a:latin typeface="Cambria Math" panose="02040503050406030204" pitchFamily="18" charset="0"/>
                            </a:rPr>
                            <m:t>𝒉</m:t>
                          </m:r>
                        </m:den>
                      </m:f>
                    </m:oMath>
                  </m:oMathPara>
                </a14:m>
                <a:endParaRPr lang="en-CA" sz="1600" dirty="0"/>
              </a:p>
            </p:txBody>
          </p:sp>
        </mc:Choice>
        <mc:Fallback xmlns="">
          <p:sp>
            <p:nvSpPr>
              <p:cNvPr id="19" name="Rectangle 18"/>
              <p:cNvSpPr>
                <a:spLocks noRot="1" noChangeAspect="1" noMove="1" noResize="1" noEditPoints="1" noAdjustHandles="1" noChangeArrowheads="1" noChangeShapeType="1" noTextEdit="1"/>
              </p:cNvSpPr>
              <p:nvPr/>
            </p:nvSpPr>
            <p:spPr>
              <a:xfrm>
                <a:off x="3812555" y="5418915"/>
                <a:ext cx="5753819" cy="564193"/>
              </a:xfrm>
              <a:prstGeom prst="rect">
                <a:avLst/>
              </a:prstGeom>
              <a:blipFill>
                <a:blip r:embed="rId5"/>
                <a:stretch>
                  <a:fillRect/>
                </a:stretch>
              </a:blipFill>
            </p:spPr>
            <p:txBody>
              <a:bodyPr/>
              <a:lstStyle/>
              <a:p>
                <a:r>
                  <a:rPr lang="en-GH">
                    <a:noFill/>
                  </a:rPr>
                  <a:t> </a:t>
                </a:r>
              </a:p>
            </p:txBody>
          </p:sp>
        </mc:Fallback>
      </mc:AlternateContent>
      <p:grpSp>
        <p:nvGrpSpPr>
          <p:cNvPr id="23" name="Group 22"/>
          <p:cNvGrpSpPr/>
          <p:nvPr/>
        </p:nvGrpSpPr>
        <p:grpSpPr>
          <a:xfrm>
            <a:off x="2104668" y="875758"/>
            <a:ext cx="1112741" cy="895113"/>
            <a:chOff x="580667" y="1255039"/>
            <a:chExt cx="1112741" cy="895113"/>
          </a:xfrm>
        </p:grpSpPr>
        <p:sp>
          <p:nvSpPr>
            <p:cNvPr id="3" name="Rectangle 2"/>
            <p:cNvSpPr/>
            <p:nvPr/>
          </p:nvSpPr>
          <p:spPr>
            <a:xfrm>
              <a:off x="743669" y="1255039"/>
              <a:ext cx="619305" cy="56192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TextBox 20"/>
            <p:cNvSpPr txBox="1"/>
            <p:nvPr/>
          </p:nvSpPr>
          <p:spPr>
            <a:xfrm>
              <a:off x="580667" y="1842375"/>
              <a:ext cx="1112741" cy="307777"/>
            </a:xfrm>
            <a:prstGeom prst="rect">
              <a:avLst/>
            </a:prstGeom>
            <a:noFill/>
          </p:spPr>
          <p:txBody>
            <a:bodyPr wrap="none" rtlCol="0">
              <a:spAutoFit/>
            </a:bodyPr>
            <a:lstStyle/>
            <a:p>
              <a:r>
                <a:rPr lang="en-CA" sz="1400" b="1" dirty="0"/>
                <a:t>Square duct</a:t>
              </a:r>
            </a:p>
          </p:txBody>
        </p:sp>
      </p:grpSp>
      <p:grpSp>
        <p:nvGrpSpPr>
          <p:cNvPr id="24" name="Group 23"/>
          <p:cNvGrpSpPr/>
          <p:nvPr/>
        </p:nvGrpSpPr>
        <p:grpSpPr>
          <a:xfrm>
            <a:off x="2098115" y="2346805"/>
            <a:ext cx="1660225" cy="827832"/>
            <a:chOff x="580667" y="2651964"/>
            <a:chExt cx="1660225" cy="827832"/>
          </a:xfrm>
        </p:grpSpPr>
        <p:sp>
          <p:nvSpPr>
            <p:cNvPr id="4" name="Rectangle 3"/>
            <p:cNvSpPr/>
            <p:nvPr/>
          </p:nvSpPr>
          <p:spPr>
            <a:xfrm>
              <a:off x="580667" y="2651964"/>
              <a:ext cx="1660225" cy="47779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TextBox 21"/>
            <p:cNvSpPr txBox="1"/>
            <p:nvPr/>
          </p:nvSpPr>
          <p:spPr>
            <a:xfrm>
              <a:off x="607029" y="3172019"/>
              <a:ext cx="1441870" cy="307777"/>
            </a:xfrm>
            <a:prstGeom prst="rect">
              <a:avLst/>
            </a:prstGeom>
            <a:noFill/>
          </p:spPr>
          <p:txBody>
            <a:bodyPr wrap="none" rtlCol="0">
              <a:spAutoFit/>
            </a:bodyPr>
            <a:lstStyle/>
            <a:p>
              <a:r>
                <a:rPr lang="en-CA" sz="1400" b="1" dirty="0"/>
                <a:t>Rectangular duct</a:t>
              </a:r>
            </a:p>
          </p:txBody>
        </p:sp>
      </p:grpSp>
      <p:grpSp>
        <p:nvGrpSpPr>
          <p:cNvPr id="26" name="Group 25"/>
          <p:cNvGrpSpPr/>
          <p:nvPr/>
        </p:nvGrpSpPr>
        <p:grpSpPr>
          <a:xfrm>
            <a:off x="2202434" y="3654332"/>
            <a:ext cx="1124667" cy="1049648"/>
            <a:chOff x="678433" y="3750572"/>
            <a:chExt cx="1124667" cy="1049648"/>
          </a:xfrm>
        </p:grpSpPr>
        <p:sp>
          <p:nvSpPr>
            <p:cNvPr id="5" name="Oval 4"/>
            <p:cNvSpPr/>
            <p:nvPr/>
          </p:nvSpPr>
          <p:spPr>
            <a:xfrm>
              <a:off x="810705" y="3750572"/>
              <a:ext cx="763078" cy="74187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TextBox 24"/>
            <p:cNvSpPr txBox="1"/>
            <p:nvPr/>
          </p:nvSpPr>
          <p:spPr>
            <a:xfrm>
              <a:off x="678433" y="4492443"/>
              <a:ext cx="1124667" cy="307777"/>
            </a:xfrm>
            <a:prstGeom prst="rect">
              <a:avLst/>
            </a:prstGeom>
            <a:noFill/>
          </p:spPr>
          <p:txBody>
            <a:bodyPr wrap="none" rtlCol="0">
              <a:spAutoFit/>
            </a:bodyPr>
            <a:lstStyle/>
            <a:p>
              <a:r>
                <a:rPr lang="en-CA" sz="1400" b="1" dirty="0"/>
                <a:t>Circular duct</a:t>
              </a:r>
            </a:p>
          </p:txBody>
        </p:sp>
      </p:grpSp>
      <p:grpSp>
        <p:nvGrpSpPr>
          <p:cNvPr id="29" name="Group 28"/>
          <p:cNvGrpSpPr/>
          <p:nvPr/>
        </p:nvGrpSpPr>
        <p:grpSpPr>
          <a:xfrm>
            <a:off x="2305300" y="5215623"/>
            <a:ext cx="1507254" cy="1144540"/>
            <a:chOff x="781300" y="5215623"/>
            <a:chExt cx="1507254" cy="1144540"/>
          </a:xfrm>
        </p:grpSpPr>
        <p:cxnSp>
          <p:nvCxnSpPr>
            <p:cNvPr id="18" name="Straight Connector 17"/>
            <p:cNvCxnSpPr/>
            <p:nvPr/>
          </p:nvCxnSpPr>
          <p:spPr>
            <a:xfrm>
              <a:off x="806288" y="5535282"/>
              <a:ext cx="1481945"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sp>
          <p:nvSpPr>
            <p:cNvPr id="20" name="Isosceles Triangle 19"/>
            <p:cNvSpPr/>
            <p:nvPr/>
          </p:nvSpPr>
          <p:spPr>
            <a:xfrm flipV="1">
              <a:off x="1337992" y="5375642"/>
              <a:ext cx="235791" cy="140417"/>
            </a:xfrm>
            <a:prstGeom prst="triangle">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28" name="Group 27"/>
            <p:cNvGrpSpPr/>
            <p:nvPr/>
          </p:nvGrpSpPr>
          <p:grpSpPr>
            <a:xfrm>
              <a:off x="781300" y="5215623"/>
              <a:ext cx="1507254" cy="1144540"/>
              <a:chOff x="781621" y="5075207"/>
              <a:chExt cx="1507254" cy="1144540"/>
            </a:xfrm>
          </p:grpSpPr>
          <p:grpSp>
            <p:nvGrpSpPr>
              <p:cNvPr id="16" name="Group 15"/>
              <p:cNvGrpSpPr/>
              <p:nvPr/>
            </p:nvGrpSpPr>
            <p:grpSpPr>
              <a:xfrm>
                <a:off x="806930" y="5075207"/>
                <a:ext cx="1481945" cy="836763"/>
                <a:chOff x="806930" y="5075207"/>
                <a:chExt cx="1481945" cy="836763"/>
              </a:xfrm>
            </p:grpSpPr>
            <p:grpSp>
              <p:nvGrpSpPr>
                <p:cNvPr id="12" name="Group 11"/>
                <p:cNvGrpSpPr/>
                <p:nvPr/>
              </p:nvGrpSpPr>
              <p:grpSpPr>
                <a:xfrm>
                  <a:off x="806930" y="5075207"/>
                  <a:ext cx="1481945" cy="836763"/>
                  <a:chOff x="806930" y="5178724"/>
                  <a:chExt cx="1365849" cy="638355"/>
                </a:xfrm>
              </p:grpSpPr>
              <p:cxnSp>
                <p:nvCxnSpPr>
                  <p:cNvPr id="10" name="Straight Connector 9"/>
                  <p:cNvCxnSpPr/>
                  <p:nvPr/>
                </p:nvCxnSpPr>
                <p:spPr>
                  <a:xfrm>
                    <a:off x="806930" y="5178724"/>
                    <a:ext cx="0" cy="63835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172779" y="5178724"/>
                    <a:ext cx="0" cy="63835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 name="Straight Connector 13"/>
                <p:cNvCxnSpPr/>
                <p:nvPr/>
              </p:nvCxnSpPr>
              <p:spPr>
                <a:xfrm>
                  <a:off x="810705" y="5911970"/>
                  <a:ext cx="147784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TextBox 26"/>
              <p:cNvSpPr txBox="1"/>
              <p:nvPr/>
            </p:nvSpPr>
            <p:spPr>
              <a:xfrm>
                <a:off x="781621" y="5911970"/>
                <a:ext cx="1245854" cy="307777"/>
              </a:xfrm>
              <a:prstGeom prst="rect">
                <a:avLst/>
              </a:prstGeom>
              <a:noFill/>
            </p:spPr>
            <p:txBody>
              <a:bodyPr wrap="square" rtlCol="0">
                <a:spAutoFit/>
              </a:bodyPr>
              <a:lstStyle/>
              <a:p>
                <a:r>
                  <a:rPr lang="en-CA" sz="1400" b="1" dirty="0"/>
                  <a:t>Open channel</a:t>
                </a:r>
              </a:p>
            </p:txBody>
          </p:sp>
        </p:grpSp>
      </p:grpSp>
    </p:spTree>
    <p:extLst>
      <p:ext uri="{BB962C8B-B14F-4D97-AF65-F5344CB8AC3E}">
        <p14:creationId xmlns:p14="http://schemas.microsoft.com/office/powerpoint/2010/main" val="1440579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6159" y="0"/>
            <a:ext cx="7477760" cy="418011"/>
          </a:xfrm>
        </p:spPr>
        <p:txBody>
          <a:bodyPr>
            <a:normAutofit fontScale="90000"/>
          </a:bodyPr>
          <a:lstStyle/>
          <a:p>
            <a:pPr lvl="0" indent="-228600" algn="ctr">
              <a:lnSpc>
                <a:spcPct val="107000"/>
              </a:lnSpc>
              <a:spcBef>
                <a:spcPts val="0"/>
              </a:spcBef>
              <a:spcAft>
                <a:spcPts val="800"/>
              </a:spcAft>
              <a:tabLst>
                <a:tab pos="3447415" algn="l"/>
              </a:tabLst>
            </a:pPr>
            <a:r>
              <a:rPr lang="en-US" sz="2800" dirty="0">
                <a:solidFill>
                  <a:prstClr val="black"/>
                </a:solidFill>
                <a:latin typeface="Times New Roman" panose="02020603050405020304" pitchFamily="18" charset="0"/>
                <a:ea typeface="Times New Roman" panose="02020603050405020304" pitchFamily="18" charset="0"/>
              </a:rPr>
              <a:t> </a:t>
            </a:r>
            <a:r>
              <a:rPr lang="en-US" sz="2400" b="1" dirty="0">
                <a:solidFill>
                  <a:prstClr val="black"/>
                </a:solidFill>
                <a:latin typeface="Times New Roman" panose="02020603050405020304" pitchFamily="18" charset="0"/>
                <a:ea typeface="Times New Roman" panose="02020603050405020304" pitchFamily="18" charset="0"/>
              </a:rPr>
              <a:t>FURTHER EXAMPLES</a:t>
            </a:r>
            <a:endParaRPr lang="en-US" sz="2400" dirty="0"/>
          </a:p>
        </p:txBody>
      </p:sp>
      <mc:AlternateContent xmlns:mc="http://schemas.openxmlformats.org/markup-compatibility/2006">
        <mc:Choice xmlns:a14="http://schemas.microsoft.com/office/drawing/2010/main" Requires="a14">
          <p:sp>
            <p:nvSpPr>
              <p:cNvPr id="8" name="Content Placeholder 2">
                <a:extLst>
                  <a:ext uri="{FF2B5EF4-FFF2-40B4-BE49-F238E27FC236}">
                    <a16:creationId xmlns:a16="http://schemas.microsoft.com/office/drawing/2014/main" id="{0812B3CE-26E5-D623-E4C6-56DA91FED8E2}"/>
                  </a:ext>
                </a:extLst>
              </p:cNvPr>
              <p:cNvSpPr>
                <a:spLocks noGrp="1"/>
              </p:cNvSpPr>
              <p:nvPr>
                <p:ph idx="1"/>
              </p:nvPr>
            </p:nvSpPr>
            <p:spPr>
              <a:xfrm>
                <a:off x="0" y="478971"/>
                <a:ext cx="12192000" cy="853841"/>
              </a:xfrm>
            </p:spPr>
            <p:txBody>
              <a:bodyPr>
                <a:normAutofit/>
              </a:bodyPr>
              <a:lstStyle/>
              <a:p>
                <a:pPr marL="0" indent="0" algn="just">
                  <a:spcAft>
                    <a:spcPts val="600"/>
                  </a:spcAft>
                  <a:buNone/>
                </a:pPr>
                <a:r>
                  <a:rPr lang="en-GB" sz="2400" b="1" dirty="0">
                    <a:latin typeface="Times New Roman" panose="02020603050405020304" pitchFamily="18" charset="0"/>
                    <a:cs typeface="Times New Roman" panose="02020603050405020304" pitchFamily="18" charset="0"/>
                  </a:rPr>
                  <a:t>Example 1</a:t>
                </a:r>
                <a:r>
                  <a:rPr lang="en-GB" sz="2400" dirty="0">
                    <a:latin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Water at </a:t>
                </a:r>
                <a14:m>
                  <m:oMath xmlns:m="http://schemas.openxmlformats.org/officeDocument/2006/math">
                    <m:r>
                      <a:rPr lang="en-US" sz="2400" i="1">
                        <a:effectLst/>
                        <a:latin typeface="Cambria Math" panose="02040503050406030204" pitchFamily="18" charset="0"/>
                        <a:ea typeface="Times New Roman" panose="02020603050405020304" pitchFamily="18" charset="0"/>
                      </a:rPr>
                      <m:t>20℃</m:t>
                    </m:r>
                  </m:oMath>
                </a14:m>
                <a:r>
                  <a:rPr lang="en-US" sz="2400" dirty="0">
                    <a:effectLst/>
                    <a:latin typeface="Times New Roman" panose="02020603050405020304" pitchFamily="18" charset="0"/>
                    <a:ea typeface="Times New Roman" panose="02020603050405020304" pitchFamily="18" charset="0"/>
                  </a:rPr>
                  <a:t> is transported for 500 m in a 4 cm diameter wrought iron horizontal pipe with a flow rate of </a:t>
                </a:r>
                <a14:m>
                  <m:oMath xmlns:m="http://schemas.openxmlformats.org/officeDocument/2006/math">
                    <m:r>
                      <a:rPr lang="en-US" sz="2400" i="1">
                        <a:effectLst/>
                        <a:latin typeface="Cambria Math" panose="02040503050406030204" pitchFamily="18" charset="0"/>
                        <a:ea typeface="Times New Roman" panose="02020603050405020304" pitchFamily="18" charset="0"/>
                      </a:rPr>
                      <m:t>0.003</m:t>
                    </m:r>
                    <m:f>
                      <m:fPr>
                        <m:type m:val="lin"/>
                        <m:ctrlPr>
                          <a:rPr lang="en-US" sz="2400" i="1">
                            <a:effectLst/>
                            <a:latin typeface="Cambria Math" panose="02040503050406030204" pitchFamily="18" charset="0"/>
                            <a:ea typeface="Times New Roman" panose="02020603050405020304" pitchFamily="18" charset="0"/>
                          </a:rPr>
                        </m:ctrlPr>
                      </m:fPr>
                      <m:num>
                        <m:sSup>
                          <m:sSupPr>
                            <m:ctrlPr>
                              <a:rPr lang="en-US" sz="2400" i="1">
                                <a:effectLst/>
                                <a:latin typeface="Cambria Math" panose="02040503050406030204" pitchFamily="18" charset="0"/>
                                <a:ea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rPr>
                              <m:t>𝑚</m:t>
                            </m:r>
                          </m:e>
                          <m:sup>
                            <m:r>
                              <a:rPr lang="en-US" sz="2400" i="1">
                                <a:effectLst/>
                                <a:latin typeface="Cambria Math" panose="02040503050406030204" pitchFamily="18" charset="0"/>
                                <a:ea typeface="Times New Roman" panose="02020603050405020304" pitchFamily="18" charset="0"/>
                              </a:rPr>
                              <m:t>3</m:t>
                            </m:r>
                          </m:sup>
                        </m:sSup>
                      </m:num>
                      <m:den>
                        <m:r>
                          <a:rPr lang="en-US" sz="2400" i="1">
                            <a:effectLst/>
                            <a:latin typeface="Cambria Math" panose="02040503050406030204" pitchFamily="18" charset="0"/>
                            <a:ea typeface="Times New Roman" panose="02020603050405020304" pitchFamily="18" charset="0"/>
                          </a:rPr>
                          <m:t>𝑠</m:t>
                        </m:r>
                      </m:den>
                    </m:f>
                  </m:oMath>
                </a14:m>
                <a:r>
                  <a:rPr lang="en-US" sz="2400" dirty="0">
                    <a:effectLst/>
                    <a:latin typeface="Times New Roman" panose="02020603050405020304" pitchFamily="18" charset="0"/>
                    <a:ea typeface="Times New Roman" panose="02020603050405020304" pitchFamily="18" charset="0"/>
                  </a:rPr>
                  <a:t>. Calculate the pressure drop over the 500 m length pipe.</a:t>
                </a:r>
              </a:p>
              <a:p>
                <a:pPr marL="0" indent="0" algn="just">
                  <a:spcAft>
                    <a:spcPts val="600"/>
                  </a:spcAft>
                  <a:buNone/>
                </a:pPr>
                <a:endParaRPr lang="en-US" sz="2400" dirty="0">
                  <a:latin typeface="Times New Roman" panose="02020603050405020304" pitchFamily="18" charset="0"/>
                  <a:cs typeface="Times New Roman" panose="02020603050405020304" pitchFamily="18" charset="0"/>
                </a:endParaRPr>
              </a:p>
            </p:txBody>
          </p:sp>
        </mc:Choice>
        <mc:Fallback>
          <p:sp>
            <p:nvSpPr>
              <p:cNvPr id="8" name="Content Placeholder 2">
                <a:extLst>
                  <a:ext uri="{FF2B5EF4-FFF2-40B4-BE49-F238E27FC236}">
                    <a16:creationId xmlns:a16="http://schemas.microsoft.com/office/drawing/2014/main" id="{0812B3CE-26E5-D623-E4C6-56DA91FED8E2}"/>
                  </a:ext>
                </a:extLst>
              </p:cNvPr>
              <p:cNvSpPr>
                <a:spLocks noGrp="1" noRot="1" noChangeAspect="1" noMove="1" noResize="1" noEditPoints="1" noAdjustHandles="1" noChangeArrowheads="1" noChangeShapeType="1" noTextEdit="1"/>
              </p:cNvSpPr>
              <p:nvPr>
                <p:ph idx="1"/>
              </p:nvPr>
            </p:nvSpPr>
            <p:spPr>
              <a:xfrm>
                <a:off x="0" y="478971"/>
                <a:ext cx="12192000" cy="853841"/>
              </a:xfrm>
              <a:blipFill>
                <a:blip r:embed="rId3"/>
                <a:stretch>
                  <a:fillRect l="-750" t="-32857" r="-750" b="-92857"/>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DD60F74-AB4C-6964-1A2E-9FF9EB7F493A}"/>
                  </a:ext>
                </a:extLst>
              </p:cNvPr>
              <p:cNvSpPr txBox="1"/>
              <p:nvPr/>
            </p:nvSpPr>
            <p:spPr>
              <a:xfrm>
                <a:off x="426720" y="1393772"/>
                <a:ext cx="9773919" cy="4908010"/>
              </a:xfrm>
              <a:prstGeom prst="rect">
                <a:avLst/>
              </a:prstGeom>
              <a:noFill/>
            </p:spPr>
            <p:txBody>
              <a:bodyPr wrap="square">
                <a:spAutoFit/>
              </a:bodyPr>
              <a:lstStyle/>
              <a:p>
                <a:pPr marL="0" marR="0" indent="0">
                  <a:lnSpc>
                    <a:spcPct val="107000"/>
                  </a:lnSpc>
                  <a:spcBef>
                    <a:spcPts val="1200"/>
                  </a:spcBef>
                  <a:spcAft>
                    <a:spcPts val="800"/>
                  </a:spcAft>
                  <a:buNone/>
                </a:pPr>
                <a:r>
                  <a:rPr lang="en-US" sz="2400" b="1" dirty="0">
                    <a:effectLst/>
                    <a:latin typeface="Times New Roman" panose="02020603050405020304" pitchFamily="18" charset="0"/>
                    <a:ea typeface="Times New Roman" panose="02020603050405020304" pitchFamily="18" charset="0"/>
                  </a:rPr>
                  <a:t>Solution</a:t>
                </a:r>
              </a:p>
              <a:p>
                <a:pPr marL="0" marR="0" indent="0">
                  <a:lnSpc>
                    <a:spcPct val="107000"/>
                  </a:lnSpc>
                  <a:spcBef>
                    <a:spcPts val="1200"/>
                  </a:spcBef>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 average velocity is</a:t>
                </a:r>
              </a:p>
              <a:p>
                <a:pPr marL="0" marR="0" indent="0">
                  <a:lnSpc>
                    <a:spcPct val="107000"/>
                  </a:lnSpc>
                  <a:spcBef>
                    <a:spcPts val="0"/>
                  </a:spcBef>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sz="2400" i="1">
                        <a:effectLst/>
                        <a:latin typeface="Cambria Math" panose="02040503050406030204" pitchFamily="18" charset="0"/>
                        <a:ea typeface="Times New Roman" panose="02020603050405020304" pitchFamily="18" charset="0"/>
                      </a:rPr>
                      <m:t>𝑉</m:t>
                    </m:r>
                    <m:r>
                      <a:rPr lang="en-US" sz="2400" i="1">
                        <a:effectLst/>
                        <a:latin typeface="Cambria Math" panose="02040503050406030204" pitchFamily="18" charset="0"/>
                        <a:ea typeface="Times New Roman" panose="02020603050405020304" pitchFamily="18" charset="0"/>
                      </a:rPr>
                      <m:t>=</m:t>
                    </m:r>
                    <m:f>
                      <m:fPr>
                        <m:ctrlPr>
                          <a:rPr lang="en-US" sz="2400" i="1">
                            <a:effectLst/>
                            <a:latin typeface="Cambria Math" panose="02040503050406030204" pitchFamily="18" charset="0"/>
                            <a:ea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rPr>
                          <m:t>𝑄</m:t>
                        </m:r>
                      </m:num>
                      <m:den>
                        <m:r>
                          <a:rPr lang="en-US" sz="2400" i="1">
                            <a:effectLst/>
                            <a:latin typeface="Cambria Math" panose="02040503050406030204" pitchFamily="18" charset="0"/>
                            <a:ea typeface="Times New Roman" panose="02020603050405020304" pitchFamily="18" charset="0"/>
                          </a:rPr>
                          <m:t>𝐴</m:t>
                        </m:r>
                      </m:den>
                    </m:f>
                  </m:oMath>
                </a14:m>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nSpc>
                    <a:spcPct val="107000"/>
                  </a:lnSpc>
                  <a:spcBef>
                    <a:spcPts val="1200"/>
                  </a:spcBef>
                  <a:spcAft>
                    <a:spcPts val="800"/>
                  </a:spcAft>
                  <a:buNone/>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sz="2400" i="1">
                        <a:latin typeface="Cambria Math" panose="02040503050406030204" pitchFamily="18" charset="0"/>
                        <a:ea typeface="Times New Roman" panose="02020603050405020304" pitchFamily="18" charset="0"/>
                      </a:rPr>
                      <m:t>=</m:t>
                    </m:r>
                    <m:f>
                      <m:fPr>
                        <m:ctrlPr>
                          <a:rPr lang="en-US" sz="2400" i="1">
                            <a:latin typeface="Cambria Math" panose="02040503050406030204" pitchFamily="18" charset="0"/>
                            <a:ea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rPr>
                          <m:t>0.0</m:t>
                        </m:r>
                        <m:r>
                          <a:rPr lang="en-GB" sz="2400" b="0" i="1" smtClean="0">
                            <a:latin typeface="Cambria Math" panose="02040503050406030204" pitchFamily="18" charset="0"/>
                            <a:ea typeface="Times New Roman" panose="02020603050405020304" pitchFamily="18" charset="0"/>
                          </a:rPr>
                          <m:t>0</m:t>
                        </m:r>
                        <m:r>
                          <a:rPr lang="en-US" sz="2400" i="1">
                            <a:latin typeface="Cambria Math" panose="02040503050406030204" pitchFamily="18" charset="0"/>
                            <a:ea typeface="Times New Roman" panose="02020603050405020304" pitchFamily="18" charset="0"/>
                          </a:rPr>
                          <m:t>3</m:t>
                        </m:r>
                      </m:num>
                      <m:den>
                        <m:r>
                          <a:rPr lang="en-US" sz="2400" i="1">
                            <a:latin typeface="Cambria Math" panose="02040503050406030204" pitchFamily="18" charset="0"/>
                            <a:ea typeface="Times New Roman" panose="02020603050405020304" pitchFamily="18" charset="0"/>
                          </a:rPr>
                          <m:t>𝜋</m:t>
                        </m:r>
                        <m:r>
                          <a:rPr lang="en-US" sz="2400" i="1">
                            <a:latin typeface="Cambria Math" panose="02040503050406030204" pitchFamily="18" charset="0"/>
                            <a:ea typeface="Times New Roman" panose="02020603050405020304" pitchFamily="18" charset="0"/>
                          </a:rPr>
                          <m:t> × </m:t>
                        </m:r>
                        <m:sSup>
                          <m:sSupPr>
                            <m:ctrlPr>
                              <a:rPr lang="en-US" sz="2400" i="1">
                                <a:latin typeface="Cambria Math" panose="02040503050406030204" pitchFamily="18" charset="0"/>
                                <a:ea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rPr>
                              <m:t>0.02</m:t>
                            </m:r>
                          </m:e>
                          <m:sup>
                            <m:r>
                              <a:rPr lang="en-US" sz="2400" i="1">
                                <a:latin typeface="Cambria Math" panose="02040503050406030204" pitchFamily="18" charset="0"/>
                                <a:ea typeface="Times New Roman" panose="02020603050405020304" pitchFamily="18" charset="0"/>
                              </a:rPr>
                              <m:t>2</m:t>
                            </m:r>
                          </m:sup>
                        </m:sSup>
                      </m:den>
                    </m:f>
                    <m:r>
                      <a:rPr lang="en-US" sz="2400" i="1">
                        <a:latin typeface="Cambria Math" panose="02040503050406030204" pitchFamily="18" charset="0"/>
                        <a:ea typeface="Times New Roman" panose="02020603050405020304" pitchFamily="18" charset="0"/>
                      </a:rPr>
                      <m:t>=2.39</m:t>
                    </m:r>
                    <m:f>
                      <m:fPr>
                        <m:type m:val="lin"/>
                        <m:ctrlPr>
                          <a:rPr lang="en-US" sz="2400" i="1">
                            <a:latin typeface="Cambria Math" panose="02040503050406030204" pitchFamily="18" charset="0"/>
                            <a:ea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rPr>
                          <m:t>𝑚</m:t>
                        </m:r>
                      </m:num>
                      <m:den>
                        <m:r>
                          <a:rPr lang="en-US" sz="2400" i="1">
                            <a:latin typeface="Cambria Math" panose="02040503050406030204" pitchFamily="18" charset="0"/>
                            <a:ea typeface="Times New Roman" panose="02020603050405020304" pitchFamily="18" charset="0"/>
                          </a:rPr>
                          <m:t>𝑠</m:t>
                        </m:r>
                      </m:den>
                    </m:f>
                  </m:oMath>
                </a14:m>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nSpc>
                    <a:spcPct val="107000"/>
                  </a:lnSpc>
                  <a:spcBef>
                    <a:spcPts val="1200"/>
                  </a:spcBef>
                  <a:spcAft>
                    <a:spcPts val="800"/>
                  </a:spcAft>
                  <a:buNone/>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The Reynolds number is</a:t>
                </a:r>
              </a:p>
              <a:p>
                <a:pPr marL="0" marR="0" indent="0">
                  <a:lnSpc>
                    <a:spcPct val="107000"/>
                  </a:lnSpc>
                  <a:spcBef>
                    <a:spcPts val="1200"/>
                  </a:spcBef>
                  <a:spcAft>
                    <a:spcPts val="800"/>
                  </a:spcAft>
                  <a:buNone/>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sz="2400" i="1">
                        <a:latin typeface="Cambria Math" panose="02040503050406030204" pitchFamily="18" charset="0"/>
                        <a:ea typeface="Times New Roman" panose="02020603050405020304" pitchFamily="18" charset="0"/>
                      </a:rPr>
                      <m:t>𝑅𝑒</m:t>
                    </m:r>
                    <m:r>
                      <a:rPr lang="en-US" sz="2400" i="1">
                        <a:latin typeface="Cambria Math" panose="02040503050406030204" pitchFamily="18" charset="0"/>
                        <a:ea typeface="Times New Roman" panose="02020603050405020304" pitchFamily="18" charset="0"/>
                      </a:rPr>
                      <m:t>=</m:t>
                    </m:r>
                    <m:f>
                      <m:fPr>
                        <m:ctrlPr>
                          <a:rPr lang="en-US" sz="2400" i="1">
                            <a:latin typeface="Cambria Math" panose="02040503050406030204" pitchFamily="18" charset="0"/>
                            <a:ea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rPr>
                          <m:t>𝑉𝐷</m:t>
                        </m:r>
                      </m:num>
                      <m:den>
                        <m:r>
                          <a:rPr lang="en-US" sz="2400" i="1">
                            <a:latin typeface="Cambria Math" panose="02040503050406030204" pitchFamily="18" charset="0"/>
                            <a:ea typeface="Times New Roman" panose="02020603050405020304" pitchFamily="18" charset="0"/>
                          </a:rPr>
                          <m:t>𝑣</m:t>
                        </m:r>
                      </m:den>
                    </m:f>
                  </m:oMath>
                </a14:m>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nSpc>
                    <a:spcPct val="107000"/>
                  </a:lnSpc>
                  <a:spcBef>
                    <a:spcPts val="1200"/>
                  </a:spcBef>
                  <a:spcAft>
                    <a:spcPts val="800"/>
                  </a:spcAft>
                  <a:buNone/>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sz="2400" i="1">
                        <a:latin typeface="Cambria Math" panose="02040503050406030204" pitchFamily="18" charset="0"/>
                        <a:ea typeface="Times New Roman" panose="02020603050405020304" pitchFamily="18" charset="0"/>
                      </a:rPr>
                      <m:t>=</m:t>
                    </m:r>
                    <m:f>
                      <m:fPr>
                        <m:ctrlPr>
                          <a:rPr lang="en-US" sz="2400" i="1">
                            <a:latin typeface="Cambria Math" panose="02040503050406030204" pitchFamily="18" charset="0"/>
                            <a:ea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rPr>
                          <m:t>2.39 </m:t>
                        </m:r>
                        <m:r>
                          <a:rPr lang="en-US" sz="240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Times New Roman" panose="02020603050405020304" pitchFamily="18" charset="0"/>
                          </a:rPr>
                          <m:t> 0.04</m:t>
                        </m:r>
                      </m:num>
                      <m:den>
                        <m:sSup>
                          <m:sSupPr>
                            <m:ctrlPr>
                              <a:rPr lang="en-US" sz="2400" i="1">
                                <a:latin typeface="Cambria Math" panose="02040503050406030204" pitchFamily="18" charset="0"/>
                                <a:ea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rPr>
                              <m:t>10</m:t>
                            </m:r>
                          </m:e>
                          <m:sup>
                            <m:r>
                              <a:rPr lang="en-US" sz="2400" i="1">
                                <a:latin typeface="Cambria Math" panose="02040503050406030204" pitchFamily="18" charset="0"/>
                                <a:ea typeface="Times New Roman" panose="02020603050405020304" pitchFamily="18" charset="0"/>
                              </a:rPr>
                              <m:t>−6</m:t>
                            </m:r>
                          </m:sup>
                        </m:sSup>
                      </m:den>
                    </m:f>
                    <m:r>
                      <a:rPr lang="en-US" sz="2400" i="1">
                        <a:latin typeface="Cambria Math" panose="02040503050406030204" pitchFamily="18" charset="0"/>
                        <a:ea typeface="Times New Roman" panose="02020603050405020304" pitchFamily="18" charset="0"/>
                      </a:rPr>
                      <m:t>=9.6 </m:t>
                    </m:r>
                    <m:r>
                      <a:rPr lang="en-US" sz="240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Times New Roman" panose="02020603050405020304" pitchFamily="18" charset="0"/>
                      </a:rPr>
                      <m:t> </m:t>
                    </m:r>
                    <m:sSup>
                      <m:sSupPr>
                        <m:ctrlPr>
                          <a:rPr lang="en-US" sz="2400" i="1">
                            <a:latin typeface="Cambria Math" panose="02040503050406030204" pitchFamily="18" charset="0"/>
                            <a:ea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rPr>
                          <m:t>10</m:t>
                        </m:r>
                      </m:e>
                      <m:sup>
                        <m:r>
                          <a:rPr lang="en-US" sz="2400" i="1">
                            <a:latin typeface="Cambria Math" panose="02040503050406030204" pitchFamily="18" charset="0"/>
                            <a:ea typeface="Times New Roman" panose="02020603050405020304" pitchFamily="18" charset="0"/>
                          </a:rPr>
                          <m:t>4</m:t>
                        </m:r>
                      </m:sup>
                    </m:sSup>
                  </m:oMath>
                </a14:m>
                <a:endParaRPr lang="en-GH" sz="2400" dirty="0">
                  <a:latin typeface="Times New Roman" panose="02020603050405020304" pitchFamily="18" charset="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EDD60F74-AB4C-6964-1A2E-9FF9EB7F493A}"/>
                  </a:ext>
                </a:extLst>
              </p:cNvPr>
              <p:cNvSpPr txBox="1">
                <a:spLocks noRot="1" noChangeAspect="1" noMove="1" noResize="1" noEditPoints="1" noAdjustHandles="1" noChangeArrowheads="1" noChangeShapeType="1" noTextEdit="1"/>
              </p:cNvSpPr>
              <p:nvPr/>
            </p:nvSpPr>
            <p:spPr>
              <a:xfrm>
                <a:off x="426720" y="1393772"/>
                <a:ext cx="9773919" cy="4908010"/>
              </a:xfrm>
              <a:prstGeom prst="rect">
                <a:avLst/>
              </a:prstGeom>
              <a:blipFill>
                <a:blip r:embed="rId4"/>
                <a:stretch>
                  <a:fillRect l="-936" t="-994"/>
                </a:stretch>
              </a:blipFill>
            </p:spPr>
            <p:txBody>
              <a:bodyPr/>
              <a:lstStyle/>
              <a:p>
                <a:r>
                  <a:rPr lang="en-GH">
                    <a:noFill/>
                  </a:rPr>
                  <a:t> </a:t>
                </a:r>
              </a:p>
            </p:txBody>
          </p:sp>
        </mc:Fallback>
      </mc:AlternateContent>
    </p:spTree>
    <p:extLst>
      <p:ext uri="{BB962C8B-B14F-4D97-AF65-F5344CB8AC3E}">
        <p14:creationId xmlns:p14="http://schemas.microsoft.com/office/powerpoint/2010/main" val="39113327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Moody Chart, Moody's Table">
            <a:extLst>
              <a:ext uri="{FF2B5EF4-FFF2-40B4-BE49-F238E27FC236}">
                <a16:creationId xmlns:a16="http://schemas.microsoft.com/office/drawing/2014/main" id="{CED28302-A6D0-DBC3-8ACC-7C812D8090C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785" r="948" b="3245"/>
          <a:stretch/>
        </p:blipFill>
        <p:spPr bwMode="auto">
          <a:xfrm>
            <a:off x="956339" y="216582"/>
            <a:ext cx="9899229" cy="6540449"/>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1581932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6159" y="0"/>
            <a:ext cx="7477760" cy="418011"/>
          </a:xfrm>
        </p:spPr>
        <p:txBody>
          <a:bodyPr>
            <a:normAutofit fontScale="90000"/>
          </a:bodyPr>
          <a:lstStyle/>
          <a:p>
            <a:pPr lvl="0" indent="-228600" algn="ctr">
              <a:lnSpc>
                <a:spcPct val="107000"/>
              </a:lnSpc>
              <a:spcBef>
                <a:spcPts val="0"/>
              </a:spcBef>
              <a:spcAft>
                <a:spcPts val="800"/>
              </a:spcAft>
              <a:tabLst>
                <a:tab pos="3447415" algn="l"/>
              </a:tabLst>
            </a:pPr>
            <a:r>
              <a:rPr lang="en-US" sz="2800" dirty="0">
                <a:solidFill>
                  <a:prstClr val="black"/>
                </a:solidFill>
                <a:latin typeface="Times New Roman" panose="02020603050405020304" pitchFamily="18" charset="0"/>
                <a:ea typeface="Times New Roman" panose="02020603050405020304" pitchFamily="18" charset="0"/>
              </a:rPr>
              <a:t> </a:t>
            </a:r>
            <a:r>
              <a:rPr lang="en-US" sz="2400" b="1" dirty="0">
                <a:solidFill>
                  <a:prstClr val="black"/>
                </a:solidFill>
                <a:latin typeface="Times New Roman" panose="02020603050405020304" pitchFamily="18" charset="0"/>
                <a:ea typeface="Times New Roman" panose="02020603050405020304" pitchFamily="18" charset="0"/>
              </a:rPr>
              <a:t>FURTHER EXAMPLES</a:t>
            </a:r>
            <a:endParaRPr lang="en-US" sz="24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97F78F8-09A7-E01A-6141-67554852BDED}"/>
                  </a:ext>
                </a:extLst>
              </p:cNvPr>
              <p:cNvSpPr txBox="1"/>
              <p:nvPr/>
            </p:nvSpPr>
            <p:spPr>
              <a:xfrm>
                <a:off x="78377" y="512828"/>
                <a:ext cx="11982559" cy="5931432"/>
              </a:xfrm>
              <a:prstGeom prst="rect">
                <a:avLst/>
              </a:prstGeom>
              <a:noFill/>
            </p:spPr>
            <p:txBody>
              <a:bodyPr wrap="square">
                <a:spAutoFit/>
              </a:bodyPr>
              <a:lstStyle/>
              <a:p>
                <a:pPr marL="0" marR="0" indent="0">
                  <a:lnSpc>
                    <a:spcPct val="107000"/>
                  </a:lnSpc>
                  <a:spcBef>
                    <a:spcPts val="1200"/>
                  </a:spcBef>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but  </a:t>
                </a:r>
                <a14:m>
                  <m:oMath xmlns:m="http://schemas.openxmlformats.org/officeDocument/2006/math">
                    <m:r>
                      <a:rPr lang="en-US" sz="2400" i="1">
                        <a:effectLst/>
                        <a:latin typeface="Cambria Math" panose="02040503050406030204" pitchFamily="18" charset="0"/>
                        <a:ea typeface="Times New Roman" panose="02020603050405020304" pitchFamily="18" charset="0"/>
                      </a:rPr>
                      <m:t>𝑒</m:t>
                    </m:r>
                  </m:oMath>
                </a14:m>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 0.046, we have, using </a:t>
                </a:r>
                <a14:m>
                  <m:oMath xmlns:m="http://schemas.openxmlformats.org/officeDocument/2006/math">
                    <m:r>
                      <a:rPr lang="en-US" sz="2400" i="1">
                        <a:effectLst/>
                        <a:latin typeface="Cambria Math" panose="02040503050406030204" pitchFamily="18" charset="0"/>
                        <a:ea typeface="Times New Roman" panose="02020603050405020304" pitchFamily="18" charset="0"/>
                      </a:rPr>
                      <m:t>𝐷</m:t>
                    </m:r>
                    <m:r>
                      <a:rPr lang="en-US" sz="2400" i="1">
                        <a:effectLst/>
                        <a:latin typeface="Cambria Math" panose="02040503050406030204" pitchFamily="18" charset="0"/>
                        <a:ea typeface="Times New Roman" panose="02020603050405020304" pitchFamily="18" charset="0"/>
                      </a:rPr>
                      <m:t>=40</m:t>
                    </m:r>
                    <m:r>
                      <a:rPr lang="en-US" sz="2400" i="1">
                        <a:effectLst/>
                        <a:latin typeface="Cambria Math" panose="02040503050406030204" pitchFamily="18" charset="0"/>
                        <a:ea typeface="Times New Roman" panose="02020603050405020304" pitchFamily="18" charset="0"/>
                      </a:rPr>
                      <m:t>𝑚𝑚</m:t>
                    </m:r>
                  </m:oMath>
                </a14:m>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marL="0" marR="0" indent="0">
                  <a:lnSpc>
                    <a:spcPct val="107000"/>
                  </a:lnSpc>
                  <a:spcBef>
                    <a:spcPts val="1200"/>
                  </a:spcBef>
                  <a:spcAft>
                    <a:spcPts val="800"/>
                  </a:spcAft>
                  <a:buNone/>
                </a:pPr>
                <a14:m>
                  <m:oMathPara xmlns:m="http://schemas.openxmlformats.org/officeDocument/2006/math">
                    <m:oMathParaPr>
                      <m:jc m:val="left"/>
                    </m:oMathParaPr>
                    <m:oMath xmlns:m="http://schemas.openxmlformats.org/officeDocument/2006/math">
                      <m:f>
                        <m:fPr>
                          <m:ctrlPr>
                            <a:rPr lang="en-US" sz="2400" i="1">
                              <a:effectLst/>
                              <a:latin typeface="Cambria Math" panose="02040503050406030204" pitchFamily="18" charset="0"/>
                              <a:ea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rPr>
                            <m:t>𝑒</m:t>
                          </m:r>
                        </m:num>
                        <m:den>
                          <m:r>
                            <a:rPr lang="en-US" sz="2400" i="1">
                              <a:effectLst/>
                              <a:latin typeface="Cambria Math" panose="02040503050406030204" pitchFamily="18" charset="0"/>
                              <a:ea typeface="Times New Roman" panose="02020603050405020304" pitchFamily="18" charset="0"/>
                            </a:rPr>
                            <m:t>𝐷</m:t>
                          </m:r>
                        </m:den>
                      </m:f>
                      <m:r>
                        <a:rPr lang="en-US" sz="2400" i="1">
                          <a:effectLst/>
                          <a:latin typeface="Cambria Math" panose="02040503050406030204" pitchFamily="18" charset="0"/>
                          <a:ea typeface="Times New Roman" panose="02020603050405020304" pitchFamily="18" charset="0"/>
                        </a:rPr>
                        <m:t>=</m:t>
                      </m:r>
                      <m:f>
                        <m:fPr>
                          <m:ctrlPr>
                            <a:rPr lang="en-US" sz="2400" i="1">
                              <a:effectLst/>
                              <a:latin typeface="Cambria Math" panose="02040503050406030204" pitchFamily="18" charset="0"/>
                              <a:ea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rPr>
                            <m:t>0.046</m:t>
                          </m:r>
                        </m:num>
                        <m:den>
                          <m:r>
                            <a:rPr lang="en-US" sz="2400" i="1">
                              <a:effectLst/>
                              <a:latin typeface="Cambria Math" panose="02040503050406030204" pitchFamily="18" charset="0"/>
                              <a:ea typeface="Times New Roman" panose="02020603050405020304" pitchFamily="18" charset="0"/>
                            </a:rPr>
                            <m:t>40</m:t>
                          </m:r>
                        </m:den>
                      </m:f>
                      <m:r>
                        <a:rPr lang="en-US" sz="2400" i="1">
                          <a:effectLst/>
                          <a:latin typeface="Cambria Math" panose="02040503050406030204" pitchFamily="18" charset="0"/>
                          <a:ea typeface="Times New Roman" panose="02020603050405020304" pitchFamily="18" charset="0"/>
                        </a:rPr>
                        <m:t>=0.00115</m:t>
                      </m:r>
                    </m:oMath>
                  </m:oMathPara>
                </a14:m>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nSpc>
                    <a:spcPct val="107000"/>
                  </a:lnSpc>
                  <a:spcBef>
                    <a:spcPts val="1200"/>
                  </a:spcBef>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 friction factor is read from the Moody diagram to be </a:t>
                </a:r>
                <a14:m>
                  <m:oMath xmlns:m="http://schemas.openxmlformats.org/officeDocument/2006/math">
                    <m:r>
                      <a:rPr lang="en-US" sz="2400" i="1">
                        <a:effectLst/>
                        <a:latin typeface="Cambria Math" panose="02040503050406030204" pitchFamily="18" charset="0"/>
                        <a:ea typeface="Times New Roman" panose="02020603050405020304" pitchFamily="18" charset="0"/>
                      </a:rPr>
                      <m:t>𝑓</m:t>
                    </m:r>
                    <m:r>
                      <a:rPr lang="en-US" sz="2400" i="1">
                        <a:effectLst/>
                        <a:latin typeface="Cambria Math" panose="02040503050406030204" pitchFamily="18" charset="0"/>
                        <a:ea typeface="Times New Roman" panose="02020603050405020304" pitchFamily="18" charset="0"/>
                      </a:rPr>
                      <m:t>=0.023</m:t>
                    </m:r>
                  </m:oMath>
                </a14:m>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nSpc>
                    <a:spcPct val="107000"/>
                  </a:lnSpc>
                  <a:spcBef>
                    <a:spcPts val="1200"/>
                  </a:spcBef>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The head loss is calculated as </a:t>
                </a:r>
              </a:p>
              <a:p>
                <a:pPr marL="0" marR="0" indent="0">
                  <a:lnSpc>
                    <a:spcPct val="107000"/>
                  </a:lnSpc>
                  <a:spcBef>
                    <a:spcPts val="1200"/>
                  </a:spcBef>
                  <a:spcAft>
                    <a:spcPts val="800"/>
                  </a:spcAft>
                  <a:buNone/>
                </a:pPr>
                <a14:m>
                  <m:oMathPara xmlns:m="http://schemas.openxmlformats.org/officeDocument/2006/math">
                    <m:oMathParaPr>
                      <m:jc m:val="left"/>
                    </m:oMathParaPr>
                    <m:oMath xmlns:m="http://schemas.openxmlformats.org/officeDocument/2006/math">
                      <m:sSub>
                        <m:sSubPr>
                          <m:ctrlPr>
                            <a:rPr lang="en-US" sz="2400" i="1">
                              <a:effectLst/>
                              <a:latin typeface="Cambria Math" panose="02040503050406030204" pitchFamily="18" charset="0"/>
                              <a:ea typeface="Times New Roman" panose="02020603050405020304" pitchFamily="18" charset="0"/>
                            </a:rPr>
                          </m:ctrlPr>
                        </m:sSubPr>
                        <m:e>
                          <m:r>
                            <a:rPr lang="en-GB" sz="2400" b="0" i="1" smtClean="0">
                              <a:effectLst/>
                              <a:latin typeface="Cambria Math" panose="02040503050406030204" pitchFamily="18" charset="0"/>
                              <a:ea typeface="Times New Roman" panose="02020603050405020304" pitchFamily="18" charset="0"/>
                            </a:rPr>
                            <m:t>𝐻</m:t>
                          </m:r>
                        </m:e>
                        <m:sub>
                          <m:r>
                            <a:rPr lang="en-US" sz="2400" i="1">
                              <a:effectLst/>
                              <a:latin typeface="Cambria Math" panose="02040503050406030204" pitchFamily="18" charset="0"/>
                              <a:ea typeface="Times New Roman" panose="02020603050405020304" pitchFamily="18" charset="0"/>
                            </a:rPr>
                            <m:t>𝐿</m:t>
                          </m:r>
                        </m:sub>
                      </m:sSub>
                      <m:r>
                        <a:rPr lang="en-US" sz="2400" i="1">
                          <a:effectLst/>
                          <a:latin typeface="Cambria Math" panose="02040503050406030204" pitchFamily="18" charset="0"/>
                          <a:ea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rPr>
                        <m:t>𝑓</m:t>
                      </m:r>
                      <m:f>
                        <m:fPr>
                          <m:ctrlPr>
                            <a:rPr lang="en-US" sz="2400" i="1">
                              <a:effectLst/>
                              <a:latin typeface="Cambria Math" panose="02040503050406030204" pitchFamily="18" charset="0"/>
                              <a:ea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rPr>
                            <m:t>𝐿</m:t>
                          </m:r>
                        </m:num>
                        <m:den>
                          <m:r>
                            <a:rPr lang="en-US" sz="2400" i="1">
                              <a:effectLst/>
                              <a:latin typeface="Cambria Math" panose="02040503050406030204" pitchFamily="18" charset="0"/>
                              <a:ea typeface="Times New Roman" panose="02020603050405020304" pitchFamily="18" charset="0"/>
                            </a:rPr>
                            <m:t>𝐷</m:t>
                          </m:r>
                        </m:den>
                      </m:f>
                      <m:f>
                        <m:fPr>
                          <m:ctrlPr>
                            <a:rPr lang="en-US" sz="2400" i="1">
                              <a:effectLst/>
                              <a:latin typeface="Cambria Math" panose="02040503050406030204" pitchFamily="18" charset="0"/>
                              <a:ea typeface="Times New Roman" panose="02020603050405020304" pitchFamily="18" charset="0"/>
                            </a:rPr>
                          </m:ctrlPr>
                        </m:fPr>
                        <m:num>
                          <m:sSup>
                            <m:sSupPr>
                              <m:ctrlPr>
                                <a:rPr lang="en-US" sz="2400" i="1">
                                  <a:effectLst/>
                                  <a:latin typeface="Cambria Math" panose="02040503050406030204" pitchFamily="18" charset="0"/>
                                  <a:ea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rPr>
                                <m:t>𝑉</m:t>
                              </m:r>
                            </m:e>
                            <m:sup>
                              <m:r>
                                <a:rPr lang="en-US" sz="2400" i="1">
                                  <a:effectLst/>
                                  <a:latin typeface="Cambria Math" panose="02040503050406030204" pitchFamily="18" charset="0"/>
                                  <a:ea typeface="Times New Roman" panose="02020603050405020304" pitchFamily="18" charset="0"/>
                                </a:rPr>
                                <m:t>2</m:t>
                              </m:r>
                            </m:sup>
                          </m:sSup>
                        </m:num>
                        <m:den>
                          <m:r>
                            <a:rPr lang="en-US" sz="2400" i="1">
                              <a:effectLst/>
                              <a:latin typeface="Cambria Math" panose="02040503050406030204" pitchFamily="18" charset="0"/>
                              <a:ea typeface="Times New Roman" panose="02020603050405020304" pitchFamily="18" charset="0"/>
                            </a:rPr>
                            <m:t>2</m:t>
                          </m:r>
                          <m:r>
                            <a:rPr lang="en-US" sz="2400" i="1">
                              <a:effectLst/>
                              <a:latin typeface="Cambria Math" panose="02040503050406030204" pitchFamily="18" charset="0"/>
                              <a:ea typeface="Times New Roman" panose="02020603050405020304" pitchFamily="18" charset="0"/>
                            </a:rPr>
                            <m:t>𝑔</m:t>
                          </m:r>
                        </m:den>
                      </m:f>
                      <m:r>
                        <a:rPr lang="en-US" sz="2400" i="1">
                          <a:effectLst/>
                          <a:latin typeface="Cambria Math" panose="02040503050406030204" pitchFamily="18" charset="0"/>
                          <a:ea typeface="Times New Roman" panose="02020603050405020304" pitchFamily="18" charset="0"/>
                        </a:rPr>
                        <m:t>=0.023</m:t>
                      </m:r>
                      <m:f>
                        <m:fPr>
                          <m:ctrlPr>
                            <a:rPr lang="en-US" sz="2400" i="1">
                              <a:effectLst/>
                              <a:latin typeface="Cambria Math" panose="02040503050406030204" pitchFamily="18" charset="0"/>
                              <a:ea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rPr>
                            <m:t>500</m:t>
                          </m:r>
                        </m:num>
                        <m:den>
                          <m:r>
                            <a:rPr lang="en-US" sz="2400" i="1">
                              <a:effectLst/>
                              <a:latin typeface="Cambria Math" panose="02040503050406030204" pitchFamily="18" charset="0"/>
                              <a:ea typeface="Times New Roman" panose="02020603050405020304" pitchFamily="18" charset="0"/>
                            </a:rPr>
                            <m:t>0.04</m:t>
                          </m:r>
                        </m:den>
                      </m:f>
                      <m:f>
                        <m:fPr>
                          <m:ctrlPr>
                            <a:rPr lang="en-US" sz="2400" i="1">
                              <a:effectLst/>
                              <a:latin typeface="Cambria Math" panose="02040503050406030204" pitchFamily="18" charset="0"/>
                              <a:ea typeface="Times New Roman" panose="02020603050405020304" pitchFamily="18" charset="0"/>
                            </a:rPr>
                          </m:ctrlPr>
                        </m:fPr>
                        <m:num>
                          <m:sSup>
                            <m:sSupPr>
                              <m:ctrlPr>
                                <a:rPr lang="en-US" sz="2400" i="1">
                                  <a:effectLst/>
                                  <a:latin typeface="Cambria Math" panose="02040503050406030204" pitchFamily="18" charset="0"/>
                                  <a:ea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rPr>
                                <m:t>2.39</m:t>
                              </m:r>
                            </m:e>
                            <m:sup>
                              <m:r>
                                <a:rPr lang="en-US" sz="2400" i="1">
                                  <a:effectLst/>
                                  <a:latin typeface="Cambria Math" panose="02040503050406030204" pitchFamily="18" charset="0"/>
                                  <a:ea typeface="Times New Roman" panose="02020603050405020304" pitchFamily="18" charset="0"/>
                                </a:rPr>
                                <m:t>2</m:t>
                              </m:r>
                            </m:sup>
                          </m:sSup>
                        </m:num>
                        <m:den>
                          <m:r>
                            <a:rPr lang="en-US" sz="2400" i="1">
                              <a:effectLst/>
                              <a:latin typeface="Cambria Math" panose="02040503050406030204" pitchFamily="18" charset="0"/>
                              <a:ea typeface="Times New Roman" panose="02020603050405020304" pitchFamily="18" charset="0"/>
                            </a:rPr>
                            <m:t>2 </m:t>
                          </m:r>
                          <m:r>
                            <a:rPr lang="en-US" sz="2400" i="1" smtClean="0">
                              <a:effectLst/>
                              <a:latin typeface="Cambria Math" panose="02040503050406030204" pitchFamily="18" charset="0"/>
                              <a:ea typeface="Cambria Math" panose="02040503050406030204" pitchFamily="18" charset="0"/>
                            </a:rPr>
                            <m:t>×</m:t>
                          </m:r>
                          <m:r>
                            <a:rPr lang="en-US" sz="2400" i="1">
                              <a:effectLst/>
                              <a:latin typeface="Cambria Math" panose="02040503050406030204" pitchFamily="18" charset="0"/>
                              <a:ea typeface="Times New Roman" panose="02020603050405020304" pitchFamily="18" charset="0"/>
                            </a:rPr>
                            <m:t> 9.81</m:t>
                          </m:r>
                        </m:den>
                      </m:f>
                      <m:r>
                        <a:rPr lang="en-US" sz="2400" i="1">
                          <a:effectLst/>
                          <a:latin typeface="Cambria Math" panose="02040503050406030204" pitchFamily="18" charset="0"/>
                          <a:ea typeface="Times New Roman" panose="02020603050405020304" pitchFamily="18" charset="0"/>
                        </a:rPr>
                        <m:t>84 </m:t>
                      </m:r>
                      <m:r>
                        <a:rPr lang="en-US" sz="2400" i="1">
                          <a:effectLst/>
                          <a:latin typeface="Cambria Math" panose="02040503050406030204" pitchFamily="18" charset="0"/>
                          <a:ea typeface="Times New Roman" panose="02020603050405020304" pitchFamily="18" charset="0"/>
                        </a:rPr>
                        <m:t>𝑚</m:t>
                      </m:r>
                    </m:oMath>
                  </m:oMathPara>
                </a14:m>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nSpc>
                    <a:spcPct val="107000"/>
                  </a:lnSpc>
                  <a:spcBef>
                    <a:spcPts val="1200"/>
                  </a:spcBef>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This answer is given to two significant numbers since the friction factor is known to at most two significant numbers. The pressure drop is found to be</a:t>
                </a:r>
              </a:p>
              <a:p>
                <a:pPr marL="0" marR="0" indent="0">
                  <a:lnSpc>
                    <a:spcPct val="107000"/>
                  </a:lnSpc>
                  <a:spcBef>
                    <a:spcPts val="1200"/>
                  </a:spcBef>
                  <a:spcAft>
                    <a:spcPts val="800"/>
                  </a:spcAft>
                  <a:buNone/>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sz="2400" i="1">
                        <a:latin typeface="Cambria Math" panose="02040503050406030204" pitchFamily="18" charset="0"/>
                        <a:ea typeface="Times New Roman" panose="02020603050405020304" pitchFamily="18" charset="0"/>
                      </a:rPr>
                      <m:t>∆</m:t>
                    </m:r>
                    <m:r>
                      <a:rPr lang="en-US" sz="2400" i="1">
                        <a:latin typeface="Cambria Math" panose="02040503050406030204" pitchFamily="18" charset="0"/>
                        <a:ea typeface="Times New Roman" panose="02020603050405020304" pitchFamily="18" charset="0"/>
                      </a:rPr>
                      <m:t>𝑝</m:t>
                    </m:r>
                    <m:r>
                      <a:rPr lang="en-US" sz="2400" i="1">
                        <a:latin typeface="Cambria Math" panose="02040503050406030204" pitchFamily="18" charset="0"/>
                        <a:ea typeface="Times New Roman" panose="02020603050405020304" pitchFamily="18" charset="0"/>
                      </a:rPr>
                      <m:t>=</m:t>
                    </m:r>
                    <m:r>
                      <a:rPr lang="en-US" sz="2400" i="1" smtClean="0">
                        <a:latin typeface="Cambria Math" panose="02040503050406030204" pitchFamily="18" charset="0"/>
                        <a:ea typeface="Cambria Math" panose="02040503050406030204" pitchFamily="18" charset="0"/>
                      </a:rPr>
                      <m:t>𝜌</m:t>
                    </m:r>
                    <m:r>
                      <a:rPr lang="en-GB" sz="2400" b="0" i="1" smtClean="0">
                        <a:latin typeface="Cambria Math" panose="02040503050406030204" pitchFamily="18" charset="0"/>
                        <a:ea typeface="Cambria Math" panose="02040503050406030204" pitchFamily="18" charset="0"/>
                      </a:rPr>
                      <m:t>𝑔</m:t>
                    </m:r>
                    <m:sSub>
                      <m:sSubPr>
                        <m:ctrlPr>
                          <a:rPr lang="en-US" sz="2400" i="1">
                            <a:latin typeface="Cambria Math" panose="02040503050406030204" pitchFamily="18" charset="0"/>
                            <a:ea typeface="Times New Roman" panose="02020603050405020304" pitchFamily="18" charset="0"/>
                          </a:rPr>
                        </m:ctrlPr>
                      </m:sSubPr>
                      <m:e>
                        <m:r>
                          <a:rPr lang="en-GB" sz="2400" b="0" i="1" smtClean="0">
                            <a:latin typeface="Cambria Math" panose="02040503050406030204" pitchFamily="18" charset="0"/>
                            <a:ea typeface="Times New Roman" panose="02020603050405020304" pitchFamily="18" charset="0"/>
                          </a:rPr>
                          <m:t>𝐻</m:t>
                        </m:r>
                      </m:e>
                      <m:sub>
                        <m:r>
                          <a:rPr lang="en-US" sz="2400" i="1">
                            <a:latin typeface="Cambria Math" panose="02040503050406030204" pitchFamily="18" charset="0"/>
                            <a:ea typeface="Times New Roman" panose="02020603050405020304" pitchFamily="18" charset="0"/>
                          </a:rPr>
                          <m:t>𝐿</m:t>
                        </m:r>
                      </m:sub>
                    </m:sSub>
                  </m:oMath>
                </a14:m>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nSpc>
                    <a:spcPct val="107000"/>
                  </a:lnSpc>
                  <a:spcBef>
                    <a:spcPts val="1200"/>
                  </a:spcBef>
                  <a:spcAft>
                    <a:spcPts val="800"/>
                  </a:spcAft>
                  <a:buNone/>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sz="2400" i="1">
                        <a:latin typeface="Cambria Math" panose="02040503050406030204" pitchFamily="18" charset="0"/>
                        <a:ea typeface="Times New Roman" panose="02020603050405020304" pitchFamily="18" charset="0"/>
                      </a:rPr>
                      <m:t>=9800 </m:t>
                    </m:r>
                    <m:r>
                      <a:rPr lang="en-US" sz="240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Times New Roman" panose="02020603050405020304" pitchFamily="18" charset="0"/>
                      </a:rPr>
                      <m:t> 84=820000 </m:t>
                    </m:r>
                    <m:r>
                      <m:rPr>
                        <m:sty m:val="p"/>
                      </m:rPr>
                      <a:rPr lang="en-US" sz="2400" i="0">
                        <a:latin typeface="Cambria Math" panose="02040503050406030204" pitchFamily="18" charset="0"/>
                        <a:ea typeface="Times New Roman" panose="02020603050405020304" pitchFamily="18" charset="0"/>
                      </a:rPr>
                      <m:t>Pa</m:t>
                    </m:r>
                  </m:oMath>
                </a14:m>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597F78F8-09A7-E01A-6141-67554852BDED}"/>
                  </a:ext>
                </a:extLst>
              </p:cNvPr>
              <p:cNvSpPr txBox="1">
                <a:spLocks noRot="1" noChangeAspect="1" noMove="1" noResize="1" noEditPoints="1" noAdjustHandles="1" noChangeArrowheads="1" noChangeShapeType="1" noTextEdit="1"/>
              </p:cNvSpPr>
              <p:nvPr/>
            </p:nvSpPr>
            <p:spPr>
              <a:xfrm>
                <a:off x="78377" y="512828"/>
                <a:ext cx="11982559" cy="5931432"/>
              </a:xfrm>
              <a:prstGeom prst="rect">
                <a:avLst/>
              </a:prstGeom>
              <a:blipFill>
                <a:blip r:embed="rId3"/>
                <a:stretch>
                  <a:fillRect l="-814" t="-822" r="-966"/>
                </a:stretch>
              </a:blipFill>
            </p:spPr>
            <p:txBody>
              <a:bodyPr/>
              <a:lstStyle/>
              <a:p>
                <a:r>
                  <a:rPr lang="en-GH">
                    <a:noFill/>
                  </a:rPr>
                  <a:t> </a:t>
                </a:r>
              </a:p>
            </p:txBody>
          </p:sp>
        </mc:Fallback>
      </mc:AlternateContent>
    </p:spTree>
    <p:extLst>
      <p:ext uri="{BB962C8B-B14F-4D97-AF65-F5344CB8AC3E}">
        <p14:creationId xmlns:p14="http://schemas.microsoft.com/office/powerpoint/2010/main" val="40361115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6159" y="0"/>
            <a:ext cx="7477760" cy="418011"/>
          </a:xfrm>
        </p:spPr>
        <p:txBody>
          <a:bodyPr>
            <a:normAutofit fontScale="90000"/>
          </a:bodyPr>
          <a:lstStyle/>
          <a:p>
            <a:pPr lvl="0" indent="-228600" algn="ctr">
              <a:lnSpc>
                <a:spcPct val="107000"/>
              </a:lnSpc>
              <a:spcBef>
                <a:spcPts val="0"/>
              </a:spcBef>
              <a:spcAft>
                <a:spcPts val="800"/>
              </a:spcAft>
              <a:tabLst>
                <a:tab pos="3447415" algn="l"/>
              </a:tabLst>
            </a:pPr>
            <a:r>
              <a:rPr lang="en-US" sz="2800" dirty="0">
                <a:solidFill>
                  <a:prstClr val="black"/>
                </a:solidFill>
                <a:latin typeface="Times New Roman" panose="02020603050405020304" pitchFamily="18" charset="0"/>
                <a:ea typeface="Times New Roman" panose="02020603050405020304" pitchFamily="18" charset="0"/>
              </a:rPr>
              <a:t> </a:t>
            </a:r>
            <a:r>
              <a:rPr lang="en-US" sz="2400" b="1" dirty="0">
                <a:solidFill>
                  <a:prstClr val="black"/>
                </a:solidFill>
                <a:latin typeface="Times New Roman" panose="02020603050405020304" pitchFamily="18" charset="0"/>
                <a:ea typeface="Times New Roman" panose="02020603050405020304" pitchFamily="18" charset="0"/>
              </a:rPr>
              <a:t>FURTHER EXAMPLES</a:t>
            </a:r>
            <a:endParaRPr lang="en-US" sz="2400" dirty="0"/>
          </a:p>
        </p:txBody>
      </p:sp>
      <mc:AlternateContent xmlns:mc="http://schemas.openxmlformats.org/markup-compatibility/2006">
        <mc:Choice xmlns:a14="http://schemas.microsoft.com/office/drawing/2010/main" Requires="a14">
          <p:sp>
            <p:nvSpPr>
              <p:cNvPr id="12" name="Content Placeholder 2">
                <a:extLst>
                  <a:ext uri="{FF2B5EF4-FFF2-40B4-BE49-F238E27FC236}">
                    <a16:creationId xmlns:a16="http://schemas.microsoft.com/office/drawing/2014/main" id="{53A645D1-22D5-7794-F0E4-ECCE36D90DB8}"/>
                  </a:ext>
                </a:extLst>
              </p:cNvPr>
              <p:cNvSpPr txBox="1">
                <a:spLocks/>
              </p:cNvSpPr>
              <p:nvPr/>
            </p:nvSpPr>
            <p:spPr>
              <a:xfrm>
                <a:off x="-60961" y="470208"/>
                <a:ext cx="12192000" cy="8538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Aft>
                    <a:spcPts val="600"/>
                  </a:spcAft>
                  <a:buNone/>
                </a:pPr>
                <a:r>
                  <a:rPr lang="en-GB" sz="2400" b="1" dirty="0">
                    <a:latin typeface="Times New Roman" panose="02020603050405020304" pitchFamily="18" charset="0"/>
                    <a:cs typeface="Times New Roman" panose="02020603050405020304" pitchFamily="18" charset="0"/>
                  </a:rPr>
                  <a:t>Example 2</a:t>
                </a:r>
                <a:r>
                  <a:rPr lang="en-GB" sz="2400" dirty="0">
                    <a:latin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 pressure drop of 700 kPa is measured over a 300 m length of horizontal, 10 cm diameter wrought iron pipe that transports oil (</a:t>
                </a:r>
                <a14:m>
                  <m:oMath xmlns:m="http://schemas.openxmlformats.org/officeDocument/2006/math">
                    <m:r>
                      <a:rPr lang="en-US" sz="2400" i="1">
                        <a:effectLst/>
                        <a:latin typeface="Cambria Math" panose="02040503050406030204" pitchFamily="18" charset="0"/>
                        <a:ea typeface="Times New Roman" panose="02020603050405020304" pitchFamily="18" charset="0"/>
                      </a:rPr>
                      <m:t>𝑆</m:t>
                    </m:r>
                    <m:r>
                      <a:rPr lang="en-US" sz="2400" i="1">
                        <a:effectLst/>
                        <a:latin typeface="Cambria Math" panose="02040503050406030204" pitchFamily="18" charset="0"/>
                        <a:ea typeface="Times New Roman" panose="02020603050405020304" pitchFamily="18" charset="0"/>
                      </a:rPr>
                      <m:t>=0.9, </m:t>
                    </m:r>
                    <m:r>
                      <a:rPr lang="en-US" sz="2400" i="1">
                        <a:effectLst/>
                        <a:latin typeface="Cambria Math" panose="02040503050406030204" pitchFamily="18" charset="0"/>
                        <a:ea typeface="Times New Roman" panose="02020603050405020304" pitchFamily="18" charset="0"/>
                      </a:rPr>
                      <m:t>𝑣</m:t>
                    </m:r>
                    <m:r>
                      <a:rPr lang="en-US" sz="2400" i="1">
                        <a:effectLst/>
                        <a:latin typeface="Cambria Math" panose="02040503050406030204" pitchFamily="18" charset="0"/>
                        <a:ea typeface="Times New Roman" panose="02020603050405020304" pitchFamily="18" charset="0"/>
                      </a:rPr>
                      <m:t>=</m:t>
                    </m:r>
                    <m:sSup>
                      <m:sSupPr>
                        <m:ctrlPr>
                          <a:rPr lang="en-US" sz="2400" i="1">
                            <a:effectLst/>
                            <a:latin typeface="Cambria Math" panose="02040503050406030204" pitchFamily="18" charset="0"/>
                            <a:ea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rPr>
                          <m:t>10</m:t>
                        </m:r>
                      </m:e>
                      <m:sup>
                        <m:r>
                          <a:rPr lang="en-US" sz="2400" i="1">
                            <a:effectLst/>
                            <a:latin typeface="Cambria Math" panose="02040503050406030204" pitchFamily="18" charset="0"/>
                            <a:ea typeface="Times New Roman" panose="02020603050405020304" pitchFamily="18" charset="0"/>
                          </a:rPr>
                          <m:t>−5</m:t>
                        </m:r>
                      </m:sup>
                    </m:sSup>
                    <m:f>
                      <m:fPr>
                        <m:type m:val="lin"/>
                        <m:ctrlPr>
                          <a:rPr lang="en-US" sz="2400" i="1">
                            <a:effectLst/>
                            <a:latin typeface="Cambria Math" panose="02040503050406030204" pitchFamily="18" charset="0"/>
                            <a:ea typeface="Times New Roman" panose="02020603050405020304" pitchFamily="18" charset="0"/>
                          </a:rPr>
                        </m:ctrlPr>
                      </m:fPr>
                      <m:num>
                        <m:sSup>
                          <m:sSupPr>
                            <m:ctrlPr>
                              <a:rPr lang="en-US" sz="2400" i="1">
                                <a:effectLst/>
                                <a:latin typeface="Cambria Math" panose="02040503050406030204" pitchFamily="18" charset="0"/>
                                <a:ea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rPr>
                              <m:t>𝑚</m:t>
                            </m:r>
                          </m:e>
                          <m:sup>
                            <m:r>
                              <a:rPr lang="en-US" sz="2400" i="1">
                                <a:effectLst/>
                                <a:latin typeface="Cambria Math" panose="02040503050406030204" pitchFamily="18" charset="0"/>
                                <a:ea typeface="Times New Roman" panose="02020603050405020304" pitchFamily="18" charset="0"/>
                              </a:rPr>
                              <m:t>2</m:t>
                            </m:r>
                          </m:sup>
                        </m:sSup>
                      </m:num>
                      <m:den>
                        <m:r>
                          <a:rPr lang="en-US" sz="2400" i="1">
                            <a:effectLst/>
                            <a:latin typeface="Cambria Math" panose="02040503050406030204" pitchFamily="18" charset="0"/>
                            <a:ea typeface="Times New Roman" panose="02020603050405020304" pitchFamily="18" charset="0"/>
                          </a:rPr>
                          <m:t>𝑠</m:t>
                        </m:r>
                      </m:den>
                    </m:f>
                  </m:oMath>
                </a14:m>
                <a:r>
                  <a:rPr lang="en-US" sz="2400" dirty="0">
                    <a:effectLst/>
                    <a:latin typeface="Times New Roman" panose="02020603050405020304" pitchFamily="18" charset="0"/>
                    <a:ea typeface="Times New Roman" panose="02020603050405020304" pitchFamily="18" charset="0"/>
                  </a:rPr>
                  <a:t>). Calculate the flow rate.</a:t>
                </a:r>
                <a:endParaRPr lang="en-US" sz="1200" dirty="0">
                  <a:effectLst/>
                  <a:latin typeface="Times New Roman" panose="02020603050405020304" pitchFamily="18" charset="0"/>
                  <a:ea typeface="Times New Roman" panose="02020603050405020304" pitchFamily="18" charset="0"/>
                </a:endParaRPr>
              </a:p>
              <a:p>
                <a:pPr marL="0" indent="0" algn="just">
                  <a:spcAft>
                    <a:spcPts val="600"/>
                  </a:spcAft>
                  <a:buFont typeface="Arial" panose="020B0604020202020204" pitchFamily="34" charset="0"/>
                  <a:buNone/>
                </a:pPr>
                <a:endParaRPr lang="en-US" sz="2400" dirty="0">
                  <a:latin typeface="Times New Roman" panose="02020603050405020304" pitchFamily="18" charset="0"/>
                  <a:cs typeface="Times New Roman" panose="02020603050405020304" pitchFamily="18" charset="0"/>
                </a:endParaRPr>
              </a:p>
            </p:txBody>
          </p:sp>
        </mc:Choice>
        <mc:Fallback>
          <p:sp>
            <p:nvSpPr>
              <p:cNvPr id="12" name="Content Placeholder 2">
                <a:extLst>
                  <a:ext uri="{FF2B5EF4-FFF2-40B4-BE49-F238E27FC236}">
                    <a16:creationId xmlns:a16="http://schemas.microsoft.com/office/drawing/2014/main" id="{53A645D1-22D5-7794-F0E4-ECCE36D90DB8}"/>
                  </a:ext>
                </a:extLst>
              </p:cNvPr>
              <p:cNvSpPr txBox="1">
                <a:spLocks noRot="1" noChangeAspect="1" noMove="1" noResize="1" noEditPoints="1" noAdjustHandles="1" noChangeArrowheads="1" noChangeShapeType="1" noTextEdit="1"/>
              </p:cNvSpPr>
              <p:nvPr/>
            </p:nvSpPr>
            <p:spPr>
              <a:xfrm>
                <a:off x="-60961" y="470208"/>
                <a:ext cx="12192000" cy="853841"/>
              </a:xfrm>
              <a:prstGeom prst="rect">
                <a:avLst/>
              </a:prstGeom>
              <a:blipFill>
                <a:blip r:embed="rId3"/>
                <a:stretch>
                  <a:fillRect l="-750" t="-32143" r="-750" b="-93571"/>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F5200F0-4A9D-7AD5-1CE8-017ECF0FB51B}"/>
                  </a:ext>
                </a:extLst>
              </p:cNvPr>
              <p:cNvSpPr txBox="1"/>
              <p:nvPr/>
            </p:nvSpPr>
            <p:spPr>
              <a:xfrm>
                <a:off x="0" y="1446261"/>
                <a:ext cx="11625943" cy="5304594"/>
              </a:xfrm>
              <a:prstGeom prst="rect">
                <a:avLst/>
              </a:prstGeom>
              <a:noFill/>
            </p:spPr>
            <p:txBody>
              <a:bodyPr wrap="square">
                <a:spAutoFit/>
              </a:bodyPr>
              <a:lstStyle/>
              <a:p>
                <a:pPr marL="0" marR="0" indent="0">
                  <a:lnSpc>
                    <a:spcPct val="107000"/>
                  </a:lnSpc>
                  <a:buNone/>
                </a:pPr>
                <a:r>
                  <a:rPr lang="en-US" sz="2400" b="1" dirty="0">
                    <a:effectLst/>
                    <a:latin typeface="Times New Roman" panose="02020603050405020304" pitchFamily="18" charset="0"/>
                    <a:ea typeface="Times New Roman" panose="02020603050405020304" pitchFamily="18" charset="0"/>
                  </a:rPr>
                  <a:t>Solution</a:t>
                </a:r>
              </a:p>
              <a:p>
                <a:pPr marL="0" marR="0">
                  <a:lnSpc>
                    <a:spcPct val="107000"/>
                  </a:lnSpc>
                  <a:spcBef>
                    <a:spcPts val="1200"/>
                  </a:spcBef>
                  <a:spcAft>
                    <a:spcPts val="8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 relative roughness is</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f>
                      <m:fPr>
                        <m:ctrlPr>
                          <a:rPr lang="en-US" sz="2400" i="1">
                            <a:effectLst/>
                            <a:latin typeface="Cambria Math" panose="02040503050406030204" pitchFamily="18" charset="0"/>
                            <a:ea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rPr>
                          <m:t>𝑒</m:t>
                        </m:r>
                      </m:num>
                      <m:den>
                        <m:r>
                          <a:rPr lang="en-US" sz="2400" i="1">
                            <a:effectLst/>
                            <a:latin typeface="Cambria Math" panose="02040503050406030204" pitchFamily="18" charset="0"/>
                            <a:ea typeface="Times New Roman" panose="02020603050405020304" pitchFamily="18" charset="0"/>
                          </a:rPr>
                          <m:t>𝐷</m:t>
                        </m:r>
                      </m:den>
                    </m:f>
                    <m:r>
                      <a:rPr lang="en-US" sz="2400" i="1">
                        <a:effectLst/>
                        <a:latin typeface="Cambria Math" panose="02040503050406030204" pitchFamily="18" charset="0"/>
                        <a:ea typeface="Times New Roman" panose="02020603050405020304" pitchFamily="18" charset="0"/>
                      </a:rPr>
                      <m:t>=</m:t>
                    </m:r>
                    <m:f>
                      <m:fPr>
                        <m:ctrlPr>
                          <a:rPr lang="en-US" sz="2400" i="1">
                            <a:effectLst/>
                            <a:latin typeface="Cambria Math" panose="02040503050406030204" pitchFamily="18" charset="0"/>
                            <a:ea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rPr>
                          <m:t>0.046</m:t>
                        </m:r>
                      </m:num>
                      <m:den>
                        <m:r>
                          <a:rPr lang="en-US" sz="2400" i="1">
                            <a:effectLst/>
                            <a:latin typeface="Cambria Math" panose="02040503050406030204" pitchFamily="18" charset="0"/>
                            <a:ea typeface="Times New Roman" panose="02020603050405020304" pitchFamily="18" charset="0"/>
                          </a:rPr>
                          <m:t>100</m:t>
                        </m:r>
                      </m:den>
                    </m:f>
                    <m:r>
                      <a:rPr lang="en-US" sz="2400" i="1">
                        <a:effectLst/>
                        <a:latin typeface="Cambria Math" panose="02040503050406030204" pitchFamily="18" charset="0"/>
                        <a:ea typeface="Times New Roman" panose="02020603050405020304" pitchFamily="18" charset="0"/>
                      </a:rPr>
                      <m:t>=0.00046</m:t>
                    </m:r>
                  </m:oMath>
                </a14:m>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nSpc>
                    <a:spcPct val="107000"/>
                  </a:lnSpc>
                  <a:spcAft>
                    <a:spcPts val="6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Assuming that the flow rate is completely turbulent (</a:t>
                </a:r>
                <a:r>
                  <a:rPr lang="en-US" sz="2400" i="1" dirty="0">
                    <a:effectLst/>
                    <a:latin typeface="Times New Roman" panose="02020603050405020304" pitchFamily="18" charset="0"/>
                    <a:ea typeface="Times New Roman" panose="02020603050405020304" pitchFamily="18" charset="0"/>
                    <a:cs typeface="Times New Roman" panose="02020603050405020304" pitchFamily="18" charset="0"/>
                  </a:rPr>
                  <a:t>Re</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is not needed), the Moody diagram gives </a:t>
                </a:r>
                <a14:m>
                  <m:oMath xmlns:m="http://schemas.openxmlformats.org/officeDocument/2006/math">
                    <m:r>
                      <a:rPr lang="en-US" sz="2400" i="1">
                        <a:effectLst/>
                        <a:latin typeface="Cambria Math" panose="02040503050406030204" pitchFamily="18" charset="0"/>
                        <a:ea typeface="Times New Roman" panose="02020603050405020304" pitchFamily="18" charset="0"/>
                      </a:rPr>
                      <m:t>𝑓</m:t>
                    </m:r>
                    <m:r>
                      <a:rPr lang="en-US" sz="2400" i="1">
                        <a:effectLst/>
                        <a:latin typeface="Cambria Math" panose="02040503050406030204" pitchFamily="18" charset="0"/>
                        <a:ea typeface="Times New Roman" panose="02020603050405020304" pitchFamily="18" charset="0"/>
                      </a:rPr>
                      <m:t>=0.0165</m:t>
                    </m:r>
                  </m:oMath>
                </a14:m>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nSpc>
                    <a:spcPct val="107000"/>
                  </a:lnSpc>
                  <a:spcBef>
                    <a:spcPts val="1200"/>
                  </a:spcBef>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The head loss is found to be</a:t>
                </a:r>
              </a:p>
              <a:p>
                <a:pPr marL="0" marR="0" indent="0">
                  <a:lnSpc>
                    <a:spcPct val="107000"/>
                  </a:lnSpc>
                  <a:spcBef>
                    <a:spcPts val="1200"/>
                  </a:spcBef>
                  <a:spcAft>
                    <a:spcPts val="800"/>
                  </a:spcAft>
                  <a:buNone/>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ea typeface="Times New Roman" panose="02020603050405020304" pitchFamily="18" charset="0"/>
                          </a:rPr>
                        </m:ctrlPr>
                      </m:sSubPr>
                      <m:e>
                        <m:r>
                          <a:rPr lang="en-GB" sz="2400" b="0" i="1" smtClean="0">
                            <a:latin typeface="Cambria Math" panose="02040503050406030204" pitchFamily="18" charset="0"/>
                            <a:ea typeface="Times New Roman" panose="02020603050405020304" pitchFamily="18" charset="0"/>
                          </a:rPr>
                          <m:t>𝐻</m:t>
                        </m:r>
                      </m:e>
                      <m:sub>
                        <m:r>
                          <a:rPr lang="en-US" sz="2400" i="1">
                            <a:latin typeface="Cambria Math" panose="02040503050406030204" pitchFamily="18" charset="0"/>
                            <a:ea typeface="Times New Roman" panose="02020603050405020304" pitchFamily="18" charset="0"/>
                          </a:rPr>
                          <m:t>𝐿</m:t>
                        </m:r>
                      </m:sub>
                    </m:sSub>
                    <m:r>
                      <a:rPr lang="en-US" sz="2400" i="1">
                        <a:latin typeface="Cambria Math" panose="02040503050406030204" pitchFamily="18" charset="0"/>
                        <a:ea typeface="Times New Roman" panose="02020603050405020304" pitchFamily="18" charset="0"/>
                      </a:rPr>
                      <m:t>=</m:t>
                    </m:r>
                    <m:f>
                      <m:fPr>
                        <m:ctrlPr>
                          <a:rPr lang="en-US" sz="2400" i="1">
                            <a:latin typeface="Cambria Math" panose="02040503050406030204" pitchFamily="18" charset="0"/>
                            <a:ea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rPr>
                          <m:t>∆</m:t>
                        </m:r>
                        <m:r>
                          <a:rPr lang="en-US" sz="2400" i="1">
                            <a:latin typeface="Cambria Math" panose="02040503050406030204" pitchFamily="18" charset="0"/>
                            <a:ea typeface="Times New Roman" panose="02020603050405020304" pitchFamily="18" charset="0"/>
                          </a:rPr>
                          <m:t>𝑝</m:t>
                        </m:r>
                      </m:num>
                      <m:den>
                        <m:r>
                          <a:rPr lang="en-US" sz="2400" i="1">
                            <a:latin typeface="Cambria Math" panose="02040503050406030204" pitchFamily="18" charset="0"/>
                            <a:ea typeface="Times New Roman" panose="02020603050405020304" pitchFamily="18" charset="0"/>
                          </a:rPr>
                          <m:t>𝛾</m:t>
                        </m:r>
                      </m:den>
                    </m:f>
                    <m:r>
                      <a:rPr lang="en-US" sz="2400" b="0" i="0" smtClean="0">
                        <a:latin typeface="Cambria Math" panose="02040503050406030204" pitchFamily="18" charset="0"/>
                        <a:ea typeface="Times New Roman" panose="02020603050405020304" pitchFamily="18" charset="0"/>
                      </a:rPr>
                      <m:t> </m:t>
                    </m:r>
                    <m:r>
                      <a:rPr lang="en-US" sz="2400" i="1">
                        <a:latin typeface="Cambria Math" panose="02040503050406030204" pitchFamily="18" charset="0"/>
                        <a:ea typeface="Times New Roman" panose="02020603050405020304" pitchFamily="18" charset="0"/>
                      </a:rPr>
                      <m:t>=</m:t>
                    </m:r>
                    <m:f>
                      <m:fPr>
                        <m:ctrlPr>
                          <a:rPr lang="en-US" sz="2400" i="1">
                            <a:latin typeface="Cambria Math" panose="02040503050406030204" pitchFamily="18" charset="0"/>
                            <a:ea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rPr>
                          <m:t>700 000</m:t>
                        </m:r>
                      </m:num>
                      <m:den>
                        <m:r>
                          <a:rPr lang="en-US" sz="2400" i="1">
                            <a:latin typeface="Cambria Math" panose="02040503050406030204" pitchFamily="18" charset="0"/>
                            <a:ea typeface="Times New Roman" panose="02020603050405020304" pitchFamily="18" charset="0"/>
                          </a:rPr>
                          <m:t>9800 </m:t>
                        </m:r>
                        <m:r>
                          <a:rPr lang="en-US" sz="240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Times New Roman" panose="02020603050405020304" pitchFamily="18" charset="0"/>
                          </a:rPr>
                          <m:t> 0.9</m:t>
                        </m:r>
                      </m:den>
                    </m:f>
                    <m:r>
                      <a:rPr lang="en-US" sz="2400" i="1">
                        <a:latin typeface="Cambria Math" panose="02040503050406030204" pitchFamily="18" charset="0"/>
                        <a:ea typeface="Times New Roman" panose="02020603050405020304" pitchFamily="18" charset="0"/>
                      </a:rPr>
                      <m:t>=79.4 </m:t>
                    </m:r>
                    <m:r>
                      <a:rPr lang="en-US" sz="2400" i="1">
                        <a:latin typeface="Cambria Math" panose="02040503050406030204" pitchFamily="18" charset="0"/>
                        <a:ea typeface="Times New Roman" panose="02020603050405020304" pitchFamily="18" charset="0"/>
                      </a:rPr>
                      <m:t>𝑚</m:t>
                    </m:r>
                  </m:oMath>
                </a14:m>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nSpc>
                    <a:spcPct val="107000"/>
                  </a:lnSpc>
                  <a:spcBef>
                    <a:spcPts val="1200"/>
                  </a:spcBef>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The velocity is calculated to be</a:t>
                </a:r>
              </a:p>
              <a:p>
                <a:pPr marL="0" marR="0" indent="0">
                  <a:lnSpc>
                    <a:spcPct val="107000"/>
                  </a:lnSpc>
                  <a:spcBef>
                    <a:spcPts val="1200"/>
                  </a:spcBef>
                  <a:spcAft>
                    <a:spcPts val="800"/>
                  </a:spcAft>
                  <a:buNone/>
                </a:pPr>
                <a14:m>
                  <m:oMath xmlns:m="http://schemas.openxmlformats.org/officeDocument/2006/math">
                    <m:r>
                      <a:rPr lang="en-US" sz="2400" i="1">
                        <a:latin typeface="Cambria Math" panose="02040503050406030204" pitchFamily="18" charset="0"/>
                        <a:ea typeface="Times New Roman" panose="02020603050405020304" pitchFamily="18" charset="0"/>
                      </a:rPr>
                      <m:t>𝑉</m:t>
                    </m:r>
                    <m:r>
                      <a:rPr lang="en-US" sz="2400" i="1">
                        <a:latin typeface="Cambria Math" panose="02040503050406030204" pitchFamily="18" charset="0"/>
                        <a:ea typeface="Times New Roman" panose="02020603050405020304" pitchFamily="18" charset="0"/>
                      </a:rPr>
                      <m:t>=</m:t>
                    </m:r>
                    <m:sSup>
                      <m:sSupPr>
                        <m:ctrlPr>
                          <a:rPr lang="en-US" sz="2400" i="1">
                            <a:latin typeface="Cambria Math" panose="02040503050406030204" pitchFamily="18" charset="0"/>
                            <a:ea typeface="Times New Roman" panose="02020603050405020304" pitchFamily="18" charset="0"/>
                          </a:rPr>
                        </m:ctrlPr>
                      </m:sSupPr>
                      <m:e>
                        <m:d>
                          <m:dPr>
                            <m:ctrlPr>
                              <a:rPr lang="en-US" sz="2400" i="1">
                                <a:latin typeface="Cambria Math" panose="02040503050406030204" pitchFamily="18" charset="0"/>
                                <a:ea typeface="Times New Roman" panose="02020603050405020304" pitchFamily="18" charset="0"/>
                              </a:rPr>
                            </m:ctrlPr>
                          </m:dPr>
                          <m:e>
                            <m:f>
                              <m:fPr>
                                <m:ctrlPr>
                                  <a:rPr lang="en-US" sz="2400" i="1">
                                    <a:latin typeface="Cambria Math" panose="02040503050406030204" pitchFamily="18" charset="0"/>
                                    <a:ea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rPr>
                                  <m:t>2</m:t>
                                </m:r>
                                <m:r>
                                  <a:rPr lang="en-US" sz="2400" i="1">
                                    <a:latin typeface="Cambria Math" panose="02040503050406030204" pitchFamily="18" charset="0"/>
                                    <a:ea typeface="Times New Roman" panose="02020603050405020304" pitchFamily="18" charset="0"/>
                                  </a:rPr>
                                  <m:t>𝑔𝐷</m:t>
                                </m:r>
                                <m:sSub>
                                  <m:sSubPr>
                                    <m:ctrlPr>
                                      <a:rPr lang="en-US" sz="2400" i="1">
                                        <a:latin typeface="Cambria Math" panose="02040503050406030204" pitchFamily="18" charset="0"/>
                                        <a:ea typeface="Times New Roman" panose="02020603050405020304" pitchFamily="18" charset="0"/>
                                      </a:rPr>
                                    </m:ctrlPr>
                                  </m:sSubPr>
                                  <m:e>
                                    <m:r>
                                      <a:rPr lang="en-US" sz="2400" i="1">
                                        <a:latin typeface="Cambria Math" panose="02040503050406030204" pitchFamily="18" charset="0"/>
                                        <a:ea typeface="Times New Roman" panose="02020603050405020304" pitchFamily="18" charset="0"/>
                                      </a:rPr>
                                      <m:t>h</m:t>
                                    </m:r>
                                  </m:e>
                                  <m:sub>
                                    <m:r>
                                      <a:rPr lang="en-US" sz="2400" i="1">
                                        <a:latin typeface="Cambria Math" panose="02040503050406030204" pitchFamily="18" charset="0"/>
                                        <a:ea typeface="Times New Roman" panose="02020603050405020304" pitchFamily="18" charset="0"/>
                                      </a:rPr>
                                      <m:t>𝐿</m:t>
                                    </m:r>
                                  </m:sub>
                                </m:sSub>
                              </m:num>
                              <m:den>
                                <m:r>
                                  <a:rPr lang="en-US" sz="2400" i="1">
                                    <a:latin typeface="Cambria Math" panose="02040503050406030204" pitchFamily="18" charset="0"/>
                                    <a:ea typeface="Times New Roman" panose="02020603050405020304" pitchFamily="18" charset="0"/>
                                  </a:rPr>
                                  <m:t>𝑓𝐿</m:t>
                                </m:r>
                              </m:den>
                            </m:f>
                          </m:e>
                        </m:d>
                      </m:e>
                      <m:sup>
                        <m:f>
                          <m:fPr>
                            <m:type m:val="lin"/>
                            <m:ctrlPr>
                              <a:rPr lang="en-US" sz="2400" i="1">
                                <a:latin typeface="Cambria Math" panose="02040503050406030204" pitchFamily="18" charset="0"/>
                                <a:ea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rPr>
                              <m:t>1</m:t>
                            </m:r>
                          </m:num>
                          <m:den>
                            <m:r>
                              <a:rPr lang="en-US" sz="2400" i="1">
                                <a:latin typeface="Cambria Math" panose="02040503050406030204" pitchFamily="18" charset="0"/>
                                <a:ea typeface="Times New Roman" panose="02020603050405020304" pitchFamily="18" charset="0"/>
                              </a:rPr>
                              <m:t>2</m:t>
                            </m:r>
                          </m:den>
                        </m:f>
                      </m:sup>
                    </m:sSup>
                  </m:oMath>
                </a14:m>
                <a:r>
                  <a:rPr lang="en-US" sz="2400" dirty="0">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sz="2400" i="1">
                        <a:latin typeface="Cambria Math" panose="02040503050406030204" pitchFamily="18" charset="0"/>
                        <a:ea typeface="Times New Roman" panose="02020603050405020304" pitchFamily="18" charset="0"/>
                      </a:rPr>
                      <m:t>=</m:t>
                    </m:r>
                    <m:sSup>
                      <m:sSupPr>
                        <m:ctrlPr>
                          <a:rPr lang="en-US" sz="2400" i="1">
                            <a:latin typeface="Cambria Math" panose="02040503050406030204" pitchFamily="18" charset="0"/>
                            <a:ea typeface="Times New Roman" panose="02020603050405020304" pitchFamily="18" charset="0"/>
                          </a:rPr>
                        </m:ctrlPr>
                      </m:sSupPr>
                      <m:e>
                        <m:d>
                          <m:dPr>
                            <m:ctrlPr>
                              <a:rPr lang="en-US" sz="2400" i="1">
                                <a:latin typeface="Cambria Math" panose="02040503050406030204" pitchFamily="18" charset="0"/>
                                <a:ea typeface="Times New Roman" panose="02020603050405020304" pitchFamily="18" charset="0"/>
                              </a:rPr>
                            </m:ctrlPr>
                          </m:dPr>
                          <m:e>
                            <m:f>
                              <m:fPr>
                                <m:ctrlPr>
                                  <a:rPr lang="en-US" sz="2400" i="1">
                                    <a:latin typeface="Cambria Math" panose="02040503050406030204" pitchFamily="18" charset="0"/>
                                    <a:ea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rPr>
                                  <m:t>2 </m:t>
                                </m:r>
                                <m:r>
                                  <a:rPr lang="en-US" sz="2400" i="1">
                                    <a:latin typeface="Cambria Math" panose="02040503050406030204" pitchFamily="18" charset="0"/>
                                    <a:ea typeface="Times New Roman" panose="02020603050405020304" pitchFamily="18" charset="0"/>
                                  </a:rPr>
                                  <m:t>𝑥</m:t>
                                </m:r>
                                <m:r>
                                  <a:rPr lang="en-US" sz="2400" i="1">
                                    <a:latin typeface="Cambria Math" panose="02040503050406030204" pitchFamily="18" charset="0"/>
                                    <a:ea typeface="Times New Roman" panose="02020603050405020304" pitchFamily="18" charset="0"/>
                                  </a:rPr>
                                  <m:t> 9.8 × 0.1 × 7.94</m:t>
                                </m:r>
                              </m:num>
                              <m:den>
                                <m:r>
                                  <a:rPr lang="en-US" sz="2400" i="1">
                                    <a:latin typeface="Cambria Math" panose="02040503050406030204" pitchFamily="18" charset="0"/>
                                    <a:ea typeface="Times New Roman" panose="02020603050405020304" pitchFamily="18" charset="0"/>
                                  </a:rPr>
                                  <m:t>0.0165 </m:t>
                                </m:r>
                                <m:r>
                                  <a:rPr lang="en-US" sz="240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Times New Roman" panose="02020603050405020304" pitchFamily="18" charset="0"/>
                                  </a:rPr>
                                  <m:t> 300</m:t>
                                </m:r>
                              </m:den>
                            </m:f>
                          </m:e>
                        </m:d>
                      </m:e>
                      <m:sup>
                        <m:f>
                          <m:fPr>
                            <m:type m:val="lin"/>
                            <m:ctrlPr>
                              <a:rPr lang="en-US" sz="2400" i="1">
                                <a:latin typeface="Cambria Math" panose="02040503050406030204" pitchFamily="18" charset="0"/>
                                <a:ea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rPr>
                              <m:t>1</m:t>
                            </m:r>
                          </m:num>
                          <m:den>
                            <m:r>
                              <a:rPr lang="en-US" sz="2400" i="1">
                                <a:latin typeface="Cambria Math" panose="02040503050406030204" pitchFamily="18" charset="0"/>
                                <a:ea typeface="Times New Roman" panose="02020603050405020304" pitchFamily="18" charset="0"/>
                              </a:rPr>
                              <m:t>2</m:t>
                            </m:r>
                          </m:den>
                        </m:f>
                      </m:sup>
                    </m:sSup>
                    <m:r>
                      <a:rPr lang="en-US" sz="2400" i="1">
                        <a:latin typeface="Cambria Math" panose="02040503050406030204" pitchFamily="18" charset="0"/>
                        <a:ea typeface="Times New Roman" panose="02020603050405020304" pitchFamily="18" charset="0"/>
                      </a:rPr>
                      <m:t>=5.61 </m:t>
                    </m:r>
                    <m:f>
                      <m:fPr>
                        <m:type m:val="lin"/>
                        <m:ctrlPr>
                          <a:rPr lang="en-US" sz="2400" i="1">
                            <a:latin typeface="Cambria Math" panose="02040503050406030204" pitchFamily="18" charset="0"/>
                            <a:ea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rPr>
                          <m:t>𝑚</m:t>
                        </m:r>
                      </m:num>
                      <m:den>
                        <m:r>
                          <a:rPr lang="en-US" sz="2400" i="1">
                            <a:latin typeface="Cambria Math" panose="02040503050406030204" pitchFamily="18" charset="0"/>
                            <a:ea typeface="Times New Roman" panose="02020603050405020304" pitchFamily="18" charset="0"/>
                          </a:rPr>
                          <m:t>𝑠</m:t>
                        </m:r>
                      </m:den>
                    </m:f>
                  </m:oMath>
                </a14:m>
                <a:endParaRPr lang="en-GH" sz="2400" dirty="0">
                  <a:latin typeface="Times New Roman" panose="02020603050405020304" pitchFamily="18" charset="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5F5200F0-4A9D-7AD5-1CE8-017ECF0FB51B}"/>
                  </a:ext>
                </a:extLst>
              </p:cNvPr>
              <p:cNvSpPr txBox="1">
                <a:spLocks noRot="1" noChangeAspect="1" noMove="1" noResize="1" noEditPoints="1" noAdjustHandles="1" noChangeArrowheads="1" noChangeShapeType="1" noTextEdit="1"/>
              </p:cNvSpPr>
              <p:nvPr/>
            </p:nvSpPr>
            <p:spPr>
              <a:xfrm>
                <a:off x="0" y="1446261"/>
                <a:ext cx="11625943" cy="5304594"/>
              </a:xfrm>
              <a:prstGeom prst="rect">
                <a:avLst/>
              </a:prstGeom>
              <a:blipFill>
                <a:blip r:embed="rId4"/>
                <a:stretch>
                  <a:fillRect l="-787" t="-920"/>
                </a:stretch>
              </a:blipFill>
            </p:spPr>
            <p:txBody>
              <a:bodyPr/>
              <a:lstStyle/>
              <a:p>
                <a:r>
                  <a:rPr lang="en-GH">
                    <a:noFill/>
                  </a:rPr>
                  <a:t> </a:t>
                </a:r>
              </a:p>
            </p:txBody>
          </p:sp>
        </mc:Fallback>
      </mc:AlternateContent>
    </p:spTree>
    <p:extLst>
      <p:ext uri="{BB962C8B-B14F-4D97-AF65-F5344CB8AC3E}">
        <p14:creationId xmlns:p14="http://schemas.microsoft.com/office/powerpoint/2010/main" val="13793355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6159" y="0"/>
            <a:ext cx="7477760" cy="418011"/>
          </a:xfrm>
        </p:spPr>
        <p:txBody>
          <a:bodyPr>
            <a:normAutofit fontScale="90000"/>
          </a:bodyPr>
          <a:lstStyle/>
          <a:p>
            <a:pPr lvl="0" indent="-228600" algn="ctr">
              <a:lnSpc>
                <a:spcPct val="107000"/>
              </a:lnSpc>
              <a:spcBef>
                <a:spcPts val="0"/>
              </a:spcBef>
              <a:spcAft>
                <a:spcPts val="800"/>
              </a:spcAft>
              <a:tabLst>
                <a:tab pos="3447415" algn="l"/>
              </a:tabLst>
            </a:pPr>
            <a:r>
              <a:rPr lang="en-US" sz="2800" dirty="0">
                <a:solidFill>
                  <a:prstClr val="black"/>
                </a:solidFill>
                <a:latin typeface="Times New Roman" panose="02020603050405020304" pitchFamily="18" charset="0"/>
                <a:ea typeface="Times New Roman" panose="02020603050405020304" pitchFamily="18" charset="0"/>
              </a:rPr>
              <a:t> </a:t>
            </a:r>
            <a:r>
              <a:rPr lang="en-US" sz="2400" b="1" dirty="0">
                <a:solidFill>
                  <a:prstClr val="black"/>
                </a:solidFill>
                <a:latin typeface="Times New Roman" panose="02020603050405020304" pitchFamily="18" charset="0"/>
                <a:ea typeface="Times New Roman" panose="02020603050405020304" pitchFamily="18" charset="0"/>
              </a:rPr>
              <a:t>FURTHER EXAMPLES</a:t>
            </a:r>
            <a:endParaRPr lang="en-US" sz="2400"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88985E8-BC98-3EBE-D1D2-496513199C0E}"/>
                  </a:ext>
                </a:extLst>
              </p:cNvPr>
              <p:cNvSpPr txBox="1"/>
              <p:nvPr/>
            </p:nvSpPr>
            <p:spPr>
              <a:xfrm>
                <a:off x="0" y="602748"/>
                <a:ext cx="12192000" cy="5944641"/>
              </a:xfrm>
              <a:prstGeom prst="rect">
                <a:avLst/>
              </a:prstGeom>
              <a:noFill/>
            </p:spPr>
            <p:txBody>
              <a:bodyPr wrap="square">
                <a:spAutoFit/>
              </a:bodyPr>
              <a:lstStyle/>
              <a:p>
                <a:pPr marL="0" marR="0">
                  <a:lnSpc>
                    <a:spcPct val="107000"/>
                  </a:lnSpc>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This provides us with a Reynolds number of</a:t>
                </a:r>
              </a:p>
              <a:p>
                <a:pPr marL="0" marR="0" indent="0">
                  <a:lnSpc>
                    <a:spcPct val="107000"/>
                  </a:lnSpc>
                  <a:buNone/>
                </a:pPr>
                <a14:m>
                  <m:oMathPara xmlns:m="http://schemas.openxmlformats.org/officeDocument/2006/math">
                    <m:oMathParaPr>
                      <m:jc m:val="left"/>
                    </m:oMathParaPr>
                    <m:oMath xmlns:m="http://schemas.openxmlformats.org/officeDocument/2006/math">
                      <m:r>
                        <a:rPr lang="en-US" sz="2400" i="1">
                          <a:effectLst/>
                          <a:latin typeface="Cambria Math" panose="02040503050406030204" pitchFamily="18" charset="0"/>
                          <a:ea typeface="Times New Roman" panose="02020603050405020304" pitchFamily="18" charset="0"/>
                        </a:rPr>
                        <m:t>𝑅𝑒</m:t>
                      </m:r>
                      <m:r>
                        <a:rPr lang="en-US" sz="2400" i="1">
                          <a:effectLst/>
                          <a:latin typeface="Cambria Math" panose="02040503050406030204" pitchFamily="18" charset="0"/>
                          <a:ea typeface="Times New Roman" panose="02020603050405020304" pitchFamily="18" charset="0"/>
                        </a:rPr>
                        <m:t>=</m:t>
                      </m:r>
                      <m:f>
                        <m:fPr>
                          <m:ctrlPr>
                            <a:rPr lang="en-US" sz="2400" i="1">
                              <a:effectLst/>
                              <a:latin typeface="Cambria Math" panose="02040503050406030204" pitchFamily="18" charset="0"/>
                              <a:ea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rPr>
                            <m:t>𝑉𝐷</m:t>
                          </m:r>
                        </m:num>
                        <m:den>
                          <m:r>
                            <a:rPr lang="en-US" sz="2400" i="1">
                              <a:effectLst/>
                              <a:latin typeface="Cambria Math" panose="02040503050406030204" pitchFamily="18" charset="0"/>
                              <a:ea typeface="Times New Roman" panose="02020603050405020304" pitchFamily="18" charset="0"/>
                            </a:rPr>
                            <m:t>𝑣</m:t>
                          </m:r>
                        </m:den>
                      </m:f>
                      <m:r>
                        <a:rPr lang="en-US" sz="2400" b="0" i="0" smtClean="0">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m:t>
                      </m:r>
                      <m:f>
                        <m:fPr>
                          <m:ctrlPr>
                            <a:rPr lang="en-US" sz="2400" i="1">
                              <a:effectLst/>
                              <a:latin typeface="Cambria Math" panose="02040503050406030204" pitchFamily="18" charset="0"/>
                              <a:ea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rPr>
                            <m:t>5.61 </m:t>
                          </m:r>
                          <m:r>
                            <a:rPr lang="en-US" sz="2400" i="1" smtClean="0">
                              <a:effectLst/>
                              <a:latin typeface="Cambria Math" panose="02040503050406030204" pitchFamily="18" charset="0"/>
                              <a:ea typeface="Cambria Math" panose="02040503050406030204" pitchFamily="18" charset="0"/>
                            </a:rPr>
                            <m:t>×</m:t>
                          </m:r>
                          <m:r>
                            <a:rPr lang="en-US" sz="2400" i="1">
                              <a:effectLst/>
                              <a:latin typeface="Cambria Math" panose="02040503050406030204" pitchFamily="18" charset="0"/>
                              <a:ea typeface="Times New Roman" panose="02020603050405020304" pitchFamily="18" charset="0"/>
                            </a:rPr>
                            <m:t> 0.1</m:t>
                          </m:r>
                        </m:num>
                        <m:den>
                          <m:sSup>
                            <m:sSupPr>
                              <m:ctrlPr>
                                <a:rPr lang="en-US" sz="2400" i="1">
                                  <a:effectLst/>
                                  <a:latin typeface="Cambria Math" panose="02040503050406030204" pitchFamily="18" charset="0"/>
                                  <a:ea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rPr>
                                <m:t>10</m:t>
                              </m:r>
                            </m:e>
                            <m:sup>
                              <m:r>
                                <a:rPr lang="en-US" sz="2400" i="1">
                                  <a:effectLst/>
                                  <a:latin typeface="Cambria Math" panose="02040503050406030204" pitchFamily="18" charset="0"/>
                                  <a:ea typeface="Times New Roman" panose="02020603050405020304" pitchFamily="18" charset="0"/>
                                </a:rPr>
                                <m:t>−5</m:t>
                              </m:r>
                            </m:sup>
                          </m:sSup>
                        </m:den>
                      </m:f>
                      <m:r>
                        <a:rPr lang="en-US" sz="2400" i="1">
                          <a:effectLst/>
                          <a:latin typeface="Cambria Math" panose="02040503050406030204" pitchFamily="18" charset="0"/>
                          <a:ea typeface="Times New Roman" panose="02020603050405020304" pitchFamily="18" charset="0"/>
                        </a:rPr>
                        <m:t>=5.61 </m:t>
                      </m:r>
                      <m:r>
                        <a:rPr lang="en-US" sz="2400" i="1" smtClean="0">
                          <a:effectLst/>
                          <a:latin typeface="Cambria Math" panose="02040503050406030204" pitchFamily="18" charset="0"/>
                          <a:ea typeface="Cambria Math" panose="02040503050406030204" pitchFamily="18" charset="0"/>
                        </a:rPr>
                        <m:t>×</m:t>
                      </m:r>
                      <m:r>
                        <a:rPr lang="en-US" sz="2400" i="1">
                          <a:effectLst/>
                          <a:latin typeface="Cambria Math" panose="02040503050406030204" pitchFamily="18" charset="0"/>
                          <a:ea typeface="Times New Roman" panose="02020603050405020304" pitchFamily="18" charset="0"/>
                        </a:rPr>
                        <m:t> </m:t>
                      </m:r>
                      <m:sSup>
                        <m:sSupPr>
                          <m:ctrlPr>
                            <a:rPr lang="en-US" sz="2400" i="1">
                              <a:effectLst/>
                              <a:latin typeface="Cambria Math" panose="02040503050406030204" pitchFamily="18" charset="0"/>
                              <a:ea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rPr>
                            <m:t>10</m:t>
                          </m:r>
                        </m:e>
                        <m:sup>
                          <m:r>
                            <a:rPr lang="en-US" sz="2400" i="1">
                              <a:effectLst/>
                              <a:latin typeface="Cambria Math" panose="02040503050406030204" pitchFamily="18" charset="0"/>
                              <a:ea typeface="Times New Roman" panose="02020603050405020304" pitchFamily="18" charset="0"/>
                            </a:rPr>
                            <m:t>4</m:t>
                          </m:r>
                        </m:sup>
                      </m:sSup>
                    </m:oMath>
                  </m:oMathPara>
                </a14:m>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nSpc>
                    <a:spcPct val="107000"/>
                  </a:lnSpc>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Using the Reynolds number and </a:t>
                </a:r>
                <a14:m>
                  <m:oMath xmlns:m="http://schemas.openxmlformats.org/officeDocument/2006/math">
                    <m:f>
                      <m:fPr>
                        <m:ctrlPr>
                          <a:rPr lang="en-US" sz="2400" i="1">
                            <a:effectLst/>
                            <a:latin typeface="Cambria Math" panose="02040503050406030204" pitchFamily="18" charset="0"/>
                            <a:ea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rPr>
                          <m:t>𝑒</m:t>
                        </m:r>
                      </m:num>
                      <m:den>
                        <m:r>
                          <a:rPr lang="en-US" sz="2400" i="1">
                            <a:effectLst/>
                            <a:latin typeface="Cambria Math" panose="02040503050406030204" pitchFamily="18" charset="0"/>
                            <a:ea typeface="Times New Roman" panose="02020603050405020304" pitchFamily="18" charset="0"/>
                          </a:rPr>
                          <m:t>𝐷</m:t>
                        </m:r>
                      </m:den>
                    </m:f>
                    <m:r>
                      <a:rPr lang="en-US" sz="2400" i="1">
                        <a:effectLst/>
                        <a:latin typeface="Cambria Math" panose="02040503050406030204" pitchFamily="18" charset="0"/>
                        <a:ea typeface="Times New Roman" panose="02020603050405020304" pitchFamily="18" charset="0"/>
                      </a:rPr>
                      <m:t>=0.00046</m:t>
                    </m:r>
                  </m:oMath>
                </a14:m>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the moody diagram gives the friction factor as  </a:t>
                </a:r>
                <a14:m>
                  <m:oMath xmlns:m="http://schemas.openxmlformats.org/officeDocument/2006/math">
                    <m:r>
                      <a:rPr lang="en-US" sz="2400" i="1">
                        <a:effectLst/>
                        <a:latin typeface="Cambria Math" panose="02040503050406030204" pitchFamily="18" charset="0"/>
                        <a:ea typeface="Times New Roman" panose="02020603050405020304" pitchFamily="18" charset="0"/>
                      </a:rPr>
                      <m:t>𝑓</m:t>
                    </m:r>
                    <m:r>
                      <a:rPr lang="en-US" sz="2400" i="1">
                        <a:effectLst/>
                        <a:latin typeface="Cambria Math" panose="02040503050406030204" pitchFamily="18" charset="0"/>
                        <a:ea typeface="Times New Roman" panose="02020603050405020304" pitchFamily="18" charset="0"/>
                      </a:rPr>
                      <m:t>=0.023</m:t>
                    </m:r>
                  </m:oMath>
                </a14:m>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marR="0" indent="0">
                  <a:lnSpc>
                    <a:spcPct val="107000"/>
                  </a:lnSpc>
                  <a:spcAft>
                    <a:spcPts val="6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This corrects the original value for  </a:t>
                </a:r>
                <a14:m>
                  <m:oMath xmlns:m="http://schemas.openxmlformats.org/officeDocument/2006/math">
                    <m:r>
                      <a:rPr lang="en-US" sz="2400" i="1">
                        <a:effectLst/>
                        <a:latin typeface="Cambria Math" panose="02040503050406030204" pitchFamily="18" charset="0"/>
                        <a:ea typeface="Times New Roman" panose="02020603050405020304" pitchFamily="18" charset="0"/>
                      </a:rPr>
                      <m:t>𝑓</m:t>
                    </m:r>
                  </m:oMath>
                </a14:m>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The velocity is recalculated to be</a:t>
                </a:r>
              </a:p>
              <a:p>
                <a:pPr marL="0" marR="0" indent="0">
                  <a:lnSpc>
                    <a:spcPct val="107000"/>
                  </a:lnSpc>
                  <a:spcAft>
                    <a:spcPts val="600"/>
                  </a:spcAft>
                  <a:buNone/>
                </a:pPr>
                <a14:m>
                  <m:oMathPara xmlns:m="http://schemas.openxmlformats.org/officeDocument/2006/math">
                    <m:oMathParaPr>
                      <m:jc m:val="left"/>
                    </m:oMathParaPr>
                    <m:oMath xmlns:m="http://schemas.openxmlformats.org/officeDocument/2006/math">
                      <m:r>
                        <a:rPr lang="en-US" sz="2400" i="1">
                          <a:effectLst/>
                          <a:latin typeface="Cambria Math" panose="02040503050406030204" pitchFamily="18" charset="0"/>
                          <a:ea typeface="Times New Roman" panose="02020603050405020304" pitchFamily="18" charset="0"/>
                        </a:rPr>
                        <m:t>𝑉</m:t>
                      </m:r>
                      <m:r>
                        <a:rPr lang="en-US" sz="2400" i="1">
                          <a:effectLst/>
                          <a:latin typeface="Cambria Math" panose="02040503050406030204" pitchFamily="18" charset="0"/>
                          <a:ea typeface="Times New Roman" panose="02020603050405020304" pitchFamily="18" charset="0"/>
                        </a:rPr>
                        <m:t>= </m:t>
                      </m:r>
                      <m:sSup>
                        <m:sSupPr>
                          <m:ctrlPr>
                            <a:rPr lang="en-US" sz="2400" i="1">
                              <a:effectLst/>
                              <a:latin typeface="Cambria Math" panose="02040503050406030204" pitchFamily="18" charset="0"/>
                              <a:ea typeface="Times New Roman" panose="02020603050405020304" pitchFamily="18" charset="0"/>
                            </a:rPr>
                          </m:ctrlPr>
                        </m:sSupPr>
                        <m:e>
                          <m:d>
                            <m:dPr>
                              <m:ctrlPr>
                                <a:rPr lang="en-US" sz="2400" i="1">
                                  <a:effectLst/>
                                  <a:latin typeface="Cambria Math" panose="02040503050406030204" pitchFamily="18" charset="0"/>
                                  <a:ea typeface="Times New Roman" panose="02020603050405020304" pitchFamily="18" charset="0"/>
                                </a:rPr>
                              </m:ctrlPr>
                            </m:dPr>
                            <m:e>
                              <m:f>
                                <m:fPr>
                                  <m:ctrlPr>
                                    <a:rPr lang="en-US" sz="2400" i="1">
                                      <a:effectLst/>
                                      <a:latin typeface="Cambria Math" panose="02040503050406030204" pitchFamily="18" charset="0"/>
                                      <a:ea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rPr>
                                    <m:t>2 </m:t>
                                  </m:r>
                                  <m:r>
                                    <a:rPr lang="en-US" sz="2400" i="1" smtClean="0">
                                      <a:effectLst/>
                                      <a:latin typeface="Cambria Math" panose="02040503050406030204" pitchFamily="18" charset="0"/>
                                      <a:ea typeface="Cambria Math" panose="02040503050406030204" pitchFamily="18" charset="0"/>
                                    </a:rPr>
                                    <m:t>×</m:t>
                                  </m:r>
                                  <m:r>
                                    <a:rPr lang="en-US" sz="2400" i="1">
                                      <a:effectLst/>
                                      <a:latin typeface="Cambria Math" panose="02040503050406030204" pitchFamily="18" charset="0"/>
                                      <a:ea typeface="Times New Roman" panose="02020603050405020304" pitchFamily="18" charset="0"/>
                                    </a:rPr>
                                    <m:t> 9.8</m:t>
                                  </m:r>
                                  <m:r>
                                    <a:rPr lang="en-US" sz="2400" i="1" smtClean="0">
                                      <a:effectLst/>
                                      <a:latin typeface="Cambria Math" panose="02040503050406030204" pitchFamily="18" charset="0"/>
                                      <a:ea typeface="Times New Roman" panose="02020603050405020304" pitchFamily="18" charset="0"/>
                                    </a:rPr>
                                    <m:t> </m:t>
                                  </m:r>
                                  <m:r>
                                    <a:rPr lang="en-US" sz="2400" i="1" smtClean="0">
                                      <a:effectLst/>
                                      <a:latin typeface="Cambria Math" panose="02040503050406030204" pitchFamily="18" charset="0"/>
                                      <a:ea typeface="Cambria Math" panose="02040503050406030204" pitchFamily="18" charset="0"/>
                                    </a:rPr>
                                    <m:t>×</m:t>
                                  </m:r>
                                  <m:r>
                                    <a:rPr lang="en-US" sz="2400" i="1" smtClean="0">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0.1 </m:t>
                                  </m:r>
                                  <m:r>
                                    <a:rPr lang="en-US" sz="2400" i="1" smtClean="0">
                                      <a:effectLst/>
                                      <a:latin typeface="Cambria Math" panose="02040503050406030204" pitchFamily="18" charset="0"/>
                                      <a:ea typeface="Cambria Math" panose="02040503050406030204" pitchFamily="18" charset="0"/>
                                    </a:rPr>
                                    <m:t>×</m:t>
                                  </m:r>
                                  <m:r>
                                    <a:rPr lang="en-US" sz="2400" i="1">
                                      <a:effectLst/>
                                      <a:latin typeface="Cambria Math" panose="02040503050406030204" pitchFamily="18" charset="0"/>
                                      <a:ea typeface="Times New Roman" panose="02020603050405020304" pitchFamily="18" charset="0"/>
                                    </a:rPr>
                                    <m:t> 7.94</m:t>
                                  </m:r>
                                </m:num>
                                <m:den>
                                  <m:r>
                                    <a:rPr lang="en-US" sz="2400" i="1">
                                      <a:effectLst/>
                                      <a:latin typeface="Cambria Math" panose="02040503050406030204" pitchFamily="18" charset="0"/>
                                      <a:ea typeface="Times New Roman" panose="02020603050405020304" pitchFamily="18" charset="0"/>
                                    </a:rPr>
                                    <m:t>0.023 </m:t>
                                  </m:r>
                                  <m:r>
                                    <a:rPr lang="en-US" sz="2400" i="1" smtClean="0">
                                      <a:effectLst/>
                                      <a:latin typeface="Cambria Math" panose="02040503050406030204" pitchFamily="18" charset="0"/>
                                      <a:ea typeface="Cambria Math" panose="02040503050406030204" pitchFamily="18" charset="0"/>
                                    </a:rPr>
                                    <m:t>×</m:t>
                                  </m:r>
                                  <m:r>
                                    <a:rPr lang="en-US" sz="2400" i="1">
                                      <a:effectLst/>
                                      <a:latin typeface="Cambria Math" panose="02040503050406030204" pitchFamily="18" charset="0"/>
                                      <a:ea typeface="Times New Roman" panose="02020603050405020304" pitchFamily="18" charset="0"/>
                                    </a:rPr>
                                    <m:t> 300</m:t>
                                  </m:r>
                                </m:den>
                              </m:f>
                            </m:e>
                          </m:d>
                        </m:e>
                        <m:sup>
                          <m:f>
                            <m:fPr>
                              <m:type m:val="lin"/>
                              <m:ctrlPr>
                                <a:rPr lang="en-US" sz="2400" i="1">
                                  <a:effectLst/>
                                  <a:latin typeface="Cambria Math" panose="02040503050406030204" pitchFamily="18" charset="0"/>
                                  <a:ea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rPr>
                                <m:t>1</m:t>
                              </m:r>
                            </m:num>
                            <m:den>
                              <m:r>
                                <a:rPr lang="en-US" sz="2400" i="1">
                                  <a:effectLst/>
                                  <a:latin typeface="Cambria Math" panose="02040503050406030204" pitchFamily="18" charset="0"/>
                                  <a:ea typeface="Times New Roman" panose="02020603050405020304" pitchFamily="18" charset="0"/>
                                </a:rPr>
                                <m:t>2</m:t>
                              </m:r>
                            </m:den>
                          </m:f>
                        </m:sup>
                      </m:sSup>
                      <m:r>
                        <a:rPr lang="en-US" sz="2400" i="1">
                          <a:effectLst/>
                          <a:latin typeface="Cambria Math" panose="02040503050406030204" pitchFamily="18" charset="0"/>
                          <a:ea typeface="Times New Roman" panose="02020603050405020304" pitchFamily="18" charset="0"/>
                        </a:rPr>
                        <m:t>=4.75 </m:t>
                      </m:r>
                      <m:f>
                        <m:fPr>
                          <m:type m:val="lin"/>
                          <m:ctrlPr>
                            <a:rPr lang="en-US" sz="2400" i="1">
                              <a:effectLst/>
                              <a:latin typeface="Cambria Math" panose="02040503050406030204" pitchFamily="18" charset="0"/>
                              <a:ea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rPr>
                            <m:t>𝑚</m:t>
                          </m:r>
                        </m:num>
                        <m:den>
                          <m:r>
                            <a:rPr lang="en-US" sz="2400" i="1">
                              <a:effectLst/>
                              <a:latin typeface="Cambria Math" panose="02040503050406030204" pitchFamily="18" charset="0"/>
                              <a:ea typeface="Times New Roman" panose="02020603050405020304" pitchFamily="18" charset="0"/>
                            </a:rPr>
                            <m:t>𝑠</m:t>
                          </m:r>
                        </m:den>
                      </m:f>
                    </m:oMath>
                  </m:oMathPara>
                </a14:m>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nSpc>
                    <a:spcPct val="107000"/>
                  </a:lnSpc>
                  <a:spcAft>
                    <a:spcPts val="600"/>
                  </a:spcAft>
                  <a:buNone/>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The Reynolds number is then </a:t>
                </a:r>
              </a:p>
              <a:p>
                <a:pPr marL="0" marR="0" indent="0">
                  <a:lnSpc>
                    <a:spcPct val="107000"/>
                  </a:lnSpc>
                  <a:spcAft>
                    <a:spcPts val="600"/>
                  </a:spcAft>
                  <a:buNone/>
                </a:pPr>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ea typeface="Times New Roman" panose="02020603050405020304" pitchFamily="18" charset="0"/>
                        </a:rPr>
                        <m:t>𝑅𝑒</m:t>
                      </m:r>
                      <m:r>
                        <a:rPr lang="en-US" sz="2400" i="1">
                          <a:latin typeface="Cambria Math" panose="02040503050406030204" pitchFamily="18" charset="0"/>
                          <a:ea typeface="Times New Roman" panose="02020603050405020304" pitchFamily="18" charset="0"/>
                        </a:rPr>
                        <m:t>=</m:t>
                      </m:r>
                      <m:f>
                        <m:fPr>
                          <m:ctrlPr>
                            <a:rPr lang="en-US" sz="2400" i="1">
                              <a:latin typeface="Cambria Math" panose="02040503050406030204" pitchFamily="18" charset="0"/>
                              <a:ea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rPr>
                            <m:t>4.75 </m:t>
                          </m:r>
                          <m:r>
                            <a:rPr lang="en-US" sz="240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Times New Roman" panose="02020603050405020304" pitchFamily="18" charset="0"/>
                            </a:rPr>
                            <m:t> 0.1</m:t>
                          </m:r>
                        </m:num>
                        <m:den>
                          <m:sSup>
                            <m:sSupPr>
                              <m:ctrlPr>
                                <a:rPr lang="en-US" sz="2400" i="1">
                                  <a:latin typeface="Cambria Math" panose="02040503050406030204" pitchFamily="18" charset="0"/>
                                  <a:ea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rPr>
                                <m:t>10</m:t>
                              </m:r>
                            </m:e>
                            <m:sup>
                              <m:r>
                                <a:rPr lang="en-US" sz="2400" i="1">
                                  <a:latin typeface="Cambria Math" panose="02040503050406030204" pitchFamily="18" charset="0"/>
                                  <a:ea typeface="Times New Roman" panose="02020603050405020304" pitchFamily="18" charset="0"/>
                                </a:rPr>
                                <m:t>−5</m:t>
                              </m:r>
                            </m:sup>
                          </m:sSup>
                        </m:den>
                      </m:f>
                      <m:r>
                        <a:rPr lang="en-US" sz="2400" i="1">
                          <a:latin typeface="Cambria Math" panose="02040503050406030204" pitchFamily="18" charset="0"/>
                          <a:ea typeface="Times New Roman" panose="02020603050405020304" pitchFamily="18" charset="0"/>
                        </a:rPr>
                        <m:t>=4.75 </m:t>
                      </m:r>
                      <m:r>
                        <a:rPr lang="en-US" sz="240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Times New Roman" panose="02020603050405020304" pitchFamily="18" charset="0"/>
                        </a:rPr>
                        <m:t> </m:t>
                      </m:r>
                      <m:sSup>
                        <m:sSupPr>
                          <m:ctrlPr>
                            <a:rPr lang="en-US" sz="2400" i="1">
                              <a:latin typeface="Cambria Math" panose="02040503050406030204" pitchFamily="18" charset="0"/>
                              <a:ea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rPr>
                            <m:t>10</m:t>
                          </m:r>
                        </m:e>
                        <m:sup>
                          <m:r>
                            <a:rPr lang="en-US" sz="2400" i="1">
                              <a:latin typeface="Cambria Math" panose="02040503050406030204" pitchFamily="18" charset="0"/>
                              <a:ea typeface="Times New Roman" panose="02020603050405020304" pitchFamily="18" charset="0"/>
                            </a:rPr>
                            <m:t>4</m:t>
                          </m:r>
                        </m:sup>
                      </m:sSup>
                    </m:oMath>
                  </m:oMathPara>
                </a14:m>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nSpc>
                    <a:spcPct val="107000"/>
                  </a:lnSpc>
                  <a:spcAft>
                    <a:spcPts val="6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From the Moody diagram </a:t>
                </a:r>
                <a14:m>
                  <m:oMath xmlns:m="http://schemas.openxmlformats.org/officeDocument/2006/math">
                    <m:r>
                      <a:rPr lang="en-US" sz="2400" i="1">
                        <a:latin typeface="Cambria Math" panose="02040503050406030204" pitchFamily="18" charset="0"/>
                        <a:ea typeface="Times New Roman" panose="02020603050405020304" pitchFamily="18" charset="0"/>
                      </a:rPr>
                      <m:t>𝑓</m:t>
                    </m:r>
                    <m:r>
                      <a:rPr lang="en-US" sz="2400" i="1">
                        <a:latin typeface="Cambria Math" panose="02040503050406030204" pitchFamily="18" charset="0"/>
                        <a:ea typeface="Times New Roman" panose="02020603050405020304" pitchFamily="18" charset="0"/>
                      </a:rPr>
                      <m:t>=0.023</m:t>
                    </m:r>
                  </m:oMath>
                </a14:m>
                <a:r>
                  <a:rPr lang="en-US" sz="2400" dirty="0">
                    <a:latin typeface="Times New Roman" panose="02020603050405020304" pitchFamily="18" charset="0"/>
                    <a:ea typeface="Times New Roman" panose="02020603050405020304" pitchFamily="18" charset="0"/>
                    <a:cs typeface="Times New Roman" panose="02020603050405020304" pitchFamily="18" charset="0"/>
                  </a:rPr>
                  <a:t> appears to be satisfactory. Thus the flow rate is</a:t>
                </a:r>
              </a:p>
              <a:p>
                <a:pPr marL="0" marR="0">
                  <a:lnSpc>
                    <a:spcPct val="107000"/>
                  </a:lnSpc>
                  <a:spcAft>
                    <a:spcPts val="600"/>
                  </a:spcAft>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ea typeface="Times New Roman" panose="02020603050405020304" pitchFamily="18" charset="0"/>
                        </a:rPr>
                        <m:t>𝑄</m:t>
                      </m:r>
                      <m:r>
                        <a:rPr lang="en-US" sz="2400" i="1">
                          <a:latin typeface="Cambria Math" panose="02040503050406030204" pitchFamily="18" charset="0"/>
                          <a:ea typeface="Times New Roman" panose="02020603050405020304" pitchFamily="18" charset="0"/>
                        </a:rPr>
                        <m:t>=</m:t>
                      </m:r>
                      <m:r>
                        <a:rPr lang="en-US" sz="2400" i="1">
                          <a:latin typeface="Cambria Math" panose="02040503050406030204" pitchFamily="18" charset="0"/>
                          <a:ea typeface="Times New Roman" panose="02020603050405020304" pitchFamily="18" charset="0"/>
                        </a:rPr>
                        <m:t>𝑉𝐴</m:t>
                      </m:r>
                      <m:r>
                        <a:rPr lang="en-US" sz="2400" b="0" i="0" smtClean="0">
                          <a:latin typeface="Cambria Math" panose="02040503050406030204" pitchFamily="18" charset="0"/>
                          <a:ea typeface="Times New Roman" panose="02020603050405020304" pitchFamily="18" charset="0"/>
                        </a:rPr>
                        <m:t> </m:t>
                      </m:r>
                      <m:r>
                        <a:rPr lang="en-US" sz="2400" i="1">
                          <a:latin typeface="Cambria Math" panose="02040503050406030204" pitchFamily="18" charset="0"/>
                          <a:ea typeface="Times New Roman" panose="02020603050405020304" pitchFamily="18" charset="0"/>
                        </a:rPr>
                        <m:t>=4.75 </m:t>
                      </m:r>
                      <m:r>
                        <a:rPr lang="en-US" sz="240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Times New Roman" panose="02020603050405020304" pitchFamily="18" charset="0"/>
                        </a:rPr>
                        <m:t> </m:t>
                      </m:r>
                      <m:r>
                        <a:rPr lang="en-US" sz="2400" i="1">
                          <a:latin typeface="Cambria Math" panose="02040503050406030204" pitchFamily="18" charset="0"/>
                          <a:ea typeface="Times New Roman" panose="02020603050405020304" pitchFamily="18" charset="0"/>
                        </a:rPr>
                        <m:t>𝜋</m:t>
                      </m:r>
                      <m:r>
                        <a:rPr lang="en-US" sz="2400" i="1">
                          <a:latin typeface="Cambria Math" panose="02040503050406030204" pitchFamily="18" charset="0"/>
                          <a:ea typeface="Times New Roman" panose="02020603050405020304" pitchFamily="18" charset="0"/>
                        </a:rPr>
                        <m:t> × </m:t>
                      </m:r>
                      <m:sSup>
                        <m:sSupPr>
                          <m:ctrlPr>
                            <a:rPr lang="en-US" sz="2400" i="1">
                              <a:latin typeface="Cambria Math" panose="02040503050406030204" pitchFamily="18" charset="0"/>
                              <a:ea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rPr>
                            <m:t>0.05</m:t>
                          </m:r>
                        </m:e>
                        <m:sup>
                          <m:r>
                            <a:rPr lang="en-US" sz="2400" i="1">
                              <a:latin typeface="Cambria Math" panose="02040503050406030204" pitchFamily="18" charset="0"/>
                              <a:ea typeface="Times New Roman" panose="02020603050405020304" pitchFamily="18" charset="0"/>
                            </a:rPr>
                            <m:t>2</m:t>
                          </m:r>
                        </m:sup>
                      </m:sSup>
                      <m:r>
                        <a:rPr lang="en-US" sz="2400" i="1">
                          <a:latin typeface="Cambria Math" panose="02040503050406030204" pitchFamily="18" charset="0"/>
                          <a:ea typeface="Times New Roman" panose="02020603050405020304" pitchFamily="18" charset="0"/>
                        </a:rPr>
                        <m:t>=0.037</m:t>
                      </m:r>
                      <m:f>
                        <m:fPr>
                          <m:type m:val="lin"/>
                          <m:ctrlPr>
                            <a:rPr lang="en-US" sz="2400" i="1">
                              <a:latin typeface="Cambria Math" panose="02040503050406030204" pitchFamily="18" charset="0"/>
                              <a:ea typeface="Times New Roman" panose="02020603050405020304" pitchFamily="18" charset="0"/>
                            </a:rPr>
                          </m:ctrlPr>
                        </m:fPr>
                        <m:num>
                          <m:sSup>
                            <m:sSupPr>
                              <m:ctrlPr>
                                <a:rPr lang="en-US" sz="2400" i="1">
                                  <a:latin typeface="Cambria Math" panose="02040503050406030204" pitchFamily="18" charset="0"/>
                                  <a:ea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rPr>
                                <m:t>𝑚</m:t>
                              </m:r>
                            </m:e>
                            <m:sup>
                              <m:r>
                                <a:rPr lang="en-US" sz="2400" i="1">
                                  <a:latin typeface="Cambria Math" panose="02040503050406030204" pitchFamily="18" charset="0"/>
                                  <a:ea typeface="Times New Roman" panose="02020603050405020304" pitchFamily="18" charset="0"/>
                                </a:rPr>
                                <m:t>3</m:t>
                              </m:r>
                            </m:sup>
                          </m:sSup>
                        </m:num>
                        <m:den>
                          <m:r>
                            <a:rPr lang="en-US" sz="2400" i="1">
                              <a:latin typeface="Cambria Math" panose="02040503050406030204" pitchFamily="18" charset="0"/>
                              <a:ea typeface="Times New Roman" panose="02020603050405020304" pitchFamily="18" charset="0"/>
                            </a:rPr>
                            <m:t>𝑠</m:t>
                          </m:r>
                        </m:den>
                      </m:f>
                    </m:oMath>
                  </m:oMathPara>
                </a14:m>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488985E8-BC98-3EBE-D1D2-496513199C0E}"/>
                  </a:ext>
                </a:extLst>
              </p:cNvPr>
              <p:cNvSpPr txBox="1">
                <a:spLocks noRot="1" noChangeAspect="1" noMove="1" noResize="1" noEditPoints="1" noAdjustHandles="1" noChangeArrowheads="1" noChangeShapeType="1" noTextEdit="1"/>
              </p:cNvSpPr>
              <p:nvPr/>
            </p:nvSpPr>
            <p:spPr>
              <a:xfrm>
                <a:off x="0" y="602748"/>
                <a:ext cx="12192000" cy="5944641"/>
              </a:xfrm>
              <a:prstGeom prst="rect">
                <a:avLst/>
              </a:prstGeom>
              <a:blipFill>
                <a:blip r:embed="rId3"/>
                <a:stretch>
                  <a:fillRect l="-750" t="-821"/>
                </a:stretch>
              </a:blipFill>
            </p:spPr>
            <p:txBody>
              <a:bodyPr/>
              <a:lstStyle/>
              <a:p>
                <a:r>
                  <a:rPr lang="en-GH">
                    <a:noFill/>
                  </a:rPr>
                  <a:t> </a:t>
                </a:r>
              </a:p>
            </p:txBody>
          </p:sp>
        </mc:Fallback>
      </mc:AlternateContent>
    </p:spTree>
    <p:extLst>
      <p:ext uri="{BB962C8B-B14F-4D97-AF65-F5344CB8AC3E}">
        <p14:creationId xmlns:p14="http://schemas.microsoft.com/office/powerpoint/2010/main" val="20609351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6159" y="0"/>
            <a:ext cx="7477760" cy="418011"/>
          </a:xfrm>
        </p:spPr>
        <p:txBody>
          <a:bodyPr>
            <a:normAutofit fontScale="90000"/>
          </a:bodyPr>
          <a:lstStyle/>
          <a:p>
            <a:pPr lvl="0" indent="-228600" algn="ctr">
              <a:lnSpc>
                <a:spcPct val="107000"/>
              </a:lnSpc>
              <a:spcBef>
                <a:spcPts val="0"/>
              </a:spcBef>
              <a:spcAft>
                <a:spcPts val="800"/>
              </a:spcAft>
              <a:tabLst>
                <a:tab pos="3447415" algn="l"/>
              </a:tabLst>
            </a:pPr>
            <a:r>
              <a:rPr lang="en-US" sz="2800" dirty="0">
                <a:solidFill>
                  <a:prstClr val="black"/>
                </a:solidFill>
                <a:latin typeface="Times New Roman" panose="02020603050405020304" pitchFamily="18" charset="0"/>
                <a:ea typeface="Times New Roman" panose="02020603050405020304" pitchFamily="18" charset="0"/>
              </a:rPr>
              <a:t> </a:t>
            </a:r>
            <a:r>
              <a:rPr lang="en-US" sz="2400" b="1" dirty="0">
                <a:solidFill>
                  <a:prstClr val="black"/>
                </a:solidFill>
                <a:latin typeface="Times New Roman" panose="02020603050405020304" pitchFamily="18" charset="0"/>
                <a:ea typeface="Times New Roman" panose="02020603050405020304" pitchFamily="18" charset="0"/>
              </a:rPr>
              <a:t>FURTHER EXAMPLES</a:t>
            </a:r>
            <a:endParaRPr lang="en-US" sz="2400" dirty="0"/>
          </a:p>
        </p:txBody>
      </p:sp>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53A645D1-22D5-7794-F0E4-ECCE36D90DB8}"/>
                  </a:ext>
                </a:extLst>
              </p:cNvPr>
              <p:cNvSpPr txBox="1">
                <a:spLocks/>
              </p:cNvSpPr>
              <p:nvPr/>
            </p:nvSpPr>
            <p:spPr>
              <a:xfrm>
                <a:off x="-60961" y="470208"/>
                <a:ext cx="12192000" cy="8538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Aft>
                    <a:spcPts val="600"/>
                  </a:spcAft>
                  <a:buNone/>
                </a:pPr>
                <a:r>
                  <a:rPr lang="en-GB" sz="2400" b="1" dirty="0">
                    <a:latin typeface="Times New Roman" panose="02020603050405020304" pitchFamily="18" charset="0"/>
                    <a:cs typeface="Times New Roman" panose="02020603050405020304" pitchFamily="18" charset="0"/>
                  </a:rPr>
                  <a:t>Example 3</a:t>
                </a:r>
                <a:r>
                  <a:rPr lang="en-GB" sz="2400" dirty="0">
                    <a:latin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Drawn tubing of what diameter should be selected to transport </a:t>
                </a:r>
                <a14:m>
                  <m:oMath xmlns:m="http://schemas.openxmlformats.org/officeDocument/2006/math">
                    <m:r>
                      <a:rPr lang="en-US" sz="2400" i="1">
                        <a:effectLst/>
                        <a:latin typeface="Cambria Math" panose="02040503050406030204" pitchFamily="18" charset="0"/>
                        <a:ea typeface="Times New Roman" panose="02020603050405020304" pitchFamily="18" charset="0"/>
                      </a:rPr>
                      <m:t>0.002</m:t>
                    </m:r>
                    <m:f>
                      <m:fPr>
                        <m:type m:val="lin"/>
                        <m:ctrlPr>
                          <a:rPr lang="en-US" sz="2400" i="1">
                            <a:effectLst/>
                            <a:latin typeface="Cambria Math" panose="02040503050406030204" pitchFamily="18" charset="0"/>
                            <a:ea typeface="Times New Roman" panose="02020603050405020304" pitchFamily="18" charset="0"/>
                          </a:rPr>
                        </m:ctrlPr>
                      </m:fPr>
                      <m:num>
                        <m:sSup>
                          <m:sSupPr>
                            <m:ctrlPr>
                              <a:rPr lang="en-US" sz="2400" i="1">
                                <a:effectLst/>
                                <a:latin typeface="Cambria Math" panose="02040503050406030204" pitchFamily="18" charset="0"/>
                                <a:ea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rPr>
                              <m:t>𝑚</m:t>
                            </m:r>
                          </m:e>
                          <m:sup>
                            <m:r>
                              <a:rPr lang="en-US" sz="2400" i="1">
                                <a:effectLst/>
                                <a:latin typeface="Cambria Math" panose="02040503050406030204" pitchFamily="18" charset="0"/>
                                <a:ea typeface="Times New Roman" panose="02020603050405020304" pitchFamily="18" charset="0"/>
                              </a:rPr>
                              <m:t>3</m:t>
                            </m:r>
                          </m:sup>
                        </m:sSup>
                      </m:num>
                      <m:den>
                        <m:r>
                          <a:rPr lang="en-US" sz="2400" i="1">
                            <a:effectLst/>
                            <a:latin typeface="Cambria Math" panose="02040503050406030204" pitchFamily="18" charset="0"/>
                            <a:ea typeface="Times New Roman" panose="02020603050405020304" pitchFamily="18" charset="0"/>
                          </a:rPr>
                          <m:t>𝑠</m:t>
                        </m:r>
                      </m:den>
                    </m:f>
                  </m:oMath>
                </a14:m>
                <a:r>
                  <a:rPr lang="en-US" sz="2400" dirty="0">
                    <a:effectLst/>
                    <a:latin typeface="Times New Roman" panose="02020603050405020304" pitchFamily="18" charset="0"/>
                    <a:ea typeface="Times New Roman" panose="02020603050405020304" pitchFamily="18" charset="0"/>
                  </a:rPr>
                  <a:t> of </a:t>
                </a:r>
                <a14:m>
                  <m:oMath xmlns:m="http://schemas.openxmlformats.org/officeDocument/2006/math">
                    <m:r>
                      <a:rPr lang="en-US" sz="2400" i="1">
                        <a:effectLst/>
                        <a:latin typeface="Cambria Math" panose="02040503050406030204" pitchFamily="18" charset="0"/>
                        <a:ea typeface="Times New Roman" panose="02020603050405020304" pitchFamily="18" charset="0"/>
                      </a:rPr>
                      <m:t>20℃</m:t>
                    </m:r>
                  </m:oMath>
                </a14:m>
                <a:r>
                  <a:rPr lang="en-US" sz="2400" dirty="0">
                    <a:effectLst/>
                    <a:latin typeface="Times New Roman" panose="02020603050405020304" pitchFamily="18" charset="0"/>
                    <a:ea typeface="Times New Roman" panose="02020603050405020304" pitchFamily="18" charset="0"/>
                  </a:rPr>
                  <a:t> water over a 400m length so that the head loss does not exceed 30m?</a:t>
                </a:r>
              </a:p>
              <a:p>
                <a:pPr marL="0" indent="0" algn="just">
                  <a:spcAft>
                    <a:spcPts val="600"/>
                  </a:spcAft>
                  <a:buNone/>
                </a:pPr>
                <a:endParaRPr lang="en-US" sz="2400" dirty="0">
                  <a:latin typeface="Times New Roman" panose="02020603050405020304" pitchFamily="18" charset="0"/>
                  <a:cs typeface="Times New Roman" panose="02020603050405020304" pitchFamily="18" charset="0"/>
                </a:endParaRPr>
              </a:p>
            </p:txBody>
          </p:sp>
        </mc:Choice>
        <mc:Fallback xmlns="">
          <p:sp>
            <p:nvSpPr>
              <p:cNvPr id="12" name="Content Placeholder 2">
                <a:extLst>
                  <a:ext uri="{FF2B5EF4-FFF2-40B4-BE49-F238E27FC236}">
                    <a16:creationId xmlns:a16="http://schemas.microsoft.com/office/drawing/2014/main" id="{53A645D1-22D5-7794-F0E4-ECCE36D90DB8}"/>
                  </a:ext>
                </a:extLst>
              </p:cNvPr>
              <p:cNvSpPr txBox="1">
                <a:spLocks noRot="1" noChangeAspect="1" noMove="1" noResize="1" noEditPoints="1" noAdjustHandles="1" noChangeArrowheads="1" noChangeShapeType="1" noTextEdit="1"/>
              </p:cNvSpPr>
              <p:nvPr/>
            </p:nvSpPr>
            <p:spPr>
              <a:xfrm>
                <a:off x="-60961" y="470208"/>
                <a:ext cx="12192000" cy="853841"/>
              </a:xfrm>
              <a:prstGeom prst="rect">
                <a:avLst/>
              </a:prstGeom>
              <a:blipFill>
                <a:blip r:embed="rId3"/>
                <a:stretch>
                  <a:fillRect l="-750" t="-71429" r="-100" b="-54286"/>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F5200F0-4A9D-7AD5-1CE8-017ECF0FB51B}"/>
                  </a:ext>
                </a:extLst>
              </p:cNvPr>
              <p:cNvSpPr txBox="1"/>
              <p:nvPr/>
            </p:nvSpPr>
            <p:spPr>
              <a:xfrm>
                <a:off x="0" y="1446261"/>
                <a:ext cx="11625943" cy="4809202"/>
              </a:xfrm>
              <a:prstGeom prst="rect">
                <a:avLst/>
              </a:prstGeom>
              <a:noFill/>
            </p:spPr>
            <p:txBody>
              <a:bodyPr wrap="square">
                <a:spAutoFit/>
              </a:bodyPr>
              <a:lstStyle/>
              <a:p>
                <a:pPr marL="0" marR="0" indent="0">
                  <a:lnSpc>
                    <a:spcPct val="107000"/>
                  </a:lnSpc>
                  <a:buNone/>
                </a:pPr>
                <a:r>
                  <a:rPr lang="en-US" sz="2400" b="1" dirty="0">
                    <a:effectLst/>
                    <a:latin typeface="Times New Roman" panose="02020603050405020304" pitchFamily="18" charset="0"/>
                    <a:ea typeface="Times New Roman" panose="02020603050405020304" pitchFamily="18" charset="0"/>
                  </a:rPr>
                  <a:t>Solution</a:t>
                </a:r>
              </a:p>
              <a:p>
                <a:pPr marL="0" marR="0">
                  <a:lnSpc>
                    <a:spcPct val="107000"/>
                  </a:lnSpc>
                  <a:spcBef>
                    <a:spcPts val="1200"/>
                  </a:spcBef>
                  <a:spcAft>
                    <a:spcPts val="800"/>
                  </a:spcAft>
                </a:pPr>
                <a:r>
                  <a:rPr lang="en-US" sz="2400" dirty="0">
                    <a:latin typeface="Times New Roman" panose="02020603050405020304" pitchFamily="18" charset="0"/>
                    <a:ea typeface="Times New Roman" panose="02020603050405020304" pitchFamily="18" charset="0"/>
                  </a:rPr>
                  <a:t>In this problem we do not know D. Thus, a trial-and-error solution is anticipated. The average velocity is related to D by	</a:t>
                </a:r>
              </a:p>
              <a:p>
                <a:pPr marL="0" marR="0" indent="0">
                  <a:lnSpc>
                    <a:spcPct val="107000"/>
                  </a:lnSpc>
                  <a:spcBef>
                    <a:spcPts val="0"/>
                  </a:spcBef>
                  <a:spcAft>
                    <a:spcPts val="800"/>
                  </a:spcAft>
                  <a:buNone/>
                </a:pPr>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ea typeface="Times New Roman" panose="02020603050405020304" pitchFamily="18" charset="0"/>
                        </a:rPr>
                        <m:t>𝑉</m:t>
                      </m:r>
                      <m:r>
                        <a:rPr lang="en-US" sz="2400" i="1">
                          <a:latin typeface="Cambria Math" panose="02040503050406030204" pitchFamily="18" charset="0"/>
                          <a:ea typeface="Times New Roman" panose="02020603050405020304" pitchFamily="18" charset="0"/>
                        </a:rPr>
                        <m:t>=</m:t>
                      </m:r>
                      <m:f>
                        <m:fPr>
                          <m:ctrlPr>
                            <a:rPr lang="en-US" sz="2400" i="1">
                              <a:latin typeface="Cambria Math" panose="02040503050406030204" pitchFamily="18" charset="0"/>
                              <a:ea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rPr>
                            <m:t>𝑄</m:t>
                          </m:r>
                        </m:num>
                        <m:den>
                          <m:r>
                            <a:rPr lang="en-US" sz="2400" i="1">
                              <a:latin typeface="Cambria Math" panose="02040503050406030204" pitchFamily="18" charset="0"/>
                              <a:ea typeface="Times New Roman" panose="02020603050405020304" pitchFamily="18" charset="0"/>
                            </a:rPr>
                            <m:t>𝐴</m:t>
                          </m:r>
                        </m:den>
                      </m:f>
                      <m:r>
                        <a:rPr lang="en-US" sz="2400" b="0" i="0" smtClean="0">
                          <a:latin typeface="Cambria Math" panose="02040503050406030204" pitchFamily="18" charset="0"/>
                          <a:ea typeface="Times New Roman" panose="02020603050405020304" pitchFamily="18" charset="0"/>
                        </a:rPr>
                        <m:t> </m:t>
                      </m:r>
                      <m:r>
                        <a:rPr lang="en-US" sz="2400" i="1">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400" i="1">
                              <a:latin typeface="Cambria Math" panose="02040503050406030204" pitchFamily="18" charset="0"/>
                              <a:ea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cs typeface="Times New Roman" panose="02020603050405020304" pitchFamily="18" charset="0"/>
                            </a:rPr>
                            <m:t>0.002</m:t>
                          </m:r>
                        </m:num>
                        <m:den>
                          <m:r>
                            <a:rPr lang="en-US" sz="2400" i="1">
                              <a:latin typeface="Cambria Math" panose="02040503050406030204" pitchFamily="18" charset="0"/>
                              <a:ea typeface="Times New Roman" panose="02020603050405020304" pitchFamily="18" charset="0"/>
                              <a:cs typeface="Times New Roman" panose="02020603050405020304" pitchFamily="18" charset="0"/>
                            </a:rPr>
                            <m:t>𝜋</m:t>
                          </m:r>
                          <m:f>
                            <m:fPr>
                              <m:type m:val="lin"/>
                              <m:ctrlPr>
                                <a:rPr lang="en-US" sz="2400" i="1">
                                  <a:latin typeface="Cambria Math" panose="02040503050406030204" pitchFamily="18" charset="0"/>
                                  <a:ea typeface="Times New Roman" panose="02020603050405020304" pitchFamily="18" charset="0"/>
                                </a:rPr>
                              </m:ctrlPr>
                            </m:fPr>
                            <m:num>
                              <m:sSup>
                                <m:sSupPr>
                                  <m:ctrlPr>
                                    <a:rPr lang="en-US" sz="2400" i="1">
                                      <a:latin typeface="Cambria Math" panose="02040503050406030204" pitchFamily="18" charset="0"/>
                                      <a:ea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𝐷</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2</m:t>
                                  </m:r>
                                </m:sup>
                              </m:sSup>
                            </m:num>
                            <m:den>
                              <m:r>
                                <a:rPr lang="en-US" sz="2400" i="1">
                                  <a:latin typeface="Cambria Math" panose="02040503050406030204" pitchFamily="18" charset="0"/>
                                  <a:ea typeface="Times New Roman" panose="02020603050405020304" pitchFamily="18" charset="0"/>
                                  <a:cs typeface="Times New Roman" panose="02020603050405020304" pitchFamily="18" charset="0"/>
                                </a:rPr>
                                <m:t>4</m:t>
                              </m:r>
                            </m:den>
                          </m:f>
                        </m:den>
                      </m:f>
                      <m:r>
                        <a:rPr lang="en-US" sz="2400" i="1">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400" i="1">
                              <a:latin typeface="Cambria Math" panose="02040503050406030204" pitchFamily="18" charset="0"/>
                              <a:ea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cs typeface="Times New Roman" panose="02020603050405020304" pitchFamily="18" charset="0"/>
                            </a:rPr>
                            <m:t>0.00255</m:t>
                          </m:r>
                        </m:num>
                        <m:den>
                          <m:sSup>
                            <m:sSupPr>
                              <m:ctrlPr>
                                <a:rPr lang="en-US" sz="2400" i="1">
                                  <a:latin typeface="Cambria Math" panose="02040503050406030204" pitchFamily="18" charset="0"/>
                                  <a:ea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𝐷</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2</m:t>
                              </m:r>
                            </m:sup>
                          </m:sSup>
                        </m:den>
                      </m:f>
                    </m:oMath>
                  </m:oMathPara>
                </a14:m>
                <a:endParaRPr lang="en-US" sz="2400" dirty="0">
                  <a:effectLst/>
                  <a:latin typeface="Times New Roman" panose="02020603050405020304" pitchFamily="18" charset="0"/>
                  <a:ea typeface="Times New Roman" panose="02020603050405020304" pitchFamily="18" charset="0"/>
                </a:endParaRPr>
              </a:p>
              <a:p>
                <a:pPr marL="0" marR="0" indent="0">
                  <a:lnSpc>
                    <a:spcPct val="107000"/>
                  </a:lnSpc>
                  <a:spcBef>
                    <a:spcPts val="0"/>
                  </a:spcBef>
                  <a:spcAft>
                    <a:spcPts val="800"/>
                  </a:spcAft>
                  <a:buNone/>
                </a:pPr>
                <a14:m>
                  <m:oMathPara xmlns:m="http://schemas.openxmlformats.org/officeDocument/2006/math">
                    <m:oMathParaPr>
                      <m:jc m:val="left"/>
                    </m:oMathParaPr>
                    <m:oMath xmlns:m="http://schemas.openxmlformats.org/officeDocument/2006/math">
                      <m:f>
                        <m:fPr>
                          <m:ctrlPr>
                            <a:rPr lang="en-US" sz="2400" i="1">
                              <a:latin typeface="Cambria Math" panose="02040503050406030204" pitchFamily="18" charset="0"/>
                              <a:ea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rPr>
                            <m:t>0.002</m:t>
                          </m:r>
                        </m:num>
                        <m:den>
                          <m:r>
                            <a:rPr lang="en-US" sz="2400" i="1">
                              <a:latin typeface="Cambria Math" panose="02040503050406030204" pitchFamily="18" charset="0"/>
                              <a:ea typeface="Times New Roman" panose="02020603050405020304" pitchFamily="18" charset="0"/>
                            </a:rPr>
                            <m:t>𝜋</m:t>
                          </m:r>
                          <m:f>
                            <m:fPr>
                              <m:type m:val="lin"/>
                              <m:ctrlPr>
                                <a:rPr lang="en-US" sz="2400" i="1">
                                  <a:latin typeface="Cambria Math" panose="02040503050406030204" pitchFamily="18" charset="0"/>
                                  <a:ea typeface="Times New Roman" panose="02020603050405020304" pitchFamily="18" charset="0"/>
                                </a:rPr>
                              </m:ctrlPr>
                            </m:fPr>
                            <m:num>
                              <m:sSup>
                                <m:sSupPr>
                                  <m:ctrlPr>
                                    <a:rPr lang="en-US" sz="2400" i="1">
                                      <a:latin typeface="Cambria Math" panose="02040503050406030204" pitchFamily="18" charset="0"/>
                                      <a:ea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rPr>
                                    <m:t>𝐷</m:t>
                                  </m:r>
                                </m:e>
                                <m:sup>
                                  <m:r>
                                    <a:rPr lang="en-US" sz="2400" i="1">
                                      <a:latin typeface="Cambria Math" panose="02040503050406030204" pitchFamily="18" charset="0"/>
                                      <a:ea typeface="Times New Roman" panose="02020603050405020304" pitchFamily="18" charset="0"/>
                                    </a:rPr>
                                    <m:t>2</m:t>
                                  </m:r>
                                </m:sup>
                              </m:sSup>
                            </m:num>
                            <m:den>
                              <m:r>
                                <a:rPr lang="en-US" sz="2400" i="1">
                                  <a:latin typeface="Cambria Math" panose="02040503050406030204" pitchFamily="18" charset="0"/>
                                  <a:ea typeface="Times New Roman" panose="02020603050405020304" pitchFamily="18" charset="0"/>
                                </a:rPr>
                                <m:t>4</m:t>
                              </m:r>
                            </m:den>
                          </m:f>
                        </m:den>
                      </m:f>
                      <m:r>
                        <a:rPr lang="en-US" sz="2400" i="1">
                          <a:latin typeface="Cambria Math" panose="02040503050406030204" pitchFamily="18" charset="0"/>
                          <a:ea typeface="Times New Roman" panose="02020603050405020304" pitchFamily="18" charset="0"/>
                        </a:rPr>
                        <m:t>=</m:t>
                      </m:r>
                      <m:f>
                        <m:fPr>
                          <m:ctrlPr>
                            <a:rPr lang="en-US" sz="2400" i="1">
                              <a:latin typeface="Cambria Math" panose="02040503050406030204" pitchFamily="18" charset="0"/>
                              <a:ea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rPr>
                            <m:t>0.00255</m:t>
                          </m:r>
                        </m:num>
                        <m:den>
                          <m:sSup>
                            <m:sSupPr>
                              <m:ctrlPr>
                                <a:rPr lang="en-US" sz="2400" i="1">
                                  <a:latin typeface="Cambria Math" panose="02040503050406030204" pitchFamily="18" charset="0"/>
                                  <a:ea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rPr>
                                <m:t>𝐷</m:t>
                              </m:r>
                            </m:e>
                            <m:sup>
                              <m:r>
                                <a:rPr lang="en-US" sz="2400" i="1">
                                  <a:latin typeface="Cambria Math" panose="02040503050406030204" pitchFamily="18" charset="0"/>
                                  <a:ea typeface="Times New Roman" panose="02020603050405020304" pitchFamily="18" charset="0"/>
                                </a:rPr>
                                <m:t>2</m:t>
                              </m:r>
                            </m:sup>
                          </m:sSup>
                        </m:den>
                      </m:f>
                    </m:oMath>
                  </m:oMathPara>
                </a14:m>
                <a:endParaRPr lang="en-US" sz="2400" dirty="0">
                  <a:latin typeface="Times New Roman" panose="02020603050405020304" pitchFamily="18" charset="0"/>
                  <a:ea typeface="Times New Roman" panose="02020603050405020304" pitchFamily="18" charset="0"/>
                </a:endParaRPr>
              </a:p>
              <a:p>
                <a:pPr marL="0" marR="0">
                  <a:lnSpc>
                    <a:spcPct val="107000"/>
                  </a:lnSpc>
                  <a:spcBef>
                    <a:spcPts val="0"/>
                  </a:spcBef>
                  <a:spcAft>
                    <a:spcPts val="800"/>
                  </a:spcAft>
                </a:pPr>
                <a:r>
                  <a:rPr lang="en-US" sz="2400" dirty="0">
                    <a:latin typeface="Times New Roman" panose="02020603050405020304" pitchFamily="18" charset="0"/>
                    <a:ea typeface="Times New Roman" panose="02020603050405020304" pitchFamily="18" charset="0"/>
                  </a:rPr>
                  <a:t>The friction factor and D are related as follows:</a:t>
                </a:r>
              </a:p>
              <a:p>
                <a:pPr marL="0" marR="0" indent="0">
                  <a:lnSpc>
                    <a:spcPct val="107000"/>
                  </a:lnSpc>
                  <a:spcBef>
                    <a:spcPts val="1200"/>
                  </a:spcBef>
                  <a:spcAft>
                    <a:spcPts val="800"/>
                  </a:spcAft>
                  <a:buNone/>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ea typeface="Times New Roman" panose="02020603050405020304" pitchFamily="18" charset="0"/>
                            </a:rPr>
                          </m:ctrlPr>
                        </m:sSubPr>
                        <m:e>
                          <m:r>
                            <a:rPr lang="en-GB" sz="2400" b="0" i="1" smtClean="0">
                              <a:latin typeface="Cambria Math" panose="02040503050406030204" pitchFamily="18" charset="0"/>
                              <a:ea typeface="Times New Roman" panose="02020603050405020304" pitchFamily="18" charset="0"/>
                            </a:rPr>
                            <m:t>𝐻</m:t>
                          </m:r>
                        </m:e>
                        <m:sub>
                          <m:r>
                            <a:rPr lang="en-US" sz="2400" i="1">
                              <a:latin typeface="Cambria Math" panose="02040503050406030204" pitchFamily="18" charset="0"/>
                              <a:ea typeface="Times New Roman" panose="02020603050405020304" pitchFamily="18" charset="0"/>
                            </a:rPr>
                            <m:t>𝐿</m:t>
                          </m:r>
                        </m:sub>
                      </m:sSub>
                      <m:r>
                        <a:rPr lang="en-US" sz="2400" i="1">
                          <a:latin typeface="Cambria Math" panose="02040503050406030204" pitchFamily="18" charset="0"/>
                          <a:ea typeface="Times New Roman" panose="02020603050405020304" pitchFamily="18" charset="0"/>
                        </a:rPr>
                        <m:t>=</m:t>
                      </m:r>
                      <m:r>
                        <a:rPr lang="en-US" sz="2400" i="1">
                          <a:latin typeface="Cambria Math" panose="02040503050406030204" pitchFamily="18" charset="0"/>
                          <a:ea typeface="Times New Roman" panose="02020603050405020304" pitchFamily="18" charset="0"/>
                        </a:rPr>
                        <m:t>𝑓</m:t>
                      </m:r>
                      <m:f>
                        <m:fPr>
                          <m:ctrlPr>
                            <a:rPr lang="en-US" sz="2400" i="1">
                              <a:latin typeface="Cambria Math" panose="02040503050406030204" pitchFamily="18" charset="0"/>
                              <a:ea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rPr>
                            <m:t>𝐿</m:t>
                          </m:r>
                        </m:num>
                        <m:den>
                          <m:r>
                            <a:rPr lang="en-US" sz="2400" i="1">
                              <a:latin typeface="Cambria Math" panose="02040503050406030204" pitchFamily="18" charset="0"/>
                              <a:ea typeface="Times New Roman" panose="02020603050405020304" pitchFamily="18" charset="0"/>
                            </a:rPr>
                            <m:t>𝐷</m:t>
                          </m:r>
                        </m:den>
                      </m:f>
                      <m:f>
                        <m:fPr>
                          <m:ctrlPr>
                            <a:rPr lang="en-US" sz="2400" i="1">
                              <a:latin typeface="Cambria Math" panose="02040503050406030204" pitchFamily="18" charset="0"/>
                              <a:ea typeface="Times New Roman" panose="02020603050405020304" pitchFamily="18" charset="0"/>
                            </a:rPr>
                          </m:ctrlPr>
                        </m:fPr>
                        <m:num>
                          <m:sSup>
                            <m:sSupPr>
                              <m:ctrlPr>
                                <a:rPr lang="en-US" sz="2400" i="1">
                                  <a:latin typeface="Cambria Math" panose="02040503050406030204" pitchFamily="18" charset="0"/>
                                  <a:ea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rPr>
                                <m:t>𝑉</m:t>
                              </m:r>
                            </m:e>
                            <m:sup>
                              <m:r>
                                <a:rPr lang="en-US" sz="2400" i="1">
                                  <a:latin typeface="Cambria Math" panose="02040503050406030204" pitchFamily="18" charset="0"/>
                                  <a:ea typeface="Times New Roman" panose="02020603050405020304" pitchFamily="18" charset="0"/>
                                </a:rPr>
                                <m:t>2</m:t>
                              </m:r>
                            </m:sup>
                          </m:sSup>
                        </m:num>
                        <m:den>
                          <m:r>
                            <a:rPr lang="en-US" sz="2400" i="1">
                              <a:latin typeface="Cambria Math" panose="02040503050406030204" pitchFamily="18" charset="0"/>
                              <a:ea typeface="Times New Roman" panose="02020603050405020304" pitchFamily="18" charset="0"/>
                            </a:rPr>
                            <m:t>2</m:t>
                          </m:r>
                          <m:r>
                            <a:rPr lang="en-US" sz="2400" i="1">
                              <a:latin typeface="Cambria Math" panose="02040503050406030204" pitchFamily="18" charset="0"/>
                              <a:ea typeface="Times New Roman" panose="02020603050405020304" pitchFamily="18" charset="0"/>
                            </a:rPr>
                            <m:t>𝑔</m:t>
                          </m:r>
                        </m:den>
                      </m:f>
                    </m:oMath>
                  </m:oMathPara>
                </a14:m>
                <a:endParaRPr lang="en-US" sz="2400" dirty="0">
                  <a:effectLst/>
                  <a:latin typeface="Times New Roman" panose="02020603050405020304" pitchFamily="18" charset="0"/>
                  <a:ea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5F5200F0-4A9D-7AD5-1CE8-017ECF0FB51B}"/>
                  </a:ext>
                </a:extLst>
              </p:cNvPr>
              <p:cNvSpPr txBox="1">
                <a:spLocks noRot="1" noChangeAspect="1" noMove="1" noResize="1" noEditPoints="1" noAdjustHandles="1" noChangeArrowheads="1" noChangeShapeType="1" noTextEdit="1"/>
              </p:cNvSpPr>
              <p:nvPr/>
            </p:nvSpPr>
            <p:spPr>
              <a:xfrm>
                <a:off x="0" y="1446261"/>
                <a:ext cx="11625943" cy="4809202"/>
              </a:xfrm>
              <a:prstGeom prst="rect">
                <a:avLst/>
              </a:prstGeom>
              <a:blipFill>
                <a:blip r:embed="rId4"/>
                <a:stretch>
                  <a:fillRect l="-787" t="-1014" r="-1259"/>
                </a:stretch>
              </a:blipFill>
            </p:spPr>
            <p:txBody>
              <a:bodyPr/>
              <a:lstStyle/>
              <a:p>
                <a:r>
                  <a:rPr lang="en-GH">
                    <a:noFill/>
                  </a:rPr>
                  <a:t> </a:t>
                </a:r>
              </a:p>
            </p:txBody>
          </p:sp>
        </mc:Fallback>
      </mc:AlternateContent>
    </p:spTree>
    <p:extLst>
      <p:ext uri="{BB962C8B-B14F-4D97-AF65-F5344CB8AC3E}">
        <p14:creationId xmlns:p14="http://schemas.microsoft.com/office/powerpoint/2010/main" val="19038339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6159" y="0"/>
            <a:ext cx="7477760" cy="418011"/>
          </a:xfrm>
        </p:spPr>
        <p:txBody>
          <a:bodyPr>
            <a:normAutofit fontScale="90000"/>
          </a:bodyPr>
          <a:lstStyle/>
          <a:p>
            <a:pPr lvl="0" indent="-228600" algn="ctr">
              <a:lnSpc>
                <a:spcPct val="107000"/>
              </a:lnSpc>
              <a:spcBef>
                <a:spcPts val="0"/>
              </a:spcBef>
              <a:spcAft>
                <a:spcPts val="800"/>
              </a:spcAft>
              <a:tabLst>
                <a:tab pos="3447415" algn="l"/>
              </a:tabLst>
            </a:pPr>
            <a:r>
              <a:rPr lang="en-US" sz="2800" dirty="0">
                <a:solidFill>
                  <a:prstClr val="black"/>
                </a:solidFill>
                <a:latin typeface="Times New Roman" panose="02020603050405020304" pitchFamily="18" charset="0"/>
                <a:ea typeface="Times New Roman" panose="02020603050405020304" pitchFamily="18" charset="0"/>
              </a:rPr>
              <a:t> </a:t>
            </a:r>
            <a:r>
              <a:rPr lang="en-US" sz="2400" b="1" dirty="0">
                <a:solidFill>
                  <a:prstClr val="black"/>
                </a:solidFill>
                <a:latin typeface="Times New Roman" panose="02020603050405020304" pitchFamily="18" charset="0"/>
                <a:ea typeface="Times New Roman" panose="02020603050405020304" pitchFamily="18" charset="0"/>
              </a:rPr>
              <a:t>FURTHER EXAMPLES</a:t>
            </a:r>
            <a:endParaRPr lang="en-US" sz="2400" dirty="0"/>
          </a:p>
        </p:txBody>
      </p:sp>
      <p:sp>
        <p:nvSpPr>
          <p:cNvPr id="4" name="TextBox 3">
            <a:extLst>
              <a:ext uri="{FF2B5EF4-FFF2-40B4-BE49-F238E27FC236}">
                <a16:creationId xmlns:a16="http://schemas.microsoft.com/office/drawing/2014/main" id="{5F5200F0-4A9D-7AD5-1CE8-017ECF0FB51B}"/>
              </a:ext>
            </a:extLst>
          </p:cNvPr>
          <p:cNvSpPr txBox="1"/>
          <p:nvPr/>
        </p:nvSpPr>
        <p:spPr>
          <a:xfrm>
            <a:off x="0" y="523153"/>
            <a:ext cx="11625943" cy="856068"/>
          </a:xfrm>
          <a:prstGeom prst="rect">
            <a:avLst/>
          </a:prstGeom>
          <a:noFill/>
        </p:spPr>
        <p:txBody>
          <a:bodyPr wrap="square">
            <a:spAutoFit/>
          </a:bodyPr>
          <a:lstStyle/>
          <a:p>
            <a:pPr marL="0" marR="0" indent="0">
              <a:lnSpc>
                <a:spcPct val="107000"/>
              </a:lnSpc>
              <a:buNone/>
            </a:pPr>
            <a:r>
              <a:rPr lang="en-US" sz="2400" b="1" dirty="0">
                <a:effectLst/>
                <a:latin typeface="Times New Roman" panose="02020603050405020304" pitchFamily="18" charset="0"/>
                <a:ea typeface="Times New Roman" panose="02020603050405020304" pitchFamily="18" charset="0"/>
              </a:rPr>
              <a:t>Solution</a:t>
            </a:r>
          </a:p>
          <a:p>
            <a:pPr marL="0" marR="0" indent="0">
              <a:lnSpc>
                <a:spcPct val="107000"/>
              </a:lnSpc>
              <a:buNone/>
            </a:pPr>
            <a:endParaRPr lang="en-US" sz="2400" dirty="0">
              <a:effectLst/>
              <a:latin typeface="Times New Roman" panose="02020603050405020304" pitchFamily="18" charset="0"/>
              <a:ea typeface="Times New Roman" panose="02020603050405020304" pitchFamily="18" charset="0"/>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D0BF9CDA-5A30-0DBE-25EA-EAE716A77AB7}"/>
                  </a:ext>
                </a:extLst>
              </p:cNvPr>
              <p:cNvSpPr txBox="1"/>
              <p:nvPr/>
            </p:nvSpPr>
            <p:spPr>
              <a:xfrm>
                <a:off x="156754" y="1258502"/>
                <a:ext cx="10885714" cy="3982052"/>
              </a:xfrm>
              <a:prstGeom prst="rect">
                <a:avLst/>
              </a:prstGeom>
              <a:noFill/>
            </p:spPr>
            <p:txBody>
              <a:bodyPr wrap="square">
                <a:spAutoFit/>
              </a:bodyPr>
              <a:lstStyle/>
              <a:p>
                <a:pPr marL="0" marR="0" indent="0">
                  <a:lnSpc>
                    <a:spcPct val="107000"/>
                  </a:lnSpc>
                  <a:spcBef>
                    <a:spcPts val="1200"/>
                  </a:spcBef>
                  <a:spcAft>
                    <a:spcPts val="800"/>
                  </a:spcAft>
                  <a:buNone/>
                </a:pPr>
                <a14:m>
                  <m:oMathPara xmlns:m="http://schemas.openxmlformats.org/officeDocument/2006/math">
                    <m:oMathParaPr>
                      <m:jc m:val="left"/>
                    </m:oMathParaPr>
                    <m:oMath xmlns:m="http://schemas.openxmlformats.org/officeDocument/2006/math">
                      <m:sSub>
                        <m:sSubPr>
                          <m:ctrlPr>
                            <a:rPr lang="en-US" sz="2400" i="1">
                              <a:effectLst/>
                              <a:latin typeface="Cambria Math" panose="02040503050406030204" pitchFamily="18" charset="0"/>
                              <a:ea typeface="Times New Roman" panose="02020603050405020304" pitchFamily="18" charset="0"/>
                            </a:rPr>
                          </m:ctrlPr>
                        </m:sSubPr>
                        <m:e>
                          <m:r>
                            <a:rPr lang="en-GB" sz="2400" b="0" i="1" smtClean="0">
                              <a:effectLst/>
                              <a:latin typeface="Cambria Math" panose="02040503050406030204" pitchFamily="18" charset="0"/>
                              <a:ea typeface="Times New Roman" panose="02020603050405020304" pitchFamily="18" charset="0"/>
                            </a:rPr>
                            <m:t>𝐻</m:t>
                          </m:r>
                        </m:e>
                        <m:sub>
                          <m:r>
                            <a:rPr lang="en-US" sz="2400" i="1">
                              <a:effectLst/>
                              <a:latin typeface="Cambria Math" panose="02040503050406030204" pitchFamily="18" charset="0"/>
                              <a:ea typeface="Times New Roman" panose="02020603050405020304" pitchFamily="18" charset="0"/>
                            </a:rPr>
                            <m:t>𝐿</m:t>
                          </m:r>
                        </m:sub>
                      </m:sSub>
                      <m:r>
                        <a:rPr lang="en-US" sz="2400" i="1">
                          <a:effectLst/>
                          <a:latin typeface="Cambria Math" panose="02040503050406030204" pitchFamily="18" charset="0"/>
                          <a:ea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rPr>
                        <m:t>𝑓</m:t>
                      </m:r>
                      <m:f>
                        <m:fPr>
                          <m:ctrlPr>
                            <a:rPr lang="en-US" sz="2400" i="1">
                              <a:effectLst/>
                              <a:latin typeface="Cambria Math" panose="02040503050406030204" pitchFamily="18" charset="0"/>
                              <a:ea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rPr>
                            <m:t>𝐿</m:t>
                          </m:r>
                        </m:num>
                        <m:den>
                          <m:r>
                            <a:rPr lang="en-US" sz="2400" i="1">
                              <a:effectLst/>
                              <a:latin typeface="Cambria Math" panose="02040503050406030204" pitchFamily="18" charset="0"/>
                              <a:ea typeface="Times New Roman" panose="02020603050405020304" pitchFamily="18" charset="0"/>
                            </a:rPr>
                            <m:t>𝐷</m:t>
                          </m:r>
                        </m:den>
                      </m:f>
                      <m:f>
                        <m:fPr>
                          <m:ctrlPr>
                            <a:rPr lang="en-US" sz="2400" i="1">
                              <a:effectLst/>
                              <a:latin typeface="Cambria Math" panose="02040503050406030204" pitchFamily="18" charset="0"/>
                              <a:ea typeface="Times New Roman" panose="02020603050405020304" pitchFamily="18" charset="0"/>
                            </a:rPr>
                          </m:ctrlPr>
                        </m:fPr>
                        <m:num>
                          <m:sSup>
                            <m:sSupPr>
                              <m:ctrlPr>
                                <a:rPr lang="en-US" sz="2400" i="1">
                                  <a:effectLst/>
                                  <a:latin typeface="Cambria Math" panose="02040503050406030204" pitchFamily="18" charset="0"/>
                                  <a:ea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rPr>
                                <m:t>𝑉</m:t>
                              </m:r>
                            </m:e>
                            <m:sup>
                              <m:r>
                                <a:rPr lang="en-US" sz="2400" i="1">
                                  <a:effectLst/>
                                  <a:latin typeface="Cambria Math" panose="02040503050406030204" pitchFamily="18" charset="0"/>
                                  <a:ea typeface="Times New Roman" panose="02020603050405020304" pitchFamily="18" charset="0"/>
                                </a:rPr>
                                <m:t>2</m:t>
                              </m:r>
                            </m:sup>
                          </m:sSup>
                        </m:num>
                        <m:den>
                          <m:r>
                            <a:rPr lang="en-US" sz="2400" i="1">
                              <a:effectLst/>
                              <a:latin typeface="Cambria Math" panose="02040503050406030204" pitchFamily="18" charset="0"/>
                              <a:ea typeface="Times New Roman" panose="02020603050405020304" pitchFamily="18" charset="0"/>
                            </a:rPr>
                            <m:t>2</m:t>
                          </m:r>
                          <m:r>
                            <a:rPr lang="en-US" sz="2400" i="1">
                              <a:effectLst/>
                              <a:latin typeface="Cambria Math" panose="02040503050406030204" pitchFamily="18" charset="0"/>
                              <a:ea typeface="Times New Roman" panose="02020603050405020304" pitchFamily="18" charset="0"/>
                            </a:rPr>
                            <m:t>𝑔</m:t>
                          </m:r>
                        </m:den>
                      </m:f>
                      <m:r>
                        <a:rPr lang="en-US" sz="2400" b="0" i="0" smtClean="0">
                          <a:effectLst/>
                          <a:latin typeface="Cambria Math" panose="02040503050406030204" pitchFamily="18" charset="0"/>
                          <a:ea typeface="Times New Roman" panose="02020603050405020304" pitchFamily="18" charset="0"/>
                        </a:rPr>
                        <m:t>                     </m:t>
                      </m:r>
                      <m:r>
                        <a:rPr lang="en-US" sz="2400" b="0" i="1" smtClean="0">
                          <a:effectLst/>
                          <a:latin typeface="Cambria Math" panose="02040503050406030204" pitchFamily="18" charset="0"/>
                          <a:ea typeface="Cambria Math" panose="02040503050406030204" pitchFamily="18" charset="0"/>
                        </a:rPr>
                        <m:t>⟹</m:t>
                      </m:r>
                      <m:r>
                        <a:rPr lang="en-US" sz="2400" b="0" i="0" smtClean="0">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30=</m:t>
                      </m:r>
                      <m:r>
                        <a:rPr lang="en-US" sz="2400" i="1">
                          <a:effectLst/>
                          <a:latin typeface="Cambria Math" panose="02040503050406030204" pitchFamily="18" charset="0"/>
                          <a:ea typeface="Times New Roman" panose="02020603050405020304" pitchFamily="18" charset="0"/>
                        </a:rPr>
                        <m:t>𝑓</m:t>
                      </m:r>
                      <m:f>
                        <m:fPr>
                          <m:ctrlPr>
                            <a:rPr lang="en-US" sz="2400" i="1">
                              <a:effectLst/>
                              <a:latin typeface="Cambria Math" panose="02040503050406030204" pitchFamily="18" charset="0"/>
                              <a:ea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rPr>
                            <m:t>400</m:t>
                          </m:r>
                        </m:num>
                        <m:den>
                          <m:r>
                            <a:rPr lang="en-US" sz="2400" i="1">
                              <a:effectLst/>
                              <a:latin typeface="Cambria Math" panose="02040503050406030204" pitchFamily="18" charset="0"/>
                              <a:ea typeface="Times New Roman" panose="02020603050405020304" pitchFamily="18" charset="0"/>
                            </a:rPr>
                            <m:t>𝐷</m:t>
                          </m:r>
                        </m:den>
                      </m:f>
                      <m:f>
                        <m:fPr>
                          <m:ctrlPr>
                            <a:rPr lang="en-US" sz="2400" i="1">
                              <a:effectLst/>
                              <a:latin typeface="Cambria Math" panose="02040503050406030204" pitchFamily="18" charset="0"/>
                              <a:ea typeface="Times New Roman" panose="02020603050405020304" pitchFamily="18" charset="0"/>
                            </a:rPr>
                          </m:ctrlPr>
                        </m:fPr>
                        <m:num>
                          <m:sSup>
                            <m:sSupPr>
                              <m:ctrlPr>
                                <a:rPr lang="en-US" sz="2400" i="1">
                                  <a:effectLst/>
                                  <a:latin typeface="Cambria Math" panose="02040503050406030204" pitchFamily="18" charset="0"/>
                                  <a:ea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rPr>
                                <m:t>(0.00255/</m:t>
                              </m:r>
                              <m:sSup>
                                <m:sSupPr>
                                  <m:ctrlPr>
                                    <a:rPr lang="en-US" sz="2400" i="1">
                                      <a:effectLst/>
                                      <a:latin typeface="Cambria Math" panose="02040503050406030204" pitchFamily="18" charset="0"/>
                                      <a:ea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rPr>
                                    <m:t>𝐷</m:t>
                                  </m:r>
                                </m:e>
                                <m:sup>
                                  <m:r>
                                    <a:rPr lang="en-US" sz="2400" i="1">
                                      <a:effectLst/>
                                      <a:latin typeface="Cambria Math" panose="02040503050406030204" pitchFamily="18" charset="0"/>
                                      <a:ea typeface="Times New Roman" panose="02020603050405020304" pitchFamily="18" charset="0"/>
                                    </a:rPr>
                                    <m:t>2</m:t>
                                  </m:r>
                                </m:sup>
                              </m:sSup>
                              <m:r>
                                <a:rPr lang="en-US" sz="2400" i="1">
                                  <a:effectLst/>
                                  <a:latin typeface="Cambria Math" panose="02040503050406030204" pitchFamily="18" charset="0"/>
                                  <a:ea typeface="Times New Roman" panose="02020603050405020304" pitchFamily="18" charset="0"/>
                                </a:rPr>
                                <m:t>)</m:t>
                              </m:r>
                            </m:e>
                            <m:sup>
                              <m:r>
                                <a:rPr lang="en-US" sz="2400" i="1">
                                  <a:effectLst/>
                                  <a:latin typeface="Cambria Math" panose="02040503050406030204" pitchFamily="18" charset="0"/>
                                  <a:ea typeface="Times New Roman" panose="02020603050405020304" pitchFamily="18" charset="0"/>
                                </a:rPr>
                                <m:t>2</m:t>
                              </m:r>
                            </m:sup>
                          </m:sSup>
                        </m:num>
                        <m:den>
                          <m:r>
                            <a:rPr lang="en-US" sz="2400" i="1">
                              <a:effectLst/>
                              <a:latin typeface="Cambria Math" panose="02040503050406030204" pitchFamily="18" charset="0"/>
                              <a:ea typeface="Times New Roman" panose="02020603050405020304" pitchFamily="18" charset="0"/>
                            </a:rPr>
                            <m:t>2×9.8</m:t>
                          </m:r>
                        </m:den>
                      </m:f>
                    </m:oMath>
                  </m:oMathPara>
                </a14:m>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nSpc>
                    <a:spcPct val="107000"/>
                  </a:lnSpc>
                  <a:spcBef>
                    <a:spcPts val="1200"/>
                  </a:spcBef>
                  <a:spcAft>
                    <a:spcPts val="800"/>
                  </a:spcAft>
                  <a:buNone/>
                </a:pPr>
                <a14:m>
                  <m:oMathPara xmlns:m="http://schemas.openxmlformats.org/officeDocument/2006/math">
                    <m:oMathParaPr>
                      <m:jc m:val="left"/>
                    </m:oMathParaPr>
                    <m:oMath xmlns:m="http://schemas.openxmlformats.org/officeDocument/2006/math">
                      <m:sSup>
                        <m:sSupPr>
                          <m:ctrlPr>
                            <a:rPr lang="en-US" sz="2400" i="1">
                              <a:effectLst/>
                              <a:latin typeface="Cambria Math" panose="02040503050406030204" pitchFamily="18" charset="0"/>
                              <a:ea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rPr>
                            <m:t>𝐷</m:t>
                          </m:r>
                        </m:e>
                        <m:sup>
                          <m:r>
                            <a:rPr lang="en-US" sz="2400" i="1">
                              <a:effectLst/>
                              <a:latin typeface="Cambria Math" panose="02040503050406030204" pitchFamily="18" charset="0"/>
                              <a:ea typeface="Times New Roman" panose="02020603050405020304" pitchFamily="18" charset="0"/>
                            </a:rPr>
                            <m:t>5</m:t>
                          </m:r>
                        </m:sup>
                      </m:sSup>
                      <m:r>
                        <a:rPr lang="en-US" sz="2400" i="1">
                          <a:effectLst/>
                          <a:latin typeface="Cambria Math" panose="02040503050406030204" pitchFamily="18" charset="0"/>
                          <a:ea typeface="Times New Roman" panose="02020603050405020304" pitchFamily="18" charset="0"/>
                        </a:rPr>
                        <m:t>=4.42 </m:t>
                      </m:r>
                      <m:r>
                        <a:rPr lang="en-US" sz="2400" i="1" smtClean="0">
                          <a:effectLst/>
                          <a:latin typeface="Cambria Math" panose="02040503050406030204" pitchFamily="18" charset="0"/>
                          <a:ea typeface="Cambria Math" panose="02040503050406030204" pitchFamily="18" charset="0"/>
                        </a:rPr>
                        <m:t>×</m:t>
                      </m:r>
                      <m:r>
                        <a:rPr lang="en-US" sz="2400" i="1">
                          <a:effectLst/>
                          <a:latin typeface="Cambria Math" panose="02040503050406030204" pitchFamily="18" charset="0"/>
                          <a:ea typeface="Times New Roman" panose="02020603050405020304" pitchFamily="18" charset="0"/>
                        </a:rPr>
                        <m:t> </m:t>
                      </m:r>
                      <m:sSup>
                        <m:sSupPr>
                          <m:ctrlPr>
                            <a:rPr lang="en-US" sz="2400" i="1">
                              <a:effectLst/>
                              <a:latin typeface="Cambria Math" panose="02040503050406030204" pitchFamily="18" charset="0"/>
                              <a:ea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rPr>
                            <m:t>10</m:t>
                          </m:r>
                        </m:e>
                        <m:sup>
                          <m:r>
                            <a:rPr lang="en-US" sz="2400" i="1">
                              <a:effectLst/>
                              <a:latin typeface="Cambria Math" panose="02040503050406030204" pitchFamily="18" charset="0"/>
                              <a:ea typeface="Times New Roman" panose="02020603050405020304" pitchFamily="18" charset="0"/>
                            </a:rPr>
                            <m:t>−6</m:t>
                          </m:r>
                        </m:sup>
                      </m:sSup>
                      <m:r>
                        <a:rPr lang="en-US" sz="2400" i="1">
                          <a:effectLst/>
                          <a:latin typeface="Cambria Math" panose="02040503050406030204" pitchFamily="18" charset="0"/>
                          <a:ea typeface="Times New Roman" panose="02020603050405020304" pitchFamily="18" charset="0"/>
                        </a:rPr>
                        <m:t>𝑓</m:t>
                      </m:r>
                    </m:oMath>
                  </m:oMathPara>
                </a14:m>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nSpc>
                    <a:spcPct val="107000"/>
                  </a:lnSpc>
                  <a:spcBef>
                    <a:spcPts val="1200"/>
                  </a:spcBef>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The Reynolds number is </a:t>
                </a:r>
              </a:p>
              <a:p>
                <a:pPr marL="0" marR="0" indent="0">
                  <a:lnSpc>
                    <a:spcPct val="107000"/>
                  </a:lnSpc>
                  <a:spcBef>
                    <a:spcPts val="1200"/>
                  </a:spcBef>
                  <a:spcAft>
                    <a:spcPts val="800"/>
                  </a:spcAft>
                  <a:buNone/>
                </a:pPr>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ea typeface="Times New Roman" panose="02020603050405020304" pitchFamily="18" charset="0"/>
                        </a:rPr>
                        <m:t>𝑅𝑒</m:t>
                      </m:r>
                      <m:r>
                        <a:rPr lang="en-US" sz="2400" i="1">
                          <a:latin typeface="Cambria Math" panose="02040503050406030204" pitchFamily="18" charset="0"/>
                          <a:ea typeface="Times New Roman" panose="02020603050405020304" pitchFamily="18" charset="0"/>
                        </a:rPr>
                        <m:t>=</m:t>
                      </m:r>
                      <m:f>
                        <m:fPr>
                          <m:ctrlPr>
                            <a:rPr lang="en-US" sz="2400" i="1">
                              <a:latin typeface="Cambria Math" panose="02040503050406030204" pitchFamily="18" charset="0"/>
                              <a:ea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rPr>
                            <m:t>𝑉𝐷</m:t>
                          </m:r>
                        </m:num>
                        <m:den>
                          <m:r>
                            <a:rPr lang="en-US" sz="2400" i="1">
                              <a:latin typeface="Cambria Math" panose="02040503050406030204" pitchFamily="18" charset="0"/>
                              <a:ea typeface="Times New Roman" panose="02020603050405020304" pitchFamily="18" charset="0"/>
                            </a:rPr>
                            <m:t>𝑣</m:t>
                          </m:r>
                        </m:den>
                      </m:f>
                      <m:r>
                        <a:rPr lang="en-US" sz="2400" b="0" i="0" smtClean="0">
                          <a:latin typeface="Cambria Math" panose="02040503050406030204" pitchFamily="18" charset="0"/>
                          <a:ea typeface="Times New Roman" panose="02020603050405020304" pitchFamily="18" charset="0"/>
                        </a:rPr>
                        <m:t>     </m:t>
                      </m:r>
                      <m:r>
                        <a:rPr lang="en-US" sz="2400" i="1">
                          <a:latin typeface="Cambria Math" panose="02040503050406030204" pitchFamily="18" charset="0"/>
                          <a:ea typeface="Times New Roman" panose="02020603050405020304" pitchFamily="18" charset="0"/>
                        </a:rPr>
                        <m:t>=</m:t>
                      </m:r>
                      <m:f>
                        <m:fPr>
                          <m:ctrlPr>
                            <a:rPr lang="en-US" sz="2400" i="1">
                              <a:latin typeface="Cambria Math" panose="02040503050406030204" pitchFamily="18" charset="0"/>
                              <a:ea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rPr>
                            <m:t>0.00255</m:t>
                          </m:r>
                          <m:r>
                            <a:rPr lang="en-US" sz="2400" i="1">
                              <a:latin typeface="Cambria Math" panose="02040503050406030204" pitchFamily="18" charset="0"/>
                              <a:ea typeface="Times New Roman" panose="02020603050405020304" pitchFamily="18" charset="0"/>
                            </a:rPr>
                            <m:t>𝐷</m:t>
                          </m:r>
                        </m:num>
                        <m:den>
                          <m:r>
                            <a:rPr lang="en-GB" sz="2400" b="0" i="1" smtClean="0">
                              <a:latin typeface="Cambria Math" panose="02040503050406030204" pitchFamily="18" charset="0"/>
                              <a:ea typeface="Times New Roman" panose="02020603050405020304" pitchFamily="18" charset="0"/>
                            </a:rPr>
                            <m:t>1</m:t>
                          </m:r>
                          <m:r>
                            <a:rPr lang="en-US" sz="240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Times New Roman" panose="02020603050405020304" pitchFamily="18" charset="0"/>
                            </a:rPr>
                            <m:t> </m:t>
                          </m:r>
                          <m:sSup>
                            <m:sSupPr>
                              <m:ctrlPr>
                                <a:rPr lang="en-US" sz="2400" i="1">
                                  <a:latin typeface="Cambria Math" panose="02040503050406030204" pitchFamily="18" charset="0"/>
                                  <a:ea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rPr>
                                <m:t>10</m:t>
                              </m:r>
                            </m:e>
                            <m:sup>
                              <m:r>
                                <a:rPr lang="en-US" sz="2400" i="1">
                                  <a:latin typeface="Cambria Math" panose="02040503050406030204" pitchFamily="18" charset="0"/>
                                  <a:ea typeface="Times New Roman" panose="02020603050405020304" pitchFamily="18" charset="0"/>
                                </a:rPr>
                                <m:t>−6</m:t>
                              </m:r>
                            </m:sup>
                          </m:sSup>
                        </m:den>
                      </m:f>
                      <m:r>
                        <a:rPr lang="en-US" sz="2400" i="1">
                          <a:latin typeface="Cambria Math" panose="02040503050406030204" pitchFamily="18" charset="0"/>
                          <a:ea typeface="Times New Roman" panose="02020603050405020304" pitchFamily="18" charset="0"/>
                        </a:rPr>
                        <m:t>=</m:t>
                      </m:r>
                      <m:f>
                        <m:fPr>
                          <m:ctrlPr>
                            <a:rPr lang="en-US" sz="2400" i="1">
                              <a:latin typeface="Cambria Math" panose="02040503050406030204" pitchFamily="18" charset="0"/>
                              <a:ea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rPr>
                            <m:t>2550</m:t>
                          </m:r>
                        </m:num>
                        <m:den>
                          <m:r>
                            <a:rPr lang="en-US" sz="2400" i="1">
                              <a:latin typeface="Cambria Math" panose="02040503050406030204" pitchFamily="18" charset="0"/>
                              <a:ea typeface="Times New Roman" panose="02020603050405020304" pitchFamily="18" charset="0"/>
                            </a:rPr>
                            <m:t>𝐷</m:t>
                          </m:r>
                        </m:den>
                      </m:f>
                    </m:oMath>
                  </m:oMathPara>
                </a14:m>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nSpc>
                    <a:spcPct val="107000"/>
                  </a:lnSpc>
                  <a:spcBef>
                    <a:spcPts val="1200"/>
                  </a:spcBef>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Now, let us simply guess a value for </a:t>
                </a:r>
                <a14:m>
                  <m:oMath xmlns:m="http://schemas.openxmlformats.org/officeDocument/2006/math">
                    <m:r>
                      <a:rPr lang="en-US" sz="2400" i="1">
                        <a:latin typeface="Cambria Math" panose="02040503050406030204" pitchFamily="18" charset="0"/>
                        <a:ea typeface="Times New Roman" panose="02020603050405020304" pitchFamily="18" charset="0"/>
                      </a:rPr>
                      <m:t>𝑓</m:t>
                    </m:r>
                  </m:oMath>
                </a14:m>
                <a:r>
                  <a:rPr lang="en-US" sz="2400" dirty="0">
                    <a:latin typeface="Times New Roman" panose="02020603050405020304" pitchFamily="18" charset="0"/>
                    <a:ea typeface="Times New Roman" panose="02020603050405020304" pitchFamily="18" charset="0"/>
                    <a:cs typeface="Times New Roman" panose="02020603050405020304" pitchFamily="18" charset="0"/>
                  </a:rPr>
                  <a:t> and check with the relations above and the Moody diagram. </a:t>
                </a:r>
                <a:endParaRPr lang="en-US" sz="2400" dirty="0">
                  <a:latin typeface="Times New Roman" panose="02020603050405020304" pitchFamily="18" charset="0"/>
                  <a:cs typeface="Times New Roman" panose="02020603050405020304" pitchFamily="18" charset="0"/>
                </a:endParaRPr>
              </a:p>
            </p:txBody>
          </p:sp>
        </mc:Choice>
        <mc:Fallback>
          <p:sp>
            <p:nvSpPr>
              <p:cNvPr id="5" name="TextBox 4">
                <a:extLst>
                  <a:ext uri="{FF2B5EF4-FFF2-40B4-BE49-F238E27FC236}">
                    <a16:creationId xmlns:a16="http://schemas.microsoft.com/office/drawing/2014/main" id="{D0BF9CDA-5A30-0DBE-25EA-EAE716A77AB7}"/>
                  </a:ext>
                </a:extLst>
              </p:cNvPr>
              <p:cNvSpPr txBox="1">
                <a:spLocks noRot="1" noChangeAspect="1" noMove="1" noResize="1" noEditPoints="1" noAdjustHandles="1" noChangeArrowheads="1" noChangeShapeType="1" noTextEdit="1"/>
              </p:cNvSpPr>
              <p:nvPr/>
            </p:nvSpPr>
            <p:spPr>
              <a:xfrm>
                <a:off x="156754" y="1258502"/>
                <a:ext cx="10885714" cy="3982052"/>
              </a:xfrm>
              <a:prstGeom prst="rect">
                <a:avLst/>
              </a:prstGeom>
              <a:blipFill>
                <a:blip r:embed="rId3"/>
                <a:stretch>
                  <a:fillRect l="-896" b="-2446"/>
                </a:stretch>
              </a:blipFill>
            </p:spPr>
            <p:txBody>
              <a:bodyPr/>
              <a:lstStyle/>
              <a:p>
                <a:r>
                  <a:rPr lang="en-GH">
                    <a:noFill/>
                  </a:rPr>
                  <a:t> </a:t>
                </a:r>
              </a:p>
            </p:txBody>
          </p:sp>
        </mc:Fallback>
      </mc:AlternateContent>
    </p:spTree>
    <p:extLst>
      <p:ext uri="{BB962C8B-B14F-4D97-AF65-F5344CB8AC3E}">
        <p14:creationId xmlns:p14="http://schemas.microsoft.com/office/powerpoint/2010/main" val="3024388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6159" y="0"/>
            <a:ext cx="7477760" cy="418011"/>
          </a:xfrm>
        </p:spPr>
        <p:txBody>
          <a:bodyPr>
            <a:normAutofit fontScale="90000"/>
          </a:bodyPr>
          <a:lstStyle/>
          <a:p>
            <a:pPr lvl="0" indent="-228600" algn="ctr">
              <a:lnSpc>
                <a:spcPct val="107000"/>
              </a:lnSpc>
              <a:spcBef>
                <a:spcPts val="0"/>
              </a:spcBef>
              <a:spcAft>
                <a:spcPts val="800"/>
              </a:spcAft>
              <a:tabLst>
                <a:tab pos="3447415" algn="l"/>
              </a:tabLst>
            </a:pPr>
            <a:r>
              <a:rPr lang="en-US" sz="2800" dirty="0">
                <a:solidFill>
                  <a:prstClr val="black"/>
                </a:solidFill>
                <a:latin typeface="Times New Roman" panose="02020603050405020304" pitchFamily="18" charset="0"/>
                <a:ea typeface="Times New Roman" panose="02020603050405020304" pitchFamily="18" charset="0"/>
              </a:rPr>
              <a:t> </a:t>
            </a:r>
            <a:r>
              <a:rPr lang="en-US" sz="2400" b="1" dirty="0">
                <a:solidFill>
                  <a:prstClr val="black"/>
                </a:solidFill>
                <a:latin typeface="Times New Roman" panose="02020603050405020304" pitchFamily="18" charset="0"/>
                <a:ea typeface="Times New Roman" panose="02020603050405020304" pitchFamily="18" charset="0"/>
              </a:rPr>
              <a:t>FURTHER EXAMPLES</a:t>
            </a:r>
            <a:endParaRPr lang="en-US" sz="2400" dirty="0"/>
          </a:p>
        </p:txBody>
      </p:sp>
      <p:sp>
        <p:nvSpPr>
          <p:cNvPr id="4" name="TextBox 3">
            <a:extLst>
              <a:ext uri="{FF2B5EF4-FFF2-40B4-BE49-F238E27FC236}">
                <a16:creationId xmlns:a16="http://schemas.microsoft.com/office/drawing/2014/main" id="{5F5200F0-4A9D-7AD5-1CE8-017ECF0FB51B}"/>
              </a:ext>
            </a:extLst>
          </p:cNvPr>
          <p:cNvSpPr txBox="1"/>
          <p:nvPr/>
        </p:nvSpPr>
        <p:spPr>
          <a:xfrm>
            <a:off x="0" y="523153"/>
            <a:ext cx="11625943" cy="856068"/>
          </a:xfrm>
          <a:prstGeom prst="rect">
            <a:avLst/>
          </a:prstGeom>
          <a:noFill/>
        </p:spPr>
        <p:txBody>
          <a:bodyPr wrap="square">
            <a:spAutoFit/>
          </a:bodyPr>
          <a:lstStyle/>
          <a:p>
            <a:pPr marL="0" marR="0" indent="0">
              <a:lnSpc>
                <a:spcPct val="107000"/>
              </a:lnSpc>
              <a:buNone/>
            </a:pPr>
            <a:r>
              <a:rPr lang="en-US" sz="2400" b="1" dirty="0">
                <a:effectLst/>
                <a:latin typeface="Times New Roman" panose="02020603050405020304" pitchFamily="18" charset="0"/>
                <a:ea typeface="Times New Roman" panose="02020603050405020304" pitchFamily="18" charset="0"/>
              </a:rPr>
              <a:t>Solution contd.</a:t>
            </a:r>
          </a:p>
          <a:p>
            <a:pPr marL="0" marR="0" indent="0">
              <a:lnSpc>
                <a:spcPct val="107000"/>
              </a:lnSpc>
              <a:buNone/>
            </a:pPr>
            <a:endParaRPr lang="en-US" sz="2400" dirty="0">
              <a:effectLst/>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37D2857-57F7-D459-8ECD-46AAD5CF143C}"/>
                  </a:ext>
                </a:extLst>
              </p:cNvPr>
              <p:cNvSpPr txBox="1"/>
              <p:nvPr/>
            </p:nvSpPr>
            <p:spPr>
              <a:xfrm>
                <a:off x="0" y="1736153"/>
                <a:ext cx="10493829" cy="3447482"/>
              </a:xfrm>
              <a:prstGeom prst="rect">
                <a:avLst/>
              </a:prstGeom>
              <a:noFill/>
            </p:spPr>
            <p:txBody>
              <a:bodyPr wrap="square">
                <a:spAutoFit/>
              </a:bodyPr>
              <a:lstStyle/>
              <a:p>
                <a:pPr marL="0" marR="0">
                  <a:lnSpc>
                    <a:spcPct val="107000"/>
                  </a:lnSpc>
                  <a:spcBef>
                    <a:spcPts val="1200"/>
                  </a:spcBef>
                  <a:spcAft>
                    <a:spcPts val="8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 value of </a:t>
                </a:r>
                <a14:m>
                  <m:oMath xmlns:m="http://schemas.openxmlformats.org/officeDocument/2006/math">
                    <m:r>
                      <a:rPr lang="en-US" sz="2400" i="1">
                        <a:effectLst/>
                        <a:latin typeface="Cambria Math" panose="02040503050406030204" pitchFamily="18" charset="0"/>
                        <a:ea typeface="Times New Roman" panose="02020603050405020304" pitchFamily="18" charset="0"/>
                      </a:rPr>
                      <m:t>𝑓</m:t>
                    </m:r>
                    <m:r>
                      <a:rPr lang="en-US" sz="2400" i="1">
                        <a:effectLst/>
                        <a:latin typeface="Cambria Math" panose="02040503050406030204" pitchFamily="18" charset="0"/>
                        <a:ea typeface="Times New Roman" panose="02020603050405020304" pitchFamily="18" charset="0"/>
                      </a:rPr>
                      <m:t>=0.02</m:t>
                    </m:r>
                  </m:oMath>
                </a14:m>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is acceptable, yielding a diameter of 3.88 cm. Since this diameter would undoubtedly not be standard, a diameter of</a:t>
                </a:r>
              </a:p>
              <a:p>
                <a:pPr marL="0" marR="0" indent="0">
                  <a:lnSpc>
                    <a:spcPct val="107000"/>
                  </a:lnSpc>
                  <a:spcBef>
                    <a:spcPts val="1200"/>
                  </a:spcBef>
                  <a:spcAft>
                    <a:spcPts val="800"/>
                  </a:spcAft>
                  <a:buNone/>
                </a:pPr>
                <a14:m>
                  <m:oMathPara xmlns:m="http://schemas.openxmlformats.org/officeDocument/2006/math">
                    <m:oMathParaPr>
                      <m:jc m:val="left"/>
                    </m:oMathParaPr>
                    <m:oMath xmlns:m="http://schemas.openxmlformats.org/officeDocument/2006/math">
                      <m:r>
                        <a:rPr lang="en-US" sz="2400" i="1">
                          <a:effectLst/>
                          <a:latin typeface="Cambria Math" panose="02040503050406030204" pitchFamily="18" charset="0"/>
                          <a:ea typeface="Times New Roman" panose="02020603050405020304" pitchFamily="18" charset="0"/>
                        </a:rPr>
                        <m:t>𝐷</m:t>
                      </m:r>
                      <m:r>
                        <a:rPr lang="en-US" sz="2400" i="1">
                          <a:effectLst/>
                          <a:latin typeface="Cambria Math" panose="02040503050406030204" pitchFamily="18" charset="0"/>
                          <a:ea typeface="Times New Roman" panose="02020603050405020304" pitchFamily="18" charset="0"/>
                        </a:rPr>
                        <m:t>=4</m:t>
                      </m:r>
                      <m:r>
                        <a:rPr lang="en-US" sz="2400" i="1">
                          <a:effectLst/>
                          <a:latin typeface="Cambria Math" panose="02040503050406030204" pitchFamily="18" charset="0"/>
                          <a:ea typeface="Times New Roman" panose="02020603050405020304" pitchFamily="18" charset="0"/>
                        </a:rPr>
                        <m:t>𝑐𝑚</m:t>
                      </m:r>
                    </m:oMath>
                  </m:oMathPara>
                </a14:m>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nSpc>
                    <a:spcPct val="107000"/>
                  </a:lnSpc>
                  <a:spcBef>
                    <a:spcPts val="1200"/>
                  </a:spcBef>
                  <a:spcAft>
                    <a:spcPts val="8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would be the tube size selected. This tube would have a head loss less than the limit </a:t>
                </a:r>
                <a14:m>
                  <m:oMath xmlns:m="http://schemas.openxmlformats.org/officeDocument/2006/math">
                    <m:sSub>
                      <m:sSubPr>
                        <m:ctrlPr>
                          <a:rPr lang="en-US" sz="2400" i="1">
                            <a:effectLst/>
                            <a:latin typeface="Cambria Math" panose="02040503050406030204" pitchFamily="18" charset="0"/>
                            <a:ea typeface="Times New Roman" panose="02020603050405020304" pitchFamily="18" charset="0"/>
                          </a:rPr>
                        </m:ctrlPr>
                      </m:sSubPr>
                      <m:e>
                        <m:r>
                          <a:rPr lang="en-GB" sz="2400" b="0" i="1" smtClean="0">
                            <a:effectLst/>
                            <a:latin typeface="Cambria Math" panose="02040503050406030204" pitchFamily="18" charset="0"/>
                            <a:ea typeface="Times New Roman" panose="02020603050405020304" pitchFamily="18" charset="0"/>
                          </a:rPr>
                          <m:t>𝐻</m:t>
                        </m:r>
                      </m:e>
                      <m:sub>
                        <m:r>
                          <a:rPr lang="en-US" sz="2400" i="1">
                            <a:effectLst/>
                            <a:latin typeface="Cambria Math" panose="02040503050406030204" pitchFamily="18" charset="0"/>
                            <a:ea typeface="Times New Roman" panose="02020603050405020304" pitchFamily="18" charset="0"/>
                          </a:rPr>
                          <m:t>𝑙</m:t>
                        </m:r>
                      </m:sub>
                    </m:sSub>
                    <m:r>
                      <a:rPr lang="en-US" sz="2400" i="1">
                        <a:effectLst/>
                        <a:latin typeface="Cambria Math" panose="02040503050406030204" pitchFamily="18" charset="0"/>
                        <a:ea typeface="Times New Roman" panose="02020603050405020304" pitchFamily="18" charset="0"/>
                      </a:rPr>
                      <m:t>=30</m:t>
                    </m:r>
                    <m:r>
                      <a:rPr lang="en-US" sz="2400" i="1">
                        <a:effectLst/>
                        <a:latin typeface="Cambria Math" panose="02040503050406030204" pitchFamily="18" charset="0"/>
                        <a:ea typeface="Times New Roman" panose="02020603050405020304" pitchFamily="18" charset="0"/>
                      </a:rPr>
                      <m:t>𝑚</m:t>
                    </m:r>
                  </m:oMath>
                </a14:m>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imposed in the problem statement. </a:t>
                </a:r>
              </a:p>
              <a:p>
                <a:pPr marL="0" marR="0">
                  <a:lnSpc>
                    <a:spcPct val="107000"/>
                  </a:lnSpc>
                  <a:spcBef>
                    <a:spcPts val="1200"/>
                  </a:spcBef>
                  <a:spcAft>
                    <a:spcPts val="8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Any larger diameter tube would also satisfy this criterion but would be more costly, so should not be selected.</a:t>
                </a:r>
              </a:p>
            </p:txBody>
          </p:sp>
        </mc:Choice>
        <mc:Fallback xmlns="">
          <p:sp>
            <p:nvSpPr>
              <p:cNvPr id="6" name="TextBox 5">
                <a:extLst>
                  <a:ext uri="{FF2B5EF4-FFF2-40B4-BE49-F238E27FC236}">
                    <a16:creationId xmlns:a16="http://schemas.microsoft.com/office/drawing/2014/main" id="{D37D2857-57F7-D459-8ECD-46AAD5CF143C}"/>
                  </a:ext>
                </a:extLst>
              </p:cNvPr>
              <p:cNvSpPr txBox="1">
                <a:spLocks noRot="1" noChangeAspect="1" noMove="1" noResize="1" noEditPoints="1" noAdjustHandles="1" noChangeArrowheads="1" noChangeShapeType="1" noTextEdit="1"/>
              </p:cNvSpPr>
              <p:nvPr/>
            </p:nvSpPr>
            <p:spPr>
              <a:xfrm>
                <a:off x="0" y="1736153"/>
                <a:ext cx="10493829" cy="3447482"/>
              </a:xfrm>
              <a:prstGeom prst="rect">
                <a:avLst/>
              </a:prstGeom>
              <a:blipFill>
                <a:blip r:embed="rId3"/>
                <a:stretch>
                  <a:fillRect l="-872" t="-1416" r="-581" b="-3186"/>
                </a:stretch>
              </a:blipFill>
            </p:spPr>
            <p:txBody>
              <a:bodyPr/>
              <a:lstStyle/>
              <a:p>
                <a:r>
                  <a:rPr lang="en-GH">
                    <a:noFill/>
                  </a:rPr>
                  <a:t> </a:t>
                </a:r>
              </a:p>
            </p:txBody>
          </p:sp>
        </mc:Fallback>
      </mc:AlternateContent>
    </p:spTree>
    <p:extLst>
      <p:ext uri="{BB962C8B-B14F-4D97-AF65-F5344CB8AC3E}">
        <p14:creationId xmlns:p14="http://schemas.microsoft.com/office/powerpoint/2010/main" val="29144249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IW_TYPE_IMAGE" val="TextBox 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5782</TotalTime>
  <Words>4682</Words>
  <Application>Microsoft Office PowerPoint</Application>
  <PresentationFormat>Widescreen</PresentationFormat>
  <Paragraphs>579</Paragraphs>
  <Slides>63</Slides>
  <Notes>50</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63</vt:i4>
      </vt:variant>
    </vt:vector>
  </HeadingPairs>
  <TitlesOfParts>
    <vt:vector size="72" baseType="lpstr">
      <vt:lpstr>Arial</vt:lpstr>
      <vt:lpstr>Calibri</vt:lpstr>
      <vt:lpstr>Calibri Light</vt:lpstr>
      <vt:lpstr>Cambria Math</vt:lpstr>
      <vt:lpstr>Courier New</vt:lpstr>
      <vt:lpstr>Myriad Web Pro</vt:lpstr>
      <vt:lpstr>Times New Roman</vt:lpstr>
      <vt:lpstr>Wingdings</vt:lpstr>
      <vt:lpstr>Office Theme</vt:lpstr>
      <vt:lpstr>CHAPTER 3: LAMINAR FLOW</vt:lpstr>
      <vt:lpstr>INTRODUCTION</vt:lpstr>
      <vt:lpstr>Laminar vs Turbulent Flow</vt:lpstr>
      <vt:lpstr>Laminar vs Turbulent Flow</vt:lpstr>
      <vt:lpstr>Laminar vs Turbulent Flow</vt:lpstr>
      <vt:lpstr>Laminar vs Turbulent Flow</vt:lpstr>
      <vt:lpstr>ENTRANCE FLOW AND DEVELOPED FLOW</vt:lpstr>
      <vt:lpstr>ENTRANCE FLOW AND DEVELOPED FLOW</vt:lpstr>
      <vt:lpstr>ENTRANCE FLOW AND DEVELOPED FLOW</vt:lpstr>
      <vt:lpstr>LAMINAR FLOW IN A PIPE</vt:lpstr>
      <vt:lpstr>LAMINAR FLOW IN A PIPE</vt:lpstr>
      <vt:lpstr>PowerPoint Presentation</vt:lpstr>
      <vt:lpstr> OTHER PIPE FLOW QUANTITIES </vt:lpstr>
      <vt:lpstr> OTHER PIPE FLOW QUANTITIES </vt:lpstr>
      <vt:lpstr> OTHER PIPE FLOW QUANTITIES </vt:lpstr>
      <vt:lpstr> OTHER PIPE FLOW QUANTITIES </vt:lpstr>
      <vt:lpstr> OTHER PIPE FLOW QUANTITIES </vt:lpstr>
      <vt:lpstr> OTHER PIPE FLOW QUANTITIES </vt:lpstr>
      <vt:lpstr> OTHER PIPE FLOW QUANTITIES </vt:lpstr>
      <vt:lpstr> OTHER PIPE FLOW QUANTITIES </vt:lpstr>
      <vt:lpstr> OTHER PIPE FLOW QUANTITIES </vt:lpstr>
      <vt:lpstr> SOLVED EXAMPLES</vt:lpstr>
      <vt:lpstr> SOLVED EXAMPLES</vt:lpstr>
      <vt:lpstr> SOLVED EXAMPLES</vt:lpstr>
      <vt:lpstr> SOLVED EXAMPLES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Head Losses</vt:lpstr>
      <vt:lpstr>Types of Head Losses</vt:lpstr>
      <vt:lpstr>Calculation of Major Losses</vt:lpstr>
      <vt:lpstr>Calculation of Friction Factor, f</vt:lpstr>
      <vt:lpstr>Calculation of Friction Factor, f</vt:lpstr>
      <vt:lpstr>Calculation of Friction Factor, f</vt:lpstr>
      <vt:lpstr>Calculation of Friction Factor (Moody Chart)</vt:lpstr>
      <vt:lpstr>Calculation of Friction Factor (Moody Chart)</vt:lpstr>
      <vt:lpstr>Calculation of Friction Factor (Moody Chart)</vt:lpstr>
      <vt:lpstr>PowerPoint Presentation</vt:lpstr>
      <vt:lpstr>Roughness, e</vt:lpstr>
      <vt:lpstr>Summary of Major Head Losses</vt:lpstr>
      <vt:lpstr>Calculation of Minor Losses</vt:lpstr>
      <vt:lpstr>Minor Loss: Contraction and Expansion</vt:lpstr>
      <vt:lpstr>Minor Loss: Pipe Entrances</vt:lpstr>
      <vt:lpstr>Minor Loss: Valves and Fittings</vt:lpstr>
      <vt:lpstr>Solution of Pipe Flow Problems: Single Path</vt:lpstr>
      <vt:lpstr>Solution of Pipe Flow Problems: Single Path</vt:lpstr>
      <vt:lpstr>Noncircular Ducts</vt:lpstr>
      <vt:lpstr>Noncircular Ducts</vt:lpstr>
      <vt:lpstr> FURTHER EXAMPLES</vt:lpstr>
      <vt:lpstr>PowerPoint Presentation</vt:lpstr>
      <vt:lpstr> FURTHER EXAMPLES</vt:lpstr>
      <vt:lpstr> FURTHER EXAMPLES</vt:lpstr>
      <vt:lpstr> FURTHER EXAMPLES</vt:lpstr>
      <vt:lpstr> FURTHER EXAMPLES</vt:lpstr>
      <vt:lpstr> FURTHER EXAMPLES</vt:lpstr>
      <vt:lpstr> FURTHER EXAMPLES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korankye</dc:creator>
  <cp:lastModifiedBy>Godwin Tay</cp:lastModifiedBy>
  <cp:revision>220</cp:revision>
  <dcterms:created xsi:type="dcterms:W3CDTF">2016-01-22T21:30:32Z</dcterms:created>
  <dcterms:modified xsi:type="dcterms:W3CDTF">2024-06-14T05:01:08Z</dcterms:modified>
</cp:coreProperties>
</file>