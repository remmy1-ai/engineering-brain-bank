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950075" cx="12192000"/>
  <p:notesSz cx="6858000" cy="9144000"/>
  <p:embeddedFontLst>
    <p:embeddedFont>
      <p:font typeface="Helvetica Neue"/>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ogcXuvHJO6t0r972ujWwBRfhf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HelveticaNeue-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elveticaNeue-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p:nvPr>
            <p:ph idx="2" type="sldImg"/>
          </p:nvPr>
        </p:nvSpPr>
        <p:spPr>
          <a:xfrm>
            <a:off x="722313" y="1143000"/>
            <a:ext cx="54133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www.knust.edu.gh/" TargetMode="External"/><Relationship Id="rId4" Type="http://schemas.openxmlformats.org/officeDocument/2006/relationships/hyperlink" Target="https://twitter.com/_knust_" TargetMode="External"/><Relationship Id="rId5" Type="http://schemas.openxmlformats.org/officeDocument/2006/relationships/image" Target="../media/image6.jpg"/><Relationship Id="rId6" Type="http://schemas.openxmlformats.org/officeDocument/2006/relationships/hyperlink" Target="https://www.facebook.com/knust.Ghana/" TargetMode="External"/><Relationship Id="rId7"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www.knust.edu.gh/" TargetMode="External"/><Relationship Id="rId4" Type="http://schemas.openxmlformats.org/officeDocument/2006/relationships/hyperlink" Target="https://twitter.com/_knust_" TargetMode="External"/><Relationship Id="rId5" Type="http://schemas.openxmlformats.org/officeDocument/2006/relationships/image" Target="../media/image6.jpg"/><Relationship Id="rId6" Type="http://schemas.openxmlformats.org/officeDocument/2006/relationships/hyperlink" Target="https://www.facebook.com/knust.Ghana/" TargetMode="External"/><Relationship Id="rId7"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1524000" y="1137432"/>
            <a:ext cx="9144000" cy="24196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524000" y="3650399"/>
            <a:ext cx="9144000" cy="167799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5"/>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1" name="Shape 21"/>
        <p:cNvGrpSpPr/>
        <p:nvPr/>
      </p:nvGrpSpPr>
      <p:grpSpPr>
        <a:xfrm>
          <a:off x="0" y="0"/>
          <a:ext cx="0" cy="0"/>
          <a:chOff x="0" y="0"/>
          <a:chExt cx="0" cy="0"/>
        </a:xfrm>
      </p:grpSpPr>
      <p:sp>
        <p:nvSpPr>
          <p:cNvPr id="22" name="Google Shape;22;p26"/>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6"/>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6"/>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5" name="Google Shape;25;p26"/>
          <p:cNvGrpSpPr/>
          <p:nvPr/>
        </p:nvGrpSpPr>
        <p:grpSpPr>
          <a:xfrm>
            <a:off x="0" y="6073407"/>
            <a:ext cx="12192000" cy="876671"/>
            <a:chOff x="0" y="5992943"/>
            <a:chExt cx="9144000" cy="865057"/>
          </a:xfrm>
        </p:grpSpPr>
        <p:sp>
          <p:nvSpPr>
            <p:cNvPr id="26" name="Google Shape;26;p26"/>
            <p:cNvSpPr/>
            <p:nvPr/>
          </p:nvSpPr>
          <p:spPr>
            <a:xfrm>
              <a:off x="0" y="6377674"/>
              <a:ext cx="9144000" cy="480326"/>
            </a:xfrm>
            <a:prstGeom prst="rect">
              <a:avLst/>
            </a:prstGeom>
            <a:solidFill>
              <a:srgbClr val="DBD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24" u="none" cap="none" strike="noStrike">
                <a:solidFill>
                  <a:schemeClr val="lt1"/>
                </a:solidFill>
                <a:latin typeface="Calibri"/>
                <a:ea typeface="Calibri"/>
                <a:cs typeface="Calibri"/>
                <a:sym typeface="Calibri"/>
              </a:endParaRPr>
            </a:p>
          </p:txBody>
        </p:sp>
        <p:sp>
          <p:nvSpPr>
            <p:cNvPr id="27" name="Google Shape;27;p26"/>
            <p:cNvSpPr/>
            <p:nvPr/>
          </p:nvSpPr>
          <p:spPr>
            <a:xfrm>
              <a:off x="0" y="5992943"/>
              <a:ext cx="9144000" cy="363407"/>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24" u="none" cap="none" strike="noStrike">
                <a:solidFill>
                  <a:schemeClr val="lt1"/>
                </a:solidFill>
                <a:latin typeface="Calibri"/>
                <a:ea typeface="Calibri"/>
                <a:cs typeface="Calibri"/>
                <a:sym typeface="Calibri"/>
              </a:endParaRPr>
            </a:p>
          </p:txBody>
        </p:sp>
        <p:pic>
          <p:nvPicPr>
            <p:cNvPr descr="KNUST_logo Vector.png" id="28" name="Google Shape;28;p26"/>
            <p:cNvPicPr preferRelativeResize="0"/>
            <p:nvPr/>
          </p:nvPicPr>
          <p:blipFill rotWithShape="1">
            <a:blip r:embed="rId2">
              <a:alphaModFix/>
            </a:blip>
            <a:srcRect b="0" l="0" r="0" t="0"/>
            <a:stretch/>
          </p:blipFill>
          <p:spPr>
            <a:xfrm>
              <a:off x="6947208" y="6021427"/>
              <a:ext cx="205238" cy="283189"/>
            </a:xfrm>
            <a:prstGeom prst="rect">
              <a:avLst/>
            </a:prstGeom>
            <a:noFill/>
            <a:ln>
              <a:noFill/>
            </a:ln>
          </p:spPr>
        </p:pic>
        <p:sp>
          <p:nvSpPr>
            <p:cNvPr id="29" name="Google Shape;29;p26">
              <a:hlinkClick r:id="rId3"/>
            </p:cNvPr>
            <p:cNvSpPr txBox="1"/>
            <p:nvPr/>
          </p:nvSpPr>
          <p:spPr>
            <a:xfrm>
              <a:off x="7137936" y="6036146"/>
              <a:ext cx="1548864" cy="2757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16" u="none" cap="none" strike="noStrike">
                  <a:solidFill>
                    <a:schemeClr val="lt1"/>
                  </a:solidFill>
                  <a:latin typeface="Helvetica Neue"/>
                  <a:ea typeface="Helvetica Neue"/>
                  <a:cs typeface="Helvetica Neue"/>
                  <a:sym typeface="Helvetica Neue"/>
                </a:rPr>
                <a:t>www.knust.edu.gh</a:t>
              </a:r>
              <a:endParaRPr sz="1216">
                <a:solidFill>
                  <a:schemeClr val="lt1"/>
                </a:solidFill>
                <a:latin typeface="Helvetica Neue"/>
                <a:ea typeface="Helvetica Neue"/>
                <a:cs typeface="Helvetica Neue"/>
                <a:sym typeface="Helvetica Neue"/>
              </a:endParaRPr>
            </a:p>
          </p:txBody>
        </p:sp>
        <p:pic>
          <p:nvPicPr>
            <p:cNvPr id="30" name="Google Shape;30;p26">
              <a:hlinkClick r:id="rId4"/>
            </p:cNvPr>
            <p:cNvPicPr preferRelativeResize="0"/>
            <p:nvPr/>
          </p:nvPicPr>
          <p:blipFill rotWithShape="1">
            <a:blip r:embed="rId5">
              <a:alphaModFix/>
            </a:blip>
            <a:srcRect b="0" l="0" r="0" t="0"/>
            <a:stretch/>
          </p:blipFill>
          <p:spPr>
            <a:xfrm>
              <a:off x="6561258" y="6042056"/>
              <a:ext cx="268162" cy="268162"/>
            </a:xfrm>
            <a:prstGeom prst="rect">
              <a:avLst/>
            </a:prstGeom>
            <a:noFill/>
            <a:ln>
              <a:noFill/>
            </a:ln>
          </p:spPr>
        </p:pic>
        <p:pic>
          <p:nvPicPr>
            <p:cNvPr id="31" name="Google Shape;31;p26">
              <a:hlinkClick r:id="rId6"/>
            </p:cNvPr>
            <p:cNvPicPr preferRelativeResize="0"/>
            <p:nvPr/>
          </p:nvPicPr>
          <p:blipFill rotWithShape="1">
            <a:blip r:embed="rId7">
              <a:alphaModFix/>
            </a:blip>
            <a:srcRect b="0" l="0" r="0" t="0"/>
            <a:stretch/>
          </p:blipFill>
          <p:spPr>
            <a:xfrm>
              <a:off x="6197791" y="6029719"/>
              <a:ext cx="292217" cy="292217"/>
            </a:xfrm>
            <a:prstGeom prst="rect">
              <a:avLst/>
            </a:prstGeom>
            <a:noFill/>
            <a:ln>
              <a:noFill/>
            </a:ln>
          </p:spPr>
        </p:pic>
      </p:grpSp>
      <p:sp>
        <p:nvSpPr>
          <p:cNvPr id="32" name="Google Shape;32;p26"/>
          <p:cNvSpPr txBox="1"/>
          <p:nvPr>
            <p:ph type="title"/>
          </p:nvPr>
        </p:nvSpPr>
        <p:spPr>
          <a:xfrm>
            <a:off x="609600" y="278325"/>
            <a:ext cx="10972800" cy="11583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27"/>
          <p:cNvSpPr txBox="1"/>
          <p:nvPr>
            <p:ph type="title"/>
          </p:nvPr>
        </p:nvSpPr>
        <p:spPr>
          <a:xfrm>
            <a:off x="838200" y="370028"/>
            <a:ext cx="10515600" cy="1343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txBox="1"/>
          <p:nvPr>
            <p:ph idx="1" type="body"/>
          </p:nvPr>
        </p:nvSpPr>
        <p:spPr>
          <a:xfrm>
            <a:off x="838200" y="1850138"/>
            <a:ext cx="10515600" cy="440975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7"/>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28"/>
          <p:cNvSpPr txBox="1"/>
          <p:nvPr>
            <p:ph type="title"/>
          </p:nvPr>
        </p:nvSpPr>
        <p:spPr>
          <a:xfrm>
            <a:off x="831850" y="1732693"/>
            <a:ext cx="10515600" cy="28910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8"/>
          <p:cNvSpPr txBox="1"/>
          <p:nvPr>
            <p:ph idx="1" type="body"/>
          </p:nvPr>
        </p:nvSpPr>
        <p:spPr>
          <a:xfrm>
            <a:off x="831850" y="4651081"/>
            <a:ext cx="10515600" cy="15203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28"/>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29"/>
          <p:cNvSpPr txBox="1"/>
          <p:nvPr>
            <p:ph type="title"/>
          </p:nvPr>
        </p:nvSpPr>
        <p:spPr>
          <a:xfrm>
            <a:off x="838200" y="370028"/>
            <a:ext cx="10515600" cy="1343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9"/>
          <p:cNvSpPr txBox="1"/>
          <p:nvPr>
            <p:ph idx="1" type="body"/>
          </p:nvPr>
        </p:nvSpPr>
        <p:spPr>
          <a:xfrm>
            <a:off x="838200" y="1850138"/>
            <a:ext cx="5181600" cy="440975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9"/>
          <p:cNvSpPr txBox="1"/>
          <p:nvPr>
            <p:ph idx="2" type="body"/>
          </p:nvPr>
        </p:nvSpPr>
        <p:spPr>
          <a:xfrm>
            <a:off x="6172200" y="1850138"/>
            <a:ext cx="5181600" cy="440975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9"/>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9"/>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9"/>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30"/>
          <p:cNvSpPr txBox="1"/>
          <p:nvPr>
            <p:ph type="title"/>
          </p:nvPr>
        </p:nvSpPr>
        <p:spPr>
          <a:xfrm>
            <a:off x="839788" y="370028"/>
            <a:ext cx="10515600" cy="1343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0"/>
          <p:cNvSpPr txBox="1"/>
          <p:nvPr>
            <p:ph idx="1" type="body"/>
          </p:nvPr>
        </p:nvSpPr>
        <p:spPr>
          <a:xfrm>
            <a:off x="839791" y="1703734"/>
            <a:ext cx="5157787" cy="83497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30"/>
          <p:cNvSpPr txBox="1"/>
          <p:nvPr>
            <p:ph idx="2" type="body"/>
          </p:nvPr>
        </p:nvSpPr>
        <p:spPr>
          <a:xfrm>
            <a:off x="839791" y="2538710"/>
            <a:ext cx="5157787" cy="373405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0"/>
          <p:cNvSpPr txBox="1"/>
          <p:nvPr>
            <p:ph idx="3" type="body"/>
          </p:nvPr>
        </p:nvSpPr>
        <p:spPr>
          <a:xfrm>
            <a:off x="6172200" y="1703734"/>
            <a:ext cx="5183188" cy="83497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30"/>
          <p:cNvSpPr txBox="1"/>
          <p:nvPr>
            <p:ph idx="4" type="body"/>
          </p:nvPr>
        </p:nvSpPr>
        <p:spPr>
          <a:xfrm>
            <a:off x="6172200" y="2538710"/>
            <a:ext cx="5183188" cy="373405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0"/>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31"/>
          <p:cNvSpPr txBox="1"/>
          <p:nvPr>
            <p:ph type="title"/>
          </p:nvPr>
        </p:nvSpPr>
        <p:spPr>
          <a:xfrm>
            <a:off x="838200" y="370028"/>
            <a:ext cx="10515600" cy="1343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1"/>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32"/>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2"/>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2"/>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33"/>
          <p:cNvSpPr txBox="1"/>
          <p:nvPr>
            <p:ph type="title"/>
          </p:nvPr>
        </p:nvSpPr>
        <p:spPr>
          <a:xfrm>
            <a:off x="839793" y="463338"/>
            <a:ext cx="3932237" cy="16216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3"/>
          <p:cNvSpPr txBox="1"/>
          <p:nvPr>
            <p:ph idx="1" type="body"/>
          </p:nvPr>
        </p:nvSpPr>
        <p:spPr>
          <a:xfrm>
            <a:off x="5183188" y="1000683"/>
            <a:ext cx="6172200" cy="493905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33"/>
          <p:cNvSpPr txBox="1"/>
          <p:nvPr>
            <p:ph idx="2" type="body"/>
          </p:nvPr>
        </p:nvSpPr>
        <p:spPr>
          <a:xfrm>
            <a:off x="839793" y="2085023"/>
            <a:ext cx="3932237" cy="38627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33"/>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3"/>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34"/>
          <p:cNvSpPr txBox="1"/>
          <p:nvPr>
            <p:ph type="title"/>
          </p:nvPr>
        </p:nvSpPr>
        <p:spPr>
          <a:xfrm>
            <a:off x="839793" y="463338"/>
            <a:ext cx="3932237" cy="16216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4"/>
          <p:cNvSpPr/>
          <p:nvPr>
            <p:ph idx="2" type="pic"/>
          </p:nvPr>
        </p:nvSpPr>
        <p:spPr>
          <a:xfrm>
            <a:off x="5183188" y="1000683"/>
            <a:ext cx="6172200" cy="4939058"/>
          </a:xfrm>
          <a:prstGeom prst="rect">
            <a:avLst/>
          </a:prstGeom>
          <a:noFill/>
          <a:ln>
            <a:noFill/>
          </a:ln>
        </p:spPr>
      </p:sp>
      <p:sp>
        <p:nvSpPr>
          <p:cNvPr id="80" name="Google Shape;80;p34"/>
          <p:cNvSpPr txBox="1"/>
          <p:nvPr>
            <p:ph idx="1" type="body"/>
          </p:nvPr>
        </p:nvSpPr>
        <p:spPr>
          <a:xfrm>
            <a:off x="839793" y="2085023"/>
            <a:ext cx="3932237" cy="38627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34"/>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35"/>
          <p:cNvSpPr txBox="1"/>
          <p:nvPr>
            <p:ph type="title"/>
          </p:nvPr>
        </p:nvSpPr>
        <p:spPr>
          <a:xfrm>
            <a:off x="838200" y="370028"/>
            <a:ext cx="10515600" cy="1343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5"/>
          <p:cNvSpPr txBox="1"/>
          <p:nvPr>
            <p:ph idx="1" type="body"/>
          </p:nvPr>
        </p:nvSpPr>
        <p:spPr>
          <a:xfrm rot="5400000">
            <a:off x="3891121" y="-1202782"/>
            <a:ext cx="4409759"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5"/>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5"/>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5"/>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36"/>
          <p:cNvSpPr txBox="1"/>
          <p:nvPr>
            <p:ph type="title"/>
          </p:nvPr>
        </p:nvSpPr>
        <p:spPr>
          <a:xfrm rot="5400000">
            <a:off x="7094417" y="2000513"/>
            <a:ext cx="5889867"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6"/>
          <p:cNvSpPr txBox="1"/>
          <p:nvPr>
            <p:ph idx="1" type="body"/>
          </p:nvPr>
        </p:nvSpPr>
        <p:spPr>
          <a:xfrm rot="5400000">
            <a:off x="1760417" y="-552187"/>
            <a:ext cx="588986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6"/>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6"/>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6"/>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96" name="Shape 96"/>
        <p:cNvGrpSpPr/>
        <p:nvPr/>
      </p:nvGrpSpPr>
      <p:grpSpPr>
        <a:xfrm>
          <a:off x="0" y="0"/>
          <a:ext cx="0" cy="0"/>
          <a:chOff x="0" y="0"/>
          <a:chExt cx="0" cy="0"/>
        </a:xfrm>
      </p:grpSpPr>
      <p:sp>
        <p:nvSpPr>
          <p:cNvPr id="97" name="Google Shape;97;p37"/>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7"/>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7"/>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00" name="Google Shape;100;p37"/>
          <p:cNvGrpSpPr/>
          <p:nvPr/>
        </p:nvGrpSpPr>
        <p:grpSpPr>
          <a:xfrm>
            <a:off x="0" y="6073407"/>
            <a:ext cx="12192000" cy="876671"/>
            <a:chOff x="0" y="5992943"/>
            <a:chExt cx="9144000" cy="865057"/>
          </a:xfrm>
        </p:grpSpPr>
        <p:sp>
          <p:nvSpPr>
            <p:cNvPr id="101" name="Google Shape;101;p37"/>
            <p:cNvSpPr/>
            <p:nvPr/>
          </p:nvSpPr>
          <p:spPr>
            <a:xfrm>
              <a:off x="0" y="6377674"/>
              <a:ext cx="9144000" cy="480326"/>
            </a:xfrm>
            <a:prstGeom prst="rect">
              <a:avLst/>
            </a:prstGeom>
            <a:solidFill>
              <a:srgbClr val="DBD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24">
                <a:solidFill>
                  <a:schemeClr val="lt1"/>
                </a:solidFill>
                <a:latin typeface="Calibri"/>
                <a:ea typeface="Calibri"/>
                <a:cs typeface="Calibri"/>
                <a:sym typeface="Calibri"/>
              </a:endParaRPr>
            </a:p>
          </p:txBody>
        </p:sp>
        <p:sp>
          <p:nvSpPr>
            <p:cNvPr id="102" name="Google Shape;102;p37"/>
            <p:cNvSpPr/>
            <p:nvPr/>
          </p:nvSpPr>
          <p:spPr>
            <a:xfrm>
              <a:off x="0" y="5992943"/>
              <a:ext cx="9144000" cy="363407"/>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24">
                <a:solidFill>
                  <a:schemeClr val="lt1"/>
                </a:solidFill>
                <a:latin typeface="Calibri"/>
                <a:ea typeface="Calibri"/>
                <a:cs typeface="Calibri"/>
                <a:sym typeface="Calibri"/>
              </a:endParaRPr>
            </a:p>
          </p:txBody>
        </p:sp>
        <p:pic>
          <p:nvPicPr>
            <p:cNvPr descr="KNUST_logo Vector.png" id="103" name="Google Shape;103;p37"/>
            <p:cNvPicPr preferRelativeResize="0"/>
            <p:nvPr/>
          </p:nvPicPr>
          <p:blipFill rotWithShape="1">
            <a:blip r:embed="rId2">
              <a:alphaModFix/>
            </a:blip>
            <a:srcRect b="0" l="0" r="0" t="0"/>
            <a:stretch/>
          </p:blipFill>
          <p:spPr>
            <a:xfrm>
              <a:off x="6947208" y="6021427"/>
              <a:ext cx="205238" cy="283189"/>
            </a:xfrm>
            <a:prstGeom prst="rect">
              <a:avLst/>
            </a:prstGeom>
            <a:noFill/>
            <a:ln>
              <a:noFill/>
            </a:ln>
          </p:spPr>
        </p:pic>
        <p:sp>
          <p:nvSpPr>
            <p:cNvPr id="104" name="Google Shape;104;p37">
              <a:hlinkClick r:id="rId3"/>
            </p:cNvPr>
            <p:cNvSpPr txBox="1"/>
            <p:nvPr/>
          </p:nvSpPr>
          <p:spPr>
            <a:xfrm>
              <a:off x="7137936" y="6036146"/>
              <a:ext cx="1548864" cy="2757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16">
                  <a:solidFill>
                    <a:schemeClr val="lt1"/>
                  </a:solidFill>
                  <a:latin typeface="Helvetica Neue"/>
                  <a:ea typeface="Helvetica Neue"/>
                  <a:cs typeface="Helvetica Neue"/>
                  <a:sym typeface="Helvetica Neue"/>
                </a:rPr>
                <a:t>www.knust.edu.gh</a:t>
              </a:r>
              <a:endParaRPr sz="1216">
                <a:solidFill>
                  <a:schemeClr val="lt1"/>
                </a:solidFill>
                <a:latin typeface="Helvetica Neue"/>
                <a:ea typeface="Helvetica Neue"/>
                <a:cs typeface="Helvetica Neue"/>
                <a:sym typeface="Helvetica Neue"/>
              </a:endParaRPr>
            </a:p>
          </p:txBody>
        </p:sp>
        <p:pic>
          <p:nvPicPr>
            <p:cNvPr id="105" name="Google Shape;105;p37">
              <a:hlinkClick r:id="rId4"/>
            </p:cNvPr>
            <p:cNvPicPr preferRelativeResize="0"/>
            <p:nvPr/>
          </p:nvPicPr>
          <p:blipFill rotWithShape="1">
            <a:blip r:embed="rId5">
              <a:alphaModFix/>
            </a:blip>
            <a:srcRect b="0" l="0" r="0" t="0"/>
            <a:stretch/>
          </p:blipFill>
          <p:spPr>
            <a:xfrm>
              <a:off x="6561258" y="6042056"/>
              <a:ext cx="268162" cy="268162"/>
            </a:xfrm>
            <a:prstGeom prst="rect">
              <a:avLst/>
            </a:prstGeom>
            <a:noFill/>
            <a:ln>
              <a:noFill/>
            </a:ln>
          </p:spPr>
        </p:pic>
        <p:pic>
          <p:nvPicPr>
            <p:cNvPr id="106" name="Google Shape;106;p37">
              <a:hlinkClick r:id="rId6"/>
            </p:cNvPr>
            <p:cNvPicPr preferRelativeResize="0"/>
            <p:nvPr/>
          </p:nvPicPr>
          <p:blipFill rotWithShape="1">
            <a:blip r:embed="rId7">
              <a:alphaModFix/>
            </a:blip>
            <a:srcRect b="0" l="0" r="0" t="0"/>
            <a:stretch/>
          </p:blipFill>
          <p:spPr>
            <a:xfrm>
              <a:off x="6197791" y="6029719"/>
              <a:ext cx="292217" cy="292217"/>
            </a:xfrm>
            <a:prstGeom prst="rect">
              <a:avLst/>
            </a:prstGeom>
            <a:noFill/>
            <a:ln>
              <a:noFill/>
            </a:ln>
          </p:spPr>
        </p:pic>
      </p:grpSp>
      <p:sp>
        <p:nvSpPr>
          <p:cNvPr id="107" name="Google Shape;107;p37"/>
          <p:cNvSpPr txBox="1"/>
          <p:nvPr>
            <p:ph type="title"/>
          </p:nvPr>
        </p:nvSpPr>
        <p:spPr>
          <a:xfrm>
            <a:off x="609600" y="278325"/>
            <a:ext cx="10972800" cy="11583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70028"/>
            <a:ext cx="10515600" cy="134336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38200" y="1850138"/>
            <a:ext cx="10515600" cy="4409759"/>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838200" y="6441692"/>
            <a:ext cx="2743200" cy="37002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038600" y="6441692"/>
            <a:ext cx="4114800" cy="37002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idx="12" type="sldNum"/>
          </p:nvPr>
        </p:nvSpPr>
        <p:spPr>
          <a:xfrm>
            <a:off x="10588432" y="6441693"/>
            <a:ext cx="889541"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
        <p:nvSpPr>
          <p:cNvPr id="113" name="Google Shape;113;p1"/>
          <p:cNvSpPr txBox="1"/>
          <p:nvPr/>
        </p:nvSpPr>
        <p:spPr>
          <a:xfrm>
            <a:off x="277092" y="317598"/>
            <a:ext cx="11600872" cy="1705165"/>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b" bIns="46325" lIns="92650" spcFirstLastPara="1" rIns="92650" wrap="square" tIns="46325">
            <a:noAutofit/>
          </a:bodyPr>
          <a:lstStyle/>
          <a:p>
            <a:pPr indent="0" lvl="0" marL="0" marR="0" rtl="0" algn="ctr">
              <a:lnSpc>
                <a:spcPct val="15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KWAME NKRUMAH UNIVERSITY OF SCIENCE AND TECHNOLOGY, KUMASI </a:t>
            </a:r>
            <a:endParaRPr/>
          </a:p>
        </p:txBody>
      </p:sp>
      <p:sp>
        <p:nvSpPr>
          <p:cNvPr id="114" name="Google Shape;114;p1"/>
          <p:cNvSpPr txBox="1"/>
          <p:nvPr/>
        </p:nvSpPr>
        <p:spPr>
          <a:xfrm>
            <a:off x="494145" y="5494222"/>
            <a:ext cx="11600872" cy="6612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Dr. Elvis Twumasi</a:t>
            </a:r>
            <a:endParaRPr/>
          </a:p>
        </p:txBody>
      </p:sp>
      <p:sp>
        <p:nvSpPr>
          <p:cNvPr id="115" name="Google Shape;115;p1"/>
          <p:cNvSpPr txBox="1"/>
          <p:nvPr/>
        </p:nvSpPr>
        <p:spPr>
          <a:xfrm>
            <a:off x="494145" y="2191749"/>
            <a:ext cx="11383819"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0" sz="3600" u="none" cap="none" strike="noStrike">
              <a:solidFill>
                <a:schemeClr val="accent1"/>
              </a:solidFill>
              <a:latin typeface="Times New Roman"/>
              <a:ea typeface="Times New Roman"/>
              <a:cs typeface="Times New Roman"/>
              <a:sym typeface="Times New Roman"/>
            </a:endParaRPr>
          </a:p>
          <a:p>
            <a:pPr indent="0" lvl="1" marL="457200" marR="0" rtl="0" algn="ctr">
              <a:spcBef>
                <a:spcPts val="1200"/>
              </a:spcBef>
              <a:spcAft>
                <a:spcPts val="0"/>
              </a:spcAft>
              <a:buNone/>
            </a:pPr>
            <a:r>
              <a:rPr b="1" i="0" lang="en-US" sz="3200" u="none" cap="none" strike="noStrike">
                <a:solidFill>
                  <a:schemeClr val="accent1"/>
                </a:solidFill>
                <a:latin typeface="Times New Roman"/>
                <a:ea typeface="Times New Roman"/>
                <a:cs typeface="Times New Roman"/>
                <a:sym typeface="Times New Roman"/>
              </a:rPr>
              <a:t>MME 386</a:t>
            </a:r>
            <a:endParaRPr b="0" i="0" sz="3200" u="none" cap="none" strike="noStrike">
              <a:solidFill>
                <a:schemeClr val="accen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 name="Google Shape;122;p2"/>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Ship Steering System</a:t>
            </a:r>
            <a:endParaRPr/>
          </a:p>
        </p:txBody>
      </p:sp>
      <p:sp>
        <p:nvSpPr>
          <p:cNvPr id="123" name="Google Shape;123;p2"/>
          <p:cNvSpPr txBox="1"/>
          <p:nvPr/>
        </p:nvSpPr>
        <p:spPr>
          <a:xfrm>
            <a:off x="838200" y="891837"/>
            <a:ext cx="10959214" cy="2246769"/>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Welcome aboard! </a:t>
            </a:r>
            <a:endParaRPr/>
          </a:p>
          <a:p>
            <a:pPr indent="-111773" lvl="0" marL="289573" marR="0" rtl="0" algn="just">
              <a:spcBef>
                <a:spcPts val="0"/>
              </a:spcBef>
              <a:spcAft>
                <a:spcPts val="0"/>
              </a:spcAft>
              <a:buClr>
                <a:schemeClr val="dk1"/>
              </a:buClr>
              <a:buSzPts val="2800"/>
              <a:buFont typeface="Calibri"/>
              <a:buNone/>
            </a:pPr>
            <a:r>
              <a:t/>
            </a:r>
            <a:endParaRPr sz="2800">
              <a:solidFill>
                <a:srgbClr val="FF0000"/>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steering gear is responsible for moving the rudder. These systems allow for precise control over the movement of the rudder, which is essential for safe navigation. </a:t>
            </a:r>
            <a:endParaRPr/>
          </a:p>
        </p:txBody>
      </p:sp>
      <p:sp>
        <p:nvSpPr>
          <p:cNvPr id="124" name="Google Shape;124;p2"/>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1" name="Google Shape;131;p3"/>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Ship Steering System</a:t>
            </a:r>
            <a:endParaRPr/>
          </a:p>
        </p:txBody>
      </p:sp>
      <p:sp>
        <p:nvSpPr>
          <p:cNvPr id="132" name="Google Shape;132;p3"/>
          <p:cNvSpPr txBox="1"/>
          <p:nvPr/>
        </p:nvSpPr>
        <p:spPr>
          <a:xfrm>
            <a:off x="838200" y="891837"/>
            <a:ext cx="10959214" cy="3108543"/>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rudder is the most visible component of the steering system, as it is the part that actually turns the ship. It is attached to the stern of the ship and can be moved left or right using the steering gear.</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steering gear system generates a torsional force at a certain scale which is then, in turn, is transmitted to the rudder stock that turns the rudder.</a:t>
            </a:r>
            <a:endParaRPr/>
          </a:p>
        </p:txBody>
      </p:sp>
      <p:sp>
        <p:nvSpPr>
          <p:cNvPr id="133" name="Google Shape;133;p3"/>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4"/>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Rules for Ship Steering System</a:t>
            </a:r>
            <a:endParaRPr/>
          </a:p>
        </p:txBody>
      </p:sp>
      <p:sp>
        <p:nvSpPr>
          <p:cNvPr id="141" name="Google Shape;141;p4"/>
          <p:cNvSpPr txBox="1"/>
          <p:nvPr/>
        </p:nvSpPr>
        <p:spPr>
          <a:xfrm>
            <a:off x="838200" y="891837"/>
            <a:ext cx="10959214" cy="5262979"/>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As per standard requirements, the steering gear should be capable of steering the ship from 35 degrees port to 35 degrees starboard and vice-versa with the vessel plying forwards at a steady head-on speed for maximum continuous rated shaft rpm.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major power units and the control systems are to be duplicated so that if one of them fails, the other can easily substitute for them as standby</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steering gear system is to be provided with an additional power unit connected to the emergency power supply from the Emergency Generator</a:t>
            </a:r>
            <a:endParaRPr/>
          </a:p>
        </p:txBody>
      </p:sp>
      <p:sp>
        <p:nvSpPr>
          <p:cNvPr id="142" name="Google Shape;142;p4"/>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9" name="Google Shape;149;p5"/>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of Steering Systems</a:t>
            </a:r>
            <a:endParaRPr/>
          </a:p>
        </p:txBody>
      </p:sp>
      <p:sp>
        <p:nvSpPr>
          <p:cNvPr id="150" name="Google Shape;150;p5"/>
          <p:cNvSpPr txBox="1"/>
          <p:nvPr/>
        </p:nvSpPr>
        <p:spPr>
          <a:xfrm>
            <a:off x="838200" y="546677"/>
            <a:ext cx="10959214" cy="6124754"/>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There types of steering systems used in ships: </a:t>
            </a:r>
            <a:endParaRPr/>
          </a:p>
          <a:p>
            <a:pPr indent="0" lvl="1" marL="457200" marR="0" rtl="0" algn="just">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1. Mechanical steering systems </a:t>
            </a:r>
            <a:endParaRPr/>
          </a:p>
          <a:p>
            <a:pPr indent="0" lvl="1" marL="457200" marR="0" rtl="0" algn="just">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2. Hydraulic steering systems </a:t>
            </a:r>
            <a:endParaRPr/>
          </a:p>
          <a:p>
            <a:pPr indent="0" lvl="1" marL="457200" marR="0" rtl="0" algn="just">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2. Electro-hydraulic steering systems </a:t>
            </a:r>
            <a:endParaRPr/>
          </a:p>
          <a:p>
            <a:pPr indent="0" lvl="1" marL="457200" marR="0" rtl="0" algn="just">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4. All Electric Steering System</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Initially Mechanical steering systems that used cables to connect the helm to the rudder were used. The mechanical system was simple and reliable but required more effort to steer the ship so it has been replaced with hydraulic and electro-hydraulic systems and electric systems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Hydraulic systems use fluid pressure to move the rudder. Hydraulic systems are smoother and easier to operate, but can be more complex and expensive. </a:t>
            </a:r>
            <a:endParaRPr/>
          </a:p>
        </p:txBody>
      </p:sp>
      <p:sp>
        <p:nvSpPr>
          <p:cNvPr id="151" name="Google Shape;151;p5"/>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6"/>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8" name="Google Shape;158;p6"/>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of Steering Systems</a:t>
            </a:r>
            <a:endParaRPr/>
          </a:p>
        </p:txBody>
      </p:sp>
      <p:sp>
        <p:nvSpPr>
          <p:cNvPr id="159" name="Google Shape;159;p6"/>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Electro-hydraulic steering systems is a hybrid system that use motors and hydraulic valves or pumps to turn the rudder. Electric systems are becoming more popular due to their ease of use and precise control.</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All Electric Steering System employs electric motors to control the ship's rudder. The helmsman's input is translated into electrical signals, which drive the electric motor connected to the rudder stock.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Electric systems offer precise control and ease of operation, making them popular on many contemporary ships.</a:t>
            </a:r>
            <a:endParaRPr/>
          </a:p>
        </p:txBody>
      </p:sp>
      <p:sp>
        <p:nvSpPr>
          <p:cNvPr id="160" name="Google Shape;160;p6"/>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7"/>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7"/>
          <p:cNvSpPr txBox="1"/>
          <p:nvPr>
            <p:ph type="title"/>
          </p:nvPr>
        </p:nvSpPr>
        <p:spPr>
          <a:xfrm>
            <a:off x="1469036" y="176649"/>
            <a:ext cx="8973326" cy="49921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All Electric Steering System</a:t>
            </a:r>
            <a:endParaRPr/>
          </a:p>
        </p:txBody>
      </p:sp>
      <p:sp>
        <p:nvSpPr>
          <p:cNvPr id="168" name="Google Shape;168;p7"/>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pic>
        <p:nvPicPr>
          <p:cNvPr id="169" name="Google Shape;169;p7"/>
          <p:cNvPicPr preferRelativeResize="0"/>
          <p:nvPr/>
        </p:nvPicPr>
        <p:blipFill rotWithShape="1">
          <a:blip r:embed="rId3">
            <a:alphaModFix/>
          </a:blip>
          <a:srcRect b="0" l="0" r="0" t="0"/>
          <a:stretch/>
        </p:blipFill>
        <p:spPr>
          <a:xfrm>
            <a:off x="1772529" y="1158456"/>
            <a:ext cx="8314006" cy="4900590"/>
          </a:xfrm>
          <a:prstGeom prst="rect">
            <a:avLst/>
          </a:prstGeom>
          <a:noFill/>
          <a:ln>
            <a:noFill/>
          </a:ln>
        </p:spPr>
      </p:pic>
      <p:sp>
        <p:nvSpPr>
          <p:cNvPr id="170" name="Google Shape;170;p7"/>
          <p:cNvSpPr txBox="1"/>
          <p:nvPr/>
        </p:nvSpPr>
        <p:spPr>
          <a:xfrm>
            <a:off x="394586" y="708761"/>
            <a:ext cx="10959214" cy="523220"/>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Times New Roman"/>
                <a:ea typeface="Times New Roman"/>
                <a:cs typeface="Times New Roman"/>
                <a:sym typeface="Times New Roman"/>
              </a:rPr>
              <a:t>Ward Leonard Ship Steering Control System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8"/>
          <p:cNvSpPr txBox="1"/>
          <p:nvPr>
            <p:ph type="title"/>
          </p:nvPr>
        </p:nvSpPr>
        <p:spPr>
          <a:xfrm>
            <a:off x="675249" y="176649"/>
            <a:ext cx="9767113" cy="49921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Ward Leonard Ship Steering Control System</a:t>
            </a:r>
            <a:endParaRPr/>
          </a:p>
        </p:txBody>
      </p:sp>
      <p:sp>
        <p:nvSpPr>
          <p:cNvPr id="178" name="Google Shape;178;p8"/>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
        <p:nvSpPr>
          <p:cNvPr id="179" name="Google Shape;179;p8"/>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rudder of the steering gear system is driven by a DC motor.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power for the rudder motor is supplied by a DC generator for controllable, output voltage.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DC generator is driven by a single-speed, three-phase squirrel cage induction motor.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speed and direction of the rudder motor are varied by varying the applied voltage.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6" name="Google Shape;186;p9"/>
          <p:cNvSpPr txBox="1"/>
          <p:nvPr>
            <p:ph type="title"/>
          </p:nvPr>
        </p:nvSpPr>
        <p:spPr>
          <a:xfrm>
            <a:off x="675249" y="176649"/>
            <a:ext cx="9767113" cy="49921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Ward Leonard Ship Steering Control System</a:t>
            </a:r>
            <a:endParaRPr/>
          </a:p>
        </p:txBody>
      </p:sp>
      <p:sp>
        <p:nvSpPr>
          <p:cNvPr id="187" name="Google Shape;187;p9"/>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
        <p:nvSpPr>
          <p:cNvPr id="188" name="Google Shape;188;p9"/>
          <p:cNvSpPr txBox="1"/>
          <p:nvPr/>
        </p:nvSpPr>
        <p:spPr>
          <a:xfrm>
            <a:off x="838200" y="891837"/>
            <a:ext cx="10959214" cy="4832092"/>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alternating current from the main power source is transformed to lower voltage and rectified to supply the motor field poles.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output of the generator is varied by varying the generator field current and direction using two rheostat.</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two rheostat contacts, namely </a:t>
            </a:r>
            <a:endParaRPr/>
          </a:p>
          <a:p>
            <a:pPr indent="-289573" lvl="2" marL="12039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wheel order rheostat contact and </a:t>
            </a:r>
            <a:endParaRPr/>
          </a:p>
          <a:p>
            <a:pPr indent="-289573" lvl="2" marL="12039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rudder contact </a:t>
            </a:r>
            <a:endParaRPr/>
          </a:p>
          <a:p>
            <a:pPr indent="-111773" lvl="2" marL="1203973" marR="0" rtl="0" algn="just">
              <a:spcBef>
                <a:spcPts val="0"/>
              </a:spcBef>
              <a:spcAft>
                <a:spcPts val="0"/>
              </a:spcAft>
              <a:buClr>
                <a:schemeClr val="dk1"/>
              </a:buClr>
              <a:buSzPts val="2800"/>
              <a:buFont typeface="Calibri"/>
              <a:buNone/>
            </a:pPr>
            <a:r>
              <a:t/>
            </a:r>
            <a:endParaRPr b="0" i="0" sz="2800" u="none" cap="none" strike="noStrike">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And they are connected to the two ends of the generator field coil.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5" name="Google Shape;195;p10"/>
          <p:cNvSpPr txBox="1"/>
          <p:nvPr>
            <p:ph type="title"/>
          </p:nvPr>
        </p:nvSpPr>
        <p:spPr>
          <a:xfrm>
            <a:off x="675249" y="176649"/>
            <a:ext cx="9767113" cy="49921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Ward Leonard Ship Steering Control System</a:t>
            </a:r>
            <a:endParaRPr/>
          </a:p>
        </p:txBody>
      </p:sp>
      <p:sp>
        <p:nvSpPr>
          <p:cNvPr id="196" name="Google Shape;196;p10"/>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
        <p:nvSpPr>
          <p:cNvPr id="197" name="Google Shape;197;p10"/>
          <p:cNvSpPr txBox="1"/>
          <p:nvPr/>
        </p:nvSpPr>
        <p:spPr>
          <a:xfrm>
            <a:off x="838200" y="891837"/>
            <a:ext cx="10959214" cy="4832092"/>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When the steering wheel is in midship position, the two rheostat contacts are in the same position, and no current flows between them. </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Now, the steering wheel is turned to port. This causes the wheel order rheostat contact to move up, from the centre position.</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Due to the difference in voltages between the two contacts, the current will flow through the generator field coil.</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generator develops power and supplies it to the dc motor, which turns the rudder to the port side.</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As the rudder turns, the rudder rheostat contact moves up, and as the rudder reaches the required angle, the rudder contact will reach the wheel order contact position.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1"/>
          <p:cNvSpPr txBox="1"/>
          <p:nvPr>
            <p:ph type="title"/>
          </p:nvPr>
        </p:nvSpPr>
        <p:spPr>
          <a:xfrm>
            <a:off x="675249" y="176649"/>
            <a:ext cx="9767113" cy="49921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Ward Leonard Ship Steering Control System</a:t>
            </a:r>
            <a:endParaRPr/>
          </a:p>
        </p:txBody>
      </p:sp>
      <p:sp>
        <p:nvSpPr>
          <p:cNvPr id="205" name="Google Shape;205;p11"/>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
        <p:nvSpPr>
          <p:cNvPr id="206" name="Google Shape;206;p11"/>
          <p:cNvSpPr txBox="1"/>
          <p:nvPr/>
        </p:nvSpPr>
        <p:spPr>
          <a:xfrm>
            <a:off x="838200" y="891837"/>
            <a:ext cx="10959214" cy="1815882"/>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current flow to the generator field coil will stop and the Rudder motor will also stop turning the rudder</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same process continues for the star board side.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 name="Google Shape;213;p12"/>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Ship Navigation Light</a:t>
            </a:r>
            <a:endParaRPr/>
          </a:p>
        </p:txBody>
      </p:sp>
      <p:sp>
        <p:nvSpPr>
          <p:cNvPr id="214" name="Google Shape;214;p12"/>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Navigation lights are an essential component of any ship's safety equipment. </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power source for the navigation lights typically comes from the ship's electrical system, which must be designed to provide adequate power to the lights while also maintaining other essential systems.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For example, red and green sidelights indicate the port and starboard sides of a vessel, respectively, while a white stern light indicates the rear of the vessel. </a:t>
            </a:r>
            <a:endParaRPr/>
          </a:p>
        </p:txBody>
      </p:sp>
      <p:sp>
        <p:nvSpPr>
          <p:cNvPr id="215" name="Google Shape;215;p12"/>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13"/>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Purpose of Ship Navigation Light</a:t>
            </a:r>
            <a:endParaRPr/>
          </a:p>
        </p:txBody>
      </p:sp>
      <p:sp>
        <p:nvSpPr>
          <p:cNvPr id="223" name="Google Shape;223;p13"/>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They serve as a means of communication between vessels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They provide critical information about a ship's position, direction, and status.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They help determine a ship's course and avoid potential collisions.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Navigation lights also play a crucial role in ensuring safe navigation through narrow channels, around obstacles, and in poor visibility conditions. </a:t>
            </a:r>
            <a:endParaRPr/>
          </a:p>
        </p:txBody>
      </p:sp>
      <p:sp>
        <p:nvSpPr>
          <p:cNvPr id="224" name="Google Shape;224;p13"/>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1" name="Google Shape;231;p14"/>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Navigational Light Circuit for Ships</a:t>
            </a:r>
            <a:endParaRPr/>
          </a:p>
        </p:txBody>
      </p:sp>
      <p:sp>
        <p:nvSpPr>
          <p:cNvPr id="232" name="Google Shape;232;p14"/>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pic>
        <p:nvPicPr>
          <p:cNvPr id="233" name="Google Shape;233;p14"/>
          <p:cNvPicPr preferRelativeResize="0"/>
          <p:nvPr/>
        </p:nvPicPr>
        <p:blipFill rotWithShape="1">
          <a:blip r:embed="rId3">
            <a:alphaModFix/>
          </a:blip>
          <a:srcRect b="0" l="0" r="0" t="0"/>
          <a:stretch/>
        </p:blipFill>
        <p:spPr>
          <a:xfrm>
            <a:off x="2570922" y="724541"/>
            <a:ext cx="6705599" cy="51751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0" name="Google Shape;240;p15"/>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Navigational Light Circuit for Ships</a:t>
            </a:r>
            <a:endParaRPr/>
          </a:p>
        </p:txBody>
      </p:sp>
      <p:sp>
        <p:nvSpPr>
          <p:cNvPr id="241" name="Google Shape;241;p15"/>
          <p:cNvSpPr txBox="1"/>
          <p:nvPr/>
        </p:nvSpPr>
        <p:spPr>
          <a:xfrm>
            <a:off x="838200" y="891837"/>
            <a:ext cx="10959214" cy="4832092"/>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Switchboard: </a:t>
            </a:r>
            <a:r>
              <a:rPr lang="en-US" sz="2800">
                <a:solidFill>
                  <a:schemeClr val="dk1"/>
                </a:solidFill>
                <a:latin typeface="Times New Roman"/>
                <a:ea typeface="Times New Roman"/>
                <a:cs typeface="Times New Roman"/>
                <a:sym typeface="Times New Roman"/>
              </a:rPr>
              <a:t>The switchboard is to distribute the generated electricity to the navigation light. Two sources of supply are available from the changeover switch to ensure continuity of supply. The alternate supply is an emergency supply.</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Double Pole Switch: </a:t>
            </a:r>
            <a:r>
              <a:rPr lang="en-US" sz="2800">
                <a:solidFill>
                  <a:schemeClr val="dk1"/>
                </a:solidFill>
                <a:latin typeface="Times New Roman"/>
                <a:ea typeface="Times New Roman"/>
                <a:cs typeface="Times New Roman"/>
                <a:sym typeface="Times New Roman"/>
              </a:rPr>
              <a:t>A double pole switch connects the supply to each light circuit, with a fuse in each line</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Relay: </a:t>
            </a:r>
            <a:r>
              <a:rPr lang="en-US" sz="2800">
                <a:solidFill>
                  <a:schemeClr val="dk1"/>
                </a:solidFill>
                <a:latin typeface="Times New Roman"/>
                <a:ea typeface="Times New Roman"/>
                <a:cs typeface="Times New Roman"/>
                <a:sym typeface="Times New Roman"/>
              </a:rPr>
              <a:t>The relay in the circuit operate the buzzer if an open circuit occurs since the relay will de-energize and the trip bar will complete the buzzer circuit. </a:t>
            </a:r>
            <a:endParaRPr/>
          </a:p>
        </p:txBody>
      </p:sp>
      <p:sp>
        <p:nvSpPr>
          <p:cNvPr id="242" name="Google Shape;242;p15"/>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p16"/>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Navigational Light Circuit for Ships</a:t>
            </a:r>
            <a:endParaRPr/>
          </a:p>
        </p:txBody>
      </p:sp>
      <p:sp>
        <p:nvSpPr>
          <p:cNvPr id="250" name="Google Shape;250;p16"/>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Resistor across indicating light: </a:t>
            </a:r>
            <a:r>
              <a:rPr lang="en-US" sz="2800">
                <a:solidFill>
                  <a:schemeClr val="dk1"/>
                </a:solidFill>
                <a:latin typeface="Times New Roman"/>
                <a:ea typeface="Times New Roman"/>
                <a:cs typeface="Times New Roman"/>
                <a:sym typeface="Times New Roman"/>
              </a:rPr>
              <a:t>The resistance in series with the indicating lamp will ensure the navigation lights operate even if the indicating lamp fails.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 main supply failure will result in all the indicating lamps extinguishing but the buzzer will not sound. The changeover switch will then have to be moved to the alternative supply.</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All the navigation lights on ships are installed in pairs, i.e. two in numbers. If one fails, the other one replaces it.</a:t>
            </a:r>
            <a:endParaRPr/>
          </a:p>
        </p:txBody>
      </p:sp>
      <p:sp>
        <p:nvSpPr>
          <p:cNvPr id="251" name="Google Shape;251;p16"/>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7"/>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8" name="Google Shape;258;p17"/>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Maintenance of Ship Navigation lights</a:t>
            </a:r>
            <a:endParaRPr/>
          </a:p>
        </p:txBody>
      </p:sp>
      <p:sp>
        <p:nvSpPr>
          <p:cNvPr id="259" name="Google Shape;259;p17"/>
          <p:cNvSpPr txBox="1"/>
          <p:nvPr/>
        </p:nvSpPr>
        <p:spPr>
          <a:xfrm>
            <a:off x="798444" y="628104"/>
            <a:ext cx="10959214" cy="5693866"/>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Prepare the work permit</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Put the lock-out tag and inform the officer who is on duty</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Try to do the routine maintenance when the ship is in the port</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Before climbing up the main mast, take the working permit</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Switch off the radars and take out the fuses</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Disable the power supply of the nearby ship whistle</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Switch off any other communication devices as the antennas, which are usually located near the mast, generate radiations harmful for humans</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While working on navigation lights at sea, check the wind flow meter for wind speed and direction. If the wind is heavy avoid climbing on the mast</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Check for rolling and pitching of the ship. If it’s too much, don’t climb the mast</a:t>
            </a:r>
            <a:endParaRPr/>
          </a:p>
        </p:txBody>
      </p:sp>
      <p:sp>
        <p:nvSpPr>
          <p:cNvPr id="260" name="Google Shape;260;p17"/>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267" name="Google Shape;267;p18"/>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Navigation Lights</a:t>
            </a:r>
            <a:endParaRPr/>
          </a:p>
        </p:txBody>
      </p:sp>
      <p:sp>
        <p:nvSpPr>
          <p:cNvPr id="268" name="Google Shape;268;p18"/>
          <p:cNvSpPr txBox="1"/>
          <p:nvPr/>
        </p:nvSpPr>
        <p:spPr>
          <a:xfrm>
            <a:off x="619959" y="551705"/>
            <a:ext cx="10959300" cy="4832100"/>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Masthead Light</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The masthead light is the white light located up the mast. This light is required when using motor power at night.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Port Sidelight</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These lights located on the port side of the watercraft are red and mounted so that boats can see as they approach either head-on or from the left. This light helps tell if a ship is coming towards you or if it is pointing away. The phrase </a:t>
            </a:r>
            <a:r>
              <a:rPr b="0" i="0" lang="en-US" sz="2800" u="none" cap="none" strike="noStrike">
                <a:solidFill>
                  <a:srgbClr val="FF0000"/>
                </a:solidFill>
                <a:latin typeface="Times New Roman"/>
                <a:ea typeface="Times New Roman"/>
                <a:cs typeface="Times New Roman"/>
                <a:sym typeface="Times New Roman"/>
              </a:rPr>
              <a:t>“red, right, returning” </a:t>
            </a:r>
            <a:r>
              <a:rPr b="0" i="0" lang="en-US" sz="2800" u="none" cap="none" strike="noStrike">
                <a:solidFill>
                  <a:srgbClr val="000000"/>
                </a:solidFill>
                <a:latin typeface="Times New Roman"/>
                <a:ea typeface="Times New Roman"/>
                <a:cs typeface="Times New Roman"/>
                <a:sym typeface="Times New Roman"/>
              </a:rPr>
              <a:t>means that if you see a ship with its red navigation light on the right, they are facing your ship. The only time it is not needed is when the ship is anchored for the night.</a:t>
            </a:r>
            <a:endParaRPr/>
          </a:p>
        </p:txBody>
      </p:sp>
      <p:sp>
        <p:nvSpPr>
          <p:cNvPr id="269" name="Google Shape;269;p18"/>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24"/>
              <a:buFont typeface="Calibri"/>
              <a:buNone/>
            </a:pPr>
            <a:r>
              <a:t/>
            </a:r>
            <a:endParaRPr b="0" i="0" sz="1824"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9"/>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276" name="Google Shape;276;p19"/>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Navigation Lights</a:t>
            </a:r>
            <a:endParaRPr/>
          </a:p>
        </p:txBody>
      </p:sp>
      <p:sp>
        <p:nvSpPr>
          <p:cNvPr id="277" name="Google Shape;277;p19"/>
          <p:cNvSpPr txBox="1"/>
          <p:nvPr/>
        </p:nvSpPr>
        <p:spPr>
          <a:xfrm>
            <a:off x="838200" y="891837"/>
            <a:ext cx="10959214" cy="3970318"/>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Starboard Sidelight</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If you are to approach a ship from the front or right, you will see the green starboard sidelight. This light helps tell you whether or not you have the right of way.</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Sternlight</a:t>
            </a:r>
            <a:endParaRPr b="0" i="0" sz="28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The rear vessel light is called the stern light. It is used to mark the rear of the ship. The operator can infer from only setting a ship stern light, that they are directly behind the vessel. </a:t>
            </a:r>
            <a:endParaRPr/>
          </a:p>
        </p:txBody>
      </p:sp>
      <p:sp>
        <p:nvSpPr>
          <p:cNvPr id="278" name="Google Shape;278;p19"/>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24"/>
              <a:buFont typeface="Calibri"/>
              <a:buNone/>
            </a:pPr>
            <a:r>
              <a:t/>
            </a:r>
            <a:endParaRPr b="0" i="0" sz="1824"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0"/>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285" name="Google Shape;285;p20"/>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Navigation Lights</a:t>
            </a:r>
            <a:endParaRPr/>
          </a:p>
        </p:txBody>
      </p:sp>
      <p:sp>
        <p:nvSpPr>
          <p:cNvPr id="286" name="Google Shape;286;p20"/>
          <p:cNvSpPr txBox="1"/>
          <p:nvPr/>
        </p:nvSpPr>
        <p:spPr>
          <a:xfrm>
            <a:off x="838200" y="891837"/>
            <a:ext cx="10959214" cy="4401205"/>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All-Around Light</a:t>
            </a:r>
            <a:endParaRPr/>
          </a:p>
          <a:p>
            <a:pPr indent="-289573" lvl="0" marL="289573" marR="0" rtl="0" algn="just">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One of the night lights is the all-around light. This light is intended to be seen from any point and helps to tell what direction a ship is moving. This light is also used when a ship is anchored. </a:t>
            </a:r>
            <a:endParaRPr/>
          </a:p>
          <a:p>
            <a:pPr indent="-111773" lvl="0" marL="289573" marR="0" rtl="0" algn="just">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Times New Roman"/>
              <a:ea typeface="Times New Roman"/>
              <a:cs typeface="Times New Roman"/>
              <a:sym typeface="Times New Roman"/>
            </a:endParaRPr>
          </a:p>
          <a:p>
            <a:pPr indent="-289573" lvl="0" marL="289573" marR="0" rtl="0" algn="just">
              <a:lnSpc>
                <a:spcPct val="100000"/>
              </a:lnSpc>
              <a:spcBef>
                <a:spcPts val="0"/>
              </a:spcBef>
              <a:spcAft>
                <a:spcPts val="0"/>
              </a:spcAft>
              <a:buClr>
                <a:srgbClr val="FF0000"/>
              </a:buClr>
              <a:buSzPts val="2800"/>
              <a:buFont typeface="Times New Roman"/>
              <a:buChar char="•"/>
            </a:pPr>
            <a:r>
              <a:rPr b="0" i="0" lang="en-US" sz="2800" u="none" cap="none" strike="noStrike">
                <a:solidFill>
                  <a:srgbClr val="FF0000"/>
                </a:solidFill>
                <a:latin typeface="Times New Roman"/>
                <a:ea typeface="Times New Roman"/>
                <a:cs typeface="Times New Roman"/>
                <a:sym typeface="Times New Roman"/>
              </a:rPr>
              <a:t>Law Enforcement Light </a:t>
            </a:r>
            <a:endParaRPr/>
          </a:p>
          <a:p>
            <a:pPr indent="-289573" lvl="0" marL="289573" marR="0" rtl="0" algn="just">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Lights used by law enforcement on the water are flashing blue lights that can flash 120 times per minute or more. </a:t>
            </a:r>
            <a:endParaRPr/>
          </a:p>
          <a:p>
            <a:pPr indent="-289573" lvl="0" marL="289573" marR="0" rtl="0" algn="just">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This light may be displayed by any type of local law enforcement that is engaged in the course of their duty. </a:t>
            </a:r>
            <a:endParaRPr/>
          </a:p>
        </p:txBody>
      </p:sp>
      <p:sp>
        <p:nvSpPr>
          <p:cNvPr id="287" name="Google Shape;287;p20"/>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24"/>
              <a:buFont typeface="Calibri"/>
              <a:buNone/>
            </a:pPr>
            <a:r>
              <a:t/>
            </a:r>
            <a:endParaRPr b="0" i="0" sz="1824"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1"/>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4" name="Google Shape;294;p21"/>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of Alarms used on ships</a:t>
            </a:r>
            <a:endParaRPr/>
          </a:p>
        </p:txBody>
      </p:sp>
      <p:sp>
        <p:nvSpPr>
          <p:cNvPr id="295" name="Google Shape;295;p21"/>
          <p:cNvSpPr txBox="1"/>
          <p:nvPr/>
        </p:nvSpPr>
        <p:spPr>
          <a:xfrm>
            <a:off x="798444" y="628104"/>
            <a:ext cx="10959214" cy="3970318"/>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There are the different types of emergency alarms or signal onboard ship that is installed to give audio-visual warnings:</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General Alarm:</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general emergency alarm on the ship is recognized by 7 short ringings of the bell followed by a long ring</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general alarm is sounded to make the crew aware that an emergency has occurred, such as fire, collision, or a scenario that can lead to abandoning the ship </a:t>
            </a:r>
            <a:endParaRPr/>
          </a:p>
        </p:txBody>
      </p:sp>
      <p:sp>
        <p:nvSpPr>
          <p:cNvPr id="296" name="Google Shape;296;p21"/>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 name="Google Shape;303;p22"/>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of Alarms used on ships</a:t>
            </a:r>
            <a:endParaRPr/>
          </a:p>
        </p:txBody>
      </p:sp>
      <p:sp>
        <p:nvSpPr>
          <p:cNvPr id="304" name="Google Shape;304;p22"/>
          <p:cNvSpPr txBox="1"/>
          <p:nvPr/>
        </p:nvSpPr>
        <p:spPr>
          <a:xfrm>
            <a:off x="798444" y="628104"/>
            <a:ext cx="10959214" cy="5262979"/>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Fire Alarm</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ship’s fire alarm signal is sounded as the continuous ringing of the ship’s electrical bell or the continuous sounding of the ship’s horn.</a:t>
            </a:r>
            <a:endParaRPr/>
          </a:p>
          <a:p>
            <a:pPr indent="-111773" lvl="0" marL="289573" marR="0" rtl="0" algn="just">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Man Overboard Alarm:</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There have been many situations when a crew working on the ship-side or a passenger in a cruise ship fell in the water at high seas. </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When a man falls overboard, the man overboard alarm sound signal is activated on the ship.</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MOB alarm signal comprises the vessel’s internal alarm bell for 3 long rings to notify the crew onboard, along with 3 long blasts on the ship whistle to inform the other ships in the nearby vicinity.</a:t>
            </a:r>
            <a:endParaRPr/>
          </a:p>
        </p:txBody>
      </p:sp>
      <p:sp>
        <p:nvSpPr>
          <p:cNvPr id="305" name="Google Shape;305;p22"/>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ph idx="12" type="sldNum"/>
          </p:nvPr>
        </p:nvSpPr>
        <p:spPr>
          <a:xfrm>
            <a:off x="8610600" y="6441692"/>
            <a:ext cx="2743200" cy="37002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2" name="Google Shape;312;p23"/>
          <p:cNvSpPr txBox="1"/>
          <p:nvPr>
            <p:ph type="title"/>
          </p:nvPr>
        </p:nvSpPr>
        <p:spPr>
          <a:xfrm>
            <a:off x="1469036" y="176649"/>
            <a:ext cx="8973326" cy="37002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8000"/>
              </a:buClr>
              <a:buSzPts val="3648"/>
              <a:buFont typeface="Helvetica Neue"/>
              <a:buNone/>
            </a:pPr>
            <a:r>
              <a:rPr lang="en-US" sz="3648">
                <a:solidFill>
                  <a:srgbClr val="008000"/>
                </a:solidFill>
                <a:latin typeface="Helvetica Neue"/>
                <a:ea typeface="Helvetica Neue"/>
                <a:cs typeface="Helvetica Neue"/>
                <a:sym typeface="Helvetica Neue"/>
              </a:rPr>
              <a:t>Types of Alarms used on ships</a:t>
            </a:r>
            <a:endParaRPr/>
          </a:p>
        </p:txBody>
      </p:sp>
      <p:sp>
        <p:nvSpPr>
          <p:cNvPr id="313" name="Google Shape;313;p23"/>
          <p:cNvSpPr txBox="1"/>
          <p:nvPr/>
        </p:nvSpPr>
        <p:spPr>
          <a:xfrm>
            <a:off x="612829" y="517978"/>
            <a:ext cx="10959214" cy="6124754"/>
          </a:xfrm>
          <a:prstGeom prst="rect">
            <a:avLst/>
          </a:prstGeom>
          <a:noFill/>
          <a:ln cap="flat" cmpd="sng" w="9525">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Navigational Alarm:</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In the navigation bridge, most of the navigational equipment and navigation lights are fitted with failure alarms. </a:t>
            </a:r>
            <a:endParaRPr/>
          </a:p>
          <a:p>
            <a:pPr indent="-289573" lvl="1" marL="746773"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If any of these malfunctions, a ship alarm signal on the bridge will be sounded whose details (location, equipment affected, type of problem etc.) will be displayed on the notification screen provided on the bridge navigation panel.</a:t>
            </a:r>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Machinery Space Alarm and Cargo Space CO2 Alarm</a:t>
            </a:r>
            <a:endParaRPr/>
          </a:p>
          <a:p>
            <a:pPr indent="-289573" lvl="0" marL="289573" marR="0" rtl="0" algn="just">
              <a:spcBef>
                <a:spcPts val="0"/>
              </a:spcBef>
              <a:spcAft>
                <a:spcPts val="0"/>
              </a:spcAft>
              <a:buClr>
                <a:srgbClr val="FF0000"/>
              </a:buClr>
              <a:buSzPts val="2800"/>
              <a:buFont typeface="Times New Roman"/>
              <a:buChar char="•"/>
            </a:pPr>
            <a:r>
              <a:rPr lang="en-US" sz="2800">
                <a:solidFill>
                  <a:srgbClr val="FF0000"/>
                </a:solidFill>
                <a:latin typeface="Times New Roman"/>
                <a:ea typeface="Times New Roman"/>
                <a:cs typeface="Times New Roman"/>
                <a:sym typeface="Times New Roman"/>
              </a:rPr>
              <a:t>Ship Security Alarm System (SSAS)</a:t>
            </a:r>
            <a:endParaRPr/>
          </a:p>
          <a:p>
            <a:pPr indent="-289573" lvl="0" marL="289573" marR="0" rtl="0" algn="just">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When the SSAS is activated, no alarm is sounded on board the ship nor alerts other vessels in the vicinity. Instead, this signal notifies different coastal authorities or competent authorities whose proximity to the ship is presently operating via a global satellite system to inform about the piracy.</a:t>
            </a:r>
            <a:endParaRPr/>
          </a:p>
        </p:txBody>
      </p:sp>
      <p:sp>
        <p:nvSpPr>
          <p:cNvPr id="314" name="Google Shape;314;p23"/>
          <p:cNvSpPr txBox="1"/>
          <p:nvPr/>
        </p:nvSpPr>
        <p:spPr>
          <a:xfrm>
            <a:off x="5269122" y="6059046"/>
            <a:ext cx="823314" cy="3730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24">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2019-09-21T00:58:14Z</dcterms:created>
  <dc:creator>emmanuel frimpong</dc:creator>
</cp:coreProperties>
</file>