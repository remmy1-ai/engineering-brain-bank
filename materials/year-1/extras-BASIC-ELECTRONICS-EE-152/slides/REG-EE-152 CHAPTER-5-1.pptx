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628" r:id="rId2"/>
    <p:sldId id="629" r:id="rId3"/>
    <p:sldId id="486" r:id="rId4"/>
    <p:sldId id="517" r:id="rId5"/>
    <p:sldId id="500" r:id="rId6"/>
    <p:sldId id="581" r:id="rId7"/>
    <p:sldId id="583" r:id="rId8"/>
    <p:sldId id="582" r:id="rId9"/>
    <p:sldId id="585" r:id="rId10"/>
    <p:sldId id="586" r:id="rId11"/>
    <p:sldId id="584" r:id="rId12"/>
    <p:sldId id="564" r:id="rId13"/>
    <p:sldId id="525" r:id="rId14"/>
    <p:sldId id="592" r:id="rId15"/>
    <p:sldId id="587" r:id="rId16"/>
    <p:sldId id="588" r:id="rId17"/>
    <p:sldId id="589" r:id="rId18"/>
    <p:sldId id="590" r:id="rId19"/>
    <p:sldId id="591" r:id="rId20"/>
    <p:sldId id="570" r:id="rId21"/>
    <p:sldId id="555" r:id="rId22"/>
    <p:sldId id="594" r:id="rId23"/>
    <p:sldId id="593" r:id="rId24"/>
    <p:sldId id="596" r:id="rId25"/>
    <p:sldId id="595" r:id="rId26"/>
    <p:sldId id="604" r:id="rId27"/>
    <p:sldId id="609" r:id="rId28"/>
    <p:sldId id="610" r:id="rId29"/>
    <p:sldId id="611" r:id="rId30"/>
    <p:sldId id="61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796BA5-E603-4AED-931E-F90462F55107}" type="datetimeFigureOut">
              <a:rPr lang="en-US" smtClean="0"/>
              <a:t>9/18/2022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C95CEE-792F-4C5D-B143-0C795229B678}" type="slidenum">
              <a:rPr lang="en-US" smtClean="0"/>
              <a:t>‹#›</a:t>
            </a:fld>
            <a:endParaRPr lang="en-US"/>
          </a:p>
        </p:txBody>
      </p:sp>
    </p:spTree>
    <p:extLst>
      <p:ext uri="{BB962C8B-B14F-4D97-AF65-F5344CB8AC3E}">
        <p14:creationId xmlns:p14="http://schemas.microsoft.com/office/powerpoint/2010/main" val="373925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883399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8058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805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A varistor is an electronic component with an electrical resistance that varies with the applied voltage. Also known as a voltage-dependent resistor (VDR), it has a nonlinear, non-ohmic current–voltage characteristic that is similar to that of a diode.</a:t>
            </a:r>
          </a:p>
          <a:p>
            <a:pPr marL="139700" indent="0">
              <a:buNone/>
            </a:pPr>
            <a:endParaRPr lang="en-US" dirty="0"/>
          </a:p>
          <a:p>
            <a:pPr marL="139700" indent="0">
              <a:buNone/>
            </a:pPr>
            <a:r>
              <a:rPr lang="en-US" b="0" i="0" dirty="0">
                <a:solidFill>
                  <a:srgbClr val="BDC1C6"/>
                </a:solidFill>
                <a:effectLst/>
                <a:latin typeface="arial" panose="020B0604020202020204" pitchFamily="34" charset="0"/>
              </a:rPr>
              <a:t>The device is often called the bipolar junction transistor because its operation requires that the negatively charged electrons and their positively charged counterparts (the holes corresponding to an absence of electrons in the crystal lattice) coexist briefly in the presence of one another.</a:t>
            </a:r>
            <a:endParaRPr lang="en-US" dirty="0"/>
          </a:p>
        </p:txBody>
      </p:sp>
    </p:spTree>
    <p:extLst>
      <p:ext uri="{BB962C8B-B14F-4D97-AF65-F5344CB8AC3E}">
        <p14:creationId xmlns:p14="http://schemas.microsoft.com/office/powerpoint/2010/main" val="3589488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1404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b="0" i="0" dirty="0">
              <a:solidFill>
                <a:srgbClr val="000000"/>
              </a:solidFill>
              <a:effectLst/>
              <a:latin typeface="Nunito" panose="020B0604020202020204" pitchFamily="2" charset="0"/>
            </a:endParaRPr>
          </a:p>
          <a:p>
            <a:pPr marL="139700" indent="0">
              <a:buNone/>
            </a:pPr>
            <a:r>
              <a:rPr lang="en-US" b="0" i="0" dirty="0">
                <a:solidFill>
                  <a:srgbClr val="000000"/>
                </a:solidFill>
                <a:effectLst/>
                <a:latin typeface="Nunito" panose="020B0604020202020204" pitchFamily="2" charset="0"/>
              </a:rPr>
              <a:t>The transistor operates in active region when the emitter junction is forward biased and collector junction is reverse biased. In the active state, collector current is β times the base current</a:t>
            </a:r>
          </a:p>
          <a:p>
            <a:pPr marL="139700" indent="0">
              <a:buNone/>
            </a:pPr>
            <a:endParaRPr lang="en-US" b="0" i="0" dirty="0">
              <a:solidFill>
                <a:srgbClr val="000000"/>
              </a:solidFill>
              <a:effectLst/>
              <a:latin typeface="Nunito" panose="020B0604020202020204" pitchFamily="2" charset="0"/>
            </a:endParaRPr>
          </a:p>
          <a:p>
            <a:pPr marL="139700" indent="0">
              <a:buNone/>
            </a:pPr>
            <a:r>
              <a:rPr lang="en-US" b="0" i="0" dirty="0">
                <a:solidFill>
                  <a:srgbClr val="000000"/>
                </a:solidFill>
                <a:effectLst/>
                <a:latin typeface="Nunito" panose="020B0604020202020204" pitchFamily="2" charset="0"/>
              </a:rPr>
              <a:t>this is the region in which transistor tends to behave as a closed switch. The transistor has the effect of its collector and Emitter being shorted. The collector and Emitter currents are maximum in this mode of operation.</a:t>
            </a:r>
          </a:p>
          <a:p>
            <a:pPr marL="139700" indent="0">
              <a:buNone/>
            </a:pPr>
            <a:endParaRPr lang="en-US" b="0" i="0" dirty="0">
              <a:solidFill>
                <a:srgbClr val="000000"/>
              </a:solidFill>
              <a:effectLst/>
              <a:latin typeface="Nunito" panose="020B0604020202020204" pitchFamily="2" charset="0"/>
            </a:endParaRPr>
          </a:p>
          <a:p>
            <a:pPr marL="139700" indent="0">
              <a:buNone/>
            </a:pPr>
            <a:r>
              <a:rPr lang="en-US" b="0" i="0" dirty="0">
                <a:solidFill>
                  <a:srgbClr val="000000"/>
                </a:solidFill>
                <a:effectLst/>
                <a:latin typeface="Nunito" panose="020B0604020202020204" pitchFamily="2" charset="0"/>
              </a:rPr>
              <a:t>This is the region in which transistor tends to behave as an open switch. The transistor has the effect of its collector and base being opened. The collector, emitter and base currents are all zero in this mode of operation.</a:t>
            </a:r>
            <a:endParaRPr lang="en-US" dirty="0"/>
          </a:p>
        </p:txBody>
      </p:sp>
    </p:spTree>
    <p:extLst>
      <p:ext uri="{BB962C8B-B14F-4D97-AF65-F5344CB8AC3E}">
        <p14:creationId xmlns:p14="http://schemas.microsoft.com/office/powerpoint/2010/main" val="3060737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98305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667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60300" y="3683633"/>
            <a:ext cx="8982000" cy="1546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5867">
                <a:solidFill>
                  <a:schemeClr val="dk2"/>
                </a:solidFill>
              </a:defRPr>
            </a:lvl1pPr>
            <a:lvl2pPr lvl="1">
              <a:spcBef>
                <a:spcPts val="0"/>
              </a:spcBef>
              <a:spcAft>
                <a:spcPts val="0"/>
              </a:spcAft>
              <a:buClr>
                <a:schemeClr val="dk2"/>
              </a:buClr>
              <a:buSzPts val="4400"/>
              <a:buNone/>
              <a:defRPr sz="5867">
                <a:solidFill>
                  <a:schemeClr val="dk2"/>
                </a:solidFill>
              </a:defRPr>
            </a:lvl2pPr>
            <a:lvl3pPr lvl="2">
              <a:spcBef>
                <a:spcPts val="0"/>
              </a:spcBef>
              <a:spcAft>
                <a:spcPts val="0"/>
              </a:spcAft>
              <a:buClr>
                <a:schemeClr val="dk2"/>
              </a:buClr>
              <a:buSzPts val="4400"/>
              <a:buNone/>
              <a:defRPr sz="5867">
                <a:solidFill>
                  <a:schemeClr val="dk2"/>
                </a:solidFill>
              </a:defRPr>
            </a:lvl3pPr>
            <a:lvl4pPr lvl="3">
              <a:spcBef>
                <a:spcPts val="0"/>
              </a:spcBef>
              <a:spcAft>
                <a:spcPts val="0"/>
              </a:spcAft>
              <a:buClr>
                <a:schemeClr val="dk2"/>
              </a:buClr>
              <a:buSzPts val="4400"/>
              <a:buNone/>
              <a:defRPr sz="5867">
                <a:solidFill>
                  <a:schemeClr val="dk2"/>
                </a:solidFill>
              </a:defRPr>
            </a:lvl4pPr>
            <a:lvl5pPr lvl="4">
              <a:spcBef>
                <a:spcPts val="0"/>
              </a:spcBef>
              <a:spcAft>
                <a:spcPts val="0"/>
              </a:spcAft>
              <a:buClr>
                <a:schemeClr val="dk2"/>
              </a:buClr>
              <a:buSzPts val="4400"/>
              <a:buNone/>
              <a:defRPr sz="5867">
                <a:solidFill>
                  <a:schemeClr val="dk2"/>
                </a:solidFill>
              </a:defRPr>
            </a:lvl5pPr>
            <a:lvl6pPr lvl="5">
              <a:spcBef>
                <a:spcPts val="0"/>
              </a:spcBef>
              <a:spcAft>
                <a:spcPts val="0"/>
              </a:spcAft>
              <a:buClr>
                <a:schemeClr val="dk2"/>
              </a:buClr>
              <a:buSzPts val="4400"/>
              <a:buNone/>
              <a:defRPr sz="5867">
                <a:solidFill>
                  <a:schemeClr val="dk2"/>
                </a:solidFill>
              </a:defRPr>
            </a:lvl6pPr>
            <a:lvl7pPr lvl="6">
              <a:spcBef>
                <a:spcPts val="0"/>
              </a:spcBef>
              <a:spcAft>
                <a:spcPts val="0"/>
              </a:spcAft>
              <a:buClr>
                <a:schemeClr val="dk2"/>
              </a:buClr>
              <a:buSzPts val="4400"/>
              <a:buNone/>
              <a:defRPr sz="5867">
                <a:solidFill>
                  <a:schemeClr val="dk2"/>
                </a:solidFill>
              </a:defRPr>
            </a:lvl7pPr>
            <a:lvl8pPr lvl="7">
              <a:spcBef>
                <a:spcPts val="0"/>
              </a:spcBef>
              <a:spcAft>
                <a:spcPts val="0"/>
              </a:spcAft>
              <a:buClr>
                <a:schemeClr val="dk2"/>
              </a:buClr>
              <a:buSzPts val="4400"/>
              <a:buNone/>
              <a:defRPr sz="5867">
                <a:solidFill>
                  <a:schemeClr val="dk2"/>
                </a:solidFill>
              </a:defRPr>
            </a:lvl8pPr>
            <a:lvl9pPr lvl="8">
              <a:spcBef>
                <a:spcPts val="0"/>
              </a:spcBef>
              <a:spcAft>
                <a:spcPts val="0"/>
              </a:spcAft>
              <a:buClr>
                <a:schemeClr val="dk2"/>
              </a:buClr>
              <a:buSzPts val="4400"/>
              <a:buNone/>
              <a:defRPr sz="5867">
                <a:solidFill>
                  <a:schemeClr val="dk2"/>
                </a:solidFill>
              </a:defRPr>
            </a:lvl9pPr>
          </a:lstStyle>
          <a:p>
            <a:endParaRPr/>
          </a:p>
        </p:txBody>
      </p:sp>
      <p:sp>
        <p:nvSpPr>
          <p:cNvPr id="11" name="Google Shape;11;p2"/>
          <p:cNvSpPr/>
          <p:nvPr/>
        </p:nvSpPr>
        <p:spPr>
          <a:xfrm>
            <a:off x="7917661" y="3377551"/>
            <a:ext cx="9624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8879815" y="3377551"/>
            <a:ext cx="9624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1" y="3377551"/>
            <a:ext cx="9624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961900" y="3377551"/>
            <a:ext cx="69556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1475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3"/>
        <p:cNvGrpSpPr/>
        <p:nvPr/>
      </p:nvGrpSpPr>
      <p:grpSpPr>
        <a:xfrm>
          <a:off x="0" y="0"/>
          <a:ext cx="0" cy="0"/>
          <a:chOff x="0" y="0"/>
          <a:chExt cx="0" cy="0"/>
        </a:xfrm>
      </p:grpSpPr>
      <p:sp>
        <p:nvSpPr>
          <p:cNvPr id="24" name="Google Shape;24;p4"/>
          <p:cNvSpPr txBox="1">
            <a:spLocks noGrp="1"/>
          </p:cNvSpPr>
          <p:nvPr>
            <p:ph type="body" idx="1"/>
          </p:nvPr>
        </p:nvSpPr>
        <p:spPr>
          <a:xfrm>
            <a:off x="2280567" y="2882400"/>
            <a:ext cx="7631600" cy="1093200"/>
          </a:xfrm>
          <a:prstGeom prst="rect">
            <a:avLst/>
          </a:prstGeom>
        </p:spPr>
        <p:txBody>
          <a:bodyPr spcFirstLastPara="1" wrap="square" lIns="91425" tIns="91425" rIns="91425" bIns="91425" anchor="t" anchorCtr="0">
            <a:noAutofit/>
          </a:bodyPr>
          <a:lstStyle>
            <a:lvl1pPr marL="609585" lvl="0" indent="-507987" algn="ctr" rtl="0">
              <a:spcBef>
                <a:spcPts val="800"/>
              </a:spcBef>
              <a:spcAft>
                <a:spcPts val="0"/>
              </a:spcAft>
              <a:buSzPts val="2400"/>
              <a:buChar char="▷"/>
              <a:defRPr i="1"/>
            </a:lvl1pPr>
            <a:lvl2pPr marL="1219170" lvl="1" indent="-507987" algn="ctr" rtl="0">
              <a:spcBef>
                <a:spcPts val="0"/>
              </a:spcBef>
              <a:spcAft>
                <a:spcPts val="0"/>
              </a:spcAft>
              <a:buSzPts val="2400"/>
              <a:buChar char="○"/>
              <a:defRPr i="1"/>
            </a:lvl2pPr>
            <a:lvl3pPr marL="1828754" lvl="2" indent="-507987" algn="ctr" rtl="0">
              <a:spcBef>
                <a:spcPts val="0"/>
              </a:spcBef>
              <a:spcAft>
                <a:spcPts val="0"/>
              </a:spcAft>
              <a:buSzPts val="2400"/>
              <a:buChar char="■"/>
              <a:defRPr i="1"/>
            </a:lvl3pPr>
            <a:lvl4pPr marL="2438339" lvl="3" indent="-507987" algn="ctr" rtl="0">
              <a:spcBef>
                <a:spcPts val="0"/>
              </a:spcBef>
              <a:spcAft>
                <a:spcPts val="0"/>
              </a:spcAft>
              <a:buSzPts val="2400"/>
              <a:buChar char="●"/>
              <a:defRPr i="1"/>
            </a:lvl4pPr>
            <a:lvl5pPr marL="3047924" lvl="4" indent="-507987" algn="ctr" rtl="0">
              <a:spcBef>
                <a:spcPts val="0"/>
              </a:spcBef>
              <a:spcAft>
                <a:spcPts val="0"/>
              </a:spcAft>
              <a:buSzPts val="2400"/>
              <a:buChar char="○"/>
              <a:defRPr i="1"/>
            </a:lvl5pPr>
            <a:lvl6pPr marL="3657509" lvl="5" indent="-507987" algn="ctr" rtl="0">
              <a:spcBef>
                <a:spcPts val="0"/>
              </a:spcBef>
              <a:spcAft>
                <a:spcPts val="0"/>
              </a:spcAft>
              <a:buSzPts val="2400"/>
              <a:buChar char="■"/>
              <a:defRPr i="1"/>
            </a:lvl6pPr>
            <a:lvl7pPr marL="4267093" lvl="6" indent="-507987" algn="ctr" rtl="0">
              <a:spcBef>
                <a:spcPts val="0"/>
              </a:spcBef>
              <a:spcAft>
                <a:spcPts val="0"/>
              </a:spcAft>
              <a:buSzPts val="2400"/>
              <a:buChar char="●"/>
              <a:defRPr i="1"/>
            </a:lvl7pPr>
            <a:lvl8pPr marL="4876678" lvl="7" indent="-507987" algn="ctr" rtl="0">
              <a:spcBef>
                <a:spcPts val="0"/>
              </a:spcBef>
              <a:spcAft>
                <a:spcPts val="0"/>
              </a:spcAft>
              <a:buSzPts val="2400"/>
              <a:buChar char="○"/>
              <a:defRPr i="1"/>
            </a:lvl8pPr>
            <a:lvl9pPr marL="5486263" lvl="8" indent="-507987" algn="ctr">
              <a:spcBef>
                <a:spcPts val="0"/>
              </a:spcBef>
              <a:spcAft>
                <a:spcPts val="0"/>
              </a:spcAft>
              <a:buSzPts val="2400"/>
              <a:buChar char="■"/>
              <a:defRPr i="1"/>
            </a:lvl9pPr>
          </a:lstStyle>
          <a:p>
            <a:endParaRPr/>
          </a:p>
        </p:txBody>
      </p:sp>
      <p:sp>
        <p:nvSpPr>
          <p:cNvPr id="25" name="Google Shape;25;p4"/>
          <p:cNvSpPr txBox="1"/>
          <p:nvPr/>
        </p:nvSpPr>
        <p:spPr>
          <a:xfrm>
            <a:off x="4791200" y="1575225"/>
            <a:ext cx="2609600" cy="8716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2800" b="1">
                <a:solidFill>
                  <a:schemeClr val="accent6"/>
                </a:solidFill>
              </a:rPr>
              <a:t>“</a:t>
            </a:r>
            <a:endParaRPr sz="12800" b="1">
              <a:solidFill>
                <a:schemeClr val="accent6"/>
              </a:solidFill>
            </a:endParaRPr>
          </a:p>
        </p:txBody>
      </p:sp>
      <p:sp>
        <p:nvSpPr>
          <p:cNvPr id="26" name="Google Shape;26;p4"/>
          <p:cNvSpPr/>
          <p:nvPr/>
        </p:nvSpPr>
        <p:spPr>
          <a:xfrm>
            <a:off x="7631044" y="2132900"/>
            <a:ext cx="22804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4"/>
          <p:cNvSpPr/>
          <p:nvPr/>
        </p:nvSpPr>
        <p:spPr>
          <a:xfrm>
            <a:off x="9912236" y="2132900"/>
            <a:ext cx="22804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 name="Google Shape;28;p4"/>
          <p:cNvSpPr/>
          <p:nvPr/>
        </p:nvSpPr>
        <p:spPr>
          <a:xfrm>
            <a:off x="0" y="2132900"/>
            <a:ext cx="22804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 name="Google Shape;29;p4"/>
          <p:cNvSpPr/>
          <p:nvPr/>
        </p:nvSpPr>
        <p:spPr>
          <a:xfrm>
            <a:off x="2280567" y="2132900"/>
            <a:ext cx="22804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4"/>
          <p:cNvSpPr txBox="1">
            <a:spLocks noGrp="1"/>
          </p:cNvSpPr>
          <p:nvPr>
            <p:ph type="sldNum" idx="12"/>
          </p:nvPr>
        </p:nvSpPr>
        <p:spPr>
          <a:xfrm>
            <a:off x="-167" y="6440375"/>
            <a:ext cx="12192000" cy="4180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51432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1191600" y="477851"/>
            <a:ext cx="8616800" cy="11432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1191600" y="1831451"/>
            <a:ext cx="8616800" cy="4736400"/>
          </a:xfrm>
          <a:prstGeom prst="rect">
            <a:avLst/>
          </a:prstGeom>
        </p:spPr>
        <p:txBody>
          <a:bodyPr spcFirstLastPara="1" wrap="square" lIns="91425" tIns="91425" rIns="91425" bIns="91425" anchor="t" anchorCtr="0">
            <a:noAutofit/>
          </a:bodyPr>
          <a:lstStyle>
            <a:lvl1pPr marL="609585" lvl="0" indent="-457189">
              <a:spcBef>
                <a:spcPts val="800"/>
              </a:spcBef>
              <a:spcAft>
                <a:spcPts val="0"/>
              </a:spcAft>
              <a:buClr>
                <a:schemeClr val="accent6"/>
              </a:buClr>
              <a:buSzPts val="1800"/>
              <a:buChar char="▷"/>
              <a:defRPr>
                <a:solidFill>
                  <a:schemeClr val="dk1"/>
                </a:solidFill>
              </a:defRPr>
            </a:lvl1pPr>
            <a:lvl2pPr marL="1219170" lvl="1" indent="-507987">
              <a:spcBef>
                <a:spcPts val="0"/>
              </a:spcBef>
              <a:spcAft>
                <a:spcPts val="0"/>
              </a:spcAft>
              <a:buClr>
                <a:schemeClr val="dk1"/>
              </a:buClr>
              <a:buSzPts val="2400"/>
              <a:buChar char="○"/>
              <a:defRPr>
                <a:solidFill>
                  <a:schemeClr val="dk1"/>
                </a:solidFill>
              </a:defRPr>
            </a:lvl2pPr>
            <a:lvl3pPr marL="1828754" lvl="2" indent="-507987">
              <a:spcBef>
                <a:spcPts val="0"/>
              </a:spcBef>
              <a:spcAft>
                <a:spcPts val="0"/>
              </a:spcAft>
              <a:buClr>
                <a:schemeClr val="dk1"/>
              </a:buClr>
              <a:buSzPts val="2400"/>
              <a:buChar char="■"/>
              <a:defRPr>
                <a:solidFill>
                  <a:schemeClr val="dk1"/>
                </a:solidFill>
              </a:defRPr>
            </a:lvl3pPr>
            <a:lvl4pPr marL="2438339" lvl="3" indent="-507987">
              <a:spcBef>
                <a:spcPts val="0"/>
              </a:spcBef>
              <a:spcAft>
                <a:spcPts val="0"/>
              </a:spcAft>
              <a:buClr>
                <a:schemeClr val="dk1"/>
              </a:buClr>
              <a:buSzPts val="2400"/>
              <a:buChar char="●"/>
              <a:defRPr>
                <a:solidFill>
                  <a:schemeClr val="dk1"/>
                </a:solidFill>
              </a:defRPr>
            </a:lvl4pPr>
            <a:lvl5pPr marL="3047924" lvl="4" indent="-507987">
              <a:spcBef>
                <a:spcPts val="0"/>
              </a:spcBef>
              <a:spcAft>
                <a:spcPts val="0"/>
              </a:spcAft>
              <a:buClr>
                <a:schemeClr val="dk1"/>
              </a:buClr>
              <a:buSzPts val="2400"/>
              <a:buChar char="○"/>
              <a:defRPr>
                <a:solidFill>
                  <a:schemeClr val="dk1"/>
                </a:solidFill>
              </a:defRPr>
            </a:lvl5pPr>
            <a:lvl6pPr marL="3657509" lvl="5" indent="-507987">
              <a:spcBef>
                <a:spcPts val="0"/>
              </a:spcBef>
              <a:spcAft>
                <a:spcPts val="0"/>
              </a:spcAft>
              <a:buClr>
                <a:schemeClr val="dk1"/>
              </a:buClr>
              <a:buSzPts val="2400"/>
              <a:buChar char="■"/>
              <a:defRPr>
                <a:solidFill>
                  <a:schemeClr val="dk1"/>
                </a:solidFill>
              </a:defRPr>
            </a:lvl6pPr>
            <a:lvl7pPr marL="4267093" lvl="6" indent="-507987">
              <a:spcBef>
                <a:spcPts val="0"/>
              </a:spcBef>
              <a:spcAft>
                <a:spcPts val="0"/>
              </a:spcAft>
              <a:buClr>
                <a:schemeClr val="dk1"/>
              </a:buClr>
              <a:buSzPts val="2400"/>
              <a:buChar char="●"/>
              <a:defRPr>
                <a:solidFill>
                  <a:schemeClr val="dk1"/>
                </a:solidFill>
              </a:defRPr>
            </a:lvl7pPr>
            <a:lvl8pPr marL="4876678" lvl="7" indent="-507987">
              <a:spcBef>
                <a:spcPts val="0"/>
              </a:spcBef>
              <a:spcAft>
                <a:spcPts val="0"/>
              </a:spcAft>
              <a:buClr>
                <a:schemeClr val="dk1"/>
              </a:buClr>
              <a:buSzPts val="2400"/>
              <a:buChar char="○"/>
              <a:defRPr>
                <a:solidFill>
                  <a:schemeClr val="dk1"/>
                </a:solidFill>
              </a:defRPr>
            </a:lvl8pPr>
            <a:lvl9pPr marL="5486263" lvl="8" indent="-507987">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5"/>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 name="Google Shape;36;p5"/>
          <p:cNvSpPr/>
          <p:nvPr/>
        </p:nvSpPr>
        <p:spPr>
          <a:xfrm>
            <a:off x="0" y="6755100"/>
            <a:ext cx="1191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5"/>
          <p:cNvSpPr/>
          <p:nvPr/>
        </p:nvSpPr>
        <p:spPr>
          <a:xfrm>
            <a:off x="1191613" y="6755100"/>
            <a:ext cx="8616800" cy="10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5"/>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70789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color background">
  <p:cSld name="Blank color background">
    <p:bg>
      <p:bgPr>
        <a:solidFill>
          <a:schemeClr val="accent1"/>
        </a:solidFill>
        <a:effectLst/>
      </p:bgPr>
    </p:bg>
    <p:spTree>
      <p:nvGrpSpPr>
        <p:cNvPr id="1" name="Shape 78"/>
        <p:cNvGrpSpPr/>
        <p:nvPr/>
      </p:nvGrpSpPr>
      <p:grpSpPr>
        <a:xfrm>
          <a:off x="0" y="0"/>
          <a:ext cx="0" cy="0"/>
          <a:chOff x="0" y="0"/>
          <a:chExt cx="0" cy="0"/>
        </a:xfrm>
      </p:grpSpPr>
      <p:sp>
        <p:nvSpPr>
          <p:cNvPr id="79" name="Google Shape;79;p11"/>
          <p:cNvSpPr/>
          <p:nvPr/>
        </p:nvSpPr>
        <p:spPr>
          <a:xfrm>
            <a:off x="9808488" y="6755100"/>
            <a:ext cx="1191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 name="Google Shape;80;p11"/>
          <p:cNvSpPr/>
          <p:nvPr/>
        </p:nvSpPr>
        <p:spPr>
          <a:xfrm>
            <a:off x="11000416" y="6755100"/>
            <a:ext cx="1191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 name="Google Shape;81;p11"/>
          <p:cNvSpPr/>
          <p:nvPr/>
        </p:nvSpPr>
        <p:spPr>
          <a:xfrm>
            <a:off x="0" y="6755100"/>
            <a:ext cx="1191600" cy="102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2" name="Google Shape;82;p11"/>
          <p:cNvSpPr/>
          <p:nvPr/>
        </p:nvSpPr>
        <p:spPr>
          <a:xfrm>
            <a:off x="1191613" y="6755100"/>
            <a:ext cx="86168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3" name="Google Shape;83;p11"/>
          <p:cNvSpPr txBox="1">
            <a:spLocks noGrp="1"/>
          </p:cNvSpPr>
          <p:nvPr>
            <p:ph type="sldNum" idx="12"/>
          </p:nvPr>
        </p:nvSpPr>
        <p:spPr>
          <a:xfrm>
            <a:off x="11307433" y="6262577"/>
            <a:ext cx="731600" cy="4180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93798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5"/>
        <p:cNvGrpSpPr/>
        <p:nvPr/>
      </p:nvGrpSpPr>
      <p:grpSpPr>
        <a:xfrm>
          <a:off x="0" y="0"/>
          <a:ext cx="0" cy="0"/>
          <a:chOff x="0" y="0"/>
          <a:chExt cx="0" cy="0"/>
        </a:xfrm>
      </p:grpSpPr>
      <p:sp>
        <p:nvSpPr>
          <p:cNvPr id="16" name="Shape 16"/>
          <p:cNvSpPr/>
          <p:nvPr/>
        </p:nvSpPr>
        <p:spPr>
          <a:xfrm>
            <a:off x="0" y="0"/>
            <a:ext cx="12192000" cy="5323800"/>
          </a:xfrm>
          <a:prstGeom prst="rect">
            <a:avLst/>
          </a:prstGeom>
          <a:solidFill>
            <a:srgbClr val="2185C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17" name="Shape 17"/>
          <p:cNvSpPr txBox="1">
            <a:spLocks noGrp="1"/>
          </p:cNvSpPr>
          <p:nvPr>
            <p:ph type="ctrTitle"/>
          </p:nvPr>
        </p:nvSpPr>
        <p:spPr>
          <a:xfrm>
            <a:off x="914400" y="2111123"/>
            <a:ext cx="10363200" cy="1546500"/>
          </a:xfrm>
          <a:prstGeom prst="rect">
            <a:avLst/>
          </a:prstGeom>
        </p:spPr>
        <p:txBody>
          <a:bodyPr spcFirstLastPara="1" wrap="square" lIns="91425" tIns="91425" rIns="91425" bIns="91425" anchor="b" anchorCtr="0"/>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None/>
              <a:defRPr sz="4800">
                <a:solidFill>
                  <a:srgbClr val="FFFFFF"/>
                </a:solidFill>
              </a:defRPr>
            </a:lvl2pPr>
            <a:lvl3pPr lvl="2" algn="ctr" rtl="0">
              <a:spcBef>
                <a:spcPts val="0"/>
              </a:spcBef>
              <a:spcAft>
                <a:spcPts val="0"/>
              </a:spcAft>
              <a:buClr>
                <a:srgbClr val="FFFFFF"/>
              </a:buClr>
              <a:buSzPts val="4800"/>
              <a:buNone/>
              <a:defRPr sz="4800">
                <a:solidFill>
                  <a:srgbClr val="FFFFFF"/>
                </a:solidFill>
              </a:defRPr>
            </a:lvl3pPr>
            <a:lvl4pPr lvl="3" algn="ctr" rtl="0">
              <a:spcBef>
                <a:spcPts val="0"/>
              </a:spcBef>
              <a:spcAft>
                <a:spcPts val="0"/>
              </a:spcAft>
              <a:buClr>
                <a:srgbClr val="FFFFFF"/>
              </a:buClr>
              <a:buSzPts val="4800"/>
              <a:buNone/>
              <a:defRPr sz="4800">
                <a:solidFill>
                  <a:srgbClr val="FFFFFF"/>
                </a:solidFill>
              </a:defRPr>
            </a:lvl4pPr>
            <a:lvl5pPr lvl="4" algn="ctr" rtl="0">
              <a:spcBef>
                <a:spcPts val="0"/>
              </a:spcBef>
              <a:spcAft>
                <a:spcPts val="0"/>
              </a:spcAft>
              <a:buClr>
                <a:srgbClr val="FFFFFF"/>
              </a:buClr>
              <a:buSzPts val="4800"/>
              <a:buNone/>
              <a:defRPr sz="4800">
                <a:solidFill>
                  <a:srgbClr val="FFFFFF"/>
                </a:solidFill>
              </a:defRPr>
            </a:lvl5pPr>
            <a:lvl6pPr lvl="5" algn="ctr" rtl="0">
              <a:spcBef>
                <a:spcPts val="0"/>
              </a:spcBef>
              <a:spcAft>
                <a:spcPts val="0"/>
              </a:spcAft>
              <a:buClr>
                <a:srgbClr val="FFFFFF"/>
              </a:buClr>
              <a:buSzPts val="4800"/>
              <a:buNone/>
              <a:defRPr sz="4800">
                <a:solidFill>
                  <a:srgbClr val="FFFFFF"/>
                </a:solidFill>
              </a:defRPr>
            </a:lvl6pPr>
            <a:lvl7pPr lvl="6" algn="ctr" rtl="0">
              <a:spcBef>
                <a:spcPts val="0"/>
              </a:spcBef>
              <a:spcAft>
                <a:spcPts val="0"/>
              </a:spcAft>
              <a:buClr>
                <a:srgbClr val="FFFFFF"/>
              </a:buClr>
              <a:buSzPts val="4800"/>
              <a:buNone/>
              <a:defRPr sz="4800">
                <a:solidFill>
                  <a:srgbClr val="FFFFFF"/>
                </a:solidFill>
              </a:defRPr>
            </a:lvl7pPr>
            <a:lvl8pPr lvl="7" algn="ctr" rtl="0">
              <a:spcBef>
                <a:spcPts val="0"/>
              </a:spcBef>
              <a:spcAft>
                <a:spcPts val="0"/>
              </a:spcAft>
              <a:buClr>
                <a:srgbClr val="FFFFFF"/>
              </a:buClr>
              <a:buSzPts val="4800"/>
              <a:buNone/>
              <a:defRPr sz="4800">
                <a:solidFill>
                  <a:srgbClr val="FFFFFF"/>
                </a:solidFill>
              </a:defRPr>
            </a:lvl8pPr>
            <a:lvl9pPr lvl="8" algn="ctr" rtl="0">
              <a:spcBef>
                <a:spcPts val="0"/>
              </a:spcBef>
              <a:spcAft>
                <a:spcPts val="0"/>
              </a:spcAft>
              <a:buClr>
                <a:srgbClr val="FFFFFF"/>
              </a:buClr>
              <a:buSzPts val="4800"/>
              <a:buNone/>
              <a:defRPr sz="4800">
                <a:solidFill>
                  <a:srgbClr val="FFFFFF"/>
                </a:solidFill>
              </a:defRPr>
            </a:lvl9pPr>
          </a:lstStyle>
          <a:p>
            <a:endParaRPr/>
          </a:p>
        </p:txBody>
      </p:sp>
      <p:sp>
        <p:nvSpPr>
          <p:cNvPr id="18" name="Shape 18"/>
          <p:cNvSpPr txBox="1">
            <a:spLocks noGrp="1"/>
          </p:cNvSpPr>
          <p:nvPr>
            <p:ph type="subTitle" idx="1"/>
          </p:nvPr>
        </p:nvSpPr>
        <p:spPr>
          <a:xfrm>
            <a:off x="914400" y="3786737"/>
            <a:ext cx="10363200" cy="1046400"/>
          </a:xfrm>
          <a:prstGeom prst="rect">
            <a:avLst/>
          </a:prstGeom>
        </p:spPr>
        <p:txBody>
          <a:bodyPr spcFirstLastPara="1" wrap="square" lIns="91425" tIns="91425" rIns="91425" bIns="91425" anchor="t" anchorCtr="0"/>
          <a:lstStyle>
            <a:lvl1pPr lvl="0" algn="ctr" rtl="0">
              <a:spcBef>
                <a:spcPts val="0"/>
              </a:spcBef>
              <a:spcAft>
                <a:spcPts val="0"/>
              </a:spcAft>
              <a:buClr>
                <a:srgbClr val="FFFFFF"/>
              </a:buClr>
              <a:buSzPts val="2400"/>
              <a:buNone/>
              <a:defRPr sz="2400" b="1">
                <a:solidFill>
                  <a:srgbClr val="FFFFFF"/>
                </a:solidFill>
              </a:defRPr>
            </a:lvl1pPr>
            <a:lvl2pPr lvl="1" algn="ctr" rtl="0">
              <a:spcBef>
                <a:spcPts val="0"/>
              </a:spcBef>
              <a:spcAft>
                <a:spcPts val="0"/>
              </a:spcAft>
              <a:buClr>
                <a:srgbClr val="FFFFFF"/>
              </a:buClr>
              <a:buSzPts val="2400"/>
              <a:buNone/>
              <a:defRPr b="1">
                <a:solidFill>
                  <a:srgbClr val="FFFFFF"/>
                </a:solidFill>
              </a:defRPr>
            </a:lvl2pPr>
            <a:lvl3pPr lvl="2" algn="ctr" rtl="0">
              <a:spcBef>
                <a:spcPts val="0"/>
              </a:spcBef>
              <a:spcAft>
                <a:spcPts val="0"/>
              </a:spcAft>
              <a:buClr>
                <a:srgbClr val="FFFFFF"/>
              </a:buClr>
              <a:buSzPts val="2400"/>
              <a:buNone/>
              <a:defRPr b="1">
                <a:solidFill>
                  <a:srgbClr val="FFFFFF"/>
                </a:solidFill>
              </a:defRPr>
            </a:lvl3pPr>
            <a:lvl4pPr lvl="3" algn="ctr" rtl="0">
              <a:spcBef>
                <a:spcPts val="0"/>
              </a:spcBef>
              <a:spcAft>
                <a:spcPts val="0"/>
              </a:spcAft>
              <a:buClr>
                <a:srgbClr val="FFFFFF"/>
              </a:buClr>
              <a:buSzPts val="2400"/>
              <a:buNone/>
              <a:defRPr sz="2400" b="1">
                <a:solidFill>
                  <a:srgbClr val="FFFFFF"/>
                </a:solidFill>
              </a:defRPr>
            </a:lvl4pPr>
            <a:lvl5pPr lvl="4" algn="ctr" rtl="0">
              <a:spcBef>
                <a:spcPts val="0"/>
              </a:spcBef>
              <a:spcAft>
                <a:spcPts val="0"/>
              </a:spcAft>
              <a:buClr>
                <a:srgbClr val="FFFFFF"/>
              </a:buClr>
              <a:buSzPts val="2400"/>
              <a:buNone/>
              <a:defRPr sz="2400" b="1">
                <a:solidFill>
                  <a:srgbClr val="FFFFFF"/>
                </a:solidFill>
              </a:defRPr>
            </a:lvl5pPr>
            <a:lvl6pPr lvl="5" algn="ctr" rtl="0">
              <a:spcBef>
                <a:spcPts val="0"/>
              </a:spcBef>
              <a:spcAft>
                <a:spcPts val="0"/>
              </a:spcAft>
              <a:buClr>
                <a:srgbClr val="FFFFFF"/>
              </a:buClr>
              <a:buSzPts val="2400"/>
              <a:buNone/>
              <a:defRPr sz="2400" b="1">
                <a:solidFill>
                  <a:srgbClr val="FFFFFF"/>
                </a:solidFill>
              </a:defRPr>
            </a:lvl6pPr>
            <a:lvl7pPr lvl="6" algn="ctr" rtl="0">
              <a:spcBef>
                <a:spcPts val="0"/>
              </a:spcBef>
              <a:spcAft>
                <a:spcPts val="0"/>
              </a:spcAft>
              <a:buClr>
                <a:srgbClr val="FFFFFF"/>
              </a:buClr>
              <a:buSzPts val="2400"/>
              <a:buNone/>
              <a:defRPr sz="2400" b="1">
                <a:solidFill>
                  <a:srgbClr val="FFFFFF"/>
                </a:solidFill>
              </a:defRPr>
            </a:lvl7pPr>
            <a:lvl8pPr lvl="7" algn="ctr" rtl="0">
              <a:spcBef>
                <a:spcPts val="0"/>
              </a:spcBef>
              <a:spcAft>
                <a:spcPts val="0"/>
              </a:spcAft>
              <a:buClr>
                <a:srgbClr val="FFFFFF"/>
              </a:buClr>
              <a:buSzPts val="2400"/>
              <a:buNone/>
              <a:defRPr sz="2400" b="1">
                <a:solidFill>
                  <a:srgbClr val="FFFFFF"/>
                </a:solidFill>
              </a:defRPr>
            </a:lvl8pPr>
            <a:lvl9pPr lvl="8" algn="ctr" rtl="0">
              <a:spcBef>
                <a:spcPts val="0"/>
              </a:spcBef>
              <a:spcAft>
                <a:spcPts val="0"/>
              </a:spcAft>
              <a:buClr>
                <a:srgbClr val="FFFFFF"/>
              </a:buClr>
              <a:buSzPts val="2400"/>
              <a:buNone/>
              <a:defRPr sz="2400" b="1">
                <a:solidFill>
                  <a:srgbClr val="FFFFFF"/>
                </a:solidFill>
              </a:defRPr>
            </a:lvl9pPr>
          </a:lstStyle>
          <a:p>
            <a:endParaRPr/>
          </a:p>
        </p:txBody>
      </p:sp>
      <p:sp>
        <p:nvSpPr>
          <p:cNvPr id="19" name="Shape 19"/>
          <p:cNvSpPr/>
          <p:nvPr/>
        </p:nvSpPr>
        <p:spPr>
          <a:xfrm>
            <a:off x="4063605" y="5323801"/>
            <a:ext cx="40636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20" name="Shape 20"/>
          <p:cNvSpPr/>
          <p:nvPr/>
        </p:nvSpPr>
        <p:spPr>
          <a:xfrm>
            <a:off x="8128361" y="5323801"/>
            <a:ext cx="40636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21" name="Shape 21"/>
          <p:cNvSpPr/>
          <p:nvPr/>
        </p:nvSpPr>
        <p:spPr>
          <a:xfrm>
            <a:off x="1" y="5323801"/>
            <a:ext cx="40636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22" name="Shape 22"/>
          <p:cNvSpPr txBox="1">
            <a:spLocks noGrp="1"/>
          </p:cNvSpPr>
          <p:nvPr>
            <p:ph type="sldNum" idx="12"/>
          </p:nvPr>
        </p:nvSpPr>
        <p:spPr>
          <a:xfrm>
            <a:off x="-167" y="6440375"/>
            <a:ext cx="12192000" cy="4179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31707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91600" y="477851"/>
            <a:ext cx="8616800" cy="11432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1191600" y="1831451"/>
            <a:ext cx="8616800" cy="47364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07433" y="6262577"/>
            <a:ext cx="731600" cy="418000"/>
          </a:xfrm>
          <a:prstGeom prst="rect">
            <a:avLst/>
          </a:prstGeom>
          <a:noFill/>
          <a:ln>
            <a:noFill/>
          </a:ln>
        </p:spPr>
        <p:txBody>
          <a:bodyPr spcFirstLastPara="1" wrap="square" lIns="91425" tIns="91425" rIns="91425" bIns="91425" anchor="t" anchorCtr="0">
            <a:noAutofit/>
          </a:bodyPr>
          <a:lstStyle>
            <a:lvl1pPr lvl="0" algn="r">
              <a:buNone/>
              <a:defRPr sz="1733">
                <a:solidFill>
                  <a:schemeClr val="accent6"/>
                </a:solidFill>
                <a:latin typeface="Lato"/>
                <a:ea typeface="Lato"/>
                <a:cs typeface="Lato"/>
                <a:sym typeface="Lato"/>
              </a:defRPr>
            </a:lvl1pPr>
            <a:lvl2pPr lvl="1" algn="r">
              <a:buNone/>
              <a:defRPr sz="1733">
                <a:solidFill>
                  <a:schemeClr val="accent6"/>
                </a:solidFill>
                <a:latin typeface="Lato"/>
                <a:ea typeface="Lato"/>
                <a:cs typeface="Lato"/>
                <a:sym typeface="Lato"/>
              </a:defRPr>
            </a:lvl2pPr>
            <a:lvl3pPr lvl="2" algn="r">
              <a:buNone/>
              <a:defRPr sz="1733">
                <a:solidFill>
                  <a:schemeClr val="accent6"/>
                </a:solidFill>
                <a:latin typeface="Lato"/>
                <a:ea typeface="Lato"/>
                <a:cs typeface="Lato"/>
                <a:sym typeface="Lato"/>
              </a:defRPr>
            </a:lvl3pPr>
            <a:lvl4pPr lvl="3" algn="r">
              <a:buNone/>
              <a:defRPr sz="1733">
                <a:solidFill>
                  <a:schemeClr val="accent6"/>
                </a:solidFill>
                <a:latin typeface="Lato"/>
                <a:ea typeface="Lato"/>
                <a:cs typeface="Lato"/>
                <a:sym typeface="Lato"/>
              </a:defRPr>
            </a:lvl4pPr>
            <a:lvl5pPr lvl="4" algn="r">
              <a:buNone/>
              <a:defRPr sz="1733">
                <a:solidFill>
                  <a:schemeClr val="accent6"/>
                </a:solidFill>
                <a:latin typeface="Lato"/>
                <a:ea typeface="Lato"/>
                <a:cs typeface="Lato"/>
                <a:sym typeface="Lato"/>
              </a:defRPr>
            </a:lvl5pPr>
            <a:lvl6pPr lvl="5" algn="r">
              <a:buNone/>
              <a:defRPr sz="1733">
                <a:solidFill>
                  <a:schemeClr val="accent6"/>
                </a:solidFill>
                <a:latin typeface="Lato"/>
                <a:ea typeface="Lato"/>
                <a:cs typeface="Lato"/>
                <a:sym typeface="Lato"/>
              </a:defRPr>
            </a:lvl6pPr>
            <a:lvl7pPr lvl="6" algn="r">
              <a:buNone/>
              <a:defRPr sz="1733">
                <a:solidFill>
                  <a:schemeClr val="accent6"/>
                </a:solidFill>
                <a:latin typeface="Lato"/>
                <a:ea typeface="Lato"/>
                <a:cs typeface="Lato"/>
                <a:sym typeface="Lato"/>
              </a:defRPr>
            </a:lvl7pPr>
            <a:lvl8pPr lvl="7" algn="r">
              <a:buNone/>
              <a:defRPr sz="1733">
                <a:solidFill>
                  <a:schemeClr val="accent6"/>
                </a:solidFill>
                <a:latin typeface="Lato"/>
                <a:ea typeface="Lato"/>
                <a:cs typeface="Lato"/>
                <a:sym typeface="Lato"/>
              </a:defRPr>
            </a:lvl8pPr>
            <a:lvl9pPr lvl="8" algn="r">
              <a:buNone/>
              <a:defRPr sz="1733">
                <a:solidFill>
                  <a:schemeClr val="accent6"/>
                </a:solidFill>
                <a:latin typeface="Lato"/>
                <a:ea typeface="Lato"/>
                <a:cs typeface="Lato"/>
                <a:sym typeface="La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8009511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TextBox 3">
            <a:extLst>
              <a:ext uri="{FF2B5EF4-FFF2-40B4-BE49-F238E27FC236}">
                <a16:creationId xmlns:a16="http://schemas.microsoft.com/office/drawing/2014/main" id="{B580EA99-4654-7A46-729A-A235D10FC177}"/>
              </a:ext>
            </a:extLst>
          </p:cNvPr>
          <p:cNvSpPr txBox="1"/>
          <p:nvPr/>
        </p:nvSpPr>
        <p:spPr>
          <a:xfrm>
            <a:off x="805953" y="211537"/>
            <a:ext cx="9036348" cy="830997"/>
          </a:xfrm>
          <a:prstGeom prst="rect">
            <a:avLst/>
          </a:prstGeom>
          <a:noFill/>
        </p:spPr>
        <p:txBody>
          <a:bodyPr wrap="square" rtlCol="0">
            <a:spAutoFit/>
          </a:bodyPr>
          <a:lstStyle/>
          <a:p>
            <a:pPr defTabSz="1219170">
              <a:buClr>
                <a:srgbClr val="000000"/>
              </a:buClr>
              <a:defRPr/>
            </a:pPr>
            <a:r>
              <a:rPr lang="en-GB" sz="4800" b="1" kern="0" dirty="0">
                <a:solidFill>
                  <a:srgbClr val="2185C5">
                    <a:lumMod val="75000"/>
                  </a:srgbClr>
                </a:solidFill>
                <a:latin typeface="Arial"/>
                <a:cs typeface="Arial"/>
                <a:sym typeface="Arial"/>
              </a:rPr>
              <a:t>EE 152-BASIC ELECTRONICS</a:t>
            </a:r>
            <a:endParaRPr lang="en-GB" sz="1467" b="1" kern="0" dirty="0">
              <a:solidFill>
                <a:srgbClr val="2185C5">
                  <a:lumMod val="75000"/>
                </a:srgbClr>
              </a:solidFill>
              <a:latin typeface="Arial"/>
              <a:cs typeface="Arial"/>
              <a:sym typeface="Arial"/>
            </a:endParaRPr>
          </a:p>
        </p:txBody>
      </p:sp>
      <p:sp>
        <p:nvSpPr>
          <p:cNvPr id="5" name="TextBox 4">
            <a:extLst>
              <a:ext uri="{FF2B5EF4-FFF2-40B4-BE49-F238E27FC236}">
                <a16:creationId xmlns:a16="http://schemas.microsoft.com/office/drawing/2014/main" id="{466984ED-F54F-45DB-1799-E330C034B9C9}"/>
              </a:ext>
            </a:extLst>
          </p:cNvPr>
          <p:cNvSpPr txBox="1"/>
          <p:nvPr/>
        </p:nvSpPr>
        <p:spPr>
          <a:xfrm>
            <a:off x="805953" y="1395218"/>
            <a:ext cx="9889788" cy="1569660"/>
          </a:xfrm>
          <a:prstGeom prst="rect">
            <a:avLst/>
          </a:prstGeom>
          <a:noFill/>
          <a:ln>
            <a:noFill/>
          </a:ln>
        </p:spPr>
        <p:txBody>
          <a:bodyPr wrap="square" rtlCol="0">
            <a:spAutoFit/>
          </a:bodyPr>
          <a:lstStyle/>
          <a:p>
            <a:pPr algn="just" defTabSz="1219170">
              <a:buClr>
                <a:srgbClr val="000000"/>
              </a:buClr>
              <a:defRPr/>
            </a:pPr>
            <a:r>
              <a:rPr lang="en-US" sz="3200" b="1" kern="0" dirty="0">
                <a:solidFill>
                  <a:srgbClr val="FF3399"/>
                </a:solidFill>
                <a:latin typeface="Arial"/>
                <a:ea typeface="Calibri" panose="020F0502020204030204" pitchFamily="34" charset="0"/>
                <a:cs typeface="Helvetica" panose="020B0604020202020204" pitchFamily="34" charset="0"/>
                <a:sym typeface="Arial"/>
              </a:rPr>
              <a:t>P. </a:t>
            </a:r>
            <a:r>
              <a:rPr lang="en-US" sz="3200" b="1" kern="0" dirty="0" err="1">
                <a:solidFill>
                  <a:srgbClr val="FF3399"/>
                </a:solidFill>
                <a:latin typeface="Arial"/>
                <a:ea typeface="Calibri" panose="020F0502020204030204" pitchFamily="34" charset="0"/>
                <a:cs typeface="Helvetica" panose="020B0604020202020204" pitchFamily="34" charset="0"/>
                <a:sym typeface="Arial"/>
              </a:rPr>
              <a:t>Asigri</a:t>
            </a:r>
            <a:endParaRPr lang="en-US" sz="3200" b="1" kern="0" dirty="0">
              <a:solidFill>
                <a:srgbClr val="FF3399"/>
              </a:solidFill>
              <a:latin typeface="Arial"/>
              <a:ea typeface="Calibri" panose="020F0502020204030204" pitchFamily="34" charset="0"/>
              <a:cs typeface="Helvetica" panose="020B0604020202020204" pitchFamily="34" charset="0"/>
              <a:sym typeface="Arial"/>
            </a:endParaRPr>
          </a:p>
          <a:p>
            <a:pPr algn="just" defTabSz="1219170">
              <a:buClr>
                <a:srgbClr val="000000"/>
              </a:buClr>
              <a:defRPr/>
            </a:pPr>
            <a:r>
              <a:rPr lang="en-US" sz="3200" b="1" kern="0" dirty="0">
                <a:solidFill>
                  <a:srgbClr val="FF3399"/>
                </a:solidFill>
                <a:latin typeface="Arial"/>
                <a:ea typeface="Calibri" panose="020F0502020204030204" pitchFamily="34" charset="0"/>
                <a:cs typeface="Helvetica" panose="020B0604020202020204" pitchFamily="34" charset="0"/>
                <a:sym typeface="Arial"/>
              </a:rPr>
              <a:t>Department of Electrical &amp; Electronic Engineering </a:t>
            </a:r>
          </a:p>
          <a:p>
            <a:pPr algn="just" defTabSz="1219170">
              <a:buClr>
                <a:srgbClr val="000000"/>
              </a:buClr>
              <a:defRPr/>
            </a:pPr>
            <a:r>
              <a:rPr lang="en-US" sz="3200" b="1" kern="0" dirty="0">
                <a:solidFill>
                  <a:srgbClr val="FF3399"/>
                </a:solidFill>
                <a:latin typeface="Arial"/>
                <a:ea typeface="Calibri" panose="020F0502020204030204" pitchFamily="34" charset="0"/>
                <a:cs typeface="Helvetica" panose="020B0604020202020204" pitchFamily="34" charset="0"/>
                <a:sym typeface="Arial"/>
              </a:rPr>
              <a:t>College of Engineering </a:t>
            </a:r>
            <a:endParaRPr lang="en-US" sz="3200" kern="0" dirty="0">
              <a:solidFill>
                <a:srgbClr val="FF3399"/>
              </a:solidFill>
              <a:latin typeface="Arial"/>
              <a:ea typeface="Calibri" panose="020F0502020204030204" pitchFamily="34" charset="0"/>
              <a:cs typeface="Helvetica" panose="020B0604020202020204" pitchFamily="34" charset="0"/>
              <a:sym typeface="Arial"/>
            </a:endParaRPr>
          </a:p>
        </p:txBody>
      </p:sp>
      <p:sp>
        <p:nvSpPr>
          <p:cNvPr id="8" name="TextBox 7">
            <a:extLst>
              <a:ext uri="{FF2B5EF4-FFF2-40B4-BE49-F238E27FC236}">
                <a16:creationId xmlns:a16="http://schemas.microsoft.com/office/drawing/2014/main" id="{C2B81A74-7CA6-C0CC-EF26-16727F2BBD81}"/>
              </a:ext>
            </a:extLst>
          </p:cNvPr>
          <p:cNvSpPr txBox="1"/>
          <p:nvPr/>
        </p:nvSpPr>
        <p:spPr>
          <a:xfrm>
            <a:off x="4443806" y="5694377"/>
            <a:ext cx="2782639" cy="584775"/>
          </a:xfrm>
          <a:prstGeom prst="rect">
            <a:avLst/>
          </a:prstGeom>
          <a:noFill/>
        </p:spPr>
        <p:txBody>
          <a:bodyPr wrap="square">
            <a:spAutoFit/>
          </a:bodyPr>
          <a:lstStyle/>
          <a:p>
            <a:pPr algn="ctr" defTabSz="1219170">
              <a:buClr>
                <a:srgbClr val="000000"/>
              </a:buClr>
              <a:defRPr/>
            </a:pPr>
            <a:r>
              <a:rPr lang="en-US" sz="3200" b="1" kern="0" dirty="0">
                <a:solidFill>
                  <a:srgbClr val="000000"/>
                </a:solidFill>
                <a:latin typeface="Arial"/>
                <a:cs typeface="Calibri" panose="020F0502020204030204" pitchFamily="34" charset="0"/>
                <a:sym typeface="Arial"/>
              </a:rPr>
              <a:t>August 2022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ctrTitle"/>
          </p:nvPr>
        </p:nvSpPr>
        <p:spPr>
          <a:xfrm>
            <a:off x="281773" y="1432561"/>
            <a:ext cx="11628120" cy="2830649"/>
          </a:xfrm>
          <a:prstGeom prst="rect">
            <a:avLst/>
          </a:prstGeom>
        </p:spPr>
        <p:txBody>
          <a:bodyPr spcFirstLastPara="1" wrap="square" lIns="91425" tIns="91425" rIns="91425" bIns="91425" anchor="b" anchorCtr="0">
            <a:noAutofit/>
          </a:bodyPr>
          <a:lstStyle/>
          <a:p>
            <a:r>
              <a:rPr lang="en" sz="7200" b="1" dirty="0">
                <a:solidFill>
                  <a:srgbClr val="7ECEFD"/>
                </a:solidFill>
              </a:rPr>
              <a:t> CHAPTER FIVE</a:t>
            </a:r>
          </a:p>
          <a:p>
            <a:pPr lvl="0"/>
            <a:r>
              <a:rPr lang="en-GB" dirty="0"/>
              <a:t>BIPOLAR JUNCTION TRANSISTORS</a:t>
            </a:r>
            <a:endParaRPr lang="en-GB" b="1" dirty="0"/>
          </a:p>
        </p:txBody>
      </p:sp>
      <p:sp>
        <p:nvSpPr>
          <p:cNvPr id="113" name="Shape 113"/>
          <p:cNvSpPr txBox="1">
            <a:spLocks noGrp="1"/>
          </p:cNvSpPr>
          <p:nvPr>
            <p:ph type="sldNum" idx="12"/>
          </p:nvPr>
        </p:nvSpPr>
        <p:spPr>
          <a:prstGeom prst="rect">
            <a:avLst/>
          </a:prstGeom>
        </p:spPr>
        <p:txBody>
          <a:bodyPr spcFirstLastPara="1" wrap="square" lIns="91425" tIns="91425" rIns="91425" bIns="91425" anchor="t" anchorCtr="0">
            <a:noAutofit/>
          </a:bodyPr>
          <a:lstStyle/>
          <a:p>
            <a:pPr defTabSz="1219170">
              <a:buClr>
                <a:srgbClr val="000000"/>
              </a:buClr>
              <a:defRPr/>
            </a:pPr>
            <a:fld id="{00000000-1234-1234-1234-123412341234}" type="slidenum">
              <a:rPr lang="en" kern="0">
                <a:solidFill>
                  <a:srgbClr val="97ABBC"/>
                </a:solidFill>
              </a:rPr>
              <a:pPr defTabSz="1219170">
                <a:buClr>
                  <a:srgbClr val="000000"/>
                </a:buClr>
                <a:defRPr/>
              </a:pPr>
              <a:t>2</a:t>
            </a:fld>
            <a:endParaRPr kern="0">
              <a:solidFill>
                <a:srgbClr val="97ABBC"/>
              </a:solidFill>
            </a:endParaRPr>
          </a:p>
        </p:txBody>
      </p:sp>
    </p:spTree>
    <p:extLst>
      <p:ext uri="{BB962C8B-B14F-4D97-AF65-F5344CB8AC3E}">
        <p14:creationId xmlns:p14="http://schemas.microsoft.com/office/powerpoint/2010/main" val="2939539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7"/>
          <p:cNvSpPr txBox="1">
            <a:spLocks noGrp="1"/>
          </p:cNvSpPr>
          <p:nvPr>
            <p:ph type="title"/>
          </p:nvPr>
        </p:nvSpPr>
        <p:spPr>
          <a:xfrm>
            <a:off x="1951156" y="116541"/>
            <a:ext cx="8616800" cy="1143200"/>
          </a:xfrm>
          <a:prstGeom prst="rect">
            <a:avLst/>
          </a:prstGeom>
        </p:spPr>
        <p:txBody>
          <a:bodyPr spcFirstLastPara="1" wrap="square" lIns="121900" tIns="121900" rIns="121900" bIns="121900" anchor="b" anchorCtr="0">
            <a:noAutofit/>
          </a:bodyPr>
          <a:lstStyle/>
          <a:p>
            <a:pPr algn="ctr"/>
            <a:r>
              <a:rPr lang="en" b="1" u="sng" dirty="0">
                <a:solidFill>
                  <a:schemeClr val="bg2"/>
                </a:solidFill>
              </a:rPr>
              <a:t>What to expect?</a:t>
            </a:r>
            <a:endParaRPr b="1" u="sng" dirty="0">
              <a:solidFill>
                <a:schemeClr val="bg2"/>
              </a:solidFill>
            </a:endParaRPr>
          </a:p>
        </p:txBody>
      </p:sp>
      <p:sp>
        <p:nvSpPr>
          <p:cNvPr id="126" name="Google Shape;126;p17"/>
          <p:cNvSpPr txBox="1">
            <a:spLocks noGrp="1"/>
          </p:cNvSpPr>
          <p:nvPr>
            <p:ph type="sldNum" idx="12"/>
          </p:nvPr>
        </p:nvSpPr>
        <p:spPr>
          <a:xfrm>
            <a:off x="11307433" y="6262577"/>
            <a:ext cx="731600" cy="418000"/>
          </a:xfrm>
          <a:prstGeom prst="rect">
            <a:avLst/>
          </a:prstGeom>
        </p:spPr>
        <p:txBody>
          <a:bodyPr spcFirstLastPara="1" wrap="square" lIns="121900" tIns="121900" rIns="121900" bIns="121900" anchor="t" anchorCtr="0">
            <a:noAutofit/>
          </a:bodyPr>
          <a:lstStyle/>
          <a:p>
            <a:pPr defTabSz="1219170">
              <a:buClr>
                <a:srgbClr val="000000"/>
              </a:buClr>
              <a:defRPr/>
            </a:pPr>
            <a:fld id="{00000000-1234-1234-1234-123412341234}" type="slidenum">
              <a:rPr lang="en" kern="0">
                <a:solidFill>
                  <a:srgbClr val="97ABBC"/>
                </a:solidFill>
              </a:rPr>
              <a:pPr defTabSz="1219170">
                <a:buClr>
                  <a:srgbClr val="000000"/>
                </a:buClr>
                <a:defRPr/>
              </a:pPr>
              <a:t>3</a:t>
            </a:fld>
            <a:endParaRPr kern="0">
              <a:solidFill>
                <a:srgbClr val="97ABBC"/>
              </a:solidFill>
            </a:endParaRPr>
          </a:p>
        </p:txBody>
      </p:sp>
      <p:grpSp>
        <p:nvGrpSpPr>
          <p:cNvPr id="36" name="Group 35"/>
          <p:cNvGrpSpPr/>
          <p:nvPr/>
        </p:nvGrpSpPr>
        <p:grpSpPr>
          <a:xfrm>
            <a:off x="862362" y="1784195"/>
            <a:ext cx="3793308" cy="2463631"/>
            <a:chOff x="1462847" y="1859255"/>
            <a:chExt cx="2844981" cy="1847723"/>
          </a:xfrm>
        </p:grpSpPr>
        <p:sp>
          <p:nvSpPr>
            <p:cNvPr id="37" name="Shape 326"/>
            <p:cNvSpPr/>
            <p:nvPr/>
          </p:nvSpPr>
          <p:spPr>
            <a:xfrm>
              <a:off x="1462847" y="1859255"/>
              <a:ext cx="1856927" cy="1847723"/>
            </a:xfrm>
            <a:prstGeom prst="ellipse">
              <a:avLst/>
            </a:prstGeom>
            <a:noFill/>
            <a:ln w="114300" cap="flat" cmpd="sng">
              <a:solidFill>
                <a:schemeClr val="bg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defRPr/>
              </a:pPr>
              <a:r>
                <a:rPr lang="en-GB" sz="1867" b="1" kern="0" dirty="0">
                  <a:solidFill>
                    <a:srgbClr val="000000"/>
                  </a:solidFill>
                  <a:latin typeface="Lora"/>
                  <a:ea typeface="Lora"/>
                  <a:cs typeface="Lora"/>
                  <a:sym typeface="Lora"/>
                </a:rPr>
                <a:t>Introduction</a:t>
              </a:r>
              <a:endParaRPr sz="1867" b="1" kern="0" dirty="0">
                <a:solidFill>
                  <a:srgbClr val="000000"/>
                </a:solidFill>
                <a:latin typeface="Lora"/>
                <a:ea typeface="Lora"/>
                <a:cs typeface="Lora"/>
                <a:sym typeface="Lora"/>
              </a:endParaRPr>
            </a:p>
          </p:txBody>
        </p:sp>
        <p:cxnSp>
          <p:nvCxnSpPr>
            <p:cNvPr id="38" name="Shape 329"/>
            <p:cNvCxnSpPr/>
            <p:nvPr/>
          </p:nvCxnSpPr>
          <p:spPr>
            <a:xfrm>
              <a:off x="3382028" y="2885210"/>
              <a:ext cx="925800" cy="0"/>
            </a:xfrm>
            <a:prstGeom prst="straightConnector1">
              <a:avLst/>
            </a:prstGeom>
            <a:noFill/>
            <a:ln w="38100" cap="flat" cmpd="sng">
              <a:solidFill>
                <a:schemeClr val="bg2"/>
              </a:solidFill>
              <a:prstDash val="solid"/>
              <a:round/>
              <a:headEnd type="none" w="sm" len="sm"/>
              <a:tailEnd type="triangle" w="sm" len="sm"/>
            </a:ln>
          </p:spPr>
        </p:cxnSp>
      </p:grpSp>
      <p:sp>
        <p:nvSpPr>
          <p:cNvPr id="39" name="Shape 326"/>
          <p:cNvSpPr/>
          <p:nvPr/>
        </p:nvSpPr>
        <p:spPr>
          <a:xfrm>
            <a:off x="8489795" y="1828803"/>
            <a:ext cx="2750635" cy="2557344"/>
          </a:xfrm>
          <a:prstGeom prst="ellipse">
            <a:avLst/>
          </a:prstGeom>
          <a:noFill/>
          <a:ln w="11430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defRPr/>
            </a:pPr>
            <a:r>
              <a:rPr lang="en-GB" sz="1867" b="1" kern="0" dirty="0">
                <a:solidFill>
                  <a:srgbClr val="000000"/>
                </a:solidFill>
                <a:latin typeface="Lora"/>
                <a:ea typeface="Lora"/>
                <a:cs typeface="Lora"/>
                <a:sym typeface="Lora"/>
              </a:rPr>
              <a:t>Transistor Configurations</a:t>
            </a:r>
            <a:endParaRPr sz="1867" b="1" kern="0" dirty="0">
              <a:solidFill>
                <a:srgbClr val="000000"/>
              </a:solidFill>
              <a:latin typeface="Lora"/>
              <a:ea typeface="Lora"/>
              <a:cs typeface="Lora"/>
              <a:sym typeface="Lora"/>
            </a:endParaRPr>
          </a:p>
        </p:txBody>
      </p:sp>
      <p:grpSp>
        <p:nvGrpSpPr>
          <p:cNvPr id="40" name="Group 39"/>
          <p:cNvGrpSpPr/>
          <p:nvPr/>
        </p:nvGrpSpPr>
        <p:grpSpPr>
          <a:xfrm>
            <a:off x="4728116" y="1784195"/>
            <a:ext cx="3684877" cy="2457724"/>
            <a:chOff x="4263123" y="1891392"/>
            <a:chExt cx="2763658" cy="1843293"/>
          </a:xfrm>
        </p:grpSpPr>
        <p:sp>
          <p:nvSpPr>
            <p:cNvPr id="41" name="Shape 326"/>
            <p:cNvSpPr/>
            <p:nvPr/>
          </p:nvSpPr>
          <p:spPr>
            <a:xfrm>
              <a:off x="4263123" y="1891392"/>
              <a:ext cx="1775605" cy="1843293"/>
            </a:xfrm>
            <a:prstGeom prst="ellipse">
              <a:avLst/>
            </a:prstGeom>
            <a:noFill/>
            <a:ln w="114300" cap="flat" cmpd="sng">
              <a:solidFill>
                <a:schemeClr val="bg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defRPr/>
              </a:pPr>
              <a:r>
                <a:rPr lang="en-GB" sz="1867" b="1" kern="0" dirty="0">
                  <a:solidFill>
                    <a:srgbClr val="000000"/>
                  </a:solidFill>
                  <a:latin typeface="Lora"/>
                  <a:ea typeface="Lora"/>
                  <a:cs typeface="Lora"/>
                  <a:sym typeface="Lora"/>
                </a:rPr>
                <a:t>Operation of a transistor</a:t>
              </a:r>
              <a:endParaRPr sz="1867" b="1" kern="0" dirty="0">
                <a:solidFill>
                  <a:srgbClr val="000000"/>
                </a:solidFill>
                <a:latin typeface="Lora"/>
                <a:ea typeface="Lora"/>
                <a:cs typeface="Lora"/>
                <a:sym typeface="Lora"/>
              </a:endParaRPr>
            </a:p>
          </p:txBody>
        </p:sp>
        <p:cxnSp>
          <p:nvCxnSpPr>
            <p:cNvPr id="42" name="Shape 329"/>
            <p:cNvCxnSpPr/>
            <p:nvPr/>
          </p:nvCxnSpPr>
          <p:spPr>
            <a:xfrm>
              <a:off x="6100981" y="2860964"/>
              <a:ext cx="925800" cy="0"/>
            </a:xfrm>
            <a:prstGeom prst="straightConnector1">
              <a:avLst/>
            </a:prstGeom>
            <a:noFill/>
            <a:ln w="38100" cap="flat" cmpd="sng">
              <a:solidFill>
                <a:schemeClr val="bg2"/>
              </a:solidFill>
              <a:prstDash val="solid"/>
              <a:round/>
              <a:headEnd type="none" w="sm" len="sm"/>
              <a:tailEnd type="triangle" w="sm" len="sm"/>
            </a:ln>
          </p:spPr>
        </p:cxnSp>
      </p:grpSp>
      <p:pic>
        <p:nvPicPr>
          <p:cNvPr id="43" name="Pictur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7136" y="4707124"/>
            <a:ext cx="1470965" cy="1901493"/>
          </a:xfrm>
          <a:prstGeom prst="rect">
            <a:avLst/>
          </a:prstGeom>
        </p:spPr>
      </p:pic>
    </p:spTree>
    <p:extLst>
      <p:ext uri="{BB962C8B-B14F-4D97-AF65-F5344CB8AC3E}">
        <p14:creationId xmlns:p14="http://schemas.microsoft.com/office/powerpoint/2010/main" val="1945889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down)">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down)">
                                      <p:cBhvr>
                                        <p:cTn id="1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body" idx="1"/>
          </p:nvPr>
        </p:nvSpPr>
        <p:spPr>
          <a:xfrm>
            <a:off x="353963" y="2811891"/>
            <a:ext cx="11706941" cy="1093200"/>
          </a:xfrm>
          <a:prstGeom prst="rect">
            <a:avLst/>
          </a:prstGeom>
        </p:spPr>
        <p:txBody>
          <a:bodyPr spcFirstLastPara="1" wrap="square" lIns="121900" tIns="121900" rIns="121900" bIns="121900" anchor="t" anchorCtr="0">
            <a:noAutofit/>
          </a:bodyPr>
          <a:lstStyle/>
          <a:p>
            <a:pPr marL="0" indent="0">
              <a:buNone/>
            </a:pPr>
            <a:r>
              <a:rPr lang="en-GB" i="0" dirty="0"/>
              <a:t>A transistor is a three terminal solid state semiconductor device commonly used as an amplifier or a switch.</a:t>
            </a:r>
            <a:endParaRPr lang="en-GB" sz="2800" i="0" dirty="0"/>
          </a:p>
        </p:txBody>
      </p:sp>
      <p:sp>
        <p:nvSpPr>
          <p:cNvPr id="119" name="Google Shape;119;p16"/>
          <p:cNvSpPr txBox="1">
            <a:spLocks noGrp="1"/>
          </p:cNvSpPr>
          <p:nvPr>
            <p:ph type="sldNum" idx="12"/>
          </p:nvPr>
        </p:nvSpPr>
        <p:spPr>
          <a:xfrm>
            <a:off x="-167" y="6440375"/>
            <a:ext cx="12192000" cy="418000"/>
          </a:xfrm>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97ABBC"/>
                </a:solidFill>
              </a:rPr>
              <a:pPr defTabSz="1219170">
                <a:buClr>
                  <a:srgbClr val="000000"/>
                </a:buClr>
              </a:pPr>
              <a:t>4</a:t>
            </a:fld>
            <a:endParaRPr kern="0" dirty="0">
              <a:solidFill>
                <a:srgbClr val="97ABBC"/>
              </a:solidFill>
            </a:endParaRPr>
          </a:p>
        </p:txBody>
      </p:sp>
      <p:sp>
        <p:nvSpPr>
          <p:cNvPr id="4" name="Google Shape;118;p16"/>
          <p:cNvSpPr txBox="1">
            <a:spLocks/>
          </p:cNvSpPr>
          <p:nvPr/>
        </p:nvSpPr>
        <p:spPr>
          <a:xfrm>
            <a:off x="1582614" y="130192"/>
            <a:ext cx="8916052" cy="109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ctr" rtl="0">
              <a:lnSpc>
                <a:spcPct val="100000"/>
              </a:lnSpc>
              <a:spcBef>
                <a:spcPts val="600"/>
              </a:spcBef>
              <a:spcAft>
                <a:spcPts val="0"/>
              </a:spcAft>
              <a:buClr>
                <a:schemeClr val="accent6"/>
              </a:buClr>
              <a:buSzPts val="2400"/>
              <a:buFont typeface="Lato"/>
              <a:buChar char="▷"/>
              <a:defRPr sz="2400" b="0" i="1" u="none" strike="noStrike" cap="none">
                <a:solidFill>
                  <a:schemeClr val="dk1"/>
                </a:solidFill>
                <a:latin typeface="Lato"/>
                <a:ea typeface="Lato"/>
                <a:cs typeface="Lato"/>
                <a:sym typeface="Lato"/>
              </a:defRPr>
            </a:lvl1pPr>
            <a:lvl2pPr marL="914400" marR="0" lvl="1"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2pPr>
            <a:lvl3pPr marL="1371600" marR="0" lvl="2"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3pPr>
            <a:lvl4pPr marL="1828800" marR="0" lvl="3"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4pPr>
            <a:lvl5pPr marL="2286000" marR="0" lvl="4"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5pPr>
            <a:lvl6pPr marL="2743200" marR="0" lvl="5"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6pPr>
            <a:lvl7pPr marL="3200400" marR="0" lvl="6"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7pPr>
            <a:lvl8pPr marL="3657600" marR="0" lvl="7"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8pPr>
            <a:lvl9pPr marL="4114800" marR="0" lvl="8"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9pPr>
          </a:lstStyle>
          <a:p>
            <a:pPr marL="0" indent="0" defTabSz="1219170">
              <a:spcBef>
                <a:spcPts val="800"/>
              </a:spcBef>
              <a:buClr>
                <a:srgbClr val="97ABBC"/>
              </a:buClr>
              <a:buNone/>
            </a:pPr>
            <a:r>
              <a:rPr lang="en-GB" sz="4800" kern="0" dirty="0">
                <a:solidFill>
                  <a:srgbClr val="677480"/>
                </a:solidFill>
              </a:rPr>
              <a:t>1. BIPOLAR JUNCTION TRANSISTORS</a:t>
            </a:r>
            <a:endParaRPr lang="en-GB" sz="3733" kern="0" dirty="0">
              <a:solidFill>
                <a:srgbClr val="677480"/>
              </a:solidFill>
            </a:endParaRPr>
          </a:p>
        </p:txBody>
      </p:sp>
      <p:pic>
        <p:nvPicPr>
          <p:cNvPr id="2" name="Picture 1"/>
          <p:cNvPicPr>
            <a:picLocks noChangeAspect="1"/>
          </p:cNvPicPr>
          <p:nvPr/>
        </p:nvPicPr>
        <p:blipFill>
          <a:blip r:embed="rId3"/>
          <a:stretch>
            <a:fillRect/>
          </a:stretch>
        </p:blipFill>
        <p:spPr>
          <a:xfrm>
            <a:off x="3329093" y="4170188"/>
            <a:ext cx="2265680" cy="2265680"/>
          </a:xfrm>
          <a:prstGeom prst="rect">
            <a:avLst/>
          </a:prstGeom>
        </p:spPr>
      </p:pic>
      <p:pic>
        <p:nvPicPr>
          <p:cNvPr id="3" name="Picture 2"/>
          <p:cNvPicPr>
            <a:picLocks noChangeAspect="1"/>
          </p:cNvPicPr>
          <p:nvPr/>
        </p:nvPicPr>
        <p:blipFill>
          <a:blip r:embed="rId4"/>
          <a:stretch>
            <a:fillRect/>
          </a:stretch>
        </p:blipFill>
        <p:spPr>
          <a:xfrm>
            <a:off x="6408174" y="4259825"/>
            <a:ext cx="2178665" cy="2178665"/>
          </a:xfrm>
          <a:prstGeom prst="rect">
            <a:avLst/>
          </a:prstGeom>
        </p:spPr>
      </p:pic>
    </p:spTree>
    <p:extLst>
      <p:ext uri="{BB962C8B-B14F-4D97-AF65-F5344CB8AC3E}">
        <p14:creationId xmlns:p14="http://schemas.microsoft.com/office/powerpoint/2010/main" val="3818362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3794" y="177423"/>
            <a:ext cx="12064409" cy="891459"/>
          </a:xfrm>
        </p:spPr>
        <p:txBody>
          <a:bodyPr/>
          <a:lstStyle/>
          <a:p>
            <a:pPr algn="ctr"/>
            <a:r>
              <a:rPr lang="en-GB" b="1" u="sng" dirty="0">
                <a:solidFill>
                  <a:schemeClr val="bg2"/>
                </a:solidFill>
              </a:rPr>
              <a:t>Introduction</a:t>
            </a:r>
            <a:r>
              <a:rPr lang="en-GB" dirty="0">
                <a:solidFill>
                  <a:schemeClr val="bg2"/>
                </a:solidFill>
              </a:rPr>
              <a:t> </a:t>
            </a:r>
          </a:p>
        </p:txBody>
      </p:sp>
      <p:sp>
        <p:nvSpPr>
          <p:cNvPr id="6" name="Text Placeholder 5"/>
          <p:cNvSpPr>
            <a:spLocks noGrp="1"/>
          </p:cNvSpPr>
          <p:nvPr>
            <p:ph type="body" idx="1"/>
          </p:nvPr>
        </p:nvSpPr>
        <p:spPr>
          <a:xfrm>
            <a:off x="788894" y="1217664"/>
            <a:ext cx="10614212" cy="4422673"/>
          </a:xfrm>
          <a:ln>
            <a:solidFill>
              <a:schemeClr val="accent1"/>
            </a:solidFill>
          </a:ln>
        </p:spPr>
        <p:txBody>
          <a:bodyPr/>
          <a:lstStyle/>
          <a:p>
            <a:pPr algn="just">
              <a:spcAft>
                <a:spcPts val="1600"/>
              </a:spcAf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A bipolar junction transistor is a three-terminal solid-state semiconductor device commonly used as an amplifier or a switch.</a:t>
            </a:r>
          </a:p>
          <a:p>
            <a:pPr algn="just">
              <a:spcAft>
                <a:spcPts val="1600"/>
              </a:spcAf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The word </a:t>
            </a:r>
            <a:r>
              <a:rPr lang="en-GB" sz="2667" dirty="0">
                <a:solidFill>
                  <a:srgbClr val="FF0000"/>
                </a:solidFill>
                <a:latin typeface="Cambria Math" panose="02040503050406030204" pitchFamily="18" charset="0"/>
                <a:ea typeface="Cambria Math" panose="02040503050406030204" pitchFamily="18" charset="0"/>
              </a:rPr>
              <a:t>“</a:t>
            </a:r>
            <a:r>
              <a:rPr lang="en-GB" sz="2667" b="1" dirty="0">
                <a:solidFill>
                  <a:srgbClr val="FF0000"/>
                </a:solidFill>
                <a:latin typeface="Cambria Math" panose="02040503050406030204" pitchFamily="18" charset="0"/>
                <a:ea typeface="Cambria Math" panose="02040503050406030204" pitchFamily="18" charset="0"/>
              </a:rPr>
              <a:t>transistor</a:t>
            </a:r>
            <a:r>
              <a:rPr lang="en-GB" sz="2667" dirty="0">
                <a:solidFill>
                  <a:srgbClr val="FF0000"/>
                </a:solidFill>
                <a:latin typeface="Cambria Math" panose="02040503050406030204" pitchFamily="18" charset="0"/>
                <a:ea typeface="Cambria Math" panose="02040503050406030204" pitchFamily="18" charset="0"/>
              </a:rPr>
              <a:t>”</a:t>
            </a:r>
            <a:r>
              <a:rPr lang="en-GB" sz="2667" dirty="0">
                <a:solidFill>
                  <a:srgbClr val="000000"/>
                </a:solidFill>
                <a:latin typeface="Cambria Math" panose="02040503050406030204" pitchFamily="18" charset="0"/>
                <a:ea typeface="Cambria Math" panose="02040503050406030204" pitchFamily="18" charset="0"/>
              </a:rPr>
              <a:t> is a combination of the two words </a:t>
            </a:r>
            <a:r>
              <a:rPr lang="en-GB" sz="2667" dirty="0">
                <a:solidFill>
                  <a:srgbClr val="FF0000"/>
                </a:solidFill>
                <a:latin typeface="Cambria Math" panose="02040503050406030204" pitchFamily="18" charset="0"/>
                <a:ea typeface="Cambria Math" panose="02040503050406030204" pitchFamily="18" charset="0"/>
              </a:rPr>
              <a:t>“</a:t>
            </a:r>
            <a:r>
              <a:rPr lang="en-GB" sz="2667" b="1" dirty="0">
                <a:solidFill>
                  <a:srgbClr val="FF0000"/>
                </a:solidFill>
                <a:latin typeface="Cambria Math" panose="02040503050406030204" pitchFamily="18" charset="0"/>
                <a:ea typeface="Cambria Math" panose="02040503050406030204" pitchFamily="18" charset="0"/>
              </a:rPr>
              <a:t>transfer varistor</a:t>
            </a:r>
            <a:r>
              <a:rPr lang="en-GB" sz="2667" dirty="0">
                <a:solidFill>
                  <a:srgbClr val="FF0000"/>
                </a:solidFill>
                <a:latin typeface="Cambria Math" panose="02040503050406030204" pitchFamily="18" charset="0"/>
                <a:ea typeface="Cambria Math" panose="02040503050406030204" pitchFamily="18" charset="0"/>
              </a:rPr>
              <a:t>”.</a:t>
            </a:r>
          </a:p>
          <a:p>
            <a:pPr algn="just">
              <a:spcAft>
                <a:spcPts val="1600"/>
              </a:spcAf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Current conduction in the transistor is based on the movement of two majority current carriers (holes and electrons).</a:t>
            </a:r>
          </a:p>
          <a:p>
            <a:pPr algn="just">
              <a:spcAft>
                <a:spcPts val="1600"/>
              </a:spcAf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The term bipolar denotes this condition of conduction.</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5</a:t>
            </a:fld>
            <a:endParaRPr lang="en" kern="0">
              <a:solidFill>
                <a:srgbClr val="97ABBC"/>
              </a:solidFill>
            </a:endParaRPr>
          </a:p>
        </p:txBody>
      </p:sp>
    </p:spTree>
    <p:extLst>
      <p:ext uri="{BB962C8B-B14F-4D97-AF65-F5344CB8AC3E}">
        <p14:creationId xmlns:p14="http://schemas.microsoft.com/office/powerpoint/2010/main" val="3538616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8" y="177423"/>
            <a:ext cx="12064409" cy="891459"/>
          </a:xfrm>
        </p:spPr>
        <p:txBody>
          <a:bodyPr/>
          <a:lstStyle/>
          <a:p>
            <a:pPr algn="ctr"/>
            <a:r>
              <a:rPr lang="en-GB" b="1" u="sng" dirty="0">
                <a:solidFill>
                  <a:schemeClr val="bg2"/>
                </a:solidFill>
              </a:rPr>
              <a:t>Bipolar Transistor Construction</a:t>
            </a:r>
          </a:p>
        </p:txBody>
      </p:sp>
      <p:sp>
        <p:nvSpPr>
          <p:cNvPr id="6" name="Text Placeholder 5"/>
          <p:cNvSpPr>
            <a:spLocks noGrp="1"/>
          </p:cNvSpPr>
          <p:nvPr>
            <p:ph type="body" idx="1"/>
          </p:nvPr>
        </p:nvSpPr>
        <p:spPr>
          <a:xfrm>
            <a:off x="734518" y="1174115"/>
            <a:ext cx="10722964" cy="5297463"/>
          </a:xfrm>
          <a:ln>
            <a:solidFill>
              <a:schemeClr val="accent1"/>
            </a:solidFill>
          </a:ln>
        </p:spPr>
        <p:txBody>
          <a:bodyPr/>
          <a:lstStyle/>
          <a:p>
            <a:pPr algn="just">
              <a:buClr>
                <a:srgbClr val="00B050"/>
              </a:buClr>
              <a:buFont typeface="Wingdings" panose="05000000000000000000" pitchFamily="2" charset="2"/>
              <a:buChar char="Ø"/>
            </a:pPr>
            <a:r>
              <a:rPr lang="en-GB" dirty="0">
                <a:solidFill>
                  <a:srgbClr val="000000"/>
                </a:solidFill>
                <a:latin typeface="Cambria Math" panose="02040503050406030204" pitchFamily="18" charset="0"/>
                <a:ea typeface="Cambria Math" panose="02040503050406030204" pitchFamily="18" charset="0"/>
              </a:rPr>
              <a:t>A transistor consists of two PN junctions formed by sandwiching either p-type or n-type semiconductors between pairs of opposite types. </a:t>
            </a:r>
          </a:p>
          <a:p>
            <a:pPr algn="just">
              <a:buClr>
                <a:srgbClr val="00B050"/>
              </a:buClr>
              <a:buFont typeface="Wingdings" panose="05000000000000000000" pitchFamily="2" charset="2"/>
              <a:buChar char="Ø"/>
            </a:pPr>
            <a:r>
              <a:rPr lang="en-GB" dirty="0">
                <a:solidFill>
                  <a:srgbClr val="000000"/>
                </a:solidFill>
                <a:latin typeface="Cambria Math" panose="02040503050406030204" pitchFamily="18" charset="0"/>
                <a:ea typeface="Cambria Math" panose="02040503050406030204" pitchFamily="18" charset="0"/>
              </a:rPr>
              <a:t>Accordingly, there are two types of transistors, namely:</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NPN transistor</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PNP transistor</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6</a:t>
            </a:fld>
            <a:endParaRPr lang="en" kern="0">
              <a:solidFill>
                <a:srgbClr val="97ABBC"/>
              </a:solidFill>
            </a:endParaRPr>
          </a:p>
        </p:txBody>
      </p:sp>
      <p:pic>
        <p:nvPicPr>
          <p:cNvPr id="2" name="Picture 1"/>
          <p:cNvPicPr>
            <a:picLocks noChangeAspect="1"/>
          </p:cNvPicPr>
          <p:nvPr/>
        </p:nvPicPr>
        <p:blipFill rotWithShape="1">
          <a:blip r:embed="rId2"/>
          <a:srcRect b="59773"/>
          <a:stretch/>
        </p:blipFill>
        <p:spPr>
          <a:xfrm>
            <a:off x="2014032" y="3534063"/>
            <a:ext cx="7748081" cy="2728515"/>
          </a:xfrm>
          <a:prstGeom prst="rect">
            <a:avLst/>
          </a:prstGeom>
        </p:spPr>
      </p:pic>
    </p:spTree>
    <p:extLst>
      <p:ext uri="{BB962C8B-B14F-4D97-AF65-F5344CB8AC3E}">
        <p14:creationId xmlns:p14="http://schemas.microsoft.com/office/powerpoint/2010/main" val="4088338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6961" y="123145"/>
            <a:ext cx="10865552" cy="891459"/>
          </a:xfrm>
        </p:spPr>
        <p:txBody>
          <a:bodyPr/>
          <a:lstStyle/>
          <a:p>
            <a:pPr algn="ctr"/>
            <a:r>
              <a:rPr lang="en-GB" b="1" u="sng" dirty="0">
                <a:solidFill>
                  <a:schemeClr val="bg2"/>
                </a:solidFill>
              </a:rPr>
              <a:t>Bipolar Transistor Construction</a:t>
            </a:r>
          </a:p>
        </p:txBody>
      </p:sp>
      <p:sp>
        <p:nvSpPr>
          <p:cNvPr id="6" name="Text Placeholder 5"/>
          <p:cNvSpPr>
            <a:spLocks noGrp="1"/>
          </p:cNvSpPr>
          <p:nvPr>
            <p:ph type="body" idx="1"/>
          </p:nvPr>
        </p:nvSpPr>
        <p:spPr>
          <a:xfrm>
            <a:off x="367078" y="1174115"/>
            <a:ext cx="11457845" cy="5297463"/>
          </a:xfrm>
          <a:ln>
            <a:solidFill>
              <a:schemeClr val="accent1"/>
            </a:solidFill>
          </a:ln>
        </p:spPr>
        <p:txBody>
          <a:bodyPr/>
          <a:lstStyle/>
          <a:p>
            <a:pPr algn="jus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Diodes are made from two pieces of semiconductor material to form a simple pn junction.</a:t>
            </a:r>
          </a:p>
          <a:p>
            <a:pPr algn="just">
              <a:buClr>
                <a:srgbClr val="00B050"/>
              </a:buClr>
              <a:buFont typeface="Wingdings" panose="05000000000000000000" pitchFamily="2" charset="2"/>
              <a:buChar char="Ø"/>
            </a:pPr>
            <a:r>
              <a:rPr lang="en-GB" sz="2667" dirty="0">
                <a:solidFill>
                  <a:srgbClr val="000000"/>
                </a:solidFill>
                <a:latin typeface="Cambria Math" panose="02040503050406030204" pitchFamily="18" charset="0"/>
                <a:ea typeface="Cambria Math" panose="02040503050406030204" pitchFamily="18" charset="0"/>
              </a:rPr>
              <a:t>When two individual diodes are joined back-to-back, we get </a:t>
            </a:r>
            <a:r>
              <a:rPr lang="en-GB" sz="2667" b="1" dirty="0">
                <a:solidFill>
                  <a:srgbClr val="000000"/>
                </a:solidFill>
                <a:latin typeface="Cambria Math" panose="02040503050406030204" pitchFamily="18" charset="0"/>
                <a:ea typeface="Cambria Math" panose="02040503050406030204" pitchFamily="18" charset="0"/>
              </a:rPr>
              <a:t>two pn junctions </a:t>
            </a:r>
            <a:r>
              <a:rPr lang="en-GB" sz="2667" dirty="0">
                <a:solidFill>
                  <a:srgbClr val="000000"/>
                </a:solidFill>
                <a:latin typeface="Cambria Math" panose="02040503050406030204" pitchFamily="18" charset="0"/>
                <a:ea typeface="Cambria Math" panose="02040503050406030204" pitchFamily="18" charset="0"/>
              </a:rPr>
              <a:t>connected together in series that share a common P or N terminal. </a:t>
            </a:r>
            <a:endParaRPr lang="en-GB" sz="2667" baseline="-25000" dirty="0">
              <a:solidFill>
                <a:srgbClr val="000000"/>
              </a:solidFill>
              <a:latin typeface="Lato" panose="020B0604020202020204" charset="0"/>
              <a:ea typeface="Cambria Math" panose="02040503050406030204" pitchFamily="18" charset="0"/>
            </a:endParaRPr>
          </a:p>
          <a:p>
            <a:pPr marL="152396" indent="0" algn="just">
              <a:buNone/>
            </a:pPr>
            <a:endParaRPr lang="en-GB" sz="2667"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7</a:t>
            </a:fld>
            <a:endParaRPr lang="en" kern="0">
              <a:solidFill>
                <a:srgbClr val="97ABBC"/>
              </a:solidFill>
            </a:endParaRPr>
          </a:p>
        </p:txBody>
      </p:sp>
      <p:pic>
        <p:nvPicPr>
          <p:cNvPr id="2" name="Picture 1"/>
          <p:cNvPicPr>
            <a:picLocks noChangeAspect="1"/>
          </p:cNvPicPr>
          <p:nvPr/>
        </p:nvPicPr>
        <p:blipFill rotWithShape="1">
          <a:blip r:embed="rId2"/>
          <a:srcRect b="89538"/>
          <a:stretch/>
        </p:blipFill>
        <p:spPr>
          <a:xfrm>
            <a:off x="2099568" y="3558836"/>
            <a:ext cx="7748081" cy="709625"/>
          </a:xfrm>
          <a:prstGeom prst="rect">
            <a:avLst/>
          </a:prstGeom>
        </p:spPr>
      </p:pic>
      <p:pic>
        <p:nvPicPr>
          <p:cNvPr id="3" name="Picture 2"/>
          <p:cNvPicPr>
            <a:picLocks noChangeAspect="1"/>
          </p:cNvPicPr>
          <p:nvPr/>
        </p:nvPicPr>
        <p:blipFill rotWithShape="1">
          <a:blip r:embed="rId3"/>
          <a:srcRect t="40416" b="36766"/>
          <a:stretch/>
        </p:blipFill>
        <p:spPr>
          <a:xfrm>
            <a:off x="2218608" y="4268460"/>
            <a:ext cx="7754784" cy="1546941"/>
          </a:xfrm>
          <a:prstGeom prst="rect">
            <a:avLst/>
          </a:prstGeom>
        </p:spPr>
      </p:pic>
    </p:spTree>
    <p:extLst>
      <p:ext uri="{BB962C8B-B14F-4D97-AF65-F5344CB8AC3E}">
        <p14:creationId xmlns:p14="http://schemas.microsoft.com/office/powerpoint/2010/main" val="3581752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475152" cy="891459"/>
          </a:xfrm>
        </p:spPr>
        <p:txBody>
          <a:bodyPr/>
          <a:lstStyle/>
          <a:p>
            <a:pPr algn="ctr"/>
            <a:r>
              <a:rPr lang="en-GB" b="1" u="sng" dirty="0">
                <a:solidFill>
                  <a:schemeClr val="bg2"/>
                </a:solidFill>
              </a:rPr>
              <a:t>Terminals of a Bipolar Transistor </a:t>
            </a:r>
          </a:p>
        </p:txBody>
      </p:sp>
      <p:sp>
        <p:nvSpPr>
          <p:cNvPr id="6" name="Text Placeholder 5"/>
          <p:cNvSpPr>
            <a:spLocks noGrp="1"/>
          </p:cNvSpPr>
          <p:nvPr>
            <p:ph type="body" idx="1"/>
          </p:nvPr>
        </p:nvSpPr>
        <p:spPr>
          <a:xfrm>
            <a:off x="732093" y="928287"/>
            <a:ext cx="10727815" cy="5297463"/>
          </a:xfrm>
          <a:ln>
            <a:solidFill>
              <a:schemeClr val="bg2"/>
            </a:solidFill>
          </a:ln>
        </p:spPr>
        <p:txBody>
          <a:bodyPr/>
          <a:lstStyle/>
          <a:p>
            <a:pPr>
              <a:buClr>
                <a:srgbClr val="00B050"/>
              </a:buClr>
              <a:buFont typeface="Wingdings" panose="05000000000000000000" pitchFamily="2" charset="2"/>
              <a:buChar char="Ø"/>
            </a:pPr>
            <a:r>
              <a:rPr lang="en-GB" b="1" dirty="0">
                <a:solidFill>
                  <a:srgbClr val="000000"/>
                </a:solidFill>
                <a:latin typeface="Cambria Math" panose="02040503050406030204" pitchFamily="18" charset="0"/>
                <a:ea typeface="Cambria Math" panose="02040503050406030204" pitchFamily="18" charset="0"/>
              </a:rPr>
              <a:t>The three (3) terminals of a BJT(NPN or PNP) are:</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Emitter (E)</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Base (B)</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Collector (C)</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8</a:t>
            </a:fld>
            <a:endParaRPr lang="en" kern="0">
              <a:solidFill>
                <a:srgbClr val="97ABBC"/>
              </a:solidFill>
            </a:endParaRPr>
          </a:p>
        </p:txBody>
      </p:sp>
      <p:pic>
        <p:nvPicPr>
          <p:cNvPr id="7" name="Picture 6"/>
          <p:cNvPicPr>
            <a:picLocks noChangeAspect="1"/>
          </p:cNvPicPr>
          <p:nvPr/>
        </p:nvPicPr>
        <p:blipFill rotWithShape="1">
          <a:blip r:embed="rId2"/>
          <a:srcRect l="56681" r="1019" b="88764"/>
          <a:stretch/>
        </p:blipFill>
        <p:spPr>
          <a:xfrm>
            <a:off x="7053007" y="3131510"/>
            <a:ext cx="3041455" cy="707197"/>
          </a:xfrm>
          <a:prstGeom prst="rect">
            <a:avLst/>
          </a:prstGeom>
        </p:spPr>
      </p:pic>
      <p:pic>
        <p:nvPicPr>
          <p:cNvPr id="9" name="Picture 8"/>
          <p:cNvPicPr>
            <a:picLocks noChangeAspect="1"/>
          </p:cNvPicPr>
          <p:nvPr/>
        </p:nvPicPr>
        <p:blipFill rotWithShape="1">
          <a:blip r:embed="rId3"/>
          <a:srcRect l="51699" r="185"/>
          <a:stretch/>
        </p:blipFill>
        <p:spPr>
          <a:xfrm>
            <a:off x="6948127" y="4030867"/>
            <a:ext cx="2594560" cy="2011064"/>
          </a:xfrm>
          <a:prstGeom prst="rect">
            <a:avLst/>
          </a:prstGeom>
        </p:spPr>
      </p:pic>
      <p:pic>
        <p:nvPicPr>
          <p:cNvPr id="10" name="Picture 9"/>
          <p:cNvPicPr>
            <a:picLocks noChangeAspect="1"/>
          </p:cNvPicPr>
          <p:nvPr/>
        </p:nvPicPr>
        <p:blipFill>
          <a:blip r:embed="rId4"/>
          <a:stretch>
            <a:fillRect/>
          </a:stretch>
        </p:blipFill>
        <p:spPr>
          <a:xfrm>
            <a:off x="1156419" y="4028970"/>
            <a:ext cx="2880932" cy="2088676"/>
          </a:xfrm>
          <a:prstGeom prst="rect">
            <a:avLst/>
          </a:prstGeom>
        </p:spPr>
      </p:pic>
      <p:pic>
        <p:nvPicPr>
          <p:cNvPr id="11" name="Picture 10"/>
          <p:cNvPicPr>
            <a:picLocks noChangeAspect="1"/>
          </p:cNvPicPr>
          <p:nvPr/>
        </p:nvPicPr>
        <p:blipFill>
          <a:blip r:embed="rId5"/>
          <a:stretch>
            <a:fillRect/>
          </a:stretch>
        </p:blipFill>
        <p:spPr>
          <a:xfrm>
            <a:off x="1156419" y="3062291"/>
            <a:ext cx="3344220" cy="707197"/>
          </a:xfrm>
          <a:prstGeom prst="rect">
            <a:avLst/>
          </a:prstGeom>
        </p:spPr>
      </p:pic>
    </p:spTree>
    <p:extLst>
      <p:ext uri="{BB962C8B-B14F-4D97-AF65-F5344CB8AC3E}">
        <p14:creationId xmlns:p14="http://schemas.microsoft.com/office/powerpoint/2010/main" val="1492657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515125" cy="891459"/>
          </a:xfrm>
        </p:spPr>
        <p:txBody>
          <a:bodyPr/>
          <a:lstStyle/>
          <a:p>
            <a:pPr algn="ctr"/>
            <a:r>
              <a:rPr lang="en-GB" b="1" u="sng" dirty="0">
                <a:solidFill>
                  <a:schemeClr val="bg2"/>
                </a:solidFill>
              </a:rPr>
              <a:t>Terminals of a Bipolar Transistor </a:t>
            </a:r>
          </a:p>
        </p:txBody>
      </p:sp>
      <p:sp>
        <p:nvSpPr>
          <p:cNvPr id="6" name="Text Placeholder 5"/>
          <p:cNvSpPr>
            <a:spLocks noGrp="1"/>
          </p:cNvSpPr>
          <p:nvPr>
            <p:ph type="body" idx="1"/>
          </p:nvPr>
        </p:nvSpPr>
        <p:spPr>
          <a:xfrm>
            <a:off x="479685" y="965115"/>
            <a:ext cx="11232631" cy="5297463"/>
          </a:xfrm>
          <a:ln>
            <a:solidFill>
              <a:schemeClr val="accent1"/>
            </a:solidFill>
          </a:ln>
        </p:spPr>
        <p:txBody>
          <a:bodyPr/>
          <a:lstStyle/>
          <a:p>
            <a:pPr>
              <a:buClr>
                <a:srgbClr val="00B050"/>
              </a:buClr>
              <a:buFont typeface="Wingdings" panose="05000000000000000000" pitchFamily="2" charset="2"/>
              <a:buChar char="Ø"/>
            </a:pPr>
            <a:r>
              <a:rPr lang="en-GB" sz="2667" dirty="0">
                <a:solidFill>
                  <a:srgbClr val="FF0000"/>
                </a:solidFill>
                <a:latin typeface="Cambria Math" panose="02040503050406030204" pitchFamily="18" charset="0"/>
                <a:ea typeface="Cambria Math" panose="02040503050406030204" pitchFamily="18" charset="0"/>
              </a:rPr>
              <a:t>The junction between emitter and base is called the </a:t>
            </a:r>
            <a:r>
              <a:rPr lang="en-GB" sz="2667" b="1" dirty="0">
                <a:solidFill>
                  <a:srgbClr val="FF0000"/>
                </a:solidFill>
                <a:latin typeface="Cambria Math" panose="02040503050406030204" pitchFamily="18" charset="0"/>
                <a:ea typeface="Cambria Math" panose="02040503050406030204" pitchFamily="18" charset="0"/>
              </a:rPr>
              <a:t>emitter-base junction </a:t>
            </a:r>
            <a:r>
              <a:rPr lang="en-GB" sz="2667" dirty="0">
                <a:solidFill>
                  <a:srgbClr val="FF0000"/>
                </a:solidFill>
                <a:latin typeface="Cambria Math" panose="02040503050406030204" pitchFamily="18" charset="0"/>
                <a:ea typeface="Cambria Math" panose="02040503050406030204" pitchFamily="18" charset="0"/>
              </a:rPr>
              <a:t>while the junction between the collector and base is called the </a:t>
            </a:r>
            <a:r>
              <a:rPr lang="en-GB" sz="2667" b="1" dirty="0">
                <a:solidFill>
                  <a:srgbClr val="FF0000"/>
                </a:solidFill>
                <a:latin typeface="Cambria Math" panose="02040503050406030204" pitchFamily="18" charset="0"/>
                <a:ea typeface="Cambria Math" panose="02040503050406030204" pitchFamily="18" charset="0"/>
              </a:rPr>
              <a:t>collector-base junction</a:t>
            </a:r>
            <a:r>
              <a:rPr lang="en-GB" sz="2667" dirty="0">
                <a:solidFill>
                  <a:srgbClr val="FF0000"/>
                </a:solidFill>
                <a:latin typeface="Cambria Math" panose="02040503050406030204" pitchFamily="18" charset="0"/>
                <a:ea typeface="Cambria Math" panose="02040503050406030204" pitchFamily="18" charset="0"/>
              </a:rPr>
              <a:t>.</a:t>
            </a:r>
            <a:endParaRPr lang="en-GB" sz="2667" b="1" dirty="0">
              <a:solidFill>
                <a:srgbClr val="FF0000"/>
              </a:solidFill>
              <a:latin typeface="Cambria Math" panose="02040503050406030204" pitchFamily="18" charset="0"/>
              <a:ea typeface="Cambria Math" panose="02040503050406030204" pitchFamily="18" charset="0"/>
            </a:endParaRPr>
          </a:p>
          <a:p>
            <a:pPr>
              <a:buClr>
                <a:srgbClr val="00B050"/>
              </a:buClr>
              <a:buFont typeface="Wingdings" panose="05000000000000000000" pitchFamily="2" charset="2"/>
              <a:buChar char="v"/>
            </a:pPr>
            <a:r>
              <a:rPr lang="en-GB" sz="2667" b="1" dirty="0">
                <a:solidFill>
                  <a:schemeClr val="accent1">
                    <a:lumMod val="75000"/>
                  </a:schemeClr>
                </a:solidFill>
                <a:latin typeface="Cambria Math" panose="02040503050406030204" pitchFamily="18" charset="0"/>
                <a:ea typeface="Cambria Math" panose="02040503050406030204" pitchFamily="18" charset="0"/>
              </a:rPr>
              <a:t>Base (B)</a:t>
            </a:r>
          </a:p>
          <a:p>
            <a:pPr>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base is thin and lightly doped. </a:t>
            </a:r>
          </a:p>
          <a:p>
            <a:pPr>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By making the base very thin and the impurity concentration in the base much less than in the emitter and collector, free electrons(holes) emerging from the emitter have little chance of combining with the holes(electrons) in the base with the result that only about 98% of these electrons(holes) reach the collector.</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9</a:t>
            </a:fld>
            <a:endParaRPr lang="en" kern="0">
              <a:solidFill>
                <a:srgbClr val="97ABBC"/>
              </a:solidFill>
            </a:endParaRPr>
          </a:p>
        </p:txBody>
      </p:sp>
    </p:spTree>
    <p:extLst>
      <p:ext uri="{BB962C8B-B14F-4D97-AF65-F5344CB8AC3E}">
        <p14:creationId xmlns:p14="http://schemas.microsoft.com/office/powerpoint/2010/main" val="2660794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525120" cy="891459"/>
          </a:xfrm>
        </p:spPr>
        <p:txBody>
          <a:bodyPr/>
          <a:lstStyle/>
          <a:p>
            <a:pPr algn="ctr"/>
            <a:r>
              <a:rPr lang="en-GB" b="1" u="sng" dirty="0">
                <a:solidFill>
                  <a:schemeClr val="bg2"/>
                </a:solidFill>
              </a:rPr>
              <a:t>Terminals of a Bipolar Transistor </a:t>
            </a:r>
          </a:p>
        </p:txBody>
      </p:sp>
      <p:sp>
        <p:nvSpPr>
          <p:cNvPr id="6" name="Text Placeholder 5"/>
          <p:cNvSpPr>
            <a:spLocks noGrp="1"/>
          </p:cNvSpPr>
          <p:nvPr>
            <p:ph type="body" idx="1"/>
          </p:nvPr>
        </p:nvSpPr>
        <p:spPr>
          <a:xfrm>
            <a:off x="469693" y="891459"/>
            <a:ext cx="11272603" cy="5297463"/>
          </a:xfrm>
          <a:ln>
            <a:solidFill>
              <a:schemeClr val="accent1"/>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Emitter (E)</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emitter is heavily doped.</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Its main function is to supply the majority charge carriers (either electrons or holes) to the base. </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It is wider when compared to the base.</a:t>
            </a:r>
          </a:p>
          <a:p>
            <a:pPr marL="152396" indent="0">
              <a:buNone/>
            </a:pPr>
            <a:r>
              <a:rPr lang="en-GB" b="1" dirty="0">
                <a:solidFill>
                  <a:schemeClr val="accent5"/>
                </a:solidFill>
                <a:latin typeface="Cambria Math" panose="02040503050406030204" pitchFamily="18" charset="0"/>
                <a:ea typeface="Cambria Math" panose="02040503050406030204" pitchFamily="18" charset="0"/>
              </a:rPr>
              <a:t>Collector (C)</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collector is moderately doped.</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Its main function is to collect the majority charge carriers coming from the emitter and passing through the base.</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width of the collector is more when compared to both the base and emitter to help dissipate heat that might be associated with the operation of the transistor.</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10</a:t>
            </a:fld>
            <a:endParaRPr lang="en" kern="0">
              <a:solidFill>
                <a:srgbClr val="97ABBC"/>
              </a:solidFill>
            </a:endParaRPr>
          </a:p>
        </p:txBody>
      </p:sp>
    </p:spTree>
    <p:extLst>
      <p:ext uri="{BB962C8B-B14F-4D97-AF65-F5344CB8AC3E}">
        <p14:creationId xmlns:p14="http://schemas.microsoft.com/office/powerpoint/2010/main" val="3460884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77071" y="85096"/>
            <a:ext cx="11515127" cy="891459"/>
          </a:xfrm>
        </p:spPr>
        <p:txBody>
          <a:bodyPr/>
          <a:lstStyle/>
          <a:p>
            <a:pPr algn="ctr"/>
            <a:r>
              <a:rPr lang="en-GB" b="1" u="sng" dirty="0">
                <a:solidFill>
                  <a:schemeClr val="bg2"/>
                </a:solidFill>
              </a:rPr>
              <a:t>PNP vs NPN Transistor </a:t>
            </a:r>
          </a:p>
        </p:txBody>
      </p:sp>
      <p:sp>
        <p:nvSpPr>
          <p:cNvPr id="6" name="Text Placeholder 5"/>
          <p:cNvSpPr>
            <a:spLocks noGrp="1"/>
          </p:cNvSpPr>
          <p:nvPr>
            <p:ph type="body" idx="1"/>
          </p:nvPr>
        </p:nvSpPr>
        <p:spPr>
          <a:xfrm>
            <a:off x="588854" y="1029713"/>
            <a:ext cx="11014292" cy="5297463"/>
          </a:xfrm>
          <a:ln>
            <a:solidFill>
              <a:schemeClr val="accent1"/>
            </a:solidFill>
          </a:ln>
        </p:spPr>
        <p:txBody>
          <a:bodyPr/>
          <a:lstStyle/>
          <a:p>
            <a:pPr marL="152396" indent="0" algn="just">
              <a:buNone/>
            </a:pPr>
            <a:r>
              <a:rPr lang="en-GB" b="1" dirty="0">
                <a:solidFill>
                  <a:srgbClr val="000000"/>
                </a:solidFill>
                <a:latin typeface="Cambria Math" panose="02040503050406030204" pitchFamily="18" charset="0"/>
                <a:ea typeface="Cambria Math" panose="02040503050406030204" pitchFamily="18" charset="0"/>
              </a:rPr>
              <a:t>In order to distinguish the emitter and collector, an arrow is included on the emitter.</a:t>
            </a:r>
          </a:p>
          <a:p>
            <a:pPr algn="just">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For a PNP transistor, the arrowhead points from emitter to base meaning that the emitter is positive with respect to the base.</a:t>
            </a:r>
          </a:p>
          <a:p>
            <a:pPr algn="just">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For an NPN transistor, the arrowhead points from base to emitter meaning that the base is positive with respect to the emitter.</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11</a:t>
            </a:fld>
            <a:endParaRPr lang="en" kern="0">
              <a:solidFill>
                <a:srgbClr val="97ABBC"/>
              </a:solidFill>
            </a:endParaRPr>
          </a:p>
        </p:txBody>
      </p:sp>
      <p:pic>
        <p:nvPicPr>
          <p:cNvPr id="7" name="Picture 6"/>
          <p:cNvPicPr>
            <a:picLocks noChangeAspect="1"/>
          </p:cNvPicPr>
          <p:nvPr/>
        </p:nvPicPr>
        <p:blipFill rotWithShape="1">
          <a:blip r:embed="rId2"/>
          <a:srcRect l="56681" r="1019" b="88764"/>
          <a:stretch/>
        </p:blipFill>
        <p:spPr>
          <a:xfrm>
            <a:off x="6515511" y="3682116"/>
            <a:ext cx="3277420" cy="762064"/>
          </a:xfrm>
          <a:prstGeom prst="rect">
            <a:avLst/>
          </a:prstGeom>
        </p:spPr>
      </p:pic>
      <p:pic>
        <p:nvPicPr>
          <p:cNvPr id="1026" name="Picture 2" descr="Difference Between NPN and PNP Transis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4064" y="4612878"/>
            <a:ext cx="1264000" cy="14870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7060242" y="4497337"/>
            <a:ext cx="1300727" cy="1530267"/>
          </a:xfrm>
          <a:prstGeom prst="rect">
            <a:avLst/>
          </a:prstGeom>
        </p:spPr>
      </p:pic>
      <p:pic>
        <p:nvPicPr>
          <p:cNvPr id="11" name="Picture 10"/>
          <p:cNvPicPr>
            <a:picLocks noChangeAspect="1"/>
          </p:cNvPicPr>
          <p:nvPr/>
        </p:nvPicPr>
        <p:blipFill>
          <a:blip r:embed="rId5"/>
          <a:stretch>
            <a:fillRect/>
          </a:stretch>
        </p:blipFill>
        <p:spPr>
          <a:xfrm>
            <a:off x="1088103" y="3678444"/>
            <a:ext cx="4015580" cy="707197"/>
          </a:xfrm>
          <a:prstGeom prst="rect">
            <a:avLst/>
          </a:prstGeom>
        </p:spPr>
      </p:pic>
    </p:spTree>
    <p:extLst>
      <p:ext uri="{BB962C8B-B14F-4D97-AF65-F5344CB8AC3E}">
        <p14:creationId xmlns:p14="http://schemas.microsoft.com/office/powerpoint/2010/main" val="538733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body" idx="1"/>
          </p:nvPr>
        </p:nvSpPr>
        <p:spPr>
          <a:xfrm>
            <a:off x="1" y="2907176"/>
            <a:ext cx="12153335" cy="1093200"/>
          </a:xfrm>
          <a:prstGeom prst="rect">
            <a:avLst/>
          </a:prstGeom>
        </p:spPr>
        <p:txBody>
          <a:bodyPr spcFirstLastPara="1" wrap="square" lIns="121900" tIns="121900" rIns="121900" bIns="121900" anchor="t" anchorCtr="0">
            <a:noAutofit/>
          </a:bodyPr>
          <a:lstStyle/>
          <a:p>
            <a:pPr marL="0" indent="0">
              <a:buNone/>
            </a:pPr>
            <a:r>
              <a:rPr lang="en-GB" i="0" dirty="0"/>
              <a:t>How does a transistor work?</a:t>
            </a:r>
            <a:endParaRPr lang="en-GB" sz="2800" i="0" dirty="0"/>
          </a:p>
        </p:txBody>
      </p:sp>
      <p:sp>
        <p:nvSpPr>
          <p:cNvPr id="119" name="Google Shape;119;p16"/>
          <p:cNvSpPr txBox="1">
            <a:spLocks noGrp="1"/>
          </p:cNvSpPr>
          <p:nvPr>
            <p:ph type="sldNum" idx="12"/>
          </p:nvPr>
        </p:nvSpPr>
        <p:spPr>
          <a:xfrm>
            <a:off x="-167" y="6440375"/>
            <a:ext cx="12192000" cy="418000"/>
          </a:xfrm>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97ABBC"/>
                </a:solidFill>
              </a:rPr>
              <a:pPr defTabSz="1219170">
                <a:buClr>
                  <a:srgbClr val="000000"/>
                </a:buClr>
              </a:pPr>
              <a:t>12</a:t>
            </a:fld>
            <a:endParaRPr kern="0" dirty="0">
              <a:solidFill>
                <a:srgbClr val="97ABBC"/>
              </a:solidFill>
            </a:endParaRPr>
          </a:p>
        </p:txBody>
      </p:sp>
      <p:sp>
        <p:nvSpPr>
          <p:cNvPr id="4" name="Google Shape;118;p16"/>
          <p:cNvSpPr txBox="1">
            <a:spLocks/>
          </p:cNvSpPr>
          <p:nvPr/>
        </p:nvSpPr>
        <p:spPr>
          <a:xfrm>
            <a:off x="1811597" y="264785"/>
            <a:ext cx="8899009" cy="109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ctr" rtl="0">
              <a:lnSpc>
                <a:spcPct val="100000"/>
              </a:lnSpc>
              <a:spcBef>
                <a:spcPts val="600"/>
              </a:spcBef>
              <a:spcAft>
                <a:spcPts val="0"/>
              </a:spcAft>
              <a:buClr>
                <a:schemeClr val="accent6"/>
              </a:buClr>
              <a:buSzPts val="2400"/>
              <a:buFont typeface="Lato"/>
              <a:buChar char="▷"/>
              <a:defRPr sz="2400" b="0" i="1" u="none" strike="noStrike" cap="none">
                <a:solidFill>
                  <a:schemeClr val="dk1"/>
                </a:solidFill>
                <a:latin typeface="Lato"/>
                <a:ea typeface="Lato"/>
                <a:cs typeface="Lato"/>
                <a:sym typeface="Lato"/>
              </a:defRPr>
            </a:lvl1pPr>
            <a:lvl2pPr marL="914400" marR="0" lvl="1"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2pPr>
            <a:lvl3pPr marL="1371600" marR="0" lvl="2"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3pPr>
            <a:lvl4pPr marL="1828800" marR="0" lvl="3"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4pPr>
            <a:lvl5pPr marL="2286000" marR="0" lvl="4"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5pPr>
            <a:lvl6pPr marL="2743200" marR="0" lvl="5"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6pPr>
            <a:lvl7pPr marL="3200400" marR="0" lvl="6"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7pPr>
            <a:lvl8pPr marL="3657600" marR="0" lvl="7"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8pPr>
            <a:lvl9pPr marL="4114800" marR="0" lvl="8"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9pPr>
          </a:lstStyle>
          <a:p>
            <a:pPr marL="0" indent="0" defTabSz="1219170">
              <a:spcBef>
                <a:spcPts val="800"/>
              </a:spcBef>
              <a:buClr>
                <a:srgbClr val="97ABBC"/>
              </a:buClr>
              <a:buNone/>
            </a:pPr>
            <a:r>
              <a:rPr lang="en-GB" sz="4800" kern="0" dirty="0">
                <a:solidFill>
                  <a:srgbClr val="677480"/>
                </a:solidFill>
              </a:rPr>
              <a:t>2. OPERATION OF A TRANSISTOR</a:t>
            </a:r>
          </a:p>
          <a:p>
            <a:pPr marL="0" indent="0" defTabSz="1219170">
              <a:spcBef>
                <a:spcPts val="800"/>
              </a:spcBef>
              <a:buClr>
                <a:srgbClr val="97ABBC"/>
              </a:buClr>
              <a:buNone/>
            </a:pPr>
            <a:br>
              <a:rPr lang="en-GB" sz="4800" kern="0" dirty="0">
                <a:solidFill>
                  <a:srgbClr val="677480"/>
                </a:solidFill>
              </a:rPr>
            </a:br>
            <a:endParaRPr lang="en-GB" sz="3733" kern="0" dirty="0">
              <a:solidFill>
                <a:srgbClr val="677480"/>
              </a:solidFill>
            </a:endParaRPr>
          </a:p>
        </p:txBody>
      </p:sp>
      <p:pic>
        <p:nvPicPr>
          <p:cNvPr id="3" name="Picture 2"/>
          <p:cNvPicPr>
            <a:picLocks noChangeAspect="1"/>
          </p:cNvPicPr>
          <p:nvPr/>
        </p:nvPicPr>
        <p:blipFill>
          <a:blip r:embed="rId3"/>
          <a:stretch>
            <a:fillRect/>
          </a:stretch>
        </p:blipFill>
        <p:spPr>
          <a:xfrm>
            <a:off x="4832295" y="4153583"/>
            <a:ext cx="2259780" cy="2267908"/>
          </a:xfrm>
          <a:prstGeom prst="rect">
            <a:avLst/>
          </a:prstGeom>
        </p:spPr>
      </p:pic>
    </p:spTree>
    <p:extLst>
      <p:ext uri="{BB962C8B-B14F-4D97-AF65-F5344CB8AC3E}">
        <p14:creationId xmlns:p14="http://schemas.microsoft.com/office/powerpoint/2010/main" val="3177094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408155" cy="917677"/>
          </a:xfrm>
        </p:spPr>
        <p:txBody>
          <a:bodyPr/>
          <a:lstStyle/>
          <a:p>
            <a:pPr algn="ctr"/>
            <a:r>
              <a:rPr lang="en-GB" b="1" u="sng" dirty="0">
                <a:solidFill>
                  <a:schemeClr val="bg2"/>
                </a:solidFill>
              </a:rPr>
              <a:t>Transistor Currents </a:t>
            </a:r>
          </a:p>
        </p:txBody>
      </p:sp>
      <p:sp>
        <p:nvSpPr>
          <p:cNvPr id="6" name="Text Placeholder 5"/>
          <p:cNvSpPr>
            <a:spLocks noGrp="1"/>
          </p:cNvSpPr>
          <p:nvPr>
            <p:ph type="body" idx="1"/>
          </p:nvPr>
        </p:nvSpPr>
        <p:spPr>
          <a:xfrm>
            <a:off x="367077" y="993334"/>
            <a:ext cx="11408156" cy="5297463"/>
          </a:xfrm>
          <a:ln>
            <a:solidFill>
              <a:schemeClr val="accent1"/>
            </a:solidFill>
          </a:ln>
        </p:spPr>
        <p:txBody>
          <a:bodyPr/>
          <a:lstStyle/>
          <a:p>
            <a:pPr marL="152396" indent="0">
              <a:buNone/>
            </a:pPr>
            <a:r>
              <a:rPr lang="en-GB" b="1" dirty="0">
                <a:solidFill>
                  <a:srgbClr val="000000"/>
                </a:solidFill>
                <a:latin typeface="Cambria Math" panose="02040503050406030204" pitchFamily="18" charset="0"/>
                <a:ea typeface="Cambria Math" panose="02040503050406030204" pitchFamily="18" charset="0"/>
              </a:rPr>
              <a:t>There are three currents in a transistor:</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Emitter Current, I</a:t>
            </a:r>
            <a:r>
              <a:rPr lang="en-GB" b="1" baseline="-25000" dirty="0">
                <a:solidFill>
                  <a:srgbClr val="000000"/>
                </a:solidFill>
                <a:latin typeface="Cambria Math" panose="02040503050406030204" pitchFamily="18" charset="0"/>
                <a:ea typeface="Cambria Math" panose="02040503050406030204" pitchFamily="18" charset="0"/>
              </a:rPr>
              <a:t>E</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Collector Current, I</a:t>
            </a:r>
            <a:r>
              <a:rPr lang="en-GB" b="1" baseline="-25000" dirty="0">
                <a:solidFill>
                  <a:srgbClr val="000000"/>
                </a:solidFill>
                <a:latin typeface="Cambria Math" panose="02040503050406030204" pitchFamily="18" charset="0"/>
                <a:ea typeface="Cambria Math" panose="02040503050406030204" pitchFamily="18" charset="0"/>
              </a:rPr>
              <a:t>C</a:t>
            </a:r>
          </a:p>
          <a:p>
            <a:pPr>
              <a:buFont typeface="Arial" panose="020B0604020202020204" pitchFamily="34" charset="0"/>
              <a:buChar char="•"/>
            </a:pPr>
            <a:r>
              <a:rPr lang="en-GB" b="1" dirty="0">
                <a:solidFill>
                  <a:srgbClr val="000000"/>
                </a:solidFill>
                <a:latin typeface="Cambria Math" panose="02040503050406030204" pitchFamily="18" charset="0"/>
                <a:ea typeface="Cambria Math" panose="02040503050406030204" pitchFamily="18" charset="0"/>
              </a:rPr>
              <a:t>Base Current, I</a:t>
            </a:r>
            <a:r>
              <a:rPr lang="en-GB" b="1" baseline="-25000" dirty="0">
                <a:solidFill>
                  <a:srgbClr val="000000"/>
                </a:solidFill>
                <a:latin typeface="Cambria Math" panose="02040503050406030204" pitchFamily="18" charset="0"/>
                <a:ea typeface="Cambria Math" panose="02040503050406030204" pitchFamily="18" charset="0"/>
              </a:rPr>
              <a:t>B</a:t>
            </a:r>
            <a:endParaRPr lang="en-GB" b="1"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13</a:t>
            </a:fld>
            <a:endParaRPr lang="en" kern="0">
              <a:solidFill>
                <a:srgbClr val="97ABBC"/>
              </a:solidFill>
            </a:endParaRPr>
          </a:p>
        </p:txBody>
      </p:sp>
      <p:pic>
        <p:nvPicPr>
          <p:cNvPr id="2" name="Picture 1"/>
          <p:cNvPicPr>
            <a:picLocks noChangeAspect="1"/>
          </p:cNvPicPr>
          <p:nvPr/>
        </p:nvPicPr>
        <p:blipFill>
          <a:blip r:embed="rId2"/>
          <a:stretch>
            <a:fillRect/>
          </a:stretch>
        </p:blipFill>
        <p:spPr>
          <a:xfrm>
            <a:off x="797497" y="3687825"/>
            <a:ext cx="10365179" cy="2431040"/>
          </a:xfrm>
          <a:prstGeom prst="rect">
            <a:avLst/>
          </a:prstGeom>
        </p:spPr>
      </p:pic>
      <p:pic>
        <p:nvPicPr>
          <p:cNvPr id="7" name="Picture 6"/>
          <p:cNvPicPr>
            <a:picLocks noChangeAspect="1"/>
          </p:cNvPicPr>
          <p:nvPr/>
        </p:nvPicPr>
        <p:blipFill rotWithShape="1">
          <a:blip r:embed="rId3"/>
          <a:srcRect l="56681" r="1019" b="88764"/>
          <a:stretch/>
        </p:blipFill>
        <p:spPr>
          <a:xfrm>
            <a:off x="1679313" y="3026943"/>
            <a:ext cx="3277420" cy="762064"/>
          </a:xfrm>
          <a:prstGeom prst="rect">
            <a:avLst/>
          </a:prstGeom>
        </p:spPr>
      </p:pic>
      <p:pic>
        <p:nvPicPr>
          <p:cNvPr id="8" name="Picture 7"/>
          <p:cNvPicPr>
            <a:picLocks noChangeAspect="1"/>
          </p:cNvPicPr>
          <p:nvPr/>
        </p:nvPicPr>
        <p:blipFill>
          <a:blip r:embed="rId4"/>
          <a:stretch>
            <a:fillRect/>
          </a:stretch>
        </p:blipFill>
        <p:spPr>
          <a:xfrm>
            <a:off x="6358193" y="2904972"/>
            <a:ext cx="4015580" cy="707197"/>
          </a:xfrm>
          <a:prstGeom prst="rect">
            <a:avLst/>
          </a:prstGeom>
        </p:spPr>
      </p:pic>
    </p:spTree>
    <p:extLst>
      <p:ext uri="{BB962C8B-B14F-4D97-AF65-F5344CB8AC3E}">
        <p14:creationId xmlns:p14="http://schemas.microsoft.com/office/powerpoint/2010/main" val="3429102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85031" y="9994"/>
            <a:ext cx="10586999" cy="1011381"/>
          </a:xfrm>
        </p:spPr>
        <p:txBody>
          <a:bodyPr/>
          <a:lstStyle/>
          <a:p>
            <a:pPr algn="ctr"/>
            <a:r>
              <a:rPr lang="en-GB" b="1" u="sng" dirty="0">
                <a:solidFill>
                  <a:schemeClr val="bg2"/>
                </a:solidFill>
              </a:rPr>
              <a:t>Operating Regions of a Transistor</a:t>
            </a:r>
          </a:p>
        </p:txBody>
      </p:sp>
      <p:sp>
        <p:nvSpPr>
          <p:cNvPr id="6" name="Text Placeholder 5"/>
          <p:cNvSpPr>
            <a:spLocks noGrp="1"/>
          </p:cNvSpPr>
          <p:nvPr>
            <p:ph type="body" idx="1"/>
          </p:nvPr>
        </p:nvSpPr>
        <p:spPr>
          <a:xfrm>
            <a:off x="483828" y="1104825"/>
            <a:ext cx="11189405" cy="5575752"/>
          </a:xfrm>
          <a:ln>
            <a:solidFill>
              <a:schemeClr val="accent1"/>
            </a:solidFill>
          </a:ln>
        </p:spPr>
        <p:txBody>
          <a:bodyPr/>
          <a:lstStyle/>
          <a:p>
            <a:pPr marL="152396" indent="0">
              <a:buNone/>
            </a:pPr>
            <a:r>
              <a:rPr lang="en-GB" sz="2667" b="1" dirty="0">
                <a:solidFill>
                  <a:srgbClr val="000000"/>
                </a:solidFill>
                <a:latin typeface="Cambria Math" panose="02040503050406030204" pitchFamily="18" charset="0"/>
                <a:ea typeface="Cambria Math" panose="02040503050406030204" pitchFamily="18" charset="0"/>
              </a:rPr>
              <a:t>A transistor can be operated in three different regions as: </a:t>
            </a:r>
          </a:p>
          <a:p>
            <a:pPr>
              <a:buFont typeface="Arial" panose="020B0604020202020204" pitchFamily="34" charset="0"/>
              <a:buChar char="•"/>
            </a:pPr>
            <a:r>
              <a:rPr lang="en-GB" sz="2667" b="1" dirty="0">
                <a:solidFill>
                  <a:srgbClr val="000000"/>
                </a:solidFill>
                <a:latin typeface="Cambria Math" panose="02040503050406030204" pitchFamily="18" charset="0"/>
                <a:ea typeface="Cambria Math" panose="02040503050406030204" pitchFamily="18" charset="0"/>
              </a:rPr>
              <a:t>active region, </a:t>
            </a:r>
          </a:p>
          <a:p>
            <a:pPr>
              <a:buFont typeface="Arial" panose="020B0604020202020204" pitchFamily="34" charset="0"/>
              <a:buChar char="•"/>
            </a:pPr>
            <a:r>
              <a:rPr lang="en-GB" sz="2667" b="1" dirty="0">
                <a:solidFill>
                  <a:srgbClr val="000000"/>
                </a:solidFill>
                <a:latin typeface="Cambria Math" panose="02040503050406030204" pitchFamily="18" charset="0"/>
                <a:ea typeface="Cambria Math" panose="02040503050406030204" pitchFamily="18" charset="0"/>
              </a:rPr>
              <a:t>saturation region</a:t>
            </a:r>
          </a:p>
          <a:p>
            <a:pPr>
              <a:buFont typeface="Arial" panose="020B0604020202020204" pitchFamily="34" charset="0"/>
              <a:buChar char="•"/>
            </a:pPr>
            <a:r>
              <a:rPr lang="en-GB" sz="2667" b="1" dirty="0">
                <a:solidFill>
                  <a:srgbClr val="000000"/>
                </a:solidFill>
                <a:latin typeface="Cambria Math" panose="02040503050406030204" pitchFamily="18" charset="0"/>
                <a:ea typeface="Cambria Math" panose="02040503050406030204" pitchFamily="18" charset="0"/>
              </a:rPr>
              <a:t>cut-off region</a:t>
            </a:r>
          </a:p>
          <a:p>
            <a:pPr marL="152396" indent="0">
              <a:buNone/>
            </a:pPr>
            <a:endParaRPr lang="en-GB" dirty="0">
              <a:solidFill>
                <a:srgbClr val="000000"/>
              </a:solidFill>
            </a:endParaRPr>
          </a:p>
          <a:p>
            <a:pPr marL="152396" indent="0">
              <a:buNone/>
            </a:pPr>
            <a:endParaRPr lang="en-GB" dirty="0">
              <a:solidFill>
                <a:srgbClr val="000000"/>
              </a:solidFill>
            </a:endParaRPr>
          </a:p>
          <a:p>
            <a:pPr marL="152396" indent="0">
              <a:buNone/>
            </a:pPr>
            <a:endParaRPr lang="en-GB" dirty="0">
              <a:solidFill>
                <a:srgbClr val="000000"/>
              </a:solidFill>
            </a:endParaRPr>
          </a:p>
          <a:p>
            <a:pPr marL="152396" indent="0">
              <a:buNone/>
            </a:pPr>
            <a:endParaRPr lang="en-GB" dirty="0">
              <a:solidFill>
                <a:srgbClr val="000000"/>
              </a:solidFill>
            </a:endParaRPr>
          </a:p>
        </p:txBody>
      </p:sp>
      <p:sp>
        <p:nvSpPr>
          <p:cNvPr id="4" name="Slide Number Placeholder 3"/>
          <p:cNvSpPr>
            <a:spLocks noGrp="1"/>
          </p:cNvSpPr>
          <p:nvPr>
            <p:ph type="sldNum" idx="12"/>
          </p:nvPr>
        </p:nvSpPr>
        <p:spPr/>
        <p:txBody>
          <a:bodyPr/>
          <a:lstStyle/>
          <a:p>
            <a:pPr algn="ctr" defTabSz="1219170">
              <a:buClr>
                <a:srgbClr val="000000"/>
              </a:buClr>
              <a:defRPr/>
            </a:pPr>
            <a:fld id="{00000000-1234-1234-1234-123412341234}" type="slidenum">
              <a:rPr lang="en" kern="0">
                <a:solidFill>
                  <a:srgbClr val="97ABBC"/>
                </a:solidFill>
              </a:rPr>
              <a:pPr algn="ctr" defTabSz="1219170">
                <a:buClr>
                  <a:srgbClr val="000000"/>
                </a:buClr>
                <a:defRPr/>
              </a:pPr>
              <a:t>14</a:t>
            </a:fld>
            <a:endParaRPr lang="en" kern="0">
              <a:solidFill>
                <a:srgbClr val="97ABBC"/>
              </a:solidFill>
            </a:endParaRPr>
          </a:p>
        </p:txBody>
      </p:sp>
      <p:graphicFrame>
        <p:nvGraphicFramePr>
          <p:cNvPr id="10" name="Google Shape;199;p24"/>
          <p:cNvGraphicFramePr/>
          <p:nvPr/>
        </p:nvGraphicFramePr>
        <p:xfrm>
          <a:off x="1261016" y="3460230"/>
          <a:ext cx="9163665" cy="2685948"/>
        </p:xfrm>
        <a:graphic>
          <a:graphicData uri="http://schemas.openxmlformats.org/drawingml/2006/table">
            <a:tbl>
              <a:tblPr>
                <a:noFill/>
              </a:tblPr>
              <a:tblGrid>
                <a:gridCol w="2290916">
                  <a:extLst>
                    <a:ext uri="{9D8B030D-6E8A-4147-A177-3AD203B41FA5}">
                      <a16:colId xmlns:a16="http://schemas.microsoft.com/office/drawing/2014/main" val="20001"/>
                    </a:ext>
                  </a:extLst>
                </a:gridCol>
                <a:gridCol w="2290917">
                  <a:extLst>
                    <a:ext uri="{9D8B030D-6E8A-4147-A177-3AD203B41FA5}">
                      <a16:colId xmlns:a16="http://schemas.microsoft.com/office/drawing/2014/main" val="20002"/>
                    </a:ext>
                  </a:extLst>
                </a:gridCol>
                <a:gridCol w="2290916">
                  <a:extLst>
                    <a:ext uri="{9D8B030D-6E8A-4147-A177-3AD203B41FA5}">
                      <a16:colId xmlns:a16="http://schemas.microsoft.com/office/drawing/2014/main" val="20003"/>
                    </a:ext>
                  </a:extLst>
                </a:gridCol>
                <a:gridCol w="2290916">
                  <a:extLst>
                    <a:ext uri="{9D8B030D-6E8A-4147-A177-3AD203B41FA5}">
                      <a16:colId xmlns:a16="http://schemas.microsoft.com/office/drawing/2014/main" val="2825307257"/>
                    </a:ext>
                  </a:extLst>
                </a:gridCol>
              </a:tblGrid>
              <a:tr h="668033">
                <a:tc>
                  <a:txBody>
                    <a:bodyPr/>
                    <a:lstStyle/>
                    <a:p>
                      <a:pPr marL="0" lvl="0" indent="0" algn="ctr" rtl="0">
                        <a:spcBef>
                          <a:spcPts val="0"/>
                        </a:spcBef>
                        <a:spcAft>
                          <a:spcPts val="0"/>
                        </a:spcAft>
                        <a:buNone/>
                      </a:pPr>
                      <a:r>
                        <a:rPr lang="en" sz="1500" dirty="0">
                          <a:solidFill>
                            <a:schemeClr val="dk2"/>
                          </a:solidFill>
                          <a:latin typeface="Raleway"/>
                          <a:ea typeface="Raleway"/>
                          <a:cs typeface="Raleway"/>
                          <a:sym typeface="Raleway"/>
                        </a:rPr>
                        <a:t>MODE</a:t>
                      </a:r>
                      <a:endParaRPr sz="1500" dirty="0">
                        <a:solidFill>
                          <a:schemeClr val="dk2"/>
                        </a:solidFill>
                        <a:latin typeface="Raleway"/>
                        <a:ea typeface="Raleway"/>
                        <a:cs typeface="Raleway"/>
                        <a:sym typeface="Raleway"/>
                      </a:endParaRPr>
                    </a:p>
                  </a:txBody>
                  <a:tcPr marL="121900" marR="121900" marT="91433" marB="91433" anchor="ctr">
                    <a:lnL w="9525" cap="flat" cmpd="sng">
                      <a:solidFill>
                        <a:srgbClr val="2185C5">
                          <a:alpha val="0"/>
                        </a:srgbClr>
                      </a:solidFill>
                      <a:prstDash val="solid"/>
                      <a:round/>
                      <a:headEnd type="none" w="sm" len="sm"/>
                      <a:tailEnd type="none" w="sm" len="sm"/>
                    </a:lnL>
                    <a:lnR w="9525" cap="flat" cmpd="sng">
                      <a:solidFill>
                        <a:srgbClr val="2185C5">
                          <a:alpha val="0"/>
                        </a:srgbClr>
                      </a:solidFill>
                      <a:prstDash val="solid"/>
                      <a:round/>
                      <a:headEnd type="none" w="sm" len="sm"/>
                      <a:tailEnd type="none" w="sm" len="sm"/>
                    </a:lnR>
                    <a:lnT w="76200" cap="flat" cmpd="sng">
                      <a:solidFill>
                        <a:schemeClr val="accent1"/>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 sz="1500" baseline="0" dirty="0">
                          <a:solidFill>
                            <a:schemeClr val="dk2"/>
                          </a:solidFill>
                          <a:latin typeface="Raleway"/>
                          <a:ea typeface="Raleway"/>
                          <a:cs typeface="Raleway"/>
                          <a:sym typeface="Raleway"/>
                        </a:rPr>
                        <a:t> EMITTER BASE JUNCTION (EBJ)</a:t>
                      </a:r>
                      <a:endParaRPr sz="1500" dirty="0">
                        <a:solidFill>
                          <a:schemeClr val="dk2"/>
                        </a:solidFill>
                        <a:latin typeface="Raleway"/>
                        <a:ea typeface="Raleway"/>
                        <a:cs typeface="Raleway"/>
                        <a:sym typeface="Raleway"/>
                      </a:endParaRPr>
                    </a:p>
                  </a:txBody>
                  <a:tcPr marL="121900" marR="121900" marT="91433" marB="91433" anchor="ctr">
                    <a:lnL w="9525" cap="flat" cmpd="sng">
                      <a:solidFill>
                        <a:srgbClr val="2185C5">
                          <a:alpha val="0"/>
                        </a:srgbClr>
                      </a:solidFill>
                      <a:prstDash val="solid"/>
                      <a:round/>
                      <a:headEnd type="none" w="sm" len="sm"/>
                      <a:tailEnd type="none" w="sm" len="sm"/>
                    </a:lnL>
                    <a:lnR w="9525" cap="flat" cmpd="sng">
                      <a:solidFill>
                        <a:srgbClr val="2185C5">
                          <a:alpha val="0"/>
                        </a:srgbClr>
                      </a:solidFill>
                      <a:prstDash val="solid"/>
                      <a:round/>
                      <a:headEnd type="none" w="sm" len="sm"/>
                      <a:tailEnd type="none" w="sm" len="sm"/>
                    </a:lnR>
                    <a:lnT w="76200" cap="flat" cmpd="sng">
                      <a:solidFill>
                        <a:schemeClr val="accent1"/>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baseline="0" dirty="0">
                          <a:solidFill>
                            <a:schemeClr val="dk2"/>
                          </a:solidFill>
                          <a:latin typeface="Raleway"/>
                          <a:ea typeface="Raleway"/>
                          <a:cs typeface="Raleway"/>
                          <a:sym typeface="Raleway"/>
                        </a:rPr>
                        <a:t>COLLECTOR BASE JUNCTION (CBJ)</a:t>
                      </a:r>
                      <a:endParaRPr lang="en-GB" sz="1500" dirty="0">
                        <a:solidFill>
                          <a:schemeClr val="dk2"/>
                        </a:solidFill>
                        <a:latin typeface="Raleway"/>
                        <a:ea typeface="Raleway"/>
                        <a:cs typeface="Raleway"/>
                        <a:sym typeface="Raleway"/>
                      </a:endParaRP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76200" cap="flat" cmpd="sng">
                      <a:solidFill>
                        <a:schemeClr val="accent1"/>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dirty="0">
                          <a:solidFill>
                            <a:schemeClr val="dk2"/>
                          </a:solidFill>
                          <a:latin typeface="Raleway"/>
                          <a:ea typeface="Raleway"/>
                          <a:cs typeface="Raleway"/>
                          <a:sym typeface="Raleway"/>
                        </a:rPr>
                        <a:t>PURPOSE</a:t>
                      </a:r>
                    </a:p>
                  </a:txBody>
                  <a:tcPr marL="121900" marR="121900" marT="91433" marB="91433" anchor="ctr">
                    <a:lnL w="9525" cap="flat" cmpd="sng" algn="ctr">
                      <a:solidFill>
                        <a:srgbClr val="2185C5">
                          <a:alpha val="0"/>
                        </a:srgbClr>
                      </a:solidFill>
                      <a:prstDash val="solid"/>
                      <a:round/>
                      <a:headEnd type="none" w="sm" len="sm"/>
                      <a:tailEnd type="none" w="sm" len="sm"/>
                    </a:lnL>
                    <a:lnR w="76200" cap="flat" cmpd="sng">
                      <a:solidFill>
                        <a:srgbClr val="2185C5">
                          <a:alpha val="0"/>
                        </a:srgbClr>
                      </a:solidFill>
                      <a:prstDash val="solid"/>
                      <a:round/>
                      <a:headEnd type="none" w="sm" len="sm"/>
                      <a:tailEnd type="none" w="sm" len="sm"/>
                    </a:lnR>
                    <a:lnT w="76200" cap="flat" cmpd="sng">
                      <a:solidFill>
                        <a:schemeClr val="accent1"/>
                      </a:solidFill>
                      <a:prstDash val="solid"/>
                      <a:round/>
                      <a:headEnd type="none" w="sm" len="sm"/>
                      <a:tailEnd type="none" w="sm" len="sm"/>
                    </a:lnT>
                    <a:lnB w="9525"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66803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500" b="0" i="0" u="none" strike="noStrike" kern="0" cap="none" spc="0" normalizeH="0" baseline="0" noProof="0" dirty="0">
                          <a:ln>
                            <a:noFill/>
                          </a:ln>
                          <a:solidFill>
                            <a:srgbClr val="2185C5"/>
                          </a:solidFill>
                          <a:effectLst/>
                          <a:uLnTx/>
                          <a:uFillTx/>
                          <a:latin typeface="Raleway"/>
                          <a:ea typeface="Raleway"/>
                          <a:cs typeface="Raleway"/>
                          <a:sym typeface="Raleway"/>
                        </a:rPr>
                        <a:t>ACTIVE</a:t>
                      </a:r>
                    </a:p>
                  </a:txBody>
                  <a:tcPr marL="121900" marR="121900" marT="91433" marB="91433" anchor="ctr">
                    <a:lnL w="9525" cap="flat" cmpd="sng">
                      <a:solidFill>
                        <a:srgbClr val="2185C5">
                          <a:alpha val="0"/>
                        </a:srgbClr>
                      </a:solidFill>
                      <a:prstDash val="solid"/>
                      <a:round/>
                      <a:headEnd type="none" w="sm" len="sm"/>
                      <a:tailEnd type="none" w="sm" len="sm"/>
                    </a:lnL>
                    <a:lnR w="9525" cap="flat" cmpd="sng">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1900" b="1" dirty="0">
                          <a:solidFill>
                            <a:schemeClr val="dk1"/>
                          </a:solidFill>
                          <a:latin typeface="Cambria Math" panose="02040503050406030204" pitchFamily="18" charset="0"/>
                          <a:ea typeface="Cambria Math" panose="02040503050406030204" pitchFamily="18" charset="0"/>
                          <a:cs typeface="Lato"/>
                          <a:sym typeface="Lato"/>
                        </a:rPr>
                        <a:t>Forward                   </a:t>
                      </a:r>
                      <a:r>
                        <a:rPr lang="en-GB" sz="1900" b="1" baseline="0" dirty="0">
                          <a:solidFill>
                            <a:schemeClr val="dk1"/>
                          </a:solidFill>
                          <a:latin typeface="Cambria Math" panose="02040503050406030204" pitchFamily="18" charset="0"/>
                          <a:ea typeface="Cambria Math" panose="02040503050406030204" pitchFamily="18" charset="0"/>
                          <a:cs typeface="Lato"/>
                          <a:sym typeface="Lato"/>
                        </a:rPr>
                        <a:t>                                                   </a:t>
                      </a:r>
                      <a:endParaRPr sz="1900" b="1" dirty="0">
                        <a:solidFill>
                          <a:schemeClr val="dk1"/>
                        </a:solidFill>
                        <a:latin typeface="Cambria Math" panose="02040503050406030204" pitchFamily="18" charset="0"/>
                        <a:ea typeface="Cambria Math" panose="02040503050406030204" pitchFamily="18" charset="0"/>
                        <a:cs typeface="Lato"/>
                        <a:sym typeface="Lato"/>
                      </a:endParaRPr>
                    </a:p>
                  </a:txBody>
                  <a:tcPr marL="121900" marR="121900" marT="91433" marB="91433" anchor="ctr">
                    <a:lnL w="9525" cap="flat" cmpd="sng">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1900" b="1" dirty="0">
                          <a:solidFill>
                            <a:schemeClr val="dk1"/>
                          </a:solidFill>
                          <a:latin typeface="Cambria Math" panose="02040503050406030204" pitchFamily="18" charset="0"/>
                          <a:ea typeface="Cambria Math" panose="02040503050406030204" pitchFamily="18" charset="0"/>
                          <a:cs typeface="Lato"/>
                          <a:sym typeface="Lato"/>
                        </a:rPr>
                        <a:t>Reverse</a:t>
                      </a:r>
                      <a:endParaRPr sz="1900" b="1" dirty="0">
                        <a:solidFill>
                          <a:schemeClr val="dk1"/>
                        </a:solidFill>
                        <a:latin typeface="Cambria Math" panose="02040503050406030204" pitchFamily="18" charset="0"/>
                        <a:ea typeface="Cambria Math" panose="02040503050406030204" pitchFamily="18" charset="0"/>
                        <a:cs typeface="Lato"/>
                        <a:sym typeface="Lato"/>
                      </a:endParaRP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1900" b="1" dirty="0">
                          <a:solidFill>
                            <a:schemeClr val="dk1"/>
                          </a:solidFill>
                          <a:latin typeface="Cambria Math" panose="02040503050406030204" pitchFamily="18" charset="0"/>
                          <a:ea typeface="Cambria Math" panose="02040503050406030204" pitchFamily="18" charset="0"/>
                          <a:cs typeface="Lato"/>
                          <a:sym typeface="Lato"/>
                        </a:rPr>
                        <a:t>Amplification</a:t>
                      </a:r>
                    </a:p>
                  </a:txBody>
                  <a:tcPr marL="121900" marR="121900" marT="91433" marB="91433" anchor="ctr">
                    <a:lnL w="9525" cap="flat" cmpd="sng" algn="ctr">
                      <a:solidFill>
                        <a:srgbClr val="2185C5">
                          <a:alpha val="0"/>
                        </a:srgbClr>
                      </a:solidFill>
                      <a:prstDash val="solid"/>
                      <a:round/>
                      <a:headEnd type="none" w="sm" len="sm"/>
                      <a:tailEnd type="none" w="sm" len="sm"/>
                    </a:lnL>
                    <a:lnR w="76200" cap="flat" cmpd="sng">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0001"/>
                  </a:ext>
                </a:extLst>
              </a:tr>
              <a:tr h="66803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dirty="0">
                          <a:solidFill>
                            <a:schemeClr val="dk2"/>
                          </a:solidFill>
                          <a:latin typeface="Raleway"/>
                          <a:ea typeface="Raleway"/>
                          <a:cs typeface="Raleway"/>
                          <a:sym typeface="Raleway"/>
                        </a:rPr>
                        <a:t>SATURATION</a:t>
                      </a:r>
                      <a:endParaRPr lang="en-GB" sz="1900" dirty="0">
                        <a:solidFill>
                          <a:schemeClr val="dk2"/>
                        </a:solidFill>
                        <a:latin typeface="Raleway"/>
                        <a:ea typeface="Raleway"/>
                        <a:cs typeface="Raleway"/>
                        <a:sym typeface="Raleway"/>
                      </a:endParaRPr>
                    </a:p>
                  </a:txBody>
                  <a:tcPr marL="121900" marR="121900" marT="91433" marB="91433" anchor="ctr">
                    <a:lnL w="9525" cap="flat" cmpd="sng">
                      <a:solidFill>
                        <a:srgbClr val="2185C5">
                          <a:alpha val="0"/>
                        </a:srgbClr>
                      </a:solidFill>
                      <a:prstDash val="solid"/>
                      <a:round/>
                      <a:headEnd type="none" w="sm" len="sm"/>
                      <a:tailEnd type="none" w="sm" len="sm"/>
                    </a:lnL>
                    <a:lnR w="9525" cap="flat" cmpd="sng">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900" b="1" dirty="0">
                          <a:solidFill>
                            <a:schemeClr val="dk1"/>
                          </a:solidFill>
                          <a:latin typeface="Cambria Math" panose="02040503050406030204" pitchFamily="18" charset="0"/>
                          <a:ea typeface="Cambria Math" panose="02040503050406030204" pitchFamily="18" charset="0"/>
                          <a:cs typeface="Lato"/>
                          <a:sym typeface="Lato"/>
                        </a:rPr>
                        <a:t>Forward </a:t>
                      </a:r>
                    </a:p>
                  </a:txBody>
                  <a:tcPr marL="121900" marR="121900" marT="91433" marB="91433" anchor="ctr">
                    <a:lnL w="9525" cap="flat" cmpd="sng">
                      <a:solidFill>
                        <a:srgbClr val="2185C5">
                          <a:alpha val="0"/>
                        </a:srgbClr>
                      </a:solidFill>
                      <a:prstDash val="solid"/>
                      <a:round/>
                      <a:headEnd type="none" w="sm" len="sm"/>
                      <a:tailEnd type="none" w="sm" len="sm"/>
                    </a:lnL>
                    <a:lnR w="9525" cap="flat" cmpd="sng">
                      <a:solidFill>
                        <a:srgbClr val="2185C5">
                          <a:alpha val="0"/>
                        </a:srgbClr>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1900" b="1" dirty="0">
                          <a:solidFill>
                            <a:schemeClr val="dk1"/>
                          </a:solidFill>
                          <a:latin typeface="Cambria Math" panose="02040503050406030204" pitchFamily="18" charset="0"/>
                          <a:ea typeface="Cambria Math" panose="02040503050406030204" pitchFamily="18" charset="0"/>
                          <a:cs typeface="Lato"/>
                          <a:sym typeface="Lato"/>
                        </a:rPr>
                        <a:t> Forward </a:t>
                      </a:r>
                      <a:endParaRPr sz="1900" b="1" dirty="0">
                        <a:solidFill>
                          <a:schemeClr val="dk1"/>
                        </a:solidFill>
                        <a:latin typeface="Cambria Math" panose="02040503050406030204" pitchFamily="18" charset="0"/>
                        <a:ea typeface="Cambria Math" panose="02040503050406030204" pitchFamily="18" charset="0"/>
                        <a:cs typeface="Lato"/>
                        <a:sym typeface="Lato"/>
                      </a:endParaRP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1900" b="1" dirty="0">
                          <a:solidFill>
                            <a:schemeClr val="dk1"/>
                          </a:solidFill>
                          <a:latin typeface="Cambria Math" panose="02040503050406030204" pitchFamily="18" charset="0"/>
                          <a:ea typeface="Cambria Math" panose="02040503050406030204" pitchFamily="18" charset="0"/>
                          <a:cs typeface="Lato"/>
                          <a:sym typeface="Lato"/>
                        </a:rPr>
                        <a:t>Switching</a:t>
                      </a:r>
                    </a:p>
                  </a:txBody>
                  <a:tcPr marL="121900" marR="121900" marT="91433" marB="91433" anchor="ctr">
                    <a:lnL w="9525" cap="flat" cmpd="sng" algn="ctr">
                      <a:solidFill>
                        <a:srgbClr val="2185C5">
                          <a:alpha val="0"/>
                        </a:srgbClr>
                      </a:solidFill>
                      <a:prstDash val="solid"/>
                      <a:round/>
                      <a:headEnd type="none" w="sm" len="sm"/>
                      <a:tailEnd type="none" w="sm" len="sm"/>
                    </a:lnL>
                    <a:lnR w="76200" cap="flat" cmpd="sng">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0002"/>
                  </a:ext>
                </a:extLst>
              </a:tr>
              <a:tr h="68184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500" dirty="0">
                          <a:solidFill>
                            <a:schemeClr val="dk2"/>
                          </a:solidFill>
                          <a:latin typeface="Raleway"/>
                          <a:ea typeface="Raleway"/>
                          <a:cs typeface="Raleway"/>
                          <a:sym typeface="Raleway"/>
                        </a:rPr>
                        <a:t>CUT-OFF</a:t>
                      </a: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900" b="1" dirty="0">
                          <a:solidFill>
                            <a:schemeClr val="dk1"/>
                          </a:solidFill>
                          <a:latin typeface="Cambria Math" panose="02040503050406030204" pitchFamily="18" charset="0"/>
                          <a:ea typeface="Cambria Math" panose="02040503050406030204" pitchFamily="18" charset="0"/>
                          <a:cs typeface="Lato"/>
                          <a:sym typeface="Lato"/>
                        </a:rPr>
                        <a:t>           </a:t>
                      </a:r>
                      <a:r>
                        <a:rPr lang="en-GB" sz="1900" b="1" baseline="0" dirty="0">
                          <a:solidFill>
                            <a:schemeClr val="dk1"/>
                          </a:solidFill>
                          <a:latin typeface="Cambria Math" panose="02040503050406030204" pitchFamily="18" charset="0"/>
                          <a:ea typeface="Cambria Math" panose="02040503050406030204" pitchFamily="18" charset="0"/>
                          <a:cs typeface="Lato"/>
                          <a:sym typeface="Lato"/>
                        </a:rPr>
                        <a:t> </a:t>
                      </a:r>
                      <a:r>
                        <a:rPr lang="en-GB" sz="1900" b="1" dirty="0">
                          <a:solidFill>
                            <a:schemeClr val="dk1"/>
                          </a:solidFill>
                          <a:latin typeface="Cambria Math" panose="02040503050406030204" pitchFamily="18" charset="0"/>
                          <a:ea typeface="Cambria Math" panose="02040503050406030204" pitchFamily="18" charset="0"/>
                          <a:cs typeface="Lato"/>
                          <a:sym typeface="Lato"/>
                        </a:rPr>
                        <a:t>Reverse</a:t>
                      </a: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900" b="1" dirty="0">
                          <a:solidFill>
                            <a:schemeClr val="dk1"/>
                          </a:solidFill>
                          <a:latin typeface="Cambria Math" panose="02040503050406030204" pitchFamily="18" charset="0"/>
                          <a:ea typeface="Cambria Math" panose="02040503050406030204" pitchFamily="18" charset="0"/>
                          <a:cs typeface="Lato"/>
                          <a:sym typeface="Lato"/>
                        </a:rPr>
                        <a:t>             Reverse</a:t>
                      </a:r>
                    </a:p>
                  </a:txBody>
                  <a:tcPr marL="121900" marR="121900" marT="91433" marB="91433" anchor="ctr">
                    <a:lnL w="9525" cap="flat" cmpd="sng" algn="ctr">
                      <a:solidFill>
                        <a:srgbClr val="2185C5">
                          <a:alpha val="0"/>
                        </a:srgbClr>
                      </a:solidFill>
                      <a:prstDash val="solid"/>
                      <a:round/>
                      <a:headEnd type="none" w="sm" len="sm"/>
                      <a:tailEnd type="none" w="sm" len="sm"/>
                    </a:lnL>
                    <a:lnR w="9525" cap="flat" cmpd="sng" algn="ctr">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900" b="1" i="0" u="none" strike="noStrike" kern="0" cap="none" spc="0" normalizeH="0" baseline="0" noProof="0" dirty="0">
                          <a:ln>
                            <a:noFill/>
                          </a:ln>
                          <a:solidFill>
                            <a:srgbClr val="677480"/>
                          </a:solidFill>
                          <a:effectLst/>
                          <a:uLnTx/>
                          <a:uFillTx/>
                          <a:latin typeface="Cambria Math" panose="02040503050406030204" pitchFamily="18" charset="0"/>
                          <a:ea typeface="Cambria Math" panose="02040503050406030204" pitchFamily="18" charset="0"/>
                          <a:cs typeface="Lato"/>
                          <a:sym typeface="Lato"/>
                        </a:rPr>
                        <a:t>Switching</a:t>
                      </a:r>
                    </a:p>
                  </a:txBody>
                  <a:tcPr marL="121900" marR="121900" marT="91433" marB="91433" anchor="ctr">
                    <a:lnL w="9525" cap="flat" cmpd="sng" algn="ctr">
                      <a:solidFill>
                        <a:srgbClr val="2185C5">
                          <a:alpha val="0"/>
                        </a:srgbClr>
                      </a:solidFill>
                      <a:prstDash val="solid"/>
                      <a:round/>
                      <a:headEnd type="none" w="sm" len="sm"/>
                      <a:tailEnd type="none" w="sm" len="sm"/>
                    </a:lnL>
                    <a:lnR w="76200" cap="flat" cmpd="sng">
                      <a:solidFill>
                        <a:srgbClr val="2185C5">
                          <a:alpha val="0"/>
                        </a:srgbClr>
                      </a:solidFill>
                      <a:prstDash val="solid"/>
                      <a:round/>
                      <a:headEnd type="none" w="sm" len="sm"/>
                      <a:tailEnd type="none" w="sm" len="sm"/>
                    </a:lnR>
                    <a:lnT w="9525" cap="flat" cmpd="sng" algn="ctr">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extLst>
                  <a:ext uri="{0D108BD9-81ED-4DB2-BD59-A6C34878D82A}">
                    <a16:rowId xmlns:a16="http://schemas.microsoft.com/office/drawing/2014/main" val="1238365035"/>
                  </a:ext>
                </a:extLst>
              </a:tr>
            </a:tbl>
          </a:graphicData>
        </a:graphic>
      </p:graphicFrame>
    </p:spTree>
    <p:extLst>
      <p:ext uri="{BB962C8B-B14F-4D97-AF65-F5344CB8AC3E}">
        <p14:creationId xmlns:p14="http://schemas.microsoft.com/office/powerpoint/2010/main" val="1167756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8" y="0"/>
            <a:ext cx="11335244" cy="917677"/>
          </a:xfrm>
        </p:spPr>
        <p:txBody>
          <a:bodyPr/>
          <a:lstStyle/>
          <a:p>
            <a:pPr algn="ctr"/>
            <a:r>
              <a:rPr lang="en-GB" b="1" u="sng" dirty="0">
                <a:solidFill>
                  <a:schemeClr val="bg2"/>
                </a:solidFill>
              </a:rPr>
              <a:t>Theory of Operation of an NPN transistor</a:t>
            </a:r>
          </a:p>
        </p:txBody>
      </p:sp>
      <p:sp>
        <p:nvSpPr>
          <p:cNvPr id="6" name="Text Placeholder 5"/>
          <p:cNvSpPr>
            <a:spLocks noGrp="1"/>
          </p:cNvSpPr>
          <p:nvPr>
            <p:ph type="body" idx="1"/>
          </p:nvPr>
        </p:nvSpPr>
        <p:spPr>
          <a:xfrm>
            <a:off x="573283" y="1089090"/>
            <a:ext cx="10922832" cy="5297463"/>
          </a:xfrm>
          <a:ln>
            <a:solidFill>
              <a:schemeClr val="accent1"/>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Working of an NPN transistor in the Active Region </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In the NPN transistor, the emitter-base junction is forward biased while the collector-base junction is reversed bias.</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forward bias causes the electrons in the n-type emitter to flow towards the base.</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This constitutes the emitter current, I</a:t>
            </a:r>
            <a:r>
              <a:rPr lang="en-GB" baseline="-25000" dirty="0">
                <a:solidFill>
                  <a:srgbClr val="000000"/>
                </a:solidFill>
                <a:latin typeface="Cambria Math" panose="02040503050406030204" pitchFamily="18" charset="0"/>
                <a:ea typeface="Cambria Math" panose="02040503050406030204" pitchFamily="18" charset="0"/>
              </a:rPr>
              <a:t>E</a:t>
            </a:r>
            <a:r>
              <a:rPr lang="en-GB" dirty="0">
                <a:solidFill>
                  <a:srgbClr val="000000"/>
                </a:solidFill>
                <a:latin typeface="Cambria Math" panose="02040503050406030204" pitchFamily="18" charset="0"/>
                <a:ea typeface="Cambria Math" panose="02040503050406030204" pitchFamily="18" charset="0"/>
              </a:rPr>
              <a:t>.</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15</a:t>
            </a:fld>
            <a:endParaRPr lang="en" kern="0">
              <a:solidFill>
                <a:srgbClr val="97ABBC"/>
              </a:solidFill>
            </a:endParaRPr>
          </a:p>
        </p:txBody>
      </p:sp>
      <p:pic>
        <p:nvPicPr>
          <p:cNvPr id="3" name="Picture 2"/>
          <p:cNvPicPr>
            <a:picLocks noChangeAspect="1"/>
          </p:cNvPicPr>
          <p:nvPr/>
        </p:nvPicPr>
        <p:blipFill>
          <a:blip r:embed="rId2"/>
          <a:stretch>
            <a:fillRect/>
          </a:stretch>
        </p:blipFill>
        <p:spPr>
          <a:xfrm>
            <a:off x="6452297" y="3304321"/>
            <a:ext cx="4356720" cy="2652513"/>
          </a:xfrm>
          <a:prstGeom prst="rect">
            <a:avLst/>
          </a:prstGeom>
        </p:spPr>
      </p:pic>
    </p:spTree>
    <p:extLst>
      <p:ext uri="{BB962C8B-B14F-4D97-AF65-F5344CB8AC3E}">
        <p14:creationId xmlns:p14="http://schemas.microsoft.com/office/powerpoint/2010/main" val="691077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73603" y="157436"/>
            <a:ext cx="11355231" cy="917677"/>
          </a:xfrm>
        </p:spPr>
        <p:txBody>
          <a:bodyPr/>
          <a:lstStyle/>
          <a:p>
            <a:pPr algn="ctr"/>
            <a:r>
              <a:rPr lang="en-GB" b="1" u="sng" dirty="0">
                <a:solidFill>
                  <a:schemeClr val="bg2"/>
                </a:solidFill>
              </a:rPr>
              <a:t>Theory of Operation of an NPN transistor </a:t>
            </a:r>
          </a:p>
        </p:txBody>
      </p:sp>
      <p:sp>
        <p:nvSpPr>
          <p:cNvPr id="6" name="Text Placeholder 5"/>
          <p:cNvSpPr>
            <a:spLocks noGrp="1"/>
          </p:cNvSpPr>
          <p:nvPr>
            <p:ph type="body" idx="1"/>
          </p:nvPr>
        </p:nvSpPr>
        <p:spPr>
          <a:xfrm>
            <a:off x="709788" y="1075114"/>
            <a:ext cx="10882859" cy="5297463"/>
          </a:xfrm>
          <a:ln>
            <a:solidFill>
              <a:schemeClr val="accent1"/>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Working of an NPN transistor in the Active Region </a:t>
            </a:r>
            <a:endParaRPr lang="en-GB" dirty="0">
              <a:solidFill>
                <a:schemeClr val="accent5"/>
              </a:solidFill>
              <a:latin typeface="Cambria Math" panose="02040503050406030204" pitchFamily="18" charset="0"/>
              <a:ea typeface="Cambria Math" panose="02040503050406030204" pitchFamily="18" charset="0"/>
            </a:endParaRP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As these electrons flow through the p-type base, they tend to combine with holes.</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As the base is lightly doped and very thin, only few electrons (less than 5%) combine with holes to constitute base current I</a:t>
            </a:r>
            <a:r>
              <a:rPr lang="en-GB" baseline="-25000" dirty="0">
                <a:solidFill>
                  <a:srgbClr val="000000"/>
                </a:solidFill>
                <a:latin typeface="Cambria Math" panose="02040503050406030204" pitchFamily="18" charset="0"/>
                <a:ea typeface="Cambria Math" panose="02040503050406030204" pitchFamily="18" charset="0"/>
              </a:rPr>
              <a:t>B</a:t>
            </a:r>
            <a:r>
              <a:rPr lang="en-GB" dirty="0">
                <a:solidFill>
                  <a:srgbClr val="000000"/>
                </a:solidFill>
                <a:latin typeface="Cambria Math" panose="02040503050406030204" pitchFamily="18" charset="0"/>
                <a:ea typeface="Cambria Math" panose="02040503050406030204" pitchFamily="18" charset="0"/>
              </a:rPr>
              <a:t>.</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remainder (more than 95%) cross over into the collector region to constitute collector current I</a:t>
            </a:r>
            <a:r>
              <a:rPr lang="en-GB" baseline="-25000" dirty="0">
                <a:solidFill>
                  <a:srgbClr val="000000"/>
                </a:solidFill>
                <a:latin typeface="Cambria Math" panose="02040503050406030204" pitchFamily="18" charset="0"/>
                <a:ea typeface="Cambria Math" panose="02040503050406030204" pitchFamily="18" charset="0"/>
              </a:rPr>
              <a:t>C</a:t>
            </a:r>
            <a:r>
              <a:rPr lang="en-GB" dirty="0">
                <a:solidFill>
                  <a:srgbClr val="000000"/>
                </a:solidFill>
                <a:latin typeface="Cambria Math" panose="02040503050406030204" pitchFamily="18" charset="0"/>
                <a:ea typeface="Cambria Math" panose="02040503050406030204" pitchFamily="18" charset="0"/>
              </a:rPr>
              <a:t>.</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16</a:t>
            </a:fld>
            <a:endParaRPr lang="en" kern="0">
              <a:solidFill>
                <a:srgbClr val="97ABBC"/>
              </a:solidFill>
            </a:endParaRPr>
          </a:p>
        </p:txBody>
      </p:sp>
      <p:pic>
        <p:nvPicPr>
          <p:cNvPr id="7" name="Picture 6"/>
          <p:cNvPicPr>
            <a:picLocks noChangeAspect="1"/>
          </p:cNvPicPr>
          <p:nvPr/>
        </p:nvPicPr>
        <p:blipFill>
          <a:blip r:embed="rId2"/>
          <a:stretch>
            <a:fillRect/>
          </a:stretch>
        </p:blipFill>
        <p:spPr>
          <a:xfrm>
            <a:off x="5710211" y="3853776"/>
            <a:ext cx="4137099" cy="2518801"/>
          </a:xfrm>
          <a:prstGeom prst="rect">
            <a:avLst/>
          </a:prstGeom>
        </p:spPr>
      </p:pic>
    </p:spTree>
    <p:extLst>
      <p:ext uri="{BB962C8B-B14F-4D97-AF65-F5344CB8AC3E}">
        <p14:creationId xmlns:p14="http://schemas.microsoft.com/office/powerpoint/2010/main" val="303592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3428" y="177423"/>
            <a:ext cx="11485145" cy="917677"/>
          </a:xfrm>
        </p:spPr>
        <p:txBody>
          <a:bodyPr/>
          <a:lstStyle/>
          <a:p>
            <a:pPr algn="ctr"/>
            <a:r>
              <a:rPr lang="en-GB" b="1" u="sng" dirty="0">
                <a:solidFill>
                  <a:schemeClr val="bg2"/>
                </a:solidFill>
              </a:rPr>
              <a:t>Theory of Operation of an NPN transistor  </a:t>
            </a:r>
          </a:p>
        </p:txBody>
      </p:sp>
      <p:sp>
        <p:nvSpPr>
          <p:cNvPr id="6" name="Text Placeholder 5"/>
          <p:cNvSpPr>
            <a:spLocks noGrp="1"/>
          </p:cNvSpPr>
          <p:nvPr>
            <p:ph type="body" idx="1"/>
          </p:nvPr>
        </p:nvSpPr>
        <p:spPr>
          <a:xfrm>
            <a:off x="1568971" y="1174116"/>
            <a:ext cx="8954124" cy="4252325"/>
          </a:xfrm>
          <a:ln>
            <a:solidFill>
              <a:schemeClr val="accent1"/>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Working of an NPN transistor in the Active Region </a:t>
            </a:r>
            <a:endParaRPr lang="en-GB" dirty="0">
              <a:solidFill>
                <a:schemeClr val="accent5"/>
              </a:solidFill>
              <a:latin typeface="Cambria Math" panose="02040503050406030204" pitchFamily="18" charset="0"/>
              <a:ea typeface="Cambria Math" panose="02040503050406030204" pitchFamily="18" charset="0"/>
            </a:endParaRP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In this way, almost the entire emitter current flows in the collector circuit.</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It is clear that emitter current is the sum of collector and base current.</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lgn="ctr">
              <a:buNone/>
            </a:pPr>
            <a:r>
              <a:rPr lang="en-GB" b="1" dirty="0">
                <a:solidFill>
                  <a:srgbClr val="000000"/>
                </a:solidFill>
                <a:latin typeface="Cambria Math" panose="02040503050406030204" pitchFamily="18" charset="0"/>
                <a:ea typeface="Cambria Math" panose="02040503050406030204" pitchFamily="18" charset="0"/>
              </a:rPr>
              <a:t>I</a:t>
            </a:r>
            <a:r>
              <a:rPr lang="en-GB" b="1" baseline="-25000" dirty="0">
                <a:solidFill>
                  <a:srgbClr val="000000"/>
                </a:solidFill>
                <a:latin typeface="Cambria Math" panose="02040503050406030204" pitchFamily="18" charset="0"/>
                <a:ea typeface="Cambria Math" panose="02040503050406030204" pitchFamily="18" charset="0"/>
              </a:rPr>
              <a:t>E</a:t>
            </a:r>
            <a:r>
              <a:rPr lang="en-GB" b="1" dirty="0">
                <a:solidFill>
                  <a:srgbClr val="000000"/>
                </a:solidFill>
                <a:latin typeface="Cambria Math" panose="02040503050406030204" pitchFamily="18" charset="0"/>
                <a:ea typeface="Cambria Math" panose="02040503050406030204" pitchFamily="18" charset="0"/>
              </a:rPr>
              <a:t> = I</a:t>
            </a:r>
            <a:r>
              <a:rPr lang="en-GB" b="1" baseline="-25000" dirty="0">
                <a:solidFill>
                  <a:srgbClr val="000000"/>
                </a:solidFill>
                <a:latin typeface="Cambria Math" panose="02040503050406030204" pitchFamily="18" charset="0"/>
                <a:ea typeface="Cambria Math" panose="02040503050406030204" pitchFamily="18" charset="0"/>
              </a:rPr>
              <a:t>C</a:t>
            </a:r>
            <a:r>
              <a:rPr lang="en-GB" b="1" dirty="0">
                <a:solidFill>
                  <a:srgbClr val="000000"/>
                </a:solidFill>
                <a:latin typeface="Cambria Math" panose="02040503050406030204" pitchFamily="18" charset="0"/>
                <a:ea typeface="Cambria Math" panose="02040503050406030204" pitchFamily="18" charset="0"/>
              </a:rPr>
              <a:t> + I</a:t>
            </a:r>
            <a:r>
              <a:rPr lang="en-GB" b="1" baseline="-25000" dirty="0">
                <a:solidFill>
                  <a:srgbClr val="000000"/>
                </a:solidFill>
                <a:latin typeface="Cambria Math" panose="02040503050406030204" pitchFamily="18" charset="0"/>
                <a:ea typeface="Cambria Math" panose="02040503050406030204" pitchFamily="18" charset="0"/>
              </a:rPr>
              <a:t>B</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17</a:t>
            </a:fld>
            <a:endParaRPr lang="en" kern="0">
              <a:solidFill>
                <a:srgbClr val="97ABBC"/>
              </a:solidFill>
            </a:endParaRPr>
          </a:p>
        </p:txBody>
      </p:sp>
    </p:spTree>
    <p:extLst>
      <p:ext uri="{BB962C8B-B14F-4D97-AF65-F5344CB8AC3E}">
        <p14:creationId xmlns:p14="http://schemas.microsoft.com/office/powerpoint/2010/main" val="1686765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455165" cy="917677"/>
          </a:xfrm>
        </p:spPr>
        <p:txBody>
          <a:bodyPr/>
          <a:lstStyle/>
          <a:p>
            <a:pPr algn="ctr"/>
            <a:r>
              <a:rPr lang="en-GB" b="1" u="sng" dirty="0">
                <a:solidFill>
                  <a:schemeClr val="bg2"/>
                </a:solidFill>
              </a:rPr>
              <a:t>Theory of Operation of an PNP transistor </a:t>
            </a:r>
          </a:p>
        </p:txBody>
      </p:sp>
      <p:sp>
        <p:nvSpPr>
          <p:cNvPr id="6" name="Text Placeholder 5"/>
          <p:cNvSpPr>
            <a:spLocks noGrp="1"/>
          </p:cNvSpPr>
          <p:nvPr>
            <p:ph type="body" idx="1"/>
          </p:nvPr>
        </p:nvSpPr>
        <p:spPr>
          <a:xfrm>
            <a:off x="724524" y="1039122"/>
            <a:ext cx="10742952" cy="5297463"/>
          </a:xfrm>
          <a:ln>
            <a:solidFill>
              <a:schemeClr val="accent1"/>
            </a:solidFill>
          </a:ln>
        </p:spPr>
        <p:txBody>
          <a:bodyPr/>
          <a:lstStyle/>
          <a:p>
            <a:pPr marL="152396" indent="0">
              <a:buNone/>
            </a:pPr>
            <a:r>
              <a:rPr lang="en-GB" sz="2667" b="1" dirty="0">
                <a:solidFill>
                  <a:schemeClr val="accent5"/>
                </a:solidFill>
                <a:latin typeface="Cambria Math" panose="02040503050406030204" pitchFamily="18" charset="0"/>
                <a:ea typeface="Cambria Math" panose="02040503050406030204" pitchFamily="18" charset="0"/>
              </a:rPr>
              <a:t>Working of a PNP transistor in the Active Region</a:t>
            </a:r>
            <a:endParaRPr lang="en-GB" sz="2667" dirty="0">
              <a:solidFill>
                <a:schemeClr val="accent5"/>
              </a:solidFill>
              <a:latin typeface="Cambria Math" panose="02040503050406030204" pitchFamily="18" charset="0"/>
              <a:ea typeface="Cambria Math" panose="02040503050406030204" pitchFamily="18" charset="0"/>
            </a:endParaRPr>
          </a:p>
          <a:p>
            <a:pPr>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In the PNP transistor, the emitter-base junction is forward biased while the collector-base junction is reversed bias.</a:t>
            </a:r>
          </a:p>
          <a:p>
            <a:pPr>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forward bias causes the holes in the p-type emitter to flow towards the base. </a:t>
            </a:r>
          </a:p>
          <a:p>
            <a:pPr>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This constitutes the emitter current I</a:t>
            </a:r>
            <a:r>
              <a:rPr lang="en-GB" sz="2667" baseline="-25000" dirty="0">
                <a:solidFill>
                  <a:srgbClr val="000000"/>
                </a:solidFill>
                <a:latin typeface="Cambria Math" panose="02040503050406030204" pitchFamily="18" charset="0"/>
                <a:ea typeface="Cambria Math" panose="02040503050406030204" pitchFamily="18" charset="0"/>
              </a:rPr>
              <a:t>E</a:t>
            </a:r>
            <a:r>
              <a:rPr lang="en-GB" sz="2667" dirty="0">
                <a:solidFill>
                  <a:srgbClr val="000000"/>
                </a:solidFill>
                <a:latin typeface="Cambria Math" panose="02040503050406030204" pitchFamily="18" charset="0"/>
                <a:ea typeface="Cambria Math" panose="02040503050406030204" pitchFamily="18" charset="0"/>
              </a:rPr>
              <a:t>.</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18</a:t>
            </a:fld>
            <a:endParaRPr lang="en" kern="0">
              <a:solidFill>
                <a:srgbClr val="97ABBC"/>
              </a:solidFill>
            </a:endParaRPr>
          </a:p>
        </p:txBody>
      </p:sp>
      <p:pic>
        <p:nvPicPr>
          <p:cNvPr id="2" name="Picture 1"/>
          <p:cNvPicPr>
            <a:picLocks noChangeAspect="1"/>
          </p:cNvPicPr>
          <p:nvPr/>
        </p:nvPicPr>
        <p:blipFill>
          <a:blip r:embed="rId2"/>
          <a:stretch>
            <a:fillRect/>
          </a:stretch>
        </p:blipFill>
        <p:spPr>
          <a:xfrm>
            <a:off x="7192020" y="3899455"/>
            <a:ext cx="3530944" cy="2051944"/>
          </a:xfrm>
          <a:prstGeom prst="rect">
            <a:avLst/>
          </a:prstGeom>
        </p:spPr>
      </p:pic>
    </p:spTree>
    <p:extLst>
      <p:ext uri="{BB962C8B-B14F-4D97-AF65-F5344CB8AC3E}">
        <p14:creationId xmlns:p14="http://schemas.microsoft.com/office/powerpoint/2010/main" val="1850592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079" y="0"/>
            <a:ext cx="11385211" cy="917677"/>
          </a:xfrm>
        </p:spPr>
        <p:txBody>
          <a:bodyPr/>
          <a:lstStyle/>
          <a:p>
            <a:pPr algn="ctr"/>
            <a:r>
              <a:rPr lang="en-GB" b="1" u="sng" dirty="0">
                <a:solidFill>
                  <a:schemeClr val="bg2"/>
                </a:solidFill>
              </a:rPr>
              <a:t>Theory of Operation of an PNP transistor  </a:t>
            </a:r>
          </a:p>
        </p:txBody>
      </p:sp>
      <p:sp>
        <p:nvSpPr>
          <p:cNvPr id="6" name="Text Placeholder 5"/>
          <p:cNvSpPr>
            <a:spLocks noGrp="1"/>
          </p:cNvSpPr>
          <p:nvPr>
            <p:ph type="body" idx="1"/>
          </p:nvPr>
        </p:nvSpPr>
        <p:spPr>
          <a:xfrm>
            <a:off x="367077" y="965115"/>
            <a:ext cx="11385211" cy="5297463"/>
          </a:xfrm>
          <a:ln>
            <a:solidFill>
              <a:schemeClr val="accent1"/>
            </a:solidFill>
          </a:ln>
        </p:spPr>
        <p:txBody>
          <a:bodyPr/>
          <a:lstStyle/>
          <a:p>
            <a:pPr marL="152396" indent="0" algn="just">
              <a:buNone/>
            </a:pPr>
            <a:r>
              <a:rPr lang="en-GB" sz="2667" b="1" dirty="0">
                <a:solidFill>
                  <a:schemeClr val="accent5"/>
                </a:solidFill>
                <a:latin typeface="Cambria Math" panose="02040503050406030204" pitchFamily="18" charset="0"/>
                <a:ea typeface="Cambria Math" panose="02040503050406030204" pitchFamily="18" charset="0"/>
              </a:rPr>
              <a:t>Working of a PNP transistor in the Active Region</a:t>
            </a:r>
            <a:endParaRPr lang="en-GB" sz="2667" dirty="0">
              <a:solidFill>
                <a:schemeClr val="accent5"/>
              </a:solidFill>
              <a:latin typeface="Cambria Math" panose="02040503050406030204" pitchFamily="18" charset="0"/>
              <a:ea typeface="Cambria Math" panose="02040503050406030204" pitchFamily="18" charset="0"/>
            </a:endParaRP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As these holes cross into n-type base, they tend to combine with the electrons.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As the base is lightly doped and very thin, only a few holes (less than 5%) combine with the electrons.</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remainder (more than 95%) cross into the collector region to constitute the collector current, I</a:t>
            </a:r>
            <a:r>
              <a:rPr lang="en-GB" sz="2667" baseline="-25000" dirty="0">
                <a:solidFill>
                  <a:srgbClr val="000000"/>
                </a:solidFill>
                <a:latin typeface="Cambria Math" panose="02040503050406030204" pitchFamily="18" charset="0"/>
                <a:ea typeface="Cambria Math" panose="02040503050406030204" pitchFamily="18" charset="0"/>
              </a:rPr>
              <a:t>C.</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baseline="-25000"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a:p>
            <a:pPr marL="152396" indent="0">
              <a:buNone/>
            </a:pPr>
            <a:endParaRPr lang="en-GB" dirty="0">
              <a:solidFill>
                <a:srgbClr val="000000"/>
              </a:solidFill>
              <a:latin typeface="Lato" panose="020B0604020202020204"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19</a:t>
            </a:fld>
            <a:endParaRPr lang="en" kern="0">
              <a:solidFill>
                <a:srgbClr val="97ABBC"/>
              </a:solidFill>
            </a:endParaRPr>
          </a:p>
        </p:txBody>
      </p:sp>
      <p:pic>
        <p:nvPicPr>
          <p:cNvPr id="2" name="Picture 1"/>
          <p:cNvPicPr>
            <a:picLocks noChangeAspect="1"/>
          </p:cNvPicPr>
          <p:nvPr/>
        </p:nvPicPr>
        <p:blipFill>
          <a:blip r:embed="rId2"/>
          <a:stretch>
            <a:fillRect/>
          </a:stretch>
        </p:blipFill>
        <p:spPr>
          <a:xfrm>
            <a:off x="6725586" y="3952064"/>
            <a:ext cx="3626247" cy="2107328"/>
          </a:xfrm>
          <a:prstGeom prst="rect">
            <a:avLst/>
          </a:prstGeom>
        </p:spPr>
      </p:pic>
    </p:spTree>
    <p:extLst>
      <p:ext uri="{BB962C8B-B14F-4D97-AF65-F5344CB8AC3E}">
        <p14:creationId xmlns:p14="http://schemas.microsoft.com/office/powerpoint/2010/main" val="4233138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body" idx="1"/>
          </p:nvPr>
        </p:nvSpPr>
        <p:spPr>
          <a:xfrm>
            <a:off x="1" y="2461287"/>
            <a:ext cx="12153335" cy="1093200"/>
          </a:xfrm>
          <a:prstGeom prst="rect">
            <a:avLst/>
          </a:prstGeom>
        </p:spPr>
        <p:txBody>
          <a:bodyPr spcFirstLastPara="1" wrap="square" lIns="121900" tIns="121900" rIns="121900" bIns="121900" anchor="t" anchorCtr="0">
            <a:noAutofit/>
          </a:bodyPr>
          <a:lstStyle/>
          <a:p>
            <a:pPr marL="0" indent="0">
              <a:buNone/>
            </a:pPr>
            <a:r>
              <a:rPr lang="en-GB" sz="2667" i="0" dirty="0"/>
              <a:t>A transistor has three terminals.</a:t>
            </a:r>
          </a:p>
          <a:p>
            <a:pPr marL="0" indent="0">
              <a:buNone/>
            </a:pPr>
            <a:r>
              <a:rPr lang="en-GB" sz="2667" i="0" dirty="0"/>
              <a:t>When it is connected in a circuit, we require four terminals:</a:t>
            </a:r>
          </a:p>
          <a:p>
            <a:pPr marL="0" indent="0">
              <a:buNone/>
            </a:pPr>
            <a:r>
              <a:rPr lang="en-GB" sz="2667" i="0" dirty="0"/>
              <a:t> Two for the input and two for the output. </a:t>
            </a:r>
          </a:p>
          <a:p>
            <a:pPr marL="0" indent="0">
              <a:buNone/>
            </a:pPr>
            <a:r>
              <a:rPr lang="en-GB" sz="2667" i="0" dirty="0"/>
              <a:t>This difficulty is overcome by making one terminal of the transistor common to both the input and output</a:t>
            </a:r>
            <a:br>
              <a:rPr lang="en-GB" sz="2667" i="0" dirty="0"/>
            </a:br>
            <a:endParaRPr lang="en-GB" sz="2667" i="0" dirty="0"/>
          </a:p>
        </p:txBody>
      </p:sp>
      <p:sp>
        <p:nvSpPr>
          <p:cNvPr id="119" name="Google Shape;119;p16"/>
          <p:cNvSpPr txBox="1">
            <a:spLocks noGrp="1"/>
          </p:cNvSpPr>
          <p:nvPr>
            <p:ph type="sldNum" idx="12"/>
          </p:nvPr>
        </p:nvSpPr>
        <p:spPr>
          <a:xfrm>
            <a:off x="-167" y="6440375"/>
            <a:ext cx="12192000" cy="418000"/>
          </a:xfrm>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97ABBC"/>
                </a:solidFill>
              </a:rPr>
              <a:pPr defTabSz="1219170">
                <a:buClr>
                  <a:srgbClr val="000000"/>
                </a:buClr>
              </a:pPr>
              <a:t>20</a:t>
            </a:fld>
            <a:endParaRPr kern="0" dirty="0">
              <a:solidFill>
                <a:srgbClr val="97ABBC"/>
              </a:solidFill>
            </a:endParaRPr>
          </a:p>
        </p:txBody>
      </p:sp>
      <p:sp>
        <p:nvSpPr>
          <p:cNvPr id="4" name="Google Shape;118;p16"/>
          <p:cNvSpPr txBox="1">
            <a:spLocks/>
          </p:cNvSpPr>
          <p:nvPr/>
        </p:nvSpPr>
        <p:spPr>
          <a:xfrm>
            <a:off x="1450120" y="555756"/>
            <a:ext cx="9715968" cy="109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81000" algn="ctr" rtl="0">
              <a:lnSpc>
                <a:spcPct val="100000"/>
              </a:lnSpc>
              <a:spcBef>
                <a:spcPts val="600"/>
              </a:spcBef>
              <a:spcAft>
                <a:spcPts val="0"/>
              </a:spcAft>
              <a:buClr>
                <a:schemeClr val="accent6"/>
              </a:buClr>
              <a:buSzPts val="2400"/>
              <a:buFont typeface="Lato"/>
              <a:buChar char="▷"/>
              <a:defRPr sz="2400" b="0" i="1" u="none" strike="noStrike" cap="none">
                <a:solidFill>
                  <a:schemeClr val="dk1"/>
                </a:solidFill>
                <a:latin typeface="Lato"/>
                <a:ea typeface="Lato"/>
                <a:cs typeface="Lato"/>
                <a:sym typeface="Lato"/>
              </a:defRPr>
            </a:lvl1pPr>
            <a:lvl2pPr marL="914400" marR="0" lvl="1"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2pPr>
            <a:lvl3pPr marL="1371600" marR="0" lvl="2"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3pPr>
            <a:lvl4pPr marL="1828800" marR="0" lvl="3"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4pPr>
            <a:lvl5pPr marL="2286000" marR="0" lvl="4"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5pPr>
            <a:lvl6pPr marL="2743200" marR="0" lvl="5"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6pPr>
            <a:lvl7pPr marL="3200400" marR="0" lvl="6"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7pPr>
            <a:lvl8pPr marL="3657600" marR="0" lvl="7"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8pPr>
            <a:lvl9pPr marL="4114800" marR="0" lvl="8" indent="-381000" algn="ctr" rtl="0">
              <a:lnSpc>
                <a:spcPct val="100000"/>
              </a:lnSpc>
              <a:spcBef>
                <a:spcPts val="0"/>
              </a:spcBef>
              <a:spcAft>
                <a:spcPts val="0"/>
              </a:spcAft>
              <a:buClr>
                <a:schemeClr val="dk1"/>
              </a:buClr>
              <a:buSzPts val="2400"/>
              <a:buFont typeface="Lato"/>
              <a:buChar char="■"/>
              <a:defRPr sz="2400" b="0" i="1" u="none" strike="noStrike" cap="none">
                <a:solidFill>
                  <a:schemeClr val="dk1"/>
                </a:solidFill>
                <a:latin typeface="Lato"/>
                <a:ea typeface="Lato"/>
                <a:cs typeface="Lato"/>
                <a:sym typeface="Lato"/>
              </a:defRPr>
            </a:lvl9pPr>
          </a:lstStyle>
          <a:p>
            <a:pPr marL="0" indent="0" defTabSz="1219170">
              <a:spcBef>
                <a:spcPts val="800"/>
              </a:spcBef>
              <a:buClr>
                <a:srgbClr val="97ABBC"/>
              </a:buClr>
              <a:buNone/>
            </a:pPr>
            <a:r>
              <a:rPr lang="en-GB" sz="4800" kern="0" dirty="0">
                <a:solidFill>
                  <a:srgbClr val="677480"/>
                </a:solidFill>
              </a:rPr>
              <a:t>3. TRANSISTOR CONFIGURATIONS</a:t>
            </a:r>
            <a:endParaRPr lang="en-GB" sz="3733" kern="0" dirty="0">
              <a:solidFill>
                <a:srgbClr val="677480"/>
              </a:solidFill>
            </a:endParaRPr>
          </a:p>
        </p:txBody>
      </p:sp>
      <p:pic>
        <p:nvPicPr>
          <p:cNvPr id="2" name="Picture 1"/>
          <p:cNvPicPr>
            <a:picLocks noChangeAspect="1"/>
          </p:cNvPicPr>
          <p:nvPr/>
        </p:nvPicPr>
        <p:blipFill>
          <a:blip r:embed="rId3"/>
          <a:stretch>
            <a:fillRect/>
          </a:stretch>
        </p:blipFill>
        <p:spPr>
          <a:xfrm>
            <a:off x="5158236" y="5054349"/>
            <a:ext cx="1905265" cy="1803652"/>
          </a:xfrm>
          <a:prstGeom prst="rect">
            <a:avLst/>
          </a:prstGeom>
        </p:spPr>
      </p:pic>
    </p:spTree>
    <p:extLst>
      <p:ext uri="{BB962C8B-B14F-4D97-AF65-F5344CB8AC3E}">
        <p14:creationId xmlns:p14="http://schemas.microsoft.com/office/powerpoint/2010/main" val="1950864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br>
              <a:rPr lang="en-GB" b="1" u="sng" dirty="0">
                <a:solidFill>
                  <a:schemeClr val="bg2"/>
                </a:solidFill>
              </a:rPr>
            </a:br>
            <a:br>
              <a:rPr lang="en-GB" b="1" u="sng" dirty="0">
                <a:solidFill>
                  <a:schemeClr val="bg2"/>
                </a:solidFill>
              </a:rPr>
            </a:br>
            <a:r>
              <a:rPr lang="en-GB" b="1" u="sng" dirty="0">
                <a:solidFill>
                  <a:schemeClr val="bg2"/>
                </a:solidFill>
              </a:rPr>
              <a:t>Bipolar Transistor Configurations </a:t>
            </a:r>
          </a:p>
        </p:txBody>
      </p:sp>
      <p:sp>
        <p:nvSpPr>
          <p:cNvPr id="6" name="Text Placeholder 5"/>
          <p:cNvSpPr>
            <a:spLocks noGrp="1"/>
          </p:cNvSpPr>
          <p:nvPr>
            <p:ph type="body" idx="1"/>
          </p:nvPr>
        </p:nvSpPr>
        <p:spPr>
          <a:xfrm>
            <a:off x="479686" y="965115"/>
            <a:ext cx="11222637" cy="5410701"/>
          </a:xfrm>
          <a:ln>
            <a:solidFill>
              <a:schemeClr val="accent1"/>
            </a:solidFill>
          </a:ln>
        </p:spPr>
        <p:txBody>
          <a:bodyPr/>
          <a:lstStyle/>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There are basically three possible ways to connect it within an electronic circuit with one terminal being common to both the input and output.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Each method of connection responds differently to its input signal within a circuit as the static characteristics of the transistor vary with each circuit arrangement.</a:t>
            </a:r>
          </a:p>
          <a:p>
            <a:pPr marL="152396" indent="0" algn="just">
              <a:buNone/>
            </a:pPr>
            <a:endParaRPr lang="en-GB" sz="2667" dirty="0">
              <a:solidFill>
                <a:srgbClr val="000000"/>
              </a:solidFill>
              <a:latin typeface="Cambria Math" panose="02040503050406030204" pitchFamily="18" charset="0"/>
              <a:ea typeface="Cambria Math" panose="02040503050406030204" pitchFamily="18" charset="0"/>
            </a:endParaRPr>
          </a:p>
          <a:p>
            <a:pPr marL="152396" indent="0" algn="just">
              <a:buNone/>
            </a:pPr>
            <a:r>
              <a:rPr lang="en-GB" sz="2667" dirty="0">
                <a:solidFill>
                  <a:srgbClr val="000000"/>
                </a:solidFill>
                <a:latin typeface="Cambria Math" panose="02040503050406030204" pitchFamily="18" charset="0"/>
                <a:ea typeface="Cambria Math" panose="02040503050406030204" pitchFamily="18" charset="0"/>
              </a:rPr>
              <a:t>There are three transistor configurations:</a:t>
            </a:r>
          </a:p>
          <a:p>
            <a:pPr algn="just">
              <a:buFont typeface="Lato"/>
              <a:buAutoNum type="arabicPeriod"/>
            </a:pPr>
            <a:r>
              <a:rPr lang="en-GB" sz="2667" dirty="0">
                <a:solidFill>
                  <a:schemeClr val="accent5"/>
                </a:solidFill>
                <a:latin typeface="Cambria Math" panose="02040503050406030204" pitchFamily="18" charset="0"/>
                <a:ea typeface="Cambria Math" panose="02040503050406030204" pitchFamily="18" charset="0"/>
              </a:rPr>
              <a:t>Common Base Configuration</a:t>
            </a:r>
            <a:endParaRPr lang="en-GB" sz="2667" dirty="0">
              <a:solidFill>
                <a:srgbClr val="000000"/>
              </a:solidFill>
              <a:latin typeface="Cambria Math" panose="02040503050406030204" pitchFamily="18" charset="0"/>
              <a:ea typeface="Cambria Math" panose="02040503050406030204" pitchFamily="18" charset="0"/>
            </a:endParaRPr>
          </a:p>
          <a:p>
            <a:pPr algn="just">
              <a:buFont typeface="Lato"/>
              <a:buAutoNum type="arabicPeriod"/>
            </a:pPr>
            <a:r>
              <a:rPr lang="en-GB" sz="2667" dirty="0">
                <a:solidFill>
                  <a:schemeClr val="accent5"/>
                </a:solidFill>
                <a:latin typeface="Cambria Math" panose="02040503050406030204" pitchFamily="18" charset="0"/>
                <a:ea typeface="Cambria Math" panose="02040503050406030204" pitchFamily="18" charset="0"/>
              </a:rPr>
              <a:t>Common Emitter Configuration</a:t>
            </a:r>
            <a:endParaRPr lang="en-GB" sz="2667" dirty="0">
              <a:solidFill>
                <a:srgbClr val="000000"/>
              </a:solidFill>
              <a:latin typeface="Cambria Math" panose="02040503050406030204" pitchFamily="18" charset="0"/>
              <a:ea typeface="Cambria Math" panose="02040503050406030204" pitchFamily="18" charset="0"/>
            </a:endParaRPr>
          </a:p>
          <a:p>
            <a:pPr algn="just">
              <a:buAutoNum type="arabicPeriod"/>
            </a:pPr>
            <a:r>
              <a:rPr lang="en-GB" sz="2667" dirty="0">
                <a:solidFill>
                  <a:schemeClr val="accent5"/>
                </a:solidFill>
                <a:latin typeface="Cambria Math" panose="02040503050406030204" pitchFamily="18" charset="0"/>
                <a:ea typeface="Cambria Math" panose="02040503050406030204" pitchFamily="18" charset="0"/>
              </a:rPr>
              <a:t>Common Collector Configuration</a:t>
            </a:r>
            <a:endParaRPr lang="en-GB" sz="2667"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21</a:t>
            </a:fld>
            <a:endParaRPr lang="en" kern="0">
              <a:solidFill>
                <a:srgbClr val="97ABBC"/>
              </a:solidFill>
            </a:endParaRPr>
          </a:p>
        </p:txBody>
      </p:sp>
    </p:spTree>
    <p:extLst>
      <p:ext uri="{BB962C8B-B14F-4D97-AF65-F5344CB8AC3E}">
        <p14:creationId xmlns:p14="http://schemas.microsoft.com/office/powerpoint/2010/main" val="42356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496608" y="1072383"/>
            <a:ext cx="11195721" cy="5297463"/>
          </a:xfrm>
          <a:ln>
            <a:solidFill>
              <a:schemeClr val="accent1"/>
            </a:solidFill>
          </a:ln>
        </p:spPr>
        <p:txBody>
          <a:bodyPr/>
          <a:lstStyle/>
          <a:p>
            <a:pPr algn="just">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In the Common Base or Grounded Base configuration, the BASE connection is common to both the input signal and the output signal. </a:t>
            </a:r>
          </a:p>
          <a:p>
            <a:pPr algn="just">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input signal is applied between the base and emitter terminals, while the output signal is taken from between the base and the collector terminals as shown. </a:t>
            </a:r>
          </a:p>
          <a:p>
            <a:pPr algn="just">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base terminal is grounded or can be connected to some fixed reference voltage point.</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22</a:t>
            </a:fld>
            <a:endParaRPr lang="en" kern="0">
              <a:solidFill>
                <a:srgbClr val="97ABBC"/>
              </a:solidFill>
            </a:endParaRPr>
          </a:p>
        </p:txBody>
      </p:sp>
      <p:pic>
        <p:nvPicPr>
          <p:cNvPr id="2" name="Picture 1"/>
          <p:cNvPicPr>
            <a:picLocks noChangeAspect="1"/>
          </p:cNvPicPr>
          <p:nvPr/>
        </p:nvPicPr>
        <p:blipFill>
          <a:blip r:embed="rId2"/>
          <a:stretch>
            <a:fillRect/>
          </a:stretch>
        </p:blipFill>
        <p:spPr>
          <a:xfrm>
            <a:off x="3879556" y="3721114"/>
            <a:ext cx="4407515" cy="2426039"/>
          </a:xfrm>
          <a:prstGeom prst="rect">
            <a:avLst/>
          </a:prstGeom>
        </p:spPr>
      </p:pic>
    </p:spTree>
    <p:extLst>
      <p:ext uri="{BB962C8B-B14F-4D97-AF65-F5344CB8AC3E}">
        <p14:creationId xmlns:p14="http://schemas.microsoft.com/office/powerpoint/2010/main" val="1176600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370649" y="999745"/>
            <a:ext cx="11302584" cy="5297463"/>
          </a:xfrm>
          <a:ln>
            <a:solidFill>
              <a:schemeClr val="accent1"/>
            </a:solidFill>
          </a:ln>
        </p:spPr>
        <p:txBody>
          <a:bodyPr/>
          <a:lstStyle/>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input current flowing into the emitter is quite large as its the sum of both the base current and collector current.</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collector current output is less than the emitter current input resulting in a current gain for this type of circuit of “1” (unity) or less.</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In other words the common base configuration “attenuates” or weakens the input signal.</a:t>
            </a:r>
          </a:p>
          <a:p>
            <a:pPr marL="152396" indent="0" algn="just">
              <a:buNone/>
            </a:pPr>
            <a:endParaRPr lang="en-GB" sz="2667"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23</a:t>
            </a:fld>
            <a:endParaRPr lang="en" kern="0">
              <a:solidFill>
                <a:srgbClr val="97ABBC"/>
              </a:solidFill>
            </a:endParaRPr>
          </a:p>
        </p:txBody>
      </p:sp>
      <p:pic>
        <p:nvPicPr>
          <p:cNvPr id="7" name="Picture 6"/>
          <p:cNvPicPr>
            <a:picLocks noChangeAspect="1"/>
          </p:cNvPicPr>
          <p:nvPr/>
        </p:nvPicPr>
        <p:blipFill>
          <a:blip r:embed="rId2"/>
          <a:stretch>
            <a:fillRect/>
          </a:stretch>
        </p:blipFill>
        <p:spPr>
          <a:xfrm>
            <a:off x="5567089" y="3637614"/>
            <a:ext cx="4397739" cy="2420657"/>
          </a:xfrm>
          <a:prstGeom prst="rect">
            <a:avLst/>
          </a:prstGeom>
        </p:spPr>
      </p:pic>
    </p:spTree>
    <p:extLst>
      <p:ext uri="{BB962C8B-B14F-4D97-AF65-F5344CB8AC3E}">
        <p14:creationId xmlns:p14="http://schemas.microsoft.com/office/powerpoint/2010/main" val="326825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794587" cy="999744"/>
          </a:xfrm>
        </p:spPr>
        <p:txBody>
          <a:bodyPr/>
          <a:lstStyle/>
          <a:p>
            <a:pPr algn="ctr"/>
            <a:r>
              <a:rPr lang="en-GB" b="1" u="sng" dirty="0">
                <a:solidFill>
                  <a:schemeClr val="bg2"/>
                </a:solidFill>
              </a:rPr>
              <a:t>Common Base Configuration </a:t>
            </a:r>
          </a:p>
        </p:txBody>
      </p:sp>
      <mc:AlternateContent xmlns:mc="http://schemas.openxmlformats.org/markup-compatibility/2006">
        <mc:Choice xmlns:a14="http://schemas.microsoft.com/office/drawing/2010/main" Requires="a14">
          <p:sp>
            <p:nvSpPr>
              <p:cNvPr id="6" name="Text Placeholder 5"/>
              <p:cNvSpPr>
                <a:spLocks noGrp="1"/>
              </p:cNvSpPr>
              <p:nvPr>
                <p:ph type="body" idx="1"/>
              </p:nvPr>
            </p:nvSpPr>
            <p:spPr>
              <a:xfrm>
                <a:off x="659568" y="999745"/>
                <a:ext cx="11022768" cy="5297463"/>
              </a:xfrm>
              <a:ln>
                <a:solidFill>
                  <a:schemeClr val="accent1"/>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Common Base Current Amplification Factor (</a:t>
                </a:r>
                <a:r>
                  <a:rPr lang="el-GR" b="1" dirty="0">
                    <a:solidFill>
                      <a:schemeClr val="accent5"/>
                    </a:solidFill>
                    <a:latin typeface="Cambria Math" panose="02040503050406030204" pitchFamily="18" charset="0"/>
                    <a:ea typeface="Cambria Math" panose="02040503050406030204" pitchFamily="18" charset="0"/>
                  </a:rPr>
                  <a:t>α</a:t>
                </a:r>
                <a:r>
                  <a:rPr lang="en-GB" b="1" dirty="0">
                    <a:solidFill>
                      <a:schemeClr val="accent5"/>
                    </a:solidFill>
                    <a:latin typeface="Cambria Math" panose="02040503050406030204" pitchFamily="18" charset="0"/>
                    <a:ea typeface="Cambria Math" panose="02040503050406030204" pitchFamily="18" charset="0"/>
                  </a:rPr>
                  <a:t>)</a:t>
                </a:r>
              </a:p>
              <a:p>
                <a:pPr marL="152396" indent="0">
                  <a:buNone/>
                </a:pPr>
                <a:r>
                  <a:rPr lang="en-GB" dirty="0">
                    <a:solidFill>
                      <a:srgbClr val="000000"/>
                    </a:solidFill>
                    <a:latin typeface="Cambria Math" panose="02040503050406030204" pitchFamily="18" charset="0"/>
                    <a:ea typeface="Cambria Math" panose="02040503050406030204" pitchFamily="18" charset="0"/>
                  </a:rPr>
                  <a:t>It is the ratio of the output current to the input current. It is also known as the current gain In the common base configuration, the output current is I</a:t>
                </a:r>
                <a:r>
                  <a:rPr lang="en-GB" baseline="-25000" dirty="0">
                    <a:solidFill>
                      <a:srgbClr val="000000"/>
                    </a:solidFill>
                    <a:latin typeface="Cambria Math" panose="02040503050406030204" pitchFamily="18" charset="0"/>
                    <a:ea typeface="Cambria Math" panose="02040503050406030204" pitchFamily="18" charset="0"/>
                  </a:rPr>
                  <a:t>C</a:t>
                </a:r>
                <a:r>
                  <a:rPr lang="en-GB" dirty="0">
                    <a:solidFill>
                      <a:srgbClr val="000000"/>
                    </a:solidFill>
                    <a:latin typeface="Cambria Math" panose="02040503050406030204" pitchFamily="18" charset="0"/>
                    <a:ea typeface="Cambria Math" panose="02040503050406030204" pitchFamily="18" charset="0"/>
                  </a:rPr>
                  <a:t> while the input current is I</a:t>
                </a:r>
                <a:r>
                  <a:rPr lang="en-GB" baseline="-25000" dirty="0">
                    <a:solidFill>
                      <a:srgbClr val="000000"/>
                    </a:solidFill>
                    <a:latin typeface="Cambria Math" panose="02040503050406030204" pitchFamily="18" charset="0"/>
                    <a:ea typeface="Cambria Math" panose="02040503050406030204" pitchFamily="18" charset="0"/>
                  </a:rPr>
                  <a:t>E</a:t>
                </a:r>
                <a:r>
                  <a:rPr lang="en-GB" dirty="0">
                    <a:solidFill>
                      <a:srgbClr val="000000"/>
                    </a:solidFill>
                    <a:latin typeface="Cambria Math" panose="02040503050406030204" pitchFamily="18" charset="0"/>
                    <a:ea typeface="Cambria Math" panose="02040503050406030204" pitchFamily="18" charset="0"/>
                  </a:rPr>
                  <a:t>. Hence:</a:t>
                </a:r>
              </a:p>
              <a:p>
                <a:pPr marL="152396" indent="0" algn="ctr">
                  <a:buNone/>
                </a:pPr>
                <a:r>
                  <a:rPr lang="el-GR" b="1" dirty="0">
                    <a:solidFill>
                      <a:srgbClr val="000000"/>
                    </a:solidFill>
                    <a:latin typeface="Cambria Math" panose="02040503050406030204" pitchFamily="18" charset="0"/>
                    <a:ea typeface="Cambria Math" panose="02040503050406030204" pitchFamily="18" charset="0"/>
                  </a:rPr>
                  <a:t>α</a:t>
                </a:r>
                <a:r>
                  <a:rPr lang="en-GB" b="1" dirty="0">
                    <a:solidFill>
                      <a:srgbClr val="000000"/>
                    </a:solidFill>
                    <a:latin typeface="Cambria Math" panose="02040503050406030204" pitchFamily="18" charset="0"/>
                    <a:ea typeface="Cambria Math" panose="02040503050406030204" pitchFamily="18" charset="0"/>
                  </a:rPr>
                  <a:t> = </a:t>
                </a:r>
                <a14:m>
                  <m:oMath xmlns:m="http://schemas.openxmlformats.org/officeDocument/2006/math">
                    <m:f>
                      <m:fPr>
                        <m:ctrlPr>
                          <a:rPr lang="en-GB" sz="2667" b="1" i="1">
                            <a:solidFill>
                              <a:srgbClr val="000000"/>
                            </a:solidFill>
                            <a:latin typeface="Cambria Math" panose="02040503050406030204" pitchFamily="18" charset="0"/>
                            <a:ea typeface="Cambria Math" panose="02040503050406030204" pitchFamily="18" charset="0"/>
                          </a:rPr>
                        </m:ctrlPr>
                      </m:fPr>
                      <m:num>
                        <m:r>
                          <a:rPr lang="en-GB" sz="2667" b="1">
                            <a:solidFill>
                              <a:srgbClr val="000000"/>
                            </a:solidFill>
                            <a:latin typeface="Cambria Math" panose="02040503050406030204" pitchFamily="18" charset="0"/>
                            <a:ea typeface="Cambria Math" panose="02040503050406030204" pitchFamily="18" charset="0"/>
                          </a:rPr>
                          <m:t>𝐈</m:t>
                        </m:r>
                        <m:r>
                          <a:rPr lang="en-GB" sz="2667" b="1" baseline="-25000">
                            <a:solidFill>
                              <a:srgbClr val="000000"/>
                            </a:solidFill>
                            <a:latin typeface="Cambria Math" panose="02040503050406030204" pitchFamily="18" charset="0"/>
                            <a:ea typeface="Cambria Math" panose="02040503050406030204" pitchFamily="18" charset="0"/>
                          </a:rPr>
                          <m:t>𝐂</m:t>
                        </m:r>
                      </m:num>
                      <m:den>
                        <m:r>
                          <a:rPr lang="en-GB" sz="2667" b="1">
                            <a:solidFill>
                              <a:srgbClr val="000000"/>
                            </a:solidFill>
                            <a:latin typeface="Cambria Math" panose="02040503050406030204" pitchFamily="18" charset="0"/>
                            <a:ea typeface="Cambria Math" panose="02040503050406030204" pitchFamily="18" charset="0"/>
                          </a:rPr>
                          <m:t>𝐈</m:t>
                        </m:r>
                        <m:r>
                          <a:rPr lang="en-GB" sz="2667" b="1" baseline="-25000">
                            <a:solidFill>
                              <a:srgbClr val="000000"/>
                            </a:solidFill>
                            <a:latin typeface="Cambria Math" panose="02040503050406030204" pitchFamily="18" charset="0"/>
                            <a:ea typeface="Cambria Math" panose="02040503050406030204" pitchFamily="18" charset="0"/>
                          </a:rPr>
                          <m:t>𝐄</m:t>
                        </m:r>
                      </m:den>
                    </m:f>
                  </m:oMath>
                </a14:m>
                <a:endParaRPr lang="en-GB" b="1" dirty="0">
                  <a:solidFill>
                    <a:srgbClr val="000000"/>
                  </a:solidFill>
                  <a:latin typeface="Cambria Math" panose="02040503050406030204" pitchFamily="18" charset="0"/>
                  <a:ea typeface="Cambria Math" panose="02040503050406030204" pitchFamily="18" charset="0"/>
                </a:endParaRPr>
              </a:p>
              <a:p>
                <a:pPr marL="152396" indent="0">
                  <a:buNone/>
                </a:pPr>
                <a:r>
                  <a:rPr lang="en-GB" b="1" dirty="0">
                    <a:solidFill>
                      <a:schemeClr val="accent5"/>
                    </a:solidFill>
                    <a:latin typeface="Cambria Math" panose="02040503050406030204" pitchFamily="18" charset="0"/>
                    <a:ea typeface="Cambria Math" panose="02040503050406030204" pitchFamily="18" charset="0"/>
                  </a:rPr>
                  <a:t>Common Base Voltage Gain (A</a:t>
                </a:r>
                <a:r>
                  <a:rPr lang="en-GB" b="1" baseline="-25000" dirty="0">
                    <a:solidFill>
                      <a:schemeClr val="accent5"/>
                    </a:solidFill>
                    <a:latin typeface="Cambria Math" panose="02040503050406030204" pitchFamily="18" charset="0"/>
                    <a:ea typeface="Cambria Math" panose="02040503050406030204" pitchFamily="18" charset="0"/>
                  </a:rPr>
                  <a:t>v</a:t>
                </a:r>
                <a:r>
                  <a:rPr lang="en-GB" b="1" dirty="0">
                    <a:solidFill>
                      <a:schemeClr val="accent5"/>
                    </a:solidFill>
                    <a:latin typeface="Cambria Math" panose="02040503050406030204" pitchFamily="18" charset="0"/>
                    <a:ea typeface="Cambria Math" panose="02040503050406030204" pitchFamily="18" charset="0"/>
                  </a:rPr>
                  <a:t>)</a:t>
                </a:r>
                <a:r>
                  <a:rPr lang="en-GB" dirty="0">
                    <a:solidFill>
                      <a:schemeClr val="accent5"/>
                    </a:solidFill>
                    <a:latin typeface="Cambria Math" panose="02040503050406030204" pitchFamily="18" charset="0"/>
                    <a:ea typeface="Cambria Math" panose="02040503050406030204" pitchFamily="18" charset="0"/>
                  </a:rPr>
                  <a:t> </a:t>
                </a:r>
              </a:p>
              <a:p>
                <a:pPr marL="152396" indent="0">
                  <a:buNone/>
                </a:pPr>
                <a:r>
                  <a:rPr lang="en-GB" dirty="0">
                    <a:solidFill>
                      <a:srgbClr val="000000"/>
                    </a:solidFill>
                    <a:latin typeface="Cambria Math" panose="02040503050406030204" pitchFamily="18" charset="0"/>
                    <a:ea typeface="Cambria Math" panose="02040503050406030204" pitchFamily="18" charset="0"/>
                  </a:rPr>
                  <a:t>It is the ratio of the output voltage to the input voltage.</a:t>
                </a:r>
              </a:p>
              <a:p>
                <a:pPr marL="152396" indent="0" algn="ctr">
                  <a:buNone/>
                </a:pPr>
                <a:r>
                  <a:rPr lang="en-GB" b="1" dirty="0">
                    <a:solidFill>
                      <a:srgbClr val="000000"/>
                    </a:solidFill>
                    <a:latin typeface="Cambria Math" panose="02040503050406030204" pitchFamily="18" charset="0"/>
                    <a:ea typeface="Cambria Math" panose="02040503050406030204" pitchFamily="18" charset="0"/>
                  </a:rPr>
                  <a:t>A</a:t>
                </a:r>
                <a:r>
                  <a:rPr lang="en-GB" b="1" baseline="-25000" dirty="0">
                    <a:solidFill>
                      <a:srgbClr val="000000"/>
                    </a:solidFill>
                    <a:latin typeface="Cambria Math" panose="02040503050406030204" pitchFamily="18" charset="0"/>
                    <a:ea typeface="Cambria Math" panose="02040503050406030204" pitchFamily="18" charset="0"/>
                  </a:rPr>
                  <a:t>v</a:t>
                </a:r>
                <a:r>
                  <a:rPr lang="en-GB" b="1" dirty="0">
                    <a:solidFill>
                      <a:srgbClr val="000000"/>
                    </a:solidFill>
                    <a:latin typeface="Cambria Math" panose="02040503050406030204" pitchFamily="18" charset="0"/>
                    <a:ea typeface="Cambria Math" panose="02040503050406030204" pitchFamily="18" charset="0"/>
                  </a:rPr>
                  <a:t> = </a:t>
                </a:r>
                <a14:m>
                  <m:oMath xmlns:m="http://schemas.openxmlformats.org/officeDocument/2006/math">
                    <m:f>
                      <m:fPr>
                        <m:ctrlPr>
                          <a:rPr lang="en-GB" sz="2667" b="1" i="1">
                            <a:solidFill>
                              <a:srgbClr val="000000"/>
                            </a:solidFill>
                            <a:latin typeface="Cambria Math" panose="02040503050406030204" pitchFamily="18" charset="0"/>
                            <a:ea typeface="Cambria Math" panose="02040503050406030204" pitchFamily="18" charset="0"/>
                          </a:rPr>
                        </m:ctrlPr>
                      </m:fPr>
                      <m:num>
                        <m:r>
                          <a:rPr lang="en-GB" sz="2667" b="1">
                            <a:solidFill>
                              <a:srgbClr val="000000"/>
                            </a:solidFill>
                            <a:latin typeface="Cambria Math" panose="02040503050406030204" pitchFamily="18" charset="0"/>
                            <a:ea typeface="Cambria Math" panose="02040503050406030204" pitchFamily="18" charset="0"/>
                          </a:rPr>
                          <m:t>𝐕</m:t>
                        </m:r>
                        <m:r>
                          <a:rPr lang="en-GB" sz="2667" b="1" baseline="-25000">
                            <a:solidFill>
                              <a:srgbClr val="000000"/>
                            </a:solidFill>
                            <a:latin typeface="Cambria Math" panose="02040503050406030204" pitchFamily="18" charset="0"/>
                            <a:ea typeface="Cambria Math" panose="02040503050406030204" pitchFamily="18" charset="0"/>
                          </a:rPr>
                          <m:t>𝐎𝐔𝐓</m:t>
                        </m:r>
                      </m:num>
                      <m:den>
                        <m:r>
                          <a:rPr lang="en-GB" sz="2667" b="1">
                            <a:solidFill>
                              <a:srgbClr val="000000"/>
                            </a:solidFill>
                            <a:latin typeface="Cambria Math" panose="02040503050406030204" pitchFamily="18" charset="0"/>
                            <a:ea typeface="Cambria Math" panose="02040503050406030204" pitchFamily="18" charset="0"/>
                          </a:rPr>
                          <m:t>𝐕</m:t>
                        </m:r>
                        <m:r>
                          <a:rPr lang="en-GB" sz="2667" b="1" baseline="-25000">
                            <a:solidFill>
                              <a:srgbClr val="000000"/>
                            </a:solidFill>
                            <a:latin typeface="Cambria Math" panose="02040503050406030204" pitchFamily="18" charset="0"/>
                            <a:ea typeface="Cambria Math" panose="02040503050406030204" pitchFamily="18" charset="0"/>
                          </a:rPr>
                          <m:t>𝐈𝐍</m:t>
                        </m:r>
                      </m:den>
                    </m:f>
                  </m:oMath>
                </a14:m>
                <a:r>
                  <a:rPr lang="en-GB" b="1" dirty="0">
                    <a:solidFill>
                      <a:srgbClr val="000000"/>
                    </a:solidFill>
                    <a:latin typeface="Cambria Math" panose="02040503050406030204" pitchFamily="18" charset="0"/>
                    <a:ea typeface="Cambria Math" panose="02040503050406030204" pitchFamily="18" charset="0"/>
                  </a:rPr>
                  <a:t> = </a:t>
                </a:r>
                <a14:m>
                  <m:oMath xmlns:m="http://schemas.openxmlformats.org/officeDocument/2006/math">
                    <m:f>
                      <m:fPr>
                        <m:ctrlPr>
                          <a:rPr lang="en-GB" sz="2667" b="1" i="1">
                            <a:solidFill>
                              <a:srgbClr val="000000"/>
                            </a:solidFill>
                            <a:latin typeface="Cambria Math" panose="02040503050406030204" pitchFamily="18" charset="0"/>
                            <a:ea typeface="Cambria Math" panose="02040503050406030204" pitchFamily="18" charset="0"/>
                          </a:rPr>
                        </m:ctrlPr>
                      </m:fPr>
                      <m:num>
                        <m:r>
                          <a:rPr lang="en-GB" sz="2667" b="1">
                            <a:solidFill>
                              <a:srgbClr val="000000"/>
                            </a:solidFill>
                            <a:latin typeface="Cambria Math" panose="02040503050406030204" pitchFamily="18" charset="0"/>
                            <a:ea typeface="Cambria Math" panose="02040503050406030204" pitchFamily="18" charset="0"/>
                          </a:rPr>
                          <m:t>𝐈</m:t>
                        </m:r>
                        <m:r>
                          <a:rPr lang="en-GB" sz="2667" b="1" baseline="-25000">
                            <a:solidFill>
                              <a:srgbClr val="000000"/>
                            </a:solidFill>
                            <a:latin typeface="Cambria Math" panose="02040503050406030204" pitchFamily="18" charset="0"/>
                            <a:ea typeface="Cambria Math" panose="02040503050406030204" pitchFamily="18" charset="0"/>
                          </a:rPr>
                          <m:t>𝐂</m:t>
                        </m:r>
                        <m:r>
                          <a:rPr lang="en-GB" sz="2667" b="1" baseline="-25000">
                            <a:solidFill>
                              <a:srgbClr val="000000"/>
                            </a:solidFill>
                            <a:latin typeface="Cambria Math" panose="02040503050406030204" pitchFamily="18" charset="0"/>
                            <a:ea typeface="Cambria Math" panose="02040503050406030204" pitchFamily="18" charset="0"/>
                          </a:rPr>
                          <m:t> × </m:t>
                        </m:r>
                        <m:r>
                          <a:rPr lang="en-GB" sz="2667" b="1">
                            <a:solidFill>
                              <a:srgbClr val="000000"/>
                            </a:solidFill>
                            <a:latin typeface="Cambria Math" panose="02040503050406030204" pitchFamily="18" charset="0"/>
                            <a:ea typeface="Cambria Math" panose="02040503050406030204" pitchFamily="18" charset="0"/>
                          </a:rPr>
                          <m:t>𝐑𝐋</m:t>
                        </m:r>
                      </m:num>
                      <m:den>
                        <m:r>
                          <a:rPr lang="en-GB" sz="2667" b="1">
                            <a:solidFill>
                              <a:srgbClr val="000000"/>
                            </a:solidFill>
                            <a:latin typeface="Cambria Math" panose="02040503050406030204" pitchFamily="18" charset="0"/>
                            <a:ea typeface="Cambria Math" panose="02040503050406030204" pitchFamily="18" charset="0"/>
                          </a:rPr>
                          <m:t>𝐈</m:t>
                        </m:r>
                        <m:r>
                          <a:rPr lang="en-GB" sz="2667" b="1" baseline="-25000">
                            <a:solidFill>
                              <a:srgbClr val="000000"/>
                            </a:solidFill>
                            <a:latin typeface="Cambria Math" panose="02040503050406030204" pitchFamily="18" charset="0"/>
                            <a:ea typeface="Cambria Math" panose="02040503050406030204" pitchFamily="18" charset="0"/>
                          </a:rPr>
                          <m:t>𝐄</m:t>
                        </m:r>
                        <m:r>
                          <a:rPr lang="en-GB" sz="2667" b="1" baseline="-25000">
                            <a:solidFill>
                              <a:srgbClr val="000000"/>
                            </a:solidFill>
                            <a:latin typeface="Cambria Math" panose="02040503050406030204" pitchFamily="18" charset="0"/>
                            <a:ea typeface="Cambria Math" panose="02040503050406030204" pitchFamily="18" charset="0"/>
                          </a:rPr>
                          <m:t> × </m:t>
                        </m:r>
                        <m:r>
                          <a:rPr lang="en-GB" sz="2667" b="1">
                            <a:solidFill>
                              <a:srgbClr val="000000"/>
                            </a:solidFill>
                            <a:latin typeface="Cambria Math" panose="02040503050406030204" pitchFamily="18" charset="0"/>
                            <a:ea typeface="Cambria Math" panose="02040503050406030204" pitchFamily="18" charset="0"/>
                          </a:rPr>
                          <m:t>𝐑𝐈</m:t>
                        </m:r>
                        <m:r>
                          <a:rPr lang="en-GB" sz="2667" b="1" baseline="-25000">
                            <a:solidFill>
                              <a:srgbClr val="000000"/>
                            </a:solidFill>
                            <a:latin typeface="Cambria Math" panose="02040503050406030204" pitchFamily="18" charset="0"/>
                            <a:ea typeface="Cambria Math" panose="02040503050406030204" pitchFamily="18" charset="0"/>
                          </a:rPr>
                          <m:t>𝐍</m:t>
                        </m:r>
                      </m:den>
                    </m:f>
                  </m:oMath>
                </a14:m>
                <a:endParaRPr lang="en-GB" dirty="0">
                  <a:solidFill>
                    <a:srgbClr val="000000"/>
                  </a:solidFill>
                  <a:latin typeface="Cambria Math" panose="02040503050406030204" pitchFamily="18" charset="0"/>
                  <a:ea typeface="Cambria Math" panose="02040503050406030204" pitchFamily="18" charset="0"/>
                </a:endParaRPr>
              </a:p>
              <a:p>
                <a:pPr marL="152396" indent="0">
                  <a:buNone/>
                </a:pPr>
                <a:r>
                  <a:rPr lang="en-GB" dirty="0">
                    <a:solidFill>
                      <a:srgbClr val="000000"/>
                    </a:solidFill>
                    <a:latin typeface="Cambria Math" panose="02040503050406030204" pitchFamily="18" charset="0"/>
                    <a:ea typeface="Cambria Math" panose="02040503050406030204" pitchFamily="18" charset="0"/>
                  </a:rPr>
                  <a:t>Where </a:t>
                </a:r>
                <a14:m>
                  <m:oMath xmlns:m="http://schemas.openxmlformats.org/officeDocument/2006/math">
                    <m:f>
                      <m:fPr>
                        <m:ctrlPr>
                          <a:rPr lang="en-GB" sz="2667" i="1">
                            <a:solidFill>
                              <a:srgbClr val="000000"/>
                            </a:solidFill>
                            <a:latin typeface="Cambria Math" panose="02040503050406030204" pitchFamily="18" charset="0"/>
                            <a:ea typeface="Cambria Math" panose="02040503050406030204" pitchFamily="18" charset="0"/>
                          </a:rPr>
                        </m:ctrlPr>
                      </m:fPr>
                      <m:num>
                        <m:r>
                          <m:rPr>
                            <m:sty m:val="p"/>
                          </m:rPr>
                          <a:rPr lang="en-GB" sz="2667" i="1">
                            <a:solidFill>
                              <a:srgbClr val="000000"/>
                            </a:solidFill>
                            <a:latin typeface="Cambria Math" panose="02040503050406030204" pitchFamily="18" charset="0"/>
                            <a:ea typeface="Cambria Math" panose="02040503050406030204" pitchFamily="18" charset="0"/>
                          </a:rPr>
                          <m:t>R</m:t>
                        </m:r>
                        <m:r>
                          <m:rPr>
                            <m:sty m:val="p"/>
                          </m:rPr>
                          <a:rPr lang="en-GB" sz="2667" i="1" baseline="-25000">
                            <a:solidFill>
                              <a:srgbClr val="000000"/>
                            </a:solidFill>
                            <a:latin typeface="Cambria Math" panose="02040503050406030204" pitchFamily="18" charset="0"/>
                            <a:ea typeface="Cambria Math" panose="02040503050406030204" pitchFamily="18" charset="0"/>
                          </a:rPr>
                          <m:t>L</m:t>
                        </m:r>
                      </m:num>
                      <m:den>
                        <m:r>
                          <m:rPr>
                            <m:sty m:val="p"/>
                          </m:rPr>
                          <a:rPr lang="en-GB" sz="2667" i="1">
                            <a:solidFill>
                              <a:srgbClr val="000000"/>
                            </a:solidFill>
                            <a:latin typeface="Cambria Math" panose="02040503050406030204" pitchFamily="18" charset="0"/>
                            <a:ea typeface="Cambria Math" panose="02040503050406030204" pitchFamily="18" charset="0"/>
                          </a:rPr>
                          <m:t>R</m:t>
                        </m:r>
                        <m:r>
                          <m:rPr>
                            <m:sty m:val="p"/>
                          </m:rPr>
                          <a:rPr lang="en-GB" sz="2667" i="1" baseline="-25000">
                            <a:solidFill>
                              <a:srgbClr val="000000"/>
                            </a:solidFill>
                            <a:latin typeface="Cambria Math" panose="02040503050406030204" pitchFamily="18" charset="0"/>
                            <a:ea typeface="Cambria Math" panose="02040503050406030204" pitchFamily="18" charset="0"/>
                          </a:rPr>
                          <m:t>IN</m:t>
                        </m:r>
                      </m:den>
                    </m:f>
                  </m:oMath>
                </a14:m>
                <a:r>
                  <a:rPr lang="en-GB" dirty="0">
                    <a:solidFill>
                      <a:srgbClr val="000000"/>
                    </a:solidFill>
                    <a:latin typeface="Cambria Math" panose="02040503050406030204" pitchFamily="18" charset="0"/>
                    <a:ea typeface="Cambria Math" panose="02040503050406030204" pitchFamily="18" charset="0"/>
                  </a:rPr>
                  <a:t> is the resistance gain.</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mc:Choice>
        <mc:Fallback>
          <p:sp>
            <p:nvSpPr>
              <p:cNvPr id="6" name="Text Placeholder 5"/>
              <p:cNvSpPr>
                <a:spLocks noGrp="1" noRot="1" noChangeAspect="1" noMove="1" noResize="1" noEditPoints="1" noAdjustHandles="1" noChangeArrowheads="1" noChangeShapeType="1" noTextEdit="1"/>
              </p:cNvSpPr>
              <p:nvPr>
                <p:ph type="body" idx="1"/>
              </p:nvPr>
            </p:nvSpPr>
            <p:spPr>
              <a:xfrm>
                <a:off x="659568" y="999745"/>
                <a:ext cx="11022768" cy="5297463"/>
              </a:xfrm>
              <a:blipFill>
                <a:blip r:embed="rId2"/>
                <a:stretch>
                  <a:fillRect/>
                </a:stretch>
              </a:blipFill>
              <a:ln>
                <a:solidFill>
                  <a:schemeClr val="accent1"/>
                </a:solidFill>
              </a:ln>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24</a:t>
            </a:fld>
            <a:endParaRPr lang="en" kern="0">
              <a:solidFill>
                <a:srgbClr val="97ABBC"/>
              </a:solidFill>
            </a:endParaRPr>
          </a:p>
        </p:txBody>
      </p:sp>
    </p:spTree>
    <p:extLst>
      <p:ext uri="{BB962C8B-B14F-4D97-AF65-F5344CB8AC3E}">
        <p14:creationId xmlns:p14="http://schemas.microsoft.com/office/powerpoint/2010/main" val="263808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859436" y="1174115"/>
            <a:ext cx="10447997" cy="4522148"/>
          </a:xfrm>
          <a:ln>
            <a:solidFill>
              <a:schemeClr val="accent1"/>
            </a:solidFill>
          </a:ln>
        </p:spPr>
        <p:txBody>
          <a:bodyPr/>
          <a:lstStyle/>
          <a:p>
            <a:pPr marL="152396" indent="0">
              <a:buNone/>
            </a:pPr>
            <a:r>
              <a:rPr lang="en-GB" sz="2667" b="1" dirty="0">
                <a:solidFill>
                  <a:schemeClr val="accent5"/>
                </a:solidFill>
                <a:latin typeface="Cambria Math" panose="02040503050406030204" pitchFamily="18" charset="0"/>
                <a:ea typeface="Cambria Math" panose="02040503050406030204" pitchFamily="18" charset="0"/>
              </a:rPr>
              <a:t>Things to note</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This type of amplifier configuration is a </a:t>
            </a:r>
            <a:r>
              <a:rPr lang="en-GB" sz="2667" b="1" dirty="0">
                <a:solidFill>
                  <a:schemeClr val="accent5"/>
                </a:solidFill>
                <a:latin typeface="Cambria Math" panose="02040503050406030204" pitchFamily="18" charset="0"/>
                <a:ea typeface="Cambria Math" panose="02040503050406030204" pitchFamily="18" charset="0"/>
              </a:rPr>
              <a:t>non-inverting voltage amplifier</a:t>
            </a:r>
            <a:r>
              <a:rPr lang="en-GB" sz="2667" b="1" dirty="0">
                <a:solidFill>
                  <a:srgbClr val="000000"/>
                </a:solidFill>
                <a:latin typeface="Cambria Math" panose="02040503050406030204" pitchFamily="18" charset="0"/>
                <a:ea typeface="Cambria Math" panose="02040503050406030204" pitchFamily="18" charset="0"/>
              </a:rPr>
              <a:t> </a:t>
            </a:r>
            <a:r>
              <a:rPr lang="en-GB" sz="2667" dirty="0">
                <a:solidFill>
                  <a:srgbClr val="000000"/>
                </a:solidFill>
                <a:latin typeface="Cambria Math" panose="02040503050406030204" pitchFamily="18" charset="0"/>
                <a:ea typeface="Cambria Math" panose="02040503050406030204" pitchFamily="18" charset="0"/>
              </a:rPr>
              <a:t>circuit, in that the signal voltages V</a:t>
            </a:r>
            <a:r>
              <a:rPr lang="en-GB" sz="2667" baseline="-25000" dirty="0">
                <a:solidFill>
                  <a:srgbClr val="000000"/>
                </a:solidFill>
                <a:latin typeface="Cambria Math" panose="02040503050406030204" pitchFamily="18" charset="0"/>
                <a:ea typeface="Cambria Math" panose="02040503050406030204" pitchFamily="18" charset="0"/>
              </a:rPr>
              <a:t>in</a:t>
            </a:r>
            <a:r>
              <a:rPr lang="en-GB" sz="2667" dirty="0">
                <a:solidFill>
                  <a:srgbClr val="000000"/>
                </a:solidFill>
                <a:latin typeface="Cambria Math" panose="02040503050406030204" pitchFamily="18" charset="0"/>
                <a:ea typeface="Cambria Math" panose="02040503050406030204" pitchFamily="18" charset="0"/>
              </a:rPr>
              <a:t> and </a:t>
            </a:r>
            <a:r>
              <a:rPr lang="en-GB" sz="2667" dirty="0" err="1">
                <a:solidFill>
                  <a:srgbClr val="000000"/>
                </a:solidFill>
                <a:latin typeface="Cambria Math" panose="02040503050406030204" pitchFamily="18" charset="0"/>
                <a:ea typeface="Cambria Math" panose="02040503050406030204" pitchFamily="18" charset="0"/>
              </a:rPr>
              <a:t>V</a:t>
            </a:r>
            <a:r>
              <a:rPr lang="en-GB" sz="2667" baseline="-25000" dirty="0" err="1">
                <a:solidFill>
                  <a:srgbClr val="000000"/>
                </a:solidFill>
                <a:latin typeface="Cambria Math" panose="02040503050406030204" pitchFamily="18" charset="0"/>
                <a:ea typeface="Cambria Math" panose="02040503050406030204" pitchFamily="18" charset="0"/>
              </a:rPr>
              <a:t>out</a:t>
            </a:r>
            <a:r>
              <a:rPr lang="en-GB" sz="2667" dirty="0">
                <a:solidFill>
                  <a:srgbClr val="000000"/>
                </a:solidFill>
                <a:latin typeface="Cambria Math" panose="02040503050406030204" pitchFamily="18" charset="0"/>
                <a:ea typeface="Cambria Math" panose="02040503050406030204" pitchFamily="18" charset="0"/>
              </a:rPr>
              <a:t> are “in-phase”.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This type of transistor arrangement is not very common due to </a:t>
            </a:r>
            <a:r>
              <a:rPr lang="en-GB" sz="2667" dirty="0">
                <a:solidFill>
                  <a:schemeClr val="accent1"/>
                </a:solidFill>
                <a:latin typeface="Cambria Math" panose="02040503050406030204" pitchFamily="18" charset="0"/>
                <a:ea typeface="Cambria Math" panose="02040503050406030204" pitchFamily="18" charset="0"/>
              </a:rPr>
              <a:t>its unusually high voltage gain characteristics.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Its input characteristics represent that of a forward-biased diode while the output characteristics represent that of an illuminated photo-diode.</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25</a:t>
            </a:fld>
            <a:endParaRPr lang="en" kern="0">
              <a:solidFill>
                <a:srgbClr val="97ABBC"/>
              </a:solidFill>
            </a:endParaRPr>
          </a:p>
        </p:txBody>
      </p:sp>
    </p:spTree>
    <p:extLst>
      <p:ext uri="{BB962C8B-B14F-4D97-AF65-F5344CB8AC3E}">
        <p14:creationId xmlns:p14="http://schemas.microsoft.com/office/powerpoint/2010/main" val="574219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596543" y="1174115"/>
            <a:ext cx="11025832" cy="4302292"/>
          </a:xfrm>
          <a:ln>
            <a:solidFill>
              <a:schemeClr val="accent1"/>
            </a:solidFill>
          </a:ln>
        </p:spPr>
        <p:txBody>
          <a:bodyPr/>
          <a:lstStyle/>
          <a:p>
            <a:pPr marL="152396" indent="0" algn="just">
              <a:buNone/>
            </a:pPr>
            <a:r>
              <a:rPr lang="en-GB" sz="2667" b="1" dirty="0">
                <a:solidFill>
                  <a:schemeClr val="accent1"/>
                </a:solidFill>
                <a:latin typeface="Cambria Math" panose="02040503050406030204" pitchFamily="18" charset="0"/>
                <a:ea typeface="Cambria Math" panose="02040503050406030204" pitchFamily="18" charset="0"/>
              </a:rPr>
              <a:t>Things to note</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This type of bipolar transistor configuration has a high ratio of output to input resistance or more importantly “load” resistance ( R</a:t>
            </a:r>
            <a:r>
              <a:rPr lang="en-GB" sz="2667" baseline="-25000" dirty="0">
                <a:solidFill>
                  <a:srgbClr val="000000"/>
                </a:solidFill>
                <a:latin typeface="Cambria Math" panose="02040503050406030204" pitchFamily="18" charset="0"/>
                <a:ea typeface="Cambria Math" panose="02040503050406030204" pitchFamily="18" charset="0"/>
              </a:rPr>
              <a:t>L</a:t>
            </a:r>
            <a:r>
              <a:rPr lang="en-GB" sz="2667" dirty="0">
                <a:solidFill>
                  <a:srgbClr val="000000"/>
                </a:solidFill>
                <a:latin typeface="Cambria Math" panose="02040503050406030204" pitchFamily="18" charset="0"/>
                <a:ea typeface="Cambria Math" panose="02040503050406030204" pitchFamily="18" charset="0"/>
              </a:rPr>
              <a:t> ) to “input” resistance    ( R</a:t>
            </a:r>
            <a:r>
              <a:rPr lang="en-GB" sz="2667" baseline="-25000" dirty="0">
                <a:solidFill>
                  <a:srgbClr val="000000"/>
                </a:solidFill>
                <a:latin typeface="Cambria Math" panose="02040503050406030204" pitchFamily="18" charset="0"/>
                <a:ea typeface="Cambria Math" panose="02040503050406030204" pitchFamily="18" charset="0"/>
              </a:rPr>
              <a:t>in</a:t>
            </a:r>
            <a:r>
              <a:rPr lang="en-GB" sz="2667" dirty="0">
                <a:solidFill>
                  <a:srgbClr val="000000"/>
                </a:solidFill>
                <a:latin typeface="Cambria Math" panose="02040503050406030204" pitchFamily="18" charset="0"/>
                <a:ea typeface="Cambria Math" panose="02040503050406030204" pitchFamily="18" charset="0"/>
              </a:rPr>
              <a:t> ) giving it a value of “Resistance Gain”.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common base circuit is generally only </a:t>
            </a:r>
            <a:r>
              <a:rPr lang="en-GB" sz="2667" dirty="0">
                <a:solidFill>
                  <a:schemeClr val="accent3"/>
                </a:solidFill>
                <a:latin typeface="Cambria Math" panose="02040503050406030204" pitchFamily="18" charset="0"/>
                <a:ea typeface="Cambria Math" panose="02040503050406030204" pitchFamily="18" charset="0"/>
              </a:rPr>
              <a:t>used in single-stage amplifier circuits</a:t>
            </a:r>
            <a:r>
              <a:rPr lang="en-GB" sz="2667" dirty="0">
                <a:solidFill>
                  <a:srgbClr val="000000"/>
                </a:solidFill>
                <a:latin typeface="Cambria Math" panose="02040503050406030204" pitchFamily="18" charset="0"/>
                <a:ea typeface="Cambria Math" panose="02040503050406030204" pitchFamily="18" charset="0"/>
              </a:rPr>
              <a:t> such as microphone pre-amplifier or radio frequency ( </a:t>
            </a:r>
            <a:r>
              <a:rPr lang="en-GB" sz="2667" dirty="0" err="1">
                <a:solidFill>
                  <a:srgbClr val="000000"/>
                </a:solidFill>
                <a:latin typeface="Cambria Math" panose="02040503050406030204" pitchFamily="18" charset="0"/>
                <a:ea typeface="Cambria Math" panose="02040503050406030204" pitchFamily="18" charset="0"/>
              </a:rPr>
              <a:t>R</a:t>
            </a:r>
            <a:r>
              <a:rPr lang="en-GB" sz="2667" baseline="-25000" dirty="0" err="1">
                <a:solidFill>
                  <a:srgbClr val="000000"/>
                </a:solidFill>
                <a:latin typeface="Cambria Math" panose="02040503050406030204" pitchFamily="18" charset="0"/>
                <a:ea typeface="Cambria Math" panose="02040503050406030204" pitchFamily="18" charset="0"/>
              </a:rPr>
              <a:t>ƒ</a:t>
            </a:r>
            <a:r>
              <a:rPr lang="en-GB" sz="2667" dirty="0">
                <a:solidFill>
                  <a:srgbClr val="000000"/>
                </a:solidFill>
                <a:latin typeface="Cambria Math" panose="02040503050406030204" pitchFamily="18" charset="0"/>
                <a:ea typeface="Cambria Math" panose="02040503050406030204" pitchFamily="18" charset="0"/>
              </a:rPr>
              <a:t> ) amplifiers due to its very good high-frequency response.</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26</a:t>
            </a:fld>
            <a:endParaRPr lang="en" kern="0">
              <a:solidFill>
                <a:srgbClr val="97ABBC"/>
              </a:solidFill>
            </a:endParaRPr>
          </a:p>
        </p:txBody>
      </p:sp>
    </p:spTree>
    <p:extLst>
      <p:ext uri="{BB962C8B-B14F-4D97-AF65-F5344CB8AC3E}">
        <p14:creationId xmlns:p14="http://schemas.microsoft.com/office/powerpoint/2010/main" val="4055397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177423"/>
            <a:ext cx="11911443" cy="999744"/>
          </a:xfrm>
        </p:spPr>
        <p:txBody>
          <a:bodyPr/>
          <a:lstStyle/>
          <a:p>
            <a:pPr algn="ctr"/>
            <a:r>
              <a:rPr lang="en-GB" b="1" u="sng" dirty="0">
                <a:solidFill>
                  <a:schemeClr val="accent5"/>
                </a:solidFill>
              </a:rPr>
              <a:t>Common Base Configuration </a:t>
            </a:r>
          </a:p>
        </p:txBody>
      </p:sp>
      <p:sp>
        <p:nvSpPr>
          <p:cNvPr id="6" name="Text Placeholder 5"/>
          <p:cNvSpPr>
            <a:spLocks noGrp="1"/>
          </p:cNvSpPr>
          <p:nvPr>
            <p:ph type="body" idx="1"/>
          </p:nvPr>
        </p:nvSpPr>
        <p:spPr>
          <a:xfrm>
            <a:off x="564630" y="1174116"/>
            <a:ext cx="11062740" cy="4891905"/>
          </a:xfrm>
          <a:ln>
            <a:solidFill>
              <a:schemeClr val="accent1"/>
            </a:solidFill>
          </a:ln>
        </p:spPr>
        <p:txBody>
          <a:bodyPr/>
          <a:lstStyle/>
          <a:p>
            <a:pPr marL="152396" indent="0" algn="just">
              <a:buNone/>
            </a:pPr>
            <a:r>
              <a:rPr lang="en-GB" sz="2667" b="1" dirty="0">
                <a:solidFill>
                  <a:schemeClr val="accent5"/>
                </a:solidFill>
                <a:latin typeface="Cambria Math" panose="02040503050406030204" pitchFamily="18" charset="0"/>
                <a:ea typeface="Cambria Math" panose="02040503050406030204" pitchFamily="18" charset="0"/>
              </a:rPr>
              <a:t>Transistor Characteristics</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These are the curves which represent the relationship between different DC currents and voltages of a transistor.</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There are two main transistor characteristics: </a:t>
            </a:r>
            <a:r>
              <a:rPr lang="en-GB" sz="2667" b="1" dirty="0">
                <a:solidFill>
                  <a:schemeClr val="accent5"/>
                </a:solidFill>
                <a:latin typeface="Cambria Math" panose="02040503050406030204" pitchFamily="18" charset="0"/>
                <a:ea typeface="Cambria Math" panose="02040503050406030204" pitchFamily="18" charset="0"/>
              </a:rPr>
              <a:t>input and output characteristics</a:t>
            </a:r>
            <a:r>
              <a:rPr lang="en-GB" sz="2667" dirty="0">
                <a:solidFill>
                  <a:schemeClr val="accent5"/>
                </a:solidFill>
                <a:latin typeface="Cambria Math" panose="02040503050406030204" pitchFamily="18" charset="0"/>
                <a:ea typeface="Cambria Math" panose="02040503050406030204" pitchFamily="18" charset="0"/>
              </a:rPr>
              <a:t>.</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Transistor characteristic curves are helpful in studying the operation of a transistor when connected to a circuit.</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The static characteristics of an NPN transistor connected in a common-base configuration can be determined by the use of the test circuit shown below.</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27</a:t>
            </a:fld>
            <a:endParaRPr lang="en" kern="0">
              <a:solidFill>
                <a:srgbClr val="97ABBC"/>
              </a:solidFill>
            </a:endParaRPr>
          </a:p>
        </p:txBody>
      </p:sp>
    </p:spTree>
    <p:extLst>
      <p:ext uri="{BB962C8B-B14F-4D97-AF65-F5344CB8AC3E}">
        <p14:creationId xmlns:p14="http://schemas.microsoft.com/office/powerpoint/2010/main" val="3290931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1" y="0"/>
            <a:ext cx="11824567"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449705" y="1174115"/>
            <a:ext cx="11292591" cy="5297463"/>
          </a:xfrm>
          <a:ln>
            <a:solidFill>
              <a:schemeClr val="accent5"/>
            </a:solidFill>
          </a:ln>
        </p:spPr>
        <p:txBody>
          <a:bodyPr/>
          <a:lstStyle/>
          <a:p>
            <a:pPr marL="152396" indent="0">
              <a:buNone/>
            </a:pPr>
            <a:r>
              <a:rPr lang="en-GB" b="1" dirty="0">
                <a:solidFill>
                  <a:srgbClr val="000000"/>
                </a:solidFill>
                <a:latin typeface="Cambria Math" panose="02040503050406030204" pitchFamily="18" charset="0"/>
                <a:ea typeface="Cambria Math" panose="02040503050406030204" pitchFamily="18" charset="0"/>
              </a:rPr>
              <a:t>Transistor Characteristics</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Milliammeters are included in series with the emitter and collector circuits to measure I</a:t>
            </a:r>
            <a:r>
              <a:rPr lang="en-GB" baseline="-25000" dirty="0">
                <a:solidFill>
                  <a:srgbClr val="000000"/>
                </a:solidFill>
                <a:latin typeface="Cambria Math" panose="02040503050406030204" pitchFamily="18" charset="0"/>
                <a:ea typeface="Cambria Math" panose="02040503050406030204" pitchFamily="18" charset="0"/>
              </a:rPr>
              <a:t>E</a:t>
            </a:r>
            <a:r>
              <a:rPr lang="en-GB" dirty="0">
                <a:solidFill>
                  <a:srgbClr val="000000"/>
                </a:solidFill>
                <a:latin typeface="Cambria Math" panose="02040503050406030204" pitchFamily="18" charset="0"/>
                <a:ea typeface="Cambria Math" panose="02040503050406030204" pitchFamily="18" charset="0"/>
              </a:rPr>
              <a:t> and I</a:t>
            </a:r>
            <a:r>
              <a:rPr lang="en-GB" baseline="-25000" dirty="0">
                <a:solidFill>
                  <a:srgbClr val="000000"/>
                </a:solidFill>
                <a:latin typeface="Cambria Math" panose="02040503050406030204" pitchFamily="18" charset="0"/>
                <a:ea typeface="Cambria Math" panose="02040503050406030204" pitchFamily="18" charset="0"/>
              </a:rPr>
              <a:t>C</a:t>
            </a:r>
            <a:r>
              <a:rPr lang="en-GB" dirty="0">
                <a:solidFill>
                  <a:srgbClr val="000000"/>
                </a:solidFill>
                <a:latin typeface="Cambria Math" panose="02040503050406030204" pitchFamily="18" charset="0"/>
                <a:ea typeface="Cambria Math" panose="02040503050406030204" pitchFamily="18" charset="0"/>
              </a:rPr>
              <a:t>. Similarly, voltmeters are connected across E and B to measure voltage V</a:t>
            </a:r>
            <a:r>
              <a:rPr lang="en-GB" baseline="-25000" dirty="0">
                <a:solidFill>
                  <a:srgbClr val="000000"/>
                </a:solidFill>
                <a:latin typeface="Cambria Math" panose="02040503050406030204" pitchFamily="18" charset="0"/>
                <a:ea typeface="Cambria Math" panose="02040503050406030204" pitchFamily="18" charset="0"/>
              </a:rPr>
              <a:t>BE</a:t>
            </a:r>
            <a:r>
              <a:rPr lang="en-GB" dirty="0">
                <a:solidFill>
                  <a:srgbClr val="000000"/>
                </a:solidFill>
                <a:latin typeface="Cambria Math" panose="02040503050406030204" pitchFamily="18" charset="0"/>
                <a:ea typeface="Cambria Math" panose="02040503050406030204" pitchFamily="18" charset="0"/>
              </a:rPr>
              <a:t> and across C and B to measure V</a:t>
            </a:r>
            <a:r>
              <a:rPr lang="en-GB" baseline="-25000" dirty="0">
                <a:solidFill>
                  <a:srgbClr val="000000"/>
                </a:solidFill>
                <a:latin typeface="Cambria Math" panose="02040503050406030204" pitchFamily="18" charset="0"/>
                <a:ea typeface="Cambria Math" panose="02040503050406030204" pitchFamily="18" charset="0"/>
              </a:rPr>
              <a:t>CB</a:t>
            </a:r>
            <a:r>
              <a:rPr lang="en-GB" dirty="0">
                <a:solidFill>
                  <a:srgbClr val="000000"/>
                </a:solidFill>
                <a:latin typeface="Cambria Math" panose="02040503050406030204" pitchFamily="18" charset="0"/>
                <a:ea typeface="Cambria Math" panose="02040503050406030204" pitchFamily="18" charset="0"/>
              </a:rPr>
              <a:t>. The two potentiometer resistors R</a:t>
            </a:r>
            <a:r>
              <a:rPr lang="en-GB" baseline="-25000" dirty="0">
                <a:solidFill>
                  <a:srgbClr val="000000"/>
                </a:solidFill>
                <a:latin typeface="Cambria Math" panose="02040503050406030204" pitchFamily="18" charset="0"/>
                <a:ea typeface="Cambria Math" panose="02040503050406030204" pitchFamily="18" charset="0"/>
              </a:rPr>
              <a:t>1</a:t>
            </a:r>
            <a:r>
              <a:rPr lang="en-GB" dirty="0">
                <a:solidFill>
                  <a:srgbClr val="000000"/>
                </a:solidFill>
                <a:latin typeface="Cambria Math" panose="02040503050406030204" pitchFamily="18" charset="0"/>
                <a:ea typeface="Cambria Math" panose="02040503050406030204" pitchFamily="18" charset="0"/>
              </a:rPr>
              <a:t> and R</a:t>
            </a:r>
            <a:r>
              <a:rPr lang="en-GB" baseline="-25000" dirty="0">
                <a:solidFill>
                  <a:srgbClr val="000000"/>
                </a:solidFill>
                <a:latin typeface="Cambria Math" panose="02040503050406030204" pitchFamily="18" charset="0"/>
                <a:ea typeface="Cambria Math" panose="02040503050406030204" pitchFamily="18" charset="0"/>
              </a:rPr>
              <a:t>2</a:t>
            </a:r>
            <a:r>
              <a:rPr lang="en-GB" dirty="0">
                <a:solidFill>
                  <a:srgbClr val="000000"/>
                </a:solidFill>
                <a:latin typeface="Cambria Math" panose="02040503050406030204" pitchFamily="18" charset="0"/>
                <a:ea typeface="Cambria Math" panose="02040503050406030204" pitchFamily="18" charset="0"/>
              </a:rPr>
              <a:t> supply variable voltages from the collector and emitter DC supplies respectively</a:t>
            </a:r>
          </a:p>
          <a:p>
            <a:pPr>
              <a:buFont typeface="Arial" panose="020B0604020202020204" pitchFamily="34" charset="0"/>
              <a:buChar char="•"/>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28</a:t>
            </a:fld>
            <a:endParaRPr lang="en" kern="0">
              <a:solidFill>
                <a:srgbClr val="97ABBC"/>
              </a:solidFill>
            </a:endParaRPr>
          </a:p>
        </p:txBody>
      </p:sp>
      <p:pic>
        <p:nvPicPr>
          <p:cNvPr id="2" name="Picture 1"/>
          <p:cNvPicPr>
            <a:picLocks noChangeAspect="1"/>
          </p:cNvPicPr>
          <p:nvPr/>
        </p:nvPicPr>
        <p:blipFill>
          <a:blip r:embed="rId2"/>
          <a:stretch>
            <a:fillRect/>
          </a:stretch>
        </p:blipFill>
        <p:spPr>
          <a:xfrm>
            <a:off x="2643565" y="1886812"/>
            <a:ext cx="7032460" cy="2800113"/>
          </a:xfrm>
          <a:prstGeom prst="rect">
            <a:avLst/>
          </a:prstGeom>
        </p:spPr>
      </p:pic>
    </p:spTree>
    <p:extLst>
      <p:ext uri="{BB962C8B-B14F-4D97-AF65-F5344CB8AC3E}">
        <p14:creationId xmlns:p14="http://schemas.microsoft.com/office/powerpoint/2010/main" val="1540001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1911443"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193288" y="1218478"/>
            <a:ext cx="6660995" cy="4886393"/>
          </a:xfrm>
          <a:ln>
            <a:solidFill>
              <a:schemeClr val="accent5"/>
            </a:solidFill>
          </a:ln>
        </p:spPr>
        <p:txBody>
          <a:bodyPr/>
          <a:lstStyle/>
          <a:p>
            <a:pPr marL="152396" indent="0">
              <a:buNone/>
            </a:pPr>
            <a:r>
              <a:rPr lang="en-GB" b="1" dirty="0">
                <a:solidFill>
                  <a:schemeClr val="accent5"/>
                </a:solidFill>
                <a:latin typeface="Cambria Math" panose="02040503050406030204" pitchFamily="18" charset="0"/>
                <a:ea typeface="Cambria Math" panose="02040503050406030204" pitchFamily="18" charset="0"/>
              </a:rPr>
              <a:t>Input Characteristics</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The input characteristic is a curve between I</a:t>
            </a:r>
            <a:r>
              <a:rPr lang="en-GB" baseline="-25000" dirty="0">
                <a:solidFill>
                  <a:srgbClr val="000000"/>
                </a:solidFill>
                <a:latin typeface="Cambria Math" panose="02040503050406030204" pitchFamily="18" charset="0"/>
                <a:ea typeface="Cambria Math" panose="02040503050406030204" pitchFamily="18" charset="0"/>
              </a:rPr>
              <a:t>E</a:t>
            </a:r>
            <a:r>
              <a:rPr lang="en-GB" dirty="0">
                <a:solidFill>
                  <a:srgbClr val="000000"/>
                </a:solidFill>
                <a:latin typeface="Cambria Math" panose="02040503050406030204" pitchFamily="18" charset="0"/>
                <a:ea typeface="Cambria Math" panose="02040503050406030204" pitchFamily="18" charset="0"/>
              </a:rPr>
              <a:t> and emitter base voltage V</a:t>
            </a:r>
            <a:r>
              <a:rPr lang="en-GB" baseline="-25000" dirty="0">
                <a:solidFill>
                  <a:srgbClr val="000000"/>
                </a:solidFill>
                <a:latin typeface="Cambria Math" panose="02040503050406030204" pitchFamily="18" charset="0"/>
                <a:ea typeface="Cambria Math" panose="02040503050406030204" pitchFamily="18" charset="0"/>
              </a:rPr>
              <a:t>BE</a:t>
            </a:r>
            <a:r>
              <a:rPr lang="en-GB" dirty="0">
                <a:solidFill>
                  <a:srgbClr val="000000"/>
                </a:solidFill>
                <a:latin typeface="Cambria Math" panose="02040503050406030204" pitchFamily="18" charset="0"/>
                <a:ea typeface="Cambria Math" panose="02040503050406030204" pitchFamily="18" charset="0"/>
              </a:rPr>
              <a:t>, keeping V</a:t>
            </a:r>
            <a:r>
              <a:rPr lang="en-GB" baseline="-25000" dirty="0">
                <a:solidFill>
                  <a:srgbClr val="000000"/>
                </a:solidFill>
                <a:latin typeface="Cambria Math" panose="02040503050406030204" pitchFamily="18" charset="0"/>
                <a:ea typeface="Cambria Math" panose="02040503050406030204" pitchFamily="18" charset="0"/>
              </a:rPr>
              <a:t>CB</a:t>
            </a:r>
            <a:r>
              <a:rPr lang="en-GB" dirty="0">
                <a:solidFill>
                  <a:srgbClr val="000000"/>
                </a:solidFill>
                <a:latin typeface="Cambria Math" panose="02040503050406030204" pitchFamily="18" charset="0"/>
                <a:ea typeface="Cambria Math" panose="02040503050406030204" pitchFamily="18" charset="0"/>
              </a:rPr>
              <a:t> constant.</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I</a:t>
            </a:r>
            <a:r>
              <a:rPr lang="en-GB" baseline="-25000" dirty="0">
                <a:solidFill>
                  <a:srgbClr val="000000"/>
                </a:solidFill>
                <a:latin typeface="Cambria Math" panose="02040503050406030204" pitchFamily="18" charset="0"/>
                <a:ea typeface="Cambria Math" panose="02040503050406030204" pitchFamily="18" charset="0"/>
              </a:rPr>
              <a:t>E </a:t>
            </a:r>
            <a:r>
              <a:rPr lang="en-GB" dirty="0">
                <a:solidFill>
                  <a:srgbClr val="000000"/>
                </a:solidFill>
                <a:latin typeface="Cambria Math" panose="02040503050406030204" pitchFamily="18" charset="0"/>
                <a:ea typeface="Cambria Math" panose="02040503050406030204" pitchFamily="18" charset="0"/>
              </a:rPr>
              <a:t>is taken along the y-axis and V</a:t>
            </a:r>
            <a:r>
              <a:rPr lang="en-GB" baseline="-25000" dirty="0">
                <a:solidFill>
                  <a:srgbClr val="000000"/>
                </a:solidFill>
                <a:latin typeface="Cambria Math" panose="02040503050406030204" pitchFamily="18" charset="0"/>
                <a:ea typeface="Cambria Math" panose="02040503050406030204" pitchFamily="18" charset="0"/>
              </a:rPr>
              <a:t>BE</a:t>
            </a:r>
            <a:r>
              <a:rPr lang="en-GB" dirty="0">
                <a:solidFill>
                  <a:srgbClr val="000000"/>
                </a:solidFill>
                <a:latin typeface="Cambria Math" panose="02040503050406030204" pitchFamily="18" charset="0"/>
                <a:ea typeface="Cambria Math" panose="02040503050406030204" pitchFamily="18" charset="0"/>
              </a:rPr>
              <a:t> is taken along the x-axis. </a:t>
            </a:r>
          </a:p>
          <a:p>
            <a:pPr>
              <a:buFont typeface="Arial" panose="020B0604020202020204" pitchFamily="34" charset="0"/>
              <a:buChar char="•"/>
            </a:pPr>
            <a:r>
              <a:rPr lang="en-GB" dirty="0">
                <a:solidFill>
                  <a:srgbClr val="000000"/>
                </a:solidFill>
                <a:latin typeface="Cambria Math" panose="02040503050406030204" pitchFamily="18" charset="0"/>
                <a:ea typeface="Cambria Math" panose="02040503050406030204" pitchFamily="18" charset="0"/>
              </a:rPr>
              <a:t>This is called the input characteristic because the base-emitter will become the input terminals.</a:t>
            </a: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29</a:t>
            </a:fld>
            <a:endParaRPr lang="en" kern="0">
              <a:solidFill>
                <a:srgbClr val="97ABBC"/>
              </a:solidFill>
            </a:endParaRPr>
          </a:p>
        </p:txBody>
      </p:sp>
      <p:pic>
        <p:nvPicPr>
          <p:cNvPr id="2" name="Picture 1"/>
          <p:cNvPicPr>
            <a:picLocks noChangeAspect="1"/>
          </p:cNvPicPr>
          <p:nvPr/>
        </p:nvPicPr>
        <p:blipFill rotWithShape="1">
          <a:blip r:embed="rId3"/>
          <a:srcRect r="6190"/>
          <a:stretch/>
        </p:blipFill>
        <p:spPr>
          <a:xfrm>
            <a:off x="6895192" y="1218478"/>
            <a:ext cx="5103520" cy="4886393"/>
          </a:xfrm>
          <a:prstGeom prst="rect">
            <a:avLst/>
          </a:prstGeom>
          <a:solidFill>
            <a:schemeClr val="accent1"/>
          </a:solidFill>
          <a:ln>
            <a:solidFill>
              <a:schemeClr val="accent1"/>
            </a:solidFill>
          </a:ln>
        </p:spPr>
      </p:pic>
    </p:spTree>
    <p:extLst>
      <p:ext uri="{BB962C8B-B14F-4D97-AF65-F5344CB8AC3E}">
        <p14:creationId xmlns:p14="http://schemas.microsoft.com/office/powerpoint/2010/main" val="1623746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592" y="0"/>
            <a:ext cx="12064409" cy="999744"/>
          </a:xfrm>
        </p:spPr>
        <p:txBody>
          <a:bodyPr/>
          <a:lstStyle/>
          <a:p>
            <a:pPr algn="ctr"/>
            <a:r>
              <a:rPr lang="en-GB" b="1" u="sng" dirty="0">
                <a:solidFill>
                  <a:schemeClr val="bg2"/>
                </a:solidFill>
              </a:rPr>
              <a:t>Common Base Configuration </a:t>
            </a:r>
          </a:p>
        </p:txBody>
      </p:sp>
      <p:sp>
        <p:nvSpPr>
          <p:cNvPr id="6" name="Text Placeholder 5"/>
          <p:cNvSpPr>
            <a:spLocks noGrp="1"/>
          </p:cNvSpPr>
          <p:nvPr>
            <p:ph type="body" idx="1"/>
          </p:nvPr>
        </p:nvSpPr>
        <p:spPr>
          <a:xfrm>
            <a:off x="193288" y="1200103"/>
            <a:ext cx="6660995" cy="4655927"/>
          </a:xfrm>
          <a:ln>
            <a:solidFill>
              <a:schemeClr val="accent5"/>
            </a:solidFill>
          </a:ln>
        </p:spPr>
        <p:txBody>
          <a:bodyPr/>
          <a:lstStyle/>
          <a:p>
            <a:pPr marL="152396" indent="0" algn="just">
              <a:buNone/>
            </a:pPr>
            <a:r>
              <a:rPr lang="en-GB" sz="2667" b="1" dirty="0">
                <a:solidFill>
                  <a:schemeClr val="accent5"/>
                </a:solidFill>
                <a:latin typeface="Cambria Math" panose="02040503050406030204" pitchFamily="18" charset="0"/>
                <a:ea typeface="Cambria Math" panose="02040503050406030204" pitchFamily="18" charset="0"/>
              </a:rPr>
              <a:t>Input Characteristics</a:t>
            </a:r>
            <a:endParaRPr lang="en-GB" sz="2667" dirty="0">
              <a:solidFill>
                <a:schemeClr val="accent5"/>
              </a:solidFill>
              <a:latin typeface="Cambria Math" panose="02040503050406030204" pitchFamily="18" charset="0"/>
              <a:ea typeface="Cambria Math" panose="02040503050406030204" pitchFamily="18" charset="0"/>
            </a:endParaRP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First, voltage V</a:t>
            </a:r>
            <a:r>
              <a:rPr lang="en-GB" sz="2667" baseline="-25000" dirty="0">
                <a:solidFill>
                  <a:srgbClr val="000000"/>
                </a:solidFill>
                <a:latin typeface="Cambria Math" panose="02040503050406030204" pitchFamily="18" charset="0"/>
                <a:ea typeface="Cambria Math" panose="02040503050406030204" pitchFamily="18" charset="0"/>
              </a:rPr>
              <a:t>CB</a:t>
            </a:r>
            <a:r>
              <a:rPr lang="en-GB" sz="2667" dirty="0">
                <a:solidFill>
                  <a:srgbClr val="000000"/>
                </a:solidFill>
                <a:latin typeface="Cambria Math" panose="02040503050406030204" pitchFamily="18" charset="0"/>
                <a:ea typeface="Cambria Math" panose="02040503050406030204" pitchFamily="18" charset="0"/>
              </a:rPr>
              <a:t> is adjusted to a suitable value with R</a:t>
            </a:r>
            <a:r>
              <a:rPr lang="en-GB" sz="2667" baseline="-25000" dirty="0">
                <a:solidFill>
                  <a:srgbClr val="000000"/>
                </a:solidFill>
                <a:latin typeface="Cambria Math" panose="02040503050406030204" pitchFamily="18" charset="0"/>
                <a:ea typeface="Cambria Math" panose="02040503050406030204" pitchFamily="18" charset="0"/>
              </a:rPr>
              <a:t>1</a:t>
            </a:r>
            <a:r>
              <a:rPr lang="en-GB" sz="2667" dirty="0">
                <a:solidFill>
                  <a:srgbClr val="000000"/>
                </a:solidFill>
                <a:latin typeface="Cambria Math" panose="02040503050406030204" pitchFamily="18" charset="0"/>
                <a:ea typeface="Cambria Math" panose="02040503050406030204" pitchFamily="18" charset="0"/>
              </a:rPr>
              <a:t>.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Next, voltage V</a:t>
            </a:r>
            <a:r>
              <a:rPr lang="en-GB" sz="2667" baseline="-25000" dirty="0">
                <a:solidFill>
                  <a:srgbClr val="000000"/>
                </a:solidFill>
                <a:latin typeface="Cambria Math" panose="02040503050406030204" pitchFamily="18" charset="0"/>
                <a:ea typeface="Cambria Math" panose="02040503050406030204" pitchFamily="18" charset="0"/>
              </a:rPr>
              <a:t>BE</a:t>
            </a:r>
            <a:r>
              <a:rPr lang="en-GB" sz="2667" dirty="0">
                <a:solidFill>
                  <a:srgbClr val="000000"/>
                </a:solidFill>
                <a:latin typeface="Cambria Math" panose="02040503050406030204" pitchFamily="18" charset="0"/>
                <a:ea typeface="Cambria Math" panose="02040503050406030204" pitchFamily="18" charset="0"/>
              </a:rPr>
              <a:t> is increased in a number of discrete steps and corresponding values of I</a:t>
            </a:r>
            <a:r>
              <a:rPr lang="en-GB" sz="2667" baseline="-25000" dirty="0">
                <a:solidFill>
                  <a:srgbClr val="000000"/>
                </a:solidFill>
                <a:latin typeface="Cambria Math" panose="02040503050406030204" pitchFamily="18" charset="0"/>
                <a:ea typeface="Cambria Math" panose="02040503050406030204" pitchFamily="18" charset="0"/>
              </a:rPr>
              <a:t>E</a:t>
            </a:r>
            <a:r>
              <a:rPr lang="en-GB" sz="2667" dirty="0">
                <a:solidFill>
                  <a:srgbClr val="000000"/>
                </a:solidFill>
                <a:latin typeface="Cambria Math" panose="02040503050406030204" pitchFamily="18" charset="0"/>
                <a:ea typeface="Cambria Math" panose="02040503050406030204" pitchFamily="18" charset="0"/>
              </a:rPr>
              <a:t> are noted from the milliammeter connected for the purpose. </a:t>
            </a:r>
          </a:p>
          <a:p>
            <a:pPr algn="just">
              <a:buFont typeface="Arial" panose="020B0604020202020204" pitchFamily="34" charset="0"/>
              <a:buChar char="•"/>
            </a:pPr>
            <a:r>
              <a:rPr lang="en-GB" sz="2667" dirty="0">
                <a:solidFill>
                  <a:srgbClr val="000000"/>
                </a:solidFill>
                <a:latin typeface="Cambria Math" panose="02040503050406030204" pitchFamily="18" charset="0"/>
                <a:ea typeface="Cambria Math" panose="02040503050406030204" pitchFamily="18" charset="0"/>
              </a:rPr>
              <a:t>When plotted, we get the input characteristic curve.</a:t>
            </a:r>
          </a:p>
          <a:p>
            <a:pPr marL="152396" indent="0" algn="just">
              <a:buNone/>
            </a:pPr>
            <a:endParaRPr lang="en-GB" sz="2667"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a:p>
            <a:pPr marL="152396" indent="0">
              <a:buNone/>
            </a:pPr>
            <a:endParaRPr lang="en-GB" dirty="0">
              <a:solidFill>
                <a:srgbClr val="000000"/>
              </a:solidFill>
              <a:latin typeface="Cambria Math" panose="02040503050406030204" pitchFamily="18" charset="0"/>
              <a:ea typeface="Cambria Math" panose="02040503050406030204" pitchFamily="18" charset="0"/>
            </a:endParaRPr>
          </a:p>
        </p:txBody>
      </p:sp>
      <p:sp>
        <p:nvSpPr>
          <p:cNvPr id="4" name="Slide Number Placeholder 3"/>
          <p:cNvSpPr>
            <a:spLocks noGrp="1"/>
          </p:cNvSpPr>
          <p:nvPr>
            <p:ph type="sldNum" idx="12"/>
          </p:nvPr>
        </p:nvSpPr>
        <p:spPr/>
        <p:txBody>
          <a:bodyPr/>
          <a:lstStyle/>
          <a:p>
            <a:pPr algn="ctr" defTabSz="1219170">
              <a:buClr>
                <a:srgbClr val="000000"/>
              </a:buClr>
            </a:pPr>
            <a:fld id="{00000000-1234-1234-1234-123412341234}" type="slidenum">
              <a:rPr lang="en" kern="0">
                <a:solidFill>
                  <a:srgbClr val="97ABBC"/>
                </a:solidFill>
              </a:rPr>
              <a:pPr algn="ctr" defTabSz="1219170">
                <a:buClr>
                  <a:srgbClr val="000000"/>
                </a:buClr>
              </a:pPr>
              <a:t>30</a:t>
            </a:fld>
            <a:endParaRPr lang="en" kern="0">
              <a:solidFill>
                <a:srgbClr val="97ABBC"/>
              </a:solidFill>
            </a:endParaRPr>
          </a:p>
        </p:txBody>
      </p:sp>
      <p:pic>
        <p:nvPicPr>
          <p:cNvPr id="2" name="Picture 1"/>
          <p:cNvPicPr>
            <a:picLocks noChangeAspect="1"/>
          </p:cNvPicPr>
          <p:nvPr/>
        </p:nvPicPr>
        <p:blipFill rotWithShape="1">
          <a:blip r:embed="rId2"/>
          <a:srcRect r="6190"/>
          <a:stretch/>
        </p:blipFill>
        <p:spPr>
          <a:xfrm>
            <a:off x="6854283" y="1200102"/>
            <a:ext cx="5103520" cy="4643932"/>
          </a:xfrm>
          <a:prstGeom prst="rect">
            <a:avLst/>
          </a:prstGeom>
          <a:ln>
            <a:solidFill>
              <a:schemeClr val="accent5"/>
            </a:solidFill>
          </a:ln>
        </p:spPr>
      </p:pic>
    </p:spTree>
    <p:extLst>
      <p:ext uri="{BB962C8B-B14F-4D97-AF65-F5344CB8AC3E}">
        <p14:creationId xmlns:p14="http://schemas.microsoft.com/office/powerpoint/2010/main" val="2813069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FFFFFF"/>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1916</Words>
  <Application>Microsoft Office PowerPoint</Application>
  <PresentationFormat>Widescreen</PresentationFormat>
  <Paragraphs>835</Paragraphs>
  <Slides>30</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vt:lpstr>
      <vt:lpstr>Calibri</vt:lpstr>
      <vt:lpstr>Cambria Math</vt:lpstr>
      <vt:lpstr>Lato</vt:lpstr>
      <vt:lpstr>Lora</vt:lpstr>
      <vt:lpstr>Nunito</vt:lpstr>
      <vt:lpstr>Raleway</vt:lpstr>
      <vt:lpstr>Wingdings</vt:lpstr>
      <vt:lpstr>Antonio template</vt:lpstr>
      <vt:lpstr>PowerPoint Presentation</vt:lpstr>
      <vt:lpstr> CHAPTER FIVE BIPOLAR JUNCTION TRANSISTORS</vt:lpstr>
      <vt:lpstr>What to expect?</vt:lpstr>
      <vt:lpstr>PowerPoint Presentation</vt:lpstr>
      <vt:lpstr>Introduction </vt:lpstr>
      <vt:lpstr>Bipolar Transistor Construction</vt:lpstr>
      <vt:lpstr>Bipolar Transistor Construction</vt:lpstr>
      <vt:lpstr>Terminals of a Bipolar Transistor </vt:lpstr>
      <vt:lpstr>Terminals of a Bipolar Transistor </vt:lpstr>
      <vt:lpstr>Terminals of a Bipolar Transistor </vt:lpstr>
      <vt:lpstr>PNP vs NPN Transistor </vt:lpstr>
      <vt:lpstr>PowerPoint Presentation</vt:lpstr>
      <vt:lpstr>Transistor Currents </vt:lpstr>
      <vt:lpstr>Operating Regions of a Transistor</vt:lpstr>
      <vt:lpstr>Theory of Operation of an NPN transistor</vt:lpstr>
      <vt:lpstr>Theory of Operation of an NPN transistor </vt:lpstr>
      <vt:lpstr>Theory of Operation of an NPN transistor  </vt:lpstr>
      <vt:lpstr>Theory of Operation of an PNP transistor </vt:lpstr>
      <vt:lpstr>Theory of Operation of an PNP transistor  </vt:lpstr>
      <vt:lpstr>PowerPoint Presentation</vt:lpstr>
      <vt:lpstr>  Bipolar Transistor Configurations </vt:lpstr>
      <vt:lpstr>Common Base Configuration </vt:lpstr>
      <vt:lpstr>Common Base Configuration </vt:lpstr>
      <vt:lpstr>Common Base Configuration </vt:lpstr>
      <vt:lpstr>Common Base Configuration </vt:lpstr>
      <vt:lpstr>Common Base Configuration </vt:lpstr>
      <vt:lpstr>Common Base Configuration </vt:lpstr>
      <vt:lpstr>Common Base Configuration </vt:lpstr>
      <vt:lpstr>Common Base Configuration </vt:lpstr>
      <vt:lpstr>Common Base Configuration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ASIGRI</dc:creator>
  <cp:lastModifiedBy>PETER ASIGRI</cp:lastModifiedBy>
  <cp:revision>1</cp:revision>
  <dcterms:created xsi:type="dcterms:W3CDTF">2022-09-18T10:44:58Z</dcterms:created>
  <dcterms:modified xsi:type="dcterms:W3CDTF">2022-09-18T10:45:45Z</dcterms:modified>
</cp:coreProperties>
</file>