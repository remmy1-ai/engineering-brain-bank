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0">
  <p:sldMasterIdLst>
    <p:sldMasterId id="2147483684" r:id="rId1"/>
  </p:sldMasterIdLst>
  <p:notesMasterIdLst>
    <p:notesMasterId r:id="rId42"/>
  </p:notesMasterIdLst>
  <p:handoutMasterIdLst>
    <p:handoutMasterId r:id="rId43"/>
  </p:handoutMasterIdLst>
  <p:sldIdLst>
    <p:sldId id="262" r:id="rId2"/>
    <p:sldId id="264" r:id="rId3"/>
    <p:sldId id="265" r:id="rId4"/>
    <p:sldId id="266" r:id="rId5"/>
    <p:sldId id="267" r:id="rId6"/>
    <p:sldId id="268" r:id="rId7"/>
    <p:sldId id="270" r:id="rId8"/>
    <p:sldId id="271" r:id="rId9"/>
    <p:sldId id="276" r:id="rId10"/>
    <p:sldId id="275" r:id="rId11"/>
    <p:sldId id="277" r:id="rId12"/>
    <p:sldId id="272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78" r:id="rId22"/>
    <p:sldId id="288" r:id="rId23"/>
    <p:sldId id="289" r:id="rId24"/>
    <p:sldId id="290" r:id="rId25"/>
    <p:sldId id="287" r:id="rId26"/>
    <p:sldId id="291" r:id="rId27"/>
    <p:sldId id="292" r:id="rId28"/>
    <p:sldId id="294" r:id="rId29"/>
    <p:sldId id="295" r:id="rId30"/>
    <p:sldId id="293" r:id="rId31"/>
    <p:sldId id="296" r:id="rId32"/>
    <p:sldId id="298" r:id="rId33"/>
    <p:sldId id="299" r:id="rId34"/>
    <p:sldId id="300" r:id="rId35"/>
    <p:sldId id="301" r:id="rId36"/>
    <p:sldId id="303" r:id="rId37"/>
    <p:sldId id="302" r:id="rId38"/>
    <p:sldId id="304" r:id="rId39"/>
    <p:sldId id="297" r:id="rId40"/>
    <p:sldId id="274" r:id="rId41"/>
  </p:sldIdLst>
  <p:sldSz cx="9144000" cy="6858000" type="screen4x3"/>
  <p:notesSz cx="9926638" cy="6797675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a Gatto" initials="PG" lastIdx="1" clrIdx="0"/>
  <p:cmAuthor id="1" name="Ariadna Chavarría Reséndez" initials="ACR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171F"/>
    <a:srgbClr val="2C4D75"/>
    <a:srgbClr val="F9B590"/>
    <a:srgbClr val="91C3D5"/>
    <a:srgbClr val="4198AF"/>
    <a:srgbClr val="DB843D"/>
    <a:srgbClr val="F79646"/>
    <a:srgbClr val="8064A2"/>
    <a:srgbClr val="FDFDF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8" autoAdjust="0"/>
    <p:restoredTop sz="83586" autoAdjust="0"/>
  </p:normalViewPr>
  <p:slideViewPr>
    <p:cSldViewPr snapToGrid="0" snapToObjects="1">
      <p:cViewPr varScale="1">
        <p:scale>
          <a:sx n="72" d="100"/>
          <a:sy n="72" d="100"/>
        </p:scale>
        <p:origin x="114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8BB5B-C2B9-4E05-A99B-1798080C8FF6}" type="datetimeFigureOut">
              <a:rPr lang="en-US" smtClean="0"/>
              <a:t>7/15/2021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07DA-430D-426F-A796-3E0CCB03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F4C6F-5D26-4DAE-B7BA-F3A165A8948C}" type="datetimeFigureOut">
              <a:rPr lang="en-US" smtClean="0"/>
              <a:pPr/>
              <a:t>7/15/2021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BA381-7040-46AB-A0C1-0078C136BD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7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14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86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296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7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95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055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36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393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03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727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339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3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7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799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100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489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0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82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46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35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63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842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940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567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049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357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932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250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121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985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743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19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637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8029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605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123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43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52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177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87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66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22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0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163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02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4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665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122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214A-A849-8F45-B579-9C84A9199CA3}" type="datetimeFigureOut">
              <a:rPr lang="it-IT" smtClean="0"/>
              <a:pPr/>
              <a:t>15/07/2021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11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95926" y="2484632"/>
            <a:ext cx="8448486" cy="1517000"/>
          </a:xfrm>
        </p:spPr>
        <p:txBody>
          <a:bodyPr>
            <a:noAutofit/>
          </a:bodyPr>
          <a:lstStyle/>
          <a:p>
            <a:r>
              <a:rPr lang="en-GB" sz="3200" b="1" cap="small" dirty="0">
                <a:latin typeface="Gill Sans MT" panose="020B0502020104020203" pitchFamily="34" charset="0"/>
              </a:rPr>
              <a:t>AE 158</a:t>
            </a:r>
            <a:br>
              <a:rPr lang="en-US" sz="3200" b="1" dirty="0"/>
            </a:br>
            <a:r>
              <a:rPr lang="en-GB" sz="3200" b="1" cap="small" dirty="0">
                <a:latin typeface="Gill Sans MT" panose="020B0502020104020203" pitchFamily="34" charset="0"/>
              </a:rPr>
              <a:t>Introduction to Information Technology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14401" y="489776"/>
            <a:ext cx="8229600" cy="156536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600" b="1" cap="small" dirty="0">
                <a:latin typeface="Gill Sans MT" panose="020B0502020104020203" pitchFamily="34" charset="0"/>
              </a:rPr>
              <a:t>Department of Agricultural and Biosystems Engineering</a:t>
            </a:r>
            <a:endParaRPr lang="en-US" sz="3600" b="1" dirty="0"/>
          </a:p>
        </p:txBody>
      </p:sp>
      <p:sp>
        <p:nvSpPr>
          <p:cNvPr id="10" name="TextBox 6"/>
          <p:cNvSpPr txBox="1"/>
          <p:nvPr/>
        </p:nvSpPr>
        <p:spPr>
          <a:xfrm>
            <a:off x="3270422" y="5125066"/>
            <a:ext cx="550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cap="small" dirty="0">
                <a:solidFill>
                  <a:srgbClr val="FF0000"/>
                </a:solidFill>
                <a:latin typeface="Gill Sans MT" panose="020B0502020104020203" pitchFamily="34" charset="0"/>
              </a:rPr>
              <a:t>Lecturer:</a:t>
            </a:r>
            <a:r>
              <a:rPr lang="en-GB" sz="2400" b="1" cap="small" dirty="0">
                <a:latin typeface="Gill Sans MT" panose="020B0502020104020203" pitchFamily="34" charset="0"/>
              </a:rPr>
              <a:t>  </a:t>
            </a:r>
            <a:r>
              <a:rPr lang="en-US" sz="2400" b="1" cap="small" dirty="0">
                <a:latin typeface="Gill Sans MT" panose="020B0502020104020203" pitchFamily="34" charset="0"/>
              </a:rPr>
              <a:t>DR. BESSAH ENOCH</a:t>
            </a:r>
            <a:endParaRPr lang="it-IT" sz="2400" b="1" dirty="0">
              <a:latin typeface="Gill Sans MT" panose="020B0502020104020203" pitchFamily="34" charset="0"/>
            </a:endParaRPr>
          </a:p>
          <a:p>
            <a:pPr algn="r"/>
            <a:endParaRPr lang="it-IT" sz="1600" b="1" dirty="0">
              <a:latin typeface="Gill Sans MT" panose="020B0502020104020203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95926" y="2390116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78993" y="4099712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921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is a popular programming language. It was created by Guido van Rossum, and released in 1991.</a:t>
            </a:r>
            <a:endParaRPr lang="en-US" sz="3600" dirty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It is used for: 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web development (server-side)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software development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mathematics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system scripting.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What is Python?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2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be used on a server to create web applications.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be used alongside software to create workflows.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connect to database systems. It can also read and modify files.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What can Python do?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9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be used to handle big data and perform complex mathematics.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be used for rapid prototyping, or for production-ready software development.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What can Python do?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5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works on different platforms (Windows, Mac, Linux, Raspberry Pi, etc).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has a simple syntax similar to the English language.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has syntax that allows developers to write programs with fewer lines than some other programming languages.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Why Python?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08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runs on an interpreter system, meaning that code can be executed as soon as it is written. This means that prototyping can be very quick.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can be treated in a procedural way, an object-oriented way or a functional way.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Why Python?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059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The python logo looks like this:</a:t>
            </a:r>
          </a:p>
          <a:p>
            <a:pPr lvl="0">
              <a:spcAft>
                <a:spcPts val="600"/>
              </a:spcAft>
            </a:pPr>
            <a:endParaRPr lang="en-US" sz="3600" dirty="0">
              <a:latin typeface="Gill Sans MT" panose="020B0502020104020203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A Integrated Development Environment is needed to provide </a:t>
            </a:r>
            <a:r>
              <a:rPr lang="en-GB" sz="3600" dirty="0">
                <a:latin typeface="Gill Sans MT" panose="020B0502020104020203" pitchFamily="34" charset="0"/>
              </a:rPr>
              <a:t>comprehensive facilities for software development.</a:t>
            </a:r>
          </a:p>
          <a:p>
            <a:pPr lvl="0">
              <a:spcAft>
                <a:spcPts val="600"/>
              </a:spcAft>
            </a:pPr>
            <a:r>
              <a:rPr lang="en-GB" sz="3600" dirty="0" err="1">
                <a:latin typeface="Gill Sans MT" panose="020B0502020104020203" pitchFamily="34" charset="0"/>
              </a:rPr>
              <a:t>Eg.</a:t>
            </a:r>
            <a:r>
              <a:rPr lang="en-GB" sz="3600" dirty="0">
                <a:latin typeface="Gill Sans MT" panose="020B0502020104020203" pitchFamily="34" charset="0"/>
              </a:rPr>
              <a:t> atom, sublime, </a:t>
            </a:r>
            <a:r>
              <a:rPr lang="en-GB" sz="3600" dirty="0" err="1">
                <a:latin typeface="Gill Sans MT" panose="020B0502020104020203" pitchFamily="34" charset="0"/>
              </a:rPr>
              <a:t>vscode</a:t>
            </a:r>
            <a:r>
              <a:rPr lang="en-GB" sz="3600" dirty="0">
                <a:latin typeface="Gill Sans MT" panose="020B0502020104020203" pitchFamily="34" charset="0"/>
              </a:rPr>
              <a:t>, </a:t>
            </a:r>
            <a:r>
              <a:rPr lang="en-GB" sz="3600" dirty="0" err="1">
                <a:latin typeface="Gill Sans MT" panose="020B0502020104020203" pitchFamily="34" charset="0"/>
              </a:rPr>
              <a:t>jupyter</a:t>
            </a:r>
            <a:r>
              <a:rPr lang="en-GB" sz="3600" dirty="0">
                <a:latin typeface="Gill Sans MT" panose="020B0502020104020203" pitchFamily="34" charset="0"/>
              </a:rPr>
              <a:t>, </a:t>
            </a:r>
            <a:r>
              <a:rPr lang="en-GB" sz="3600" dirty="0" err="1">
                <a:latin typeface="Gill Sans MT" panose="020B0502020104020203" pitchFamily="34" charset="0"/>
              </a:rPr>
              <a:t>thonny</a:t>
            </a:r>
            <a:r>
              <a:rPr lang="en-GB" sz="3600" dirty="0">
                <a:latin typeface="Gill Sans MT" panose="020B0502020104020203" pitchFamily="34" charset="0"/>
              </a:rPr>
              <a:t>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files have the .</a:t>
            </a:r>
            <a:r>
              <a:rPr lang="en-GB" sz="3600" dirty="0" err="1">
                <a:latin typeface="Gill Sans MT" panose="020B0502020104020203" pitchFamily="34" charset="0"/>
              </a:rPr>
              <a:t>py</a:t>
            </a:r>
            <a:r>
              <a:rPr lang="en-GB" sz="3600" dirty="0">
                <a:latin typeface="Gill Sans MT" panose="020B0502020104020203" pitchFamily="34" charset="0"/>
              </a:rPr>
              <a:t> extension.</a:t>
            </a:r>
          </a:p>
          <a:p>
            <a:pPr lvl="0">
              <a:spcAft>
                <a:spcPts val="600"/>
              </a:spcAft>
            </a:pP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Getting Started With Python?</a:t>
            </a:r>
            <a:endParaRPr lang="en-US" dirty="0"/>
          </a:p>
        </p:txBody>
      </p:sp>
      <p:pic>
        <p:nvPicPr>
          <p:cNvPr id="1026" name="Picture 2" descr="Python Free Icon of Plex Icons">
            <a:extLst>
              <a:ext uri="{FF2B5EF4-FFF2-40B4-BE49-F238E27FC236}">
                <a16:creationId xmlns:a16="http://schemas.microsoft.com/office/drawing/2014/main" id="{485CAA87-81E9-4E2B-A220-8F210D807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887" y="1087526"/>
            <a:ext cx="1544765" cy="154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8388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 numCol="3"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Functions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Methods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Parameters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Datatypes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Object and Classes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Docstrings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Operators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Variables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Flow control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Statements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Comments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Modules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Keywords</a:t>
            </a:r>
          </a:p>
          <a:p>
            <a:pPr lvl="0">
              <a:spcAft>
                <a:spcPts val="600"/>
              </a:spcAft>
            </a:pPr>
            <a:r>
              <a:rPr lang="en-US" sz="3600" dirty="0">
                <a:latin typeface="Gill Sans MT" panose="020B0502020104020203" pitchFamily="34" charset="0"/>
              </a:rPr>
              <a:t>Packages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Identifier</a:t>
            </a:r>
          </a:p>
          <a:p>
            <a:pPr lvl="0">
              <a:spcAft>
                <a:spcPts val="600"/>
              </a:spcAft>
            </a:pP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P</a:t>
            </a:r>
            <a:r>
              <a:rPr lang="en-GB" cap="small" dirty="0" err="1">
                <a:latin typeface="Gill Sans MT" panose="020B0502020104020203" pitchFamily="34" charset="0"/>
              </a:rPr>
              <a:t>rogramming</a:t>
            </a:r>
            <a:r>
              <a:rPr lang="en-GB" cap="small" dirty="0">
                <a:latin typeface="Gill Sans MT" panose="020B0502020104020203" pitchFamily="34" charset="0"/>
              </a:rPr>
              <a:t> Terminologies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463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Keywords are the reserved words in Python.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We cannot use a keyword as a variable name, function name or any other identifier. 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They are used to define the syntax and structure of the Python language.</a:t>
            </a:r>
          </a:p>
          <a:p>
            <a:pPr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 Python, keywords are case sensitive. </a:t>
            </a:r>
          </a:p>
          <a:p>
            <a:pPr marL="0" lvl="0" indent="0">
              <a:spcAft>
                <a:spcPts val="600"/>
              </a:spcAft>
              <a:buNone/>
            </a:pPr>
            <a:endParaRPr lang="en-GB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Keywords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78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All the keywords except </a:t>
            </a:r>
            <a:r>
              <a:rPr lang="en-GB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True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, </a:t>
            </a:r>
            <a:r>
              <a:rPr lang="en-GB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False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GB" sz="3600" dirty="0">
                <a:latin typeface="Gill Sans MT" panose="020B0502020104020203" pitchFamily="34" charset="0"/>
              </a:rPr>
              <a:t>and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GB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None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GB" sz="3600" dirty="0">
                <a:latin typeface="Gill Sans MT" panose="020B0502020104020203" pitchFamily="34" charset="0"/>
              </a:rPr>
              <a:t>are in lowercase and they must be written as they are. 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The list of all the keywords is given below.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Keywords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33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 numCol="4">
            <a:noAutofit/>
          </a:bodyPr>
          <a:lstStyle/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False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await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else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import	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pass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None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break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except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in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raise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True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class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finally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is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return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and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continue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for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lambda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try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as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def	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from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nonlocal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while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assert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del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global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not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with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async	</a:t>
            </a:r>
          </a:p>
          <a:p>
            <a:pPr lvl="0">
              <a:spcBef>
                <a:spcPts val="0"/>
              </a:spcBef>
            </a:pPr>
            <a:r>
              <a:rPr lang="en-GB" sz="3600" dirty="0" err="1">
                <a:latin typeface="Gill Sans MT" panose="020B0502020104020203" pitchFamily="34" charset="0"/>
              </a:rPr>
              <a:t>elif</a:t>
            </a:r>
            <a:r>
              <a:rPr lang="en-GB" sz="3600" dirty="0">
                <a:latin typeface="Gill Sans MT" panose="020B0502020104020203" pitchFamily="34" charset="0"/>
              </a:rPr>
              <a:t>	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if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or</a:t>
            </a:r>
          </a:p>
          <a:p>
            <a:pPr lvl="0">
              <a:spcBef>
                <a:spcPts val="0"/>
              </a:spcBef>
            </a:pPr>
            <a:r>
              <a:rPr lang="en-GB" sz="3600" dirty="0">
                <a:latin typeface="Gill Sans MT" panose="020B0502020104020203" pitchFamily="34" charset="0"/>
              </a:rPr>
              <a:t>yield</a:t>
            </a: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P</a:t>
            </a:r>
            <a:r>
              <a:rPr lang="en-GB" cap="small" dirty="0" err="1">
                <a:latin typeface="Gill Sans MT" panose="020B0502020104020203" pitchFamily="34" charset="0"/>
              </a:rPr>
              <a:t>rogramming</a:t>
            </a:r>
            <a:r>
              <a:rPr lang="en-GB" cap="small">
                <a:latin typeface="Gill Sans MT" panose="020B0502020104020203" pitchFamily="34" charset="0"/>
              </a:rPr>
              <a:t> Keywords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032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An identifier is a name given to entities like class, functions, variables, etc. It helps to differentiate one entity from another.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Identifiers can be a combination of letters in lowercase (a to z) or uppercase (A to Z) or digits (0 to 9) or an underscore _.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Identifiers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83470"/>
            <a:ext cx="8052486" cy="5674530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Names like </a:t>
            </a:r>
            <a:r>
              <a:rPr lang="en-GB" sz="36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myClass</a:t>
            </a:r>
            <a:r>
              <a:rPr lang="en-GB" sz="3600" dirty="0">
                <a:latin typeface="Gill Sans MT" panose="020B0502020104020203" pitchFamily="34" charset="0"/>
              </a:rPr>
              <a:t>, 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var_1 </a:t>
            </a:r>
            <a:r>
              <a:rPr lang="en-GB" sz="3600" dirty="0">
                <a:latin typeface="Gill Sans MT" panose="020B0502020104020203" pitchFamily="34" charset="0"/>
              </a:rPr>
              <a:t>and </a:t>
            </a:r>
            <a:r>
              <a:rPr lang="en-GB" sz="36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print_this_to_screen</a:t>
            </a:r>
            <a:r>
              <a:rPr lang="en-GB" sz="3600" dirty="0">
                <a:latin typeface="Gill Sans MT" panose="020B0502020104020203" pitchFamily="34" charset="0"/>
              </a:rPr>
              <a:t>, all are valid example.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An identifier cannot start with a digit. 1variable is invalid, but variable1 is a valid name.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Keywords cannot be used as identifiers.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We cannot use special symbols like 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!, @, #, $, %</a:t>
            </a:r>
            <a:r>
              <a:rPr lang="en-GB" sz="3600" dirty="0">
                <a:latin typeface="Gill Sans MT" panose="020B0502020104020203" pitchFamily="34" charset="0"/>
              </a:rPr>
              <a:t> etc. in our identifier.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Identifiers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10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An identifier can be of any length.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is a case-sensitive language. This means, </a:t>
            </a:r>
            <a:r>
              <a:rPr lang="en-GB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Variable</a:t>
            </a:r>
            <a:r>
              <a:rPr lang="en-GB" sz="3600" dirty="0">
                <a:latin typeface="Gill Sans MT" panose="020B0502020104020203" pitchFamily="34" charset="0"/>
              </a:rPr>
              <a:t> and </a:t>
            </a:r>
            <a:r>
              <a:rPr lang="en-GB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variable</a:t>
            </a:r>
            <a:r>
              <a:rPr lang="en-GB" sz="3600" dirty="0">
                <a:latin typeface="Gill Sans MT" panose="020B0502020104020203" pitchFamily="34" charset="0"/>
              </a:rPr>
              <a:t> are not the same.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Keywords cannot be used as identifiers.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We cannot use special symbols like !, @, #, $, % etc. in our identifier.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Identifiers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78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Always give the identifiers a name that makes sense. While c = 10 is a valid name, writing count = 10 would make more sense, and it would be easier to figure out what it represents when you look at your code after a long gap.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Multiple words can be separated using an underscore, like </a:t>
            </a:r>
            <a:r>
              <a:rPr lang="en-GB" sz="36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this_is_a_long_variable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Identifiers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76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Instructions that a Python interpreter can execute are called statements. For example, a = 1 is an assignment statement.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if statement, for statement, while statement, etc. are other kinds of statements which will be discussed later.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0"/>
            <a:ext cx="8229600" cy="1006158"/>
          </a:xfrm>
        </p:spPr>
        <p:txBody>
          <a:bodyPr>
            <a:noAutofit/>
          </a:bodyPr>
          <a:lstStyle/>
          <a:p>
            <a:r>
              <a:rPr lang="en-GB" sz="3600" cap="small" dirty="0">
                <a:latin typeface="Gill Sans MT" panose="020B0502020104020203" pitchFamily="34" charset="0"/>
              </a:rPr>
              <a:t>Python Statement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97435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Most of the programming languages like C, C++, and Java use braces { } to define a block of code. Python, however, uses indentation.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 code block (body of a function, loop, etc.) starts with indentation and ends with the first </a:t>
            </a:r>
            <a:r>
              <a:rPr lang="en-GB" sz="3600" dirty="0" err="1">
                <a:latin typeface="Gill Sans MT" panose="020B0502020104020203" pitchFamily="34" charset="0"/>
              </a:rPr>
              <a:t>unindented</a:t>
            </a:r>
            <a:r>
              <a:rPr lang="en-GB" sz="3600" dirty="0">
                <a:latin typeface="Gill Sans MT" panose="020B0502020104020203" pitchFamily="34" charset="0"/>
              </a:rPr>
              <a:t> line.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0"/>
            <a:ext cx="8229600" cy="1006158"/>
          </a:xfrm>
        </p:spPr>
        <p:txBody>
          <a:bodyPr>
            <a:noAutofit/>
          </a:bodyPr>
          <a:lstStyle/>
          <a:p>
            <a:r>
              <a:rPr lang="en-GB" sz="3600" cap="small" dirty="0">
                <a:latin typeface="Gill Sans MT" panose="020B0502020104020203" pitchFamily="34" charset="0"/>
              </a:rPr>
              <a:t>Python Indentation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90822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Comments are very important while writing a program. They describe what is going on inside a program, so that a person looking at the source code does not have a hard time figuring it out.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 Python, we use the hash </a:t>
            </a: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(#)</a:t>
            </a:r>
            <a:r>
              <a:rPr lang="en-GB" sz="3600" dirty="0">
                <a:latin typeface="Gill Sans MT" panose="020B0502020104020203" pitchFamily="34" charset="0"/>
              </a:rPr>
              <a:t> symbol to start writing a comment.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Interpreter ignores comments.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0"/>
            <a:ext cx="8229600" cy="1006158"/>
          </a:xfrm>
        </p:spPr>
        <p:txBody>
          <a:bodyPr>
            <a:noAutofit/>
          </a:bodyPr>
          <a:lstStyle/>
          <a:p>
            <a:r>
              <a:rPr lang="en-GB" sz="3600" cap="small" dirty="0">
                <a:latin typeface="Gill Sans MT" panose="020B0502020104020203" pitchFamily="34" charset="0"/>
              </a:rPr>
              <a:t>Python Comments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09579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It extends up to the newline character.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Comments are for programmers to better understand a program.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0"/>
            <a:ext cx="8229600" cy="1006158"/>
          </a:xfrm>
        </p:spPr>
        <p:txBody>
          <a:bodyPr>
            <a:noAutofit/>
          </a:bodyPr>
          <a:lstStyle/>
          <a:p>
            <a:r>
              <a:rPr lang="en-GB" sz="3600" cap="small" dirty="0">
                <a:latin typeface="Gill Sans MT" panose="020B0502020104020203" pitchFamily="34" charset="0"/>
              </a:rPr>
              <a:t>Python Comments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2A7539-3BFF-4402-9D1A-007075351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53" y="3429000"/>
            <a:ext cx="7792537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203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06160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 docstring is short for documentation string.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docstrings (documentation strings) are the string literals that appear right after the definition of a function, method, class, or module.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Triple quotes are used while writing docstrings.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Docstrings in Python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E399D-32FC-40E3-8DD2-F04DE30D5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5" y="5819715"/>
            <a:ext cx="7544853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38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 variable is a named location used to store data in the memory. It is helpful to think of variables as a container that holds data that can be changed later in the program. For example, number = 10.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Here, we have created a variable named number. We have assigned the value 10 to the variable.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Variables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155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You can think of variables as a bag to store books in it and that book can be replaced at any time.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Initially, the value of number was 10. Later, it was changed to 1.1.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Variables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A34A0-6B4B-41D9-A67D-459D22BA1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231" y="3309730"/>
            <a:ext cx="7554379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332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 A constant is a type of variable whose value cannot be changed. It is helpful to think of constants as containers that hold information which cannot be changed later.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You can think of constants as a bag to store some books which cannot be replaced once placed inside the bag.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PI = 3.14 and GRAVITY = 9.8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Constants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910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 Literal is a raw data given in a variable or constant. In Python, there are various types of literals they are as follows: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Gill Sans MT" panose="020B0502020104020203" pitchFamily="34" charset="0"/>
              </a:rPr>
              <a:t>Numeric Literals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Gill Sans MT" panose="020B0502020104020203" pitchFamily="34" charset="0"/>
              </a:rPr>
              <a:t>String literals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Gill Sans MT" panose="020B0502020104020203" pitchFamily="34" charset="0"/>
              </a:rPr>
              <a:t>Boolean literals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Gill Sans MT" panose="020B0502020104020203" pitchFamily="34" charset="0"/>
              </a:rPr>
              <a:t>Special literals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latin typeface="Gill Sans MT" panose="020B0502020104020203" pitchFamily="34" charset="0"/>
              </a:rPr>
              <a:t>Literal collections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Literals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188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Every value in Python has a datatype,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There are various data types in Python. Some of the important types are listed below.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Numbers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List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Tuple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Strings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Set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dirty="0">
                <a:latin typeface="Gill Sans MT" panose="020B0502020104020203" pitchFamily="34" charset="0"/>
              </a:rPr>
              <a:t>Dictionary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Data Types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2972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Operators are special symbols in Python that carry out arithmetic or logical computation. 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The value that the operator operates on is called the operand.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Here, + is the operator that performs addition. 2 and 3 are the operands and 5 is the output of the operation.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Python Operators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72CF0-A56D-42B0-BAFA-0DDFF8E79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42" y="4199997"/>
            <a:ext cx="758295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88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Arithmetic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14255"/>
              </p:ext>
            </p:extLst>
          </p:nvPr>
        </p:nvGraphicFramePr>
        <p:xfrm>
          <a:off x="723969" y="557667"/>
          <a:ext cx="8263722" cy="6300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 two operands or unary plus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+ y+ 2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96972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Subtract right operand from the left or unary minus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- y- 2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Multiply two operands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* 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285327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r>
                        <a:rPr lang="en-GB" dirty="0"/>
                        <a:t>ivide left operand by the right one (always results into float)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/ 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42476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Modulus - remainder of the division of left operand by the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% y (remainder of x/y)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754341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//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loor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division - division that results into whole number adjusted to the left in the number line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// 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92932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Exponent - left operand raised to the power of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x**y (x to the power y)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8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660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Comparison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34116"/>
              </p:ext>
            </p:extLst>
          </p:nvPr>
        </p:nvGraphicFramePr>
        <p:xfrm>
          <a:off x="723969" y="782954"/>
          <a:ext cx="8263722" cy="6071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Greater than - True if left operand is greater than the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&gt;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52896972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- True if left operand is less than the right</a:t>
                      </a:r>
                      <a:endParaRPr lang="en-GB" dirty="0">
                        <a:effectLst/>
                      </a:endParaRP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&lt;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= =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Equal to - True if both operands are equal</a:t>
                      </a:r>
                      <a:endParaRPr lang="en-GB" dirty="0">
                        <a:effectLst/>
                      </a:endParaRP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==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82285327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!=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equal to - True if operands are not equal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!=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712424762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&gt;=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Greater than or equal to - True if left operand is greater than or equal to the right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&gt;=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694754341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&lt;=</a:t>
                      </a:r>
                      <a:endParaRPr lang="en-GB" dirty="0"/>
                    </a:p>
                    <a:p>
                      <a:pPr algn="ctr"/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Less than or equal to - True if left operand is less than or equal to the right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 &lt;= 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929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493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Logical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052187"/>
              </p:ext>
            </p:extLst>
          </p:nvPr>
        </p:nvGraphicFramePr>
        <p:xfrm>
          <a:off x="723969" y="1901893"/>
          <a:ext cx="8263722" cy="3054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and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True if both the operands are true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and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52896972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or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either of the operands is true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or y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not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operand is false (complements the operand)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not x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822853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0549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Bitwise operators act on operands as if they were strings of binary digits. They operate bit by bit, hence the name.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For example, 2 is 10 in binary and 7 is 111.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 the table below: Let x = 10 (0000 1010 in binary) and y = 4 (0000 0100 in binary)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Bitwise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530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Bitwise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046184"/>
              </p:ext>
            </p:extLst>
          </p:nvPr>
        </p:nvGraphicFramePr>
        <p:xfrm>
          <a:off x="758091" y="1521405"/>
          <a:ext cx="8263722" cy="346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&amp;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Bitwise AND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x &amp; y = 0 (0000 0000)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52896972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|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Bitwise OR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x | y = 14 (0000 1110)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~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Bitwise NOT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~x = -11 (1111 0101)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82285327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^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Bitwise XOR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x ^ y = 14 (0000 1110)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2469390207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&gt;&gt;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Bitwise right shift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&gt;&gt; 2 = 2 (0000 0010)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17402109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&lt;&lt;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Bitwise left shift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&lt;&lt; 2 = 40 (0010 1000)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31057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212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Assignment operators are used in Python to assign values to variables.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a = 5 is a simple assignment operator that assigns the value 5 on the right to the variable a on the left.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There are various compound operators in Python like a += 5 that adds to the variable and later assigns the same. It is equivalent to a = a + 5.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Assignment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0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Assignment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986875"/>
              </p:ext>
            </p:extLst>
          </p:nvPr>
        </p:nvGraphicFramePr>
        <p:xfrm>
          <a:off x="723969" y="1219406"/>
          <a:ext cx="8263722" cy="3968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52896972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+=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+=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+ 5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443228921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-=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-=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- 5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266420476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*=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*=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*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592190856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/=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/=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/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211054669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%=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%=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%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092374307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//=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//=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= x //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62506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5839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Assignment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357548"/>
              </p:ext>
            </p:extLst>
          </p:nvPr>
        </p:nvGraphicFramePr>
        <p:xfrm>
          <a:off x="723969" y="1309964"/>
          <a:ext cx="8263722" cy="3465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**=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**=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= x **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001724988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&amp;=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&amp;=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&amp;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|=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|=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|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82285327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^=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^=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^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2469390207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&gt;&gt;=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&gt;&gt;=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= x &gt;&gt;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174021099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&lt;&lt;=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&lt;&lt;= 5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= x &lt;&lt; 5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3310570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5612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Python language offers some special types of operators like the identity operator or the membership operator. 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Identity operators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is</a:t>
            </a:r>
            <a:r>
              <a:rPr lang="en-GB" sz="3200" dirty="0">
                <a:latin typeface="Gill Sans MT" panose="020B0502020104020203" pitchFamily="34" charset="0"/>
              </a:rPr>
              <a:t> and </a:t>
            </a:r>
            <a:r>
              <a:rPr lang="en-GB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is not </a:t>
            </a:r>
            <a:r>
              <a:rPr lang="en-GB" sz="3200" dirty="0">
                <a:latin typeface="Gill Sans MT" panose="020B0502020104020203" pitchFamily="34" charset="0"/>
              </a:rPr>
              <a:t>are the identity operators in Python. They are used to check if two values (or variables) are located on the same part of the memory.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Special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589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Identity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431881"/>
              </p:ext>
            </p:extLst>
          </p:nvPr>
        </p:nvGraphicFramePr>
        <p:xfrm>
          <a:off x="723969" y="1309964"/>
          <a:ext cx="8263722" cy="2551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is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the operands are identical (refer to the same object)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x is True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001724988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is not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the operands are not identical (do not refer to the same object)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x is not True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781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Membership operators</a:t>
            </a:r>
          </a:p>
          <a:p>
            <a:pPr lvl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in</a:t>
            </a:r>
            <a:r>
              <a:rPr lang="en-GB" sz="3200" dirty="0">
                <a:latin typeface="Gill Sans MT" panose="020B0502020104020203" pitchFamily="34" charset="0"/>
              </a:rPr>
              <a:t> and </a:t>
            </a:r>
            <a:r>
              <a:rPr lang="en-GB" sz="3200" dirty="0">
                <a:solidFill>
                  <a:srgbClr val="FF0000"/>
                </a:solidFill>
                <a:latin typeface="Gill Sans MT" panose="020B0502020104020203" pitchFamily="34" charset="0"/>
              </a:rPr>
              <a:t>not</a:t>
            </a:r>
            <a:r>
              <a:rPr lang="en-GB" sz="3200" dirty="0">
                <a:latin typeface="Gill Sans MT" panose="020B0502020104020203" pitchFamily="34" charset="0"/>
              </a:rPr>
              <a:t> in are the membership operators in Python. They are used to test whether a value or variable is found in a sequence (string, list, tuple, set and dictionary).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Special operators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7569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758091" y="-91476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Membership Operators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A043C5B3-ED47-4D3A-9663-AF6634098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509380"/>
              </p:ext>
            </p:extLst>
          </p:nvPr>
        </p:nvGraphicFramePr>
        <p:xfrm>
          <a:off x="723969" y="1309964"/>
          <a:ext cx="8263722" cy="2276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574">
                  <a:extLst>
                    <a:ext uri="{9D8B030D-6E8A-4147-A177-3AD203B41FA5}">
                      <a16:colId xmlns:a16="http://schemas.microsoft.com/office/drawing/2014/main" val="964168179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2971696516"/>
                    </a:ext>
                  </a:extLst>
                </a:gridCol>
                <a:gridCol w="2754574">
                  <a:extLst>
                    <a:ext uri="{9D8B030D-6E8A-4147-A177-3AD203B41FA5}">
                      <a16:colId xmlns:a16="http://schemas.microsoft.com/office/drawing/2014/main" val="683796472"/>
                    </a:ext>
                  </a:extLst>
                </a:gridCol>
              </a:tblGrid>
              <a:tr h="44817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598743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in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value/variable is found in the sequence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5 in x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001724988"/>
                  </a:ext>
                </a:extLst>
              </a:tr>
              <a:tr h="454398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not in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effectLst/>
                        </a:rPr>
                        <a:t>True if value/variable is not found in the sequence</a:t>
                      </a:r>
                    </a:p>
                  </a:txBody>
                  <a:tcPr marL="228600" marR="2286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effectLst/>
                        </a:rPr>
                        <a:t>5 not in x</a:t>
                      </a:r>
                    </a:p>
                  </a:txBody>
                  <a:tcPr marL="228600" marR="228600" marT="114300" marB="114300" anchor="ctr"/>
                </a:tc>
                <a:extLst>
                  <a:ext uri="{0D108BD9-81ED-4DB2-BD59-A6C34878D82A}">
                    <a16:rowId xmlns:a16="http://schemas.microsoft.com/office/drawing/2014/main" val="138450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68028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In Python, a function is a group of related statements that performs a specific task.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Functions help break our program into smaller and modular chunks.  As our program grows larger and larger, functions make it more organized and manageable.</a:t>
            </a:r>
          </a:p>
          <a:p>
            <a:pPr lvl="0">
              <a:spcAft>
                <a:spcPts val="6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314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6"/>
            <a:ext cx="8052486" cy="5452531"/>
          </a:xfrm>
        </p:spPr>
        <p:txBody>
          <a:bodyPr>
            <a:noAutofit/>
          </a:bodyPr>
          <a:lstStyle/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It avoids repetition and makes the code reusable.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Types of Functions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Built-in functions - Functions that are built into Python.</a:t>
            </a:r>
          </a:p>
          <a:p>
            <a:pPr lvl="0">
              <a:spcAft>
                <a:spcPts val="600"/>
              </a:spcAft>
            </a:pPr>
            <a:r>
              <a:rPr lang="en-GB" sz="3600" dirty="0">
                <a:latin typeface="Gill Sans MT" panose="020B0502020104020203" pitchFamily="34" charset="0"/>
              </a:rPr>
              <a:t>User-defined functions - Functions defined by the users themselves.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>
                <a:latin typeface="Gill Sans MT" panose="020B0502020104020203" pitchFamily="34" charset="0"/>
              </a:rPr>
              <a:t>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295463"/>
      </p:ext>
    </p:extLst>
  </p:cSld>
  <p:clrMapOvr>
    <a:masterClrMapping/>
  </p:clrMapOvr>
</p:sld>
</file>

<file path=ppt/theme/theme1.xml><?xml version="1.0" encoding="utf-8"?>
<a:theme xmlns:a="http://schemas.openxmlformats.org/drawingml/2006/main" name="TESAF_DESTRA_AL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32210</TotalTime>
  <Words>2098</Words>
  <Application>Microsoft Office PowerPoint</Application>
  <PresentationFormat>On-screen Show (4:3)</PresentationFormat>
  <Paragraphs>367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Gill Sans MT</vt:lpstr>
      <vt:lpstr>Times New Roman</vt:lpstr>
      <vt:lpstr>TESAF_DESTRA_ALTO</vt:lpstr>
      <vt:lpstr>AE 158 Introduction to Information Technology</vt:lpstr>
      <vt:lpstr>What is Python?</vt:lpstr>
      <vt:lpstr>What can Python do?</vt:lpstr>
      <vt:lpstr>What can Python do?</vt:lpstr>
      <vt:lpstr>Why Python?</vt:lpstr>
      <vt:lpstr>Why Python?</vt:lpstr>
      <vt:lpstr>Getting Started With Python?</vt:lpstr>
      <vt:lpstr>Programming Terminologies</vt:lpstr>
      <vt:lpstr>Python Keywords</vt:lpstr>
      <vt:lpstr>Python Keywords</vt:lpstr>
      <vt:lpstr>Programming Keywords</vt:lpstr>
      <vt:lpstr>Python Identifiers</vt:lpstr>
      <vt:lpstr>Python Identifiers</vt:lpstr>
      <vt:lpstr>Python Identifiers</vt:lpstr>
      <vt:lpstr>Python Identifiers</vt:lpstr>
      <vt:lpstr>Python Statement</vt:lpstr>
      <vt:lpstr>Python Indentation</vt:lpstr>
      <vt:lpstr>Python Comments</vt:lpstr>
      <vt:lpstr>Python Comments</vt:lpstr>
      <vt:lpstr>Docstrings in Python</vt:lpstr>
      <vt:lpstr>Python Variables</vt:lpstr>
      <vt:lpstr>Python Variables</vt:lpstr>
      <vt:lpstr>Python Constants</vt:lpstr>
      <vt:lpstr>Python Literals</vt:lpstr>
      <vt:lpstr>Python Data Types</vt:lpstr>
      <vt:lpstr>Python Operators</vt:lpstr>
      <vt:lpstr>Arithmetic Operators</vt:lpstr>
      <vt:lpstr>Comparison Operators</vt:lpstr>
      <vt:lpstr>Logical Operators</vt:lpstr>
      <vt:lpstr>Bitwise operators</vt:lpstr>
      <vt:lpstr>Bitwise Operators</vt:lpstr>
      <vt:lpstr>Assignment operators</vt:lpstr>
      <vt:lpstr>Assignment Operators</vt:lpstr>
      <vt:lpstr>Assignment Operators</vt:lpstr>
      <vt:lpstr>Special operators</vt:lpstr>
      <vt:lpstr>Identity Operators</vt:lpstr>
      <vt:lpstr>Special operators</vt:lpstr>
      <vt:lpstr>Membership Operators</vt:lpstr>
      <vt:lpstr>Functions</vt:lpstr>
      <vt:lpstr>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Paolo Semenzato</dc:creator>
  <cp:lastModifiedBy>Mroles Tame</cp:lastModifiedBy>
  <cp:revision>1110</cp:revision>
  <cp:lastPrinted>2013-11-27T15:21:15Z</cp:lastPrinted>
  <dcterms:created xsi:type="dcterms:W3CDTF">2013-11-25T10:12:09Z</dcterms:created>
  <dcterms:modified xsi:type="dcterms:W3CDTF">2021-07-15T15:20:48Z</dcterms:modified>
</cp:coreProperties>
</file>