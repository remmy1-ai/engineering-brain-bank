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422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PARLER DE LA NOURRITURE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chemeClr val="accent4"/>
                </a:solidFill>
              </a:rPr>
              <a:t>TALKING ABOUT FOOD</a:t>
            </a:r>
            <a:endParaRPr lang="en-US" sz="3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92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FRUITS ET LES LEGUMES</a:t>
            </a:r>
            <a:endParaRPr lang="en-US" dirty="0"/>
          </a:p>
        </p:txBody>
      </p:sp>
      <p:pic>
        <p:nvPicPr>
          <p:cNvPr id="5" name="apprendre les fruits et les légumes en français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2160588"/>
            <a:ext cx="6905625" cy="3881437"/>
          </a:xfrm>
        </p:spPr>
      </p:pic>
    </p:spTree>
    <p:extLst>
      <p:ext uri="{BB962C8B-B14F-4D97-AF65-F5344CB8AC3E}">
        <p14:creationId xmlns:p14="http://schemas.microsoft.com/office/powerpoint/2010/main" val="271496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6098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VOCABULAIRE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Le petit déjeuner- Breakfast</a:t>
            </a:r>
          </a:p>
          <a:p>
            <a:r>
              <a:rPr lang="en-US" sz="4800" dirty="0" smtClean="0"/>
              <a:t>Le déjeuner- Lunch</a:t>
            </a:r>
          </a:p>
          <a:p>
            <a:r>
              <a:rPr lang="en-US" sz="4800" dirty="0" smtClean="0"/>
              <a:t>Le  </a:t>
            </a:r>
            <a:r>
              <a:rPr lang="en-US" sz="4800" dirty="0" err="1" smtClean="0"/>
              <a:t>souper</a:t>
            </a:r>
            <a:r>
              <a:rPr lang="en-US" sz="4800" dirty="0" smtClean="0"/>
              <a:t>- supper</a:t>
            </a:r>
          </a:p>
          <a:p>
            <a:r>
              <a:rPr lang="en-US" sz="4800" dirty="0" smtClean="0"/>
              <a:t>Le diner- dinner</a:t>
            </a:r>
          </a:p>
        </p:txBody>
      </p:sp>
    </p:spTree>
    <p:extLst>
      <p:ext uri="{BB962C8B-B14F-4D97-AF65-F5344CB8AC3E}">
        <p14:creationId xmlns:p14="http://schemas.microsoft.com/office/powerpoint/2010/main" val="140367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1091"/>
            <a:ext cx="8596668" cy="4240271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Le </a:t>
            </a:r>
            <a:r>
              <a:rPr lang="en-US" sz="4400" dirty="0" err="1"/>
              <a:t>casse-coute</a:t>
            </a:r>
            <a:r>
              <a:rPr lang="en-US" sz="4400" dirty="0"/>
              <a:t>, le </a:t>
            </a:r>
            <a:r>
              <a:rPr lang="en-US" sz="4400" dirty="0" err="1"/>
              <a:t>goûter</a:t>
            </a:r>
            <a:r>
              <a:rPr lang="en-US" sz="4400" dirty="0"/>
              <a:t>- snack</a:t>
            </a:r>
          </a:p>
          <a:p>
            <a:r>
              <a:rPr lang="en-US" sz="4400" dirty="0" err="1"/>
              <a:t>L’hors</a:t>
            </a:r>
            <a:r>
              <a:rPr lang="en-US" sz="4400" dirty="0"/>
              <a:t> d’oeuvre- Starter/appetizer</a:t>
            </a:r>
          </a:p>
          <a:p>
            <a:r>
              <a:rPr lang="en-US" sz="4400" dirty="0"/>
              <a:t>Le plat principal-main meal</a:t>
            </a:r>
          </a:p>
          <a:p>
            <a:r>
              <a:rPr lang="en-US" sz="4400" dirty="0"/>
              <a:t>Le dessert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42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ALIMENTS-FOOD</a:t>
            </a:r>
            <a:endParaRPr lang="en-US" dirty="0"/>
          </a:p>
        </p:txBody>
      </p:sp>
      <p:pic>
        <p:nvPicPr>
          <p:cNvPr id="4" name="Les aliments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1663" y="2160588"/>
            <a:ext cx="6210300" cy="3881437"/>
          </a:xfrm>
        </p:spPr>
      </p:pic>
    </p:spTree>
    <p:extLst>
      <p:ext uri="{BB962C8B-B14F-4D97-AF65-F5344CB8AC3E}">
        <p14:creationId xmlns:p14="http://schemas.microsoft.com/office/powerpoint/2010/main" val="16083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Parler</a:t>
            </a:r>
            <a:r>
              <a:rPr lang="en-US" dirty="0" smtClean="0"/>
              <a:t> de </a:t>
            </a:r>
            <a:r>
              <a:rPr lang="en-US" dirty="0" err="1" smtClean="0"/>
              <a:t>ses</a:t>
            </a:r>
            <a:r>
              <a:rPr lang="en-US" dirty="0" smtClean="0"/>
              <a:t> habitudes </a:t>
            </a:r>
            <a:r>
              <a:rPr lang="en-US" dirty="0" err="1" smtClean="0"/>
              <a:t>alimentaires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speaking about eating habits.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chemeClr val="accent4"/>
                </a:solidFill>
              </a:rPr>
              <a:t>QU’EST-CE QUE TU MANGES AU PETIT DEJEUNER?</a:t>
            </a:r>
          </a:p>
          <a:p>
            <a:r>
              <a:rPr lang="en-US" sz="3200" dirty="0" smtClean="0"/>
              <a:t>WHAT DO YOU EAT FOR BREAKFAST</a:t>
            </a:r>
          </a:p>
          <a:p>
            <a:r>
              <a:rPr lang="en-US" sz="3200" dirty="0">
                <a:solidFill>
                  <a:schemeClr val="accent4"/>
                </a:solidFill>
              </a:rPr>
              <a:t>QU’EST-CE QUE TU MANGES </a:t>
            </a:r>
            <a:r>
              <a:rPr lang="en-US" sz="3200" dirty="0" smtClean="0">
                <a:solidFill>
                  <a:schemeClr val="accent4"/>
                </a:solidFill>
              </a:rPr>
              <a:t>AU </a:t>
            </a:r>
            <a:r>
              <a:rPr lang="en-US" sz="3200" dirty="0">
                <a:solidFill>
                  <a:schemeClr val="accent4"/>
                </a:solidFill>
              </a:rPr>
              <a:t>DEJEUNER?</a:t>
            </a:r>
          </a:p>
          <a:p>
            <a:r>
              <a:rPr lang="en-US" sz="3200" dirty="0" smtClean="0"/>
              <a:t>QU’EST-CE QUE TU AIMES COMME DESSERT?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06652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EXPRESSIONS TO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2545"/>
            <a:ext cx="8596668" cy="4378817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D’habitude</a:t>
            </a:r>
            <a:r>
              <a:rPr lang="en-US" sz="3600" dirty="0" smtClean="0"/>
              <a:t>--usually</a:t>
            </a:r>
          </a:p>
          <a:p>
            <a:r>
              <a:rPr lang="en-US" sz="3600" dirty="0" smtClean="0"/>
              <a:t>La </a:t>
            </a:r>
            <a:r>
              <a:rPr lang="en-US" sz="3600" dirty="0" err="1" smtClean="0"/>
              <a:t>plupart</a:t>
            </a:r>
            <a:r>
              <a:rPr lang="en-US" sz="3600" dirty="0" smtClean="0"/>
              <a:t> du temps—most of the time</a:t>
            </a:r>
          </a:p>
          <a:p>
            <a:r>
              <a:rPr lang="en-US" sz="3600" dirty="0" err="1" smtClean="0"/>
              <a:t>Parfois</a:t>
            </a:r>
            <a:r>
              <a:rPr lang="en-US" sz="3600" dirty="0" smtClean="0"/>
              <a:t>--sometimes</a:t>
            </a:r>
          </a:p>
          <a:p>
            <a:r>
              <a:rPr lang="en-US" sz="3600" dirty="0" err="1" smtClean="0"/>
              <a:t>Souvent</a:t>
            </a:r>
            <a:r>
              <a:rPr lang="en-US" sz="3600" dirty="0" smtClean="0"/>
              <a:t>—often (should be placed after the verb)</a:t>
            </a:r>
          </a:p>
          <a:p>
            <a:r>
              <a:rPr lang="en-US" sz="3600" dirty="0" smtClean="0"/>
              <a:t>Je mange </a:t>
            </a:r>
            <a:r>
              <a:rPr lang="en-US" sz="3600" dirty="0" err="1" smtClean="0"/>
              <a:t>souvent</a:t>
            </a:r>
            <a:r>
              <a:rPr lang="en-US" sz="3600" dirty="0" smtClean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4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Les verbes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: </a:t>
            </a:r>
            <a:r>
              <a:rPr lang="fr-FR" b="1" dirty="0"/>
              <a:t>Manger – to </a:t>
            </a:r>
            <a:r>
              <a:rPr lang="fr-FR" b="1" dirty="0" err="1"/>
              <a:t>eat</a:t>
            </a:r>
            <a:endParaRPr lang="fr-FR" b="1" dirty="0"/>
          </a:p>
          <a:p>
            <a:r>
              <a:rPr lang="fr-FR" b="1" dirty="0"/>
              <a:t>Présent</a:t>
            </a:r>
          </a:p>
          <a:p>
            <a:r>
              <a:rPr lang="fr-FR" sz="2800" dirty="0"/>
              <a:t>je mang</a:t>
            </a:r>
            <a:r>
              <a:rPr lang="fr-FR" sz="2800" b="1" dirty="0"/>
              <a:t>e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tu mang</a:t>
            </a:r>
            <a:r>
              <a:rPr lang="fr-FR" sz="2800" b="1" dirty="0"/>
              <a:t>es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il mang</a:t>
            </a:r>
            <a:r>
              <a:rPr lang="fr-FR" sz="2800" b="1" dirty="0"/>
              <a:t>e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nous mang</a:t>
            </a:r>
            <a:r>
              <a:rPr lang="fr-FR" sz="2800" b="1" dirty="0"/>
              <a:t>eons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vous mang</a:t>
            </a:r>
            <a:r>
              <a:rPr lang="fr-FR" sz="2800" b="1" dirty="0"/>
              <a:t>ez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ils mang</a:t>
            </a:r>
            <a:r>
              <a:rPr lang="fr-FR" sz="2800" b="1" dirty="0"/>
              <a:t>ent</a:t>
            </a:r>
            <a:endParaRPr lang="fr-FR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83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Boire- to drink</a:t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b="1" dirty="0" smtClean="0"/>
              <a:t>Présent</a:t>
            </a:r>
            <a:endParaRPr lang="fr-FR" sz="2000" b="1" dirty="0"/>
          </a:p>
          <a:p>
            <a:r>
              <a:rPr lang="fr-FR" sz="3600" dirty="0"/>
              <a:t>je b</a:t>
            </a:r>
            <a:r>
              <a:rPr lang="fr-FR" sz="3600" b="1" dirty="0"/>
              <a:t>ois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/>
              <a:t>tu b</a:t>
            </a:r>
            <a:r>
              <a:rPr lang="fr-FR" sz="3600" b="1" dirty="0"/>
              <a:t>ois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/>
              <a:t>il b</a:t>
            </a:r>
            <a:r>
              <a:rPr lang="fr-FR" sz="3600" b="1" dirty="0"/>
              <a:t>oit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/>
              <a:t>nous b</a:t>
            </a:r>
            <a:r>
              <a:rPr lang="fr-FR" sz="3600" b="1" dirty="0"/>
              <a:t>uvons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/>
              <a:t>vous b</a:t>
            </a:r>
            <a:r>
              <a:rPr lang="fr-FR" sz="3600" b="1" dirty="0"/>
              <a:t>uvez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3600" dirty="0"/>
              <a:t>ils b</a:t>
            </a:r>
            <a:r>
              <a:rPr lang="fr-FR" sz="3600" b="1" dirty="0"/>
              <a:t>oivent</a:t>
            </a:r>
            <a:endParaRPr lang="fr-FR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74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7418"/>
          </a:xfrm>
        </p:spPr>
        <p:txBody>
          <a:bodyPr/>
          <a:lstStyle/>
          <a:p>
            <a:pPr algn="ctr"/>
            <a:r>
              <a:rPr lang="en-US" dirty="0" err="1" smtClean="0"/>
              <a:t>Prendre</a:t>
            </a:r>
            <a:r>
              <a:rPr lang="en-US" dirty="0" smtClean="0"/>
              <a:t>-to take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7019"/>
            <a:ext cx="8596668" cy="4614344"/>
          </a:xfrm>
        </p:spPr>
        <p:txBody>
          <a:bodyPr>
            <a:normAutofit/>
          </a:bodyPr>
          <a:lstStyle/>
          <a:p>
            <a:r>
              <a:rPr lang="en-US" dirty="0" err="1" smtClean="0"/>
              <a:t>Présent</a:t>
            </a:r>
            <a:endParaRPr lang="en-US" dirty="0" smtClean="0"/>
          </a:p>
          <a:p>
            <a:r>
              <a:rPr lang="en-US" sz="3200" dirty="0" smtClean="0"/>
              <a:t>Je </a:t>
            </a:r>
            <a:r>
              <a:rPr lang="en-US" sz="3200" dirty="0" err="1" smtClean="0"/>
              <a:t>prend</a:t>
            </a:r>
            <a:r>
              <a:rPr lang="en-US" sz="3200" dirty="0" err="1" smtClean="0">
                <a:solidFill>
                  <a:schemeClr val="accent4"/>
                </a:solidFill>
              </a:rPr>
              <a:t>s</a:t>
            </a:r>
            <a:endParaRPr lang="en-US" sz="3200" dirty="0" smtClean="0">
              <a:solidFill>
                <a:schemeClr val="accent4"/>
              </a:solidFill>
            </a:endParaRPr>
          </a:p>
          <a:p>
            <a:r>
              <a:rPr lang="en-US" sz="3200" dirty="0" err="1" smtClean="0"/>
              <a:t>Tu</a:t>
            </a:r>
            <a:r>
              <a:rPr lang="en-US" sz="3200" dirty="0" smtClean="0"/>
              <a:t> </a:t>
            </a:r>
            <a:r>
              <a:rPr lang="en-US" sz="3200" dirty="0" err="1" smtClean="0"/>
              <a:t>prend</a:t>
            </a:r>
            <a:r>
              <a:rPr lang="en-US" sz="3200" dirty="0" err="1" smtClean="0">
                <a:solidFill>
                  <a:schemeClr val="accent4"/>
                </a:solidFill>
              </a:rPr>
              <a:t>s</a:t>
            </a:r>
            <a:endParaRPr lang="en-US" sz="3200" dirty="0" smtClean="0">
              <a:solidFill>
                <a:schemeClr val="accent4"/>
              </a:solidFill>
            </a:endParaRPr>
          </a:p>
          <a:p>
            <a:r>
              <a:rPr lang="en-US" sz="3200" dirty="0" smtClean="0"/>
              <a:t>Il/</a:t>
            </a:r>
            <a:r>
              <a:rPr lang="en-US" sz="3200" dirty="0" err="1" smtClean="0"/>
              <a:t>elle</a:t>
            </a:r>
            <a:r>
              <a:rPr lang="en-US" sz="3200" dirty="0" smtClean="0"/>
              <a:t> </a:t>
            </a:r>
            <a:r>
              <a:rPr lang="en-US" sz="3200" dirty="0" err="1" smtClean="0"/>
              <a:t>pren</a:t>
            </a:r>
            <a:r>
              <a:rPr lang="en-US" sz="3200" dirty="0" err="1" smtClean="0">
                <a:solidFill>
                  <a:schemeClr val="accent4"/>
                </a:solidFill>
              </a:rPr>
              <a:t>d</a:t>
            </a:r>
            <a:endParaRPr lang="en-US" sz="3200" dirty="0" smtClean="0">
              <a:solidFill>
                <a:schemeClr val="accent4"/>
              </a:solidFill>
            </a:endParaRPr>
          </a:p>
          <a:p>
            <a:r>
              <a:rPr lang="en-US" sz="3200" dirty="0" smtClean="0"/>
              <a:t>Nous </a:t>
            </a:r>
            <a:r>
              <a:rPr lang="en-US" sz="3200" dirty="0" err="1" smtClean="0"/>
              <a:t>pren</a:t>
            </a:r>
            <a:r>
              <a:rPr lang="en-US" sz="3200" dirty="0" err="1" smtClean="0">
                <a:solidFill>
                  <a:schemeClr val="accent4"/>
                </a:solidFill>
              </a:rPr>
              <a:t>ons</a:t>
            </a:r>
            <a:endParaRPr lang="en-US" sz="3200" dirty="0" smtClean="0">
              <a:solidFill>
                <a:schemeClr val="accent4"/>
              </a:solidFill>
            </a:endParaRPr>
          </a:p>
          <a:p>
            <a:r>
              <a:rPr lang="en-US" sz="3200" dirty="0" err="1" smtClean="0"/>
              <a:t>Vous</a:t>
            </a:r>
            <a:r>
              <a:rPr lang="en-US" sz="3200" dirty="0" smtClean="0"/>
              <a:t> </a:t>
            </a:r>
            <a:r>
              <a:rPr lang="en-US" sz="3200" dirty="0" err="1" smtClean="0"/>
              <a:t>pren</a:t>
            </a:r>
            <a:r>
              <a:rPr lang="en-US" sz="3200" dirty="0" err="1" smtClean="0">
                <a:solidFill>
                  <a:schemeClr val="accent4"/>
                </a:solidFill>
              </a:rPr>
              <a:t>ez</a:t>
            </a:r>
            <a:endParaRPr lang="en-US" sz="3200" dirty="0" smtClean="0">
              <a:solidFill>
                <a:schemeClr val="accent4"/>
              </a:solidFill>
            </a:endParaRPr>
          </a:p>
          <a:p>
            <a:r>
              <a:rPr lang="en-US" sz="3200" dirty="0" err="1" smtClean="0"/>
              <a:t>Ils</a:t>
            </a:r>
            <a:r>
              <a:rPr lang="en-US" sz="3200" dirty="0" smtClean="0"/>
              <a:t>/</a:t>
            </a:r>
            <a:r>
              <a:rPr lang="en-US" sz="3200" dirty="0" err="1" smtClean="0"/>
              <a:t>elles</a:t>
            </a:r>
            <a:r>
              <a:rPr lang="en-US" sz="3200" dirty="0" smtClean="0"/>
              <a:t> </a:t>
            </a:r>
            <a:r>
              <a:rPr lang="en-US" sz="3200" dirty="0" err="1" smtClean="0"/>
              <a:t>pre</a:t>
            </a:r>
            <a:r>
              <a:rPr lang="en-US" sz="3200" dirty="0" err="1" smtClean="0">
                <a:solidFill>
                  <a:schemeClr val="accent4"/>
                </a:solidFill>
              </a:rPr>
              <a:t>nnent</a:t>
            </a:r>
            <a:endParaRPr lang="en-US" sz="3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638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QUELQUES PLATS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Le </a:t>
            </a:r>
            <a:r>
              <a:rPr lang="en-US" sz="2800" dirty="0" err="1" smtClean="0"/>
              <a:t>foufou</a:t>
            </a:r>
            <a:endParaRPr lang="en-US" sz="2800" dirty="0" smtClean="0"/>
          </a:p>
          <a:p>
            <a:r>
              <a:rPr lang="en-US" sz="2800" dirty="0" smtClean="0"/>
              <a:t>Le </a:t>
            </a:r>
            <a:r>
              <a:rPr lang="en-US" sz="2800" dirty="0" err="1" smtClean="0"/>
              <a:t>riz</a:t>
            </a:r>
            <a:r>
              <a:rPr lang="en-US" sz="2800" dirty="0" smtClean="0"/>
              <a:t> au </a:t>
            </a:r>
            <a:r>
              <a:rPr lang="en-US" sz="2800" dirty="0" err="1" smtClean="0"/>
              <a:t>gras</a:t>
            </a:r>
            <a:r>
              <a:rPr lang="en-US" sz="2800" dirty="0" smtClean="0"/>
              <a:t>—</a:t>
            </a:r>
            <a:r>
              <a:rPr lang="en-US" sz="2800" dirty="0" err="1" smtClean="0"/>
              <a:t>jollof</a:t>
            </a:r>
            <a:r>
              <a:rPr lang="en-US" sz="2800" dirty="0" smtClean="0"/>
              <a:t> rice</a:t>
            </a:r>
          </a:p>
          <a:p>
            <a:r>
              <a:rPr lang="en-US" sz="2800" dirty="0" smtClean="0"/>
              <a:t>Le </a:t>
            </a:r>
            <a:r>
              <a:rPr lang="en-US" sz="2800" dirty="0" err="1" smtClean="0"/>
              <a:t>riz</a:t>
            </a:r>
            <a:r>
              <a:rPr lang="en-US" sz="2800" dirty="0" smtClean="0"/>
              <a:t> </a:t>
            </a:r>
            <a:r>
              <a:rPr lang="en-US" sz="2800" dirty="0" err="1" smtClean="0"/>
              <a:t>cantonais</a:t>
            </a:r>
            <a:r>
              <a:rPr lang="en-US" sz="2800" dirty="0" smtClean="0"/>
              <a:t>—fried rice</a:t>
            </a:r>
          </a:p>
          <a:p>
            <a:r>
              <a:rPr lang="en-US" sz="2800" dirty="0" smtClean="0"/>
              <a:t>La sauce de </a:t>
            </a:r>
            <a:r>
              <a:rPr lang="en-US" sz="2800" dirty="0" err="1" smtClean="0"/>
              <a:t>gombo</a:t>
            </a:r>
            <a:r>
              <a:rPr lang="en-US" sz="2800" dirty="0" smtClean="0"/>
              <a:t>—</a:t>
            </a:r>
            <a:r>
              <a:rPr lang="en-US" sz="2800" dirty="0" err="1" smtClean="0"/>
              <a:t>okro</a:t>
            </a:r>
            <a:r>
              <a:rPr lang="en-US" sz="2800" dirty="0" smtClean="0"/>
              <a:t> stew</a:t>
            </a:r>
          </a:p>
          <a:p>
            <a:r>
              <a:rPr lang="en-US" sz="2800" dirty="0" smtClean="0"/>
              <a:t>La sauce </a:t>
            </a:r>
            <a:r>
              <a:rPr lang="en-US" sz="2800" dirty="0" err="1" smtClean="0"/>
              <a:t>d’épinards</a:t>
            </a:r>
            <a:r>
              <a:rPr lang="en-US" sz="2800" dirty="0" smtClean="0"/>
              <a:t>—spinach stew</a:t>
            </a:r>
          </a:p>
          <a:p>
            <a:r>
              <a:rPr lang="en-US" sz="2800" dirty="0" smtClean="0"/>
              <a:t>La sauce/</a:t>
            </a:r>
            <a:r>
              <a:rPr lang="en-US" sz="2800" dirty="0" err="1" smtClean="0"/>
              <a:t>soupe</a:t>
            </a:r>
            <a:r>
              <a:rPr lang="en-US" sz="2800" dirty="0" smtClean="0"/>
              <a:t> de </a:t>
            </a:r>
            <a:r>
              <a:rPr lang="en-US" sz="2800" dirty="0" err="1" smtClean="0"/>
              <a:t>viande</a:t>
            </a:r>
            <a:r>
              <a:rPr lang="en-US" sz="2800" dirty="0" smtClean="0"/>
              <a:t>---meat soup</a:t>
            </a:r>
          </a:p>
          <a:p>
            <a:r>
              <a:rPr lang="en-US" sz="2800" dirty="0" smtClean="0"/>
              <a:t>La sauce </a:t>
            </a:r>
            <a:r>
              <a:rPr lang="en-US" sz="2800" dirty="0" err="1" smtClean="0"/>
              <a:t>d’arachides</a:t>
            </a:r>
            <a:r>
              <a:rPr lang="en-US" sz="2800" dirty="0" smtClean="0"/>
              <a:t>—groundnut soup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7844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2109"/>
          </a:xfrm>
        </p:spPr>
        <p:txBody>
          <a:bodyPr/>
          <a:lstStyle/>
          <a:p>
            <a:pPr algn="ctr"/>
            <a:r>
              <a:rPr lang="fr-FR" dirty="0"/>
              <a:t>L’article partitif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401"/>
            <a:ext cx="8596668" cy="4364962"/>
          </a:xfrm>
        </p:spPr>
        <p:txBody>
          <a:bodyPr>
            <a:normAutofit/>
          </a:bodyPr>
          <a:lstStyle/>
          <a:p>
            <a:r>
              <a:rPr lang="fr-FR" sz="3200" dirty="0" smtClean="0"/>
              <a:t>Pour </a:t>
            </a:r>
            <a:r>
              <a:rPr lang="fr-FR" sz="3200" dirty="0"/>
              <a:t>exprimer une quantité indéterminée, on utilise un article partitif qui est l'association de la préposition "de" et de l'article défini "le", "la", "l' " ou "les" ("du" est la contraction "de + le"). </a:t>
            </a:r>
          </a:p>
          <a:p>
            <a:r>
              <a:rPr lang="fr-FR" sz="3200" dirty="0"/>
              <a:t>À la forme négative, seule est conservée la préposition 'de" ou "d' " devant une voyelle (a, e, i, o, u, y) ou un "h" muet.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99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3564"/>
          </a:xfrm>
        </p:spPr>
        <p:txBody>
          <a:bodyPr/>
          <a:lstStyle/>
          <a:p>
            <a:r>
              <a:rPr lang="fr-FR" dirty="0"/>
              <a:t>L’expression de la quantité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3165"/>
            <a:ext cx="8596668" cy="4628198"/>
          </a:xfrm>
        </p:spPr>
        <p:txBody>
          <a:bodyPr>
            <a:normAutofit/>
          </a:bodyPr>
          <a:lstStyle/>
          <a:p>
            <a:r>
              <a:rPr lang="fr-FR" sz="2400" dirty="0"/>
              <a:t>Pour indiquer une quantité indéterminée on utilise </a:t>
            </a:r>
            <a:r>
              <a:rPr lang="fr-FR" sz="2400" i="1" dirty="0"/>
              <a:t>de</a:t>
            </a:r>
          </a:p>
          <a:p>
            <a:r>
              <a:rPr lang="fr-FR" sz="2400" dirty="0"/>
              <a:t>De +le= du</a:t>
            </a:r>
          </a:p>
          <a:p>
            <a:r>
              <a:rPr lang="fr-FR" sz="2400" dirty="0"/>
              <a:t>De +la=de la (de l’)</a:t>
            </a:r>
          </a:p>
          <a:p>
            <a:r>
              <a:rPr lang="fr-FR" sz="2400" dirty="0" err="1"/>
              <a:t>De+les</a:t>
            </a:r>
            <a:r>
              <a:rPr lang="fr-FR" sz="2400" dirty="0"/>
              <a:t>=des</a:t>
            </a:r>
          </a:p>
          <a:p>
            <a:endParaRPr lang="fr-FR" sz="2400" i="1" dirty="0"/>
          </a:p>
          <a:p>
            <a:r>
              <a:rPr lang="fr-FR" sz="2400" i="1" dirty="0"/>
              <a:t>J’achète du pain</a:t>
            </a:r>
          </a:p>
          <a:p>
            <a:r>
              <a:rPr lang="fr-FR" sz="2400" i="1" dirty="0"/>
              <a:t>             de la viande</a:t>
            </a:r>
          </a:p>
          <a:p>
            <a:r>
              <a:rPr lang="fr-FR" sz="2400" i="1" dirty="0"/>
              <a:t>             de l’huile</a:t>
            </a:r>
          </a:p>
          <a:p>
            <a:r>
              <a:rPr lang="fr-FR" sz="2400" i="1" dirty="0"/>
              <a:t>              des fruits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196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7105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91491"/>
            <a:ext cx="8596668" cy="4849871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Affirmatif</a:t>
            </a:r>
          </a:p>
          <a:p>
            <a:r>
              <a:rPr lang="fr-FR" dirty="0"/>
              <a:t> </a:t>
            </a:r>
            <a:r>
              <a:rPr lang="fr-FR" sz="3600" dirty="0"/>
              <a:t>Je veux du fromage</a:t>
            </a:r>
          </a:p>
          <a:p>
            <a:r>
              <a:rPr lang="fr-FR" sz="3600" dirty="0"/>
              <a:t>Je mange de la tarte</a:t>
            </a:r>
          </a:p>
          <a:p>
            <a:r>
              <a:rPr lang="fr-FR" sz="3600" dirty="0"/>
              <a:t>Je bois de l‘eau</a:t>
            </a:r>
          </a:p>
          <a:p>
            <a:r>
              <a:rPr lang="fr-FR" sz="3600" dirty="0"/>
              <a:t>Je mange des cerises. </a:t>
            </a:r>
          </a:p>
          <a:p>
            <a:r>
              <a:rPr lang="fr-FR" sz="3600" dirty="0">
                <a:solidFill>
                  <a:srgbClr val="FF0000"/>
                </a:solidFill>
              </a:rPr>
              <a:t>Négatif </a:t>
            </a:r>
          </a:p>
          <a:p>
            <a:r>
              <a:rPr lang="fr-FR" sz="3600" dirty="0"/>
              <a:t>Je ne veux pas  (de/ d‘) </a:t>
            </a:r>
          </a:p>
        </p:txBody>
      </p:sp>
    </p:spTree>
    <p:extLst>
      <p:ext uri="{BB962C8B-B14F-4D97-AF65-F5344CB8AC3E}">
        <p14:creationId xmlns:p14="http://schemas.microsoft.com/office/powerpoint/2010/main" val="419611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345708"/>
          </a:xfrm>
        </p:spPr>
        <p:txBody>
          <a:bodyPr>
            <a:normAutofit/>
          </a:bodyPr>
          <a:lstStyle/>
          <a:p>
            <a:r>
              <a:rPr lang="fr-FR" sz="2400" dirty="0"/>
              <a:t>L’article défini désigne un ensemble; l’article partitif définit une partie de cet ensemble</a:t>
            </a:r>
          </a:p>
          <a:p>
            <a:r>
              <a:rPr lang="fr-FR" sz="2400" dirty="0">
                <a:solidFill>
                  <a:srgbClr val="FF0000"/>
                </a:solidFill>
              </a:rPr>
              <a:t>Ex:</a:t>
            </a:r>
          </a:p>
          <a:p>
            <a:r>
              <a:rPr lang="fr-FR" sz="2400" dirty="0"/>
              <a:t>Le lait est bon pour la santé ( tout)</a:t>
            </a:r>
          </a:p>
          <a:p>
            <a:r>
              <a:rPr lang="fr-FR" sz="2400" dirty="0"/>
              <a:t>Buvez du lait (une partie)</a:t>
            </a:r>
          </a:p>
          <a:p>
            <a:endParaRPr lang="fr-FR" sz="2400" dirty="0"/>
          </a:p>
          <a:p>
            <a:r>
              <a:rPr lang="fr-FR" sz="2400" dirty="0"/>
              <a:t>On dit:</a:t>
            </a:r>
          </a:p>
          <a:p>
            <a:r>
              <a:rPr lang="fr-FR" sz="2400" dirty="0"/>
              <a:t>Le matin je bois « </a:t>
            </a:r>
            <a:r>
              <a:rPr lang="fr-FR" sz="2400" dirty="0">
                <a:solidFill>
                  <a:srgbClr val="FF0000"/>
                </a:solidFill>
              </a:rPr>
              <a:t>du thé » </a:t>
            </a:r>
            <a:r>
              <a:rPr lang="fr-FR" sz="2400" dirty="0"/>
              <a:t>et pas « </a:t>
            </a:r>
            <a:r>
              <a:rPr lang="fr-FR" sz="2400" dirty="0">
                <a:solidFill>
                  <a:srgbClr val="FF0000"/>
                </a:solidFill>
              </a:rPr>
              <a:t>le thé »</a:t>
            </a:r>
          </a:p>
          <a:p>
            <a:r>
              <a:rPr lang="fr-FR" sz="2400" dirty="0"/>
              <a:t>A midi je mange « </a:t>
            </a:r>
            <a:r>
              <a:rPr lang="fr-FR" sz="2400" dirty="0">
                <a:solidFill>
                  <a:srgbClr val="FF0000"/>
                </a:solidFill>
              </a:rPr>
              <a:t>des pâtes » </a:t>
            </a:r>
            <a:r>
              <a:rPr lang="fr-FR" sz="2400" dirty="0"/>
              <a:t>et pas « </a:t>
            </a:r>
            <a:r>
              <a:rPr lang="fr-FR" sz="2400" dirty="0">
                <a:solidFill>
                  <a:srgbClr val="FF0000"/>
                </a:solidFill>
              </a:rPr>
              <a:t>les pâtes 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109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81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4116"/>
            <a:ext cx="8596668" cy="4309484"/>
          </a:xfrm>
        </p:spPr>
        <p:txBody>
          <a:bodyPr>
            <a:normAutofit/>
          </a:bodyPr>
          <a:lstStyle/>
          <a:p>
            <a:r>
              <a:rPr lang="fr-FR" sz="3200" dirty="0"/>
              <a:t>Le partitif est utilisé pour les quantités globales non comptable</a:t>
            </a:r>
          </a:p>
          <a:p>
            <a:r>
              <a:rPr lang="fr-FR" sz="3200" dirty="0">
                <a:solidFill>
                  <a:srgbClr val="FF0000"/>
                </a:solidFill>
              </a:rPr>
              <a:t>Ex:</a:t>
            </a:r>
          </a:p>
          <a:p>
            <a:r>
              <a:rPr lang="fr-FR" sz="3200" dirty="0"/>
              <a:t>Quand j’ai </a:t>
            </a:r>
            <a:r>
              <a:rPr lang="fr-FR" sz="3200" dirty="0">
                <a:solidFill>
                  <a:srgbClr val="FF0000"/>
                </a:solidFill>
              </a:rPr>
              <a:t>de la </a:t>
            </a:r>
            <a:r>
              <a:rPr lang="fr-FR" sz="3200" dirty="0"/>
              <a:t>fièvre je bois </a:t>
            </a:r>
            <a:r>
              <a:rPr lang="fr-FR" sz="3200" dirty="0">
                <a:solidFill>
                  <a:srgbClr val="FF0000"/>
                </a:solidFill>
              </a:rPr>
              <a:t>de l’eau</a:t>
            </a:r>
          </a:p>
          <a:p>
            <a:r>
              <a:rPr lang="fr-FR" sz="3200" dirty="0"/>
              <a:t>Dans la rue, il y a </a:t>
            </a:r>
            <a:r>
              <a:rPr lang="fr-FR" sz="3200" dirty="0">
                <a:solidFill>
                  <a:srgbClr val="FF0000"/>
                </a:solidFill>
              </a:rPr>
              <a:t>des </a:t>
            </a:r>
            <a:r>
              <a:rPr lang="fr-FR" sz="3200" dirty="0"/>
              <a:t>gens, </a:t>
            </a:r>
            <a:r>
              <a:rPr lang="fr-FR" sz="3200" dirty="0">
                <a:solidFill>
                  <a:srgbClr val="FF0000"/>
                </a:solidFill>
              </a:rPr>
              <a:t>du</a:t>
            </a:r>
            <a:r>
              <a:rPr lang="fr-FR" sz="3200" dirty="0"/>
              <a:t> bruit, et </a:t>
            </a:r>
            <a:r>
              <a:rPr lang="fr-FR" sz="3200" dirty="0">
                <a:solidFill>
                  <a:srgbClr val="FF0000"/>
                </a:solidFill>
              </a:rPr>
              <a:t>de la </a:t>
            </a:r>
            <a:r>
              <a:rPr lang="fr-FR" sz="3200" dirty="0"/>
              <a:t>musique</a:t>
            </a:r>
          </a:p>
          <a:p>
            <a:r>
              <a:rPr lang="fr-FR" sz="3200" dirty="0"/>
              <a:t>Aujourd’hui, il y a </a:t>
            </a:r>
            <a:r>
              <a:rPr lang="fr-FR" sz="3200" dirty="0">
                <a:solidFill>
                  <a:srgbClr val="FF0000"/>
                </a:solidFill>
              </a:rPr>
              <a:t>du</a:t>
            </a:r>
            <a:r>
              <a:rPr lang="fr-FR" sz="3200" dirty="0"/>
              <a:t> soleil et </a:t>
            </a:r>
            <a:r>
              <a:rPr lang="fr-FR" sz="3200" dirty="0">
                <a:solidFill>
                  <a:srgbClr val="FF0000"/>
                </a:solidFill>
              </a:rPr>
              <a:t>du</a:t>
            </a:r>
            <a:r>
              <a:rPr lang="fr-FR" sz="3200" dirty="0"/>
              <a:t> vent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8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429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43891"/>
            <a:ext cx="8596668" cy="4697471"/>
          </a:xfrm>
        </p:spPr>
        <p:txBody>
          <a:bodyPr>
            <a:normAutofit/>
          </a:bodyPr>
          <a:lstStyle/>
          <a:p>
            <a:r>
              <a:rPr lang="fr-FR" sz="3200" dirty="0"/>
              <a:t>Peut être un article indéfini : forme pluriel de « un » </a:t>
            </a:r>
          </a:p>
          <a:p>
            <a:r>
              <a:rPr lang="fr-FR" sz="3200" dirty="0"/>
              <a:t> </a:t>
            </a:r>
            <a:r>
              <a:rPr lang="fr-FR" sz="3200" dirty="0">
                <a:solidFill>
                  <a:srgbClr val="FF0000"/>
                </a:solidFill>
              </a:rPr>
              <a:t>ex: </a:t>
            </a:r>
            <a:r>
              <a:rPr lang="fr-FR" sz="3200" dirty="0"/>
              <a:t>il y a</a:t>
            </a:r>
            <a:r>
              <a:rPr lang="fr-FR" sz="3200" dirty="0">
                <a:solidFill>
                  <a:srgbClr val="FF0000"/>
                </a:solidFill>
              </a:rPr>
              <a:t> des </a:t>
            </a:r>
            <a:r>
              <a:rPr lang="fr-FR" sz="3200" dirty="0"/>
              <a:t>tomates dans le frigo (deux ou trois)</a:t>
            </a:r>
          </a:p>
          <a:p>
            <a:r>
              <a:rPr lang="fr-FR" sz="3200" dirty="0"/>
              <a:t>Un article partitif : de +les=des</a:t>
            </a:r>
          </a:p>
          <a:p>
            <a:r>
              <a:rPr lang="fr-FR" sz="3200" dirty="0">
                <a:solidFill>
                  <a:srgbClr val="FF0000"/>
                </a:solidFill>
              </a:rPr>
              <a:t>Ex: </a:t>
            </a:r>
            <a:r>
              <a:rPr lang="fr-FR" sz="3200" dirty="0"/>
              <a:t>Il y a </a:t>
            </a:r>
            <a:r>
              <a:rPr lang="fr-FR" sz="3200" dirty="0">
                <a:solidFill>
                  <a:srgbClr val="FF0000"/>
                </a:solidFill>
              </a:rPr>
              <a:t>des</a:t>
            </a:r>
            <a:r>
              <a:rPr lang="fr-FR" sz="3200" dirty="0"/>
              <a:t> tomates dans le frigo (</a:t>
            </a:r>
            <a:r>
              <a:rPr lang="fr-FR" sz="3200" dirty="0" err="1"/>
              <a:t>de+les</a:t>
            </a:r>
            <a:r>
              <a:rPr lang="fr-FR" sz="3200" dirty="0"/>
              <a:t> :</a:t>
            </a:r>
            <a:r>
              <a:rPr lang="fr-FR" sz="3200" dirty="0" smtClean="0"/>
              <a:t>rillettes </a:t>
            </a:r>
            <a:r>
              <a:rPr lang="fr-FR" sz="3200" dirty="0" err="1" smtClean="0"/>
              <a:t>ie</a:t>
            </a:r>
            <a:r>
              <a:rPr lang="fr-FR" sz="3200" dirty="0" smtClean="0"/>
              <a:t> </a:t>
            </a:r>
            <a:r>
              <a:rPr lang="fr-FR" sz="3200" dirty="0" err="1" smtClean="0"/>
              <a:t>shredded</a:t>
            </a:r>
            <a:r>
              <a:rPr lang="fr-FR" sz="3200" dirty="0" smtClean="0"/>
              <a:t>)</a:t>
            </a:r>
            <a:endParaRPr lang="fr-FR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417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3165</TotalTime>
  <Words>430</Words>
  <Application>Microsoft Office PowerPoint</Application>
  <PresentationFormat>Widescreen</PresentationFormat>
  <Paragraphs>85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PARLER DE LA NOURRITURE</vt:lpstr>
      <vt:lpstr>LES FRUITS ET LES LEGUMES</vt:lpstr>
      <vt:lpstr>VOCABULAIRE</vt:lpstr>
      <vt:lpstr>PowerPoint Presentation</vt:lpstr>
      <vt:lpstr>LES ALIMENTS-FOOD</vt:lpstr>
      <vt:lpstr>Parler de ses habitudes alimentaires speaking about eating habits.</vt:lpstr>
      <vt:lpstr>SOME EXPRESSIONS TO USE</vt:lpstr>
      <vt:lpstr>Les verbes</vt:lpstr>
      <vt:lpstr>Boire- to drink </vt:lpstr>
      <vt:lpstr>Prendre-to take</vt:lpstr>
      <vt:lpstr>QUELQUES PLATS </vt:lpstr>
      <vt:lpstr>L’article partitif</vt:lpstr>
      <vt:lpstr>L’expression de la quantité</vt:lpstr>
      <vt:lpstr>PowerPoint Presentation</vt:lpstr>
      <vt:lpstr>PowerPoint Presentation</vt:lpstr>
      <vt:lpstr>PowerPoint Presentation</vt:lpstr>
      <vt:lpstr>des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PARLER DE LA NOURRITURE</dc:title>
  <dc:creator>guest 1</dc:creator>
  <cp:lastModifiedBy>guest 1</cp:lastModifiedBy>
  <cp:revision>14</cp:revision>
  <dcterms:created xsi:type="dcterms:W3CDTF">2021-06-02T09:45:21Z</dcterms:created>
  <dcterms:modified xsi:type="dcterms:W3CDTF">2022-07-19T16:59:44Z</dcterms:modified>
</cp:coreProperties>
</file>