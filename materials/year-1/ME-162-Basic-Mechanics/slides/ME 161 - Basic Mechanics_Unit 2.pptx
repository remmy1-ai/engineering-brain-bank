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64" r:id="rId1"/>
    <p:sldMasterId id="2147483678" r:id="rId2"/>
  </p:sldMasterIdLst>
  <p:notesMasterIdLst>
    <p:notesMasterId r:id="rId45"/>
  </p:notesMasterIdLst>
  <p:sldIdLst>
    <p:sldId id="262" r:id="rId3"/>
    <p:sldId id="292" r:id="rId4"/>
    <p:sldId id="294" r:id="rId5"/>
    <p:sldId id="295" r:id="rId6"/>
    <p:sldId id="296" r:id="rId7"/>
    <p:sldId id="297" r:id="rId8"/>
    <p:sldId id="298" r:id="rId9"/>
    <p:sldId id="484" r:id="rId10"/>
    <p:sldId id="299" r:id="rId11"/>
    <p:sldId id="300" r:id="rId12"/>
    <p:sldId id="500" r:id="rId13"/>
    <p:sldId id="303" r:id="rId14"/>
    <p:sldId id="304" r:id="rId15"/>
    <p:sldId id="305" r:id="rId16"/>
    <p:sldId id="488" r:id="rId17"/>
    <p:sldId id="489" r:id="rId18"/>
    <p:sldId id="487" r:id="rId19"/>
    <p:sldId id="306" r:id="rId20"/>
    <p:sldId id="307" r:id="rId21"/>
    <p:sldId id="308" r:id="rId22"/>
    <p:sldId id="309" r:id="rId23"/>
    <p:sldId id="313" r:id="rId24"/>
    <p:sldId id="511" r:id="rId25"/>
    <p:sldId id="314" r:id="rId26"/>
    <p:sldId id="510" r:id="rId27"/>
    <p:sldId id="503" r:id="rId28"/>
    <p:sldId id="494" r:id="rId29"/>
    <p:sldId id="495" r:id="rId30"/>
    <p:sldId id="496" r:id="rId31"/>
    <p:sldId id="497" r:id="rId32"/>
    <p:sldId id="320" r:id="rId33"/>
    <p:sldId id="321" r:id="rId34"/>
    <p:sldId id="322" r:id="rId35"/>
    <p:sldId id="323" r:id="rId36"/>
    <p:sldId id="324" r:id="rId37"/>
    <p:sldId id="506" r:id="rId38"/>
    <p:sldId id="507" r:id="rId39"/>
    <p:sldId id="508" r:id="rId40"/>
    <p:sldId id="509" r:id="rId41"/>
    <p:sldId id="328" r:id="rId42"/>
    <p:sldId id="330" r:id="rId43"/>
    <p:sldId id="467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551"/>
    <a:srgbClr val="055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384BE-9D6B-4024-A985-C0EE99A58AEA}" type="datetimeFigureOut">
              <a:rPr lang="en-GB" smtClean="0"/>
              <a:t>09/02/2021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F05C70-BB3D-46DD-9A54-15208EA29EC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6860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>
              <a:cs typeface="Arial" panose="020B0604020202020204" pitchFamily="34" charset="0"/>
            </a:endParaRPr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39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39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39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398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F863622-8D78-427B-8E91-4C6999000307}" type="slidenum">
              <a:rPr lang="en-US">
                <a:latin typeface="Times New Roman" panose="02020603050405020304" pitchFamily="18" charset="0"/>
              </a:rPr>
              <a:pPr eaLnBrk="1" hangingPunct="1"/>
              <a:t>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027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C79967A-2C5C-4E8A-9C98-A7AE1D2A7F50}" type="slidenum">
              <a:rPr lang="en-US">
                <a:latin typeface="Times New Roman" panose="02020603050405020304" pitchFamily="18" charset="0"/>
              </a:rPr>
              <a:pPr eaLnBrk="1" hangingPunct="1"/>
              <a:t>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3337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C13D1D3-B219-417A-AF99-7805A96F2171}" type="slidenum">
              <a:rPr lang="en-US">
                <a:latin typeface="Times New Roman" panose="02020603050405020304" pitchFamily="18" charset="0"/>
              </a:rPr>
              <a:pPr eaLnBrk="1" hangingPunct="1"/>
              <a:t>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761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9AE1E6D-2F3F-4E33-937F-E665261802F8}" type="slidenum">
              <a:rPr lang="en-US">
                <a:latin typeface="Times New Roman" panose="02020603050405020304" pitchFamily="18" charset="0"/>
              </a:rPr>
              <a:pPr eaLnBrk="1" hangingPunct="1"/>
              <a:t>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576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A4564A-D7B2-4D8E-BC72-9F953B0DEB27}" type="slidenum">
              <a:rPr lang="en-US">
                <a:latin typeface="Times New Roman" panose="02020603050405020304" pitchFamily="18" charset="0"/>
              </a:rPr>
              <a:pPr eaLnBrk="1" hangingPunct="1"/>
              <a:t>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385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E1CC823-23FD-42DA-8DFB-B5D7D5A0A238}" type="slidenum">
              <a:rPr lang="en-US">
                <a:latin typeface="Times New Roman" panose="02020603050405020304" pitchFamily="18" charset="0"/>
              </a:rPr>
              <a:pPr eaLnBrk="1" hangingPunct="1"/>
              <a:t>5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83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EC9EBA2-0198-4F59-B765-C3E2E96DC472}" type="slidenum">
              <a:rPr lang="en-US">
                <a:latin typeface="Times New Roman" panose="02020603050405020304" pitchFamily="18" charset="0"/>
              </a:rPr>
              <a:pPr eaLnBrk="1" hangingPunct="1"/>
              <a:t>6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584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D2EAB80-1B80-4755-8759-55891687B6C1}" type="slidenum">
              <a:rPr lang="en-US">
                <a:latin typeface="Times New Roman" panose="02020603050405020304" pitchFamily="18" charset="0"/>
              </a:rPr>
              <a:pPr eaLnBrk="1" hangingPunct="1"/>
              <a:t>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98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2C900E1-5B01-4306-9F65-6B913AC8ABDA}" type="slidenum">
              <a:rPr lang="en-US">
                <a:latin typeface="Times New Roman" panose="02020603050405020304" pitchFamily="18" charset="0"/>
              </a:rPr>
              <a:pPr eaLnBrk="1" hangingPunct="1"/>
              <a:t>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8565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49E14EE-7797-4AF6-8DA5-B8576EB3FD03}" type="slidenum">
              <a:rPr lang="en-US">
                <a:solidFill>
                  <a:prstClr val="black"/>
                </a:solidFill>
                <a:latin typeface="Times New Roman" panose="02020603050405020304" pitchFamily="18" charset="0"/>
              </a:rPr>
              <a:pPr eaLnBrk="1" hangingPunct="1"/>
              <a:t>10</a:t>
            </a:fld>
            <a:endParaRPr lang="en-US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5153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E380F6-119B-4B98-903E-E47AAFCEA992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1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622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2B92727-00C3-4384-908B-1BE6ABEC7A88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1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704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122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7A91AC-63F3-4320-8F41-5E564339F1A0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pPr marL="0" marR="0" lvl="0" indent="0" algn="r" defTabSz="91122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14227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168595B-C56D-4CDA-80EB-1C1235D583A9}" type="slidenum">
              <a:rPr lang="en-US">
                <a:latin typeface="Times New Roman" panose="02020603050405020304" pitchFamily="18" charset="0"/>
              </a:rPr>
              <a:pPr eaLnBrk="1" hangingPunct="1"/>
              <a:t>17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07950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F7027EA-C869-48D0-8975-F4AFC85E6ABD}" type="slidenum">
              <a:rPr lang="en-US">
                <a:latin typeface="Times New Roman" panose="02020603050405020304" pitchFamily="18" charset="0"/>
              </a:rPr>
              <a:pPr eaLnBrk="1" hangingPunct="1"/>
              <a:t>18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09603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EABB8C2-99BC-494F-A921-4259256F70E7}" type="slidenum">
              <a:rPr lang="en-US">
                <a:latin typeface="Times New Roman" panose="02020603050405020304" pitchFamily="18" charset="0"/>
              </a:rPr>
              <a:pPr eaLnBrk="1" hangingPunct="1"/>
              <a:t>19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6661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C7563B1-89F2-4580-8A38-F13E5F4EB9BE}" type="slidenum">
              <a:rPr lang="en-US">
                <a:latin typeface="Times New Roman" panose="02020603050405020304" pitchFamily="18" charset="0"/>
              </a:rPr>
              <a:pPr eaLnBrk="1" hangingPunct="1"/>
              <a:t>20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7987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67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5615BED-756F-404A-8B63-4C01B2E26928}" type="slidenum">
              <a:rPr lang="en-US">
                <a:latin typeface="Times New Roman" panose="02020603050405020304" pitchFamily="18" charset="0"/>
              </a:rPr>
              <a:pPr eaLnBrk="1" hangingPunct="1"/>
              <a:t>21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78709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87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2B68DE2-345A-47C7-B55E-24FB4ACFF97B}" type="slidenum">
              <a:rPr lang="en-US">
                <a:latin typeface="Times New Roman" panose="02020603050405020304" pitchFamily="18" charset="0"/>
              </a:rPr>
              <a:pPr eaLnBrk="1" hangingPunct="1"/>
              <a:t>22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81117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776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1776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7C792B2-9F13-4EA7-8C2C-DFE821A5F5B7}" type="slidenum">
              <a:rPr lang="en-US">
                <a:latin typeface="Times New Roman" panose="02020603050405020304" pitchFamily="18" charset="0"/>
              </a:rPr>
              <a:pPr eaLnBrk="1" hangingPunct="1"/>
              <a:t>23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4930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18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18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4839D0F6-97C4-40C1-82E4-76C43D6079C2}" type="slidenum">
              <a:rPr lang="en-US">
                <a:solidFill>
                  <a:prstClr val="black"/>
                </a:solidFill>
                <a:latin typeface="Times New Roman" panose="02020603050405020304" pitchFamily="18" charset="0"/>
              </a:rPr>
              <a:pPr eaLnBrk="1" hangingPunct="1"/>
              <a:t>24</a:t>
            </a:fld>
            <a:endParaRPr lang="en-US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80094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08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A2330AB-0AF8-42BB-8A72-1B25A989C727}" type="slidenum">
              <a:rPr lang="en-US">
                <a:solidFill>
                  <a:prstClr val="black"/>
                </a:solidFill>
                <a:latin typeface="Times New Roman" panose="02020603050405020304" pitchFamily="18" charset="0"/>
              </a:rPr>
              <a:pPr eaLnBrk="1" hangingPunct="1"/>
              <a:t>25</a:t>
            </a:fld>
            <a:endParaRPr lang="en-US">
              <a:solidFill>
                <a:prstClr val="black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354288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39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39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253D24B-281A-408A-9A90-411726C72FCC}" type="slidenum">
              <a:rPr lang="en-US">
                <a:latin typeface="Times New Roman" panose="02020603050405020304" pitchFamily="18" charset="0"/>
              </a:rPr>
              <a:pPr eaLnBrk="1" hangingPunct="1"/>
              <a:t>30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39528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493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7A5DB86-18CB-46E1-8857-C3A9BB9785D2}" type="slidenum">
              <a:rPr lang="en-US">
                <a:latin typeface="Times New Roman" panose="02020603050405020304" pitchFamily="18" charset="0"/>
              </a:rPr>
              <a:pPr eaLnBrk="1" hangingPunct="1"/>
              <a:t>31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0100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59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59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08F1659-B2A7-477B-9C2E-7B7C331C86EE}" type="slidenum">
              <a:rPr lang="en-US">
                <a:latin typeface="Times New Roman" panose="02020603050405020304" pitchFamily="18" charset="0"/>
              </a:rPr>
              <a:pPr eaLnBrk="1" hangingPunct="1"/>
              <a:t>32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125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69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5FD8DE9E-7D0F-485B-B352-93E221D4C405}" type="slidenum">
              <a:rPr lang="en-US">
                <a:latin typeface="Times New Roman" panose="02020603050405020304" pitchFamily="18" charset="0"/>
              </a:rPr>
              <a:pPr eaLnBrk="1" hangingPunct="1"/>
              <a:t>33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2198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800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280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7AB21663-9B45-4C63-AD4D-E89AB1E33C40}" type="slidenum">
              <a:rPr lang="en-US">
                <a:latin typeface="Times New Roman" panose="02020603050405020304" pitchFamily="18" charset="0"/>
              </a:rPr>
              <a:pPr eaLnBrk="1" hangingPunct="1"/>
              <a:t>34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4319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209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3210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FF4433-4C5C-4796-B438-E7B9B74DB6DA}" type="slidenum">
              <a:rPr lang="en-US">
                <a:latin typeface="Times New Roman" panose="02020603050405020304" pitchFamily="18" charset="0"/>
              </a:rPr>
              <a:pPr eaLnBrk="1" hangingPunct="1"/>
              <a:t>39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62432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414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13414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defTabSz="91122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9112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11327C1-9770-4BFD-B366-888156D35F18}" type="slidenum">
              <a:rPr lang="en-US">
                <a:latin typeface="Times New Roman" panose="02020603050405020304" pitchFamily="18" charset="0"/>
              </a:rPr>
              <a:pPr eaLnBrk="1" hangingPunct="1"/>
              <a:t>40</a:t>
            </a:fld>
            <a:endParaRPr 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4399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7F05C70-BB3D-46DD-9A54-15208EA29ECC}" type="slidenum">
              <a:rPr lang="en-GB" smtClean="0">
                <a:solidFill>
                  <a:prstClr val="black"/>
                </a:solidFill>
              </a:rPr>
              <a:pPr/>
              <a:t>41</a:t>
            </a:fld>
            <a:endParaRPr lang="en-GB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92893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3FF1-CB45-432E-906F-3CF9150B8A72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60D06-DC37-48E4-9F53-CA8C4AF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713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D0D-E0A8-46A8-844C-496982B2E7FA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504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F2BC-85AD-43B7-89C9-7037CBB9A077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324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DE4B-0283-472A-BF43-64ED03443785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16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CF547-1D7E-4566-9279-B0CAD7C61A2C}" type="datetime1">
              <a:rPr lang="en-GB" smtClean="0"/>
              <a:t>09/02/2021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804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E45A-6316-4BC5-B9A0-1F76F87E5A51}" type="datetime1">
              <a:rPr lang="en-GB" smtClean="0"/>
              <a:t>09/02/2021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414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EC0D-51CF-41F3-AC9D-66BEA87890A9}" type="datetime1">
              <a:rPr lang="en-GB" smtClean="0"/>
              <a:t>09/02/2021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4928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6CF8-4300-44FE-9F10-F6BA48F2A612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35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60E7-C2E6-44D0-99A5-D8D6D1681740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554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E91A-4722-41BE-8E9C-BE1FF2F5BCAC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59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FD0-BCC2-4A38-B22B-ABECC3EBA3FA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534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33" y="1"/>
            <a:ext cx="11582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1" y="1676401"/>
            <a:ext cx="5592233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01834" y="1676400"/>
            <a:ext cx="5592233" cy="213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01834" y="3963989"/>
            <a:ext cx="5592233" cy="2135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0F91-C33D-4DE7-839B-ED1F71317245}" type="datetime1">
              <a:rPr lang="en-GB" smtClean="0"/>
              <a:t>09/02/2021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2-</a:t>
            </a:r>
            <a:fld id="{4D9FBD55-841E-454C-9B82-FCF1E824AC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714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63FF1-CB45-432E-906F-3CF9150B8A72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60D06-DC37-48E4-9F53-CA8C4AFE76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2535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11D0D-E0A8-46A8-844C-496982B2E7FA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4792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FF2BC-85AD-43B7-89C9-7037CBB9A077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11534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6DE4B-0283-472A-BF43-64ED03443785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06204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CF547-1D7E-4566-9279-B0CAD7C61A2C}" type="datetime1">
              <a:rPr lang="en-GB" smtClean="0"/>
              <a:t>09/02/2021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659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97E45A-6316-4BC5-B9A0-1F76F87E5A51}" type="datetime1">
              <a:rPr lang="en-GB" smtClean="0"/>
              <a:t>09/02/2021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87801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0EC0D-51CF-41F3-AC9D-66BEA87890A9}" type="datetime1">
              <a:rPr lang="en-GB" smtClean="0"/>
              <a:t>09/02/2021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1018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E6CF8-4300-44FE-9F10-F6BA48F2A612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19660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160E7-C2E6-44D0-99A5-D8D6D1681740}" type="datetime1">
              <a:rPr lang="en-GB" smtClean="0"/>
              <a:t>09/02/2021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2015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0E91A-4722-41BE-8E9C-BE1FF2F5BCAC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85283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3FD0-BCC2-4A38-B22B-ABECC3EBA3FA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93155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867" y="1"/>
            <a:ext cx="11582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1" y="1676401"/>
            <a:ext cx="5592233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1834" y="1676401"/>
            <a:ext cx="5592233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E889FC-CC92-4223-AAF4-1B96252AF86F}" type="datetime1">
              <a:rPr lang="en-GB" smtClean="0"/>
              <a:t>09/02/2021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1-</a:t>
            </a:r>
            <a:fld id="{6F7A8DED-A55E-460E-93A0-2EA0724FDA8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11377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33" y="1"/>
            <a:ext cx="115824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06401" y="1676401"/>
            <a:ext cx="5592233" cy="44227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201834" y="1676400"/>
            <a:ext cx="5592233" cy="2135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201834" y="3963989"/>
            <a:ext cx="5592233" cy="2135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30F91-C33D-4DE7-839B-ED1F71317245}" type="datetime1">
              <a:rPr lang="en-GB" smtClean="0"/>
              <a:t>09/02/2021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2-</a:t>
            </a:r>
            <a:fld id="{4D9FBD55-841E-454C-9B82-FCF1E824ACB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232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D7773-8FE3-427E-A0E2-326B8412E7C5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6354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7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BD7773-8FE3-427E-A0E2-326B8412E7C5}" type="datetime1">
              <a:rPr lang="en-GB" smtClean="0"/>
              <a:t>09/02/2021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0C373-F1D0-494F-8D6D-366C958B34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021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13" Type="http://schemas.openxmlformats.org/officeDocument/2006/relationships/image" Target="../media/image25.wmf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oleObject" Target="../embeddings/oleObject16.bin"/><Relationship Id="rId17" Type="http://schemas.openxmlformats.org/officeDocument/2006/relationships/oleObject" Target="../embeddings/oleObject18.bin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2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wmf"/><Relationship Id="rId11" Type="http://schemas.openxmlformats.org/officeDocument/2006/relationships/image" Target="../media/image24.jpeg"/><Relationship Id="rId5" Type="http://schemas.openxmlformats.org/officeDocument/2006/relationships/oleObject" Target="../embeddings/oleObject13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23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6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30.e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9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oleObject" Target="../embeddings/oleObject22.bin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3.bin"/><Relationship Id="rId7" Type="http://schemas.openxmlformats.org/officeDocument/2006/relationships/oleObject" Target="../embeddings/oleObject25.bin"/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wmf"/><Relationship Id="rId11" Type="http://schemas.openxmlformats.org/officeDocument/2006/relationships/image" Target="../media/image39.wmf"/><Relationship Id="rId5" Type="http://schemas.openxmlformats.org/officeDocument/2006/relationships/oleObject" Target="../embeddings/oleObject24.bin"/><Relationship Id="rId10" Type="http://schemas.openxmlformats.org/officeDocument/2006/relationships/oleObject" Target="../embeddings/oleObject26.bin"/><Relationship Id="rId4" Type="http://schemas.openxmlformats.org/officeDocument/2006/relationships/image" Target="../media/image35.wmf"/><Relationship Id="rId9" Type="http://schemas.openxmlformats.org/officeDocument/2006/relationships/image" Target="../media/image38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oleObject" Target="../embeddings/oleObject27.bin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8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7.wmf"/><Relationship Id="rId4" Type="http://schemas.openxmlformats.org/officeDocument/2006/relationships/image" Target="../media/image44.wmf"/><Relationship Id="rId9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wmf"/><Relationship Id="rId13" Type="http://schemas.openxmlformats.org/officeDocument/2006/relationships/oleObject" Target="../embeddings/oleObject38.bin"/><Relationship Id="rId18" Type="http://schemas.openxmlformats.org/officeDocument/2006/relationships/image" Target="../media/image56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2.bin"/><Relationship Id="rId7" Type="http://schemas.openxmlformats.org/officeDocument/2006/relationships/oleObject" Target="../embeddings/oleObject35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40.bin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37.bin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39.bin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41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4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9.bin"/><Relationship Id="rId3" Type="http://schemas.openxmlformats.org/officeDocument/2006/relationships/image" Target="../media/image63.jpeg"/><Relationship Id="rId7" Type="http://schemas.openxmlformats.org/officeDocument/2006/relationships/image" Target="../media/image65.wmf"/><Relationship Id="rId12" Type="http://schemas.openxmlformats.org/officeDocument/2006/relationships/image" Target="../media/image6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48.bin"/><Relationship Id="rId11" Type="http://schemas.openxmlformats.org/officeDocument/2006/relationships/image" Target="../media/image67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50.bin"/><Relationship Id="rId4" Type="http://schemas.openxmlformats.org/officeDocument/2006/relationships/oleObject" Target="../embeddings/oleObject47.bin"/><Relationship Id="rId9" Type="http://schemas.openxmlformats.org/officeDocument/2006/relationships/image" Target="../media/image66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jpeg"/><Relationship Id="rId7" Type="http://schemas.openxmlformats.org/officeDocument/2006/relationships/image" Target="../media/image71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2.bin"/><Relationship Id="rId5" Type="http://schemas.openxmlformats.org/officeDocument/2006/relationships/image" Target="../media/image70.wmf"/><Relationship Id="rId4" Type="http://schemas.openxmlformats.org/officeDocument/2006/relationships/oleObject" Target="../embeddings/oleObject51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7" Type="http://schemas.openxmlformats.org/officeDocument/2006/relationships/image" Target="../media/image75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74.jpeg"/><Relationship Id="rId4" Type="http://schemas.openxmlformats.org/officeDocument/2006/relationships/image" Target="../media/image7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7" Type="http://schemas.openxmlformats.org/officeDocument/2006/relationships/image" Target="../media/image78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5.bin"/><Relationship Id="rId5" Type="http://schemas.openxmlformats.org/officeDocument/2006/relationships/image" Target="../media/image77.jpeg"/><Relationship Id="rId4" Type="http://schemas.openxmlformats.org/officeDocument/2006/relationships/image" Target="../media/image76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0.wmf"/><Relationship Id="rId4" Type="http://schemas.openxmlformats.org/officeDocument/2006/relationships/oleObject" Target="../embeddings/oleObject56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57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58.bin"/><Relationship Id="rId5" Type="http://schemas.openxmlformats.org/officeDocument/2006/relationships/image" Target="../media/image83.emf"/><Relationship Id="rId4" Type="http://schemas.openxmlformats.org/officeDocument/2006/relationships/image" Target="../media/image82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emf"/><Relationship Id="rId2" Type="http://schemas.openxmlformats.org/officeDocument/2006/relationships/image" Target="../media/image85.em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8.e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image" Target="../media/image88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0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89.w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3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9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wmf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wmf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97.wmf"/><Relationship Id="rId4" Type="http://schemas.openxmlformats.org/officeDocument/2006/relationships/image" Target="../media/image94.wmf"/><Relationship Id="rId9" Type="http://schemas.openxmlformats.org/officeDocument/2006/relationships/oleObject" Target="../embeddings/oleObject6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98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1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71.bin"/><Relationship Id="rId4" Type="http://schemas.openxmlformats.org/officeDocument/2006/relationships/image" Target="../media/image116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wmf"/><Relationship Id="rId3" Type="http://schemas.openxmlformats.org/officeDocument/2006/relationships/image" Target="../media/image104.wmf"/><Relationship Id="rId7" Type="http://schemas.openxmlformats.org/officeDocument/2006/relationships/oleObject" Target="../embeddings/oleObject74.bin"/><Relationship Id="rId2" Type="http://schemas.openxmlformats.org/officeDocument/2006/relationships/oleObject" Target="../embeddings/oleObject72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6.png"/><Relationship Id="rId5" Type="http://schemas.openxmlformats.org/officeDocument/2006/relationships/image" Target="../media/image105.wmf"/><Relationship Id="rId4" Type="http://schemas.openxmlformats.org/officeDocument/2006/relationships/oleObject" Target="../embeddings/oleObject73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oleObject" Target="../embeddings/oleObject75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9.wmf"/><Relationship Id="rId4" Type="http://schemas.openxmlformats.org/officeDocument/2006/relationships/oleObject" Target="../embeddings/oleObject76.bin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oleObject" Target="../embeddings/oleObject7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1.wmf"/><Relationship Id="rId4" Type="http://schemas.openxmlformats.org/officeDocument/2006/relationships/oleObject" Target="../embeddings/oleObject78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3" Type="http://schemas.openxmlformats.org/officeDocument/2006/relationships/image" Target="../media/image113.jpeg"/><Relationship Id="rId7" Type="http://schemas.openxmlformats.org/officeDocument/2006/relationships/oleObject" Target="../embeddings/oleObject80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5.jpeg"/><Relationship Id="rId5" Type="http://schemas.openxmlformats.org/officeDocument/2006/relationships/image" Target="../media/image114.wmf"/><Relationship Id="rId4" Type="http://schemas.openxmlformats.org/officeDocument/2006/relationships/oleObject" Target="../embeddings/oleObject79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1518444" y="1411357"/>
            <a:ext cx="8991600" cy="730104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sz="5400" dirty="0"/>
              <a:t>ME 161  Basic Mechanics</a:t>
            </a:r>
            <a:endParaRPr lang="en-GB" sz="5400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1861344" y="2354272"/>
            <a:ext cx="8305800" cy="1752600"/>
          </a:xfrm>
        </p:spPr>
        <p:txBody>
          <a:bodyPr>
            <a:normAutofit/>
          </a:bodyPr>
          <a:lstStyle/>
          <a:p>
            <a:pPr algn="ctr"/>
            <a:r>
              <a:rPr lang="en-GB" sz="2800" dirty="0"/>
              <a:t>Kwame Nkrumah University of Science and Technology, Kumasi, Ghana</a:t>
            </a:r>
          </a:p>
          <a:p>
            <a:pPr algn="ctr"/>
            <a:r>
              <a:rPr lang="en-GB" sz="2800" dirty="0"/>
              <a:t>Department of Mechanical Engineering</a:t>
            </a:r>
          </a:p>
          <a:p>
            <a:endParaRPr lang="en-GB" dirty="0"/>
          </a:p>
        </p:txBody>
      </p:sp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3652428" y="4987355"/>
            <a:ext cx="5685763" cy="952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sz="2400" b="1" dirty="0"/>
              <a:t>Course Lecturer:</a:t>
            </a:r>
            <a:endParaRPr lang="en-US" sz="2400" dirty="0"/>
          </a:p>
          <a:p>
            <a:pPr algn="ctr" eaLnBrk="1" hangingPunct="1"/>
            <a:r>
              <a:rPr lang="en-US" sz="2400" dirty="0"/>
              <a:t>Dr. C. Sekyere</a:t>
            </a:r>
          </a:p>
          <a:p>
            <a:pPr algn="ctr" eaLnBrk="1" hangingPunct="1"/>
            <a:endParaRPr 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806521" y="692241"/>
            <a:ext cx="7620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ea typeface="PMingLiU-ExtB" pitchFamily="18" charset="-120"/>
              </a:rPr>
              <a:t>Mechanical Engineering Department, CoE, KNUST 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60D06-DC37-48E4-9F53-CA8C4AFE762D}" type="slidenum">
              <a:rPr lang="en-US" smtClean="0"/>
              <a:t>0</a:t>
            </a:fld>
            <a:endParaRPr lang="en-US"/>
          </a:p>
        </p:txBody>
      </p:sp>
      <p:pic>
        <p:nvPicPr>
          <p:cNvPr id="8" name="Picture 7" descr="Coordinate system and forces/moments acting on the deformable... | Download  Scientific Diagram">
            <a:extLst>
              <a:ext uri="{FF2B5EF4-FFF2-40B4-BE49-F238E27FC236}">
                <a16:creationId xmlns:a16="http://schemas.microsoft.com/office/drawing/2014/main" id="{012891E1-9021-4C86-A366-E57A1E72745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4" y="4018857"/>
            <a:ext cx="4874218" cy="28391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427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966086" y="2680570"/>
            <a:ext cx="8686800" cy="1859463"/>
          </a:xfrm>
        </p:spPr>
        <p:txBody>
          <a:bodyPr>
            <a:normAutofit/>
          </a:bodyPr>
          <a:lstStyle/>
          <a:p>
            <a:pPr algn="ctr" eaLnBrk="1" hangingPunct="1"/>
            <a:r>
              <a:rPr lang="en-US" sz="4400" dirty="0"/>
              <a:t>FORCES AND MOMENTS</a:t>
            </a:r>
          </a:p>
        </p:txBody>
      </p:sp>
      <p:sp>
        <p:nvSpPr>
          <p:cNvPr id="59396" name="Rectangle 4"/>
          <p:cNvSpPr>
            <a:spLocks noRot="1" noChangeArrowheads="1"/>
          </p:cNvSpPr>
          <p:nvPr/>
        </p:nvSpPr>
        <p:spPr bwMode="auto">
          <a:xfrm>
            <a:off x="1565254" y="867559"/>
            <a:ext cx="8686800" cy="20885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4400" dirty="0">
                <a:solidFill>
                  <a:srgbClr val="055D13"/>
                </a:solidFill>
                <a:latin typeface="Futura Md BT" panose="020B0602020204020303" pitchFamily="34" charset="0"/>
                <a:ea typeface="+mj-ea"/>
                <a:cs typeface="+mj-cs"/>
              </a:rPr>
              <a:t>Unit 2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</a:t>
            </a:fld>
            <a:endParaRPr lang="en-GB"/>
          </a:p>
        </p:txBody>
      </p:sp>
      <p:pic>
        <p:nvPicPr>
          <p:cNvPr id="100354" name="Picture 2" descr="calculating moments turning force calculations problem solving mechanical  advantage applications equilibrium gears levers balancing forces igcse/gcse  9-1 Physics revision notes">
            <a:extLst>
              <a:ext uri="{FF2B5EF4-FFF2-40B4-BE49-F238E27FC236}">
                <a16:creationId xmlns:a16="http://schemas.microsoft.com/office/drawing/2014/main" id="{3D3BB10D-744A-474D-BE69-402CB4E7D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067300"/>
            <a:ext cx="4876800" cy="179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Flight Control of a Quadrotor Vehicle Subsequent to a Rotor Failure |  Journal of Guidance, Control, and Dynamics">
            <a:extLst>
              <a:ext uri="{FF2B5EF4-FFF2-40B4-BE49-F238E27FC236}">
                <a16:creationId xmlns:a16="http://schemas.microsoft.com/office/drawing/2014/main" id="{756A8265-E6A7-406C-9941-40F0ACCADEAA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4762500" cy="30403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5596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696533" y="43153"/>
            <a:ext cx="10515600" cy="510639"/>
          </a:xfrm>
        </p:spPr>
        <p:txBody>
          <a:bodyPr>
            <a:noAutofit/>
          </a:bodyPr>
          <a:lstStyle/>
          <a:p>
            <a:pPr algn="ctr" eaLnBrk="1" hangingPunct="1"/>
            <a:r>
              <a:rPr lang="en-US" sz="3200" b="1" dirty="0">
                <a:solidFill>
                  <a:srgbClr val="FF0000"/>
                </a:solidFill>
              </a:rPr>
              <a:t>Force Systems</a:t>
            </a:r>
          </a:p>
        </p:txBody>
      </p:sp>
      <p:sp>
        <p:nvSpPr>
          <p:cNvPr id="61444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959538"/>
            <a:ext cx="12192000" cy="5975797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i="1" dirty="0"/>
              <a:t>force</a:t>
            </a:r>
            <a:r>
              <a:rPr lang="en-US" sz="2400" dirty="0"/>
              <a:t> </a:t>
            </a:r>
            <a:r>
              <a:rPr lang="en-US" sz="2400" u="sng" dirty="0">
                <a:solidFill>
                  <a:srgbClr val="C00000"/>
                </a:solidFill>
              </a:rPr>
              <a:t>is any effect that may change the state of rest or motion of a body </a:t>
            </a:r>
            <a:r>
              <a:rPr lang="en-US" sz="2400" dirty="0"/>
              <a:t>(Refer to Newton’s 1</a:t>
            </a:r>
            <a:r>
              <a:rPr lang="en-US" sz="2400" baseline="30000" dirty="0"/>
              <a:t>st</a:t>
            </a:r>
            <a:r>
              <a:rPr lang="en-US" sz="2400" dirty="0"/>
              <a:t> Law). 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Hence, a force is the </a:t>
            </a:r>
            <a:r>
              <a:rPr lang="en-US" sz="2400" b="1" u="sng" dirty="0">
                <a:solidFill>
                  <a:srgbClr val="C00000"/>
                </a:solidFill>
              </a:rPr>
              <a:t>result of an interaction between bodies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The </a:t>
            </a:r>
            <a:r>
              <a:rPr lang="en-US" sz="2400" b="1" u="sng" dirty="0">
                <a:solidFill>
                  <a:srgbClr val="0070C0"/>
                </a:solidFill>
              </a:rPr>
              <a:t>interaction may either be an actual contact </a:t>
            </a:r>
            <a:r>
              <a:rPr lang="en-US" sz="2400" dirty="0"/>
              <a:t>or </a:t>
            </a:r>
            <a:r>
              <a:rPr lang="en-US" sz="2400" b="1" u="sng" dirty="0">
                <a:solidFill>
                  <a:srgbClr val="C00000"/>
                </a:solidFill>
              </a:rPr>
              <a:t>remotely</a:t>
            </a:r>
            <a:r>
              <a:rPr lang="en-US" sz="2400" dirty="0"/>
              <a:t>, as in the case of gravitational and magnetic forces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b="1" i="1" u="sng" dirty="0">
                <a:solidFill>
                  <a:srgbClr val="FF0000"/>
                </a:solidFill>
              </a:rPr>
              <a:t>force system </a:t>
            </a:r>
            <a:r>
              <a:rPr lang="en-US" sz="2400" b="1" u="sng" dirty="0">
                <a:solidFill>
                  <a:srgbClr val="FF0000"/>
                </a:solidFill>
              </a:rPr>
              <a:t>comprises 2 or more forces acting on a body </a:t>
            </a:r>
            <a:r>
              <a:rPr lang="en-US" sz="2400" dirty="0"/>
              <a:t>or a  group of related bodies.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b="1" dirty="0">
                <a:solidFill>
                  <a:srgbClr val="7030A0"/>
                </a:solidFill>
              </a:rPr>
              <a:t>Force systems </a:t>
            </a:r>
            <a:r>
              <a:rPr lang="en-US" sz="2400" dirty="0"/>
              <a:t>are </a:t>
            </a:r>
            <a:r>
              <a:rPr lang="en-US" sz="2400" b="1" dirty="0">
                <a:solidFill>
                  <a:srgbClr val="FF0000"/>
                </a:solidFill>
              </a:rPr>
              <a:t>classified</a:t>
            </a:r>
            <a:r>
              <a:rPr lang="en-US" sz="2400" dirty="0"/>
              <a:t> according to the </a:t>
            </a:r>
            <a:r>
              <a:rPr lang="en-US" sz="2400" b="1" u="sng" dirty="0">
                <a:solidFill>
                  <a:srgbClr val="00B050"/>
                </a:solidFill>
              </a:rPr>
              <a:t>arraignment of constituent forces</a:t>
            </a:r>
            <a:r>
              <a:rPr lang="en-US" sz="2400" dirty="0"/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A </a:t>
            </a:r>
            <a:r>
              <a:rPr lang="en-US" sz="2400" b="1" dirty="0">
                <a:solidFill>
                  <a:srgbClr val="00B050"/>
                </a:solidFill>
              </a:rPr>
              <a:t>body</a:t>
            </a:r>
            <a:r>
              <a:rPr lang="en-US" sz="2400" dirty="0"/>
              <a:t> is in </a:t>
            </a:r>
            <a:r>
              <a:rPr lang="en-US" sz="2400" b="1" dirty="0">
                <a:solidFill>
                  <a:srgbClr val="00B0F0"/>
                </a:solidFill>
              </a:rPr>
              <a:t>equilibrium</a:t>
            </a:r>
            <a:r>
              <a:rPr lang="en-US" sz="2400" dirty="0"/>
              <a:t> when all the </a:t>
            </a:r>
            <a:r>
              <a:rPr lang="en-US" sz="2400" b="1" dirty="0">
                <a:solidFill>
                  <a:srgbClr val="FF0000"/>
                </a:solidFill>
              </a:rPr>
              <a:t>resultant forces acting </a:t>
            </a:r>
            <a:r>
              <a:rPr lang="en-US" sz="2400" dirty="0"/>
              <a:t>on the body is </a:t>
            </a:r>
            <a:r>
              <a:rPr lang="en-US" sz="2400" b="1" dirty="0">
                <a:solidFill>
                  <a:srgbClr val="00B0F0"/>
                </a:solidFill>
              </a:rPr>
              <a:t>zero</a:t>
            </a:r>
            <a:r>
              <a:rPr lang="en-US" sz="2400" dirty="0"/>
              <a:t>.</a:t>
            </a:r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NB: No method exists for directly measuring a force. In mechanics, we use cause-and-effect relationship to measure force e.g. </a:t>
            </a:r>
            <a:r>
              <a:rPr lang="en-US" sz="2400" b="1" u="sng" dirty="0">
                <a:solidFill>
                  <a:srgbClr val="FF0000"/>
                </a:solidFill>
              </a:rPr>
              <a:t>spring scale </a:t>
            </a:r>
            <a:r>
              <a:rPr lang="en-US" sz="2400" dirty="0"/>
              <a:t>uses deflection of spring to measure weight (force) and </a:t>
            </a:r>
            <a:r>
              <a:rPr lang="en-US" sz="2400" b="1" u="sng" dirty="0">
                <a:solidFill>
                  <a:srgbClr val="FF0000"/>
                </a:solidFill>
              </a:rPr>
              <a:t>beam scale </a:t>
            </a:r>
            <a:r>
              <a:rPr lang="en-US" sz="2400" dirty="0"/>
              <a:t>uses balancing of moment to measure weight (force).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514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1683302" y="74230"/>
            <a:ext cx="8686800" cy="657483"/>
          </a:xfrm>
        </p:spPr>
        <p:txBody>
          <a:bodyPr>
            <a:normAutofit fontScale="90000"/>
          </a:bodyPr>
          <a:lstStyle/>
          <a:p>
            <a:pPr algn="ctr" eaLnBrk="1" hangingPunct="1"/>
            <a:r>
              <a:rPr lang="en-US" dirty="0"/>
              <a:t>Types of Force System</a:t>
            </a:r>
          </a:p>
        </p:txBody>
      </p:sp>
      <p:grpSp>
        <p:nvGrpSpPr>
          <p:cNvPr id="62468" name="Group 201"/>
          <p:cNvGrpSpPr>
            <a:grpSpLocks/>
          </p:cNvGrpSpPr>
          <p:nvPr/>
        </p:nvGrpSpPr>
        <p:grpSpPr bwMode="auto">
          <a:xfrm>
            <a:off x="2262189" y="3027364"/>
            <a:ext cx="2263775" cy="1284287"/>
            <a:chOff x="665109" y="3209922"/>
            <a:chExt cx="2263806" cy="1284303"/>
          </a:xfrm>
        </p:grpSpPr>
        <p:cxnSp>
          <p:nvCxnSpPr>
            <p:cNvPr id="62555" name="Straight Connector 8"/>
            <p:cNvCxnSpPr>
              <a:cxnSpLocks noChangeShapeType="1"/>
            </p:cNvCxnSpPr>
            <p:nvPr/>
          </p:nvCxnSpPr>
          <p:spPr bwMode="auto">
            <a:xfrm>
              <a:off x="665109" y="4341825"/>
              <a:ext cx="1935189" cy="1588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56" name="Straight Connector 9"/>
            <p:cNvCxnSpPr>
              <a:cxnSpLocks noChangeShapeType="1"/>
            </p:cNvCxnSpPr>
            <p:nvPr/>
          </p:nvCxnSpPr>
          <p:spPr bwMode="auto">
            <a:xfrm rot="5400000" flipH="1" flipV="1">
              <a:off x="658761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57" name="Straight Connector 11"/>
            <p:cNvCxnSpPr>
              <a:cxnSpLocks noChangeShapeType="1"/>
            </p:cNvCxnSpPr>
            <p:nvPr/>
          </p:nvCxnSpPr>
          <p:spPr bwMode="auto">
            <a:xfrm rot="5400000" flipH="1" flipV="1">
              <a:off x="804813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58" name="Straight Connector 12"/>
            <p:cNvCxnSpPr>
              <a:cxnSpLocks noChangeShapeType="1"/>
            </p:cNvCxnSpPr>
            <p:nvPr/>
          </p:nvCxnSpPr>
          <p:spPr bwMode="auto">
            <a:xfrm rot="5400000" flipH="1" flipV="1">
              <a:off x="950865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59" name="Straight Connector 13"/>
            <p:cNvCxnSpPr>
              <a:cxnSpLocks noChangeShapeType="1"/>
            </p:cNvCxnSpPr>
            <p:nvPr/>
          </p:nvCxnSpPr>
          <p:spPr bwMode="auto">
            <a:xfrm rot="5400000" flipH="1" flipV="1">
              <a:off x="1096917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0" name="Straight Connector 14"/>
            <p:cNvCxnSpPr>
              <a:cxnSpLocks noChangeShapeType="1"/>
            </p:cNvCxnSpPr>
            <p:nvPr/>
          </p:nvCxnSpPr>
          <p:spPr bwMode="auto">
            <a:xfrm rot="5400000" flipH="1" flipV="1">
              <a:off x="1242969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1" name="Straight Connector 15"/>
            <p:cNvCxnSpPr>
              <a:cxnSpLocks noChangeShapeType="1"/>
            </p:cNvCxnSpPr>
            <p:nvPr/>
          </p:nvCxnSpPr>
          <p:spPr bwMode="auto">
            <a:xfrm rot="5400000" flipH="1" flipV="1">
              <a:off x="1389021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2" name="Straight Connector 16"/>
            <p:cNvCxnSpPr>
              <a:cxnSpLocks noChangeShapeType="1"/>
            </p:cNvCxnSpPr>
            <p:nvPr/>
          </p:nvCxnSpPr>
          <p:spPr bwMode="auto">
            <a:xfrm rot="5400000" flipH="1" flipV="1">
              <a:off x="1535073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3" name="Straight Connector 17"/>
            <p:cNvCxnSpPr>
              <a:cxnSpLocks noChangeShapeType="1"/>
            </p:cNvCxnSpPr>
            <p:nvPr/>
          </p:nvCxnSpPr>
          <p:spPr bwMode="auto">
            <a:xfrm rot="5400000" flipH="1" flipV="1">
              <a:off x="1681125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4" name="Straight Connector 18"/>
            <p:cNvCxnSpPr>
              <a:cxnSpLocks noChangeShapeType="1"/>
            </p:cNvCxnSpPr>
            <p:nvPr/>
          </p:nvCxnSpPr>
          <p:spPr bwMode="auto">
            <a:xfrm rot="5400000" flipH="1" flipV="1">
              <a:off x="1827177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5" name="Straight Connector 19"/>
            <p:cNvCxnSpPr>
              <a:cxnSpLocks noChangeShapeType="1"/>
            </p:cNvCxnSpPr>
            <p:nvPr/>
          </p:nvCxnSpPr>
          <p:spPr bwMode="auto">
            <a:xfrm rot="5400000" flipH="1" flipV="1">
              <a:off x="1973229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6" name="Straight Connector 20"/>
            <p:cNvCxnSpPr>
              <a:cxnSpLocks noChangeShapeType="1"/>
            </p:cNvCxnSpPr>
            <p:nvPr/>
          </p:nvCxnSpPr>
          <p:spPr bwMode="auto">
            <a:xfrm rot="5400000" flipH="1" flipV="1">
              <a:off x="2119281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7" name="Straight Connector 21"/>
            <p:cNvCxnSpPr>
              <a:cxnSpLocks noChangeShapeType="1"/>
            </p:cNvCxnSpPr>
            <p:nvPr/>
          </p:nvCxnSpPr>
          <p:spPr bwMode="auto">
            <a:xfrm rot="5400000" flipH="1" flipV="1">
              <a:off x="2265333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8" name="Straight Connector 22"/>
            <p:cNvCxnSpPr>
              <a:cxnSpLocks noChangeShapeType="1"/>
            </p:cNvCxnSpPr>
            <p:nvPr/>
          </p:nvCxnSpPr>
          <p:spPr bwMode="auto">
            <a:xfrm rot="5400000" flipH="1" flipV="1">
              <a:off x="2411385" y="4348173"/>
              <a:ext cx="152400" cy="139704"/>
            </a:xfrm>
            <a:prstGeom prst="lin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69" name="Straight Connector 26"/>
            <p:cNvCxnSpPr>
              <a:cxnSpLocks noChangeShapeType="1"/>
            </p:cNvCxnSpPr>
            <p:nvPr/>
          </p:nvCxnSpPr>
          <p:spPr bwMode="auto">
            <a:xfrm rot="16200000" flipH="1">
              <a:off x="1066753" y="3575054"/>
              <a:ext cx="547692" cy="474665"/>
            </a:xfrm>
            <a:prstGeom prst="line">
              <a:avLst/>
            </a:prstGeom>
            <a:noFill/>
            <a:ln w="38100" algn="ctr">
              <a:solidFill>
                <a:srgbClr val="000000"/>
              </a:solidFill>
              <a:miter lim="800000"/>
              <a:headEnd type="triangle" w="sm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70" name="Straight Connector 38"/>
            <p:cNvCxnSpPr>
              <a:cxnSpLocks noChangeShapeType="1"/>
            </p:cNvCxnSpPr>
            <p:nvPr/>
          </p:nvCxnSpPr>
          <p:spPr bwMode="auto">
            <a:xfrm flipV="1">
              <a:off x="1760499" y="3684591"/>
              <a:ext cx="766773" cy="438156"/>
            </a:xfrm>
            <a:prstGeom prst="line">
              <a:avLst/>
            </a:prstGeom>
            <a:noFill/>
            <a:ln w="38100" algn="ctr">
              <a:solidFill>
                <a:srgbClr val="000000"/>
              </a:solidFill>
              <a:miter lim="800000"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571" name="TextBox 41"/>
            <p:cNvSpPr txBox="1">
              <a:spLocks noChangeArrowheads="1"/>
            </p:cNvSpPr>
            <p:nvPr/>
          </p:nvSpPr>
          <p:spPr bwMode="auto">
            <a:xfrm>
              <a:off x="1797012" y="3209922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/>
                <a:t>F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62572" name="TextBox 42"/>
            <p:cNvSpPr txBox="1">
              <a:spLocks noChangeArrowheads="1"/>
            </p:cNvSpPr>
            <p:nvPr/>
          </p:nvSpPr>
          <p:spPr bwMode="auto">
            <a:xfrm>
              <a:off x="2454246" y="3502026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/>
                <a:t>F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62573" name="TextBox 43"/>
            <p:cNvSpPr txBox="1">
              <a:spLocks noChangeArrowheads="1"/>
            </p:cNvSpPr>
            <p:nvPr/>
          </p:nvSpPr>
          <p:spPr bwMode="auto">
            <a:xfrm>
              <a:off x="738135" y="3246435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/>
                <a:t>F</a:t>
              </a:r>
              <a:r>
                <a:rPr lang="en-US" baseline="-25000" dirty="0"/>
                <a:t>3</a:t>
              </a:r>
            </a:p>
          </p:txBody>
        </p:sp>
        <p:sp>
          <p:nvSpPr>
            <p:cNvPr id="62574" name="Oval 44"/>
            <p:cNvSpPr>
              <a:spLocks noChangeArrowheads="1"/>
            </p:cNvSpPr>
            <p:nvPr/>
          </p:nvSpPr>
          <p:spPr bwMode="auto">
            <a:xfrm>
              <a:off x="1541421" y="4049721"/>
              <a:ext cx="219078" cy="219078"/>
            </a:xfrm>
            <a:prstGeom prst="ellips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575" name="Rectangle 45"/>
            <p:cNvSpPr>
              <a:spLocks noChangeArrowheads="1"/>
            </p:cNvSpPr>
            <p:nvPr/>
          </p:nvSpPr>
          <p:spPr bwMode="auto">
            <a:xfrm>
              <a:off x="1468395" y="4268799"/>
              <a:ext cx="365130" cy="73026"/>
            </a:xfrm>
            <a:prstGeom prst="rect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cxnSp>
          <p:nvCxnSpPr>
            <p:cNvPr id="62576" name="Straight Connector 53"/>
            <p:cNvCxnSpPr>
              <a:cxnSpLocks noChangeShapeType="1"/>
            </p:cNvCxnSpPr>
            <p:nvPr/>
          </p:nvCxnSpPr>
          <p:spPr bwMode="auto">
            <a:xfrm rot="5400000" flipH="1" flipV="1">
              <a:off x="1541422" y="3721104"/>
              <a:ext cx="474670" cy="182566"/>
            </a:xfrm>
            <a:prstGeom prst="line">
              <a:avLst/>
            </a:prstGeom>
            <a:noFill/>
            <a:ln w="38100" algn="ctr">
              <a:solidFill>
                <a:srgbClr val="000000"/>
              </a:solidFill>
              <a:miter lim="800000"/>
              <a:headEnd type="non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2469" name="Group 106"/>
          <p:cNvGrpSpPr>
            <a:grpSpLocks/>
          </p:cNvGrpSpPr>
          <p:nvPr/>
        </p:nvGrpSpPr>
        <p:grpSpPr bwMode="auto">
          <a:xfrm>
            <a:off x="5511801" y="2990850"/>
            <a:ext cx="2124075" cy="1162050"/>
            <a:chOff x="3287698" y="3940182"/>
            <a:chExt cx="2124101" cy="1162068"/>
          </a:xfrm>
        </p:grpSpPr>
        <p:sp>
          <p:nvSpPr>
            <p:cNvPr id="62534" name="Rectangle 57"/>
            <p:cNvSpPr>
              <a:spLocks noChangeArrowheads="1"/>
            </p:cNvSpPr>
            <p:nvPr/>
          </p:nvSpPr>
          <p:spPr bwMode="auto">
            <a:xfrm>
              <a:off x="3330558" y="4670442"/>
              <a:ext cx="2008215" cy="146052"/>
            </a:xfrm>
            <a:prstGeom prst="rect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535" name="Isosceles Triangle 58"/>
            <p:cNvSpPr>
              <a:spLocks noChangeArrowheads="1"/>
            </p:cNvSpPr>
            <p:nvPr/>
          </p:nvSpPr>
          <p:spPr bwMode="auto">
            <a:xfrm>
              <a:off x="3367071" y="4816494"/>
              <a:ext cx="182565" cy="182565"/>
            </a:xfrm>
            <a:prstGeom prst="triangle">
              <a:avLst>
                <a:gd name="adj" fmla="val 50000"/>
              </a:avLst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536" name="Oval 59"/>
            <p:cNvSpPr>
              <a:spLocks noChangeArrowheads="1"/>
            </p:cNvSpPr>
            <p:nvPr/>
          </p:nvSpPr>
          <p:spPr bwMode="auto">
            <a:xfrm>
              <a:off x="5046669" y="4816494"/>
              <a:ext cx="146052" cy="146052"/>
            </a:xfrm>
            <a:prstGeom prst="ellipse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grpSp>
          <p:nvGrpSpPr>
            <p:cNvPr id="62537" name="Group 68"/>
            <p:cNvGrpSpPr>
              <a:grpSpLocks/>
            </p:cNvGrpSpPr>
            <p:nvPr/>
          </p:nvGrpSpPr>
          <p:grpSpPr bwMode="auto">
            <a:xfrm>
              <a:off x="3287698" y="4999059"/>
              <a:ext cx="334964" cy="103191"/>
              <a:chOff x="3287698" y="4999059"/>
              <a:chExt cx="334964" cy="103191"/>
            </a:xfrm>
          </p:grpSpPr>
          <p:cxnSp>
            <p:nvCxnSpPr>
              <p:cNvPr id="62551" name="Straight Connector 61"/>
              <p:cNvCxnSpPr>
                <a:cxnSpLocks noChangeShapeType="1"/>
              </p:cNvCxnSpPr>
              <p:nvPr/>
            </p:nvCxnSpPr>
            <p:spPr bwMode="auto">
              <a:xfrm>
                <a:off x="3287698" y="4999059"/>
                <a:ext cx="328617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52" name="Straight Connector 64"/>
              <p:cNvCxnSpPr>
                <a:cxnSpLocks noChangeShapeType="1"/>
              </p:cNvCxnSpPr>
              <p:nvPr/>
            </p:nvCxnSpPr>
            <p:spPr bwMode="auto">
              <a:xfrm rot="16200000" flipH="1">
                <a:off x="3305955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53" name="Straight Connector 66"/>
              <p:cNvCxnSpPr>
                <a:cxnSpLocks noChangeShapeType="1"/>
              </p:cNvCxnSpPr>
              <p:nvPr/>
            </p:nvCxnSpPr>
            <p:spPr bwMode="auto">
              <a:xfrm rot="16200000" flipH="1">
                <a:off x="3421841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54" name="Straight Connector 67"/>
              <p:cNvCxnSpPr>
                <a:cxnSpLocks noChangeShapeType="1"/>
              </p:cNvCxnSpPr>
              <p:nvPr/>
            </p:nvCxnSpPr>
            <p:spPr bwMode="auto">
              <a:xfrm rot="16200000" flipH="1">
                <a:off x="3537727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62538" name="Group 69"/>
            <p:cNvGrpSpPr>
              <a:grpSpLocks/>
            </p:cNvGrpSpPr>
            <p:nvPr/>
          </p:nvGrpSpPr>
          <p:grpSpPr bwMode="auto">
            <a:xfrm>
              <a:off x="4937130" y="4962546"/>
              <a:ext cx="334964" cy="103191"/>
              <a:chOff x="3287698" y="4999059"/>
              <a:chExt cx="334964" cy="103191"/>
            </a:xfrm>
          </p:grpSpPr>
          <p:cxnSp>
            <p:nvCxnSpPr>
              <p:cNvPr id="62547" name="Straight Connector 70"/>
              <p:cNvCxnSpPr>
                <a:cxnSpLocks noChangeShapeType="1"/>
              </p:cNvCxnSpPr>
              <p:nvPr/>
            </p:nvCxnSpPr>
            <p:spPr bwMode="auto">
              <a:xfrm>
                <a:off x="3287698" y="4999059"/>
                <a:ext cx="328617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48" name="Straight Connector 71"/>
              <p:cNvCxnSpPr>
                <a:cxnSpLocks noChangeShapeType="1"/>
              </p:cNvCxnSpPr>
              <p:nvPr/>
            </p:nvCxnSpPr>
            <p:spPr bwMode="auto">
              <a:xfrm rot="16200000" flipH="1">
                <a:off x="3305955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49" name="Straight Connector 72"/>
              <p:cNvCxnSpPr>
                <a:cxnSpLocks noChangeShapeType="1"/>
              </p:cNvCxnSpPr>
              <p:nvPr/>
            </p:nvCxnSpPr>
            <p:spPr bwMode="auto">
              <a:xfrm rot="16200000" flipH="1">
                <a:off x="3421841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50" name="Straight Connector 73"/>
              <p:cNvCxnSpPr>
                <a:cxnSpLocks noChangeShapeType="1"/>
              </p:cNvCxnSpPr>
              <p:nvPr/>
            </p:nvCxnSpPr>
            <p:spPr bwMode="auto">
              <a:xfrm rot="16200000" flipH="1">
                <a:off x="3537727" y="5017316"/>
                <a:ext cx="103191" cy="6667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62539" name="Straight Arrow Connector 75"/>
            <p:cNvCxnSpPr>
              <a:cxnSpLocks noChangeShapeType="1"/>
            </p:cNvCxnSpPr>
            <p:nvPr/>
          </p:nvCxnSpPr>
          <p:spPr bwMode="auto">
            <a:xfrm rot="5400000">
              <a:off x="3440097" y="4487877"/>
              <a:ext cx="365130" cy="1588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40" name="Straight Arrow Connector 76"/>
            <p:cNvCxnSpPr>
              <a:cxnSpLocks noChangeShapeType="1"/>
            </p:cNvCxnSpPr>
            <p:nvPr/>
          </p:nvCxnSpPr>
          <p:spPr bwMode="auto">
            <a:xfrm rot="5400000">
              <a:off x="3841741" y="4414851"/>
              <a:ext cx="328617" cy="182565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41" name="Straight Arrow Connector 78"/>
            <p:cNvCxnSpPr>
              <a:cxnSpLocks noChangeShapeType="1"/>
            </p:cNvCxnSpPr>
            <p:nvPr/>
          </p:nvCxnSpPr>
          <p:spPr bwMode="auto">
            <a:xfrm rot="16200000" flipH="1">
              <a:off x="5028413" y="4433107"/>
              <a:ext cx="365130" cy="109540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42" name="Straight Arrow Connector 80"/>
            <p:cNvCxnSpPr>
              <a:cxnSpLocks noChangeShapeType="1"/>
            </p:cNvCxnSpPr>
            <p:nvPr/>
          </p:nvCxnSpPr>
          <p:spPr bwMode="auto">
            <a:xfrm rot="5400000">
              <a:off x="4390229" y="4487083"/>
              <a:ext cx="365130" cy="1588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543" name="TextBox 81"/>
            <p:cNvSpPr txBox="1">
              <a:spLocks noChangeArrowheads="1"/>
            </p:cNvSpPr>
            <p:nvPr/>
          </p:nvSpPr>
          <p:spPr bwMode="auto">
            <a:xfrm>
              <a:off x="3360724" y="3940182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dirty="0"/>
                <a:t>F</a:t>
              </a:r>
              <a:r>
                <a:rPr lang="en-US" baseline="-25000" dirty="0"/>
                <a:t>1</a:t>
              </a:r>
            </a:p>
          </p:txBody>
        </p:sp>
        <p:sp>
          <p:nvSpPr>
            <p:cNvPr id="62544" name="TextBox 82"/>
            <p:cNvSpPr txBox="1">
              <a:spLocks noChangeArrowheads="1"/>
            </p:cNvSpPr>
            <p:nvPr/>
          </p:nvSpPr>
          <p:spPr bwMode="auto">
            <a:xfrm>
              <a:off x="3835393" y="4013208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dirty="0"/>
                <a:t>F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62545" name="TextBox 83"/>
            <p:cNvSpPr txBox="1">
              <a:spLocks noChangeArrowheads="1"/>
            </p:cNvSpPr>
            <p:nvPr/>
          </p:nvSpPr>
          <p:spPr bwMode="auto">
            <a:xfrm>
              <a:off x="4316409" y="3976695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F</a:t>
              </a:r>
              <a:r>
                <a:rPr lang="en-US" baseline="-25000"/>
                <a:t>3</a:t>
              </a:r>
            </a:p>
          </p:txBody>
        </p:sp>
        <p:sp>
          <p:nvSpPr>
            <p:cNvPr id="62546" name="TextBox 84"/>
            <p:cNvSpPr txBox="1">
              <a:spLocks noChangeArrowheads="1"/>
            </p:cNvSpPr>
            <p:nvPr/>
          </p:nvSpPr>
          <p:spPr bwMode="auto">
            <a:xfrm>
              <a:off x="4864104" y="4009006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F</a:t>
              </a:r>
              <a:r>
                <a:rPr lang="en-US" baseline="-25000"/>
                <a:t>4</a:t>
              </a:r>
            </a:p>
          </p:txBody>
        </p:sp>
      </p:grpSp>
      <p:grpSp>
        <p:nvGrpSpPr>
          <p:cNvPr id="62471" name="Group 108"/>
          <p:cNvGrpSpPr>
            <a:grpSpLocks/>
          </p:cNvGrpSpPr>
          <p:nvPr/>
        </p:nvGrpSpPr>
        <p:grpSpPr bwMode="auto">
          <a:xfrm>
            <a:off x="4602714" y="4689477"/>
            <a:ext cx="2482850" cy="1830388"/>
            <a:chOff x="5594364" y="3611565"/>
            <a:chExt cx="2482884" cy="1829852"/>
          </a:xfrm>
        </p:grpSpPr>
        <p:sp>
          <p:nvSpPr>
            <p:cNvPr id="91" name="Block Arc 90"/>
            <p:cNvSpPr/>
            <p:nvPr/>
          </p:nvSpPr>
          <p:spPr bwMode="auto">
            <a:xfrm rot="19352046">
              <a:off x="6218261" y="3860730"/>
              <a:ext cx="1204928" cy="1496574"/>
            </a:xfrm>
            <a:prstGeom prst="blockArc">
              <a:avLst/>
            </a:prstGeom>
            <a:noFill/>
            <a:ln w="15875" cap="flat" cmpd="sng" algn="ctr">
              <a:solidFill>
                <a:srgbClr val="00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>
                <a:latin typeface="Arial" charset="0"/>
                <a:cs typeface="Arial" charset="0"/>
              </a:endParaRPr>
            </a:p>
          </p:txBody>
        </p:sp>
        <p:sp>
          <p:nvSpPr>
            <p:cNvPr id="62527" name="Oval 91"/>
            <p:cNvSpPr>
              <a:spLocks noChangeArrowheads="1"/>
            </p:cNvSpPr>
            <p:nvPr/>
          </p:nvSpPr>
          <p:spPr bwMode="auto">
            <a:xfrm>
              <a:off x="6324624" y="4706955"/>
              <a:ext cx="146052" cy="146052"/>
            </a:xfrm>
            <a:prstGeom prst="ellipse">
              <a:avLst/>
            </a:prstGeom>
            <a:noFill/>
            <a:ln w="19050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sp>
          <p:nvSpPr>
            <p:cNvPr id="62528" name="Oval 92"/>
            <p:cNvSpPr>
              <a:spLocks noChangeArrowheads="1"/>
            </p:cNvSpPr>
            <p:nvPr/>
          </p:nvSpPr>
          <p:spPr bwMode="auto">
            <a:xfrm>
              <a:off x="7018371" y="4159260"/>
              <a:ext cx="146052" cy="146052"/>
            </a:xfrm>
            <a:prstGeom prst="ellipse">
              <a:avLst/>
            </a:prstGeom>
            <a:noFill/>
            <a:ln w="19050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en-US"/>
            </a:p>
          </p:txBody>
        </p:sp>
        <p:cxnSp>
          <p:nvCxnSpPr>
            <p:cNvPr id="62529" name="Straight Arrow Connector 93"/>
            <p:cNvCxnSpPr>
              <a:cxnSpLocks noChangeShapeType="1"/>
            </p:cNvCxnSpPr>
            <p:nvPr/>
          </p:nvCxnSpPr>
          <p:spPr bwMode="auto">
            <a:xfrm rot="10800000" flipV="1">
              <a:off x="5959494" y="4779981"/>
              <a:ext cx="438158" cy="365130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30" name="Straight Arrow Connector 97"/>
            <p:cNvCxnSpPr>
              <a:cxnSpLocks noChangeShapeType="1"/>
            </p:cNvCxnSpPr>
            <p:nvPr/>
          </p:nvCxnSpPr>
          <p:spPr bwMode="auto">
            <a:xfrm rot="10800000" flipV="1">
              <a:off x="6434163" y="4232286"/>
              <a:ext cx="657233" cy="511183"/>
            </a:xfrm>
            <a:prstGeom prst="straightConnector1">
              <a:avLst/>
            </a:prstGeom>
            <a:noFill/>
            <a:ln w="15875" algn="ctr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2531" name="Straight Arrow Connector 102"/>
            <p:cNvCxnSpPr>
              <a:cxnSpLocks noChangeShapeType="1"/>
            </p:cNvCxnSpPr>
            <p:nvPr/>
          </p:nvCxnSpPr>
          <p:spPr bwMode="auto">
            <a:xfrm flipV="1">
              <a:off x="7127910" y="3830643"/>
              <a:ext cx="468319" cy="371478"/>
            </a:xfrm>
            <a:prstGeom prst="straightConnector1">
              <a:avLst/>
            </a:prstGeom>
            <a:noFill/>
            <a:ln w="38100" algn="ctr">
              <a:solidFill>
                <a:srgbClr val="000000"/>
              </a:solidFill>
              <a:miter lim="800000"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2532" name="TextBox 104"/>
            <p:cNvSpPr txBox="1">
              <a:spLocks noChangeArrowheads="1"/>
            </p:cNvSpPr>
            <p:nvPr/>
          </p:nvSpPr>
          <p:spPr bwMode="auto">
            <a:xfrm>
              <a:off x="5594364" y="5072085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/>
                <a:t>F</a:t>
              </a:r>
            </a:p>
          </p:txBody>
        </p:sp>
        <p:sp>
          <p:nvSpPr>
            <p:cNvPr id="62533" name="TextBox 105"/>
            <p:cNvSpPr txBox="1">
              <a:spLocks noChangeArrowheads="1"/>
            </p:cNvSpPr>
            <p:nvPr/>
          </p:nvSpPr>
          <p:spPr bwMode="auto">
            <a:xfrm>
              <a:off x="7529553" y="3611565"/>
              <a:ext cx="547695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dirty="0"/>
                <a:t>F</a:t>
              </a:r>
            </a:p>
          </p:txBody>
        </p:sp>
      </p:grpSp>
      <p:sp>
        <p:nvSpPr>
          <p:cNvPr id="62472" name="TextBox 128"/>
          <p:cNvSpPr txBox="1">
            <a:spLocks noChangeArrowheads="1"/>
          </p:cNvSpPr>
          <p:nvPr/>
        </p:nvSpPr>
        <p:spPr bwMode="auto">
          <a:xfrm>
            <a:off x="1524000" y="4414839"/>
            <a:ext cx="37973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dirty="0"/>
              <a:t>Concurrent</a:t>
            </a:r>
            <a:r>
              <a:rPr lang="en-US" sz="1400" dirty="0">
                <a:solidFill>
                  <a:schemeClr val="bg2"/>
                </a:solidFill>
              </a:rPr>
              <a:t> </a:t>
            </a:r>
            <a:r>
              <a:rPr lang="en-US" sz="1400" dirty="0"/>
              <a:t>Coplanar Force System</a:t>
            </a:r>
          </a:p>
        </p:txBody>
      </p:sp>
      <p:sp>
        <p:nvSpPr>
          <p:cNvPr id="62473" name="TextBox 129"/>
          <p:cNvSpPr txBox="1">
            <a:spLocks noChangeArrowheads="1"/>
          </p:cNvSpPr>
          <p:nvPr/>
        </p:nvSpPr>
        <p:spPr bwMode="auto">
          <a:xfrm>
            <a:off x="1145383" y="6488867"/>
            <a:ext cx="3249613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dirty="0"/>
              <a:t>Parallel spatial Force System</a:t>
            </a:r>
          </a:p>
        </p:txBody>
      </p:sp>
      <p:sp>
        <p:nvSpPr>
          <p:cNvPr id="62474" name="TextBox 130"/>
          <p:cNvSpPr txBox="1">
            <a:spLocks noChangeArrowheads="1"/>
          </p:cNvSpPr>
          <p:nvPr/>
        </p:nvSpPr>
        <p:spPr bwMode="auto">
          <a:xfrm>
            <a:off x="5256214" y="4159251"/>
            <a:ext cx="28479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dirty="0"/>
              <a:t>Non-Concurrent </a:t>
            </a:r>
          </a:p>
          <a:p>
            <a:pPr algn="ctr" eaLnBrk="1" hangingPunct="1"/>
            <a:r>
              <a:rPr lang="en-US" sz="1400" dirty="0"/>
              <a:t>Coplanar Force System</a:t>
            </a:r>
          </a:p>
        </p:txBody>
      </p:sp>
      <p:sp>
        <p:nvSpPr>
          <p:cNvPr id="62475" name="TextBox 131"/>
          <p:cNvSpPr txBox="1">
            <a:spLocks noChangeArrowheads="1"/>
          </p:cNvSpPr>
          <p:nvPr/>
        </p:nvSpPr>
        <p:spPr bwMode="auto">
          <a:xfrm>
            <a:off x="4641850" y="6485842"/>
            <a:ext cx="27749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dirty="0"/>
              <a:t>Collinear Force System</a:t>
            </a:r>
          </a:p>
        </p:txBody>
      </p:sp>
      <p:grpSp>
        <p:nvGrpSpPr>
          <p:cNvPr id="62476" name="Group 202"/>
          <p:cNvGrpSpPr>
            <a:grpSpLocks/>
          </p:cNvGrpSpPr>
          <p:nvPr/>
        </p:nvGrpSpPr>
        <p:grpSpPr bwMode="auto">
          <a:xfrm>
            <a:off x="1526267" y="4956175"/>
            <a:ext cx="1827213" cy="1423987"/>
            <a:chOff x="993726" y="4779981"/>
            <a:chExt cx="1828032" cy="1424007"/>
          </a:xfrm>
        </p:grpSpPr>
        <p:grpSp>
          <p:nvGrpSpPr>
            <p:cNvPr id="62508" name="Group 127"/>
            <p:cNvGrpSpPr>
              <a:grpSpLocks/>
            </p:cNvGrpSpPr>
            <p:nvPr/>
          </p:nvGrpSpPr>
          <p:grpSpPr bwMode="auto">
            <a:xfrm>
              <a:off x="993726" y="5107804"/>
              <a:ext cx="1828032" cy="1096184"/>
              <a:chOff x="2891608" y="5291163"/>
              <a:chExt cx="1828032" cy="1096184"/>
            </a:xfrm>
          </p:grpSpPr>
          <p:cxnSp>
            <p:nvCxnSpPr>
              <p:cNvPr id="62513" name="Straight Connector 110"/>
              <p:cNvCxnSpPr>
                <a:cxnSpLocks noChangeShapeType="1"/>
              </p:cNvCxnSpPr>
              <p:nvPr/>
            </p:nvCxnSpPr>
            <p:spPr bwMode="auto">
              <a:xfrm flipV="1">
                <a:off x="2892402" y="5510241"/>
                <a:ext cx="766773" cy="73026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4" name="Straight Connector 111"/>
              <p:cNvCxnSpPr>
                <a:cxnSpLocks noChangeShapeType="1"/>
              </p:cNvCxnSpPr>
              <p:nvPr/>
            </p:nvCxnSpPr>
            <p:spPr bwMode="auto">
              <a:xfrm flipV="1">
                <a:off x="3951279" y="5510241"/>
                <a:ext cx="766773" cy="73026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5" name="Straight Connector 112"/>
              <p:cNvCxnSpPr>
                <a:cxnSpLocks noChangeShapeType="1"/>
              </p:cNvCxnSpPr>
              <p:nvPr/>
            </p:nvCxnSpPr>
            <p:spPr bwMode="auto">
              <a:xfrm flipV="1">
                <a:off x="3659175" y="5510241"/>
                <a:ext cx="1058877" cy="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6" name="Straight Connector 114"/>
              <p:cNvCxnSpPr>
                <a:cxnSpLocks noChangeShapeType="1"/>
              </p:cNvCxnSpPr>
              <p:nvPr/>
            </p:nvCxnSpPr>
            <p:spPr bwMode="auto">
              <a:xfrm flipV="1">
                <a:off x="2892402" y="6240501"/>
                <a:ext cx="1058877" cy="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7" name="Straight Connector 115"/>
              <p:cNvCxnSpPr>
                <a:cxnSpLocks noChangeShapeType="1"/>
              </p:cNvCxnSpPr>
              <p:nvPr/>
            </p:nvCxnSpPr>
            <p:spPr bwMode="auto">
              <a:xfrm flipV="1">
                <a:off x="3951279" y="5656293"/>
                <a:ext cx="766773" cy="73026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8" name="Straight Connector 116"/>
              <p:cNvCxnSpPr>
                <a:cxnSpLocks noChangeShapeType="1"/>
              </p:cNvCxnSpPr>
              <p:nvPr/>
            </p:nvCxnSpPr>
            <p:spPr bwMode="auto">
              <a:xfrm flipV="1">
                <a:off x="2892402" y="6386553"/>
                <a:ext cx="1058877" cy="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19" name="Straight Connector 11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2819376" y="6313527"/>
                <a:ext cx="146052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0" name="Straight Connector 119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879047" y="6312733"/>
                <a:ext cx="146052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1" name="Straight Connector 12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4645820" y="5582473"/>
                <a:ext cx="146052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2" name="Straight Connector 123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294045" y="5656293"/>
                <a:ext cx="584208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3" name="Straight Connector 124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550430" y="5838064"/>
                <a:ext cx="584208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4" name="Straight Connector 12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879047" y="5582473"/>
                <a:ext cx="584208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25" name="Straight Connector 12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3075761" y="5801551"/>
                <a:ext cx="584208" cy="1588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62509" name="TextBox 190"/>
            <p:cNvSpPr txBox="1">
              <a:spLocks noChangeArrowheads="1"/>
            </p:cNvSpPr>
            <p:nvPr/>
          </p:nvSpPr>
          <p:spPr bwMode="auto">
            <a:xfrm>
              <a:off x="1066752" y="5181624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/>
                <a:t>F</a:t>
              </a:r>
              <a:r>
                <a:rPr lang="en-US" baseline="-25000"/>
                <a:t>1</a:t>
              </a:r>
            </a:p>
          </p:txBody>
        </p:sp>
        <p:sp>
          <p:nvSpPr>
            <p:cNvPr id="62510" name="TextBox 191"/>
            <p:cNvSpPr txBox="1">
              <a:spLocks noChangeArrowheads="1"/>
            </p:cNvSpPr>
            <p:nvPr/>
          </p:nvSpPr>
          <p:spPr bwMode="auto">
            <a:xfrm>
              <a:off x="1468395" y="4889520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/>
                <a:t>F</a:t>
              </a:r>
              <a:r>
                <a:rPr lang="en-US" baseline="-25000"/>
                <a:t>2</a:t>
              </a:r>
            </a:p>
          </p:txBody>
        </p:sp>
        <p:sp>
          <p:nvSpPr>
            <p:cNvPr id="62511" name="TextBox 192"/>
            <p:cNvSpPr txBox="1">
              <a:spLocks noChangeArrowheads="1"/>
            </p:cNvSpPr>
            <p:nvPr/>
          </p:nvSpPr>
          <p:spPr bwMode="auto">
            <a:xfrm>
              <a:off x="1870038" y="5583267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>
                  <a:solidFill>
                    <a:schemeClr val="bg2"/>
                  </a:solidFill>
                </a:rPr>
                <a:t>F</a:t>
              </a:r>
              <a:r>
                <a:rPr lang="en-US" baseline="-25000" dirty="0">
                  <a:solidFill>
                    <a:schemeClr val="bg2"/>
                  </a:solidFill>
                </a:rPr>
                <a:t>3</a:t>
              </a:r>
            </a:p>
          </p:txBody>
        </p:sp>
        <p:sp>
          <p:nvSpPr>
            <p:cNvPr id="62512" name="TextBox 193"/>
            <p:cNvSpPr txBox="1">
              <a:spLocks noChangeArrowheads="1"/>
            </p:cNvSpPr>
            <p:nvPr/>
          </p:nvSpPr>
          <p:spPr bwMode="auto">
            <a:xfrm>
              <a:off x="1979577" y="4779981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/>
                <a:t>F</a:t>
              </a:r>
              <a:r>
                <a:rPr lang="en-US" baseline="-25000" dirty="0"/>
                <a:t>4</a:t>
              </a:r>
            </a:p>
          </p:txBody>
        </p:sp>
      </p:grpSp>
      <p:grpSp>
        <p:nvGrpSpPr>
          <p:cNvPr id="62477" name="Group 203"/>
          <p:cNvGrpSpPr>
            <a:grpSpLocks/>
          </p:cNvGrpSpPr>
          <p:nvPr/>
        </p:nvGrpSpPr>
        <p:grpSpPr bwMode="auto">
          <a:xfrm>
            <a:off x="8609013" y="4218780"/>
            <a:ext cx="1828800" cy="2160588"/>
            <a:chOff x="6872319" y="3648078"/>
            <a:chExt cx="1828032" cy="2160618"/>
          </a:xfrm>
        </p:grpSpPr>
        <p:grpSp>
          <p:nvGrpSpPr>
            <p:cNvPr id="62480" name="Group 189"/>
            <p:cNvGrpSpPr>
              <a:grpSpLocks/>
            </p:cNvGrpSpPr>
            <p:nvPr/>
          </p:nvGrpSpPr>
          <p:grpSpPr bwMode="auto">
            <a:xfrm>
              <a:off x="6872319" y="3648078"/>
              <a:ext cx="1828032" cy="2160618"/>
              <a:chOff x="6507189" y="3678240"/>
              <a:chExt cx="1828032" cy="2160618"/>
            </a:xfrm>
          </p:grpSpPr>
          <p:cxnSp>
            <p:nvCxnSpPr>
              <p:cNvPr id="62485" name="Straight Connector 134"/>
              <p:cNvCxnSpPr>
                <a:cxnSpLocks noChangeShapeType="1"/>
              </p:cNvCxnSpPr>
              <p:nvPr/>
            </p:nvCxnSpPr>
            <p:spPr bwMode="auto">
              <a:xfrm flipV="1">
                <a:off x="6507983" y="4961752"/>
                <a:ext cx="766773" cy="73026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86" name="Straight Connector 135"/>
              <p:cNvCxnSpPr>
                <a:cxnSpLocks noChangeShapeType="1"/>
              </p:cNvCxnSpPr>
              <p:nvPr/>
            </p:nvCxnSpPr>
            <p:spPr bwMode="auto">
              <a:xfrm flipV="1">
                <a:off x="7566860" y="4961752"/>
                <a:ext cx="766773" cy="73026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87" name="Straight Connector 136"/>
              <p:cNvCxnSpPr>
                <a:cxnSpLocks noChangeShapeType="1"/>
              </p:cNvCxnSpPr>
              <p:nvPr/>
            </p:nvCxnSpPr>
            <p:spPr bwMode="auto">
              <a:xfrm flipV="1">
                <a:off x="7274756" y="4961752"/>
                <a:ext cx="1058877" cy="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88" name="Straight Connector 137"/>
              <p:cNvCxnSpPr>
                <a:cxnSpLocks noChangeShapeType="1"/>
              </p:cNvCxnSpPr>
              <p:nvPr/>
            </p:nvCxnSpPr>
            <p:spPr bwMode="auto">
              <a:xfrm flipV="1">
                <a:off x="6507983" y="5692012"/>
                <a:ext cx="1058877" cy="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89" name="Straight Connector 138"/>
              <p:cNvCxnSpPr>
                <a:cxnSpLocks noChangeShapeType="1"/>
              </p:cNvCxnSpPr>
              <p:nvPr/>
            </p:nvCxnSpPr>
            <p:spPr bwMode="auto">
              <a:xfrm flipV="1">
                <a:off x="7566860" y="5107804"/>
                <a:ext cx="766773" cy="73026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0" name="Straight Connector 139"/>
              <p:cNvCxnSpPr>
                <a:cxnSpLocks noChangeShapeType="1"/>
              </p:cNvCxnSpPr>
              <p:nvPr/>
            </p:nvCxnSpPr>
            <p:spPr bwMode="auto">
              <a:xfrm flipV="1">
                <a:off x="6507983" y="5838064"/>
                <a:ext cx="1058877" cy="0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1" name="Straight Connector 140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434957" y="5765038"/>
                <a:ext cx="146052" cy="1588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2" name="Straight Connector 141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494628" y="5764244"/>
                <a:ext cx="146052" cy="1588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3" name="Straight Connector 142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8261401" y="5033984"/>
                <a:ext cx="146052" cy="1588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4" name="Straight Connector 143"/>
              <p:cNvCxnSpPr>
                <a:cxnSpLocks noChangeShapeType="1"/>
              </p:cNvCxnSpPr>
              <p:nvPr/>
            </p:nvCxnSpPr>
            <p:spPr bwMode="auto">
              <a:xfrm rot="16200000" flipV="1">
                <a:off x="7420016" y="4487878"/>
                <a:ext cx="365129" cy="219077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5" name="Straight Connector 144"/>
              <p:cNvCxnSpPr>
                <a:cxnSpLocks noChangeShapeType="1"/>
              </p:cNvCxnSpPr>
              <p:nvPr/>
            </p:nvCxnSpPr>
            <p:spPr bwMode="auto">
              <a:xfrm rot="16200000" flipV="1">
                <a:off x="7311270" y="4963340"/>
                <a:ext cx="328618" cy="34927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6" name="Straight Connector 145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181886" y="4031465"/>
                <a:ext cx="402437" cy="794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7" name="Straight Connector 146"/>
              <p:cNvCxnSpPr>
                <a:cxnSpLocks noChangeShapeType="1"/>
              </p:cNvCxnSpPr>
              <p:nvPr/>
            </p:nvCxnSpPr>
            <p:spPr bwMode="auto">
              <a:xfrm rot="5400000">
                <a:off x="6908835" y="4633930"/>
                <a:ext cx="365129" cy="219075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8" name="Straight Connector 152"/>
              <p:cNvCxnSpPr>
                <a:cxnSpLocks noChangeShapeType="1"/>
              </p:cNvCxnSpPr>
              <p:nvPr/>
            </p:nvCxnSpPr>
            <p:spPr bwMode="auto">
              <a:xfrm rot="16200000" flipV="1">
                <a:off x="7237449" y="4378338"/>
                <a:ext cx="730260" cy="438156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499" name="Straight Connector 154"/>
              <p:cNvCxnSpPr>
                <a:cxnSpLocks noChangeShapeType="1"/>
              </p:cNvCxnSpPr>
              <p:nvPr/>
            </p:nvCxnSpPr>
            <p:spPr bwMode="auto">
              <a:xfrm rot="16200000" flipV="1">
                <a:off x="6744525" y="4871263"/>
                <a:ext cx="1460523" cy="182569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00" name="Straight Connector 157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215085" y="4524391"/>
                <a:ext cx="1460521" cy="876312"/>
              </a:xfrm>
              <a:prstGeom prst="line">
                <a:avLst/>
              </a:prstGeom>
              <a:noFill/>
              <a:ln w="12700" algn="ctr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501" name="Straight Connector 168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7273962" y="4049721"/>
                <a:ext cx="219078" cy="0"/>
              </a:xfrm>
              <a:prstGeom prst="line">
                <a:avLst/>
              </a:prstGeom>
              <a:noFill/>
              <a:ln w="15875" algn="ctr">
                <a:solidFill>
                  <a:srgbClr val="000000"/>
                </a:solidFill>
                <a:miter lim="800000"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62502" name="Group 188"/>
              <p:cNvGrpSpPr>
                <a:grpSpLocks/>
              </p:cNvGrpSpPr>
              <p:nvPr/>
            </p:nvGrpSpPr>
            <p:grpSpPr bwMode="auto">
              <a:xfrm>
                <a:off x="6981858" y="3678240"/>
                <a:ext cx="766773" cy="152403"/>
                <a:chOff x="6981858" y="3386139"/>
                <a:chExt cx="766773" cy="152403"/>
              </a:xfrm>
            </p:grpSpPr>
            <p:cxnSp>
              <p:nvCxnSpPr>
                <p:cNvPr id="62503" name="Straight Connector 147"/>
                <p:cNvCxnSpPr>
                  <a:cxnSpLocks noChangeShapeType="1"/>
                </p:cNvCxnSpPr>
                <p:nvPr/>
              </p:nvCxnSpPr>
              <p:spPr bwMode="auto">
                <a:xfrm flipV="1">
                  <a:off x="6981858" y="3538539"/>
                  <a:ext cx="766773" cy="3"/>
                </a:xfrm>
                <a:prstGeom prst="line">
                  <a:avLst/>
                </a:prstGeom>
                <a:noFill/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504" name="Straight Connector 178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085049" y="3392487"/>
                  <a:ext cx="152400" cy="139704"/>
                </a:xfrm>
                <a:prstGeom prst="line">
                  <a:avLst/>
                </a:prstGeom>
                <a:noFill/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505" name="Straight Connector 179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231101" y="3392487"/>
                  <a:ext cx="152400" cy="139704"/>
                </a:xfrm>
                <a:prstGeom prst="line">
                  <a:avLst/>
                </a:prstGeom>
                <a:noFill/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506" name="Straight Connector 180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377153" y="3392487"/>
                  <a:ext cx="152400" cy="139704"/>
                </a:xfrm>
                <a:prstGeom prst="line">
                  <a:avLst/>
                </a:prstGeom>
                <a:noFill/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62507" name="Straight Connector 181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7523205" y="3392487"/>
                  <a:ext cx="152400" cy="139704"/>
                </a:xfrm>
                <a:prstGeom prst="line">
                  <a:avLst/>
                </a:prstGeom>
                <a:noFill/>
                <a:ln w="15875" algn="ctr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</p:grpSp>
        <p:sp>
          <p:nvSpPr>
            <p:cNvPr id="62481" name="TextBox 195"/>
            <p:cNvSpPr txBox="1">
              <a:spLocks noChangeArrowheads="1"/>
            </p:cNvSpPr>
            <p:nvPr/>
          </p:nvSpPr>
          <p:spPr bwMode="auto">
            <a:xfrm>
              <a:off x="7018371" y="4451364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/>
                <a:t>T</a:t>
              </a:r>
              <a:r>
                <a:rPr lang="en-US" baseline="-25000"/>
                <a:t>1</a:t>
              </a:r>
            </a:p>
          </p:txBody>
        </p:sp>
        <p:sp>
          <p:nvSpPr>
            <p:cNvPr id="62482" name="TextBox 196"/>
            <p:cNvSpPr txBox="1">
              <a:spLocks noChangeArrowheads="1"/>
            </p:cNvSpPr>
            <p:nvPr/>
          </p:nvSpPr>
          <p:spPr bwMode="auto">
            <a:xfrm>
              <a:off x="7456527" y="4926033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dirty="0"/>
                <a:t>T</a:t>
              </a:r>
              <a:r>
                <a:rPr lang="en-US" baseline="-25000" dirty="0"/>
                <a:t>2</a:t>
              </a:r>
            </a:p>
          </p:txBody>
        </p:sp>
        <p:sp>
          <p:nvSpPr>
            <p:cNvPr id="62483" name="TextBox 197"/>
            <p:cNvSpPr txBox="1">
              <a:spLocks noChangeArrowheads="1"/>
            </p:cNvSpPr>
            <p:nvPr/>
          </p:nvSpPr>
          <p:spPr bwMode="auto">
            <a:xfrm>
              <a:off x="7931196" y="4378338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/>
                <a:t>T</a:t>
              </a:r>
              <a:r>
                <a:rPr lang="en-US" baseline="-25000"/>
                <a:t>3</a:t>
              </a:r>
            </a:p>
          </p:txBody>
        </p:sp>
        <p:sp>
          <p:nvSpPr>
            <p:cNvPr id="62484" name="TextBox 198"/>
            <p:cNvSpPr txBox="1">
              <a:spLocks noChangeArrowheads="1"/>
            </p:cNvSpPr>
            <p:nvPr/>
          </p:nvSpPr>
          <p:spPr bwMode="auto">
            <a:xfrm>
              <a:off x="7346988" y="3903669"/>
              <a:ext cx="474669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/>
                <a:t>T</a:t>
              </a:r>
              <a:r>
                <a:rPr lang="en-US" baseline="-25000"/>
                <a:t>4</a:t>
              </a:r>
            </a:p>
          </p:txBody>
        </p:sp>
      </p:grpSp>
      <p:sp>
        <p:nvSpPr>
          <p:cNvPr id="62478" name="TextBox 200"/>
          <p:cNvSpPr txBox="1">
            <a:spLocks noChangeArrowheads="1"/>
          </p:cNvSpPr>
          <p:nvPr/>
        </p:nvSpPr>
        <p:spPr bwMode="auto">
          <a:xfrm>
            <a:off x="7701939" y="6518910"/>
            <a:ext cx="30670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dirty="0"/>
              <a:t>Concurrent Spatial Force System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0" y="761038"/>
            <a:ext cx="12192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 </a:t>
            </a:r>
            <a:r>
              <a:rPr lang="en-US" sz="2000" b="1" u="sng" dirty="0">
                <a:solidFill>
                  <a:srgbClr val="FF0000"/>
                </a:solidFill>
              </a:rPr>
              <a:t>force system </a:t>
            </a:r>
            <a:r>
              <a:rPr lang="en-US" sz="2000" dirty="0"/>
              <a:t>may be </a:t>
            </a:r>
            <a:r>
              <a:rPr lang="en-US" sz="2000" b="1" dirty="0">
                <a:solidFill>
                  <a:srgbClr val="FF0000"/>
                </a:solidFill>
              </a:rPr>
              <a:t>one-, two- (planar)  or three-dimensional </a:t>
            </a:r>
            <a:r>
              <a:rPr lang="en-US" sz="2000" dirty="0"/>
              <a:t>(spatial)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dirty="0"/>
              <a:t>A force system is said to be </a:t>
            </a:r>
            <a:r>
              <a:rPr lang="en-US" sz="2000" b="1" i="1" u="sng" dirty="0">
                <a:solidFill>
                  <a:srgbClr val="00B050"/>
                </a:solidFill>
              </a:rPr>
              <a:t>collinear</a:t>
            </a:r>
            <a:r>
              <a:rPr lang="en-US" sz="2000" b="1" u="sng" dirty="0">
                <a:solidFill>
                  <a:srgbClr val="00B050"/>
                </a:solidFill>
              </a:rPr>
              <a:t> if the forces have a common line of action</a:t>
            </a:r>
            <a:r>
              <a:rPr lang="en-US" sz="2000" dirty="0"/>
              <a:t>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i="1" u="sng" dirty="0">
                <a:solidFill>
                  <a:srgbClr val="00B050"/>
                </a:solidFill>
              </a:rPr>
              <a:t>Parallel</a:t>
            </a:r>
            <a:r>
              <a:rPr lang="en-US" sz="2000" b="1" u="sng" dirty="0">
                <a:solidFill>
                  <a:srgbClr val="00B050"/>
                </a:solidFill>
              </a:rPr>
              <a:t> </a:t>
            </a:r>
            <a:r>
              <a:rPr lang="en-US" sz="2000" dirty="0"/>
              <a:t>if the </a:t>
            </a:r>
            <a:r>
              <a:rPr lang="en-US" sz="2000" b="1" u="sng" dirty="0">
                <a:solidFill>
                  <a:srgbClr val="FF0000"/>
                </a:solidFill>
              </a:rPr>
              <a:t>lines of action of the forces are parallel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i="1" u="sng" dirty="0">
                <a:solidFill>
                  <a:srgbClr val="FF0000"/>
                </a:solidFill>
              </a:rPr>
              <a:t>Concurrent</a:t>
            </a:r>
            <a:r>
              <a:rPr lang="en-US" sz="2000" dirty="0"/>
              <a:t> if the </a:t>
            </a:r>
            <a:r>
              <a:rPr lang="en-US" sz="2000" b="1" u="sng" dirty="0">
                <a:latin typeface="Tempus Sans ITC" panose="04020404030D07020202" pitchFamily="82" charset="0"/>
              </a:rPr>
              <a:t>lines of action of the forces intersect at a common point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u="sng" dirty="0">
                <a:solidFill>
                  <a:srgbClr val="0070C0"/>
                </a:solidFill>
              </a:rPr>
              <a:t>Coplanar </a:t>
            </a:r>
            <a:r>
              <a:rPr lang="en-US" sz="2000" dirty="0"/>
              <a:t>when </a:t>
            </a:r>
            <a:r>
              <a:rPr lang="en-US" sz="2000" b="1" u="sng" dirty="0">
                <a:solidFill>
                  <a:srgbClr val="FF0000"/>
                </a:solidFill>
              </a:rPr>
              <a:t>all the forces lie in the same plane</a:t>
            </a:r>
            <a:endParaRPr lang="en-US" sz="2000" dirty="0"/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000" b="1" u="sng" dirty="0">
                <a:solidFill>
                  <a:srgbClr val="FF0000"/>
                </a:solidFill>
              </a:rPr>
              <a:t>Spatial</a:t>
            </a:r>
            <a:r>
              <a:rPr lang="en-US" sz="2000" dirty="0"/>
              <a:t> when </a:t>
            </a:r>
            <a:r>
              <a:rPr lang="en-US" sz="2000" b="1" u="sng" dirty="0">
                <a:solidFill>
                  <a:srgbClr val="0070C0"/>
                </a:solidFill>
              </a:rPr>
              <a:t>all the forces do not lie in the same plane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436224" y="3301972"/>
            <a:ext cx="1442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2.1</a:t>
            </a:r>
          </a:p>
        </p:txBody>
      </p:sp>
    </p:spTree>
    <p:extLst>
      <p:ext uri="{BB962C8B-B14F-4D97-AF65-F5344CB8AC3E}">
        <p14:creationId xmlns:p14="http://schemas.microsoft.com/office/powerpoint/2010/main" val="1850033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72" grpId="0"/>
      <p:bldP spid="62473" grpId="0"/>
      <p:bldP spid="62474" grpId="0"/>
      <p:bldP spid="62475" grpId="0"/>
      <p:bldP spid="62478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Text Box 69"/>
          <p:cNvSpPr txBox="1">
            <a:spLocks noChangeArrowheads="1"/>
          </p:cNvSpPr>
          <p:nvPr/>
        </p:nvSpPr>
        <p:spPr bwMode="auto">
          <a:xfrm>
            <a:off x="6094414" y="4976814"/>
            <a:ext cx="457358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Note : P, Q and R are magnitudes of vectors. A, B and C are interior angles of the vector triangle.</a:t>
            </a:r>
          </a:p>
        </p:txBody>
      </p:sp>
      <p:grpSp>
        <p:nvGrpSpPr>
          <p:cNvPr id="1034" name="Group 46"/>
          <p:cNvGrpSpPr>
            <a:grpSpLocks/>
          </p:cNvGrpSpPr>
          <p:nvPr/>
        </p:nvGrpSpPr>
        <p:grpSpPr bwMode="auto">
          <a:xfrm>
            <a:off x="250918" y="859160"/>
            <a:ext cx="4253607" cy="2555664"/>
            <a:chOff x="158" y="1026"/>
            <a:chExt cx="2044" cy="1398"/>
          </a:xfrm>
        </p:grpSpPr>
        <p:sp>
          <p:nvSpPr>
            <p:cNvPr id="1050" name="Line 8"/>
            <p:cNvSpPr>
              <a:spLocks noChangeShapeType="1"/>
            </p:cNvSpPr>
            <p:nvPr/>
          </p:nvSpPr>
          <p:spPr bwMode="auto">
            <a:xfrm flipV="1">
              <a:off x="158" y="1332"/>
              <a:ext cx="910" cy="9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  <p:sp>
          <p:nvSpPr>
            <p:cNvPr id="1051" name="Line 9"/>
            <p:cNvSpPr>
              <a:spLocks noChangeShapeType="1"/>
            </p:cNvSpPr>
            <p:nvPr/>
          </p:nvSpPr>
          <p:spPr bwMode="auto">
            <a:xfrm flipV="1">
              <a:off x="158" y="2104"/>
              <a:ext cx="1138" cy="1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2" name="Line 11"/>
            <p:cNvSpPr>
              <a:spLocks noChangeShapeType="1"/>
            </p:cNvSpPr>
            <p:nvPr/>
          </p:nvSpPr>
          <p:spPr bwMode="auto">
            <a:xfrm flipV="1">
              <a:off x="1292" y="1139"/>
              <a:ext cx="910" cy="9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3" name="Line 12"/>
            <p:cNvSpPr>
              <a:spLocks noChangeShapeType="1"/>
            </p:cNvSpPr>
            <p:nvPr/>
          </p:nvSpPr>
          <p:spPr bwMode="auto">
            <a:xfrm flipV="1">
              <a:off x="1062" y="1139"/>
              <a:ext cx="1138" cy="19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4" name="Line 13"/>
            <p:cNvSpPr>
              <a:spLocks noChangeShapeType="1"/>
            </p:cNvSpPr>
            <p:nvPr/>
          </p:nvSpPr>
          <p:spPr bwMode="auto">
            <a:xfrm flipV="1">
              <a:off x="167" y="1155"/>
              <a:ext cx="2015" cy="11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55" name="Text Box 14"/>
            <p:cNvSpPr txBox="1">
              <a:spLocks noChangeArrowheads="1"/>
            </p:cNvSpPr>
            <p:nvPr/>
          </p:nvSpPr>
          <p:spPr bwMode="auto">
            <a:xfrm>
              <a:off x="279" y="1757"/>
              <a:ext cx="38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Q</a:t>
              </a:r>
            </a:p>
          </p:txBody>
        </p:sp>
        <p:sp>
          <p:nvSpPr>
            <p:cNvPr id="1056" name="Text Box 15"/>
            <p:cNvSpPr txBox="1">
              <a:spLocks noChangeArrowheads="1"/>
            </p:cNvSpPr>
            <p:nvPr/>
          </p:nvSpPr>
          <p:spPr bwMode="auto">
            <a:xfrm>
              <a:off x="727" y="2181"/>
              <a:ext cx="380" cy="2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P</a:t>
              </a:r>
            </a:p>
          </p:txBody>
        </p:sp>
        <p:sp>
          <p:nvSpPr>
            <p:cNvPr id="1057" name="Text Box 16"/>
            <p:cNvSpPr txBox="1">
              <a:spLocks noChangeArrowheads="1"/>
            </p:cNvSpPr>
            <p:nvPr/>
          </p:nvSpPr>
          <p:spPr bwMode="auto">
            <a:xfrm rot="-1783160">
              <a:off x="809" y="1498"/>
              <a:ext cx="682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R=Q+P</a:t>
              </a:r>
            </a:p>
          </p:txBody>
        </p:sp>
        <p:sp>
          <p:nvSpPr>
            <p:cNvPr id="1058" name="Text Box 30"/>
            <p:cNvSpPr txBox="1">
              <a:spLocks noChangeArrowheads="1"/>
            </p:cNvSpPr>
            <p:nvPr/>
          </p:nvSpPr>
          <p:spPr bwMode="auto">
            <a:xfrm>
              <a:off x="1383" y="1026"/>
              <a:ext cx="381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P</a:t>
              </a:r>
            </a:p>
          </p:txBody>
        </p:sp>
        <p:sp>
          <p:nvSpPr>
            <p:cNvPr id="1059" name="Text Box 31"/>
            <p:cNvSpPr txBox="1">
              <a:spLocks noChangeArrowheads="1"/>
            </p:cNvSpPr>
            <p:nvPr/>
          </p:nvSpPr>
          <p:spPr bwMode="auto">
            <a:xfrm>
              <a:off x="1541" y="1774"/>
              <a:ext cx="383" cy="2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Q</a:t>
              </a:r>
            </a:p>
          </p:txBody>
        </p:sp>
      </p:grpSp>
      <p:sp>
        <p:nvSpPr>
          <p:cNvPr id="1035" name="Rectangle 35"/>
          <p:cNvSpPr>
            <a:spLocks noChangeArrowheads="1"/>
          </p:cNvSpPr>
          <p:nvPr/>
        </p:nvSpPr>
        <p:spPr bwMode="auto">
          <a:xfrm>
            <a:off x="42860" y="3586384"/>
            <a:ext cx="518537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Parallelogram law of vector addition</a:t>
            </a:r>
          </a:p>
        </p:txBody>
      </p:sp>
      <p:graphicFrame>
        <p:nvGraphicFramePr>
          <p:cNvPr id="1026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110518"/>
              </p:ext>
            </p:extLst>
          </p:nvPr>
        </p:nvGraphicFramePr>
        <p:xfrm>
          <a:off x="6635751" y="1989139"/>
          <a:ext cx="2403475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612800" imgH="457200" progId="Equation.3">
                  <p:embed/>
                </p:oleObj>
              </mc:Choice>
              <mc:Fallback>
                <p:oleObj name="Equation" r:id="rId3" imgW="161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1989139"/>
                        <a:ext cx="2403475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6" name="Text Box 60"/>
          <p:cNvSpPr txBox="1">
            <a:spLocks noChangeArrowheads="1"/>
          </p:cNvSpPr>
          <p:nvPr/>
        </p:nvSpPr>
        <p:spPr bwMode="auto">
          <a:xfrm>
            <a:off x="6116639" y="1376363"/>
            <a:ext cx="34115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Cosine Law (or Cosine rule)  </a:t>
            </a:r>
          </a:p>
        </p:txBody>
      </p:sp>
      <p:sp>
        <p:nvSpPr>
          <p:cNvPr id="1037" name="Text Box 62"/>
          <p:cNvSpPr txBox="1">
            <a:spLocks noChangeArrowheads="1"/>
          </p:cNvSpPr>
          <p:nvPr/>
        </p:nvSpPr>
        <p:spPr bwMode="auto">
          <a:xfrm>
            <a:off x="6116639" y="2714626"/>
            <a:ext cx="41925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Sine Law (or sin rule)  </a:t>
            </a:r>
          </a:p>
        </p:txBody>
      </p:sp>
      <p:graphicFrame>
        <p:nvGraphicFramePr>
          <p:cNvPr id="1027" name="Objec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543367"/>
              </p:ext>
            </p:extLst>
          </p:nvPr>
        </p:nvGraphicFramePr>
        <p:xfrm>
          <a:off x="6491289" y="3327400"/>
          <a:ext cx="2160587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46040" imgH="419040" progId="Equation.3">
                  <p:embed/>
                </p:oleObj>
              </mc:Choice>
              <mc:Fallback>
                <p:oleObj name="Equation" r:id="rId5" imgW="134604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9" y="3327400"/>
                        <a:ext cx="2160587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8" name="Text Box 65"/>
          <p:cNvSpPr txBox="1">
            <a:spLocks noChangeArrowheads="1"/>
          </p:cNvSpPr>
          <p:nvPr/>
        </p:nvSpPr>
        <p:spPr bwMode="auto">
          <a:xfrm>
            <a:off x="6126164" y="4154489"/>
            <a:ext cx="41100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Char char="•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Vector addition is commutative</a:t>
            </a:r>
          </a:p>
        </p:txBody>
      </p:sp>
      <p:graphicFrame>
        <p:nvGraphicFramePr>
          <p:cNvPr id="1028" name="Objec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0180606"/>
              </p:ext>
            </p:extLst>
          </p:nvPr>
        </p:nvGraphicFramePr>
        <p:xfrm>
          <a:off x="6481763" y="4625975"/>
          <a:ext cx="1473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73120" imgH="355320" progId="Equation.3">
                  <p:embed/>
                </p:oleObj>
              </mc:Choice>
              <mc:Fallback>
                <p:oleObj name="Equation" r:id="rId7" imgW="147312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1763" y="4625975"/>
                        <a:ext cx="1473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39" name="Group 68"/>
          <p:cNvGrpSpPr>
            <a:grpSpLocks/>
          </p:cNvGrpSpPr>
          <p:nvPr/>
        </p:nvGrpSpPr>
        <p:grpSpPr bwMode="auto">
          <a:xfrm>
            <a:off x="502590" y="4257797"/>
            <a:ext cx="3857289" cy="1947863"/>
            <a:chOff x="149" y="2727"/>
            <a:chExt cx="2046" cy="1227"/>
          </a:xfrm>
        </p:grpSpPr>
        <p:sp>
          <p:nvSpPr>
            <p:cNvPr id="1041" name="Text Box 49"/>
            <p:cNvSpPr txBox="1">
              <a:spLocks noChangeArrowheads="1"/>
            </p:cNvSpPr>
            <p:nvPr/>
          </p:nvSpPr>
          <p:spPr bwMode="auto">
            <a:xfrm>
              <a:off x="470" y="3500"/>
              <a:ext cx="3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A</a:t>
              </a:r>
            </a:p>
          </p:txBody>
        </p:sp>
        <p:sp>
          <p:nvSpPr>
            <p:cNvPr id="1042" name="Text Box 50"/>
            <p:cNvSpPr txBox="1">
              <a:spLocks noChangeArrowheads="1"/>
            </p:cNvSpPr>
            <p:nvPr/>
          </p:nvSpPr>
          <p:spPr bwMode="auto">
            <a:xfrm>
              <a:off x="1015" y="2982"/>
              <a:ext cx="3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B</a:t>
              </a:r>
            </a:p>
          </p:txBody>
        </p:sp>
        <p:sp>
          <p:nvSpPr>
            <p:cNvPr id="1043" name="Line 51"/>
            <p:cNvSpPr>
              <a:spLocks noChangeShapeType="1"/>
            </p:cNvSpPr>
            <p:nvPr/>
          </p:nvSpPr>
          <p:spPr bwMode="auto">
            <a:xfrm flipV="1">
              <a:off x="149" y="2988"/>
              <a:ext cx="910" cy="96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4" name="Line 52"/>
            <p:cNvSpPr>
              <a:spLocks noChangeShapeType="1"/>
            </p:cNvSpPr>
            <p:nvPr/>
          </p:nvSpPr>
          <p:spPr bwMode="auto">
            <a:xfrm flipV="1">
              <a:off x="1057" y="2795"/>
              <a:ext cx="1138" cy="19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5" name="Line 53"/>
            <p:cNvSpPr>
              <a:spLocks noChangeShapeType="1"/>
            </p:cNvSpPr>
            <p:nvPr/>
          </p:nvSpPr>
          <p:spPr bwMode="auto">
            <a:xfrm flipV="1">
              <a:off x="158" y="2811"/>
              <a:ext cx="2015" cy="11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1046" name="Text Box 54"/>
            <p:cNvSpPr txBox="1">
              <a:spLocks noChangeArrowheads="1"/>
            </p:cNvSpPr>
            <p:nvPr/>
          </p:nvSpPr>
          <p:spPr bwMode="auto">
            <a:xfrm>
              <a:off x="270" y="3413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Q</a:t>
              </a:r>
            </a:p>
          </p:txBody>
        </p:sp>
        <p:sp>
          <p:nvSpPr>
            <p:cNvPr id="1047" name="Text Box 55"/>
            <p:cNvSpPr txBox="1">
              <a:spLocks noChangeArrowheads="1"/>
            </p:cNvSpPr>
            <p:nvPr/>
          </p:nvSpPr>
          <p:spPr bwMode="auto">
            <a:xfrm>
              <a:off x="1670" y="2826"/>
              <a:ext cx="38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C</a:t>
              </a:r>
            </a:p>
          </p:txBody>
        </p:sp>
        <p:sp>
          <p:nvSpPr>
            <p:cNvPr id="1048" name="Text Box 56"/>
            <p:cNvSpPr txBox="1">
              <a:spLocks noChangeArrowheads="1"/>
            </p:cNvSpPr>
            <p:nvPr/>
          </p:nvSpPr>
          <p:spPr bwMode="auto">
            <a:xfrm rot="-1783160">
              <a:off x="807" y="3135"/>
              <a:ext cx="68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R=Q+P</a:t>
              </a:r>
            </a:p>
          </p:txBody>
        </p:sp>
        <p:sp>
          <p:nvSpPr>
            <p:cNvPr id="1049" name="Text Box 67"/>
            <p:cNvSpPr txBox="1">
              <a:spLocks noChangeArrowheads="1"/>
            </p:cNvSpPr>
            <p:nvPr/>
          </p:nvSpPr>
          <p:spPr bwMode="auto">
            <a:xfrm>
              <a:off x="1292" y="2727"/>
              <a:ext cx="38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P</a:t>
              </a:r>
            </a:p>
          </p:txBody>
        </p:sp>
      </p:grpSp>
      <p:sp>
        <p:nvSpPr>
          <p:cNvPr id="1040" name="Rectangle 35"/>
          <p:cNvSpPr>
            <a:spLocks noChangeArrowheads="1"/>
          </p:cNvSpPr>
          <p:nvPr/>
        </p:nvSpPr>
        <p:spPr bwMode="auto">
          <a:xfrm>
            <a:off x="2855629" y="6336250"/>
            <a:ext cx="3121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dirty="0"/>
              <a:t>where A, B and C are angles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4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4345531" y="102825"/>
            <a:ext cx="3458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Addition of Vectors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1683" y="6358322"/>
            <a:ext cx="11502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7669" y="778182"/>
            <a:ext cx="37045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For a pair of concurrent forces</a:t>
            </a:r>
          </a:p>
        </p:txBody>
      </p:sp>
    </p:spTree>
    <p:extLst>
      <p:ext uri="{BB962C8B-B14F-4D97-AF65-F5344CB8AC3E}">
        <p14:creationId xmlns:p14="http://schemas.microsoft.com/office/powerpoint/2010/main" val="1959720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2" grpId="0"/>
      <p:bldP spid="1035" grpId="0"/>
      <p:bldP spid="1036" grpId="0"/>
      <p:bldP spid="1037" grpId="0"/>
      <p:bldP spid="1038" grpId="0"/>
      <p:bldP spid="1040" grpId="0"/>
      <p:bldP spid="3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3" name="Group 4"/>
          <p:cNvGrpSpPr>
            <a:grpSpLocks/>
          </p:cNvGrpSpPr>
          <p:nvPr/>
        </p:nvGrpSpPr>
        <p:grpSpPr bwMode="auto">
          <a:xfrm>
            <a:off x="798490" y="1094705"/>
            <a:ext cx="10225825" cy="2167164"/>
            <a:chOff x="262" y="686"/>
            <a:chExt cx="5138" cy="1041"/>
          </a:xfrm>
        </p:grpSpPr>
        <p:pic>
          <p:nvPicPr>
            <p:cNvPr id="2058" name="Picture 5" descr="msotw9_temp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2" y="686"/>
              <a:ext cx="1487" cy="10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9" name="Text Box 6"/>
            <p:cNvSpPr txBox="1">
              <a:spLocks noChangeArrowheads="1"/>
            </p:cNvSpPr>
            <p:nvPr/>
          </p:nvSpPr>
          <p:spPr bwMode="auto">
            <a:xfrm>
              <a:off x="2176" y="725"/>
              <a:ext cx="3224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latin typeface="Times New Roman" panose="02020603050405020304" pitchFamily="18" charset="0"/>
                </a:rPr>
                <a:t>Addition of three or more vectors through repeated application of the triangle rule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107583" y="3786187"/>
            <a:ext cx="10148551" cy="2331277"/>
            <a:chOff x="288" y="1750"/>
            <a:chExt cx="5217" cy="1103"/>
          </a:xfrm>
        </p:grpSpPr>
        <p:pic>
          <p:nvPicPr>
            <p:cNvPr id="2056" name="Picture 8" descr="msotw9_temp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8" y="1878"/>
              <a:ext cx="1438" cy="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57" name="Text Box 9"/>
            <p:cNvSpPr txBox="1">
              <a:spLocks noChangeArrowheads="1"/>
            </p:cNvSpPr>
            <p:nvPr/>
          </p:nvSpPr>
          <p:spPr bwMode="auto">
            <a:xfrm>
              <a:off x="2176" y="1750"/>
              <a:ext cx="3329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latin typeface="Times New Roman" panose="02020603050405020304" pitchFamily="18" charset="0"/>
                </a:rPr>
                <a:t>The polygon rule for the addition of three or more vectors.</a:t>
              </a:r>
            </a:p>
          </p:txBody>
        </p:sp>
      </p:grpSp>
      <p:sp>
        <p:nvSpPr>
          <p:cNvPr id="2055" name="Text Box 11"/>
          <p:cNvSpPr txBox="1">
            <a:spLocks noChangeArrowheads="1"/>
          </p:cNvSpPr>
          <p:nvPr/>
        </p:nvSpPr>
        <p:spPr bwMode="auto">
          <a:xfrm>
            <a:off x="4780281" y="5083176"/>
            <a:ext cx="581628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</a:rPr>
              <a:t>Vector addition is associative,</a:t>
            </a:r>
          </a:p>
        </p:txBody>
      </p:sp>
      <p:graphicFrame>
        <p:nvGraphicFramePr>
          <p:cNvPr id="205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8332974"/>
              </p:ext>
            </p:extLst>
          </p:nvPr>
        </p:nvGraphicFramePr>
        <p:xfrm>
          <a:off x="5635625" y="5554663"/>
          <a:ext cx="37465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160" imgH="355320" progId="Equation.3">
                  <p:embed/>
                </p:oleObj>
              </mc:Choice>
              <mc:Fallback>
                <p:oleObj name="Equation" r:id="rId5" imgW="3746160" imgH="3553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35625" y="5554663"/>
                        <a:ext cx="37465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5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4577182" y="170589"/>
            <a:ext cx="3458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0070C0"/>
                </a:solidFill>
              </a:rPr>
              <a:t>Addition of Vectors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8259" y="3656615"/>
            <a:ext cx="173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2.3(a)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259" y="6156295"/>
            <a:ext cx="1738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2.3(b)</a:t>
            </a:r>
          </a:p>
        </p:txBody>
      </p:sp>
    </p:spTree>
    <p:extLst>
      <p:ext uri="{BB962C8B-B14F-4D97-AF65-F5344CB8AC3E}">
        <p14:creationId xmlns:p14="http://schemas.microsoft.com/office/powerpoint/2010/main" val="8532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5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33"/>
          <p:cNvSpPr>
            <a:spLocks noGrp="1" noRot="1" noChangeArrowheads="1"/>
          </p:cNvSpPr>
          <p:nvPr>
            <p:ph sz="half" idx="1"/>
          </p:nvPr>
        </p:nvSpPr>
        <p:spPr>
          <a:xfrm>
            <a:off x="6175375" y="1635126"/>
            <a:ext cx="4836062" cy="471011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sz="2400" dirty="0"/>
              <a:t>From Diagram (a),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 dirty="0"/>
              <a:t> D + A = 180</a:t>
            </a:r>
            <a:r>
              <a:rPr lang="en-US" sz="2400" baseline="30000" dirty="0"/>
              <a:t>o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400" dirty="0"/>
              <a:t> D + C = 180</a:t>
            </a:r>
            <a:r>
              <a:rPr lang="en-US" sz="2400" baseline="30000" dirty="0"/>
              <a:t>o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Char char="\"/>
            </a:pPr>
            <a:r>
              <a:rPr lang="en-US" sz="2400" dirty="0">
                <a:sym typeface="Symbol" panose="05050102010706020507" pitchFamily="18" charset="2"/>
              </a:rPr>
              <a:t>A = C and B = D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Char char="\"/>
            </a:pPr>
            <a:endParaRPr 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From Diagram (b),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 G = E=K=I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H =F=L=J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endParaRPr 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From Diagram (c),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 M + N + Q =180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r>
              <a:rPr lang="en-US" sz="2400" dirty="0">
                <a:sym typeface="Symbol" panose="05050102010706020507" pitchFamily="18" charset="2"/>
              </a:rPr>
              <a:t> N =180 - P</a:t>
            </a: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endParaRPr lang="en-US" sz="24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  <a:buFont typeface="Symbol" panose="05050102010706020507" pitchFamily="18" charset="2"/>
              <a:buNone/>
            </a:pPr>
            <a:endParaRPr lang="en-US" sz="2400" dirty="0">
              <a:sym typeface="Symbol" panose="05050102010706020507" pitchFamily="18" charset="2"/>
            </a:endParaRPr>
          </a:p>
        </p:txBody>
      </p:sp>
      <p:grpSp>
        <p:nvGrpSpPr>
          <p:cNvPr id="63493" name="Group 24"/>
          <p:cNvGrpSpPr>
            <a:grpSpLocks/>
          </p:cNvGrpSpPr>
          <p:nvPr/>
        </p:nvGrpSpPr>
        <p:grpSpPr bwMode="auto">
          <a:xfrm>
            <a:off x="3065464" y="1384301"/>
            <a:ext cx="1584325" cy="1368425"/>
            <a:chOff x="680" y="1117"/>
            <a:chExt cx="998" cy="862"/>
          </a:xfrm>
        </p:grpSpPr>
        <p:sp>
          <p:nvSpPr>
            <p:cNvPr id="63525" name="Line 4"/>
            <p:cNvSpPr>
              <a:spLocks noChangeShapeType="1"/>
            </p:cNvSpPr>
            <p:nvPr/>
          </p:nvSpPr>
          <p:spPr bwMode="auto">
            <a:xfrm>
              <a:off x="1043" y="1117"/>
              <a:ext cx="363" cy="8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26" name="Line 5"/>
            <p:cNvSpPr>
              <a:spLocks noChangeShapeType="1"/>
            </p:cNvSpPr>
            <p:nvPr/>
          </p:nvSpPr>
          <p:spPr bwMode="auto">
            <a:xfrm flipV="1">
              <a:off x="680" y="1275"/>
              <a:ext cx="998" cy="5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3527" name="Text Box 8"/>
            <p:cNvSpPr txBox="1">
              <a:spLocks noChangeArrowheads="1"/>
            </p:cNvSpPr>
            <p:nvPr/>
          </p:nvSpPr>
          <p:spPr bwMode="auto">
            <a:xfrm>
              <a:off x="1043" y="1593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A</a:t>
              </a:r>
            </a:p>
          </p:txBody>
        </p:sp>
        <p:sp>
          <p:nvSpPr>
            <p:cNvPr id="63528" name="Text Box 9"/>
            <p:cNvSpPr txBox="1">
              <a:spLocks noChangeArrowheads="1"/>
            </p:cNvSpPr>
            <p:nvPr/>
          </p:nvSpPr>
          <p:spPr bwMode="auto">
            <a:xfrm>
              <a:off x="1269" y="1502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B</a:t>
              </a:r>
            </a:p>
          </p:txBody>
        </p:sp>
        <p:sp>
          <p:nvSpPr>
            <p:cNvPr id="63529" name="Text Box 10"/>
            <p:cNvSpPr txBox="1">
              <a:spLocks noChangeArrowheads="1"/>
            </p:cNvSpPr>
            <p:nvPr/>
          </p:nvSpPr>
          <p:spPr bwMode="auto">
            <a:xfrm>
              <a:off x="1156" y="1253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C</a:t>
              </a:r>
            </a:p>
          </p:txBody>
        </p:sp>
        <p:sp>
          <p:nvSpPr>
            <p:cNvPr id="63530" name="Text Box 11"/>
            <p:cNvSpPr txBox="1">
              <a:spLocks noChangeArrowheads="1"/>
            </p:cNvSpPr>
            <p:nvPr/>
          </p:nvSpPr>
          <p:spPr bwMode="auto">
            <a:xfrm>
              <a:off x="952" y="1389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/>
                <a:t>D</a:t>
              </a:r>
            </a:p>
          </p:txBody>
        </p:sp>
      </p:grpSp>
      <p:sp>
        <p:nvSpPr>
          <p:cNvPr id="63494" name="Text Box 30"/>
          <p:cNvSpPr txBox="1">
            <a:spLocks noChangeArrowheads="1"/>
          </p:cNvSpPr>
          <p:nvPr/>
        </p:nvSpPr>
        <p:spPr bwMode="auto">
          <a:xfrm>
            <a:off x="1703388" y="2276476"/>
            <a:ext cx="468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(a)</a:t>
            </a:r>
          </a:p>
        </p:txBody>
      </p:sp>
      <p:sp>
        <p:nvSpPr>
          <p:cNvPr id="63495" name="Text Box 31"/>
          <p:cNvSpPr txBox="1">
            <a:spLocks noChangeArrowheads="1"/>
          </p:cNvSpPr>
          <p:nvPr/>
        </p:nvSpPr>
        <p:spPr bwMode="auto">
          <a:xfrm>
            <a:off x="1703388" y="3897313"/>
            <a:ext cx="4683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(b)</a:t>
            </a:r>
          </a:p>
        </p:txBody>
      </p:sp>
      <p:grpSp>
        <p:nvGrpSpPr>
          <p:cNvPr id="63496" name="Group 40"/>
          <p:cNvGrpSpPr>
            <a:grpSpLocks/>
          </p:cNvGrpSpPr>
          <p:nvPr/>
        </p:nvGrpSpPr>
        <p:grpSpPr bwMode="auto">
          <a:xfrm>
            <a:off x="2663825" y="3063876"/>
            <a:ext cx="2197100" cy="1770063"/>
            <a:chOff x="249" y="2518"/>
            <a:chExt cx="1384" cy="1115"/>
          </a:xfrm>
        </p:grpSpPr>
        <p:grpSp>
          <p:nvGrpSpPr>
            <p:cNvPr id="63507" name="Group 25"/>
            <p:cNvGrpSpPr>
              <a:grpSpLocks/>
            </p:cNvGrpSpPr>
            <p:nvPr/>
          </p:nvGrpSpPr>
          <p:grpSpPr bwMode="auto">
            <a:xfrm>
              <a:off x="249" y="2518"/>
              <a:ext cx="1384" cy="1115"/>
              <a:chOff x="272" y="2523"/>
              <a:chExt cx="1474" cy="1258"/>
            </a:xfrm>
          </p:grpSpPr>
          <p:sp>
            <p:nvSpPr>
              <p:cNvPr id="63514" name="Line 13"/>
              <p:cNvSpPr>
                <a:spLocks noChangeShapeType="1"/>
              </p:cNvSpPr>
              <p:nvPr/>
            </p:nvSpPr>
            <p:spPr bwMode="auto">
              <a:xfrm>
                <a:off x="272" y="2818"/>
                <a:ext cx="1429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5" name="Line 14"/>
              <p:cNvSpPr>
                <a:spLocks noChangeShapeType="1"/>
              </p:cNvSpPr>
              <p:nvPr/>
            </p:nvSpPr>
            <p:spPr bwMode="auto">
              <a:xfrm>
                <a:off x="385" y="3543"/>
                <a:ext cx="1361" cy="0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6" name="Line 15"/>
              <p:cNvSpPr>
                <a:spLocks noChangeShapeType="1"/>
              </p:cNvSpPr>
              <p:nvPr/>
            </p:nvSpPr>
            <p:spPr bwMode="auto">
              <a:xfrm>
                <a:off x="453" y="2523"/>
                <a:ext cx="1021" cy="1225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7" name="Text Box 16"/>
              <p:cNvSpPr txBox="1">
                <a:spLocks noChangeArrowheads="1"/>
              </p:cNvSpPr>
              <p:nvPr/>
            </p:nvSpPr>
            <p:spPr bwMode="auto">
              <a:xfrm>
                <a:off x="544" y="2792"/>
                <a:ext cx="249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E</a:t>
                </a:r>
              </a:p>
            </p:txBody>
          </p:sp>
          <p:sp>
            <p:nvSpPr>
              <p:cNvPr id="63518" name="Text Box 17"/>
              <p:cNvSpPr txBox="1">
                <a:spLocks noChangeArrowheads="1"/>
              </p:cNvSpPr>
              <p:nvPr/>
            </p:nvSpPr>
            <p:spPr bwMode="auto">
              <a:xfrm>
                <a:off x="794" y="2772"/>
                <a:ext cx="249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F</a:t>
                </a:r>
              </a:p>
            </p:txBody>
          </p:sp>
          <p:sp>
            <p:nvSpPr>
              <p:cNvPr id="63519" name="Text Box 18"/>
              <p:cNvSpPr txBox="1">
                <a:spLocks noChangeArrowheads="1"/>
              </p:cNvSpPr>
              <p:nvPr/>
            </p:nvSpPr>
            <p:spPr bwMode="auto">
              <a:xfrm>
                <a:off x="635" y="2609"/>
                <a:ext cx="249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G</a:t>
                </a:r>
              </a:p>
            </p:txBody>
          </p:sp>
          <p:sp>
            <p:nvSpPr>
              <p:cNvPr id="63520" name="Text Box 19"/>
              <p:cNvSpPr txBox="1">
                <a:spLocks noChangeArrowheads="1"/>
              </p:cNvSpPr>
              <p:nvPr/>
            </p:nvSpPr>
            <p:spPr bwMode="auto">
              <a:xfrm>
                <a:off x="408" y="2614"/>
                <a:ext cx="248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dirty="0"/>
                  <a:t>H</a:t>
                </a:r>
              </a:p>
            </p:txBody>
          </p:sp>
          <p:sp>
            <p:nvSpPr>
              <p:cNvPr id="63521" name="Text Box 20"/>
              <p:cNvSpPr txBox="1">
                <a:spLocks noChangeArrowheads="1"/>
              </p:cNvSpPr>
              <p:nvPr/>
            </p:nvSpPr>
            <p:spPr bwMode="auto">
              <a:xfrm>
                <a:off x="1157" y="3521"/>
                <a:ext cx="249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I</a:t>
                </a:r>
              </a:p>
            </p:txBody>
          </p:sp>
          <p:sp>
            <p:nvSpPr>
              <p:cNvPr id="63522" name="Text Box 21"/>
              <p:cNvSpPr txBox="1">
                <a:spLocks noChangeArrowheads="1"/>
              </p:cNvSpPr>
              <p:nvPr/>
            </p:nvSpPr>
            <p:spPr bwMode="auto">
              <a:xfrm>
                <a:off x="1406" y="3517"/>
                <a:ext cx="249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J</a:t>
                </a:r>
              </a:p>
            </p:txBody>
          </p:sp>
          <p:sp>
            <p:nvSpPr>
              <p:cNvPr id="63523" name="Text Box 22"/>
              <p:cNvSpPr txBox="1">
                <a:spLocks noChangeArrowheads="1"/>
              </p:cNvSpPr>
              <p:nvPr/>
            </p:nvSpPr>
            <p:spPr bwMode="auto">
              <a:xfrm>
                <a:off x="1248" y="3336"/>
                <a:ext cx="249" cy="2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K</a:t>
                </a:r>
              </a:p>
            </p:txBody>
          </p:sp>
          <p:sp>
            <p:nvSpPr>
              <p:cNvPr id="63524" name="Text Box 23"/>
              <p:cNvSpPr txBox="1">
                <a:spLocks noChangeArrowheads="1"/>
              </p:cNvSpPr>
              <p:nvPr/>
            </p:nvSpPr>
            <p:spPr bwMode="auto">
              <a:xfrm>
                <a:off x="1021" y="3339"/>
                <a:ext cx="249" cy="26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/>
                  <a:t>L</a:t>
                </a:r>
              </a:p>
            </p:txBody>
          </p:sp>
        </p:grpSp>
        <p:grpSp>
          <p:nvGrpSpPr>
            <p:cNvPr id="63508" name="Group 36"/>
            <p:cNvGrpSpPr>
              <a:grpSpLocks/>
            </p:cNvGrpSpPr>
            <p:nvPr/>
          </p:nvGrpSpPr>
          <p:grpSpPr bwMode="auto">
            <a:xfrm>
              <a:off x="1179" y="2727"/>
              <a:ext cx="159" cy="136"/>
              <a:chOff x="1179" y="2727"/>
              <a:chExt cx="159" cy="136"/>
            </a:xfrm>
          </p:grpSpPr>
          <p:sp>
            <p:nvSpPr>
              <p:cNvPr id="63512" name="Line 34"/>
              <p:cNvSpPr>
                <a:spLocks noChangeShapeType="1"/>
              </p:cNvSpPr>
              <p:nvPr/>
            </p:nvSpPr>
            <p:spPr bwMode="auto">
              <a:xfrm flipH="1">
                <a:off x="1179" y="2727"/>
                <a:ext cx="68" cy="11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3" name="Line 35"/>
              <p:cNvSpPr>
                <a:spLocks noChangeShapeType="1"/>
              </p:cNvSpPr>
              <p:nvPr/>
            </p:nvSpPr>
            <p:spPr bwMode="auto">
              <a:xfrm flipH="1">
                <a:off x="1247" y="2727"/>
                <a:ext cx="91" cy="13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3509" name="Group 37"/>
            <p:cNvGrpSpPr>
              <a:grpSpLocks/>
            </p:cNvGrpSpPr>
            <p:nvPr/>
          </p:nvGrpSpPr>
          <p:grpSpPr bwMode="auto">
            <a:xfrm>
              <a:off x="476" y="3362"/>
              <a:ext cx="159" cy="136"/>
              <a:chOff x="1179" y="2727"/>
              <a:chExt cx="159" cy="136"/>
            </a:xfrm>
          </p:grpSpPr>
          <p:sp>
            <p:nvSpPr>
              <p:cNvPr id="63510" name="Line 38"/>
              <p:cNvSpPr>
                <a:spLocks noChangeShapeType="1"/>
              </p:cNvSpPr>
              <p:nvPr/>
            </p:nvSpPr>
            <p:spPr bwMode="auto">
              <a:xfrm flipH="1">
                <a:off x="1179" y="2727"/>
                <a:ext cx="68" cy="113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11" name="Line 39"/>
              <p:cNvSpPr>
                <a:spLocks noChangeShapeType="1"/>
              </p:cNvSpPr>
              <p:nvPr/>
            </p:nvSpPr>
            <p:spPr bwMode="auto">
              <a:xfrm flipH="1">
                <a:off x="1247" y="2727"/>
                <a:ext cx="91" cy="136"/>
              </a:xfrm>
              <a:prstGeom prst="line">
                <a:avLst/>
              </a:prstGeom>
              <a:noFill/>
              <a:ln w="19050">
                <a:solidFill>
                  <a:schemeClr val="bg2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</p:grpSp>
      <p:sp>
        <p:nvSpPr>
          <p:cNvPr id="63497" name="Text Box 41"/>
          <p:cNvSpPr txBox="1">
            <a:spLocks noChangeArrowheads="1"/>
          </p:cNvSpPr>
          <p:nvPr/>
        </p:nvSpPr>
        <p:spPr bwMode="auto">
          <a:xfrm>
            <a:off x="1703388" y="5661026"/>
            <a:ext cx="468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(c)</a:t>
            </a:r>
          </a:p>
        </p:txBody>
      </p:sp>
      <p:grpSp>
        <p:nvGrpSpPr>
          <p:cNvPr id="63498" name="Group 46"/>
          <p:cNvGrpSpPr>
            <a:grpSpLocks/>
          </p:cNvGrpSpPr>
          <p:nvPr/>
        </p:nvGrpSpPr>
        <p:grpSpPr bwMode="auto">
          <a:xfrm>
            <a:off x="2554288" y="4962525"/>
            <a:ext cx="2266950" cy="1403350"/>
            <a:chOff x="385" y="3317"/>
            <a:chExt cx="1428" cy="884"/>
          </a:xfrm>
        </p:grpSpPr>
        <p:grpSp>
          <p:nvGrpSpPr>
            <p:cNvPr id="63499" name="Group 29"/>
            <p:cNvGrpSpPr>
              <a:grpSpLocks/>
            </p:cNvGrpSpPr>
            <p:nvPr/>
          </p:nvGrpSpPr>
          <p:grpSpPr bwMode="auto">
            <a:xfrm>
              <a:off x="385" y="3317"/>
              <a:ext cx="1428" cy="884"/>
              <a:chOff x="363" y="3317"/>
              <a:chExt cx="1156" cy="726"/>
            </a:xfrm>
          </p:grpSpPr>
          <p:sp>
            <p:nvSpPr>
              <p:cNvPr id="63504" name="Line 26"/>
              <p:cNvSpPr>
                <a:spLocks noChangeShapeType="1"/>
              </p:cNvSpPr>
              <p:nvPr/>
            </p:nvSpPr>
            <p:spPr bwMode="auto">
              <a:xfrm flipH="1">
                <a:off x="363" y="3317"/>
                <a:ext cx="476" cy="72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05" name="Line 27"/>
              <p:cNvSpPr>
                <a:spLocks noChangeShapeType="1"/>
              </p:cNvSpPr>
              <p:nvPr/>
            </p:nvSpPr>
            <p:spPr bwMode="auto">
              <a:xfrm>
                <a:off x="839" y="3317"/>
                <a:ext cx="317" cy="49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  <p:sp>
            <p:nvSpPr>
              <p:cNvPr id="63506" name="Line 28"/>
              <p:cNvSpPr>
                <a:spLocks noChangeShapeType="1"/>
              </p:cNvSpPr>
              <p:nvPr/>
            </p:nvSpPr>
            <p:spPr bwMode="auto">
              <a:xfrm flipV="1">
                <a:off x="363" y="3725"/>
                <a:ext cx="1156" cy="31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3500" name="Text Box 42"/>
            <p:cNvSpPr txBox="1">
              <a:spLocks noChangeArrowheads="1"/>
            </p:cNvSpPr>
            <p:nvPr/>
          </p:nvSpPr>
          <p:spPr bwMode="auto">
            <a:xfrm>
              <a:off x="499" y="3925"/>
              <a:ext cx="2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M</a:t>
              </a:r>
            </a:p>
          </p:txBody>
        </p:sp>
        <p:sp>
          <p:nvSpPr>
            <p:cNvPr id="63501" name="Text Box 43"/>
            <p:cNvSpPr txBox="1">
              <a:spLocks noChangeArrowheads="1"/>
            </p:cNvSpPr>
            <p:nvPr/>
          </p:nvSpPr>
          <p:spPr bwMode="auto">
            <a:xfrm>
              <a:off x="1044" y="3789"/>
              <a:ext cx="2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N</a:t>
              </a:r>
            </a:p>
          </p:txBody>
        </p:sp>
        <p:sp>
          <p:nvSpPr>
            <p:cNvPr id="63502" name="Text Box 44"/>
            <p:cNvSpPr txBox="1">
              <a:spLocks noChangeArrowheads="1"/>
            </p:cNvSpPr>
            <p:nvPr/>
          </p:nvSpPr>
          <p:spPr bwMode="auto">
            <a:xfrm>
              <a:off x="1316" y="3725"/>
              <a:ext cx="2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P</a:t>
              </a:r>
            </a:p>
          </p:txBody>
        </p:sp>
        <p:sp>
          <p:nvSpPr>
            <p:cNvPr id="63503" name="Text Box 45"/>
            <p:cNvSpPr txBox="1">
              <a:spLocks noChangeArrowheads="1"/>
            </p:cNvSpPr>
            <p:nvPr/>
          </p:nvSpPr>
          <p:spPr bwMode="auto">
            <a:xfrm>
              <a:off x="861" y="3339"/>
              <a:ext cx="29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Q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6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982979" y="66456"/>
            <a:ext cx="45724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C00000"/>
                </a:solidFill>
              </a:rPr>
              <a:t>Brief Review of Geometry</a:t>
            </a:r>
          </a:p>
        </p:txBody>
      </p:sp>
    </p:spTree>
    <p:extLst>
      <p:ext uri="{BB962C8B-B14F-4D97-AF65-F5344CB8AC3E}">
        <p14:creationId xmlns:p14="http://schemas.microsoft.com/office/powerpoint/2010/main" val="1334146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4" grpId="0"/>
      <p:bldP spid="63495" grpId="0"/>
      <p:bldP spid="6349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7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41668" y="746975"/>
            <a:ext cx="11951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Two coplanar forces with magnitude 96 N and 80 N act at a point O. Determine the magnitude and direction of the resultant if the angle between the forces is 120</a:t>
            </a:r>
            <a:r>
              <a:rPr lang="en-US" sz="2400" baseline="30000" dirty="0"/>
              <a:t>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39426" y="115910"/>
            <a:ext cx="22666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B0F0"/>
                </a:solidFill>
              </a:rPr>
              <a:t>Example 2.1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0638" y="1600935"/>
            <a:ext cx="25242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empus Sans ITC" panose="04020404030D07020202" pitchFamily="82" charset="0"/>
              </a:rPr>
              <a:t>SOLUTION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668" y="2314022"/>
            <a:ext cx="5237773" cy="42190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15189" y="2614411"/>
            <a:ext cx="6478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From the parallelogram of forces shown, it is obvious that OC represents the magnitude of the resultant force F.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Applying the cosine rule</a:t>
            </a:r>
          </a:p>
        </p:txBody>
      </p:sp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014434" y="454721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3899555"/>
              </p:ext>
            </p:extLst>
          </p:nvPr>
        </p:nvGraphicFramePr>
        <p:xfrm>
          <a:off x="6014433" y="4423544"/>
          <a:ext cx="5035640" cy="7969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500" imgH="558800" progId="Equation.DSMT4">
                  <p:embed/>
                </p:oleObj>
              </mc:Choice>
              <mc:Fallback>
                <p:oleObj name="Equation" r:id="rId3" imgW="2857500" imgH="558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4433" y="4423544"/>
                        <a:ext cx="5035640" cy="7969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6014433" y="5195495"/>
            <a:ext cx="5857694" cy="8372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 angle θ which the resultant F makes with the 80 N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force is also found by the sine rule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6671256" y="616108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6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0281928"/>
              </p:ext>
            </p:extLst>
          </p:nvPr>
        </p:nvGraphicFramePr>
        <p:xfrm>
          <a:off x="6233374" y="6096931"/>
          <a:ext cx="3966693" cy="584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70100" imgH="393700" progId="Equation.DSMT4">
                  <p:embed/>
                </p:oleObj>
              </mc:Choice>
              <mc:Fallback>
                <p:oleObj name="Equation" r:id="rId5" imgW="2070100" imgH="3937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3374" y="6096931"/>
                        <a:ext cx="3966693" cy="584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41668" y="6457890"/>
            <a:ext cx="139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2.4</a:t>
            </a:r>
          </a:p>
        </p:txBody>
      </p:sp>
    </p:spTree>
    <p:extLst>
      <p:ext uri="{BB962C8B-B14F-4D97-AF65-F5344CB8AC3E}">
        <p14:creationId xmlns:p14="http://schemas.microsoft.com/office/powerpoint/2010/main" val="2505961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7"/>
          <p:cNvSpPr>
            <a:spLocks noGrp="1" noRot="1" noChangeArrowheads="1"/>
          </p:cNvSpPr>
          <p:nvPr>
            <p:ph sz="half" idx="1"/>
          </p:nvPr>
        </p:nvSpPr>
        <p:spPr>
          <a:xfrm>
            <a:off x="5780241" y="315547"/>
            <a:ext cx="4194175" cy="528638"/>
          </a:xfrm>
        </p:spPr>
        <p:txBody>
          <a:bodyPr>
            <a:norm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dirty="0"/>
              <a:t>Graphical Solution</a:t>
            </a:r>
          </a:p>
        </p:txBody>
      </p:sp>
      <p:pic>
        <p:nvPicPr>
          <p:cNvPr id="64517" name="Picture 4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60" y="1189093"/>
            <a:ext cx="4008439" cy="22843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8" name="Text Box 5"/>
          <p:cNvSpPr txBox="1">
            <a:spLocks noChangeArrowheads="1"/>
          </p:cNvSpPr>
          <p:nvPr/>
        </p:nvSpPr>
        <p:spPr bwMode="auto">
          <a:xfrm>
            <a:off x="309093" y="4152901"/>
            <a:ext cx="449468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sz="2000" dirty="0">
                <a:latin typeface="Times New Roman" panose="02020603050405020304" pitchFamily="18" charset="0"/>
              </a:rPr>
              <a:t>The two forces act on a bolt at </a:t>
            </a:r>
            <a:r>
              <a:rPr lang="en-US" sz="2000" i="1" dirty="0">
                <a:latin typeface="Times New Roman" panose="02020603050405020304" pitchFamily="18" charset="0"/>
              </a:rPr>
              <a:t>A</a:t>
            </a:r>
            <a:r>
              <a:rPr lang="en-US" sz="2000" dirty="0">
                <a:latin typeface="Times New Roman" panose="02020603050405020304" pitchFamily="18" charset="0"/>
              </a:rPr>
              <a:t> Determine resultant of forces Q and P acting on the bolt shown and the angle the resultant makes with the horizontal axis.</a:t>
            </a:r>
          </a:p>
        </p:txBody>
      </p:sp>
      <p:sp>
        <p:nvSpPr>
          <p:cNvPr id="64519" name="Rectangle 10"/>
          <p:cNvSpPr>
            <a:spLocks noChangeArrowheads="1"/>
          </p:cNvSpPr>
          <p:nvPr/>
        </p:nvSpPr>
        <p:spPr bwMode="auto">
          <a:xfrm>
            <a:off x="5130007" y="1629569"/>
            <a:ext cx="52736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Times New Roman" panose="02020603050405020304" pitchFamily="18" charset="0"/>
              </a:rPr>
              <a:t>   Graphical solution - A half or full parallelogram with sides equal to </a:t>
            </a:r>
            <a:r>
              <a:rPr lang="en-US" sz="2000" b="1" dirty="0">
                <a:latin typeface="Times New Roman" panose="02020603050405020304" pitchFamily="18" charset="0"/>
              </a:rPr>
              <a:t>P</a:t>
            </a:r>
            <a:r>
              <a:rPr lang="en-US" sz="2000" dirty="0">
                <a:latin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</a:rPr>
              <a:t> is drawn to scale.  </a:t>
            </a:r>
          </a:p>
        </p:txBody>
      </p:sp>
      <p:grpSp>
        <p:nvGrpSpPr>
          <p:cNvPr id="64520" name="Group 34"/>
          <p:cNvGrpSpPr>
            <a:grpSpLocks/>
          </p:cNvGrpSpPr>
          <p:nvPr/>
        </p:nvGrpSpPr>
        <p:grpSpPr bwMode="auto">
          <a:xfrm>
            <a:off x="5546725" y="2389984"/>
            <a:ext cx="4357129" cy="2463006"/>
            <a:chOff x="2812" y="1911"/>
            <a:chExt cx="2178" cy="1383"/>
          </a:xfrm>
        </p:grpSpPr>
        <p:sp>
          <p:nvSpPr>
            <p:cNvPr id="64523" name="Line 19"/>
            <p:cNvSpPr>
              <a:spLocks noChangeShapeType="1"/>
            </p:cNvSpPr>
            <p:nvPr/>
          </p:nvSpPr>
          <p:spPr bwMode="auto">
            <a:xfrm flipV="1">
              <a:off x="2812" y="1911"/>
              <a:ext cx="2086" cy="138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4" name="Line 15"/>
            <p:cNvSpPr>
              <a:spLocks noChangeShapeType="1"/>
            </p:cNvSpPr>
            <p:nvPr/>
          </p:nvSpPr>
          <p:spPr bwMode="auto">
            <a:xfrm flipV="1">
              <a:off x="2812" y="2352"/>
              <a:ext cx="919" cy="94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5" name="Line 16"/>
            <p:cNvSpPr>
              <a:spLocks noChangeShapeType="1"/>
            </p:cNvSpPr>
            <p:nvPr/>
          </p:nvSpPr>
          <p:spPr bwMode="auto">
            <a:xfrm flipV="1">
              <a:off x="2812" y="2853"/>
              <a:ext cx="1165" cy="44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6" name="Line 17"/>
            <p:cNvSpPr>
              <a:spLocks noChangeShapeType="1"/>
            </p:cNvSpPr>
            <p:nvPr/>
          </p:nvSpPr>
          <p:spPr bwMode="auto">
            <a:xfrm flipV="1">
              <a:off x="3733" y="1911"/>
              <a:ext cx="1165" cy="44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7" name="Line 18"/>
            <p:cNvSpPr>
              <a:spLocks noChangeShapeType="1"/>
            </p:cNvSpPr>
            <p:nvPr/>
          </p:nvSpPr>
          <p:spPr bwMode="auto">
            <a:xfrm flipV="1">
              <a:off x="3977" y="1911"/>
              <a:ext cx="920" cy="9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8" name="Line 20"/>
            <p:cNvSpPr>
              <a:spLocks noChangeShapeType="1"/>
            </p:cNvSpPr>
            <p:nvPr/>
          </p:nvSpPr>
          <p:spPr bwMode="auto">
            <a:xfrm>
              <a:off x="2812" y="3294"/>
              <a:ext cx="202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64529" name="Arc 22"/>
            <p:cNvSpPr>
              <a:spLocks/>
            </p:cNvSpPr>
            <p:nvPr/>
          </p:nvSpPr>
          <p:spPr bwMode="auto">
            <a:xfrm rot="718648">
              <a:off x="4100" y="2440"/>
              <a:ext cx="644" cy="7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miter lim="800000"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4530" name="Text Box 23"/>
            <p:cNvSpPr txBox="1">
              <a:spLocks noChangeArrowheads="1"/>
            </p:cNvSpPr>
            <p:nvPr/>
          </p:nvSpPr>
          <p:spPr bwMode="auto">
            <a:xfrm>
              <a:off x="3272" y="2382"/>
              <a:ext cx="3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Q</a:t>
              </a:r>
            </a:p>
          </p:txBody>
        </p:sp>
        <p:sp>
          <p:nvSpPr>
            <p:cNvPr id="64531" name="Text Box 24"/>
            <p:cNvSpPr txBox="1">
              <a:spLocks noChangeArrowheads="1"/>
            </p:cNvSpPr>
            <p:nvPr/>
          </p:nvSpPr>
          <p:spPr bwMode="auto">
            <a:xfrm>
              <a:off x="3455" y="3018"/>
              <a:ext cx="3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P</a:t>
              </a:r>
            </a:p>
          </p:txBody>
        </p:sp>
        <p:sp>
          <p:nvSpPr>
            <p:cNvPr id="64532" name="Text Box 25"/>
            <p:cNvSpPr txBox="1">
              <a:spLocks noChangeArrowheads="1"/>
            </p:cNvSpPr>
            <p:nvPr/>
          </p:nvSpPr>
          <p:spPr bwMode="auto">
            <a:xfrm>
              <a:off x="4529" y="2234"/>
              <a:ext cx="4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Q’</a:t>
              </a:r>
            </a:p>
          </p:txBody>
        </p:sp>
        <p:sp>
          <p:nvSpPr>
            <p:cNvPr id="64533" name="Text Box 26"/>
            <p:cNvSpPr txBox="1">
              <a:spLocks noChangeArrowheads="1"/>
            </p:cNvSpPr>
            <p:nvPr/>
          </p:nvSpPr>
          <p:spPr bwMode="auto">
            <a:xfrm>
              <a:off x="3946" y="1941"/>
              <a:ext cx="4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P’</a:t>
              </a:r>
            </a:p>
          </p:txBody>
        </p:sp>
        <p:sp>
          <p:nvSpPr>
            <p:cNvPr id="64534" name="Text Box 27"/>
            <p:cNvSpPr txBox="1">
              <a:spLocks noChangeArrowheads="1"/>
            </p:cNvSpPr>
            <p:nvPr/>
          </p:nvSpPr>
          <p:spPr bwMode="auto">
            <a:xfrm>
              <a:off x="3702" y="2322"/>
              <a:ext cx="46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/>
                <a:t>R</a:t>
              </a:r>
            </a:p>
          </p:txBody>
        </p:sp>
        <p:sp>
          <p:nvSpPr>
            <p:cNvPr id="64535" name="Text Box 29"/>
            <p:cNvSpPr txBox="1">
              <a:spLocks noChangeArrowheads="1"/>
            </p:cNvSpPr>
            <p:nvPr/>
          </p:nvSpPr>
          <p:spPr bwMode="auto">
            <a:xfrm>
              <a:off x="4614" y="2676"/>
              <a:ext cx="30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/>
                <a:t>β</a:t>
              </a:r>
            </a:p>
          </p:txBody>
        </p:sp>
      </p:grpSp>
      <p:sp>
        <p:nvSpPr>
          <p:cNvPr id="64521" name="Text Box 32"/>
          <p:cNvSpPr txBox="1">
            <a:spLocks noChangeArrowheads="1"/>
          </p:cNvSpPr>
          <p:nvPr/>
        </p:nvSpPr>
        <p:spPr bwMode="auto">
          <a:xfrm>
            <a:off x="5983288" y="6071536"/>
            <a:ext cx="2627312" cy="376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R = 98 N  </a:t>
            </a:r>
            <a:r>
              <a:rPr lang="el-GR" dirty="0"/>
              <a:t>β</a:t>
            </a:r>
            <a:r>
              <a:rPr lang="en-US" dirty="0"/>
              <a:t> = 35</a:t>
            </a:r>
            <a:r>
              <a:rPr lang="en-US" baseline="30000" dirty="0"/>
              <a:t>o</a:t>
            </a:r>
            <a:endParaRPr lang="el-GR" dirty="0"/>
          </a:p>
        </p:txBody>
      </p:sp>
      <p:sp>
        <p:nvSpPr>
          <p:cNvPr id="64522" name="Rectangle 33"/>
          <p:cNvSpPr>
            <a:spLocks noChangeArrowheads="1"/>
          </p:cNvSpPr>
          <p:nvPr/>
        </p:nvSpPr>
        <p:spPr bwMode="auto">
          <a:xfrm>
            <a:off x="5112571" y="5350043"/>
            <a:ext cx="54737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The magnitude and direction of the resultant or of the diagonal to the parallelogram are measured,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8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1464996" y="217799"/>
            <a:ext cx="195431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Example 2.2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9549" y="3761262"/>
            <a:ext cx="139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2.5(a)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90812" y="4361457"/>
            <a:ext cx="139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2.5(b)</a:t>
            </a:r>
          </a:p>
        </p:txBody>
      </p:sp>
    </p:spTree>
    <p:extLst>
      <p:ext uri="{BB962C8B-B14F-4D97-AF65-F5344CB8AC3E}">
        <p14:creationId xmlns:p14="http://schemas.microsoft.com/office/powerpoint/2010/main" val="3058493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6" grpId="0" build="p"/>
      <p:bldP spid="64518" grpId="0"/>
      <p:bldP spid="64519" grpId="0"/>
      <p:bldP spid="64521" grpId="0"/>
      <p:bldP spid="64522" grpId="0"/>
      <p:bldP spid="25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4" name="Object 36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671508807"/>
              </p:ext>
            </p:extLst>
          </p:nvPr>
        </p:nvGraphicFramePr>
        <p:xfrm>
          <a:off x="6237016" y="1956304"/>
          <a:ext cx="421005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19160" imgH="482400" progId="Equation.3">
                  <p:embed/>
                </p:oleObj>
              </mc:Choice>
              <mc:Fallback>
                <p:oleObj name="Equation" r:id="rId3" imgW="281916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7016" y="1956304"/>
                        <a:ext cx="421005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5"/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1562025697"/>
              </p:ext>
            </p:extLst>
          </p:nvPr>
        </p:nvGraphicFramePr>
        <p:xfrm>
          <a:off x="6400800" y="4035425"/>
          <a:ext cx="2486025" cy="222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42920" imgH="1739880" progId="Equation.DSMT4">
                  <p:embed/>
                </p:oleObj>
              </mc:Choice>
              <mc:Fallback>
                <p:oleObj name="Equation" r:id="rId5" imgW="1942920" imgH="1739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4035425"/>
                        <a:ext cx="2486025" cy="222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9" name="Line 6"/>
          <p:cNvSpPr>
            <a:spLocks noChangeShapeType="1"/>
          </p:cNvSpPr>
          <p:nvPr/>
        </p:nvSpPr>
        <p:spPr bwMode="auto">
          <a:xfrm flipV="1">
            <a:off x="1811339" y="2708276"/>
            <a:ext cx="3311525" cy="2195513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80" name="Line 8"/>
          <p:cNvSpPr>
            <a:spLocks noChangeShapeType="1"/>
          </p:cNvSpPr>
          <p:nvPr/>
        </p:nvSpPr>
        <p:spPr bwMode="auto">
          <a:xfrm flipV="1">
            <a:off x="3629026" y="2708276"/>
            <a:ext cx="1458913" cy="1495425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81" name="Line 9"/>
          <p:cNvSpPr>
            <a:spLocks noChangeShapeType="1"/>
          </p:cNvSpPr>
          <p:nvPr/>
        </p:nvSpPr>
        <p:spPr bwMode="auto">
          <a:xfrm flipV="1">
            <a:off x="1811339" y="4203700"/>
            <a:ext cx="1849437" cy="700088"/>
          </a:xfrm>
          <a:prstGeom prst="line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82" name="Line 12"/>
          <p:cNvSpPr>
            <a:spLocks noChangeShapeType="1"/>
          </p:cNvSpPr>
          <p:nvPr/>
        </p:nvSpPr>
        <p:spPr bwMode="auto">
          <a:xfrm>
            <a:off x="1811338" y="4903788"/>
            <a:ext cx="3213100" cy="0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83" name="Arc 13"/>
          <p:cNvSpPr>
            <a:spLocks/>
          </p:cNvSpPr>
          <p:nvPr/>
        </p:nvSpPr>
        <p:spPr bwMode="auto">
          <a:xfrm rot="718648">
            <a:off x="3856038" y="3548063"/>
            <a:ext cx="1022350" cy="1263650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miter lim="800000"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4" name="Text Box 14"/>
          <p:cNvSpPr txBox="1">
            <a:spLocks noChangeArrowheads="1"/>
          </p:cNvSpPr>
          <p:nvPr/>
        </p:nvSpPr>
        <p:spPr bwMode="auto">
          <a:xfrm>
            <a:off x="5051426" y="2997201"/>
            <a:ext cx="10445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Q=60 N</a:t>
            </a:r>
          </a:p>
        </p:txBody>
      </p:sp>
      <p:sp>
        <p:nvSpPr>
          <p:cNvPr id="3085" name="Text Box 15"/>
          <p:cNvSpPr txBox="1">
            <a:spLocks noChangeArrowheads="1"/>
          </p:cNvSpPr>
          <p:nvPr/>
        </p:nvSpPr>
        <p:spPr bwMode="auto">
          <a:xfrm>
            <a:off x="3575050" y="4437063"/>
            <a:ext cx="10429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P =40 N</a:t>
            </a:r>
          </a:p>
        </p:txBody>
      </p:sp>
      <p:sp>
        <p:nvSpPr>
          <p:cNvPr id="3086" name="Text Box 18"/>
          <p:cNvSpPr txBox="1">
            <a:spLocks noChangeArrowheads="1"/>
          </p:cNvSpPr>
          <p:nvPr/>
        </p:nvSpPr>
        <p:spPr bwMode="auto">
          <a:xfrm>
            <a:off x="2279650" y="4076701"/>
            <a:ext cx="7318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R</a:t>
            </a:r>
          </a:p>
        </p:txBody>
      </p:sp>
      <p:sp>
        <p:nvSpPr>
          <p:cNvPr id="3087" name="Text Box 19"/>
          <p:cNvSpPr txBox="1">
            <a:spLocks noChangeArrowheads="1"/>
          </p:cNvSpPr>
          <p:nvPr/>
        </p:nvSpPr>
        <p:spPr bwMode="auto">
          <a:xfrm>
            <a:off x="4619626" y="3860801"/>
            <a:ext cx="4873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dirty="0"/>
              <a:t>β</a:t>
            </a:r>
          </a:p>
        </p:txBody>
      </p:sp>
      <p:sp>
        <p:nvSpPr>
          <p:cNvPr id="3088" name="Arc 20"/>
          <p:cNvSpPr>
            <a:spLocks/>
          </p:cNvSpPr>
          <p:nvPr/>
        </p:nvSpPr>
        <p:spPr bwMode="auto">
          <a:xfrm rot="1928587">
            <a:off x="2674939" y="4567239"/>
            <a:ext cx="238125" cy="30162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miter lim="800000"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89" name="Line 21"/>
          <p:cNvSpPr>
            <a:spLocks noChangeShapeType="1"/>
          </p:cNvSpPr>
          <p:nvPr/>
        </p:nvSpPr>
        <p:spPr bwMode="auto">
          <a:xfrm flipV="1">
            <a:off x="3678077" y="3536950"/>
            <a:ext cx="1582738" cy="647700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90" name="Line 22"/>
          <p:cNvSpPr>
            <a:spLocks noChangeShapeType="1"/>
          </p:cNvSpPr>
          <p:nvPr/>
        </p:nvSpPr>
        <p:spPr bwMode="auto">
          <a:xfrm flipH="1" flipV="1">
            <a:off x="3216275" y="4400550"/>
            <a:ext cx="431800" cy="2159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91" name="Text Box 23"/>
          <p:cNvSpPr txBox="1">
            <a:spLocks noChangeArrowheads="1"/>
          </p:cNvSpPr>
          <p:nvPr/>
        </p:nvSpPr>
        <p:spPr bwMode="auto">
          <a:xfrm>
            <a:off x="2865053" y="4516688"/>
            <a:ext cx="611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20</a:t>
            </a:r>
            <a:r>
              <a:rPr lang="en-US" baseline="30000" dirty="0"/>
              <a:t>o</a:t>
            </a:r>
            <a:endParaRPr lang="en-US" dirty="0"/>
          </a:p>
        </p:txBody>
      </p:sp>
      <p:sp>
        <p:nvSpPr>
          <p:cNvPr id="3092" name="Text Box 24"/>
          <p:cNvSpPr txBox="1">
            <a:spLocks noChangeArrowheads="1"/>
          </p:cNvSpPr>
          <p:nvPr/>
        </p:nvSpPr>
        <p:spPr bwMode="auto">
          <a:xfrm rot="-1557438">
            <a:off x="4619625" y="3213101"/>
            <a:ext cx="6111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25</a:t>
            </a:r>
            <a:r>
              <a:rPr lang="en-US" baseline="30000" dirty="0"/>
              <a:t>o</a:t>
            </a:r>
            <a:endParaRPr lang="en-US" dirty="0"/>
          </a:p>
        </p:txBody>
      </p:sp>
      <p:sp>
        <p:nvSpPr>
          <p:cNvPr id="3093" name="Arc 25"/>
          <p:cNvSpPr>
            <a:spLocks/>
          </p:cNvSpPr>
          <p:nvPr/>
        </p:nvSpPr>
        <p:spPr bwMode="auto">
          <a:xfrm rot="1016442">
            <a:off x="4403725" y="3392489"/>
            <a:ext cx="361950" cy="301625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miter lim="800000"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4" name="Line 26"/>
          <p:cNvSpPr>
            <a:spLocks noChangeShapeType="1"/>
          </p:cNvSpPr>
          <p:nvPr/>
        </p:nvSpPr>
        <p:spPr bwMode="auto">
          <a:xfrm flipH="1" flipV="1">
            <a:off x="4764088" y="3068638"/>
            <a:ext cx="323850" cy="1079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95" name="Arc 27"/>
          <p:cNvSpPr>
            <a:spLocks/>
          </p:cNvSpPr>
          <p:nvPr/>
        </p:nvSpPr>
        <p:spPr bwMode="auto">
          <a:xfrm rot="-4383558">
            <a:off x="3411539" y="3879851"/>
            <a:ext cx="509587" cy="39846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miter lim="800000"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96" name="Line 28"/>
          <p:cNvSpPr>
            <a:spLocks noChangeShapeType="1"/>
          </p:cNvSpPr>
          <p:nvPr/>
        </p:nvSpPr>
        <p:spPr bwMode="auto">
          <a:xfrm flipH="1" flipV="1">
            <a:off x="3575050" y="3321051"/>
            <a:ext cx="0" cy="684213"/>
          </a:xfrm>
          <a:prstGeom prst="line">
            <a:avLst/>
          </a:prstGeom>
          <a:noFill/>
          <a:ln w="9525">
            <a:solidFill>
              <a:srgbClr val="000000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097" name="Text Box 29"/>
          <p:cNvSpPr txBox="1">
            <a:spLocks noChangeArrowheads="1"/>
          </p:cNvSpPr>
          <p:nvPr/>
        </p:nvSpPr>
        <p:spPr bwMode="auto">
          <a:xfrm>
            <a:off x="2603501" y="3321051"/>
            <a:ext cx="766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l-GR" dirty="0"/>
              <a:t>β</a:t>
            </a:r>
            <a:r>
              <a:rPr lang="en-US" dirty="0"/>
              <a:t>-20</a:t>
            </a:r>
            <a:r>
              <a:rPr lang="en-US" baseline="30000" dirty="0"/>
              <a:t>o</a:t>
            </a:r>
            <a:endParaRPr lang="en-US" dirty="0"/>
          </a:p>
        </p:txBody>
      </p:sp>
      <p:sp>
        <p:nvSpPr>
          <p:cNvPr id="3098" name="Text Box 30"/>
          <p:cNvSpPr txBox="1">
            <a:spLocks noChangeArrowheads="1"/>
          </p:cNvSpPr>
          <p:nvPr/>
        </p:nvSpPr>
        <p:spPr bwMode="auto">
          <a:xfrm>
            <a:off x="1500325" y="4689477"/>
            <a:ext cx="49040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A</a:t>
            </a:r>
          </a:p>
        </p:txBody>
      </p:sp>
      <p:sp>
        <p:nvSpPr>
          <p:cNvPr id="3099" name="Text Box 31"/>
          <p:cNvSpPr txBox="1">
            <a:spLocks noChangeArrowheads="1"/>
          </p:cNvSpPr>
          <p:nvPr/>
        </p:nvSpPr>
        <p:spPr bwMode="auto">
          <a:xfrm>
            <a:off x="3540126" y="4159251"/>
            <a:ext cx="4667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B</a:t>
            </a:r>
          </a:p>
        </p:txBody>
      </p:sp>
      <p:sp>
        <p:nvSpPr>
          <p:cNvPr id="3100" name="Text Box 32"/>
          <p:cNvSpPr txBox="1">
            <a:spLocks noChangeArrowheads="1"/>
          </p:cNvSpPr>
          <p:nvPr/>
        </p:nvSpPr>
        <p:spPr bwMode="auto">
          <a:xfrm>
            <a:off x="5016501" y="2528888"/>
            <a:ext cx="4667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C</a:t>
            </a:r>
          </a:p>
        </p:txBody>
      </p:sp>
      <p:sp>
        <p:nvSpPr>
          <p:cNvPr id="3101" name="Arc 33"/>
          <p:cNvSpPr>
            <a:spLocks/>
          </p:cNvSpPr>
          <p:nvPr/>
        </p:nvSpPr>
        <p:spPr bwMode="auto">
          <a:xfrm>
            <a:off x="3000375" y="4076701"/>
            <a:ext cx="287338" cy="277813"/>
          </a:xfrm>
          <a:custGeom>
            <a:avLst/>
            <a:gdLst>
              <a:gd name="T0" fmla="*/ 0 w 21600"/>
              <a:gd name="T1" fmla="*/ 0 h 21600"/>
              <a:gd name="T2" fmla="*/ 2147483647 w 21600"/>
              <a:gd name="T3" fmla="*/ 2147483647 h 21600"/>
              <a:gd name="T4" fmla="*/ 0 w 21600"/>
              <a:gd name="T5" fmla="*/ 2147483647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miter lim="800000"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02" name="Line 34"/>
          <p:cNvSpPr>
            <a:spLocks noChangeShapeType="1"/>
          </p:cNvSpPr>
          <p:nvPr/>
        </p:nvSpPr>
        <p:spPr bwMode="auto">
          <a:xfrm flipH="1" flipV="1">
            <a:off x="3000375" y="3644900"/>
            <a:ext cx="215900" cy="53975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3103" name="Text Box 35"/>
          <p:cNvSpPr txBox="1">
            <a:spLocks noChangeArrowheads="1"/>
          </p:cNvSpPr>
          <p:nvPr/>
        </p:nvSpPr>
        <p:spPr bwMode="auto">
          <a:xfrm>
            <a:off x="3251201" y="2997201"/>
            <a:ext cx="7667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155</a:t>
            </a:r>
            <a:r>
              <a:rPr lang="en-US" baseline="30000" dirty="0"/>
              <a:t>o</a:t>
            </a:r>
            <a:endParaRPr lang="en-US" dirty="0"/>
          </a:p>
        </p:txBody>
      </p:sp>
      <p:sp>
        <p:nvSpPr>
          <p:cNvPr id="3104" name="Text Box 40"/>
          <p:cNvSpPr txBox="1">
            <a:spLocks noChangeArrowheads="1"/>
          </p:cNvSpPr>
          <p:nvPr/>
        </p:nvSpPr>
        <p:spPr bwMode="auto">
          <a:xfrm>
            <a:off x="7105650" y="3032126"/>
            <a:ext cx="2700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/>
              <a:t>R = 97.73 N</a:t>
            </a:r>
          </a:p>
        </p:txBody>
      </p:sp>
      <p:sp>
        <p:nvSpPr>
          <p:cNvPr id="3105" name="Rectangle 42"/>
          <p:cNvSpPr>
            <a:spLocks noChangeArrowheads="1"/>
          </p:cNvSpPr>
          <p:nvPr/>
        </p:nvSpPr>
        <p:spPr bwMode="auto">
          <a:xfrm>
            <a:off x="6237016" y="1234596"/>
            <a:ext cx="3692036" cy="535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lang="en-US" sz="2400" dirty="0"/>
              <a:t>From the Law of Cosines,</a:t>
            </a:r>
          </a:p>
        </p:txBody>
      </p:sp>
      <p:sp>
        <p:nvSpPr>
          <p:cNvPr id="3106" name="Text Box 44"/>
          <p:cNvSpPr txBox="1">
            <a:spLocks noChangeArrowheads="1"/>
          </p:cNvSpPr>
          <p:nvPr/>
        </p:nvSpPr>
        <p:spPr bwMode="auto">
          <a:xfrm>
            <a:off x="6240463" y="3500439"/>
            <a:ext cx="3276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latin typeface="Times New Roman" panose="02020603050405020304" pitchFamily="18" charset="0"/>
              </a:rPr>
              <a:t>From the Law of Sines,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2-</a:t>
            </a:r>
            <a:fld id="{4D9FBD55-841E-454C-9B82-FCF1E824ACB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575050" y="25054"/>
            <a:ext cx="28655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/>
              <a:t>Example 2.2, Cont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734" y="1146247"/>
            <a:ext cx="388974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dirty="0"/>
              <a:t>Parallelogram solution</a:t>
            </a:r>
          </a:p>
        </p:txBody>
      </p:sp>
    </p:spTree>
    <p:extLst>
      <p:ext uri="{BB962C8B-B14F-4D97-AF65-F5344CB8AC3E}">
        <p14:creationId xmlns:p14="http://schemas.microsoft.com/office/powerpoint/2010/main" val="4278985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9" grpId="0" animBg="1"/>
      <p:bldP spid="3080" grpId="0" animBg="1"/>
      <p:bldP spid="3081" grpId="0" animBg="1"/>
      <p:bldP spid="3082" grpId="0" animBg="1"/>
      <p:bldP spid="3083" grpId="0" animBg="1"/>
      <p:bldP spid="3084" grpId="0"/>
      <p:bldP spid="3085" grpId="0"/>
      <p:bldP spid="3086" grpId="0"/>
      <p:bldP spid="3087" grpId="0"/>
      <p:bldP spid="3088" grpId="0" animBg="1"/>
      <p:bldP spid="3089" grpId="0" animBg="1"/>
      <p:bldP spid="3090" grpId="0" animBg="1"/>
      <p:bldP spid="3091" grpId="0"/>
      <p:bldP spid="3092" grpId="0"/>
      <p:bldP spid="3093" grpId="0" animBg="1"/>
      <p:bldP spid="3094" grpId="0" animBg="1"/>
      <p:bldP spid="3095" grpId="0" animBg="1"/>
      <p:bldP spid="3096" grpId="0" animBg="1"/>
      <p:bldP spid="3097" grpId="0"/>
      <p:bldP spid="3098" grpId="0"/>
      <p:bldP spid="3099" grpId="0"/>
      <p:bldP spid="3100" grpId="0"/>
      <p:bldP spid="3101" grpId="0" animBg="1"/>
      <p:bldP spid="3102" grpId="0" animBg="1"/>
      <p:bldP spid="3103" grpId="0"/>
      <p:bldP spid="3104" grpId="0"/>
      <p:bldP spid="3105" grpId="0"/>
      <p:bldP spid="3106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8" name="Object 19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048391718"/>
              </p:ext>
            </p:extLst>
          </p:nvPr>
        </p:nvGraphicFramePr>
        <p:xfrm>
          <a:off x="5512158" y="2289216"/>
          <a:ext cx="2179019" cy="6354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74360" imgH="266400" progId="Equation.3">
                  <p:embed/>
                </p:oleObj>
              </mc:Choice>
              <mc:Fallback>
                <p:oleObj name="Equation" r:id="rId3" imgW="77436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2158" y="2289216"/>
                        <a:ext cx="2179019" cy="63547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26"/>
          <p:cNvGraphicFramePr>
            <a:graphicFrameLocks noGrp="1" noChangeAspect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61431481"/>
              </p:ext>
            </p:extLst>
          </p:nvPr>
        </p:nvGraphicFramePr>
        <p:xfrm>
          <a:off x="922562" y="4726900"/>
          <a:ext cx="2484213" cy="161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54080" imgH="812520" progId="Equation.3">
                  <p:embed/>
                </p:oleObj>
              </mc:Choice>
              <mc:Fallback>
                <p:oleObj name="Equation" r:id="rId5" imgW="1054080" imgH="8125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562" y="4726900"/>
                        <a:ext cx="2484213" cy="161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03" name="Group 22"/>
          <p:cNvGrpSpPr>
            <a:grpSpLocks/>
          </p:cNvGrpSpPr>
          <p:nvPr/>
        </p:nvGrpSpPr>
        <p:grpSpPr bwMode="auto">
          <a:xfrm>
            <a:off x="287231" y="953334"/>
            <a:ext cx="2952750" cy="2671763"/>
            <a:chOff x="249" y="1003"/>
            <a:chExt cx="2110" cy="1868"/>
          </a:xfrm>
        </p:grpSpPr>
        <p:sp>
          <p:nvSpPr>
            <p:cNvPr id="4107" name="Line 4"/>
            <p:cNvSpPr>
              <a:spLocks noChangeShapeType="1"/>
            </p:cNvSpPr>
            <p:nvPr/>
          </p:nvSpPr>
          <p:spPr bwMode="auto">
            <a:xfrm>
              <a:off x="476" y="1389"/>
              <a:ext cx="0" cy="1225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08" name="Line 5"/>
            <p:cNvSpPr>
              <a:spLocks noChangeShapeType="1"/>
            </p:cNvSpPr>
            <p:nvPr/>
          </p:nvSpPr>
          <p:spPr bwMode="auto">
            <a:xfrm>
              <a:off x="476" y="2614"/>
              <a:ext cx="1293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09" name="Line 6"/>
            <p:cNvSpPr>
              <a:spLocks noChangeShapeType="1"/>
            </p:cNvSpPr>
            <p:nvPr/>
          </p:nvSpPr>
          <p:spPr bwMode="auto">
            <a:xfrm flipV="1">
              <a:off x="476" y="1412"/>
              <a:ext cx="1270" cy="1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10" name="Line 8"/>
            <p:cNvSpPr>
              <a:spLocks noChangeShapeType="1"/>
            </p:cNvSpPr>
            <p:nvPr/>
          </p:nvSpPr>
          <p:spPr bwMode="auto">
            <a:xfrm>
              <a:off x="476" y="2614"/>
              <a:ext cx="154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11" name="Line 9"/>
            <p:cNvSpPr>
              <a:spLocks noChangeShapeType="1"/>
            </p:cNvSpPr>
            <p:nvPr/>
          </p:nvSpPr>
          <p:spPr bwMode="auto">
            <a:xfrm flipV="1">
              <a:off x="476" y="1230"/>
              <a:ext cx="0" cy="1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12" name="Text Box 10"/>
            <p:cNvSpPr txBox="1">
              <a:spLocks noChangeArrowheads="1"/>
            </p:cNvSpPr>
            <p:nvPr/>
          </p:nvSpPr>
          <p:spPr bwMode="auto">
            <a:xfrm>
              <a:off x="2041" y="2478"/>
              <a:ext cx="31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prstClr val="black"/>
                  </a:solidFill>
                </a:rPr>
                <a:t>x</a:t>
              </a:r>
            </a:p>
          </p:txBody>
        </p:sp>
        <p:sp>
          <p:nvSpPr>
            <p:cNvPr id="4113" name="Text Box 11"/>
            <p:cNvSpPr txBox="1">
              <a:spLocks noChangeArrowheads="1"/>
            </p:cNvSpPr>
            <p:nvPr/>
          </p:nvSpPr>
          <p:spPr bwMode="auto">
            <a:xfrm>
              <a:off x="385" y="1003"/>
              <a:ext cx="31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prstClr val="black"/>
                  </a:solidFill>
                </a:rPr>
                <a:t>y</a:t>
              </a:r>
            </a:p>
          </p:txBody>
        </p:sp>
        <p:sp>
          <p:nvSpPr>
            <p:cNvPr id="4114" name="Arc 12"/>
            <p:cNvSpPr>
              <a:spLocks/>
            </p:cNvSpPr>
            <p:nvPr/>
          </p:nvSpPr>
          <p:spPr bwMode="auto">
            <a:xfrm>
              <a:off x="1020" y="2115"/>
              <a:ext cx="250" cy="49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15" name="Text Box 13"/>
            <p:cNvSpPr txBox="1">
              <a:spLocks noChangeArrowheads="1"/>
            </p:cNvSpPr>
            <p:nvPr/>
          </p:nvSpPr>
          <p:spPr bwMode="auto">
            <a:xfrm>
              <a:off x="1179" y="2160"/>
              <a:ext cx="227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l-GR">
                  <a:solidFill>
                    <a:prstClr val="black"/>
                  </a:solidFill>
                </a:rPr>
                <a:t>θ</a:t>
              </a:r>
            </a:p>
          </p:txBody>
        </p:sp>
        <p:sp>
          <p:nvSpPr>
            <p:cNvPr id="4116" name="Text Box 14"/>
            <p:cNvSpPr txBox="1">
              <a:spLocks noChangeArrowheads="1"/>
            </p:cNvSpPr>
            <p:nvPr/>
          </p:nvSpPr>
          <p:spPr bwMode="auto">
            <a:xfrm>
              <a:off x="1315" y="2614"/>
              <a:ext cx="318" cy="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prstClr val="black"/>
                  </a:solidFill>
                </a:rPr>
                <a:t>F</a:t>
              </a:r>
              <a:r>
                <a:rPr lang="en-US" baseline="-25000">
                  <a:solidFill>
                    <a:prstClr val="black"/>
                  </a:solidFill>
                </a:rPr>
                <a:t>x</a:t>
              </a:r>
            </a:p>
          </p:txBody>
        </p:sp>
        <p:sp>
          <p:nvSpPr>
            <p:cNvPr id="4117" name="Text Box 15"/>
            <p:cNvSpPr txBox="1">
              <a:spLocks noChangeArrowheads="1"/>
            </p:cNvSpPr>
            <p:nvPr/>
          </p:nvSpPr>
          <p:spPr bwMode="auto">
            <a:xfrm>
              <a:off x="249" y="1457"/>
              <a:ext cx="31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prstClr val="black"/>
                  </a:solidFill>
                </a:rPr>
                <a:t>F</a:t>
              </a:r>
              <a:r>
                <a:rPr lang="en-US" baseline="-25000">
                  <a:solidFill>
                    <a:prstClr val="black"/>
                  </a:solidFill>
                </a:rPr>
                <a:t>y</a:t>
              </a:r>
            </a:p>
          </p:txBody>
        </p:sp>
        <p:sp>
          <p:nvSpPr>
            <p:cNvPr id="4118" name="Text Box 16"/>
            <p:cNvSpPr txBox="1">
              <a:spLocks noChangeArrowheads="1"/>
            </p:cNvSpPr>
            <p:nvPr/>
          </p:nvSpPr>
          <p:spPr bwMode="auto">
            <a:xfrm>
              <a:off x="1360" y="1707"/>
              <a:ext cx="318" cy="2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prstClr val="black"/>
                  </a:solidFill>
                </a:rPr>
                <a:t>F</a:t>
              </a:r>
              <a:endParaRPr lang="en-US" baseline="-25000">
                <a:solidFill>
                  <a:prstClr val="black"/>
                </a:solidFill>
              </a:endParaRPr>
            </a:p>
          </p:txBody>
        </p:sp>
        <p:sp>
          <p:nvSpPr>
            <p:cNvPr id="4119" name="Line 17"/>
            <p:cNvSpPr>
              <a:spLocks noChangeShapeType="1"/>
            </p:cNvSpPr>
            <p:nvPr/>
          </p:nvSpPr>
          <p:spPr bwMode="auto">
            <a:xfrm>
              <a:off x="476" y="1412"/>
              <a:ext cx="127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4120" name="Line 18"/>
            <p:cNvSpPr>
              <a:spLocks noChangeShapeType="1"/>
            </p:cNvSpPr>
            <p:nvPr/>
          </p:nvSpPr>
          <p:spPr bwMode="auto">
            <a:xfrm flipV="1">
              <a:off x="1746" y="1412"/>
              <a:ext cx="0" cy="120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4104" name="Rectangle 21"/>
          <p:cNvSpPr>
            <a:spLocks noChangeArrowheads="1"/>
          </p:cNvSpPr>
          <p:nvPr/>
        </p:nvSpPr>
        <p:spPr bwMode="auto">
          <a:xfrm>
            <a:off x="3541692" y="957607"/>
            <a:ext cx="861167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50000"/>
              </a:spcBef>
            </a:pPr>
            <a:r>
              <a:rPr lang="en-US" sz="2000" dirty="0">
                <a:solidFill>
                  <a:prstClr val="black"/>
                </a:solidFill>
              </a:rPr>
              <a:t>A </a:t>
            </a:r>
            <a:r>
              <a:rPr lang="en-US" sz="2000" b="1" dirty="0">
                <a:solidFill>
                  <a:srgbClr val="FF0000"/>
                </a:solidFill>
              </a:rPr>
              <a:t>force vector may be resolved </a:t>
            </a:r>
            <a:r>
              <a:rPr lang="en-US" sz="2000" dirty="0">
                <a:solidFill>
                  <a:prstClr val="black"/>
                </a:solidFill>
              </a:rPr>
              <a:t>into </a:t>
            </a:r>
            <a:r>
              <a:rPr lang="en-US" sz="2000" b="1" dirty="0">
                <a:solidFill>
                  <a:srgbClr val="00B050"/>
                </a:solidFill>
              </a:rPr>
              <a:t>perpendicular components </a:t>
            </a:r>
            <a:r>
              <a:rPr lang="en-US" sz="2000" dirty="0">
                <a:solidFill>
                  <a:prstClr val="black"/>
                </a:solidFill>
              </a:rPr>
              <a:t>so that the </a:t>
            </a:r>
            <a:r>
              <a:rPr lang="en-US" sz="2000" b="1" u="sng" dirty="0">
                <a:solidFill>
                  <a:prstClr val="black"/>
                </a:solidFill>
              </a:rPr>
              <a:t>resulting parallelogram is a rectangle</a:t>
            </a:r>
            <a:r>
              <a:rPr lang="en-US" sz="2000" dirty="0">
                <a:solidFill>
                  <a:prstClr val="black"/>
                </a:solidFill>
              </a:rPr>
              <a:t>. The </a:t>
            </a:r>
            <a:r>
              <a:rPr lang="en-US" sz="2000" b="1" u="sng" dirty="0">
                <a:solidFill>
                  <a:srgbClr val="0070C0"/>
                </a:solidFill>
              </a:rPr>
              <a:t>resulting  x and y components</a:t>
            </a:r>
            <a:r>
              <a:rPr lang="en-US" sz="2000" dirty="0">
                <a:solidFill>
                  <a:prstClr val="black"/>
                </a:solidFill>
              </a:rPr>
              <a:t> are referred to as </a:t>
            </a:r>
            <a:r>
              <a:rPr lang="en-US" sz="2000" b="1" i="1" u="sng" dirty="0">
                <a:solidFill>
                  <a:srgbClr val="FF0000"/>
                </a:solidFill>
              </a:rPr>
              <a:t>rectangular vector components</a:t>
            </a:r>
            <a:r>
              <a:rPr lang="en-US" sz="2000" b="1" u="sng" dirty="0">
                <a:solidFill>
                  <a:srgbClr val="FF0000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and</a:t>
            </a:r>
          </a:p>
        </p:txBody>
      </p:sp>
      <p:sp>
        <p:nvSpPr>
          <p:cNvPr id="4105" name="Rectangle 23"/>
          <p:cNvSpPr>
            <a:spLocks noChangeArrowheads="1"/>
          </p:cNvSpPr>
          <p:nvPr/>
        </p:nvSpPr>
        <p:spPr bwMode="auto">
          <a:xfrm>
            <a:off x="3710048" y="3379336"/>
            <a:ext cx="8481951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b="1" u="sng" dirty="0">
                <a:solidFill>
                  <a:srgbClr val="0070C0"/>
                </a:solidFill>
              </a:rPr>
              <a:t>Vector components may be expressed as products of the unit vectors </a:t>
            </a:r>
            <a:r>
              <a:rPr lang="en-US" sz="2000" dirty="0">
                <a:solidFill>
                  <a:prstClr val="black"/>
                </a:solidFill>
              </a:rPr>
              <a:t>with the scalar magnitudes of the vector components.</a:t>
            </a:r>
          </a:p>
        </p:txBody>
      </p:sp>
      <p:graphicFrame>
        <p:nvGraphicFramePr>
          <p:cNvPr id="4099" name="Objec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06682"/>
              </p:ext>
            </p:extLst>
          </p:nvPr>
        </p:nvGraphicFramePr>
        <p:xfrm>
          <a:off x="5512158" y="4330760"/>
          <a:ext cx="2179019" cy="555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63280" imgH="266400" progId="Equation.3">
                  <p:embed/>
                </p:oleObj>
              </mc:Choice>
              <mc:Fallback>
                <p:oleObj name="Equation" r:id="rId7" imgW="863280" imgH="266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2158" y="4330760"/>
                        <a:ext cx="2179019" cy="555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Rectangle 25"/>
          <p:cNvSpPr>
            <a:spLocks noChangeArrowheads="1"/>
          </p:cNvSpPr>
          <p:nvPr/>
        </p:nvSpPr>
        <p:spPr bwMode="auto">
          <a:xfrm>
            <a:off x="3979572" y="5340801"/>
            <a:ext cx="713489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i="1" dirty="0" err="1">
                <a:solidFill>
                  <a:prstClr val="black"/>
                </a:solidFill>
              </a:rPr>
              <a:t>F</a:t>
            </a:r>
            <a:r>
              <a:rPr lang="en-US" sz="2000" i="1" baseline="-25000" dirty="0" err="1">
                <a:solidFill>
                  <a:prstClr val="black"/>
                </a:solidFill>
              </a:rPr>
              <a:t>x</a:t>
            </a:r>
            <a:r>
              <a:rPr lang="en-US" sz="2000" dirty="0">
                <a:solidFill>
                  <a:prstClr val="black"/>
                </a:solidFill>
              </a:rPr>
              <a:t> and </a:t>
            </a:r>
            <a:r>
              <a:rPr lang="en-US" sz="2000" i="1" dirty="0" err="1">
                <a:solidFill>
                  <a:prstClr val="black"/>
                </a:solidFill>
              </a:rPr>
              <a:t>F</a:t>
            </a:r>
            <a:r>
              <a:rPr lang="en-US" sz="2000" i="1" baseline="-25000" dirty="0" err="1">
                <a:solidFill>
                  <a:prstClr val="black"/>
                </a:solidFill>
              </a:rPr>
              <a:t>y</a:t>
            </a:r>
            <a:r>
              <a:rPr lang="en-US" sz="2000" i="1" dirty="0">
                <a:solidFill>
                  <a:prstClr val="black"/>
                </a:solidFill>
              </a:rPr>
              <a:t> </a:t>
            </a:r>
            <a:r>
              <a:rPr lang="en-US" sz="2000" dirty="0">
                <a:solidFill>
                  <a:prstClr val="black"/>
                </a:solidFill>
              </a:rPr>
              <a:t>are  referred to as the </a:t>
            </a:r>
            <a:r>
              <a:rPr lang="en-US" sz="2000" i="1" dirty="0">
                <a:solidFill>
                  <a:prstClr val="black"/>
                </a:solidFill>
              </a:rPr>
              <a:t>scalar components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9549" y="3721413"/>
            <a:ext cx="139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2.6</a:t>
            </a:r>
          </a:p>
        </p:txBody>
      </p:sp>
      <p:sp>
        <p:nvSpPr>
          <p:cNvPr id="4" name="Rectangle 3"/>
          <p:cNvSpPr/>
          <p:nvPr/>
        </p:nvSpPr>
        <p:spPr>
          <a:xfrm>
            <a:off x="1644852" y="-15583"/>
            <a:ext cx="83373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alibri Light" panose="020F0302020204030204"/>
                <a:ea typeface="+mj-ea"/>
                <a:cs typeface="+mj-cs"/>
              </a:rPr>
              <a:t>Rectangular Components of Force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71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4" grpId="0"/>
      <p:bldP spid="4105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40" name="Picture 4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1099"/>
            <a:ext cx="5280338" cy="3527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541" name="Text Box 5"/>
          <p:cNvSpPr txBox="1">
            <a:spLocks noChangeArrowheads="1"/>
          </p:cNvSpPr>
          <p:nvPr/>
        </p:nvSpPr>
        <p:spPr bwMode="auto">
          <a:xfrm>
            <a:off x="0" y="4934995"/>
            <a:ext cx="538337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Four forces act on bolt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 as shown.  Determine the resultant of the force on the bolt.</a:t>
            </a:r>
          </a:p>
        </p:txBody>
      </p:sp>
      <p:sp>
        <p:nvSpPr>
          <p:cNvPr id="198662" name="Text Box 6"/>
          <p:cNvSpPr txBox="1">
            <a:spLocks noChangeArrowheads="1"/>
          </p:cNvSpPr>
          <p:nvPr/>
        </p:nvSpPr>
        <p:spPr bwMode="auto">
          <a:xfrm>
            <a:off x="6154559" y="1201918"/>
            <a:ext cx="5900065" cy="20928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SOLUTION:</a:t>
            </a:r>
          </a:p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Resolve each force into rectangular components.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Determine the components of the resultant by adding the corresponding force components.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Arial" panose="020B0604020202020204" pitchFamily="34" charset="0"/>
              </a:rPr>
              <a:t>Calculate the magnitude and direction of the resultant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50C373-F1D0-494F-8D6D-366C958B342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36743" y="114768"/>
            <a:ext cx="245900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2.5</a:t>
            </a:r>
          </a:p>
        </p:txBody>
      </p:sp>
      <p:sp>
        <p:nvSpPr>
          <p:cNvPr id="4" name="Rectangle 3"/>
          <p:cNvSpPr/>
          <p:nvPr/>
        </p:nvSpPr>
        <p:spPr>
          <a:xfrm>
            <a:off x="1586036" y="4396250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Fig. 2.11</a:t>
            </a:r>
          </a:p>
        </p:txBody>
      </p:sp>
    </p:spTree>
    <p:extLst>
      <p:ext uri="{BB962C8B-B14F-4D97-AF65-F5344CB8AC3E}">
        <p14:creationId xmlns:p14="http://schemas.microsoft.com/office/powerpoint/2010/main" val="658219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41" grpId="0"/>
      <p:bldP spid="198662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248482" y="4912952"/>
            <a:ext cx="6200836" cy="1520825"/>
            <a:chOff x="2334" y="3142"/>
            <a:chExt cx="3245" cy="958"/>
          </a:xfrm>
        </p:grpSpPr>
        <p:graphicFrame>
          <p:nvGraphicFramePr>
            <p:cNvPr id="6149" name="Object 9"/>
            <p:cNvGraphicFramePr>
              <a:graphicFrameLocks noChangeAspect="1"/>
            </p:cNvGraphicFramePr>
            <p:nvPr/>
          </p:nvGraphicFramePr>
          <p:xfrm>
            <a:off x="2588" y="3417"/>
            <a:ext cx="133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2120760" imgH="380880" progId="Equation.3">
                    <p:embed/>
                  </p:oleObj>
                </mc:Choice>
                <mc:Fallback>
                  <p:oleObj name="Equation" r:id="rId3" imgW="2120760" imgH="380880" progId="Equation.3">
                    <p:embed/>
                    <p:pic>
                      <p:nvPicPr>
                        <p:cNvPr id="6149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" y="3417"/>
                          <a:ext cx="1336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0" name="Object 10"/>
            <p:cNvGraphicFramePr>
              <a:graphicFrameLocks noChangeAspect="1"/>
            </p:cNvGraphicFramePr>
            <p:nvPr/>
          </p:nvGraphicFramePr>
          <p:xfrm>
            <a:off x="4405" y="3461"/>
            <a:ext cx="768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218960" imgH="241200" progId="Equation.3">
                    <p:embed/>
                  </p:oleObj>
                </mc:Choice>
                <mc:Fallback>
                  <p:oleObj name="Equation" r:id="rId5" imgW="1218960" imgH="241200" progId="Equation.3">
                    <p:embed/>
                    <p:pic>
                      <p:nvPicPr>
                        <p:cNvPr id="615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" y="3461"/>
                          <a:ext cx="768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163" name="Text Box 11"/>
            <p:cNvSpPr txBox="1">
              <a:spLocks noChangeArrowheads="1"/>
            </p:cNvSpPr>
            <p:nvPr/>
          </p:nvSpPr>
          <p:spPr bwMode="auto">
            <a:xfrm>
              <a:off x="2334" y="3142"/>
              <a:ext cx="324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227013" marR="0" lvl="0" indent="-227013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rPr>
                <a:t>Calculate the magnitude and direction.</a:t>
              </a:r>
            </a:p>
          </p:txBody>
        </p:sp>
        <p:graphicFrame>
          <p:nvGraphicFramePr>
            <p:cNvPr id="6151" name="Object 12"/>
            <p:cNvGraphicFramePr>
              <a:graphicFrameLocks noChangeAspect="1"/>
            </p:cNvGraphicFramePr>
            <p:nvPr/>
          </p:nvGraphicFramePr>
          <p:xfrm>
            <a:off x="2588" y="3676"/>
            <a:ext cx="1016" cy="4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612800" imgH="672840" progId="Equation.3">
                    <p:embed/>
                  </p:oleObj>
                </mc:Choice>
                <mc:Fallback>
                  <p:oleObj name="Equation" r:id="rId7" imgW="1612800" imgH="672840" progId="Equation.3">
                    <p:embed/>
                    <p:pic>
                      <p:nvPicPr>
                        <p:cNvPr id="6151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88" y="3676"/>
                          <a:ext cx="1016" cy="4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152" name="Object 13"/>
            <p:cNvGraphicFramePr>
              <a:graphicFrameLocks noChangeAspect="1"/>
            </p:cNvGraphicFramePr>
            <p:nvPr/>
          </p:nvGraphicFramePr>
          <p:xfrm>
            <a:off x="4405" y="3812"/>
            <a:ext cx="560" cy="1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88840" imgH="241200" progId="Equation.3">
                    <p:embed/>
                  </p:oleObj>
                </mc:Choice>
                <mc:Fallback>
                  <p:oleObj name="Equation" r:id="rId9" imgW="888840" imgH="241200" progId="Equation.3">
                    <p:embed/>
                    <p:pic>
                      <p:nvPicPr>
                        <p:cNvPr id="6152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05" y="3812"/>
                          <a:ext cx="560" cy="152"/>
                        </a:xfrm>
                        <a:prstGeom prst="rect">
                          <a:avLst/>
                        </a:prstGeom>
                        <a:noFill/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57" name="Group 20"/>
          <p:cNvGrpSpPr>
            <a:grpSpLocks/>
          </p:cNvGrpSpPr>
          <p:nvPr/>
        </p:nvGrpSpPr>
        <p:grpSpPr bwMode="auto">
          <a:xfrm>
            <a:off x="218941" y="1629640"/>
            <a:ext cx="10766738" cy="4040188"/>
            <a:chOff x="136" y="1026"/>
            <a:chExt cx="5567" cy="2545"/>
          </a:xfrm>
        </p:grpSpPr>
        <p:grpSp>
          <p:nvGrpSpPr>
            <p:cNvPr id="6158" name="Group 19"/>
            <p:cNvGrpSpPr>
              <a:grpSpLocks/>
            </p:cNvGrpSpPr>
            <p:nvPr/>
          </p:nvGrpSpPr>
          <p:grpSpPr bwMode="auto">
            <a:xfrm>
              <a:off x="136" y="1026"/>
              <a:ext cx="5096" cy="1754"/>
              <a:chOff x="136" y="1026"/>
              <a:chExt cx="5096" cy="1754"/>
            </a:xfrm>
          </p:grpSpPr>
          <p:pic>
            <p:nvPicPr>
              <p:cNvPr id="6162" name="Picture 5" descr="msotw9_temp0"/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6" y="1026"/>
                <a:ext cx="2177" cy="16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aphicFrame>
            <p:nvGraphicFramePr>
              <p:cNvPr id="6148" name="Object 7"/>
              <p:cNvGraphicFramePr>
                <a:graphicFrameLocks noChangeAspect="1"/>
              </p:cNvGraphicFramePr>
              <p:nvPr/>
            </p:nvGraphicFramePr>
            <p:xfrm>
              <a:off x="2632" y="1356"/>
              <a:ext cx="2600" cy="14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4127400" imgH="2260440" progId="Equation.3">
                      <p:embed/>
                    </p:oleObj>
                  </mc:Choice>
                  <mc:Fallback>
                    <p:oleObj name="Equation" r:id="rId12" imgW="4127400" imgH="2260440" progId="Equation.3">
                      <p:embed/>
                      <p:pic>
                        <p:nvPicPr>
                          <p:cNvPr id="6148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32" y="1356"/>
                            <a:ext cx="2600" cy="142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6159" name="Group 14"/>
            <p:cNvGrpSpPr>
              <a:grpSpLocks/>
            </p:cNvGrpSpPr>
            <p:nvPr/>
          </p:nvGrpSpPr>
          <p:grpSpPr bwMode="auto">
            <a:xfrm>
              <a:off x="249" y="2591"/>
              <a:ext cx="5454" cy="980"/>
              <a:chOff x="178" y="2350"/>
              <a:chExt cx="5454" cy="980"/>
            </a:xfrm>
          </p:grpSpPr>
          <p:pic>
            <p:nvPicPr>
              <p:cNvPr id="6160" name="Picture 15" descr="msotw9_temp0"/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78" y="2768"/>
                <a:ext cx="2198" cy="5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161" name="Text Box 16"/>
              <p:cNvSpPr txBox="1">
                <a:spLocks noChangeArrowheads="1"/>
              </p:cNvSpPr>
              <p:nvPr/>
            </p:nvSpPr>
            <p:spPr bwMode="auto">
              <a:xfrm>
                <a:off x="2334" y="2650"/>
                <a:ext cx="3298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marL="227013" indent="-227013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marL="227013" marR="0" lvl="0" indent="-227013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Char char="•"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Arial" panose="020B0604020202020204" pitchFamily="34" charset="0"/>
                </a:endParaRPr>
              </a:p>
            </p:txBody>
          </p:sp>
          <p:graphicFrame>
            <p:nvGraphicFramePr>
              <p:cNvPr id="6146" name="Object 17"/>
              <p:cNvGraphicFramePr>
                <a:graphicFrameLocks noChangeAspect="1"/>
              </p:cNvGraphicFramePr>
              <p:nvPr/>
            </p:nvGraphicFramePr>
            <p:xfrm>
              <a:off x="3527" y="2350"/>
              <a:ext cx="816" cy="20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5" imgW="1295280" imgH="330120" progId="Equation.3">
                      <p:embed/>
                    </p:oleObj>
                  </mc:Choice>
                  <mc:Fallback>
                    <p:oleObj name="Equation" r:id="rId15" imgW="1295280" imgH="330120" progId="Equation.3">
                      <p:embed/>
                      <p:pic>
                        <p:nvPicPr>
                          <p:cNvPr id="6146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7" y="2350"/>
                            <a:ext cx="816" cy="20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7" name="Object 18"/>
              <p:cNvGraphicFramePr>
                <a:graphicFrameLocks noChangeAspect="1"/>
              </p:cNvGraphicFramePr>
              <p:nvPr/>
            </p:nvGraphicFramePr>
            <p:xfrm>
              <a:off x="4456" y="2350"/>
              <a:ext cx="75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7" imgW="1193760" imgH="368280" progId="Equation.3">
                      <p:embed/>
                    </p:oleObj>
                  </mc:Choice>
                  <mc:Fallback>
                    <p:oleObj name="Equation" r:id="rId17" imgW="1193760" imgH="368280" progId="Equation.3">
                      <p:embed/>
                      <p:pic>
                        <p:nvPicPr>
                          <p:cNvPr id="6147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56" y="2350"/>
                            <a:ext cx="752" cy="23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50C373-F1D0-494F-8D6D-366C958B342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054897" y="61010"/>
            <a:ext cx="281179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 2.5, Cont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828869"/>
            <a:ext cx="12192000" cy="7325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Resolve each force into rectangular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Determine the components of the resultant by adding the corresponding force components.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361771"/>
            <a:ext cx="20826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SOLUTION:</a:t>
            </a:r>
          </a:p>
        </p:txBody>
      </p:sp>
    </p:spTree>
    <p:extLst>
      <p:ext uri="{BB962C8B-B14F-4D97-AF65-F5344CB8AC3E}">
        <p14:creationId xmlns:p14="http://schemas.microsoft.com/office/powerpoint/2010/main" val="274770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596629" y="77390"/>
            <a:ext cx="9709911" cy="785020"/>
          </a:xfrm>
        </p:spPr>
        <p:txBody>
          <a:bodyPr/>
          <a:lstStyle/>
          <a:p>
            <a:pPr eaLnBrk="1" hangingPunct="1"/>
            <a:r>
              <a:rPr lang="en-US" dirty="0"/>
              <a:t>Example 2.6</a:t>
            </a:r>
          </a:p>
        </p:txBody>
      </p:sp>
      <p:graphicFrame>
        <p:nvGraphicFramePr>
          <p:cNvPr id="7172" name="Object 40"/>
          <p:cNvGraphicFramePr>
            <a:graphicFrameLocks noGrp="1" noChangeAspect="1"/>
          </p:cNvGraphicFramePr>
          <p:nvPr>
            <p:ph sz="half" idx="2"/>
          </p:nvPr>
        </p:nvGraphicFramePr>
        <p:xfrm>
          <a:off x="6763544" y="4634087"/>
          <a:ext cx="2625725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86000" imgH="1790640" progId="Equation.3">
                  <p:embed/>
                </p:oleObj>
              </mc:Choice>
              <mc:Fallback>
                <p:oleObj name="Equation" r:id="rId3" imgW="2286000" imgH="1790640" progId="Equation.3">
                  <p:embed/>
                  <p:pic>
                    <p:nvPicPr>
                      <p:cNvPr id="7172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3544" y="4634087"/>
                        <a:ext cx="2625725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176" name="Group 43"/>
          <p:cNvGrpSpPr>
            <a:grpSpLocks/>
          </p:cNvGrpSpPr>
          <p:nvPr/>
        </p:nvGrpSpPr>
        <p:grpSpPr bwMode="auto">
          <a:xfrm>
            <a:off x="225533" y="1545948"/>
            <a:ext cx="5545029" cy="4210908"/>
            <a:chOff x="113" y="1979"/>
            <a:chExt cx="2495" cy="1999"/>
          </a:xfrm>
        </p:grpSpPr>
        <p:sp>
          <p:nvSpPr>
            <p:cNvPr id="7180" name="Line 10"/>
            <p:cNvSpPr>
              <a:spLocks noChangeShapeType="1"/>
            </p:cNvSpPr>
            <p:nvPr/>
          </p:nvSpPr>
          <p:spPr bwMode="auto">
            <a:xfrm>
              <a:off x="998" y="2232"/>
              <a:ext cx="0" cy="17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81" name="Line 11"/>
            <p:cNvSpPr>
              <a:spLocks noChangeShapeType="1"/>
            </p:cNvSpPr>
            <p:nvPr/>
          </p:nvSpPr>
          <p:spPr bwMode="auto">
            <a:xfrm>
              <a:off x="113" y="3094"/>
              <a:ext cx="231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82" name="Line 12"/>
            <p:cNvSpPr>
              <a:spLocks noChangeShapeType="1"/>
            </p:cNvSpPr>
            <p:nvPr/>
          </p:nvSpPr>
          <p:spPr bwMode="auto">
            <a:xfrm flipV="1">
              <a:off x="998" y="2459"/>
              <a:ext cx="1089" cy="63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83" name="Line 13"/>
            <p:cNvSpPr>
              <a:spLocks noChangeShapeType="1"/>
            </p:cNvSpPr>
            <p:nvPr/>
          </p:nvSpPr>
          <p:spPr bwMode="auto">
            <a:xfrm>
              <a:off x="998" y="3094"/>
              <a:ext cx="680" cy="56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84" name="Line 14"/>
            <p:cNvSpPr>
              <a:spLocks noChangeShapeType="1"/>
            </p:cNvSpPr>
            <p:nvPr/>
          </p:nvSpPr>
          <p:spPr bwMode="auto">
            <a:xfrm flipH="1">
              <a:off x="612" y="3093"/>
              <a:ext cx="386" cy="45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185" name="Group 17"/>
            <p:cNvGrpSpPr>
              <a:grpSpLocks/>
            </p:cNvGrpSpPr>
            <p:nvPr/>
          </p:nvGrpSpPr>
          <p:grpSpPr bwMode="auto">
            <a:xfrm>
              <a:off x="1429" y="2686"/>
              <a:ext cx="295" cy="158"/>
              <a:chOff x="1542" y="2682"/>
              <a:chExt cx="295" cy="158"/>
            </a:xfrm>
          </p:grpSpPr>
          <p:sp>
            <p:nvSpPr>
              <p:cNvPr id="7202" name="Line 15"/>
              <p:cNvSpPr>
                <a:spLocks noChangeShapeType="1"/>
              </p:cNvSpPr>
              <p:nvPr/>
            </p:nvSpPr>
            <p:spPr bwMode="auto">
              <a:xfrm>
                <a:off x="1542" y="2840"/>
                <a:ext cx="29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03" name="Line 16"/>
              <p:cNvSpPr>
                <a:spLocks noChangeShapeType="1"/>
              </p:cNvSpPr>
              <p:nvPr/>
            </p:nvSpPr>
            <p:spPr bwMode="auto">
              <a:xfrm flipV="1">
                <a:off x="1837" y="2682"/>
                <a:ext cx="0" cy="1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7186" name="Group 18"/>
            <p:cNvGrpSpPr>
              <a:grpSpLocks/>
            </p:cNvGrpSpPr>
            <p:nvPr/>
          </p:nvGrpSpPr>
          <p:grpSpPr bwMode="auto">
            <a:xfrm flipH="1">
              <a:off x="1293" y="3343"/>
              <a:ext cx="249" cy="204"/>
              <a:chOff x="1542" y="2682"/>
              <a:chExt cx="295" cy="158"/>
            </a:xfrm>
          </p:grpSpPr>
          <p:sp>
            <p:nvSpPr>
              <p:cNvPr id="7200" name="Line 19"/>
              <p:cNvSpPr>
                <a:spLocks noChangeShapeType="1"/>
              </p:cNvSpPr>
              <p:nvPr/>
            </p:nvSpPr>
            <p:spPr bwMode="auto">
              <a:xfrm flipH="1">
                <a:off x="1542" y="2840"/>
                <a:ext cx="29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201" name="Line 20"/>
              <p:cNvSpPr>
                <a:spLocks noChangeShapeType="1"/>
              </p:cNvSpPr>
              <p:nvPr/>
            </p:nvSpPr>
            <p:spPr bwMode="auto">
              <a:xfrm flipV="1">
                <a:off x="1837" y="2682"/>
                <a:ext cx="0" cy="15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sp>
          <p:nvSpPr>
            <p:cNvPr id="7187" name="Arc 21"/>
            <p:cNvSpPr>
              <a:spLocks/>
            </p:cNvSpPr>
            <p:nvPr/>
          </p:nvSpPr>
          <p:spPr bwMode="auto">
            <a:xfrm flipH="1" flipV="1">
              <a:off x="545" y="3094"/>
              <a:ext cx="204" cy="2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miter lim="800000"/>
              <a:headEnd type="arrow" w="sm" len="lg"/>
              <a:tailEnd type="arrow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188" name="Text Box 23"/>
            <p:cNvSpPr txBox="1">
              <a:spLocks noChangeArrowheads="1"/>
            </p:cNvSpPr>
            <p:nvPr/>
          </p:nvSpPr>
          <p:spPr bwMode="auto">
            <a:xfrm>
              <a:off x="2404" y="295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x</a:t>
              </a:r>
            </a:p>
          </p:txBody>
        </p:sp>
        <p:sp>
          <p:nvSpPr>
            <p:cNvPr id="7189" name="Text Box 24"/>
            <p:cNvSpPr txBox="1">
              <a:spLocks noChangeArrowheads="1"/>
            </p:cNvSpPr>
            <p:nvPr/>
          </p:nvSpPr>
          <p:spPr bwMode="auto">
            <a:xfrm>
              <a:off x="907" y="1979"/>
              <a:ext cx="2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y</a:t>
              </a:r>
            </a:p>
          </p:txBody>
        </p:sp>
        <p:sp>
          <p:nvSpPr>
            <p:cNvPr id="7190" name="Text Box 25"/>
            <p:cNvSpPr txBox="1">
              <a:spLocks noChangeArrowheads="1"/>
            </p:cNvSpPr>
            <p:nvPr/>
          </p:nvSpPr>
          <p:spPr bwMode="auto">
            <a:xfrm>
              <a:off x="2087" y="2345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50 kN</a:t>
              </a:r>
            </a:p>
          </p:txBody>
        </p:sp>
        <p:sp>
          <p:nvSpPr>
            <p:cNvPr id="7191" name="Text Box 26"/>
            <p:cNvSpPr txBox="1">
              <a:spLocks noChangeArrowheads="1"/>
            </p:cNvSpPr>
            <p:nvPr/>
          </p:nvSpPr>
          <p:spPr bwMode="auto">
            <a:xfrm>
              <a:off x="1542" y="3634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40 kN</a:t>
              </a:r>
            </a:p>
          </p:txBody>
        </p:sp>
        <p:sp>
          <p:nvSpPr>
            <p:cNvPr id="7192" name="Text Box 27"/>
            <p:cNvSpPr txBox="1">
              <a:spLocks noChangeArrowheads="1"/>
            </p:cNvSpPr>
            <p:nvPr/>
          </p:nvSpPr>
          <p:spPr bwMode="auto">
            <a:xfrm>
              <a:off x="340" y="3525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20 kN</a:t>
              </a:r>
            </a:p>
          </p:txBody>
        </p:sp>
        <p:sp>
          <p:nvSpPr>
            <p:cNvPr id="7193" name="Text Box 28"/>
            <p:cNvSpPr txBox="1">
              <a:spLocks noChangeArrowheads="1"/>
            </p:cNvSpPr>
            <p:nvPr/>
          </p:nvSpPr>
          <p:spPr bwMode="auto">
            <a:xfrm>
              <a:off x="1701" y="2640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7194" name="Text Box 29"/>
            <p:cNvSpPr txBox="1">
              <a:spLocks noChangeArrowheads="1"/>
            </p:cNvSpPr>
            <p:nvPr/>
          </p:nvSpPr>
          <p:spPr bwMode="auto">
            <a:xfrm>
              <a:off x="1520" y="2818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7195" name="Text Box 30"/>
            <p:cNvSpPr txBox="1">
              <a:spLocks noChangeArrowheads="1"/>
            </p:cNvSpPr>
            <p:nvPr/>
          </p:nvSpPr>
          <p:spPr bwMode="auto">
            <a:xfrm>
              <a:off x="1475" y="2550"/>
              <a:ext cx="1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7196" name="Text Box 31"/>
            <p:cNvSpPr txBox="1">
              <a:spLocks noChangeArrowheads="1"/>
            </p:cNvSpPr>
            <p:nvPr/>
          </p:nvSpPr>
          <p:spPr bwMode="auto">
            <a:xfrm>
              <a:off x="1134" y="3339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197" name="Text Box 32"/>
            <p:cNvSpPr txBox="1">
              <a:spLocks noChangeArrowheads="1"/>
            </p:cNvSpPr>
            <p:nvPr/>
          </p:nvSpPr>
          <p:spPr bwMode="auto">
            <a:xfrm>
              <a:off x="1293" y="3502"/>
              <a:ext cx="20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198" name="Text Box 33"/>
            <p:cNvSpPr txBox="1">
              <a:spLocks noChangeArrowheads="1"/>
            </p:cNvSpPr>
            <p:nvPr/>
          </p:nvSpPr>
          <p:spPr bwMode="auto">
            <a:xfrm>
              <a:off x="1316" y="3230"/>
              <a:ext cx="36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√</a:t>
              </a: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7199" name="Text Box 34"/>
            <p:cNvSpPr txBox="1">
              <a:spLocks noChangeArrowheads="1"/>
            </p:cNvSpPr>
            <p:nvPr/>
          </p:nvSpPr>
          <p:spPr bwMode="auto">
            <a:xfrm>
              <a:off x="295" y="3207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60</a:t>
              </a:r>
              <a:r>
                <a:rPr kumimoji="0" lang="en-US" sz="1800" b="0" i="0" u="none" strike="noStrike" kern="1200" cap="none" spc="0" normalizeH="0" baseline="30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</a:rPr>
                <a:t>o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endParaRPr>
            </a:p>
          </p:txBody>
        </p:sp>
      </p:grpSp>
      <p:sp>
        <p:nvSpPr>
          <p:cNvPr id="7177" name="Rectangle 37"/>
          <p:cNvSpPr>
            <a:spLocks noChangeArrowheads="1"/>
          </p:cNvSpPr>
          <p:nvPr/>
        </p:nvSpPr>
        <p:spPr bwMode="auto">
          <a:xfrm>
            <a:off x="1524001" y="2782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170" name="Object 36"/>
          <p:cNvGraphicFramePr>
            <a:graphicFrameLocks noChangeAspect="1"/>
          </p:cNvGraphicFramePr>
          <p:nvPr/>
        </p:nvGraphicFramePr>
        <p:xfrm>
          <a:off x="6635751" y="1803401"/>
          <a:ext cx="2952750" cy="1120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286000" imgH="927100" progId="Equation.3">
                  <p:embed/>
                </p:oleObj>
              </mc:Choice>
              <mc:Fallback>
                <p:oleObj name="Equation" r:id="rId5" imgW="2286000" imgH="927100" progId="Equation.3">
                  <p:embed/>
                  <p:pic>
                    <p:nvPicPr>
                      <p:cNvPr id="717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5751" y="1803401"/>
                        <a:ext cx="2952750" cy="11207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8" name="Rectangle 39"/>
          <p:cNvSpPr>
            <a:spLocks noChangeArrowheads="1"/>
          </p:cNvSpPr>
          <p:nvPr/>
        </p:nvSpPr>
        <p:spPr bwMode="auto">
          <a:xfrm>
            <a:off x="1524001" y="2763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7171" name="Object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28021"/>
              </p:ext>
            </p:extLst>
          </p:nvPr>
        </p:nvGraphicFramePr>
        <p:xfrm>
          <a:off x="6564314" y="3115398"/>
          <a:ext cx="3024187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900" imgH="965200" progId="Equation.3">
                  <p:embed/>
                </p:oleObj>
              </mc:Choice>
              <mc:Fallback>
                <p:oleObj name="Equation" r:id="rId7" imgW="2247900" imgH="965200" progId="Equation.3">
                  <p:embed/>
                  <p:pic>
                    <p:nvPicPr>
                      <p:cNvPr id="7171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4314" y="3115398"/>
                        <a:ext cx="3024187" cy="1295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9" name="Rectangle 42"/>
          <p:cNvSpPr>
            <a:spLocks noRot="1" noChangeArrowheads="1"/>
          </p:cNvSpPr>
          <p:nvPr/>
        </p:nvSpPr>
        <p:spPr bwMode="auto">
          <a:xfrm>
            <a:off x="6635751" y="1245335"/>
            <a:ext cx="1908175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563C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Solution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F7A8DED-A55E-460E-93A0-2EA0724FDA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25534" y="773689"/>
            <a:ext cx="1181621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Determine the magnitude of the resultant force and its direction measured from the positive x axis.</a:t>
            </a:r>
          </a:p>
        </p:txBody>
      </p:sp>
    </p:spTree>
    <p:extLst>
      <p:ext uri="{BB962C8B-B14F-4D97-AF65-F5344CB8AC3E}">
        <p14:creationId xmlns:p14="http://schemas.microsoft.com/office/powerpoint/2010/main" val="185271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9" grpId="0"/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14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709115" y="0"/>
            <a:ext cx="40568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Equilibrium of a particle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23220"/>
            <a:ext cx="120932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FF0000"/>
                </a:solidFill>
              </a:rPr>
              <a:t>Forces acting on a particle are necessarily concurrent </a:t>
            </a:r>
            <a:r>
              <a:rPr lang="en-US" sz="2200" dirty="0"/>
              <a:t>since a particle is assumed to have infinitesimal size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When the resultant of all the forces acting on a particle is zero the particle is said to be in equilibrium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As a result, the sum of the components of forces in any direction must be zero, </a:t>
            </a:r>
            <a:r>
              <a:rPr lang="en-US" sz="2200" dirty="0" err="1"/>
              <a:t>i.e</a:t>
            </a:r>
            <a:r>
              <a:rPr lang="en-US" sz="2200" dirty="0"/>
              <a:t> 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114062"/>
              </p:ext>
            </p:extLst>
          </p:nvPr>
        </p:nvGraphicFramePr>
        <p:xfrm>
          <a:off x="1798548" y="1969770"/>
          <a:ext cx="5967412" cy="474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253800" progId="Equation.DSMT4">
                  <p:embed/>
                </p:oleObj>
              </mc:Choice>
              <mc:Fallback>
                <p:oleObj name="Equation" r:id="rId2" imgW="23238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8548" y="1969770"/>
                        <a:ext cx="5967412" cy="474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" y="2653048"/>
            <a:ext cx="1219199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The </a:t>
            </a:r>
            <a:r>
              <a:rPr lang="en-US" sz="2200" dirty="0">
                <a:solidFill>
                  <a:srgbClr val="FF0000"/>
                </a:solidFill>
              </a:rPr>
              <a:t>forces required to bring a body to a state of equilibrium </a:t>
            </a:r>
            <a:r>
              <a:rPr lang="en-US" sz="2200" dirty="0"/>
              <a:t>is called the </a:t>
            </a:r>
            <a:r>
              <a:rPr lang="en-US" sz="2200" b="1" u="sng" dirty="0">
                <a:solidFill>
                  <a:srgbClr val="FF0000"/>
                </a:solidFill>
              </a:rPr>
              <a:t>equilibrant</a:t>
            </a:r>
            <a:r>
              <a:rPr lang="en-US" sz="2200" dirty="0"/>
              <a:t>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200" dirty="0"/>
              <a:t>The </a:t>
            </a:r>
            <a:r>
              <a:rPr lang="en-US" sz="2200" b="1" u="sng" dirty="0">
                <a:solidFill>
                  <a:srgbClr val="7030A0"/>
                </a:solidFill>
              </a:rPr>
              <a:t>equilibrant is equal in magnitude but opposite in direction to the resultant of the original force </a:t>
            </a:r>
            <a:r>
              <a:rPr lang="en-US" sz="2200" dirty="0"/>
              <a:t>acting on the body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68" y="3777615"/>
            <a:ext cx="4763468" cy="25787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5336" y="3496020"/>
            <a:ext cx="7336663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/>
              <a:t>Let OA and OB represent the forces acting on the particle O.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/>
              <a:t>Per the parallelogram law, the vector OC  represents the resultant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/>
              <a:t>It follows that if </a:t>
            </a:r>
            <a:r>
              <a:rPr lang="en-US" sz="2000" b="1" dirty="0"/>
              <a:t>3 forces, acting at a point </a:t>
            </a:r>
            <a:r>
              <a:rPr lang="en-US" sz="2000" dirty="0"/>
              <a:t>can be </a:t>
            </a:r>
            <a:r>
              <a:rPr lang="en-US" sz="2000" b="1" dirty="0"/>
              <a:t>represented in magnitude and direction </a:t>
            </a:r>
            <a:r>
              <a:rPr lang="en-US" sz="2000" dirty="0"/>
              <a:t>by the </a:t>
            </a:r>
            <a:r>
              <a:rPr lang="en-US" sz="2000" b="1" u="sng" dirty="0"/>
              <a:t>sides of a triangle </a:t>
            </a:r>
            <a:r>
              <a:rPr lang="en-US" sz="2000" b="1" dirty="0">
                <a:solidFill>
                  <a:srgbClr val="FF0000"/>
                </a:solidFill>
              </a:rPr>
              <a:t>taken in order </a:t>
            </a:r>
            <a:r>
              <a:rPr lang="en-US" sz="2000" dirty="0"/>
              <a:t>(e.g. OA, AC and CO), the forces will be in equilibrium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/>
              <a:t>This result is known as the </a:t>
            </a:r>
            <a:r>
              <a:rPr lang="en-US" sz="2000" b="1" i="1" u="sng" dirty="0">
                <a:solidFill>
                  <a:srgbClr val="FF0000"/>
                </a:solidFill>
              </a:rPr>
              <a:t>Triangle of Forces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B050"/>
                </a:solidFill>
              </a:rPr>
              <a:t>Statement: If 3 forces acting on a particle are in equilibrium, they can be represented in magnitude and direction by the sides of a triangle taken in order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b="1" dirty="0"/>
              <a:t>Can be extended to obtain the </a:t>
            </a:r>
            <a:r>
              <a:rPr lang="en-US" sz="2000" b="1" dirty="0">
                <a:solidFill>
                  <a:srgbClr val="FF0000"/>
                </a:solidFill>
              </a:rPr>
              <a:t>polygon of 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57890"/>
            <a:ext cx="9284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2.9</a:t>
            </a:r>
          </a:p>
        </p:txBody>
      </p:sp>
    </p:spTree>
    <p:extLst>
      <p:ext uri="{BB962C8B-B14F-4D97-AF65-F5344CB8AC3E}">
        <p14:creationId xmlns:p14="http://schemas.microsoft.com/office/powerpoint/2010/main" val="6166413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15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966691" y="49116"/>
            <a:ext cx="2305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EXAMPLE 2.4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" y="486924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Two cables AC and BC are joined together at C and a load of </a:t>
            </a:r>
            <a:r>
              <a:rPr lang="en-US" sz="2200" b="1" dirty="0">
                <a:solidFill>
                  <a:srgbClr val="FF0000"/>
                </a:solidFill>
              </a:rPr>
              <a:t>2000 N </a:t>
            </a:r>
            <a:r>
              <a:rPr lang="en-US" sz="2200" dirty="0"/>
              <a:t>is applied as shown in the Fig.10 Determine the tension in the cables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743" y="1457248"/>
            <a:ext cx="3810835" cy="23627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99245" y="1828800"/>
            <a:ext cx="1687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910" y="2588654"/>
            <a:ext cx="404396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/>
              <a:t>We isolate the particle at C and show, on a separate diagram, all the forces acting on it. Such a diagram is called a free-body diagram. Since the particle is in equilibrium, the sum of component forces in any direction should be equal to zero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8836351"/>
              </p:ext>
            </p:extLst>
          </p:nvPr>
        </p:nvGraphicFramePr>
        <p:xfrm>
          <a:off x="1" y="4940907"/>
          <a:ext cx="436593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705040" imgH="507960" progId="Equation.DSMT4">
                  <p:embed/>
                </p:oleObj>
              </mc:Choice>
              <mc:Fallback>
                <p:oleObj name="Equation" r:id="rId3" imgW="270504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" y="4940907"/>
                        <a:ext cx="4365937" cy="765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2788691"/>
              </p:ext>
            </p:extLst>
          </p:nvPr>
        </p:nvGraphicFramePr>
        <p:xfrm>
          <a:off x="115911" y="5956300"/>
          <a:ext cx="4250027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44720" imgH="507960" progId="Equation.DSMT4">
                  <p:embed/>
                </p:oleObj>
              </mc:Choice>
              <mc:Fallback>
                <p:oleObj name="Equation" r:id="rId5" imgW="284472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911" y="5956300"/>
                        <a:ext cx="4250027" cy="765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19244" y="1242914"/>
            <a:ext cx="41727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Solving (</a:t>
            </a:r>
            <a:r>
              <a:rPr lang="en-US" sz="2000" dirty="0" err="1"/>
              <a:t>i</a:t>
            </a:r>
            <a:r>
              <a:rPr lang="en-US" sz="2000" dirty="0"/>
              <a:t>) and (ii) simultaneously gives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10701659"/>
              </p:ext>
            </p:extLst>
          </p:nvPr>
        </p:nvGraphicFramePr>
        <p:xfrm>
          <a:off x="8369300" y="1720850"/>
          <a:ext cx="3471863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095200" imgH="228600" progId="Equation.DSMT4">
                  <p:embed/>
                </p:oleObj>
              </mc:Choice>
              <mc:Fallback>
                <p:oleObj name="Equation" r:id="rId7" imgW="20952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1720850"/>
                        <a:ext cx="3471863" cy="360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81848" y="4069724"/>
            <a:ext cx="7658635" cy="265175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842579" y="2168538"/>
            <a:ext cx="4297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Alternatively, we can use the triangle of forces to find the components as follows</a:t>
            </a:r>
          </a:p>
        </p:txBody>
      </p:sp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5465345"/>
              </p:ext>
            </p:extLst>
          </p:nvPr>
        </p:nvGraphicFramePr>
        <p:xfrm>
          <a:off x="7662929" y="2907115"/>
          <a:ext cx="4301543" cy="1348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44440" imgH="965160" progId="Equation.DSMT4">
                  <p:embed/>
                </p:oleObj>
              </mc:Choice>
              <mc:Fallback>
                <p:oleObj name="Equation" r:id="rId10" imgW="2044440" imgH="965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2929" y="2907115"/>
                        <a:ext cx="4301543" cy="13483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3177021" y="1789970"/>
            <a:ext cx="9717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Fig. 2.10</a:t>
            </a:r>
          </a:p>
        </p:txBody>
      </p:sp>
    </p:spTree>
    <p:extLst>
      <p:ext uri="{BB962C8B-B14F-4D97-AF65-F5344CB8AC3E}">
        <p14:creationId xmlns:p14="http://schemas.microsoft.com/office/powerpoint/2010/main" val="2017584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3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E50C373-F1D0-494F-8D6D-366C958B3429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0" y="836049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Sometimes it is necessary, depending on the geometry of a problem, to resolve a force into 3 mutually perpendicular </a:t>
            </a:r>
            <a:r>
              <a:rPr kumimoji="0" lang="en-US" sz="24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components parallel to 3 coordinate axes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(see illustration in Fig.3)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8875690" y="2962090"/>
          <a:ext cx="2478110" cy="1301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65160" imgH="698400" progId="Equation.DSMT4">
                  <p:embed/>
                </p:oleObj>
              </mc:Choice>
              <mc:Fallback>
                <p:oleObj name="Equation" r:id="rId2" imgW="965160" imgH="698400" progId="Equation.DSMT4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5690" y="2962090"/>
                        <a:ext cx="2478110" cy="130105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25113" y="44223"/>
            <a:ext cx="10515600" cy="902412"/>
          </a:xfrm>
        </p:spPr>
        <p:txBody>
          <a:bodyPr/>
          <a:lstStyle/>
          <a:p>
            <a:pPr eaLnBrk="1" hangingPunct="1"/>
            <a:r>
              <a:rPr lang="en-US" sz="4000" dirty="0">
                <a:solidFill>
                  <a:schemeClr val="tx1"/>
                </a:solidFill>
              </a:rPr>
              <a:t>Rectangular Components of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10600" y="5633420"/>
            <a:ext cx="13909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Fig. 2.8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058E2A-D28B-4255-ABA3-BABC83A5D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31771"/>
            <a:ext cx="3537147" cy="241628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142420-E38C-4A56-B9CF-ABFD4FFBE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433" y="1541866"/>
            <a:ext cx="3537147" cy="2596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0282F6-BE7E-4B49-8C7C-C9497EDC6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278" y="4137966"/>
            <a:ext cx="3945519" cy="2755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86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5" name="Rectangle 27"/>
          <p:cNvSpPr>
            <a:spLocks noGrp="1" noRot="1" noChangeArrowheads="1"/>
          </p:cNvSpPr>
          <p:nvPr>
            <p:ph idx="1"/>
          </p:nvPr>
        </p:nvSpPr>
        <p:spPr>
          <a:xfrm>
            <a:off x="4672724" y="1556934"/>
            <a:ext cx="7336665" cy="2974280"/>
          </a:xfrm>
        </p:spPr>
        <p:txBody>
          <a:bodyPr/>
          <a:lstStyle/>
          <a:p>
            <a:pPr marL="0" indent="0" algn="just" eaLnBrk="1" hangingPunct="1">
              <a:lnSpc>
                <a:spcPct val="80000"/>
              </a:lnSpc>
              <a:buNone/>
            </a:pPr>
            <a:endParaRPr lang="en-US" sz="2500" dirty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500" dirty="0"/>
              <a:t>The three axes x, y and z are at right angles to each other. </a:t>
            </a:r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§"/>
            </a:pPr>
            <a:endParaRPr lang="en-US" sz="2500" dirty="0"/>
          </a:p>
          <a:p>
            <a:pPr algn="just" eaLnBrk="1" hangingPunct="1">
              <a:lnSpc>
                <a:spcPct val="80000"/>
              </a:lnSpc>
              <a:buFont typeface="Wingdings" pitchFamily="2" charset="2"/>
              <a:buChar char="§"/>
            </a:pPr>
            <a:r>
              <a:rPr lang="en-US" sz="2500" dirty="0" err="1"/>
              <a:t>i</a:t>
            </a:r>
            <a:r>
              <a:rPr lang="en-US" sz="2500" dirty="0"/>
              <a:t>, j and k are the unit vectors along the x, y and z axes, respectively.</a:t>
            </a:r>
          </a:p>
          <a:p>
            <a:pPr eaLnBrk="1" hangingPunct="1">
              <a:lnSpc>
                <a:spcPct val="80000"/>
              </a:lnSpc>
            </a:pPr>
            <a:endParaRPr lang="en-US" sz="2400" dirty="0"/>
          </a:p>
        </p:txBody>
      </p:sp>
      <p:grpSp>
        <p:nvGrpSpPr>
          <p:cNvPr id="66564" name="Group 3"/>
          <p:cNvGrpSpPr>
            <a:grpSpLocks/>
          </p:cNvGrpSpPr>
          <p:nvPr/>
        </p:nvGrpSpPr>
        <p:grpSpPr bwMode="auto">
          <a:xfrm>
            <a:off x="283335" y="1788013"/>
            <a:ext cx="4226753" cy="3816350"/>
            <a:chOff x="249" y="1071"/>
            <a:chExt cx="2313" cy="2404"/>
          </a:xfrm>
        </p:grpSpPr>
        <p:sp>
          <p:nvSpPr>
            <p:cNvPr id="66566" name="Line 4"/>
            <p:cNvSpPr>
              <a:spLocks noChangeShapeType="1"/>
            </p:cNvSpPr>
            <p:nvPr/>
          </p:nvSpPr>
          <p:spPr bwMode="auto">
            <a:xfrm flipV="1">
              <a:off x="975" y="1297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67" name="Line 5"/>
            <p:cNvSpPr>
              <a:spLocks noChangeShapeType="1"/>
            </p:cNvSpPr>
            <p:nvPr/>
          </p:nvSpPr>
          <p:spPr bwMode="auto">
            <a:xfrm flipH="1">
              <a:off x="657" y="2613"/>
              <a:ext cx="318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68" name="Line 6"/>
            <p:cNvSpPr>
              <a:spLocks noChangeShapeType="1"/>
            </p:cNvSpPr>
            <p:nvPr/>
          </p:nvSpPr>
          <p:spPr bwMode="auto">
            <a:xfrm>
              <a:off x="975" y="2613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69" name="Line 7"/>
            <p:cNvSpPr>
              <a:spLocks noChangeShapeType="1"/>
            </p:cNvSpPr>
            <p:nvPr/>
          </p:nvSpPr>
          <p:spPr bwMode="auto">
            <a:xfrm>
              <a:off x="975" y="2613"/>
              <a:ext cx="545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0" name="Line 8"/>
            <p:cNvSpPr>
              <a:spLocks noChangeShapeType="1"/>
            </p:cNvSpPr>
            <p:nvPr/>
          </p:nvSpPr>
          <p:spPr bwMode="auto">
            <a:xfrm flipV="1">
              <a:off x="1520" y="2069"/>
              <a:ext cx="0" cy="9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1" name="Line 9"/>
            <p:cNvSpPr>
              <a:spLocks noChangeShapeType="1"/>
            </p:cNvSpPr>
            <p:nvPr/>
          </p:nvSpPr>
          <p:spPr bwMode="auto">
            <a:xfrm flipV="1">
              <a:off x="975" y="2069"/>
              <a:ext cx="545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2" name="Line 10"/>
            <p:cNvSpPr>
              <a:spLocks noChangeShapeType="1"/>
            </p:cNvSpPr>
            <p:nvPr/>
          </p:nvSpPr>
          <p:spPr bwMode="auto">
            <a:xfrm>
              <a:off x="657" y="3021"/>
              <a:ext cx="8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3" name="Line 11"/>
            <p:cNvSpPr>
              <a:spLocks noChangeShapeType="1"/>
            </p:cNvSpPr>
            <p:nvPr/>
          </p:nvSpPr>
          <p:spPr bwMode="auto">
            <a:xfrm flipH="1">
              <a:off x="1520" y="2613"/>
              <a:ext cx="317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4" name="Line 12"/>
            <p:cNvSpPr>
              <a:spLocks noChangeShapeType="1"/>
            </p:cNvSpPr>
            <p:nvPr/>
          </p:nvSpPr>
          <p:spPr bwMode="auto">
            <a:xfrm flipV="1">
              <a:off x="975" y="1660"/>
              <a:ext cx="0" cy="9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5" name="Line 13"/>
            <p:cNvSpPr>
              <a:spLocks noChangeShapeType="1"/>
            </p:cNvSpPr>
            <p:nvPr/>
          </p:nvSpPr>
          <p:spPr bwMode="auto">
            <a:xfrm>
              <a:off x="975" y="1660"/>
              <a:ext cx="545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76" name="Text Box 14"/>
            <p:cNvSpPr txBox="1">
              <a:spLocks noChangeArrowheads="1"/>
            </p:cNvSpPr>
            <p:nvPr/>
          </p:nvSpPr>
          <p:spPr bwMode="auto">
            <a:xfrm>
              <a:off x="793" y="1071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z</a:t>
              </a:r>
            </a:p>
          </p:txBody>
        </p:sp>
        <p:sp>
          <p:nvSpPr>
            <p:cNvPr id="66577" name="Text Box 15"/>
            <p:cNvSpPr txBox="1">
              <a:spLocks noChangeArrowheads="1"/>
            </p:cNvSpPr>
            <p:nvPr/>
          </p:nvSpPr>
          <p:spPr bwMode="auto">
            <a:xfrm>
              <a:off x="249" y="324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66578" name="Text Box 16"/>
            <p:cNvSpPr txBox="1">
              <a:spLocks noChangeArrowheads="1"/>
            </p:cNvSpPr>
            <p:nvPr/>
          </p:nvSpPr>
          <p:spPr bwMode="auto">
            <a:xfrm>
              <a:off x="2245" y="2473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66579" name="Line 17"/>
            <p:cNvSpPr>
              <a:spLocks noChangeShapeType="1"/>
            </p:cNvSpPr>
            <p:nvPr/>
          </p:nvSpPr>
          <p:spPr bwMode="auto">
            <a:xfrm flipH="1">
              <a:off x="430" y="3066"/>
              <a:ext cx="181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0" name="Line 18"/>
            <p:cNvSpPr>
              <a:spLocks noChangeShapeType="1"/>
            </p:cNvSpPr>
            <p:nvPr/>
          </p:nvSpPr>
          <p:spPr bwMode="auto">
            <a:xfrm>
              <a:off x="1882" y="2613"/>
              <a:ext cx="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81" name="Text Box 19"/>
            <p:cNvSpPr txBox="1">
              <a:spLocks noChangeArrowheads="1"/>
            </p:cNvSpPr>
            <p:nvPr/>
          </p:nvSpPr>
          <p:spPr bwMode="auto">
            <a:xfrm>
              <a:off x="703" y="2023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z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6582" name="Text Box 20"/>
            <p:cNvSpPr txBox="1">
              <a:spLocks noChangeArrowheads="1"/>
            </p:cNvSpPr>
            <p:nvPr/>
          </p:nvSpPr>
          <p:spPr bwMode="auto">
            <a:xfrm>
              <a:off x="1564" y="2337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y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6583" name="Text Box 21"/>
            <p:cNvSpPr txBox="1">
              <a:spLocks noChangeArrowheads="1"/>
            </p:cNvSpPr>
            <p:nvPr/>
          </p:nvSpPr>
          <p:spPr bwMode="auto">
            <a:xfrm>
              <a:off x="521" y="2658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x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6584" name="Text Box 22"/>
            <p:cNvSpPr txBox="1">
              <a:spLocks noChangeArrowheads="1"/>
            </p:cNvSpPr>
            <p:nvPr/>
          </p:nvSpPr>
          <p:spPr bwMode="auto">
            <a:xfrm>
              <a:off x="1066" y="2069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66585" name="Text Box 23"/>
            <p:cNvSpPr txBox="1">
              <a:spLocks noChangeArrowheads="1"/>
            </p:cNvSpPr>
            <p:nvPr/>
          </p:nvSpPr>
          <p:spPr bwMode="auto">
            <a:xfrm>
              <a:off x="929" y="274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x</a:t>
              </a:r>
              <a:r>
                <a:rPr lang="en-US" baseline="-25000"/>
                <a:t>y</a:t>
              </a:r>
              <a:endParaRPr lang="en-US"/>
            </a:p>
          </p:txBody>
        </p:sp>
        <p:sp>
          <p:nvSpPr>
            <p:cNvPr id="66586" name="Text Box 24"/>
            <p:cNvSpPr txBox="1">
              <a:spLocks noChangeArrowheads="1"/>
            </p:cNvSpPr>
            <p:nvPr/>
          </p:nvSpPr>
          <p:spPr bwMode="auto">
            <a:xfrm>
              <a:off x="884" y="134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66587" name="Text Box 25"/>
            <p:cNvSpPr txBox="1">
              <a:spLocks noChangeArrowheads="1"/>
            </p:cNvSpPr>
            <p:nvPr/>
          </p:nvSpPr>
          <p:spPr bwMode="auto">
            <a:xfrm>
              <a:off x="1927" y="2568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j</a:t>
              </a:r>
            </a:p>
          </p:txBody>
        </p:sp>
        <p:sp>
          <p:nvSpPr>
            <p:cNvPr id="66588" name="Text Box 26"/>
            <p:cNvSpPr txBox="1">
              <a:spLocks noChangeArrowheads="1"/>
            </p:cNvSpPr>
            <p:nvPr/>
          </p:nvSpPr>
          <p:spPr bwMode="auto">
            <a:xfrm>
              <a:off x="431" y="3067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i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17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1243241" y="5701689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2.12</a:t>
            </a:r>
          </a:p>
        </p:txBody>
      </p:sp>
      <p:sp>
        <p:nvSpPr>
          <p:cNvPr id="4" name="Rectangle 3"/>
          <p:cNvSpPr/>
          <p:nvPr/>
        </p:nvSpPr>
        <p:spPr>
          <a:xfrm>
            <a:off x="1359668" y="492218"/>
            <a:ext cx="416691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/>
              <a:t>Cartesian Vectors</a:t>
            </a:r>
          </a:p>
        </p:txBody>
      </p:sp>
    </p:spTree>
    <p:extLst>
      <p:ext uri="{BB962C8B-B14F-4D97-AF65-F5344CB8AC3E}">
        <p14:creationId xmlns:p14="http://schemas.microsoft.com/office/powerpoint/2010/main" val="291085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1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79575" y="859765"/>
            <a:ext cx="5894187" cy="4708258"/>
          </a:xfrm>
        </p:spPr>
        <p:txBody>
          <a:bodyPr/>
          <a:lstStyle/>
          <a:p>
            <a:pPr eaLnBrk="1" hangingPunct="1">
              <a:buFont typeface="Wingdings" pitchFamily="2" charset="2"/>
              <a:buChar char="§"/>
            </a:pPr>
            <a:r>
              <a:rPr lang="en-US" sz="2400" b="1" dirty="0"/>
              <a:t>Vectors are represented by the </a:t>
            </a:r>
            <a:r>
              <a:rPr lang="en-US" sz="2400" b="1" dirty="0">
                <a:solidFill>
                  <a:srgbClr val="00B0F0"/>
                </a:solidFill>
              </a:rPr>
              <a:t>magnitudes</a:t>
            </a:r>
            <a:r>
              <a:rPr lang="en-US" sz="2400" b="1" dirty="0"/>
              <a:t> and 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directions</a:t>
            </a:r>
            <a:r>
              <a:rPr lang="en-US" sz="2400" b="1" dirty="0"/>
              <a:t> of the </a:t>
            </a:r>
            <a:r>
              <a:rPr lang="en-US" sz="2400" b="1" u="sng" dirty="0">
                <a:solidFill>
                  <a:srgbClr val="C00000"/>
                </a:solidFill>
              </a:rPr>
              <a:t>three components </a:t>
            </a:r>
            <a:r>
              <a:rPr lang="en-US" sz="2400" dirty="0"/>
              <a:t>using the unit vectors </a:t>
            </a:r>
            <a:r>
              <a:rPr lang="en-US" sz="2400" dirty="0" err="1"/>
              <a:t>i</a:t>
            </a:r>
            <a:r>
              <a:rPr lang="en-US" sz="2400" dirty="0"/>
              <a:t>, j and k.  e.g.   </a:t>
            </a:r>
          </a:p>
          <a:p>
            <a:pPr eaLnBrk="1" hangingPunct="1">
              <a:buFont typeface="Wingdings" pitchFamily="2" charset="2"/>
              <a:buChar char="§"/>
            </a:pPr>
            <a:endParaRPr lang="en-US" sz="2400" dirty="0"/>
          </a:p>
          <a:p>
            <a:pPr eaLnBrk="1" hangingPunct="1">
              <a:buFont typeface="Wingdings" pitchFamily="2" charset="2"/>
              <a:buChar char="§"/>
            </a:pPr>
            <a:endParaRPr lang="en-US" sz="2400" dirty="0"/>
          </a:p>
          <a:p>
            <a:pPr marL="0" indent="0" eaLnBrk="1" hangingPunct="1">
              <a:buNone/>
            </a:pPr>
            <a:endParaRPr lang="en-US" sz="2400" dirty="0"/>
          </a:p>
          <a:p>
            <a:pPr eaLnBrk="1" hangingPunct="1">
              <a:buFont typeface="Wingdings" pitchFamily="2" charset="2"/>
              <a:buChar char="§"/>
            </a:pPr>
            <a:r>
              <a:rPr lang="en-US" sz="2400" dirty="0"/>
              <a:t>The magnitude of the vector is given as</a:t>
            </a:r>
          </a:p>
          <a:p>
            <a:pPr eaLnBrk="1" hangingPunct="1">
              <a:buFont typeface="Wingdings" pitchFamily="2" charset="2"/>
              <a:buNone/>
            </a:pPr>
            <a:endParaRPr lang="en-US" dirty="0"/>
          </a:p>
        </p:txBody>
      </p:sp>
      <p:sp>
        <p:nvSpPr>
          <p:cNvPr id="8202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819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0773533"/>
              </p:ext>
            </p:extLst>
          </p:nvPr>
        </p:nvGraphicFramePr>
        <p:xfrm>
          <a:off x="1327441" y="4422723"/>
          <a:ext cx="26638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422400" imgH="304800" progId="Equation.DSMT4">
                  <p:embed/>
                </p:oleObj>
              </mc:Choice>
              <mc:Fallback>
                <p:oleObj name="Equation" r:id="rId3" imgW="1422400" imgH="304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441" y="4422723"/>
                        <a:ext cx="2663825" cy="571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81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5286743"/>
              </p:ext>
            </p:extLst>
          </p:nvPr>
        </p:nvGraphicFramePr>
        <p:xfrm>
          <a:off x="1681960" y="2332422"/>
          <a:ext cx="2255837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06360" imgH="253800" progId="Equation.DSMT4">
                  <p:embed/>
                </p:oleObj>
              </mc:Choice>
              <mc:Fallback>
                <p:oleObj name="Equation" r:id="rId5" imgW="12063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1960" y="2332422"/>
                        <a:ext cx="2255837" cy="469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3"/>
          <p:cNvSpPr txBox="1">
            <a:spLocks noRot="1" noChangeArrowheads="1"/>
          </p:cNvSpPr>
          <p:nvPr/>
        </p:nvSpPr>
        <p:spPr bwMode="auto">
          <a:xfrm>
            <a:off x="5973762" y="859765"/>
            <a:ext cx="6106621" cy="9309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</a:rPr>
              <a:t>A unit vector (also called </a:t>
            </a:r>
            <a:r>
              <a:rPr lang="en-US" sz="2400" b="1" kern="0" dirty="0">
                <a:solidFill>
                  <a:srgbClr val="FF0000"/>
                </a:solidFill>
              </a:rPr>
              <a:t>normalized vector</a:t>
            </a:r>
            <a:r>
              <a:rPr lang="en-US" sz="2400" kern="0" dirty="0">
                <a:solidFill>
                  <a:srgbClr val="000000"/>
                </a:solidFill>
              </a:rPr>
              <a:t>)  </a:t>
            </a:r>
            <a:r>
              <a:rPr lang="en-US" sz="2400" b="1" kern="0" dirty="0">
                <a:solidFill>
                  <a:srgbClr val="FF0000"/>
                </a:solidFill>
              </a:rPr>
              <a:t>U</a:t>
            </a:r>
            <a:r>
              <a:rPr lang="en-US" sz="2400" kern="0" dirty="0">
                <a:solidFill>
                  <a:srgbClr val="000000"/>
                </a:solidFill>
              </a:rPr>
              <a:t> is a vector whose magnitude is 1.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kern="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kern="0" dirty="0">
                <a:solidFill>
                  <a:srgbClr val="000000"/>
                </a:solidFill>
              </a:rPr>
              <a:t>If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2800" kern="0" dirty="0">
              <a:solidFill>
                <a:srgbClr val="00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q"/>
              <a:defRPr/>
            </a:pPr>
            <a:endParaRPr lang="en-US" sz="2800" kern="0" dirty="0">
              <a:solidFill>
                <a:srgbClr val="000000"/>
              </a:solidFill>
            </a:endParaRPr>
          </a:p>
        </p:txBody>
      </p:sp>
      <p:graphicFrame>
        <p:nvGraphicFramePr>
          <p:cNvPr id="8196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2231418"/>
              </p:ext>
            </p:extLst>
          </p:nvPr>
        </p:nvGraphicFramePr>
        <p:xfrm>
          <a:off x="6681787" y="2054826"/>
          <a:ext cx="719137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44114" imgH="253780" progId="Equation.3">
                  <p:embed/>
                </p:oleObj>
              </mc:Choice>
              <mc:Fallback>
                <p:oleObj name="Equation" r:id="rId7" imgW="444114" imgH="2537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1787" y="2054826"/>
                        <a:ext cx="719137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8152887"/>
              </p:ext>
            </p:extLst>
          </p:nvPr>
        </p:nvGraphicFramePr>
        <p:xfrm>
          <a:off x="5846763" y="2757488"/>
          <a:ext cx="35591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41400" imgH="469800" progId="Equation.DSMT4">
                  <p:embed/>
                </p:oleObj>
              </mc:Choice>
              <mc:Fallback>
                <p:oleObj name="Equation" r:id="rId9" imgW="1841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6763" y="2757488"/>
                        <a:ext cx="35591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327759"/>
              </p:ext>
            </p:extLst>
          </p:nvPr>
        </p:nvGraphicFramePr>
        <p:xfrm>
          <a:off x="5922963" y="3890963"/>
          <a:ext cx="290512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69800" progId="Equation.DSMT4">
                  <p:embed/>
                </p:oleObj>
              </mc:Choice>
              <mc:Fallback>
                <p:oleObj name="Equation" r:id="rId11" imgW="14094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2963" y="3890963"/>
                        <a:ext cx="290512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18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4114958" y="81656"/>
            <a:ext cx="39966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Vector Representation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56622" y="5416620"/>
            <a:ext cx="61429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b="1" dirty="0"/>
              <a:t>Unit vectors are often chosen to form the basis of a vector space</a:t>
            </a:r>
          </a:p>
        </p:txBody>
      </p:sp>
    </p:spTree>
    <p:extLst>
      <p:ext uri="{BB962C8B-B14F-4D97-AF65-F5344CB8AC3E}">
        <p14:creationId xmlns:p14="http://schemas.microsoft.com/office/powerpoint/2010/main" val="3255380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791991" y="224797"/>
            <a:ext cx="10515600" cy="902412"/>
          </a:xfrm>
        </p:spPr>
        <p:txBody>
          <a:bodyPr/>
          <a:lstStyle/>
          <a:p>
            <a:pPr eaLnBrk="1" hangingPunct="1"/>
            <a:r>
              <a:rPr lang="en-US" dirty="0"/>
              <a:t>Direction Cosines</a:t>
            </a:r>
          </a:p>
        </p:txBody>
      </p:sp>
      <p:sp>
        <p:nvSpPr>
          <p:cNvPr id="9230" name="Rectangle 3"/>
          <p:cNvSpPr>
            <a:spLocks noGrp="1" noRot="1" noChangeArrowheads="1"/>
          </p:cNvSpPr>
          <p:nvPr>
            <p:ph idx="1"/>
          </p:nvPr>
        </p:nvSpPr>
        <p:spPr>
          <a:xfrm>
            <a:off x="0" y="1000116"/>
            <a:ext cx="5398878" cy="1277937"/>
          </a:xfrm>
        </p:spPr>
        <p:txBody>
          <a:bodyPr>
            <a:normAutofit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sz="2400" dirty="0"/>
              <a:t>	The </a:t>
            </a:r>
            <a:r>
              <a:rPr lang="en-US" sz="2400" b="1" dirty="0">
                <a:solidFill>
                  <a:srgbClr val="FF0000"/>
                </a:solidFill>
              </a:rPr>
              <a:t>direction cosines are the cosine </a:t>
            </a:r>
            <a:r>
              <a:rPr lang="en-US" sz="2400" dirty="0"/>
              <a:t>of </a:t>
            </a:r>
            <a:r>
              <a:rPr lang="en-US" sz="2400" b="1" dirty="0"/>
              <a:t>angles between the tail of a vector and the positive x, y and z axes</a:t>
            </a:r>
            <a:r>
              <a:rPr lang="en-US" sz="2400" dirty="0"/>
              <a:t>.</a:t>
            </a:r>
          </a:p>
        </p:txBody>
      </p:sp>
      <p:sp>
        <p:nvSpPr>
          <p:cNvPr id="9231" name="Rectangle 4"/>
          <p:cNvSpPr>
            <a:spLocks noChangeArrowheads="1"/>
          </p:cNvSpPr>
          <p:nvPr/>
        </p:nvSpPr>
        <p:spPr bwMode="auto">
          <a:xfrm>
            <a:off x="1524001" y="31728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2" name="Rectangle 5"/>
          <p:cNvSpPr>
            <a:spLocks noChangeArrowheads="1"/>
          </p:cNvSpPr>
          <p:nvPr/>
        </p:nvSpPr>
        <p:spPr bwMode="auto">
          <a:xfrm>
            <a:off x="1524001" y="314432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3" name="Rectangle 6"/>
          <p:cNvSpPr>
            <a:spLocks noChangeArrowheads="1"/>
          </p:cNvSpPr>
          <p:nvPr/>
        </p:nvSpPr>
        <p:spPr bwMode="auto">
          <a:xfrm>
            <a:off x="1524001" y="31633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sp>
        <p:nvSpPr>
          <p:cNvPr id="9234" name="Rectangle 7"/>
          <p:cNvSpPr>
            <a:spLocks noChangeArrowheads="1"/>
          </p:cNvSpPr>
          <p:nvPr/>
        </p:nvSpPr>
        <p:spPr bwMode="auto">
          <a:xfrm>
            <a:off x="1524001" y="3010972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9218" name="Object 8"/>
          <p:cNvGraphicFramePr>
            <a:graphicFrameLocks noChangeAspect="1"/>
          </p:cNvGraphicFramePr>
          <p:nvPr/>
        </p:nvGraphicFramePr>
        <p:xfrm>
          <a:off x="7556501" y="1749425"/>
          <a:ext cx="13684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723586" imgH="469696" progId="Equation.3">
                  <p:embed/>
                </p:oleObj>
              </mc:Choice>
              <mc:Fallback>
                <p:oleObj name="Equation" r:id="rId3" imgW="723586" imgH="469696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1" y="1749425"/>
                        <a:ext cx="1368425" cy="882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5" name="Rectangle 9"/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9219" name="Object 10"/>
          <p:cNvGraphicFramePr>
            <a:graphicFrameLocks noChangeAspect="1"/>
          </p:cNvGraphicFramePr>
          <p:nvPr/>
        </p:nvGraphicFramePr>
        <p:xfrm>
          <a:off x="5986464" y="1858963"/>
          <a:ext cx="1296987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23586" imgH="457002" progId="Equation.3">
                  <p:embed/>
                </p:oleObj>
              </mc:Choice>
              <mc:Fallback>
                <p:oleObj name="Equation" r:id="rId5" imgW="723586" imgH="45700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6464" y="1858963"/>
                        <a:ext cx="1296987" cy="819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6" name="Rectangle 11"/>
          <p:cNvSpPr>
            <a:spLocks noChangeArrowheads="1"/>
          </p:cNvSpPr>
          <p:nvPr/>
        </p:nvSpPr>
        <p:spPr bwMode="auto">
          <a:xfrm>
            <a:off x="1524001" y="30157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9220" name="Object 12"/>
          <p:cNvGraphicFramePr>
            <a:graphicFrameLocks noChangeAspect="1"/>
          </p:cNvGraphicFramePr>
          <p:nvPr/>
        </p:nvGraphicFramePr>
        <p:xfrm>
          <a:off x="9199563" y="1785938"/>
          <a:ext cx="1223962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698500" imgH="457200" progId="Equation.3">
                  <p:embed/>
                </p:oleObj>
              </mc:Choice>
              <mc:Fallback>
                <p:oleObj name="Equation" r:id="rId7" imgW="6985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9563" y="1785938"/>
                        <a:ext cx="1223962" cy="8048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37" name="Text Box 13"/>
          <p:cNvSpPr txBox="1">
            <a:spLocks noChangeArrowheads="1"/>
          </p:cNvSpPr>
          <p:nvPr/>
        </p:nvSpPr>
        <p:spPr bwMode="auto">
          <a:xfrm>
            <a:off x="6899275" y="984578"/>
            <a:ext cx="31845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800" u="sng" dirty="0">
                <a:solidFill>
                  <a:srgbClr val="FF0000"/>
                </a:solidFill>
              </a:rPr>
              <a:t>Direction Cosines</a:t>
            </a:r>
          </a:p>
        </p:txBody>
      </p:sp>
      <p:sp>
        <p:nvSpPr>
          <p:cNvPr id="9238" name="Rectangle 14"/>
          <p:cNvSpPr>
            <a:spLocks noChangeArrowheads="1"/>
          </p:cNvSpPr>
          <p:nvPr/>
        </p:nvSpPr>
        <p:spPr bwMode="auto">
          <a:xfrm>
            <a:off x="1524001" y="313479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9221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5395484"/>
              </p:ext>
            </p:extLst>
          </p:nvPr>
        </p:nvGraphicFramePr>
        <p:xfrm>
          <a:off x="6888163" y="3068638"/>
          <a:ext cx="297497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90640" imgH="253800" progId="Equation.DSMT4">
                  <p:embed/>
                </p:oleObj>
              </mc:Choice>
              <mc:Fallback>
                <p:oleObj name="Equation" r:id="rId9" imgW="179064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068638"/>
                        <a:ext cx="2974975" cy="4270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40" name="Rectangle 17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9222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4355119"/>
              </p:ext>
            </p:extLst>
          </p:nvPr>
        </p:nvGraphicFramePr>
        <p:xfrm>
          <a:off x="6850062" y="3752695"/>
          <a:ext cx="30511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714320" imgH="228600" progId="Equation.DSMT4">
                  <p:embed/>
                </p:oleObj>
              </mc:Choice>
              <mc:Fallback>
                <p:oleObj name="Equation" r:id="rId11" imgW="1714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2" y="3752695"/>
                        <a:ext cx="3051175" cy="406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241" name="Group 19"/>
          <p:cNvGrpSpPr>
            <a:grpSpLocks/>
          </p:cNvGrpSpPr>
          <p:nvPr/>
        </p:nvGrpSpPr>
        <p:grpSpPr bwMode="auto">
          <a:xfrm>
            <a:off x="350726" y="2188369"/>
            <a:ext cx="4781663" cy="4027533"/>
            <a:chOff x="567" y="1896"/>
            <a:chExt cx="2313" cy="2396"/>
          </a:xfrm>
        </p:grpSpPr>
        <p:sp>
          <p:nvSpPr>
            <p:cNvPr id="9243" name="Line 20"/>
            <p:cNvSpPr>
              <a:spLocks noChangeShapeType="1"/>
            </p:cNvSpPr>
            <p:nvPr/>
          </p:nvSpPr>
          <p:spPr bwMode="auto">
            <a:xfrm flipV="1">
              <a:off x="1293" y="2114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4" name="Line 21"/>
            <p:cNvSpPr>
              <a:spLocks noChangeShapeType="1"/>
            </p:cNvSpPr>
            <p:nvPr/>
          </p:nvSpPr>
          <p:spPr bwMode="auto">
            <a:xfrm flipH="1">
              <a:off x="975" y="3430"/>
              <a:ext cx="318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5" name="Line 22"/>
            <p:cNvSpPr>
              <a:spLocks noChangeShapeType="1"/>
            </p:cNvSpPr>
            <p:nvPr/>
          </p:nvSpPr>
          <p:spPr bwMode="auto">
            <a:xfrm>
              <a:off x="1293" y="3430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6" name="Line 23"/>
            <p:cNvSpPr>
              <a:spLocks noChangeShapeType="1"/>
            </p:cNvSpPr>
            <p:nvPr/>
          </p:nvSpPr>
          <p:spPr bwMode="auto">
            <a:xfrm>
              <a:off x="1293" y="3430"/>
              <a:ext cx="545" cy="4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7" name="Line 24"/>
            <p:cNvSpPr>
              <a:spLocks noChangeShapeType="1"/>
            </p:cNvSpPr>
            <p:nvPr/>
          </p:nvSpPr>
          <p:spPr bwMode="auto">
            <a:xfrm flipV="1">
              <a:off x="1838" y="2886"/>
              <a:ext cx="0" cy="9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8" name="Line 25"/>
            <p:cNvSpPr>
              <a:spLocks noChangeShapeType="1"/>
            </p:cNvSpPr>
            <p:nvPr/>
          </p:nvSpPr>
          <p:spPr bwMode="auto">
            <a:xfrm flipV="1">
              <a:off x="1293" y="2886"/>
              <a:ext cx="545" cy="54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49" name="Line 26"/>
            <p:cNvSpPr>
              <a:spLocks noChangeShapeType="1"/>
            </p:cNvSpPr>
            <p:nvPr/>
          </p:nvSpPr>
          <p:spPr bwMode="auto">
            <a:xfrm>
              <a:off x="975" y="3838"/>
              <a:ext cx="8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0" name="Line 27"/>
            <p:cNvSpPr>
              <a:spLocks noChangeShapeType="1"/>
            </p:cNvSpPr>
            <p:nvPr/>
          </p:nvSpPr>
          <p:spPr bwMode="auto">
            <a:xfrm flipH="1">
              <a:off x="1838" y="3430"/>
              <a:ext cx="317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1" name="Line 28"/>
            <p:cNvSpPr>
              <a:spLocks noChangeShapeType="1"/>
            </p:cNvSpPr>
            <p:nvPr/>
          </p:nvSpPr>
          <p:spPr bwMode="auto">
            <a:xfrm flipV="1">
              <a:off x="1293" y="2477"/>
              <a:ext cx="0" cy="9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2" name="Line 29"/>
            <p:cNvSpPr>
              <a:spLocks noChangeShapeType="1"/>
            </p:cNvSpPr>
            <p:nvPr/>
          </p:nvSpPr>
          <p:spPr bwMode="auto">
            <a:xfrm>
              <a:off x="1293" y="2477"/>
              <a:ext cx="545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3" name="Text Box 30"/>
            <p:cNvSpPr txBox="1">
              <a:spLocks noChangeArrowheads="1"/>
            </p:cNvSpPr>
            <p:nvPr/>
          </p:nvSpPr>
          <p:spPr bwMode="auto">
            <a:xfrm>
              <a:off x="1134" y="1896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z</a:t>
              </a:r>
            </a:p>
          </p:txBody>
        </p:sp>
        <p:sp>
          <p:nvSpPr>
            <p:cNvPr id="9254" name="Text Box 31"/>
            <p:cNvSpPr txBox="1">
              <a:spLocks noChangeArrowheads="1"/>
            </p:cNvSpPr>
            <p:nvPr/>
          </p:nvSpPr>
          <p:spPr bwMode="auto">
            <a:xfrm>
              <a:off x="567" y="4061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9255" name="Text Box 32"/>
            <p:cNvSpPr txBox="1">
              <a:spLocks noChangeArrowheads="1"/>
            </p:cNvSpPr>
            <p:nvPr/>
          </p:nvSpPr>
          <p:spPr bwMode="auto">
            <a:xfrm>
              <a:off x="2563" y="3290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9256" name="Line 33"/>
            <p:cNvSpPr>
              <a:spLocks noChangeShapeType="1"/>
            </p:cNvSpPr>
            <p:nvPr/>
          </p:nvSpPr>
          <p:spPr bwMode="auto">
            <a:xfrm flipH="1">
              <a:off x="748" y="3883"/>
              <a:ext cx="181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7" name="Line 34"/>
            <p:cNvSpPr>
              <a:spLocks noChangeShapeType="1"/>
            </p:cNvSpPr>
            <p:nvPr/>
          </p:nvSpPr>
          <p:spPr bwMode="auto">
            <a:xfrm>
              <a:off x="2200" y="3430"/>
              <a:ext cx="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8" name="Text Box 35"/>
            <p:cNvSpPr txBox="1">
              <a:spLocks noChangeArrowheads="1"/>
            </p:cNvSpPr>
            <p:nvPr/>
          </p:nvSpPr>
          <p:spPr bwMode="auto">
            <a:xfrm>
              <a:off x="1248" y="261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z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259" name="Text Box 36"/>
            <p:cNvSpPr txBox="1">
              <a:spLocks noChangeArrowheads="1"/>
            </p:cNvSpPr>
            <p:nvPr/>
          </p:nvSpPr>
          <p:spPr bwMode="auto">
            <a:xfrm>
              <a:off x="1882" y="315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y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260" name="Text Box 37"/>
            <p:cNvSpPr txBox="1">
              <a:spLocks noChangeArrowheads="1"/>
            </p:cNvSpPr>
            <p:nvPr/>
          </p:nvSpPr>
          <p:spPr bwMode="auto">
            <a:xfrm>
              <a:off x="1020" y="3612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  <a:r>
                <a:rPr lang="en-US" baseline="-25000">
                  <a:solidFill>
                    <a:srgbClr val="000000"/>
                  </a:solidFill>
                </a:rPr>
                <a:t>x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9261" name="Text Box 38"/>
            <p:cNvSpPr txBox="1">
              <a:spLocks noChangeArrowheads="1"/>
            </p:cNvSpPr>
            <p:nvPr/>
          </p:nvSpPr>
          <p:spPr bwMode="auto">
            <a:xfrm>
              <a:off x="1747" y="2836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9262" name="Text Box 39"/>
            <p:cNvSpPr txBox="1">
              <a:spLocks noChangeArrowheads="1"/>
            </p:cNvSpPr>
            <p:nvPr/>
          </p:nvSpPr>
          <p:spPr bwMode="auto">
            <a:xfrm>
              <a:off x="1202" y="2161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k</a:t>
              </a:r>
            </a:p>
          </p:txBody>
        </p:sp>
        <p:sp>
          <p:nvSpPr>
            <p:cNvPr id="9263" name="Text Box 40"/>
            <p:cNvSpPr txBox="1">
              <a:spLocks noChangeArrowheads="1"/>
            </p:cNvSpPr>
            <p:nvPr/>
          </p:nvSpPr>
          <p:spPr bwMode="auto">
            <a:xfrm>
              <a:off x="2245" y="338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j</a:t>
              </a:r>
            </a:p>
          </p:txBody>
        </p:sp>
        <p:sp>
          <p:nvSpPr>
            <p:cNvPr id="9264" name="Text Box 41"/>
            <p:cNvSpPr txBox="1">
              <a:spLocks noChangeArrowheads="1"/>
            </p:cNvSpPr>
            <p:nvPr/>
          </p:nvSpPr>
          <p:spPr bwMode="auto">
            <a:xfrm>
              <a:off x="749" y="388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i</a:t>
              </a:r>
            </a:p>
          </p:txBody>
        </p:sp>
        <p:sp>
          <p:nvSpPr>
            <p:cNvPr id="9265" name="Freeform 42"/>
            <p:cNvSpPr>
              <a:spLocks/>
            </p:cNvSpPr>
            <p:nvPr/>
          </p:nvSpPr>
          <p:spPr bwMode="auto">
            <a:xfrm>
              <a:off x="1062" y="3162"/>
              <a:ext cx="465" cy="506"/>
            </a:xfrm>
            <a:custGeom>
              <a:avLst/>
              <a:gdLst>
                <a:gd name="T0" fmla="*/ 465 w 465"/>
                <a:gd name="T1" fmla="*/ 32 h 506"/>
                <a:gd name="T2" fmla="*/ 303 w 465"/>
                <a:gd name="T3" fmla="*/ 6 h 506"/>
                <a:gd name="T4" fmla="*/ 136 w 465"/>
                <a:gd name="T5" fmla="*/ 67 h 506"/>
                <a:gd name="T6" fmla="*/ 16 w 465"/>
                <a:gd name="T7" fmla="*/ 269 h 506"/>
                <a:gd name="T8" fmla="*/ 42 w 465"/>
                <a:gd name="T9" fmla="*/ 506 h 5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65"/>
                <a:gd name="T16" fmla="*/ 0 h 506"/>
                <a:gd name="T17" fmla="*/ 465 w 465"/>
                <a:gd name="T18" fmla="*/ 506 h 5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65" h="506">
                  <a:moveTo>
                    <a:pt x="465" y="32"/>
                  </a:moveTo>
                  <a:cubicBezTo>
                    <a:pt x="437" y="28"/>
                    <a:pt x="358" y="0"/>
                    <a:pt x="303" y="6"/>
                  </a:cubicBezTo>
                  <a:cubicBezTo>
                    <a:pt x="248" y="12"/>
                    <a:pt x="184" y="23"/>
                    <a:pt x="136" y="67"/>
                  </a:cubicBezTo>
                  <a:cubicBezTo>
                    <a:pt x="88" y="111"/>
                    <a:pt x="32" y="196"/>
                    <a:pt x="16" y="269"/>
                  </a:cubicBezTo>
                  <a:cubicBezTo>
                    <a:pt x="0" y="342"/>
                    <a:pt x="37" y="457"/>
                    <a:pt x="42" y="50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6" name="Freeform 43"/>
            <p:cNvSpPr>
              <a:spLocks/>
            </p:cNvSpPr>
            <p:nvPr/>
          </p:nvSpPr>
          <p:spPr bwMode="auto">
            <a:xfrm>
              <a:off x="1293" y="2931"/>
              <a:ext cx="318" cy="181"/>
            </a:xfrm>
            <a:custGeom>
              <a:avLst/>
              <a:gdLst>
                <a:gd name="T0" fmla="*/ 318 w 318"/>
                <a:gd name="T1" fmla="*/ 181 h 181"/>
                <a:gd name="T2" fmla="*/ 272 w 318"/>
                <a:gd name="T3" fmla="*/ 45 h 181"/>
                <a:gd name="T4" fmla="*/ 136 w 318"/>
                <a:gd name="T5" fmla="*/ 0 h 181"/>
                <a:gd name="T6" fmla="*/ 0 w 318"/>
                <a:gd name="T7" fmla="*/ 45 h 1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18"/>
                <a:gd name="T13" fmla="*/ 0 h 181"/>
                <a:gd name="T14" fmla="*/ 318 w 318"/>
                <a:gd name="T15" fmla="*/ 181 h 1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18" h="181">
                  <a:moveTo>
                    <a:pt x="318" y="181"/>
                  </a:moveTo>
                  <a:cubicBezTo>
                    <a:pt x="310" y="128"/>
                    <a:pt x="302" y="75"/>
                    <a:pt x="272" y="45"/>
                  </a:cubicBezTo>
                  <a:cubicBezTo>
                    <a:pt x="242" y="15"/>
                    <a:pt x="181" y="0"/>
                    <a:pt x="136" y="0"/>
                  </a:cubicBezTo>
                  <a:cubicBezTo>
                    <a:pt x="91" y="0"/>
                    <a:pt x="45" y="22"/>
                    <a:pt x="0" y="4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7" name="Freeform 44"/>
            <p:cNvSpPr>
              <a:spLocks/>
            </p:cNvSpPr>
            <p:nvPr/>
          </p:nvSpPr>
          <p:spPr bwMode="auto">
            <a:xfrm>
              <a:off x="1520" y="3203"/>
              <a:ext cx="136" cy="227"/>
            </a:xfrm>
            <a:custGeom>
              <a:avLst/>
              <a:gdLst>
                <a:gd name="T0" fmla="*/ 0 w 143"/>
                <a:gd name="T1" fmla="*/ 0 h 272"/>
                <a:gd name="T2" fmla="*/ 53 w 143"/>
                <a:gd name="T3" fmla="*/ 7 h 272"/>
                <a:gd name="T4" fmla="*/ 79 w 143"/>
                <a:gd name="T5" fmla="*/ 19 h 272"/>
                <a:gd name="T6" fmla="*/ 79 w 143"/>
                <a:gd name="T7" fmla="*/ 37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"/>
                <a:gd name="T13" fmla="*/ 0 h 272"/>
                <a:gd name="T14" fmla="*/ 143 w 143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" h="272">
                  <a:moveTo>
                    <a:pt x="0" y="0"/>
                  </a:moveTo>
                  <a:cubicBezTo>
                    <a:pt x="34" y="11"/>
                    <a:pt x="68" y="22"/>
                    <a:pt x="91" y="45"/>
                  </a:cubicBezTo>
                  <a:cubicBezTo>
                    <a:pt x="114" y="68"/>
                    <a:pt x="129" y="98"/>
                    <a:pt x="136" y="136"/>
                  </a:cubicBezTo>
                  <a:cubicBezTo>
                    <a:pt x="143" y="174"/>
                    <a:pt x="139" y="223"/>
                    <a:pt x="136" y="27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graphicFrame>
          <p:nvGraphicFramePr>
            <p:cNvPr id="9225" name="Object 45"/>
            <p:cNvGraphicFramePr>
              <a:graphicFrameLocks noChangeAspect="1"/>
            </p:cNvGraphicFramePr>
            <p:nvPr/>
          </p:nvGraphicFramePr>
          <p:xfrm>
            <a:off x="1066" y="3339"/>
            <a:ext cx="227" cy="2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52334" imgH="139639" progId="Equation.3">
                    <p:embed/>
                  </p:oleObj>
                </mc:Choice>
                <mc:Fallback>
                  <p:oleObj name="Equation" r:id="rId13" imgW="152334" imgH="13963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6" y="3339"/>
                          <a:ext cx="227" cy="21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6" name="Object 46"/>
            <p:cNvGraphicFramePr>
              <a:graphicFrameLocks noChangeAspect="1"/>
            </p:cNvGraphicFramePr>
            <p:nvPr/>
          </p:nvGraphicFramePr>
          <p:xfrm>
            <a:off x="1475" y="3249"/>
            <a:ext cx="151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52268" imgH="203024" progId="Equation.3">
                    <p:embed/>
                  </p:oleObj>
                </mc:Choice>
                <mc:Fallback>
                  <p:oleObj name="Equation" r:id="rId15" imgW="152268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3249"/>
                          <a:ext cx="151" cy="19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7" name="Object 47"/>
            <p:cNvGraphicFramePr>
              <a:graphicFrameLocks noChangeAspect="1"/>
            </p:cNvGraphicFramePr>
            <p:nvPr/>
          </p:nvGraphicFramePr>
          <p:xfrm>
            <a:off x="1384" y="2976"/>
            <a:ext cx="143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26780" imgH="164814" progId="Equation.3">
                    <p:embed/>
                  </p:oleObj>
                </mc:Choice>
                <mc:Fallback>
                  <p:oleObj name="Equation" r:id="rId17" imgW="126780" imgH="16481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4" y="2976"/>
                          <a:ext cx="143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68" name="Line 48"/>
            <p:cNvSpPr>
              <a:spLocks noChangeShapeType="1"/>
            </p:cNvSpPr>
            <p:nvPr/>
          </p:nvSpPr>
          <p:spPr bwMode="auto">
            <a:xfrm flipV="1">
              <a:off x="2154" y="2478"/>
              <a:ext cx="0" cy="9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69" name="Line 49"/>
            <p:cNvSpPr>
              <a:spLocks noChangeShapeType="1"/>
            </p:cNvSpPr>
            <p:nvPr/>
          </p:nvSpPr>
          <p:spPr bwMode="auto">
            <a:xfrm>
              <a:off x="1292" y="2478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0" name="Line 50"/>
            <p:cNvSpPr>
              <a:spLocks noChangeShapeType="1"/>
            </p:cNvSpPr>
            <p:nvPr/>
          </p:nvSpPr>
          <p:spPr bwMode="auto">
            <a:xfrm flipH="1">
              <a:off x="1837" y="2478"/>
              <a:ext cx="317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1" name="Line 51"/>
            <p:cNvSpPr>
              <a:spLocks noChangeShapeType="1"/>
            </p:cNvSpPr>
            <p:nvPr/>
          </p:nvSpPr>
          <p:spPr bwMode="auto">
            <a:xfrm flipV="1">
              <a:off x="975" y="2886"/>
              <a:ext cx="0" cy="9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2" name="Line 52"/>
            <p:cNvSpPr>
              <a:spLocks noChangeShapeType="1"/>
            </p:cNvSpPr>
            <p:nvPr/>
          </p:nvSpPr>
          <p:spPr bwMode="auto">
            <a:xfrm flipH="1">
              <a:off x="975" y="2886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73" name="Line 53"/>
            <p:cNvSpPr>
              <a:spLocks noChangeShapeType="1"/>
            </p:cNvSpPr>
            <p:nvPr/>
          </p:nvSpPr>
          <p:spPr bwMode="auto">
            <a:xfrm flipH="1">
              <a:off x="975" y="2478"/>
              <a:ext cx="317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242" name="Rectangle 54"/>
          <p:cNvSpPr>
            <a:spLocks noChangeArrowheads="1"/>
          </p:cNvSpPr>
          <p:nvPr/>
        </p:nvSpPr>
        <p:spPr bwMode="auto">
          <a:xfrm>
            <a:off x="4945487" y="4487863"/>
            <a:ext cx="712201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000000"/>
                </a:solidFill>
              </a:rPr>
              <a:t>If a force of magnitude      is directed along a line r, then the force vector is defined as</a:t>
            </a:r>
          </a:p>
        </p:txBody>
      </p:sp>
      <p:graphicFrame>
        <p:nvGraphicFramePr>
          <p:cNvPr id="922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2601640"/>
              </p:ext>
            </p:extLst>
          </p:nvPr>
        </p:nvGraphicFramePr>
        <p:xfrm>
          <a:off x="6850063" y="5440363"/>
          <a:ext cx="2203450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34725" imgH="444307" progId="Equation.3">
                  <p:embed/>
                </p:oleObj>
              </mc:Choice>
              <mc:Fallback>
                <p:oleObj name="Equation" r:id="rId19" imgW="634725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0063" y="5440363"/>
                        <a:ext cx="2203450" cy="8080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4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9849096"/>
              </p:ext>
            </p:extLst>
          </p:nvPr>
        </p:nvGraphicFramePr>
        <p:xfrm>
          <a:off x="8145835" y="4529139"/>
          <a:ext cx="315585" cy="366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03040" imgH="253800" progId="Equation.3">
                  <p:embed/>
                </p:oleObj>
              </mc:Choice>
              <mc:Fallback>
                <p:oleObj name="Equation" r:id="rId21" imgW="203040" imgH="253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45835" y="4529139"/>
                        <a:ext cx="315585" cy="3665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19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98185" y="6370629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2.13</a:t>
            </a:r>
          </a:p>
        </p:txBody>
      </p:sp>
    </p:spTree>
    <p:extLst>
      <p:ext uri="{BB962C8B-B14F-4D97-AF65-F5344CB8AC3E}">
        <p14:creationId xmlns:p14="http://schemas.microsoft.com/office/powerpoint/2010/main" val="330415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9" name="Group 4"/>
          <p:cNvGrpSpPr>
            <a:grpSpLocks/>
          </p:cNvGrpSpPr>
          <p:nvPr/>
        </p:nvGrpSpPr>
        <p:grpSpPr bwMode="auto">
          <a:xfrm>
            <a:off x="390379" y="1937544"/>
            <a:ext cx="4722534" cy="3825875"/>
            <a:chOff x="612" y="1752"/>
            <a:chExt cx="2313" cy="2410"/>
          </a:xfrm>
        </p:grpSpPr>
        <p:sp>
          <p:nvSpPr>
            <p:cNvPr id="10252" name="Line 5"/>
            <p:cNvSpPr>
              <a:spLocks noChangeShapeType="1"/>
            </p:cNvSpPr>
            <p:nvPr/>
          </p:nvSpPr>
          <p:spPr bwMode="auto">
            <a:xfrm flipV="1">
              <a:off x="1338" y="1978"/>
              <a:ext cx="0" cy="3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3" name="Line 6"/>
            <p:cNvSpPr>
              <a:spLocks noChangeShapeType="1"/>
            </p:cNvSpPr>
            <p:nvPr/>
          </p:nvSpPr>
          <p:spPr bwMode="auto">
            <a:xfrm flipH="1">
              <a:off x="1020" y="3294"/>
              <a:ext cx="318" cy="40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4" name="Line 7"/>
            <p:cNvSpPr>
              <a:spLocks noChangeShapeType="1"/>
            </p:cNvSpPr>
            <p:nvPr/>
          </p:nvSpPr>
          <p:spPr bwMode="auto">
            <a:xfrm>
              <a:off x="1338" y="3294"/>
              <a:ext cx="8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5" name="Line 8"/>
            <p:cNvSpPr>
              <a:spLocks noChangeShapeType="1"/>
            </p:cNvSpPr>
            <p:nvPr/>
          </p:nvSpPr>
          <p:spPr bwMode="auto">
            <a:xfrm>
              <a:off x="1338" y="3294"/>
              <a:ext cx="544" cy="6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6" name="Line 9"/>
            <p:cNvSpPr>
              <a:spLocks noChangeShapeType="1"/>
            </p:cNvSpPr>
            <p:nvPr/>
          </p:nvSpPr>
          <p:spPr bwMode="auto">
            <a:xfrm flipV="1">
              <a:off x="1338" y="2659"/>
              <a:ext cx="635" cy="63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7" name="Line 10"/>
            <p:cNvSpPr>
              <a:spLocks noChangeShapeType="1"/>
            </p:cNvSpPr>
            <p:nvPr/>
          </p:nvSpPr>
          <p:spPr bwMode="auto">
            <a:xfrm flipV="1">
              <a:off x="1338" y="2341"/>
              <a:ext cx="0" cy="95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58" name="Text Box 11"/>
            <p:cNvSpPr txBox="1">
              <a:spLocks noChangeArrowheads="1"/>
            </p:cNvSpPr>
            <p:nvPr/>
          </p:nvSpPr>
          <p:spPr bwMode="auto">
            <a:xfrm>
              <a:off x="1156" y="1752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z</a:t>
              </a:r>
            </a:p>
          </p:txBody>
        </p:sp>
        <p:sp>
          <p:nvSpPr>
            <p:cNvPr id="10259" name="Text Box 12"/>
            <p:cNvSpPr txBox="1">
              <a:spLocks noChangeArrowheads="1"/>
            </p:cNvSpPr>
            <p:nvPr/>
          </p:nvSpPr>
          <p:spPr bwMode="auto">
            <a:xfrm>
              <a:off x="612" y="3925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10260" name="Text Box 13"/>
            <p:cNvSpPr txBox="1">
              <a:spLocks noChangeArrowheads="1"/>
            </p:cNvSpPr>
            <p:nvPr/>
          </p:nvSpPr>
          <p:spPr bwMode="auto">
            <a:xfrm>
              <a:off x="2608" y="3154"/>
              <a:ext cx="317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y</a:t>
              </a:r>
            </a:p>
          </p:txBody>
        </p:sp>
        <p:sp>
          <p:nvSpPr>
            <p:cNvPr id="10261" name="Line 14"/>
            <p:cNvSpPr>
              <a:spLocks noChangeShapeType="1"/>
            </p:cNvSpPr>
            <p:nvPr/>
          </p:nvSpPr>
          <p:spPr bwMode="auto">
            <a:xfrm flipH="1">
              <a:off x="793" y="3747"/>
              <a:ext cx="181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2" name="Line 15"/>
            <p:cNvSpPr>
              <a:spLocks noChangeShapeType="1"/>
            </p:cNvSpPr>
            <p:nvPr/>
          </p:nvSpPr>
          <p:spPr bwMode="auto">
            <a:xfrm>
              <a:off x="2245" y="3294"/>
              <a:ext cx="3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3" name="Text Box 16"/>
            <p:cNvSpPr txBox="1">
              <a:spLocks noChangeArrowheads="1"/>
            </p:cNvSpPr>
            <p:nvPr/>
          </p:nvSpPr>
          <p:spPr bwMode="auto">
            <a:xfrm>
              <a:off x="1338" y="2745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30</a:t>
              </a:r>
              <a:r>
                <a:rPr lang="en-US" baseline="30000" dirty="0">
                  <a:solidFill>
                    <a:srgbClr val="000000"/>
                  </a:solidFill>
                </a:rPr>
                <a:t>o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0264" name="Text Box 17"/>
            <p:cNvSpPr txBox="1">
              <a:spLocks noChangeArrowheads="1"/>
            </p:cNvSpPr>
            <p:nvPr/>
          </p:nvSpPr>
          <p:spPr bwMode="auto">
            <a:xfrm>
              <a:off x="1882" y="2478"/>
              <a:ext cx="72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  <a:r>
                <a:rPr lang="en-US" baseline="-25000" dirty="0">
                  <a:solidFill>
                    <a:srgbClr val="000000"/>
                  </a:solidFill>
                </a:rPr>
                <a:t>1</a:t>
              </a:r>
              <a:r>
                <a:rPr lang="en-US" dirty="0">
                  <a:solidFill>
                    <a:srgbClr val="000000"/>
                  </a:solidFill>
                </a:rPr>
                <a:t> = 4 </a:t>
              </a:r>
              <a:r>
                <a:rPr lang="en-US" dirty="0" err="1">
                  <a:solidFill>
                    <a:srgbClr val="000000"/>
                  </a:solidFill>
                </a:rPr>
                <a:t>kN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0265" name="Freeform 18"/>
            <p:cNvSpPr>
              <a:spLocks/>
            </p:cNvSpPr>
            <p:nvPr/>
          </p:nvSpPr>
          <p:spPr bwMode="auto">
            <a:xfrm rot="-3610437">
              <a:off x="1487" y="2578"/>
              <a:ext cx="136" cy="453"/>
            </a:xfrm>
            <a:custGeom>
              <a:avLst/>
              <a:gdLst>
                <a:gd name="T0" fmla="*/ 0 w 143"/>
                <a:gd name="T1" fmla="*/ 0 h 272"/>
                <a:gd name="T2" fmla="*/ 53 w 143"/>
                <a:gd name="T3" fmla="*/ 12288 h 272"/>
                <a:gd name="T4" fmla="*/ 79 w 143"/>
                <a:gd name="T5" fmla="*/ 37284 h 272"/>
                <a:gd name="T6" fmla="*/ 79 w 143"/>
                <a:gd name="T7" fmla="*/ 74340 h 27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3"/>
                <a:gd name="T13" fmla="*/ 0 h 272"/>
                <a:gd name="T14" fmla="*/ 143 w 143"/>
                <a:gd name="T15" fmla="*/ 272 h 27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3" h="272">
                  <a:moveTo>
                    <a:pt x="0" y="0"/>
                  </a:moveTo>
                  <a:cubicBezTo>
                    <a:pt x="34" y="11"/>
                    <a:pt x="68" y="22"/>
                    <a:pt x="91" y="45"/>
                  </a:cubicBezTo>
                  <a:cubicBezTo>
                    <a:pt x="114" y="68"/>
                    <a:pt x="129" y="98"/>
                    <a:pt x="136" y="136"/>
                  </a:cubicBezTo>
                  <a:cubicBezTo>
                    <a:pt x="143" y="174"/>
                    <a:pt x="139" y="223"/>
                    <a:pt x="136" y="27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66" name="Text Box 19"/>
            <p:cNvSpPr txBox="1">
              <a:spLocks noChangeArrowheads="1"/>
            </p:cNvSpPr>
            <p:nvPr/>
          </p:nvSpPr>
          <p:spPr bwMode="auto">
            <a:xfrm>
              <a:off x="1112" y="3381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67" name="Text Box 20"/>
            <p:cNvSpPr txBox="1">
              <a:spLocks noChangeArrowheads="1"/>
            </p:cNvSpPr>
            <p:nvPr/>
          </p:nvSpPr>
          <p:spPr bwMode="auto">
            <a:xfrm>
              <a:off x="1474" y="3022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135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68" name="Text Box 21"/>
            <p:cNvSpPr txBox="1">
              <a:spLocks noChangeArrowheads="1"/>
            </p:cNvSpPr>
            <p:nvPr/>
          </p:nvSpPr>
          <p:spPr bwMode="auto">
            <a:xfrm>
              <a:off x="1519" y="3426"/>
              <a:ext cx="45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0269" name="Freeform 22"/>
            <p:cNvSpPr>
              <a:spLocks/>
            </p:cNvSpPr>
            <p:nvPr/>
          </p:nvSpPr>
          <p:spPr bwMode="auto">
            <a:xfrm>
              <a:off x="1156" y="3542"/>
              <a:ext cx="405" cy="115"/>
            </a:xfrm>
            <a:custGeom>
              <a:avLst/>
              <a:gdLst>
                <a:gd name="T0" fmla="*/ 0 w 405"/>
                <a:gd name="T1" fmla="*/ 0 h 115"/>
                <a:gd name="T2" fmla="*/ 136 w 405"/>
                <a:gd name="T3" fmla="*/ 101 h 115"/>
                <a:gd name="T4" fmla="*/ 309 w 405"/>
                <a:gd name="T5" fmla="*/ 87 h 115"/>
                <a:gd name="T6" fmla="*/ 405 w 405"/>
                <a:gd name="T7" fmla="*/ 8 h 11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05"/>
                <a:gd name="T13" fmla="*/ 0 h 115"/>
                <a:gd name="T14" fmla="*/ 405 w 405"/>
                <a:gd name="T15" fmla="*/ 115 h 11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05" h="115">
                  <a:moveTo>
                    <a:pt x="0" y="0"/>
                  </a:moveTo>
                  <a:cubicBezTo>
                    <a:pt x="23" y="16"/>
                    <a:pt x="85" y="87"/>
                    <a:pt x="136" y="101"/>
                  </a:cubicBezTo>
                  <a:cubicBezTo>
                    <a:pt x="187" y="115"/>
                    <a:pt x="264" y="102"/>
                    <a:pt x="309" y="87"/>
                  </a:cubicBezTo>
                  <a:cubicBezTo>
                    <a:pt x="354" y="72"/>
                    <a:pt x="385" y="24"/>
                    <a:pt x="405" y="8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0" name="Freeform 23"/>
            <p:cNvSpPr>
              <a:spLocks/>
            </p:cNvSpPr>
            <p:nvPr/>
          </p:nvSpPr>
          <p:spPr bwMode="auto">
            <a:xfrm>
              <a:off x="1746" y="3294"/>
              <a:ext cx="181" cy="499"/>
            </a:xfrm>
            <a:custGeom>
              <a:avLst/>
              <a:gdLst>
                <a:gd name="T0" fmla="*/ 0 w 181"/>
                <a:gd name="T1" fmla="*/ 1314667 h 227"/>
                <a:gd name="T2" fmla="*/ 136 w 181"/>
                <a:gd name="T3" fmla="*/ 787242 h 227"/>
                <a:gd name="T4" fmla="*/ 181 w 181"/>
                <a:gd name="T5" fmla="*/ 0 h 227"/>
                <a:gd name="T6" fmla="*/ 0 60000 65536"/>
                <a:gd name="T7" fmla="*/ 0 60000 65536"/>
                <a:gd name="T8" fmla="*/ 0 60000 65536"/>
                <a:gd name="T9" fmla="*/ 0 w 181"/>
                <a:gd name="T10" fmla="*/ 0 h 227"/>
                <a:gd name="T11" fmla="*/ 181 w 181"/>
                <a:gd name="T12" fmla="*/ 227 h 2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1" h="227">
                  <a:moveTo>
                    <a:pt x="0" y="227"/>
                  </a:moveTo>
                  <a:cubicBezTo>
                    <a:pt x="53" y="200"/>
                    <a:pt x="106" y="174"/>
                    <a:pt x="136" y="136"/>
                  </a:cubicBezTo>
                  <a:cubicBezTo>
                    <a:pt x="166" y="98"/>
                    <a:pt x="174" y="30"/>
                    <a:pt x="181" y="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1" name="Freeform 24"/>
            <p:cNvSpPr>
              <a:spLocks/>
            </p:cNvSpPr>
            <p:nvPr/>
          </p:nvSpPr>
          <p:spPr bwMode="auto">
            <a:xfrm>
              <a:off x="1338" y="2886"/>
              <a:ext cx="227" cy="635"/>
            </a:xfrm>
            <a:custGeom>
              <a:avLst/>
              <a:gdLst>
                <a:gd name="T0" fmla="*/ 0 w 227"/>
                <a:gd name="T1" fmla="*/ 0 h 635"/>
                <a:gd name="T2" fmla="*/ 181 w 227"/>
                <a:gd name="T3" fmla="*/ 136 h 635"/>
                <a:gd name="T4" fmla="*/ 227 w 227"/>
                <a:gd name="T5" fmla="*/ 453 h 635"/>
                <a:gd name="T6" fmla="*/ 181 w 227"/>
                <a:gd name="T7" fmla="*/ 635 h 6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27"/>
                <a:gd name="T13" fmla="*/ 0 h 635"/>
                <a:gd name="T14" fmla="*/ 227 w 227"/>
                <a:gd name="T15" fmla="*/ 635 h 6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27" h="635">
                  <a:moveTo>
                    <a:pt x="0" y="0"/>
                  </a:moveTo>
                  <a:cubicBezTo>
                    <a:pt x="71" y="30"/>
                    <a:pt x="143" y="61"/>
                    <a:pt x="181" y="136"/>
                  </a:cubicBezTo>
                  <a:cubicBezTo>
                    <a:pt x="219" y="211"/>
                    <a:pt x="227" y="370"/>
                    <a:pt x="227" y="453"/>
                  </a:cubicBezTo>
                  <a:cubicBezTo>
                    <a:pt x="227" y="536"/>
                    <a:pt x="204" y="585"/>
                    <a:pt x="181" y="635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2" name="Text Box 25"/>
            <p:cNvSpPr txBox="1">
              <a:spLocks noChangeArrowheads="1"/>
            </p:cNvSpPr>
            <p:nvPr/>
          </p:nvSpPr>
          <p:spPr bwMode="auto">
            <a:xfrm>
              <a:off x="1565" y="3929"/>
              <a:ext cx="88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F</a:t>
              </a:r>
              <a:r>
                <a:rPr lang="en-US" baseline="-25000" dirty="0">
                  <a:solidFill>
                    <a:srgbClr val="000000"/>
                  </a:solidFill>
                </a:rPr>
                <a:t>2</a:t>
              </a:r>
              <a:r>
                <a:rPr lang="en-US" dirty="0">
                  <a:solidFill>
                    <a:srgbClr val="000000"/>
                  </a:solidFill>
                </a:rPr>
                <a:t> = 10 </a:t>
              </a:r>
              <a:r>
                <a:rPr lang="en-US" dirty="0" err="1">
                  <a:solidFill>
                    <a:srgbClr val="000000"/>
                  </a:solidFill>
                </a:rPr>
                <a:t>kN</a:t>
              </a:r>
              <a:endParaRPr lang="en-US" dirty="0">
                <a:solidFill>
                  <a:srgbClr val="000000"/>
                </a:solidFill>
              </a:endParaRPr>
            </a:p>
          </p:txBody>
        </p:sp>
        <p:sp>
          <p:nvSpPr>
            <p:cNvPr id="10273" name="Line 26"/>
            <p:cNvSpPr>
              <a:spLocks noChangeShapeType="1"/>
            </p:cNvSpPr>
            <p:nvPr/>
          </p:nvSpPr>
          <p:spPr bwMode="auto">
            <a:xfrm>
              <a:off x="1338" y="2659"/>
              <a:ext cx="63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74" name="Line 27"/>
            <p:cNvSpPr>
              <a:spLocks noChangeShapeType="1"/>
            </p:cNvSpPr>
            <p:nvPr/>
          </p:nvSpPr>
          <p:spPr bwMode="auto">
            <a:xfrm>
              <a:off x="1973" y="2659"/>
              <a:ext cx="0" cy="63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024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1611231"/>
              </p:ext>
            </p:extLst>
          </p:nvPr>
        </p:nvGraphicFramePr>
        <p:xfrm>
          <a:off x="6171867" y="1164828"/>
          <a:ext cx="3484562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298600" imgH="558720" progId="Equation.DSMT4">
                  <p:embed/>
                </p:oleObj>
              </mc:Choice>
              <mc:Fallback>
                <p:oleObj name="Equation" r:id="rId3" imgW="229860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867" y="1164828"/>
                        <a:ext cx="3484562" cy="847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6639495"/>
              </p:ext>
            </p:extLst>
          </p:nvPr>
        </p:nvGraphicFramePr>
        <p:xfrm>
          <a:off x="6171867" y="2239962"/>
          <a:ext cx="4014787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717640" imgH="558720" progId="Equation.DSMT4">
                  <p:embed/>
                </p:oleObj>
              </mc:Choice>
              <mc:Fallback>
                <p:oleObj name="Equation" r:id="rId5" imgW="271764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1867" y="2239962"/>
                        <a:ext cx="4014787" cy="828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73041"/>
              </p:ext>
            </p:extLst>
          </p:nvPr>
        </p:nvGraphicFramePr>
        <p:xfrm>
          <a:off x="6251575" y="3272900"/>
          <a:ext cx="246856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01720" imgH="482400" progId="Equation.DSMT4">
                  <p:embed/>
                </p:oleObj>
              </mc:Choice>
              <mc:Fallback>
                <p:oleObj name="Equation" r:id="rId7" imgW="1701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3272900"/>
                        <a:ext cx="2468562" cy="693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0" name="Rectangle 31"/>
          <p:cNvSpPr>
            <a:spLocks noChangeArrowheads="1"/>
          </p:cNvSpPr>
          <p:nvPr/>
        </p:nvSpPr>
        <p:spPr bwMode="auto">
          <a:xfrm>
            <a:off x="6770688" y="2128838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/>
          </a:p>
        </p:txBody>
      </p:sp>
      <p:graphicFrame>
        <p:nvGraphicFramePr>
          <p:cNvPr id="10245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6969078"/>
              </p:ext>
            </p:extLst>
          </p:nvPr>
        </p:nvGraphicFramePr>
        <p:xfrm>
          <a:off x="6251575" y="4156489"/>
          <a:ext cx="3363913" cy="2527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463480" imgH="1854000" progId="Equation.DSMT4">
                  <p:embed/>
                </p:oleObj>
              </mc:Choice>
              <mc:Fallback>
                <p:oleObj name="Equation" r:id="rId9" imgW="2463480" imgH="1854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51575" y="4156489"/>
                        <a:ext cx="3363913" cy="2527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20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491775" y="102750"/>
            <a:ext cx="220983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/>
              <a:t>Example 2.7</a:t>
            </a:r>
          </a:p>
        </p:txBody>
      </p:sp>
      <p:sp>
        <p:nvSpPr>
          <p:cNvPr id="5" name="Rectangle 4"/>
          <p:cNvSpPr/>
          <p:nvPr/>
        </p:nvSpPr>
        <p:spPr>
          <a:xfrm>
            <a:off x="20279" y="79865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Determine the </a:t>
            </a:r>
            <a:r>
              <a:rPr lang="en-US" sz="2400" b="1" dirty="0">
                <a:solidFill>
                  <a:srgbClr val="FF0000"/>
                </a:solidFill>
              </a:rPr>
              <a:t>magnitude and  coordinate direction angles </a:t>
            </a:r>
            <a:r>
              <a:rPr lang="en-US" sz="2400" dirty="0"/>
              <a:t>of the resultant force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770688" y="131942"/>
            <a:ext cx="21820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spcBef>
                <a:spcPct val="20000"/>
              </a:spcBef>
              <a:defRPr/>
            </a:pPr>
            <a:r>
              <a:rPr lang="en-US" sz="3600" b="1" kern="0" dirty="0">
                <a:solidFill>
                  <a:srgbClr val="000000"/>
                </a:solidFill>
              </a:rPr>
              <a:t>SOLUTION</a:t>
            </a:r>
          </a:p>
        </p:txBody>
      </p:sp>
    </p:spTree>
    <p:extLst>
      <p:ext uri="{BB962C8B-B14F-4D97-AF65-F5344CB8AC3E}">
        <p14:creationId xmlns:p14="http://schemas.microsoft.com/office/powerpoint/2010/main" val="125541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9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81000" y="214344"/>
            <a:ext cx="5620305" cy="779955"/>
          </a:xfrm>
        </p:spPr>
        <p:txBody>
          <a:bodyPr/>
          <a:lstStyle/>
          <a:p>
            <a:pPr eaLnBrk="1" hangingPunct="1"/>
            <a:r>
              <a:rPr lang="en-US" dirty="0"/>
              <a:t>Product of Two Vectors</a:t>
            </a:r>
          </a:p>
        </p:txBody>
      </p:sp>
      <p:pic>
        <p:nvPicPr>
          <p:cNvPr id="13325" name="Picture 4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0026" y="1419227"/>
            <a:ext cx="2737465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457200" y="1381950"/>
            <a:ext cx="5638800" cy="2646363"/>
            <a:chOff x="195" y="763"/>
            <a:chExt cx="3552" cy="1667"/>
          </a:xfrm>
        </p:grpSpPr>
        <p:sp>
          <p:nvSpPr>
            <p:cNvPr id="13324" name="Text Box 7"/>
            <p:cNvSpPr txBox="1">
              <a:spLocks noChangeArrowheads="1"/>
            </p:cNvSpPr>
            <p:nvPr/>
          </p:nvSpPr>
          <p:spPr bwMode="auto">
            <a:xfrm>
              <a:off x="195" y="763"/>
              <a:ext cx="3552" cy="16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571500" indent="-230188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Vector product of two vectors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and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is defined as the vector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which satisfies the following conditions:</a:t>
              </a:r>
            </a:p>
            <a:p>
              <a:pPr lvl="1" eaLnBrk="1" hangingPunct="1">
                <a:spcBef>
                  <a:spcPct val="10000"/>
                </a:spcBef>
                <a:buFontTx/>
                <a:buAutoNum type="arabicPeriod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Line of action of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is perpendicular to plane containing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P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and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Q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lvl="1" eaLnBrk="1" hangingPunct="1">
                <a:spcBef>
                  <a:spcPct val="10000"/>
                </a:spcBef>
                <a:buFontTx/>
                <a:buAutoNum type="arabicPeriod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Magnitude of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is</a:t>
              </a:r>
            </a:p>
            <a:p>
              <a:pPr lvl="1" eaLnBrk="1" hangingPunct="1">
                <a:spcBef>
                  <a:spcPct val="10000"/>
                </a:spcBef>
                <a:buFontTx/>
                <a:buAutoNum type="arabicPeriod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Direction of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is obtained </a:t>
              </a:r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from the right-hand rule.</a:t>
              </a:r>
            </a:p>
          </p:txBody>
        </p:sp>
        <p:graphicFrame>
          <p:nvGraphicFramePr>
            <p:cNvPr id="13317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5657973"/>
                </p:ext>
              </p:extLst>
            </p:nvPr>
          </p:nvGraphicFramePr>
          <p:xfrm>
            <a:off x="1794" y="1770"/>
            <a:ext cx="1549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87240" imgH="253800" progId="Equation.DSMT4">
                    <p:embed/>
                  </p:oleObj>
                </mc:Choice>
                <mc:Fallback>
                  <p:oleObj name="Equation" r:id="rId4" imgW="1587240" imgH="2538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4" y="1770"/>
                          <a:ext cx="1549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381000" y="4584731"/>
            <a:ext cx="6230937" cy="1508125"/>
            <a:chOff x="226" y="3127"/>
            <a:chExt cx="3925" cy="950"/>
          </a:xfrm>
        </p:grpSpPr>
        <p:sp>
          <p:nvSpPr>
            <p:cNvPr id="13323" name="Text Box 10"/>
            <p:cNvSpPr txBox="1">
              <a:spLocks noChangeArrowheads="1"/>
            </p:cNvSpPr>
            <p:nvPr/>
          </p:nvSpPr>
          <p:spPr bwMode="auto">
            <a:xfrm>
              <a:off x="226" y="3127"/>
              <a:ext cx="3381" cy="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690563" indent="-23336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10000"/>
                </a:spcBef>
                <a:buFontTx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Vector products:</a:t>
              </a:r>
            </a:p>
            <a:p>
              <a:pPr lvl="1" eaLnBrk="1" hangingPunct="1">
                <a:spcBef>
                  <a:spcPct val="20000"/>
                </a:spcBef>
                <a:buFontTx/>
                <a:buChar char="-"/>
              </a:pPr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are not commutative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</a:p>
            <a:p>
              <a:pPr lvl="1" eaLnBrk="1" hangingPunct="1">
                <a:spcBef>
                  <a:spcPct val="20000"/>
                </a:spcBef>
                <a:buFontTx/>
                <a:buChar char="-"/>
              </a:pPr>
              <a:r>
                <a:rPr lang="en-US" sz="2000" b="1" dirty="0">
                  <a:solidFill>
                    <a:srgbClr val="0070C0"/>
                  </a:solidFill>
                  <a:latin typeface="Times New Roman" panose="02020603050405020304" pitchFamily="18" charset="0"/>
                </a:rPr>
                <a:t>are distributive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,</a:t>
              </a:r>
            </a:p>
            <a:p>
              <a:pPr lvl="1" eaLnBrk="1" hangingPunct="1">
                <a:spcBef>
                  <a:spcPct val="20000"/>
                </a:spcBef>
                <a:buFontTx/>
                <a:buChar char="-"/>
              </a:pPr>
              <a:r>
                <a:rPr lang="en-US" sz="2000" b="1" dirty="0">
                  <a:solidFill>
                    <a:srgbClr val="FF0000"/>
                  </a:solidFill>
                  <a:latin typeface="Times New Roman" panose="02020603050405020304" pitchFamily="18" charset="0"/>
                </a:rPr>
                <a:t>are not associative,</a:t>
              </a:r>
            </a:p>
          </p:txBody>
        </p:sp>
        <p:graphicFrame>
          <p:nvGraphicFramePr>
            <p:cNvPr id="13314" name="Object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06548522"/>
                </p:ext>
              </p:extLst>
            </p:nvPr>
          </p:nvGraphicFramePr>
          <p:xfrm>
            <a:off x="2223" y="3392"/>
            <a:ext cx="110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752480" imgH="317160" progId="Equation.3">
                    <p:embed/>
                  </p:oleObj>
                </mc:Choice>
                <mc:Fallback>
                  <p:oleObj name="Equation" r:id="rId6" imgW="175248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3" y="3392"/>
                          <a:ext cx="1104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5" name="Object 12"/>
            <p:cNvGraphicFramePr>
              <a:graphicFrameLocks noChangeAspect="1"/>
            </p:cNvGraphicFramePr>
            <p:nvPr/>
          </p:nvGraphicFramePr>
          <p:xfrm>
            <a:off x="2119" y="3628"/>
            <a:ext cx="20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225600" imgH="317160" progId="Equation.3">
                    <p:embed/>
                  </p:oleObj>
                </mc:Choice>
                <mc:Fallback>
                  <p:oleObj name="Equation" r:id="rId8" imgW="32256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9" y="3628"/>
                          <a:ext cx="20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16" name="Object 13"/>
            <p:cNvGraphicFramePr>
              <a:graphicFrameLocks noChangeAspect="1"/>
            </p:cNvGraphicFramePr>
            <p:nvPr/>
          </p:nvGraphicFramePr>
          <p:xfrm>
            <a:off x="2115" y="3864"/>
            <a:ext cx="159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2527200" imgH="317160" progId="Equation.3">
                    <p:embed/>
                  </p:oleObj>
                </mc:Choice>
                <mc:Fallback>
                  <p:oleObj name="Equation" r:id="rId10" imgW="2527200" imgH="3171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5" y="3864"/>
                          <a:ext cx="159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21</a:t>
            </a:fld>
            <a:endParaRPr lang="en-GB"/>
          </a:p>
        </p:txBody>
      </p:sp>
      <p:sp>
        <p:nvSpPr>
          <p:cNvPr id="6" name="Rectangle 5"/>
          <p:cNvSpPr/>
          <p:nvPr/>
        </p:nvSpPr>
        <p:spPr>
          <a:xfrm>
            <a:off x="8583892" y="4938684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2.14</a:t>
            </a:r>
          </a:p>
        </p:txBody>
      </p:sp>
      <p:pic>
        <p:nvPicPr>
          <p:cNvPr id="20395" name="Picture 939" descr="https://upload.wikimedia.org/wikipedia/commons/thumb/b/b0/Cross_product_vector.svg/220px-Cross_product_vector.svg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2200" y="3127406"/>
            <a:ext cx="2095500" cy="291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6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378004"/>
            <a:ext cx="10515600" cy="1325563"/>
          </a:xfrm>
        </p:spPr>
        <p:txBody>
          <a:bodyPr/>
          <a:lstStyle/>
          <a:p>
            <a:pPr eaLnBrk="1" hangingPunct="1"/>
            <a:r>
              <a:rPr lang="en-US"/>
              <a:t>Moment of a Force</a:t>
            </a:r>
          </a:p>
        </p:txBody>
      </p:sp>
      <p:pic>
        <p:nvPicPr>
          <p:cNvPr id="15366" name="Picture 3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4439" y="0"/>
            <a:ext cx="5048519" cy="619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182406" y="1730556"/>
            <a:ext cx="5510213" cy="741363"/>
            <a:chOff x="289" y="1468"/>
            <a:chExt cx="3471" cy="467"/>
          </a:xfrm>
        </p:grpSpPr>
        <p:sp>
          <p:nvSpPr>
            <p:cNvPr id="15372" name="Text Box 5"/>
            <p:cNvSpPr txBox="1">
              <a:spLocks noChangeArrowheads="1"/>
            </p:cNvSpPr>
            <p:nvPr/>
          </p:nvSpPr>
          <p:spPr bwMode="auto">
            <a:xfrm>
              <a:off x="289" y="1468"/>
              <a:ext cx="34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The </a:t>
              </a:r>
              <a:r>
                <a:rPr 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moment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of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about </a:t>
              </a:r>
              <a:r>
                <a:rPr lang="en-US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is defined as</a:t>
              </a:r>
            </a:p>
          </p:txBody>
        </p:sp>
        <p:graphicFrame>
          <p:nvGraphicFramePr>
            <p:cNvPr id="15363" name="Object 6"/>
            <p:cNvGraphicFramePr>
              <a:graphicFrameLocks noChangeAspect="1"/>
            </p:cNvGraphicFramePr>
            <p:nvPr/>
          </p:nvGraphicFramePr>
          <p:xfrm>
            <a:off x="1171" y="1727"/>
            <a:ext cx="800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9720" imgH="330120" progId="Equation.3">
                    <p:embed/>
                  </p:oleObj>
                </mc:Choice>
                <mc:Fallback>
                  <p:oleObj name="Equation" r:id="rId4" imgW="1269720" imgH="330120" progId="Equation.3">
                    <p:embed/>
                    <p:pic>
                      <p:nvPicPr>
                        <p:cNvPr id="15363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71" y="1727"/>
                          <a:ext cx="800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1671" name="Text Box 7"/>
          <p:cNvSpPr txBox="1">
            <a:spLocks noChangeArrowheads="1"/>
          </p:cNvSpPr>
          <p:nvPr/>
        </p:nvSpPr>
        <p:spPr bwMode="auto">
          <a:xfrm>
            <a:off x="103031" y="2780686"/>
            <a:ext cx="628381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The moment vector </a:t>
            </a: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US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is perpendicular to the plane containing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and the force </a:t>
            </a: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103031" y="3629820"/>
            <a:ext cx="6663789" cy="1662112"/>
            <a:chOff x="173" y="2300"/>
            <a:chExt cx="3665" cy="1047"/>
          </a:xfrm>
        </p:grpSpPr>
        <p:sp>
          <p:nvSpPr>
            <p:cNvPr id="15371" name="Text Box 10"/>
            <p:cNvSpPr txBox="1">
              <a:spLocks noChangeArrowheads="1"/>
            </p:cNvSpPr>
            <p:nvPr/>
          </p:nvSpPr>
          <p:spPr bwMode="auto">
            <a:xfrm>
              <a:off x="173" y="2300"/>
              <a:ext cx="3665" cy="10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Magnitude of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 measures the tendency of the force to cause rotation of the body about an axis along </a:t>
              </a:r>
              <a:r>
                <a:rPr lang="en-US" sz="2000" b="1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M</a:t>
              </a:r>
              <a:r>
                <a:rPr lang="en-US" sz="2000" b="1" i="1" baseline="-25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O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.</a:t>
              </a:r>
            </a:p>
            <a:p>
              <a:pPr eaLnBrk="1" hangingPunct="1">
                <a:spcBef>
                  <a:spcPct val="115000"/>
                </a:spcBef>
              </a:pPr>
              <a:r>
                <a:rPr lang="en-US" sz="2000" dirty="0">
                  <a:latin typeface="Times New Roman" panose="02020603050405020304" pitchFamily="18" charset="0"/>
                </a:rPr>
                <a:t>	</a:t>
              </a:r>
              <a:r>
                <a:rPr lang="en-US" sz="20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The sense of the moment may be determined by the right-hand rule.</a:t>
              </a:r>
              <a:endParaRPr lang="en-US" sz="20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5362" name="Object 11"/>
            <p:cNvGraphicFramePr>
              <a:graphicFrameLocks noChangeAspect="1"/>
            </p:cNvGraphicFramePr>
            <p:nvPr/>
          </p:nvGraphicFramePr>
          <p:xfrm>
            <a:off x="1108" y="2745"/>
            <a:ext cx="1328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2108160" imgH="330120" progId="Equation.3">
                    <p:embed/>
                  </p:oleObj>
                </mc:Choice>
                <mc:Fallback>
                  <p:oleObj name="Equation" r:id="rId6" imgW="2108160" imgH="330120" progId="Equation.3">
                    <p:embed/>
                    <p:pic>
                      <p:nvPicPr>
                        <p:cNvPr id="15362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8" y="2745"/>
                          <a:ext cx="1328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22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8684788" y="6321365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2.17</a:t>
            </a:r>
          </a:p>
        </p:txBody>
      </p:sp>
    </p:spTree>
    <p:extLst>
      <p:ext uri="{BB962C8B-B14F-4D97-AF65-F5344CB8AC3E}">
        <p14:creationId xmlns:p14="http://schemas.microsoft.com/office/powerpoint/2010/main" val="2773838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3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Vector Products</a:t>
            </a:r>
          </a:p>
        </p:txBody>
      </p:sp>
      <p:grpSp>
        <p:nvGrpSpPr>
          <p:cNvPr id="14344" name="Group 3"/>
          <p:cNvGrpSpPr>
            <a:grpSpLocks/>
          </p:cNvGrpSpPr>
          <p:nvPr/>
        </p:nvGrpSpPr>
        <p:grpSpPr bwMode="auto">
          <a:xfrm>
            <a:off x="2065338" y="1484314"/>
            <a:ext cx="8602662" cy="3576637"/>
            <a:chOff x="239" y="652"/>
            <a:chExt cx="5419" cy="2253"/>
          </a:xfrm>
        </p:grpSpPr>
        <p:pic>
          <p:nvPicPr>
            <p:cNvPr id="14347" name="Picture 4" descr="msotw9_temp0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06" y="664"/>
              <a:ext cx="1240" cy="11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8" name="Picture 5" descr="msotw9_temp0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03" y="663"/>
              <a:ext cx="1155" cy="11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9" name="Picture 6" descr="msotw9_temp0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7" y="1955"/>
              <a:ext cx="1008" cy="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350" name="Text Box 7"/>
            <p:cNvSpPr txBox="1">
              <a:spLocks noChangeArrowheads="1"/>
            </p:cNvSpPr>
            <p:nvPr/>
          </p:nvSpPr>
          <p:spPr bwMode="auto">
            <a:xfrm>
              <a:off x="239" y="652"/>
              <a:ext cx="303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 sz="2000" dirty="0">
                  <a:latin typeface="Times New Roman" panose="02020603050405020304" pitchFamily="18" charset="0"/>
                </a:rPr>
                <a:t>Vector products of Cartesian unit vectors,</a:t>
              </a:r>
            </a:p>
          </p:txBody>
        </p:sp>
        <p:graphicFrame>
          <p:nvGraphicFramePr>
            <p:cNvPr id="14341" name="Object 8"/>
            <p:cNvGraphicFramePr>
              <a:graphicFrameLocks noChangeAspect="1"/>
            </p:cNvGraphicFramePr>
            <p:nvPr/>
          </p:nvGraphicFramePr>
          <p:xfrm>
            <a:off x="521" y="948"/>
            <a:ext cx="2264" cy="7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593880" imgH="1117440" progId="Equation.3">
                    <p:embed/>
                  </p:oleObj>
                </mc:Choice>
                <mc:Fallback>
                  <p:oleObj name="Equation" r:id="rId6" imgW="3593880" imgH="11174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" y="948"/>
                          <a:ext cx="2264" cy="7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23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8081448" y="5508595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2.15</a:t>
            </a:r>
          </a:p>
        </p:txBody>
      </p:sp>
    </p:spTree>
    <p:extLst>
      <p:ext uri="{BB962C8B-B14F-4D97-AF65-F5344CB8AC3E}">
        <p14:creationId xmlns:p14="http://schemas.microsoft.com/office/powerpoint/2010/main" val="245785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67425" y="365125"/>
            <a:ext cx="11642502" cy="1325563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Rectangular Components of Moment of a Force</a:t>
            </a:r>
          </a:p>
        </p:txBody>
      </p:sp>
      <p:graphicFrame>
        <p:nvGraphicFramePr>
          <p:cNvPr id="244739" name="Object 3"/>
          <p:cNvGraphicFramePr>
            <a:graphicFrameLocks noChangeAspect="1"/>
          </p:cNvGraphicFramePr>
          <p:nvPr/>
        </p:nvGraphicFramePr>
        <p:xfrm>
          <a:off x="1992313" y="3573463"/>
          <a:ext cx="51816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181480" imgH="2895480" progId="Equation.3">
                  <p:embed/>
                </p:oleObj>
              </mc:Choice>
              <mc:Fallback>
                <p:oleObj name="Equation" r:id="rId3" imgW="5181480" imgH="2895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2313" y="3573463"/>
                        <a:ext cx="51816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414" name="Picture 5" descr="msotw9_temp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950" y="1628775"/>
            <a:ext cx="4235450" cy="387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7415" name="Group 6"/>
          <p:cNvGrpSpPr>
            <a:grpSpLocks/>
          </p:cNvGrpSpPr>
          <p:nvPr/>
        </p:nvGrpSpPr>
        <p:grpSpPr bwMode="auto">
          <a:xfrm>
            <a:off x="1882775" y="2070100"/>
            <a:ext cx="4999038" cy="1303338"/>
            <a:chOff x="217" y="922"/>
            <a:chExt cx="3149" cy="821"/>
          </a:xfrm>
        </p:grpSpPr>
        <p:sp>
          <p:nvSpPr>
            <p:cNvPr id="17416" name="Text Box 7"/>
            <p:cNvSpPr txBox="1">
              <a:spLocks noChangeArrowheads="1"/>
            </p:cNvSpPr>
            <p:nvPr/>
          </p:nvSpPr>
          <p:spPr bwMode="auto">
            <a:xfrm>
              <a:off x="217" y="922"/>
              <a:ext cx="314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27013" indent="-227013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The moment of </a:t>
              </a:r>
              <a:r>
                <a:rPr lang="en-US" sz="2000" b="1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F</a:t>
              </a:r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 about </a:t>
              </a:r>
              <a:r>
                <a:rPr lang="en-US" sz="20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O</a:t>
              </a:r>
              <a:r>
                <a:rPr 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,</a:t>
              </a:r>
            </a:p>
          </p:txBody>
        </p:sp>
        <p:graphicFrame>
          <p:nvGraphicFramePr>
            <p:cNvPr id="17411" name="Object 8"/>
            <p:cNvGraphicFramePr>
              <a:graphicFrameLocks noChangeAspect="1"/>
            </p:cNvGraphicFramePr>
            <p:nvPr/>
          </p:nvGraphicFramePr>
          <p:xfrm>
            <a:off x="355" y="1247"/>
            <a:ext cx="232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695400" imgH="787320" progId="Equation.3">
                    <p:embed/>
                  </p:oleObj>
                </mc:Choice>
                <mc:Fallback>
                  <p:oleObj name="Equation" r:id="rId6" imgW="3695400" imgH="787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5" y="1247"/>
                          <a:ext cx="2328" cy="4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448093" y="5524003"/>
            <a:ext cx="1245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</a:rPr>
              <a:t>Fig. 2.25</a:t>
            </a:r>
          </a:p>
        </p:txBody>
      </p:sp>
    </p:spTree>
    <p:extLst>
      <p:ext uri="{BB962C8B-B14F-4D97-AF65-F5344CB8AC3E}">
        <p14:creationId xmlns:p14="http://schemas.microsoft.com/office/powerpoint/2010/main" val="359743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9" name="Picture 3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107" y="1713406"/>
            <a:ext cx="4567663" cy="37630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Text Box 4"/>
          <p:cNvSpPr txBox="1">
            <a:spLocks noChangeArrowheads="1"/>
          </p:cNvSpPr>
          <p:nvPr/>
        </p:nvSpPr>
        <p:spPr bwMode="auto">
          <a:xfrm>
            <a:off x="0" y="833507"/>
            <a:ext cx="121920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The </a:t>
            </a: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moment about a given point </a:t>
            </a:r>
            <a:r>
              <a:rPr lang="en-US" sz="2000" b="1" i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O</a:t>
            </a: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of the resultant </a:t>
            </a:r>
            <a:r>
              <a:rPr lang="en-US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of several concurrent forces </a:t>
            </a:r>
            <a:r>
              <a:rPr lang="en-US" sz="2000" dirty="0">
                <a:latin typeface="Times New Roman" panose="02020603050405020304" pitchFamily="18" charset="0"/>
              </a:rPr>
              <a:t>is </a:t>
            </a:r>
            <a:r>
              <a:rPr lang="en-US" sz="2000" b="1" dirty="0">
                <a:latin typeface="Times New Roman" panose="02020603050405020304" pitchFamily="18" charset="0"/>
              </a:rPr>
              <a:t>equal to the sum of the moments of the various forces about the same point </a:t>
            </a:r>
            <a:r>
              <a:rPr lang="en-US" sz="2000" b="1" i="1" dirty="0">
                <a:latin typeface="Times New Roman" panose="02020603050405020304" pitchFamily="18" charset="0"/>
              </a:rPr>
              <a:t>O</a:t>
            </a:r>
            <a:r>
              <a:rPr lang="en-US" sz="2000" b="1" dirty="0">
                <a:latin typeface="Times New Roman" panose="02020603050405020304" pitchFamily="18" charset="0"/>
              </a:rPr>
              <a:t>.</a:t>
            </a:r>
          </a:p>
        </p:txBody>
      </p:sp>
      <p:sp>
        <p:nvSpPr>
          <p:cNvPr id="243717" name="Text Box 5"/>
          <p:cNvSpPr txBox="1">
            <a:spLocks noChangeArrowheads="1"/>
          </p:cNvSpPr>
          <p:nvPr/>
        </p:nvSpPr>
        <p:spPr bwMode="auto">
          <a:xfrm>
            <a:off x="0" y="2922029"/>
            <a:ext cx="647807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7013" indent="-227013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Varigon’s Theorem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makes it possible to replace the direct determination of the moment of a force </a:t>
            </a: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 by the moments of two or more component forces of </a:t>
            </a:r>
            <a:r>
              <a:rPr lang="en-US" sz="20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1638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5010504"/>
              </p:ext>
            </p:extLst>
          </p:nvPr>
        </p:nvGraphicFramePr>
        <p:xfrm>
          <a:off x="1524001" y="1997075"/>
          <a:ext cx="3835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835080" imgH="342720" progId="Equation.3">
                  <p:embed/>
                </p:oleObj>
              </mc:Choice>
              <mc:Fallback>
                <p:oleObj name="Equation" r:id="rId4" imgW="3835080" imgH="34272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1" y="1997075"/>
                        <a:ext cx="3835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en-GB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291267" y="-107948"/>
            <a:ext cx="469506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Varignon’s Theorem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081448" y="5856235"/>
            <a:ext cx="10583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Fig. 2.19</a:t>
            </a:r>
          </a:p>
        </p:txBody>
      </p:sp>
    </p:spTree>
    <p:extLst>
      <p:ext uri="{BB962C8B-B14F-4D97-AF65-F5344CB8AC3E}">
        <p14:creationId xmlns:p14="http://schemas.microsoft.com/office/powerpoint/2010/main" val="134524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7" grpId="0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26</a:t>
            </a:fld>
            <a:endParaRPr lang="en-GB"/>
          </a:p>
        </p:txBody>
      </p:sp>
      <p:sp>
        <p:nvSpPr>
          <p:cNvPr id="2" name="TextBox 1"/>
          <p:cNvSpPr txBox="1"/>
          <p:nvPr/>
        </p:nvSpPr>
        <p:spPr>
          <a:xfrm>
            <a:off x="3953814" y="0"/>
            <a:ext cx="37735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MOMENT OF A COUPLE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3916" y="375838"/>
            <a:ext cx="1192583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couple is 2 parallel forces of equal magnitude acting in opposite directions separated by a distance (see Fig. 10a)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A </a:t>
            </a:r>
            <a:r>
              <a:rPr lang="en-US" sz="2000" b="1" u="sng" dirty="0">
                <a:solidFill>
                  <a:srgbClr val="0070C0"/>
                </a:solidFill>
              </a:rPr>
              <a:t>couple can only cause a turning effect and has no tendency to cause translation in any direction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moment of a couple has magnitude, </a:t>
            </a:r>
            <a:r>
              <a:rPr lang="en-US" sz="2000" b="1" dirty="0">
                <a:solidFill>
                  <a:srgbClr val="FF0000"/>
                </a:solidFill>
              </a:rPr>
              <a:t>M = </a:t>
            </a:r>
            <a:r>
              <a:rPr lang="en-US" sz="2000" b="1" dirty="0" err="1">
                <a:solidFill>
                  <a:srgbClr val="FF0000"/>
                </a:solidFill>
              </a:rPr>
              <a:t>F×d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u="sng" dirty="0">
                <a:solidFill>
                  <a:srgbClr val="FF0000"/>
                </a:solidFill>
              </a:rPr>
              <a:t>The moment has the same magnitude irrespective of the point about which it is applied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8859541"/>
              </p:ext>
            </p:extLst>
          </p:nvPr>
        </p:nvGraphicFramePr>
        <p:xfrm>
          <a:off x="5080716" y="2345806"/>
          <a:ext cx="5956478" cy="398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95700" imgH="254000" progId="Equation.DSMT4">
                  <p:embed/>
                </p:oleObj>
              </mc:Choice>
              <mc:Fallback>
                <p:oleObj name="Equation" r:id="rId2" imgW="36957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716" y="2345806"/>
                        <a:ext cx="5956478" cy="39873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2041241"/>
            <a:ext cx="3953813" cy="18238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15622" y="2744540"/>
            <a:ext cx="7314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Thus, moment of a couple is independent of location of 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3374" y="3555223"/>
            <a:ext cx="74386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moment of a couple is equal to the sum of the moments of the component forces computed about an arbitrary point in space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Referring to Fig. 2.20b,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487" y="3891990"/>
            <a:ext cx="1506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2.20 a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4170817"/>
            <a:ext cx="4753373" cy="21697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3487" y="6488668"/>
            <a:ext cx="1506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2.20b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0614673"/>
              </p:ext>
            </p:extLst>
          </p:nvPr>
        </p:nvGraphicFramePr>
        <p:xfrm>
          <a:off x="5080716" y="4970996"/>
          <a:ext cx="3070225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04760" imgH="253800" progId="Equation.DSMT4">
                  <p:embed/>
                </p:oleObj>
              </mc:Choice>
              <mc:Fallback>
                <p:oleObj name="Equation" r:id="rId6" imgW="190476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0716" y="4970996"/>
                        <a:ext cx="3070225" cy="3984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753374" y="5473005"/>
            <a:ext cx="72239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This shows that the moment of a couple is independent of the location of O and depends only on the </a:t>
            </a:r>
            <a:r>
              <a:rPr lang="en-US" sz="2000" b="1" u="sng" dirty="0">
                <a:solidFill>
                  <a:srgbClr val="0070C0"/>
                </a:solidFill>
              </a:rPr>
              <a:t>forces and the distance between them</a:t>
            </a:r>
          </a:p>
        </p:txBody>
      </p:sp>
    </p:spTree>
    <p:extLst>
      <p:ext uri="{BB962C8B-B14F-4D97-AF65-F5344CB8AC3E}">
        <p14:creationId xmlns:p14="http://schemas.microsoft.com/office/powerpoint/2010/main" val="1417142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27</a:t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3940935" y="0"/>
            <a:ext cx="3142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Moment of a force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523220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In the solution of certain problems</a:t>
            </a:r>
            <a:r>
              <a:rPr lang="en-US" sz="2000" dirty="0"/>
              <a:t>, it is convenient to </a:t>
            </a:r>
            <a:r>
              <a:rPr lang="en-US" sz="2000" b="1" u="sng" dirty="0">
                <a:solidFill>
                  <a:srgbClr val="FF0000"/>
                </a:solidFill>
              </a:rPr>
              <a:t>shift a given force parallel to itself and add a couple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procedure is illustrated in Fig. 2.21 where the force </a:t>
            </a:r>
            <a:r>
              <a:rPr lang="en-US" sz="2000" b="1" dirty="0">
                <a:solidFill>
                  <a:srgbClr val="FF0000"/>
                </a:solidFill>
              </a:rPr>
              <a:t>F</a:t>
            </a:r>
            <a:r>
              <a:rPr lang="en-US" sz="2000" dirty="0"/>
              <a:t> has been shifted through a distance </a:t>
            </a:r>
            <a:r>
              <a:rPr lang="en-US" sz="2000" b="1" dirty="0">
                <a:solidFill>
                  <a:srgbClr val="FF0000"/>
                </a:solidFill>
              </a:rPr>
              <a:t>d</a:t>
            </a:r>
            <a:r>
              <a:rPr lang="en-US" sz="2000" dirty="0"/>
              <a:t> by the addition of a couple of magnitude </a:t>
            </a:r>
            <a:r>
              <a:rPr lang="en-US" sz="2000" b="1" dirty="0" err="1">
                <a:solidFill>
                  <a:srgbClr val="FF0000"/>
                </a:solidFill>
              </a:rPr>
              <a:t>Fd</a:t>
            </a:r>
            <a:r>
              <a:rPr lang="en-US" sz="2000" dirty="0"/>
              <a:t>, with an axis perpendicular to the plane in which the force is shifted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922" y="1538883"/>
            <a:ext cx="6285272" cy="16421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41622" y="3231855"/>
            <a:ext cx="678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Resultants of various types of force systems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47616"/>
            <a:ext cx="4143658" cy="25046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83380" y="2189408"/>
            <a:ext cx="14166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Fig. 2.21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62907" y="3676590"/>
            <a:ext cx="792909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For </a:t>
            </a:r>
            <a:r>
              <a:rPr lang="en-US" sz="2000" b="1" dirty="0">
                <a:solidFill>
                  <a:srgbClr val="0070C0"/>
                </a:solidFill>
              </a:rPr>
              <a:t>coplanar nonconcurrent forces, the resultant is either </a:t>
            </a:r>
            <a:r>
              <a:rPr lang="en-US" sz="2000" b="1" dirty="0">
                <a:solidFill>
                  <a:srgbClr val="C00000"/>
                </a:solidFill>
              </a:rPr>
              <a:t>a single force </a:t>
            </a:r>
            <a:r>
              <a:rPr lang="en-US" sz="2000" b="1" dirty="0">
                <a:solidFill>
                  <a:srgbClr val="00B050"/>
                </a:solidFill>
              </a:rPr>
              <a:t>or a couple</a:t>
            </a:r>
            <a:r>
              <a:rPr lang="en-US" sz="2000" b="1" dirty="0">
                <a:solidFill>
                  <a:srgbClr val="0070C0"/>
                </a:solidFill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This result can </a:t>
            </a:r>
            <a:r>
              <a:rPr lang="en-US" sz="2000" b="1" u="sng" dirty="0">
                <a:solidFill>
                  <a:srgbClr val="7030A0"/>
                </a:solidFill>
              </a:rPr>
              <a:t>be demonstrated by successive applications of the parallelogram law and the principle of transmissibility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(See Fig. 2.22) F</a:t>
            </a:r>
            <a:r>
              <a:rPr lang="en-US" sz="2000" baseline="-25000" dirty="0"/>
              <a:t>1</a:t>
            </a:r>
            <a:r>
              <a:rPr lang="en-US" sz="2000" dirty="0"/>
              <a:t> and F</a:t>
            </a:r>
            <a:r>
              <a:rPr lang="en-US" sz="2000" baseline="-25000" dirty="0"/>
              <a:t>2</a:t>
            </a:r>
            <a:r>
              <a:rPr lang="en-US" sz="2000" dirty="0"/>
              <a:t> are moved along their lines of action to their point of intersection and the parallelogram law was applied given R12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C00000"/>
                </a:solidFill>
              </a:rPr>
              <a:t>R12 was subsequently combined with F3 to obtain R123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dirty="0">
                <a:solidFill>
                  <a:srgbClr val="FF0000"/>
                </a:solidFill>
              </a:rPr>
              <a:t>resultant of coplanar nonconcurrent forces will be a couple </a:t>
            </a:r>
            <a:r>
              <a:rPr lang="en-US" sz="2000" dirty="0"/>
              <a:t>if </a:t>
            </a:r>
            <a:r>
              <a:rPr lang="en-US" sz="2000" b="1" dirty="0">
                <a:solidFill>
                  <a:srgbClr val="00B050"/>
                </a:solidFill>
              </a:rPr>
              <a:t>one of the forces forms a couple with the resultant </a:t>
            </a:r>
            <a:r>
              <a:rPr lang="en-US" sz="2000" dirty="0"/>
              <a:t>of the remaining forces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2124" y="6471959"/>
            <a:ext cx="15068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2.22</a:t>
            </a:r>
          </a:p>
        </p:txBody>
      </p:sp>
    </p:spTree>
    <p:extLst>
      <p:ext uri="{BB962C8B-B14F-4D97-AF65-F5344CB8AC3E}">
        <p14:creationId xmlns:p14="http://schemas.microsoft.com/office/powerpoint/2010/main" val="371609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28</a:t>
            </a:fld>
            <a:endParaRPr lang="en-GB"/>
          </a:p>
        </p:txBody>
      </p:sp>
      <p:sp>
        <p:nvSpPr>
          <p:cNvPr id="4" name="TextBox 3"/>
          <p:cNvSpPr txBox="1"/>
          <p:nvPr/>
        </p:nvSpPr>
        <p:spPr>
          <a:xfrm>
            <a:off x="2228046" y="0"/>
            <a:ext cx="6786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Resultants of various types of force systems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0" y="470132"/>
            <a:ext cx="120031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u="sng" dirty="0">
                <a:solidFill>
                  <a:srgbClr val="0070C0"/>
                </a:solidFill>
              </a:rPr>
              <a:t>resultant of a general 3-dim force system in space is a force and a couple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If the forces are all parallel, their resultant will be either a single force or a couple in a plane parallel to the given forces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When the resultant is a single force, its position can be determined by using the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Varignon theory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667" y="6457890"/>
            <a:ext cx="13651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Fig. 2.23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03842" y="3243378"/>
            <a:ext cx="39881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0070C0"/>
                </a:solidFill>
              </a:rPr>
              <a:t>We replace each force by an equal force through the origin O, plus a couple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Vector sum </a:t>
            </a:r>
            <a:r>
              <a:rPr lang="en-US" sz="2000" dirty="0"/>
              <a:t>of the forces at O is </a:t>
            </a:r>
          </a:p>
        </p:txBody>
      </p:sp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4989905"/>
              </p:ext>
            </p:extLst>
          </p:nvPr>
        </p:nvGraphicFramePr>
        <p:xfrm>
          <a:off x="8524875" y="4745038"/>
          <a:ext cx="3376613" cy="319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95200" imgH="203040" progId="Equation.DSMT4">
                  <p:embed/>
                </p:oleObj>
              </mc:Choice>
              <mc:Fallback>
                <p:oleObj name="Equation" r:id="rId2" imgW="20952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4875" y="4745038"/>
                        <a:ext cx="3376613" cy="3190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13744"/>
            <a:ext cx="8203842" cy="36158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015021" y="2646394"/>
            <a:ext cx="1908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139245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grid in Fig. 2.23 is composed  of 1 squared meter squares. Determine the resultant of the forces if F</a:t>
            </a:r>
            <a:r>
              <a:rPr lang="en-US" sz="2000" baseline="-25000" dirty="0"/>
              <a:t>1</a:t>
            </a:r>
            <a:r>
              <a:rPr lang="en-US" sz="2000" dirty="0"/>
              <a:t> = 50 N, F</a:t>
            </a:r>
            <a:r>
              <a:rPr lang="en-US" sz="2000" baseline="-25000" dirty="0"/>
              <a:t>2</a:t>
            </a:r>
            <a:r>
              <a:rPr lang="en-US" sz="2000" dirty="0"/>
              <a:t> = 75 N, F</a:t>
            </a:r>
            <a:r>
              <a:rPr lang="en-US" sz="2000" baseline="-25000" dirty="0"/>
              <a:t>3</a:t>
            </a:r>
            <a:r>
              <a:rPr lang="en-US" sz="2000" dirty="0"/>
              <a:t> = 100 N and F</a:t>
            </a:r>
            <a:r>
              <a:rPr lang="en-US" sz="2000" baseline="-25000" dirty="0"/>
              <a:t>4</a:t>
            </a:r>
            <a:r>
              <a:rPr lang="en-US" sz="2000" dirty="0"/>
              <a:t> = 80 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8680" y="1688484"/>
            <a:ext cx="22937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Example 2.9</a:t>
            </a:r>
          </a:p>
        </p:txBody>
      </p:sp>
    </p:spTree>
    <p:extLst>
      <p:ext uri="{BB962C8B-B14F-4D97-AF65-F5344CB8AC3E}">
        <p14:creationId xmlns:p14="http://schemas.microsoft.com/office/powerpoint/2010/main" val="16077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29</a:t>
            </a:fld>
            <a:endParaRPr lang="en-GB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5" y="512618"/>
            <a:ext cx="8096719" cy="349271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" y="4005330"/>
            <a:ext cx="77613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b="1" dirty="0"/>
              <a:t>The vector sum of the moments of the couples with respect to O is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29285"/>
              </p:ext>
            </p:extLst>
          </p:nvPr>
        </p:nvGraphicFramePr>
        <p:xfrm>
          <a:off x="402062" y="4401160"/>
          <a:ext cx="6343650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36960" imgH="736560" progId="Equation.DSMT4">
                  <p:embed/>
                </p:oleObj>
              </mc:Choice>
              <mc:Fallback>
                <p:oleObj name="Equation" r:id="rId3" imgW="3936960" imgH="7365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062" y="4401160"/>
                        <a:ext cx="6343650" cy="11572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0" y="5754222"/>
            <a:ext cx="75083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position vector </a:t>
            </a:r>
            <a:r>
              <a:rPr lang="en-US" sz="2000" b="1" dirty="0">
                <a:solidFill>
                  <a:srgbClr val="FF0000"/>
                </a:solidFill>
              </a:rPr>
              <a:t>r = r</a:t>
            </a:r>
            <a:r>
              <a:rPr lang="en-US" sz="2000" b="1" baseline="-25000" dirty="0">
                <a:solidFill>
                  <a:srgbClr val="FF0000"/>
                </a:solidFill>
              </a:rPr>
              <a:t>x</a:t>
            </a:r>
            <a:r>
              <a:rPr lang="en-US" sz="2000" b="1" dirty="0">
                <a:solidFill>
                  <a:srgbClr val="FF0000"/>
                </a:solidFill>
              </a:rPr>
              <a:t>i + </a:t>
            </a:r>
            <a:r>
              <a:rPr lang="en-US" sz="2000" b="1" dirty="0" err="1">
                <a:solidFill>
                  <a:srgbClr val="FF0000"/>
                </a:solidFill>
              </a:rPr>
              <a:t>r</a:t>
            </a:r>
            <a:r>
              <a:rPr lang="en-US" sz="2000" b="1" baseline="-25000" dirty="0" err="1">
                <a:solidFill>
                  <a:srgbClr val="FF0000"/>
                </a:solidFill>
              </a:rPr>
              <a:t>y</a:t>
            </a:r>
            <a:r>
              <a:rPr lang="en-US" sz="2000" b="1" dirty="0" err="1">
                <a:solidFill>
                  <a:srgbClr val="FF0000"/>
                </a:solidFill>
              </a:rPr>
              <a:t>k</a:t>
            </a:r>
            <a:r>
              <a:rPr lang="en-US" sz="2000" b="1" dirty="0">
                <a:solidFill>
                  <a:srgbClr val="FF0000"/>
                </a:solidFill>
              </a:rPr>
              <a:t>, locates the point of action of 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9509" y="-10602"/>
            <a:ext cx="19087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93995" y="334851"/>
            <a:ext cx="38980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 find the </a:t>
            </a:r>
            <a:r>
              <a:rPr lang="en-US" sz="2000" b="1" dirty="0">
                <a:solidFill>
                  <a:srgbClr val="FF0000"/>
                </a:solidFill>
              </a:rPr>
              <a:t>location of R,</a:t>
            </a: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3938725"/>
              </p:ext>
            </p:extLst>
          </p:nvPr>
        </p:nvGraphicFramePr>
        <p:xfrm>
          <a:off x="8343900" y="1009650"/>
          <a:ext cx="3275013" cy="1119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31840" imgH="711000" progId="Equation.DSMT4">
                  <p:embed/>
                </p:oleObj>
              </mc:Choice>
              <mc:Fallback>
                <p:oleObj name="Equation" r:id="rId5" imgW="2031840" imgH="71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900" y="1009650"/>
                        <a:ext cx="3275013" cy="11191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293994" y="2403527"/>
            <a:ext cx="37692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Solving this vector equation,</a:t>
            </a:r>
          </a:p>
        </p:txBody>
      </p:sp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0557796"/>
              </p:ext>
            </p:extLst>
          </p:nvPr>
        </p:nvGraphicFramePr>
        <p:xfrm>
          <a:off x="7781130" y="3121635"/>
          <a:ext cx="4402137" cy="1279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730240" imgH="812520" progId="Equation.DSMT4">
                  <p:embed/>
                </p:oleObj>
              </mc:Choice>
              <mc:Fallback>
                <p:oleObj name="Equation" r:id="rId7" imgW="2730240" imgH="8125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1130" y="3121635"/>
                        <a:ext cx="4402137" cy="1279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00795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6" name="Text Box 3"/>
          <p:cNvSpPr txBox="1">
            <a:spLocks noChangeArrowheads="1"/>
          </p:cNvSpPr>
          <p:nvPr/>
        </p:nvSpPr>
        <p:spPr bwMode="auto">
          <a:xfrm>
            <a:off x="4920581" y="1295075"/>
            <a:ext cx="7108287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6075" indent="-3460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400" dirty="0">
                <a:latin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50-N vertical force is applied to the end of a lever which is attached to a shaft at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sz="2400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Determine:</a:t>
            </a:r>
          </a:p>
          <a:p>
            <a:pPr eaLnBrk="1" hangingPunct="1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moment about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O,</a:t>
            </a:r>
          </a:p>
          <a:p>
            <a:pPr eaLnBrk="1" hangingPunct="1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horizontal force at </a:t>
            </a:r>
            <a:r>
              <a:rPr lang="en-US" sz="24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A 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which creates the same moment,</a:t>
            </a:r>
          </a:p>
          <a:p>
            <a:pPr eaLnBrk="1" hangingPunct="1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smallest force at A which produces the same moment,</a:t>
            </a:r>
          </a:p>
          <a:p>
            <a:pPr eaLnBrk="1" hangingPunct="1">
              <a:spcBef>
                <a:spcPct val="50000"/>
              </a:spcBef>
              <a:buFontTx/>
              <a:buAutoNum type="alphaLcParenR"/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</a:rPr>
              <a:t>location for a 125-N vertical force to produce the same moment,</a:t>
            </a:r>
          </a:p>
        </p:txBody>
      </p:sp>
      <p:grpSp>
        <p:nvGrpSpPr>
          <p:cNvPr id="69637" name="Group 4"/>
          <p:cNvGrpSpPr>
            <a:grpSpLocks/>
          </p:cNvGrpSpPr>
          <p:nvPr/>
        </p:nvGrpSpPr>
        <p:grpSpPr bwMode="auto">
          <a:xfrm>
            <a:off x="605308" y="1133341"/>
            <a:ext cx="3977806" cy="4140334"/>
            <a:chOff x="612" y="2024"/>
            <a:chExt cx="1701" cy="2296"/>
          </a:xfrm>
        </p:grpSpPr>
        <p:grpSp>
          <p:nvGrpSpPr>
            <p:cNvPr id="69638" name="Group 5"/>
            <p:cNvGrpSpPr>
              <a:grpSpLocks/>
            </p:cNvGrpSpPr>
            <p:nvPr/>
          </p:nvGrpSpPr>
          <p:grpSpPr bwMode="auto">
            <a:xfrm rot="-3727822">
              <a:off x="318" y="2976"/>
              <a:ext cx="2222" cy="454"/>
              <a:chOff x="340" y="3339"/>
              <a:chExt cx="2222" cy="454"/>
            </a:xfrm>
          </p:grpSpPr>
          <p:grpSp>
            <p:nvGrpSpPr>
              <p:cNvPr id="69647" name="Group 6"/>
              <p:cNvGrpSpPr>
                <a:grpSpLocks/>
              </p:cNvGrpSpPr>
              <p:nvPr/>
            </p:nvGrpSpPr>
            <p:grpSpPr bwMode="auto">
              <a:xfrm>
                <a:off x="340" y="3612"/>
                <a:ext cx="2222" cy="181"/>
                <a:chOff x="431" y="3385"/>
                <a:chExt cx="2222" cy="181"/>
              </a:xfrm>
            </p:grpSpPr>
            <p:sp>
              <p:nvSpPr>
                <p:cNvPr id="69651" name="Rectangle 7"/>
                <p:cNvSpPr>
                  <a:spLocks noChangeArrowheads="1"/>
                </p:cNvSpPr>
                <p:nvPr/>
              </p:nvSpPr>
              <p:spPr bwMode="auto">
                <a:xfrm>
                  <a:off x="431" y="3385"/>
                  <a:ext cx="2222" cy="181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69652" name="Oval 8"/>
                <p:cNvSpPr>
                  <a:spLocks noChangeArrowheads="1"/>
                </p:cNvSpPr>
                <p:nvPr/>
              </p:nvSpPr>
              <p:spPr bwMode="auto">
                <a:xfrm>
                  <a:off x="521" y="3430"/>
                  <a:ext cx="91" cy="91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69653" name="Oval 9"/>
                <p:cNvSpPr>
                  <a:spLocks noChangeArrowheads="1"/>
                </p:cNvSpPr>
                <p:nvPr/>
              </p:nvSpPr>
              <p:spPr bwMode="auto">
                <a:xfrm>
                  <a:off x="2517" y="3430"/>
                  <a:ext cx="91" cy="91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</p:grpSp>
          <p:sp>
            <p:nvSpPr>
              <p:cNvPr id="69648" name="Line 10"/>
              <p:cNvSpPr>
                <a:spLocks noChangeShapeType="1"/>
              </p:cNvSpPr>
              <p:nvPr/>
            </p:nvSpPr>
            <p:spPr bwMode="auto">
              <a:xfrm flipV="1">
                <a:off x="476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49" name="Line 11"/>
              <p:cNvSpPr>
                <a:spLocks noChangeShapeType="1"/>
              </p:cNvSpPr>
              <p:nvPr/>
            </p:nvSpPr>
            <p:spPr bwMode="auto">
              <a:xfrm flipV="1">
                <a:off x="2472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9650" name="Line 12"/>
              <p:cNvSpPr>
                <a:spLocks noChangeShapeType="1"/>
              </p:cNvSpPr>
              <p:nvPr/>
            </p:nvSpPr>
            <p:spPr bwMode="auto">
              <a:xfrm>
                <a:off x="476" y="3475"/>
                <a:ext cx="19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9639" name="Text Box 13"/>
            <p:cNvSpPr txBox="1">
              <a:spLocks noChangeArrowheads="1"/>
            </p:cNvSpPr>
            <p:nvPr/>
          </p:nvSpPr>
          <p:spPr bwMode="auto">
            <a:xfrm rot="-3722389">
              <a:off x="973" y="2839"/>
              <a:ext cx="6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20 cm</a:t>
              </a:r>
            </a:p>
          </p:txBody>
        </p:sp>
        <p:sp>
          <p:nvSpPr>
            <p:cNvPr id="69640" name="Line 14"/>
            <p:cNvSpPr>
              <a:spLocks noChangeShapeType="1"/>
            </p:cNvSpPr>
            <p:nvPr/>
          </p:nvSpPr>
          <p:spPr bwMode="auto">
            <a:xfrm>
              <a:off x="1111" y="4133"/>
              <a:ext cx="5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1" name="Arc 15"/>
            <p:cNvSpPr>
              <a:spLocks/>
            </p:cNvSpPr>
            <p:nvPr/>
          </p:nvSpPr>
          <p:spPr bwMode="auto">
            <a:xfrm>
              <a:off x="1338" y="3861"/>
              <a:ext cx="204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9642" name="Text Box 16"/>
            <p:cNvSpPr txBox="1">
              <a:spLocks noChangeArrowheads="1"/>
            </p:cNvSpPr>
            <p:nvPr/>
          </p:nvSpPr>
          <p:spPr bwMode="auto">
            <a:xfrm>
              <a:off x="1429" y="3838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69643" name="Line 17"/>
            <p:cNvSpPr>
              <a:spLocks noChangeShapeType="1"/>
            </p:cNvSpPr>
            <p:nvPr/>
          </p:nvSpPr>
          <p:spPr bwMode="auto">
            <a:xfrm>
              <a:off x="2018" y="2364"/>
              <a:ext cx="0" cy="59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644" name="Text Box 18"/>
            <p:cNvSpPr txBox="1">
              <a:spLocks noChangeArrowheads="1"/>
            </p:cNvSpPr>
            <p:nvPr/>
          </p:nvSpPr>
          <p:spPr bwMode="auto">
            <a:xfrm>
              <a:off x="612" y="4089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69645" name="Text Box 19"/>
            <p:cNvSpPr txBox="1">
              <a:spLocks noChangeArrowheads="1"/>
            </p:cNvSpPr>
            <p:nvPr/>
          </p:nvSpPr>
          <p:spPr bwMode="auto">
            <a:xfrm>
              <a:off x="1791" y="2024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69646" name="Text Box 20"/>
            <p:cNvSpPr txBox="1">
              <a:spLocks noChangeArrowheads="1"/>
            </p:cNvSpPr>
            <p:nvPr/>
          </p:nvSpPr>
          <p:spPr bwMode="auto">
            <a:xfrm>
              <a:off x="1814" y="2950"/>
              <a:ext cx="49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50 N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30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035300" y="41455"/>
            <a:ext cx="32161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Example 2.11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36493" y="5664762"/>
            <a:ext cx="12458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2400" b="1" dirty="0">
                <a:solidFill>
                  <a:prstClr val="black"/>
                </a:solidFill>
              </a:rPr>
              <a:t>Fig. 2.26</a:t>
            </a:r>
          </a:p>
        </p:txBody>
      </p:sp>
    </p:spTree>
    <p:extLst>
      <p:ext uri="{BB962C8B-B14F-4D97-AF65-F5344CB8AC3E}">
        <p14:creationId xmlns:p14="http://schemas.microsoft.com/office/powerpoint/2010/main" val="296712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Text Box 3"/>
          <p:cNvSpPr txBox="1">
            <a:spLocks noChangeArrowheads="1"/>
          </p:cNvSpPr>
          <p:nvPr/>
        </p:nvSpPr>
        <p:spPr bwMode="auto">
          <a:xfrm>
            <a:off x="4511676" y="1412876"/>
            <a:ext cx="6589913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6075" indent="-3460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lphaLcParenR"/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Moment about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 </a:t>
            </a: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is equal to the product of the force and the perpendicular distance between the line of action of the force and </a:t>
            </a:r>
            <a:r>
              <a:rPr lang="en-US" sz="20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O. 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Since the force tends to rotate the lever clockwise, the moment vector is into the plane of the paper.</a:t>
            </a:r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8021174"/>
              </p:ext>
            </p:extLst>
          </p:nvPr>
        </p:nvGraphicFramePr>
        <p:xfrm>
          <a:off x="5448300" y="3681413"/>
          <a:ext cx="2800350" cy="976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685800" progId="Equation.DSMT4">
                  <p:embed/>
                </p:oleObj>
              </mc:Choice>
              <mc:Fallback>
                <p:oleObj name="Equation" r:id="rId3" imgW="1968480" imgH="685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0" y="3681413"/>
                        <a:ext cx="2800350" cy="976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55764"/>
              </p:ext>
            </p:extLst>
          </p:nvPr>
        </p:nvGraphicFramePr>
        <p:xfrm>
          <a:off x="5448299" y="4937858"/>
          <a:ext cx="1447800" cy="35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27000" imgH="228600" progId="Equation.3">
                  <p:embed/>
                </p:oleObj>
              </mc:Choice>
              <mc:Fallback>
                <p:oleObj name="Equation" r:id="rId5" imgW="9270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299" y="4937858"/>
                        <a:ext cx="1447800" cy="3571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3" name="Group 6"/>
          <p:cNvGrpSpPr>
            <a:grpSpLocks/>
          </p:cNvGrpSpPr>
          <p:nvPr/>
        </p:nvGrpSpPr>
        <p:grpSpPr bwMode="auto">
          <a:xfrm>
            <a:off x="1739900" y="1233488"/>
            <a:ext cx="2700338" cy="4291012"/>
            <a:chOff x="136" y="777"/>
            <a:chExt cx="1701" cy="2703"/>
          </a:xfrm>
        </p:grpSpPr>
        <p:sp>
          <p:nvSpPr>
            <p:cNvPr id="19464" name="Arc 7"/>
            <p:cNvSpPr>
              <a:spLocks/>
            </p:cNvSpPr>
            <p:nvPr/>
          </p:nvSpPr>
          <p:spPr bwMode="auto">
            <a:xfrm flipH="1" flipV="1">
              <a:off x="158" y="2999"/>
              <a:ext cx="363" cy="3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9465" name="Group 8"/>
            <p:cNvGrpSpPr>
              <a:grpSpLocks/>
            </p:cNvGrpSpPr>
            <p:nvPr/>
          </p:nvGrpSpPr>
          <p:grpSpPr bwMode="auto">
            <a:xfrm>
              <a:off x="136" y="777"/>
              <a:ext cx="1701" cy="2296"/>
              <a:chOff x="612" y="2024"/>
              <a:chExt cx="1701" cy="2296"/>
            </a:xfrm>
          </p:grpSpPr>
          <p:grpSp>
            <p:nvGrpSpPr>
              <p:cNvPr id="19471" name="Group 9"/>
              <p:cNvGrpSpPr>
                <a:grpSpLocks/>
              </p:cNvGrpSpPr>
              <p:nvPr/>
            </p:nvGrpSpPr>
            <p:grpSpPr bwMode="auto">
              <a:xfrm rot="-3727822">
                <a:off x="318" y="2976"/>
                <a:ext cx="2222" cy="454"/>
                <a:chOff x="340" y="3339"/>
                <a:chExt cx="2222" cy="454"/>
              </a:xfrm>
            </p:grpSpPr>
            <p:grpSp>
              <p:nvGrpSpPr>
                <p:cNvPr id="19480" name="Group 10"/>
                <p:cNvGrpSpPr>
                  <a:grpSpLocks/>
                </p:cNvGrpSpPr>
                <p:nvPr/>
              </p:nvGrpSpPr>
              <p:grpSpPr bwMode="auto">
                <a:xfrm>
                  <a:off x="340" y="3612"/>
                  <a:ext cx="2222" cy="181"/>
                  <a:chOff x="431" y="3385"/>
                  <a:chExt cx="2222" cy="181"/>
                </a:xfrm>
              </p:grpSpPr>
              <p:sp>
                <p:nvSpPr>
                  <p:cNvPr id="19484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31" y="3385"/>
                    <a:ext cx="2222" cy="181"/>
                  </a:xfrm>
                  <a:prstGeom prst="rect">
                    <a:avLst/>
                  </a:prstGeom>
                  <a:noFill/>
                  <a:ln w="15875">
                    <a:solidFill>
                      <a:srgbClr val="00000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/>
                  </a:p>
                </p:txBody>
              </p:sp>
              <p:sp>
                <p:nvSpPr>
                  <p:cNvPr id="19485" name="Oval 12"/>
                  <p:cNvSpPr>
                    <a:spLocks noChangeArrowheads="1"/>
                  </p:cNvSpPr>
                  <p:nvPr/>
                </p:nvSpPr>
                <p:spPr bwMode="auto">
                  <a:xfrm>
                    <a:off x="521" y="3430"/>
                    <a:ext cx="91" cy="91"/>
                  </a:xfrm>
                  <a:prstGeom prst="ellipse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/>
                  </a:p>
                </p:txBody>
              </p:sp>
              <p:sp>
                <p:nvSpPr>
                  <p:cNvPr id="19486" name="Oval 13"/>
                  <p:cNvSpPr>
                    <a:spLocks noChangeArrowheads="1"/>
                  </p:cNvSpPr>
                  <p:nvPr/>
                </p:nvSpPr>
                <p:spPr bwMode="auto">
                  <a:xfrm>
                    <a:off x="2517" y="3430"/>
                    <a:ext cx="91" cy="91"/>
                  </a:xfrm>
                  <a:prstGeom prst="ellipse">
                    <a:avLst/>
                  </a:prstGeom>
                  <a:noFill/>
                  <a:ln w="1587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anchor="ctr"/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defRPr>
                    </a:lvl9pPr>
                  </a:lstStyle>
                  <a:p>
                    <a:pPr eaLnBrk="1" hangingPunct="1"/>
                    <a:endParaRPr lang="en-US"/>
                  </a:p>
                </p:txBody>
              </p:sp>
            </p:grpSp>
            <p:sp>
              <p:nvSpPr>
                <p:cNvPr id="19481" name="Line 14"/>
                <p:cNvSpPr>
                  <a:spLocks noChangeShapeType="1"/>
                </p:cNvSpPr>
                <p:nvPr/>
              </p:nvSpPr>
              <p:spPr bwMode="auto">
                <a:xfrm flipV="1">
                  <a:off x="476" y="3339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82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2472" y="3339"/>
                  <a:ext cx="0" cy="227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9483" name="Line 16"/>
                <p:cNvSpPr>
                  <a:spLocks noChangeShapeType="1"/>
                </p:cNvSpPr>
                <p:nvPr/>
              </p:nvSpPr>
              <p:spPr bwMode="auto">
                <a:xfrm>
                  <a:off x="476" y="3475"/>
                  <a:ext cx="1996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9472" name="Text Box 17"/>
              <p:cNvSpPr txBox="1">
                <a:spLocks noChangeArrowheads="1"/>
              </p:cNvSpPr>
              <p:nvPr/>
            </p:nvSpPr>
            <p:spPr bwMode="auto">
              <a:xfrm rot="-3722389">
                <a:off x="973" y="2839"/>
                <a:ext cx="681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rgbClr val="000000"/>
                    </a:solidFill>
                  </a:rPr>
                  <a:t>20 cm</a:t>
                </a:r>
              </a:p>
            </p:txBody>
          </p:sp>
          <p:sp>
            <p:nvSpPr>
              <p:cNvPr id="19473" name="Line 18"/>
              <p:cNvSpPr>
                <a:spLocks noChangeShapeType="1"/>
              </p:cNvSpPr>
              <p:nvPr/>
            </p:nvSpPr>
            <p:spPr bwMode="auto">
              <a:xfrm>
                <a:off x="1111" y="4133"/>
                <a:ext cx="56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4" name="Arc 19"/>
              <p:cNvSpPr>
                <a:spLocks/>
              </p:cNvSpPr>
              <p:nvPr/>
            </p:nvSpPr>
            <p:spPr bwMode="auto">
              <a:xfrm>
                <a:off x="1338" y="3861"/>
                <a:ext cx="204" cy="27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475" name="Text Box 20"/>
              <p:cNvSpPr txBox="1">
                <a:spLocks noChangeArrowheads="1"/>
              </p:cNvSpPr>
              <p:nvPr/>
            </p:nvSpPr>
            <p:spPr bwMode="auto">
              <a:xfrm>
                <a:off x="1194" y="3935"/>
                <a:ext cx="4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rgbClr val="000000"/>
                    </a:solidFill>
                  </a:rPr>
                  <a:t>60</a:t>
                </a:r>
                <a:r>
                  <a:rPr lang="en-US" baseline="30000">
                    <a:solidFill>
                      <a:srgbClr val="000000"/>
                    </a:solidFill>
                  </a:rPr>
                  <a:t>o</a:t>
                </a:r>
                <a:endParaRPr 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19476" name="Line 21"/>
              <p:cNvSpPr>
                <a:spLocks noChangeShapeType="1"/>
              </p:cNvSpPr>
              <p:nvPr/>
            </p:nvSpPr>
            <p:spPr bwMode="auto">
              <a:xfrm>
                <a:off x="2018" y="2364"/>
                <a:ext cx="0" cy="590"/>
              </a:xfrm>
              <a:prstGeom prst="line">
                <a:avLst/>
              </a:prstGeom>
              <a:noFill/>
              <a:ln w="57150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77" name="Text Box 22"/>
              <p:cNvSpPr txBox="1">
                <a:spLocks noChangeArrowheads="1"/>
              </p:cNvSpPr>
              <p:nvPr/>
            </p:nvSpPr>
            <p:spPr bwMode="auto">
              <a:xfrm>
                <a:off x="612" y="4089"/>
                <a:ext cx="4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rgbClr val="000000"/>
                    </a:solidFill>
                  </a:rPr>
                  <a:t>O</a:t>
                </a:r>
              </a:p>
            </p:txBody>
          </p:sp>
          <p:sp>
            <p:nvSpPr>
              <p:cNvPr id="19478" name="Text Box 23"/>
              <p:cNvSpPr txBox="1">
                <a:spLocks noChangeArrowheads="1"/>
              </p:cNvSpPr>
              <p:nvPr/>
            </p:nvSpPr>
            <p:spPr bwMode="auto">
              <a:xfrm>
                <a:off x="1791" y="2024"/>
                <a:ext cx="40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rgbClr val="000000"/>
                    </a:solidFill>
                  </a:rPr>
                  <a:t>A</a:t>
                </a:r>
              </a:p>
            </p:txBody>
          </p:sp>
          <p:sp>
            <p:nvSpPr>
              <p:cNvPr id="19479" name="Text Box 24"/>
              <p:cNvSpPr txBox="1">
                <a:spLocks noChangeArrowheads="1"/>
              </p:cNvSpPr>
              <p:nvPr/>
            </p:nvSpPr>
            <p:spPr bwMode="auto">
              <a:xfrm>
                <a:off x="1814" y="2950"/>
                <a:ext cx="499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</a:pPr>
                <a:r>
                  <a:rPr lang="en-US">
                    <a:solidFill>
                      <a:srgbClr val="000000"/>
                    </a:solidFill>
                  </a:rPr>
                  <a:t>50 N</a:t>
                </a:r>
              </a:p>
            </p:txBody>
          </p:sp>
        </p:grpSp>
        <p:sp>
          <p:nvSpPr>
            <p:cNvPr id="19466" name="Text Box 25"/>
            <p:cNvSpPr txBox="1">
              <a:spLocks noChangeArrowheads="1"/>
            </p:cNvSpPr>
            <p:nvPr/>
          </p:nvSpPr>
          <p:spPr bwMode="auto">
            <a:xfrm>
              <a:off x="476" y="3249"/>
              <a:ext cx="31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M</a:t>
              </a:r>
              <a:r>
                <a:rPr lang="en-US" baseline="-25000"/>
                <a:t>o</a:t>
              </a:r>
            </a:p>
          </p:txBody>
        </p:sp>
        <p:sp>
          <p:nvSpPr>
            <p:cNvPr id="19467" name="Line 26"/>
            <p:cNvSpPr>
              <a:spLocks noChangeShapeType="1"/>
            </p:cNvSpPr>
            <p:nvPr/>
          </p:nvSpPr>
          <p:spPr bwMode="auto">
            <a:xfrm>
              <a:off x="1542" y="1933"/>
              <a:ext cx="0" cy="1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8" name="Line 27"/>
            <p:cNvSpPr>
              <a:spLocks noChangeShapeType="1"/>
            </p:cNvSpPr>
            <p:nvPr/>
          </p:nvSpPr>
          <p:spPr bwMode="auto">
            <a:xfrm>
              <a:off x="612" y="2931"/>
              <a:ext cx="0" cy="2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69" name="Line 28"/>
            <p:cNvSpPr>
              <a:spLocks noChangeShapeType="1"/>
            </p:cNvSpPr>
            <p:nvPr/>
          </p:nvSpPr>
          <p:spPr bwMode="auto">
            <a:xfrm>
              <a:off x="612" y="3135"/>
              <a:ext cx="93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0" name="Text Box 29"/>
            <p:cNvSpPr txBox="1">
              <a:spLocks noChangeArrowheads="1"/>
            </p:cNvSpPr>
            <p:nvPr/>
          </p:nvSpPr>
          <p:spPr bwMode="auto">
            <a:xfrm>
              <a:off x="971" y="2942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d</a:t>
              </a: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31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667263" y="88142"/>
            <a:ext cx="32161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Example 2.11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670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3" name="Object 28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1034158"/>
              </p:ext>
            </p:extLst>
          </p:nvPr>
        </p:nvGraphicFramePr>
        <p:xfrm>
          <a:off x="1990725" y="4846638"/>
          <a:ext cx="3063875" cy="159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95200" imgH="1091880" progId="Equation.3">
                  <p:embed/>
                </p:oleObj>
              </mc:Choice>
              <mc:Fallback>
                <p:oleObj name="Equation" r:id="rId3" imgW="209520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4846638"/>
                        <a:ext cx="3063875" cy="159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1984202"/>
              </p:ext>
            </p:extLst>
          </p:nvPr>
        </p:nvGraphicFramePr>
        <p:xfrm>
          <a:off x="2435303" y="6527876"/>
          <a:ext cx="139065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88840" imgH="177480" progId="Equation.3">
                  <p:embed/>
                </p:oleObj>
              </mc:Choice>
              <mc:Fallback>
                <p:oleObj name="Equation" r:id="rId5" imgW="8888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303" y="6527876"/>
                        <a:ext cx="1390650" cy="2778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8" name="Text Box 4"/>
          <p:cNvSpPr txBox="1">
            <a:spLocks noChangeArrowheads="1"/>
          </p:cNvSpPr>
          <p:nvPr/>
        </p:nvSpPr>
        <p:spPr bwMode="auto">
          <a:xfrm>
            <a:off x="40992" y="825197"/>
            <a:ext cx="528392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(b) </a:t>
            </a:r>
            <a:r>
              <a:rPr lang="en-US" b="1" dirty="0">
                <a:solidFill>
                  <a:srgbClr val="7030A0"/>
                </a:solidFill>
              </a:rPr>
              <a:t>horizontal force at </a:t>
            </a:r>
            <a:r>
              <a:rPr lang="en-US" b="1" i="1" dirty="0">
                <a:solidFill>
                  <a:srgbClr val="7030A0"/>
                </a:solidFill>
              </a:rPr>
              <a:t>A </a:t>
            </a:r>
            <a:r>
              <a:rPr lang="en-US" b="1" dirty="0">
                <a:solidFill>
                  <a:srgbClr val="7030A0"/>
                </a:solidFill>
              </a:rPr>
              <a:t>which creates the same moment</a:t>
            </a:r>
          </a:p>
        </p:txBody>
      </p:sp>
      <p:grpSp>
        <p:nvGrpSpPr>
          <p:cNvPr id="20489" name="Group 5"/>
          <p:cNvGrpSpPr>
            <a:grpSpLocks/>
          </p:cNvGrpSpPr>
          <p:nvPr/>
        </p:nvGrpSpPr>
        <p:grpSpPr bwMode="auto">
          <a:xfrm>
            <a:off x="1728571" y="1952482"/>
            <a:ext cx="2804114" cy="2497559"/>
            <a:chOff x="113" y="822"/>
            <a:chExt cx="2041" cy="2863"/>
          </a:xfrm>
        </p:grpSpPr>
        <p:grpSp>
          <p:nvGrpSpPr>
            <p:cNvPr id="20511" name="Group 6"/>
            <p:cNvGrpSpPr>
              <a:grpSpLocks/>
            </p:cNvGrpSpPr>
            <p:nvPr/>
          </p:nvGrpSpPr>
          <p:grpSpPr bwMode="auto">
            <a:xfrm rot="-3727822">
              <a:off x="-363" y="1751"/>
              <a:ext cx="2222" cy="454"/>
              <a:chOff x="340" y="3339"/>
              <a:chExt cx="2222" cy="454"/>
            </a:xfrm>
          </p:grpSpPr>
          <p:grpSp>
            <p:nvGrpSpPr>
              <p:cNvPr id="20525" name="Group 7"/>
              <p:cNvGrpSpPr>
                <a:grpSpLocks/>
              </p:cNvGrpSpPr>
              <p:nvPr/>
            </p:nvGrpSpPr>
            <p:grpSpPr bwMode="auto">
              <a:xfrm>
                <a:off x="340" y="3612"/>
                <a:ext cx="2222" cy="181"/>
                <a:chOff x="431" y="3385"/>
                <a:chExt cx="2222" cy="181"/>
              </a:xfrm>
            </p:grpSpPr>
            <p:sp>
              <p:nvSpPr>
                <p:cNvPr id="20529" name="Rectangle 8"/>
                <p:cNvSpPr>
                  <a:spLocks noChangeArrowheads="1"/>
                </p:cNvSpPr>
                <p:nvPr/>
              </p:nvSpPr>
              <p:spPr bwMode="auto">
                <a:xfrm>
                  <a:off x="431" y="3385"/>
                  <a:ext cx="2222" cy="181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20530" name="Oval 9"/>
                <p:cNvSpPr>
                  <a:spLocks noChangeArrowheads="1"/>
                </p:cNvSpPr>
                <p:nvPr/>
              </p:nvSpPr>
              <p:spPr bwMode="auto">
                <a:xfrm>
                  <a:off x="521" y="3434"/>
                  <a:ext cx="97" cy="87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20531" name="Oval 10"/>
                <p:cNvSpPr>
                  <a:spLocks noChangeArrowheads="1"/>
                </p:cNvSpPr>
                <p:nvPr/>
              </p:nvSpPr>
              <p:spPr bwMode="auto">
                <a:xfrm>
                  <a:off x="2517" y="3430"/>
                  <a:ext cx="91" cy="91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</p:grpSp>
          <p:sp>
            <p:nvSpPr>
              <p:cNvPr id="20526" name="Line 11"/>
              <p:cNvSpPr>
                <a:spLocks noChangeShapeType="1"/>
              </p:cNvSpPr>
              <p:nvPr/>
            </p:nvSpPr>
            <p:spPr bwMode="auto">
              <a:xfrm flipV="1">
                <a:off x="476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7" name="Line 12"/>
              <p:cNvSpPr>
                <a:spLocks noChangeShapeType="1"/>
              </p:cNvSpPr>
              <p:nvPr/>
            </p:nvSpPr>
            <p:spPr bwMode="auto">
              <a:xfrm flipV="1">
                <a:off x="2472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28" name="Line 13"/>
              <p:cNvSpPr>
                <a:spLocks noChangeShapeType="1"/>
              </p:cNvSpPr>
              <p:nvPr/>
            </p:nvSpPr>
            <p:spPr bwMode="auto">
              <a:xfrm>
                <a:off x="476" y="3475"/>
                <a:ext cx="19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512" name="Text Box 14"/>
            <p:cNvSpPr txBox="1">
              <a:spLocks noChangeArrowheads="1"/>
            </p:cNvSpPr>
            <p:nvPr/>
          </p:nvSpPr>
          <p:spPr bwMode="auto">
            <a:xfrm rot="17877611">
              <a:off x="177" y="1445"/>
              <a:ext cx="1019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20 cm</a:t>
              </a:r>
            </a:p>
          </p:txBody>
        </p:sp>
        <p:sp>
          <p:nvSpPr>
            <p:cNvPr id="20513" name="Line 15"/>
            <p:cNvSpPr>
              <a:spLocks noChangeShapeType="1"/>
            </p:cNvSpPr>
            <p:nvPr/>
          </p:nvSpPr>
          <p:spPr bwMode="auto">
            <a:xfrm>
              <a:off x="430" y="2908"/>
              <a:ext cx="5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Arc 16"/>
            <p:cNvSpPr>
              <a:spLocks/>
            </p:cNvSpPr>
            <p:nvPr/>
          </p:nvSpPr>
          <p:spPr bwMode="auto">
            <a:xfrm>
              <a:off x="657" y="2636"/>
              <a:ext cx="204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15" name="Text Box 17"/>
            <p:cNvSpPr txBox="1">
              <a:spLocks noChangeArrowheads="1"/>
            </p:cNvSpPr>
            <p:nvPr/>
          </p:nvSpPr>
          <p:spPr bwMode="auto">
            <a:xfrm>
              <a:off x="748" y="2613"/>
              <a:ext cx="40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516" name="Line 18"/>
            <p:cNvSpPr>
              <a:spLocks noChangeShapeType="1"/>
            </p:cNvSpPr>
            <p:nvPr/>
          </p:nvSpPr>
          <p:spPr bwMode="auto">
            <a:xfrm>
              <a:off x="1337" y="1139"/>
              <a:ext cx="544" cy="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Text Box 19"/>
            <p:cNvSpPr txBox="1">
              <a:spLocks noChangeArrowheads="1"/>
            </p:cNvSpPr>
            <p:nvPr/>
          </p:nvSpPr>
          <p:spPr bwMode="auto">
            <a:xfrm>
              <a:off x="113" y="3023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20518" name="Text Box 20"/>
            <p:cNvSpPr txBox="1">
              <a:spLocks noChangeArrowheads="1"/>
            </p:cNvSpPr>
            <p:nvPr/>
          </p:nvSpPr>
          <p:spPr bwMode="auto">
            <a:xfrm>
              <a:off x="1270" y="822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0519" name="Text Box 21"/>
            <p:cNvSpPr txBox="1">
              <a:spLocks noChangeArrowheads="1"/>
            </p:cNvSpPr>
            <p:nvPr/>
          </p:nvSpPr>
          <p:spPr bwMode="auto">
            <a:xfrm>
              <a:off x="1746" y="1002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0520" name="Line 22"/>
            <p:cNvSpPr>
              <a:spLocks noChangeShapeType="1"/>
            </p:cNvSpPr>
            <p:nvPr/>
          </p:nvSpPr>
          <p:spPr bwMode="auto">
            <a:xfrm>
              <a:off x="1066" y="2908"/>
              <a:ext cx="8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Line 23"/>
            <p:cNvSpPr>
              <a:spLocks noChangeShapeType="1"/>
            </p:cNvSpPr>
            <p:nvPr/>
          </p:nvSpPr>
          <p:spPr bwMode="auto">
            <a:xfrm>
              <a:off x="1678" y="1162"/>
              <a:ext cx="0" cy="17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Arc 25"/>
            <p:cNvSpPr>
              <a:spLocks/>
            </p:cNvSpPr>
            <p:nvPr/>
          </p:nvSpPr>
          <p:spPr bwMode="auto">
            <a:xfrm flipH="1" flipV="1">
              <a:off x="158" y="2999"/>
              <a:ext cx="363" cy="3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23" name="Text Box 26"/>
            <p:cNvSpPr txBox="1">
              <a:spLocks noChangeArrowheads="1"/>
            </p:cNvSpPr>
            <p:nvPr/>
          </p:nvSpPr>
          <p:spPr bwMode="auto">
            <a:xfrm>
              <a:off x="477" y="3262"/>
              <a:ext cx="1201" cy="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M</a:t>
              </a:r>
              <a:r>
                <a:rPr lang="en-US" baseline="-25000" dirty="0">
                  <a:solidFill>
                    <a:srgbClr val="000000"/>
                  </a:solidFill>
                </a:rPr>
                <a:t>o</a:t>
              </a:r>
              <a:r>
                <a:rPr lang="en-US" dirty="0">
                  <a:solidFill>
                    <a:srgbClr val="000000"/>
                  </a:solidFill>
                </a:rPr>
                <a:t>=5.0 N.m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0524" name="Text Box 27"/>
            <p:cNvSpPr txBox="1">
              <a:spLocks noChangeArrowheads="1"/>
            </p:cNvSpPr>
            <p:nvPr/>
          </p:nvSpPr>
          <p:spPr bwMode="auto">
            <a:xfrm>
              <a:off x="1678" y="1911"/>
              <a:ext cx="20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d</a:t>
              </a:r>
            </a:p>
          </p:txBody>
        </p:sp>
      </p:grpSp>
      <p:sp>
        <p:nvSpPr>
          <p:cNvPr id="20490" name="Text Box 49"/>
          <p:cNvSpPr txBox="1">
            <a:spLocks noChangeArrowheads="1"/>
          </p:cNvSpPr>
          <p:nvPr/>
        </p:nvSpPr>
        <p:spPr bwMode="auto">
          <a:xfrm>
            <a:off x="6022976" y="747916"/>
            <a:ext cx="61690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dirty="0">
                <a:solidFill>
                  <a:srgbClr val="000000"/>
                </a:solidFill>
              </a:rPr>
              <a:t>(c) </a:t>
            </a:r>
            <a:r>
              <a:rPr lang="en-US" b="1" dirty="0">
                <a:solidFill>
                  <a:srgbClr val="FF0000"/>
                </a:solidFill>
              </a:rPr>
              <a:t>smallest force at A which produces the same moment,</a:t>
            </a:r>
          </a:p>
        </p:txBody>
      </p:sp>
      <p:graphicFrame>
        <p:nvGraphicFramePr>
          <p:cNvPr id="20484" name="Object 50"/>
          <p:cNvGraphicFramePr>
            <a:graphicFrameLocks noChangeAspect="1"/>
          </p:cNvGraphicFramePr>
          <p:nvPr/>
        </p:nvGraphicFramePr>
        <p:xfrm>
          <a:off x="7264400" y="4560889"/>
          <a:ext cx="1651000" cy="159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30040" imgH="1091880" progId="Equation.3">
                  <p:embed/>
                </p:oleObj>
              </mc:Choice>
              <mc:Fallback>
                <p:oleObj name="Equation" r:id="rId7" imgW="1130040" imgH="1091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64400" y="4560889"/>
                        <a:ext cx="1651000" cy="159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5" name="Object 51"/>
          <p:cNvGraphicFramePr>
            <a:graphicFrameLocks noChangeAspect="1"/>
          </p:cNvGraphicFramePr>
          <p:nvPr/>
        </p:nvGraphicFramePr>
        <p:xfrm>
          <a:off x="7373938" y="6350001"/>
          <a:ext cx="1389062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8840" imgH="177480" progId="Equation.3">
                  <p:embed/>
                </p:oleObj>
              </mc:Choice>
              <mc:Fallback>
                <p:oleObj name="Equation" r:id="rId9" imgW="88884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3938" y="6350001"/>
                        <a:ext cx="1389062" cy="2778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0491" name="Group 5"/>
          <p:cNvGrpSpPr>
            <a:grpSpLocks/>
          </p:cNvGrpSpPr>
          <p:nvPr/>
        </p:nvGrpSpPr>
        <p:grpSpPr bwMode="auto">
          <a:xfrm>
            <a:off x="6862763" y="1165226"/>
            <a:ext cx="3027362" cy="3267075"/>
            <a:chOff x="158" y="852"/>
            <a:chExt cx="2019" cy="2701"/>
          </a:xfrm>
        </p:grpSpPr>
        <p:grpSp>
          <p:nvGrpSpPr>
            <p:cNvPr id="20492" name="Group 6"/>
            <p:cNvGrpSpPr>
              <a:grpSpLocks/>
            </p:cNvGrpSpPr>
            <p:nvPr/>
          </p:nvGrpSpPr>
          <p:grpSpPr bwMode="auto">
            <a:xfrm rot="-3727822">
              <a:off x="-363" y="1751"/>
              <a:ext cx="2222" cy="454"/>
              <a:chOff x="340" y="3339"/>
              <a:chExt cx="2222" cy="454"/>
            </a:xfrm>
          </p:grpSpPr>
          <p:grpSp>
            <p:nvGrpSpPr>
              <p:cNvPr id="20504" name="Group 7"/>
              <p:cNvGrpSpPr>
                <a:grpSpLocks/>
              </p:cNvGrpSpPr>
              <p:nvPr/>
            </p:nvGrpSpPr>
            <p:grpSpPr bwMode="auto">
              <a:xfrm>
                <a:off x="340" y="3612"/>
                <a:ext cx="2222" cy="181"/>
                <a:chOff x="431" y="3385"/>
                <a:chExt cx="2222" cy="181"/>
              </a:xfrm>
            </p:grpSpPr>
            <p:sp>
              <p:nvSpPr>
                <p:cNvPr id="20508" name="Rectangle 8"/>
                <p:cNvSpPr>
                  <a:spLocks noChangeArrowheads="1"/>
                </p:cNvSpPr>
                <p:nvPr/>
              </p:nvSpPr>
              <p:spPr bwMode="auto">
                <a:xfrm>
                  <a:off x="431" y="3385"/>
                  <a:ext cx="2222" cy="181"/>
                </a:xfrm>
                <a:prstGeom prst="rect">
                  <a:avLst/>
                </a:prstGeom>
                <a:noFill/>
                <a:ln w="15875">
                  <a:solidFill>
                    <a:srgbClr val="000000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20509" name="Oval 9"/>
                <p:cNvSpPr>
                  <a:spLocks noChangeArrowheads="1"/>
                </p:cNvSpPr>
                <p:nvPr/>
              </p:nvSpPr>
              <p:spPr bwMode="auto">
                <a:xfrm>
                  <a:off x="521" y="3434"/>
                  <a:ext cx="97" cy="87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  <p:sp>
              <p:nvSpPr>
                <p:cNvPr id="20510" name="Oval 10"/>
                <p:cNvSpPr>
                  <a:spLocks noChangeArrowheads="1"/>
                </p:cNvSpPr>
                <p:nvPr/>
              </p:nvSpPr>
              <p:spPr bwMode="auto">
                <a:xfrm>
                  <a:off x="2517" y="3430"/>
                  <a:ext cx="91" cy="91"/>
                </a:xfrm>
                <a:prstGeom prst="ellipse">
                  <a:avLst/>
                </a:prstGeom>
                <a:noFill/>
                <a:ln w="158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defRPr>
                  </a:lvl9pPr>
                </a:lstStyle>
                <a:p>
                  <a:pPr eaLnBrk="1" hangingPunct="1"/>
                  <a:endParaRPr lang="en-US"/>
                </a:p>
              </p:txBody>
            </p:sp>
          </p:grpSp>
          <p:sp>
            <p:nvSpPr>
              <p:cNvPr id="20505" name="Line 11"/>
              <p:cNvSpPr>
                <a:spLocks noChangeShapeType="1"/>
              </p:cNvSpPr>
              <p:nvPr/>
            </p:nvSpPr>
            <p:spPr bwMode="auto">
              <a:xfrm flipV="1">
                <a:off x="476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6" name="Line 12"/>
              <p:cNvSpPr>
                <a:spLocks noChangeShapeType="1"/>
              </p:cNvSpPr>
              <p:nvPr/>
            </p:nvSpPr>
            <p:spPr bwMode="auto">
              <a:xfrm flipV="1">
                <a:off x="2472" y="3339"/>
                <a:ext cx="0" cy="2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7" name="Line 13"/>
              <p:cNvSpPr>
                <a:spLocks noChangeShapeType="1"/>
              </p:cNvSpPr>
              <p:nvPr/>
            </p:nvSpPr>
            <p:spPr bwMode="auto">
              <a:xfrm>
                <a:off x="476" y="3475"/>
                <a:ext cx="199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493" name="Text Box 14"/>
            <p:cNvSpPr txBox="1">
              <a:spLocks noChangeArrowheads="1"/>
            </p:cNvSpPr>
            <p:nvPr/>
          </p:nvSpPr>
          <p:spPr bwMode="auto">
            <a:xfrm rot="-3722389">
              <a:off x="295" y="1605"/>
              <a:ext cx="683" cy="2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20 cm</a:t>
              </a:r>
            </a:p>
          </p:txBody>
        </p:sp>
        <p:sp>
          <p:nvSpPr>
            <p:cNvPr id="20494" name="Line 15"/>
            <p:cNvSpPr>
              <a:spLocks noChangeShapeType="1"/>
            </p:cNvSpPr>
            <p:nvPr/>
          </p:nvSpPr>
          <p:spPr bwMode="auto">
            <a:xfrm>
              <a:off x="430" y="2908"/>
              <a:ext cx="5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Arc 16"/>
            <p:cNvSpPr>
              <a:spLocks/>
            </p:cNvSpPr>
            <p:nvPr/>
          </p:nvSpPr>
          <p:spPr bwMode="auto">
            <a:xfrm>
              <a:off x="770" y="2452"/>
              <a:ext cx="341" cy="45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Text Box 17"/>
            <p:cNvSpPr txBox="1">
              <a:spLocks noChangeArrowheads="1"/>
            </p:cNvSpPr>
            <p:nvPr/>
          </p:nvSpPr>
          <p:spPr bwMode="auto">
            <a:xfrm>
              <a:off x="679" y="2573"/>
              <a:ext cx="408" cy="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0497" name="Line 18"/>
            <p:cNvSpPr>
              <a:spLocks noChangeShapeType="1"/>
            </p:cNvSpPr>
            <p:nvPr/>
          </p:nvSpPr>
          <p:spPr bwMode="auto">
            <a:xfrm>
              <a:off x="1330" y="1184"/>
              <a:ext cx="553" cy="377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Text Box 19"/>
            <p:cNvSpPr txBox="1">
              <a:spLocks noChangeArrowheads="1"/>
            </p:cNvSpPr>
            <p:nvPr/>
          </p:nvSpPr>
          <p:spPr bwMode="auto">
            <a:xfrm>
              <a:off x="162" y="2965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20499" name="Text Box 20"/>
            <p:cNvSpPr txBox="1">
              <a:spLocks noChangeArrowheads="1"/>
            </p:cNvSpPr>
            <p:nvPr/>
          </p:nvSpPr>
          <p:spPr bwMode="auto">
            <a:xfrm>
              <a:off x="1209" y="852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0500" name="Text Box 21"/>
            <p:cNvSpPr txBox="1">
              <a:spLocks noChangeArrowheads="1"/>
            </p:cNvSpPr>
            <p:nvPr/>
          </p:nvSpPr>
          <p:spPr bwMode="auto">
            <a:xfrm>
              <a:off x="1769" y="1335"/>
              <a:ext cx="40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F</a:t>
              </a:r>
            </a:p>
          </p:txBody>
        </p:sp>
        <p:sp>
          <p:nvSpPr>
            <p:cNvPr id="20501" name="Line 22"/>
            <p:cNvSpPr>
              <a:spLocks noChangeShapeType="1"/>
            </p:cNvSpPr>
            <p:nvPr/>
          </p:nvSpPr>
          <p:spPr bwMode="auto">
            <a:xfrm>
              <a:off x="1066" y="2908"/>
              <a:ext cx="86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Arc 25"/>
            <p:cNvSpPr>
              <a:spLocks/>
            </p:cNvSpPr>
            <p:nvPr/>
          </p:nvSpPr>
          <p:spPr bwMode="auto">
            <a:xfrm flipH="1" flipV="1">
              <a:off x="158" y="2999"/>
              <a:ext cx="363" cy="3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3" name="Text Box 26"/>
            <p:cNvSpPr txBox="1">
              <a:spLocks noChangeArrowheads="1"/>
            </p:cNvSpPr>
            <p:nvPr/>
          </p:nvSpPr>
          <p:spPr bwMode="auto">
            <a:xfrm>
              <a:off x="477" y="3250"/>
              <a:ext cx="929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M</a:t>
              </a:r>
              <a:r>
                <a:rPr lang="en-US" baseline="-25000" dirty="0">
                  <a:solidFill>
                    <a:srgbClr val="000000"/>
                  </a:solidFill>
                </a:rPr>
                <a:t>o</a:t>
              </a:r>
              <a:r>
                <a:rPr lang="en-US" dirty="0">
                  <a:solidFill>
                    <a:srgbClr val="000000"/>
                  </a:solidFill>
                </a:rPr>
                <a:t>=5.0 N.m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32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2756242" y="54147"/>
            <a:ext cx="32161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Example 2.11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807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8" grpId="0"/>
      <p:bldP spid="20490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06" name="Object 3"/>
          <p:cNvGraphicFramePr>
            <a:graphicFrameLocks noGrp="1" noChangeAspect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27715610"/>
              </p:ext>
            </p:extLst>
          </p:nvPr>
        </p:nvGraphicFramePr>
        <p:xfrm>
          <a:off x="4605761" y="2446986"/>
          <a:ext cx="5349607" cy="27552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03160" imgH="1777680" progId="Equation.DSMT4">
                  <p:embed/>
                </p:oleObj>
              </mc:Choice>
              <mc:Fallback>
                <p:oleObj name="Equation" r:id="rId3" imgW="2603160" imgH="1777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761" y="2446986"/>
                        <a:ext cx="5349607" cy="27552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27"/>
          <p:cNvGraphicFramePr>
            <a:graphicFrameLocks noGrp="1" noChangeAspect="1"/>
          </p:cNvGraphicFramePr>
          <p:nvPr>
            <p:ph sz="half" idx="2"/>
          </p:nvPr>
        </p:nvGraphicFramePr>
        <p:xfrm>
          <a:off x="6710363" y="5984875"/>
          <a:ext cx="1131887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58720" imgH="177480" progId="Equation.3">
                  <p:embed/>
                </p:oleObj>
              </mc:Choice>
              <mc:Fallback>
                <p:oleObj name="Equation" r:id="rId5" imgW="558720" imgH="177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10363" y="5984875"/>
                        <a:ext cx="1131887" cy="36036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1510" name="Group 4"/>
          <p:cNvGrpSpPr>
            <a:grpSpLocks/>
          </p:cNvGrpSpPr>
          <p:nvPr/>
        </p:nvGrpSpPr>
        <p:grpSpPr bwMode="auto">
          <a:xfrm>
            <a:off x="537001" y="1555767"/>
            <a:ext cx="2808287" cy="4398963"/>
            <a:chOff x="295" y="1162"/>
            <a:chExt cx="1769" cy="2771"/>
          </a:xfrm>
        </p:grpSpPr>
        <p:sp>
          <p:nvSpPr>
            <p:cNvPr id="21512" name="Arc 5"/>
            <p:cNvSpPr>
              <a:spLocks/>
            </p:cNvSpPr>
            <p:nvPr/>
          </p:nvSpPr>
          <p:spPr bwMode="auto">
            <a:xfrm flipH="1" flipV="1">
              <a:off x="317" y="3384"/>
              <a:ext cx="363" cy="36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1513" name="Group 6"/>
            <p:cNvGrpSpPr>
              <a:grpSpLocks/>
            </p:cNvGrpSpPr>
            <p:nvPr/>
          </p:nvGrpSpPr>
          <p:grpSpPr bwMode="auto">
            <a:xfrm rot="-3727822">
              <a:off x="121" y="2314"/>
              <a:ext cx="2222" cy="181"/>
              <a:chOff x="431" y="3385"/>
              <a:chExt cx="2222" cy="181"/>
            </a:xfrm>
          </p:grpSpPr>
          <p:sp>
            <p:nvSpPr>
              <p:cNvPr id="21530" name="Rectangle 7"/>
              <p:cNvSpPr>
                <a:spLocks noChangeArrowheads="1"/>
              </p:cNvSpPr>
              <p:nvPr/>
            </p:nvSpPr>
            <p:spPr bwMode="auto">
              <a:xfrm>
                <a:off x="431" y="3385"/>
                <a:ext cx="2222" cy="181"/>
              </a:xfrm>
              <a:prstGeom prst="rect">
                <a:avLst/>
              </a:prstGeom>
              <a:noFill/>
              <a:ln w="15875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1531" name="Oval 8"/>
              <p:cNvSpPr>
                <a:spLocks noChangeArrowheads="1"/>
              </p:cNvSpPr>
              <p:nvPr/>
            </p:nvSpPr>
            <p:spPr bwMode="auto">
              <a:xfrm>
                <a:off x="521" y="3430"/>
                <a:ext cx="91" cy="91"/>
              </a:xfrm>
              <a:prstGeom prst="ellips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  <p:sp>
            <p:nvSpPr>
              <p:cNvPr id="21532" name="Oval 9"/>
              <p:cNvSpPr>
                <a:spLocks noChangeArrowheads="1"/>
              </p:cNvSpPr>
              <p:nvPr/>
            </p:nvSpPr>
            <p:spPr bwMode="auto">
              <a:xfrm>
                <a:off x="2517" y="3430"/>
                <a:ext cx="91" cy="91"/>
              </a:xfrm>
              <a:prstGeom prst="ellipse">
                <a:avLst/>
              </a:prstGeom>
              <a:noFill/>
              <a:ln w="158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/>
              </a:p>
            </p:txBody>
          </p:sp>
        </p:grpSp>
        <p:sp>
          <p:nvSpPr>
            <p:cNvPr id="21514" name="Line 10"/>
            <p:cNvSpPr>
              <a:spLocks noChangeShapeType="1"/>
            </p:cNvSpPr>
            <p:nvPr/>
          </p:nvSpPr>
          <p:spPr bwMode="auto">
            <a:xfrm rot="17872178" flipV="1">
              <a:off x="555" y="3036"/>
              <a:ext cx="0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Line 11"/>
            <p:cNvSpPr>
              <a:spLocks noChangeShapeType="1"/>
            </p:cNvSpPr>
            <p:nvPr/>
          </p:nvSpPr>
          <p:spPr bwMode="auto">
            <a:xfrm rot="17872178" flipV="1">
              <a:off x="1316" y="1773"/>
              <a:ext cx="0" cy="22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Line 12"/>
            <p:cNvSpPr>
              <a:spLocks noChangeShapeType="1"/>
            </p:cNvSpPr>
            <p:nvPr/>
          </p:nvSpPr>
          <p:spPr bwMode="auto">
            <a:xfrm rot="-3727822">
              <a:off x="189" y="2500"/>
              <a:ext cx="1476" cy="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Text Box 13"/>
            <p:cNvSpPr txBox="1">
              <a:spLocks noChangeArrowheads="1"/>
            </p:cNvSpPr>
            <p:nvPr/>
          </p:nvSpPr>
          <p:spPr bwMode="auto">
            <a:xfrm rot="-3722389">
              <a:off x="523" y="2203"/>
              <a:ext cx="68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x</a:t>
              </a:r>
            </a:p>
          </p:txBody>
        </p:sp>
        <p:sp>
          <p:nvSpPr>
            <p:cNvPr id="21518" name="Line 14"/>
            <p:cNvSpPr>
              <a:spLocks noChangeShapeType="1"/>
            </p:cNvSpPr>
            <p:nvPr/>
          </p:nvSpPr>
          <p:spPr bwMode="auto">
            <a:xfrm>
              <a:off x="794" y="3271"/>
              <a:ext cx="56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Arc 15"/>
            <p:cNvSpPr>
              <a:spLocks/>
            </p:cNvSpPr>
            <p:nvPr/>
          </p:nvSpPr>
          <p:spPr bwMode="auto">
            <a:xfrm>
              <a:off x="1021" y="2999"/>
              <a:ext cx="204" cy="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0" name="Text Box 16"/>
            <p:cNvSpPr txBox="1">
              <a:spLocks noChangeArrowheads="1"/>
            </p:cNvSpPr>
            <p:nvPr/>
          </p:nvSpPr>
          <p:spPr bwMode="auto">
            <a:xfrm>
              <a:off x="1112" y="2976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60</a:t>
              </a:r>
              <a:r>
                <a:rPr lang="en-US" baseline="30000">
                  <a:solidFill>
                    <a:srgbClr val="000000"/>
                  </a:solidFill>
                </a:rPr>
                <a:t>o</a:t>
              </a:r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21521" name="Line 17"/>
            <p:cNvSpPr>
              <a:spLocks noChangeShapeType="1"/>
            </p:cNvSpPr>
            <p:nvPr/>
          </p:nvSpPr>
          <p:spPr bwMode="auto">
            <a:xfrm>
              <a:off x="1474" y="2001"/>
              <a:ext cx="0" cy="590"/>
            </a:xfrm>
            <a:prstGeom prst="line">
              <a:avLst/>
            </a:prstGeom>
            <a:noFill/>
            <a:ln w="57150">
              <a:solidFill>
                <a:srgbClr val="0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Text Box 18"/>
            <p:cNvSpPr txBox="1">
              <a:spLocks noChangeArrowheads="1"/>
            </p:cNvSpPr>
            <p:nvPr/>
          </p:nvSpPr>
          <p:spPr bwMode="auto">
            <a:xfrm>
              <a:off x="295" y="3227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O</a:t>
              </a:r>
            </a:p>
          </p:txBody>
        </p:sp>
        <p:sp>
          <p:nvSpPr>
            <p:cNvPr id="21523" name="Text Box 19"/>
            <p:cNvSpPr txBox="1">
              <a:spLocks noChangeArrowheads="1"/>
            </p:cNvSpPr>
            <p:nvPr/>
          </p:nvSpPr>
          <p:spPr bwMode="auto">
            <a:xfrm>
              <a:off x="1474" y="1162"/>
              <a:ext cx="40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A</a:t>
              </a:r>
            </a:p>
          </p:txBody>
        </p:sp>
        <p:sp>
          <p:nvSpPr>
            <p:cNvPr id="21524" name="Text Box 20"/>
            <p:cNvSpPr txBox="1">
              <a:spLocks noChangeArrowheads="1"/>
            </p:cNvSpPr>
            <p:nvPr/>
          </p:nvSpPr>
          <p:spPr bwMode="auto">
            <a:xfrm>
              <a:off x="1451" y="2160"/>
              <a:ext cx="61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125 N</a:t>
              </a:r>
            </a:p>
          </p:txBody>
        </p:sp>
        <p:sp>
          <p:nvSpPr>
            <p:cNvPr id="21525" name="Text Box 21"/>
            <p:cNvSpPr txBox="1">
              <a:spLocks noChangeArrowheads="1"/>
            </p:cNvSpPr>
            <p:nvPr/>
          </p:nvSpPr>
          <p:spPr bwMode="auto">
            <a:xfrm>
              <a:off x="317" y="3702"/>
              <a:ext cx="93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dirty="0">
                  <a:solidFill>
                    <a:srgbClr val="000000"/>
                  </a:solidFill>
                </a:rPr>
                <a:t>M</a:t>
              </a:r>
              <a:r>
                <a:rPr lang="en-US" baseline="-25000" dirty="0">
                  <a:solidFill>
                    <a:srgbClr val="000000"/>
                  </a:solidFill>
                </a:rPr>
                <a:t>o</a:t>
              </a:r>
              <a:r>
                <a:rPr lang="en-US" dirty="0">
                  <a:solidFill>
                    <a:srgbClr val="000000"/>
                  </a:solidFill>
                </a:rPr>
                <a:t>=5.0 N.m</a:t>
              </a:r>
              <a:endParaRPr lang="en-US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1526" name="Line 22"/>
            <p:cNvSpPr>
              <a:spLocks noChangeShapeType="1"/>
            </p:cNvSpPr>
            <p:nvPr/>
          </p:nvSpPr>
          <p:spPr bwMode="auto">
            <a:xfrm>
              <a:off x="1474" y="2658"/>
              <a:ext cx="0" cy="12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Line 23"/>
            <p:cNvSpPr>
              <a:spLocks noChangeShapeType="1"/>
            </p:cNvSpPr>
            <p:nvPr/>
          </p:nvSpPr>
          <p:spPr bwMode="auto">
            <a:xfrm>
              <a:off x="771" y="3316"/>
              <a:ext cx="0" cy="2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Line 24"/>
            <p:cNvSpPr>
              <a:spLocks noChangeShapeType="1"/>
            </p:cNvSpPr>
            <p:nvPr/>
          </p:nvSpPr>
          <p:spPr bwMode="auto">
            <a:xfrm>
              <a:off x="771" y="3520"/>
              <a:ext cx="72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Text Box 25"/>
            <p:cNvSpPr txBox="1">
              <a:spLocks noChangeArrowheads="1"/>
            </p:cNvSpPr>
            <p:nvPr/>
          </p:nvSpPr>
          <p:spPr bwMode="auto">
            <a:xfrm>
              <a:off x="1020" y="3316"/>
              <a:ext cx="24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solidFill>
                    <a:srgbClr val="000000"/>
                  </a:solidFill>
                </a:rPr>
                <a:t>d</a:t>
              </a:r>
            </a:p>
          </p:txBody>
        </p:sp>
      </p:grpSp>
      <p:sp>
        <p:nvSpPr>
          <p:cNvPr id="21511" name="Text Box 26"/>
          <p:cNvSpPr txBox="1">
            <a:spLocks noChangeArrowheads="1"/>
          </p:cNvSpPr>
          <p:nvPr/>
        </p:nvSpPr>
        <p:spPr bwMode="auto">
          <a:xfrm>
            <a:off x="5016499" y="1487597"/>
            <a:ext cx="69093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6075" indent="-3460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(d</a:t>
            </a:r>
            <a:r>
              <a:rPr lang="en-US" sz="2000" dirty="0">
                <a:latin typeface="Times New Roman" panose="02020603050405020304" pitchFamily="18" charset="0"/>
              </a:rPr>
              <a:t>) </a:t>
            </a:r>
            <a:r>
              <a:rPr lang="en-US" sz="2000" b="1" dirty="0">
                <a:latin typeface="Times New Roman" panose="02020603050405020304" pitchFamily="18" charset="0"/>
              </a:rPr>
              <a:t>location for a 125-N vertical force that produce the same moment,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33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3800544" y="77563"/>
            <a:ext cx="32161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Example 2.11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454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34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1818646" y="-90072"/>
            <a:ext cx="7992328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Centroids and Centres of Gravity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608348"/>
            <a:ext cx="12192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weight of a particle</a:t>
            </a:r>
            <a:r>
              <a:rPr lang="en-US" sz="2400" dirty="0">
                <a:solidFill>
                  <a:prstClr val="black"/>
                </a:solidFill>
              </a:rPr>
              <a:t> is the </a:t>
            </a:r>
            <a:r>
              <a:rPr lang="en-US" sz="2400" u="sng" dirty="0">
                <a:solidFill>
                  <a:srgbClr val="FF0000"/>
                </a:solidFill>
              </a:rPr>
              <a:t>force of attraction </a:t>
            </a:r>
            <a:r>
              <a:rPr lang="en-US" sz="2400" dirty="0">
                <a:solidFill>
                  <a:prstClr val="black"/>
                </a:solidFill>
              </a:rPr>
              <a:t>which the </a:t>
            </a:r>
            <a:r>
              <a:rPr lang="en-US" sz="2400" b="1" dirty="0">
                <a:solidFill>
                  <a:srgbClr val="FF0000"/>
                </a:solidFill>
              </a:rPr>
              <a:t>Earth exerts on it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weight of a rigid body</a:t>
            </a:r>
            <a:r>
              <a:rPr lang="en-US" sz="2400" dirty="0">
                <a:solidFill>
                  <a:prstClr val="black"/>
                </a:solidFill>
              </a:rPr>
              <a:t> is the </a:t>
            </a:r>
            <a:r>
              <a:rPr lang="en-US" sz="2400" b="1" dirty="0">
                <a:solidFill>
                  <a:srgbClr val="FF0000"/>
                </a:solidFill>
              </a:rPr>
              <a:t>resultant of the weights </a:t>
            </a:r>
            <a:r>
              <a:rPr lang="en-US" sz="2400" dirty="0">
                <a:solidFill>
                  <a:prstClr val="black"/>
                </a:solidFill>
              </a:rPr>
              <a:t>of all </a:t>
            </a:r>
            <a:r>
              <a:rPr lang="en-US" sz="2400" b="1" dirty="0">
                <a:solidFill>
                  <a:srgbClr val="FF0000"/>
                </a:solidFill>
              </a:rPr>
              <a:t>individual particles </a:t>
            </a:r>
            <a:r>
              <a:rPr lang="en-US" sz="2400" dirty="0">
                <a:solidFill>
                  <a:prstClr val="black"/>
                </a:solidFill>
              </a:rPr>
              <a:t>that </a:t>
            </a:r>
            <a:r>
              <a:rPr lang="en-US" sz="2400" b="1" dirty="0">
                <a:solidFill>
                  <a:srgbClr val="FF0000"/>
                </a:solidFill>
              </a:rPr>
              <a:t>constitute the body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c.g</a:t>
            </a:r>
            <a:r>
              <a:rPr lang="en-US" sz="2400" dirty="0">
                <a:solidFill>
                  <a:prstClr val="black"/>
                </a:solidFill>
              </a:rPr>
              <a:t> of a body is </a:t>
            </a:r>
            <a:r>
              <a:rPr lang="en-US" sz="2400" b="1" dirty="0">
                <a:solidFill>
                  <a:srgbClr val="FF0000"/>
                </a:solidFill>
              </a:rPr>
              <a:t>the point through which </a:t>
            </a:r>
            <a:r>
              <a:rPr lang="en-US" sz="2400" dirty="0">
                <a:solidFill>
                  <a:prstClr val="black"/>
                </a:solidFill>
              </a:rPr>
              <a:t>the total </a:t>
            </a:r>
            <a:r>
              <a:rPr lang="en-US" sz="2400" b="1" u="sng" dirty="0">
                <a:solidFill>
                  <a:srgbClr val="FF0000"/>
                </a:solidFill>
              </a:rPr>
              <a:t>weight acts </a:t>
            </a:r>
            <a:r>
              <a:rPr lang="en-US" sz="2400" dirty="0">
                <a:solidFill>
                  <a:prstClr val="black"/>
                </a:solidFill>
              </a:rPr>
              <a:t>for </a:t>
            </a:r>
            <a:r>
              <a:rPr lang="en-US" sz="2400" b="1" u="sng" dirty="0">
                <a:solidFill>
                  <a:srgbClr val="0070C0"/>
                </a:solidFill>
              </a:rPr>
              <a:t>all orientations of the body</a:t>
            </a:r>
            <a:endParaRPr lang="en-US" b="1" u="sng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b="1" dirty="0">
                <a:solidFill>
                  <a:srgbClr val="FF0000"/>
                </a:solidFill>
              </a:rPr>
              <a:t>point need not be a point inside the body, although it is very often the case</a:t>
            </a:r>
            <a:r>
              <a:rPr lang="en-US" sz="2400" dirty="0">
                <a:solidFill>
                  <a:prstClr val="black"/>
                </a:solidFill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</a:t>
            </a:r>
            <a:r>
              <a:rPr lang="en-US" sz="2400" b="1" dirty="0">
                <a:solidFill>
                  <a:srgbClr val="0070C0"/>
                </a:solidFill>
              </a:rPr>
              <a:t>c.g of a body of uniform thickness </a:t>
            </a:r>
            <a:r>
              <a:rPr lang="en-US" sz="2400" dirty="0">
                <a:solidFill>
                  <a:prstClr val="black"/>
                </a:solidFill>
              </a:rPr>
              <a:t>can be approximately located experimentally by </a:t>
            </a:r>
            <a:r>
              <a:rPr lang="en-US" sz="2400" b="1" dirty="0">
                <a:solidFill>
                  <a:srgbClr val="00B050"/>
                </a:solidFill>
              </a:rPr>
              <a:t>suspending it from a flexible cord </a:t>
            </a:r>
            <a:r>
              <a:rPr lang="en-US" sz="2400" dirty="0">
                <a:solidFill>
                  <a:prstClr val="black"/>
                </a:solidFill>
              </a:rPr>
              <a:t>and noting the line of action of the tension in the cord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prstClr val="black"/>
                </a:solidFill>
              </a:rPr>
              <a:t>The process is repeated with the body suspended from another point, and the </a:t>
            </a:r>
            <a:r>
              <a:rPr lang="en-US" sz="2400" b="1" dirty="0">
                <a:solidFill>
                  <a:srgbClr val="00B0F0"/>
                </a:solidFill>
              </a:rPr>
              <a:t>c.g is then located as the intersection of the 2 lines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8D867D-228A-47A4-8A08-F93F9A3AE28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5" y="4449450"/>
            <a:ext cx="3164483" cy="237332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Center of Gravity - Equilibrium of Rigid Bodies">
            <a:extLst>
              <a:ext uri="{FF2B5EF4-FFF2-40B4-BE49-F238E27FC236}">
                <a16:creationId xmlns:a16="http://schemas.microsoft.com/office/drawing/2014/main" id="{B140AE9B-8E05-4741-8B38-42C12A3E8661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02"/>
          <a:stretch/>
        </p:blipFill>
        <p:spPr bwMode="auto">
          <a:xfrm>
            <a:off x="8360453" y="4550756"/>
            <a:ext cx="2583180" cy="217071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227423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35</a:t>
            </a:fld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74" y="580850"/>
            <a:ext cx="7718903" cy="21494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084158" y="2176530"/>
            <a:ext cx="136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Fig. 2.27</a:t>
            </a:r>
          </a:p>
        </p:txBody>
      </p:sp>
      <p:sp>
        <p:nvSpPr>
          <p:cNvPr id="6" name="Rectangle 5"/>
          <p:cNvSpPr/>
          <p:nvPr/>
        </p:nvSpPr>
        <p:spPr>
          <a:xfrm>
            <a:off x="1818646" y="0"/>
            <a:ext cx="79923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C00000"/>
                </a:solidFill>
                <a:latin typeface="Calibri Light" panose="020F0302020204030204"/>
                <a:ea typeface="+mj-ea"/>
                <a:cs typeface="+mj-cs"/>
              </a:rPr>
              <a:t>Centroids and Centres of Gravity</a:t>
            </a:r>
            <a:endParaRPr lang="en-US" sz="3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0" y="2769066"/>
                <a:ext cx="12192000" cy="2800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The plate may be divided into a large number of small elements located at coordinates (x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, y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), (x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,y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), ………(x</a:t>
                </a:r>
                <a:r>
                  <a:rPr lang="en-US" sz="2200" baseline="-25000" dirty="0"/>
                  <a:t>n</a:t>
                </a:r>
                <a:r>
                  <a:rPr lang="en-US" sz="2200" dirty="0"/>
                  <a:t>, y</a:t>
                </a:r>
                <a:r>
                  <a:rPr lang="en-US" sz="2200" baseline="-25000" dirty="0"/>
                  <a:t>n</a:t>
                </a:r>
                <a:r>
                  <a:rPr lang="en-US" sz="2200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The weights of the elements are ∆W</a:t>
                </a:r>
                <a:r>
                  <a:rPr lang="en-US" sz="2200" baseline="-25000" dirty="0"/>
                  <a:t>1</a:t>
                </a:r>
                <a:r>
                  <a:rPr lang="en-US" sz="2200" dirty="0"/>
                  <a:t>, ∆W</a:t>
                </a:r>
                <a:r>
                  <a:rPr lang="en-US" sz="2200" baseline="-25000" dirty="0"/>
                  <a:t>2</a:t>
                </a:r>
                <a:r>
                  <a:rPr lang="en-US" sz="2200" dirty="0"/>
                  <a:t>, ………………∆W</a:t>
                </a:r>
                <a:r>
                  <a:rPr lang="en-US" sz="2200" baseline="-25000" dirty="0"/>
                  <a:t>n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These weights are directed towards the centre of the Earth, but, for practical purposes, they are assumed to be parallel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These parallel force system (see Fig. 2.27) has resultant W </a:t>
                </a:r>
                <a14:m>
                  <m:oMath xmlns:m="http://schemas.openxmlformats.org/officeDocument/2006/math">
                    <m:r>
                      <a:rPr lang="pt-BR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dirty="0">
                        <a:latin typeface="Cambria Math" panose="02040503050406030204" pitchFamily="18" charset="0"/>
                      </a:rPr>
                      <m:t>∑</m:t>
                    </m:r>
                  </m:oMath>
                </a14:m>
                <a:r>
                  <a:rPr lang="en-US" sz="2200" dirty="0"/>
                  <a:t>∆W which acts through the centre of gravity, G with coordinates (x</a:t>
                </a:r>
                <a:r>
                  <a:rPr lang="en-US" sz="2200" baseline="-25000" dirty="0"/>
                  <a:t>G</a:t>
                </a:r>
                <a:r>
                  <a:rPr lang="en-US" sz="2200" dirty="0"/>
                  <a:t>, y</a:t>
                </a:r>
                <a:r>
                  <a:rPr lang="en-US" sz="2200" baseline="-25000" dirty="0"/>
                  <a:t>G</a:t>
                </a:r>
                <a:r>
                  <a:rPr lang="en-US" sz="2200" dirty="0"/>
                  <a:t>)</a:t>
                </a: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r>
                  <a:rPr lang="en-US" sz="2200" dirty="0"/>
                  <a:t>Taking moments about the y-axis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769066"/>
                <a:ext cx="12192000" cy="2800767"/>
              </a:xfrm>
              <a:prstGeom prst="rect">
                <a:avLst/>
              </a:prstGeom>
              <a:blipFill rotWithShape="0">
                <a:blip r:embed="rId4"/>
                <a:stretch>
                  <a:fillRect l="-550" t="-1522" b="-3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640424"/>
              </p:ext>
            </p:extLst>
          </p:nvPr>
        </p:nvGraphicFramePr>
        <p:xfrm>
          <a:off x="2678806" y="5608578"/>
          <a:ext cx="5035638" cy="11585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695400" imgH="761760" progId="Equation.DSMT4">
                  <p:embed/>
                </p:oleObj>
              </mc:Choice>
              <mc:Fallback>
                <p:oleObj name="Equation" r:id="rId5" imgW="369540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806" y="5608578"/>
                        <a:ext cx="5035638" cy="11585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25124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36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818646" y="0"/>
            <a:ext cx="79923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Centroids and Centres of Gravity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115910" y="646331"/>
            <a:ext cx="41516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Similarly, taking moments about x,</a:t>
            </a:r>
          </a:p>
        </p:txBody>
      </p:sp>
      <p:graphicFrame>
        <p:nvGraphicFramePr>
          <p:cNvPr id="5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995924"/>
              </p:ext>
            </p:extLst>
          </p:nvPr>
        </p:nvGraphicFramePr>
        <p:xfrm>
          <a:off x="4241800" y="646113"/>
          <a:ext cx="5140325" cy="11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1720" imgH="761760" progId="Equation.DSMT4">
                  <p:embed/>
                </p:oleObj>
              </mc:Choice>
              <mc:Fallback>
                <p:oleObj name="Equation" r:id="rId2" imgW="3771720" imgH="761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41800" y="646113"/>
                        <a:ext cx="5140325" cy="11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180520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If the number of elements is now increased infinitely</a:t>
            </a:r>
            <a:r>
              <a:rPr lang="en-US" sz="2000" dirty="0"/>
              <a:t>, with each element becoming smaller in size, the weight </a:t>
            </a:r>
            <a:r>
              <a:rPr lang="en-US" sz="2000" b="1" u="sng" dirty="0">
                <a:solidFill>
                  <a:srgbClr val="FF0000"/>
                </a:solidFill>
              </a:rPr>
              <a:t>∆W becomes </a:t>
            </a:r>
            <a:r>
              <a:rPr lang="en-US" sz="2000" b="1" u="sng" dirty="0" err="1">
                <a:solidFill>
                  <a:srgbClr val="FF0000"/>
                </a:solidFill>
              </a:rPr>
              <a:t>dW</a:t>
            </a:r>
            <a:r>
              <a:rPr lang="en-US" sz="2000" b="1" u="sng" dirty="0">
                <a:solidFill>
                  <a:srgbClr val="FF0000"/>
                </a:solidFill>
              </a:rPr>
              <a:t>  </a:t>
            </a:r>
            <a:r>
              <a:rPr lang="en-US" sz="2000" dirty="0"/>
              <a:t>and the </a:t>
            </a:r>
            <a:r>
              <a:rPr lang="en-US" sz="2000" b="1" u="sng" dirty="0">
                <a:solidFill>
                  <a:srgbClr val="FF0000"/>
                </a:solidFill>
              </a:rPr>
              <a:t>summation sign becomes an integral </a:t>
            </a:r>
            <a:r>
              <a:rPr lang="en-US" sz="2000" dirty="0"/>
              <a:t>evaluated over the whole body. Hence,</a:t>
            </a:r>
          </a:p>
        </p:txBody>
      </p:sp>
      <p:graphicFrame>
        <p:nvGraphicFramePr>
          <p:cNvPr id="7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991233"/>
              </p:ext>
            </p:extLst>
          </p:nvPr>
        </p:nvGraphicFramePr>
        <p:xfrm>
          <a:off x="4059238" y="2593975"/>
          <a:ext cx="3254375" cy="1504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120" imgH="1091880" progId="Equation.DSMT4">
                  <p:embed/>
                </p:oleObj>
              </mc:Choice>
              <mc:Fallback>
                <p:oleObj name="Equation" r:id="rId4" imgW="2616120" imgH="1091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9238" y="2593975"/>
                        <a:ext cx="3254375" cy="1504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7767" y="2964081"/>
            <a:ext cx="3031849" cy="5856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910" y="4288665"/>
            <a:ext cx="120760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It can be shown that the coordinates of the c.g of a 3-dimensional body are defined by</a:t>
            </a:r>
          </a:p>
        </p:txBody>
      </p:sp>
      <p:graphicFrame>
        <p:nvGraphicFramePr>
          <p:cNvPr id="11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7160967"/>
              </p:ext>
            </p:extLst>
          </p:nvPr>
        </p:nvGraphicFramePr>
        <p:xfrm>
          <a:off x="2421228" y="4816475"/>
          <a:ext cx="5692461" cy="187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835080" imgH="1358640" progId="Equation.DSMT4">
                  <p:embed/>
                </p:oleObj>
              </mc:Choice>
              <mc:Fallback>
                <p:oleObj name="Equation" r:id="rId7" imgW="3835080" imgH="1358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1228" y="4816475"/>
                        <a:ext cx="5692461" cy="187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8697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37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1818646" y="0"/>
            <a:ext cx="79923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Centroids and Centres of Gravity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0" y="646331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The </a:t>
            </a:r>
            <a:r>
              <a:rPr lang="en-US" sz="2000" b="1" u="sng" dirty="0">
                <a:solidFill>
                  <a:srgbClr val="FF0000"/>
                </a:solidFill>
              </a:rPr>
              <a:t>centroid of a volume of space, area or line is the point which defines its geometrical centre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For a 3-dimensional body, the coordinates of the centroid of the volume of space occupied by the body are</a:t>
            </a:r>
          </a:p>
        </p:txBody>
      </p:sp>
      <p:graphicFrame>
        <p:nvGraphicFramePr>
          <p:cNvPr id="5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5632234"/>
              </p:ext>
            </p:extLst>
          </p:nvPr>
        </p:nvGraphicFramePr>
        <p:xfrm>
          <a:off x="1574800" y="1460500"/>
          <a:ext cx="7835900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31960" imgH="558720" progId="Equation.DSMT4">
                  <p:embed/>
                </p:oleObj>
              </mc:Choice>
              <mc:Fallback>
                <p:oleObj name="Equation" r:id="rId2" imgW="443196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800" y="1460500"/>
                        <a:ext cx="7835900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2524259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Similar expressions may be written for the centroids of areas and lines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/>
              <a:t>For </a:t>
            </a:r>
            <a:r>
              <a:rPr lang="en-US" sz="2000" b="1" u="sng" dirty="0">
                <a:solidFill>
                  <a:srgbClr val="0070C0"/>
                </a:solidFill>
              </a:rPr>
              <a:t>a uniform or homogeneous body, the density </a:t>
            </a:r>
            <a:r>
              <a:rPr lang="el-GR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2000" b="1" u="sng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constant throughout the body</a:t>
            </a:r>
          </a:p>
          <a:p>
            <a:pPr marL="342900" lvl="0" indent="-34290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in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(1) the differential weight is expressed in terms of the density and volume, i.e. 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dW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20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dV</a:t>
            </a:r>
            <a:r>
              <a:rPr 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we have</a:t>
            </a:r>
            <a:endParaRPr lang="en-US" sz="2000" dirty="0">
              <a:solidFill>
                <a:prstClr val="black"/>
              </a:solidFill>
            </a:endParaRPr>
          </a:p>
        </p:txBody>
      </p:sp>
      <p:graphicFrame>
        <p:nvGraphicFramePr>
          <p:cNvPr id="7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3088461"/>
              </p:ext>
            </p:extLst>
          </p:nvPr>
        </p:nvGraphicFramePr>
        <p:xfrm>
          <a:off x="2417763" y="3606800"/>
          <a:ext cx="7094537" cy="996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012920" imgH="558720" progId="Equation.DSMT4">
                  <p:embed/>
                </p:oleObj>
              </mc:Choice>
              <mc:Fallback>
                <p:oleObj name="Equation" r:id="rId4" imgW="4012920" imgH="5587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7763" y="3606800"/>
                        <a:ext cx="7094537" cy="996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0" y="489292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similar expressions for y</a:t>
            </a:r>
            <a:r>
              <a:rPr lang="en-US" sz="2000" baseline="-25000" dirty="0"/>
              <a:t>G</a:t>
            </a:r>
            <a:r>
              <a:rPr lang="en-US" sz="2000" dirty="0"/>
              <a:t> and z</a:t>
            </a:r>
            <a:r>
              <a:rPr lang="en-US" sz="2000" baseline="-25000" dirty="0"/>
              <a:t>G</a:t>
            </a:r>
            <a:r>
              <a:rPr lang="en-US" sz="2000" dirty="0"/>
              <a:t> which are identical to equation (3).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Thus, </a:t>
            </a:r>
            <a:r>
              <a:rPr lang="en-US" sz="2000" b="1" dirty="0">
                <a:solidFill>
                  <a:srgbClr val="FF0000"/>
                </a:solidFill>
              </a:rPr>
              <a:t>for a homogeneous body, the c.g coincides with the centroid </a:t>
            </a:r>
          </a:p>
        </p:txBody>
      </p:sp>
    </p:spTree>
    <p:extLst>
      <p:ext uri="{BB962C8B-B14F-4D97-AF65-F5344CB8AC3E}">
        <p14:creationId xmlns:p14="http://schemas.microsoft.com/office/powerpoint/2010/main" val="30101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38</a:t>
            </a:fld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1818646" y="0"/>
            <a:ext cx="79923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Centroids and Centres of Gravity</a:t>
            </a:r>
            <a:endParaRPr lang="en-US" sz="3600" dirty="0"/>
          </a:p>
        </p:txBody>
      </p:sp>
      <p:sp>
        <p:nvSpPr>
          <p:cNvPr id="2" name="TextBox 1"/>
          <p:cNvSpPr txBox="1"/>
          <p:nvPr/>
        </p:nvSpPr>
        <p:spPr>
          <a:xfrm>
            <a:off x="0" y="530421"/>
            <a:ext cx="12067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/>
              <a:t>In the study of dynamics it is often necessary to locate the </a:t>
            </a:r>
            <a:r>
              <a:rPr lang="en-US" sz="2000" b="1" dirty="0">
                <a:solidFill>
                  <a:srgbClr val="FF0000"/>
                </a:solidFill>
              </a:rPr>
              <a:t>centre of mass of a system of particles</a:t>
            </a:r>
            <a:r>
              <a:rPr lang="en-US" sz="2000" dirty="0"/>
              <a:t>. The coordinates of the centre of mass are defined by</a:t>
            </a:r>
          </a:p>
        </p:txBody>
      </p:sp>
      <p:graphicFrame>
        <p:nvGraphicFramePr>
          <p:cNvPr id="5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5448489"/>
              </p:ext>
            </p:extLst>
          </p:nvPr>
        </p:nvGraphicFramePr>
        <p:xfrm>
          <a:off x="989237" y="1238307"/>
          <a:ext cx="8821737" cy="8867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91040" imgH="482400" progId="Equation.DSMT4">
                  <p:embed/>
                </p:oleObj>
              </mc:Choice>
              <mc:Fallback>
                <p:oleObj name="Equation" r:id="rId2" imgW="49910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89237" y="1238307"/>
                        <a:ext cx="8821737" cy="8867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0" y="2316880"/>
            <a:ext cx="2086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Or, in vector form,</a:t>
            </a:r>
          </a:p>
        </p:txBody>
      </p:sp>
      <p:graphicFrame>
        <p:nvGraphicFramePr>
          <p:cNvPr id="9" name="Object 10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5214582"/>
              </p:ext>
            </p:extLst>
          </p:nvPr>
        </p:nvGraphicFramePr>
        <p:xfrm>
          <a:off x="2875187" y="2716990"/>
          <a:ext cx="6935787" cy="887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24000" imgH="482400" progId="Equation.DSMT4">
                  <p:embed/>
                </p:oleObj>
              </mc:Choice>
              <mc:Fallback>
                <p:oleObj name="Equation" r:id="rId4" imgW="392400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5187" y="2716990"/>
                        <a:ext cx="6935787" cy="887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0" y="3842436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If the acceleration of gravity, g, is the same for all particles, then </a:t>
            </a:r>
          </a:p>
          <a:p>
            <a:r>
              <a:rPr lang="en-US" sz="2200" dirty="0"/>
              <a:t>                                                                 W</a:t>
            </a:r>
            <a:r>
              <a:rPr lang="en-US" sz="2200" baseline="-25000" dirty="0"/>
              <a:t>i</a:t>
            </a:r>
            <a:r>
              <a:rPr lang="en-US" sz="2200" dirty="0"/>
              <a:t> = m</a:t>
            </a:r>
            <a:r>
              <a:rPr lang="en-US" sz="2200" baseline="-25000" dirty="0"/>
              <a:t>i</a:t>
            </a:r>
            <a:r>
              <a:rPr lang="en-US" sz="2200" dirty="0"/>
              <a:t>g  and if the numerators and denominators of these equations are multiplied by g we obtain expressions identical to those for the c.g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Hence, the </a:t>
            </a:r>
            <a:r>
              <a:rPr lang="en-US" sz="2200" b="1" u="sng" dirty="0">
                <a:solidFill>
                  <a:srgbClr val="0070C0"/>
                </a:solidFill>
              </a:rPr>
              <a:t>location of the centre of gravity coincides with that of the </a:t>
            </a:r>
            <a:r>
              <a:rPr lang="en-US" sz="2200" b="1" u="sng" dirty="0" err="1">
                <a:solidFill>
                  <a:srgbClr val="0070C0"/>
                </a:solidFill>
              </a:rPr>
              <a:t>c.m</a:t>
            </a:r>
            <a:endParaRPr lang="en-US" sz="2200" b="1" u="sng" dirty="0">
              <a:solidFill>
                <a:srgbClr val="0070C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/>
              <a:t>NB: the concept of  </a:t>
            </a:r>
            <a:r>
              <a:rPr lang="en-US" sz="2200" b="1" u="sng" dirty="0">
                <a:solidFill>
                  <a:srgbClr val="FF0000"/>
                </a:solidFill>
              </a:rPr>
              <a:t>c.g has meaning only when a body is under the influence of gravity </a:t>
            </a:r>
            <a:r>
              <a:rPr lang="en-US" sz="2200" dirty="0"/>
              <a:t>whereas the </a:t>
            </a:r>
            <a:r>
              <a:rPr lang="en-US" sz="2200" b="1" u="sng" dirty="0">
                <a:solidFill>
                  <a:srgbClr val="FF0000"/>
                </a:solidFill>
              </a:rPr>
              <a:t>centre of mass is independent of gravity</a:t>
            </a:r>
          </a:p>
        </p:txBody>
      </p:sp>
    </p:spTree>
    <p:extLst>
      <p:ext uri="{BB962C8B-B14F-4D97-AF65-F5344CB8AC3E}">
        <p14:creationId xmlns:p14="http://schemas.microsoft.com/office/powerpoint/2010/main" val="42519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7" name="Picture 1031" descr="msotw9_temp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5161" y="587070"/>
            <a:ext cx="8886423" cy="6270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39</a:t>
            </a:fld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316872" y="63850"/>
            <a:ext cx="57701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Centroids of Common Shapes of Areas</a:t>
            </a:r>
          </a:p>
        </p:txBody>
      </p:sp>
    </p:spTree>
    <p:extLst>
      <p:ext uri="{BB962C8B-B14F-4D97-AF65-F5344CB8AC3E}">
        <p14:creationId xmlns:p14="http://schemas.microsoft.com/office/powerpoint/2010/main" val="237276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Plates and Areas</a:t>
            </a:r>
          </a:p>
        </p:txBody>
      </p:sp>
      <p:grpSp>
        <p:nvGrpSpPr>
          <p:cNvPr id="24581" name="Group 9"/>
          <p:cNvGrpSpPr>
            <a:grpSpLocks/>
          </p:cNvGrpSpPr>
          <p:nvPr/>
        </p:nvGrpSpPr>
        <p:grpSpPr bwMode="auto">
          <a:xfrm>
            <a:off x="1636496" y="1690688"/>
            <a:ext cx="8275637" cy="1828800"/>
            <a:chOff x="205" y="763"/>
            <a:chExt cx="5213" cy="1152"/>
          </a:xfrm>
        </p:grpSpPr>
        <p:pic>
          <p:nvPicPr>
            <p:cNvPr id="24586" name="Picture 3" descr="C:\DOCUME~1\WALTOL~1\LOCALS~1\Temp\\msotw9_temp0.jp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5" y="824"/>
              <a:ext cx="3090" cy="10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7" name="Text Box 5"/>
            <p:cNvSpPr txBox="1">
              <a:spLocks noChangeArrowheads="1"/>
            </p:cNvSpPr>
            <p:nvPr/>
          </p:nvSpPr>
          <p:spPr bwMode="auto">
            <a:xfrm>
              <a:off x="3674" y="763"/>
              <a:ext cx="1744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31775" indent="-23177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/>
                <a:t>Composite plates</a:t>
              </a:r>
            </a:p>
          </p:txBody>
        </p:sp>
        <p:graphicFrame>
          <p:nvGraphicFramePr>
            <p:cNvPr id="24579" name="Object 6"/>
            <p:cNvGraphicFramePr>
              <a:graphicFrameLocks noChangeAspect="1"/>
            </p:cNvGraphicFramePr>
            <p:nvPr/>
          </p:nvGraphicFramePr>
          <p:xfrm>
            <a:off x="3986" y="1084"/>
            <a:ext cx="1048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663560" imgH="711000" progId="Equation.3">
                    <p:embed/>
                  </p:oleObj>
                </mc:Choice>
                <mc:Fallback>
                  <p:oleObj name="Equation" r:id="rId4" imgW="1663560" imgH="71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6" y="1084"/>
                          <a:ext cx="1048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1952626" y="3862388"/>
            <a:ext cx="8289925" cy="1617662"/>
            <a:chOff x="270" y="2433"/>
            <a:chExt cx="5222" cy="1019"/>
          </a:xfrm>
        </p:grpSpPr>
        <p:pic>
          <p:nvPicPr>
            <p:cNvPr id="24584" name="Picture 4" descr="C:\DOCUME~1\WALTOL~1\LOCALS~1\Temp\\msotw9_temp0.jpg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" y="2433"/>
              <a:ext cx="3097" cy="10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5" name="Text Box 7"/>
            <p:cNvSpPr txBox="1">
              <a:spLocks noChangeArrowheads="1"/>
            </p:cNvSpPr>
            <p:nvPr/>
          </p:nvSpPr>
          <p:spPr bwMode="auto">
            <a:xfrm>
              <a:off x="3674" y="2522"/>
              <a:ext cx="181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231775" indent="-231775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Char char="•"/>
              </a:pPr>
              <a:r>
                <a:rPr lang="en-US"/>
                <a:t>Composite area</a:t>
              </a:r>
            </a:p>
          </p:txBody>
        </p:sp>
        <p:graphicFrame>
          <p:nvGraphicFramePr>
            <p:cNvPr id="24578" name="Object 8"/>
            <p:cNvGraphicFramePr>
              <a:graphicFrameLocks noChangeAspect="1"/>
            </p:cNvGraphicFramePr>
            <p:nvPr/>
          </p:nvGraphicFramePr>
          <p:xfrm>
            <a:off x="3986" y="2843"/>
            <a:ext cx="952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1511280" imgH="711000" progId="Equation.3">
                    <p:embed/>
                  </p:oleObj>
                </mc:Choice>
                <mc:Fallback>
                  <p:oleObj name="Equation" r:id="rId7" imgW="1511280" imgH="711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6" y="2843"/>
                          <a:ext cx="952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50C373-F1D0-494F-8D6D-366C958B342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5472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262753"/>
            <a:ext cx="9144000" cy="1247210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826404"/>
            <a:ext cx="9144000" cy="1638335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/>
              <a:t>For any concerns, please contact</a:t>
            </a:r>
          </a:p>
          <a:p>
            <a:r>
              <a:rPr lang="en-GB" sz="2800" b="1" dirty="0"/>
              <a:t>elearning@knust.edu.gh</a:t>
            </a:r>
          </a:p>
          <a:p>
            <a:r>
              <a:rPr lang="en-GB" sz="2800" b="1" dirty="0"/>
              <a:t>elearningknust@gmail.com </a:t>
            </a:r>
          </a:p>
          <a:p>
            <a:r>
              <a:rPr lang="en-GB" sz="2800" b="1" dirty="0"/>
              <a:t>0322 191132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E60D06-DC37-48E4-9F53-CA8C4AFE762D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240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20933</TotalTime>
  <Words>3192</Words>
  <Application>Microsoft Office PowerPoint</Application>
  <PresentationFormat>Widescreen</PresentationFormat>
  <Paragraphs>482</Paragraphs>
  <Slides>42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54" baseType="lpstr">
      <vt:lpstr>Arial</vt:lpstr>
      <vt:lpstr>Calibri</vt:lpstr>
      <vt:lpstr>Calibri Light</vt:lpstr>
      <vt:lpstr>Cambria Math</vt:lpstr>
      <vt:lpstr>Futura Md BT</vt:lpstr>
      <vt:lpstr>Symbol</vt:lpstr>
      <vt:lpstr>Tempus Sans ITC</vt:lpstr>
      <vt:lpstr>Times New Roman</vt:lpstr>
      <vt:lpstr>Wingdings</vt:lpstr>
      <vt:lpstr>Office Theme</vt:lpstr>
      <vt:lpstr>1_Office Theme</vt:lpstr>
      <vt:lpstr>Equation</vt:lpstr>
      <vt:lpstr>ME 161  Basic Mechanics</vt:lpstr>
      <vt:lpstr>FORCES AND MOMENTS</vt:lpstr>
      <vt:lpstr>Force Systems</vt:lpstr>
      <vt:lpstr>Types of Force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2.6</vt:lpstr>
      <vt:lpstr>PowerPoint Presentation</vt:lpstr>
      <vt:lpstr>PowerPoint Presentation</vt:lpstr>
      <vt:lpstr>Rectangular Components of Force</vt:lpstr>
      <vt:lpstr>PowerPoint Presentation</vt:lpstr>
      <vt:lpstr>PowerPoint Presentation</vt:lpstr>
      <vt:lpstr>Direction Cosines</vt:lpstr>
      <vt:lpstr>PowerPoint Presentation</vt:lpstr>
      <vt:lpstr>Product of Two Vectors</vt:lpstr>
      <vt:lpstr>Moment of a Force</vt:lpstr>
      <vt:lpstr>Vector Products</vt:lpstr>
      <vt:lpstr>Rectangular Components of Moment of a Force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Composite Plates and Areas</vt:lpstr>
      <vt:lpstr>Thank You</vt:lpstr>
    </vt:vector>
  </TitlesOfParts>
  <Company>AS-8 media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ISD 458</dc:title>
  <dc:creator>she-fredoo</dc:creator>
  <cp:lastModifiedBy>Dr. CHARLES KOFI KAFUI SEKYERE</cp:lastModifiedBy>
  <cp:revision>355</cp:revision>
  <dcterms:created xsi:type="dcterms:W3CDTF">2015-03-13T14:44:45Z</dcterms:created>
  <dcterms:modified xsi:type="dcterms:W3CDTF">2021-02-09T23:38:50Z</dcterms:modified>
</cp:coreProperties>
</file>