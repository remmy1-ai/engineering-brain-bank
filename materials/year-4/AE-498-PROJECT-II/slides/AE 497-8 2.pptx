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10">
  <p:sldMasterIdLst>
    <p:sldMasterId id="2147483684" r:id="rId1"/>
  </p:sldMasterIdLst>
  <p:notesMasterIdLst>
    <p:notesMasterId r:id="rId22"/>
  </p:notesMasterIdLst>
  <p:handoutMasterIdLst>
    <p:handoutMasterId r:id="rId23"/>
  </p:handoutMasterIdLst>
  <p:sldIdLst>
    <p:sldId id="262" r:id="rId2"/>
    <p:sldId id="265" r:id="rId3"/>
    <p:sldId id="266" r:id="rId4"/>
    <p:sldId id="268" r:id="rId5"/>
    <p:sldId id="284"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3" r:id="rId19"/>
    <p:sldId id="281" r:id="rId20"/>
    <p:sldId id="282" r:id="rId21"/>
  </p:sldIdLst>
  <p:sldSz cx="9144000" cy="6858000" type="screen4x3"/>
  <p:notesSz cx="9926638" cy="6797675"/>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ola Gatto" initials="PG" lastIdx="1" clrIdx="0"/>
  <p:cmAuthor id="1" name="Ariadna Chavarría Reséndez" initials="ACR" lastIdx="3"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171F"/>
    <a:srgbClr val="2C4D75"/>
    <a:srgbClr val="F9B590"/>
    <a:srgbClr val="91C3D5"/>
    <a:srgbClr val="4198AF"/>
    <a:srgbClr val="DB843D"/>
    <a:srgbClr val="F79646"/>
    <a:srgbClr val="8064A2"/>
    <a:srgbClr val="FDFDFD"/>
    <a:srgbClr val="9BBB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48" autoAdjust="0"/>
    <p:restoredTop sz="83586" autoAdjust="0"/>
  </p:normalViewPr>
  <p:slideViewPr>
    <p:cSldViewPr snapToGrid="0" snapToObjects="1">
      <p:cViewPr varScale="1">
        <p:scale>
          <a:sx n="90" d="100"/>
          <a:sy n="90" d="100"/>
        </p:scale>
        <p:origin x="-1090" y="-67"/>
      </p:cViewPr>
      <p:guideLst>
        <p:guide orient="horz" pos="2160"/>
        <p:guide pos="2880"/>
      </p:guideLst>
    </p:cSldViewPr>
  </p:slideViewPr>
  <p:outlineViewPr>
    <p:cViewPr>
      <p:scale>
        <a:sx n="33" d="100"/>
        <a:sy n="33" d="100"/>
      </p:scale>
      <p:origin x="0" y="2880"/>
    </p:cViewPr>
  </p:outlineViewPr>
  <p:notesTextViewPr>
    <p:cViewPr>
      <p:scale>
        <a:sx n="3" d="2"/>
        <a:sy n="3" d="2"/>
      </p:scale>
      <p:origin x="0" y="0"/>
    </p:cViewPr>
  </p:notesTextViewPr>
  <p:sorterViewPr>
    <p:cViewPr varScale="1">
      <p:scale>
        <a:sx n="100" d="100"/>
        <a:sy n="100" d="100"/>
      </p:scale>
      <p:origin x="0" y="-23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commentAuthors" Target="commentAuthor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handoutMaster" Target="handoutMasters/handoutMaster1.xml" /><Relationship Id="rId28"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notesMaster" Target="notesMasters/notesMaster1.xml" /><Relationship Id="rId27" Type="http://schemas.openxmlformats.org/officeDocument/2006/relationships/theme" Target="theme/theme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625" cy="34026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1696" y="0"/>
            <a:ext cx="4302625" cy="340265"/>
          </a:xfrm>
          <a:prstGeom prst="rect">
            <a:avLst/>
          </a:prstGeom>
        </p:spPr>
        <p:txBody>
          <a:bodyPr vert="horz" lIns="91440" tIns="45720" rIns="91440" bIns="45720" rtlCol="0"/>
          <a:lstStyle>
            <a:lvl1pPr algn="r">
              <a:defRPr sz="1200"/>
            </a:lvl1pPr>
          </a:lstStyle>
          <a:p>
            <a:fld id="{9298BB5B-C2B9-4E05-A99B-1798080C8FF6}" type="datetimeFigureOut">
              <a:rPr lang="en-US" smtClean="0"/>
              <a:t>11/27/2019</a:t>
            </a:fld>
            <a:endParaRPr lang="en-US"/>
          </a:p>
        </p:txBody>
      </p:sp>
      <p:sp>
        <p:nvSpPr>
          <p:cNvPr id="4" name="Footer Placeholder 3"/>
          <p:cNvSpPr>
            <a:spLocks noGrp="1"/>
          </p:cNvSpPr>
          <p:nvPr>
            <p:ph type="ftr" sz="quarter" idx="2"/>
          </p:nvPr>
        </p:nvSpPr>
        <p:spPr>
          <a:xfrm>
            <a:off x="0" y="6456324"/>
            <a:ext cx="4302625" cy="34026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1696" y="6456324"/>
            <a:ext cx="4302625" cy="340264"/>
          </a:xfrm>
          <a:prstGeom prst="rect">
            <a:avLst/>
          </a:prstGeom>
        </p:spPr>
        <p:txBody>
          <a:bodyPr vert="horz" lIns="91440" tIns="45720" rIns="91440" bIns="45720" rtlCol="0" anchor="b"/>
          <a:lstStyle>
            <a:lvl1pPr algn="r">
              <a:defRPr sz="1200"/>
            </a:lvl1pPr>
          </a:lstStyle>
          <a:p>
            <a:fld id="{DF7A07DA-430D-426F-A796-3E0CCB032CA0}" type="slidenum">
              <a:rPr lang="en-US" smtClean="0"/>
              <a:t>‹#›</a:t>
            </a:fld>
            <a:endParaRPr lang="en-US"/>
          </a:p>
        </p:txBody>
      </p:sp>
    </p:spTree>
    <p:extLst>
      <p:ext uri="{BB962C8B-B14F-4D97-AF65-F5344CB8AC3E}">
        <p14:creationId xmlns:p14="http://schemas.microsoft.com/office/powerpoint/2010/main" val="5332780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1543" cy="33988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2799" y="0"/>
            <a:ext cx="4301543" cy="339884"/>
          </a:xfrm>
          <a:prstGeom prst="rect">
            <a:avLst/>
          </a:prstGeom>
        </p:spPr>
        <p:txBody>
          <a:bodyPr vert="horz" lIns="91440" tIns="45720" rIns="91440" bIns="45720" rtlCol="0"/>
          <a:lstStyle>
            <a:lvl1pPr algn="r">
              <a:defRPr sz="1200"/>
            </a:lvl1pPr>
          </a:lstStyle>
          <a:p>
            <a:fld id="{E02F4C6F-5D26-4DAE-B7BA-F3A165A8948C}" type="datetimeFigureOut">
              <a:rPr lang="en-US" smtClean="0"/>
              <a:pPr/>
              <a:t>11/27/2019</a:t>
            </a:fld>
            <a:endParaRPr lang="en-US"/>
          </a:p>
        </p:txBody>
      </p:sp>
      <p:sp>
        <p:nvSpPr>
          <p:cNvPr id="4" name="Slide Image Placeholder 3"/>
          <p:cNvSpPr>
            <a:spLocks noGrp="1" noRot="1" noChangeAspect="1"/>
          </p:cNvSpPr>
          <p:nvPr>
            <p:ph type="sldImg" idx="2"/>
          </p:nvPr>
        </p:nvSpPr>
        <p:spPr>
          <a:xfrm>
            <a:off x="3263900" y="509588"/>
            <a:ext cx="3398838" cy="2549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665" y="3228896"/>
            <a:ext cx="7941310" cy="305895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456611"/>
            <a:ext cx="4301543" cy="33988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2799" y="6456611"/>
            <a:ext cx="4301543" cy="339884"/>
          </a:xfrm>
          <a:prstGeom prst="rect">
            <a:avLst/>
          </a:prstGeom>
        </p:spPr>
        <p:txBody>
          <a:bodyPr vert="horz" lIns="91440" tIns="45720" rIns="91440" bIns="45720" rtlCol="0" anchor="b"/>
          <a:lstStyle>
            <a:lvl1pPr algn="r">
              <a:defRPr sz="1200"/>
            </a:lvl1pPr>
          </a:lstStyle>
          <a:p>
            <a:fld id="{ABABA381-7040-46AB-A0C1-0078C136BD37}" type="slidenum">
              <a:rPr lang="en-US" smtClean="0"/>
              <a:pPr/>
              <a:t>‹#›</a:t>
            </a:fld>
            <a:endParaRPr lang="en-US"/>
          </a:p>
        </p:txBody>
      </p:sp>
    </p:spTree>
    <p:extLst>
      <p:ext uri="{BB962C8B-B14F-4D97-AF65-F5344CB8AC3E}">
        <p14:creationId xmlns:p14="http://schemas.microsoft.com/office/powerpoint/2010/main" val="513971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2</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3</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4</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5</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6</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7</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8</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9</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10</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11</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12</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13</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14</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15</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16</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17</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18</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19</a:t>
            </a:fld>
            <a:endParaRPr lang="en-US"/>
          </a:p>
        </p:txBody>
      </p:sp>
    </p:spTree>
    <p:extLst>
      <p:ext uri="{BB962C8B-B14F-4D97-AF65-F5344CB8AC3E}">
        <p14:creationId xmlns:p14="http://schemas.microsoft.com/office/powerpoint/2010/main" val="40260760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7FFBF-A903-4987-B095-350EADBDC895}" type="slidenum">
              <a:rPr lang="en-US" smtClean="0"/>
              <a:pPr/>
              <a:t>20</a:t>
            </a:fld>
            <a:endParaRPr lang="en-US"/>
          </a:p>
        </p:txBody>
      </p:sp>
    </p:spTree>
    <p:extLst>
      <p:ext uri="{BB962C8B-B14F-4D97-AF65-F5344CB8AC3E}">
        <p14:creationId xmlns:p14="http://schemas.microsoft.com/office/powerpoint/2010/main" val="4026076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en-US"/>
              <a:t>Click to edit Master title style</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t-IT"/>
          </a:p>
        </p:txBody>
      </p:sp>
      <p:sp>
        <p:nvSpPr>
          <p:cNvPr id="4" name="Segnaposto data 3"/>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2805257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Segnaposto contenuto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Segnaposto data 3"/>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1691770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egnaposto data 3"/>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4103872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Segnaposto data 4"/>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664667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en-US"/>
              <a:t>Click to edit Master title style</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7" name="Segnaposto data 6"/>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2367222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Segnaposto data 2"/>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51106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701634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egnaposto data 4"/>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2568027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egnaposto data 4"/>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3487433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Segnaposto testo verticale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Segnaposto data 3"/>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966653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en-US"/>
              <a:t>Click to edit Master title style</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Segnaposto data 3"/>
          <p:cNvSpPr>
            <a:spLocks noGrp="1"/>
          </p:cNvSpPr>
          <p:nvPr>
            <p:ph type="dt" sz="half" idx="10"/>
          </p:nvPr>
        </p:nvSpPr>
        <p:spPr/>
        <p:txBody>
          <a:bodyPr/>
          <a:lstStyle/>
          <a:p>
            <a:fld id="{CA90214A-A849-8F45-B579-9C84A9199CA3}" type="datetimeFigureOut">
              <a:rPr lang="it-IT" smtClean="0"/>
              <a:pPr/>
              <a:t>27/11/2019</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C7B18BF-23CC-434B-ADA0-FB36742EDD76}" type="slidenum">
              <a:rPr lang="it-IT" smtClean="0"/>
              <a:pPr/>
              <a:t>‹#›</a:t>
            </a:fld>
            <a:endParaRPr lang="it-IT"/>
          </a:p>
        </p:txBody>
      </p:sp>
    </p:spTree>
    <p:extLst>
      <p:ext uri="{BB962C8B-B14F-4D97-AF65-F5344CB8AC3E}">
        <p14:creationId xmlns:p14="http://schemas.microsoft.com/office/powerpoint/2010/main" val="731229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a:t>Fare clic per modificare stile</a:t>
            </a:r>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90214A-A849-8F45-B579-9C84A9199CA3}" type="datetimeFigureOut">
              <a:rPr lang="it-IT" smtClean="0"/>
              <a:pPr/>
              <a:t>27/11/2019</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7B18BF-23CC-434B-ADA0-FB36742EDD76}" type="slidenum">
              <a:rPr lang="it-IT" smtClean="0"/>
              <a:pPr/>
              <a:t>‹#›</a:t>
            </a:fld>
            <a:endParaRPr lang="it-IT"/>
          </a:p>
        </p:txBody>
      </p:sp>
    </p:spTree>
    <p:extLst>
      <p:ext uri="{BB962C8B-B14F-4D97-AF65-F5344CB8AC3E}">
        <p14:creationId xmlns:p14="http://schemas.microsoft.com/office/powerpoint/2010/main" val="53511612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595926" y="2484632"/>
            <a:ext cx="8448486" cy="1517000"/>
          </a:xfrm>
        </p:spPr>
        <p:txBody>
          <a:bodyPr>
            <a:noAutofit/>
          </a:bodyPr>
          <a:lstStyle/>
          <a:p>
            <a:r>
              <a:rPr lang="en-GB" sz="3200" b="1" cap="small" dirty="0">
                <a:latin typeface="Gill Sans MT" panose="020B0502020104020203" pitchFamily="34" charset="0"/>
              </a:rPr>
              <a:t>AE 497-8</a:t>
            </a:r>
            <a:br>
              <a:rPr lang="en-US" sz="3200" b="1" dirty="0"/>
            </a:br>
            <a:r>
              <a:rPr lang="en-GB" sz="3200" b="1" cap="small" dirty="0">
                <a:latin typeface="Gill Sans MT" panose="020B0502020104020203" pitchFamily="34" charset="0"/>
              </a:rPr>
              <a:t>Seminar on Student’s Projects</a:t>
            </a:r>
            <a:endParaRPr lang="en-US" sz="3200" b="1" dirty="0"/>
          </a:p>
        </p:txBody>
      </p:sp>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9" name="Content Placeholder 2"/>
          <p:cNvSpPr>
            <a:spLocks noGrp="1"/>
          </p:cNvSpPr>
          <p:nvPr>
            <p:ph idx="1"/>
          </p:nvPr>
        </p:nvSpPr>
        <p:spPr>
          <a:xfrm>
            <a:off x="914401" y="489776"/>
            <a:ext cx="8229600" cy="1565361"/>
          </a:xfrm>
        </p:spPr>
        <p:txBody>
          <a:bodyPr>
            <a:noAutofit/>
          </a:bodyPr>
          <a:lstStyle/>
          <a:p>
            <a:pPr marL="0" indent="0" algn="ctr">
              <a:buNone/>
            </a:pPr>
            <a:r>
              <a:rPr lang="en-GB" sz="3600" b="1" cap="small" dirty="0">
                <a:latin typeface="Gill Sans MT" panose="020B0502020104020203" pitchFamily="34" charset="0"/>
              </a:rPr>
              <a:t>Department of Agricultural and Biosystems Engineering</a:t>
            </a:r>
            <a:endParaRPr lang="en-US" sz="3600" b="1" dirty="0"/>
          </a:p>
        </p:txBody>
      </p:sp>
      <p:sp>
        <p:nvSpPr>
          <p:cNvPr id="10" name="TextBox 6"/>
          <p:cNvSpPr txBox="1"/>
          <p:nvPr/>
        </p:nvSpPr>
        <p:spPr>
          <a:xfrm>
            <a:off x="3270422" y="5125066"/>
            <a:ext cx="5506079" cy="707886"/>
          </a:xfrm>
          <a:prstGeom prst="rect">
            <a:avLst/>
          </a:prstGeom>
          <a:noFill/>
        </p:spPr>
        <p:txBody>
          <a:bodyPr wrap="square" rtlCol="0">
            <a:spAutoFit/>
          </a:bodyPr>
          <a:lstStyle/>
          <a:p>
            <a:pPr algn="r"/>
            <a:r>
              <a:rPr lang="en-GB" sz="2400" b="1" cap="small" dirty="0">
                <a:solidFill>
                  <a:srgbClr val="FF0000"/>
                </a:solidFill>
                <a:latin typeface="Gill Sans MT" panose="020B0502020104020203" pitchFamily="34" charset="0"/>
              </a:rPr>
              <a:t>Lecturer:</a:t>
            </a:r>
            <a:r>
              <a:rPr lang="en-GB" sz="2400" b="1" cap="small" dirty="0">
                <a:latin typeface="Gill Sans MT" panose="020B0502020104020203" pitchFamily="34" charset="0"/>
              </a:rPr>
              <a:t>  William Amponsah, PhD</a:t>
            </a:r>
            <a:endParaRPr lang="it-IT" sz="2400" b="1" dirty="0">
              <a:latin typeface="Gill Sans MT" panose="020B0502020104020203" pitchFamily="34" charset="0"/>
            </a:endParaRPr>
          </a:p>
          <a:p>
            <a:pPr algn="r"/>
            <a:endParaRPr lang="it-IT" sz="1600" b="1" dirty="0">
              <a:latin typeface="Gill Sans MT" panose="020B0502020104020203" pitchFamily="34" charset="0"/>
            </a:endParaRPr>
          </a:p>
        </p:txBody>
      </p:sp>
      <p:cxnSp>
        <p:nvCxnSpPr>
          <p:cNvPr id="11" name="Straight Connector 10"/>
          <p:cNvCxnSpPr/>
          <p:nvPr/>
        </p:nvCxnSpPr>
        <p:spPr>
          <a:xfrm flipV="1">
            <a:off x="595926" y="2390116"/>
            <a:ext cx="856500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V="1">
            <a:off x="578993" y="4099712"/>
            <a:ext cx="856500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9921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77333" y="1159933"/>
            <a:ext cx="8259499" cy="5562600"/>
          </a:xfrm>
        </p:spPr>
        <p:txBody>
          <a:bodyPr>
            <a:noAutofit/>
          </a:bodyPr>
          <a:lstStyle/>
          <a:p>
            <a:pPr lvl="0">
              <a:lnSpc>
                <a:spcPct val="120000"/>
              </a:lnSpc>
              <a:spcAft>
                <a:spcPts val="600"/>
              </a:spcAft>
            </a:pPr>
            <a:r>
              <a:rPr lang="en-US" dirty="0">
                <a:latin typeface="Gill Sans MT" panose="020B0502020104020203" pitchFamily="34" charset="0"/>
              </a:rPr>
              <a:t>Supervised research project by individual students as part of requirement for graduation</a:t>
            </a:r>
          </a:p>
          <a:p>
            <a:pPr lvl="0">
              <a:lnSpc>
                <a:spcPct val="120000"/>
              </a:lnSpc>
              <a:spcAft>
                <a:spcPts val="600"/>
              </a:spcAft>
            </a:pPr>
            <a:r>
              <a:rPr lang="en-US" dirty="0">
                <a:solidFill>
                  <a:srgbClr val="FF0000"/>
                </a:solidFill>
                <a:latin typeface="Gill Sans MT" panose="020B0502020104020203" pitchFamily="34" charset="0"/>
              </a:rPr>
              <a:t>Duration: </a:t>
            </a:r>
            <a:r>
              <a:rPr lang="en-US" dirty="0">
                <a:latin typeface="Gill Sans MT" panose="020B0502020104020203" pitchFamily="34" charset="0"/>
              </a:rPr>
              <a:t>1 year</a:t>
            </a:r>
          </a:p>
          <a:p>
            <a:pPr>
              <a:lnSpc>
                <a:spcPct val="120000"/>
              </a:lnSpc>
            </a:pPr>
            <a:r>
              <a:rPr lang="en-US" dirty="0">
                <a:solidFill>
                  <a:srgbClr val="FF0000"/>
                </a:solidFill>
                <a:latin typeface="Gill Sans MT" panose="020B0502020104020203" pitchFamily="34" charset="0"/>
              </a:rPr>
              <a:t>Objective:  </a:t>
            </a:r>
            <a:r>
              <a:rPr lang="en-US" dirty="0">
                <a:latin typeface="Gill Sans MT" panose="020B0502020104020203" pitchFamily="34" charset="0"/>
              </a:rPr>
              <a:t>To train students to carry out independent research projects (with minimum supervision) through the application of accumulated knowledge in specialized field of study</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5" y="233450"/>
            <a:ext cx="8229600" cy="649143"/>
          </a:xfrm>
        </p:spPr>
        <p:txBody>
          <a:bodyPr>
            <a:normAutofit fontScale="90000"/>
          </a:bodyPr>
          <a:lstStyle/>
          <a:p>
            <a:r>
              <a:rPr lang="en-US" cap="small" dirty="0">
                <a:latin typeface="Gill Sans MT" panose="020B0502020104020203" pitchFamily="34" charset="0"/>
              </a:rPr>
              <a:t>Student’s Final Project</a:t>
            </a:r>
            <a:endParaRPr lang="en-US" dirty="0"/>
          </a:p>
        </p:txBody>
      </p:sp>
    </p:spTree>
    <p:extLst>
      <p:ext uri="{BB962C8B-B14F-4D97-AF65-F5344CB8AC3E}">
        <p14:creationId xmlns:p14="http://schemas.microsoft.com/office/powerpoint/2010/main" val="376314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lnSpc>
                <a:spcPct val="120000"/>
              </a:lnSpc>
              <a:spcAft>
                <a:spcPts val="600"/>
              </a:spcAft>
            </a:pPr>
            <a:r>
              <a:rPr lang="en-US" dirty="0">
                <a:solidFill>
                  <a:srgbClr val="FF0000"/>
                </a:solidFill>
                <a:latin typeface="Gill Sans MT" panose="020B0502020104020203" pitchFamily="34" charset="0"/>
              </a:rPr>
              <a:t>Formulation of project topic and research objectives</a:t>
            </a:r>
          </a:p>
          <a:p>
            <a:pPr lvl="0">
              <a:lnSpc>
                <a:spcPct val="120000"/>
              </a:lnSpc>
              <a:spcAft>
                <a:spcPts val="600"/>
              </a:spcAft>
            </a:pPr>
            <a:r>
              <a:rPr lang="en-US" dirty="0">
                <a:latin typeface="Gill Sans MT" panose="020B0502020104020203" pitchFamily="34" charset="0"/>
              </a:rPr>
              <a:t>Establishing the problem and scientific justification</a:t>
            </a:r>
          </a:p>
          <a:p>
            <a:pPr lvl="0">
              <a:lnSpc>
                <a:spcPct val="120000"/>
              </a:lnSpc>
              <a:spcAft>
                <a:spcPts val="600"/>
              </a:spcAft>
            </a:pPr>
            <a:r>
              <a:rPr lang="en-US" dirty="0">
                <a:solidFill>
                  <a:srgbClr val="FF0000"/>
                </a:solidFill>
                <a:latin typeface="Gill Sans MT" panose="020B0502020104020203" pitchFamily="34" charset="0"/>
              </a:rPr>
              <a:t>Literature review on important aspects of the research theme</a:t>
            </a:r>
          </a:p>
          <a:p>
            <a:pPr lvl="0">
              <a:lnSpc>
                <a:spcPct val="120000"/>
              </a:lnSpc>
              <a:spcAft>
                <a:spcPts val="600"/>
              </a:spcAft>
            </a:pPr>
            <a:r>
              <a:rPr lang="en-US" dirty="0">
                <a:latin typeface="Gill Sans MT" panose="020B0502020104020203" pitchFamily="34" charset="0"/>
              </a:rPr>
              <a:t>Proposed methods to address the problem</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5" y="233450"/>
            <a:ext cx="8229600" cy="649143"/>
          </a:xfrm>
        </p:spPr>
        <p:txBody>
          <a:bodyPr>
            <a:normAutofit fontScale="90000"/>
          </a:bodyPr>
          <a:lstStyle/>
          <a:p>
            <a:r>
              <a:rPr lang="en-US" cap="small" dirty="0">
                <a:latin typeface="Gill Sans MT" panose="020B0502020104020203" pitchFamily="34" charset="0"/>
              </a:rPr>
              <a:t>1</a:t>
            </a:r>
            <a:r>
              <a:rPr lang="en-US" cap="small" baseline="30000" dirty="0">
                <a:latin typeface="Gill Sans MT" panose="020B0502020104020203" pitchFamily="34" charset="0"/>
              </a:rPr>
              <a:t>st</a:t>
            </a:r>
            <a:r>
              <a:rPr lang="en-US" cap="small" dirty="0">
                <a:latin typeface="Gill Sans MT" panose="020B0502020104020203" pitchFamily="34" charset="0"/>
              </a:rPr>
              <a:t> Semester</a:t>
            </a:r>
            <a:endParaRPr lang="en-US" dirty="0"/>
          </a:p>
        </p:txBody>
      </p:sp>
    </p:spTree>
    <p:extLst>
      <p:ext uri="{BB962C8B-B14F-4D97-AF65-F5344CB8AC3E}">
        <p14:creationId xmlns:p14="http://schemas.microsoft.com/office/powerpoint/2010/main" val="1298078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lnSpc>
                <a:spcPct val="120000"/>
              </a:lnSpc>
              <a:spcAft>
                <a:spcPts val="600"/>
              </a:spcAft>
            </a:pPr>
            <a:r>
              <a:rPr lang="en-US" b="1" dirty="0">
                <a:solidFill>
                  <a:srgbClr val="FF0000"/>
                </a:solidFill>
                <a:latin typeface="Gill Sans MT" panose="020B0502020104020203" pitchFamily="34" charset="0"/>
              </a:rPr>
              <a:t>1</a:t>
            </a:r>
            <a:r>
              <a:rPr lang="en-US" b="1" baseline="30000" dirty="0">
                <a:solidFill>
                  <a:srgbClr val="FF0000"/>
                </a:solidFill>
                <a:latin typeface="Gill Sans MT" panose="020B0502020104020203" pitchFamily="34" charset="0"/>
              </a:rPr>
              <a:t>st</a:t>
            </a:r>
            <a:r>
              <a:rPr lang="en-US" b="1" dirty="0">
                <a:solidFill>
                  <a:srgbClr val="FF0000"/>
                </a:solidFill>
                <a:latin typeface="Gill Sans MT" panose="020B0502020104020203" pitchFamily="34" charset="0"/>
              </a:rPr>
              <a:t> semester</a:t>
            </a:r>
          </a:p>
          <a:p>
            <a:pPr lvl="1">
              <a:lnSpc>
                <a:spcPct val="120000"/>
              </a:lnSpc>
              <a:spcAft>
                <a:spcPts val="600"/>
              </a:spcAft>
            </a:pPr>
            <a:r>
              <a:rPr lang="en-US" b="1" dirty="0">
                <a:solidFill>
                  <a:srgbClr val="FF0000"/>
                </a:solidFill>
                <a:latin typeface="Gill Sans MT" panose="020B0502020104020203" pitchFamily="34" charset="0"/>
              </a:rPr>
              <a:t>Credit: 1 for presentation and defense of synopsis</a:t>
            </a:r>
          </a:p>
          <a:p>
            <a:pPr>
              <a:lnSpc>
                <a:spcPct val="120000"/>
              </a:lnSpc>
              <a:spcAft>
                <a:spcPts val="600"/>
              </a:spcAft>
            </a:pPr>
            <a:r>
              <a:rPr lang="en-US" dirty="0">
                <a:latin typeface="Gill Sans MT" panose="020B0502020104020203" pitchFamily="34" charset="0"/>
              </a:rPr>
              <a:t>2</a:t>
            </a:r>
            <a:r>
              <a:rPr lang="en-US" baseline="30000" dirty="0">
                <a:latin typeface="Gill Sans MT" panose="020B0502020104020203" pitchFamily="34" charset="0"/>
              </a:rPr>
              <a:t>nd</a:t>
            </a:r>
            <a:r>
              <a:rPr lang="en-US" dirty="0">
                <a:latin typeface="Gill Sans MT" panose="020B0502020104020203" pitchFamily="34" charset="0"/>
              </a:rPr>
              <a:t> semester</a:t>
            </a:r>
          </a:p>
          <a:p>
            <a:pPr lvl="1">
              <a:lnSpc>
                <a:spcPct val="120000"/>
              </a:lnSpc>
              <a:spcAft>
                <a:spcPts val="600"/>
              </a:spcAft>
            </a:pPr>
            <a:r>
              <a:rPr lang="en-US" dirty="0">
                <a:latin typeface="Gill Sans MT" panose="020B0502020104020203" pitchFamily="34" charset="0"/>
              </a:rPr>
              <a:t>Credit: 5 for dissertation, presentation and defense</a:t>
            </a:r>
          </a:p>
          <a:p>
            <a:pPr lvl="1">
              <a:lnSpc>
                <a:spcPct val="120000"/>
              </a:lnSpc>
              <a:spcAft>
                <a:spcPts val="600"/>
              </a:spcAft>
            </a:pPr>
            <a:r>
              <a:rPr lang="en-US" dirty="0">
                <a:latin typeface="Gill Sans MT" panose="020B0502020104020203" pitchFamily="34" charset="0"/>
              </a:rPr>
              <a:t>30% for presentation and defense</a:t>
            </a:r>
          </a:p>
          <a:p>
            <a:pPr lvl="1">
              <a:lnSpc>
                <a:spcPct val="120000"/>
              </a:lnSpc>
              <a:spcAft>
                <a:spcPts val="600"/>
              </a:spcAft>
            </a:pPr>
            <a:r>
              <a:rPr lang="en-US" dirty="0">
                <a:latin typeface="Gill Sans MT" panose="020B0502020104020203" pitchFamily="34" charset="0"/>
              </a:rPr>
              <a:t>70% for dissertation</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5" y="233450"/>
            <a:ext cx="8229600" cy="649143"/>
          </a:xfrm>
        </p:spPr>
        <p:txBody>
          <a:bodyPr>
            <a:normAutofit fontScale="90000"/>
          </a:bodyPr>
          <a:lstStyle/>
          <a:p>
            <a:r>
              <a:rPr lang="en-US" cap="small" dirty="0">
                <a:latin typeface="Gill Sans MT" panose="020B0502020104020203" pitchFamily="34" charset="0"/>
              </a:rPr>
              <a:t>Assessment</a:t>
            </a:r>
            <a:endParaRPr lang="en-US" dirty="0"/>
          </a:p>
        </p:txBody>
      </p:sp>
    </p:spTree>
    <p:extLst>
      <p:ext uri="{BB962C8B-B14F-4D97-AF65-F5344CB8AC3E}">
        <p14:creationId xmlns:p14="http://schemas.microsoft.com/office/powerpoint/2010/main" val="74887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5" y="233450"/>
            <a:ext cx="8229600" cy="649143"/>
          </a:xfrm>
        </p:spPr>
        <p:txBody>
          <a:bodyPr>
            <a:normAutofit fontScale="90000"/>
          </a:bodyPr>
          <a:lstStyle/>
          <a:p>
            <a:r>
              <a:rPr lang="en-US" cap="small" dirty="0">
                <a:latin typeface="Gill Sans MT" panose="020B0502020104020203" pitchFamily="34" charset="0"/>
              </a:rPr>
              <a:t>Assessment</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853029443"/>
              </p:ext>
            </p:extLst>
          </p:nvPr>
        </p:nvGraphicFramePr>
        <p:xfrm>
          <a:off x="1515432" y="1181025"/>
          <a:ext cx="6599977" cy="5029200"/>
        </p:xfrm>
        <a:graphic>
          <a:graphicData uri="http://schemas.openxmlformats.org/drawingml/2006/table">
            <a:tbl>
              <a:tblPr firstRow="1" bandRow="1">
                <a:tableStyleId>{5C22544A-7EE6-4342-B048-85BDC9FD1C3A}</a:tableStyleId>
              </a:tblPr>
              <a:tblGrid>
                <a:gridCol w="4948742">
                  <a:extLst>
                    <a:ext uri="{9D8B030D-6E8A-4147-A177-3AD203B41FA5}">
                      <a16:colId xmlns:a16="http://schemas.microsoft.com/office/drawing/2014/main" val="20000"/>
                    </a:ext>
                  </a:extLst>
                </a:gridCol>
                <a:gridCol w="1651235">
                  <a:extLst>
                    <a:ext uri="{9D8B030D-6E8A-4147-A177-3AD203B41FA5}">
                      <a16:colId xmlns:a16="http://schemas.microsoft.com/office/drawing/2014/main" val="20001"/>
                    </a:ext>
                  </a:extLst>
                </a:gridCol>
              </a:tblGrid>
              <a:tr h="500204">
                <a:tc>
                  <a:txBody>
                    <a:bodyPr/>
                    <a:lstStyle/>
                    <a:p>
                      <a:r>
                        <a:rPr lang="en-US" sz="3200" dirty="0">
                          <a:latin typeface="Gill Sans MT" panose="020B0502020104020203" pitchFamily="34" charset="0"/>
                        </a:rPr>
                        <a:t>Breakdown</a:t>
                      </a:r>
                    </a:p>
                  </a:txBody>
                  <a:tcPr/>
                </a:tc>
                <a:tc>
                  <a:txBody>
                    <a:bodyPr/>
                    <a:lstStyle/>
                    <a:p>
                      <a:r>
                        <a:rPr lang="en-US" sz="3200" dirty="0">
                          <a:latin typeface="Gill Sans MT" panose="020B0502020104020203" pitchFamily="34" charset="0"/>
                        </a:rPr>
                        <a:t>Marks (%)</a:t>
                      </a:r>
                    </a:p>
                  </a:txBody>
                  <a:tcPr/>
                </a:tc>
                <a:extLst>
                  <a:ext uri="{0D108BD9-81ED-4DB2-BD59-A6C34878D82A}">
                    <a16:rowId xmlns:a16="http://schemas.microsoft.com/office/drawing/2014/main" val="10000"/>
                  </a:ext>
                </a:extLst>
              </a:tr>
              <a:tr h="370840">
                <a:tc>
                  <a:txBody>
                    <a:bodyPr/>
                    <a:lstStyle/>
                    <a:p>
                      <a:r>
                        <a:rPr lang="en-US" sz="2800" dirty="0">
                          <a:latin typeface="Gill Sans MT" panose="020B0502020104020203" pitchFamily="34" charset="0"/>
                        </a:rPr>
                        <a:t>Topic, Introduction, Justification and Aim and Objectives</a:t>
                      </a:r>
                    </a:p>
                  </a:txBody>
                  <a:tcPr/>
                </a:tc>
                <a:tc>
                  <a:txBody>
                    <a:bodyPr/>
                    <a:lstStyle/>
                    <a:p>
                      <a:r>
                        <a:rPr lang="en-US" sz="2800" dirty="0">
                          <a:latin typeface="Gill Sans MT" panose="020B0502020104020203" pitchFamily="34" charset="0"/>
                        </a:rPr>
                        <a:t>30</a:t>
                      </a:r>
                    </a:p>
                  </a:txBody>
                  <a:tcPr/>
                </a:tc>
                <a:extLst>
                  <a:ext uri="{0D108BD9-81ED-4DB2-BD59-A6C34878D82A}">
                    <a16:rowId xmlns:a16="http://schemas.microsoft.com/office/drawing/2014/main" val="10001"/>
                  </a:ext>
                </a:extLst>
              </a:tr>
              <a:tr h="370840">
                <a:tc>
                  <a:txBody>
                    <a:bodyPr/>
                    <a:lstStyle/>
                    <a:p>
                      <a:r>
                        <a:rPr lang="en-US" sz="2800" dirty="0">
                          <a:latin typeface="Gill Sans MT" panose="020B0502020104020203" pitchFamily="34" charset="0"/>
                        </a:rPr>
                        <a:t>Literature Review and Background Information</a:t>
                      </a:r>
                    </a:p>
                  </a:txBody>
                  <a:tcPr/>
                </a:tc>
                <a:tc>
                  <a:txBody>
                    <a:bodyPr/>
                    <a:lstStyle/>
                    <a:p>
                      <a:r>
                        <a:rPr lang="en-US" sz="2800" dirty="0">
                          <a:latin typeface="Gill Sans MT" panose="020B0502020104020203" pitchFamily="34" charset="0"/>
                        </a:rPr>
                        <a:t>25</a:t>
                      </a:r>
                    </a:p>
                  </a:txBody>
                  <a:tcPr/>
                </a:tc>
                <a:extLst>
                  <a:ext uri="{0D108BD9-81ED-4DB2-BD59-A6C34878D82A}">
                    <a16:rowId xmlns:a16="http://schemas.microsoft.com/office/drawing/2014/main" val="10002"/>
                  </a:ext>
                </a:extLst>
              </a:tr>
              <a:tr h="370840">
                <a:tc>
                  <a:txBody>
                    <a:bodyPr/>
                    <a:lstStyle/>
                    <a:p>
                      <a:r>
                        <a:rPr lang="en-US" sz="2800" dirty="0">
                          <a:latin typeface="Gill Sans MT" panose="020B0502020104020203" pitchFamily="34" charset="0"/>
                        </a:rPr>
                        <a:t>Materials and Methods</a:t>
                      </a:r>
                    </a:p>
                  </a:txBody>
                  <a:tcPr/>
                </a:tc>
                <a:tc>
                  <a:txBody>
                    <a:bodyPr/>
                    <a:lstStyle/>
                    <a:p>
                      <a:r>
                        <a:rPr lang="en-US" sz="2800" dirty="0">
                          <a:latin typeface="Gill Sans MT" panose="020B0502020104020203" pitchFamily="34" charset="0"/>
                        </a:rPr>
                        <a:t>30</a:t>
                      </a:r>
                    </a:p>
                  </a:txBody>
                  <a:tcPr/>
                </a:tc>
                <a:extLst>
                  <a:ext uri="{0D108BD9-81ED-4DB2-BD59-A6C34878D82A}">
                    <a16:rowId xmlns:a16="http://schemas.microsoft.com/office/drawing/2014/main" val="10003"/>
                  </a:ext>
                </a:extLst>
              </a:tr>
              <a:tr h="370840">
                <a:tc>
                  <a:txBody>
                    <a:bodyPr/>
                    <a:lstStyle/>
                    <a:p>
                      <a:r>
                        <a:rPr lang="en-US" sz="2800" dirty="0">
                          <a:latin typeface="Gill Sans MT" panose="020B0502020104020203" pitchFamily="34" charset="0"/>
                        </a:rPr>
                        <a:t>Presentation and Appearance</a:t>
                      </a:r>
                    </a:p>
                  </a:txBody>
                  <a:tcPr/>
                </a:tc>
                <a:tc>
                  <a:txBody>
                    <a:bodyPr/>
                    <a:lstStyle/>
                    <a:p>
                      <a:r>
                        <a:rPr lang="en-US" sz="2800" dirty="0">
                          <a:latin typeface="Gill Sans MT" panose="020B0502020104020203" pitchFamily="34" charset="0"/>
                        </a:rPr>
                        <a:t>10</a:t>
                      </a:r>
                    </a:p>
                  </a:txBody>
                  <a:tcPr/>
                </a:tc>
                <a:extLst>
                  <a:ext uri="{0D108BD9-81ED-4DB2-BD59-A6C34878D82A}">
                    <a16:rowId xmlns:a16="http://schemas.microsoft.com/office/drawing/2014/main" val="10004"/>
                  </a:ext>
                </a:extLst>
              </a:tr>
              <a:tr h="370840">
                <a:tc>
                  <a:txBody>
                    <a:bodyPr/>
                    <a:lstStyle/>
                    <a:p>
                      <a:r>
                        <a:rPr lang="en-US" sz="2800" dirty="0">
                          <a:latin typeface="Gill Sans MT" panose="020B0502020104020203" pitchFamily="34" charset="0"/>
                        </a:rPr>
                        <a:t>Quality of Slides	</a:t>
                      </a:r>
                    </a:p>
                  </a:txBody>
                  <a:tcPr/>
                </a:tc>
                <a:tc>
                  <a:txBody>
                    <a:bodyPr/>
                    <a:lstStyle/>
                    <a:p>
                      <a:r>
                        <a:rPr lang="en-US" sz="2800" dirty="0">
                          <a:latin typeface="Gill Sans MT" panose="020B0502020104020203" pitchFamily="34" charset="0"/>
                        </a:rPr>
                        <a:t>5</a:t>
                      </a:r>
                    </a:p>
                  </a:txBody>
                  <a:tcPr/>
                </a:tc>
                <a:extLst>
                  <a:ext uri="{0D108BD9-81ED-4DB2-BD59-A6C34878D82A}">
                    <a16:rowId xmlns:a16="http://schemas.microsoft.com/office/drawing/2014/main" val="10005"/>
                  </a:ext>
                </a:extLst>
              </a:tr>
              <a:tr h="370840">
                <a:tc>
                  <a:txBody>
                    <a:bodyPr/>
                    <a:lstStyle/>
                    <a:p>
                      <a:r>
                        <a:rPr lang="en-US" sz="2800" b="1" dirty="0">
                          <a:solidFill>
                            <a:srgbClr val="FF0000"/>
                          </a:solidFill>
                          <a:latin typeface="Gill Sans MT" panose="020B0502020104020203" pitchFamily="34" charset="0"/>
                        </a:rPr>
                        <a:t>TOTAL</a:t>
                      </a:r>
                    </a:p>
                  </a:txBody>
                  <a:tcPr/>
                </a:tc>
                <a:tc>
                  <a:txBody>
                    <a:bodyPr/>
                    <a:lstStyle/>
                    <a:p>
                      <a:r>
                        <a:rPr lang="en-US" sz="2800" b="1" dirty="0">
                          <a:solidFill>
                            <a:srgbClr val="FF0000"/>
                          </a:solidFill>
                          <a:latin typeface="Gill Sans MT" panose="020B0502020104020203" pitchFamily="34" charset="0"/>
                        </a:rPr>
                        <a:t>100</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3106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735758" y="1083732"/>
            <a:ext cx="8052486" cy="5599213"/>
          </a:xfrm>
        </p:spPr>
        <p:txBody>
          <a:bodyPr>
            <a:noAutofit/>
          </a:bodyPr>
          <a:lstStyle/>
          <a:p>
            <a:pPr lvl="0">
              <a:lnSpc>
                <a:spcPct val="120000"/>
              </a:lnSpc>
              <a:spcBef>
                <a:spcPts val="0"/>
              </a:spcBef>
              <a:spcAft>
                <a:spcPts val="600"/>
              </a:spcAft>
            </a:pPr>
            <a:r>
              <a:rPr lang="en-US" b="1" dirty="0">
                <a:solidFill>
                  <a:srgbClr val="FF0000"/>
                </a:solidFill>
                <a:latin typeface="Gill Sans MT" panose="020B0502020104020203" pitchFamily="34" charset="0"/>
              </a:rPr>
              <a:t>15 minutes for each candidate</a:t>
            </a:r>
          </a:p>
          <a:p>
            <a:pPr lvl="1">
              <a:lnSpc>
                <a:spcPct val="120000"/>
              </a:lnSpc>
              <a:spcBef>
                <a:spcPts val="0"/>
              </a:spcBef>
              <a:spcAft>
                <a:spcPts val="600"/>
              </a:spcAft>
            </a:pPr>
            <a:r>
              <a:rPr lang="en-US" dirty="0">
                <a:solidFill>
                  <a:srgbClr val="FF0000"/>
                </a:solidFill>
                <a:latin typeface="Gill Sans MT" panose="020B0502020104020203" pitchFamily="34" charset="0"/>
              </a:rPr>
              <a:t>8 minutes for power-point presentation</a:t>
            </a:r>
          </a:p>
          <a:p>
            <a:pPr lvl="2">
              <a:lnSpc>
                <a:spcPct val="120000"/>
              </a:lnSpc>
              <a:spcBef>
                <a:spcPts val="0"/>
              </a:spcBef>
              <a:spcAft>
                <a:spcPts val="600"/>
              </a:spcAft>
            </a:pPr>
            <a:r>
              <a:rPr lang="en-US" dirty="0">
                <a:latin typeface="Gill Sans MT" panose="020B0502020104020203" pitchFamily="34" charset="0"/>
              </a:rPr>
              <a:t>Ideally, number of slides should be 1.5*Duration</a:t>
            </a:r>
          </a:p>
          <a:p>
            <a:pPr lvl="2">
              <a:lnSpc>
                <a:spcPct val="120000"/>
              </a:lnSpc>
              <a:spcBef>
                <a:spcPts val="0"/>
              </a:spcBef>
              <a:spcAft>
                <a:spcPts val="600"/>
              </a:spcAft>
            </a:pPr>
            <a:r>
              <a:rPr lang="en-US" dirty="0">
                <a:latin typeface="Gill Sans MT" panose="020B0502020104020203" pitchFamily="34" charset="0"/>
              </a:rPr>
              <a:t>12-15 slides in this case</a:t>
            </a:r>
          </a:p>
          <a:p>
            <a:pPr lvl="1">
              <a:lnSpc>
                <a:spcPct val="120000"/>
              </a:lnSpc>
              <a:spcBef>
                <a:spcPts val="0"/>
              </a:spcBef>
              <a:spcAft>
                <a:spcPts val="600"/>
              </a:spcAft>
            </a:pPr>
            <a:r>
              <a:rPr lang="en-US" dirty="0">
                <a:solidFill>
                  <a:srgbClr val="FF0000"/>
                </a:solidFill>
                <a:latin typeface="Gill Sans MT" panose="020B0502020104020203" pitchFamily="34" charset="0"/>
              </a:rPr>
              <a:t>7 minutes for Q&amp;As</a:t>
            </a:r>
          </a:p>
          <a:p>
            <a:pPr lvl="2">
              <a:lnSpc>
                <a:spcPct val="120000"/>
              </a:lnSpc>
              <a:spcBef>
                <a:spcPts val="0"/>
              </a:spcBef>
              <a:spcAft>
                <a:spcPts val="600"/>
              </a:spcAft>
            </a:pPr>
            <a:r>
              <a:rPr lang="en-US" dirty="0">
                <a:latin typeface="Gill Sans MT" panose="020B0502020104020203" pitchFamily="34" charset="0"/>
              </a:rPr>
              <a:t>An indication of how well you understand what you just presented</a:t>
            </a:r>
          </a:p>
          <a:p>
            <a:pPr>
              <a:lnSpc>
                <a:spcPct val="120000"/>
              </a:lnSpc>
              <a:spcBef>
                <a:spcPts val="0"/>
              </a:spcBef>
              <a:spcAft>
                <a:spcPts val="600"/>
              </a:spcAft>
            </a:pPr>
            <a:r>
              <a:rPr lang="en-US" b="1" dirty="0">
                <a:solidFill>
                  <a:srgbClr val="FF0000"/>
                </a:solidFill>
                <a:latin typeface="Gill Sans MT" panose="020B0502020104020203" pitchFamily="34" charset="0"/>
              </a:rPr>
              <a:t>20 minutes for project ‘couples’</a:t>
            </a:r>
          </a:p>
          <a:p>
            <a:pPr lvl="1">
              <a:lnSpc>
                <a:spcPct val="120000"/>
              </a:lnSpc>
              <a:spcBef>
                <a:spcPts val="0"/>
              </a:spcBef>
              <a:spcAft>
                <a:spcPts val="600"/>
              </a:spcAft>
            </a:pPr>
            <a:r>
              <a:rPr lang="en-US" dirty="0">
                <a:latin typeface="Gill Sans MT" panose="020B0502020104020203" pitchFamily="34" charset="0"/>
              </a:rPr>
              <a:t>12 minutes for </a:t>
            </a:r>
            <a:r>
              <a:rPr lang="en-US" dirty="0" err="1">
                <a:latin typeface="Gill Sans MT" panose="020B0502020104020203" pitchFamily="34" charset="0"/>
              </a:rPr>
              <a:t>ppt</a:t>
            </a:r>
            <a:r>
              <a:rPr lang="en-US" dirty="0">
                <a:latin typeface="Gill Sans MT" panose="020B0502020104020203" pitchFamily="34" charset="0"/>
              </a:rPr>
              <a:t> presentation</a:t>
            </a:r>
          </a:p>
          <a:p>
            <a:pPr lvl="1">
              <a:lnSpc>
                <a:spcPct val="120000"/>
              </a:lnSpc>
              <a:spcBef>
                <a:spcPts val="0"/>
              </a:spcBef>
              <a:spcAft>
                <a:spcPts val="600"/>
              </a:spcAft>
            </a:pPr>
            <a:r>
              <a:rPr lang="en-US" dirty="0">
                <a:latin typeface="Gill Sans MT" panose="020B0502020104020203" pitchFamily="34" charset="0"/>
              </a:rPr>
              <a:t>8 minutes for Q&amp;As</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5" y="233450"/>
            <a:ext cx="8229600" cy="649143"/>
          </a:xfrm>
        </p:spPr>
        <p:txBody>
          <a:bodyPr>
            <a:normAutofit fontScale="90000"/>
          </a:bodyPr>
          <a:lstStyle/>
          <a:p>
            <a:r>
              <a:rPr lang="en-US" cap="small" dirty="0">
                <a:latin typeface="Gill Sans MT" panose="020B0502020104020203" pitchFamily="34" charset="0"/>
              </a:rPr>
              <a:t>Duration</a:t>
            </a:r>
            <a:endParaRPr lang="en-US" dirty="0"/>
          </a:p>
        </p:txBody>
      </p:sp>
    </p:spTree>
    <p:extLst>
      <p:ext uri="{BB962C8B-B14F-4D97-AF65-F5344CB8AC3E}">
        <p14:creationId xmlns:p14="http://schemas.microsoft.com/office/powerpoint/2010/main" val="2737064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lnSpc>
                <a:spcPct val="120000"/>
              </a:lnSpc>
              <a:spcAft>
                <a:spcPts val="600"/>
              </a:spcAft>
            </a:pPr>
            <a:r>
              <a:rPr lang="en-US" sz="3600" dirty="0">
                <a:solidFill>
                  <a:srgbClr val="FF0000"/>
                </a:solidFill>
                <a:latin typeface="Gill Sans MT" panose="020B0502020104020203" pitchFamily="34" charset="0"/>
              </a:rPr>
              <a:t>It takes time to prepare a presentation.</a:t>
            </a:r>
          </a:p>
          <a:p>
            <a:pPr lvl="0">
              <a:lnSpc>
                <a:spcPct val="120000"/>
              </a:lnSpc>
              <a:spcAft>
                <a:spcPts val="600"/>
              </a:spcAft>
            </a:pPr>
            <a:r>
              <a:rPr lang="en-US" sz="3600" dirty="0">
                <a:latin typeface="Gill Sans MT" panose="020B0502020104020203" pitchFamily="34" charset="0"/>
              </a:rPr>
              <a:t>Conference presentation takes me 3-4 hours, for 10 minutes.</a:t>
            </a:r>
          </a:p>
          <a:p>
            <a:pPr lvl="0">
              <a:lnSpc>
                <a:spcPct val="120000"/>
              </a:lnSpc>
              <a:spcAft>
                <a:spcPts val="600"/>
              </a:spcAft>
            </a:pPr>
            <a:r>
              <a:rPr lang="en-US" sz="3600" dirty="0">
                <a:solidFill>
                  <a:srgbClr val="FF0000"/>
                </a:solidFill>
                <a:latin typeface="Gill Sans MT" panose="020B0502020104020203" pitchFamily="34" charset="0"/>
              </a:rPr>
              <a:t>Takes longer when you are new.</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Spend Enough Time on Presentation</a:t>
            </a:r>
            <a:endParaRPr lang="en-US" dirty="0"/>
          </a:p>
        </p:txBody>
      </p:sp>
    </p:spTree>
    <p:extLst>
      <p:ext uri="{BB962C8B-B14F-4D97-AF65-F5344CB8AC3E}">
        <p14:creationId xmlns:p14="http://schemas.microsoft.com/office/powerpoint/2010/main" val="1735080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lnSpc>
                <a:spcPct val="120000"/>
              </a:lnSpc>
              <a:spcAft>
                <a:spcPts val="600"/>
              </a:spcAft>
            </a:pPr>
            <a:r>
              <a:rPr lang="en-US" sz="3600" dirty="0">
                <a:solidFill>
                  <a:srgbClr val="FF0000"/>
                </a:solidFill>
                <a:latin typeface="Gill Sans MT" panose="020B0502020104020203" pitchFamily="34" charset="0"/>
              </a:rPr>
              <a:t>Make presentation relevant to audience</a:t>
            </a:r>
          </a:p>
          <a:p>
            <a:pPr lvl="1">
              <a:lnSpc>
                <a:spcPct val="120000"/>
              </a:lnSpc>
              <a:spcAft>
                <a:spcPts val="600"/>
              </a:spcAft>
            </a:pPr>
            <a:r>
              <a:rPr lang="en-US" dirty="0">
                <a:latin typeface="Gill Sans MT" panose="020B0502020104020203" pitchFamily="34" charset="0"/>
              </a:rPr>
              <a:t>i.e. don’t present all math</a:t>
            </a:r>
          </a:p>
          <a:p>
            <a:pPr lvl="0">
              <a:lnSpc>
                <a:spcPct val="120000"/>
              </a:lnSpc>
              <a:spcAft>
                <a:spcPts val="600"/>
              </a:spcAft>
            </a:pPr>
            <a:r>
              <a:rPr lang="en-US" sz="3600" dirty="0">
                <a:solidFill>
                  <a:srgbClr val="FF0000"/>
                </a:solidFill>
                <a:latin typeface="Gill Sans MT" panose="020B0502020104020203" pitchFamily="34" charset="0"/>
              </a:rPr>
              <a:t>Think about the following questions</a:t>
            </a:r>
          </a:p>
          <a:p>
            <a:pPr lvl="1">
              <a:lnSpc>
                <a:spcPct val="120000"/>
              </a:lnSpc>
              <a:spcAft>
                <a:spcPts val="600"/>
              </a:spcAft>
            </a:pPr>
            <a:r>
              <a:rPr lang="en-US" dirty="0">
                <a:latin typeface="Gill Sans MT" panose="020B0502020104020203" pitchFamily="34" charset="0"/>
              </a:rPr>
              <a:t>Who am I addressing?</a:t>
            </a:r>
          </a:p>
          <a:p>
            <a:pPr lvl="1">
              <a:lnSpc>
                <a:spcPct val="120000"/>
              </a:lnSpc>
              <a:spcAft>
                <a:spcPts val="600"/>
              </a:spcAft>
            </a:pPr>
            <a:r>
              <a:rPr lang="en-US" dirty="0">
                <a:latin typeface="Gill Sans MT" panose="020B0502020104020203" pitchFamily="34" charset="0"/>
              </a:rPr>
              <a:t>What do I have to say?</a:t>
            </a:r>
          </a:p>
          <a:p>
            <a:pPr lvl="1">
              <a:lnSpc>
                <a:spcPct val="120000"/>
              </a:lnSpc>
              <a:spcAft>
                <a:spcPts val="600"/>
              </a:spcAft>
            </a:pPr>
            <a:r>
              <a:rPr lang="en-US" dirty="0">
                <a:latin typeface="Gill Sans MT" panose="020B0502020104020203" pitchFamily="34" charset="0"/>
              </a:rPr>
              <a:t>What do I want my audience to know?</a:t>
            </a:r>
          </a:p>
          <a:p>
            <a:pPr lvl="1">
              <a:lnSpc>
                <a:spcPct val="120000"/>
              </a:lnSpc>
              <a:spcAft>
                <a:spcPts val="600"/>
              </a:spcAft>
            </a:pPr>
            <a:r>
              <a:rPr lang="en-US" dirty="0">
                <a:latin typeface="Gill Sans MT" panose="020B0502020104020203" pitchFamily="34" charset="0"/>
              </a:rPr>
              <a:t>What would my audience want to know?</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Consider Your Audience</a:t>
            </a:r>
            <a:endParaRPr lang="en-US" dirty="0"/>
          </a:p>
        </p:txBody>
      </p:sp>
    </p:spTree>
    <p:extLst>
      <p:ext uri="{BB962C8B-B14F-4D97-AF65-F5344CB8AC3E}">
        <p14:creationId xmlns:p14="http://schemas.microsoft.com/office/powerpoint/2010/main" val="4247134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lnSpc>
                <a:spcPct val="120000"/>
              </a:lnSpc>
              <a:spcAft>
                <a:spcPts val="600"/>
              </a:spcAft>
            </a:pPr>
            <a:r>
              <a:rPr lang="en-US" sz="3600" dirty="0">
                <a:solidFill>
                  <a:srgbClr val="FF0000"/>
                </a:solidFill>
                <a:latin typeface="Gill Sans MT" panose="020B0502020104020203" pitchFamily="34" charset="0"/>
              </a:rPr>
              <a:t>Make a logical structure that is similar to a good story.</a:t>
            </a:r>
          </a:p>
          <a:p>
            <a:pPr lvl="1">
              <a:lnSpc>
                <a:spcPct val="120000"/>
              </a:lnSpc>
              <a:spcAft>
                <a:spcPts val="600"/>
              </a:spcAft>
            </a:pPr>
            <a:r>
              <a:rPr lang="en-US" sz="3200" dirty="0">
                <a:latin typeface="Gill Sans MT" panose="020B0502020104020203" pitchFamily="34" charset="0"/>
              </a:rPr>
              <a:t>Beginning: context of presentation</a:t>
            </a:r>
          </a:p>
          <a:p>
            <a:pPr lvl="1">
              <a:lnSpc>
                <a:spcPct val="120000"/>
              </a:lnSpc>
              <a:spcAft>
                <a:spcPts val="600"/>
              </a:spcAft>
            </a:pPr>
            <a:r>
              <a:rPr lang="en-US" sz="3200" dirty="0">
                <a:latin typeface="Gill Sans MT" panose="020B0502020104020203" pitchFamily="34" charset="0"/>
              </a:rPr>
              <a:t>Body: develop main points.</a:t>
            </a:r>
          </a:p>
          <a:p>
            <a:pPr lvl="1">
              <a:lnSpc>
                <a:spcPct val="120000"/>
              </a:lnSpc>
              <a:spcAft>
                <a:spcPts val="600"/>
              </a:spcAft>
            </a:pPr>
            <a:r>
              <a:rPr lang="en-US" sz="3200" dirty="0">
                <a:latin typeface="Gill Sans MT" panose="020B0502020104020203" pitchFamily="34" charset="0"/>
              </a:rPr>
              <a:t>Conclusion: summarize main points, take home message.</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Tell a Story</a:t>
            </a:r>
            <a:endParaRPr lang="en-US" dirty="0"/>
          </a:p>
        </p:txBody>
      </p:sp>
    </p:spTree>
    <p:extLst>
      <p:ext uri="{BB962C8B-B14F-4D97-AF65-F5344CB8AC3E}">
        <p14:creationId xmlns:p14="http://schemas.microsoft.com/office/powerpoint/2010/main" val="1253180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382546" cy="5336975"/>
          </a:xfrm>
        </p:spPr>
        <p:txBody>
          <a:bodyPr>
            <a:noAutofit/>
          </a:bodyPr>
          <a:lstStyle/>
          <a:p>
            <a:pPr lvl="0">
              <a:lnSpc>
                <a:spcPct val="120000"/>
              </a:lnSpc>
              <a:spcBef>
                <a:spcPts val="0"/>
              </a:spcBef>
              <a:spcAft>
                <a:spcPts val="600"/>
              </a:spcAft>
            </a:pPr>
            <a:r>
              <a:rPr lang="en-US" dirty="0">
                <a:solidFill>
                  <a:srgbClr val="FF0000"/>
                </a:solidFill>
                <a:latin typeface="Gill Sans MT" panose="020B0502020104020203" pitchFamily="34" charset="0"/>
              </a:rPr>
              <a:t>Practice on your own (get timing right)</a:t>
            </a:r>
          </a:p>
          <a:p>
            <a:pPr lvl="0">
              <a:lnSpc>
                <a:spcPct val="120000"/>
              </a:lnSpc>
              <a:spcBef>
                <a:spcPts val="0"/>
              </a:spcBef>
              <a:spcAft>
                <a:spcPts val="600"/>
              </a:spcAft>
            </a:pPr>
            <a:r>
              <a:rPr lang="en-US" dirty="0">
                <a:latin typeface="Gill Sans MT" panose="020B0502020104020203" pitchFamily="34" charset="0"/>
              </a:rPr>
              <a:t>Practice with each other.</a:t>
            </a:r>
          </a:p>
          <a:p>
            <a:pPr lvl="0">
              <a:lnSpc>
                <a:spcPct val="120000"/>
              </a:lnSpc>
              <a:spcBef>
                <a:spcPts val="0"/>
              </a:spcBef>
              <a:spcAft>
                <a:spcPts val="600"/>
              </a:spcAft>
            </a:pPr>
            <a:r>
              <a:rPr lang="en-US" dirty="0">
                <a:solidFill>
                  <a:srgbClr val="FF0000"/>
                </a:solidFill>
                <a:latin typeface="Gill Sans MT" panose="020B0502020104020203" pitchFamily="34" charset="0"/>
              </a:rPr>
              <a:t>Write out the full text you want to say.</a:t>
            </a:r>
          </a:p>
          <a:p>
            <a:pPr lvl="1">
              <a:lnSpc>
                <a:spcPct val="120000"/>
              </a:lnSpc>
              <a:spcBef>
                <a:spcPts val="0"/>
              </a:spcBef>
              <a:spcAft>
                <a:spcPts val="600"/>
              </a:spcAft>
            </a:pPr>
            <a:r>
              <a:rPr lang="en-US" sz="2600" dirty="0">
                <a:latin typeface="Gill Sans MT" panose="020B0502020104020203" pitchFamily="34" charset="0"/>
              </a:rPr>
              <a:t>Forces you to think of every aspect</a:t>
            </a:r>
          </a:p>
          <a:p>
            <a:pPr lvl="1">
              <a:lnSpc>
                <a:spcPct val="120000"/>
              </a:lnSpc>
              <a:spcBef>
                <a:spcPts val="0"/>
              </a:spcBef>
              <a:spcAft>
                <a:spcPts val="600"/>
              </a:spcAft>
            </a:pPr>
            <a:r>
              <a:rPr lang="en-US" sz="2600" dirty="0">
                <a:latin typeface="Gill Sans MT" panose="020B0502020104020203" pitchFamily="34" charset="0"/>
              </a:rPr>
              <a:t>Helps you commit parts of you presentation to memory</a:t>
            </a:r>
          </a:p>
          <a:p>
            <a:pPr lvl="1">
              <a:lnSpc>
                <a:spcPct val="120000"/>
              </a:lnSpc>
              <a:spcBef>
                <a:spcPts val="0"/>
              </a:spcBef>
              <a:spcAft>
                <a:spcPts val="600"/>
              </a:spcAft>
            </a:pPr>
            <a:r>
              <a:rPr lang="en-US" sz="2600" dirty="0">
                <a:latin typeface="Gill Sans MT" panose="020B0502020104020203" pitchFamily="34" charset="0"/>
              </a:rPr>
              <a:t>Make notes of key points and use those during presentation. </a:t>
            </a:r>
          </a:p>
          <a:p>
            <a:pPr lvl="1">
              <a:lnSpc>
                <a:spcPct val="120000"/>
              </a:lnSpc>
              <a:spcBef>
                <a:spcPts val="0"/>
              </a:spcBef>
              <a:spcAft>
                <a:spcPts val="600"/>
              </a:spcAft>
            </a:pPr>
            <a:r>
              <a:rPr lang="en-US" sz="2600" dirty="0">
                <a:latin typeface="Gill Sans MT" panose="020B0502020104020203" pitchFamily="34" charset="0"/>
              </a:rPr>
              <a:t>BUT don’t read a script, or always look at the screen.</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Practice, Practice, Practice</a:t>
            </a:r>
            <a:endParaRPr lang="en-US" dirty="0"/>
          </a:p>
        </p:txBody>
      </p:sp>
    </p:spTree>
    <p:extLst>
      <p:ext uri="{BB962C8B-B14F-4D97-AF65-F5344CB8AC3E}">
        <p14:creationId xmlns:p14="http://schemas.microsoft.com/office/powerpoint/2010/main" val="161977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spcBef>
                <a:spcPts val="600"/>
              </a:spcBef>
              <a:spcAft>
                <a:spcPts val="600"/>
              </a:spcAft>
            </a:pPr>
            <a:r>
              <a:rPr lang="en-US" sz="3600" dirty="0">
                <a:solidFill>
                  <a:srgbClr val="FF0000"/>
                </a:solidFill>
                <a:latin typeface="Gill Sans MT" panose="020B0502020104020203" pitchFamily="34" charset="0"/>
              </a:rPr>
              <a:t>Look at the audience</a:t>
            </a:r>
          </a:p>
          <a:p>
            <a:pPr lvl="1">
              <a:spcBef>
                <a:spcPts val="600"/>
              </a:spcBef>
              <a:spcAft>
                <a:spcPts val="600"/>
              </a:spcAft>
            </a:pPr>
            <a:r>
              <a:rPr lang="en-US" dirty="0">
                <a:latin typeface="Gill Sans MT" panose="020B0502020104020203" pitchFamily="34" charset="0"/>
              </a:rPr>
              <a:t>Try to look at everyone, not just one corner of the room.</a:t>
            </a:r>
          </a:p>
          <a:p>
            <a:pPr lvl="1">
              <a:spcBef>
                <a:spcPts val="600"/>
              </a:spcBef>
              <a:spcAft>
                <a:spcPts val="600"/>
              </a:spcAft>
            </a:pPr>
            <a:r>
              <a:rPr lang="en-US" dirty="0">
                <a:latin typeface="Gill Sans MT" panose="020B0502020104020203" pitchFamily="34" charset="0"/>
              </a:rPr>
              <a:t>If you are nervous pick some spots at the back of the room above people’s heads.</a:t>
            </a:r>
          </a:p>
          <a:p>
            <a:pPr lvl="0">
              <a:spcBef>
                <a:spcPts val="600"/>
              </a:spcBef>
              <a:spcAft>
                <a:spcPts val="600"/>
              </a:spcAft>
            </a:pPr>
            <a:r>
              <a:rPr lang="en-US" sz="3600" dirty="0">
                <a:solidFill>
                  <a:srgbClr val="FF0000"/>
                </a:solidFill>
                <a:latin typeface="Gill Sans MT" panose="020B0502020104020203" pitchFamily="34" charset="0"/>
              </a:rPr>
              <a:t>Be enthusiastic</a:t>
            </a:r>
          </a:p>
          <a:p>
            <a:pPr lvl="1">
              <a:spcBef>
                <a:spcPts val="600"/>
              </a:spcBef>
              <a:spcAft>
                <a:spcPts val="600"/>
              </a:spcAft>
            </a:pPr>
            <a:r>
              <a:rPr lang="en-US" dirty="0">
                <a:latin typeface="Gill Sans MT" panose="020B0502020104020203" pitchFamily="34" charset="0"/>
              </a:rPr>
              <a:t>Vary the tone of your voice.</a:t>
            </a:r>
          </a:p>
          <a:p>
            <a:pPr lvl="1">
              <a:spcBef>
                <a:spcPts val="600"/>
              </a:spcBef>
              <a:spcAft>
                <a:spcPts val="600"/>
              </a:spcAft>
            </a:pPr>
            <a:r>
              <a:rPr lang="en-US" dirty="0">
                <a:latin typeface="Gill Sans MT" panose="020B0502020104020203" pitchFamily="34" charset="0"/>
              </a:rPr>
              <a:t>Use humor if it suits you, but don’t force it or over do it.  </a:t>
            </a:r>
          </a:p>
          <a:p>
            <a:pPr lvl="1">
              <a:spcBef>
                <a:spcPts val="600"/>
              </a:spcBef>
              <a:spcAft>
                <a:spcPts val="600"/>
              </a:spcAft>
            </a:pPr>
            <a:r>
              <a:rPr lang="en-US" dirty="0">
                <a:latin typeface="Gill Sans MT" panose="020B0502020104020203" pitchFamily="34" charset="0"/>
              </a:rPr>
              <a:t>Content is what matters.</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Communicate with Audience</a:t>
            </a:r>
            <a:endParaRPr lang="en-US" dirty="0"/>
          </a:p>
        </p:txBody>
      </p:sp>
    </p:spTree>
    <p:extLst>
      <p:ext uri="{BB962C8B-B14F-4D97-AF65-F5344CB8AC3E}">
        <p14:creationId xmlns:p14="http://schemas.microsoft.com/office/powerpoint/2010/main" val="1122886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spcBef>
                <a:spcPts val="600"/>
              </a:spcBef>
              <a:spcAft>
                <a:spcPts val="600"/>
              </a:spcAft>
            </a:pPr>
            <a:r>
              <a:rPr lang="en-US" dirty="0">
                <a:solidFill>
                  <a:srgbClr val="FF0000"/>
                </a:solidFill>
                <a:latin typeface="Gill Sans MT" panose="020B0502020104020203" pitchFamily="34" charset="0"/>
              </a:rPr>
              <a:t>Speak slowly and clearly.</a:t>
            </a:r>
          </a:p>
          <a:p>
            <a:pPr lvl="0">
              <a:spcBef>
                <a:spcPts val="600"/>
              </a:spcBef>
              <a:spcAft>
                <a:spcPts val="600"/>
              </a:spcAft>
            </a:pPr>
            <a:r>
              <a:rPr lang="en-US" dirty="0">
                <a:latin typeface="Gill Sans MT" panose="020B0502020104020203" pitchFamily="34" charset="0"/>
              </a:rPr>
              <a:t>Take a breath before you move to next slide.</a:t>
            </a:r>
          </a:p>
          <a:p>
            <a:pPr lvl="0">
              <a:spcBef>
                <a:spcPts val="600"/>
              </a:spcBef>
              <a:spcAft>
                <a:spcPts val="600"/>
              </a:spcAft>
            </a:pPr>
            <a:r>
              <a:rPr lang="en-US" dirty="0">
                <a:solidFill>
                  <a:srgbClr val="FF0000"/>
                </a:solidFill>
                <a:latin typeface="Gill Sans MT" panose="020B0502020104020203" pitchFamily="34" charset="0"/>
              </a:rPr>
              <a:t>Take a deep breath (unobtrusively) before you start.</a:t>
            </a:r>
          </a:p>
          <a:p>
            <a:pPr lvl="0">
              <a:spcBef>
                <a:spcPts val="600"/>
              </a:spcBef>
              <a:spcAft>
                <a:spcPts val="600"/>
              </a:spcAft>
            </a:pPr>
            <a:r>
              <a:rPr lang="en-US" dirty="0">
                <a:latin typeface="Gill Sans MT" panose="020B0502020104020203" pitchFamily="34" charset="0"/>
              </a:rPr>
              <a:t>Try not to say so, </a:t>
            </a:r>
            <a:r>
              <a:rPr lang="en-US" dirty="0" err="1">
                <a:latin typeface="Gill Sans MT" panose="020B0502020104020203" pitchFamily="34" charset="0"/>
              </a:rPr>
              <a:t>ummm</a:t>
            </a:r>
            <a:r>
              <a:rPr lang="en-US" dirty="0">
                <a:latin typeface="Gill Sans MT" panose="020B0502020104020203" pitchFamily="34" charset="0"/>
              </a:rPr>
              <a:t> or other time fillers too much.  </a:t>
            </a:r>
          </a:p>
          <a:p>
            <a:pPr lvl="1">
              <a:spcBef>
                <a:spcPts val="600"/>
              </a:spcBef>
              <a:spcAft>
                <a:spcPts val="600"/>
              </a:spcAft>
            </a:pPr>
            <a:r>
              <a:rPr lang="en-US" b="1" dirty="0">
                <a:solidFill>
                  <a:srgbClr val="FF0000"/>
                </a:solidFill>
                <a:latin typeface="Gill Sans MT" panose="020B0502020104020203" pitchFamily="34" charset="0"/>
              </a:rPr>
              <a:t>We all do it, it takes practice.</a:t>
            </a:r>
          </a:p>
          <a:p>
            <a:pPr lvl="0">
              <a:spcBef>
                <a:spcPts val="600"/>
              </a:spcBef>
              <a:spcAft>
                <a:spcPts val="600"/>
              </a:spcAft>
            </a:pPr>
            <a:r>
              <a:rPr lang="en-US" dirty="0">
                <a:latin typeface="Gill Sans MT" panose="020B0502020104020203" pitchFamily="34" charset="0"/>
              </a:rPr>
              <a:t>Try standing squarely on both feet and keep hands somehow still.</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How To Speak</a:t>
            </a:r>
            <a:endParaRPr lang="en-US" dirty="0"/>
          </a:p>
        </p:txBody>
      </p:sp>
    </p:spTree>
    <p:extLst>
      <p:ext uri="{BB962C8B-B14F-4D97-AF65-F5344CB8AC3E}">
        <p14:creationId xmlns:p14="http://schemas.microsoft.com/office/powerpoint/2010/main" val="3740790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spcBef>
                <a:spcPts val="600"/>
              </a:spcBef>
              <a:spcAft>
                <a:spcPts val="600"/>
              </a:spcAft>
            </a:pPr>
            <a:r>
              <a:rPr lang="en-US" dirty="0">
                <a:solidFill>
                  <a:srgbClr val="FF0000"/>
                </a:solidFill>
                <a:latin typeface="Gill Sans MT" panose="020B0502020104020203" pitchFamily="34" charset="0"/>
              </a:rPr>
              <a:t>Stand on one leg.</a:t>
            </a:r>
          </a:p>
          <a:p>
            <a:pPr lvl="0">
              <a:spcBef>
                <a:spcPts val="600"/>
              </a:spcBef>
              <a:spcAft>
                <a:spcPts val="600"/>
              </a:spcAft>
            </a:pPr>
            <a:r>
              <a:rPr lang="en-US" dirty="0">
                <a:latin typeface="Gill Sans MT" panose="020B0502020104020203" pitchFamily="34" charset="0"/>
              </a:rPr>
              <a:t>Hit yourself or a table</a:t>
            </a:r>
          </a:p>
          <a:p>
            <a:pPr lvl="0">
              <a:spcBef>
                <a:spcPts val="600"/>
              </a:spcBef>
              <a:spcAft>
                <a:spcPts val="600"/>
              </a:spcAft>
            </a:pPr>
            <a:r>
              <a:rPr lang="en-US" dirty="0">
                <a:solidFill>
                  <a:srgbClr val="FF0000"/>
                </a:solidFill>
                <a:latin typeface="Gill Sans MT" panose="020B0502020104020203" pitchFamily="34" charset="0"/>
              </a:rPr>
              <a:t>Tab your pen</a:t>
            </a:r>
          </a:p>
          <a:p>
            <a:pPr lvl="0">
              <a:spcBef>
                <a:spcPts val="600"/>
              </a:spcBef>
              <a:spcAft>
                <a:spcPts val="600"/>
              </a:spcAft>
            </a:pPr>
            <a:r>
              <a:rPr lang="en-US" dirty="0">
                <a:latin typeface="Gill Sans MT" panose="020B0502020104020203" pitchFamily="34" charset="0"/>
              </a:rPr>
              <a:t>Turn your back on the audience</a:t>
            </a:r>
          </a:p>
          <a:p>
            <a:pPr lvl="0">
              <a:spcBef>
                <a:spcPts val="600"/>
              </a:spcBef>
              <a:spcAft>
                <a:spcPts val="600"/>
              </a:spcAft>
            </a:pPr>
            <a:r>
              <a:rPr lang="en-US" dirty="0">
                <a:solidFill>
                  <a:srgbClr val="FF0000"/>
                </a:solidFill>
                <a:latin typeface="Gill Sans MT" panose="020B0502020104020203" pitchFamily="34" charset="0"/>
              </a:rPr>
              <a:t>Wave your hands like your speaking Italian</a:t>
            </a:r>
          </a:p>
          <a:p>
            <a:pPr lvl="0">
              <a:spcBef>
                <a:spcPts val="600"/>
              </a:spcBef>
              <a:spcAft>
                <a:spcPts val="600"/>
              </a:spcAft>
            </a:pPr>
            <a:r>
              <a:rPr lang="en-US" dirty="0">
                <a:latin typeface="Gill Sans MT" panose="020B0502020104020203" pitchFamily="34" charset="0"/>
              </a:rPr>
              <a:t>Put your thumbs in  your pockets</a:t>
            </a:r>
          </a:p>
          <a:p>
            <a:pPr lvl="0">
              <a:spcBef>
                <a:spcPts val="600"/>
              </a:spcBef>
              <a:spcAft>
                <a:spcPts val="600"/>
              </a:spcAft>
            </a:pPr>
            <a:r>
              <a:rPr lang="en-US" dirty="0">
                <a:solidFill>
                  <a:srgbClr val="FF0000"/>
                </a:solidFill>
                <a:latin typeface="Gill Sans MT" panose="020B0502020104020203" pitchFamily="34" charset="0"/>
              </a:rPr>
              <a:t>Cross your arms and take a football pose</a:t>
            </a:r>
          </a:p>
          <a:p>
            <a:pPr lvl="0">
              <a:spcBef>
                <a:spcPts val="600"/>
              </a:spcBef>
              <a:spcAft>
                <a:spcPts val="600"/>
              </a:spcAft>
            </a:pPr>
            <a:r>
              <a:rPr lang="en-US" dirty="0">
                <a:latin typeface="Gill Sans MT" panose="020B0502020104020203" pitchFamily="34" charset="0"/>
              </a:rPr>
              <a:t>Try to smile at the audience if you are not too nervous.</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What not to do</a:t>
            </a:r>
            <a:endParaRPr lang="en-US" dirty="0"/>
          </a:p>
        </p:txBody>
      </p:sp>
    </p:spTree>
    <p:extLst>
      <p:ext uri="{BB962C8B-B14F-4D97-AF65-F5344CB8AC3E}">
        <p14:creationId xmlns:p14="http://schemas.microsoft.com/office/powerpoint/2010/main" val="3629314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spcBef>
                <a:spcPts val="600"/>
              </a:spcBef>
              <a:spcAft>
                <a:spcPts val="600"/>
              </a:spcAft>
            </a:pPr>
            <a:r>
              <a:rPr lang="en-US" sz="3600" dirty="0">
                <a:solidFill>
                  <a:srgbClr val="FF0000"/>
                </a:solidFill>
                <a:latin typeface="Gill Sans MT" panose="020B0502020104020203" pitchFamily="34" charset="0"/>
              </a:rPr>
              <a:t>Be prepared to answer questions from the panel.</a:t>
            </a:r>
          </a:p>
          <a:p>
            <a:pPr lvl="0">
              <a:spcBef>
                <a:spcPts val="600"/>
              </a:spcBef>
              <a:spcAft>
                <a:spcPts val="600"/>
              </a:spcAft>
            </a:pPr>
            <a:r>
              <a:rPr lang="en-US" sz="3600" dirty="0">
                <a:latin typeface="Gill Sans MT" panose="020B0502020104020203" pitchFamily="34" charset="0"/>
              </a:rPr>
              <a:t>Try to get discussion going by having some leading questions.</a:t>
            </a:r>
          </a:p>
          <a:p>
            <a:pPr>
              <a:spcBef>
                <a:spcPts val="600"/>
              </a:spcBef>
              <a:spcAft>
                <a:spcPts val="600"/>
              </a:spcAft>
            </a:pPr>
            <a:r>
              <a:rPr lang="en-US" sz="3600" dirty="0">
                <a:solidFill>
                  <a:srgbClr val="FF0000"/>
                </a:solidFill>
                <a:latin typeface="Gill Sans MT" panose="020B0502020104020203" pitchFamily="34" charset="0"/>
              </a:rPr>
              <a:t>If there are different theories, ask audience if they find one more compelling. </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Questions</a:t>
            </a:r>
            <a:endParaRPr lang="en-US" dirty="0"/>
          </a:p>
        </p:txBody>
      </p:sp>
    </p:spTree>
    <p:extLst>
      <p:ext uri="{BB962C8B-B14F-4D97-AF65-F5344CB8AC3E}">
        <p14:creationId xmlns:p14="http://schemas.microsoft.com/office/powerpoint/2010/main" val="2686611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spcBef>
                <a:spcPts val="0"/>
              </a:spcBef>
              <a:spcAft>
                <a:spcPts val="600"/>
              </a:spcAft>
            </a:pPr>
            <a:r>
              <a:rPr lang="en-US" dirty="0">
                <a:solidFill>
                  <a:srgbClr val="FF0000"/>
                </a:solidFill>
                <a:latin typeface="Gill Sans MT" panose="020B0502020104020203" pitchFamily="34" charset="0"/>
              </a:rPr>
              <a:t>You do not need to use full or wordy sentences because they can become very, very long and make it much hard for the audience to follow.  They also make it much difficult for you to quickly look at if you need a reminder of where you are.</a:t>
            </a:r>
          </a:p>
          <a:p>
            <a:pPr lvl="0">
              <a:spcBef>
                <a:spcPts val="0"/>
              </a:spcBef>
              <a:spcAft>
                <a:spcPts val="600"/>
              </a:spcAft>
            </a:pPr>
            <a:r>
              <a:rPr lang="en-US" dirty="0">
                <a:latin typeface="Gill Sans MT" panose="020B0502020104020203" pitchFamily="34" charset="0"/>
              </a:rPr>
              <a:t>Don’t use full or wordy sentences.</a:t>
            </a:r>
          </a:p>
          <a:p>
            <a:pPr lvl="1">
              <a:spcBef>
                <a:spcPts val="0"/>
              </a:spcBef>
              <a:spcAft>
                <a:spcPts val="600"/>
              </a:spcAft>
            </a:pPr>
            <a:r>
              <a:rPr lang="en-US" dirty="0">
                <a:latin typeface="Gill Sans MT" panose="020B0502020104020203" pitchFamily="34" charset="0"/>
              </a:rPr>
              <a:t>Harder for the audience to follow. </a:t>
            </a:r>
          </a:p>
          <a:p>
            <a:pPr lvl="1">
              <a:spcBef>
                <a:spcPts val="0"/>
              </a:spcBef>
              <a:spcAft>
                <a:spcPts val="600"/>
              </a:spcAft>
            </a:pPr>
            <a:r>
              <a:rPr lang="en-US" dirty="0">
                <a:latin typeface="Gill Sans MT" panose="020B0502020104020203" pitchFamily="34" charset="0"/>
              </a:rPr>
              <a:t>Harder for you to use as a reminder.</a:t>
            </a:r>
          </a:p>
          <a:p>
            <a:pPr lvl="0">
              <a:spcBef>
                <a:spcPts val="0"/>
              </a:spcBef>
              <a:spcAft>
                <a:spcPts val="600"/>
              </a:spcAft>
            </a:pPr>
            <a:r>
              <a:rPr lang="en-US" dirty="0">
                <a:solidFill>
                  <a:srgbClr val="FF0000"/>
                </a:solidFill>
                <a:latin typeface="Gill Sans MT" panose="020B0502020104020203" pitchFamily="34" charset="0"/>
              </a:rPr>
              <a:t>Starting with the verb can help.</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Your Slides</a:t>
            </a:r>
            <a:endParaRPr lang="en-US" dirty="0"/>
          </a:p>
        </p:txBody>
      </p:sp>
    </p:spTree>
    <p:extLst>
      <p:ext uri="{BB962C8B-B14F-4D97-AF65-F5344CB8AC3E}">
        <p14:creationId xmlns:p14="http://schemas.microsoft.com/office/powerpoint/2010/main" val="49042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Your Slides</a:t>
            </a:r>
            <a:endParaRPr lang="en-US" dirty="0"/>
          </a:p>
        </p:txBody>
      </p:sp>
      <p:sp>
        <p:nvSpPr>
          <p:cNvPr id="10" name="Rectangle 3"/>
          <p:cNvSpPr txBox="1">
            <a:spLocks noChangeArrowheads="1"/>
          </p:cNvSpPr>
          <p:nvPr/>
        </p:nvSpPr>
        <p:spPr>
          <a:xfrm>
            <a:off x="697116" y="1238062"/>
            <a:ext cx="7989683" cy="4530725"/>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n-US" dirty="0">
                <a:latin typeface="Gill Sans MT" panose="020B0502020104020203" pitchFamily="34" charset="0"/>
              </a:rPr>
              <a:t>Don’t use full or wordy sentences.</a:t>
            </a:r>
          </a:p>
          <a:p>
            <a:pPr lvl="1"/>
            <a:r>
              <a:rPr lang="en-US" altLang="en-US" dirty="0">
                <a:solidFill>
                  <a:srgbClr val="FF0000"/>
                </a:solidFill>
                <a:latin typeface="Gill Sans MT" panose="020B0502020104020203" pitchFamily="34" charset="0"/>
              </a:rPr>
              <a:t>Harder for the audience to follow. </a:t>
            </a:r>
          </a:p>
          <a:p>
            <a:pPr lvl="1"/>
            <a:r>
              <a:rPr lang="en-US" altLang="en-US" dirty="0">
                <a:solidFill>
                  <a:srgbClr val="FF0000"/>
                </a:solidFill>
                <a:latin typeface="Gill Sans MT" panose="020B0502020104020203" pitchFamily="34" charset="0"/>
              </a:rPr>
              <a:t>Harder for you to use as a reminder.</a:t>
            </a:r>
          </a:p>
          <a:p>
            <a:r>
              <a:rPr lang="en-US" altLang="en-US" dirty="0">
                <a:latin typeface="Gill Sans MT" panose="020B0502020104020203" pitchFamily="34" charset="0"/>
              </a:rPr>
              <a:t>Don’t put too much text on one slide</a:t>
            </a:r>
          </a:p>
          <a:p>
            <a:pPr lvl="1"/>
            <a:r>
              <a:rPr lang="en-US" altLang="en-US" dirty="0">
                <a:solidFill>
                  <a:srgbClr val="FF0000"/>
                </a:solidFill>
                <a:latin typeface="Gill Sans MT" panose="020B0502020104020203" pitchFamily="34" charset="0"/>
              </a:rPr>
              <a:t>Makes it hard to read.</a:t>
            </a:r>
          </a:p>
          <a:p>
            <a:pPr lvl="1"/>
            <a:r>
              <a:rPr lang="en-US" altLang="en-US" dirty="0">
                <a:solidFill>
                  <a:srgbClr val="FF0000"/>
                </a:solidFill>
                <a:latin typeface="Gill Sans MT" panose="020B0502020104020203" pitchFamily="34" charset="0"/>
              </a:rPr>
              <a:t>Continue on topic on next slide, if too much for one slide.</a:t>
            </a:r>
          </a:p>
          <a:p>
            <a:r>
              <a:rPr lang="en-US" altLang="en-US" dirty="0">
                <a:latin typeface="Gill Sans MT" panose="020B0502020104020203" pitchFamily="34" charset="0"/>
              </a:rPr>
              <a:t>Make sure font is big enough to read.</a:t>
            </a:r>
          </a:p>
          <a:p>
            <a:pPr lvl="1"/>
            <a:r>
              <a:rPr lang="en-US" altLang="en-US" sz="1800" dirty="0">
                <a:solidFill>
                  <a:srgbClr val="FF0000"/>
                </a:solidFill>
                <a:latin typeface="Gill Sans MT" panose="020B0502020104020203" pitchFamily="34" charset="0"/>
              </a:rPr>
              <a:t>18 point font is probably the smallest to go</a:t>
            </a:r>
          </a:p>
          <a:p>
            <a:pPr lvl="1"/>
            <a:r>
              <a:rPr lang="en-US" altLang="en-US" sz="1800" dirty="0">
                <a:solidFill>
                  <a:srgbClr val="FF0000"/>
                </a:solidFill>
                <a:latin typeface="Gill Sans MT" panose="020B0502020104020203" pitchFamily="34" charset="0"/>
              </a:rPr>
              <a:t>This depends on size of room.</a:t>
            </a:r>
          </a:p>
        </p:txBody>
      </p:sp>
      <p:sp>
        <p:nvSpPr>
          <p:cNvPr id="11" name="AutoShape 4"/>
          <p:cNvSpPr>
            <a:spLocks/>
          </p:cNvSpPr>
          <p:nvPr/>
        </p:nvSpPr>
        <p:spPr bwMode="auto">
          <a:xfrm>
            <a:off x="7165020" y="2076262"/>
            <a:ext cx="73979" cy="533400"/>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Gill Sans MT" panose="020B0502020104020203" pitchFamily="34" charset="0"/>
            </a:endParaRPr>
          </a:p>
        </p:txBody>
      </p:sp>
      <p:sp>
        <p:nvSpPr>
          <p:cNvPr id="12" name="Text Box 5"/>
          <p:cNvSpPr txBox="1">
            <a:spLocks noChangeArrowheads="1"/>
          </p:cNvSpPr>
          <p:nvPr/>
        </p:nvSpPr>
        <p:spPr bwMode="auto">
          <a:xfrm>
            <a:off x="7361850" y="2000062"/>
            <a:ext cx="1553549"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dirty="0">
                <a:solidFill>
                  <a:srgbClr val="FF0000"/>
                </a:solidFill>
                <a:latin typeface="Gill Sans MT" panose="020B0502020104020203" pitchFamily="34" charset="0"/>
              </a:rPr>
              <a:t>Sub points in smaller font.</a:t>
            </a:r>
          </a:p>
        </p:txBody>
      </p:sp>
    </p:spTree>
    <p:extLst>
      <p:ext uri="{BB962C8B-B14F-4D97-AF65-F5344CB8AC3E}">
        <p14:creationId xmlns:p14="http://schemas.microsoft.com/office/powerpoint/2010/main" val="1767659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spcBef>
                <a:spcPts val="600"/>
              </a:spcBef>
              <a:spcAft>
                <a:spcPts val="1200"/>
              </a:spcAft>
            </a:pPr>
            <a:r>
              <a:rPr lang="en-US" dirty="0">
                <a:solidFill>
                  <a:srgbClr val="FF0000"/>
                </a:solidFill>
                <a:latin typeface="Gill Sans MT" panose="020B0502020104020203" pitchFamily="34" charset="0"/>
              </a:rPr>
              <a:t>Make sure tables, pictures, and graphs can be read.</a:t>
            </a:r>
          </a:p>
          <a:p>
            <a:pPr lvl="0">
              <a:spcBef>
                <a:spcPts val="600"/>
              </a:spcBef>
              <a:spcAft>
                <a:spcPts val="1200"/>
              </a:spcAft>
            </a:pPr>
            <a:r>
              <a:rPr lang="en-US" dirty="0">
                <a:latin typeface="Gill Sans MT" panose="020B0502020104020203" pitchFamily="34" charset="0"/>
              </a:rPr>
              <a:t>Titles on graphs and tables must be readable at back of room.</a:t>
            </a:r>
          </a:p>
          <a:p>
            <a:pPr lvl="0">
              <a:spcBef>
                <a:spcPts val="600"/>
              </a:spcBef>
              <a:spcAft>
                <a:spcPts val="1200"/>
              </a:spcAft>
            </a:pPr>
            <a:r>
              <a:rPr lang="en-US" dirty="0">
                <a:solidFill>
                  <a:srgbClr val="FF0000"/>
                </a:solidFill>
                <a:latin typeface="Gill Sans MT" panose="020B0502020104020203" pitchFamily="34" charset="0"/>
              </a:rPr>
              <a:t>Numbers must also be readable</a:t>
            </a:r>
          </a:p>
          <a:p>
            <a:pPr lvl="0">
              <a:spcBef>
                <a:spcPts val="600"/>
              </a:spcBef>
              <a:spcAft>
                <a:spcPts val="1200"/>
              </a:spcAft>
            </a:pPr>
            <a:r>
              <a:rPr lang="en-US" dirty="0">
                <a:solidFill>
                  <a:srgbClr val="FF0000"/>
                </a:solidFill>
                <a:latin typeface="Gill Sans MT" panose="020B0502020104020203" pitchFamily="34" charset="0"/>
              </a:rPr>
              <a:t>AND </a:t>
            </a:r>
            <a:r>
              <a:rPr lang="en-US" dirty="0">
                <a:latin typeface="Gill Sans MT" panose="020B0502020104020203" pitchFamily="34" charset="0"/>
              </a:rPr>
              <a:t>number your slides</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Your Slides</a:t>
            </a:r>
            <a:endParaRPr lang="en-US" dirty="0"/>
          </a:p>
        </p:txBody>
      </p:sp>
    </p:spTree>
    <p:extLst>
      <p:ext uri="{BB962C8B-B14F-4D97-AF65-F5344CB8AC3E}">
        <p14:creationId xmlns:p14="http://schemas.microsoft.com/office/powerpoint/2010/main" val="2921386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marL="0" lvl="0" indent="0">
              <a:spcBef>
                <a:spcPts val="600"/>
              </a:spcBef>
              <a:spcAft>
                <a:spcPts val="1200"/>
              </a:spcAft>
              <a:buNone/>
            </a:pPr>
            <a:r>
              <a:rPr lang="en-US" b="1" dirty="0">
                <a:solidFill>
                  <a:srgbClr val="FF0000"/>
                </a:solidFill>
                <a:latin typeface="Gill Sans MT" panose="020B0502020104020203" pitchFamily="34" charset="0"/>
              </a:rPr>
              <a:t>Tables/Pictures</a:t>
            </a:r>
          </a:p>
          <a:p>
            <a:pPr lvl="0">
              <a:spcBef>
                <a:spcPts val="600"/>
              </a:spcBef>
              <a:spcAft>
                <a:spcPts val="1200"/>
              </a:spcAft>
            </a:pPr>
            <a:r>
              <a:rPr lang="en-US" dirty="0">
                <a:latin typeface="Gill Sans MT" panose="020B0502020104020203" pitchFamily="34" charset="0"/>
              </a:rPr>
              <a:t>You can make them inside PowerPoint.</a:t>
            </a:r>
          </a:p>
          <a:p>
            <a:pPr lvl="0">
              <a:spcBef>
                <a:spcPts val="600"/>
              </a:spcBef>
              <a:spcAft>
                <a:spcPts val="1200"/>
              </a:spcAft>
            </a:pPr>
            <a:r>
              <a:rPr lang="en-US" dirty="0">
                <a:solidFill>
                  <a:srgbClr val="FF0000"/>
                </a:solidFill>
                <a:latin typeface="Gill Sans MT" panose="020B0502020104020203" pitchFamily="34" charset="0"/>
              </a:rPr>
              <a:t>You can make them in excel and copy and paste.</a:t>
            </a:r>
          </a:p>
          <a:p>
            <a:pPr lvl="0">
              <a:spcBef>
                <a:spcPts val="600"/>
              </a:spcBef>
              <a:spcAft>
                <a:spcPts val="1200"/>
              </a:spcAft>
            </a:pPr>
            <a:r>
              <a:rPr lang="en-US" dirty="0">
                <a:latin typeface="Gill Sans MT" panose="020B0502020104020203" pitchFamily="34" charset="0"/>
              </a:rPr>
              <a:t>You can bring them in as an object.</a:t>
            </a:r>
          </a:p>
          <a:p>
            <a:pPr lvl="0">
              <a:spcBef>
                <a:spcPts val="600"/>
              </a:spcBef>
              <a:spcAft>
                <a:spcPts val="1200"/>
              </a:spcAft>
            </a:pPr>
            <a:r>
              <a:rPr lang="en-US" dirty="0">
                <a:solidFill>
                  <a:srgbClr val="FF0000"/>
                </a:solidFill>
                <a:latin typeface="Gill Sans MT" panose="020B0502020104020203" pitchFamily="34" charset="0"/>
              </a:rPr>
              <a:t>You could scan them, then make a hyperlink to the document.</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Your Slides</a:t>
            </a:r>
            <a:endParaRPr lang="en-US" dirty="0"/>
          </a:p>
        </p:txBody>
      </p:sp>
    </p:spTree>
    <p:extLst>
      <p:ext uri="{BB962C8B-B14F-4D97-AF65-F5344CB8AC3E}">
        <p14:creationId xmlns:p14="http://schemas.microsoft.com/office/powerpoint/2010/main" val="1749995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spcBef>
                <a:spcPts val="0"/>
              </a:spcBef>
              <a:spcAft>
                <a:spcPts val="600"/>
              </a:spcAft>
            </a:pPr>
            <a:r>
              <a:rPr lang="en-US" dirty="0">
                <a:latin typeface="Gill Sans MT" panose="020B0502020104020203" pitchFamily="34" charset="0"/>
              </a:rPr>
              <a:t>To add a new slide, go to insert slide.</a:t>
            </a:r>
          </a:p>
          <a:p>
            <a:pPr lvl="1">
              <a:spcBef>
                <a:spcPts val="0"/>
              </a:spcBef>
              <a:spcAft>
                <a:spcPts val="600"/>
              </a:spcAft>
            </a:pPr>
            <a:r>
              <a:rPr lang="en-US" dirty="0">
                <a:solidFill>
                  <a:srgbClr val="FF0000"/>
                </a:solidFill>
                <a:latin typeface="Gill Sans MT" panose="020B0502020104020203" pitchFamily="34" charset="0"/>
              </a:rPr>
              <a:t>Slide layout window should pop up.</a:t>
            </a:r>
          </a:p>
          <a:p>
            <a:pPr lvl="1">
              <a:spcBef>
                <a:spcPts val="0"/>
              </a:spcBef>
              <a:spcAft>
                <a:spcPts val="600"/>
              </a:spcAft>
            </a:pPr>
            <a:r>
              <a:rPr lang="en-US" dirty="0">
                <a:solidFill>
                  <a:srgbClr val="FF0000"/>
                </a:solidFill>
                <a:latin typeface="Gill Sans MT" panose="020B0502020104020203" pitchFamily="34" charset="0"/>
              </a:rPr>
              <a:t>Helps you organize information on your slide.</a:t>
            </a:r>
          </a:p>
          <a:p>
            <a:pPr lvl="0">
              <a:spcBef>
                <a:spcPts val="0"/>
              </a:spcBef>
              <a:spcAft>
                <a:spcPts val="600"/>
              </a:spcAft>
            </a:pPr>
            <a:r>
              <a:rPr lang="en-US" dirty="0">
                <a:latin typeface="Gill Sans MT" panose="020B0502020104020203" pitchFamily="34" charset="0"/>
              </a:rPr>
              <a:t>You may want to change the line spacing </a:t>
            </a:r>
          </a:p>
          <a:p>
            <a:pPr lvl="1">
              <a:spcBef>
                <a:spcPts val="0"/>
              </a:spcBef>
              <a:spcAft>
                <a:spcPts val="600"/>
              </a:spcAft>
            </a:pPr>
            <a:r>
              <a:rPr lang="en-US" dirty="0">
                <a:solidFill>
                  <a:srgbClr val="FF0000"/>
                </a:solidFill>
                <a:latin typeface="Gill Sans MT" panose="020B0502020104020203" pitchFamily="34" charset="0"/>
              </a:rPr>
              <a:t>This helps with ease of reading.</a:t>
            </a:r>
          </a:p>
          <a:p>
            <a:pPr lvl="1">
              <a:spcBef>
                <a:spcPts val="0"/>
              </a:spcBef>
              <a:spcAft>
                <a:spcPts val="600"/>
              </a:spcAft>
            </a:pPr>
            <a:r>
              <a:rPr lang="en-US" dirty="0">
                <a:latin typeface="Gill Sans MT" panose="020B0502020104020203" pitchFamily="34" charset="0"/>
              </a:rPr>
              <a:t>Go to format, then line spacing.</a:t>
            </a:r>
          </a:p>
          <a:p>
            <a:pPr lvl="1">
              <a:spcBef>
                <a:spcPts val="0"/>
              </a:spcBef>
              <a:spcAft>
                <a:spcPts val="600"/>
              </a:spcAft>
            </a:pPr>
            <a:r>
              <a:rPr lang="en-US" dirty="0">
                <a:solidFill>
                  <a:srgbClr val="FF0000"/>
                </a:solidFill>
                <a:latin typeface="Gill Sans MT" panose="020B0502020104020203" pitchFamily="34" charset="0"/>
              </a:rPr>
              <a:t>Experiment with how much space to leave before paragraph.</a:t>
            </a:r>
          </a:p>
          <a:p>
            <a:pPr lvl="1">
              <a:spcBef>
                <a:spcPts val="0"/>
              </a:spcBef>
              <a:spcAft>
                <a:spcPts val="600"/>
              </a:spcAft>
            </a:pPr>
            <a:r>
              <a:rPr lang="en-US" dirty="0">
                <a:latin typeface="Gill Sans MT" panose="020B0502020104020203" pitchFamily="34" charset="0"/>
              </a:rPr>
              <a:t>This especially helps when you have a lot of information on one slide.</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Slide Layout</a:t>
            </a:r>
            <a:endParaRPr lang="en-US" dirty="0"/>
          </a:p>
        </p:txBody>
      </p:sp>
    </p:spTree>
    <p:extLst>
      <p:ext uri="{BB962C8B-B14F-4D97-AF65-F5344CB8AC3E}">
        <p14:creationId xmlns:p14="http://schemas.microsoft.com/office/powerpoint/2010/main" val="893551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 y="0"/>
            <a:ext cx="581323" cy="304281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279150" y="1276820"/>
            <a:ext cx="3042810" cy="48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98079" y="1105014"/>
            <a:ext cx="8052486" cy="5336975"/>
          </a:xfrm>
        </p:spPr>
        <p:txBody>
          <a:bodyPr>
            <a:noAutofit/>
          </a:bodyPr>
          <a:lstStyle/>
          <a:p>
            <a:pPr lvl="0">
              <a:spcBef>
                <a:spcPts val="0"/>
              </a:spcBef>
              <a:spcAft>
                <a:spcPts val="600"/>
              </a:spcAft>
            </a:pPr>
            <a:r>
              <a:rPr lang="en-US" dirty="0">
                <a:solidFill>
                  <a:srgbClr val="FF0000"/>
                </a:solidFill>
                <a:latin typeface="Gill Sans MT" panose="020B0502020104020203" pitchFamily="34" charset="0"/>
              </a:rPr>
              <a:t>You can make color presentation easily.</a:t>
            </a:r>
          </a:p>
          <a:p>
            <a:pPr lvl="0">
              <a:spcBef>
                <a:spcPts val="0"/>
              </a:spcBef>
              <a:spcAft>
                <a:spcPts val="600"/>
              </a:spcAft>
            </a:pPr>
            <a:r>
              <a:rPr lang="en-US" dirty="0">
                <a:solidFill>
                  <a:srgbClr val="FF0000"/>
                </a:solidFill>
                <a:latin typeface="Gill Sans MT" panose="020B0502020104020203" pitchFamily="34" charset="0"/>
              </a:rPr>
              <a:t>Go to format, then slide design.</a:t>
            </a:r>
          </a:p>
          <a:p>
            <a:pPr lvl="1">
              <a:spcBef>
                <a:spcPts val="0"/>
              </a:spcBef>
              <a:spcAft>
                <a:spcPts val="600"/>
              </a:spcAft>
            </a:pPr>
            <a:r>
              <a:rPr lang="en-US" dirty="0">
                <a:latin typeface="Gill Sans MT" panose="020B0502020104020203" pitchFamily="34" charset="0"/>
              </a:rPr>
              <a:t>Too much color or patterns can be distracting.</a:t>
            </a:r>
          </a:p>
          <a:p>
            <a:pPr lvl="1">
              <a:spcBef>
                <a:spcPts val="0"/>
              </a:spcBef>
              <a:spcAft>
                <a:spcPts val="600"/>
              </a:spcAft>
            </a:pPr>
            <a:r>
              <a:rPr lang="en-US" dirty="0">
                <a:latin typeface="Gill Sans MT" panose="020B0502020104020203" pitchFamily="34" charset="0"/>
              </a:rPr>
              <a:t>Make sure the colors you use can be seen easily.</a:t>
            </a:r>
          </a:p>
          <a:p>
            <a:pPr lvl="2">
              <a:spcBef>
                <a:spcPts val="0"/>
              </a:spcBef>
              <a:spcAft>
                <a:spcPts val="600"/>
              </a:spcAft>
            </a:pPr>
            <a:r>
              <a:rPr lang="en-US" dirty="0">
                <a:latin typeface="Gill Sans MT" panose="020B0502020104020203" pitchFamily="34" charset="0"/>
              </a:rPr>
              <a:t>Yellow and other light </a:t>
            </a:r>
            <a:r>
              <a:rPr lang="en-US" dirty="0" err="1">
                <a:latin typeface="Gill Sans MT" panose="020B0502020104020203" pitchFamily="34" charset="0"/>
              </a:rPr>
              <a:t>colours</a:t>
            </a:r>
            <a:r>
              <a:rPr lang="en-US" dirty="0">
                <a:latin typeface="Gill Sans MT" panose="020B0502020104020203" pitchFamily="34" charset="0"/>
              </a:rPr>
              <a:t> are often hard to see.</a:t>
            </a:r>
          </a:p>
          <a:p>
            <a:pPr lvl="0">
              <a:spcBef>
                <a:spcPts val="0"/>
              </a:spcBef>
              <a:spcAft>
                <a:spcPts val="600"/>
              </a:spcAft>
            </a:pPr>
            <a:r>
              <a:rPr lang="en-US" dirty="0">
                <a:solidFill>
                  <a:srgbClr val="FF0000"/>
                </a:solidFill>
                <a:latin typeface="Gill Sans MT" panose="020B0502020104020203" pitchFamily="34" charset="0"/>
              </a:rPr>
              <a:t>You can create your own designs</a:t>
            </a:r>
          </a:p>
          <a:p>
            <a:pPr lvl="1">
              <a:spcBef>
                <a:spcPts val="0"/>
              </a:spcBef>
              <a:spcAft>
                <a:spcPts val="600"/>
              </a:spcAft>
            </a:pPr>
            <a:r>
              <a:rPr lang="en-US" dirty="0">
                <a:latin typeface="Gill Sans MT" panose="020B0502020104020203" pitchFamily="34" charset="0"/>
              </a:rPr>
              <a:t>If you do a lot of presentations I suggest you do this.</a:t>
            </a:r>
          </a:p>
          <a:p>
            <a:pPr lvl="1">
              <a:spcBef>
                <a:spcPts val="0"/>
              </a:spcBef>
              <a:spcAft>
                <a:spcPts val="600"/>
              </a:spcAft>
            </a:pPr>
            <a:r>
              <a:rPr lang="en-US" dirty="0">
                <a:latin typeface="Gill Sans MT" panose="020B0502020104020203" pitchFamily="34" charset="0"/>
              </a:rPr>
              <a:t>For this presentation don’t waste your time.</a:t>
            </a:r>
          </a:p>
          <a:p>
            <a:pPr lvl="2">
              <a:spcBef>
                <a:spcPts val="0"/>
              </a:spcBef>
              <a:spcAft>
                <a:spcPts val="600"/>
              </a:spcAft>
            </a:pPr>
            <a:r>
              <a:rPr lang="en-US" dirty="0">
                <a:latin typeface="Gill Sans MT" panose="020B0502020104020203" pitchFamily="34" charset="0"/>
              </a:rPr>
              <a:t>Content is more important.</a:t>
            </a:r>
          </a:p>
        </p:txBody>
      </p:sp>
      <p:cxnSp>
        <p:nvCxnSpPr>
          <p:cNvPr id="8" name="Straight Connector 7"/>
          <p:cNvCxnSpPr/>
          <p:nvPr/>
        </p:nvCxnSpPr>
        <p:spPr>
          <a:xfrm>
            <a:off x="486842" y="1006159"/>
            <a:ext cx="8657158" cy="1"/>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itle 3"/>
          <p:cNvSpPr>
            <a:spLocks noGrp="1"/>
          </p:cNvSpPr>
          <p:nvPr>
            <p:ph type="title"/>
          </p:nvPr>
        </p:nvSpPr>
        <p:spPr>
          <a:xfrm>
            <a:off x="520964" y="233450"/>
            <a:ext cx="8559661" cy="649143"/>
          </a:xfrm>
        </p:spPr>
        <p:txBody>
          <a:bodyPr>
            <a:normAutofit fontScale="90000"/>
          </a:bodyPr>
          <a:lstStyle/>
          <a:p>
            <a:r>
              <a:rPr lang="en-US" cap="small" dirty="0">
                <a:latin typeface="Gill Sans MT" panose="020B0502020104020203" pitchFamily="34" charset="0"/>
              </a:rPr>
              <a:t>Slide Design</a:t>
            </a:r>
            <a:endParaRPr lang="en-US" dirty="0"/>
          </a:p>
        </p:txBody>
      </p:sp>
    </p:spTree>
    <p:extLst>
      <p:ext uri="{BB962C8B-B14F-4D97-AF65-F5344CB8AC3E}">
        <p14:creationId xmlns:p14="http://schemas.microsoft.com/office/powerpoint/2010/main" val="2548750756"/>
      </p:ext>
    </p:extLst>
  </p:cSld>
  <p:clrMapOvr>
    <a:masterClrMapping/>
  </p:clrMapOvr>
</p:sld>
</file>

<file path=ppt/theme/theme1.xml><?xml version="1.0" encoding="utf-8"?>
<a:theme xmlns:a="http://schemas.openxmlformats.org/drawingml/2006/main" name="TESAF_DESTRA_ALT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o">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29861</TotalTime>
  <Words>1042</Words>
  <Application>Microsoft Office PowerPoint</Application>
  <PresentationFormat>On-screen Show (4:3)</PresentationFormat>
  <Paragraphs>164</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TESAF_DESTRA_ALTO</vt:lpstr>
      <vt:lpstr>AE 497-8 Seminar on Student’s Projects</vt:lpstr>
      <vt:lpstr>Student’s Final Project</vt:lpstr>
      <vt:lpstr>1st Semester</vt:lpstr>
      <vt:lpstr>Assessment</vt:lpstr>
      <vt:lpstr>Assessment</vt:lpstr>
      <vt:lpstr>Duration</vt:lpstr>
      <vt:lpstr>Spend Enough Time on Presentation</vt:lpstr>
      <vt:lpstr>Consider Your Audience</vt:lpstr>
      <vt:lpstr>Tell a Story</vt:lpstr>
      <vt:lpstr>Practice, Practice, Practice</vt:lpstr>
      <vt:lpstr>Communicate with Audience</vt:lpstr>
      <vt:lpstr>How To Speak</vt:lpstr>
      <vt:lpstr>What not to do</vt:lpstr>
      <vt:lpstr>Questions</vt:lpstr>
      <vt:lpstr>Your Slides</vt:lpstr>
      <vt:lpstr>Your Slides</vt:lpstr>
      <vt:lpstr>Your Slides</vt:lpstr>
      <vt:lpstr>Your Slides</vt:lpstr>
      <vt:lpstr>Slide Layout</vt:lpstr>
      <vt:lpstr>Slide Design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di PowerPoint</dc:title>
  <dc:creator>Paolo Semenzato</dc:creator>
  <cp:lastModifiedBy>Obed Korankye</cp:lastModifiedBy>
  <cp:revision>1047</cp:revision>
  <cp:lastPrinted>2013-11-27T15:21:15Z</cp:lastPrinted>
  <dcterms:created xsi:type="dcterms:W3CDTF">2013-11-25T10:12:09Z</dcterms:created>
  <dcterms:modified xsi:type="dcterms:W3CDTF">2019-11-27T14:06:01Z</dcterms:modified>
</cp:coreProperties>
</file>