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99"/>
  </p:notesMasterIdLst>
  <p:sldIdLst>
    <p:sldId id="256" r:id="rId2"/>
    <p:sldId id="257" r:id="rId3"/>
    <p:sldId id="258" r:id="rId4"/>
    <p:sldId id="414" r:id="rId5"/>
    <p:sldId id="360" r:id="rId6"/>
    <p:sldId id="259" r:id="rId7"/>
    <p:sldId id="260" r:id="rId8"/>
    <p:sldId id="417" r:id="rId9"/>
    <p:sldId id="361" r:id="rId10"/>
    <p:sldId id="362" r:id="rId11"/>
    <p:sldId id="261" r:id="rId12"/>
    <p:sldId id="262" r:id="rId13"/>
    <p:sldId id="263" r:id="rId14"/>
    <p:sldId id="264" r:id="rId15"/>
    <p:sldId id="265" r:id="rId16"/>
    <p:sldId id="266" r:id="rId17"/>
    <p:sldId id="363" r:id="rId18"/>
    <p:sldId id="364" r:id="rId19"/>
    <p:sldId id="267" r:id="rId20"/>
    <p:sldId id="268" r:id="rId21"/>
    <p:sldId id="269" r:id="rId22"/>
    <p:sldId id="421" r:id="rId23"/>
    <p:sldId id="270" r:id="rId24"/>
    <p:sldId id="418" r:id="rId25"/>
    <p:sldId id="424" r:id="rId26"/>
    <p:sldId id="271" r:id="rId27"/>
    <p:sldId id="419" r:id="rId28"/>
    <p:sldId id="425" r:id="rId29"/>
    <p:sldId id="365" r:id="rId30"/>
    <p:sldId id="420" r:id="rId31"/>
    <p:sldId id="272" r:id="rId32"/>
    <p:sldId id="273" r:id="rId33"/>
    <p:sldId id="274" r:id="rId34"/>
    <p:sldId id="422" r:id="rId35"/>
    <p:sldId id="275" r:id="rId36"/>
    <p:sldId id="426" r:id="rId37"/>
    <p:sldId id="276" r:id="rId38"/>
    <p:sldId id="427" r:id="rId39"/>
    <p:sldId id="366" r:id="rId40"/>
    <p:sldId id="415" r:id="rId41"/>
    <p:sldId id="277" r:id="rId42"/>
    <p:sldId id="278" r:id="rId43"/>
    <p:sldId id="416" r:id="rId44"/>
    <p:sldId id="428" r:id="rId45"/>
    <p:sldId id="279" r:id="rId46"/>
    <p:sldId id="429" r:id="rId47"/>
    <p:sldId id="280" r:id="rId48"/>
    <p:sldId id="423" r:id="rId49"/>
    <p:sldId id="281" r:id="rId50"/>
    <p:sldId id="282" r:id="rId51"/>
    <p:sldId id="283" r:id="rId52"/>
    <p:sldId id="284" r:id="rId53"/>
    <p:sldId id="285" r:id="rId54"/>
    <p:sldId id="286" r:id="rId55"/>
    <p:sldId id="287" r:id="rId56"/>
    <p:sldId id="367" r:id="rId57"/>
    <p:sldId id="368" r:id="rId58"/>
    <p:sldId id="369" r:id="rId59"/>
    <p:sldId id="370" r:id="rId60"/>
    <p:sldId id="371" r:id="rId61"/>
    <p:sldId id="372" r:id="rId62"/>
    <p:sldId id="373" r:id="rId63"/>
    <p:sldId id="291" r:id="rId64"/>
    <p:sldId id="292" r:id="rId65"/>
    <p:sldId id="374" r:id="rId66"/>
    <p:sldId id="293" r:id="rId67"/>
    <p:sldId id="294" r:id="rId68"/>
    <p:sldId id="375" r:id="rId69"/>
    <p:sldId id="295" r:id="rId70"/>
    <p:sldId id="296" r:id="rId71"/>
    <p:sldId id="430" r:id="rId72"/>
    <p:sldId id="431" r:id="rId73"/>
    <p:sldId id="297" r:id="rId74"/>
    <p:sldId id="298" r:id="rId75"/>
    <p:sldId id="376" r:id="rId76"/>
    <p:sldId id="432" r:id="rId77"/>
    <p:sldId id="299" r:id="rId78"/>
    <p:sldId id="308" r:id="rId79"/>
    <p:sldId id="433" r:id="rId80"/>
    <p:sldId id="434" r:id="rId81"/>
    <p:sldId id="377" r:id="rId82"/>
    <p:sldId id="435" r:id="rId83"/>
    <p:sldId id="300" r:id="rId84"/>
    <p:sldId id="301" r:id="rId85"/>
    <p:sldId id="436" r:id="rId86"/>
    <p:sldId id="302" r:id="rId87"/>
    <p:sldId id="303" r:id="rId88"/>
    <p:sldId id="437" r:id="rId89"/>
    <p:sldId id="304" r:id="rId90"/>
    <p:sldId id="305" r:id="rId91"/>
    <p:sldId id="306" r:id="rId92"/>
    <p:sldId id="438" r:id="rId93"/>
    <p:sldId id="307" r:id="rId94"/>
    <p:sldId id="439" r:id="rId95"/>
    <p:sldId id="309" r:id="rId96"/>
    <p:sldId id="310" r:id="rId97"/>
    <p:sldId id="311"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FF0000"/>
    <a:srgbClr val="000099"/>
    <a:srgbClr val="CC0000"/>
    <a:srgbClr val="000066"/>
    <a:srgbClr val="111111"/>
    <a:srgbClr val="060606"/>
    <a:srgbClr val="055D13"/>
    <a:srgbClr val="FFC5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384BE-9D6B-4024-A985-C0EE99A58AEA}" type="datetimeFigureOut">
              <a:rPr lang="en-GB" smtClean="0"/>
              <a:t>21/02/2023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F05C70-BB3D-46DD-9A54-15208EA29ECC}" type="slidenum">
              <a:rPr lang="en-GB" smtClean="0"/>
              <a:t>‹#›</a:t>
            </a:fld>
            <a:endParaRPr lang="en-GB"/>
          </a:p>
        </p:txBody>
      </p:sp>
    </p:spTree>
    <p:extLst>
      <p:ext uri="{BB962C8B-B14F-4D97-AF65-F5344CB8AC3E}">
        <p14:creationId xmlns:p14="http://schemas.microsoft.com/office/powerpoint/2010/main" val="393686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7F05C70-BB3D-46DD-9A54-15208EA29ECC}" type="slidenum">
              <a:rPr lang="en-GB" smtClean="0"/>
              <a:t>0</a:t>
            </a:fld>
            <a:endParaRPr lang="en-GB"/>
          </a:p>
        </p:txBody>
      </p:sp>
    </p:spTree>
    <p:extLst>
      <p:ext uri="{BB962C8B-B14F-4D97-AF65-F5344CB8AC3E}">
        <p14:creationId xmlns:p14="http://schemas.microsoft.com/office/powerpoint/2010/main" val="310040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E7F05C70-BB3D-46DD-9A54-15208EA29ECC}" type="slidenum">
              <a:rPr lang="en-GB" smtClean="0"/>
              <a:t>1</a:t>
            </a:fld>
            <a:endParaRPr lang="en-GB"/>
          </a:p>
        </p:txBody>
      </p:sp>
    </p:spTree>
    <p:extLst>
      <p:ext uri="{BB962C8B-B14F-4D97-AF65-F5344CB8AC3E}">
        <p14:creationId xmlns:p14="http://schemas.microsoft.com/office/powerpoint/2010/main" val="3337831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800"/>
            </a:lvl1pPr>
          </a:lstStyle>
          <a:p>
            <a:r>
              <a:rPr lang="en-US"/>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p:cNvSpPr>
            <a:spLocks noGrp="1"/>
          </p:cNvSpPr>
          <p:nvPr>
            <p:ph type="dt" sz="half" idx="10"/>
          </p:nvPr>
        </p:nvSpPr>
        <p:spPr/>
        <p:txBody>
          <a:bodyPr/>
          <a:lstStyle/>
          <a:p>
            <a:fld id="{6A00A2C4-0E33-4DE5-BE31-3E1E48DF38B5}" type="datetime1">
              <a:rPr lang="en-GB" smtClean="0"/>
              <a:t>21/02/2023</a:t>
            </a:fld>
            <a:endParaRPr lang="en-GB"/>
          </a:p>
        </p:txBody>
      </p:sp>
      <p:sp>
        <p:nvSpPr>
          <p:cNvPr id="5" name="Footer Placeholder 4"/>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84123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7058CAA1-BB00-40B2-86CA-49C0E0665F57}" type="datetime1">
              <a:rPr lang="en-GB" smtClean="0"/>
              <a:t>21/02/2023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2160385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4800"/>
            </a:lvl1pPr>
          </a:lstStyle>
          <a:p>
            <a:r>
              <a:rPr lang="en-US"/>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035686-6AA6-4261-8396-EE5832199861}" type="datetime1">
              <a:rPr lang="en-GB" smtClean="0"/>
              <a:t>21/02/2023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112377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FD79F99-FB61-449F-BEAA-070299CF25B0}" type="datetime1">
              <a:rPr lang="en-GB" smtClean="0"/>
              <a:t>21/02/2023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2296987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5235212-0BF1-4EDD-ADD9-F8509F60BB87}" type="datetime1">
              <a:rPr lang="en-GB" smtClean="0"/>
              <a:t>21/02/2023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2822826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9A0C9C5-3FE6-4DA8-98E6-84646A195A51}" type="datetime1">
              <a:rPr lang="en-GB" smtClean="0"/>
              <a:t>21/02/2023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52045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7C8CF-FE90-4944-A93C-2AD8D14EF497}" type="datetime1">
              <a:rPr lang="en-GB" smtClean="0"/>
              <a:t>21/02/2023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311316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05310C3-4816-4D48-BE79-100E01B7242C}" type="datetime1">
              <a:rPr lang="en-GB" smtClean="0"/>
              <a:t>21/02/2023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898239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37BE79-5D08-461E-8D97-3DE5742423F5}" type="datetime1">
              <a:rPr lang="en-GB" smtClean="0"/>
              <a:t>21/02/2023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2900322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766C3D8-4E0A-48D7-9DCB-8A528EA94E78}" type="datetime1">
              <a:rPr lang="en-GB" smtClean="0"/>
              <a:t>21/02/2023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322160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52449C2B-76DB-4AF0-BF5B-9F936DD07094}" type="datetime1">
              <a:rPr lang="en-GB" smtClean="0"/>
              <a:t>21/02/2023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E50C373-F1D0-494F-8D6D-366C958B3429}" type="slidenum">
              <a:rPr lang="en-GB" smtClean="0"/>
              <a:t>‹#›</a:t>
            </a:fld>
            <a:endParaRPr lang="en-GB"/>
          </a:p>
        </p:txBody>
      </p:sp>
    </p:spTree>
    <p:extLst>
      <p:ext uri="{BB962C8B-B14F-4D97-AF65-F5344CB8AC3E}">
        <p14:creationId xmlns:p14="http://schemas.microsoft.com/office/powerpoint/2010/main" val="337279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88276"/>
            <a:ext cx="10515600" cy="902412"/>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C625C-B4F0-4752-AF8F-0CC0BCC02F85}" type="datetime1">
              <a:rPr lang="en-GB" smtClean="0"/>
              <a:t>21/02/2023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48296" y="6464739"/>
            <a:ext cx="409135" cy="365125"/>
          </a:xfrm>
          <a:prstGeom prst="rect">
            <a:avLst/>
          </a:prstGeom>
        </p:spPr>
        <p:txBody>
          <a:bodyPr vert="horz" lIns="91440" tIns="45720" rIns="91440" bIns="45720" rtlCol="0" anchor="ctr"/>
          <a:lstStyle>
            <a:lvl1pPr algn="r">
              <a:defRPr sz="1400" b="1">
                <a:solidFill>
                  <a:srgbClr val="FFC551"/>
                </a:solidFill>
                <a:latin typeface="Century Gothic" panose="020B0502020202020204" pitchFamily="34" charset="0"/>
              </a:defRPr>
            </a:lvl1pPr>
          </a:lstStyle>
          <a:p>
            <a:fld id="{7E50C373-F1D0-494F-8D6D-366C958B3429}" type="slidenum">
              <a:rPr lang="en-GB" smtClean="0"/>
              <a:pPr/>
              <a:t>‹#›</a:t>
            </a:fld>
            <a:endParaRPr lang="en-GB" dirty="0"/>
          </a:p>
        </p:txBody>
      </p:sp>
    </p:spTree>
    <p:extLst>
      <p:ext uri="{BB962C8B-B14F-4D97-AF65-F5344CB8AC3E}">
        <p14:creationId xmlns:p14="http://schemas.microsoft.com/office/powerpoint/2010/main" val="1534290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3600" kern="1200">
          <a:solidFill>
            <a:srgbClr val="055D13"/>
          </a:solidFill>
          <a:latin typeface="Futura Md BT" panose="020B06020202040203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17255" y="2219641"/>
            <a:ext cx="3357489" cy="1272736"/>
          </a:xfrm>
        </p:spPr>
        <p:txBody>
          <a:bodyPr>
            <a:normAutofit/>
          </a:bodyPr>
          <a:lstStyle/>
          <a:p>
            <a:r>
              <a:rPr lang="en-GB" sz="4000" b="1" dirty="0"/>
              <a:t>ME 491</a:t>
            </a:r>
            <a:endParaRPr lang="en-GB" sz="4000" dirty="0"/>
          </a:p>
        </p:txBody>
      </p:sp>
      <p:sp>
        <p:nvSpPr>
          <p:cNvPr id="3" name="Subtitle 2"/>
          <p:cNvSpPr>
            <a:spLocks noGrp="1"/>
          </p:cNvSpPr>
          <p:nvPr>
            <p:ph type="subTitle" idx="1"/>
          </p:nvPr>
        </p:nvSpPr>
        <p:spPr>
          <a:xfrm>
            <a:off x="1523999" y="3973624"/>
            <a:ext cx="9144000" cy="484764"/>
          </a:xfrm>
        </p:spPr>
        <p:txBody>
          <a:bodyPr/>
          <a:lstStyle/>
          <a:p>
            <a:r>
              <a:rPr lang="en-GB" dirty="0"/>
              <a:t>Unit 6</a:t>
            </a:r>
          </a:p>
        </p:txBody>
      </p:sp>
      <p:sp>
        <p:nvSpPr>
          <p:cNvPr id="5" name="Title 1"/>
          <p:cNvSpPr txBox="1">
            <a:spLocks/>
          </p:cNvSpPr>
          <p:nvPr/>
        </p:nvSpPr>
        <p:spPr>
          <a:xfrm>
            <a:off x="633045" y="3309498"/>
            <a:ext cx="11015003" cy="66412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4000" b="1" dirty="0">
                <a:solidFill>
                  <a:srgbClr val="FFC551"/>
                </a:solidFill>
              </a:rPr>
              <a:t>ENGINEERING ECONOMY &amp; MANAGEMENT</a:t>
            </a:r>
            <a:endParaRPr lang="en-GB" sz="4000" dirty="0">
              <a:solidFill>
                <a:srgbClr val="FFC551"/>
              </a:solidFill>
            </a:endParaRPr>
          </a:p>
        </p:txBody>
      </p:sp>
      <p:sp>
        <p:nvSpPr>
          <p:cNvPr id="6" name="Title 1"/>
          <p:cNvSpPr txBox="1">
            <a:spLocks/>
          </p:cNvSpPr>
          <p:nvPr/>
        </p:nvSpPr>
        <p:spPr>
          <a:xfrm>
            <a:off x="1523999" y="5212956"/>
            <a:ext cx="9144000" cy="599531"/>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rgbClr val="055D13"/>
                </a:solidFill>
                <a:latin typeface="Futura Md BT" panose="020B0602020204020303" pitchFamily="34" charset="0"/>
                <a:ea typeface="+mj-ea"/>
                <a:cs typeface="+mj-cs"/>
              </a:defRPr>
            </a:lvl1pPr>
          </a:lstStyle>
          <a:p>
            <a:r>
              <a:rPr lang="en-GB" sz="4000" b="1" dirty="0">
                <a:solidFill>
                  <a:schemeClr val="tx1"/>
                </a:solidFill>
              </a:rPr>
              <a:t>Prof. S.H.M. AIKINS</a:t>
            </a:r>
          </a:p>
        </p:txBody>
      </p:sp>
      <p:sp>
        <p:nvSpPr>
          <p:cNvPr id="8" name="Date Placeholder 7">
            <a:extLst>
              <a:ext uri="{FF2B5EF4-FFF2-40B4-BE49-F238E27FC236}">
                <a16:creationId xmlns:a16="http://schemas.microsoft.com/office/drawing/2014/main" id="{9A662839-7682-447E-B16E-7E4316365964}"/>
              </a:ext>
            </a:extLst>
          </p:cNvPr>
          <p:cNvSpPr>
            <a:spLocks noGrp="1"/>
          </p:cNvSpPr>
          <p:nvPr>
            <p:ph type="dt" sz="half" idx="10"/>
          </p:nvPr>
        </p:nvSpPr>
        <p:spPr/>
        <p:txBody>
          <a:bodyPr/>
          <a:lstStyle/>
          <a:p>
            <a:fld id="{44BD45E3-8DC2-4DBD-AF00-3860B63DE5B4}" type="datetime1">
              <a:rPr lang="en-GB" smtClean="0"/>
              <a:t>21/02/2023</a:t>
            </a:fld>
            <a:endParaRPr lang="en-GB"/>
          </a:p>
        </p:txBody>
      </p:sp>
    </p:spTree>
    <p:extLst>
      <p:ext uri="{BB962C8B-B14F-4D97-AF65-F5344CB8AC3E}">
        <p14:creationId xmlns:p14="http://schemas.microsoft.com/office/powerpoint/2010/main" val="1996527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altLang="en-US" sz="5000" b="1" dirty="0"/>
          </a:p>
          <a:p>
            <a:pPr marL="0" indent="0" algn="ctr">
              <a:buNone/>
            </a:pPr>
            <a:endParaRPr lang="en-GB" altLang="en-US" sz="5000" b="1" dirty="0"/>
          </a:p>
          <a:p>
            <a:pPr marL="0" indent="0" algn="ctr">
              <a:buNone/>
            </a:pPr>
            <a:r>
              <a:rPr lang="en-GB" altLang="en-US" sz="5200" b="1" dirty="0"/>
              <a:t>Financial Accounting &amp; Costing</a:t>
            </a:r>
            <a:endParaRPr lang="en-GB" sz="5200" dirty="0"/>
          </a:p>
        </p:txBody>
      </p:sp>
      <p:sp>
        <p:nvSpPr>
          <p:cNvPr id="4" name="Slide Number Placeholder 3"/>
          <p:cNvSpPr>
            <a:spLocks noGrp="1"/>
          </p:cNvSpPr>
          <p:nvPr>
            <p:ph type="sldNum" sz="quarter" idx="12"/>
          </p:nvPr>
        </p:nvSpPr>
        <p:spPr/>
        <p:txBody>
          <a:bodyPr/>
          <a:lstStyle/>
          <a:p>
            <a:fld id="{7E50C373-F1D0-494F-8D6D-366C958B3429}" type="slidenum">
              <a:rPr lang="en-GB" smtClean="0"/>
              <a:t>1</a:t>
            </a:fld>
            <a:endParaRPr lang="en-GB"/>
          </a:p>
        </p:txBody>
      </p:sp>
      <p:sp>
        <p:nvSpPr>
          <p:cNvPr id="2" name="Date Placeholder 1">
            <a:extLst>
              <a:ext uri="{FF2B5EF4-FFF2-40B4-BE49-F238E27FC236}">
                <a16:creationId xmlns:a16="http://schemas.microsoft.com/office/drawing/2014/main" id="{2742CA1D-EE0A-4EA6-B2AD-DE264BB9E379}"/>
              </a:ext>
            </a:extLst>
          </p:cNvPr>
          <p:cNvSpPr>
            <a:spLocks noGrp="1"/>
          </p:cNvSpPr>
          <p:nvPr>
            <p:ph type="dt" sz="half" idx="10"/>
          </p:nvPr>
        </p:nvSpPr>
        <p:spPr/>
        <p:txBody>
          <a:bodyPr/>
          <a:lstStyle/>
          <a:p>
            <a:fld id="{E406185B-7007-4EE3-98A5-23500FD52E78}" type="datetime1">
              <a:rPr lang="en-GB" smtClean="0"/>
              <a:t>21/02/2023</a:t>
            </a:fld>
            <a:endParaRPr lang="en-GB"/>
          </a:p>
        </p:txBody>
      </p:sp>
    </p:spTree>
    <p:extLst>
      <p:ext uri="{BB962C8B-B14F-4D97-AF65-F5344CB8AC3E}">
        <p14:creationId xmlns:p14="http://schemas.microsoft.com/office/powerpoint/2010/main" val="763803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4000" b="1" dirty="0">
                <a:solidFill>
                  <a:srgbClr val="060606"/>
                </a:solidFill>
              </a:rPr>
              <a:t>Influence of Accounting</a:t>
            </a:r>
            <a:endParaRPr lang="en-US" sz="4000" dirty="0">
              <a:solidFill>
                <a:srgbClr val="060606"/>
              </a:solidFill>
            </a:endParaRPr>
          </a:p>
        </p:txBody>
      </p:sp>
      <p:sp>
        <p:nvSpPr>
          <p:cNvPr id="3" name="Content Placeholder 2"/>
          <p:cNvSpPr>
            <a:spLocks noGrp="1"/>
          </p:cNvSpPr>
          <p:nvPr>
            <p:ph idx="1"/>
          </p:nvPr>
        </p:nvSpPr>
        <p:spPr/>
        <p:txBody>
          <a:bodyPr>
            <a:normAutofit/>
          </a:bodyPr>
          <a:lstStyle/>
          <a:p>
            <a:r>
              <a:rPr lang="en-GB" altLang="en-US" sz="6000" b="1" dirty="0"/>
              <a:t>The aim of Accounting is to  provide information about </a:t>
            </a:r>
            <a:r>
              <a:rPr lang="en-GB" altLang="en-US" sz="6000" b="1" dirty="0">
                <a:solidFill>
                  <a:srgbClr val="000099"/>
                </a:solidFill>
              </a:rPr>
              <a:t>what businesses own</a:t>
            </a:r>
            <a:r>
              <a:rPr lang="en-GB" altLang="en-US" sz="6000" b="1" dirty="0"/>
              <a:t>, what they owe, and </a:t>
            </a:r>
            <a:r>
              <a:rPr lang="en-GB" altLang="en-US" sz="6000" b="1" dirty="0">
                <a:solidFill>
                  <a:srgbClr val="FF0000"/>
                </a:solidFill>
              </a:rPr>
              <a:t>how they perform.</a:t>
            </a:r>
            <a:endParaRPr lang="en-US" sz="4800" dirty="0">
              <a:solidFill>
                <a:srgbClr val="FF0000"/>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t>2</a:t>
            </a:fld>
            <a:endParaRPr lang="en-GB"/>
          </a:p>
        </p:txBody>
      </p:sp>
      <p:sp>
        <p:nvSpPr>
          <p:cNvPr id="5" name="Date Placeholder 4">
            <a:extLst>
              <a:ext uri="{FF2B5EF4-FFF2-40B4-BE49-F238E27FC236}">
                <a16:creationId xmlns:a16="http://schemas.microsoft.com/office/drawing/2014/main" id="{8932F6C3-D013-471A-B59D-B55EDBF1A964}"/>
              </a:ext>
            </a:extLst>
          </p:cNvPr>
          <p:cNvSpPr>
            <a:spLocks noGrp="1"/>
          </p:cNvSpPr>
          <p:nvPr>
            <p:ph type="dt" sz="half" idx="10"/>
          </p:nvPr>
        </p:nvSpPr>
        <p:spPr/>
        <p:txBody>
          <a:bodyPr/>
          <a:lstStyle/>
          <a:p>
            <a:fld id="{541182B9-004D-403E-9290-B9DFA9A399A8}" type="datetime1">
              <a:rPr lang="en-GB" smtClean="0"/>
              <a:t>21/02/2023</a:t>
            </a:fld>
            <a:endParaRPr lang="en-GB"/>
          </a:p>
        </p:txBody>
      </p:sp>
    </p:spTree>
    <p:extLst>
      <p:ext uri="{BB962C8B-B14F-4D97-AF65-F5344CB8AC3E}">
        <p14:creationId xmlns:p14="http://schemas.microsoft.com/office/powerpoint/2010/main" val="3343146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4525B-33A3-498B-BD6B-E3EE2439DDAC}"/>
              </a:ext>
            </a:extLst>
          </p:cNvPr>
          <p:cNvSpPr>
            <a:spLocks noGrp="1"/>
          </p:cNvSpPr>
          <p:nvPr>
            <p:ph type="title"/>
          </p:nvPr>
        </p:nvSpPr>
        <p:spPr/>
        <p:txBody>
          <a:bodyPr>
            <a:normAutofit/>
          </a:bodyPr>
          <a:lstStyle/>
          <a:p>
            <a:r>
              <a:rPr lang="en-GB" sz="3400" b="1" dirty="0"/>
              <a:t>Why do engineers study Financial Accounting?</a:t>
            </a:r>
          </a:p>
        </p:txBody>
      </p:sp>
      <p:sp>
        <p:nvSpPr>
          <p:cNvPr id="3" name="Content Placeholder 2">
            <a:extLst>
              <a:ext uri="{FF2B5EF4-FFF2-40B4-BE49-F238E27FC236}">
                <a16:creationId xmlns:a16="http://schemas.microsoft.com/office/drawing/2014/main" id="{6E585811-5929-47C0-B94A-C58FA8C05A53}"/>
              </a:ext>
            </a:extLst>
          </p:cNvPr>
          <p:cNvSpPr>
            <a:spLocks noGrp="1"/>
          </p:cNvSpPr>
          <p:nvPr>
            <p:ph idx="1"/>
          </p:nvPr>
        </p:nvSpPr>
        <p:spPr/>
        <p:txBody>
          <a:bodyPr>
            <a:normAutofit/>
          </a:bodyPr>
          <a:lstStyle/>
          <a:p>
            <a:r>
              <a:rPr lang="en-US" sz="4400" b="1" dirty="0"/>
              <a:t>Knowledge in </a:t>
            </a:r>
            <a:r>
              <a:rPr lang="en-GB" sz="4400" b="1" dirty="0">
                <a:solidFill>
                  <a:srgbClr val="FF0000"/>
                </a:solidFill>
              </a:rPr>
              <a:t>Financial Accounting</a:t>
            </a:r>
            <a:r>
              <a:rPr lang="en-US" sz="4400" b="1" dirty="0"/>
              <a:t> can help engineers measure </a:t>
            </a:r>
            <a:r>
              <a:rPr lang="en-US" sz="4400" b="1" dirty="0">
                <a:solidFill>
                  <a:srgbClr val="3333CC"/>
                </a:solidFill>
              </a:rPr>
              <a:t>the impact of their work in terms of revenue</a:t>
            </a:r>
            <a:r>
              <a:rPr lang="en-US" sz="4400" b="1" dirty="0"/>
              <a:t>, but also </a:t>
            </a:r>
            <a:r>
              <a:rPr lang="en-US" sz="4400" b="1" dirty="0">
                <a:solidFill>
                  <a:srgbClr val="FF0000"/>
                </a:solidFill>
              </a:rPr>
              <a:t>control the cost of particular projects</a:t>
            </a:r>
            <a:r>
              <a:rPr lang="en-US" sz="4400" b="1" dirty="0"/>
              <a:t> and </a:t>
            </a:r>
            <a:r>
              <a:rPr lang="en-US" sz="4400" b="1" dirty="0">
                <a:solidFill>
                  <a:srgbClr val="FF0000"/>
                </a:solidFill>
              </a:rPr>
              <a:t>better understand the organisation's overall budget</a:t>
            </a:r>
            <a:r>
              <a:rPr lang="en-US" sz="4400" b="1" dirty="0"/>
              <a:t>.</a:t>
            </a:r>
            <a:endParaRPr lang="en-GB" sz="4400" b="1" dirty="0"/>
          </a:p>
        </p:txBody>
      </p:sp>
      <p:sp>
        <p:nvSpPr>
          <p:cNvPr id="4" name="Date Placeholder 3">
            <a:extLst>
              <a:ext uri="{FF2B5EF4-FFF2-40B4-BE49-F238E27FC236}">
                <a16:creationId xmlns:a16="http://schemas.microsoft.com/office/drawing/2014/main" id="{6ED07156-4931-46E4-8733-A491B62194DB}"/>
              </a:ext>
            </a:extLst>
          </p:cNvPr>
          <p:cNvSpPr>
            <a:spLocks noGrp="1"/>
          </p:cNvSpPr>
          <p:nvPr>
            <p:ph type="dt" sz="half" idx="10"/>
          </p:nvPr>
        </p:nvSpPr>
        <p:spPr/>
        <p:txBody>
          <a:bodyPr/>
          <a:lstStyle/>
          <a:p>
            <a:fld id="{7058CAA1-BB00-40B2-86CA-49C0E0665F57}" type="datetime1">
              <a:rPr lang="en-GB" smtClean="0"/>
              <a:t>21/02/2023</a:t>
            </a:fld>
            <a:endParaRPr lang="en-GB"/>
          </a:p>
        </p:txBody>
      </p:sp>
      <p:sp>
        <p:nvSpPr>
          <p:cNvPr id="5" name="Slide Number Placeholder 4">
            <a:extLst>
              <a:ext uri="{FF2B5EF4-FFF2-40B4-BE49-F238E27FC236}">
                <a16:creationId xmlns:a16="http://schemas.microsoft.com/office/drawing/2014/main" id="{894A09D8-D1F1-4FB5-BEC0-88E46AFEC9E0}"/>
              </a:ext>
            </a:extLst>
          </p:cNvPr>
          <p:cNvSpPr>
            <a:spLocks noGrp="1"/>
          </p:cNvSpPr>
          <p:nvPr>
            <p:ph type="sldNum" sz="quarter" idx="12"/>
          </p:nvPr>
        </p:nvSpPr>
        <p:spPr/>
        <p:txBody>
          <a:bodyPr/>
          <a:lstStyle/>
          <a:p>
            <a:fld id="{7E50C373-F1D0-494F-8D6D-366C958B3429}" type="slidenum">
              <a:rPr lang="en-GB" smtClean="0"/>
              <a:t>3</a:t>
            </a:fld>
            <a:endParaRPr lang="en-GB"/>
          </a:p>
        </p:txBody>
      </p:sp>
    </p:spTree>
    <p:extLst>
      <p:ext uri="{BB962C8B-B14F-4D97-AF65-F5344CB8AC3E}">
        <p14:creationId xmlns:p14="http://schemas.microsoft.com/office/powerpoint/2010/main" val="348571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sz="5400" b="1" dirty="0"/>
              <a:t>What is Accounting?</a:t>
            </a:r>
            <a:endParaRPr lang="en-US" dirty="0"/>
          </a:p>
        </p:txBody>
      </p:sp>
      <p:sp>
        <p:nvSpPr>
          <p:cNvPr id="3" name="Content Placeholder 2"/>
          <p:cNvSpPr>
            <a:spLocks noGrp="1"/>
          </p:cNvSpPr>
          <p:nvPr>
            <p:ph idx="1"/>
          </p:nvPr>
        </p:nvSpPr>
        <p:spPr/>
        <p:txBody>
          <a:bodyPr>
            <a:normAutofit/>
          </a:bodyPr>
          <a:lstStyle/>
          <a:p>
            <a:r>
              <a:rPr lang="en-GB" altLang="en-US" sz="5000" b="1" dirty="0"/>
              <a:t>Accounting</a:t>
            </a:r>
            <a:r>
              <a:rPr lang="en-GB" altLang="en-US" sz="5000" dirty="0"/>
              <a:t> is the process of </a:t>
            </a:r>
            <a:r>
              <a:rPr lang="en-GB" altLang="en-US" sz="5000" b="1" i="1" dirty="0"/>
              <a:t>identifying</a:t>
            </a:r>
            <a:r>
              <a:rPr lang="en-GB" altLang="en-US" sz="5000" b="1" dirty="0"/>
              <a:t>, </a:t>
            </a:r>
            <a:r>
              <a:rPr lang="en-GB" altLang="en-US" sz="5000" b="1" i="1" dirty="0"/>
              <a:t>measuring</a:t>
            </a:r>
            <a:r>
              <a:rPr lang="en-GB" altLang="en-US" sz="5000" b="1" dirty="0"/>
              <a:t>, </a:t>
            </a:r>
            <a:r>
              <a:rPr lang="en-GB" altLang="en-US" sz="5000" b="1" i="1" dirty="0"/>
              <a:t>recording</a:t>
            </a:r>
            <a:r>
              <a:rPr lang="en-GB" altLang="en-US" sz="5000" dirty="0"/>
              <a:t>, and </a:t>
            </a:r>
            <a:r>
              <a:rPr lang="en-GB" altLang="en-US" sz="5000" b="1" i="1" dirty="0"/>
              <a:t>communicating</a:t>
            </a:r>
            <a:r>
              <a:rPr lang="en-GB" altLang="en-US" sz="5000" dirty="0"/>
              <a:t> </a:t>
            </a:r>
            <a:r>
              <a:rPr lang="en-GB" altLang="en-US" sz="5000" b="1" dirty="0">
                <a:solidFill>
                  <a:srgbClr val="FF0000"/>
                </a:solidFill>
              </a:rPr>
              <a:t>financial information about an organisation’s activities to permit informed decisions.</a:t>
            </a:r>
            <a:endParaRPr lang="en-US" sz="5000" b="1" dirty="0">
              <a:solidFill>
                <a:srgbClr val="FF0000"/>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t>4</a:t>
            </a:fld>
            <a:endParaRPr lang="en-GB"/>
          </a:p>
        </p:txBody>
      </p:sp>
      <p:sp>
        <p:nvSpPr>
          <p:cNvPr id="5" name="Date Placeholder 4">
            <a:extLst>
              <a:ext uri="{FF2B5EF4-FFF2-40B4-BE49-F238E27FC236}">
                <a16:creationId xmlns:a16="http://schemas.microsoft.com/office/drawing/2014/main" id="{1A236D5A-112E-4248-B8B9-6CCAB9E4594E}"/>
              </a:ext>
            </a:extLst>
          </p:cNvPr>
          <p:cNvSpPr>
            <a:spLocks noGrp="1"/>
          </p:cNvSpPr>
          <p:nvPr>
            <p:ph type="dt" sz="half" idx="10"/>
          </p:nvPr>
        </p:nvSpPr>
        <p:spPr/>
        <p:txBody>
          <a:bodyPr/>
          <a:lstStyle/>
          <a:p>
            <a:fld id="{BA0D05AB-E135-40B6-8FC5-E0739AA21445}" type="datetime1">
              <a:rPr lang="en-GB" smtClean="0"/>
              <a:t>21/02/2023</a:t>
            </a:fld>
            <a:endParaRPr lang="en-GB"/>
          </a:p>
        </p:txBody>
      </p:sp>
    </p:spTree>
    <p:extLst>
      <p:ext uri="{BB962C8B-B14F-4D97-AF65-F5344CB8AC3E}">
        <p14:creationId xmlns:p14="http://schemas.microsoft.com/office/powerpoint/2010/main" val="2094521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sz="5400" b="1" dirty="0"/>
              <a:t>Accounting &amp; Bookkeeping</a:t>
            </a:r>
            <a:endParaRPr lang="en-US" sz="5000" dirty="0"/>
          </a:p>
        </p:txBody>
      </p:sp>
      <p:sp>
        <p:nvSpPr>
          <p:cNvPr id="3" name="Content Placeholder 2"/>
          <p:cNvSpPr>
            <a:spLocks noGrp="1"/>
          </p:cNvSpPr>
          <p:nvPr>
            <p:ph idx="1"/>
          </p:nvPr>
        </p:nvSpPr>
        <p:spPr>
          <a:xfrm>
            <a:off x="838200" y="1825624"/>
            <a:ext cx="10515600" cy="4530725"/>
          </a:xfrm>
        </p:spPr>
        <p:txBody>
          <a:bodyPr>
            <a:noAutofit/>
          </a:bodyPr>
          <a:lstStyle/>
          <a:p>
            <a:r>
              <a:rPr lang="en-GB" altLang="en-US" sz="4400" dirty="0"/>
              <a:t>Accounting information needs to be </a:t>
            </a:r>
            <a:r>
              <a:rPr lang="en-GB" altLang="en-US" sz="4400" b="1" dirty="0"/>
              <a:t>identified and measured.</a:t>
            </a:r>
            <a:endParaRPr lang="en-GB" altLang="en-US" sz="4400" dirty="0"/>
          </a:p>
          <a:p>
            <a:endParaRPr lang="en-GB" altLang="en-US" sz="4400" dirty="0"/>
          </a:p>
          <a:p>
            <a:r>
              <a:rPr lang="en-GB" altLang="en-US" sz="4400" dirty="0"/>
              <a:t>The actual process of </a:t>
            </a:r>
            <a:r>
              <a:rPr lang="en-GB" altLang="en-US" sz="4400" b="1" dirty="0"/>
              <a:t>recording information and maintaining accounting records is known as </a:t>
            </a:r>
            <a:r>
              <a:rPr lang="en-GB" altLang="en-US" sz="4400" b="1" dirty="0">
                <a:solidFill>
                  <a:srgbClr val="FF0000"/>
                </a:solidFill>
              </a:rPr>
              <a:t>Bookkeeping</a:t>
            </a:r>
            <a:r>
              <a:rPr lang="en-GB" altLang="en-US" sz="4400" b="1" dirty="0"/>
              <a:t>.</a:t>
            </a:r>
            <a:endParaRPr lang="en-US" sz="4400" dirty="0"/>
          </a:p>
        </p:txBody>
      </p:sp>
      <p:sp>
        <p:nvSpPr>
          <p:cNvPr id="4" name="Slide Number Placeholder 3"/>
          <p:cNvSpPr>
            <a:spLocks noGrp="1"/>
          </p:cNvSpPr>
          <p:nvPr>
            <p:ph type="sldNum" sz="quarter" idx="12"/>
          </p:nvPr>
        </p:nvSpPr>
        <p:spPr/>
        <p:txBody>
          <a:bodyPr/>
          <a:lstStyle/>
          <a:p>
            <a:fld id="{7E50C373-F1D0-494F-8D6D-366C958B3429}" type="slidenum">
              <a:rPr lang="en-GB" smtClean="0"/>
              <a:t>5</a:t>
            </a:fld>
            <a:endParaRPr lang="en-GB"/>
          </a:p>
        </p:txBody>
      </p:sp>
      <p:sp>
        <p:nvSpPr>
          <p:cNvPr id="5" name="Date Placeholder 4">
            <a:extLst>
              <a:ext uri="{FF2B5EF4-FFF2-40B4-BE49-F238E27FC236}">
                <a16:creationId xmlns:a16="http://schemas.microsoft.com/office/drawing/2014/main" id="{94101C5C-8174-4F2B-93AB-34C46D075E27}"/>
              </a:ext>
            </a:extLst>
          </p:cNvPr>
          <p:cNvSpPr>
            <a:spLocks noGrp="1"/>
          </p:cNvSpPr>
          <p:nvPr>
            <p:ph type="dt" sz="half" idx="10"/>
          </p:nvPr>
        </p:nvSpPr>
        <p:spPr/>
        <p:txBody>
          <a:bodyPr/>
          <a:lstStyle/>
          <a:p>
            <a:fld id="{A5094CFC-CE6E-4D9E-901E-61A2B09CC399}" type="datetime1">
              <a:rPr lang="en-GB" smtClean="0"/>
              <a:t>21/02/2023</a:t>
            </a:fld>
            <a:endParaRPr lang="en-GB"/>
          </a:p>
        </p:txBody>
      </p:sp>
    </p:spTree>
    <p:extLst>
      <p:ext uri="{BB962C8B-B14F-4D97-AF65-F5344CB8AC3E}">
        <p14:creationId xmlns:p14="http://schemas.microsoft.com/office/powerpoint/2010/main" val="586898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Accounting</a:t>
            </a:r>
            <a:endParaRPr lang="en-US" dirty="0"/>
          </a:p>
        </p:txBody>
      </p:sp>
      <p:sp>
        <p:nvSpPr>
          <p:cNvPr id="3" name="Content Placeholder 2"/>
          <p:cNvSpPr>
            <a:spLocks noGrp="1"/>
          </p:cNvSpPr>
          <p:nvPr>
            <p:ph idx="1"/>
          </p:nvPr>
        </p:nvSpPr>
        <p:spPr/>
        <p:txBody>
          <a:bodyPr>
            <a:normAutofit/>
          </a:bodyPr>
          <a:lstStyle/>
          <a:p>
            <a:r>
              <a:rPr lang="en-GB" altLang="en-US" sz="7200" b="1" dirty="0"/>
              <a:t>The accounting system identifies and records "</a:t>
            </a:r>
            <a:r>
              <a:rPr lang="en-GB" altLang="en-US" sz="7200" b="1" dirty="0">
                <a:solidFill>
                  <a:srgbClr val="FF0000"/>
                </a:solidFill>
              </a:rPr>
              <a:t>accounting transactions.</a:t>
            </a:r>
            <a:r>
              <a:rPr lang="en-GB" altLang="en-US" sz="7200" b="1" dirty="0"/>
              <a:t>”</a:t>
            </a:r>
            <a:endParaRPr lang="en-US" sz="31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6</a:t>
            </a:fld>
            <a:endParaRPr lang="en-GB"/>
          </a:p>
        </p:txBody>
      </p:sp>
      <p:sp>
        <p:nvSpPr>
          <p:cNvPr id="5" name="Date Placeholder 4">
            <a:extLst>
              <a:ext uri="{FF2B5EF4-FFF2-40B4-BE49-F238E27FC236}">
                <a16:creationId xmlns:a16="http://schemas.microsoft.com/office/drawing/2014/main" id="{8B9A6A15-63D0-44D1-AA62-1D6A3356558D}"/>
              </a:ext>
            </a:extLst>
          </p:cNvPr>
          <p:cNvSpPr>
            <a:spLocks noGrp="1"/>
          </p:cNvSpPr>
          <p:nvPr>
            <p:ph type="dt" sz="half" idx="10"/>
          </p:nvPr>
        </p:nvSpPr>
        <p:spPr/>
        <p:txBody>
          <a:bodyPr/>
          <a:lstStyle/>
          <a:p>
            <a:fld id="{2709C1FD-4DF0-4DD0-9088-775375E520C8}" type="datetime1">
              <a:rPr lang="en-GB" smtClean="0"/>
              <a:t>21/02/2023</a:t>
            </a:fld>
            <a:endParaRPr lang="en-GB"/>
          </a:p>
        </p:txBody>
      </p:sp>
    </p:spTree>
    <p:extLst>
      <p:ext uri="{BB962C8B-B14F-4D97-AF65-F5344CB8AC3E}">
        <p14:creationId xmlns:p14="http://schemas.microsoft.com/office/powerpoint/2010/main" val="137988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Accounting</a:t>
            </a:r>
            <a:endParaRPr lang="en-US" dirty="0"/>
          </a:p>
        </p:txBody>
      </p:sp>
      <p:sp>
        <p:nvSpPr>
          <p:cNvPr id="3" name="Content Placeholder 2"/>
          <p:cNvSpPr>
            <a:spLocks noGrp="1"/>
          </p:cNvSpPr>
          <p:nvPr>
            <p:ph idx="1"/>
          </p:nvPr>
        </p:nvSpPr>
        <p:spPr>
          <a:xfrm>
            <a:off x="838200" y="1690688"/>
            <a:ext cx="10515600" cy="4639114"/>
          </a:xfrm>
        </p:spPr>
        <p:txBody>
          <a:bodyPr>
            <a:noAutofit/>
          </a:bodyPr>
          <a:lstStyle/>
          <a:p>
            <a:r>
              <a:rPr lang="en-GB" altLang="en-US" sz="3800" b="1" dirty="0"/>
              <a:t>"</a:t>
            </a:r>
            <a:r>
              <a:rPr lang="en-GB" altLang="en-US" sz="3800" b="1" dirty="0">
                <a:solidFill>
                  <a:srgbClr val="FF0000"/>
                </a:solidFill>
              </a:rPr>
              <a:t>measurement</a:t>
            </a:r>
            <a:r>
              <a:rPr lang="en-GB" altLang="en-US" sz="3800" b="1" dirty="0"/>
              <a:t>" involves making judgements about the value of assets owned by a business or liabilities owed by a business.</a:t>
            </a:r>
          </a:p>
          <a:p>
            <a:endParaRPr lang="en-GB" altLang="en-US" sz="1600" b="1" dirty="0"/>
          </a:p>
          <a:p>
            <a:r>
              <a:rPr lang="en-GB" altLang="en-US" sz="3800" b="1" dirty="0"/>
              <a:t>"</a:t>
            </a:r>
            <a:r>
              <a:rPr lang="en-GB" altLang="en-US" sz="3800" b="1" dirty="0">
                <a:solidFill>
                  <a:srgbClr val="FF0000"/>
                </a:solidFill>
              </a:rPr>
              <a:t>measurement</a:t>
            </a:r>
            <a:r>
              <a:rPr lang="en-GB" altLang="en-US" sz="3800" b="1" dirty="0"/>
              <a:t>" is also about accurately measuring how much profit or loss has been made by a business in a particular period.</a:t>
            </a:r>
            <a:endParaRPr lang="en-US" sz="38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7</a:t>
            </a:fld>
            <a:endParaRPr lang="en-GB"/>
          </a:p>
        </p:txBody>
      </p:sp>
      <p:sp>
        <p:nvSpPr>
          <p:cNvPr id="5" name="Date Placeholder 4">
            <a:extLst>
              <a:ext uri="{FF2B5EF4-FFF2-40B4-BE49-F238E27FC236}">
                <a16:creationId xmlns:a16="http://schemas.microsoft.com/office/drawing/2014/main" id="{8B9A6A15-63D0-44D1-AA62-1D6A3356558D}"/>
              </a:ext>
            </a:extLst>
          </p:cNvPr>
          <p:cNvSpPr>
            <a:spLocks noGrp="1"/>
          </p:cNvSpPr>
          <p:nvPr>
            <p:ph type="dt" sz="half" idx="10"/>
          </p:nvPr>
        </p:nvSpPr>
        <p:spPr/>
        <p:txBody>
          <a:bodyPr/>
          <a:lstStyle/>
          <a:p>
            <a:fld id="{2709C1FD-4DF0-4DD0-9088-775375E520C8}" type="datetime1">
              <a:rPr lang="en-GB" smtClean="0"/>
              <a:t>21/02/2023</a:t>
            </a:fld>
            <a:endParaRPr lang="en-GB"/>
          </a:p>
        </p:txBody>
      </p:sp>
    </p:spTree>
    <p:extLst>
      <p:ext uri="{BB962C8B-B14F-4D97-AF65-F5344CB8AC3E}">
        <p14:creationId xmlns:p14="http://schemas.microsoft.com/office/powerpoint/2010/main" val="702985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sz="8000" b="1" dirty="0"/>
              <a:t>Accounting</a:t>
            </a:r>
            <a:endParaRPr lang="en-US" dirty="0"/>
          </a:p>
        </p:txBody>
      </p:sp>
      <p:sp>
        <p:nvSpPr>
          <p:cNvPr id="3" name="Content Placeholder 2"/>
          <p:cNvSpPr>
            <a:spLocks noGrp="1"/>
          </p:cNvSpPr>
          <p:nvPr>
            <p:ph idx="1"/>
          </p:nvPr>
        </p:nvSpPr>
        <p:spPr/>
        <p:txBody>
          <a:bodyPr>
            <a:noAutofit/>
          </a:bodyPr>
          <a:lstStyle/>
          <a:p>
            <a:r>
              <a:rPr lang="en-GB" altLang="en-US" sz="4900" b="1" dirty="0"/>
              <a:t>Accounting information need to be </a:t>
            </a:r>
            <a:r>
              <a:rPr lang="en-GB" altLang="en-US" sz="4900" b="1" dirty="0">
                <a:solidFill>
                  <a:srgbClr val="FF0000"/>
                </a:solidFill>
              </a:rPr>
              <a:t>communicated</a:t>
            </a:r>
            <a:r>
              <a:rPr lang="en-GB" altLang="en-US" sz="4900" b="1" dirty="0"/>
              <a:t>.</a:t>
            </a:r>
          </a:p>
          <a:p>
            <a:endParaRPr lang="en-GB" altLang="en-US" sz="4900" b="1" dirty="0"/>
          </a:p>
          <a:p>
            <a:r>
              <a:rPr lang="en-GB" altLang="en-US" sz="4900" b="1" dirty="0"/>
              <a:t>The way in which this communication is achieved may vary.</a:t>
            </a:r>
            <a:endParaRPr lang="en-US" sz="49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8</a:t>
            </a:fld>
            <a:endParaRPr lang="en-GB"/>
          </a:p>
        </p:txBody>
      </p:sp>
      <p:sp>
        <p:nvSpPr>
          <p:cNvPr id="5" name="Date Placeholder 4">
            <a:extLst>
              <a:ext uri="{FF2B5EF4-FFF2-40B4-BE49-F238E27FC236}">
                <a16:creationId xmlns:a16="http://schemas.microsoft.com/office/drawing/2014/main" id="{1655D47C-5B2E-42AE-8DE5-4CEA3E8F731F}"/>
              </a:ext>
            </a:extLst>
          </p:cNvPr>
          <p:cNvSpPr>
            <a:spLocks noGrp="1"/>
          </p:cNvSpPr>
          <p:nvPr>
            <p:ph type="dt" sz="half" idx="10"/>
          </p:nvPr>
        </p:nvSpPr>
        <p:spPr/>
        <p:txBody>
          <a:bodyPr/>
          <a:lstStyle/>
          <a:p>
            <a:fld id="{00D5471A-4297-4625-9846-DA702846CD21}" type="datetime1">
              <a:rPr lang="en-GB" smtClean="0"/>
              <a:t>21/02/2023</a:t>
            </a:fld>
            <a:endParaRPr lang="en-GB"/>
          </a:p>
        </p:txBody>
      </p:sp>
    </p:spTree>
    <p:extLst>
      <p:ext uri="{BB962C8B-B14F-4D97-AF65-F5344CB8AC3E}">
        <p14:creationId xmlns:p14="http://schemas.microsoft.com/office/powerpoint/2010/main" val="4050411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Accounting</a:t>
            </a:r>
            <a:endParaRPr lang="en-US" dirty="0"/>
          </a:p>
        </p:txBody>
      </p:sp>
      <p:sp>
        <p:nvSpPr>
          <p:cNvPr id="3" name="Content Placeholder 2"/>
          <p:cNvSpPr>
            <a:spLocks noGrp="1"/>
          </p:cNvSpPr>
          <p:nvPr>
            <p:ph idx="1"/>
          </p:nvPr>
        </p:nvSpPr>
        <p:spPr/>
        <p:txBody>
          <a:bodyPr>
            <a:noAutofit/>
          </a:bodyPr>
          <a:lstStyle/>
          <a:p>
            <a:r>
              <a:rPr lang="en-GB" altLang="en-US" sz="3400" b="1" dirty="0"/>
              <a:t>There are several forms of accounting communication: (e.g. annual report and accounts, management accounting reports).</a:t>
            </a:r>
            <a:endParaRPr lang="en-GB" altLang="en-US" sz="3400" dirty="0"/>
          </a:p>
          <a:p>
            <a:endParaRPr lang="en-GB" altLang="en-US" sz="1800" dirty="0"/>
          </a:p>
          <a:p>
            <a:r>
              <a:rPr lang="en-GB" altLang="en-US" sz="3400" b="1" dirty="0"/>
              <a:t>Each of these serve a slightly different purpose.</a:t>
            </a:r>
          </a:p>
          <a:p>
            <a:endParaRPr lang="en-GB" altLang="en-US" sz="2000" dirty="0"/>
          </a:p>
          <a:p>
            <a:r>
              <a:rPr lang="en-GB" altLang="en-US" sz="3400" b="1" dirty="0"/>
              <a:t>The </a:t>
            </a:r>
            <a:r>
              <a:rPr lang="en-GB" altLang="en-US" sz="3400" b="1" dirty="0">
                <a:solidFill>
                  <a:srgbClr val="000099"/>
                </a:solidFill>
              </a:rPr>
              <a:t>communication need</a:t>
            </a:r>
            <a:r>
              <a:rPr lang="en-GB" altLang="en-US" sz="3400" b="1" dirty="0"/>
              <a:t> is about understanding </a:t>
            </a:r>
            <a:r>
              <a:rPr lang="en-GB" altLang="en-US" sz="3400" b="1" dirty="0">
                <a:solidFill>
                  <a:srgbClr val="000099"/>
                </a:solidFill>
              </a:rPr>
              <a:t>who</a:t>
            </a:r>
            <a:r>
              <a:rPr lang="en-GB" altLang="en-US" sz="3400" b="1" dirty="0"/>
              <a:t> needs the accounting information, and </a:t>
            </a:r>
            <a:r>
              <a:rPr lang="en-GB" altLang="en-US" sz="3400" b="1" dirty="0">
                <a:solidFill>
                  <a:srgbClr val="000099"/>
                </a:solidFill>
              </a:rPr>
              <a:t>what</a:t>
            </a:r>
            <a:r>
              <a:rPr lang="en-GB" altLang="en-US" sz="3400" b="1" dirty="0"/>
              <a:t> they need to know!</a:t>
            </a:r>
            <a:endParaRPr lang="en-US" sz="34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9</a:t>
            </a:fld>
            <a:endParaRPr lang="en-GB"/>
          </a:p>
        </p:txBody>
      </p:sp>
      <p:sp>
        <p:nvSpPr>
          <p:cNvPr id="5" name="Date Placeholder 4">
            <a:extLst>
              <a:ext uri="{FF2B5EF4-FFF2-40B4-BE49-F238E27FC236}">
                <a16:creationId xmlns:a16="http://schemas.microsoft.com/office/drawing/2014/main" id="{0A9EE83D-6DF9-40E0-9019-451DE9F7DE78}"/>
              </a:ext>
            </a:extLst>
          </p:cNvPr>
          <p:cNvSpPr>
            <a:spLocks noGrp="1"/>
          </p:cNvSpPr>
          <p:nvPr>
            <p:ph type="dt" sz="half" idx="10"/>
          </p:nvPr>
        </p:nvSpPr>
        <p:spPr/>
        <p:txBody>
          <a:bodyPr/>
          <a:lstStyle/>
          <a:p>
            <a:fld id="{13B3F545-7501-4A61-8D9A-5CD9350C8D44}" type="datetime1">
              <a:rPr lang="en-GB" smtClean="0"/>
              <a:t>21/02/2023</a:t>
            </a:fld>
            <a:endParaRPr lang="en-GB"/>
          </a:p>
        </p:txBody>
      </p:sp>
    </p:spTree>
    <p:extLst>
      <p:ext uri="{BB962C8B-B14F-4D97-AF65-F5344CB8AC3E}">
        <p14:creationId xmlns:p14="http://schemas.microsoft.com/office/powerpoint/2010/main" val="556709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Accounting Information</a:t>
            </a:r>
            <a:endParaRPr lang="en-US" dirty="0"/>
          </a:p>
        </p:txBody>
      </p:sp>
      <p:sp>
        <p:nvSpPr>
          <p:cNvPr id="3" name="Content Placeholder 2"/>
          <p:cNvSpPr>
            <a:spLocks noGrp="1"/>
          </p:cNvSpPr>
          <p:nvPr>
            <p:ph idx="1"/>
          </p:nvPr>
        </p:nvSpPr>
        <p:spPr>
          <a:xfrm>
            <a:off x="720436" y="1718386"/>
            <a:ext cx="10751128" cy="4351338"/>
          </a:xfrm>
        </p:spPr>
        <p:txBody>
          <a:bodyPr>
            <a:noAutofit/>
          </a:bodyPr>
          <a:lstStyle/>
          <a:p>
            <a:r>
              <a:rPr lang="en-GB" altLang="en-US" sz="3600" b="1" dirty="0"/>
              <a:t>Accounting is about providing </a:t>
            </a:r>
            <a:r>
              <a:rPr lang="en-GB" altLang="en-US" sz="3600" b="1" dirty="0">
                <a:solidFill>
                  <a:srgbClr val="000099"/>
                </a:solidFill>
              </a:rPr>
              <a:t>information</a:t>
            </a:r>
            <a:r>
              <a:rPr lang="en-GB" altLang="en-US" sz="3600" b="1" dirty="0"/>
              <a:t> to others.</a:t>
            </a:r>
          </a:p>
          <a:p>
            <a:endParaRPr lang="en-GB" altLang="en-US" sz="1500" b="1" dirty="0"/>
          </a:p>
          <a:p>
            <a:r>
              <a:rPr lang="en-GB" altLang="en-US" sz="3600" b="1" dirty="0"/>
              <a:t>Accounting information is </a:t>
            </a:r>
            <a:r>
              <a:rPr lang="en-GB" altLang="en-US" sz="3600" b="1" dirty="0">
                <a:solidFill>
                  <a:srgbClr val="000099"/>
                </a:solidFill>
              </a:rPr>
              <a:t>economic information</a:t>
            </a:r>
            <a:r>
              <a:rPr lang="en-GB" altLang="en-US" sz="3600" b="1" dirty="0"/>
              <a:t>.</a:t>
            </a:r>
          </a:p>
          <a:p>
            <a:endParaRPr lang="en-GB" altLang="en-US" sz="1500" b="1" dirty="0"/>
          </a:p>
          <a:p>
            <a:r>
              <a:rPr lang="en-GB" altLang="en-US" sz="3600" b="1" dirty="0"/>
              <a:t>Accounting information relates to the financial or economic activities of the business or organisation.</a:t>
            </a:r>
            <a:endParaRPr lang="en-US" sz="34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10</a:t>
            </a:fld>
            <a:endParaRPr lang="en-GB"/>
          </a:p>
        </p:txBody>
      </p:sp>
      <p:sp>
        <p:nvSpPr>
          <p:cNvPr id="5" name="Date Placeholder 4">
            <a:extLst>
              <a:ext uri="{FF2B5EF4-FFF2-40B4-BE49-F238E27FC236}">
                <a16:creationId xmlns:a16="http://schemas.microsoft.com/office/drawing/2014/main" id="{97B8C3A4-56C6-4A96-9749-A67E74C5E231}"/>
              </a:ext>
            </a:extLst>
          </p:cNvPr>
          <p:cNvSpPr>
            <a:spLocks noGrp="1"/>
          </p:cNvSpPr>
          <p:nvPr>
            <p:ph type="dt" sz="half" idx="10"/>
          </p:nvPr>
        </p:nvSpPr>
        <p:spPr/>
        <p:txBody>
          <a:bodyPr/>
          <a:lstStyle/>
          <a:p>
            <a:fld id="{BE95412E-EE51-464A-AD9E-25563C5D3D0E}" type="datetime1">
              <a:rPr lang="en-GB" smtClean="0"/>
              <a:t>21/02/2023</a:t>
            </a:fld>
            <a:endParaRPr lang="en-GB"/>
          </a:p>
        </p:txBody>
      </p:sp>
    </p:spTree>
    <p:extLst>
      <p:ext uri="{BB962C8B-B14F-4D97-AF65-F5344CB8AC3E}">
        <p14:creationId xmlns:p14="http://schemas.microsoft.com/office/powerpoint/2010/main" val="240300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b="1" dirty="0">
                <a:solidFill>
                  <a:schemeClr val="tx1">
                    <a:lumMod val="95000"/>
                    <a:lumOff val="5000"/>
                  </a:schemeClr>
                </a:solidFill>
              </a:rPr>
              <a:t>Who are the Users of Accounting Information?</a:t>
            </a:r>
            <a:endParaRPr lang="en-US" dirty="0">
              <a:solidFill>
                <a:schemeClr val="tx1">
                  <a:lumMod val="95000"/>
                  <a:lumOff val="5000"/>
                </a:schemeClr>
              </a:solidFill>
            </a:endParaRPr>
          </a:p>
        </p:txBody>
      </p:sp>
      <p:sp>
        <p:nvSpPr>
          <p:cNvPr id="3" name="Content Placeholder 2"/>
          <p:cNvSpPr>
            <a:spLocks noGrp="1"/>
          </p:cNvSpPr>
          <p:nvPr>
            <p:ph idx="1"/>
          </p:nvPr>
        </p:nvSpPr>
        <p:spPr>
          <a:xfrm>
            <a:off x="5929745" y="1690688"/>
            <a:ext cx="5424055" cy="4774051"/>
          </a:xfrm>
        </p:spPr>
        <p:txBody>
          <a:bodyPr>
            <a:noAutofit/>
          </a:bodyPr>
          <a:lstStyle/>
          <a:p>
            <a:pPr>
              <a:buNone/>
            </a:pPr>
            <a:r>
              <a:rPr lang="en-GB" altLang="en-US" sz="3000" b="1" dirty="0"/>
              <a:t>1. Investors</a:t>
            </a:r>
          </a:p>
          <a:p>
            <a:pPr>
              <a:buNone/>
            </a:pPr>
            <a:r>
              <a:rPr lang="en-GB" altLang="en-US" sz="3000" b="1" dirty="0"/>
              <a:t>2. Lenders</a:t>
            </a:r>
          </a:p>
          <a:p>
            <a:pPr>
              <a:buNone/>
            </a:pPr>
            <a:r>
              <a:rPr lang="en-GB" altLang="en-US" sz="3000" b="1" dirty="0"/>
              <a:t>3. Creditors</a:t>
            </a:r>
          </a:p>
          <a:p>
            <a:pPr>
              <a:buNone/>
            </a:pPr>
            <a:r>
              <a:rPr lang="en-GB" altLang="en-US" sz="3000" b="1" dirty="0"/>
              <a:t>4. Debtors</a:t>
            </a:r>
          </a:p>
          <a:p>
            <a:pPr>
              <a:buNone/>
            </a:pPr>
            <a:r>
              <a:rPr lang="en-GB" altLang="en-US" sz="3000" b="1" dirty="0"/>
              <a:t>5. Employees</a:t>
            </a:r>
          </a:p>
          <a:p>
            <a:pPr>
              <a:buNone/>
            </a:pPr>
            <a:r>
              <a:rPr lang="en-GB" altLang="en-US" sz="3000" b="1" dirty="0"/>
              <a:t>6. Managers</a:t>
            </a:r>
          </a:p>
          <a:p>
            <a:pPr>
              <a:buNone/>
            </a:pPr>
            <a:r>
              <a:rPr lang="en-GB" altLang="en-US" sz="3000" b="1" dirty="0"/>
              <a:t>7. Government</a:t>
            </a:r>
          </a:p>
          <a:p>
            <a:pPr>
              <a:buNone/>
            </a:pPr>
            <a:r>
              <a:rPr lang="en-GB" altLang="en-US" sz="3000" b="1" dirty="0"/>
              <a:t>8. Analysts</a:t>
            </a:r>
          </a:p>
          <a:p>
            <a:pPr>
              <a:buNone/>
            </a:pPr>
            <a:r>
              <a:rPr lang="en-GB" altLang="en-US" sz="3000" b="1" dirty="0"/>
              <a:t>9. Public at large</a:t>
            </a:r>
            <a:endParaRPr lang="en-US" sz="3000" dirty="0"/>
          </a:p>
        </p:txBody>
      </p:sp>
      <p:sp>
        <p:nvSpPr>
          <p:cNvPr id="4" name="Slide Number Placeholder 3"/>
          <p:cNvSpPr>
            <a:spLocks noGrp="1"/>
          </p:cNvSpPr>
          <p:nvPr>
            <p:ph type="sldNum" sz="quarter" idx="12"/>
          </p:nvPr>
        </p:nvSpPr>
        <p:spPr/>
        <p:txBody>
          <a:bodyPr/>
          <a:lstStyle/>
          <a:p>
            <a:fld id="{7E50C373-F1D0-494F-8D6D-366C958B3429}" type="slidenum">
              <a:rPr lang="en-GB" smtClean="0"/>
              <a:t>11</a:t>
            </a:fld>
            <a:endParaRPr lang="en-GB"/>
          </a:p>
        </p:txBody>
      </p:sp>
      <p:sp>
        <p:nvSpPr>
          <p:cNvPr id="5" name="Date Placeholder 4">
            <a:extLst>
              <a:ext uri="{FF2B5EF4-FFF2-40B4-BE49-F238E27FC236}">
                <a16:creationId xmlns:a16="http://schemas.microsoft.com/office/drawing/2014/main" id="{1B568C2A-16CE-4D7E-A2B9-8B3510F70F6E}"/>
              </a:ext>
            </a:extLst>
          </p:cNvPr>
          <p:cNvSpPr>
            <a:spLocks noGrp="1"/>
          </p:cNvSpPr>
          <p:nvPr>
            <p:ph type="dt" sz="half" idx="10"/>
          </p:nvPr>
        </p:nvSpPr>
        <p:spPr/>
        <p:txBody>
          <a:bodyPr/>
          <a:lstStyle/>
          <a:p>
            <a:fld id="{B73FE4D3-2F68-45BC-82D0-BD1E6D2AC162}" type="datetime1">
              <a:rPr lang="en-GB" smtClean="0"/>
              <a:t>21/02/2023</a:t>
            </a:fld>
            <a:endParaRPr lang="en-GB"/>
          </a:p>
        </p:txBody>
      </p:sp>
      <p:pic>
        <p:nvPicPr>
          <p:cNvPr id="6" name="Picture 5">
            <a:extLst>
              <a:ext uri="{FF2B5EF4-FFF2-40B4-BE49-F238E27FC236}">
                <a16:creationId xmlns:a16="http://schemas.microsoft.com/office/drawing/2014/main" id="{A0711ECF-ED5E-4E65-8110-9548A4A93836}"/>
              </a:ext>
            </a:extLst>
          </p:cNvPr>
          <p:cNvPicPr>
            <a:picLocks noChangeAspect="1"/>
          </p:cNvPicPr>
          <p:nvPr/>
        </p:nvPicPr>
        <p:blipFill>
          <a:blip r:embed="rId2"/>
          <a:stretch>
            <a:fillRect/>
          </a:stretch>
        </p:blipFill>
        <p:spPr>
          <a:xfrm>
            <a:off x="1288473" y="1690688"/>
            <a:ext cx="2076599" cy="4474250"/>
          </a:xfrm>
          <a:prstGeom prst="rect">
            <a:avLst/>
          </a:prstGeom>
        </p:spPr>
      </p:pic>
    </p:spTree>
    <p:extLst>
      <p:ext uri="{BB962C8B-B14F-4D97-AF65-F5344CB8AC3E}">
        <p14:creationId xmlns:p14="http://schemas.microsoft.com/office/powerpoint/2010/main" val="3254517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Why Accounting Information?</a:t>
            </a:r>
            <a:endParaRPr lang="en-US" dirty="0"/>
          </a:p>
        </p:txBody>
      </p:sp>
      <p:sp>
        <p:nvSpPr>
          <p:cNvPr id="3" name="Content Placeholder 2"/>
          <p:cNvSpPr>
            <a:spLocks noGrp="1"/>
          </p:cNvSpPr>
          <p:nvPr>
            <p:ph idx="1"/>
          </p:nvPr>
        </p:nvSpPr>
        <p:spPr/>
        <p:txBody>
          <a:bodyPr>
            <a:noAutofit/>
          </a:bodyPr>
          <a:lstStyle/>
          <a:p>
            <a:r>
              <a:rPr lang="en-GB" altLang="en-US" sz="3800" b="1" dirty="0"/>
              <a:t>Users of accounting information seek information to find out three fundamental questions:</a:t>
            </a:r>
          </a:p>
          <a:p>
            <a:endParaRPr lang="en-GB" altLang="en-US" sz="1600" b="1" dirty="0"/>
          </a:p>
          <a:p>
            <a:pPr>
              <a:buNone/>
            </a:pPr>
            <a:r>
              <a:rPr lang="en-GB" altLang="en-US" sz="3800" b="1" dirty="0">
                <a:solidFill>
                  <a:srgbClr val="FF0000"/>
                </a:solidFill>
              </a:rPr>
              <a:t>1. How is the business doing?</a:t>
            </a:r>
          </a:p>
          <a:p>
            <a:pPr>
              <a:buNone/>
            </a:pPr>
            <a:r>
              <a:rPr lang="en-GB" altLang="en-US" sz="3800" b="1" dirty="0">
                <a:solidFill>
                  <a:srgbClr val="000066"/>
                </a:solidFill>
              </a:rPr>
              <a:t>2. How is the business placed at present?</a:t>
            </a:r>
          </a:p>
          <a:p>
            <a:pPr>
              <a:buNone/>
            </a:pPr>
            <a:r>
              <a:rPr lang="en-GB" altLang="en-US" sz="3800" b="1" dirty="0"/>
              <a:t>3. What are the future prospects of the business?</a:t>
            </a:r>
            <a:endParaRPr lang="en-US" sz="3800" dirty="0"/>
          </a:p>
        </p:txBody>
      </p:sp>
      <p:sp>
        <p:nvSpPr>
          <p:cNvPr id="4" name="Slide Number Placeholder 3"/>
          <p:cNvSpPr>
            <a:spLocks noGrp="1"/>
          </p:cNvSpPr>
          <p:nvPr>
            <p:ph type="sldNum" sz="quarter" idx="12"/>
          </p:nvPr>
        </p:nvSpPr>
        <p:spPr/>
        <p:txBody>
          <a:bodyPr/>
          <a:lstStyle/>
          <a:p>
            <a:fld id="{7E50C373-F1D0-494F-8D6D-366C958B3429}" type="slidenum">
              <a:rPr lang="en-GB" smtClean="0"/>
              <a:t>12</a:t>
            </a:fld>
            <a:endParaRPr lang="en-GB"/>
          </a:p>
        </p:txBody>
      </p:sp>
      <p:sp>
        <p:nvSpPr>
          <p:cNvPr id="5" name="Date Placeholder 4">
            <a:extLst>
              <a:ext uri="{FF2B5EF4-FFF2-40B4-BE49-F238E27FC236}">
                <a16:creationId xmlns:a16="http://schemas.microsoft.com/office/drawing/2014/main" id="{7D59603F-0457-4B7C-9614-CC8330FA1462}"/>
              </a:ext>
            </a:extLst>
          </p:cNvPr>
          <p:cNvSpPr>
            <a:spLocks noGrp="1"/>
          </p:cNvSpPr>
          <p:nvPr>
            <p:ph type="dt" sz="half" idx="10"/>
          </p:nvPr>
        </p:nvSpPr>
        <p:spPr/>
        <p:txBody>
          <a:bodyPr/>
          <a:lstStyle/>
          <a:p>
            <a:fld id="{BC709E7D-4024-4559-B725-712E489D37B0}" type="datetime1">
              <a:rPr lang="en-GB" smtClean="0"/>
              <a:t>21/02/2023</a:t>
            </a:fld>
            <a:endParaRPr lang="en-GB"/>
          </a:p>
        </p:txBody>
      </p:sp>
    </p:spTree>
    <p:extLst>
      <p:ext uri="{BB962C8B-B14F-4D97-AF65-F5344CB8AC3E}">
        <p14:creationId xmlns:p14="http://schemas.microsoft.com/office/powerpoint/2010/main" val="1425526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Accounting Information</a:t>
            </a:r>
            <a:endParaRPr lang="en-US" dirty="0"/>
          </a:p>
        </p:txBody>
      </p:sp>
      <p:sp>
        <p:nvSpPr>
          <p:cNvPr id="3" name="Content Placeholder 2"/>
          <p:cNvSpPr>
            <a:spLocks noGrp="1"/>
          </p:cNvSpPr>
          <p:nvPr>
            <p:ph idx="1"/>
          </p:nvPr>
        </p:nvSpPr>
        <p:spPr/>
        <p:txBody>
          <a:bodyPr>
            <a:noAutofit/>
          </a:bodyPr>
          <a:lstStyle/>
          <a:p>
            <a:r>
              <a:rPr lang="en-GB" altLang="en-US" sz="3800" b="1" dirty="0">
                <a:solidFill>
                  <a:srgbClr val="FF0000"/>
                </a:solidFill>
              </a:rPr>
              <a:t>Business managers</a:t>
            </a:r>
            <a:r>
              <a:rPr lang="en-GB" altLang="en-US" sz="3800" b="1" dirty="0"/>
              <a:t> use accounting information to predict the consequences of their future actions and to help decide which actions to take.</a:t>
            </a:r>
          </a:p>
          <a:p>
            <a:pPr>
              <a:buNone/>
            </a:pPr>
            <a:endParaRPr lang="en-GB" altLang="en-US" sz="3800" b="1" dirty="0"/>
          </a:p>
          <a:p>
            <a:r>
              <a:rPr lang="en-GB" altLang="en-US" sz="3800" b="1" dirty="0">
                <a:solidFill>
                  <a:srgbClr val="FF0000"/>
                </a:solidFill>
              </a:rPr>
              <a:t>Business managers</a:t>
            </a:r>
            <a:r>
              <a:rPr lang="en-GB" altLang="en-US" sz="3800" b="1" dirty="0"/>
              <a:t> use accounting information  to evaluate the performance of employees.</a:t>
            </a:r>
            <a:endParaRPr lang="en-US" sz="3800" dirty="0"/>
          </a:p>
        </p:txBody>
      </p:sp>
      <p:sp>
        <p:nvSpPr>
          <p:cNvPr id="4" name="Slide Number Placeholder 3"/>
          <p:cNvSpPr>
            <a:spLocks noGrp="1"/>
          </p:cNvSpPr>
          <p:nvPr>
            <p:ph type="sldNum" sz="quarter" idx="12"/>
          </p:nvPr>
        </p:nvSpPr>
        <p:spPr/>
        <p:txBody>
          <a:bodyPr/>
          <a:lstStyle/>
          <a:p>
            <a:fld id="{7E50C373-F1D0-494F-8D6D-366C958B3429}" type="slidenum">
              <a:rPr lang="en-GB" smtClean="0"/>
              <a:t>13</a:t>
            </a:fld>
            <a:endParaRPr lang="en-GB"/>
          </a:p>
        </p:txBody>
      </p:sp>
      <p:sp>
        <p:nvSpPr>
          <p:cNvPr id="5" name="Date Placeholder 4">
            <a:extLst>
              <a:ext uri="{FF2B5EF4-FFF2-40B4-BE49-F238E27FC236}">
                <a16:creationId xmlns:a16="http://schemas.microsoft.com/office/drawing/2014/main" id="{3F59BE08-7089-4A12-B111-284858DD91CD}"/>
              </a:ext>
            </a:extLst>
          </p:cNvPr>
          <p:cNvSpPr>
            <a:spLocks noGrp="1"/>
          </p:cNvSpPr>
          <p:nvPr>
            <p:ph type="dt" sz="half" idx="10"/>
          </p:nvPr>
        </p:nvSpPr>
        <p:spPr/>
        <p:txBody>
          <a:bodyPr/>
          <a:lstStyle/>
          <a:p>
            <a:fld id="{A3433F75-A55F-4619-A262-C3DF2257A96C}" type="datetime1">
              <a:rPr lang="en-GB" smtClean="0"/>
              <a:t>21/02/2023</a:t>
            </a:fld>
            <a:endParaRPr lang="en-GB"/>
          </a:p>
        </p:txBody>
      </p:sp>
    </p:spTree>
    <p:extLst>
      <p:ext uri="{BB962C8B-B14F-4D97-AF65-F5344CB8AC3E}">
        <p14:creationId xmlns:p14="http://schemas.microsoft.com/office/powerpoint/2010/main" val="508144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Accounting Information</a:t>
            </a:r>
            <a:endParaRPr lang="en-US" dirty="0"/>
          </a:p>
        </p:txBody>
      </p:sp>
      <p:sp>
        <p:nvSpPr>
          <p:cNvPr id="3" name="Content Placeholder 2"/>
          <p:cNvSpPr>
            <a:spLocks noGrp="1"/>
          </p:cNvSpPr>
          <p:nvPr>
            <p:ph idx="1"/>
          </p:nvPr>
        </p:nvSpPr>
        <p:spPr/>
        <p:txBody>
          <a:bodyPr>
            <a:noAutofit/>
          </a:bodyPr>
          <a:lstStyle/>
          <a:p>
            <a:r>
              <a:rPr lang="en-GB" altLang="en-US" sz="4200" b="1" dirty="0">
                <a:solidFill>
                  <a:srgbClr val="FF0000"/>
                </a:solidFill>
              </a:rPr>
              <a:t>Investors</a:t>
            </a:r>
            <a:r>
              <a:rPr lang="en-GB" altLang="en-US" sz="4200" dirty="0"/>
              <a:t> </a:t>
            </a:r>
            <a:r>
              <a:rPr lang="en-GB" altLang="en-US" sz="4200" b="1" dirty="0"/>
              <a:t>use accounting information to evaluate business managers and decide where to invest their money</a:t>
            </a:r>
            <a:r>
              <a:rPr lang="en-GB" altLang="en-US" sz="4200" dirty="0"/>
              <a:t>.</a:t>
            </a:r>
          </a:p>
          <a:p>
            <a:endParaRPr lang="en-GB" altLang="en-US" sz="4200" dirty="0"/>
          </a:p>
          <a:p>
            <a:r>
              <a:rPr lang="en-GB" altLang="en-US" sz="4200" b="1" dirty="0">
                <a:solidFill>
                  <a:srgbClr val="FF0000"/>
                </a:solidFill>
              </a:rPr>
              <a:t>Governments</a:t>
            </a:r>
            <a:r>
              <a:rPr lang="en-GB" altLang="en-US" sz="4200" dirty="0"/>
              <a:t> </a:t>
            </a:r>
            <a:r>
              <a:rPr lang="en-GB" altLang="en-US" sz="4200" b="1" dirty="0"/>
              <a:t>use it to determine </a:t>
            </a:r>
            <a:r>
              <a:rPr lang="en-GB" altLang="en-US" sz="4200" b="1" dirty="0">
                <a:solidFill>
                  <a:srgbClr val="FF0000"/>
                </a:solidFill>
              </a:rPr>
              <a:t>taxes</a:t>
            </a:r>
            <a:r>
              <a:rPr lang="en-GB" altLang="en-US" sz="4200" b="1" dirty="0"/>
              <a:t> owed by individuals and businesses and to make policy decisions</a:t>
            </a:r>
            <a:r>
              <a:rPr lang="en-GB" altLang="en-US" sz="4200" dirty="0"/>
              <a:t>.</a:t>
            </a:r>
            <a:endParaRPr lang="en-US" sz="4200" dirty="0"/>
          </a:p>
        </p:txBody>
      </p:sp>
      <p:sp>
        <p:nvSpPr>
          <p:cNvPr id="4" name="Slide Number Placeholder 3"/>
          <p:cNvSpPr>
            <a:spLocks noGrp="1"/>
          </p:cNvSpPr>
          <p:nvPr>
            <p:ph type="sldNum" sz="quarter" idx="12"/>
          </p:nvPr>
        </p:nvSpPr>
        <p:spPr/>
        <p:txBody>
          <a:bodyPr/>
          <a:lstStyle/>
          <a:p>
            <a:fld id="{7E50C373-F1D0-494F-8D6D-366C958B3429}" type="slidenum">
              <a:rPr lang="en-GB" smtClean="0"/>
              <a:t>14</a:t>
            </a:fld>
            <a:endParaRPr lang="en-GB"/>
          </a:p>
        </p:txBody>
      </p:sp>
      <p:sp>
        <p:nvSpPr>
          <p:cNvPr id="5" name="Date Placeholder 4">
            <a:extLst>
              <a:ext uri="{FF2B5EF4-FFF2-40B4-BE49-F238E27FC236}">
                <a16:creationId xmlns:a16="http://schemas.microsoft.com/office/drawing/2014/main" id="{4A316589-9DA3-4741-8D4B-7B65D14884B2}"/>
              </a:ext>
            </a:extLst>
          </p:cNvPr>
          <p:cNvSpPr>
            <a:spLocks noGrp="1"/>
          </p:cNvSpPr>
          <p:nvPr>
            <p:ph type="dt" sz="half" idx="10"/>
          </p:nvPr>
        </p:nvSpPr>
        <p:spPr/>
        <p:txBody>
          <a:bodyPr/>
          <a:lstStyle/>
          <a:p>
            <a:fld id="{141725F0-E92C-4881-A388-E047806CAFD6}" type="datetime1">
              <a:rPr lang="en-GB" smtClean="0"/>
              <a:t>21/02/2023</a:t>
            </a:fld>
            <a:endParaRPr lang="en-GB"/>
          </a:p>
        </p:txBody>
      </p:sp>
    </p:spTree>
    <p:extLst>
      <p:ext uri="{BB962C8B-B14F-4D97-AF65-F5344CB8AC3E}">
        <p14:creationId xmlns:p14="http://schemas.microsoft.com/office/powerpoint/2010/main" val="2905919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b="1" dirty="0"/>
              <a:t>Need for Accounting Information</a:t>
            </a:r>
            <a:endParaRPr lang="en-US" dirty="0"/>
          </a:p>
        </p:txBody>
      </p:sp>
      <p:sp>
        <p:nvSpPr>
          <p:cNvPr id="3" name="Content Placeholder 2"/>
          <p:cNvSpPr>
            <a:spLocks noGrp="1"/>
          </p:cNvSpPr>
          <p:nvPr>
            <p:ph idx="1"/>
          </p:nvPr>
        </p:nvSpPr>
        <p:spPr/>
        <p:txBody>
          <a:bodyPr>
            <a:normAutofit/>
          </a:bodyPr>
          <a:lstStyle/>
          <a:p>
            <a:r>
              <a:rPr lang="en-GB" altLang="en-US" sz="4000" b="1" dirty="0"/>
              <a:t>Accounting is about ACCOUNTABILITY, CONTROL, CO-ORDINATION, and PLANNING.</a:t>
            </a:r>
          </a:p>
          <a:p>
            <a:endParaRPr lang="en-GB" altLang="en-US" sz="4000" b="1" dirty="0"/>
          </a:p>
          <a:p>
            <a:r>
              <a:rPr lang="en-GB" altLang="en-US" sz="4000" b="1" dirty="0"/>
              <a:t>Business Accounting information is required by people </a:t>
            </a:r>
            <a:r>
              <a:rPr lang="en-GB" altLang="en-US" sz="4000" b="1" dirty="0">
                <a:solidFill>
                  <a:srgbClr val="FF0000"/>
                </a:solidFill>
              </a:rPr>
              <a:t>from both outside and inside the organisation.</a:t>
            </a:r>
            <a:endParaRPr lang="en-US" sz="3600" dirty="0">
              <a:solidFill>
                <a:srgbClr val="FF0000"/>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t>15</a:t>
            </a:fld>
            <a:endParaRPr lang="en-GB"/>
          </a:p>
        </p:txBody>
      </p:sp>
      <p:sp>
        <p:nvSpPr>
          <p:cNvPr id="5" name="Date Placeholder 4">
            <a:extLst>
              <a:ext uri="{FF2B5EF4-FFF2-40B4-BE49-F238E27FC236}">
                <a16:creationId xmlns:a16="http://schemas.microsoft.com/office/drawing/2014/main" id="{C2096AFC-B87C-4955-9C26-4C2DE89BECB3}"/>
              </a:ext>
            </a:extLst>
          </p:cNvPr>
          <p:cNvSpPr>
            <a:spLocks noGrp="1"/>
          </p:cNvSpPr>
          <p:nvPr>
            <p:ph type="dt" sz="half" idx="10"/>
          </p:nvPr>
        </p:nvSpPr>
        <p:spPr/>
        <p:txBody>
          <a:bodyPr/>
          <a:lstStyle/>
          <a:p>
            <a:fld id="{8AAE2E70-CED8-4249-9D65-FE7EC5F762C1}" type="datetime1">
              <a:rPr lang="en-GB" smtClean="0"/>
              <a:t>21/02/2023</a:t>
            </a:fld>
            <a:endParaRPr lang="en-GB"/>
          </a:p>
        </p:txBody>
      </p:sp>
    </p:spTree>
    <p:extLst>
      <p:ext uri="{BB962C8B-B14F-4D97-AF65-F5344CB8AC3E}">
        <p14:creationId xmlns:p14="http://schemas.microsoft.com/office/powerpoint/2010/main" val="3394627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b="1" dirty="0"/>
              <a:t>Need for Accounting Information</a:t>
            </a:r>
            <a:endParaRPr lang="en-US" dirty="0"/>
          </a:p>
        </p:txBody>
      </p:sp>
      <p:sp>
        <p:nvSpPr>
          <p:cNvPr id="3" name="Content Placeholder 2"/>
          <p:cNvSpPr>
            <a:spLocks noGrp="1"/>
          </p:cNvSpPr>
          <p:nvPr>
            <p:ph idx="1"/>
          </p:nvPr>
        </p:nvSpPr>
        <p:spPr>
          <a:xfrm>
            <a:off x="838200" y="1825625"/>
            <a:ext cx="10515600" cy="4530725"/>
          </a:xfrm>
        </p:spPr>
        <p:txBody>
          <a:bodyPr>
            <a:noAutofit/>
          </a:bodyPr>
          <a:lstStyle/>
          <a:p>
            <a:r>
              <a:rPr lang="en-GB" altLang="en-US" sz="3800" b="1" dirty="0"/>
              <a:t>People </a:t>
            </a:r>
            <a:r>
              <a:rPr lang="en-GB" altLang="en-US" sz="3800" b="1" i="1" dirty="0">
                <a:solidFill>
                  <a:srgbClr val="FF0000"/>
                </a:solidFill>
              </a:rPr>
              <a:t>outside</a:t>
            </a:r>
            <a:r>
              <a:rPr lang="en-GB" altLang="en-US" sz="3800" b="1" dirty="0"/>
              <a:t> the business </a:t>
            </a:r>
            <a:r>
              <a:rPr lang="en-GB" altLang="en-US" sz="3800" b="1" dirty="0">
                <a:solidFill>
                  <a:srgbClr val="000099"/>
                </a:solidFill>
              </a:rPr>
              <a:t>usually want summarised information presented in</a:t>
            </a:r>
            <a:r>
              <a:rPr lang="en-GB" altLang="en-US" sz="3800" b="1" dirty="0">
                <a:solidFill>
                  <a:srgbClr val="0033CC"/>
                </a:solidFill>
              </a:rPr>
              <a:t> </a:t>
            </a:r>
            <a:r>
              <a:rPr lang="en-GB" altLang="en-US" sz="3800" b="1" dirty="0"/>
              <a:t>standardised forms</a:t>
            </a:r>
            <a:r>
              <a:rPr lang="en-GB" altLang="en-US" sz="3800" b="1" dirty="0">
                <a:solidFill>
                  <a:srgbClr val="0033CC"/>
                </a:solidFill>
              </a:rPr>
              <a:t> </a:t>
            </a:r>
            <a:r>
              <a:rPr lang="en-GB" altLang="en-US" sz="3800" b="1" dirty="0">
                <a:solidFill>
                  <a:srgbClr val="000099"/>
                </a:solidFill>
              </a:rPr>
              <a:t>and</a:t>
            </a:r>
            <a:r>
              <a:rPr lang="en-GB" altLang="en-US" sz="3800" b="1" dirty="0">
                <a:solidFill>
                  <a:srgbClr val="0033CC"/>
                </a:solidFill>
              </a:rPr>
              <a:t> </a:t>
            </a:r>
            <a:r>
              <a:rPr lang="en-GB" altLang="en-US" sz="3800" b="1" dirty="0"/>
              <a:t>reported at </a:t>
            </a:r>
            <a:r>
              <a:rPr lang="en-GB" altLang="en-US" sz="3800" b="1" dirty="0">
                <a:solidFill>
                  <a:srgbClr val="000099"/>
                </a:solidFill>
              </a:rPr>
              <a:t>annual or quarterly intervals</a:t>
            </a:r>
            <a:r>
              <a:rPr lang="en-GB" altLang="en-US" sz="3800" dirty="0"/>
              <a:t>.</a:t>
            </a:r>
          </a:p>
          <a:p>
            <a:endParaRPr lang="en-GB" altLang="en-US" sz="3800" dirty="0"/>
          </a:p>
          <a:p>
            <a:r>
              <a:rPr lang="en-GB" altLang="en-US" sz="3800" dirty="0"/>
              <a:t>(</a:t>
            </a:r>
            <a:r>
              <a:rPr lang="en-GB" altLang="en-US" sz="3800" b="1" dirty="0"/>
              <a:t>External Users (People </a:t>
            </a:r>
            <a:r>
              <a:rPr lang="en-GB" altLang="en-US" sz="3800" b="1" i="1" dirty="0">
                <a:solidFill>
                  <a:srgbClr val="FF0000"/>
                </a:solidFill>
              </a:rPr>
              <a:t>outside</a:t>
            </a:r>
            <a:r>
              <a:rPr lang="en-GB" altLang="en-US" sz="3800" b="1" dirty="0"/>
              <a:t>):</a:t>
            </a:r>
            <a:r>
              <a:rPr lang="en-GB" altLang="en-US" sz="3800" b="1" dirty="0">
                <a:solidFill>
                  <a:srgbClr val="FF0000"/>
                </a:solidFill>
              </a:rPr>
              <a:t> Lenders, Shareholders, Governments, Labour Unions, External Auditors, Customers</a:t>
            </a:r>
            <a:r>
              <a:rPr lang="en-GB" altLang="en-US" sz="3800" dirty="0"/>
              <a:t>).</a:t>
            </a:r>
            <a:endParaRPr lang="en-US" sz="3800" dirty="0"/>
          </a:p>
        </p:txBody>
      </p:sp>
      <p:sp>
        <p:nvSpPr>
          <p:cNvPr id="4" name="Slide Number Placeholder 3"/>
          <p:cNvSpPr>
            <a:spLocks noGrp="1"/>
          </p:cNvSpPr>
          <p:nvPr>
            <p:ph type="sldNum" sz="quarter" idx="12"/>
          </p:nvPr>
        </p:nvSpPr>
        <p:spPr/>
        <p:txBody>
          <a:bodyPr/>
          <a:lstStyle/>
          <a:p>
            <a:fld id="{7E50C373-F1D0-494F-8D6D-366C958B3429}" type="slidenum">
              <a:rPr lang="en-GB" smtClean="0"/>
              <a:t>16</a:t>
            </a:fld>
            <a:endParaRPr lang="en-GB"/>
          </a:p>
        </p:txBody>
      </p:sp>
      <p:sp>
        <p:nvSpPr>
          <p:cNvPr id="5" name="Date Placeholder 4">
            <a:extLst>
              <a:ext uri="{FF2B5EF4-FFF2-40B4-BE49-F238E27FC236}">
                <a16:creationId xmlns:a16="http://schemas.microsoft.com/office/drawing/2014/main" id="{33E0BDF5-AABE-47C4-89EF-3CDFAD3C7B52}"/>
              </a:ext>
            </a:extLst>
          </p:cNvPr>
          <p:cNvSpPr>
            <a:spLocks noGrp="1"/>
          </p:cNvSpPr>
          <p:nvPr>
            <p:ph type="dt" sz="half" idx="10"/>
          </p:nvPr>
        </p:nvSpPr>
        <p:spPr/>
        <p:txBody>
          <a:bodyPr/>
          <a:lstStyle/>
          <a:p>
            <a:fld id="{B81391D5-EBB5-43C2-A72B-8509678CED96}" type="datetime1">
              <a:rPr lang="en-GB" smtClean="0"/>
              <a:t>21/02/2023</a:t>
            </a:fld>
            <a:endParaRPr lang="en-GB"/>
          </a:p>
        </p:txBody>
      </p:sp>
    </p:spTree>
    <p:extLst>
      <p:ext uri="{BB962C8B-B14F-4D97-AF65-F5344CB8AC3E}">
        <p14:creationId xmlns:p14="http://schemas.microsoft.com/office/powerpoint/2010/main" val="1856387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b="1" dirty="0"/>
              <a:t>Need for Accounting Information</a:t>
            </a:r>
            <a:endParaRPr lang="en-US" dirty="0"/>
          </a:p>
        </p:txBody>
      </p:sp>
      <p:sp>
        <p:nvSpPr>
          <p:cNvPr id="3" name="Content Placeholder 2"/>
          <p:cNvSpPr>
            <a:spLocks noGrp="1"/>
          </p:cNvSpPr>
          <p:nvPr>
            <p:ph idx="1"/>
          </p:nvPr>
        </p:nvSpPr>
        <p:spPr/>
        <p:txBody>
          <a:bodyPr>
            <a:noAutofit/>
          </a:bodyPr>
          <a:lstStyle/>
          <a:p>
            <a:r>
              <a:rPr lang="en-GB" altLang="en-US" sz="5400" dirty="0"/>
              <a:t>People </a:t>
            </a:r>
            <a:r>
              <a:rPr lang="en-GB" altLang="en-US" sz="5400" b="1" i="1" dirty="0"/>
              <a:t>inside</a:t>
            </a:r>
            <a:r>
              <a:rPr lang="en-GB" altLang="en-US" sz="5400" dirty="0"/>
              <a:t> the business want </a:t>
            </a:r>
            <a:r>
              <a:rPr lang="en-GB" altLang="en-US" sz="5400" b="1" dirty="0">
                <a:solidFill>
                  <a:srgbClr val="000099"/>
                </a:solidFill>
              </a:rPr>
              <a:t>detailed information tailored to the needs of specific decisions</a:t>
            </a:r>
            <a:r>
              <a:rPr lang="en-GB" altLang="en-US" sz="5400" dirty="0"/>
              <a:t> and </a:t>
            </a:r>
            <a:r>
              <a:rPr lang="en-GB" altLang="en-US" sz="5400" b="1" dirty="0">
                <a:solidFill>
                  <a:srgbClr val="FF0000"/>
                </a:solidFill>
              </a:rPr>
              <a:t>reported at frequent intervals – often weekly or monthly</a:t>
            </a:r>
            <a:r>
              <a:rPr lang="en-GB" altLang="en-US" sz="5400" dirty="0"/>
              <a:t>.</a:t>
            </a:r>
            <a:endParaRPr lang="en-US" sz="5400" dirty="0"/>
          </a:p>
        </p:txBody>
      </p:sp>
      <p:sp>
        <p:nvSpPr>
          <p:cNvPr id="4" name="Slide Number Placeholder 3"/>
          <p:cNvSpPr>
            <a:spLocks noGrp="1"/>
          </p:cNvSpPr>
          <p:nvPr>
            <p:ph type="sldNum" sz="quarter" idx="12"/>
          </p:nvPr>
        </p:nvSpPr>
        <p:spPr/>
        <p:txBody>
          <a:bodyPr/>
          <a:lstStyle/>
          <a:p>
            <a:fld id="{7E50C373-F1D0-494F-8D6D-366C958B3429}" type="slidenum">
              <a:rPr lang="en-GB" smtClean="0"/>
              <a:t>17</a:t>
            </a:fld>
            <a:endParaRPr lang="en-GB"/>
          </a:p>
        </p:txBody>
      </p:sp>
      <p:sp>
        <p:nvSpPr>
          <p:cNvPr id="5" name="Date Placeholder 4">
            <a:extLst>
              <a:ext uri="{FF2B5EF4-FFF2-40B4-BE49-F238E27FC236}">
                <a16:creationId xmlns:a16="http://schemas.microsoft.com/office/drawing/2014/main" id="{259A97D5-E142-4E6E-BD72-0010AC321C1C}"/>
              </a:ext>
            </a:extLst>
          </p:cNvPr>
          <p:cNvSpPr>
            <a:spLocks noGrp="1"/>
          </p:cNvSpPr>
          <p:nvPr>
            <p:ph type="dt" sz="half" idx="10"/>
          </p:nvPr>
        </p:nvSpPr>
        <p:spPr/>
        <p:txBody>
          <a:bodyPr/>
          <a:lstStyle/>
          <a:p>
            <a:fld id="{FA528836-BFF0-4C37-BE43-ADA54BD9CC2B}" type="datetime1">
              <a:rPr lang="en-GB" smtClean="0"/>
              <a:t>21/02/2023</a:t>
            </a:fld>
            <a:endParaRPr lang="en-GB"/>
          </a:p>
        </p:txBody>
      </p:sp>
    </p:spTree>
    <p:extLst>
      <p:ext uri="{BB962C8B-B14F-4D97-AF65-F5344CB8AC3E}">
        <p14:creationId xmlns:p14="http://schemas.microsoft.com/office/powerpoint/2010/main" val="2128902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Inside Demand for Accounting Information</a:t>
            </a:r>
            <a:endParaRPr lang="en-US" dirty="0"/>
          </a:p>
        </p:txBody>
      </p:sp>
      <p:sp>
        <p:nvSpPr>
          <p:cNvPr id="3" name="Content Placeholder 2"/>
          <p:cNvSpPr>
            <a:spLocks noGrp="1"/>
          </p:cNvSpPr>
          <p:nvPr>
            <p:ph idx="1"/>
          </p:nvPr>
        </p:nvSpPr>
        <p:spPr/>
        <p:txBody>
          <a:bodyPr>
            <a:normAutofit fontScale="85000" lnSpcReduction="20000"/>
          </a:bodyPr>
          <a:lstStyle/>
          <a:p>
            <a:r>
              <a:rPr lang="en-GB" altLang="en-US" sz="6500" b="1" dirty="0"/>
              <a:t>The principal demand for accounting information </a:t>
            </a:r>
            <a:r>
              <a:rPr lang="en-GB" altLang="en-US" sz="6500" b="1" dirty="0">
                <a:solidFill>
                  <a:srgbClr val="FF0000"/>
                </a:solidFill>
              </a:rPr>
              <a:t>from inside the business</a:t>
            </a:r>
            <a:r>
              <a:rPr lang="en-GB" altLang="en-US" sz="6500" b="1" dirty="0"/>
              <a:t> comes from </a:t>
            </a:r>
            <a:r>
              <a:rPr lang="en-GB" altLang="en-US" sz="6500" b="1" i="1" dirty="0">
                <a:solidFill>
                  <a:srgbClr val="FF0000"/>
                </a:solidFill>
              </a:rPr>
              <a:t>managers</a:t>
            </a:r>
            <a:r>
              <a:rPr lang="en-GB" altLang="en-US" sz="6500" b="1" dirty="0"/>
              <a:t> – whether they are hired or own their own business – and </a:t>
            </a:r>
            <a:r>
              <a:rPr lang="en-GB" altLang="en-US" sz="6500" b="1" i="1" dirty="0">
                <a:solidFill>
                  <a:srgbClr val="FF0000"/>
                </a:solidFill>
              </a:rPr>
              <a:t>employees</a:t>
            </a:r>
            <a:r>
              <a:rPr lang="en-GB" altLang="en-US" sz="6500" b="1" i="1" dirty="0"/>
              <a:t>.</a:t>
            </a:r>
            <a:endParaRPr lang="en-US" sz="4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18</a:t>
            </a:fld>
            <a:endParaRPr lang="en-GB"/>
          </a:p>
        </p:txBody>
      </p:sp>
      <p:sp>
        <p:nvSpPr>
          <p:cNvPr id="5" name="Date Placeholder 4">
            <a:extLst>
              <a:ext uri="{FF2B5EF4-FFF2-40B4-BE49-F238E27FC236}">
                <a16:creationId xmlns:a16="http://schemas.microsoft.com/office/drawing/2014/main" id="{FA76F641-8E8D-46B8-83BB-D9FDA9650EC6}"/>
              </a:ext>
            </a:extLst>
          </p:cNvPr>
          <p:cNvSpPr>
            <a:spLocks noGrp="1"/>
          </p:cNvSpPr>
          <p:nvPr>
            <p:ph type="dt" sz="half" idx="10"/>
          </p:nvPr>
        </p:nvSpPr>
        <p:spPr/>
        <p:txBody>
          <a:bodyPr/>
          <a:lstStyle/>
          <a:p>
            <a:fld id="{224A9755-AA64-46B6-BF90-93C614597807}" type="datetime1">
              <a:rPr lang="en-GB" smtClean="0"/>
              <a:t>21/02/2023</a:t>
            </a:fld>
            <a:endParaRPr lang="en-GB"/>
          </a:p>
        </p:txBody>
      </p:sp>
    </p:spTree>
    <p:extLst>
      <p:ext uri="{BB962C8B-B14F-4D97-AF65-F5344CB8AC3E}">
        <p14:creationId xmlns:p14="http://schemas.microsoft.com/office/powerpoint/2010/main" val="3942693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Managers</a:t>
            </a:r>
            <a:endParaRPr lang="en-US" dirty="0"/>
          </a:p>
        </p:txBody>
      </p:sp>
      <p:sp>
        <p:nvSpPr>
          <p:cNvPr id="3" name="Content Placeholder 2"/>
          <p:cNvSpPr>
            <a:spLocks noGrp="1"/>
          </p:cNvSpPr>
          <p:nvPr>
            <p:ph idx="1"/>
          </p:nvPr>
        </p:nvSpPr>
        <p:spPr>
          <a:xfrm>
            <a:off x="557431" y="1825625"/>
            <a:ext cx="10796369" cy="4351338"/>
          </a:xfrm>
        </p:spPr>
        <p:txBody>
          <a:bodyPr>
            <a:noAutofit/>
          </a:bodyPr>
          <a:lstStyle/>
          <a:p>
            <a:r>
              <a:rPr lang="en-GB" altLang="en-US" sz="4900" b="1" i="1" dirty="0"/>
              <a:t>Managers</a:t>
            </a:r>
            <a:r>
              <a:rPr lang="en-GB" altLang="en-US" sz="4900" b="1" dirty="0"/>
              <a:t> need accounting information to control both </a:t>
            </a:r>
            <a:r>
              <a:rPr lang="en-GB" altLang="en-US" sz="4900" b="1" dirty="0">
                <a:solidFill>
                  <a:srgbClr val="FF0000"/>
                </a:solidFill>
              </a:rPr>
              <a:t>human</a:t>
            </a:r>
            <a:r>
              <a:rPr lang="en-GB" altLang="en-US" sz="4900" b="1" dirty="0"/>
              <a:t> and </a:t>
            </a:r>
            <a:r>
              <a:rPr lang="en-GB" altLang="en-US" sz="4900" b="1" dirty="0">
                <a:solidFill>
                  <a:srgbClr val="FF0000"/>
                </a:solidFill>
              </a:rPr>
              <a:t>material resources</a:t>
            </a:r>
            <a:r>
              <a:rPr lang="en-GB" altLang="en-US" sz="4900" b="1" dirty="0"/>
              <a:t> of the business and to direct resources to the most promising products or sub-units of the business.</a:t>
            </a:r>
            <a:endParaRPr lang="en-US" sz="4900" dirty="0"/>
          </a:p>
        </p:txBody>
      </p:sp>
      <p:sp>
        <p:nvSpPr>
          <p:cNvPr id="4" name="Slide Number Placeholder 3"/>
          <p:cNvSpPr>
            <a:spLocks noGrp="1"/>
          </p:cNvSpPr>
          <p:nvPr>
            <p:ph type="sldNum" sz="quarter" idx="12"/>
          </p:nvPr>
        </p:nvSpPr>
        <p:spPr/>
        <p:txBody>
          <a:bodyPr/>
          <a:lstStyle/>
          <a:p>
            <a:fld id="{7E50C373-F1D0-494F-8D6D-366C958B3429}" type="slidenum">
              <a:rPr lang="en-GB" smtClean="0"/>
              <a:t>19</a:t>
            </a:fld>
            <a:endParaRPr lang="en-GB"/>
          </a:p>
        </p:txBody>
      </p:sp>
      <p:sp>
        <p:nvSpPr>
          <p:cNvPr id="5" name="Date Placeholder 4">
            <a:extLst>
              <a:ext uri="{FF2B5EF4-FFF2-40B4-BE49-F238E27FC236}">
                <a16:creationId xmlns:a16="http://schemas.microsoft.com/office/drawing/2014/main" id="{88A1DCD1-1770-4441-B1C4-D1AF1ED9E7E1}"/>
              </a:ext>
            </a:extLst>
          </p:cNvPr>
          <p:cNvSpPr>
            <a:spLocks noGrp="1"/>
          </p:cNvSpPr>
          <p:nvPr>
            <p:ph type="dt" sz="half" idx="10"/>
          </p:nvPr>
        </p:nvSpPr>
        <p:spPr/>
        <p:txBody>
          <a:bodyPr/>
          <a:lstStyle/>
          <a:p>
            <a:fld id="{94E1C164-35CF-4BD6-92D3-4200338AF641}" type="datetime1">
              <a:rPr lang="en-GB" smtClean="0"/>
              <a:t>21/02/2023</a:t>
            </a:fld>
            <a:endParaRPr lang="en-GB"/>
          </a:p>
        </p:txBody>
      </p:sp>
    </p:spTree>
    <p:extLst>
      <p:ext uri="{BB962C8B-B14F-4D97-AF65-F5344CB8AC3E}">
        <p14:creationId xmlns:p14="http://schemas.microsoft.com/office/powerpoint/2010/main" val="2395398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sz="6700" b="1" dirty="0"/>
              <a:t>Employees</a:t>
            </a:r>
            <a:endParaRPr lang="en-US" dirty="0"/>
          </a:p>
        </p:txBody>
      </p:sp>
      <p:sp>
        <p:nvSpPr>
          <p:cNvPr id="3" name="Content Placeholder 2"/>
          <p:cNvSpPr>
            <a:spLocks noGrp="1"/>
          </p:cNvSpPr>
          <p:nvPr>
            <p:ph idx="1"/>
          </p:nvPr>
        </p:nvSpPr>
        <p:spPr>
          <a:xfrm>
            <a:off x="817418" y="1506969"/>
            <a:ext cx="10515600" cy="4957769"/>
          </a:xfrm>
        </p:spPr>
        <p:txBody>
          <a:bodyPr>
            <a:noAutofit/>
          </a:bodyPr>
          <a:lstStyle/>
          <a:p>
            <a:r>
              <a:rPr lang="en-GB" altLang="en-US" sz="6000" b="1" dirty="0">
                <a:solidFill>
                  <a:srgbClr val="FF0000"/>
                </a:solidFill>
              </a:rPr>
              <a:t>Employees have a special interest in an organisation. They are interested in judging the fairness of wages and in assessing future job prospects</a:t>
            </a:r>
            <a:r>
              <a:rPr lang="en-GB" altLang="en-US" sz="6000" dirty="0">
                <a:solidFill>
                  <a:srgbClr val="FF0000"/>
                </a:solidFill>
              </a:rPr>
              <a:t>.</a:t>
            </a:r>
            <a:endParaRPr lang="en-US" sz="3100" dirty="0"/>
          </a:p>
        </p:txBody>
      </p:sp>
      <p:sp>
        <p:nvSpPr>
          <p:cNvPr id="4" name="Slide Number Placeholder 3"/>
          <p:cNvSpPr>
            <a:spLocks noGrp="1"/>
          </p:cNvSpPr>
          <p:nvPr>
            <p:ph type="sldNum" sz="quarter" idx="12"/>
          </p:nvPr>
        </p:nvSpPr>
        <p:spPr/>
        <p:txBody>
          <a:bodyPr/>
          <a:lstStyle/>
          <a:p>
            <a:fld id="{7E50C373-F1D0-494F-8D6D-366C958B3429}" type="slidenum">
              <a:rPr lang="en-GB" smtClean="0"/>
              <a:t>20</a:t>
            </a:fld>
            <a:endParaRPr lang="en-GB"/>
          </a:p>
        </p:txBody>
      </p:sp>
      <p:sp>
        <p:nvSpPr>
          <p:cNvPr id="5" name="Date Placeholder 4">
            <a:extLst>
              <a:ext uri="{FF2B5EF4-FFF2-40B4-BE49-F238E27FC236}">
                <a16:creationId xmlns:a16="http://schemas.microsoft.com/office/drawing/2014/main" id="{A0D3394C-75D8-46DB-9084-E664F9C9A0D9}"/>
              </a:ext>
            </a:extLst>
          </p:cNvPr>
          <p:cNvSpPr>
            <a:spLocks noGrp="1"/>
          </p:cNvSpPr>
          <p:nvPr>
            <p:ph type="dt" sz="half" idx="10"/>
          </p:nvPr>
        </p:nvSpPr>
        <p:spPr/>
        <p:txBody>
          <a:bodyPr/>
          <a:lstStyle/>
          <a:p>
            <a:fld id="{472C7C26-1225-471F-84DD-D97A6B61F6AD}" type="datetime1">
              <a:rPr lang="en-GB" smtClean="0"/>
              <a:t>21/02/2023</a:t>
            </a:fld>
            <a:endParaRPr lang="en-GB"/>
          </a:p>
        </p:txBody>
      </p:sp>
    </p:spTree>
    <p:extLst>
      <p:ext uri="{BB962C8B-B14F-4D97-AF65-F5344CB8AC3E}">
        <p14:creationId xmlns:p14="http://schemas.microsoft.com/office/powerpoint/2010/main" val="707917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sz="6700" b="1" dirty="0"/>
              <a:t>Employees</a:t>
            </a:r>
            <a:endParaRPr lang="en-US" dirty="0"/>
          </a:p>
        </p:txBody>
      </p:sp>
      <p:sp>
        <p:nvSpPr>
          <p:cNvPr id="3" name="Content Placeholder 2"/>
          <p:cNvSpPr>
            <a:spLocks noGrp="1"/>
          </p:cNvSpPr>
          <p:nvPr>
            <p:ph idx="1"/>
          </p:nvPr>
        </p:nvSpPr>
        <p:spPr>
          <a:xfrm>
            <a:off x="817418" y="1506969"/>
            <a:ext cx="10515600" cy="4957769"/>
          </a:xfrm>
        </p:spPr>
        <p:txBody>
          <a:bodyPr>
            <a:noAutofit/>
          </a:bodyPr>
          <a:lstStyle/>
          <a:p>
            <a:r>
              <a:rPr lang="en-GB" altLang="en-US" sz="4400" b="1" dirty="0"/>
              <a:t>Financial statements provide information useful in addressing these interests</a:t>
            </a:r>
            <a:r>
              <a:rPr lang="en-GB" altLang="en-US" sz="4400" dirty="0"/>
              <a:t>.</a:t>
            </a:r>
          </a:p>
          <a:p>
            <a:endParaRPr lang="en-GB" altLang="en-US" sz="4400" dirty="0"/>
          </a:p>
          <a:p>
            <a:r>
              <a:rPr lang="en-GB" altLang="en-US" sz="4400" b="1" dirty="0">
                <a:solidFill>
                  <a:srgbClr val="FF0000"/>
                </a:solidFill>
              </a:rPr>
              <a:t>Financial statements</a:t>
            </a:r>
            <a:r>
              <a:rPr lang="en-GB" altLang="en-US" sz="4400" b="1" dirty="0"/>
              <a:t> are also used in bargaining for better wages when the organisation is successful</a:t>
            </a:r>
            <a:r>
              <a:rPr lang="en-GB" altLang="en-US" sz="4400" dirty="0"/>
              <a:t>.</a:t>
            </a:r>
            <a:endParaRPr lang="en-US" sz="3100" dirty="0"/>
          </a:p>
        </p:txBody>
      </p:sp>
      <p:sp>
        <p:nvSpPr>
          <p:cNvPr id="4" name="Slide Number Placeholder 3"/>
          <p:cNvSpPr>
            <a:spLocks noGrp="1"/>
          </p:cNvSpPr>
          <p:nvPr>
            <p:ph type="sldNum" sz="quarter" idx="12"/>
          </p:nvPr>
        </p:nvSpPr>
        <p:spPr/>
        <p:txBody>
          <a:bodyPr/>
          <a:lstStyle/>
          <a:p>
            <a:fld id="{7E50C373-F1D0-494F-8D6D-366C958B3429}" type="slidenum">
              <a:rPr lang="en-GB" smtClean="0"/>
              <a:t>21</a:t>
            </a:fld>
            <a:endParaRPr lang="en-GB"/>
          </a:p>
        </p:txBody>
      </p:sp>
      <p:sp>
        <p:nvSpPr>
          <p:cNvPr id="5" name="Date Placeholder 4">
            <a:extLst>
              <a:ext uri="{FF2B5EF4-FFF2-40B4-BE49-F238E27FC236}">
                <a16:creationId xmlns:a16="http://schemas.microsoft.com/office/drawing/2014/main" id="{A0D3394C-75D8-46DB-9084-E664F9C9A0D9}"/>
              </a:ext>
            </a:extLst>
          </p:cNvPr>
          <p:cNvSpPr>
            <a:spLocks noGrp="1"/>
          </p:cNvSpPr>
          <p:nvPr>
            <p:ph type="dt" sz="half" idx="10"/>
          </p:nvPr>
        </p:nvSpPr>
        <p:spPr/>
        <p:txBody>
          <a:bodyPr/>
          <a:lstStyle/>
          <a:p>
            <a:fld id="{472C7C26-1225-471F-84DD-D97A6B61F6AD}" type="datetime1">
              <a:rPr lang="en-GB" smtClean="0"/>
              <a:t>21/02/2023</a:t>
            </a:fld>
            <a:endParaRPr lang="en-GB"/>
          </a:p>
        </p:txBody>
      </p:sp>
    </p:spTree>
    <p:extLst>
      <p:ext uri="{BB962C8B-B14F-4D97-AF65-F5344CB8AC3E}">
        <p14:creationId xmlns:p14="http://schemas.microsoft.com/office/powerpoint/2010/main" val="2338452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t>Financial Accounting &amp; Management Accounting</a:t>
            </a:r>
            <a:endParaRPr lang="en-US" dirty="0"/>
          </a:p>
        </p:txBody>
      </p:sp>
      <p:sp>
        <p:nvSpPr>
          <p:cNvPr id="3" name="Content Placeholder 2"/>
          <p:cNvSpPr>
            <a:spLocks noGrp="1"/>
          </p:cNvSpPr>
          <p:nvPr>
            <p:ph idx="1"/>
          </p:nvPr>
        </p:nvSpPr>
        <p:spPr/>
        <p:txBody>
          <a:bodyPr>
            <a:noAutofit/>
          </a:bodyPr>
          <a:lstStyle/>
          <a:p>
            <a:r>
              <a:rPr lang="en-GB" altLang="en-US" sz="6000" b="1" dirty="0">
                <a:solidFill>
                  <a:srgbClr val="FF0000"/>
                </a:solidFill>
              </a:rPr>
              <a:t>Financial Accounting</a:t>
            </a:r>
            <a:endParaRPr lang="en-GB" altLang="en-US" sz="6000" b="1" dirty="0"/>
          </a:p>
          <a:p>
            <a:endParaRPr lang="en-GB" altLang="en-US" sz="6000" b="1" dirty="0">
              <a:solidFill>
                <a:srgbClr val="FF0000"/>
              </a:solidFill>
            </a:endParaRPr>
          </a:p>
          <a:p>
            <a:r>
              <a:rPr lang="en-GB" altLang="en-US" sz="6000" b="1" dirty="0">
                <a:solidFill>
                  <a:srgbClr val="FF0000"/>
                </a:solidFill>
              </a:rPr>
              <a:t>Management Accounting</a:t>
            </a:r>
            <a:endParaRPr lang="en-US" sz="4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22</a:t>
            </a:fld>
            <a:endParaRPr lang="en-GB"/>
          </a:p>
        </p:txBody>
      </p:sp>
      <p:sp>
        <p:nvSpPr>
          <p:cNvPr id="5" name="Date Placeholder 4">
            <a:extLst>
              <a:ext uri="{FF2B5EF4-FFF2-40B4-BE49-F238E27FC236}">
                <a16:creationId xmlns:a16="http://schemas.microsoft.com/office/drawing/2014/main" id="{8601797D-C663-4131-9163-326484FA40F9}"/>
              </a:ext>
            </a:extLst>
          </p:cNvPr>
          <p:cNvSpPr>
            <a:spLocks noGrp="1"/>
          </p:cNvSpPr>
          <p:nvPr>
            <p:ph type="dt" sz="half" idx="10"/>
          </p:nvPr>
        </p:nvSpPr>
        <p:spPr/>
        <p:txBody>
          <a:bodyPr/>
          <a:lstStyle/>
          <a:p>
            <a:fld id="{50E72826-E8F0-4B1F-AD95-EE0C97704223}" type="datetime1">
              <a:rPr lang="en-GB" smtClean="0"/>
              <a:t>21/02/2023</a:t>
            </a:fld>
            <a:endParaRPr lang="en-GB"/>
          </a:p>
        </p:txBody>
      </p:sp>
    </p:spTree>
    <p:extLst>
      <p:ext uri="{BB962C8B-B14F-4D97-AF65-F5344CB8AC3E}">
        <p14:creationId xmlns:p14="http://schemas.microsoft.com/office/powerpoint/2010/main" val="2789226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t>Financial Accounting &amp; Management Accounting</a:t>
            </a:r>
            <a:endParaRPr lang="en-US" dirty="0"/>
          </a:p>
        </p:txBody>
      </p:sp>
      <p:sp>
        <p:nvSpPr>
          <p:cNvPr id="3" name="Content Placeholder 2"/>
          <p:cNvSpPr>
            <a:spLocks noGrp="1"/>
          </p:cNvSpPr>
          <p:nvPr>
            <p:ph idx="1"/>
          </p:nvPr>
        </p:nvSpPr>
        <p:spPr/>
        <p:txBody>
          <a:bodyPr>
            <a:noAutofit/>
          </a:bodyPr>
          <a:lstStyle/>
          <a:p>
            <a:r>
              <a:rPr lang="en-GB" altLang="en-US" sz="6600" b="1" dirty="0">
                <a:solidFill>
                  <a:srgbClr val="FF0000"/>
                </a:solidFill>
              </a:rPr>
              <a:t>Financial Accounting</a:t>
            </a:r>
            <a:r>
              <a:rPr lang="en-GB" altLang="en-US" sz="6600" b="1" dirty="0"/>
              <a:t>: Accounting and reporting to satisfy the outside demand for accounting information.</a:t>
            </a:r>
            <a:endParaRPr lang="en-US" sz="4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23</a:t>
            </a:fld>
            <a:endParaRPr lang="en-GB"/>
          </a:p>
        </p:txBody>
      </p:sp>
      <p:sp>
        <p:nvSpPr>
          <p:cNvPr id="5" name="Date Placeholder 4">
            <a:extLst>
              <a:ext uri="{FF2B5EF4-FFF2-40B4-BE49-F238E27FC236}">
                <a16:creationId xmlns:a16="http://schemas.microsoft.com/office/drawing/2014/main" id="{8601797D-C663-4131-9163-326484FA40F9}"/>
              </a:ext>
            </a:extLst>
          </p:cNvPr>
          <p:cNvSpPr>
            <a:spLocks noGrp="1"/>
          </p:cNvSpPr>
          <p:nvPr>
            <p:ph type="dt" sz="half" idx="10"/>
          </p:nvPr>
        </p:nvSpPr>
        <p:spPr/>
        <p:txBody>
          <a:bodyPr/>
          <a:lstStyle/>
          <a:p>
            <a:fld id="{50E72826-E8F0-4B1F-AD95-EE0C97704223}" type="datetime1">
              <a:rPr lang="en-GB" smtClean="0"/>
              <a:t>21/02/2023</a:t>
            </a:fld>
            <a:endParaRPr lang="en-GB"/>
          </a:p>
        </p:txBody>
      </p:sp>
    </p:spTree>
    <p:extLst>
      <p:ext uri="{BB962C8B-B14F-4D97-AF65-F5344CB8AC3E}">
        <p14:creationId xmlns:p14="http://schemas.microsoft.com/office/powerpoint/2010/main" val="2344838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t>Financial Accounting &amp; Management Accounting</a:t>
            </a:r>
            <a:endParaRPr lang="en-US" dirty="0"/>
          </a:p>
        </p:txBody>
      </p:sp>
      <p:sp>
        <p:nvSpPr>
          <p:cNvPr id="3" name="Content Placeholder 2"/>
          <p:cNvSpPr>
            <a:spLocks noGrp="1"/>
          </p:cNvSpPr>
          <p:nvPr>
            <p:ph idx="1"/>
          </p:nvPr>
        </p:nvSpPr>
        <p:spPr/>
        <p:txBody>
          <a:bodyPr>
            <a:noAutofit/>
          </a:bodyPr>
          <a:lstStyle/>
          <a:p>
            <a:r>
              <a:rPr lang="en-GB" altLang="en-US" sz="6000" b="1" dirty="0">
                <a:solidFill>
                  <a:srgbClr val="FF0000"/>
                </a:solidFill>
              </a:rPr>
              <a:t>Management Accounting</a:t>
            </a:r>
            <a:r>
              <a:rPr lang="en-GB" altLang="en-US" sz="6000" b="1" dirty="0"/>
              <a:t>: Accounting and reporting to satisfy the inside demand for accounting information.</a:t>
            </a:r>
            <a:endParaRPr lang="en-US" sz="4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24</a:t>
            </a:fld>
            <a:endParaRPr lang="en-GB"/>
          </a:p>
        </p:txBody>
      </p:sp>
      <p:sp>
        <p:nvSpPr>
          <p:cNvPr id="5" name="Date Placeholder 4">
            <a:extLst>
              <a:ext uri="{FF2B5EF4-FFF2-40B4-BE49-F238E27FC236}">
                <a16:creationId xmlns:a16="http://schemas.microsoft.com/office/drawing/2014/main" id="{8601797D-C663-4131-9163-326484FA40F9}"/>
              </a:ext>
            </a:extLst>
          </p:cNvPr>
          <p:cNvSpPr>
            <a:spLocks noGrp="1"/>
          </p:cNvSpPr>
          <p:nvPr>
            <p:ph type="dt" sz="half" idx="10"/>
          </p:nvPr>
        </p:nvSpPr>
        <p:spPr/>
        <p:txBody>
          <a:bodyPr/>
          <a:lstStyle/>
          <a:p>
            <a:fld id="{50E72826-E8F0-4B1F-AD95-EE0C97704223}" type="datetime1">
              <a:rPr lang="en-GB" smtClean="0"/>
              <a:t>21/02/2023</a:t>
            </a:fld>
            <a:endParaRPr lang="en-GB"/>
          </a:p>
        </p:txBody>
      </p:sp>
    </p:spTree>
    <p:extLst>
      <p:ext uri="{BB962C8B-B14F-4D97-AF65-F5344CB8AC3E}">
        <p14:creationId xmlns:p14="http://schemas.microsoft.com/office/powerpoint/2010/main" val="424521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Financial Statements</a:t>
            </a:r>
            <a:endParaRPr lang="en-US" dirty="0"/>
          </a:p>
        </p:txBody>
      </p:sp>
      <p:sp>
        <p:nvSpPr>
          <p:cNvPr id="3" name="Content Placeholder 2"/>
          <p:cNvSpPr>
            <a:spLocks noGrp="1"/>
          </p:cNvSpPr>
          <p:nvPr>
            <p:ph idx="1"/>
          </p:nvPr>
        </p:nvSpPr>
        <p:spPr/>
        <p:txBody>
          <a:bodyPr>
            <a:normAutofit/>
          </a:bodyPr>
          <a:lstStyle/>
          <a:p>
            <a:r>
              <a:rPr lang="en-GB" altLang="en-US" sz="7200" b="1" dirty="0"/>
              <a:t>Accounting information is communicated using "</a:t>
            </a:r>
            <a:r>
              <a:rPr lang="en-GB" altLang="en-US" sz="7200" b="1" dirty="0">
                <a:solidFill>
                  <a:srgbClr val="FF0000"/>
                </a:solidFill>
              </a:rPr>
              <a:t>financial statements</a:t>
            </a:r>
            <a:r>
              <a:rPr lang="en-GB" altLang="en-US" sz="7200" b="1" dirty="0"/>
              <a:t>.”</a:t>
            </a:r>
            <a:endParaRPr lang="en-US" sz="72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25</a:t>
            </a:fld>
            <a:endParaRPr lang="en-GB"/>
          </a:p>
        </p:txBody>
      </p:sp>
      <p:sp>
        <p:nvSpPr>
          <p:cNvPr id="5" name="Date Placeholder 4">
            <a:extLst>
              <a:ext uri="{FF2B5EF4-FFF2-40B4-BE49-F238E27FC236}">
                <a16:creationId xmlns:a16="http://schemas.microsoft.com/office/drawing/2014/main" id="{865A81BC-D118-4856-8459-A88DD8FDDF91}"/>
              </a:ext>
            </a:extLst>
          </p:cNvPr>
          <p:cNvSpPr>
            <a:spLocks noGrp="1"/>
          </p:cNvSpPr>
          <p:nvPr>
            <p:ph type="dt" sz="half" idx="10"/>
          </p:nvPr>
        </p:nvSpPr>
        <p:spPr/>
        <p:txBody>
          <a:bodyPr/>
          <a:lstStyle/>
          <a:p>
            <a:fld id="{A687CF94-808E-470C-B616-A0D126C084F0}" type="datetime1">
              <a:rPr lang="en-GB" smtClean="0"/>
              <a:t>21/02/2023</a:t>
            </a:fld>
            <a:endParaRPr lang="en-GB"/>
          </a:p>
        </p:txBody>
      </p:sp>
    </p:spTree>
    <p:extLst>
      <p:ext uri="{BB962C8B-B14F-4D97-AF65-F5344CB8AC3E}">
        <p14:creationId xmlns:p14="http://schemas.microsoft.com/office/powerpoint/2010/main" val="3866017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Financial Statements</a:t>
            </a:r>
            <a:endParaRPr lang="en-US" dirty="0"/>
          </a:p>
        </p:txBody>
      </p:sp>
      <p:sp>
        <p:nvSpPr>
          <p:cNvPr id="3" name="Content Placeholder 2"/>
          <p:cNvSpPr>
            <a:spLocks noGrp="1"/>
          </p:cNvSpPr>
          <p:nvPr>
            <p:ph idx="1"/>
          </p:nvPr>
        </p:nvSpPr>
        <p:spPr>
          <a:xfrm>
            <a:off x="838200" y="1825624"/>
            <a:ext cx="10515600" cy="4530725"/>
          </a:xfrm>
        </p:spPr>
        <p:txBody>
          <a:bodyPr>
            <a:noAutofit/>
          </a:bodyPr>
          <a:lstStyle/>
          <a:p>
            <a:r>
              <a:rPr lang="en-GB" altLang="en-US" sz="5400" b="1" dirty="0">
                <a:solidFill>
                  <a:srgbClr val="FF0000"/>
                </a:solidFill>
              </a:rPr>
              <a:t>What is the purpose of financial statements?</a:t>
            </a:r>
          </a:p>
          <a:p>
            <a:r>
              <a:rPr lang="en-GB" altLang="en-US" sz="5400" b="1" dirty="0"/>
              <a:t>1. To report on the financial position or condition of an entity (e.g. a business, an organisation);</a:t>
            </a:r>
            <a:endParaRPr lang="en-US" sz="36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26</a:t>
            </a:fld>
            <a:endParaRPr lang="en-GB"/>
          </a:p>
        </p:txBody>
      </p:sp>
      <p:sp>
        <p:nvSpPr>
          <p:cNvPr id="5" name="Date Placeholder 4">
            <a:extLst>
              <a:ext uri="{FF2B5EF4-FFF2-40B4-BE49-F238E27FC236}">
                <a16:creationId xmlns:a16="http://schemas.microsoft.com/office/drawing/2014/main" id="{865A81BC-D118-4856-8459-A88DD8FDDF91}"/>
              </a:ext>
            </a:extLst>
          </p:cNvPr>
          <p:cNvSpPr>
            <a:spLocks noGrp="1"/>
          </p:cNvSpPr>
          <p:nvPr>
            <p:ph type="dt" sz="half" idx="10"/>
          </p:nvPr>
        </p:nvSpPr>
        <p:spPr/>
        <p:txBody>
          <a:bodyPr/>
          <a:lstStyle/>
          <a:p>
            <a:fld id="{A687CF94-808E-470C-B616-A0D126C084F0}" type="datetime1">
              <a:rPr lang="en-GB" smtClean="0"/>
              <a:t>21/02/2023</a:t>
            </a:fld>
            <a:endParaRPr lang="en-GB"/>
          </a:p>
        </p:txBody>
      </p:sp>
    </p:spTree>
    <p:extLst>
      <p:ext uri="{BB962C8B-B14F-4D97-AF65-F5344CB8AC3E}">
        <p14:creationId xmlns:p14="http://schemas.microsoft.com/office/powerpoint/2010/main" val="1367868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Financial Statements</a:t>
            </a:r>
            <a:endParaRPr lang="en-US" dirty="0"/>
          </a:p>
        </p:txBody>
      </p:sp>
      <p:sp>
        <p:nvSpPr>
          <p:cNvPr id="3" name="Content Placeholder 2"/>
          <p:cNvSpPr>
            <a:spLocks noGrp="1"/>
          </p:cNvSpPr>
          <p:nvPr>
            <p:ph idx="1"/>
          </p:nvPr>
        </p:nvSpPr>
        <p:spPr/>
        <p:txBody>
          <a:bodyPr>
            <a:noAutofit/>
          </a:bodyPr>
          <a:lstStyle/>
          <a:p>
            <a:r>
              <a:rPr lang="en-GB" altLang="en-US" sz="4800" b="1" dirty="0">
                <a:solidFill>
                  <a:srgbClr val="FF0000"/>
                </a:solidFill>
              </a:rPr>
              <a:t>What is the purpose of financial statements?</a:t>
            </a:r>
          </a:p>
          <a:p>
            <a:r>
              <a:rPr lang="en-GB" altLang="en-US" sz="4800" b="1" dirty="0"/>
              <a:t>2. To show how the entity has performed (financially) over a particular period of time (an "accounting period").</a:t>
            </a:r>
            <a:endParaRPr lang="en-US" sz="36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27</a:t>
            </a:fld>
            <a:endParaRPr lang="en-GB"/>
          </a:p>
        </p:txBody>
      </p:sp>
      <p:sp>
        <p:nvSpPr>
          <p:cNvPr id="5" name="Date Placeholder 4">
            <a:extLst>
              <a:ext uri="{FF2B5EF4-FFF2-40B4-BE49-F238E27FC236}">
                <a16:creationId xmlns:a16="http://schemas.microsoft.com/office/drawing/2014/main" id="{865A81BC-D118-4856-8459-A88DD8FDDF91}"/>
              </a:ext>
            </a:extLst>
          </p:cNvPr>
          <p:cNvSpPr>
            <a:spLocks noGrp="1"/>
          </p:cNvSpPr>
          <p:nvPr>
            <p:ph type="dt" sz="half" idx="10"/>
          </p:nvPr>
        </p:nvSpPr>
        <p:spPr/>
        <p:txBody>
          <a:bodyPr/>
          <a:lstStyle/>
          <a:p>
            <a:fld id="{A687CF94-808E-470C-B616-A0D126C084F0}" type="datetime1">
              <a:rPr lang="en-GB" smtClean="0"/>
              <a:t>21/02/2023</a:t>
            </a:fld>
            <a:endParaRPr lang="en-GB"/>
          </a:p>
        </p:txBody>
      </p:sp>
    </p:spTree>
    <p:extLst>
      <p:ext uri="{BB962C8B-B14F-4D97-AF65-F5344CB8AC3E}">
        <p14:creationId xmlns:p14="http://schemas.microsoft.com/office/powerpoint/2010/main" val="3310497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Financial Statements</a:t>
            </a:r>
            <a:endParaRPr lang="en-US" dirty="0"/>
          </a:p>
        </p:txBody>
      </p:sp>
      <p:sp>
        <p:nvSpPr>
          <p:cNvPr id="3" name="Content Placeholder 2"/>
          <p:cNvSpPr>
            <a:spLocks noGrp="1"/>
          </p:cNvSpPr>
          <p:nvPr>
            <p:ph idx="1"/>
          </p:nvPr>
        </p:nvSpPr>
        <p:spPr/>
        <p:txBody>
          <a:bodyPr>
            <a:noAutofit/>
          </a:bodyPr>
          <a:lstStyle/>
          <a:p>
            <a:r>
              <a:rPr lang="en-GB" altLang="en-US" sz="4900" b="1" dirty="0"/>
              <a:t>The most common measurement of "performance" is </a:t>
            </a:r>
            <a:r>
              <a:rPr lang="en-GB" altLang="en-US" sz="4900" b="1" dirty="0">
                <a:solidFill>
                  <a:srgbClr val="FF0000"/>
                </a:solidFill>
              </a:rPr>
              <a:t>profit</a:t>
            </a:r>
            <a:r>
              <a:rPr lang="en-GB" altLang="en-US" sz="4900" b="1" dirty="0"/>
              <a:t>.</a:t>
            </a:r>
          </a:p>
          <a:p>
            <a:endParaRPr lang="en-GB" altLang="en-US" sz="4900" b="1" dirty="0"/>
          </a:p>
          <a:p>
            <a:r>
              <a:rPr lang="en-GB" altLang="en-US" sz="4900" b="1" dirty="0"/>
              <a:t>It is important to understand that financial statements can be historical or relate to the future.</a:t>
            </a:r>
            <a:endParaRPr lang="en-US" sz="49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28</a:t>
            </a:fld>
            <a:endParaRPr lang="en-GB"/>
          </a:p>
        </p:txBody>
      </p:sp>
      <p:sp>
        <p:nvSpPr>
          <p:cNvPr id="5" name="Date Placeholder 4">
            <a:extLst>
              <a:ext uri="{FF2B5EF4-FFF2-40B4-BE49-F238E27FC236}">
                <a16:creationId xmlns:a16="http://schemas.microsoft.com/office/drawing/2014/main" id="{41AA51C5-3F0B-4094-92BC-AF56EB0520F8}"/>
              </a:ext>
            </a:extLst>
          </p:cNvPr>
          <p:cNvSpPr>
            <a:spLocks noGrp="1"/>
          </p:cNvSpPr>
          <p:nvPr>
            <p:ph type="dt" sz="half" idx="10"/>
          </p:nvPr>
        </p:nvSpPr>
        <p:spPr/>
        <p:txBody>
          <a:bodyPr/>
          <a:lstStyle/>
          <a:p>
            <a:fld id="{E1907F1B-55C0-46EF-88B6-291A881F76A2}" type="datetime1">
              <a:rPr lang="en-GB" smtClean="0"/>
              <a:t>21/02/2023</a:t>
            </a:fld>
            <a:endParaRPr lang="en-GB"/>
          </a:p>
        </p:txBody>
      </p:sp>
    </p:spTree>
    <p:extLst>
      <p:ext uri="{BB962C8B-B14F-4D97-AF65-F5344CB8AC3E}">
        <p14:creationId xmlns:p14="http://schemas.microsoft.com/office/powerpoint/2010/main" val="1760155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Financial Statements</a:t>
            </a:r>
            <a:endParaRPr lang="en-US" dirty="0"/>
          </a:p>
        </p:txBody>
      </p:sp>
      <p:sp>
        <p:nvSpPr>
          <p:cNvPr id="3" name="Content Placeholder 2"/>
          <p:cNvSpPr>
            <a:spLocks noGrp="1"/>
          </p:cNvSpPr>
          <p:nvPr>
            <p:ph idx="1"/>
          </p:nvPr>
        </p:nvSpPr>
        <p:spPr>
          <a:xfrm>
            <a:off x="838200" y="1690688"/>
            <a:ext cx="10515600" cy="4774051"/>
          </a:xfrm>
        </p:spPr>
        <p:txBody>
          <a:bodyPr>
            <a:noAutofit/>
          </a:bodyPr>
          <a:lstStyle/>
          <a:p>
            <a:r>
              <a:rPr lang="en-GB" altLang="en-US" sz="5400" b="1" dirty="0"/>
              <a:t>All registered Companies are required to prepare a set of accounts that give </a:t>
            </a:r>
            <a:r>
              <a:rPr lang="en-GB" altLang="en-US" sz="5400" b="1" dirty="0">
                <a:solidFill>
                  <a:srgbClr val="000099"/>
                </a:solidFill>
              </a:rPr>
              <a:t>a true and fair view of its profit or loss for the year</a:t>
            </a:r>
            <a:r>
              <a:rPr lang="en-GB" altLang="en-US" sz="5400" b="1" dirty="0"/>
              <a:t> and of</a:t>
            </a:r>
            <a:r>
              <a:rPr lang="en-GB" altLang="en-US" sz="5400" b="1" dirty="0">
                <a:solidFill>
                  <a:srgbClr val="FF0000"/>
                </a:solidFill>
              </a:rPr>
              <a:t> its state of affairs at the year end</a:t>
            </a:r>
            <a:r>
              <a:rPr lang="en-GB" altLang="en-US" sz="5400" b="1" dirty="0"/>
              <a:t>.</a:t>
            </a:r>
            <a:endParaRPr lang="en-US" sz="3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29</a:t>
            </a:fld>
            <a:endParaRPr lang="en-GB"/>
          </a:p>
        </p:txBody>
      </p:sp>
      <p:sp>
        <p:nvSpPr>
          <p:cNvPr id="5" name="Date Placeholder 4">
            <a:extLst>
              <a:ext uri="{FF2B5EF4-FFF2-40B4-BE49-F238E27FC236}">
                <a16:creationId xmlns:a16="http://schemas.microsoft.com/office/drawing/2014/main" id="{BECE0191-8703-4709-8C11-9EC7D8FE9621}"/>
              </a:ext>
            </a:extLst>
          </p:cNvPr>
          <p:cNvSpPr>
            <a:spLocks noGrp="1"/>
          </p:cNvSpPr>
          <p:nvPr>
            <p:ph type="dt" sz="half" idx="10"/>
          </p:nvPr>
        </p:nvSpPr>
        <p:spPr/>
        <p:txBody>
          <a:bodyPr/>
          <a:lstStyle/>
          <a:p>
            <a:fld id="{88625E8D-A069-4D80-B9AF-2188F33C354E}" type="datetime1">
              <a:rPr lang="en-GB" smtClean="0"/>
              <a:t>21/02/2023</a:t>
            </a:fld>
            <a:endParaRPr lang="en-GB"/>
          </a:p>
        </p:txBody>
      </p:sp>
    </p:spTree>
    <p:extLst>
      <p:ext uri="{BB962C8B-B14F-4D97-AF65-F5344CB8AC3E}">
        <p14:creationId xmlns:p14="http://schemas.microsoft.com/office/powerpoint/2010/main" val="1772673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Financial Statements</a:t>
            </a:r>
            <a:endParaRPr lang="en-US" dirty="0"/>
          </a:p>
        </p:txBody>
      </p:sp>
      <p:sp>
        <p:nvSpPr>
          <p:cNvPr id="3" name="Content Placeholder 2"/>
          <p:cNvSpPr>
            <a:spLocks noGrp="1"/>
          </p:cNvSpPr>
          <p:nvPr>
            <p:ph idx="1"/>
          </p:nvPr>
        </p:nvSpPr>
        <p:spPr>
          <a:xfrm>
            <a:off x="557431" y="1690688"/>
            <a:ext cx="11149660" cy="4774051"/>
          </a:xfrm>
        </p:spPr>
        <p:txBody>
          <a:bodyPr>
            <a:noAutofit/>
          </a:bodyPr>
          <a:lstStyle/>
          <a:p>
            <a:r>
              <a:rPr lang="en-GB" altLang="en-US" sz="4400" b="1" dirty="0"/>
              <a:t>Annual accounts generally include the:</a:t>
            </a:r>
          </a:p>
          <a:p>
            <a:pPr>
              <a:buNone/>
            </a:pPr>
            <a:r>
              <a:rPr lang="en-GB" altLang="en-US" sz="4400" b="1" dirty="0"/>
              <a:t>1. balance sheet</a:t>
            </a:r>
          </a:p>
          <a:p>
            <a:pPr>
              <a:buNone/>
            </a:pPr>
            <a:r>
              <a:rPr lang="en-GB" altLang="en-US" sz="4400" b="1" dirty="0"/>
              <a:t>2. income statement</a:t>
            </a:r>
          </a:p>
          <a:p>
            <a:pPr>
              <a:buNone/>
            </a:pPr>
            <a:r>
              <a:rPr lang="en-GB" altLang="en-US" sz="4400" b="1" dirty="0"/>
              <a:t>3. statement of changes in retained earnings</a:t>
            </a:r>
          </a:p>
          <a:p>
            <a:pPr>
              <a:buNone/>
            </a:pPr>
            <a:r>
              <a:rPr lang="en-GB" altLang="en-US" sz="4400" b="1" dirty="0"/>
              <a:t>4. statement of cash flows</a:t>
            </a:r>
            <a:endParaRPr lang="en-US" sz="36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30</a:t>
            </a:fld>
            <a:endParaRPr lang="en-GB"/>
          </a:p>
        </p:txBody>
      </p:sp>
      <p:sp>
        <p:nvSpPr>
          <p:cNvPr id="5" name="Date Placeholder 4">
            <a:extLst>
              <a:ext uri="{FF2B5EF4-FFF2-40B4-BE49-F238E27FC236}">
                <a16:creationId xmlns:a16="http://schemas.microsoft.com/office/drawing/2014/main" id="{BECE0191-8703-4709-8C11-9EC7D8FE9621}"/>
              </a:ext>
            </a:extLst>
          </p:cNvPr>
          <p:cNvSpPr>
            <a:spLocks noGrp="1"/>
          </p:cNvSpPr>
          <p:nvPr>
            <p:ph type="dt" sz="half" idx="10"/>
          </p:nvPr>
        </p:nvSpPr>
        <p:spPr/>
        <p:txBody>
          <a:bodyPr/>
          <a:lstStyle/>
          <a:p>
            <a:fld id="{88625E8D-A069-4D80-B9AF-2188F33C354E}" type="datetime1">
              <a:rPr lang="en-GB" smtClean="0"/>
              <a:t>21/02/2023</a:t>
            </a:fld>
            <a:endParaRPr lang="en-GB"/>
          </a:p>
        </p:txBody>
      </p:sp>
    </p:spTree>
    <p:extLst>
      <p:ext uri="{BB962C8B-B14F-4D97-AF65-F5344CB8AC3E}">
        <p14:creationId xmlns:p14="http://schemas.microsoft.com/office/powerpoint/2010/main" val="4104724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Statement of Cash Flows</a:t>
            </a:r>
            <a:endParaRPr lang="en-US" dirty="0"/>
          </a:p>
        </p:txBody>
      </p:sp>
      <p:sp>
        <p:nvSpPr>
          <p:cNvPr id="3" name="Content Placeholder 2"/>
          <p:cNvSpPr>
            <a:spLocks noGrp="1"/>
          </p:cNvSpPr>
          <p:nvPr>
            <p:ph idx="1"/>
          </p:nvPr>
        </p:nvSpPr>
        <p:spPr>
          <a:xfrm>
            <a:off x="838200" y="1825624"/>
            <a:ext cx="10515600" cy="4530725"/>
          </a:xfrm>
        </p:spPr>
        <p:txBody>
          <a:bodyPr>
            <a:noAutofit/>
          </a:bodyPr>
          <a:lstStyle/>
          <a:p>
            <a:pPr>
              <a:lnSpc>
                <a:spcPct val="80000"/>
              </a:lnSpc>
            </a:pPr>
            <a:r>
              <a:rPr lang="en-GB" altLang="en-US" sz="4500" b="1" dirty="0"/>
              <a:t>The statement of cash flows describes </a:t>
            </a:r>
            <a:r>
              <a:rPr lang="en-GB" altLang="en-US" sz="4500" b="1" dirty="0">
                <a:solidFill>
                  <a:srgbClr val="FF0000"/>
                </a:solidFill>
              </a:rPr>
              <a:t>the sources (inflows)</a:t>
            </a:r>
            <a:r>
              <a:rPr lang="en-GB" altLang="en-US" sz="4500" b="1" dirty="0"/>
              <a:t> and </a:t>
            </a:r>
            <a:r>
              <a:rPr lang="en-GB" altLang="en-US" sz="4500" b="1" dirty="0">
                <a:solidFill>
                  <a:srgbClr val="FF0000"/>
                </a:solidFill>
              </a:rPr>
              <a:t>uses (outflows) of cash for a reporting period</a:t>
            </a:r>
            <a:r>
              <a:rPr lang="en-GB" altLang="en-US" sz="4500" b="1" dirty="0"/>
              <a:t>.</a:t>
            </a:r>
          </a:p>
          <a:p>
            <a:pPr>
              <a:lnSpc>
                <a:spcPct val="80000"/>
              </a:lnSpc>
            </a:pPr>
            <a:endParaRPr lang="en-GB" altLang="en-US" sz="4500" dirty="0"/>
          </a:p>
          <a:p>
            <a:pPr>
              <a:lnSpc>
                <a:spcPct val="80000"/>
              </a:lnSpc>
            </a:pPr>
            <a:r>
              <a:rPr lang="en-GB" altLang="en-US" sz="4500" b="1" dirty="0"/>
              <a:t>It also reports the amount of cash at both the beginning and end of a period</a:t>
            </a:r>
            <a:r>
              <a:rPr lang="en-GB" altLang="en-US" sz="4500" dirty="0"/>
              <a:t>.</a:t>
            </a:r>
            <a:endParaRPr lang="en-US" sz="4500" dirty="0"/>
          </a:p>
        </p:txBody>
      </p:sp>
      <p:sp>
        <p:nvSpPr>
          <p:cNvPr id="4" name="Slide Number Placeholder 3"/>
          <p:cNvSpPr>
            <a:spLocks noGrp="1"/>
          </p:cNvSpPr>
          <p:nvPr>
            <p:ph type="sldNum" sz="quarter" idx="12"/>
          </p:nvPr>
        </p:nvSpPr>
        <p:spPr/>
        <p:txBody>
          <a:bodyPr/>
          <a:lstStyle/>
          <a:p>
            <a:fld id="{7E50C373-F1D0-494F-8D6D-366C958B3429}" type="slidenum">
              <a:rPr lang="en-GB" smtClean="0"/>
              <a:t>31</a:t>
            </a:fld>
            <a:endParaRPr lang="en-GB"/>
          </a:p>
        </p:txBody>
      </p:sp>
      <p:sp>
        <p:nvSpPr>
          <p:cNvPr id="5" name="Date Placeholder 4">
            <a:extLst>
              <a:ext uri="{FF2B5EF4-FFF2-40B4-BE49-F238E27FC236}">
                <a16:creationId xmlns:a16="http://schemas.microsoft.com/office/drawing/2014/main" id="{BFC8F425-5BAC-4E7C-B0B9-62E334AF3923}"/>
              </a:ext>
            </a:extLst>
          </p:cNvPr>
          <p:cNvSpPr>
            <a:spLocks noGrp="1"/>
          </p:cNvSpPr>
          <p:nvPr>
            <p:ph type="dt" sz="half" idx="10"/>
          </p:nvPr>
        </p:nvSpPr>
        <p:spPr/>
        <p:txBody>
          <a:bodyPr/>
          <a:lstStyle/>
          <a:p>
            <a:fld id="{7103ADA9-301F-430F-A754-C41A062E33EA}" type="datetime1">
              <a:rPr lang="en-GB" smtClean="0"/>
              <a:t>21/02/2023</a:t>
            </a:fld>
            <a:endParaRPr lang="en-GB"/>
          </a:p>
        </p:txBody>
      </p:sp>
    </p:spTree>
    <p:extLst>
      <p:ext uri="{BB962C8B-B14F-4D97-AF65-F5344CB8AC3E}">
        <p14:creationId xmlns:p14="http://schemas.microsoft.com/office/powerpoint/2010/main" val="330940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sz="7300" b="1" dirty="0"/>
              <a:t>Retained Earnings</a:t>
            </a:r>
            <a:endParaRPr lang="en-US" dirty="0"/>
          </a:p>
        </p:txBody>
      </p:sp>
      <p:sp>
        <p:nvSpPr>
          <p:cNvPr id="3" name="Content Placeholder 2"/>
          <p:cNvSpPr>
            <a:spLocks noGrp="1"/>
          </p:cNvSpPr>
          <p:nvPr>
            <p:ph idx="1"/>
          </p:nvPr>
        </p:nvSpPr>
        <p:spPr/>
        <p:txBody>
          <a:bodyPr>
            <a:noAutofit/>
          </a:bodyPr>
          <a:lstStyle/>
          <a:p>
            <a:r>
              <a:rPr lang="en-GB" altLang="en-US" sz="5400" b="1" dirty="0"/>
              <a:t>Retained Earnings</a:t>
            </a:r>
            <a:r>
              <a:rPr lang="en-GB" altLang="en-US" sz="5400" dirty="0"/>
              <a:t>: </a:t>
            </a:r>
            <a:r>
              <a:rPr lang="en-GB" altLang="en-US" sz="5400" b="1" dirty="0">
                <a:solidFill>
                  <a:srgbClr val="000099"/>
                </a:solidFill>
              </a:rPr>
              <a:t>The amount of earnings re-invested in the business by (and thus not distributed to) shareholders in the form of dividends.</a:t>
            </a:r>
            <a:endParaRPr lang="en-US" sz="3400" dirty="0"/>
          </a:p>
        </p:txBody>
      </p:sp>
      <p:sp>
        <p:nvSpPr>
          <p:cNvPr id="4" name="Slide Number Placeholder 3"/>
          <p:cNvSpPr>
            <a:spLocks noGrp="1"/>
          </p:cNvSpPr>
          <p:nvPr>
            <p:ph type="sldNum" sz="quarter" idx="12"/>
          </p:nvPr>
        </p:nvSpPr>
        <p:spPr/>
        <p:txBody>
          <a:bodyPr/>
          <a:lstStyle/>
          <a:p>
            <a:fld id="{7E50C373-F1D0-494F-8D6D-366C958B3429}" type="slidenum">
              <a:rPr lang="en-GB" smtClean="0"/>
              <a:t>32</a:t>
            </a:fld>
            <a:endParaRPr lang="en-GB"/>
          </a:p>
        </p:txBody>
      </p:sp>
      <p:sp>
        <p:nvSpPr>
          <p:cNvPr id="5" name="Date Placeholder 4">
            <a:extLst>
              <a:ext uri="{FF2B5EF4-FFF2-40B4-BE49-F238E27FC236}">
                <a16:creationId xmlns:a16="http://schemas.microsoft.com/office/drawing/2014/main" id="{2AA4B5F1-3289-4188-BD2D-282198C975B5}"/>
              </a:ext>
            </a:extLst>
          </p:cNvPr>
          <p:cNvSpPr>
            <a:spLocks noGrp="1"/>
          </p:cNvSpPr>
          <p:nvPr>
            <p:ph type="dt" sz="half" idx="10"/>
          </p:nvPr>
        </p:nvSpPr>
        <p:spPr/>
        <p:txBody>
          <a:bodyPr/>
          <a:lstStyle/>
          <a:p>
            <a:fld id="{FF48FEB3-5085-4298-A29C-408511075B52}" type="datetime1">
              <a:rPr lang="en-GB" smtClean="0"/>
              <a:t>21/02/2023</a:t>
            </a:fld>
            <a:endParaRPr lang="en-GB"/>
          </a:p>
        </p:txBody>
      </p:sp>
    </p:spTree>
    <p:extLst>
      <p:ext uri="{BB962C8B-B14F-4D97-AF65-F5344CB8AC3E}">
        <p14:creationId xmlns:p14="http://schemas.microsoft.com/office/powerpoint/2010/main" val="1290153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sz="4800" b="1" dirty="0"/>
              <a:t>Statement of Retained Earnings</a:t>
            </a:r>
            <a:endParaRPr lang="en-US" dirty="0"/>
          </a:p>
        </p:txBody>
      </p:sp>
      <p:sp>
        <p:nvSpPr>
          <p:cNvPr id="3" name="Content Placeholder 2"/>
          <p:cNvSpPr>
            <a:spLocks noGrp="1"/>
          </p:cNvSpPr>
          <p:nvPr>
            <p:ph idx="1"/>
          </p:nvPr>
        </p:nvSpPr>
        <p:spPr>
          <a:xfrm>
            <a:off x="557431" y="1825625"/>
            <a:ext cx="10796369" cy="4639114"/>
          </a:xfrm>
        </p:spPr>
        <p:txBody>
          <a:bodyPr>
            <a:noAutofit/>
          </a:bodyPr>
          <a:lstStyle/>
          <a:p>
            <a:r>
              <a:rPr lang="en-GB" altLang="en-US" sz="4800" b="1" dirty="0"/>
              <a:t>The statement of retained earnings </a:t>
            </a:r>
            <a:r>
              <a:rPr lang="en-GB" altLang="en-US" sz="4800" b="1" dirty="0">
                <a:solidFill>
                  <a:srgbClr val="FF0000"/>
                </a:solidFill>
              </a:rPr>
              <a:t>reports the way that net income (profit) and the distribution of dividends affected the financial position of the company during the accounting period.</a:t>
            </a:r>
            <a:endParaRPr lang="en-US" sz="4700" dirty="0"/>
          </a:p>
        </p:txBody>
      </p:sp>
      <p:sp>
        <p:nvSpPr>
          <p:cNvPr id="4" name="Slide Number Placeholder 3"/>
          <p:cNvSpPr>
            <a:spLocks noGrp="1"/>
          </p:cNvSpPr>
          <p:nvPr>
            <p:ph type="sldNum" sz="quarter" idx="12"/>
          </p:nvPr>
        </p:nvSpPr>
        <p:spPr/>
        <p:txBody>
          <a:bodyPr/>
          <a:lstStyle/>
          <a:p>
            <a:fld id="{7E50C373-F1D0-494F-8D6D-366C958B3429}" type="slidenum">
              <a:rPr lang="en-GB" smtClean="0"/>
              <a:t>33</a:t>
            </a:fld>
            <a:endParaRPr lang="en-GB"/>
          </a:p>
        </p:txBody>
      </p:sp>
      <p:sp>
        <p:nvSpPr>
          <p:cNvPr id="5" name="Date Placeholder 4">
            <a:extLst>
              <a:ext uri="{FF2B5EF4-FFF2-40B4-BE49-F238E27FC236}">
                <a16:creationId xmlns:a16="http://schemas.microsoft.com/office/drawing/2014/main" id="{2AA4B5F1-3289-4188-BD2D-282198C975B5}"/>
              </a:ext>
            </a:extLst>
          </p:cNvPr>
          <p:cNvSpPr>
            <a:spLocks noGrp="1"/>
          </p:cNvSpPr>
          <p:nvPr>
            <p:ph type="dt" sz="half" idx="10"/>
          </p:nvPr>
        </p:nvSpPr>
        <p:spPr/>
        <p:txBody>
          <a:bodyPr/>
          <a:lstStyle/>
          <a:p>
            <a:fld id="{FF48FEB3-5085-4298-A29C-408511075B52}" type="datetime1">
              <a:rPr lang="en-GB" smtClean="0"/>
              <a:t>21/02/2023</a:t>
            </a:fld>
            <a:endParaRPr lang="en-GB"/>
          </a:p>
        </p:txBody>
      </p:sp>
    </p:spTree>
    <p:extLst>
      <p:ext uri="{BB962C8B-B14F-4D97-AF65-F5344CB8AC3E}">
        <p14:creationId xmlns:p14="http://schemas.microsoft.com/office/powerpoint/2010/main" val="866443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rmAutofit/>
          </a:bodyPr>
          <a:lstStyle/>
          <a:p>
            <a:r>
              <a:rPr lang="en-GB" altLang="en-US" sz="7200" b="1" dirty="0"/>
              <a:t>The whole of financial accounting is based on </a:t>
            </a:r>
            <a:r>
              <a:rPr lang="en-GB" altLang="en-US" sz="7200" b="1" dirty="0">
                <a:solidFill>
                  <a:srgbClr val="FF0000"/>
                </a:solidFill>
              </a:rPr>
              <a:t>the accounting equation</a:t>
            </a:r>
            <a:r>
              <a:rPr lang="en-GB" altLang="en-US" sz="7200" b="1" dirty="0"/>
              <a:t>.</a:t>
            </a:r>
            <a:endParaRPr lang="en-US" sz="41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34</a:t>
            </a:fld>
            <a:endParaRPr lang="en-GB"/>
          </a:p>
        </p:txBody>
      </p:sp>
      <p:sp>
        <p:nvSpPr>
          <p:cNvPr id="5" name="Date Placeholder 4">
            <a:extLst>
              <a:ext uri="{FF2B5EF4-FFF2-40B4-BE49-F238E27FC236}">
                <a16:creationId xmlns:a16="http://schemas.microsoft.com/office/drawing/2014/main" id="{ED7A436D-7D62-420C-82F7-FB23BDEA420E}"/>
              </a:ext>
            </a:extLst>
          </p:cNvPr>
          <p:cNvSpPr>
            <a:spLocks noGrp="1"/>
          </p:cNvSpPr>
          <p:nvPr>
            <p:ph type="dt" sz="half" idx="10"/>
          </p:nvPr>
        </p:nvSpPr>
        <p:spPr/>
        <p:txBody>
          <a:bodyPr/>
          <a:lstStyle/>
          <a:p>
            <a:fld id="{04168104-9BA2-4535-87DB-42B97D6D4B67}" type="datetime1">
              <a:rPr lang="en-GB" smtClean="0"/>
              <a:t>21/02/2023</a:t>
            </a:fld>
            <a:endParaRPr lang="en-GB"/>
          </a:p>
        </p:txBody>
      </p:sp>
    </p:spTree>
    <p:extLst>
      <p:ext uri="{BB962C8B-B14F-4D97-AF65-F5344CB8AC3E}">
        <p14:creationId xmlns:p14="http://schemas.microsoft.com/office/powerpoint/2010/main" val="4235970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Autofit/>
          </a:bodyPr>
          <a:lstStyle/>
          <a:p>
            <a:r>
              <a:rPr lang="en-GB" altLang="en-US" sz="5600" b="1" dirty="0"/>
              <a:t>This can be stated to be that for a firm to operate it needs resources, and that these resources have had to be supplied to the firm by someone.</a:t>
            </a:r>
            <a:endParaRPr lang="en-US" sz="56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35</a:t>
            </a:fld>
            <a:endParaRPr lang="en-GB"/>
          </a:p>
        </p:txBody>
      </p:sp>
      <p:sp>
        <p:nvSpPr>
          <p:cNvPr id="5" name="Date Placeholder 4">
            <a:extLst>
              <a:ext uri="{FF2B5EF4-FFF2-40B4-BE49-F238E27FC236}">
                <a16:creationId xmlns:a16="http://schemas.microsoft.com/office/drawing/2014/main" id="{ED7A436D-7D62-420C-82F7-FB23BDEA420E}"/>
              </a:ext>
            </a:extLst>
          </p:cNvPr>
          <p:cNvSpPr>
            <a:spLocks noGrp="1"/>
          </p:cNvSpPr>
          <p:nvPr>
            <p:ph type="dt" sz="half" idx="10"/>
          </p:nvPr>
        </p:nvSpPr>
        <p:spPr/>
        <p:txBody>
          <a:bodyPr/>
          <a:lstStyle/>
          <a:p>
            <a:fld id="{04168104-9BA2-4535-87DB-42B97D6D4B67}" type="datetime1">
              <a:rPr lang="en-GB" smtClean="0"/>
              <a:t>21/02/2023</a:t>
            </a:fld>
            <a:endParaRPr lang="en-GB"/>
          </a:p>
        </p:txBody>
      </p:sp>
    </p:spTree>
    <p:extLst>
      <p:ext uri="{BB962C8B-B14F-4D97-AF65-F5344CB8AC3E}">
        <p14:creationId xmlns:p14="http://schemas.microsoft.com/office/powerpoint/2010/main" val="2595854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sz="5400" b="1" dirty="0"/>
              <a:t>The Accounting Equation</a:t>
            </a:r>
            <a:endParaRPr lang="en-US" dirty="0"/>
          </a:p>
        </p:txBody>
      </p:sp>
      <p:sp>
        <p:nvSpPr>
          <p:cNvPr id="3" name="Content Placeholder 2"/>
          <p:cNvSpPr>
            <a:spLocks noGrp="1"/>
          </p:cNvSpPr>
          <p:nvPr>
            <p:ph idx="1"/>
          </p:nvPr>
        </p:nvSpPr>
        <p:spPr>
          <a:xfrm>
            <a:off x="838200" y="1825624"/>
            <a:ext cx="10515600" cy="4530725"/>
          </a:xfrm>
        </p:spPr>
        <p:txBody>
          <a:bodyPr>
            <a:noAutofit/>
          </a:bodyPr>
          <a:lstStyle/>
          <a:p>
            <a:r>
              <a:rPr lang="en-GB" altLang="en-US" sz="8000" dirty="0"/>
              <a:t>The </a:t>
            </a:r>
            <a:r>
              <a:rPr lang="en-GB" altLang="en-US" sz="8000" b="1" dirty="0"/>
              <a:t>resources possessed by the firm</a:t>
            </a:r>
            <a:r>
              <a:rPr lang="en-GB" altLang="en-US" sz="8000" dirty="0"/>
              <a:t> are known as </a:t>
            </a:r>
            <a:r>
              <a:rPr lang="en-GB" altLang="en-US" sz="8000" b="1" dirty="0">
                <a:solidFill>
                  <a:srgbClr val="FF0000"/>
                </a:solidFill>
              </a:rPr>
              <a:t>Assets</a:t>
            </a:r>
            <a:r>
              <a:rPr lang="en-GB" altLang="en-US" sz="8000" b="1" dirty="0"/>
              <a:t>.</a:t>
            </a:r>
            <a:endParaRPr 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36</a:t>
            </a:fld>
            <a:endParaRPr lang="en-GB"/>
          </a:p>
        </p:txBody>
      </p:sp>
      <p:sp>
        <p:nvSpPr>
          <p:cNvPr id="5" name="Date Placeholder 4">
            <a:extLst>
              <a:ext uri="{FF2B5EF4-FFF2-40B4-BE49-F238E27FC236}">
                <a16:creationId xmlns:a16="http://schemas.microsoft.com/office/drawing/2014/main" id="{37E5A38E-4F7E-4B4D-A8F8-E636F20AFE68}"/>
              </a:ext>
            </a:extLst>
          </p:cNvPr>
          <p:cNvSpPr>
            <a:spLocks noGrp="1"/>
          </p:cNvSpPr>
          <p:nvPr>
            <p:ph type="dt" sz="half" idx="10"/>
          </p:nvPr>
        </p:nvSpPr>
        <p:spPr/>
        <p:txBody>
          <a:bodyPr/>
          <a:lstStyle/>
          <a:p>
            <a:fld id="{E9433943-B8FD-4C36-9EF9-CB033658E204}" type="datetime1">
              <a:rPr lang="en-GB" smtClean="0"/>
              <a:t>21/02/2023</a:t>
            </a:fld>
            <a:endParaRPr lang="en-GB"/>
          </a:p>
        </p:txBody>
      </p:sp>
    </p:spTree>
    <p:extLst>
      <p:ext uri="{BB962C8B-B14F-4D97-AF65-F5344CB8AC3E}">
        <p14:creationId xmlns:p14="http://schemas.microsoft.com/office/powerpoint/2010/main" val="32777750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a:xfrm>
            <a:off x="838200" y="1825624"/>
            <a:ext cx="10515600" cy="4530725"/>
          </a:xfrm>
        </p:spPr>
        <p:txBody>
          <a:bodyPr>
            <a:noAutofit/>
          </a:bodyPr>
          <a:lstStyle/>
          <a:p>
            <a:r>
              <a:rPr lang="en-GB" altLang="en-US" sz="4000" dirty="0"/>
              <a:t>Some of these resources will have been supplied by the </a:t>
            </a:r>
            <a:r>
              <a:rPr lang="en-GB" altLang="en-US" sz="4000" b="1" dirty="0"/>
              <a:t>owner of the business</a:t>
            </a:r>
            <a:r>
              <a:rPr lang="en-GB" altLang="en-US" sz="4000" dirty="0"/>
              <a:t>.</a:t>
            </a:r>
          </a:p>
          <a:p>
            <a:endParaRPr lang="en-GB" altLang="en-US" sz="2400" dirty="0"/>
          </a:p>
          <a:p>
            <a:r>
              <a:rPr lang="en-GB" altLang="en-US" sz="4000" dirty="0"/>
              <a:t>The total amount supplied by him is known as </a:t>
            </a:r>
            <a:r>
              <a:rPr lang="en-GB" altLang="en-US" sz="4000" b="1" dirty="0"/>
              <a:t>Capital</a:t>
            </a:r>
            <a:r>
              <a:rPr lang="en-GB" altLang="en-US" sz="4000" dirty="0"/>
              <a:t>. If in fact he was the only one who had supplied the assets then the following equation would hold true.</a:t>
            </a:r>
            <a:endParaRPr 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37</a:t>
            </a:fld>
            <a:endParaRPr lang="en-GB"/>
          </a:p>
        </p:txBody>
      </p:sp>
      <p:sp>
        <p:nvSpPr>
          <p:cNvPr id="5" name="Date Placeholder 4">
            <a:extLst>
              <a:ext uri="{FF2B5EF4-FFF2-40B4-BE49-F238E27FC236}">
                <a16:creationId xmlns:a16="http://schemas.microsoft.com/office/drawing/2014/main" id="{37E5A38E-4F7E-4B4D-A8F8-E636F20AFE68}"/>
              </a:ext>
            </a:extLst>
          </p:cNvPr>
          <p:cNvSpPr>
            <a:spLocks noGrp="1"/>
          </p:cNvSpPr>
          <p:nvPr>
            <p:ph type="dt" sz="half" idx="10"/>
          </p:nvPr>
        </p:nvSpPr>
        <p:spPr/>
        <p:txBody>
          <a:bodyPr/>
          <a:lstStyle/>
          <a:p>
            <a:fld id="{E9433943-B8FD-4C36-9EF9-CB033658E204}" type="datetime1">
              <a:rPr lang="en-GB" smtClean="0"/>
              <a:t>21/02/2023</a:t>
            </a:fld>
            <a:endParaRPr lang="en-GB"/>
          </a:p>
        </p:txBody>
      </p:sp>
    </p:spTree>
    <p:extLst>
      <p:ext uri="{BB962C8B-B14F-4D97-AF65-F5344CB8AC3E}">
        <p14:creationId xmlns:p14="http://schemas.microsoft.com/office/powerpoint/2010/main" val="5328312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rmAutofit/>
          </a:bodyPr>
          <a:lstStyle/>
          <a:p>
            <a:pPr algn="ctr">
              <a:buNone/>
            </a:pPr>
            <a:endParaRPr lang="en-GB" altLang="en-US" sz="8800" b="1" dirty="0"/>
          </a:p>
          <a:p>
            <a:pPr algn="ctr">
              <a:buNone/>
            </a:pPr>
            <a:r>
              <a:rPr lang="en-GB" altLang="en-US" sz="8800" b="1" dirty="0"/>
              <a:t>Assets = Capital</a:t>
            </a:r>
            <a:endParaRPr lang="en-GB" altLang="en-US" sz="3400" b="1" dirty="0"/>
          </a:p>
          <a:p>
            <a:endParaRPr lang="en-GB" altLang="en-US" sz="3400" dirty="0"/>
          </a:p>
        </p:txBody>
      </p:sp>
      <p:sp>
        <p:nvSpPr>
          <p:cNvPr id="4" name="Slide Number Placeholder 3"/>
          <p:cNvSpPr>
            <a:spLocks noGrp="1"/>
          </p:cNvSpPr>
          <p:nvPr>
            <p:ph type="sldNum" sz="quarter" idx="12"/>
          </p:nvPr>
        </p:nvSpPr>
        <p:spPr/>
        <p:txBody>
          <a:bodyPr/>
          <a:lstStyle/>
          <a:p>
            <a:fld id="{7E50C373-F1D0-494F-8D6D-366C958B3429}" type="slidenum">
              <a:rPr lang="en-GB" smtClean="0"/>
              <a:t>38</a:t>
            </a:fld>
            <a:endParaRPr lang="en-GB"/>
          </a:p>
        </p:txBody>
      </p:sp>
      <p:sp>
        <p:nvSpPr>
          <p:cNvPr id="5" name="Date Placeholder 4">
            <a:extLst>
              <a:ext uri="{FF2B5EF4-FFF2-40B4-BE49-F238E27FC236}">
                <a16:creationId xmlns:a16="http://schemas.microsoft.com/office/drawing/2014/main" id="{D90210DF-F337-46E1-B2BA-959C9FFDE8E8}"/>
              </a:ext>
            </a:extLst>
          </p:cNvPr>
          <p:cNvSpPr>
            <a:spLocks noGrp="1"/>
          </p:cNvSpPr>
          <p:nvPr>
            <p:ph type="dt" sz="half" idx="10"/>
          </p:nvPr>
        </p:nvSpPr>
        <p:spPr/>
        <p:txBody>
          <a:bodyPr/>
          <a:lstStyle/>
          <a:p>
            <a:fld id="{96041BFA-97B7-4B31-A3F0-B606F0E28548}" type="datetime1">
              <a:rPr lang="en-GB" smtClean="0"/>
              <a:t>21/02/2023</a:t>
            </a:fld>
            <a:endParaRPr lang="en-GB"/>
          </a:p>
        </p:txBody>
      </p:sp>
    </p:spTree>
    <p:extLst>
      <p:ext uri="{BB962C8B-B14F-4D97-AF65-F5344CB8AC3E}">
        <p14:creationId xmlns:p14="http://schemas.microsoft.com/office/powerpoint/2010/main" val="31092026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Autofit/>
          </a:bodyPr>
          <a:lstStyle/>
          <a:p>
            <a:r>
              <a:rPr lang="en-GB" altLang="en-US" sz="4400" b="1" dirty="0"/>
              <a:t>On the other hand, some of the assets will normally have been provided by someone other than the owner.</a:t>
            </a:r>
          </a:p>
          <a:p>
            <a:endParaRPr lang="en-GB" altLang="en-US" sz="4400" b="1" dirty="0"/>
          </a:p>
          <a:p>
            <a:r>
              <a:rPr lang="en-GB" altLang="en-US" sz="4400" b="1" dirty="0"/>
              <a:t>The indebtedness of the firm for these resources is known as </a:t>
            </a:r>
            <a:r>
              <a:rPr lang="en-GB" altLang="en-US" sz="4400" b="1" dirty="0">
                <a:solidFill>
                  <a:srgbClr val="FF0000"/>
                </a:solidFill>
              </a:rPr>
              <a:t>Liabilities</a:t>
            </a:r>
            <a:r>
              <a:rPr lang="en-GB" altLang="en-US" sz="4400" b="1" dirty="0"/>
              <a:t>.</a:t>
            </a:r>
            <a:endParaRPr lang="en-US" sz="45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39</a:t>
            </a:fld>
            <a:endParaRPr lang="en-GB"/>
          </a:p>
        </p:txBody>
      </p:sp>
      <p:sp>
        <p:nvSpPr>
          <p:cNvPr id="5" name="Date Placeholder 4">
            <a:extLst>
              <a:ext uri="{FF2B5EF4-FFF2-40B4-BE49-F238E27FC236}">
                <a16:creationId xmlns:a16="http://schemas.microsoft.com/office/drawing/2014/main" id="{D90210DF-F337-46E1-B2BA-959C9FFDE8E8}"/>
              </a:ext>
            </a:extLst>
          </p:cNvPr>
          <p:cNvSpPr>
            <a:spLocks noGrp="1"/>
          </p:cNvSpPr>
          <p:nvPr>
            <p:ph type="dt" sz="half" idx="10"/>
          </p:nvPr>
        </p:nvSpPr>
        <p:spPr/>
        <p:txBody>
          <a:bodyPr/>
          <a:lstStyle/>
          <a:p>
            <a:fld id="{96041BFA-97B7-4B31-A3F0-B606F0E28548}" type="datetime1">
              <a:rPr lang="en-GB" smtClean="0"/>
              <a:t>21/02/2023</a:t>
            </a:fld>
            <a:endParaRPr lang="en-GB"/>
          </a:p>
        </p:txBody>
      </p:sp>
    </p:spTree>
    <p:extLst>
      <p:ext uri="{BB962C8B-B14F-4D97-AF65-F5344CB8AC3E}">
        <p14:creationId xmlns:p14="http://schemas.microsoft.com/office/powerpoint/2010/main" val="541385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Autofit/>
          </a:bodyPr>
          <a:lstStyle/>
          <a:p>
            <a:r>
              <a:rPr lang="en-GB" altLang="en-US" sz="3200" b="1" dirty="0"/>
              <a:t>The equation can now be expressed as:</a:t>
            </a:r>
            <a:endParaRPr lang="en-GB" altLang="en-US" sz="3000" b="1" dirty="0"/>
          </a:p>
          <a:p>
            <a:endParaRPr lang="en-GB" altLang="en-US" sz="1800" b="1" dirty="0"/>
          </a:p>
          <a:p>
            <a:pPr algn="ctr">
              <a:buNone/>
            </a:pPr>
            <a:r>
              <a:rPr lang="en-GB" altLang="en-US" sz="5400" b="1" dirty="0"/>
              <a:t>Assets = Capital + Liabilities</a:t>
            </a:r>
            <a:endParaRPr lang="en-GB" altLang="en-US" sz="3000" b="1" dirty="0"/>
          </a:p>
          <a:p>
            <a:endParaRPr lang="en-GB" altLang="en-US" sz="1800" b="1" dirty="0"/>
          </a:p>
          <a:p>
            <a:r>
              <a:rPr lang="en-GB" altLang="en-US" sz="3200" b="1" dirty="0"/>
              <a:t>It can be seen that the two sides of the equation will have the same totals.</a:t>
            </a:r>
            <a:endParaRPr lang="en-GB" altLang="en-US" sz="3000" b="1" dirty="0"/>
          </a:p>
          <a:p>
            <a:endParaRPr lang="en-GB" altLang="en-US" sz="1800" b="1" dirty="0"/>
          </a:p>
          <a:p>
            <a:r>
              <a:rPr lang="en-GB" altLang="en-US" sz="3200" b="1" dirty="0"/>
              <a:t>This is because we are dealing with the same thing from two different points of view.</a:t>
            </a:r>
            <a:endParaRPr lang="en-US" sz="3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40</a:t>
            </a:fld>
            <a:endParaRPr lang="en-GB"/>
          </a:p>
        </p:txBody>
      </p:sp>
      <p:sp>
        <p:nvSpPr>
          <p:cNvPr id="5" name="Date Placeholder 4">
            <a:extLst>
              <a:ext uri="{FF2B5EF4-FFF2-40B4-BE49-F238E27FC236}">
                <a16:creationId xmlns:a16="http://schemas.microsoft.com/office/drawing/2014/main" id="{5FDFF120-844A-44A9-8019-65311B41146A}"/>
              </a:ext>
            </a:extLst>
          </p:cNvPr>
          <p:cNvSpPr>
            <a:spLocks noGrp="1"/>
          </p:cNvSpPr>
          <p:nvPr>
            <p:ph type="dt" sz="half" idx="10"/>
          </p:nvPr>
        </p:nvSpPr>
        <p:spPr/>
        <p:txBody>
          <a:bodyPr/>
          <a:lstStyle/>
          <a:p>
            <a:fld id="{537C7B65-10C3-47F6-81D1-E9BC80D01EEE}" type="datetime1">
              <a:rPr lang="en-GB" smtClean="0"/>
              <a:t>21/02/2023</a:t>
            </a:fld>
            <a:endParaRPr lang="en-GB"/>
          </a:p>
        </p:txBody>
      </p:sp>
    </p:spTree>
    <p:extLst>
      <p:ext uri="{BB962C8B-B14F-4D97-AF65-F5344CB8AC3E}">
        <p14:creationId xmlns:p14="http://schemas.microsoft.com/office/powerpoint/2010/main" val="2841385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rmAutofit/>
          </a:bodyPr>
          <a:lstStyle/>
          <a:p>
            <a:pPr>
              <a:lnSpc>
                <a:spcPct val="80000"/>
              </a:lnSpc>
            </a:pPr>
            <a:r>
              <a:rPr lang="en-GB" altLang="en-US" sz="4000" b="1" dirty="0"/>
              <a:t>Resources: What they are (</a:t>
            </a:r>
            <a:r>
              <a:rPr lang="en-GB" altLang="en-US" sz="4000" b="1" dirty="0">
                <a:solidFill>
                  <a:srgbClr val="FF0000"/>
                </a:solidFill>
              </a:rPr>
              <a:t>Assets</a:t>
            </a:r>
            <a:r>
              <a:rPr lang="en-GB" altLang="en-US" sz="4000" b="1" dirty="0"/>
              <a:t>) = Resources: Who supplied them (</a:t>
            </a:r>
            <a:r>
              <a:rPr lang="en-GB" altLang="en-US" sz="4000" b="1" dirty="0">
                <a:solidFill>
                  <a:srgbClr val="FF0000"/>
                </a:solidFill>
              </a:rPr>
              <a:t>Capital + Liabilities</a:t>
            </a:r>
            <a:r>
              <a:rPr lang="en-GB" altLang="en-US" sz="4000" b="1" dirty="0"/>
              <a:t>)</a:t>
            </a:r>
          </a:p>
          <a:p>
            <a:pPr>
              <a:lnSpc>
                <a:spcPct val="80000"/>
              </a:lnSpc>
              <a:buNone/>
            </a:pPr>
            <a:endParaRPr lang="en-GB" altLang="en-US" sz="4000" b="1" dirty="0"/>
          </a:p>
          <a:p>
            <a:pPr>
              <a:lnSpc>
                <a:spcPct val="80000"/>
              </a:lnSpc>
            </a:pPr>
            <a:r>
              <a:rPr lang="en-GB" altLang="en-US" sz="4000" b="1" dirty="0"/>
              <a:t>The totals of each side will always equal one another, and that this will always be true no matter how many transactions are entered into.</a:t>
            </a:r>
            <a:endParaRPr lang="en-US" sz="4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41</a:t>
            </a:fld>
            <a:endParaRPr lang="en-GB"/>
          </a:p>
        </p:txBody>
      </p:sp>
      <p:sp>
        <p:nvSpPr>
          <p:cNvPr id="5" name="Date Placeholder 4">
            <a:extLst>
              <a:ext uri="{FF2B5EF4-FFF2-40B4-BE49-F238E27FC236}">
                <a16:creationId xmlns:a16="http://schemas.microsoft.com/office/drawing/2014/main" id="{4CACA8CA-41FA-4121-BF24-3E9630934410}"/>
              </a:ext>
            </a:extLst>
          </p:cNvPr>
          <p:cNvSpPr>
            <a:spLocks noGrp="1"/>
          </p:cNvSpPr>
          <p:nvPr>
            <p:ph type="dt" sz="half" idx="10"/>
          </p:nvPr>
        </p:nvSpPr>
        <p:spPr/>
        <p:txBody>
          <a:bodyPr/>
          <a:lstStyle/>
          <a:p>
            <a:fld id="{80318266-DCB3-46E5-A636-0D84C9F3A6A9}" type="datetime1">
              <a:rPr lang="en-GB" smtClean="0"/>
              <a:t>21/02/2023</a:t>
            </a:fld>
            <a:endParaRPr lang="en-GB"/>
          </a:p>
        </p:txBody>
      </p:sp>
    </p:spTree>
    <p:extLst>
      <p:ext uri="{BB962C8B-B14F-4D97-AF65-F5344CB8AC3E}">
        <p14:creationId xmlns:p14="http://schemas.microsoft.com/office/powerpoint/2010/main" val="2640914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rmAutofit fontScale="92500" lnSpcReduction="10000"/>
          </a:bodyPr>
          <a:lstStyle/>
          <a:p>
            <a:pPr>
              <a:lnSpc>
                <a:spcPct val="80000"/>
              </a:lnSpc>
            </a:pPr>
            <a:r>
              <a:rPr lang="en-GB" altLang="en-US" sz="6600" b="1" dirty="0"/>
              <a:t>The totals of each side will always equal one another, and that this will always be true no matter how many transactions are entered into.</a:t>
            </a:r>
            <a:endParaRPr lang="en-US" sz="36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42</a:t>
            </a:fld>
            <a:endParaRPr lang="en-GB"/>
          </a:p>
        </p:txBody>
      </p:sp>
      <p:sp>
        <p:nvSpPr>
          <p:cNvPr id="5" name="Date Placeholder 4">
            <a:extLst>
              <a:ext uri="{FF2B5EF4-FFF2-40B4-BE49-F238E27FC236}">
                <a16:creationId xmlns:a16="http://schemas.microsoft.com/office/drawing/2014/main" id="{4CACA8CA-41FA-4121-BF24-3E9630934410}"/>
              </a:ext>
            </a:extLst>
          </p:cNvPr>
          <p:cNvSpPr>
            <a:spLocks noGrp="1"/>
          </p:cNvSpPr>
          <p:nvPr>
            <p:ph type="dt" sz="half" idx="10"/>
          </p:nvPr>
        </p:nvSpPr>
        <p:spPr/>
        <p:txBody>
          <a:bodyPr/>
          <a:lstStyle/>
          <a:p>
            <a:fld id="{80318266-DCB3-46E5-A636-0D84C9F3A6A9}" type="datetime1">
              <a:rPr lang="en-GB" smtClean="0"/>
              <a:t>21/02/2023</a:t>
            </a:fld>
            <a:endParaRPr lang="en-GB"/>
          </a:p>
        </p:txBody>
      </p:sp>
    </p:spTree>
    <p:extLst>
      <p:ext uri="{BB962C8B-B14F-4D97-AF65-F5344CB8AC3E}">
        <p14:creationId xmlns:p14="http://schemas.microsoft.com/office/powerpoint/2010/main" val="11100553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Accounting Equation</a:t>
            </a:r>
            <a:endParaRPr lang="en-US" dirty="0"/>
          </a:p>
        </p:txBody>
      </p:sp>
      <p:sp>
        <p:nvSpPr>
          <p:cNvPr id="3" name="Content Placeholder 2"/>
          <p:cNvSpPr>
            <a:spLocks noGrp="1"/>
          </p:cNvSpPr>
          <p:nvPr>
            <p:ph idx="1"/>
          </p:nvPr>
        </p:nvSpPr>
        <p:spPr/>
        <p:txBody>
          <a:bodyPr>
            <a:normAutofit lnSpcReduction="10000"/>
          </a:bodyPr>
          <a:lstStyle/>
          <a:p>
            <a:pPr>
              <a:lnSpc>
                <a:spcPct val="80000"/>
              </a:lnSpc>
            </a:pPr>
            <a:r>
              <a:rPr lang="en-GB" altLang="en-US" sz="6000" b="1" dirty="0"/>
              <a:t>The actual assets, capital and liabilities may change, but the equality of assets with that of the total of capital and liabilities will always hold true.</a:t>
            </a:r>
            <a:endParaRPr lang="en-US" sz="36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43</a:t>
            </a:fld>
            <a:endParaRPr lang="en-GB"/>
          </a:p>
        </p:txBody>
      </p:sp>
      <p:sp>
        <p:nvSpPr>
          <p:cNvPr id="5" name="Date Placeholder 4">
            <a:extLst>
              <a:ext uri="{FF2B5EF4-FFF2-40B4-BE49-F238E27FC236}">
                <a16:creationId xmlns:a16="http://schemas.microsoft.com/office/drawing/2014/main" id="{4CACA8CA-41FA-4121-BF24-3E9630934410}"/>
              </a:ext>
            </a:extLst>
          </p:cNvPr>
          <p:cNvSpPr>
            <a:spLocks noGrp="1"/>
          </p:cNvSpPr>
          <p:nvPr>
            <p:ph type="dt" sz="half" idx="10"/>
          </p:nvPr>
        </p:nvSpPr>
        <p:spPr/>
        <p:txBody>
          <a:bodyPr/>
          <a:lstStyle/>
          <a:p>
            <a:fld id="{80318266-DCB3-46E5-A636-0D84C9F3A6A9}" type="datetime1">
              <a:rPr lang="en-GB" smtClean="0"/>
              <a:t>21/02/2023</a:t>
            </a:fld>
            <a:endParaRPr lang="en-GB"/>
          </a:p>
        </p:txBody>
      </p:sp>
    </p:spTree>
    <p:extLst>
      <p:ext uri="{BB962C8B-B14F-4D97-AF65-F5344CB8AC3E}">
        <p14:creationId xmlns:p14="http://schemas.microsoft.com/office/powerpoint/2010/main" val="3505010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Assets, Liabilities &amp; Capital</a:t>
            </a:r>
            <a:endParaRPr lang="en-US" dirty="0"/>
          </a:p>
        </p:txBody>
      </p:sp>
      <p:sp>
        <p:nvSpPr>
          <p:cNvPr id="3" name="Content Placeholder 2"/>
          <p:cNvSpPr>
            <a:spLocks noGrp="1"/>
          </p:cNvSpPr>
          <p:nvPr>
            <p:ph idx="1"/>
          </p:nvPr>
        </p:nvSpPr>
        <p:spPr>
          <a:xfrm>
            <a:off x="838200" y="1690688"/>
            <a:ext cx="10515600" cy="4665662"/>
          </a:xfrm>
        </p:spPr>
        <p:txBody>
          <a:bodyPr>
            <a:noAutofit/>
          </a:bodyPr>
          <a:lstStyle/>
          <a:p>
            <a:pPr>
              <a:lnSpc>
                <a:spcPct val="80000"/>
              </a:lnSpc>
            </a:pPr>
            <a:r>
              <a:rPr lang="en-GB" altLang="en-US" sz="4800" b="1" i="1" dirty="0">
                <a:solidFill>
                  <a:srgbClr val="FF0000"/>
                </a:solidFill>
              </a:rPr>
              <a:t>Assets</a:t>
            </a:r>
            <a:r>
              <a:rPr lang="en-GB" altLang="en-US" sz="4800" b="1" dirty="0"/>
              <a:t> consist of property of all kinds, such as buildings, machinery, stocks of goods (inventory) and motor vehicles, also benefits such as debts owing by customers and the amount of money in the bank account.</a:t>
            </a:r>
            <a:endParaRPr lang="en-US" sz="48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44</a:t>
            </a:fld>
            <a:endParaRPr lang="en-GB"/>
          </a:p>
        </p:txBody>
      </p:sp>
      <p:sp>
        <p:nvSpPr>
          <p:cNvPr id="5" name="Date Placeholder 4">
            <a:extLst>
              <a:ext uri="{FF2B5EF4-FFF2-40B4-BE49-F238E27FC236}">
                <a16:creationId xmlns:a16="http://schemas.microsoft.com/office/drawing/2014/main" id="{24ACBA46-35F2-4AB1-A0D9-8158E3D85E99}"/>
              </a:ext>
            </a:extLst>
          </p:cNvPr>
          <p:cNvSpPr>
            <a:spLocks noGrp="1"/>
          </p:cNvSpPr>
          <p:nvPr>
            <p:ph type="dt" sz="half" idx="10"/>
          </p:nvPr>
        </p:nvSpPr>
        <p:spPr/>
        <p:txBody>
          <a:bodyPr/>
          <a:lstStyle/>
          <a:p>
            <a:fld id="{D5E3FCF1-38F3-4D8A-8125-3310103DC4E3}" type="datetime1">
              <a:rPr lang="en-GB" smtClean="0"/>
              <a:t>21/02/2023</a:t>
            </a:fld>
            <a:endParaRPr lang="en-GB"/>
          </a:p>
        </p:txBody>
      </p:sp>
    </p:spTree>
    <p:extLst>
      <p:ext uri="{BB962C8B-B14F-4D97-AF65-F5344CB8AC3E}">
        <p14:creationId xmlns:p14="http://schemas.microsoft.com/office/powerpoint/2010/main" val="33227679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Assets, Liabilities &amp; Capital</a:t>
            </a:r>
            <a:endParaRPr lang="en-US" dirty="0"/>
          </a:p>
        </p:txBody>
      </p:sp>
      <p:sp>
        <p:nvSpPr>
          <p:cNvPr id="3" name="Content Placeholder 2"/>
          <p:cNvSpPr>
            <a:spLocks noGrp="1"/>
          </p:cNvSpPr>
          <p:nvPr>
            <p:ph idx="1"/>
          </p:nvPr>
        </p:nvSpPr>
        <p:spPr>
          <a:xfrm>
            <a:off x="838200" y="1690688"/>
            <a:ext cx="10515600" cy="4665662"/>
          </a:xfrm>
        </p:spPr>
        <p:txBody>
          <a:bodyPr>
            <a:noAutofit/>
          </a:bodyPr>
          <a:lstStyle/>
          <a:p>
            <a:pPr>
              <a:lnSpc>
                <a:spcPct val="80000"/>
              </a:lnSpc>
            </a:pPr>
            <a:r>
              <a:rPr lang="en-GB" altLang="en-US" sz="4800" b="1" dirty="0">
                <a:solidFill>
                  <a:srgbClr val="FF0000"/>
                </a:solidFill>
              </a:rPr>
              <a:t>Liabilities</a:t>
            </a:r>
            <a:r>
              <a:rPr lang="en-GB" altLang="en-US" sz="4800" b="1" dirty="0"/>
              <a:t> consist of money owing for goods supplied to the firm, and for expenses, also for loans made to the firm.</a:t>
            </a:r>
          </a:p>
          <a:p>
            <a:pPr>
              <a:lnSpc>
                <a:spcPct val="80000"/>
              </a:lnSpc>
              <a:buNone/>
            </a:pPr>
            <a:endParaRPr lang="en-GB" altLang="en-US" sz="4800" b="1" i="1" dirty="0"/>
          </a:p>
          <a:p>
            <a:pPr>
              <a:lnSpc>
                <a:spcPct val="80000"/>
              </a:lnSpc>
            </a:pPr>
            <a:r>
              <a:rPr lang="en-GB" altLang="en-US" sz="4800" b="1" dirty="0">
                <a:solidFill>
                  <a:srgbClr val="FF0000"/>
                </a:solidFill>
              </a:rPr>
              <a:t>Capital</a:t>
            </a:r>
            <a:r>
              <a:rPr lang="en-GB" altLang="en-US" sz="4800" b="1" dirty="0"/>
              <a:t> is often called the </a:t>
            </a:r>
            <a:r>
              <a:rPr lang="en-GB" altLang="en-US" sz="4800" b="1" dirty="0">
                <a:solidFill>
                  <a:srgbClr val="FF0000"/>
                </a:solidFill>
              </a:rPr>
              <a:t>owner’s equity</a:t>
            </a:r>
            <a:r>
              <a:rPr lang="en-GB" altLang="en-US" sz="4800" b="1" dirty="0"/>
              <a:t> or </a:t>
            </a:r>
            <a:r>
              <a:rPr lang="en-GB" altLang="en-US" sz="4800" b="1" dirty="0">
                <a:solidFill>
                  <a:srgbClr val="FF0000"/>
                </a:solidFill>
              </a:rPr>
              <a:t>net worth</a:t>
            </a:r>
            <a:r>
              <a:rPr lang="en-GB" altLang="en-US" sz="4800" b="1" dirty="0"/>
              <a:t>.</a:t>
            </a:r>
            <a:endParaRPr lang="en-US" sz="3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45</a:t>
            </a:fld>
            <a:endParaRPr lang="en-GB"/>
          </a:p>
        </p:txBody>
      </p:sp>
      <p:sp>
        <p:nvSpPr>
          <p:cNvPr id="5" name="Date Placeholder 4">
            <a:extLst>
              <a:ext uri="{FF2B5EF4-FFF2-40B4-BE49-F238E27FC236}">
                <a16:creationId xmlns:a16="http://schemas.microsoft.com/office/drawing/2014/main" id="{24ACBA46-35F2-4AB1-A0D9-8158E3D85E99}"/>
              </a:ext>
            </a:extLst>
          </p:cNvPr>
          <p:cNvSpPr>
            <a:spLocks noGrp="1"/>
          </p:cNvSpPr>
          <p:nvPr>
            <p:ph type="dt" sz="half" idx="10"/>
          </p:nvPr>
        </p:nvSpPr>
        <p:spPr/>
        <p:txBody>
          <a:bodyPr/>
          <a:lstStyle/>
          <a:p>
            <a:fld id="{D5E3FCF1-38F3-4D8A-8125-3310103DC4E3}" type="datetime1">
              <a:rPr lang="en-GB" smtClean="0"/>
              <a:t>21/02/2023</a:t>
            </a:fld>
            <a:endParaRPr lang="en-GB"/>
          </a:p>
        </p:txBody>
      </p:sp>
    </p:spTree>
    <p:extLst>
      <p:ext uri="{BB962C8B-B14F-4D97-AF65-F5344CB8AC3E}">
        <p14:creationId xmlns:p14="http://schemas.microsoft.com/office/powerpoint/2010/main" val="29340100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Fixed Assets</a:t>
            </a:r>
            <a:endParaRPr lang="en-US" dirty="0"/>
          </a:p>
        </p:txBody>
      </p:sp>
      <p:sp>
        <p:nvSpPr>
          <p:cNvPr id="3" name="Content Placeholder 2"/>
          <p:cNvSpPr>
            <a:spLocks noGrp="1"/>
          </p:cNvSpPr>
          <p:nvPr>
            <p:ph idx="1"/>
          </p:nvPr>
        </p:nvSpPr>
        <p:spPr/>
        <p:txBody>
          <a:bodyPr>
            <a:normAutofit fontScale="92500" lnSpcReduction="10000"/>
          </a:bodyPr>
          <a:lstStyle/>
          <a:p>
            <a:r>
              <a:rPr lang="en-GB" altLang="en-US" sz="6000" b="1" dirty="0"/>
              <a:t>A </a:t>
            </a:r>
            <a:r>
              <a:rPr lang="en-GB" altLang="en-US" sz="6000" b="1" dirty="0">
                <a:solidFill>
                  <a:srgbClr val="FF0000"/>
                </a:solidFill>
              </a:rPr>
              <a:t>fixed asset</a:t>
            </a:r>
            <a:r>
              <a:rPr lang="en-GB" altLang="en-US" sz="6000" b="1" dirty="0"/>
              <a:t> is intended to be of a permanent nature and which is used by the business to provide the capability to conduct its trade.</a:t>
            </a:r>
            <a:endParaRPr lang="en-US"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46</a:t>
            </a:fld>
            <a:endParaRPr lang="en-GB"/>
          </a:p>
        </p:txBody>
      </p:sp>
      <p:sp>
        <p:nvSpPr>
          <p:cNvPr id="5" name="Date Placeholder 4">
            <a:extLst>
              <a:ext uri="{FF2B5EF4-FFF2-40B4-BE49-F238E27FC236}">
                <a16:creationId xmlns:a16="http://schemas.microsoft.com/office/drawing/2014/main" id="{2DBBA6C9-3606-40E7-A47B-C6377FBBEB45}"/>
              </a:ext>
            </a:extLst>
          </p:cNvPr>
          <p:cNvSpPr>
            <a:spLocks noGrp="1"/>
          </p:cNvSpPr>
          <p:nvPr>
            <p:ph type="dt" sz="half" idx="10"/>
          </p:nvPr>
        </p:nvSpPr>
        <p:spPr/>
        <p:txBody>
          <a:bodyPr/>
          <a:lstStyle/>
          <a:p>
            <a:fld id="{D8000D3B-96C9-41CD-BCBF-23CA2D0D2EA1}" type="datetime1">
              <a:rPr lang="en-GB" smtClean="0"/>
              <a:t>21/02/2023</a:t>
            </a:fld>
            <a:endParaRPr lang="en-GB"/>
          </a:p>
        </p:txBody>
      </p:sp>
    </p:spTree>
    <p:extLst>
      <p:ext uri="{BB962C8B-B14F-4D97-AF65-F5344CB8AC3E}">
        <p14:creationId xmlns:p14="http://schemas.microsoft.com/office/powerpoint/2010/main" val="18046104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Fixed Assets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GB" altLang="en-US" sz="3600" b="1" dirty="0">
                <a:solidFill>
                  <a:srgbClr val="FF0000"/>
                </a:solidFill>
              </a:rPr>
              <a:t>Tangible fixed assets</a:t>
            </a:r>
          </a:p>
          <a:p>
            <a:r>
              <a:rPr lang="en-GB" altLang="en-US" sz="3600" b="1" dirty="0"/>
              <a:t>plant &amp; machinery,</a:t>
            </a:r>
          </a:p>
          <a:p>
            <a:r>
              <a:rPr lang="en-GB" altLang="en-US" sz="3600" b="1" dirty="0"/>
              <a:t>land &amp; buildings and</a:t>
            </a:r>
          </a:p>
          <a:p>
            <a:r>
              <a:rPr lang="en-GB" altLang="en-US" sz="3600" b="1" dirty="0"/>
              <a:t>motor vehicles</a:t>
            </a:r>
          </a:p>
          <a:p>
            <a:endParaRPr lang="en-GB" altLang="en-US" sz="2000" b="1" dirty="0"/>
          </a:p>
          <a:p>
            <a:pPr marL="0" indent="0">
              <a:buNone/>
            </a:pPr>
            <a:r>
              <a:rPr lang="en-GB" altLang="en-US" sz="3600" b="1" dirty="0">
                <a:solidFill>
                  <a:srgbClr val="FF0000"/>
                </a:solidFill>
              </a:rPr>
              <a:t>Intangible fixed assets</a:t>
            </a:r>
            <a:r>
              <a:rPr lang="en-GB" altLang="en-US" sz="3600" b="1" dirty="0"/>
              <a:t> </a:t>
            </a:r>
          </a:p>
          <a:p>
            <a:r>
              <a:rPr lang="en-GB" altLang="en-US" sz="3600" b="1" dirty="0"/>
              <a:t>goodwill, </a:t>
            </a:r>
          </a:p>
          <a:p>
            <a:r>
              <a:rPr lang="en-GB" altLang="en-US" sz="3600" b="1" dirty="0"/>
              <a:t>patents, trademarks and brands.</a:t>
            </a:r>
            <a:endParaRPr lang="en-US"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47</a:t>
            </a:fld>
            <a:endParaRPr lang="en-GB"/>
          </a:p>
        </p:txBody>
      </p:sp>
      <p:sp>
        <p:nvSpPr>
          <p:cNvPr id="5" name="Date Placeholder 4">
            <a:extLst>
              <a:ext uri="{FF2B5EF4-FFF2-40B4-BE49-F238E27FC236}">
                <a16:creationId xmlns:a16="http://schemas.microsoft.com/office/drawing/2014/main" id="{2DBBA6C9-3606-40E7-A47B-C6377FBBEB45}"/>
              </a:ext>
            </a:extLst>
          </p:cNvPr>
          <p:cNvSpPr>
            <a:spLocks noGrp="1"/>
          </p:cNvSpPr>
          <p:nvPr>
            <p:ph type="dt" sz="half" idx="10"/>
          </p:nvPr>
        </p:nvSpPr>
        <p:spPr/>
        <p:txBody>
          <a:bodyPr/>
          <a:lstStyle/>
          <a:p>
            <a:fld id="{D8000D3B-96C9-41CD-BCBF-23CA2D0D2EA1}" type="datetime1">
              <a:rPr lang="en-GB" smtClean="0"/>
              <a:t>21/02/2023</a:t>
            </a:fld>
            <a:endParaRPr lang="en-GB"/>
          </a:p>
        </p:txBody>
      </p:sp>
    </p:spTree>
    <p:extLst>
      <p:ext uri="{BB962C8B-B14F-4D97-AF65-F5344CB8AC3E}">
        <p14:creationId xmlns:p14="http://schemas.microsoft.com/office/powerpoint/2010/main" val="39295498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t>The Balance Sheet and the effects of Business Transactions</a:t>
            </a:r>
            <a:endParaRPr lang="en-US" dirty="0"/>
          </a:p>
        </p:txBody>
      </p:sp>
      <p:sp>
        <p:nvSpPr>
          <p:cNvPr id="3" name="Content Placeholder 2"/>
          <p:cNvSpPr>
            <a:spLocks noGrp="1"/>
          </p:cNvSpPr>
          <p:nvPr>
            <p:ph idx="1"/>
          </p:nvPr>
        </p:nvSpPr>
        <p:spPr/>
        <p:txBody>
          <a:bodyPr>
            <a:normAutofit/>
          </a:bodyPr>
          <a:lstStyle/>
          <a:p>
            <a:pPr marL="0" indent="0">
              <a:buNone/>
            </a:pPr>
            <a:r>
              <a:rPr lang="en-GB" altLang="en-US" sz="3600" b="1" dirty="0">
                <a:solidFill>
                  <a:srgbClr val="FF0000"/>
                </a:solidFill>
              </a:rPr>
              <a:t>The introduction of capital</a:t>
            </a:r>
          </a:p>
          <a:p>
            <a:r>
              <a:rPr lang="en-GB" altLang="en-US" sz="3600" b="1" dirty="0"/>
              <a:t>On January 1, 202X</a:t>
            </a:r>
          </a:p>
          <a:p>
            <a:r>
              <a:rPr lang="en-GB" altLang="en-US" sz="3600" b="1" dirty="0"/>
              <a:t> K. </a:t>
            </a:r>
            <a:r>
              <a:rPr lang="en-GB" altLang="en-US" sz="3600" b="1" dirty="0" err="1"/>
              <a:t>Ananse</a:t>
            </a:r>
            <a:r>
              <a:rPr lang="en-GB" altLang="en-US" sz="3600" b="1" dirty="0"/>
              <a:t> started a business and deposited GH¢10,000 in his bank account opened specially for the business.</a:t>
            </a:r>
          </a:p>
          <a:p>
            <a:endParaRPr lang="en-GB" altLang="en-US" sz="3600" b="1" dirty="0"/>
          </a:p>
          <a:p>
            <a:r>
              <a:rPr lang="en-GB" altLang="en-US" sz="3600" b="1" dirty="0"/>
              <a:t>The balance sheet would appear as follows:</a:t>
            </a:r>
            <a:endParaRPr lang="en-US" sz="34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48</a:t>
            </a:fld>
            <a:endParaRPr lang="en-GB"/>
          </a:p>
        </p:txBody>
      </p:sp>
      <p:sp>
        <p:nvSpPr>
          <p:cNvPr id="5" name="Date Placeholder 4">
            <a:extLst>
              <a:ext uri="{FF2B5EF4-FFF2-40B4-BE49-F238E27FC236}">
                <a16:creationId xmlns:a16="http://schemas.microsoft.com/office/drawing/2014/main" id="{2B3C42FF-5A9A-4C45-ABF4-9C22A55566D1}"/>
              </a:ext>
            </a:extLst>
          </p:cNvPr>
          <p:cNvSpPr>
            <a:spLocks noGrp="1"/>
          </p:cNvSpPr>
          <p:nvPr>
            <p:ph type="dt" sz="half" idx="10"/>
          </p:nvPr>
        </p:nvSpPr>
        <p:spPr/>
        <p:txBody>
          <a:bodyPr/>
          <a:lstStyle/>
          <a:p>
            <a:fld id="{EE840412-9878-4A6C-B90C-1468C38196A8}" type="datetime1">
              <a:rPr lang="en-GB" smtClean="0"/>
              <a:t>21/02/2023</a:t>
            </a:fld>
            <a:endParaRPr lang="en-GB"/>
          </a:p>
        </p:txBody>
      </p:sp>
    </p:spTree>
    <p:extLst>
      <p:ext uri="{BB962C8B-B14F-4D97-AF65-F5344CB8AC3E}">
        <p14:creationId xmlns:p14="http://schemas.microsoft.com/office/powerpoint/2010/main" val="824023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altLang="en-US" b="1" dirty="0"/>
              <a:t>K. </a:t>
            </a:r>
            <a:r>
              <a:rPr lang="en-GB" altLang="en-US" b="1" dirty="0" err="1"/>
              <a:t>Ananse</a:t>
            </a:r>
            <a:r>
              <a:rPr lang="en-GB" altLang="en-US" b="1" dirty="0"/>
              <a:t> Co. Ltd. </a:t>
            </a:r>
            <a:br>
              <a:rPr lang="en-GB" altLang="en-US" dirty="0"/>
            </a:br>
            <a:r>
              <a:rPr lang="en-GB" altLang="en-US" b="1" dirty="0"/>
              <a:t>Balance Sheet as at 1 January 202X</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99823957"/>
              </p:ext>
            </p:extLst>
          </p:nvPr>
        </p:nvGraphicFramePr>
        <p:xfrm>
          <a:off x="838200" y="1825625"/>
          <a:ext cx="10515600" cy="429768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20000"/>
                    </a:ext>
                  </a:extLst>
                </a:gridCol>
                <a:gridCol w="2173846">
                  <a:extLst>
                    <a:ext uri="{9D8B030D-6E8A-4147-A177-3AD203B41FA5}">
                      <a16:colId xmlns:a16="http://schemas.microsoft.com/office/drawing/2014/main" val="20001"/>
                    </a:ext>
                  </a:extLst>
                </a:gridCol>
                <a:gridCol w="3083954">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1" i="0" u="none" strike="noStrike" cap="none" normalizeH="0" baseline="0" dirty="0">
                          <a:ln>
                            <a:noFill/>
                          </a:ln>
                          <a:solidFill>
                            <a:schemeClr val="tx1"/>
                          </a:solidFill>
                          <a:effectLst/>
                          <a:latin typeface="Arial" charset="0"/>
                          <a:cs typeface="Arial" charset="0"/>
                        </a:rPr>
                        <a:t>Assets</a:t>
                      </a:r>
                      <a:endParaRPr kumimoji="0" lang="en-GB" sz="44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1" i="0" u="none" strike="noStrike" cap="none" normalizeH="0" baseline="0" dirty="0">
                          <a:ln>
                            <a:noFill/>
                          </a:ln>
                          <a:solidFill>
                            <a:schemeClr val="tx1"/>
                          </a:solidFill>
                          <a:effectLst/>
                          <a:latin typeface="Arial" charset="0"/>
                          <a:cs typeface="Arial" charset="0"/>
                        </a:rPr>
                        <a:t>GH¢</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1" i="0" u="none" strike="noStrike" cap="none" normalizeH="0" baseline="0">
                          <a:ln>
                            <a:noFill/>
                          </a:ln>
                          <a:solidFill>
                            <a:schemeClr val="tx1"/>
                          </a:solidFill>
                          <a:effectLst/>
                          <a:latin typeface="Arial" charset="0"/>
                          <a:cs typeface="Arial" charset="0"/>
                        </a:rPr>
                        <a:t>Capital and Liabilities</a:t>
                      </a:r>
                      <a:endParaRPr kumimoji="0" lang="en-GB" sz="4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1" i="0" u="none" strike="noStrike" cap="none" normalizeH="0" baseline="0" dirty="0">
                          <a:ln>
                            <a:noFill/>
                          </a:ln>
                          <a:solidFill>
                            <a:schemeClr val="tx1"/>
                          </a:solidFill>
                          <a:effectLst/>
                          <a:latin typeface="Arial" charset="0"/>
                          <a:cs typeface="Arial" charset="0"/>
                        </a:rPr>
                        <a:t>GH¢</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0" i="0" u="none" strike="noStrike" cap="none" normalizeH="0" baseline="0">
                          <a:ln>
                            <a:noFill/>
                          </a:ln>
                          <a:solidFill>
                            <a:schemeClr val="tx1"/>
                          </a:solidFill>
                          <a:effectLst/>
                          <a:latin typeface="Arial" charset="0"/>
                          <a:cs typeface="Arial" charset="0"/>
                        </a:rPr>
                        <a:t>Cash at bank </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0" i="0" u="none" strike="noStrike" cap="none" normalizeH="0" baseline="0">
                          <a:ln>
                            <a:noFill/>
                          </a:ln>
                          <a:solidFill>
                            <a:schemeClr val="tx1"/>
                          </a:solidFill>
                          <a:effectLst/>
                          <a:latin typeface="Arial" charset="0"/>
                          <a:cs typeface="Arial" charset="0"/>
                        </a:rPr>
                        <a:t>10,000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0" i="0" u="none" strike="noStrike" cap="none" normalizeH="0" baseline="0">
                          <a:ln>
                            <a:noFill/>
                          </a:ln>
                          <a:solidFill>
                            <a:schemeClr val="tx1"/>
                          </a:solidFill>
                          <a:effectLst/>
                          <a:latin typeface="Arial" charset="0"/>
                          <a:cs typeface="Arial" charset="0"/>
                        </a:rPr>
                        <a:t>Capital</a:t>
                      </a:r>
                      <a:endParaRPr kumimoji="0" lang="en-GB" sz="44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0" i="0" u="none" strike="noStrike" cap="none" normalizeH="0" baseline="0" dirty="0">
                          <a:ln>
                            <a:noFill/>
                          </a:ln>
                          <a:solidFill>
                            <a:schemeClr val="tx1"/>
                          </a:solidFill>
                          <a:effectLst/>
                          <a:latin typeface="Arial" charset="0"/>
                          <a:cs typeface="Arial" charset="0"/>
                        </a:rPr>
                        <a:t>10,000</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44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0" i="0" u="none" strike="noStrike" cap="none" normalizeH="0" baseline="0">
                          <a:ln>
                            <a:noFill/>
                          </a:ln>
                          <a:solidFill>
                            <a:schemeClr val="tx1"/>
                          </a:solidFill>
                          <a:effectLst/>
                          <a:latin typeface="Arial" charset="0"/>
                          <a:cs typeface="Arial" charset="0"/>
                        </a:rPr>
                        <a:t>10,000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4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400" b="0" i="0" u="none" strike="noStrike" cap="none" normalizeH="0" baseline="0" dirty="0">
                          <a:ln>
                            <a:noFill/>
                          </a:ln>
                          <a:solidFill>
                            <a:schemeClr val="tx1"/>
                          </a:solidFill>
                          <a:effectLst/>
                          <a:latin typeface="Arial" charset="0"/>
                          <a:cs typeface="Arial" charset="0"/>
                        </a:rPr>
                        <a:t>10,000</a:t>
                      </a:r>
                    </a:p>
                  </a:txBody>
                  <a:tcPr horzOverflow="overflow"/>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49</a:t>
            </a:fld>
            <a:endParaRPr lang="en-GB"/>
          </a:p>
        </p:txBody>
      </p:sp>
      <p:sp>
        <p:nvSpPr>
          <p:cNvPr id="3" name="Date Placeholder 2">
            <a:extLst>
              <a:ext uri="{FF2B5EF4-FFF2-40B4-BE49-F238E27FC236}">
                <a16:creationId xmlns:a16="http://schemas.microsoft.com/office/drawing/2014/main" id="{66B2F5F0-A7BE-40C9-B6F9-6319C8A67AA3}"/>
              </a:ext>
            </a:extLst>
          </p:cNvPr>
          <p:cNvSpPr>
            <a:spLocks noGrp="1"/>
          </p:cNvSpPr>
          <p:nvPr>
            <p:ph type="dt" sz="half" idx="10"/>
          </p:nvPr>
        </p:nvSpPr>
        <p:spPr/>
        <p:txBody>
          <a:bodyPr/>
          <a:lstStyle/>
          <a:p>
            <a:fld id="{BC177B43-F2B4-409A-A326-C37CA8B27A3E}" type="datetime1">
              <a:rPr lang="en-GB" smtClean="0"/>
              <a:t>21/02/2023</a:t>
            </a:fld>
            <a:endParaRPr lang="en-GB"/>
          </a:p>
        </p:txBody>
      </p:sp>
    </p:spTree>
    <p:extLst>
      <p:ext uri="{BB962C8B-B14F-4D97-AF65-F5344CB8AC3E}">
        <p14:creationId xmlns:p14="http://schemas.microsoft.com/office/powerpoint/2010/main" val="37713597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purchase of an asset by cheque</a:t>
            </a:r>
            <a:endParaRPr lang="en-US" dirty="0"/>
          </a:p>
        </p:txBody>
      </p:sp>
      <p:sp>
        <p:nvSpPr>
          <p:cNvPr id="3" name="Content Placeholder 2"/>
          <p:cNvSpPr>
            <a:spLocks noGrp="1"/>
          </p:cNvSpPr>
          <p:nvPr>
            <p:ph idx="1"/>
          </p:nvPr>
        </p:nvSpPr>
        <p:spPr>
          <a:xfrm>
            <a:off x="838200" y="1825624"/>
            <a:ext cx="10515600" cy="4530725"/>
          </a:xfrm>
        </p:spPr>
        <p:txBody>
          <a:bodyPr>
            <a:noAutofit/>
          </a:bodyPr>
          <a:lstStyle/>
          <a:p>
            <a:r>
              <a:rPr lang="en-GB" altLang="en-US" sz="4500" b="1" dirty="0"/>
              <a:t>On 3 January 202X, K. </a:t>
            </a:r>
            <a:r>
              <a:rPr lang="en-GB" altLang="en-US" sz="4500" b="1" dirty="0" err="1"/>
              <a:t>Ananse</a:t>
            </a:r>
            <a:r>
              <a:rPr lang="en-GB" altLang="en-US" sz="4500" b="1" dirty="0"/>
              <a:t> buys a building for GH¢4,000.</a:t>
            </a:r>
          </a:p>
          <a:p>
            <a:endParaRPr lang="en-GB" altLang="en-US" sz="4500" b="1" dirty="0"/>
          </a:p>
          <a:p>
            <a:r>
              <a:rPr lang="en-GB" altLang="en-US" sz="4500" b="1" dirty="0"/>
              <a:t>The effect of this transaction is that the cash at the bank is decreased and a new asset, i.e. building, appears.</a:t>
            </a:r>
            <a:endParaRPr lang="en-US" sz="45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50</a:t>
            </a:fld>
            <a:endParaRPr lang="en-GB"/>
          </a:p>
        </p:txBody>
      </p:sp>
      <p:sp>
        <p:nvSpPr>
          <p:cNvPr id="5" name="Date Placeholder 4">
            <a:extLst>
              <a:ext uri="{FF2B5EF4-FFF2-40B4-BE49-F238E27FC236}">
                <a16:creationId xmlns:a16="http://schemas.microsoft.com/office/drawing/2014/main" id="{4E6F52FC-98A0-4427-B1BF-8C4EFEB43D53}"/>
              </a:ext>
            </a:extLst>
          </p:cNvPr>
          <p:cNvSpPr>
            <a:spLocks noGrp="1"/>
          </p:cNvSpPr>
          <p:nvPr>
            <p:ph type="dt" sz="half" idx="10"/>
          </p:nvPr>
        </p:nvSpPr>
        <p:spPr/>
        <p:txBody>
          <a:bodyPr/>
          <a:lstStyle/>
          <a:p>
            <a:fld id="{30949792-C400-4AC5-970C-6AD85B0231B8}" type="datetime1">
              <a:rPr lang="en-GB" smtClean="0"/>
              <a:t>21/02/2023</a:t>
            </a:fld>
            <a:endParaRPr lang="en-GB"/>
          </a:p>
        </p:txBody>
      </p:sp>
    </p:spTree>
    <p:extLst>
      <p:ext uri="{BB962C8B-B14F-4D97-AF65-F5344CB8AC3E}">
        <p14:creationId xmlns:p14="http://schemas.microsoft.com/office/powerpoint/2010/main" val="40286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altLang="en-US" b="1" dirty="0"/>
              <a:t>K. </a:t>
            </a:r>
            <a:r>
              <a:rPr lang="en-GB" altLang="en-US" b="1" dirty="0" err="1"/>
              <a:t>Ananse</a:t>
            </a:r>
            <a:r>
              <a:rPr lang="en-GB" altLang="en-US" b="1" dirty="0"/>
              <a:t> Co. Ltd. </a:t>
            </a:r>
            <a:br>
              <a:rPr lang="en-GB" altLang="en-US" b="1" dirty="0"/>
            </a:br>
            <a:r>
              <a:rPr lang="en-GB" altLang="en-US" b="1" dirty="0"/>
              <a:t>Balance Sheet as at 3 January 202X</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68935180"/>
              </p:ext>
            </p:extLst>
          </p:nvPr>
        </p:nvGraphicFramePr>
        <p:xfrm>
          <a:off x="838200" y="1825625"/>
          <a:ext cx="10515600" cy="4023360"/>
        </p:xfrm>
        <a:graphic>
          <a:graphicData uri="http://schemas.openxmlformats.org/drawingml/2006/table">
            <a:tbl>
              <a:tblPr firstRow="1" bandRow="1">
                <a:tableStyleId>{5940675A-B579-460E-94D1-54222C63F5DA}</a:tableStyleId>
              </a:tblPr>
              <a:tblGrid>
                <a:gridCol w="2020910">
                  <a:extLst>
                    <a:ext uri="{9D8B030D-6E8A-4147-A177-3AD203B41FA5}">
                      <a16:colId xmlns:a16="http://schemas.microsoft.com/office/drawing/2014/main" val="20000"/>
                    </a:ext>
                  </a:extLst>
                </a:gridCol>
                <a:gridCol w="2511380">
                  <a:extLst>
                    <a:ext uri="{9D8B030D-6E8A-4147-A177-3AD203B41FA5}">
                      <a16:colId xmlns:a16="http://schemas.microsoft.com/office/drawing/2014/main" val="20001"/>
                    </a:ext>
                  </a:extLst>
                </a:gridCol>
                <a:gridCol w="335441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1" i="0" u="none" strike="noStrike" cap="none" normalizeH="0" baseline="0" dirty="0">
                          <a:ln>
                            <a:noFill/>
                          </a:ln>
                          <a:solidFill>
                            <a:schemeClr val="tx1"/>
                          </a:solidFill>
                          <a:effectLst/>
                          <a:latin typeface="Arial" charset="0"/>
                          <a:cs typeface="Arial" charset="0"/>
                        </a:rPr>
                        <a:t>Assets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1" i="0" u="none" strike="noStrike" cap="none" normalizeH="0" baseline="0" dirty="0">
                          <a:ln>
                            <a:noFill/>
                          </a:ln>
                          <a:solidFill>
                            <a:schemeClr val="tx1"/>
                          </a:solidFill>
                          <a:effectLst/>
                          <a:latin typeface="Arial" charset="0"/>
                          <a:cs typeface="Arial" charset="0"/>
                        </a:rPr>
                        <a:t>Amount GH¢</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1" i="0" u="none" strike="noStrike" cap="none" normalizeH="0" baseline="0">
                          <a:ln>
                            <a:noFill/>
                          </a:ln>
                          <a:solidFill>
                            <a:schemeClr val="tx1"/>
                          </a:solidFill>
                          <a:effectLst/>
                          <a:latin typeface="Arial" charset="0"/>
                          <a:cs typeface="Arial" charset="0"/>
                        </a:rPr>
                        <a:t>Capital and Liabilities</a:t>
                      </a:r>
                      <a:endParaRPr kumimoji="0" lang="en-GB" sz="40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1" i="0" u="none" strike="noStrike" cap="none" normalizeH="0" baseline="0" dirty="0">
                          <a:ln>
                            <a:noFill/>
                          </a:ln>
                          <a:solidFill>
                            <a:schemeClr val="tx1"/>
                          </a:solidFill>
                          <a:effectLst/>
                          <a:latin typeface="Arial" charset="0"/>
                          <a:cs typeface="Arial" charset="0"/>
                        </a:rPr>
                        <a:t>Amount GH¢</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a:ln>
                            <a:noFill/>
                          </a:ln>
                          <a:solidFill>
                            <a:schemeClr val="tx1"/>
                          </a:solidFill>
                          <a:effectLst/>
                          <a:latin typeface="Arial" charset="0"/>
                          <a:cs typeface="Arial" charset="0"/>
                        </a:rPr>
                        <a:t>Building</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a:ln>
                            <a:noFill/>
                          </a:ln>
                          <a:solidFill>
                            <a:schemeClr val="tx1"/>
                          </a:solidFill>
                          <a:effectLst/>
                          <a:latin typeface="Arial" charset="0"/>
                          <a:cs typeface="Arial" charset="0"/>
                        </a:rPr>
                        <a:t> 4,000</a:t>
                      </a:r>
                      <a:endParaRPr kumimoji="0" lang="en-GB" sz="40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a:ln>
                            <a:noFill/>
                          </a:ln>
                          <a:solidFill>
                            <a:schemeClr val="tx1"/>
                          </a:solidFill>
                          <a:effectLst/>
                          <a:latin typeface="Arial" charset="0"/>
                          <a:cs typeface="Arial" charset="0"/>
                        </a:rPr>
                        <a:t>Capital </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dirty="0">
                          <a:ln>
                            <a:noFill/>
                          </a:ln>
                          <a:solidFill>
                            <a:schemeClr val="tx1"/>
                          </a:solidFill>
                          <a:effectLst/>
                          <a:latin typeface="Arial" charset="0"/>
                          <a:cs typeface="Arial" charset="0"/>
                        </a:rPr>
                        <a:t>10,000</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a:ln>
                            <a:noFill/>
                          </a:ln>
                          <a:solidFill>
                            <a:schemeClr val="tx1"/>
                          </a:solidFill>
                          <a:effectLst/>
                          <a:latin typeface="Arial" charset="0"/>
                          <a:cs typeface="Arial" charset="0"/>
                        </a:rPr>
                        <a:t>Cash at bank</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a:ln>
                            <a:noFill/>
                          </a:ln>
                          <a:solidFill>
                            <a:schemeClr val="tx1"/>
                          </a:solidFill>
                          <a:effectLst/>
                          <a:latin typeface="Arial" charset="0"/>
                          <a:cs typeface="Arial" charset="0"/>
                        </a:rPr>
                        <a:t>6,000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40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40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40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a:ln>
                            <a:noFill/>
                          </a:ln>
                          <a:solidFill>
                            <a:schemeClr val="tx1"/>
                          </a:solidFill>
                          <a:effectLst/>
                          <a:latin typeface="Arial" charset="0"/>
                          <a:cs typeface="Arial" charset="0"/>
                        </a:rPr>
                        <a:t>10,000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40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4000" b="0" i="0" u="none" strike="noStrike" cap="none" normalizeH="0" baseline="0" dirty="0">
                          <a:ln>
                            <a:noFill/>
                          </a:ln>
                          <a:solidFill>
                            <a:schemeClr val="tx1"/>
                          </a:solidFill>
                          <a:effectLst/>
                          <a:latin typeface="Arial" charset="0"/>
                          <a:cs typeface="Arial" charset="0"/>
                        </a:rPr>
                        <a:t>10,000</a:t>
                      </a:r>
                    </a:p>
                  </a:txBody>
                  <a:tcPr horzOverflow="overflow"/>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51</a:t>
            </a:fld>
            <a:endParaRPr lang="en-GB"/>
          </a:p>
        </p:txBody>
      </p:sp>
      <p:sp>
        <p:nvSpPr>
          <p:cNvPr id="3" name="Date Placeholder 2">
            <a:extLst>
              <a:ext uri="{FF2B5EF4-FFF2-40B4-BE49-F238E27FC236}">
                <a16:creationId xmlns:a16="http://schemas.microsoft.com/office/drawing/2014/main" id="{B9850384-CDD8-4590-BD12-A6E01BE0E3A6}"/>
              </a:ext>
            </a:extLst>
          </p:cNvPr>
          <p:cNvSpPr>
            <a:spLocks noGrp="1"/>
          </p:cNvSpPr>
          <p:nvPr>
            <p:ph type="dt" sz="half" idx="10"/>
          </p:nvPr>
        </p:nvSpPr>
        <p:spPr/>
        <p:txBody>
          <a:bodyPr/>
          <a:lstStyle/>
          <a:p>
            <a:fld id="{54E6513B-19D0-46BA-85DD-85CDE2195168}" type="datetime1">
              <a:rPr lang="en-GB" smtClean="0"/>
              <a:t>21/02/2023</a:t>
            </a:fld>
            <a:endParaRPr lang="en-GB"/>
          </a:p>
        </p:txBody>
      </p:sp>
    </p:spTree>
    <p:extLst>
      <p:ext uri="{BB962C8B-B14F-4D97-AF65-F5344CB8AC3E}">
        <p14:creationId xmlns:p14="http://schemas.microsoft.com/office/powerpoint/2010/main" val="32605969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solidFill>
                  <a:srgbClr val="111111"/>
                </a:solidFill>
              </a:rPr>
              <a:t>The purchase of an asset and the incurring of a liability</a:t>
            </a:r>
            <a:endParaRPr lang="en-US" dirty="0">
              <a:solidFill>
                <a:srgbClr val="111111"/>
              </a:solidFill>
            </a:endParaRPr>
          </a:p>
        </p:txBody>
      </p:sp>
      <p:sp>
        <p:nvSpPr>
          <p:cNvPr id="3" name="Content Placeholder 2"/>
          <p:cNvSpPr>
            <a:spLocks noGrp="1"/>
          </p:cNvSpPr>
          <p:nvPr>
            <p:ph idx="1"/>
          </p:nvPr>
        </p:nvSpPr>
        <p:spPr/>
        <p:txBody>
          <a:bodyPr>
            <a:normAutofit lnSpcReduction="10000"/>
          </a:bodyPr>
          <a:lstStyle/>
          <a:p>
            <a:r>
              <a:rPr lang="en-GB" altLang="en-US" sz="3200" dirty="0"/>
              <a:t>On 6 January 202X, K. </a:t>
            </a:r>
            <a:r>
              <a:rPr lang="en-GB" altLang="en-US" sz="3200" dirty="0" err="1"/>
              <a:t>Ananse</a:t>
            </a:r>
            <a:r>
              <a:rPr lang="en-GB" altLang="en-US" sz="3200" dirty="0"/>
              <a:t> buys some goods for GH¢1,000 from K. </a:t>
            </a:r>
            <a:r>
              <a:rPr lang="en-GB" altLang="en-US" sz="3200" dirty="0" err="1"/>
              <a:t>Kuaso</a:t>
            </a:r>
            <a:r>
              <a:rPr lang="en-GB" altLang="en-US" sz="3200" dirty="0"/>
              <a:t>, and </a:t>
            </a:r>
            <a:r>
              <a:rPr lang="en-GB" altLang="en-US" sz="3200" b="1" dirty="0"/>
              <a:t>agrees </a:t>
            </a:r>
            <a:r>
              <a:rPr lang="en-GB" altLang="en-US" sz="3200" b="1" dirty="0">
                <a:solidFill>
                  <a:srgbClr val="FF0000"/>
                </a:solidFill>
              </a:rPr>
              <a:t>to pay</a:t>
            </a:r>
            <a:r>
              <a:rPr lang="en-GB" altLang="en-US" sz="3200" b="1" dirty="0"/>
              <a:t> them some time </a:t>
            </a:r>
            <a:r>
              <a:rPr lang="en-GB" altLang="en-US" sz="3200" b="1" dirty="0">
                <a:solidFill>
                  <a:srgbClr val="FF0000"/>
                </a:solidFill>
              </a:rPr>
              <a:t>within the next two weeks</a:t>
            </a:r>
            <a:r>
              <a:rPr lang="en-GB" altLang="en-US" sz="3200" dirty="0"/>
              <a:t>.</a:t>
            </a:r>
          </a:p>
          <a:p>
            <a:endParaRPr lang="en-GB" altLang="en-US" sz="2000" dirty="0"/>
          </a:p>
          <a:p>
            <a:r>
              <a:rPr lang="en-GB" altLang="en-US" sz="3200" dirty="0"/>
              <a:t>The effect of this is that a new asset, stock of goods, is acquired, and a liability (debt) for the goods is created.</a:t>
            </a:r>
          </a:p>
          <a:p>
            <a:endParaRPr lang="en-GB" altLang="en-US" sz="2000" dirty="0"/>
          </a:p>
          <a:p>
            <a:r>
              <a:rPr lang="en-GB" altLang="en-US" sz="3200" dirty="0"/>
              <a:t>A </a:t>
            </a:r>
            <a:r>
              <a:rPr lang="en-GB" altLang="en-US" sz="3200" b="1" dirty="0"/>
              <a:t>person to whom money is owed for goods</a:t>
            </a:r>
            <a:r>
              <a:rPr lang="en-GB" altLang="en-US" sz="3200" dirty="0"/>
              <a:t> is known in accounting language as a </a:t>
            </a:r>
            <a:r>
              <a:rPr lang="en-GB" altLang="en-US" sz="3200" b="1" dirty="0"/>
              <a:t>creditor</a:t>
            </a:r>
            <a:r>
              <a:rPr lang="en-GB" altLang="en-US" sz="3200" dirty="0"/>
              <a:t>.</a:t>
            </a:r>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t>52</a:t>
            </a:fld>
            <a:endParaRPr lang="en-GB"/>
          </a:p>
        </p:txBody>
      </p:sp>
      <p:sp>
        <p:nvSpPr>
          <p:cNvPr id="5" name="Date Placeholder 4">
            <a:extLst>
              <a:ext uri="{FF2B5EF4-FFF2-40B4-BE49-F238E27FC236}">
                <a16:creationId xmlns:a16="http://schemas.microsoft.com/office/drawing/2014/main" id="{45C4AEBD-49DF-4FE5-8F79-DE4C60F18F1C}"/>
              </a:ext>
            </a:extLst>
          </p:cNvPr>
          <p:cNvSpPr>
            <a:spLocks noGrp="1"/>
          </p:cNvSpPr>
          <p:nvPr>
            <p:ph type="dt" sz="half" idx="10"/>
          </p:nvPr>
        </p:nvSpPr>
        <p:spPr/>
        <p:txBody>
          <a:bodyPr/>
          <a:lstStyle/>
          <a:p>
            <a:fld id="{AB4865BE-A82A-437B-AB8E-80A5D51C3387}" type="datetime1">
              <a:rPr lang="en-GB" smtClean="0"/>
              <a:t>21/02/2023</a:t>
            </a:fld>
            <a:endParaRPr lang="en-GB"/>
          </a:p>
        </p:txBody>
      </p:sp>
    </p:spTree>
    <p:extLst>
      <p:ext uri="{BB962C8B-B14F-4D97-AF65-F5344CB8AC3E}">
        <p14:creationId xmlns:p14="http://schemas.microsoft.com/office/powerpoint/2010/main" val="30770605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altLang="en-US" b="1" dirty="0"/>
              <a:t>K. </a:t>
            </a:r>
            <a:r>
              <a:rPr lang="en-GB" altLang="en-US" b="1" dirty="0" err="1"/>
              <a:t>Ananse</a:t>
            </a:r>
            <a:r>
              <a:rPr lang="en-GB" altLang="en-US" b="1" dirty="0"/>
              <a:t> Co. Ltd. </a:t>
            </a:r>
            <a:br>
              <a:rPr lang="en-GB" altLang="en-US" b="1" dirty="0"/>
            </a:br>
            <a:r>
              <a:rPr lang="en-GB" altLang="en-US" b="1" dirty="0"/>
              <a:t>Balance Sheet as at 6 January 202X</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16417676"/>
              </p:ext>
            </p:extLst>
          </p:nvPr>
        </p:nvGraphicFramePr>
        <p:xfrm>
          <a:off x="838200" y="1825625"/>
          <a:ext cx="10515600" cy="3968406"/>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20000"/>
                    </a:ext>
                  </a:extLst>
                </a:gridCol>
                <a:gridCol w="1993542">
                  <a:extLst>
                    <a:ext uri="{9D8B030D-6E8A-4147-A177-3AD203B41FA5}">
                      <a16:colId xmlns:a16="http://schemas.microsoft.com/office/drawing/2014/main" val="20001"/>
                    </a:ext>
                  </a:extLst>
                </a:gridCol>
                <a:gridCol w="3721995">
                  <a:extLst>
                    <a:ext uri="{9D8B030D-6E8A-4147-A177-3AD203B41FA5}">
                      <a16:colId xmlns:a16="http://schemas.microsoft.com/office/drawing/2014/main" val="20002"/>
                    </a:ext>
                  </a:extLst>
                </a:gridCol>
                <a:gridCol w="2171163">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dirty="0">
                          <a:ln>
                            <a:noFill/>
                          </a:ln>
                          <a:solidFill>
                            <a:schemeClr val="tx1"/>
                          </a:solidFill>
                          <a:effectLst/>
                          <a:latin typeface="Arial" charset="0"/>
                          <a:cs typeface="Arial" charset="0"/>
                        </a:rPr>
                        <a:t>Assets</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a:ln>
                            <a:noFill/>
                          </a:ln>
                          <a:solidFill>
                            <a:schemeClr val="tx1"/>
                          </a:solidFill>
                          <a:effectLst/>
                          <a:latin typeface="Arial" charset="0"/>
                          <a:cs typeface="Arial" charset="0"/>
                        </a:rPr>
                        <a:t>GH¢</a:t>
                      </a:r>
                    </a:p>
                  </a:txBody>
                  <a:tcPr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dirty="0">
                          <a:ln>
                            <a:noFill/>
                          </a:ln>
                          <a:solidFill>
                            <a:schemeClr val="tx1"/>
                          </a:solidFill>
                          <a:effectLst/>
                          <a:latin typeface="Arial" charset="0"/>
                          <a:cs typeface="Arial" charset="0"/>
                        </a:rPr>
                        <a:t>Capital and Liabilities</a:t>
                      </a:r>
                      <a:endParaRPr kumimoji="0" lang="en-GB" sz="3200" b="0" i="0" u="none" strike="noStrike" cap="none" normalizeH="0" baseline="0" dirty="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dirty="0">
                          <a:ln>
                            <a:noFill/>
                          </a:ln>
                          <a:solidFill>
                            <a:schemeClr val="tx1"/>
                          </a:solidFill>
                          <a:effectLst/>
                          <a:latin typeface="Arial" charset="0"/>
                          <a:cs typeface="Arial" charset="0"/>
                        </a:rPr>
                        <a:t>GH¢</a:t>
                      </a:r>
                    </a:p>
                  </a:txBody>
                  <a:tcPr marT="45711" marB="45711"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Building</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dirty="0">
                          <a:ln>
                            <a:noFill/>
                          </a:ln>
                          <a:solidFill>
                            <a:schemeClr val="tx1"/>
                          </a:solidFill>
                          <a:effectLst/>
                          <a:latin typeface="Arial" charset="0"/>
                          <a:cs typeface="Arial" charset="0"/>
                        </a:rPr>
                        <a:t> 4,000</a:t>
                      </a:r>
                      <a:endParaRPr kumimoji="0" lang="en-GB" sz="3200" b="0" i="0" u="sng" strike="noStrike" cap="none" normalizeH="0" baseline="0" dirty="0">
                        <a:ln>
                          <a:noFill/>
                        </a:ln>
                        <a:solidFill>
                          <a:schemeClr val="tx1"/>
                        </a:solidFill>
                        <a:effectLst/>
                        <a:latin typeface="Arial" charset="0"/>
                        <a:cs typeface="Arial" charset="0"/>
                      </a:endParaRPr>
                    </a:p>
                  </a:txBody>
                  <a:tcPr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a:ln>
                            <a:noFill/>
                          </a:ln>
                          <a:solidFill>
                            <a:schemeClr val="tx1"/>
                          </a:solidFill>
                          <a:effectLst/>
                          <a:latin typeface="Arial" charset="0"/>
                          <a:cs typeface="Arial" charset="0"/>
                        </a:rPr>
                        <a:t>Capital</a:t>
                      </a:r>
                      <a:r>
                        <a:rPr kumimoji="0" lang="en-GB" sz="3200" b="0" i="0" u="none" strike="noStrike" cap="none" normalizeH="0" baseline="0">
                          <a:ln>
                            <a:noFill/>
                          </a:ln>
                          <a:solidFill>
                            <a:schemeClr val="tx1"/>
                          </a:solidFill>
                          <a:effectLst/>
                          <a:latin typeface="Arial" charset="0"/>
                          <a:cs typeface="Arial" charset="0"/>
                        </a:rPr>
                        <a:t> </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dirty="0">
                          <a:ln>
                            <a:noFill/>
                          </a:ln>
                          <a:solidFill>
                            <a:schemeClr val="tx1"/>
                          </a:solidFill>
                          <a:effectLst/>
                          <a:latin typeface="Arial" charset="0"/>
                          <a:cs typeface="Arial" charset="0"/>
                        </a:rPr>
                        <a:t>10,000</a:t>
                      </a:r>
                    </a:p>
                  </a:txBody>
                  <a:tcPr marT="45711" marB="45711"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Stock of goods</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 1,000</a:t>
                      </a:r>
                      <a:endParaRPr kumimoji="0" lang="en-GB" sz="3200" b="0" i="0" u="sng"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dirty="0">
                          <a:ln>
                            <a:noFill/>
                          </a:ln>
                          <a:solidFill>
                            <a:schemeClr val="tx1"/>
                          </a:solidFill>
                          <a:effectLst/>
                          <a:latin typeface="Arial" charset="0"/>
                          <a:cs typeface="Arial" charset="0"/>
                        </a:rPr>
                        <a:t>Liabilities</a:t>
                      </a:r>
                      <a:endParaRPr kumimoji="0" lang="en-GB" sz="3200" b="0" i="0" u="none" strike="noStrike" cap="none" normalizeH="0" baseline="0" dirty="0">
                        <a:ln>
                          <a:noFill/>
                        </a:ln>
                        <a:solidFill>
                          <a:schemeClr val="tx1"/>
                        </a:solidFill>
                        <a:effectLst/>
                        <a:latin typeface="Arial" charset="0"/>
                        <a:cs typeface="Arial" charset="0"/>
                      </a:endParaRPr>
                    </a:p>
                    <a:p>
                      <a:pPr marL="0" marR="0" lvl="0" indent="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dirty="0">
                          <a:ln>
                            <a:noFill/>
                          </a:ln>
                          <a:solidFill>
                            <a:schemeClr val="tx1"/>
                          </a:solidFill>
                          <a:effectLst/>
                          <a:latin typeface="Times New Roman" pitchFamily="18" charset="0"/>
                          <a:cs typeface="Times New Roman" pitchFamily="18" charset="0"/>
                        </a:rPr>
                        <a:t>Creditor – K. </a:t>
                      </a:r>
                      <a:r>
                        <a:rPr kumimoji="0" lang="en-GB" sz="3200" b="0" i="0" u="none" strike="noStrike" cap="none" normalizeH="0" baseline="0" dirty="0" err="1">
                          <a:ln>
                            <a:noFill/>
                          </a:ln>
                          <a:solidFill>
                            <a:schemeClr val="tx1"/>
                          </a:solidFill>
                          <a:effectLst/>
                          <a:latin typeface="Times New Roman" pitchFamily="18" charset="0"/>
                          <a:cs typeface="Times New Roman" pitchFamily="18" charset="0"/>
                        </a:rPr>
                        <a:t>Kuaso</a:t>
                      </a:r>
                      <a:endParaRPr kumimoji="0" lang="en-GB" sz="3200" b="0" i="0" u="none" strike="noStrike" cap="none" normalizeH="0" baseline="0" dirty="0">
                        <a:ln>
                          <a:noFill/>
                        </a:ln>
                        <a:solidFill>
                          <a:schemeClr val="tx1"/>
                        </a:solidFill>
                        <a:effectLst/>
                        <a:latin typeface="Times New Roman" pitchFamily="18" charset="0"/>
                        <a:cs typeface="Times New Roman" pitchFamily="18"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GB" sz="3200" b="0" i="0" u="none" strike="noStrike" cap="none" normalizeH="0" baseline="0" dirty="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dirty="0">
                          <a:ln>
                            <a:noFill/>
                          </a:ln>
                          <a:solidFill>
                            <a:schemeClr val="tx1"/>
                          </a:solidFill>
                          <a:effectLst/>
                          <a:latin typeface="Arial" charset="0"/>
                          <a:cs typeface="Arial" charset="0"/>
                        </a:rPr>
                        <a:t>1,000</a:t>
                      </a:r>
                    </a:p>
                  </a:txBody>
                  <a:tcPr marT="45711" marB="45711"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Cash at bank</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6,000</a:t>
                      </a:r>
                    </a:p>
                  </a:txBody>
                  <a:tcPr marT="45711" marB="45711" horzOverflow="overflow"/>
                </a:tc>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3200" b="0" i="0" u="none" strike="noStrike" cap="none" normalizeH="0" baseline="0">
                        <a:ln>
                          <a:noFill/>
                        </a:ln>
                        <a:solidFill>
                          <a:schemeClr val="tx1"/>
                        </a:solidFill>
                        <a:effectLst/>
                        <a:latin typeface="Times New Roman" pitchFamily="18" charset="0"/>
                        <a:cs typeface="Times New Roman" pitchFamily="18"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dirty="0">
                          <a:ln>
                            <a:noFill/>
                          </a:ln>
                          <a:solidFill>
                            <a:schemeClr val="tx1"/>
                          </a:solidFill>
                          <a:effectLst/>
                          <a:latin typeface="Arial" charset="0"/>
                          <a:cs typeface="Arial" charset="0"/>
                        </a:rPr>
                        <a:t>  </a:t>
                      </a:r>
                    </a:p>
                  </a:txBody>
                  <a:tcPr marT="45711" marB="45711"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3200" b="0" i="0" u="none" strike="noStrike" cap="none" normalizeH="0" baseline="0" dirty="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11,000</a:t>
                      </a:r>
                    </a:p>
                  </a:txBody>
                  <a:tcPr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32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dirty="0">
                          <a:ln>
                            <a:noFill/>
                          </a:ln>
                          <a:solidFill>
                            <a:schemeClr val="tx1"/>
                          </a:solidFill>
                          <a:effectLst/>
                          <a:latin typeface="Arial" charset="0"/>
                          <a:cs typeface="Arial" charset="0"/>
                        </a:rPr>
                        <a:t>11,000</a:t>
                      </a:r>
                    </a:p>
                  </a:txBody>
                  <a:tcPr marT="45711" marB="45711" horzOverflow="overflow"/>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53</a:t>
            </a:fld>
            <a:endParaRPr lang="en-GB"/>
          </a:p>
        </p:txBody>
      </p:sp>
      <p:sp>
        <p:nvSpPr>
          <p:cNvPr id="3" name="Date Placeholder 2">
            <a:extLst>
              <a:ext uri="{FF2B5EF4-FFF2-40B4-BE49-F238E27FC236}">
                <a16:creationId xmlns:a16="http://schemas.microsoft.com/office/drawing/2014/main" id="{66271835-8D41-4AB6-86CB-4ABEB994E63F}"/>
              </a:ext>
            </a:extLst>
          </p:cNvPr>
          <p:cNvSpPr>
            <a:spLocks noGrp="1"/>
          </p:cNvSpPr>
          <p:nvPr>
            <p:ph type="dt" sz="half" idx="10"/>
          </p:nvPr>
        </p:nvSpPr>
        <p:spPr/>
        <p:txBody>
          <a:bodyPr/>
          <a:lstStyle/>
          <a:p>
            <a:fld id="{11BF8856-601A-4DE8-AE1C-2D6DE37AE74D}" type="datetime1">
              <a:rPr lang="en-GB" smtClean="0"/>
              <a:t>21/02/2023</a:t>
            </a:fld>
            <a:endParaRPr lang="en-GB"/>
          </a:p>
        </p:txBody>
      </p:sp>
    </p:spTree>
    <p:extLst>
      <p:ext uri="{BB962C8B-B14F-4D97-AF65-F5344CB8AC3E}">
        <p14:creationId xmlns:p14="http://schemas.microsoft.com/office/powerpoint/2010/main" val="17506125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Sale of an asset on credit</a:t>
            </a:r>
            <a:endParaRPr lang="en-US" dirty="0"/>
          </a:p>
        </p:txBody>
      </p:sp>
      <p:sp>
        <p:nvSpPr>
          <p:cNvPr id="3" name="Content Placeholder 2"/>
          <p:cNvSpPr>
            <a:spLocks noGrp="1"/>
          </p:cNvSpPr>
          <p:nvPr>
            <p:ph idx="1"/>
          </p:nvPr>
        </p:nvSpPr>
        <p:spPr>
          <a:xfrm>
            <a:off x="838200" y="1825625"/>
            <a:ext cx="10662634" cy="4351338"/>
          </a:xfrm>
        </p:spPr>
        <p:txBody>
          <a:bodyPr/>
          <a:lstStyle/>
          <a:p>
            <a:r>
              <a:rPr lang="en-GB" altLang="en-US" b="1" dirty="0"/>
              <a:t>On 10 January 202X goods which had cost GH¢500 were sold to A. </a:t>
            </a:r>
            <a:r>
              <a:rPr lang="en-GB" altLang="en-US" b="1" dirty="0" err="1"/>
              <a:t>Ntikuma</a:t>
            </a:r>
            <a:r>
              <a:rPr lang="en-GB" altLang="en-US" b="1" dirty="0"/>
              <a:t> for the same amount of money to be paid later.</a:t>
            </a:r>
          </a:p>
          <a:p>
            <a:endParaRPr lang="en-GB" altLang="en-US" sz="2000" b="1" dirty="0"/>
          </a:p>
          <a:p>
            <a:r>
              <a:rPr lang="en-GB" altLang="en-US" b="1" dirty="0"/>
              <a:t>The effect is a reduction in the stock of goods and the creation of a new asset.</a:t>
            </a:r>
          </a:p>
          <a:p>
            <a:endParaRPr lang="en-GB" altLang="en-US" sz="2000" dirty="0"/>
          </a:p>
          <a:p>
            <a:r>
              <a:rPr lang="en-GB" altLang="en-US" b="1" dirty="0"/>
              <a:t>A </a:t>
            </a:r>
            <a:r>
              <a:rPr lang="en-GB" altLang="en-US" b="1" dirty="0">
                <a:solidFill>
                  <a:srgbClr val="000099"/>
                </a:solidFill>
              </a:rPr>
              <a:t>person who owes the firm money</a:t>
            </a:r>
            <a:r>
              <a:rPr lang="en-GB" altLang="en-US" b="1" dirty="0"/>
              <a:t> is known in accounting language as a </a:t>
            </a:r>
            <a:r>
              <a:rPr lang="en-GB" altLang="en-US" b="1" dirty="0">
                <a:solidFill>
                  <a:srgbClr val="000099"/>
                </a:solidFill>
              </a:rPr>
              <a:t>debtor</a:t>
            </a:r>
            <a:r>
              <a:rPr lang="en-GB" altLang="en-US" b="1" dirty="0"/>
              <a:t>.</a:t>
            </a:r>
          </a:p>
          <a:p>
            <a:r>
              <a:rPr lang="en-GB" altLang="en-US" b="1" dirty="0"/>
              <a:t>The balance sheet now appears:</a:t>
            </a:r>
            <a:endParaRPr lang="en-US" b="1" dirty="0"/>
          </a:p>
        </p:txBody>
      </p:sp>
      <p:sp>
        <p:nvSpPr>
          <p:cNvPr id="4" name="Slide Number Placeholder 3"/>
          <p:cNvSpPr>
            <a:spLocks noGrp="1"/>
          </p:cNvSpPr>
          <p:nvPr>
            <p:ph type="sldNum" sz="quarter" idx="12"/>
          </p:nvPr>
        </p:nvSpPr>
        <p:spPr/>
        <p:txBody>
          <a:bodyPr/>
          <a:lstStyle/>
          <a:p>
            <a:fld id="{7E50C373-F1D0-494F-8D6D-366C958B3429}" type="slidenum">
              <a:rPr lang="en-GB" smtClean="0"/>
              <a:t>54</a:t>
            </a:fld>
            <a:endParaRPr lang="en-GB"/>
          </a:p>
        </p:txBody>
      </p:sp>
      <p:sp>
        <p:nvSpPr>
          <p:cNvPr id="5" name="Date Placeholder 4">
            <a:extLst>
              <a:ext uri="{FF2B5EF4-FFF2-40B4-BE49-F238E27FC236}">
                <a16:creationId xmlns:a16="http://schemas.microsoft.com/office/drawing/2014/main" id="{048CAB2B-7EDF-44FF-AE93-4963FD115EED}"/>
              </a:ext>
            </a:extLst>
          </p:cNvPr>
          <p:cNvSpPr>
            <a:spLocks noGrp="1"/>
          </p:cNvSpPr>
          <p:nvPr>
            <p:ph type="dt" sz="half" idx="10"/>
          </p:nvPr>
        </p:nvSpPr>
        <p:spPr/>
        <p:txBody>
          <a:bodyPr/>
          <a:lstStyle/>
          <a:p>
            <a:fld id="{EB555F62-4671-48C8-B3CD-1756C1D746CE}" type="datetime1">
              <a:rPr lang="en-GB" smtClean="0"/>
              <a:t>21/02/2023</a:t>
            </a:fld>
            <a:endParaRPr lang="en-GB"/>
          </a:p>
        </p:txBody>
      </p:sp>
    </p:spTree>
    <p:extLst>
      <p:ext uri="{BB962C8B-B14F-4D97-AF65-F5344CB8AC3E}">
        <p14:creationId xmlns:p14="http://schemas.microsoft.com/office/powerpoint/2010/main" val="4290290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altLang="en-US" b="1" dirty="0"/>
              <a:t>K. </a:t>
            </a:r>
            <a:r>
              <a:rPr lang="en-GB" altLang="en-US" b="1" dirty="0" err="1"/>
              <a:t>Ananse</a:t>
            </a:r>
            <a:r>
              <a:rPr lang="en-GB" altLang="en-US" b="1" dirty="0"/>
              <a:t> Co. Ltd. </a:t>
            </a:r>
            <a:br>
              <a:rPr lang="en-GB" altLang="en-US" b="1" dirty="0"/>
            </a:br>
            <a:r>
              <a:rPr lang="en-GB" altLang="en-US" b="1" dirty="0"/>
              <a:t>Balance Sheet as at 10 January 202X</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681724892"/>
              </p:ext>
            </p:extLst>
          </p:nvPr>
        </p:nvGraphicFramePr>
        <p:xfrm>
          <a:off x="838200" y="1825625"/>
          <a:ext cx="10515600" cy="4474356"/>
        </p:xfrm>
        <a:graphic>
          <a:graphicData uri="http://schemas.openxmlformats.org/drawingml/2006/table">
            <a:tbl>
              <a:tblPr firstRow="1" bandRow="1">
                <a:tableStyleId>{5940675A-B579-460E-94D1-54222C63F5DA}</a:tableStyleId>
              </a:tblPr>
              <a:tblGrid>
                <a:gridCol w="2832279">
                  <a:extLst>
                    <a:ext uri="{9D8B030D-6E8A-4147-A177-3AD203B41FA5}">
                      <a16:colId xmlns:a16="http://schemas.microsoft.com/office/drawing/2014/main" val="20000"/>
                    </a:ext>
                  </a:extLst>
                </a:gridCol>
                <a:gridCol w="2425521">
                  <a:extLst>
                    <a:ext uri="{9D8B030D-6E8A-4147-A177-3AD203B41FA5}">
                      <a16:colId xmlns:a16="http://schemas.microsoft.com/office/drawing/2014/main" val="20001"/>
                    </a:ext>
                  </a:extLst>
                </a:gridCol>
                <a:gridCol w="3318456">
                  <a:extLst>
                    <a:ext uri="{9D8B030D-6E8A-4147-A177-3AD203B41FA5}">
                      <a16:colId xmlns:a16="http://schemas.microsoft.com/office/drawing/2014/main" val="20002"/>
                    </a:ext>
                  </a:extLst>
                </a:gridCol>
                <a:gridCol w="1939344">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dirty="0">
                          <a:ln>
                            <a:noFill/>
                          </a:ln>
                          <a:solidFill>
                            <a:schemeClr val="tx1"/>
                          </a:solidFill>
                          <a:effectLst/>
                          <a:latin typeface="Arial" charset="0"/>
                          <a:cs typeface="Arial" charset="0"/>
                        </a:rPr>
                        <a:t>Assets</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a:ln>
                            <a:noFill/>
                          </a:ln>
                          <a:solidFill>
                            <a:schemeClr val="tx1"/>
                          </a:solidFill>
                          <a:effectLst/>
                          <a:latin typeface="Arial" charset="0"/>
                          <a:cs typeface="Arial" charset="0"/>
                        </a:rPr>
                        <a:t>GH¢</a:t>
                      </a:r>
                    </a:p>
                  </a:txBody>
                  <a:tcPr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a:ln>
                            <a:noFill/>
                          </a:ln>
                          <a:solidFill>
                            <a:schemeClr val="tx1"/>
                          </a:solidFill>
                          <a:effectLst/>
                          <a:latin typeface="Arial" charset="0"/>
                          <a:cs typeface="Arial" charset="0"/>
                        </a:rPr>
                        <a:t>Capital and Liabilities</a:t>
                      </a:r>
                      <a:endParaRPr kumimoji="0" lang="en-GB" sz="28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dirty="0">
                          <a:ln>
                            <a:noFill/>
                          </a:ln>
                          <a:solidFill>
                            <a:schemeClr val="tx1"/>
                          </a:solidFill>
                          <a:effectLst/>
                          <a:latin typeface="Arial" charset="0"/>
                          <a:cs typeface="Arial" charset="0"/>
                        </a:rPr>
                        <a:t>GH¢</a:t>
                      </a:r>
                    </a:p>
                  </a:txBody>
                  <a:tcPr marT="45711" marB="45711"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Building</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4,000</a:t>
                      </a:r>
                      <a:endParaRPr kumimoji="0" lang="en-GB" sz="2800" b="0" i="0" u="sng"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a:ln>
                            <a:noFill/>
                          </a:ln>
                          <a:solidFill>
                            <a:schemeClr val="tx1"/>
                          </a:solidFill>
                          <a:effectLst/>
                          <a:latin typeface="Arial" charset="0"/>
                          <a:cs typeface="Arial" charset="0"/>
                        </a:rPr>
                        <a:t>Capital</a:t>
                      </a:r>
                      <a:r>
                        <a:rPr kumimoji="0" lang="en-GB" sz="2800" b="0" i="0" u="none" strike="noStrike" cap="none" normalizeH="0" baseline="0">
                          <a:ln>
                            <a:noFill/>
                          </a:ln>
                          <a:solidFill>
                            <a:schemeClr val="tx1"/>
                          </a:solidFill>
                          <a:effectLst/>
                          <a:latin typeface="Arial" charset="0"/>
                          <a:cs typeface="Arial" charset="0"/>
                        </a:rPr>
                        <a:t> </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10,000</a:t>
                      </a:r>
                    </a:p>
                  </a:txBody>
                  <a:tcPr marT="45711" marB="45711"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Stock of goods</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500</a:t>
                      </a:r>
                      <a:endParaRPr kumimoji="0" lang="en-GB" sz="2800" b="0" i="0" u="sng"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dirty="0">
                          <a:ln>
                            <a:noFill/>
                          </a:ln>
                          <a:solidFill>
                            <a:schemeClr val="tx1"/>
                          </a:solidFill>
                          <a:effectLst/>
                          <a:latin typeface="Arial" charset="0"/>
                          <a:cs typeface="Arial" charset="0"/>
                        </a:rPr>
                        <a:t>Liabilities</a:t>
                      </a:r>
                      <a:endParaRPr kumimoji="0" lang="en-GB" sz="2800" b="0" i="0" u="none" strike="noStrike" cap="none" normalizeH="0" baseline="0" dirty="0">
                        <a:ln>
                          <a:noFill/>
                        </a:ln>
                        <a:solidFill>
                          <a:schemeClr val="tx1"/>
                        </a:solidFill>
                        <a:effectLst/>
                        <a:latin typeface="Arial" charset="0"/>
                        <a:cs typeface="Arial" charset="0"/>
                      </a:endParaRPr>
                    </a:p>
                    <a:p>
                      <a:pPr marL="0" marR="0" lvl="0" indent="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Times New Roman" pitchFamily="18" charset="0"/>
                          <a:cs typeface="Times New Roman" pitchFamily="18" charset="0"/>
                        </a:rPr>
                        <a:t>Creditor – K. </a:t>
                      </a:r>
                      <a:r>
                        <a:rPr kumimoji="0" lang="en-GB" sz="2800" b="0" i="0" u="none" strike="noStrike" cap="none" normalizeH="0" baseline="0" dirty="0" err="1">
                          <a:ln>
                            <a:noFill/>
                          </a:ln>
                          <a:solidFill>
                            <a:schemeClr val="tx1"/>
                          </a:solidFill>
                          <a:effectLst/>
                          <a:latin typeface="Times New Roman" pitchFamily="18" charset="0"/>
                          <a:cs typeface="Times New Roman" pitchFamily="18" charset="0"/>
                        </a:rPr>
                        <a:t>Kuaso</a:t>
                      </a:r>
                      <a:endParaRPr kumimoji="0" lang="en-GB" sz="2800" b="0" i="0" u="none" strike="noStrike" cap="none" normalizeH="0" baseline="0" dirty="0">
                        <a:ln>
                          <a:noFill/>
                        </a:ln>
                        <a:solidFill>
                          <a:schemeClr val="tx1"/>
                        </a:solidFill>
                        <a:effectLst/>
                        <a:latin typeface="Times New Roman" pitchFamily="18" charset="0"/>
                        <a:cs typeface="Times New Roman" pitchFamily="18"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GB" sz="2800" b="0" i="0" u="none" strike="noStrike" cap="none" normalizeH="0" baseline="0" dirty="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1,000</a:t>
                      </a:r>
                    </a:p>
                  </a:txBody>
                  <a:tcPr marT="45711" marB="45711"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Debtor – A. </a:t>
                      </a:r>
                      <a:r>
                        <a:rPr kumimoji="0" lang="en-GB" sz="2800" b="0" i="0" u="none" strike="noStrike" cap="none" normalizeH="0" baseline="0" dirty="0" err="1">
                          <a:ln>
                            <a:noFill/>
                          </a:ln>
                          <a:solidFill>
                            <a:schemeClr val="tx1"/>
                          </a:solidFill>
                          <a:effectLst/>
                          <a:latin typeface="Arial" charset="0"/>
                          <a:cs typeface="Arial" charset="0"/>
                        </a:rPr>
                        <a:t>Ntikuma</a:t>
                      </a:r>
                      <a:endParaRPr kumimoji="0" lang="en-GB" sz="2800" b="0" i="0" u="none" strike="noStrike" cap="none" normalizeH="0" baseline="0" dirty="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500</a:t>
                      </a:r>
                      <a:endParaRPr kumimoji="0" lang="en-GB" sz="2800" b="0" i="0" u="sng"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a:ln>
                          <a:noFill/>
                        </a:ln>
                        <a:solidFill>
                          <a:schemeClr val="tx1"/>
                        </a:solidFill>
                        <a:effectLst/>
                        <a:latin typeface="Times New Roman" pitchFamily="18" charset="0"/>
                        <a:cs typeface="Times New Roman" pitchFamily="18"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  </a:t>
                      </a:r>
                    </a:p>
                  </a:txBody>
                  <a:tcPr marT="45711" marB="45711"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Cash at bank</a:t>
                      </a: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6,000</a:t>
                      </a:r>
                    </a:p>
                  </a:txBody>
                  <a:tcPr marT="45711" marB="45711" horzOverflow="overflow"/>
                </a:tc>
                <a:tc>
                  <a:txBody>
                    <a:bodyPr/>
                    <a:lstStyle/>
                    <a:p>
                      <a:pPr marL="0" marR="0" lvl="0" indent="0" algn="just"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a:ln>
                          <a:noFill/>
                        </a:ln>
                        <a:solidFill>
                          <a:srgbClr val="000000"/>
                        </a:solidFill>
                        <a:effectLst/>
                        <a:latin typeface="Times New Roman" pitchFamily="18" charset="0"/>
                        <a:cs typeface="Times New Roman" pitchFamily="18"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dirty="0">
                        <a:ln>
                          <a:noFill/>
                        </a:ln>
                        <a:solidFill>
                          <a:schemeClr val="tx1"/>
                        </a:solidFill>
                        <a:effectLst/>
                        <a:latin typeface="Arial" charset="0"/>
                        <a:cs typeface="Arial" charset="0"/>
                      </a:endParaRPr>
                    </a:p>
                  </a:txBody>
                  <a:tcPr marT="45711" marB="45711"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dirty="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11,000</a:t>
                      </a:r>
                    </a:p>
                  </a:txBody>
                  <a:tcPr marT="45711" marB="45711"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a:ln>
                          <a:noFill/>
                        </a:ln>
                        <a:solidFill>
                          <a:schemeClr val="tx1"/>
                        </a:solidFill>
                        <a:effectLst/>
                        <a:latin typeface="Arial" charset="0"/>
                        <a:cs typeface="Arial" charset="0"/>
                      </a:endParaRPr>
                    </a:p>
                  </a:txBody>
                  <a:tcPr marT="45711" marB="45711"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11,000</a:t>
                      </a:r>
                    </a:p>
                  </a:txBody>
                  <a:tcPr marT="45711" marB="45711" horzOverflow="overflow"/>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55</a:t>
            </a:fld>
            <a:endParaRPr lang="en-GB"/>
          </a:p>
        </p:txBody>
      </p:sp>
      <p:sp>
        <p:nvSpPr>
          <p:cNvPr id="3" name="Date Placeholder 2">
            <a:extLst>
              <a:ext uri="{FF2B5EF4-FFF2-40B4-BE49-F238E27FC236}">
                <a16:creationId xmlns:a16="http://schemas.microsoft.com/office/drawing/2014/main" id="{B69ABBF4-B659-4D6A-B218-3B7566A88EC8}"/>
              </a:ext>
            </a:extLst>
          </p:cNvPr>
          <p:cNvSpPr>
            <a:spLocks noGrp="1"/>
          </p:cNvSpPr>
          <p:nvPr>
            <p:ph type="dt" sz="half" idx="10"/>
          </p:nvPr>
        </p:nvSpPr>
        <p:spPr/>
        <p:txBody>
          <a:bodyPr/>
          <a:lstStyle/>
          <a:p>
            <a:fld id="{034788C8-28C3-4575-9577-836A6DA56A81}" type="datetime1">
              <a:rPr lang="en-GB" smtClean="0"/>
              <a:t>21/02/2023</a:t>
            </a:fld>
            <a:endParaRPr lang="en-GB"/>
          </a:p>
        </p:txBody>
      </p:sp>
    </p:spTree>
    <p:extLst>
      <p:ext uri="{BB962C8B-B14F-4D97-AF65-F5344CB8AC3E}">
        <p14:creationId xmlns:p14="http://schemas.microsoft.com/office/powerpoint/2010/main" val="39313403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Sale of an asset for immediate payment</a:t>
            </a:r>
            <a:endParaRPr lang="en-US" dirty="0"/>
          </a:p>
        </p:txBody>
      </p:sp>
      <p:sp>
        <p:nvSpPr>
          <p:cNvPr id="3" name="Content Placeholder 2"/>
          <p:cNvSpPr>
            <a:spLocks noGrp="1"/>
          </p:cNvSpPr>
          <p:nvPr>
            <p:ph idx="1"/>
          </p:nvPr>
        </p:nvSpPr>
        <p:spPr/>
        <p:txBody>
          <a:bodyPr>
            <a:normAutofit/>
          </a:bodyPr>
          <a:lstStyle/>
          <a:p>
            <a:r>
              <a:rPr lang="en-GB" altLang="en-US" sz="3200" b="1" dirty="0"/>
              <a:t>On 13 January 202X goods which had cost K. </a:t>
            </a:r>
            <a:r>
              <a:rPr lang="en-GB" altLang="en-US" sz="3200" b="1" dirty="0" err="1"/>
              <a:t>Ananse</a:t>
            </a:r>
            <a:r>
              <a:rPr lang="en-GB" altLang="en-US" sz="3200" b="1" dirty="0"/>
              <a:t> GH¢200 were sold to Y. </a:t>
            </a:r>
            <a:r>
              <a:rPr lang="en-GB" altLang="en-US" sz="3200" b="1" dirty="0" err="1"/>
              <a:t>Okondor</a:t>
            </a:r>
            <a:r>
              <a:rPr lang="en-GB" altLang="en-US" sz="3200" b="1" dirty="0"/>
              <a:t> paying for them immediately by cheque.</a:t>
            </a:r>
          </a:p>
          <a:p>
            <a:pPr>
              <a:buNone/>
            </a:pPr>
            <a:endParaRPr lang="en-GB" altLang="en-US" sz="3200" b="1" dirty="0"/>
          </a:p>
          <a:p>
            <a:r>
              <a:rPr lang="en-GB" altLang="en-US" sz="3200" b="1" dirty="0"/>
              <a:t>Here one asset, stock of goods, is reduced, while another asset, bank is increased. </a:t>
            </a:r>
          </a:p>
          <a:p>
            <a:endParaRPr lang="en-GB" altLang="en-US" sz="3200" b="1" dirty="0"/>
          </a:p>
          <a:p>
            <a:r>
              <a:rPr lang="en-GB" altLang="en-US" sz="3200" b="1" dirty="0"/>
              <a:t>The balance sheet now appears:</a:t>
            </a:r>
            <a:endParaRPr lang="en-US" sz="32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56</a:t>
            </a:fld>
            <a:endParaRPr lang="en-GB"/>
          </a:p>
        </p:txBody>
      </p:sp>
      <p:sp>
        <p:nvSpPr>
          <p:cNvPr id="5" name="Date Placeholder 4">
            <a:extLst>
              <a:ext uri="{FF2B5EF4-FFF2-40B4-BE49-F238E27FC236}">
                <a16:creationId xmlns:a16="http://schemas.microsoft.com/office/drawing/2014/main" id="{2BB79136-4A5F-45B9-86A5-CE1BCF302E74}"/>
              </a:ext>
            </a:extLst>
          </p:cNvPr>
          <p:cNvSpPr>
            <a:spLocks noGrp="1"/>
          </p:cNvSpPr>
          <p:nvPr>
            <p:ph type="dt" sz="half" idx="10"/>
          </p:nvPr>
        </p:nvSpPr>
        <p:spPr/>
        <p:txBody>
          <a:bodyPr/>
          <a:lstStyle/>
          <a:p>
            <a:fld id="{96EB130D-2C2A-49DD-963B-05DCA8C37365}" type="datetime1">
              <a:rPr lang="en-GB" smtClean="0"/>
              <a:t>21/02/2023</a:t>
            </a:fld>
            <a:endParaRPr lang="en-GB"/>
          </a:p>
        </p:txBody>
      </p:sp>
    </p:spTree>
    <p:extLst>
      <p:ext uri="{BB962C8B-B14F-4D97-AF65-F5344CB8AC3E}">
        <p14:creationId xmlns:p14="http://schemas.microsoft.com/office/powerpoint/2010/main" val="12739911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altLang="en-US" b="1" dirty="0"/>
              <a:t>K. </a:t>
            </a:r>
            <a:r>
              <a:rPr lang="en-GB" altLang="en-US" b="1" dirty="0" err="1"/>
              <a:t>Ananse</a:t>
            </a:r>
            <a:r>
              <a:rPr lang="en-GB" altLang="en-US" b="1" dirty="0"/>
              <a:t> Co. Ltd. </a:t>
            </a:r>
            <a:br>
              <a:rPr lang="en-GB" altLang="en-US" b="1" dirty="0"/>
            </a:br>
            <a:r>
              <a:rPr lang="en-GB" altLang="en-US" b="1" dirty="0"/>
              <a:t>Balance Sheet as at 13 January 202X</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082210985"/>
              </p:ext>
            </p:extLst>
          </p:nvPr>
        </p:nvGraphicFramePr>
        <p:xfrm>
          <a:off x="838200" y="1825625"/>
          <a:ext cx="10515600" cy="473648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chemeClr val="tx1"/>
                          </a:solidFill>
                          <a:effectLst/>
                          <a:latin typeface="Arial" charset="0"/>
                          <a:cs typeface="Arial" charset="0"/>
                        </a:rPr>
                        <a:t>Fixed Assets</a:t>
                      </a:r>
                      <a:endParaRPr kumimoji="0" lang="en-GB" sz="2400" b="0" i="0" u="none" strike="noStrike" cap="none" normalizeH="0" baseline="0" dirty="0">
                        <a:ln>
                          <a:noFill/>
                        </a:ln>
                        <a:solidFill>
                          <a:schemeClr val="tx1"/>
                        </a:solidFill>
                        <a:effectLst/>
                        <a:latin typeface="Arial" charset="0"/>
                        <a:cs typeface="Arial" charset="0"/>
                      </a:endParaRP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GH¢</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Capital and Liabilities</a:t>
                      </a:r>
                      <a:endParaRPr kumimoji="0" lang="en-GB" sz="2400" b="0" i="0" u="none"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chemeClr val="tx1"/>
                          </a:solidFill>
                          <a:effectLst/>
                          <a:latin typeface="Arial" charset="0"/>
                          <a:cs typeface="Arial" charset="0"/>
                        </a:rPr>
                        <a:t>GH¢</a:t>
                      </a:r>
                    </a:p>
                  </a:txBody>
                  <a:tcPr marT="45712" marB="45712"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Buildings</a:t>
                      </a: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  4,000</a:t>
                      </a:r>
                      <a:endParaRPr kumimoji="0" lang="en-GB" sz="2400" b="0" i="0" u="sng"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Capital</a:t>
                      </a: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dirty="0">
                          <a:ln>
                            <a:noFill/>
                          </a:ln>
                          <a:solidFill>
                            <a:schemeClr val="tx1"/>
                          </a:solidFill>
                          <a:effectLst/>
                          <a:latin typeface="Arial" charset="0"/>
                          <a:cs typeface="Arial" charset="0"/>
                        </a:rPr>
                        <a:t>10,000</a:t>
                      </a:r>
                    </a:p>
                  </a:txBody>
                  <a:tcPr marT="45712" marB="45712"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Current Assets</a:t>
                      </a: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   </a:t>
                      </a:r>
                      <a:endParaRPr kumimoji="0" lang="en-GB" sz="2400" b="0" i="0" u="sng"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marT="45712" marB="45712"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Stock of goods</a:t>
                      </a: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    300</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Liabilities</a:t>
                      </a:r>
                      <a:endParaRPr kumimoji="0" lang="en-GB" sz="2400" b="0" i="0" u="none" strike="noStrike" cap="none" normalizeH="0" baseline="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Creditor- K. Kuaso</a:t>
                      </a: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GB" sz="2400" b="0" i="0" u="none" strike="noStrike" cap="none" normalizeH="0" baseline="0" dirty="0">
                        <a:ln>
                          <a:noFill/>
                        </a:ln>
                        <a:solidFill>
                          <a:schemeClr val="tx1"/>
                        </a:solidFill>
                        <a:effectLst/>
                        <a:latin typeface="Arial" charset="0"/>
                        <a:cs typeface="Arial" charset="0"/>
                      </a:endParaRPr>
                    </a:p>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dirty="0">
                          <a:ln>
                            <a:noFill/>
                          </a:ln>
                          <a:solidFill>
                            <a:schemeClr val="tx1"/>
                          </a:solidFill>
                          <a:effectLst/>
                          <a:latin typeface="Arial" charset="0"/>
                          <a:cs typeface="Arial" charset="0"/>
                        </a:rPr>
                        <a:t>1,000</a:t>
                      </a:r>
                      <a:endParaRPr kumimoji="0" lang="en-GB" sz="2400" b="0" i="0" u="sng" strike="noStrike" cap="none" normalizeH="0" baseline="0" dirty="0">
                        <a:ln>
                          <a:noFill/>
                        </a:ln>
                        <a:solidFill>
                          <a:schemeClr val="tx1"/>
                        </a:solidFill>
                        <a:effectLst/>
                        <a:latin typeface="Arial" charset="0"/>
                        <a:cs typeface="Arial" charset="0"/>
                      </a:endParaRPr>
                    </a:p>
                  </a:txBody>
                  <a:tcPr marT="45712" marB="45712"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Debtor - A. Ntikuma</a:t>
                      </a: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   500</a:t>
                      </a:r>
                      <a:endParaRPr kumimoji="0" lang="en-GB" sz="2400" b="0" i="0" u="sng"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dirty="0">
                          <a:ln>
                            <a:noFill/>
                          </a:ln>
                          <a:solidFill>
                            <a:schemeClr val="tx1"/>
                          </a:solidFill>
                          <a:effectLst/>
                          <a:latin typeface="Arial" charset="0"/>
                          <a:cs typeface="Arial" charset="0"/>
                        </a:rPr>
                        <a:t> </a:t>
                      </a:r>
                    </a:p>
                  </a:txBody>
                  <a:tcPr marT="45712" marB="45712"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Cash at bank</a:t>
                      </a: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 6,200</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marT="45712" marB="45712"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a:ln>
                            <a:noFill/>
                          </a:ln>
                          <a:solidFill>
                            <a:schemeClr val="tx1"/>
                          </a:solidFill>
                          <a:effectLst/>
                          <a:latin typeface="Arial" charset="0"/>
                          <a:cs typeface="Arial" charset="0"/>
                        </a:rPr>
                        <a:t>11,000</a:t>
                      </a:r>
                    </a:p>
                  </a:txBody>
                  <a:tcPr marT="45712" marB="45712"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marT="45712" marB="4571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0" i="0" u="none" strike="noStrike" cap="none" normalizeH="0" baseline="0" dirty="0">
                          <a:ln>
                            <a:noFill/>
                          </a:ln>
                          <a:solidFill>
                            <a:schemeClr val="tx1"/>
                          </a:solidFill>
                          <a:effectLst/>
                          <a:latin typeface="Arial" charset="0"/>
                          <a:cs typeface="Arial" charset="0"/>
                        </a:rPr>
                        <a:t>11,000</a:t>
                      </a:r>
                    </a:p>
                  </a:txBody>
                  <a:tcPr marT="45712" marB="45712" horzOverflow="overflow"/>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57</a:t>
            </a:fld>
            <a:endParaRPr lang="en-GB"/>
          </a:p>
        </p:txBody>
      </p:sp>
      <p:sp>
        <p:nvSpPr>
          <p:cNvPr id="3" name="Date Placeholder 2">
            <a:extLst>
              <a:ext uri="{FF2B5EF4-FFF2-40B4-BE49-F238E27FC236}">
                <a16:creationId xmlns:a16="http://schemas.microsoft.com/office/drawing/2014/main" id="{62258124-9E92-4A9A-B876-4B9CC7C620B5}"/>
              </a:ext>
            </a:extLst>
          </p:cNvPr>
          <p:cNvSpPr>
            <a:spLocks noGrp="1"/>
          </p:cNvSpPr>
          <p:nvPr>
            <p:ph type="dt" sz="half" idx="10"/>
          </p:nvPr>
        </p:nvSpPr>
        <p:spPr/>
        <p:txBody>
          <a:bodyPr/>
          <a:lstStyle/>
          <a:p>
            <a:fld id="{B49A75C4-73E7-452C-AA6F-D8A26E8F4B59}" type="datetime1">
              <a:rPr lang="en-GB" smtClean="0"/>
              <a:t>21/02/2023</a:t>
            </a:fld>
            <a:endParaRPr lang="en-GB"/>
          </a:p>
        </p:txBody>
      </p:sp>
    </p:spTree>
    <p:extLst>
      <p:ext uri="{BB962C8B-B14F-4D97-AF65-F5344CB8AC3E}">
        <p14:creationId xmlns:p14="http://schemas.microsoft.com/office/powerpoint/2010/main" val="20329606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The payment of a liability (debt)</a:t>
            </a:r>
            <a:endParaRPr lang="en-US" dirty="0"/>
          </a:p>
        </p:txBody>
      </p:sp>
      <p:sp>
        <p:nvSpPr>
          <p:cNvPr id="3" name="Content Placeholder 2"/>
          <p:cNvSpPr>
            <a:spLocks noGrp="1"/>
          </p:cNvSpPr>
          <p:nvPr>
            <p:ph idx="1"/>
          </p:nvPr>
        </p:nvSpPr>
        <p:spPr/>
        <p:txBody>
          <a:bodyPr>
            <a:normAutofit/>
          </a:bodyPr>
          <a:lstStyle/>
          <a:p>
            <a:r>
              <a:rPr lang="en-GB" altLang="en-US" sz="3200" b="1" dirty="0"/>
              <a:t>On 15 January 202X, K. </a:t>
            </a:r>
            <a:r>
              <a:rPr lang="en-GB" altLang="en-US" sz="3200" b="1" dirty="0" err="1"/>
              <a:t>Ananse</a:t>
            </a:r>
            <a:r>
              <a:rPr lang="en-GB" altLang="en-US" sz="3200" b="1" dirty="0"/>
              <a:t> pays a cheque for GH¢500 to K. </a:t>
            </a:r>
            <a:r>
              <a:rPr lang="en-GB" altLang="en-US" sz="3200" b="1" dirty="0" err="1"/>
              <a:t>Kuaso</a:t>
            </a:r>
            <a:r>
              <a:rPr lang="en-GB" altLang="en-US" sz="3200" b="1" dirty="0"/>
              <a:t> in part payment of the amount owing.</a:t>
            </a:r>
          </a:p>
          <a:p>
            <a:endParaRPr lang="en-GB" altLang="en-US" sz="3200" b="1" dirty="0"/>
          </a:p>
          <a:p>
            <a:r>
              <a:rPr lang="en-GB" altLang="en-US" sz="3200" b="1" dirty="0"/>
              <a:t>The asset of bank is therefore reduced, and the liability of the creditor is also reduced.</a:t>
            </a:r>
          </a:p>
          <a:p>
            <a:endParaRPr lang="en-GB" altLang="en-US" sz="3200" b="1" dirty="0"/>
          </a:p>
          <a:p>
            <a:r>
              <a:rPr lang="en-GB" altLang="en-US" sz="3200" b="1" dirty="0"/>
              <a:t>The balance sheet now appears:</a:t>
            </a:r>
            <a:endParaRPr lang="en-US" sz="32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58</a:t>
            </a:fld>
            <a:endParaRPr lang="en-GB"/>
          </a:p>
        </p:txBody>
      </p:sp>
      <p:sp>
        <p:nvSpPr>
          <p:cNvPr id="5" name="Date Placeholder 4">
            <a:extLst>
              <a:ext uri="{FF2B5EF4-FFF2-40B4-BE49-F238E27FC236}">
                <a16:creationId xmlns:a16="http://schemas.microsoft.com/office/drawing/2014/main" id="{5FA94DC3-3013-49E6-B0C5-75353AAA842D}"/>
              </a:ext>
            </a:extLst>
          </p:cNvPr>
          <p:cNvSpPr>
            <a:spLocks noGrp="1"/>
          </p:cNvSpPr>
          <p:nvPr>
            <p:ph type="dt" sz="half" idx="10"/>
          </p:nvPr>
        </p:nvSpPr>
        <p:spPr/>
        <p:txBody>
          <a:bodyPr/>
          <a:lstStyle/>
          <a:p>
            <a:fld id="{48D1F065-8CC5-4693-B573-E8E87E4EE4CB}" type="datetime1">
              <a:rPr lang="en-GB" smtClean="0"/>
              <a:t>21/02/2023</a:t>
            </a:fld>
            <a:endParaRPr lang="en-GB"/>
          </a:p>
        </p:txBody>
      </p:sp>
    </p:spTree>
    <p:extLst>
      <p:ext uri="{BB962C8B-B14F-4D97-AF65-F5344CB8AC3E}">
        <p14:creationId xmlns:p14="http://schemas.microsoft.com/office/powerpoint/2010/main" val="3889685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altLang="en-US" b="1" dirty="0"/>
              <a:t>K. </a:t>
            </a:r>
            <a:r>
              <a:rPr lang="en-GB" altLang="en-US" b="1" dirty="0" err="1"/>
              <a:t>Ananse</a:t>
            </a:r>
            <a:r>
              <a:rPr lang="en-GB" altLang="en-US" b="1" dirty="0"/>
              <a:t> Co. Ltd.</a:t>
            </a:r>
            <a:br>
              <a:rPr lang="en-GB" altLang="en-US" b="1" dirty="0"/>
            </a:br>
            <a:r>
              <a:rPr lang="en-GB" altLang="en-US" b="1" dirty="0"/>
              <a:t>Balance Sheet as at 15 January 202X</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1523400"/>
              </p:ext>
            </p:extLst>
          </p:nvPr>
        </p:nvGraphicFramePr>
        <p:xfrm>
          <a:off x="838200" y="1825625"/>
          <a:ext cx="10515600" cy="4480560"/>
        </p:xfrm>
        <a:graphic>
          <a:graphicData uri="http://schemas.openxmlformats.org/drawingml/2006/table">
            <a:tbl>
              <a:tblPr firstRow="1" bandRow="1">
                <a:tableStyleId>{5940675A-B579-460E-94D1-54222C63F5DA}</a:tableStyleId>
              </a:tblPr>
              <a:tblGrid>
                <a:gridCol w="3231524">
                  <a:extLst>
                    <a:ext uri="{9D8B030D-6E8A-4147-A177-3AD203B41FA5}">
                      <a16:colId xmlns:a16="http://schemas.microsoft.com/office/drawing/2014/main" val="20000"/>
                    </a:ext>
                  </a:extLst>
                </a:gridCol>
                <a:gridCol w="1674253">
                  <a:extLst>
                    <a:ext uri="{9D8B030D-6E8A-4147-A177-3AD203B41FA5}">
                      <a16:colId xmlns:a16="http://schemas.microsoft.com/office/drawing/2014/main" val="20001"/>
                    </a:ext>
                  </a:extLst>
                </a:gridCol>
                <a:gridCol w="3387144">
                  <a:extLst>
                    <a:ext uri="{9D8B030D-6E8A-4147-A177-3AD203B41FA5}">
                      <a16:colId xmlns:a16="http://schemas.microsoft.com/office/drawing/2014/main" val="20002"/>
                    </a:ext>
                  </a:extLst>
                </a:gridCol>
                <a:gridCol w="2222679">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dirty="0">
                          <a:ln>
                            <a:noFill/>
                          </a:ln>
                          <a:solidFill>
                            <a:schemeClr val="tx1"/>
                          </a:solidFill>
                          <a:effectLst/>
                          <a:latin typeface="Arial" charset="0"/>
                          <a:cs typeface="Arial" charset="0"/>
                        </a:rPr>
                        <a:t>Fixed Assets</a:t>
                      </a:r>
                      <a:endParaRPr kumimoji="0" lang="en-GB" sz="2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a:ln>
                            <a:noFill/>
                          </a:ln>
                          <a:solidFill>
                            <a:schemeClr val="tx1"/>
                          </a:solidFill>
                          <a:effectLst/>
                          <a:latin typeface="Arial" charset="0"/>
                          <a:cs typeface="Arial" charset="0"/>
                        </a:rPr>
                        <a:t>GH¢</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a:ln>
                            <a:noFill/>
                          </a:ln>
                          <a:solidFill>
                            <a:schemeClr val="tx1"/>
                          </a:solidFill>
                          <a:effectLst/>
                          <a:latin typeface="Arial" charset="0"/>
                          <a:cs typeface="Arial" charset="0"/>
                        </a:rPr>
                        <a:t>Capital and Liabilities</a:t>
                      </a:r>
                      <a:endParaRPr kumimoji="0" lang="en-GB" sz="2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dirty="0">
                          <a:ln>
                            <a:noFill/>
                          </a:ln>
                          <a:solidFill>
                            <a:schemeClr val="tx1"/>
                          </a:solidFill>
                          <a:effectLst/>
                          <a:latin typeface="Arial" charset="0"/>
                          <a:cs typeface="Arial" charset="0"/>
                        </a:rPr>
                        <a:t>GH¢</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Buildings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4,000</a:t>
                      </a:r>
                      <a:endParaRPr kumimoji="0" lang="en-GB" sz="28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dirty="0">
                          <a:ln>
                            <a:noFill/>
                          </a:ln>
                          <a:solidFill>
                            <a:schemeClr val="tx1"/>
                          </a:solidFill>
                          <a:effectLst/>
                          <a:latin typeface="Arial" charset="0"/>
                          <a:cs typeface="Arial" charset="0"/>
                        </a:rPr>
                        <a:t>Capital</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10,000</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a:ln>
                            <a:noFill/>
                          </a:ln>
                          <a:solidFill>
                            <a:schemeClr val="tx1"/>
                          </a:solidFill>
                          <a:effectLst/>
                          <a:latin typeface="Arial" charset="0"/>
                          <a:cs typeface="Arial" charset="0"/>
                        </a:rPr>
                        <a:t>Current Assets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a:t>
                      </a:r>
                      <a:endParaRPr kumimoji="0" lang="en-GB" sz="28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Stock of goods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300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1" i="0" u="none" strike="noStrike" cap="none" normalizeH="0" baseline="0">
                          <a:ln>
                            <a:noFill/>
                          </a:ln>
                          <a:solidFill>
                            <a:schemeClr val="tx1"/>
                          </a:solidFill>
                          <a:effectLst/>
                          <a:latin typeface="Arial" charset="0"/>
                          <a:cs typeface="Arial" charset="0"/>
                        </a:rPr>
                        <a:t>Liabilities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sng"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Debtor - A. Ntikuma</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500</a:t>
                      </a:r>
                      <a:endParaRPr kumimoji="0" lang="en-GB" sz="28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Creditor- K. Kuaso</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    500</a:t>
                      </a:r>
                    </a:p>
                  </a:txBody>
                  <a:tcPr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Cash at bank</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 5,700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a:ln>
                            <a:noFill/>
                          </a:ln>
                          <a:solidFill>
                            <a:schemeClr val="tx1"/>
                          </a:solidFill>
                          <a:effectLst/>
                          <a:latin typeface="Arial" charset="0"/>
                          <a:cs typeface="Arial" charset="0"/>
                        </a:rPr>
                        <a:t>10,500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800" b="0" i="0" u="none" strike="noStrike" cap="none" normalizeH="0" baseline="0" dirty="0">
                          <a:ln>
                            <a:noFill/>
                          </a:ln>
                          <a:solidFill>
                            <a:schemeClr val="tx1"/>
                          </a:solidFill>
                          <a:effectLst/>
                          <a:latin typeface="Arial" charset="0"/>
                          <a:cs typeface="Arial" charset="0"/>
                        </a:rPr>
                        <a:t>10,500</a:t>
                      </a:r>
                    </a:p>
                  </a:txBody>
                  <a:tcPr horzOverflow="overflow"/>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59</a:t>
            </a:fld>
            <a:endParaRPr lang="en-GB"/>
          </a:p>
        </p:txBody>
      </p:sp>
      <p:sp>
        <p:nvSpPr>
          <p:cNvPr id="3" name="Date Placeholder 2">
            <a:extLst>
              <a:ext uri="{FF2B5EF4-FFF2-40B4-BE49-F238E27FC236}">
                <a16:creationId xmlns:a16="http://schemas.microsoft.com/office/drawing/2014/main" id="{A7577400-20DC-494D-936D-E55687CC7EE6}"/>
              </a:ext>
            </a:extLst>
          </p:cNvPr>
          <p:cNvSpPr>
            <a:spLocks noGrp="1"/>
          </p:cNvSpPr>
          <p:nvPr>
            <p:ph type="dt" sz="half" idx="10"/>
          </p:nvPr>
        </p:nvSpPr>
        <p:spPr/>
        <p:txBody>
          <a:bodyPr/>
          <a:lstStyle/>
          <a:p>
            <a:fld id="{DFFB3165-9FE9-4CB6-80D8-E0A8D00BCF9C}" type="datetime1">
              <a:rPr lang="en-GB" smtClean="0"/>
              <a:t>21/02/2023</a:t>
            </a:fld>
            <a:endParaRPr lang="en-GB"/>
          </a:p>
        </p:txBody>
      </p:sp>
    </p:spTree>
    <p:extLst>
      <p:ext uri="{BB962C8B-B14F-4D97-AF65-F5344CB8AC3E}">
        <p14:creationId xmlns:p14="http://schemas.microsoft.com/office/powerpoint/2010/main" val="26160969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Collection of an asset</a:t>
            </a:r>
            <a:endParaRPr lang="en-US" dirty="0"/>
          </a:p>
        </p:txBody>
      </p:sp>
      <p:sp>
        <p:nvSpPr>
          <p:cNvPr id="3" name="Content Placeholder 2"/>
          <p:cNvSpPr>
            <a:spLocks noGrp="1"/>
          </p:cNvSpPr>
          <p:nvPr>
            <p:ph idx="1"/>
          </p:nvPr>
        </p:nvSpPr>
        <p:spPr/>
        <p:txBody>
          <a:bodyPr>
            <a:normAutofit/>
          </a:bodyPr>
          <a:lstStyle/>
          <a:p>
            <a:r>
              <a:rPr lang="en-GB" altLang="en-US" sz="3300" b="1" dirty="0"/>
              <a:t>A. </a:t>
            </a:r>
            <a:r>
              <a:rPr lang="en-GB" altLang="en-US" sz="3300" b="1" dirty="0" err="1"/>
              <a:t>Ntikuma</a:t>
            </a:r>
            <a:r>
              <a:rPr lang="en-GB" altLang="en-US" sz="3300" b="1" dirty="0"/>
              <a:t>, who owed K. </a:t>
            </a:r>
            <a:r>
              <a:rPr lang="en-GB" altLang="en-US" sz="3300" b="1" dirty="0" err="1"/>
              <a:t>Ananse</a:t>
            </a:r>
            <a:r>
              <a:rPr lang="en-GB" altLang="en-US" sz="3300" b="1" dirty="0"/>
              <a:t> GH¢500, makes a part payment of GH¢200 by cheque on 31 January 202X. </a:t>
            </a:r>
          </a:p>
          <a:p>
            <a:pPr>
              <a:buNone/>
            </a:pPr>
            <a:endParaRPr lang="en-GB" altLang="en-US" sz="3300" b="1" dirty="0"/>
          </a:p>
          <a:p>
            <a:r>
              <a:rPr lang="en-GB" altLang="en-US" sz="3300" b="1" dirty="0"/>
              <a:t>The effect is to reduce one asset, debtor, and to increase another asset, bank</a:t>
            </a:r>
          </a:p>
          <a:p>
            <a:pPr>
              <a:buNone/>
            </a:pPr>
            <a:endParaRPr lang="en-GB" altLang="en-US" sz="3300" b="1" dirty="0"/>
          </a:p>
          <a:p>
            <a:r>
              <a:rPr lang="en-GB" altLang="en-US" sz="3300" b="1" dirty="0"/>
              <a:t>This results in a balance sheet as follows:</a:t>
            </a:r>
            <a:endParaRPr lang="en-US" sz="33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60</a:t>
            </a:fld>
            <a:endParaRPr lang="en-GB"/>
          </a:p>
        </p:txBody>
      </p:sp>
      <p:sp>
        <p:nvSpPr>
          <p:cNvPr id="5" name="Date Placeholder 4">
            <a:extLst>
              <a:ext uri="{FF2B5EF4-FFF2-40B4-BE49-F238E27FC236}">
                <a16:creationId xmlns:a16="http://schemas.microsoft.com/office/drawing/2014/main" id="{38351E24-6D54-4C93-AC48-000BCE3A77D1}"/>
              </a:ext>
            </a:extLst>
          </p:cNvPr>
          <p:cNvSpPr>
            <a:spLocks noGrp="1"/>
          </p:cNvSpPr>
          <p:nvPr>
            <p:ph type="dt" sz="half" idx="10"/>
          </p:nvPr>
        </p:nvSpPr>
        <p:spPr/>
        <p:txBody>
          <a:bodyPr/>
          <a:lstStyle/>
          <a:p>
            <a:fld id="{E6E216AB-D740-4910-B0D3-96219DAEDA3C}" type="datetime1">
              <a:rPr lang="en-GB" smtClean="0"/>
              <a:t>21/02/2023</a:t>
            </a:fld>
            <a:endParaRPr lang="en-GB"/>
          </a:p>
        </p:txBody>
      </p:sp>
    </p:spTree>
    <p:extLst>
      <p:ext uri="{BB962C8B-B14F-4D97-AF65-F5344CB8AC3E}">
        <p14:creationId xmlns:p14="http://schemas.microsoft.com/office/powerpoint/2010/main" val="41971695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GB" altLang="en-US" b="1" dirty="0"/>
              <a:t>K. </a:t>
            </a:r>
            <a:r>
              <a:rPr lang="en-GB" altLang="en-US" b="1" dirty="0" err="1"/>
              <a:t>Ananse</a:t>
            </a:r>
            <a:r>
              <a:rPr lang="en-GB" altLang="en-US" b="1" dirty="0"/>
              <a:t> Co. Ltd.</a:t>
            </a:r>
            <a:br>
              <a:rPr lang="en-GB" altLang="en-US" b="1" dirty="0"/>
            </a:br>
            <a:r>
              <a:rPr lang="en-GB" altLang="en-US" b="1" dirty="0"/>
              <a:t>Balance Sheet as at 31 January 202X</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1426988"/>
              </p:ext>
            </p:extLst>
          </p:nvPr>
        </p:nvGraphicFramePr>
        <p:xfrm>
          <a:off x="838200" y="1825625"/>
          <a:ext cx="10515600" cy="4175760"/>
        </p:xfrm>
        <a:graphic>
          <a:graphicData uri="http://schemas.openxmlformats.org/drawingml/2006/table">
            <a:tbl>
              <a:tblPr firstRow="1" bandRow="1">
                <a:tableStyleId>{5940675A-B579-460E-94D1-54222C63F5DA}</a:tableStyleId>
              </a:tblPr>
              <a:tblGrid>
                <a:gridCol w="3489101">
                  <a:extLst>
                    <a:ext uri="{9D8B030D-6E8A-4147-A177-3AD203B41FA5}">
                      <a16:colId xmlns:a16="http://schemas.microsoft.com/office/drawing/2014/main" val="20000"/>
                    </a:ext>
                  </a:extLst>
                </a:gridCol>
                <a:gridCol w="1768699">
                  <a:extLst>
                    <a:ext uri="{9D8B030D-6E8A-4147-A177-3AD203B41FA5}">
                      <a16:colId xmlns:a16="http://schemas.microsoft.com/office/drawing/2014/main" val="20001"/>
                    </a:ext>
                  </a:extLst>
                </a:gridCol>
                <a:gridCol w="3369972">
                  <a:extLst>
                    <a:ext uri="{9D8B030D-6E8A-4147-A177-3AD203B41FA5}">
                      <a16:colId xmlns:a16="http://schemas.microsoft.com/office/drawing/2014/main" val="20002"/>
                    </a:ext>
                  </a:extLst>
                </a:gridCol>
                <a:gridCol w="1887828">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1" i="0" u="none" strike="noStrike" cap="none" normalizeH="0" baseline="0" dirty="0">
                          <a:ln>
                            <a:noFill/>
                          </a:ln>
                          <a:solidFill>
                            <a:schemeClr val="tx1"/>
                          </a:solidFill>
                          <a:effectLst/>
                          <a:latin typeface="Arial" charset="0"/>
                          <a:cs typeface="Arial" charset="0"/>
                        </a:rPr>
                        <a:t>Fixed Assets</a:t>
                      </a:r>
                      <a:endParaRPr kumimoji="0" lang="en-GB" sz="29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1" i="0" u="none" strike="noStrike" cap="none" normalizeH="0" baseline="0" dirty="0">
                          <a:ln>
                            <a:noFill/>
                          </a:ln>
                          <a:solidFill>
                            <a:schemeClr val="tx1"/>
                          </a:solidFill>
                          <a:effectLst/>
                          <a:latin typeface="Arial" charset="0"/>
                          <a:cs typeface="Arial" charset="0"/>
                        </a:rPr>
                        <a:t>GH¢</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1" i="0" u="none" strike="noStrike" cap="none" normalizeH="0" baseline="0" dirty="0">
                          <a:ln>
                            <a:noFill/>
                          </a:ln>
                          <a:solidFill>
                            <a:schemeClr val="tx1"/>
                          </a:solidFill>
                          <a:effectLst/>
                          <a:latin typeface="Arial" charset="0"/>
                          <a:cs typeface="Arial" charset="0"/>
                        </a:rPr>
                        <a:t>Capital and Liabilities</a:t>
                      </a:r>
                      <a:endParaRPr kumimoji="0" lang="en-GB" sz="29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1" i="0" u="none" strike="noStrike" cap="none" normalizeH="0" baseline="0" dirty="0">
                          <a:ln>
                            <a:noFill/>
                          </a:ln>
                          <a:solidFill>
                            <a:schemeClr val="tx1"/>
                          </a:solidFill>
                          <a:effectLst/>
                          <a:latin typeface="Arial" charset="0"/>
                          <a:cs typeface="Arial" charset="0"/>
                        </a:rPr>
                        <a:t>GH¢</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Buildings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  4,000</a:t>
                      </a:r>
                      <a:endParaRPr kumimoji="0" lang="en-GB" sz="29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1" i="0" u="none" strike="noStrike" cap="none" normalizeH="0" baseline="0">
                          <a:ln>
                            <a:noFill/>
                          </a:ln>
                          <a:solidFill>
                            <a:schemeClr val="tx1"/>
                          </a:solidFill>
                          <a:effectLst/>
                          <a:latin typeface="Arial" charset="0"/>
                          <a:cs typeface="Arial" charset="0"/>
                        </a:rPr>
                        <a:t>Capital</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dirty="0">
                          <a:ln>
                            <a:noFill/>
                          </a:ln>
                          <a:solidFill>
                            <a:schemeClr val="tx1"/>
                          </a:solidFill>
                          <a:effectLst/>
                          <a:latin typeface="Arial" charset="0"/>
                          <a:cs typeface="Arial" charset="0"/>
                        </a:rPr>
                        <a:t>10,000</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1" i="0" u="none" strike="noStrike" cap="none" normalizeH="0" baseline="0">
                          <a:ln>
                            <a:noFill/>
                          </a:ln>
                          <a:solidFill>
                            <a:schemeClr val="tx1"/>
                          </a:solidFill>
                          <a:effectLst/>
                          <a:latin typeface="Arial" charset="0"/>
                          <a:cs typeface="Arial" charset="0"/>
                        </a:rPr>
                        <a:t>Current Assets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   </a:t>
                      </a:r>
                      <a:endParaRPr kumimoji="0" lang="en-GB" sz="29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9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9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Stock of goods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    300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1" i="0" u="none" strike="noStrike" cap="none" normalizeH="0" baseline="0">
                          <a:ln>
                            <a:noFill/>
                          </a:ln>
                          <a:solidFill>
                            <a:schemeClr val="tx1"/>
                          </a:solidFill>
                          <a:effectLst/>
                          <a:latin typeface="Arial" charset="0"/>
                          <a:cs typeface="Arial" charset="0"/>
                        </a:rPr>
                        <a:t>Liabilities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900" b="0" i="0" u="sng"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Debtor - A. Ntikuma</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    300</a:t>
                      </a:r>
                      <a:endParaRPr kumimoji="0" lang="en-GB" sz="29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Creditor- K. Kuaso</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dirty="0">
                          <a:ln>
                            <a:noFill/>
                          </a:ln>
                          <a:solidFill>
                            <a:schemeClr val="tx1"/>
                          </a:solidFill>
                          <a:effectLst/>
                          <a:latin typeface="Arial" charset="0"/>
                          <a:cs typeface="Arial" charset="0"/>
                        </a:rPr>
                        <a:t>    500</a:t>
                      </a:r>
                    </a:p>
                  </a:txBody>
                  <a:tcPr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Cash at bank</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 5,900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9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9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9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a:ln>
                            <a:noFill/>
                          </a:ln>
                          <a:solidFill>
                            <a:schemeClr val="tx1"/>
                          </a:solidFill>
                          <a:effectLst/>
                          <a:latin typeface="Arial" charset="0"/>
                          <a:cs typeface="Arial" charset="0"/>
                        </a:rPr>
                        <a:t>10,500</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9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900" b="0" i="0" u="none" strike="noStrike" cap="none" normalizeH="0" baseline="0" dirty="0">
                          <a:ln>
                            <a:noFill/>
                          </a:ln>
                          <a:solidFill>
                            <a:schemeClr val="tx1"/>
                          </a:solidFill>
                          <a:effectLst/>
                          <a:latin typeface="Arial" charset="0"/>
                          <a:cs typeface="Arial" charset="0"/>
                        </a:rPr>
                        <a:t>10,500</a:t>
                      </a:r>
                    </a:p>
                  </a:txBody>
                  <a:tcPr horzOverflow="overflow"/>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61</a:t>
            </a:fld>
            <a:endParaRPr lang="en-GB"/>
          </a:p>
        </p:txBody>
      </p:sp>
      <p:sp>
        <p:nvSpPr>
          <p:cNvPr id="3" name="Date Placeholder 2">
            <a:extLst>
              <a:ext uri="{FF2B5EF4-FFF2-40B4-BE49-F238E27FC236}">
                <a16:creationId xmlns:a16="http://schemas.microsoft.com/office/drawing/2014/main" id="{83436D62-BF29-4A16-9893-D8BAFF67B8E6}"/>
              </a:ext>
            </a:extLst>
          </p:cNvPr>
          <p:cNvSpPr>
            <a:spLocks noGrp="1"/>
          </p:cNvSpPr>
          <p:nvPr>
            <p:ph type="dt" sz="half" idx="10"/>
          </p:nvPr>
        </p:nvSpPr>
        <p:spPr/>
        <p:txBody>
          <a:bodyPr/>
          <a:lstStyle/>
          <a:p>
            <a:fld id="{C4914625-D30B-4D6C-8C0D-A114B06BC831}" type="datetime1">
              <a:rPr lang="en-GB" smtClean="0"/>
              <a:t>21/02/2023</a:t>
            </a:fld>
            <a:endParaRPr lang="en-GB"/>
          </a:p>
        </p:txBody>
      </p:sp>
    </p:spTree>
    <p:extLst>
      <p:ext uri="{BB962C8B-B14F-4D97-AF65-F5344CB8AC3E}">
        <p14:creationId xmlns:p14="http://schemas.microsoft.com/office/powerpoint/2010/main" val="31650602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t>The Balance Sheet and the effects of Business Transactions</a:t>
            </a:r>
            <a:endParaRPr lang="en-US" dirty="0"/>
          </a:p>
        </p:txBody>
      </p:sp>
      <p:sp>
        <p:nvSpPr>
          <p:cNvPr id="3" name="Content Placeholder 2"/>
          <p:cNvSpPr>
            <a:spLocks noGrp="1"/>
          </p:cNvSpPr>
          <p:nvPr>
            <p:ph idx="1"/>
          </p:nvPr>
        </p:nvSpPr>
        <p:spPr/>
        <p:txBody>
          <a:bodyPr>
            <a:normAutofit fontScale="92500" lnSpcReduction="10000"/>
          </a:bodyPr>
          <a:lstStyle/>
          <a:p>
            <a:r>
              <a:rPr lang="en-GB" altLang="en-US" sz="3200" b="1" dirty="0"/>
              <a:t>It can be seen that every transaction has affected two items. </a:t>
            </a:r>
            <a:endParaRPr lang="en-GB" altLang="en-US" sz="2000" b="1" dirty="0"/>
          </a:p>
          <a:p>
            <a:endParaRPr lang="en-GB" altLang="en-US" sz="3200" b="1" dirty="0"/>
          </a:p>
          <a:p>
            <a:r>
              <a:rPr lang="en-GB" altLang="en-US" sz="3200" b="1" dirty="0"/>
              <a:t>Sometimes it has changed two assets by reducing one and increasing the other.</a:t>
            </a:r>
          </a:p>
          <a:p>
            <a:pPr>
              <a:buNone/>
            </a:pPr>
            <a:endParaRPr lang="en-GB" altLang="en-US" sz="2000" b="1" dirty="0"/>
          </a:p>
          <a:p>
            <a:r>
              <a:rPr lang="en-GB" altLang="en-US" sz="3200" b="1" dirty="0"/>
              <a:t>Other times it has reacted differently.</a:t>
            </a:r>
          </a:p>
          <a:p>
            <a:pPr>
              <a:buNone/>
            </a:pPr>
            <a:endParaRPr lang="en-GB" altLang="en-US" sz="2000" b="1" dirty="0"/>
          </a:p>
          <a:p>
            <a:r>
              <a:rPr lang="en-GB" altLang="en-US" sz="3200" b="1" dirty="0"/>
              <a:t>A summary of the effect of transactions upon assets, liabilities and capital is as follows:</a:t>
            </a:r>
            <a:endParaRPr lang="en-US" b="1" dirty="0"/>
          </a:p>
        </p:txBody>
      </p:sp>
      <p:sp>
        <p:nvSpPr>
          <p:cNvPr id="4" name="Slide Number Placeholder 3"/>
          <p:cNvSpPr>
            <a:spLocks noGrp="1"/>
          </p:cNvSpPr>
          <p:nvPr>
            <p:ph type="sldNum" sz="quarter" idx="12"/>
          </p:nvPr>
        </p:nvSpPr>
        <p:spPr/>
        <p:txBody>
          <a:bodyPr/>
          <a:lstStyle/>
          <a:p>
            <a:fld id="{7E50C373-F1D0-494F-8D6D-366C958B3429}" type="slidenum">
              <a:rPr lang="en-GB" smtClean="0"/>
              <a:t>62</a:t>
            </a:fld>
            <a:endParaRPr lang="en-GB"/>
          </a:p>
        </p:txBody>
      </p:sp>
      <p:sp>
        <p:nvSpPr>
          <p:cNvPr id="5" name="Date Placeholder 4">
            <a:extLst>
              <a:ext uri="{FF2B5EF4-FFF2-40B4-BE49-F238E27FC236}">
                <a16:creationId xmlns:a16="http://schemas.microsoft.com/office/drawing/2014/main" id="{43660E64-CD88-4FD0-A1A6-EE67F57C0EA3}"/>
              </a:ext>
            </a:extLst>
          </p:cNvPr>
          <p:cNvSpPr>
            <a:spLocks noGrp="1"/>
          </p:cNvSpPr>
          <p:nvPr>
            <p:ph type="dt" sz="half" idx="10"/>
          </p:nvPr>
        </p:nvSpPr>
        <p:spPr/>
        <p:txBody>
          <a:bodyPr/>
          <a:lstStyle/>
          <a:p>
            <a:fld id="{4139F83D-7F4D-43E5-83EA-2DBCE736B1A1}" type="datetime1">
              <a:rPr lang="en-GB" smtClean="0"/>
              <a:t>21/02/2023</a:t>
            </a:fld>
            <a:endParaRPr lang="en-GB"/>
          </a:p>
        </p:txBody>
      </p:sp>
    </p:spTree>
    <p:extLst>
      <p:ext uri="{BB962C8B-B14F-4D97-AF65-F5344CB8AC3E}">
        <p14:creationId xmlns:p14="http://schemas.microsoft.com/office/powerpoint/2010/main" val="23195059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Example of transaction</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260813251"/>
              </p:ext>
            </p:extLst>
          </p:nvPr>
        </p:nvGraphicFramePr>
        <p:xfrm>
          <a:off x="838200" y="1825625"/>
          <a:ext cx="10515600" cy="320040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dirty="0">
                          <a:ln>
                            <a:noFill/>
                          </a:ln>
                          <a:solidFill>
                            <a:schemeClr val="tx1"/>
                          </a:solidFill>
                          <a:effectLst/>
                          <a:latin typeface="Arial" charset="0"/>
                          <a:cs typeface="Arial" charset="0"/>
                        </a:rPr>
                        <a:t>Buy goods on credit</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Increase Asset (Stock of goods)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Increase Liability (Creditors)</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a:ln>
                            <a:noFill/>
                          </a:ln>
                          <a:solidFill>
                            <a:schemeClr val="tx1"/>
                          </a:solidFill>
                          <a:effectLst/>
                          <a:latin typeface="Arial" charset="0"/>
                          <a:cs typeface="Arial" charset="0"/>
                        </a:rPr>
                        <a:t>Buy goods by cheque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Increase Asset (Stock of goods)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Decrease Asset (Bank)</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1" i="0" u="none" strike="noStrike" cap="none" normalizeH="0" baseline="0">
                          <a:ln>
                            <a:noFill/>
                          </a:ln>
                          <a:solidFill>
                            <a:schemeClr val="tx1"/>
                          </a:solidFill>
                          <a:effectLst/>
                          <a:latin typeface="Arial" charset="0"/>
                          <a:cs typeface="Arial" charset="0"/>
                        </a:rPr>
                        <a:t>Pay creditor by cheque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a:ln>
                            <a:noFill/>
                          </a:ln>
                          <a:solidFill>
                            <a:schemeClr val="tx1"/>
                          </a:solidFill>
                          <a:effectLst/>
                          <a:latin typeface="Arial" charset="0"/>
                          <a:cs typeface="Arial" charset="0"/>
                        </a:rPr>
                        <a:t>Decrease Asset (Bank)</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3200" b="0" i="0" u="none" strike="noStrike" cap="none" normalizeH="0" baseline="0" dirty="0">
                          <a:ln>
                            <a:noFill/>
                          </a:ln>
                          <a:solidFill>
                            <a:schemeClr val="tx1"/>
                          </a:solidFill>
                          <a:effectLst/>
                          <a:latin typeface="Arial" charset="0"/>
                          <a:cs typeface="Arial" charset="0"/>
                        </a:rPr>
                        <a:t>Decrease liability (Creditors)</a:t>
                      </a:r>
                    </a:p>
                  </a:txBody>
                  <a:tcPr horzOverflow="overflow"/>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63</a:t>
            </a:fld>
            <a:endParaRPr lang="en-GB"/>
          </a:p>
        </p:txBody>
      </p:sp>
      <p:sp>
        <p:nvSpPr>
          <p:cNvPr id="3" name="Date Placeholder 2">
            <a:extLst>
              <a:ext uri="{FF2B5EF4-FFF2-40B4-BE49-F238E27FC236}">
                <a16:creationId xmlns:a16="http://schemas.microsoft.com/office/drawing/2014/main" id="{E6234F32-4DB7-43EB-9B70-EE0AFA50BCD1}"/>
              </a:ext>
            </a:extLst>
          </p:cNvPr>
          <p:cNvSpPr>
            <a:spLocks noGrp="1"/>
          </p:cNvSpPr>
          <p:nvPr>
            <p:ph type="dt" sz="half" idx="10"/>
          </p:nvPr>
        </p:nvSpPr>
        <p:spPr/>
        <p:txBody>
          <a:bodyPr/>
          <a:lstStyle/>
          <a:p>
            <a:fld id="{5AE2E8D2-51AB-4D50-A14D-6769AE9B454B}" type="datetime1">
              <a:rPr lang="en-GB" smtClean="0"/>
              <a:t>21/02/2023</a:t>
            </a:fld>
            <a:endParaRPr lang="en-GB"/>
          </a:p>
        </p:txBody>
      </p:sp>
    </p:spTree>
    <p:extLst>
      <p:ext uri="{BB962C8B-B14F-4D97-AF65-F5344CB8AC3E}">
        <p14:creationId xmlns:p14="http://schemas.microsoft.com/office/powerpoint/2010/main" val="37596318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Example of transaction</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60567393"/>
              </p:ext>
            </p:extLst>
          </p:nvPr>
        </p:nvGraphicFramePr>
        <p:xfrm>
          <a:off x="838200" y="1825625"/>
          <a:ext cx="10515600" cy="344424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1" i="0" u="none" strike="noStrike" cap="none" normalizeH="0" baseline="0" dirty="0">
                          <a:ln>
                            <a:noFill/>
                          </a:ln>
                          <a:solidFill>
                            <a:schemeClr val="tx1"/>
                          </a:solidFill>
                          <a:effectLst/>
                          <a:latin typeface="Arial" charset="0"/>
                          <a:cs typeface="Arial" charset="0"/>
                        </a:rPr>
                        <a:t>Owner pays more capital into the bank </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0" i="0" u="none" strike="noStrike" cap="none" normalizeH="0" baseline="0">
                          <a:ln>
                            <a:noFill/>
                          </a:ln>
                          <a:solidFill>
                            <a:schemeClr val="tx1"/>
                          </a:solidFill>
                          <a:effectLst/>
                          <a:latin typeface="Arial" charset="0"/>
                          <a:cs typeface="Arial" charset="0"/>
                        </a:rPr>
                        <a:t>Increase Asset (Bank)</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0" i="0" u="none" strike="noStrike" cap="none" normalizeH="0" baseline="0">
                          <a:ln>
                            <a:noFill/>
                          </a:ln>
                          <a:solidFill>
                            <a:schemeClr val="tx1"/>
                          </a:solidFill>
                          <a:effectLst/>
                          <a:latin typeface="Arial" charset="0"/>
                          <a:cs typeface="Arial" charset="0"/>
                        </a:rPr>
                        <a:t>Increase Capital</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1" i="0" u="none" strike="noStrike" cap="none" normalizeH="0" baseline="0">
                          <a:ln>
                            <a:noFill/>
                          </a:ln>
                          <a:solidFill>
                            <a:schemeClr val="tx1"/>
                          </a:solidFill>
                          <a:effectLst/>
                          <a:latin typeface="Arial" charset="0"/>
                          <a:cs typeface="Arial" charset="0"/>
                        </a:rPr>
                        <a:t>Owner takes money out of the business bank for his own use </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0" i="0" u="none" strike="noStrike" cap="none" normalizeH="0" baseline="0">
                          <a:ln>
                            <a:noFill/>
                          </a:ln>
                          <a:solidFill>
                            <a:schemeClr val="tx1"/>
                          </a:solidFill>
                          <a:effectLst/>
                          <a:latin typeface="Arial" charset="0"/>
                          <a:cs typeface="Arial" charset="0"/>
                        </a:rPr>
                        <a:t>Decrease Asset (Bank)</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0" i="0" u="none" strike="noStrike" cap="none" normalizeH="0" baseline="0">
                          <a:ln>
                            <a:noFill/>
                          </a:ln>
                          <a:solidFill>
                            <a:schemeClr val="tx1"/>
                          </a:solidFill>
                          <a:effectLst/>
                          <a:latin typeface="Arial" charset="0"/>
                          <a:cs typeface="Arial" charset="0"/>
                        </a:rPr>
                        <a:t>Decrease Capital</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1" i="0" u="none" strike="noStrike" cap="none" normalizeH="0" baseline="0">
                          <a:ln>
                            <a:noFill/>
                          </a:ln>
                          <a:solidFill>
                            <a:schemeClr val="tx1"/>
                          </a:solidFill>
                          <a:effectLst/>
                          <a:latin typeface="Arial" charset="0"/>
                          <a:cs typeface="Arial" charset="0"/>
                        </a:rPr>
                        <a:t>Owner pays creditor from private money outside the firm </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0" i="0" u="none" strike="noStrike" cap="none" normalizeH="0" baseline="0">
                          <a:ln>
                            <a:noFill/>
                          </a:ln>
                          <a:solidFill>
                            <a:schemeClr val="tx1"/>
                          </a:solidFill>
                          <a:effectLst/>
                          <a:latin typeface="Arial" charset="0"/>
                          <a:cs typeface="Arial" charset="0"/>
                        </a:rPr>
                        <a:t>Decrease Liability (Creditors)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600" b="0" i="0" u="none" strike="noStrike" cap="none" normalizeH="0" baseline="0" dirty="0">
                          <a:ln>
                            <a:noFill/>
                          </a:ln>
                          <a:solidFill>
                            <a:schemeClr val="tx1"/>
                          </a:solidFill>
                          <a:effectLst/>
                          <a:latin typeface="Arial" charset="0"/>
                          <a:cs typeface="Arial" charset="0"/>
                        </a:rPr>
                        <a:t>Increase Capital</a:t>
                      </a:r>
                    </a:p>
                  </a:txBody>
                  <a:tcPr horzOverflow="overflow"/>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64</a:t>
            </a:fld>
            <a:endParaRPr lang="en-GB"/>
          </a:p>
        </p:txBody>
      </p:sp>
      <p:sp>
        <p:nvSpPr>
          <p:cNvPr id="3" name="Date Placeholder 2">
            <a:extLst>
              <a:ext uri="{FF2B5EF4-FFF2-40B4-BE49-F238E27FC236}">
                <a16:creationId xmlns:a16="http://schemas.microsoft.com/office/drawing/2014/main" id="{88227777-01D0-4909-8B92-2F45B2359324}"/>
              </a:ext>
            </a:extLst>
          </p:cNvPr>
          <p:cNvSpPr>
            <a:spLocks noGrp="1"/>
          </p:cNvSpPr>
          <p:nvPr>
            <p:ph type="dt" sz="half" idx="10"/>
          </p:nvPr>
        </p:nvSpPr>
        <p:spPr/>
        <p:txBody>
          <a:bodyPr/>
          <a:lstStyle/>
          <a:p>
            <a:fld id="{B147D963-C3A7-40C4-9905-310F36FC6F62}" type="datetime1">
              <a:rPr lang="en-GB" smtClean="0"/>
              <a:t>21/02/2023</a:t>
            </a:fld>
            <a:endParaRPr lang="en-GB"/>
          </a:p>
        </p:txBody>
      </p:sp>
    </p:spTree>
    <p:extLst>
      <p:ext uri="{BB962C8B-B14F-4D97-AF65-F5344CB8AC3E}">
        <p14:creationId xmlns:p14="http://schemas.microsoft.com/office/powerpoint/2010/main" val="2465569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t>Considerations for making entries into the Balance Sheet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95125414"/>
              </p:ext>
            </p:extLst>
          </p:nvPr>
        </p:nvGraphicFramePr>
        <p:xfrm>
          <a:off x="838200" y="1825625"/>
          <a:ext cx="10515600" cy="4572000"/>
        </p:xfrm>
        <a:graphic>
          <a:graphicData uri="http://schemas.openxmlformats.org/drawingml/2006/table">
            <a:tbl>
              <a:tblPr firstRow="1" bandRow="1">
                <a:tableStyleId>{5940675A-B579-460E-94D1-54222C63F5DA}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rgbClr val="FF0000"/>
                          </a:solidFill>
                          <a:effectLst/>
                          <a:latin typeface="Arial" charset="0"/>
                          <a:cs typeface="Arial" charset="0"/>
                        </a:rPr>
                        <a:t>Assets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rgbClr val="FF0000"/>
                          </a:solidFill>
                          <a:effectLst/>
                          <a:latin typeface="Arial" charset="0"/>
                          <a:cs typeface="Arial" charset="0"/>
                        </a:rPr>
                        <a:t>Owners’ Equity</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rgbClr val="FF0000"/>
                          </a:solidFill>
                          <a:effectLst/>
                          <a:latin typeface="Arial" charset="0"/>
                          <a:cs typeface="Arial" charset="0"/>
                        </a:rPr>
                        <a:t>Liabilities</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1" u="none" strike="noStrike" cap="none" normalizeH="0" baseline="0">
                          <a:ln>
                            <a:noFill/>
                          </a:ln>
                          <a:solidFill>
                            <a:schemeClr val="tx1"/>
                          </a:solidFill>
                          <a:effectLst/>
                          <a:latin typeface="Arial" charset="0"/>
                          <a:cs typeface="Arial" charset="0"/>
                        </a:rPr>
                        <a:t> </a:t>
                      </a:r>
                      <a:r>
                        <a:rPr kumimoji="0" lang="en-GB" sz="2400" b="1" i="0" u="none" strike="noStrike" cap="none" normalizeH="0" baseline="0">
                          <a:ln>
                            <a:noFill/>
                          </a:ln>
                          <a:solidFill>
                            <a:schemeClr val="tx1"/>
                          </a:solidFill>
                          <a:effectLst/>
                          <a:latin typeface="Arial" charset="0"/>
                          <a:cs typeface="Arial" charset="0"/>
                        </a:rPr>
                        <a:t>Cash</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Capital stock</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chemeClr val="tx1"/>
                          </a:solidFill>
                          <a:effectLst/>
                          <a:latin typeface="Arial" charset="0"/>
                          <a:cs typeface="Arial" charset="0"/>
                        </a:rPr>
                        <a:t>Accounts payable</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Accounts receivable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Retained earnings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chemeClr val="tx1"/>
                          </a:solidFill>
                          <a:effectLst/>
                          <a:latin typeface="Arial" charset="0"/>
                          <a:cs typeface="Arial" charset="0"/>
                        </a:rPr>
                        <a:t>Notes payable</a:t>
                      </a: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Inventory</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Common stock</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chemeClr val="tx1"/>
                          </a:solidFill>
                          <a:effectLst/>
                          <a:latin typeface="Arial" charset="0"/>
                          <a:cs typeface="Arial" charset="0"/>
                        </a:rPr>
                        <a:t>Bonds payable</a:t>
                      </a:r>
                    </a:p>
                  </a:txBody>
                  <a:tcP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Investments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Preferred stock</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dirty="0">
                          <a:ln>
                            <a:noFill/>
                          </a:ln>
                          <a:solidFill>
                            <a:schemeClr val="tx1"/>
                          </a:solidFill>
                          <a:effectLst/>
                          <a:latin typeface="Arial" charset="0"/>
                          <a:cs typeface="Arial" charset="0"/>
                        </a:rPr>
                        <a:t>Taxes payable</a:t>
                      </a:r>
                    </a:p>
                  </a:txBody>
                  <a:tcPr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Equipment</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Treasury stock</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Land</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Buildings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7"/>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Motor vehicles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400" b="1" i="0" u="none" strike="noStrike" cap="none" normalizeH="0" baseline="0">
                          <a:ln>
                            <a:noFill/>
                          </a:ln>
                          <a:solidFill>
                            <a:schemeClr val="tx1"/>
                          </a:solidFill>
                          <a:effectLst/>
                          <a:latin typeface="Arial" charset="0"/>
                          <a:cs typeface="Arial" charset="0"/>
                        </a:rPr>
                        <a:t>Goodwill </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4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65</a:t>
            </a:fld>
            <a:endParaRPr lang="en-GB"/>
          </a:p>
        </p:txBody>
      </p:sp>
      <p:sp>
        <p:nvSpPr>
          <p:cNvPr id="3" name="Date Placeholder 2">
            <a:extLst>
              <a:ext uri="{FF2B5EF4-FFF2-40B4-BE49-F238E27FC236}">
                <a16:creationId xmlns:a16="http://schemas.microsoft.com/office/drawing/2014/main" id="{55546D30-5DAC-433F-8D8D-B5E754D541E8}"/>
              </a:ext>
            </a:extLst>
          </p:cNvPr>
          <p:cNvSpPr>
            <a:spLocks noGrp="1"/>
          </p:cNvSpPr>
          <p:nvPr>
            <p:ph type="dt" sz="half" idx="10"/>
          </p:nvPr>
        </p:nvSpPr>
        <p:spPr/>
        <p:txBody>
          <a:bodyPr/>
          <a:lstStyle/>
          <a:p>
            <a:fld id="{83BC097A-9FDC-4C91-A05C-46AA85202F4C}" type="datetime1">
              <a:rPr lang="en-GB" smtClean="0"/>
              <a:t>21/02/2023</a:t>
            </a:fld>
            <a:endParaRPr lang="en-GB"/>
          </a:p>
        </p:txBody>
      </p:sp>
    </p:spTree>
    <p:extLst>
      <p:ext uri="{BB962C8B-B14F-4D97-AF65-F5344CB8AC3E}">
        <p14:creationId xmlns:p14="http://schemas.microsoft.com/office/powerpoint/2010/main" val="9832486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Income Statements</a:t>
            </a:r>
            <a:endParaRPr lang="en-US" dirty="0"/>
          </a:p>
        </p:txBody>
      </p:sp>
      <p:sp>
        <p:nvSpPr>
          <p:cNvPr id="3" name="Content Placeholder 2"/>
          <p:cNvSpPr>
            <a:spLocks noGrp="1"/>
          </p:cNvSpPr>
          <p:nvPr>
            <p:ph idx="1"/>
          </p:nvPr>
        </p:nvSpPr>
        <p:spPr/>
        <p:txBody>
          <a:bodyPr>
            <a:normAutofit/>
          </a:bodyPr>
          <a:lstStyle/>
          <a:p>
            <a:r>
              <a:rPr lang="en-GB" altLang="en-US" sz="4400" b="1" dirty="0"/>
              <a:t>The income statement (statement of income, statement of earnings, or statement of operations) reports the accountant’s primary measure of performance of a business, the revenues less the expenses of the accounting period</a:t>
            </a:r>
            <a:r>
              <a:rPr lang="en-GB" altLang="en-US" sz="4400" dirty="0"/>
              <a:t>.</a:t>
            </a:r>
            <a:endParaRPr lang="en-US" sz="3600" dirty="0"/>
          </a:p>
        </p:txBody>
      </p:sp>
      <p:sp>
        <p:nvSpPr>
          <p:cNvPr id="4" name="Slide Number Placeholder 3"/>
          <p:cNvSpPr>
            <a:spLocks noGrp="1"/>
          </p:cNvSpPr>
          <p:nvPr>
            <p:ph type="sldNum" sz="quarter" idx="12"/>
          </p:nvPr>
        </p:nvSpPr>
        <p:spPr/>
        <p:txBody>
          <a:bodyPr/>
          <a:lstStyle/>
          <a:p>
            <a:fld id="{7E50C373-F1D0-494F-8D6D-366C958B3429}" type="slidenum">
              <a:rPr lang="en-GB" smtClean="0"/>
              <a:t>66</a:t>
            </a:fld>
            <a:endParaRPr lang="en-GB"/>
          </a:p>
        </p:txBody>
      </p:sp>
      <p:sp>
        <p:nvSpPr>
          <p:cNvPr id="5" name="Date Placeholder 4">
            <a:extLst>
              <a:ext uri="{FF2B5EF4-FFF2-40B4-BE49-F238E27FC236}">
                <a16:creationId xmlns:a16="http://schemas.microsoft.com/office/drawing/2014/main" id="{463B1A6E-CDBB-4560-970B-A3D9CE65DD72}"/>
              </a:ext>
            </a:extLst>
          </p:cNvPr>
          <p:cNvSpPr>
            <a:spLocks noGrp="1"/>
          </p:cNvSpPr>
          <p:nvPr>
            <p:ph type="dt" sz="half" idx="10"/>
          </p:nvPr>
        </p:nvSpPr>
        <p:spPr/>
        <p:txBody>
          <a:bodyPr/>
          <a:lstStyle/>
          <a:p>
            <a:fld id="{6459ADE0-FCBB-4E44-8393-F79B4D44B9A2}" type="datetime1">
              <a:rPr lang="en-GB" smtClean="0"/>
              <a:t>21/02/2023</a:t>
            </a:fld>
            <a:endParaRPr lang="en-GB"/>
          </a:p>
        </p:txBody>
      </p:sp>
    </p:spTree>
    <p:extLst>
      <p:ext uri="{BB962C8B-B14F-4D97-AF65-F5344CB8AC3E}">
        <p14:creationId xmlns:p14="http://schemas.microsoft.com/office/powerpoint/2010/main" val="12895621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Income Statements</a:t>
            </a:r>
            <a:endParaRPr lang="en-US" dirty="0"/>
          </a:p>
        </p:txBody>
      </p:sp>
      <p:sp>
        <p:nvSpPr>
          <p:cNvPr id="3" name="Content Placeholder 2"/>
          <p:cNvSpPr>
            <a:spLocks noGrp="1"/>
          </p:cNvSpPr>
          <p:nvPr>
            <p:ph idx="1"/>
          </p:nvPr>
        </p:nvSpPr>
        <p:spPr/>
        <p:txBody>
          <a:bodyPr>
            <a:normAutofit fontScale="92500"/>
          </a:bodyPr>
          <a:lstStyle/>
          <a:p>
            <a:r>
              <a:rPr lang="en-GB" altLang="en-US" sz="5400" dirty="0"/>
              <a:t>An </a:t>
            </a:r>
            <a:r>
              <a:rPr lang="en-GB" altLang="en-US" sz="5400" b="1" dirty="0"/>
              <a:t>income statement</a:t>
            </a:r>
            <a:r>
              <a:rPr lang="en-GB" altLang="en-US" sz="5400" dirty="0"/>
              <a:t>, sometimes called a </a:t>
            </a:r>
            <a:r>
              <a:rPr lang="en-GB" altLang="en-US" sz="5400" b="1" dirty="0"/>
              <a:t>profit and loss statement</a:t>
            </a:r>
            <a:r>
              <a:rPr lang="en-GB" altLang="en-US" sz="5400" dirty="0"/>
              <a:t> or a </a:t>
            </a:r>
            <a:r>
              <a:rPr lang="en-GB" altLang="en-US" sz="5400" b="1" dirty="0"/>
              <a:t>summary of operations</a:t>
            </a:r>
            <a:r>
              <a:rPr lang="en-GB" altLang="en-US" sz="5400" dirty="0"/>
              <a:t>, shows </a:t>
            </a:r>
            <a:r>
              <a:rPr lang="en-GB" altLang="en-US" sz="5400" b="1" dirty="0"/>
              <a:t>how much an organisation made or lost during the fiscal (financial) year</a:t>
            </a:r>
            <a:r>
              <a:rPr lang="en-GB" altLang="en-US" sz="5400" dirty="0"/>
              <a:t>.</a:t>
            </a:r>
            <a:endParaRPr lang="en-US" sz="4000" dirty="0"/>
          </a:p>
        </p:txBody>
      </p:sp>
      <p:sp>
        <p:nvSpPr>
          <p:cNvPr id="4" name="Slide Number Placeholder 3"/>
          <p:cNvSpPr>
            <a:spLocks noGrp="1"/>
          </p:cNvSpPr>
          <p:nvPr>
            <p:ph type="sldNum" sz="quarter" idx="12"/>
          </p:nvPr>
        </p:nvSpPr>
        <p:spPr/>
        <p:txBody>
          <a:bodyPr/>
          <a:lstStyle/>
          <a:p>
            <a:fld id="{7E50C373-F1D0-494F-8D6D-366C958B3429}" type="slidenum">
              <a:rPr lang="en-GB" smtClean="0"/>
              <a:t>67</a:t>
            </a:fld>
            <a:endParaRPr lang="en-GB"/>
          </a:p>
        </p:txBody>
      </p:sp>
      <p:sp>
        <p:nvSpPr>
          <p:cNvPr id="5" name="Date Placeholder 4">
            <a:extLst>
              <a:ext uri="{FF2B5EF4-FFF2-40B4-BE49-F238E27FC236}">
                <a16:creationId xmlns:a16="http://schemas.microsoft.com/office/drawing/2014/main" id="{54082DAE-CDAC-427A-B900-D4DEBA2CEF99}"/>
              </a:ext>
            </a:extLst>
          </p:cNvPr>
          <p:cNvSpPr>
            <a:spLocks noGrp="1"/>
          </p:cNvSpPr>
          <p:nvPr>
            <p:ph type="dt" sz="half" idx="10"/>
          </p:nvPr>
        </p:nvSpPr>
        <p:spPr/>
        <p:txBody>
          <a:bodyPr/>
          <a:lstStyle/>
          <a:p>
            <a:fld id="{755C572D-7F06-42BB-9DC6-AA6E5C8DA25F}" type="datetime1">
              <a:rPr lang="en-GB" smtClean="0"/>
              <a:t>21/02/2023</a:t>
            </a:fld>
            <a:endParaRPr lang="en-GB"/>
          </a:p>
        </p:txBody>
      </p:sp>
    </p:spTree>
    <p:extLst>
      <p:ext uri="{BB962C8B-B14F-4D97-AF65-F5344CB8AC3E}">
        <p14:creationId xmlns:p14="http://schemas.microsoft.com/office/powerpoint/2010/main" val="28118772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GB" altLang="en-US" sz="2400" b="1" dirty="0"/>
              <a:t>K. </a:t>
            </a:r>
            <a:r>
              <a:rPr lang="en-GB" altLang="en-US" sz="2400" b="1" dirty="0" err="1"/>
              <a:t>Ananse</a:t>
            </a:r>
            <a:r>
              <a:rPr lang="en-GB" altLang="en-US" sz="2400" b="1" dirty="0"/>
              <a:t> Co. Ltd.</a:t>
            </a:r>
            <a:br>
              <a:rPr lang="en-GB" altLang="en-US" sz="2400" b="1" dirty="0"/>
            </a:br>
            <a:r>
              <a:rPr lang="en-GB" altLang="en-US" sz="2400" b="1" dirty="0"/>
              <a:t>Income Statement</a:t>
            </a:r>
            <a:br>
              <a:rPr lang="en-GB" altLang="en-US" sz="2400" b="1" dirty="0"/>
            </a:br>
            <a:r>
              <a:rPr lang="en-GB" altLang="en-US" sz="2400" b="1" dirty="0"/>
              <a:t>For the Year Ended December 31, 202X</a:t>
            </a:r>
            <a:endParaRPr lang="en-US" sz="24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839156500"/>
              </p:ext>
            </p:extLst>
          </p:nvPr>
        </p:nvGraphicFramePr>
        <p:xfrm>
          <a:off x="838200" y="1825625"/>
          <a:ext cx="10515600" cy="4820920"/>
        </p:xfrm>
        <a:graphic>
          <a:graphicData uri="http://schemas.openxmlformats.org/drawingml/2006/table">
            <a:tbl>
              <a:tblPr firstRow="1" bandRow="1">
                <a:tableStyleId>{5940675A-B579-460E-94D1-54222C63F5DA}</a:tableStyleId>
              </a:tblPr>
              <a:tblGrid>
                <a:gridCol w="6670183">
                  <a:extLst>
                    <a:ext uri="{9D8B030D-6E8A-4147-A177-3AD203B41FA5}">
                      <a16:colId xmlns:a16="http://schemas.microsoft.com/office/drawing/2014/main" val="20000"/>
                    </a:ext>
                  </a:extLst>
                </a:gridCol>
                <a:gridCol w="1815921">
                  <a:extLst>
                    <a:ext uri="{9D8B030D-6E8A-4147-A177-3AD203B41FA5}">
                      <a16:colId xmlns:a16="http://schemas.microsoft.com/office/drawing/2014/main" val="20001"/>
                    </a:ext>
                  </a:extLst>
                </a:gridCol>
                <a:gridCol w="2029496">
                  <a:extLst>
                    <a:ext uri="{9D8B030D-6E8A-4147-A177-3AD203B41FA5}">
                      <a16:colId xmlns:a16="http://schemas.microsoft.com/office/drawing/2014/main" val="20002"/>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1" i="0" u="none" strike="noStrike" cap="none" normalizeH="0" baseline="0" dirty="0">
                          <a:ln>
                            <a:noFill/>
                          </a:ln>
                          <a:solidFill>
                            <a:schemeClr val="tx1"/>
                          </a:solidFill>
                          <a:effectLst/>
                          <a:latin typeface="Arial" charset="0"/>
                          <a:cs typeface="Arial" charset="0"/>
                        </a:rPr>
                        <a:t>Revenues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dirty="0">
                          <a:ln>
                            <a:noFill/>
                          </a:ln>
                          <a:solidFill>
                            <a:schemeClr val="tx1"/>
                          </a:solidFill>
                          <a:effectLst/>
                          <a:latin typeface="Arial" charset="0"/>
                          <a:cs typeface="Arial" charset="0"/>
                        </a:rPr>
                        <a:t>$</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dirty="0">
                          <a:ln>
                            <a:noFill/>
                          </a:ln>
                          <a:solidFill>
                            <a:schemeClr val="tx1"/>
                          </a:solidFill>
                          <a:effectLst/>
                          <a:latin typeface="Arial" charset="0"/>
                          <a:cs typeface="Arial" charset="0"/>
                        </a:rPr>
                        <a:t> Sales</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505,000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Interest revenue</a:t>
                      </a:r>
                      <a:endParaRPr kumimoji="0" lang="en-GB" sz="16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sng" strike="noStrike" cap="none" normalizeH="0" baseline="0">
                          <a:ln>
                            <a:noFill/>
                          </a:ln>
                          <a:solidFill>
                            <a:schemeClr val="tx1"/>
                          </a:solidFill>
                          <a:effectLst/>
                          <a:latin typeface="Arial" charset="0"/>
                          <a:cs typeface="Arial" charset="0"/>
                        </a:rPr>
                        <a:t>3,500</a:t>
                      </a:r>
                      <a:endParaRPr kumimoji="0" lang="en-GB" sz="16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Total revenues</a:t>
                      </a:r>
                      <a:endParaRPr kumimoji="0" lang="en-GB" sz="16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sng" strike="noStrike" cap="none" normalizeH="0" baseline="0" dirty="0">
                          <a:ln>
                            <a:noFill/>
                          </a:ln>
                          <a:solidFill>
                            <a:schemeClr val="tx1"/>
                          </a:solidFill>
                          <a:effectLst/>
                          <a:latin typeface="Arial" charset="0"/>
                          <a:cs typeface="Arial" charset="0"/>
                        </a:rPr>
                        <a:t>508,500</a:t>
                      </a:r>
                    </a:p>
                  </a:txBody>
                  <a:tcP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1" i="0" u="none" strike="noStrike" cap="none" normalizeH="0" baseline="0">
                          <a:ln>
                            <a:noFill/>
                          </a:ln>
                          <a:solidFill>
                            <a:schemeClr val="tx1"/>
                          </a:solidFill>
                          <a:effectLst/>
                          <a:latin typeface="Arial" charset="0"/>
                          <a:cs typeface="Arial" charset="0"/>
                        </a:rPr>
                        <a:t>Expenses </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Cost of goods sold</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290,000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 Selling</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28,000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 Administrative</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35,000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7"/>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 Other</a:t>
                      </a:r>
                      <a:endParaRPr kumimoji="0" lang="en-GB" sz="1600" b="0"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sng" strike="noStrike" cap="none" normalizeH="0" baseline="0">
                          <a:ln>
                            <a:noFill/>
                          </a:ln>
                          <a:solidFill>
                            <a:schemeClr val="tx1"/>
                          </a:solidFill>
                          <a:effectLst/>
                          <a:latin typeface="Arial" charset="0"/>
                          <a:cs typeface="Arial" charset="0"/>
                        </a:rPr>
                        <a:t> 12,000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 Total expenses</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dirty="0">
                          <a:ln>
                            <a:noFill/>
                          </a:ln>
                          <a:solidFill>
                            <a:schemeClr val="tx1"/>
                          </a:solidFill>
                          <a:effectLst/>
                          <a:latin typeface="Arial" charset="0"/>
                          <a:cs typeface="Arial" charset="0"/>
                        </a:rPr>
                        <a:t>365,000</a:t>
                      </a:r>
                    </a:p>
                  </a:txBody>
                  <a:tcPr horzOverflow="overflow"/>
                </a:tc>
                <a:extLst>
                  <a:ext uri="{0D108BD9-81ED-4DB2-BD59-A6C34878D82A}">
                    <a16:rowId xmlns:a16="http://schemas.microsoft.com/office/drawing/2014/main" val="10009"/>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 Income before taxes</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dirty="0">
                          <a:ln>
                            <a:noFill/>
                          </a:ln>
                          <a:solidFill>
                            <a:schemeClr val="tx1"/>
                          </a:solidFill>
                          <a:effectLst/>
                          <a:latin typeface="Arial" charset="0"/>
                          <a:cs typeface="Arial" charset="0"/>
                        </a:rPr>
                        <a:t>143,500</a:t>
                      </a:r>
                    </a:p>
                  </a:txBody>
                  <a:tcPr horzOverflow="overflow"/>
                </a:tc>
                <a:extLst>
                  <a:ext uri="{0D108BD9-81ED-4DB2-BD59-A6C34878D82A}">
                    <a16:rowId xmlns:a16="http://schemas.microsoft.com/office/drawing/2014/main" val="1001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 Taxes for year</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dirty="0">
                          <a:ln>
                            <a:noFill/>
                          </a:ln>
                          <a:solidFill>
                            <a:schemeClr val="tx1"/>
                          </a:solidFill>
                          <a:effectLst/>
                          <a:latin typeface="Arial" charset="0"/>
                          <a:cs typeface="Arial" charset="0"/>
                        </a:rPr>
                        <a:t>71,750</a:t>
                      </a:r>
                    </a:p>
                  </a:txBody>
                  <a:tcPr horzOverflow="overflow"/>
                </a:tc>
                <a:extLst>
                  <a:ext uri="{0D108BD9-81ED-4DB2-BD59-A6C34878D82A}">
                    <a16:rowId xmlns:a16="http://schemas.microsoft.com/office/drawing/2014/main" val="1001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none" strike="noStrike" cap="none" normalizeH="0" baseline="0">
                          <a:ln>
                            <a:noFill/>
                          </a:ln>
                          <a:solidFill>
                            <a:schemeClr val="tx1"/>
                          </a:solidFill>
                          <a:effectLst/>
                          <a:latin typeface="Arial" charset="0"/>
                          <a:cs typeface="Arial" charset="0"/>
                        </a:rPr>
                        <a:t> </a:t>
                      </a:r>
                      <a:r>
                        <a:rPr kumimoji="0" lang="en-GB" sz="1600" b="1" i="0" u="none" strike="noStrike" cap="none" normalizeH="0" baseline="0">
                          <a:ln>
                            <a:noFill/>
                          </a:ln>
                          <a:solidFill>
                            <a:schemeClr val="tx1"/>
                          </a:solidFill>
                          <a:effectLst/>
                          <a:latin typeface="Arial" charset="0"/>
                          <a:cs typeface="Arial" charset="0"/>
                        </a:rPr>
                        <a:t>Net (income) profit after taxes for year</a:t>
                      </a:r>
                      <a:endParaRPr kumimoji="0" lang="en-GB" sz="1600" b="1" i="0" u="sng"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6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600" b="0" i="0" u="sng" strike="noStrike" cap="none" normalizeH="0" baseline="0" dirty="0">
                          <a:ln>
                            <a:noFill/>
                          </a:ln>
                          <a:solidFill>
                            <a:schemeClr val="tx1"/>
                          </a:solidFill>
                          <a:effectLst/>
                          <a:latin typeface="Arial" charset="0"/>
                          <a:cs typeface="Arial" charset="0"/>
                        </a:rPr>
                        <a:t>71,750</a:t>
                      </a:r>
                      <a:endParaRPr kumimoji="0" lang="en-GB" sz="16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12"/>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68</a:t>
            </a:fld>
            <a:endParaRPr lang="en-GB"/>
          </a:p>
        </p:txBody>
      </p:sp>
      <p:sp>
        <p:nvSpPr>
          <p:cNvPr id="3" name="Date Placeholder 2">
            <a:extLst>
              <a:ext uri="{FF2B5EF4-FFF2-40B4-BE49-F238E27FC236}">
                <a16:creationId xmlns:a16="http://schemas.microsoft.com/office/drawing/2014/main" id="{2F1F8C1E-D509-4703-894E-590B261F568A}"/>
              </a:ext>
            </a:extLst>
          </p:cNvPr>
          <p:cNvSpPr>
            <a:spLocks noGrp="1"/>
          </p:cNvSpPr>
          <p:nvPr>
            <p:ph type="dt" sz="half" idx="10"/>
          </p:nvPr>
        </p:nvSpPr>
        <p:spPr/>
        <p:txBody>
          <a:bodyPr/>
          <a:lstStyle/>
          <a:p>
            <a:fld id="{A38A4005-5199-4245-BE55-7F46FBA4C6E5}" type="datetime1">
              <a:rPr lang="en-GB" smtClean="0"/>
              <a:t>21/02/2023</a:t>
            </a:fld>
            <a:endParaRPr lang="en-GB"/>
          </a:p>
        </p:txBody>
      </p:sp>
    </p:spTree>
    <p:extLst>
      <p:ext uri="{BB962C8B-B14F-4D97-AF65-F5344CB8AC3E}">
        <p14:creationId xmlns:p14="http://schemas.microsoft.com/office/powerpoint/2010/main" val="264911102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Income Statements</a:t>
            </a:r>
            <a:endParaRPr lang="en-US" dirty="0"/>
          </a:p>
        </p:txBody>
      </p:sp>
      <p:sp>
        <p:nvSpPr>
          <p:cNvPr id="3" name="Content Placeholder 2"/>
          <p:cNvSpPr>
            <a:spLocks noGrp="1"/>
          </p:cNvSpPr>
          <p:nvPr>
            <p:ph idx="1"/>
          </p:nvPr>
        </p:nvSpPr>
        <p:spPr/>
        <p:txBody>
          <a:bodyPr>
            <a:normAutofit lnSpcReduction="10000"/>
          </a:bodyPr>
          <a:lstStyle/>
          <a:p>
            <a:pPr>
              <a:lnSpc>
                <a:spcPct val="80000"/>
              </a:lnSpc>
            </a:pPr>
            <a:r>
              <a:rPr lang="en-GB" altLang="en-US" sz="6600" dirty="0"/>
              <a:t>Like balance sheets, income statement can be used to identify certain trends when analysed over several periods of time.</a:t>
            </a:r>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t>69</a:t>
            </a:fld>
            <a:endParaRPr lang="en-GB"/>
          </a:p>
        </p:txBody>
      </p:sp>
      <p:sp>
        <p:nvSpPr>
          <p:cNvPr id="5" name="Date Placeholder 4">
            <a:extLst>
              <a:ext uri="{FF2B5EF4-FFF2-40B4-BE49-F238E27FC236}">
                <a16:creationId xmlns:a16="http://schemas.microsoft.com/office/drawing/2014/main" id="{701AD221-A14E-46AE-8C82-DC3B9C0C0882}"/>
              </a:ext>
            </a:extLst>
          </p:cNvPr>
          <p:cNvSpPr>
            <a:spLocks noGrp="1"/>
          </p:cNvSpPr>
          <p:nvPr>
            <p:ph type="dt" sz="half" idx="10"/>
          </p:nvPr>
        </p:nvSpPr>
        <p:spPr/>
        <p:txBody>
          <a:bodyPr/>
          <a:lstStyle/>
          <a:p>
            <a:fld id="{B5FC31FD-2075-496E-8B58-E99CA04B9CA8}" type="datetime1">
              <a:rPr lang="en-GB" smtClean="0"/>
              <a:t>21/02/2023</a:t>
            </a:fld>
            <a:endParaRPr lang="en-GB"/>
          </a:p>
        </p:txBody>
      </p:sp>
    </p:spTree>
    <p:extLst>
      <p:ext uri="{BB962C8B-B14F-4D97-AF65-F5344CB8AC3E}">
        <p14:creationId xmlns:p14="http://schemas.microsoft.com/office/powerpoint/2010/main" val="1349771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Income Statements</a:t>
            </a:r>
            <a:endParaRPr lang="en-US" dirty="0"/>
          </a:p>
        </p:txBody>
      </p:sp>
      <p:sp>
        <p:nvSpPr>
          <p:cNvPr id="3" name="Content Placeholder 2"/>
          <p:cNvSpPr>
            <a:spLocks noGrp="1"/>
          </p:cNvSpPr>
          <p:nvPr>
            <p:ph idx="1"/>
          </p:nvPr>
        </p:nvSpPr>
        <p:spPr/>
        <p:txBody>
          <a:bodyPr>
            <a:normAutofit/>
          </a:bodyPr>
          <a:lstStyle/>
          <a:p>
            <a:pPr>
              <a:lnSpc>
                <a:spcPct val="80000"/>
              </a:lnSpc>
            </a:pPr>
            <a:r>
              <a:rPr lang="en-GB" altLang="en-US" sz="6000" dirty="0"/>
              <a:t>The balance sheet is a </a:t>
            </a:r>
            <a:r>
              <a:rPr lang="en-GB" altLang="en-US" sz="6000" b="1" dirty="0"/>
              <a:t>point-in-time description.</a:t>
            </a:r>
          </a:p>
          <a:p>
            <a:pPr>
              <a:lnSpc>
                <a:spcPct val="80000"/>
              </a:lnSpc>
              <a:buNone/>
            </a:pPr>
            <a:endParaRPr lang="en-GB" altLang="en-US" sz="6000" dirty="0"/>
          </a:p>
          <a:p>
            <a:pPr>
              <a:lnSpc>
                <a:spcPct val="80000"/>
              </a:lnSpc>
            </a:pPr>
            <a:r>
              <a:rPr lang="en-GB" altLang="en-US" sz="6000" dirty="0"/>
              <a:t>The income statement is a </a:t>
            </a:r>
            <a:r>
              <a:rPr lang="en-GB" altLang="en-US" sz="6000" b="1" dirty="0"/>
              <a:t>period of time description.</a:t>
            </a:r>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t>70</a:t>
            </a:fld>
            <a:endParaRPr lang="en-GB"/>
          </a:p>
        </p:txBody>
      </p:sp>
      <p:sp>
        <p:nvSpPr>
          <p:cNvPr id="5" name="Date Placeholder 4">
            <a:extLst>
              <a:ext uri="{FF2B5EF4-FFF2-40B4-BE49-F238E27FC236}">
                <a16:creationId xmlns:a16="http://schemas.microsoft.com/office/drawing/2014/main" id="{701AD221-A14E-46AE-8C82-DC3B9C0C0882}"/>
              </a:ext>
            </a:extLst>
          </p:cNvPr>
          <p:cNvSpPr>
            <a:spLocks noGrp="1"/>
          </p:cNvSpPr>
          <p:nvPr>
            <p:ph type="dt" sz="half" idx="10"/>
          </p:nvPr>
        </p:nvSpPr>
        <p:spPr/>
        <p:txBody>
          <a:bodyPr/>
          <a:lstStyle/>
          <a:p>
            <a:fld id="{B5FC31FD-2075-496E-8B58-E99CA04B9CA8}" type="datetime1">
              <a:rPr lang="en-GB" smtClean="0"/>
              <a:t>21/02/2023</a:t>
            </a:fld>
            <a:endParaRPr lang="en-GB"/>
          </a:p>
        </p:txBody>
      </p:sp>
    </p:spTree>
    <p:extLst>
      <p:ext uri="{BB962C8B-B14F-4D97-AF65-F5344CB8AC3E}">
        <p14:creationId xmlns:p14="http://schemas.microsoft.com/office/powerpoint/2010/main" val="15399710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Income Statements</a:t>
            </a:r>
            <a:endParaRPr lang="en-US" dirty="0"/>
          </a:p>
        </p:txBody>
      </p:sp>
      <p:sp>
        <p:nvSpPr>
          <p:cNvPr id="3" name="Content Placeholder 2"/>
          <p:cNvSpPr>
            <a:spLocks noGrp="1"/>
          </p:cNvSpPr>
          <p:nvPr>
            <p:ph idx="1"/>
          </p:nvPr>
        </p:nvSpPr>
        <p:spPr/>
        <p:txBody>
          <a:bodyPr>
            <a:normAutofit fontScale="92500"/>
          </a:bodyPr>
          <a:lstStyle/>
          <a:p>
            <a:pPr>
              <a:lnSpc>
                <a:spcPct val="80000"/>
              </a:lnSpc>
            </a:pPr>
            <a:r>
              <a:rPr lang="en-GB" altLang="en-US" sz="7200" dirty="0"/>
              <a:t>The income statement is a report on the </a:t>
            </a:r>
            <a:r>
              <a:rPr lang="en-GB" altLang="en-US" sz="7200" b="1" dirty="0"/>
              <a:t>profitability of business operations during a specified period of time.</a:t>
            </a:r>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t>71</a:t>
            </a:fld>
            <a:endParaRPr lang="en-GB"/>
          </a:p>
        </p:txBody>
      </p:sp>
      <p:sp>
        <p:nvSpPr>
          <p:cNvPr id="5" name="Date Placeholder 4">
            <a:extLst>
              <a:ext uri="{FF2B5EF4-FFF2-40B4-BE49-F238E27FC236}">
                <a16:creationId xmlns:a16="http://schemas.microsoft.com/office/drawing/2014/main" id="{701AD221-A14E-46AE-8C82-DC3B9C0C0882}"/>
              </a:ext>
            </a:extLst>
          </p:cNvPr>
          <p:cNvSpPr>
            <a:spLocks noGrp="1"/>
          </p:cNvSpPr>
          <p:nvPr>
            <p:ph type="dt" sz="half" idx="10"/>
          </p:nvPr>
        </p:nvSpPr>
        <p:spPr/>
        <p:txBody>
          <a:bodyPr/>
          <a:lstStyle/>
          <a:p>
            <a:fld id="{B5FC31FD-2075-496E-8B58-E99CA04B9CA8}" type="datetime1">
              <a:rPr lang="en-GB" smtClean="0"/>
              <a:t>21/02/2023</a:t>
            </a:fld>
            <a:endParaRPr lang="en-GB"/>
          </a:p>
        </p:txBody>
      </p:sp>
    </p:spTree>
    <p:extLst>
      <p:ext uri="{BB962C8B-B14F-4D97-AF65-F5344CB8AC3E}">
        <p14:creationId xmlns:p14="http://schemas.microsoft.com/office/powerpoint/2010/main" val="40996596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Income Statements</a:t>
            </a:r>
            <a:endParaRPr lang="en-US" dirty="0"/>
          </a:p>
        </p:txBody>
      </p:sp>
      <p:sp>
        <p:nvSpPr>
          <p:cNvPr id="3" name="Content Placeholder 2"/>
          <p:cNvSpPr>
            <a:spLocks noGrp="1"/>
          </p:cNvSpPr>
          <p:nvPr>
            <p:ph idx="1"/>
          </p:nvPr>
        </p:nvSpPr>
        <p:spPr/>
        <p:txBody>
          <a:bodyPr>
            <a:normAutofit/>
          </a:bodyPr>
          <a:lstStyle/>
          <a:p>
            <a:r>
              <a:rPr lang="en-GB" altLang="en-US" sz="4800" b="1" dirty="0"/>
              <a:t>Income statements are usually prepared for the period of one year.</a:t>
            </a:r>
          </a:p>
          <a:p>
            <a:endParaRPr lang="en-GB" altLang="en-US" sz="4800" b="1" dirty="0"/>
          </a:p>
          <a:p>
            <a:r>
              <a:rPr lang="en-GB" altLang="en-US" sz="4800" b="1" dirty="0"/>
              <a:t>However, they may be prepared quarterly or monthly as well.</a:t>
            </a:r>
            <a:endParaRPr 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72</a:t>
            </a:fld>
            <a:endParaRPr lang="en-GB"/>
          </a:p>
        </p:txBody>
      </p:sp>
      <p:sp>
        <p:nvSpPr>
          <p:cNvPr id="5" name="Date Placeholder 4">
            <a:extLst>
              <a:ext uri="{FF2B5EF4-FFF2-40B4-BE49-F238E27FC236}">
                <a16:creationId xmlns:a16="http://schemas.microsoft.com/office/drawing/2014/main" id="{1BF9845D-F7F8-4022-8F86-6E0E52D21CA3}"/>
              </a:ext>
            </a:extLst>
          </p:cNvPr>
          <p:cNvSpPr>
            <a:spLocks noGrp="1"/>
          </p:cNvSpPr>
          <p:nvPr>
            <p:ph type="dt" sz="half" idx="10"/>
          </p:nvPr>
        </p:nvSpPr>
        <p:spPr/>
        <p:txBody>
          <a:bodyPr/>
          <a:lstStyle/>
          <a:p>
            <a:fld id="{39E024DC-50EB-4EBE-BCAA-CC88A48B7078}" type="datetime1">
              <a:rPr lang="en-GB" smtClean="0"/>
              <a:t>21/02/2023</a:t>
            </a:fld>
            <a:endParaRPr lang="en-GB"/>
          </a:p>
        </p:txBody>
      </p:sp>
    </p:spTree>
    <p:extLst>
      <p:ext uri="{BB962C8B-B14F-4D97-AF65-F5344CB8AC3E}">
        <p14:creationId xmlns:p14="http://schemas.microsoft.com/office/powerpoint/2010/main" val="32373459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Revenues</a:t>
            </a:r>
            <a:endParaRPr lang="en-US" dirty="0"/>
          </a:p>
        </p:txBody>
      </p:sp>
      <p:sp>
        <p:nvSpPr>
          <p:cNvPr id="3" name="Content Placeholder 2"/>
          <p:cNvSpPr>
            <a:spLocks noGrp="1"/>
          </p:cNvSpPr>
          <p:nvPr>
            <p:ph idx="1"/>
          </p:nvPr>
        </p:nvSpPr>
        <p:spPr/>
        <p:txBody>
          <a:bodyPr>
            <a:normAutofit fontScale="92500" lnSpcReduction="20000"/>
          </a:bodyPr>
          <a:lstStyle/>
          <a:p>
            <a:r>
              <a:rPr lang="en-GB" altLang="en-US" sz="3900" b="1" i="1" dirty="0"/>
              <a:t>Revenues</a:t>
            </a:r>
            <a:r>
              <a:rPr lang="en-GB" altLang="en-US" sz="3900" b="1" dirty="0"/>
              <a:t> include </a:t>
            </a:r>
            <a:r>
              <a:rPr lang="en-GB" altLang="en-US" sz="3900" b="1" i="1" dirty="0"/>
              <a:t>all sales</a:t>
            </a:r>
            <a:r>
              <a:rPr lang="en-GB" altLang="en-US" sz="3900" b="1" dirty="0"/>
              <a:t> and </a:t>
            </a:r>
            <a:r>
              <a:rPr lang="en-GB" altLang="en-US" sz="3900" b="1" i="1" dirty="0"/>
              <a:t>interest revenue</a:t>
            </a:r>
            <a:r>
              <a:rPr lang="en-GB" altLang="en-US" sz="3900" b="1" dirty="0"/>
              <a:t> that the company has received in the past accounting period.</a:t>
            </a:r>
          </a:p>
          <a:p>
            <a:pPr>
              <a:buNone/>
            </a:pPr>
            <a:endParaRPr lang="en-GB" altLang="en-US" sz="3900" b="1" dirty="0"/>
          </a:p>
          <a:p>
            <a:r>
              <a:rPr lang="en-GB" altLang="en-US" sz="3900" b="1" dirty="0"/>
              <a:t>Revenue is the value of what is received from goods sold, services rendered, and other financial sources.</a:t>
            </a:r>
          </a:p>
          <a:p>
            <a:pPr>
              <a:buNone/>
            </a:pPr>
            <a:endParaRPr lang="en-GB" altLang="en-US" sz="3900" b="1" dirty="0"/>
          </a:p>
          <a:p>
            <a:r>
              <a:rPr lang="en-GB" altLang="en-US" sz="3900" b="1" dirty="0"/>
              <a:t>Note the terms </a:t>
            </a:r>
            <a:r>
              <a:rPr lang="en-GB" altLang="en-US" sz="3900" b="1" i="1" dirty="0"/>
              <a:t>revenue</a:t>
            </a:r>
            <a:r>
              <a:rPr lang="en-GB" altLang="en-US" sz="3900" b="1" dirty="0"/>
              <a:t> and </a:t>
            </a:r>
            <a:r>
              <a:rPr lang="en-GB" altLang="en-US" sz="3900" b="1" i="1" dirty="0"/>
              <a:t>sales.</a:t>
            </a:r>
            <a:endParaRPr lang="en-US" b="1" dirty="0"/>
          </a:p>
        </p:txBody>
      </p:sp>
      <p:sp>
        <p:nvSpPr>
          <p:cNvPr id="4" name="Slide Number Placeholder 3"/>
          <p:cNvSpPr>
            <a:spLocks noGrp="1"/>
          </p:cNvSpPr>
          <p:nvPr>
            <p:ph type="sldNum" sz="quarter" idx="12"/>
          </p:nvPr>
        </p:nvSpPr>
        <p:spPr/>
        <p:txBody>
          <a:bodyPr/>
          <a:lstStyle/>
          <a:p>
            <a:fld id="{7E50C373-F1D0-494F-8D6D-366C958B3429}" type="slidenum">
              <a:rPr lang="en-GB" smtClean="0"/>
              <a:t>73</a:t>
            </a:fld>
            <a:endParaRPr lang="en-GB"/>
          </a:p>
        </p:txBody>
      </p:sp>
      <p:sp>
        <p:nvSpPr>
          <p:cNvPr id="5" name="Date Placeholder 4">
            <a:extLst>
              <a:ext uri="{FF2B5EF4-FFF2-40B4-BE49-F238E27FC236}">
                <a16:creationId xmlns:a16="http://schemas.microsoft.com/office/drawing/2014/main" id="{DA58DFFE-FC3B-4C65-A643-C8BBB07AB86F}"/>
              </a:ext>
            </a:extLst>
          </p:cNvPr>
          <p:cNvSpPr>
            <a:spLocks noGrp="1"/>
          </p:cNvSpPr>
          <p:nvPr>
            <p:ph type="dt" sz="half" idx="10"/>
          </p:nvPr>
        </p:nvSpPr>
        <p:spPr/>
        <p:txBody>
          <a:bodyPr/>
          <a:lstStyle/>
          <a:p>
            <a:fld id="{AFE4FC5B-D66C-4741-A9CB-E6687AF3C77C}" type="datetime1">
              <a:rPr lang="en-GB" smtClean="0"/>
              <a:t>21/02/2023</a:t>
            </a:fld>
            <a:endParaRPr lang="en-GB"/>
          </a:p>
        </p:txBody>
      </p:sp>
    </p:spTree>
    <p:extLst>
      <p:ext uri="{BB962C8B-B14F-4D97-AF65-F5344CB8AC3E}">
        <p14:creationId xmlns:p14="http://schemas.microsoft.com/office/powerpoint/2010/main" val="16305144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Revenues</a:t>
            </a:r>
            <a:endParaRPr lang="en-US" dirty="0"/>
          </a:p>
        </p:txBody>
      </p:sp>
      <p:sp>
        <p:nvSpPr>
          <p:cNvPr id="3" name="Content Placeholder 2"/>
          <p:cNvSpPr>
            <a:spLocks noGrp="1"/>
          </p:cNvSpPr>
          <p:nvPr>
            <p:ph idx="1"/>
          </p:nvPr>
        </p:nvSpPr>
        <p:spPr/>
        <p:txBody>
          <a:bodyPr>
            <a:normAutofit/>
          </a:bodyPr>
          <a:lstStyle/>
          <a:p>
            <a:pPr marL="0" indent="0">
              <a:buNone/>
            </a:pPr>
            <a:r>
              <a:rPr lang="en-GB" altLang="en-US" sz="4000" b="1" dirty="0"/>
              <a:t>Most revenue (money coming in to the firm)</a:t>
            </a:r>
            <a:r>
              <a:rPr lang="en-GB" altLang="en-US" sz="4000" dirty="0"/>
              <a:t> comes from sales, but there could be other sources of revenue such as</a:t>
            </a:r>
          </a:p>
          <a:p>
            <a:r>
              <a:rPr lang="en-GB" altLang="en-US" sz="4000" b="1" i="1" dirty="0"/>
              <a:t>rents received</a:t>
            </a:r>
            <a:r>
              <a:rPr lang="en-GB" altLang="en-US" sz="4000" dirty="0"/>
              <a:t>, </a:t>
            </a:r>
          </a:p>
          <a:p>
            <a:r>
              <a:rPr lang="en-GB" altLang="en-US" sz="4000" b="1" i="1" dirty="0"/>
              <a:t>money paid to the firm for use of its patents</a:t>
            </a:r>
            <a:r>
              <a:rPr lang="en-GB" altLang="en-US" sz="4000" dirty="0"/>
              <a:t>, or </a:t>
            </a:r>
          </a:p>
          <a:p>
            <a:r>
              <a:rPr lang="en-GB" altLang="en-US" sz="4000" b="1" i="1" dirty="0"/>
              <a:t>interest earned</a:t>
            </a:r>
            <a:r>
              <a:rPr lang="en-GB" altLang="en-US" sz="4000" dirty="0"/>
              <a:t>.</a:t>
            </a:r>
            <a:endParaRPr lang="en-US" sz="4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74</a:t>
            </a:fld>
            <a:endParaRPr lang="en-GB"/>
          </a:p>
        </p:txBody>
      </p:sp>
      <p:sp>
        <p:nvSpPr>
          <p:cNvPr id="5" name="Date Placeholder 4">
            <a:extLst>
              <a:ext uri="{FF2B5EF4-FFF2-40B4-BE49-F238E27FC236}">
                <a16:creationId xmlns:a16="http://schemas.microsoft.com/office/drawing/2014/main" id="{843FE270-5441-4E2E-AB1A-B76D64844EA6}"/>
              </a:ext>
            </a:extLst>
          </p:cNvPr>
          <p:cNvSpPr>
            <a:spLocks noGrp="1"/>
          </p:cNvSpPr>
          <p:nvPr>
            <p:ph type="dt" sz="half" idx="10"/>
          </p:nvPr>
        </p:nvSpPr>
        <p:spPr/>
        <p:txBody>
          <a:bodyPr/>
          <a:lstStyle/>
          <a:p>
            <a:fld id="{4DA3E420-9930-4004-BD15-543F48900F4E}" type="datetime1">
              <a:rPr lang="en-GB" smtClean="0"/>
              <a:t>21/02/2023</a:t>
            </a:fld>
            <a:endParaRPr lang="en-GB"/>
          </a:p>
        </p:txBody>
      </p:sp>
    </p:spTree>
    <p:extLst>
      <p:ext uri="{BB962C8B-B14F-4D97-AF65-F5344CB8AC3E}">
        <p14:creationId xmlns:p14="http://schemas.microsoft.com/office/powerpoint/2010/main" val="10558127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Revenues</a:t>
            </a:r>
            <a:endParaRPr lang="en-US" dirty="0"/>
          </a:p>
        </p:txBody>
      </p:sp>
      <p:sp>
        <p:nvSpPr>
          <p:cNvPr id="3" name="Content Placeholder 2"/>
          <p:cNvSpPr>
            <a:spLocks noGrp="1"/>
          </p:cNvSpPr>
          <p:nvPr>
            <p:ph idx="1"/>
          </p:nvPr>
        </p:nvSpPr>
        <p:spPr/>
        <p:txBody>
          <a:bodyPr>
            <a:normAutofit/>
          </a:bodyPr>
          <a:lstStyle/>
          <a:p>
            <a:r>
              <a:rPr lang="en-GB" altLang="en-US" sz="4400" dirty="0"/>
              <a:t>It is important not to confuse the terms </a:t>
            </a:r>
            <a:r>
              <a:rPr lang="en-GB" altLang="en-US" sz="4400" b="1" i="1" dirty="0"/>
              <a:t>revenue</a:t>
            </a:r>
            <a:r>
              <a:rPr lang="en-GB" altLang="en-US" sz="4400" dirty="0"/>
              <a:t> and </a:t>
            </a:r>
            <a:r>
              <a:rPr lang="en-GB" altLang="en-US" sz="4400" b="1" i="1" dirty="0"/>
              <a:t>income</a:t>
            </a:r>
            <a:r>
              <a:rPr lang="en-GB" altLang="en-US" sz="4400" dirty="0"/>
              <a:t>.</a:t>
            </a:r>
          </a:p>
          <a:p>
            <a:pPr>
              <a:buNone/>
            </a:pPr>
            <a:endParaRPr lang="en-GB" altLang="en-US" sz="4400" dirty="0"/>
          </a:p>
          <a:p>
            <a:r>
              <a:rPr lang="en-GB" altLang="en-US" sz="4400" dirty="0"/>
              <a:t>Some people use them as if they are synonymous.</a:t>
            </a:r>
            <a:endParaRPr lang="en-US" sz="44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75</a:t>
            </a:fld>
            <a:endParaRPr lang="en-GB"/>
          </a:p>
        </p:txBody>
      </p:sp>
      <p:sp>
        <p:nvSpPr>
          <p:cNvPr id="5" name="Date Placeholder 4">
            <a:extLst>
              <a:ext uri="{FF2B5EF4-FFF2-40B4-BE49-F238E27FC236}">
                <a16:creationId xmlns:a16="http://schemas.microsoft.com/office/drawing/2014/main" id="{843FE270-5441-4E2E-AB1A-B76D64844EA6}"/>
              </a:ext>
            </a:extLst>
          </p:cNvPr>
          <p:cNvSpPr>
            <a:spLocks noGrp="1"/>
          </p:cNvSpPr>
          <p:nvPr>
            <p:ph type="dt" sz="half" idx="10"/>
          </p:nvPr>
        </p:nvSpPr>
        <p:spPr/>
        <p:txBody>
          <a:bodyPr/>
          <a:lstStyle/>
          <a:p>
            <a:fld id="{4DA3E420-9930-4004-BD15-543F48900F4E}" type="datetime1">
              <a:rPr lang="en-GB" smtClean="0"/>
              <a:t>21/02/2023</a:t>
            </a:fld>
            <a:endParaRPr lang="en-GB"/>
          </a:p>
        </p:txBody>
      </p:sp>
    </p:spTree>
    <p:extLst>
      <p:ext uri="{BB962C8B-B14F-4D97-AF65-F5344CB8AC3E}">
        <p14:creationId xmlns:p14="http://schemas.microsoft.com/office/powerpoint/2010/main" val="33162423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Revenue</a:t>
            </a:r>
            <a:r>
              <a:rPr lang="en-GB" altLang="en-US" dirty="0"/>
              <a:t> and </a:t>
            </a:r>
            <a:r>
              <a:rPr lang="en-GB" altLang="en-US" b="1" dirty="0"/>
              <a:t>Income</a:t>
            </a:r>
            <a:endParaRPr lang="en-US" dirty="0"/>
          </a:p>
        </p:txBody>
      </p:sp>
      <p:sp>
        <p:nvSpPr>
          <p:cNvPr id="3" name="Content Placeholder 2"/>
          <p:cNvSpPr>
            <a:spLocks noGrp="1"/>
          </p:cNvSpPr>
          <p:nvPr>
            <p:ph idx="1"/>
          </p:nvPr>
        </p:nvSpPr>
        <p:spPr/>
        <p:txBody>
          <a:bodyPr>
            <a:normAutofit lnSpcReduction="10000"/>
          </a:bodyPr>
          <a:lstStyle/>
          <a:p>
            <a:r>
              <a:rPr lang="en-GB" altLang="en-US" sz="3600" dirty="0"/>
              <a:t>But a glance at the income statement shows that</a:t>
            </a:r>
          </a:p>
          <a:p>
            <a:pPr>
              <a:buNone/>
            </a:pPr>
            <a:endParaRPr lang="en-GB" altLang="en-US" sz="3600" dirty="0"/>
          </a:p>
          <a:p>
            <a:r>
              <a:rPr lang="en-GB" altLang="en-US" sz="3600" b="1" i="1" dirty="0"/>
              <a:t>revenue is at the top of the statement</a:t>
            </a:r>
            <a:r>
              <a:rPr lang="en-GB" altLang="en-US" sz="3600" dirty="0"/>
              <a:t> and </a:t>
            </a:r>
            <a:r>
              <a:rPr lang="en-GB" altLang="en-US" sz="3600" b="1" i="1" dirty="0"/>
              <a:t>income is at the bottom</a:t>
            </a:r>
            <a:r>
              <a:rPr lang="en-GB" altLang="en-US" sz="3600" dirty="0"/>
              <a:t>.</a:t>
            </a:r>
          </a:p>
          <a:p>
            <a:pPr>
              <a:buNone/>
            </a:pPr>
            <a:endParaRPr lang="en-GB" altLang="en-US" sz="3600" dirty="0"/>
          </a:p>
          <a:p>
            <a:r>
              <a:rPr lang="en-GB" altLang="en-US" sz="3600" b="1" i="1" dirty="0"/>
              <a:t>Net income</a:t>
            </a:r>
            <a:r>
              <a:rPr lang="en-GB" altLang="en-US" sz="3600" dirty="0"/>
              <a:t> is revenue minus sales returns, costs, expenses and taxes.</a:t>
            </a:r>
            <a:endParaRPr 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76</a:t>
            </a:fld>
            <a:endParaRPr lang="en-GB"/>
          </a:p>
        </p:txBody>
      </p:sp>
      <p:sp>
        <p:nvSpPr>
          <p:cNvPr id="5" name="Date Placeholder 4">
            <a:extLst>
              <a:ext uri="{FF2B5EF4-FFF2-40B4-BE49-F238E27FC236}">
                <a16:creationId xmlns:a16="http://schemas.microsoft.com/office/drawing/2014/main" id="{3CB48726-5239-452E-A313-F9EA488A9941}"/>
              </a:ext>
            </a:extLst>
          </p:cNvPr>
          <p:cNvSpPr>
            <a:spLocks noGrp="1"/>
          </p:cNvSpPr>
          <p:nvPr>
            <p:ph type="dt" sz="half" idx="10"/>
          </p:nvPr>
        </p:nvSpPr>
        <p:spPr/>
        <p:txBody>
          <a:bodyPr/>
          <a:lstStyle/>
          <a:p>
            <a:fld id="{355F204A-40ED-450E-80F5-1A91ED814A5D}" type="datetime1">
              <a:rPr lang="en-GB" smtClean="0"/>
              <a:t>21/02/2023</a:t>
            </a:fld>
            <a:endParaRPr lang="en-GB"/>
          </a:p>
        </p:txBody>
      </p:sp>
    </p:spTree>
    <p:extLst>
      <p:ext uri="{BB962C8B-B14F-4D97-AF65-F5344CB8AC3E}">
        <p14:creationId xmlns:p14="http://schemas.microsoft.com/office/powerpoint/2010/main" val="33895411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Expenses</a:t>
            </a:r>
            <a:endParaRPr lang="en-US" dirty="0"/>
          </a:p>
        </p:txBody>
      </p:sp>
      <p:sp>
        <p:nvSpPr>
          <p:cNvPr id="3" name="Content Placeholder 2"/>
          <p:cNvSpPr>
            <a:spLocks noGrp="1"/>
          </p:cNvSpPr>
          <p:nvPr>
            <p:ph idx="1"/>
          </p:nvPr>
        </p:nvSpPr>
        <p:spPr/>
        <p:txBody>
          <a:bodyPr>
            <a:noAutofit/>
          </a:bodyPr>
          <a:lstStyle/>
          <a:p>
            <a:pPr>
              <a:lnSpc>
                <a:spcPct val="80000"/>
              </a:lnSpc>
            </a:pPr>
            <a:r>
              <a:rPr lang="en-GB" altLang="en-US" sz="6600" b="1" i="1" dirty="0"/>
              <a:t>Expenses</a:t>
            </a:r>
            <a:r>
              <a:rPr lang="en-GB" altLang="en-US" sz="6600" dirty="0"/>
              <a:t> on the Income Statement gives a summary of all expenses for the accounting period.</a:t>
            </a:r>
            <a:endParaRPr lang="en-GB" alt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77</a:t>
            </a:fld>
            <a:endParaRPr lang="en-GB"/>
          </a:p>
        </p:txBody>
      </p:sp>
      <p:sp>
        <p:nvSpPr>
          <p:cNvPr id="5" name="Date Placeholder 4">
            <a:extLst>
              <a:ext uri="{FF2B5EF4-FFF2-40B4-BE49-F238E27FC236}">
                <a16:creationId xmlns:a16="http://schemas.microsoft.com/office/drawing/2014/main" id="{083735B6-89F6-44F7-AED9-65C4DF3D02A4}"/>
              </a:ext>
            </a:extLst>
          </p:cNvPr>
          <p:cNvSpPr>
            <a:spLocks noGrp="1"/>
          </p:cNvSpPr>
          <p:nvPr>
            <p:ph type="dt" sz="half" idx="10"/>
          </p:nvPr>
        </p:nvSpPr>
        <p:spPr/>
        <p:txBody>
          <a:bodyPr/>
          <a:lstStyle/>
          <a:p>
            <a:fld id="{AC09F09A-4843-4077-AC6E-D4BF733CCA8F}" type="datetime1">
              <a:rPr lang="en-GB" smtClean="0"/>
              <a:t>21/02/2023</a:t>
            </a:fld>
            <a:endParaRPr lang="en-GB"/>
          </a:p>
        </p:txBody>
      </p:sp>
    </p:spTree>
    <p:extLst>
      <p:ext uri="{BB962C8B-B14F-4D97-AF65-F5344CB8AC3E}">
        <p14:creationId xmlns:p14="http://schemas.microsoft.com/office/powerpoint/2010/main" val="19679511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Expenses</a:t>
            </a:r>
            <a:endParaRPr lang="en-US" dirty="0"/>
          </a:p>
        </p:txBody>
      </p:sp>
      <p:sp>
        <p:nvSpPr>
          <p:cNvPr id="3" name="Content Placeholder 2"/>
          <p:cNvSpPr>
            <a:spLocks noGrp="1"/>
          </p:cNvSpPr>
          <p:nvPr>
            <p:ph idx="1"/>
          </p:nvPr>
        </p:nvSpPr>
        <p:spPr/>
        <p:txBody>
          <a:bodyPr>
            <a:noAutofit/>
          </a:bodyPr>
          <a:lstStyle/>
          <a:p>
            <a:pPr>
              <a:lnSpc>
                <a:spcPct val="80000"/>
              </a:lnSpc>
            </a:pPr>
            <a:r>
              <a:rPr lang="en-GB" altLang="en-US" sz="6600" b="1" dirty="0"/>
              <a:t>Some expense values for example, income taxes, and cost of goods sold are itemised in other statements.</a:t>
            </a:r>
            <a:endParaRPr lang="en-GB" altLang="en-US" sz="40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78</a:t>
            </a:fld>
            <a:endParaRPr lang="en-GB"/>
          </a:p>
        </p:txBody>
      </p:sp>
      <p:sp>
        <p:nvSpPr>
          <p:cNvPr id="5" name="Date Placeholder 4">
            <a:extLst>
              <a:ext uri="{FF2B5EF4-FFF2-40B4-BE49-F238E27FC236}">
                <a16:creationId xmlns:a16="http://schemas.microsoft.com/office/drawing/2014/main" id="{083735B6-89F6-44F7-AED9-65C4DF3D02A4}"/>
              </a:ext>
            </a:extLst>
          </p:cNvPr>
          <p:cNvSpPr>
            <a:spLocks noGrp="1"/>
          </p:cNvSpPr>
          <p:nvPr>
            <p:ph type="dt" sz="half" idx="10"/>
          </p:nvPr>
        </p:nvSpPr>
        <p:spPr/>
        <p:txBody>
          <a:bodyPr/>
          <a:lstStyle/>
          <a:p>
            <a:fld id="{AC09F09A-4843-4077-AC6E-D4BF733CCA8F}" type="datetime1">
              <a:rPr lang="en-GB" smtClean="0"/>
              <a:t>21/02/2023</a:t>
            </a:fld>
            <a:endParaRPr lang="en-GB"/>
          </a:p>
        </p:txBody>
      </p:sp>
    </p:spTree>
    <p:extLst>
      <p:ext uri="{BB962C8B-B14F-4D97-AF65-F5344CB8AC3E}">
        <p14:creationId xmlns:p14="http://schemas.microsoft.com/office/powerpoint/2010/main" val="5692303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Expenses</a:t>
            </a:r>
            <a:endParaRPr lang="en-US" dirty="0"/>
          </a:p>
        </p:txBody>
      </p:sp>
      <p:sp>
        <p:nvSpPr>
          <p:cNvPr id="3" name="Content Placeholder 2"/>
          <p:cNvSpPr>
            <a:spLocks noGrp="1"/>
          </p:cNvSpPr>
          <p:nvPr>
            <p:ph idx="1"/>
          </p:nvPr>
        </p:nvSpPr>
        <p:spPr>
          <a:xfrm>
            <a:off x="838200" y="1825624"/>
            <a:ext cx="10515600" cy="4530725"/>
          </a:xfrm>
        </p:spPr>
        <p:txBody>
          <a:bodyPr>
            <a:noAutofit/>
          </a:bodyPr>
          <a:lstStyle/>
          <a:p>
            <a:pPr>
              <a:lnSpc>
                <a:spcPct val="80000"/>
              </a:lnSpc>
            </a:pPr>
            <a:r>
              <a:rPr lang="en-GB" altLang="en-US" sz="6100" b="1" dirty="0"/>
              <a:t>Business profitability is measured on the income statement</a:t>
            </a:r>
            <a:r>
              <a:rPr lang="en-GB" altLang="en-US" sz="6100" dirty="0"/>
              <a:t> as the </a:t>
            </a:r>
            <a:r>
              <a:rPr lang="en-GB" altLang="en-US" sz="6100" b="1" i="1" dirty="0"/>
              <a:t>difference between the revenue and expense of the period.</a:t>
            </a:r>
            <a:endParaRPr lang="en-GB" altLang="en-US" sz="6100" dirty="0"/>
          </a:p>
        </p:txBody>
      </p:sp>
      <p:sp>
        <p:nvSpPr>
          <p:cNvPr id="4" name="Slide Number Placeholder 3"/>
          <p:cNvSpPr>
            <a:spLocks noGrp="1"/>
          </p:cNvSpPr>
          <p:nvPr>
            <p:ph type="sldNum" sz="quarter" idx="12"/>
          </p:nvPr>
        </p:nvSpPr>
        <p:spPr/>
        <p:txBody>
          <a:bodyPr/>
          <a:lstStyle/>
          <a:p>
            <a:fld id="{7E50C373-F1D0-494F-8D6D-366C958B3429}" type="slidenum">
              <a:rPr lang="en-GB" smtClean="0"/>
              <a:t>79</a:t>
            </a:fld>
            <a:endParaRPr lang="en-GB"/>
          </a:p>
        </p:txBody>
      </p:sp>
      <p:sp>
        <p:nvSpPr>
          <p:cNvPr id="5" name="Date Placeholder 4">
            <a:extLst>
              <a:ext uri="{FF2B5EF4-FFF2-40B4-BE49-F238E27FC236}">
                <a16:creationId xmlns:a16="http://schemas.microsoft.com/office/drawing/2014/main" id="{083735B6-89F6-44F7-AED9-65C4DF3D02A4}"/>
              </a:ext>
            </a:extLst>
          </p:cNvPr>
          <p:cNvSpPr>
            <a:spLocks noGrp="1"/>
          </p:cNvSpPr>
          <p:nvPr>
            <p:ph type="dt" sz="half" idx="10"/>
          </p:nvPr>
        </p:nvSpPr>
        <p:spPr/>
        <p:txBody>
          <a:bodyPr/>
          <a:lstStyle/>
          <a:p>
            <a:fld id="{AC09F09A-4843-4077-AC6E-D4BF733CCA8F}" type="datetime1">
              <a:rPr lang="en-GB" smtClean="0"/>
              <a:t>21/02/2023</a:t>
            </a:fld>
            <a:endParaRPr lang="en-GB"/>
          </a:p>
        </p:txBody>
      </p:sp>
    </p:spTree>
    <p:extLst>
      <p:ext uri="{BB962C8B-B14F-4D97-AF65-F5344CB8AC3E}">
        <p14:creationId xmlns:p14="http://schemas.microsoft.com/office/powerpoint/2010/main" val="18065185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Expenses</a:t>
            </a:r>
            <a:endParaRPr lang="en-US" dirty="0"/>
          </a:p>
        </p:txBody>
      </p:sp>
      <p:sp>
        <p:nvSpPr>
          <p:cNvPr id="3" name="Content Placeholder 2"/>
          <p:cNvSpPr>
            <a:spLocks noGrp="1"/>
          </p:cNvSpPr>
          <p:nvPr>
            <p:ph idx="1"/>
          </p:nvPr>
        </p:nvSpPr>
        <p:spPr/>
        <p:txBody>
          <a:bodyPr>
            <a:normAutofit/>
          </a:bodyPr>
          <a:lstStyle/>
          <a:p>
            <a:r>
              <a:rPr lang="en-GB" altLang="en-US" sz="7200" b="1" dirty="0"/>
              <a:t>The detailed revenues and expenses are itemised on the income statement.</a:t>
            </a:r>
            <a:endParaRPr lang="en-GB" altLang="en-US" b="1" dirty="0"/>
          </a:p>
        </p:txBody>
      </p:sp>
      <p:sp>
        <p:nvSpPr>
          <p:cNvPr id="4" name="Slide Number Placeholder 3"/>
          <p:cNvSpPr>
            <a:spLocks noGrp="1"/>
          </p:cNvSpPr>
          <p:nvPr>
            <p:ph type="sldNum" sz="quarter" idx="12"/>
          </p:nvPr>
        </p:nvSpPr>
        <p:spPr/>
        <p:txBody>
          <a:bodyPr/>
          <a:lstStyle/>
          <a:p>
            <a:fld id="{7E50C373-F1D0-494F-8D6D-366C958B3429}" type="slidenum">
              <a:rPr lang="en-GB" smtClean="0"/>
              <a:t>80</a:t>
            </a:fld>
            <a:endParaRPr lang="en-GB"/>
          </a:p>
        </p:txBody>
      </p:sp>
      <p:sp>
        <p:nvSpPr>
          <p:cNvPr id="5" name="Date Placeholder 4">
            <a:extLst>
              <a:ext uri="{FF2B5EF4-FFF2-40B4-BE49-F238E27FC236}">
                <a16:creationId xmlns:a16="http://schemas.microsoft.com/office/drawing/2014/main" id="{D7CB67AB-50EB-499B-AE47-76B723FB8E43}"/>
              </a:ext>
            </a:extLst>
          </p:cNvPr>
          <p:cNvSpPr>
            <a:spLocks noGrp="1"/>
          </p:cNvSpPr>
          <p:nvPr>
            <p:ph type="dt" sz="half" idx="10"/>
          </p:nvPr>
        </p:nvSpPr>
        <p:spPr/>
        <p:txBody>
          <a:bodyPr/>
          <a:lstStyle/>
          <a:p>
            <a:fld id="{CD50EE7D-3A2D-442D-B277-9C9ECC7D9E40}" type="datetime1">
              <a:rPr lang="en-GB" smtClean="0"/>
              <a:t>21/02/2023</a:t>
            </a:fld>
            <a:endParaRPr lang="en-GB"/>
          </a:p>
        </p:txBody>
      </p:sp>
    </p:spTree>
    <p:extLst>
      <p:ext uri="{BB962C8B-B14F-4D97-AF65-F5344CB8AC3E}">
        <p14:creationId xmlns:p14="http://schemas.microsoft.com/office/powerpoint/2010/main" val="19490843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Expenses</a:t>
            </a:r>
            <a:endParaRPr lang="en-US" dirty="0"/>
          </a:p>
        </p:txBody>
      </p:sp>
      <p:sp>
        <p:nvSpPr>
          <p:cNvPr id="3" name="Content Placeholder 2"/>
          <p:cNvSpPr>
            <a:spLocks noGrp="1"/>
          </p:cNvSpPr>
          <p:nvPr>
            <p:ph idx="1"/>
          </p:nvPr>
        </p:nvSpPr>
        <p:spPr/>
        <p:txBody>
          <a:bodyPr>
            <a:normAutofit/>
          </a:bodyPr>
          <a:lstStyle/>
          <a:p>
            <a:r>
              <a:rPr lang="en-GB" altLang="en-US" sz="4000" b="1" dirty="0"/>
              <a:t>If revenue exceeds expense, the “bottom line” is called </a:t>
            </a:r>
            <a:r>
              <a:rPr lang="en-GB" altLang="en-US" sz="4000" b="1" i="1" dirty="0"/>
              <a:t>net income (or net profit).</a:t>
            </a:r>
            <a:r>
              <a:rPr lang="en-GB" altLang="en-US" sz="4000" b="1" dirty="0"/>
              <a:t> </a:t>
            </a:r>
          </a:p>
          <a:p>
            <a:endParaRPr lang="en-GB" altLang="en-US" sz="4000" b="1" dirty="0"/>
          </a:p>
          <a:p>
            <a:r>
              <a:rPr lang="en-GB" altLang="en-US" sz="4000" b="1" dirty="0"/>
              <a:t>If the expense exceeds revenue, the difference is called </a:t>
            </a:r>
            <a:r>
              <a:rPr lang="en-GB" altLang="en-US" sz="4000" b="1" i="1" dirty="0"/>
              <a:t>net loss rather than net income</a:t>
            </a:r>
            <a:r>
              <a:rPr lang="en-GB" altLang="en-US" sz="4000" b="1" dirty="0"/>
              <a:t>.</a:t>
            </a:r>
            <a:endParaRPr lang="en-GB" altLang="en-US" b="1" dirty="0"/>
          </a:p>
        </p:txBody>
      </p:sp>
      <p:sp>
        <p:nvSpPr>
          <p:cNvPr id="4" name="Slide Number Placeholder 3"/>
          <p:cNvSpPr>
            <a:spLocks noGrp="1"/>
          </p:cNvSpPr>
          <p:nvPr>
            <p:ph type="sldNum" sz="quarter" idx="12"/>
          </p:nvPr>
        </p:nvSpPr>
        <p:spPr/>
        <p:txBody>
          <a:bodyPr/>
          <a:lstStyle/>
          <a:p>
            <a:fld id="{7E50C373-F1D0-494F-8D6D-366C958B3429}" type="slidenum">
              <a:rPr lang="en-GB" smtClean="0"/>
              <a:t>81</a:t>
            </a:fld>
            <a:endParaRPr lang="en-GB"/>
          </a:p>
        </p:txBody>
      </p:sp>
      <p:sp>
        <p:nvSpPr>
          <p:cNvPr id="5" name="Date Placeholder 4">
            <a:extLst>
              <a:ext uri="{FF2B5EF4-FFF2-40B4-BE49-F238E27FC236}">
                <a16:creationId xmlns:a16="http://schemas.microsoft.com/office/drawing/2014/main" id="{D7CB67AB-50EB-499B-AE47-76B723FB8E43}"/>
              </a:ext>
            </a:extLst>
          </p:cNvPr>
          <p:cNvSpPr>
            <a:spLocks noGrp="1"/>
          </p:cNvSpPr>
          <p:nvPr>
            <p:ph type="dt" sz="half" idx="10"/>
          </p:nvPr>
        </p:nvSpPr>
        <p:spPr/>
        <p:txBody>
          <a:bodyPr/>
          <a:lstStyle/>
          <a:p>
            <a:fld id="{CD50EE7D-3A2D-442D-B277-9C9ECC7D9E40}" type="datetime1">
              <a:rPr lang="en-GB" smtClean="0"/>
              <a:t>21/02/2023</a:t>
            </a:fld>
            <a:endParaRPr lang="en-GB"/>
          </a:p>
        </p:txBody>
      </p:sp>
    </p:spTree>
    <p:extLst>
      <p:ext uri="{BB962C8B-B14F-4D97-AF65-F5344CB8AC3E}">
        <p14:creationId xmlns:p14="http://schemas.microsoft.com/office/powerpoint/2010/main" val="15445906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Formulae for the Income Statement</a:t>
            </a:r>
            <a:endParaRPr lang="en-US" dirty="0"/>
          </a:p>
        </p:txBody>
      </p:sp>
      <p:sp>
        <p:nvSpPr>
          <p:cNvPr id="3" name="Content Placeholder 2"/>
          <p:cNvSpPr>
            <a:spLocks noGrp="1"/>
          </p:cNvSpPr>
          <p:nvPr>
            <p:ph idx="1"/>
          </p:nvPr>
        </p:nvSpPr>
        <p:spPr>
          <a:xfrm>
            <a:off x="557431" y="1825625"/>
            <a:ext cx="10796369" cy="4351338"/>
          </a:xfrm>
        </p:spPr>
        <p:txBody>
          <a:bodyPr/>
          <a:lstStyle/>
          <a:p>
            <a:r>
              <a:rPr lang="en-GB" altLang="en-US" b="1" dirty="0"/>
              <a:t>Revenues – Expenses = Profit (or Loss)</a:t>
            </a:r>
          </a:p>
          <a:p>
            <a:pPr>
              <a:buNone/>
            </a:pPr>
            <a:endParaRPr lang="en-GB" altLang="en-US" sz="1800" b="1" dirty="0"/>
          </a:p>
          <a:p>
            <a:r>
              <a:rPr lang="en-GB" altLang="en-US" b="1" dirty="0"/>
              <a:t>Revenue – Cost of goods sold = Gross margin (gross profit)</a:t>
            </a:r>
            <a:r>
              <a:rPr lang="en-GB" altLang="en-US" dirty="0"/>
              <a:t> </a:t>
            </a:r>
          </a:p>
          <a:p>
            <a:pPr>
              <a:buNone/>
            </a:pPr>
            <a:endParaRPr lang="en-GB" altLang="en-US" sz="1800" dirty="0"/>
          </a:p>
          <a:p>
            <a:r>
              <a:rPr lang="en-GB" altLang="en-US" b="1" dirty="0"/>
              <a:t>Gross margin (gross profit) – Operating expenses = Net income or loss before taxes</a:t>
            </a:r>
          </a:p>
          <a:p>
            <a:pPr>
              <a:buNone/>
            </a:pPr>
            <a:endParaRPr lang="en-GB" altLang="en-US" sz="1800" dirty="0"/>
          </a:p>
          <a:p>
            <a:r>
              <a:rPr lang="en-GB" altLang="en-US" b="1" dirty="0"/>
              <a:t>Net income before taxes – Taxes = Net income (or net loss)</a:t>
            </a:r>
          </a:p>
        </p:txBody>
      </p:sp>
      <p:sp>
        <p:nvSpPr>
          <p:cNvPr id="4" name="Slide Number Placeholder 3"/>
          <p:cNvSpPr>
            <a:spLocks noGrp="1"/>
          </p:cNvSpPr>
          <p:nvPr>
            <p:ph type="sldNum" sz="quarter" idx="12"/>
          </p:nvPr>
        </p:nvSpPr>
        <p:spPr/>
        <p:txBody>
          <a:bodyPr/>
          <a:lstStyle/>
          <a:p>
            <a:fld id="{7E50C373-F1D0-494F-8D6D-366C958B3429}" type="slidenum">
              <a:rPr lang="en-GB" smtClean="0"/>
              <a:t>82</a:t>
            </a:fld>
            <a:endParaRPr lang="en-GB"/>
          </a:p>
        </p:txBody>
      </p:sp>
      <p:sp>
        <p:nvSpPr>
          <p:cNvPr id="5" name="Date Placeholder 4">
            <a:extLst>
              <a:ext uri="{FF2B5EF4-FFF2-40B4-BE49-F238E27FC236}">
                <a16:creationId xmlns:a16="http://schemas.microsoft.com/office/drawing/2014/main" id="{20E6CBC4-83A8-45A6-BDB1-2A0C51ED800E}"/>
              </a:ext>
            </a:extLst>
          </p:cNvPr>
          <p:cNvSpPr>
            <a:spLocks noGrp="1"/>
          </p:cNvSpPr>
          <p:nvPr>
            <p:ph type="dt" sz="half" idx="10"/>
          </p:nvPr>
        </p:nvSpPr>
        <p:spPr/>
        <p:txBody>
          <a:bodyPr/>
          <a:lstStyle/>
          <a:p>
            <a:fld id="{627C8845-C6DA-489B-82C7-268333C3CD02}" type="datetime1">
              <a:rPr lang="en-GB" smtClean="0"/>
              <a:t>21/02/2023</a:t>
            </a:fld>
            <a:endParaRPr lang="en-GB"/>
          </a:p>
        </p:txBody>
      </p:sp>
    </p:spTree>
    <p:extLst>
      <p:ext uri="{BB962C8B-B14F-4D97-AF65-F5344CB8AC3E}">
        <p14:creationId xmlns:p14="http://schemas.microsoft.com/office/powerpoint/2010/main" val="251390038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Operating expenses</a:t>
            </a:r>
            <a:endParaRPr lang="en-US" dirty="0"/>
          </a:p>
        </p:txBody>
      </p:sp>
      <p:sp>
        <p:nvSpPr>
          <p:cNvPr id="3" name="Content Placeholder 2"/>
          <p:cNvSpPr>
            <a:spLocks noGrp="1"/>
          </p:cNvSpPr>
          <p:nvPr>
            <p:ph idx="1"/>
          </p:nvPr>
        </p:nvSpPr>
        <p:spPr/>
        <p:txBody>
          <a:bodyPr>
            <a:normAutofit/>
          </a:bodyPr>
          <a:lstStyle/>
          <a:p>
            <a:r>
              <a:rPr lang="en-GB" altLang="en-US" sz="5800" b="1" i="1" dirty="0"/>
              <a:t>Operating expenses</a:t>
            </a:r>
            <a:r>
              <a:rPr lang="en-GB" altLang="en-US" sz="5800" dirty="0"/>
              <a:t> are the expenses a business incurs in </a:t>
            </a:r>
            <a:r>
              <a:rPr lang="en-GB" altLang="en-US" sz="5800" b="1" dirty="0">
                <a:solidFill>
                  <a:srgbClr val="FF0000"/>
                </a:solidFill>
              </a:rPr>
              <a:t>selling goods (products)</a:t>
            </a:r>
            <a:r>
              <a:rPr lang="en-GB" altLang="en-US" sz="5800" dirty="0"/>
              <a:t>  or </a:t>
            </a:r>
            <a:r>
              <a:rPr lang="en-GB" altLang="en-US" sz="5800" b="1" dirty="0">
                <a:solidFill>
                  <a:srgbClr val="FF0000"/>
                </a:solidFill>
              </a:rPr>
              <a:t>providing services</a:t>
            </a:r>
            <a:r>
              <a:rPr lang="en-GB" altLang="en-US" sz="5800" b="1" dirty="0">
                <a:solidFill>
                  <a:srgbClr val="0033CC"/>
                </a:solidFill>
              </a:rPr>
              <a:t> </a:t>
            </a:r>
            <a:r>
              <a:rPr lang="en-GB" altLang="en-US" sz="5800" b="1" dirty="0">
                <a:solidFill>
                  <a:srgbClr val="000099"/>
                </a:solidFill>
              </a:rPr>
              <a:t>and in managing the business</a:t>
            </a:r>
            <a:r>
              <a:rPr lang="en-GB" altLang="en-US" sz="5800" dirty="0"/>
              <a:t>.</a:t>
            </a:r>
            <a:endParaRPr lang="en-US" sz="5800" dirty="0"/>
          </a:p>
        </p:txBody>
      </p:sp>
      <p:sp>
        <p:nvSpPr>
          <p:cNvPr id="4" name="Slide Number Placeholder 3"/>
          <p:cNvSpPr>
            <a:spLocks noGrp="1"/>
          </p:cNvSpPr>
          <p:nvPr>
            <p:ph type="sldNum" sz="quarter" idx="12"/>
          </p:nvPr>
        </p:nvSpPr>
        <p:spPr/>
        <p:txBody>
          <a:bodyPr/>
          <a:lstStyle/>
          <a:p>
            <a:fld id="{7E50C373-F1D0-494F-8D6D-366C958B3429}" type="slidenum">
              <a:rPr lang="en-GB" smtClean="0"/>
              <a:t>83</a:t>
            </a:fld>
            <a:endParaRPr lang="en-GB"/>
          </a:p>
        </p:txBody>
      </p:sp>
      <p:sp>
        <p:nvSpPr>
          <p:cNvPr id="5" name="Date Placeholder 4">
            <a:extLst>
              <a:ext uri="{FF2B5EF4-FFF2-40B4-BE49-F238E27FC236}">
                <a16:creationId xmlns:a16="http://schemas.microsoft.com/office/drawing/2014/main" id="{33963EC3-B60F-4356-9917-FBEB84FD2BC1}"/>
              </a:ext>
            </a:extLst>
          </p:cNvPr>
          <p:cNvSpPr>
            <a:spLocks noGrp="1"/>
          </p:cNvSpPr>
          <p:nvPr>
            <p:ph type="dt" sz="half" idx="10"/>
          </p:nvPr>
        </p:nvSpPr>
        <p:spPr/>
        <p:txBody>
          <a:bodyPr/>
          <a:lstStyle/>
          <a:p>
            <a:fld id="{79A64DB9-0BBE-4897-ACAE-A83DFA91DF30}" type="datetime1">
              <a:rPr lang="en-GB" smtClean="0"/>
              <a:t>21/02/2023</a:t>
            </a:fld>
            <a:endParaRPr lang="en-GB"/>
          </a:p>
        </p:txBody>
      </p:sp>
    </p:spTree>
    <p:extLst>
      <p:ext uri="{BB962C8B-B14F-4D97-AF65-F5344CB8AC3E}">
        <p14:creationId xmlns:p14="http://schemas.microsoft.com/office/powerpoint/2010/main" val="6812182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Operating expenses</a:t>
            </a:r>
            <a:endParaRPr lang="en-US" dirty="0"/>
          </a:p>
        </p:txBody>
      </p:sp>
      <p:sp>
        <p:nvSpPr>
          <p:cNvPr id="3" name="Content Placeholder 2"/>
          <p:cNvSpPr>
            <a:spLocks noGrp="1"/>
          </p:cNvSpPr>
          <p:nvPr>
            <p:ph idx="1"/>
          </p:nvPr>
        </p:nvSpPr>
        <p:spPr/>
        <p:txBody>
          <a:bodyPr>
            <a:normAutofit/>
          </a:bodyPr>
          <a:lstStyle/>
          <a:p>
            <a:r>
              <a:rPr lang="en-GB" altLang="en-US" sz="6600" dirty="0"/>
              <a:t>Operating expenses can be divided into </a:t>
            </a:r>
            <a:r>
              <a:rPr lang="en-GB" altLang="en-US" sz="6600" b="1" i="1" dirty="0"/>
              <a:t>selling expenses</a:t>
            </a:r>
            <a:r>
              <a:rPr lang="en-GB" altLang="en-US" sz="6600" dirty="0"/>
              <a:t> and </a:t>
            </a:r>
            <a:r>
              <a:rPr lang="en-GB" altLang="en-US" sz="6600" b="1" i="1" dirty="0"/>
              <a:t>administrative expenses.</a:t>
            </a:r>
            <a:endParaRPr lang="en-US" sz="3600" dirty="0"/>
          </a:p>
        </p:txBody>
      </p:sp>
      <p:sp>
        <p:nvSpPr>
          <p:cNvPr id="4" name="Slide Number Placeholder 3"/>
          <p:cNvSpPr>
            <a:spLocks noGrp="1"/>
          </p:cNvSpPr>
          <p:nvPr>
            <p:ph type="sldNum" sz="quarter" idx="12"/>
          </p:nvPr>
        </p:nvSpPr>
        <p:spPr/>
        <p:txBody>
          <a:bodyPr/>
          <a:lstStyle/>
          <a:p>
            <a:fld id="{7E50C373-F1D0-494F-8D6D-366C958B3429}" type="slidenum">
              <a:rPr lang="en-GB" smtClean="0"/>
              <a:t>84</a:t>
            </a:fld>
            <a:endParaRPr lang="en-GB"/>
          </a:p>
        </p:txBody>
      </p:sp>
      <p:sp>
        <p:nvSpPr>
          <p:cNvPr id="5" name="Date Placeholder 4">
            <a:extLst>
              <a:ext uri="{FF2B5EF4-FFF2-40B4-BE49-F238E27FC236}">
                <a16:creationId xmlns:a16="http://schemas.microsoft.com/office/drawing/2014/main" id="{33963EC3-B60F-4356-9917-FBEB84FD2BC1}"/>
              </a:ext>
            </a:extLst>
          </p:cNvPr>
          <p:cNvSpPr>
            <a:spLocks noGrp="1"/>
          </p:cNvSpPr>
          <p:nvPr>
            <p:ph type="dt" sz="half" idx="10"/>
          </p:nvPr>
        </p:nvSpPr>
        <p:spPr/>
        <p:txBody>
          <a:bodyPr/>
          <a:lstStyle/>
          <a:p>
            <a:fld id="{79A64DB9-0BBE-4897-ACAE-A83DFA91DF30}" type="datetime1">
              <a:rPr lang="en-GB" smtClean="0"/>
              <a:t>21/02/2023</a:t>
            </a:fld>
            <a:endParaRPr lang="en-GB"/>
          </a:p>
        </p:txBody>
      </p:sp>
    </p:spTree>
    <p:extLst>
      <p:ext uri="{BB962C8B-B14F-4D97-AF65-F5344CB8AC3E}">
        <p14:creationId xmlns:p14="http://schemas.microsoft.com/office/powerpoint/2010/main" val="13089359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sz="5400" b="1" dirty="0"/>
              <a:t>Selling expenses</a:t>
            </a:r>
            <a:endParaRPr lang="en-US" dirty="0"/>
          </a:p>
        </p:txBody>
      </p:sp>
      <p:sp>
        <p:nvSpPr>
          <p:cNvPr id="3" name="Content Placeholder 2"/>
          <p:cNvSpPr>
            <a:spLocks noGrp="1"/>
          </p:cNvSpPr>
          <p:nvPr>
            <p:ph idx="1"/>
          </p:nvPr>
        </p:nvSpPr>
        <p:spPr/>
        <p:txBody>
          <a:bodyPr>
            <a:noAutofit/>
          </a:bodyPr>
          <a:lstStyle/>
          <a:p>
            <a:r>
              <a:rPr lang="en-GB" altLang="en-US" sz="4400" b="1" dirty="0">
                <a:solidFill>
                  <a:srgbClr val="FF0000"/>
                </a:solidFill>
              </a:rPr>
              <a:t>Selling expenses</a:t>
            </a:r>
            <a:r>
              <a:rPr lang="en-GB" altLang="en-US" sz="4400" b="1" dirty="0"/>
              <a:t> are the costs of selling goods or selling and providing services </a:t>
            </a:r>
          </a:p>
          <a:p>
            <a:endParaRPr lang="en-GB" altLang="en-US" sz="4400" b="1" dirty="0"/>
          </a:p>
          <a:p>
            <a:r>
              <a:rPr lang="en-GB" altLang="en-US" sz="4400" b="1" dirty="0"/>
              <a:t>e.g. the costs of selling goods usually include such items as advertising expense and salaries of sales staff.</a:t>
            </a:r>
            <a:endParaRPr lang="en-US" sz="45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85</a:t>
            </a:fld>
            <a:endParaRPr lang="en-GB"/>
          </a:p>
        </p:txBody>
      </p:sp>
      <p:sp>
        <p:nvSpPr>
          <p:cNvPr id="5" name="Date Placeholder 4">
            <a:extLst>
              <a:ext uri="{FF2B5EF4-FFF2-40B4-BE49-F238E27FC236}">
                <a16:creationId xmlns:a16="http://schemas.microsoft.com/office/drawing/2014/main" id="{73659CC9-DEB0-4CD0-B6C2-465606097942}"/>
              </a:ext>
            </a:extLst>
          </p:cNvPr>
          <p:cNvSpPr>
            <a:spLocks noGrp="1"/>
          </p:cNvSpPr>
          <p:nvPr>
            <p:ph type="dt" sz="half" idx="10"/>
          </p:nvPr>
        </p:nvSpPr>
        <p:spPr/>
        <p:txBody>
          <a:bodyPr/>
          <a:lstStyle/>
          <a:p>
            <a:fld id="{BE923504-0BA1-450D-A3A0-28BB399A71A5}" type="datetime1">
              <a:rPr lang="en-GB" smtClean="0"/>
              <a:t>21/02/2023</a:t>
            </a:fld>
            <a:endParaRPr lang="en-GB"/>
          </a:p>
        </p:txBody>
      </p:sp>
    </p:spTree>
    <p:extLst>
      <p:ext uri="{BB962C8B-B14F-4D97-AF65-F5344CB8AC3E}">
        <p14:creationId xmlns:p14="http://schemas.microsoft.com/office/powerpoint/2010/main" val="23686251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Administrative expenses</a:t>
            </a:r>
            <a:endParaRPr lang="en-US" dirty="0"/>
          </a:p>
        </p:txBody>
      </p:sp>
      <p:sp>
        <p:nvSpPr>
          <p:cNvPr id="3" name="Content Placeholder 2"/>
          <p:cNvSpPr>
            <a:spLocks noGrp="1"/>
          </p:cNvSpPr>
          <p:nvPr>
            <p:ph idx="1"/>
          </p:nvPr>
        </p:nvSpPr>
        <p:spPr/>
        <p:txBody>
          <a:bodyPr>
            <a:normAutofit/>
          </a:bodyPr>
          <a:lstStyle/>
          <a:p>
            <a:r>
              <a:rPr lang="en-GB" altLang="en-US" sz="7200" b="1" i="1" dirty="0"/>
              <a:t>Administrative expenses</a:t>
            </a:r>
            <a:r>
              <a:rPr lang="en-GB" altLang="en-US" sz="7200" b="1" dirty="0"/>
              <a:t> are the costs of managing the whole business.</a:t>
            </a:r>
            <a:endParaRPr lang="en-US" sz="3200" b="1" dirty="0">
              <a:solidFill>
                <a:srgbClr val="000099"/>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t>86</a:t>
            </a:fld>
            <a:endParaRPr lang="en-GB"/>
          </a:p>
        </p:txBody>
      </p:sp>
      <p:sp>
        <p:nvSpPr>
          <p:cNvPr id="5" name="Date Placeholder 4">
            <a:extLst>
              <a:ext uri="{FF2B5EF4-FFF2-40B4-BE49-F238E27FC236}">
                <a16:creationId xmlns:a16="http://schemas.microsoft.com/office/drawing/2014/main" id="{99251DC5-640C-4850-BD18-7DC37AF8ED88}"/>
              </a:ext>
            </a:extLst>
          </p:cNvPr>
          <p:cNvSpPr>
            <a:spLocks noGrp="1"/>
          </p:cNvSpPr>
          <p:nvPr>
            <p:ph type="dt" sz="half" idx="10"/>
          </p:nvPr>
        </p:nvSpPr>
        <p:spPr/>
        <p:txBody>
          <a:bodyPr/>
          <a:lstStyle/>
          <a:p>
            <a:fld id="{61657912-860B-4496-AC16-F43793255A37}" type="datetime1">
              <a:rPr lang="en-GB" smtClean="0"/>
              <a:t>21/02/2023</a:t>
            </a:fld>
            <a:endParaRPr lang="en-GB"/>
          </a:p>
        </p:txBody>
      </p:sp>
    </p:spTree>
    <p:extLst>
      <p:ext uri="{BB962C8B-B14F-4D97-AF65-F5344CB8AC3E}">
        <p14:creationId xmlns:p14="http://schemas.microsoft.com/office/powerpoint/2010/main" val="3813422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Administrative expenses</a:t>
            </a:r>
            <a:endParaRPr lang="en-US" dirty="0"/>
          </a:p>
        </p:txBody>
      </p:sp>
      <p:sp>
        <p:nvSpPr>
          <p:cNvPr id="3" name="Content Placeholder 2"/>
          <p:cNvSpPr>
            <a:spLocks noGrp="1"/>
          </p:cNvSpPr>
          <p:nvPr>
            <p:ph idx="1"/>
          </p:nvPr>
        </p:nvSpPr>
        <p:spPr/>
        <p:txBody>
          <a:bodyPr>
            <a:normAutofit lnSpcReduction="10000"/>
          </a:bodyPr>
          <a:lstStyle/>
          <a:p>
            <a:r>
              <a:rPr lang="en-GB" altLang="en-US" sz="4800" dirty="0"/>
              <a:t>Such expenses include </a:t>
            </a:r>
            <a:r>
              <a:rPr lang="en-GB" altLang="en-US" sz="4800" b="1" dirty="0">
                <a:solidFill>
                  <a:srgbClr val="FF0000"/>
                </a:solidFill>
              </a:rPr>
              <a:t>salaries paid to managers and members of their staff</a:t>
            </a:r>
            <a:r>
              <a:rPr lang="en-GB" altLang="en-US" sz="4800" dirty="0"/>
              <a:t>, </a:t>
            </a:r>
            <a:r>
              <a:rPr lang="en-GB" altLang="en-US" sz="4800" b="1" dirty="0">
                <a:solidFill>
                  <a:srgbClr val="FF0000"/>
                </a:solidFill>
              </a:rPr>
              <a:t>depreciation on administrative buildings</a:t>
            </a:r>
            <a:r>
              <a:rPr lang="en-GB" altLang="en-US" sz="4800" dirty="0"/>
              <a:t> and </a:t>
            </a:r>
            <a:r>
              <a:rPr lang="en-GB" altLang="en-US" sz="4800" b="1" dirty="0">
                <a:solidFill>
                  <a:srgbClr val="FF0000"/>
                </a:solidFill>
              </a:rPr>
              <a:t>equipment</a:t>
            </a:r>
            <a:r>
              <a:rPr lang="en-GB" altLang="en-US" sz="4800" dirty="0"/>
              <a:t>, and related </a:t>
            </a:r>
            <a:r>
              <a:rPr lang="en-GB" altLang="en-US" sz="4800" b="1" dirty="0">
                <a:solidFill>
                  <a:srgbClr val="000099"/>
                </a:solidFill>
              </a:rPr>
              <a:t>amounts for insurance, utilities, property taxes and repairs.</a:t>
            </a:r>
            <a:endParaRPr lang="en-US" sz="3200" dirty="0">
              <a:solidFill>
                <a:srgbClr val="000099"/>
              </a:solidFill>
            </a:endParaRPr>
          </a:p>
        </p:txBody>
      </p:sp>
      <p:sp>
        <p:nvSpPr>
          <p:cNvPr id="4" name="Slide Number Placeholder 3"/>
          <p:cNvSpPr>
            <a:spLocks noGrp="1"/>
          </p:cNvSpPr>
          <p:nvPr>
            <p:ph type="sldNum" sz="quarter" idx="12"/>
          </p:nvPr>
        </p:nvSpPr>
        <p:spPr/>
        <p:txBody>
          <a:bodyPr/>
          <a:lstStyle/>
          <a:p>
            <a:fld id="{7E50C373-F1D0-494F-8D6D-366C958B3429}" type="slidenum">
              <a:rPr lang="en-GB" smtClean="0"/>
              <a:t>87</a:t>
            </a:fld>
            <a:endParaRPr lang="en-GB"/>
          </a:p>
        </p:txBody>
      </p:sp>
      <p:sp>
        <p:nvSpPr>
          <p:cNvPr id="5" name="Date Placeholder 4">
            <a:extLst>
              <a:ext uri="{FF2B5EF4-FFF2-40B4-BE49-F238E27FC236}">
                <a16:creationId xmlns:a16="http://schemas.microsoft.com/office/drawing/2014/main" id="{99251DC5-640C-4850-BD18-7DC37AF8ED88}"/>
              </a:ext>
            </a:extLst>
          </p:cNvPr>
          <p:cNvSpPr>
            <a:spLocks noGrp="1"/>
          </p:cNvSpPr>
          <p:nvPr>
            <p:ph type="dt" sz="half" idx="10"/>
          </p:nvPr>
        </p:nvSpPr>
        <p:spPr/>
        <p:txBody>
          <a:bodyPr/>
          <a:lstStyle/>
          <a:p>
            <a:fld id="{61657912-860B-4496-AC16-F43793255A37}" type="datetime1">
              <a:rPr lang="en-GB" smtClean="0"/>
              <a:t>21/02/2023</a:t>
            </a:fld>
            <a:endParaRPr lang="en-GB"/>
          </a:p>
        </p:txBody>
      </p:sp>
    </p:spTree>
    <p:extLst>
      <p:ext uri="{BB962C8B-B14F-4D97-AF65-F5344CB8AC3E}">
        <p14:creationId xmlns:p14="http://schemas.microsoft.com/office/powerpoint/2010/main" val="31550331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b="1" dirty="0"/>
              <a:t>Considerations for making entries into the Income statement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659453570"/>
              </p:ext>
            </p:extLst>
          </p:nvPr>
        </p:nvGraphicFramePr>
        <p:xfrm>
          <a:off x="838200" y="1825625"/>
          <a:ext cx="10515600" cy="417576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20000"/>
                    </a:ext>
                  </a:extLst>
                </a:gridCol>
                <a:gridCol w="3114004">
                  <a:extLst>
                    <a:ext uri="{9D8B030D-6E8A-4147-A177-3AD203B41FA5}">
                      <a16:colId xmlns:a16="http://schemas.microsoft.com/office/drawing/2014/main" val="20001"/>
                    </a:ext>
                  </a:extLst>
                </a:gridCol>
                <a:gridCol w="2143796">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rgbClr val="FF0000"/>
                          </a:solidFill>
                          <a:effectLst/>
                          <a:latin typeface="Arial" charset="0"/>
                          <a:cs typeface="Arial" charset="0"/>
                        </a:rPr>
                        <a:t>Revenues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rgbClr val="FF0000"/>
                          </a:solidFill>
                          <a:effectLst/>
                          <a:latin typeface="Arial" charset="0"/>
                          <a:cs typeface="Arial" charset="0"/>
                        </a:rPr>
                        <a:t>Cost of Goods Sold</a:t>
                      </a:r>
                    </a:p>
                  </a:txBody>
                  <a:tcPr horzOverflow="overflow"/>
                </a:tc>
                <a:tc gridSpan="2">
                  <a:txBody>
                    <a:bodyPr/>
                    <a:lstStyle/>
                    <a:p>
                      <a:pPr algn="ctr"/>
                      <a:r>
                        <a:rPr kumimoji="0" lang="en-GB" sz="2200" b="1" i="0" u="none" strike="noStrike" cap="none" normalizeH="0" baseline="0" dirty="0">
                          <a:ln>
                            <a:noFill/>
                          </a:ln>
                          <a:solidFill>
                            <a:srgbClr val="FF0000"/>
                          </a:solidFill>
                          <a:effectLst/>
                          <a:latin typeface="Arial" charset="0"/>
                          <a:cs typeface="Arial" charset="0"/>
                        </a:rPr>
                        <a:t>Expenses</a:t>
                      </a:r>
                      <a:endParaRPr lang="en-US" sz="2200" i="0" dirty="0">
                        <a:solidFill>
                          <a:srgbClr val="FF0000"/>
                        </a:solidFill>
                      </a:endParaRP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Rental revenue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Cost of buying goods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Wages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Interest</a:t>
                      </a: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Sales revenue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Cost of storing goods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Rent</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Donations</a:t>
                      </a: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Commissions revenue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Repairs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Licenses</a:t>
                      </a:r>
                    </a:p>
                  </a:txBody>
                  <a:tcP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Royalty revenue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Travel</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Fees</a:t>
                      </a:r>
                    </a:p>
                  </a:txBody>
                  <a:tcPr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Insurance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Supplies</a:t>
                      </a:r>
                    </a:p>
                  </a:txBody>
                  <a:tcPr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Utilities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Advertising</a:t>
                      </a:r>
                    </a:p>
                  </a:txBody>
                  <a:tcPr horzOverflow="overflow"/>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Entertainment</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dirty="0">
                          <a:ln>
                            <a:noFill/>
                          </a:ln>
                          <a:solidFill>
                            <a:schemeClr val="tx1"/>
                          </a:solidFill>
                          <a:effectLst/>
                          <a:latin typeface="Arial" charset="0"/>
                          <a:cs typeface="Arial" charset="0"/>
                        </a:rPr>
                        <a:t>Taxes</a:t>
                      </a:r>
                    </a:p>
                  </a:txBody>
                  <a:tcPr horzOverflow="overflow"/>
                </a:tc>
                <a:extLst>
                  <a:ext uri="{0D108BD9-81ED-4DB2-BD59-A6C34878D82A}">
                    <a16:rowId xmlns:a16="http://schemas.microsoft.com/office/drawing/2014/main" val="10007"/>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2200" b="1" i="0" u="none" strike="noStrike" cap="none" normalizeH="0" baseline="0">
                          <a:ln>
                            <a:noFill/>
                          </a:ln>
                          <a:solidFill>
                            <a:schemeClr val="tx1"/>
                          </a:solidFill>
                          <a:effectLst/>
                          <a:latin typeface="Arial" charset="0"/>
                          <a:cs typeface="Arial" charset="0"/>
                        </a:rPr>
                        <a:t>Storage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22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8"/>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88</a:t>
            </a:fld>
            <a:endParaRPr lang="en-GB"/>
          </a:p>
        </p:txBody>
      </p:sp>
      <p:sp>
        <p:nvSpPr>
          <p:cNvPr id="3" name="Date Placeholder 2">
            <a:extLst>
              <a:ext uri="{FF2B5EF4-FFF2-40B4-BE49-F238E27FC236}">
                <a16:creationId xmlns:a16="http://schemas.microsoft.com/office/drawing/2014/main" id="{DF0DCFFA-5B3D-49F4-AA77-21285D3B6473}"/>
              </a:ext>
            </a:extLst>
          </p:cNvPr>
          <p:cNvSpPr>
            <a:spLocks noGrp="1"/>
          </p:cNvSpPr>
          <p:nvPr>
            <p:ph type="dt" sz="half" idx="10"/>
          </p:nvPr>
        </p:nvSpPr>
        <p:spPr/>
        <p:txBody>
          <a:bodyPr/>
          <a:lstStyle/>
          <a:p>
            <a:fld id="{527942EB-8EA9-4AEE-9113-084600BDEED0}" type="datetime1">
              <a:rPr lang="en-GB" smtClean="0"/>
              <a:t>21/02/2023</a:t>
            </a:fld>
            <a:endParaRPr lang="en-GB"/>
          </a:p>
        </p:txBody>
      </p:sp>
    </p:spTree>
    <p:extLst>
      <p:ext uri="{BB962C8B-B14F-4D97-AF65-F5344CB8AC3E}">
        <p14:creationId xmlns:p14="http://schemas.microsoft.com/office/powerpoint/2010/main" val="28664437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Cost of Goods Sold Statement</a:t>
            </a:r>
            <a:endParaRPr lang="en-US" dirty="0"/>
          </a:p>
        </p:txBody>
      </p:sp>
      <p:sp>
        <p:nvSpPr>
          <p:cNvPr id="3" name="Content Placeholder 2"/>
          <p:cNvSpPr>
            <a:spLocks noGrp="1"/>
          </p:cNvSpPr>
          <p:nvPr>
            <p:ph idx="1"/>
          </p:nvPr>
        </p:nvSpPr>
        <p:spPr/>
        <p:txBody>
          <a:bodyPr>
            <a:noAutofit/>
          </a:bodyPr>
          <a:lstStyle/>
          <a:p>
            <a:r>
              <a:rPr lang="en-GB" altLang="en-US" sz="3800" b="1" dirty="0"/>
              <a:t>Cost of goods sold</a:t>
            </a:r>
            <a:r>
              <a:rPr lang="en-GB" altLang="en-US" sz="3800" dirty="0"/>
              <a:t> is a major expense item for most </a:t>
            </a:r>
            <a:r>
              <a:rPr lang="en-GB" altLang="en-US" sz="3800" b="1" dirty="0"/>
              <a:t>non-service businesses</a:t>
            </a:r>
            <a:r>
              <a:rPr lang="en-GB" altLang="en-US" sz="3800" dirty="0"/>
              <a:t> (e.g. manufacturing) and is directly related to sales revenue.</a:t>
            </a:r>
          </a:p>
          <a:p>
            <a:endParaRPr lang="en-GB" altLang="en-US" sz="3800" dirty="0"/>
          </a:p>
          <a:p>
            <a:r>
              <a:rPr lang="en-GB" altLang="en-US" sz="3800" b="1" dirty="0"/>
              <a:t>Cost of goods sold is the </a:t>
            </a:r>
            <a:r>
              <a:rPr lang="en-GB" altLang="en-US" sz="3800" b="1" i="1" dirty="0"/>
              <a:t>cost</a:t>
            </a:r>
            <a:r>
              <a:rPr lang="en-GB" altLang="en-US" sz="3800" b="1" dirty="0"/>
              <a:t> </a:t>
            </a:r>
            <a:r>
              <a:rPr lang="en-GB" altLang="en-US" sz="3800" b="1" i="1" dirty="0"/>
              <a:t>to the seller</a:t>
            </a:r>
            <a:r>
              <a:rPr lang="en-GB" altLang="en-US" sz="3800" b="1" dirty="0"/>
              <a:t> of all goods sold during the accounting period.</a:t>
            </a:r>
            <a:endParaRPr lang="en-US" sz="3800" b="1" dirty="0"/>
          </a:p>
        </p:txBody>
      </p:sp>
      <p:sp>
        <p:nvSpPr>
          <p:cNvPr id="4" name="Slide Number Placeholder 3"/>
          <p:cNvSpPr>
            <a:spLocks noGrp="1"/>
          </p:cNvSpPr>
          <p:nvPr>
            <p:ph type="sldNum" sz="quarter" idx="12"/>
          </p:nvPr>
        </p:nvSpPr>
        <p:spPr/>
        <p:txBody>
          <a:bodyPr/>
          <a:lstStyle/>
          <a:p>
            <a:fld id="{7E50C373-F1D0-494F-8D6D-366C958B3429}" type="slidenum">
              <a:rPr lang="en-GB" smtClean="0"/>
              <a:t>89</a:t>
            </a:fld>
            <a:endParaRPr lang="en-GB"/>
          </a:p>
        </p:txBody>
      </p:sp>
      <p:sp>
        <p:nvSpPr>
          <p:cNvPr id="5" name="Date Placeholder 4">
            <a:extLst>
              <a:ext uri="{FF2B5EF4-FFF2-40B4-BE49-F238E27FC236}">
                <a16:creationId xmlns:a16="http://schemas.microsoft.com/office/drawing/2014/main" id="{9FE001E7-DE65-4EA3-A796-F1F134B085BB}"/>
              </a:ext>
            </a:extLst>
          </p:cNvPr>
          <p:cNvSpPr>
            <a:spLocks noGrp="1"/>
          </p:cNvSpPr>
          <p:nvPr>
            <p:ph type="dt" sz="half" idx="10"/>
          </p:nvPr>
        </p:nvSpPr>
        <p:spPr/>
        <p:txBody>
          <a:bodyPr/>
          <a:lstStyle/>
          <a:p>
            <a:fld id="{CB899763-96FD-4688-933D-BB73447B3856}" type="datetime1">
              <a:rPr lang="en-GB" smtClean="0"/>
              <a:t>21/02/2023</a:t>
            </a:fld>
            <a:endParaRPr lang="en-GB"/>
          </a:p>
        </p:txBody>
      </p:sp>
    </p:spTree>
    <p:extLst>
      <p:ext uri="{BB962C8B-B14F-4D97-AF65-F5344CB8AC3E}">
        <p14:creationId xmlns:p14="http://schemas.microsoft.com/office/powerpoint/2010/main" val="86588524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Cost of Goods Sold Statement</a:t>
            </a:r>
            <a:endParaRPr lang="en-US" dirty="0"/>
          </a:p>
        </p:txBody>
      </p:sp>
      <p:sp>
        <p:nvSpPr>
          <p:cNvPr id="3" name="Content Placeholder 2"/>
          <p:cNvSpPr>
            <a:spLocks noGrp="1"/>
          </p:cNvSpPr>
          <p:nvPr>
            <p:ph idx="1"/>
          </p:nvPr>
        </p:nvSpPr>
        <p:spPr/>
        <p:txBody>
          <a:bodyPr>
            <a:normAutofit/>
          </a:bodyPr>
          <a:lstStyle/>
          <a:p>
            <a:r>
              <a:rPr lang="en-GB" altLang="en-US" sz="5400" dirty="0"/>
              <a:t>Cost of goods sold includes the </a:t>
            </a:r>
            <a:r>
              <a:rPr lang="en-GB" altLang="en-US" sz="5400" b="1" i="1" dirty="0"/>
              <a:t>cost of the goods</a:t>
            </a:r>
            <a:r>
              <a:rPr lang="en-GB" altLang="en-US" sz="5400" dirty="0"/>
              <a:t> plus the </a:t>
            </a:r>
            <a:r>
              <a:rPr lang="en-GB" altLang="en-US" sz="5400" b="1" i="1" dirty="0"/>
              <a:t>costs of preparing the goods for sale</a:t>
            </a:r>
            <a:r>
              <a:rPr lang="en-GB" altLang="en-US" sz="5400" dirty="0"/>
              <a:t> for example transportation (freight) costs.</a:t>
            </a:r>
            <a:endParaRPr 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90</a:t>
            </a:fld>
            <a:endParaRPr lang="en-GB"/>
          </a:p>
        </p:txBody>
      </p:sp>
      <p:sp>
        <p:nvSpPr>
          <p:cNvPr id="5" name="Date Placeholder 4">
            <a:extLst>
              <a:ext uri="{FF2B5EF4-FFF2-40B4-BE49-F238E27FC236}">
                <a16:creationId xmlns:a16="http://schemas.microsoft.com/office/drawing/2014/main" id="{F791A429-8DF1-405A-BC27-BE8F5D6C2938}"/>
              </a:ext>
            </a:extLst>
          </p:cNvPr>
          <p:cNvSpPr>
            <a:spLocks noGrp="1"/>
          </p:cNvSpPr>
          <p:nvPr>
            <p:ph type="dt" sz="half" idx="10"/>
          </p:nvPr>
        </p:nvSpPr>
        <p:spPr/>
        <p:txBody>
          <a:bodyPr/>
          <a:lstStyle/>
          <a:p>
            <a:fld id="{361DAC03-6EE1-42EC-A49A-A81283160E46}" type="datetime1">
              <a:rPr lang="en-GB" smtClean="0"/>
              <a:t>21/02/2023</a:t>
            </a:fld>
            <a:endParaRPr lang="en-GB"/>
          </a:p>
        </p:txBody>
      </p:sp>
    </p:spTree>
    <p:extLst>
      <p:ext uri="{BB962C8B-B14F-4D97-AF65-F5344CB8AC3E}">
        <p14:creationId xmlns:p14="http://schemas.microsoft.com/office/powerpoint/2010/main" val="166674852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Cost of Goods Sold Statement</a:t>
            </a:r>
            <a:endParaRPr lang="en-US" dirty="0"/>
          </a:p>
        </p:txBody>
      </p:sp>
      <p:sp>
        <p:nvSpPr>
          <p:cNvPr id="3" name="Content Placeholder 2"/>
          <p:cNvSpPr>
            <a:spLocks noGrp="1"/>
          </p:cNvSpPr>
          <p:nvPr>
            <p:ph idx="1"/>
          </p:nvPr>
        </p:nvSpPr>
        <p:spPr/>
        <p:txBody>
          <a:bodyPr>
            <a:normAutofit/>
          </a:bodyPr>
          <a:lstStyle/>
          <a:p>
            <a:pPr>
              <a:spcBef>
                <a:spcPct val="20000"/>
              </a:spcBef>
              <a:buClr>
                <a:schemeClr val="folHlink"/>
              </a:buClr>
              <a:buSzPct val="90000"/>
              <a:buFont typeface="Wingdings" panose="05000000000000000000" pitchFamily="2" charset="2"/>
              <a:buChar char="n"/>
            </a:pPr>
            <a:r>
              <a:rPr lang="en-GB" altLang="en-US" sz="4400" dirty="0"/>
              <a:t>For a manufacturing business (e.g. production of Mineral drinks), </a:t>
            </a:r>
            <a:r>
              <a:rPr lang="en-GB" altLang="en-US" sz="4400" b="1" dirty="0"/>
              <a:t>Cost of goods sold is </a:t>
            </a:r>
            <a:r>
              <a:rPr lang="en-GB" altLang="en-US" sz="4400" dirty="0"/>
              <a:t>the cost of producing the goods (including the </a:t>
            </a:r>
            <a:r>
              <a:rPr lang="en-GB" altLang="en-US" sz="4400" b="1" i="1" dirty="0"/>
              <a:t>cost of bottles, syrup, labour, and bottling plants) plus the costs of preparing the goods for sale</a:t>
            </a:r>
            <a:r>
              <a:rPr lang="en-GB" altLang="en-US" sz="4400" dirty="0"/>
              <a:t>.</a:t>
            </a:r>
            <a:endParaRPr 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91</a:t>
            </a:fld>
            <a:endParaRPr lang="en-GB"/>
          </a:p>
        </p:txBody>
      </p:sp>
      <p:sp>
        <p:nvSpPr>
          <p:cNvPr id="5" name="Date Placeholder 4">
            <a:extLst>
              <a:ext uri="{FF2B5EF4-FFF2-40B4-BE49-F238E27FC236}">
                <a16:creationId xmlns:a16="http://schemas.microsoft.com/office/drawing/2014/main" id="{F791A429-8DF1-405A-BC27-BE8F5D6C2938}"/>
              </a:ext>
            </a:extLst>
          </p:cNvPr>
          <p:cNvSpPr>
            <a:spLocks noGrp="1"/>
          </p:cNvSpPr>
          <p:nvPr>
            <p:ph type="dt" sz="half" idx="10"/>
          </p:nvPr>
        </p:nvSpPr>
        <p:spPr/>
        <p:txBody>
          <a:bodyPr/>
          <a:lstStyle/>
          <a:p>
            <a:fld id="{361DAC03-6EE1-42EC-A49A-A81283160E46}" type="datetime1">
              <a:rPr lang="en-GB" smtClean="0"/>
              <a:t>21/02/2023</a:t>
            </a:fld>
            <a:endParaRPr lang="en-GB"/>
          </a:p>
        </p:txBody>
      </p:sp>
    </p:spTree>
    <p:extLst>
      <p:ext uri="{BB962C8B-B14F-4D97-AF65-F5344CB8AC3E}">
        <p14:creationId xmlns:p14="http://schemas.microsoft.com/office/powerpoint/2010/main" val="8433316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Cost of Goods Sold Statement</a:t>
            </a:r>
            <a:endParaRPr lang="en-US" dirty="0"/>
          </a:p>
        </p:txBody>
      </p:sp>
      <p:sp>
        <p:nvSpPr>
          <p:cNvPr id="3" name="Content Placeholder 2"/>
          <p:cNvSpPr>
            <a:spLocks noGrp="1"/>
          </p:cNvSpPr>
          <p:nvPr>
            <p:ph idx="1"/>
          </p:nvPr>
        </p:nvSpPr>
        <p:spPr/>
        <p:txBody>
          <a:bodyPr>
            <a:normAutofit lnSpcReduction="10000"/>
          </a:bodyPr>
          <a:lstStyle/>
          <a:p>
            <a:r>
              <a:rPr lang="en-GB" altLang="en-US" sz="5400" dirty="0"/>
              <a:t>Cost of goods sold is useful in determining </a:t>
            </a:r>
            <a:r>
              <a:rPr lang="en-GB" altLang="en-US" sz="5400" b="1" i="1" dirty="0"/>
              <a:t>exactly how much it costs to make a particular product</a:t>
            </a:r>
            <a:r>
              <a:rPr lang="en-GB" altLang="en-US" sz="5400" dirty="0"/>
              <a:t> </a:t>
            </a:r>
            <a:r>
              <a:rPr lang="en-GB" altLang="en-US" sz="5400" b="1" dirty="0"/>
              <a:t>over a stated time period usually a year</a:t>
            </a:r>
            <a:r>
              <a:rPr lang="en-GB" altLang="en-US" sz="5400" dirty="0"/>
              <a:t>.</a:t>
            </a:r>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t>92</a:t>
            </a:fld>
            <a:endParaRPr lang="en-GB"/>
          </a:p>
        </p:txBody>
      </p:sp>
      <p:sp>
        <p:nvSpPr>
          <p:cNvPr id="5" name="Date Placeholder 4">
            <a:extLst>
              <a:ext uri="{FF2B5EF4-FFF2-40B4-BE49-F238E27FC236}">
                <a16:creationId xmlns:a16="http://schemas.microsoft.com/office/drawing/2014/main" id="{28A3878B-ED8C-4635-B324-23C8E82D524B}"/>
              </a:ext>
            </a:extLst>
          </p:cNvPr>
          <p:cNvSpPr>
            <a:spLocks noGrp="1"/>
          </p:cNvSpPr>
          <p:nvPr>
            <p:ph type="dt" sz="half" idx="10"/>
          </p:nvPr>
        </p:nvSpPr>
        <p:spPr/>
        <p:txBody>
          <a:bodyPr/>
          <a:lstStyle/>
          <a:p>
            <a:fld id="{249B0F8C-A658-4C7C-A550-F1756E0E50F4}" type="datetime1">
              <a:rPr lang="en-GB" smtClean="0"/>
              <a:t>21/02/2023</a:t>
            </a:fld>
            <a:endParaRPr lang="en-GB"/>
          </a:p>
        </p:txBody>
      </p:sp>
    </p:spTree>
    <p:extLst>
      <p:ext uri="{BB962C8B-B14F-4D97-AF65-F5344CB8AC3E}">
        <p14:creationId xmlns:p14="http://schemas.microsoft.com/office/powerpoint/2010/main" val="25075053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Cost of Goods Sold Statement</a:t>
            </a:r>
            <a:endParaRPr lang="en-US" dirty="0"/>
          </a:p>
        </p:txBody>
      </p:sp>
      <p:sp>
        <p:nvSpPr>
          <p:cNvPr id="3" name="Content Placeholder 2"/>
          <p:cNvSpPr>
            <a:spLocks noGrp="1"/>
          </p:cNvSpPr>
          <p:nvPr>
            <p:ph idx="1"/>
          </p:nvPr>
        </p:nvSpPr>
        <p:spPr/>
        <p:txBody>
          <a:bodyPr>
            <a:normAutofit/>
          </a:bodyPr>
          <a:lstStyle/>
          <a:p>
            <a:r>
              <a:rPr lang="en-GB" altLang="en-US" sz="6000" dirty="0"/>
              <a:t>Note that the </a:t>
            </a:r>
            <a:r>
              <a:rPr lang="en-GB" altLang="en-US" sz="6000" b="1" i="1" dirty="0"/>
              <a:t>total cost of the cost of goods sold statement</a:t>
            </a:r>
            <a:r>
              <a:rPr lang="en-GB" altLang="en-US" sz="6000" dirty="0"/>
              <a:t> is entered as an </a:t>
            </a:r>
            <a:r>
              <a:rPr lang="en-GB" altLang="en-US" sz="6000" b="1" i="1" dirty="0"/>
              <a:t>expense item</a:t>
            </a:r>
            <a:r>
              <a:rPr lang="en-GB" altLang="en-US" sz="6000" dirty="0"/>
              <a:t> on the </a:t>
            </a:r>
            <a:r>
              <a:rPr lang="en-GB" altLang="en-US" sz="6000" b="1" i="1" dirty="0"/>
              <a:t>income statement.</a:t>
            </a:r>
            <a:endParaRPr lang="en-US" dirty="0"/>
          </a:p>
        </p:txBody>
      </p:sp>
      <p:sp>
        <p:nvSpPr>
          <p:cNvPr id="4" name="Slide Number Placeholder 3"/>
          <p:cNvSpPr>
            <a:spLocks noGrp="1"/>
          </p:cNvSpPr>
          <p:nvPr>
            <p:ph type="sldNum" sz="quarter" idx="12"/>
          </p:nvPr>
        </p:nvSpPr>
        <p:spPr/>
        <p:txBody>
          <a:bodyPr/>
          <a:lstStyle/>
          <a:p>
            <a:fld id="{7E50C373-F1D0-494F-8D6D-366C958B3429}" type="slidenum">
              <a:rPr lang="en-GB" smtClean="0"/>
              <a:t>93</a:t>
            </a:fld>
            <a:endParaRPr lang="en-GB"/>
          </a:p>
        </p:txBody>
      </p:sp>
      <p:sp>
        <p:nvSpPr>
          <p:cNvPr id="5" name="Date Placeholder 4">
            <a:extLst>
              <a:ext uri="{FF2B5EF4-FFF2-40B4-BE49-F238E27FC236}">
                <a16:creationId xmlns:a16="http://schemas.microsoft.com/office/drawing/2014/main" id="{28A3878B-ED8C-4635-B324-23C8E82D524B}"/>
              </a:ext>
            </a:extLst>
          </p:cNvPr>
          <p:cNvSpPr>
            <a:spLocks noGrp="1"/>
          </p:cNvSpPr>
          <p:nvPr>
            <p:ph type="dt" sz="half" idx="10"/>
          </p:nvPr>
        </p:nvSpPr>
        <p:spPr/>
        <p:txBody>
          <a:bodyPr/>
          <a:lstStyle/>
          <a:p>
            <a:fld id="{249B0F8C-A658-4C7C-A550-F1756E0E50F4}" type="datetime1">
              <a:rPr lang="en-GB" smtClean="0"/>
              <a:t>21/02/2023</a:t>
            </a:fld>
            <a:endParaRPr lang="en-GB"/>
          </a:p>
        </p:txBody>
      </p:sp>
    </p:spTree>
    <p:extLst>
      <p:ext uri="{BB962C8B-B14F-4D97-AF65-F5344CB8AC3E}">
        <p14:creationId xmlns:p14="http://schemas.microsoft.com/office/powerpoint/2010/main" val="9985051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Total cost of the Cost of Goods Sold</a:t>
            </a:r>
            <a:endParaRPr lang="en-US" dirty="0"/>
          </a:p>
        </p:txBody>
      </p:sp>
      <p:sp>
        <p:nvSpPr>
          <p:cNvPr id="3" name="Content Placeholder 2"/>
          <p:cNvSpPr>
            <a:spLocks noGrp="1"/>
          </p:cNvSpPr>
          <p:nvPr>
            <p:ph idx="1"/>
          </p:nvPr>
        </p:nvSpPr>
        <p:spPr/>
        <p:txBody>
          <a:bodyPr>
            <a:normAutofit/>
          </a:bodyPr>
          <a:lstStyle/>
          <a:p>
            <a:r>
              <a:rPr lang="en-GB" altLang="en-US" sz="3200" b="1" dirty="0"/>
              <a:t>Direct materials + Direct labour = Prime cost</a:t>
            </a:r>
          </a:p>
          <a:p>
            <a:endParaRPr lang="en-GB" altLang="en-US" sz="3200" dirty="0"/>
          </a:p>
          <a:p>
            <a:r>
              <a:rPr lang="en-GB" altLang="en-US" sz="3200" b="1" dirty="0"/>
              <a:t>Prime cost + Factory expense = Cost of goods sold</a:t>
            </a:r>
            <a:endParaRPr lang="en-US" sz="3200" dirty="0"/>
          </a:p>
        </p:txBody>
      </p:sp>
      <p:sp>
        <p:nvSpPr>
          <p:cNvPr id="4" name="Slide Number Placeholder 3"/>
          <p:cNvSpPr>
            <a:spLocks noGrp="1"/>
          </p:cNvSpPr>
          <p:nvPr>
            <p:ph type="sldNum" sz="quarter" idx="12"/>
          </p:nvPr>
        </p:nvSpPr>
        <p:spPr/>
        <p:txBody>
          <a:bodyPr/>
          <a:lstStyle/>
          <a:p>
            <a:fld id="{7E50C373-F1D0-494F-8D6D-366C958B3429}" type="slidenum">
              <a:rPr lang="en-GB" smtClean="0"/>
              <a:t>94</a:t>
            </a:fld>
            <a:endParaRPr lang="en-GB"/>
          </a:p>
        </p:txBody>
      </p:sp>
      <p:sp>
        <p:nvSpPr>
          <p:cNvPr id="5" name="Date Placeholder 4">
            <a:extLst>
              <a:ext uri="{FF2B5EF4-FFF2-40B4-BE49-F238E27FC236}">
                <a16:creationId xmlns:a16="http://schemas.microsoft.com/office/drawing/2014/main" id="{1CE252B5-46AA-4399-B50C-CA25E1AAF375}"/>
              </a:ext>
            </a:extLst>
          </p:cNvPr>
          <p:cNvSpPr>
            <a:spLocks noGrp="1"/>
          </p:cNvSpPr>
          <p:nvPr>
            <p:ph type="dt" sz="half" idx="10"/>
          </p:nvPr>
        </p:nvSpPr>
        <p:spPr/>
        <p:txBody>
          <a:bodyPr/>
          <a:lstStyle/>
          <a:p>
            <a:fld id="{5F563D05-2B45-440D-9280-D692920CBDC4}" type="datetime1">
              <a:rPr lang="en-GB" smtClean="0"/>
              <a:t>21/02/2023</a:t>
            </a:fld>
            <a:endParaRPr lang="en-GB"/>
          </a:p>
        </p:txBody>
      </p:sp>
    </p:spTree>
    <p:extLst>
      <p:ext uri="{BB962C8B-B14F-4D97-AF65-F5344CB8AC3E}">
        <p14:creationId xmlns:p14="http://schemas.microsoft.com/office/powerpoint/2010/main" val="76978922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b="1" dirty="0"/>
              <a:t>Inventories Terminologies</a:t>
            </a:r>
            <a:endParaRPr lang="en-US" dirty="0"/>
          </a:p>
        </p:txBody>
      </p:sp>
      <p:sp>
        <p:nvSpPr>
          <p:cNvPr id="3" name="Content Placeholder 2"/>
          <p:cNvSpPr>
            <a:spLocks noGrp="1"/>
          </p:cNvSpPr>
          <p:nvPr>
            <p:ph idx="1"/>
          </p:nvPr>
        </p:nvSpPr>
        <p:spPr/>
        <p:txBody>
          <a:bodyPr>
            <a:normAutofit/>
          </a:bodyPr>
          <a:lstStyle/>
          <a:p>
            <a:r>
              <a:rPr lang="en-GB" altLang="en-US" sz="4000" b="1" i="1" dirty="0"/>
              <a:t>Work-in-progress-inventories</a:t>
            </a:r>
            <a:r>
              <a:rPr lang="en-GB" altLang="en-US" sz="4000" b="1" dirty="0"/>
              <a:t> contain the costs of all inventories currently in production.</a:t>
            </a:r>
          </a:p>
          <a:p>
            <a:endParaRPr lang="en-GB" altLang="en-US" sz="4000" b="1" dirty="0"/>
          </a:p>
          <a:p>
            <a:r>
              <a:rPr lang="en-GB" altLang="en-US" sz="4000" b="1" i="1" dirty="0"/>
              <a:t>Finished-goods-inventories</a:t>
            </a:r>
            <a:r>
              <a:rPr lang="en-GB" altLang="en-US" sz="4000" b="1" dirty="0"/>
              <a:t> contain completed products that are awaiting sale.</a:t>
            </a:r>
            <a:endParaRPr lang="en-US" sz="3600" dirty="0"/>
          </a:p>
        </p:txBody>
      </p:sp>
      <p:sp>
        <p:nvSpPr>
          <p:cNvPr id="4" name="Slide Number Placeholder 3"/>
          <p:cNvSpPr>
            <a:spLocks noGrp="1"/>
          </p:cNvSpPr>
          <p:nvPr>
            <p:ph type="sldNum" sz="quarter" idx="12"/>
          </p:nvPr>
        </p:nvSpPr>
        <p:spPr/>
        <p:txBody>
          <a:bodyPr/>
          <a:lstStyle/>
          <a:p>
            <a:fld id="{7E50C373-F1D0-494F-8D6D-366C958B3429}" type="slidenum">
              <a:rPr lang="en-GB" smtClean="0"/>
              <a:t>95</a:t>
            </a:fld>
            <a:endParaRPr lang="en-GB"/>
          </a:p>
        </p:txBody>
      </p:sp>
      <p:sp>
        <p:nvSpPr>
          <p:cNvPr id="5" name="Date Placeholder 4">
            <a:extLst>
              <a:ext uri="{FF2B5EF4-FFF2-40B4-BE49-F238E27FC236}">
                <a16:creationId xmlns:a16="http://schemas.microsoft.com/office/drawing/2014/main" id="{9E23F4B6-EE67-4A8E-9095-C98D3BDB88D7}"/>
              </a:ext>
            </a:extLst>
          </p:cNvPr>
          <p:cNvSpPr>
            <a:spLocks noGrp="1"/>
          </p:cNvSpPr>
          <p:nvPr>
            <p:ph type="dt" sz="half" idx="10"/>
          </p:nvPr>
        </p:nvSpPr>
        <p:spPr/>
        <p:txBody>
          <a:bodyPr/>
          <a:lstStyle/>
          <a:p>
            <a:fld id="{76B9640C-DAEA-4B17-87D0-2BA8456312E2}" type="datetime1">
              <a:rPr lang="en-GB" smtClean="0"/>
              <a:t>21/02/2023</a:t>
            </a:fld>
            <a:endParaRPr lang="en-GB"/>
          </a:p>
        </p:txBody>
      </p:sp>
    </p:spTree>
    <p:extLst>
      <p:ext uri="{BB962C8B-B14F-4D97-AF65-F5344CB8AC3E}">
        <p14:creationId xmlns:p14="http://schemas.microsoft.com/office/powerpoint/2010/main" val="369655149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GB" altLang="en-US" sz="2400" b="1" dirty="0"/>
              <a:t>K. </a:t>
            </a:r>
            <a:r>
              <a:rPr lang="en-GB" altLang="en-US" sz="2400" b="1" dirty="0" err="1"/>
              <a:t>Ananse</a:t>
            </a:r>
            <a:r>
              <a:rPr lang="en-GB" altLang="en-US" sz="2400" b="1" dirty="0"/>
              <a:t> Co. Ltd.</a:t>
            </a:r>
            <a:br>
              <a:rPr lang="en-GB" altLang="en-US" sz="2400" b="1" dirty="0"/>
            </a:br>
            <a:r>
              <a:rPr lang="en-GB" altLang="en-US" sz="2400" b="1" dirty="0"/>
              <a:t>Statement of Cost of Goods Sold</a:t>
            </a:r>
            <a:br>
              <a:rPr lang="en-GB" altLang="en-US" sz="2400" b="1" dirty="0"/>
            </a:br>
            <a:r>
              <a:rPr lang="en-GB" altLang="en-US" sz="2400" b="1" dirty="0"/>
              <a:t>For the Year Ended December 31, 202X</a:t>
            </a:r>
            <a:endParaRPr lang="en-US" sz="24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42977103"/>
              </p:ext>
            </p:extLst>
          </p:nvPr>
        </p:nvGraphicFramePr>
        <p:xfrm>
          <a:off x="838200" y="1825625"/>
          <a:ext cx="10515600" cy="4450080"/>
        </p:xfrm>
        <a:graphic>
          <a:graphicData uri="http://schemas.openxmlformats.org/drawingml/2006/table">
            <a:tbl>
              <a:tblPr firstRow="1" bandRow="1">
                <a:tableStyleId>{5940675A-B579-460E-94D1-54222C63F5DA}</a:tableStyleId>
              </a:tblPr>
              <a:tblGrid>
                <a:gridCol w="5768662">
                  <a:extLst>
                    <a:ext uri="{9D8B030D-6E8A-4147-A177-3AD203B41FA5}">
                      <a16:colId xmlns:a16="http://schemas.microsoft.com/office/drawing/2014/main" val="20000"/>
                    </a:ext>
                  </a:extLst>
                </a:gridCol>
                <a:gridCol w="2150772">
                  <a:extLst>
                    <a:ext uri="{9D8B030D-6E8A-4147-A177-3AD203B41FA5}">
                      <a16:colId xmlns:a16="http://schemas.microsoft.com/office/drawing/2014/main" val="20001"/>
                    </a:ext>
                  </a:extLst>
                </a:gridCol>
                <a:gridCol w="2596166">
                  <a:extLst>
                    <a:ext uri="{9D8B030D-6E8A-4147-A177-3AD203B41FA5}">
                      <a16:colId xmlns:a16="http://schemas.microsoft.com/office/drawing/2014/main" val="20002"/>
                    </a:ext>
                  </a:extLst>
                </a:gridCol>
              </a:tblGrid>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dirty="0">
                          <a:ln>
                            <a:noFill/>
                          </a:ln>
                          <a:solidFill>
                            <a:schemeClr val="tx1"/>
                          </a:solidFill>
                          <a:effectLst/>
                          <a:latin typeface="Arial" charset="0"/>
                          <a:cs typeface="Arial" charset="0"/>
                        </a:rPr>
                        <a:t>Materials</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a:ln>
                            <a:noFill/>
                          </a:ln>
                          <a:solidFill>
                            <a:schemeClr val="tx1"/>
                          </a:solidFill>
                          <a:effectLst/>
                          <a:latin typeface="Arial" charset="0"/>
                          <a:cs typeface="Arial" charset="0"/>
                        </a:rPr>
                        <a:t>$</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dirty="0">
                          <a:ln>
                            <a:noFill/>
                          </a:ln>
                          <a:solidFill>
                            <a:schemeClr val="tx1"/>
                          </a:solidFill>
                          <a:effectLst/>
                          <a:latin typeface="Arial" charset="0"/>
                          <a:cs typeface="Arial" charset="0"/>
                        </a:rPr>
                        <a:t>$</a:t>
                      </a:r>
                    </a:p>
                  </a:txBody>
                  <a:tcPr horzOverflow="overflow"/>
                </a:tc>
                <a:extLst>
                  <a:ext uri="{0D108BD9-81ED-4DB2-BD59-A6C34878D82A}">
                    <a16:rowId xmlns:a16="http://schemas.microsoft.com/office/drawing/2014/main" val="1000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dirty="0">
                          <a:ln>
                            <a:noFill/>
                          </a:ln>
                          <a:solidFill>
                            <a:schemeClr val="tx1"/>
                          </a:solidFill>
                          <a:effectLst/>
                          <a:latin typeface="Arial" charset="0"/>
                          <a:cs typeface="Arial" charset="0"/>
                        </a:rPr>
                        <a:t>Inventory January 1, 202X</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a:ln>
                            <a:noFill/>
                          </a:ln>
                          <a:solidFill>
                            <a:schemeClr val="tx1"/>
                          </a:solidFill>
                          <a:effectLst/>
                          <a:latin typeface="Arial" charset="0"/>
                          <a:cs typeface="Arial" charset="0"/>
                        </a:rPr>
                        <a:t>  54,000</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1"/>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a:ln>
                            <a:noFill/>
                          </a:ln>
                          <a:solidFill>
                            <a:schemeClr val="tx1"/>
                          </a:solidFill>
                          <a:effectLst/>
                          <a:latin typeface="Arial" charset="0"/>
                          <a:cs typeface="Arial" charset="0"/>
                        </a:rPr>
                        <a:t>Purchases during year</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sng" strike="noStrike" cap="none" normalizeH="0" baseline="0">
                          <a:ln>
                            <a:noFill/>
                          </a:ln>
                          <a:solidFill>
                            <a:schemeClr val="tx1"/>
                          </a:solidFill>
                          <a:effectLst/>
                          <a:latin typeface="Arial" charset="0"/>
                          <a:cs typeface="Arial" charset="0"/>
                        </a:rPr>
                        <a:t>174,500</a:t>
                      </a:r>
                      <a:r>
                        <a:rPr kumimoji="0" lang="en-GB" sz="1800" b="0" i="0" u="none" strike="noStrike" cap="none" normalizeH="0" baseline="0">
                          <a:ln>
                            <a:noFill/>
                          </a:ln>
                          <a:solidFill>
                            <a:schemeClr val="tx1"/>
                          </a:solidFill>
                          <a:effectLst/>
                          <a:latin typeface="Arial" charset="0"/>
                          <a:cs typeface="Arial" charset="0"/>
                        </a:rPr>
                        <a:t> </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a:ln>
                            <a:noFill/>
                          </a:ln>
                          <a:solidFill>
                            <a:schemeClr val="tx1"/>
                          </a:solidFill>
                          <a:effectLst/>
                          <a:latin typeface="Arial" charset="0"/>
                          <a:cs typeface="Arial" charset="0"/>
                        </a:rPr>
                        <a:t>Total</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a:ln>
                            <a:noFill/>
                          </a:ln>
                          <a:solidFill>
                            <a:schemeClr val="tx1"/>
                          </a:solidFill>
                          <a:effectLst/>
                          <a:latin typeface="Arial" charset="0"/>
                          <a:cs typeface="Arial" charset="0"/>
                        </a:rPr>
                        <a:t>228,500 </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3"/>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dirty="0">
                          <a:ln>
                            <a:noFill/>
                          </a:ln>
                          <a:solidFill>
                            <a:schemeClr val="tx1"/>
                          </a:solidFill>
                          <a:effectLst/>
                          <a:latin typeface="Arial" charset="0"/>
                          <a:cs typeface="Arial" charset="0"/>
                        </a:rPr>
                        <a:t>Less: Inventory December 31, 202X </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a:ln>
                            <a:noFill/>
                          </a:ln>
                          <a:solidFill>
                            <a:schemeClr val="tx1"/>
                          </a:solidFill>
                          <a:effectLst/>
                          <a:latin typeface="Arial" charset="0"/>
                          <a:cs typeface="Arial" charset="0"/>
                        </a:rPr>
                        <a:t>  </a:t>
                      </a:r>
                      <a:r>
                        <a:rPr kumimoji="0" lang="en-GB" sz="1800" b="0" i="0" u="sng" strike="noStrike" cap="none" normalizeH="0" baseline="0">
                          <a:ln>
                            <a:noFill/>
                          </a:ln>
                          <a:solidFill>
                            <a:schemeClr val="tx1"/>
                          </a:solidFill>
                          <a:effectLst/>
                          <a:latin typeface="Arial" charset="0"/>
                          <a:cs typeface="Arial" charset="0"/>
                        </a:rPr>
                        <a:t>50,000</a:t>
                      </a:r>
                      <a:r>
                        <a:rPr kumimoji="0" lang="en-GB" sz="1800" b="0" i="0" u="none" strike="noStrike" cap="none" normalizeH="0" baseline="0">
                          <a:ln>
                            <a:noFill/>
                          </a:ln>
                          <a:solidFill>
                            <a:schemeClr val="tx1"/>
                          </a:solidFill>
                          <a:effectLst/>
                          <a:latin typeface="Arial" charset="0"/>
                          <a:cs typeface="Arial" charset="0"/>
                        </a:rPr>
                        <a:t> </a:t>
                      </a: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a:ln>
                            <a:noFill/>
                          </a:ln>
                          <a:solidFill>
                            <a:schemeClr val="tx1"/>
                          </a:solidFill>
                          <a:effectLst/>
                          <a:latin typeface="Arial" charset="0"/>
                          <a:cs typeface="Arial" charset="0"/>
                        </a:rPr>
                        <a:t>Cost of materials</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dirty="0">
                          <a:ln>
                            <a:noFill/>
                          </a:ln>
                          <a:solidFill>
                            <a:schemeClr val="tx1"/>
                          </a:solidFill>
                          <a:effectLst/>
                          <a:latin typeface="Arial" charset="0"/>
                          <a:cs typeface="Arial" charset="0"/>
                        </a:rPr>
                        <a:t>178,500</a:t>
                      </a:r>
                      <a:endParaRPr kumimoji="0" lang="en-GB" sz="1800" b="0" i="0" u="sng"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5"/>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a:ln>
                            <a:noFill/>
                          </a:ln>
                          <a:solidFill>
                            <a:schemeClr val="tx1"/>
                          </a:solidFill>
                          <a:effectLst/>
                          <a:latin typeface="Arial" charset="0"/>
                          <a:cs typeface="Arial" charset="0"/>
                        </a:rPr>
                        <a:t>Direct labour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sng" strike="noStrike" cap="none" normalizeH="0" baseline="0" dirty="0">
                          <a:ln>
                            <a:noFill/>
                          </a:ln>
                          <a:solidFill>
                            <a:schemeClr val="tx1"/>
                          </a:solidFill>
                          <a:effectLst/>
                          <a:latin typeface="Arial" charset="0"/>
                          <a:cs typeface="Arial" charset="0"/>
                        </a:rPr>
                        <a:t>110,000</a:t>
                      </a:r>
                    </a:p>
                  </a:txBody>
                  <a:tcPr horzOverflow="overflow"/>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a:ln>
                            <a:noFill/>
                          </a:ln>
                          <a:solidFill>
                            <a:schemeClr val="tx1"/>
                          </a:solidFill>
                          <a:effectLst/>
                          <a:latin typeface="Arial" charset="0"/>
                          <a:cs typeface="Arial" charset="0"/>
                        </a:rPr>
                        <a:t>Prime cost</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dirty="0">
                          <a:ln>
                            <a:noFill/>
                          </a:ln>
                          <a:solidFill>
                            <a:schemeClr val="tx1"/>
                          </a:solidFill>
                          <a:effectLst/>
                          <a:latin typeface="Arial" charset="0"/>
                          <a:cs typeface="Arial" charset="0"/>
                        </a:rPr>
                        <a:t>288,500</a:t>
                      </a:r>
                      <a:endParaRPr kumimoji="0" lang="en-GB" sz="1800" b="1" i="0" u="sng"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7"/>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a:ln>
                            <a:noFill/>
                          </a:ln>
                          <a:solidFill>
                            <a:schemeClr val="tx1"/>
                          </a:solidFill>
                          <a:effectLst/>
                          <a:latin typeface="Arial" charset="0"/>
                          <a:cs typeface="Arial" charset="0"/>
                        </a:rPr>
                        <a:t>Factory expense</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sng" strike="noStrike" cap="none" normalizeH="0" baseline="0" dirty="0">
                          <a:ln>
                            <a:noFill/>
                          </a:ln>
                          <a:solidFill>
                            <a:schemeClr val="tx1"/>
                          </a:solidFill>
                          <a:effectLst/>
                          <a:latin typeface="Arial" charset="0"/>
                          <a:cs typeface="Arial" charset="0"/>
                        </a:rPr>
                        <a:t>7,000</a:t>
                      </a:r>
                    </a:p>
                  </a:txBody>
                  <a:tcPr horzOverflow="overflow"/>
                </a:tc>
                <a:extLst>
                  <a:ext uri="{0D108BD9-81ED-4DB2-BD59-A6C34878D82A}">
                    <a16:rowId xmlns:a16="http://schemas.microsoft.com/office/drawing/2014/main" val="1000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a:ln>
                            <a:noFill/>
                          </a:ln>
                          <a:solidFill>
                            <a:schemeClr val="tx1"/>
                          </a:solidFill>
                          <a:effectLst/>
                          <a:latin typeface="Arial" charset="0"/>
                          <a:cs typeface="Arial" charset="0"/>
                        </a:rPr>
                        <a:t>Factory cost</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dirty="0">
                          <a:ln>
                            <a:noFill/>
                          </a:ln>
                          <a:solidFill>
                            <a:schemeClr val="tx1"/>
                          </a:solidFill>
                          <a:effectLst/>
                          <a:latin typeface="Arial" charset="0"/>
                          <a:cs typeface="Arial" charset="0"/>
                        </a:rPr>
                        <a:t>295,500</a:t>
                      </a:r>
                      <a:endParaRPr kumimoji="0" lang="en-GB" sz="1800" b="0" i="0" u="sng"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9"/>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none" strike="noStrike" cap="none" normalizeH="0" baseline="0">
                          <a:ln>
                            <a:noFill/>
                          </a:ln>
                          <a:solidFill>
                            <a:schemeClr val="tx1"/>
                          </a:solidFill>
                          <a:effectLst/>
                          <a:latin typeface="Arial" charset="0"/>
                          <a:cs typeface="Arial" charset="0"/>
                        </a:rPr>
                        <a:t>Less: Increase in finished goods inventory during year</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0" i="0" u="sng" strike="noStrike" cap="none" normalizeH="0" baseline="0" dirty="0">
                          <a:ln>
                            <a:noFill/>
                          </a:ln>
                          <a:solidFill>
                            <a:schemeClr val="tx1"/>
                          </a:solidFill>
                          <a:effectLst/>
                          <a:latin typeface="Arial" charset="0"/>
                          <a:cs typeface="Arial" charset="0"/>
                        </a:rPr>
                        <a:t>5,500</a:t>
                      </a:r>
                    </a:p>
                  </a:txBody>
                  <a:tcPr horzOverflow="overflow"/>
                </a:tc>
                <a:extLst>
                  <a:ext uri="{0D108BD9-81ED-4DB2-BD59-A6C34878D82A}">
                    <a16:rowId xmlns:a16="http://schemas.microsoft.com/office/drawing/2014/main" val="10010"/>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none" strike="noStrike" cap="none" normalizeH="0" baseline="0">
                          <a:ln>
                            <a:noFill/>
                          </a:ln>
                          <a:solidFill>
                            <a:schemeClr val="tx1"/>
                          </a:solidFill>
                          <a:effectLst/>
                          <a:latin typeface="Arial" charset="0"/>
                          <a:cs typeface="Arial" charset="0"/>
                        </a:rPr>
                        <a:t>Cost of goods sold</a:t>
                      </a: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en-US"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sz="1800" b="1" i="0" u="sng" strike="noStrike" cap="none" normalizeH="0" baseline="0" dirty="0">
                          <a:ln>
                            <a:noFill/>
                          </a:ln>
                          <a:solidFill>
                            <a:schemeClr val="tx1"/>
                          </a:solidFill>
                          <a:effectLst/>
                          <a:latin typeface="Arial" charset="0"/>
                          <a:cs typeface="Arial" charset="0"/>
                        </a:rPr>
                        <a:t>290,000</a:t>
                      </a:r>
                      <a:endParaRPr kumimoji="0" lang="en-GB" sz="1800" b="1"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11"/>
                  </a:ext>
                </a:extLst>
              </a:tr>
            </a:tbl>
          </a:graphicData>
        </a:graphic>
      </p:graphicFrame>
      <p:sp>
        <p:nvSpPr>
          <p:cNvPr id="4" name="Slide Number Placeholder 3"/>
          <p:cNvSpPr>
            <a:spLocks noGrp="1"/>
          </p:cNvSpPr>
          <p:nvPr>
            <p:ph type="sldNum" sz="quarter" idx="12"/>
          </p:nvPr>
        </p:nvSpPr>
        <p:spPr/>
        <p:txBody>
          <a:bodyPr/>
          <a:lstStyle/>
          <a:p>
            <a:fld id="{7E50C373-F1D0-494F-8D6D-366C958B3429}" type="slidenum">
              <a:rPr lang="en-GB" smtClean="0"/>
              <a:t>96</a:t>
            </a:fld>
            <a:endParaRPr lang="en-GB"/>
          </a:p>
        </p:txBody>
      </p:sp>
      <p:sp>
        <p:nvSpPr>
          <p:cNvPr id="3" name="Date Placeholder 2">
            <a:extLst>
              <a:ext uri="{FF2B5EF4-FFF2-40B4-BE49-F238E27FC236}">
                <a16:creationId xmlns:a16="http://schemas.microsoft.com/office/drawing/2014/main" id="{30E6EA14-2D86-4897-8790-96C465BC7146}"/>
              </a:ext>
            </a:extLst>
          </p:cNvPr>
          <p:cNvSpPr>
            <a:spLocks noGrp="1"/>
          </p:cNvSpPr>
          <p:nvPr>
            <p:ph type="dt" sz="half" idx="10"/>
          </p:nvPr>
        </p:nvSpPr>
        <p:spPr/>
        <p:txBody>
          <a:bodyPr/>
          <a:lstStyle/>
          <a:p>
            <a:fld id="{797A65E3-BF4A-47C1-A591-63BB4881AE76}" type="datetime1">
              <a:rPr lang="en-GB" smtClean="0"/>
              <a:t>21/02/2023</a:t>
            </a:fld>
            <a:endParaRPr lang="en-GB"/>
          </a:p>
        </p:txBody>
      </p:sp>
    </p:spTree>
    <p:extLst>
      <p:ext uri="{BB962C8B-B14F-4D97-AF65-F5344CB8AC3E}">
        <p14:creationId xmlns:p14="http://schemas.microsoft.com/office/powerpoint/2010/main" val="36980646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62A9560-2E7B-41A3-9F82-82295C59A7BE}" vid="{DD833A61-242F-4440-8F8C-EA11C2DDA7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 491 6 ACCOUNTING</Template>
  <TotalTime>963</TotalTime>
  <Words>3699</Words>
  <Application>Microsoft Office PowerPoint</Application>
  <PresentationFormat>Widescreen</PresentationFormat>
  <Paragraphs>756</Paragraphs>
  <Slides>97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97</vt:i4>
      </vt:variant>
    </vt:vector>
  </HeadingPairs>
  <TitlesOfParts>
    <vt:vector size="104" baseType="lpstr">
      <vt:lpstr>Arial</vt:lpstr>
      <vt:lpstr>Calibri</vt:lpstr>
      <vt:lpstr>Century Gothic</vt:lpstr>
      <vt:lpstr>Futura Md BT</vt:lpstr>
      <vt:lpstr>Times New Roman</vt:lpstr>
      <vt:lpstr>Wingdings</vt:lpstr>
      <vt:lpstr>Office Theme</vt:lpstr>
      <vt:lpstr>ME 491</vt:lpstr>
      <vt:lpstr>PowerPoint Presentation</vt:lpstr>
      <vt:lpstr>Influence of Accounting</vt:lpstr>
      <vt:lpstr>Why do engineers study Financial Accounting?</vt:lpstr>
      <vt:lpstr>What is Accounting?</vt:lpstr>
      <vt:lpstr>Accounting &amp; Bookkeeping</vt:lpstr>
      <vt:lpstr>Accounting</vt:lpstr>
      <vt:lpstr>Accounting</vt:lpstr>
      <vt:lpstr>Accounting</vt:lpstr>
      <vt:lpstr>Accounting</vt:lpstr>
      <vt:lpstr>Accounting Information</vt:lpstr>
      <vt:lpstr>Who are the Users of Accounting Information?</vt:lpstr>
      <vt:lpstr>Why Accounting Information?</vt:lpstr>
      <vt:lpstr>Accounting Information</vt:lpstr>
      <vt:lpstr>Accounting Information</vt:lpstr>
      <vt:lpstr>Need for Accounting Information</vt:lpstr>
      <vt:lpstr>Need for Accounting Information</vt:lpstr>
      <vt:lpstr>Need for Accounting Information</vt:lpstr>
      <vt:lpstr>Inside Demand for Accounting Information</vt:lpstr>
      <vt:lpstr>Managers</vt:lpstr>
      <vt:lpstr>Employees</vt:lpstr>
      <vt:lpstr>Employees</vt:lpstr>
      <vt:lpstr>Financial Accounting &amp; Management Accounting</vt:lpstr>
      <vt:lpstr>Financial Accounting &amp; Management Accounting</vt:lpstr>
      <vt:lpstr>Financial Accounting &amp; Management Accounting</vt:lpstr>
      <vt:lpstr>Financial Statements</vt:lpstr>
      <vt:lpstr>Financial Statements</vt:lpstr>
      <vt:lpstr>Financial Statements</vt:lpstr>
      <vt:lpstr>Financial Statements</vt:lpstr>
      <vt:lpstr>Financial Statements</vt:lpstr>
      <vt:lpstr>Financial Statements</vt:lpstr>
      <vt:lpstr>Statement of Cash Flows</vt:lpstr>
      <vt:lpstr>Retained Earnings</vt:lpstr>
      <vt:lpstr>Statement of Retained Earnings</vt:lpstr>
      <vt:lpstr>The Accounting Equation</vt:lpstr>
      <vt:lpstr>The Accounting Equation</vt:lpstr>
      <vt:lpstr>The Accounting Equation</vt:lpstr>
      <vt:lpstr>The Accounting Equation</vt:lpstr>
      <vt:lpstr>The Accounting Equation</vt:lpstr>
      <vt:lpstr>The Accounting Equation</vt:lpstr>
      <vt:lpstr>The Accounting Equation</vt:lpstr>
      <vt:lpstr>The Accounting Equation</vt:lpstr>
      <vt:lpstr>The Accounting Equation</vt:lpstr>
      <vt:lpstr>The Accounting Equation</vt:lpstr>
      <vt:lpstr>Assets, Liabilities &amp; Capital</vt:lpstr>
      <vt:lpstr>Assets, Liabilities &amp; Capital</vt:lpstr>
      <vt:lpstr>Fixed Assets</vt:lpstr>
      <vt:lpstr>Fixed Assets</vt:lpstr>
      <vt:lpstr>The Balance Sheet and the effects of Business Transactions</vt:lpstr>
      <vt:lpstr>K. Ananse Co. Ltd.  Balance Sheet as at 1 January 202X</vt:lpstr>
      <vt:lpstr>The purchase of an asset by cheque</vt:lpstr>
      <vt:lpstr>K. Ananse Co. Ltd.  Balance Sheet as at 3 January 202X</vt:lpstr>
      <vt:lpstr>The purchase of an asset and the incurring of a liability</vt:lpstr>
      <vt:lpstr>K. Ananse Co. Ltd.  Balance Sheet as at 6 January 202X</vt:lpstr>
      <vt:lpstr>Sale of an asset on credit</vt:lpstr>
      <vt:lpstr>K. Ananse Co. Ltd.  Balance Sheet as at 10 January 202X</vt:lpstr>
      <vt:lpstr>Sale of an asset for immediate payment</vt:lpstr>
      <vt:lpstr>K. Ananse Co. Ltd.  Balance Sheet as at 13 January 202X</vt:lpstr>
      <vt:lpstr>The payment of a liability (debt)</vt:lpstr>
      <vt:lpstr>K. Ananse Co. Ltd. Balance Sheet as at 15 January 202X</vt:lpstr>
      <vt:lpstr>Collection of an asset</vt:lpstr>
      <vt:lpstr>K. Ananse Co. Ltd. Balance Sheet as at 31 January 202X</vt:lpstr>
      <vt:lpstr>The Balance Sheet and the effects of Business Transactions</vt:lpstr>
      <vt:lpstr>Example of transaction</vt:lpstr>
      <vt:lpstr>Example of transaction</vt:lpstr>
      <vt:lpstr>Considerations for making entries into the Balance Sheet</vt:lpstr>
      <vt:lpstr>Income Statements</vt:lpstr>
      <vt:lpstr>Income Statements</vt:lpstr>
      <vt:lpstr>K. Ananse Co. Ltd. Income Statement For the Year Ended December 31, 202X</vt:lpstr>
      <vt:lpstr>Income Statements</vt:lpstr>
      <vt:lpstr>Income Statements</vt:lpstr>
      <vt:lpstr>Income Statements</vt:lpstr>
      <vt:lpstr>Income Statements</vt:lpstr>
      <vt:lpstr>Revenues</vt:lpstr>
      <vt:lpstr>Revenues</vt:lpstr>
      <vt:lpstr>Revenues</vt:lpstr>
      <vt:lpstr>Revenue and Income</vt:lpstr>
      <vt:lpstr>Expenses</vt:lpstr>
      <vt:lpstr>Expenses</vt:lpstr>
      <vt:lpstr>Expenses</vt:lpstr>
      <vt:lpstr>Expenses</vt:lpstr>
      <vt:lpstr>Expenses</vt:lpstr>
      <vt:lpstr>Formulae for the Income Statement</vt:lpstr>
      <vt:lpstr>Operating expenses</vt:lpstr>
      <vt:lpstr>Operating expenses</vt:lpstr>
      <vt:lpstr>Selling expenses</vt:lpstr>
      <vt:lpstr>Administrative expenses</vt:lpstr>
      <vt:lpstr>Administrative expenses</vt:lpstr>
      <vt:lpstr>Considerations for making entries into the Income statement</vt:lpstr>
      <vt:lpstr>Cost of Goods Sold Statement</vt:lpstr>
      <vt:lpstr>Cost of Goods Sold Statement</vt:lpstr>
      <vt:lpstr>Cost of Goods Sold Statement</vt:lpstr>
      <vt:lpstr>Cost of Goods Sold Statement</vt:lpstr>
      <vt:lpstr>Cost of Goods Sold Statement</vt:lpstr>
      <vt:lpstr>Total cost of the Cost of Goods Sold</vt:lpstr>
      <vt:lpstr>Inventories Terminologies</vt:lpstr>
      <vt:lpstr>K. Ananse Co. Ltd. Statement of Cost of Goods Sold For the Year Ended December 31, 202X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491</dc:title>
  <dc:creator>SHM AIKINS</dc:creator>
  <cp:lastModifiedBy>Prof. STEPHEN HILL MENDS AIKINS</cp:lastModifiedBy>
  <cp:revision>500</cp:revision>
  <dcterms:created xsi:type="dcterms:W3CDTF">2016-05-12T09:24:47Z</dcterms:created>
  <dcterms:modified xsi:type="dcterms:W3CDTF">2023-02-21T10:59:07Z</dcterms:modified>
</cp:coreProperties>
</file>