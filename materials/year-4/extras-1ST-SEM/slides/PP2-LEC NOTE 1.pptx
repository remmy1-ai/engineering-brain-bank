
<file path=[Content_Types].xml><?xml version="1.0" encoding="utf-8"?>
<Types xmlns="http://schemas.openxmlformats.org/package/2006/content-types">
  <Default Extension="xml" ContentType="application/xml"/>
  <Default Extension="bin" ContentType="application/vnd.openxmlformats-officedocument.presentationml.printerSettings"/>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F57E17-4BFC-4094-91EE-22892FF82B8E}" v="509" dt="2022-03-05T09:59:33.868"/>
    <p1510:client id="{59084E2C-A241-4FE6-8F03-61CB1D14FD5B}" v="114" dt="2022-03-09T17:26:35.856"/>
    <p1510:client id="{7B71412C-874B-4699-9DB8-C390D1AF43D9}" v="74" dt="2022-03-07T15:59:58.5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328"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printerSettings" Target="printerSettings/printerSettings1.bin"/><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5/10/relationships/revisionInfo" Target="revisionInfo.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08/04/22</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330EA680-D336-4FF7-8B7A-9848BB0A1C32}"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6743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08/04/22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97417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08/04/22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3191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08/04/22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4862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08/04/22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1842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08/04/22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7952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08/04/22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843993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08/04/22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6356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46CE7D5-CF57-46EF-B807-FDD0502418D4}" type="datetimeFigureOut">
              <a:rPr lang="en-US" smtClean="0"/>
              <a:t>08/04/22</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8880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08/04/22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5442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08/04/22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3556795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846CE7D5-CF57-46EF-B807-FDD0502418D4}" type="datetimeFigureOut">
              <a:rPr lang="en-US" smtClean="0"/>
              <a:t>08/04/22</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330EA680-D336-4FF7-8B7A-9848BB0A1C32}"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3455742"/>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marineinsight.com/main-engine/what-are-tie-rods-and-why-do-they-break/"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marineinsight.com/main-engine/everything-you-ever-wanted-to-know-about-crankcase-inspection-on-a-shi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17230"/>
            <a:ext cx="9144000" cy="653441"/>
          </a:xfrm>
        </p:spPr>
        <p:txBody>
          <a:bodyPr>
            <a:normAutofit fontScale="90000"/>
          </a:bodyPr>
          <a:lstStyle/>
          <a:p>
            <a:r>
              <a:rPr lang="en-US" dirty="0" smtClean="0">
                <a:latin typeface="Times New Roman"/>
                <a:cs typeface="Calibri Light"/>
              </a:rPr>
              <a:t>INTERNAL COMB  ENGS</a:t>
            </a:r>
            <a:endParaRPr lang="en-US" dirty="0">
              <a:cs typeface="Calibri Light"/>
            </a:endParaRPr>
          </a:p>
        </p:txBody>
      </p:sp>
      <p:sp>
        <p:nvSpPr>
          <p:cNvPr id="3" name="Subtitle 2"/>
          <p:cNvSpPr>
            <a:spLocks noGrp="1"/>
          </p:cNvSpPr>
          <p:nvPr>
            <p:ph type="subTitle" idx="1"/>
          </p:nvPr>
        </p:nvSpPr>
        <p:spPr>
          <a:xfrm>
            <a:off x="2250831" y="829994"/>
            <a:ext cx="8417169" cy="4783015"/>
          </a:xfrm>
        </p:spPr>
        <p:txBody>
          <a:bodyPr vert="horz" lIns="91440" tIns="45720" rIns="91440" bIns="45720" rtlCol="0" anchor="t">
            <a:normAutofit fontScale="77500" lnSpcReduction="20000"/>
          </a:bodyPr>
          <a:lstStyle/>
          <a:p>
            <a:r>
              <a:rPr lang="en-US" sz="2800" b="1" dirty="0">
                <a:latin typeface="Times New Roman"/>
                <a:cs typeface="Calibri" panose="020F0502020204030204"/>
              </a:rPr>
              <a:t>TOPICS TO STUDY</a:t>
            </a:r>
            <a:endParaRPr lang="en-US" dirty="0">
              <a:latin typeface="Calibri" panose="020F0502020204030204"/>
              <a:cs typeface="Calibri" panose="020F0502020204030204"/>
            </a:endParaRPr>
          </a:p>
          <a:p>
            <a:r>
              <a:rPr lang="en-US" sz="2800" dirty="0">
                <a:latin typeface="Times New Roman"/>
                <a:cs typeface="Calibri"/>
              </a:rPr>
              <a:t>-ENGINE COMPONENTS</a:t>
            </a:r>
          </a:p>
          <a:p>
            <a:r>
              <a:rPr lang="en-US" sz="2800" dirty="0">
                <a:latin typeface="Times New Roman"/>
                <a:cs typeface="Calibri"/>
              </a:rPr>
              <a:t>-SCAVENGING AND SUPERCHARGING</a:t>
            </a:r>
          </a:p>
          <a:p>
            <a:r>
              <a:rPr lang="en-US" sz="2800" dirty="0">
                <a:latin typeface="Times New Roman"/>
                <a:cs typeface="Calibri"/>
              </a:rPr>
              <a:t>-FOURSTROKE ENGINES</a:t>
            </a:r>
          </a:p>
          <a:p>
            <a:r>
              <a:rPr lang="en-US" sz="2800" dirty="0">
                <a:latin typeface="Times New Roman"/>
                <a:cs typeface="Calibri"/>
              </a:rPr>
              <a:t>- TWO STROKE ENGINES</a:t>
            </a:r>
          </a:p>
          <a:p>
            <a:r>
              <a:rPr lang="en-US" sz="2800" dirty="0">
                <a:latin typeface="Times New Roman"/>
                <a:cs typeface="Calibri"/>
              </a:rPr>
              <a:t>-EXHAUST SYSTEMS</a:t>
            </a:r>
          </a:p>
          <a:p>
            <a:r>
              <a:rPr lang="en-US" sz="2800" dirty="0">
                <a:latin typeface="Times New Roman"/>
                <a:cs typeface="Calibri"/>
              </a:rPr>
              <a:t> -DIESEL ENGINE CONTROL</a:t>
            </a:r>
          </a:p>
          <a:p>
            <a:r>
              <a:rPr lang="en-US" sz="2800" dirty="0">
                <a:latin typeface="Times New Roman"/>
                <a:cs typeface="Calibri"/>
              </a:rPr>
              <a:t>-MULTI ENGINE PROPULSION ARRANGEMENT</a:t>
            </a:r>
          </a:p>
          <a:p>
            <a:r>
              <a:rPr lang="en-US" sz="2800" dirty="0">
                <a:latin typeface="Times New Roman"/>
                <a:cs typeface="Calibri"/>
              </a:rPr>
              <a:t>-FUEL INJECTION</a:t>
            </a:r>
          </a:p>
          <a:p>
            <a:r>
              <a:rPr lang="en-US" sz="2800" dirty="0">
                <a:latin typeface="Times New Roman"/>
                <a:cs typeface="Calibri"/>
              </a:rPr>
              <a:t>-STARTING AND REVERSING</a:t>
            </a:r>
          </a:p>
          <a:p>
            <a:endParaRPr lang="en-US" sz="2800" dirty="0">
              <a:latin typeface="Times New Roman"/>
              <a:cs typeface="Calibri"/>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80A3610-5802-42C1-96BF-7238FE285E80}"/>
              </a:ext>
            </a:extLst>
          </p:cNvPr>
          <p:cNvSpPr>
            <a:spLocks noGrp="1"/>
          </p:cNvSpPr>
          <p:nvPr>
            <p:ph type="title"/>
          </p:nvPr>
        </p:nvSpPr>
        <p:spPr>
          <a:xfrm>
            <a:off x="1451579" y="1336431"/>
            <a:ext cx="9603275" cy="517323"/>
          </a:xfrm>
        </p:spPr>
        <p:txBody>
          <a:bodyPr>
            <a:normAutofit fontScale="90000"/>
          </a:bodyPr>
          <a:lstStyle/>
          <a:p>
            <a:r>
              <a:rPr lang="en-US" b="1" dirty="0">
                <a:latin typeface="Times New Roman"/>
                <a:cs typeface="Calibri Light"/>
              </a:rPr>
              <a:t>ENGINE COMPONENTS</a:t>
            </a:r>
            <a:endParaRPr lang="en-US" b="1" dirty="0">
              <a:latin typeface="Times New Roman"/>
              <a:cs typeface="Times New Roman"/>
            </a:endParaRPr>
          </a:p>
        </p:txBody>
      </p:sp>
      <p:sp>
        <p:nvSpPr>
          <p:cNvPr id="3" name="Content Placeholder 2">
            <a:extLst>
              <a:ext uri="{FF2B5EF4-FFF2-40B4-BE49-F238E27FC236}">
                <a16:creationId xmlns="" xmlns:a16="http://schemas.microsoft.com/office/drawing/2014/main" id="{11E32FBC-64C0-4C74-A5E2-16D548A831EA}"/>
              </a:ext>
            </a:extLst>
          </p:cNvPr>
          <p:cNvSpPr>
            <a:spLocks noGrp="1"/>
          </p:cNvSpPr>
          <p:nvPr>
            <p:ph idx="1"/>
          </p:nvPr>
        </p:nvSpPr>
        <p:spPr>
          <a:xfrm>
            <a:off x="838200" y="1853754"/>
            <a:ext cx="10515600" cy="4199727"/>
          </a:xfrm>
        </p:spPr>
        <p:txBody>
          <a:bodyPr vert="horz" lIns="91440" tIns="45720" rIns="91440" bIns="45720" rtlCol="0" anchor="t">
            <a:normAutofit/>
          </a:bodyPr>
          <a:lstStyle/>
          <a:p>
            <a:r>
              <a:rPr lang="en-US" dirty="0">
                <a:latin typeface="Times New Roman"/>
                <a:cs typeface="Calibri"/>
              </a:rPr>
              <a:t>Bedplate                                                                                 </a:t>
            </a:r>
          </a:p>
          <a:p>
            <a:r>
              <a:rPr lang="en-US" dirty="0">
                <a:latin typeface="Times New Roman"/>
                <a:cs typeface="Calibri"/>
              </a:rPr>
              <a:t>A-Frame </a:t>
            </a:r>
          </a:p>
          <a:p>
            <a:r>
              <a:rPr lang="en-US" dirty="0">
                <a:latin typeface="Times New Roman"/>
                <a:cs typeface="Calibri"/>
              </a:rPr>
              <a:t>Entablature</a:t>
            </a:r>
          </a:p>
          <a:p>
            <a:r>
              <a:rPr lang="en-US" dirty="0">
                <a:latin typeface="Times New Roman"/>
                <a:cs typeface="Calibri"/>
              </a:rPr>
              <a:t>Holding down bolts(tie bolts)</a:t>
            </a:r>
          </a:p>
          <a:p>
            <a:r>
              <a:rPr lang="en-US" dirty="0">
                <a:latin typeface="Times New Roman"/>
                <a:cs typeface="Calibri"/>
              </a:rPr>
              <a:t>Crankshaft</a:t>
            </a:r>
          </a:p>
          <a:p>
            <a:r>
              <a:rPr lang="en-US" dirty="0">
                <a:latin typeface="Times New Roman"/>
                <a:cs typeface="Calibri"/>
              </a:rPr>
              <a:t>Cylinder and Cylinder liner , Cylinder lubrication</a:t>
            </a:r>
          </a:p>
          <a:p>
            <a:r>
              <a:rPr lang="en-US" dirty="0">
                <a:latin typeface="Times New Roman"/>
                <a:cs typeface="Calibri"/>
              </a:rPr>
              <a:t>Piston and piston rings</a:t>
            </a:r>
          </a:p>
          <a:p>
            <a:pPr marL="0" indent="0">
              <a:buNone/>
            </a:pPr>
            <a:endParaRPr lang="en-US" dirty="0">
              <a:latin typeface="Times New Roman"/>
              <a:cs typeface="Calibri"/>
            </a:endParaRPr>
          </a:p>
          <a:p>
            <a:endParaRPr lang="en-US" dirty="0">
              <a:latin typeface="Times New Roman"/>
              <a:cs typeface="Calibri"/>
            </a:endParaRPr>
          </a:p>
        </p:txBody>
      </p:sp>
      <p:pic>
        <p:nvPicPr>
          <p:cNvPr id="5" name="Picture 4">
            <a:extLst>
              <a:ext uri="{FF2B5EF4-FFF2-40B4-BE49-F238E27FC236}">
                <a16:creationId xmlns="" xmlns:a16="http://schemas.microsoft.com/office/drawing/2014/main" id="{E1BA63C3-9646-4752-AB21-2275C544AE12}"/>
              </a:ext>
            </a:extLst>
          </p:cNvPr>
          <p:cNvPicPr>
            <a:picLocks noChangeAspect="1"/>
          </p:cNvPicPr>
          <p:nvPr/>
        </p:nvPicPr>
        <p:blipFill>
          <a:blip r:embed="rId2"/>
          <a:stretch>
            <a:fillRect/>
          </a:stretch>
        </p:blipFill>
        <p:spPr>
          <a:xfrm>
            <a:off x="6690465" y="2152356"/>
            <a:ext cx="4240131" cy="3249638"/>
          </a:xfrm>
          <a:prstGeom prst="rect">
            <a:avLst/>
          </a:prstGeom>
        </p:spPr>
      </p:pic>
    </p:spTree>
    <p:extLst>
      <p:ext uri="{BB962C8B-B14F-4D97-AF65-F5344CB8AC3E}">
        <p14:creationId xmlns:p14="http://schemas.microsoft.com/office/powerpoint/2010/main" val="591739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194B1A9-7484-42ED-8A0E-60EC4D3A2A6F}"/>
              </a:ext>
            </a:extLst>
          </p:cNvPr>
          <p:cNvSpPr>
            <a:spLocks noGrp="1"/>
          </p:cNvSpPr>
          <p:nvPr>
            <p:ph type="title"/>
          </p:nvPr>
        </p:nvSpPr>
        <p:spPr>
          <a:xfrm>
            <a:off x="1451579" y="1322363"/>
            <a:ext cx="9603275" cy="531391"/>
          </a:xfrm>
        </p:spPr>
        <p:txBody>
          <a:bodyPr/>
          <a:lstStyle/>
          <a:p>
            <a:r>
              <a:rPr lang="en-US" b="1" dirty="0">
                <a:latin typeface="Times New Roman"/>
                <a:cs typeface="Calibri Light"/>
              </a:rPr>
              <a:t>BEDPLATE</a:t>
            </a:r>
          </a:p>
        </p:txBody>
      </p:sp>
      <p:sp>
        <p:nvSpPr>
          <p:cNvPr id="3" name="Content Placeholder 2">
            <a:extLst>
              <a:ext uri="{FF2B5EF4-FFF2-40B4-BE49-F238E27FC236}">
                <a16:creationId xmlns="" xmlns:a16="http://schemas.microsoft.com/office/drawing/2014/main" id="{5A813E6F-4117-408B-935B-57C060A34BCC}"/>
              </a:ext>
            </a:extLst>
          </p:cNvPr>
          <p:cNvSpPr>
            <a:spLocks noGrp="1"/>
          </p:cNvSpPr>
          <p:nvPr>
            <p:ph idx="1"/>
          </p:nvPr>
        </p:nvSpPr>
        <p:spPr>
          <a:xfrm>
            <a:off x="838200" y="1322363"/>
            <a:ext cx="10515600" cy="4983996"/>
          </a:xfrm>
        </p:spPr>
        <p:txBody>
          <a:bodyPr vert="horz" lIns="91440" tIns="45720" rIns="91440" bIns="45720" rtlCol="0" anchor="t">
            <a:normAutofit/>
          </a:bodyPr>
          <a:lstStyle/>
          <a:p>
            <a:pPr marL="0" indent="0">
              <a:buNone/>
            </a:pPr>
            <a:endParaRPr lang="en-US" dirty="0">
              <a:cs typeface="Calibri"/>
            </a:endParaRPr>
          </a:p>
          <a:p>
            <a:r>
              <a:rPr lang="en-US" dirty="0">
                <a:latin typeface="Times New Roman"/>
                <a:cs typeface="Calibri"/>
              </a:rPr>
              <a:t>Main strength member, supports weight of other engine components.</a:t>
            </a:r>
          </a:p>
          <a:p>
            <a:r>
              <a:rPr lang="en-US" dirty="0">
                <a:latin typeface="Times New Roman"/>
                <a:cs typeface="Calibri"/>
              </a:rPr>
              <a:t>Provides rigid support for main bearings and crankshaft.</a:t>
            </a:r>
          </a:p>
          <a:p>
            <a:r>
              <a:rPr lang="en-US" dirty="0">
                <a:latin typeface="Times New Roman"/>
                <a:cs typeface="Calibri"/>
              </a:rPr>
              <a:t>Support the static load of stationary engine frame.</a:t>
            </a:r>
          </a:p>
          <a:p>
            <a:r>
              <a:rPr lang="en-US" dirty="0">
                <a:latin typeface="Times New Roman"/>
                <a:cs typeface="Calibri"/>
              </a:rPr>
              <a:t>Capable of withstanding fluctuating forces created during operation of the engine.</a:t>
            </a:r>
          </a:p>
          <a:p>
            <a:r>
              <a:rPr lang="en-US" dirty="0">
                <a:latin typeface="Times New Roman"/>
                <a:cs typeface="Calibri"/>
              </a:rPr>
              <a:t>Distribute static and dynamic load generated by running engine onto ship structure or hull.</a:t>
            </a:r>
          </a:p>
          <a:p>
            <a:r>
              <a:rPr lang="en-US" dirty="0">
                <a:latin typeface="Times New Roman"/>
                <a:cs typeface="Calibri"/>
              </a:rPr>
              <a:t>Collect the crankcase lube oil and transfer it to the sump tank from where the lube oil pump can take suction.</a:t>
            </a:r>
          </a:p>
          <a:p>
            <a:r>
              <a:rPr lang="en-US" dirty="0">
                <a:latin typeface="Times New Roman"/>
                <a:cs typeface="Calibri"/>
              </a:rPr>
              <a:t>Fasten engine to the tank top transmitting propeller thrust</a:t>
            </a:r>
          </a:p>
          <a:p>
            <a:endParaRPr lang="en-US" dirty="0">
              <a:cs typeface="Calibri"/>
            </a:endParaRPr>
          </a:p>
          <a:p>
            <a:endParaRPr lang="en-US" dirty="0">
              <a:cs typeface="Calibri"/>
            </a:endParaRPr>
          </a:p>
          <a:p>
            <a:endParaRPr lang="en-US" dirty="0">
              <a:cs typeface="Calibri"/>
            </a:endParaRPr>
          </a:p>
          <a:p>
            <a:endParaRPr lang="en-US" dirty="0">
              <a:cs typeface="Calibri"/>
            </a:endParaRPr>
          </a:p>
        </p:txBody>
      </p:sp>
    </p:spTree>
    <p:extLst>
      <p:ext uri="{BB962C8B-B14F-4D97-AF65-F5344CB8AC3E}">
        <p14:creationId xmlns:p14="http://schemas.microsoft.com/office/powerpoint/2010/main" val="1294567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7FC9C60-3D41-4C4D-8459-8B3EE03910A6}"/>
              </a:ext>
            </a:extLst>
          </p:cNvPr>
          <p:cNvSpPr>
            <a:spLocks noGrp="1"/>
          </p:cNvSpPr>
          <p:nvPr>
            <p:ph type="title"/>
          </p:nvPr>
        </p:nvSpPr>
        <p:spPr>
          <a:xfrm>
            <a:off x="1451579" y="1308295"/>
            <a:ext cx="9603275" cy="545459"/>
          </a:xfrm>
        </p:spPr>
        <p:txBody>
          <a:bodyPr/>
          <a:lstStyle/>
          <a:p>
            <a:r>
              <a:rPr lang="en-US" b="1" dirty="0">
                <a:latin typeface="Times New Roman"/>
                <a:cs typeface="Calibri Light" panose="020F0302020204030204"/>
              </a:rPr>
              <a:t>TYPES OF BEDPLATE</a:t>
            </a:r>
          </a:p>
        </p:txBody>
      </p:sp>
      <p:sp>
        <p:nvSpPr>
          <p:cNvPr id="3" name="Content Placeholder 2">
            <a:extLst>
              <a:ext uri="{FF2B5EF4-FFF2-40B4-BE49-F238E27FC236}">
                <a16:creationId xmlns="" xmlns:a16="http://schemas.microsoft.com/office/drawing/2014/main" id="{A2E8447B-C1FA-454D-B020-B39AAC1F69CD}"/>
              </a:ext>
            </a:extLst>
          </p:cNvPr>
          <p:cNvSpPr>
            <a:spLocks noGrp="1"/>
          </p:cNvSpPr>
          <p:nvPr>
            <p:ph idx="1"/>
          </p:nvPr>
        </p:nvSpPr>
        <p:spPr>
          <a:xfrm>
            <a:off x="838200" y="2256945"/>
            <a:ext cx="10515600" cy="3920018"/>
          </a:xfrm>
        </p:spPr>
        <p:txBody>
          <a:bodyPr vert="horz" lIns="91440" tIns="45720" rIns="91440" bIns="45720" rtlCol="0" anchor="t">
            <a:normAutofit/>
          </a:bodyPr>
          <a:lstStyle/>
          <a:p>
            <a:r>
              <a:rPr lang="en-US" b="1">
                <a:latin typeface="Times New Roman"/>
                <a:cs typeface="Calibri"/>
              </a:rPr>
              <a:t>TYPES</a:t>
            </a:r>
          </a:p>
          <a:p>
            <a:r>
              <a:rPr lang="en-US">
                <a:latin typeface="Times New Roman"/>
                <a:cs typeface="Calibri"/>
              </a:rPr>
              <a:t>Two types: Box type bedplate and Trestle type bedplate</a:t>
            </a:r>
            <a:endParaRPr lang="en-US">
              <a:latin typeface="Times New Roman"/>
              <a:cs typeface="Times New Roman"/>
            </a:endParaRPr>
          </a:p>
          <a:p>
            <a:r>
              <a:rPr lang="en-US">
                <a:latin typeface="Times New Roman"/>
                <a:cs typeface="Calibri"/>
              </a:rPr>
              <a:t>Box-type bedplate – Flat bottom which allows it to be bolted to ship's flat tank top</a:t>
            </a:r>
          </a:p>
          <a:p>
            <a:r>
              <a:rPr lang="en-US">
                <a:latin typeface="Times New Roman"/>
                <a:cs typeface="Calibri"/>
              </a:rPr>
              <a:t>Trestle type bedplate-Sits upon two parallel raised portions of ship's structure located at the fore and aft direction.</a:t>
            </a:r>
          </a:p>
          <a:p>
            <a:pPr marL="0" indent="0">
              <a:buNone/>
            </a:pPr>
            <a:endParaRPr lang="en-US">
              <a:latin typeface="Times New Roman"/>
              <a:cs typeface="Calibri"/>
            </a:endParaRPr>
          </a:p>
        </p:txBody>
      </p:sp>
    </p:spTree>
    <p:extLst>
      <p:ext uri="{BB962C8B-B14F-4D97-AF65-F5344CB8AC3E}">
        <p14:creationId xmlns:p14="http://schemas.microsoft.com/office/powerpoint/2010/main" val="1330100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13AE7B-0607-494A-AE75-DD3BE17B5D84}"/>
              </a:ext>
            </a:extLst>
          </p:cNvPr>
          <p:cNvSpPr>
            <a:spLocks noGrp="1"/>
          </p:cNvSpPr>
          <p:nvPr>
            <p:ph type="title"/>
          </p:nvPr>
        </p:nvSpPr>
        <p:spPr>
          <a:xfrm>
            <a:off x="1451579" y="1280160"/>
            <a:ext cx="9603275" cy="573594"/>
          </a:xfrm>
        </p:spPr>
        <p:txBody>
          <a:bodyPr/>
          <a:lstStyle/>
          <a:p>
            <a:r>
              <a:rPr lang="en-US" b="1" dirty="0">
                <a:latin typeface="Times New Roman"/>
                <a:ea typeface="+mj-lt"/>
                <a:cs typeface="+mj-lt"/>
              </a:rPr>
              <a:t>CONTRUCTION OF BEDPLATE</a:t>
            </a:r>
          </a:p>
        </p:txBody>
      </p:sp>
      <p:sp>
        <p:nvSpPr>
          <p:cNvPr id="3" name="Content Placeholder 2">
            <a:extLst>
              <a:ext uri="{FF2B5EF4-FFF2-40B4-BE49-F238E27FC236}">
                <a16:creationId xmlns="" xmlns:a16="http://schemas.microsoft.com/office/drawing/2014/main" id="{CC0FFD6C-66A7-4782-8FE1-BF23A1554796}"/>
              </a:ext>
            </a:extLst>
          </p:cNvPr>
          <p:cNvSpPr>
            <a:spLocks noGrp="1"/>
          </p:cNvSpPr>
          <p:nvPr>
            <p:ph idx="1"/>
          </p:nvPr>
        </p:nvSpPr>
        <p:spPr/>
        <p:txBody>
          <a:bodyPr vert="horz" lIns="91440" tIns="45720" rIns="91440" bIns="45720" rtlCol="0" anchor="t">
            <a:normAutofit/>
          </a:bodyPr>
          <a:lstStyle/>
          <a:p>
            <a:r>
              <a:rPr lang="en-US">
                <a:latin typeface="Times New Roman"/>
                <a:cs typeface="Calibri"/>
              </a:rPr>
              <a:t>Longitudinal girders and transverse girders</a:t>
            </a:r>
          </a:p>
          <a:p>
            <a:r>
              <a:rPr lang="en-US">
                <a:latin typeface="Times New Roman"/>
                <a:cs typeface="Calibri"/>
              </a:rPr>
              <a:t>Two longitudinal girders which run the length of the engine.</a:t>
            </a:r>
          </a:p>
          <a:p>
            <a:r>
              <a:rPr lang="en-US">
                <a:latin typeface="Times New Roman"/>
                <a:cs typeface="Calibri"/>
              </a:rPr>
              <a:t>Connecting to the two longitudinal girders are the transverse girders which are positioned between each crankshaft throw.</a:t>
            </a:r>
          </a:p>
          <a:p>
            <a:r>
              <a:rPr lang="en-US">
                <a:latin typeface="Times New Roman"/>
                <a:cs typeface="Calibri"/>
              </a:rPr>
              <a:t>Built into transverse girders are main bearing pockets for crankshaft to run in. </a:t>
            </a:r>
          </a:p>
          <a:p>
            <a:r>
              <a:rPr lang="en-US">
                <a:latin typeface="Times New Roman"/>
                <a:cs typeface="Calibri"/>
              </a:rPr>
              <a:t>Made of cast iron as single casting, while larger engines have bedplates made of fabricated steel </a:t>
            </a:r>
            <a:r>
              <a:rPr lang="en-US" err="1">
                <a:latin typeface="Times New Roman"/>
                <a:cs typeface="Calibri"/>
              </a:rPr>
              <a:t>i.e</a:t>
            </a:r>
            <a:r>
              <a:rPr lang="en-US">
                <a:latin typeface="Times New Roman"/>
                <a:cs typeface="Calibri"/>
              </a:rPr>
              <a:t>: steel sections, steel castings and plates welded together.</a:t>
            </a:r>
          </a:p>
        </p:txBody>
      </p:sp>
    </p:spTree>
    <p:extLst>
      <p:ext uri="{BB962C8B-B14F-4D97-AF65-F5344CB8AC3E}">
        <p14:creationId xmlns:p14="http://schemas.microsoft.com/office/powerpoint/2010/main" val="2426177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5558CB-C6D5-4175-8659-1212C7A7D358}"/>
              </a:ext>
            </a:extLst>
          </p:cNvPr>
          <p:cNvSpPr>
            <a:spLocks noGrp="1"/>
          </p:cNvSpPr>
          <p:nvPr>
            <p:ph type="title"/>
          </p:nvPr>
        </p:nvSpPr>
        <p:spPr>
          <a:xfrm>
            <a:off x="1451579" y="1391655"/>
            <a:ext cx="9603275" cy="462099"/>
          </a:xfrm>
        </p:spPr>
        <p:txBody>
          <a:bodyPr>
            <a:normAutofit fontScale="90000"/>
          </a:bodyPr>
          <a:lstStyle/>
          <a:p>
            <a:r>
              <a:rPr lang="en-US" b="1" dirty="0">
                <a:latin typeface="Times New Roman"/>
                <a:cs typeface="Calibri Light"/>
              </a:rPr>
              <a:t>A-FRAME AND ENTABLATURE</a:t>
            </a:r>
            <a:endParaRPr lang="en-US" b="1" dirty="0">
              <a:latin typeface="Times New Roman"/>
              <a:cs typeface="Times New Roman"/>
            </a:endParaRPr>
          </a:p>
        </p:txBody>
      </p:sp>
      <p:sp>
        <p:nvSpPr>
          <p:cNvPr id="3" name="Content Placeholder 2">
            <a:extLst>
              <a:ext uri="{FF2B5EF4-FFF2-40B4-BE49-F238E27FC236}">
                <a16:creationId xmlns="" xmlns:a16="http://schemas.microsoft.com/office/drawing/2014/main" id="{3ADDDD3A-159F-4AA1-8E12-88D47C7DA170}"/>
              </a:ext>
            </a:extLst>
          </p:cNvPr>
          <p:cNvSpPr>
            <a:spLocks noGrp="1"/>
          </p:cNvSpPr>
          <p:nvPr>
            <p:ph idx="1"/>
          </p:nvPr>
        </p:nvSpPr>
        <p:spPr/>
        <p:txBody>
          <a:bodyPr vert="horz" lIns="91440" tIns="45720" rIns="91440" bIns="45720" rtlCol="0" anchor="t">
            <a:normAutofit/>
          </a:bodyPr>
          <a:lstStyle/>
          <a:p>
            <a:r>
              <a:rPr lang="en-US" dirty="0">
                <a:latin typeface="Times New Roman"/>
                <a:cs typeface="Calibri"/>
              </a:rPr>
              <a:t>A-FRAME: Supports crosshead guides and supports engine entablature</a:t>
            </a:r>
          </a:p>
          <a:p>
            <a:r>
              <a:rPr lang="en-US" dirty="0">
                <a:latin typeface="Times New Roman"/>
                <a:ea typeface="+mn-lt"/>
                <a:cs typeface="+mn-lt"/>
              </a:rPr>
              <a:t>An entablature is a part of the ship’s main engine. It is the housing which holds the cylinder liner, along with the scavenge air space and cooling water spaces. The entablature is usually made of cast iron.</a:t>
            </a:r>
          </a:p>
          <a:p>
            <a:r>
              <a:rPr lang="en-US" dirty="0">
                <a:latin typeface="Times New Roman"/>
                <a:ea typeface="+mn-lt"/>
                <a:cs typeface="+mn-lt"/>
              </a:rPr>
              <a:t>Fitted bolts are used to align and bolt the “A” frame to the entablature. It is to note that the “fitted bolts” that are used to bolt entablature, A” frames and bedplate together are only for alignment purpose and not to resist stresses generated as a result of firing forces. This work is done by </a:t>
            </a:r>
            <a:r>
              <a:rPr lang="en-US" dirty="0">
                <a:latin typeface="Times New Roman"/>
                <a:ea typeface="+mn-lt"/>
                <a:cs typeface="+mn-lt"/>
                <a:hlinkClick r:id="rId2"/>
              </a:rPr>
              <a:t>tie rods.</a:t>
            </a:r>
            <a:endParaRPr lang="en-US" dirty="0">
              <a:latin typeface="Times New Roman"/>
              <a:ea typeface="+mn-lt"/>
              <a:cs typeface="+mn-lt"/>
            </a:endParaRPr>
          </a:p>
        </p:txBody>
      </p:sp>
    </p:spTree>
    <p:extLst>
      <p:ext uri="{BB962C8B-B14F-4D97-AF65-F5344CB8AC3E}">
        <p14:creationId xmlns:p14="http://schemas.microsoft.com/office/powerpoint/2010/main" val="341110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088038-DFB8-453B-A838-93779965873D}"/>
              </a:ext>
            </a:extLst>
          </p:cNvPr>
          <p:cNvSpPr>
            <a:spLocks noGrp="1"/>
          </p:cNvSpPr>
          <p:nvPr>
            <p:ph type="title"/>
          </p:nvPr>
        </p:nvSpPr>
        <p:spPr>
          <a:xfrm>
            <a:off x="1451579" y="1391655"/>
            <a:ext cx="9603275" cy="462099"/>
          </a:xfrm>
        </p:spPr>
        <p:txBody>
          <a:bodyPr>
            <a:normAutofit fontScale="90000"/>
          </a:bodyPr>
          <a:lstStyle/>
          <a:p>
            <a:r>
              <a:rPr lang="en-US" b="1" dirty="0">
                <a:latin typeface="Times New Roman"/>
                <a:cs typeface="Calibri Light"/>
              </a:rPr>
              <a:t>TIE RODS/TIE BOLTS</a:t>
            </a:r>
          </a:p>
        </p:txBody>
      </p:sp>
      <p:sp>
        <p:nvSpPr>
          <p:cNvPr id="3" name="Content Placeholder 2">
            <a:extLst>
              <a:ext uri="{FF2B5EF4-FFF2-40B4-BE49-F238E27FC236}">
                <a16:creationId xmlns="" xmlns:a16="http://schemas.microsoft.com/office/drawing/2014/main" id="{67A847F8-D65C-49DC-9D28-CBA6E4CD59EE}"/>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Tie rod is a long strong rod with bolts or tie bolts at both the end. This rod holds the three major engine components i.e. Cylinder block or entablature, “A” frame, and </a:t>
            </a:r>
            <a:r>
              <a:rPr lang="en-US">
                <a:latin typeface="Times New Roman"/>
                <a:ea typeface="+mn-lt"/>
                <a:cs typeface="+mn-lt"/>
                <a:hlinkClick r:id="rId2"/>
              </a:rPr>
              <a:t>crankcase</a:t>
            </a:r>
            <a:r>
              <a:rPr lang="en-US">
                <a:latin typeface="Times New Roman"/>
                <a:ea typeface="+mn-lt"/>
                <a:cs typeface="+mn-lt"/>
              </a:rPr>
              <a:t> in compression and transmits the firing load to the bedplate.</a:t>
            </a:r>
            <a:endParaRPr lang="en-US">
              <a:latin typeface="Times New Roman"/>
              <a:cs typeface="Calibri" panose="020F0502020204030204"/>
            </a:endParaRPr>
          </a:p>
          <a:p>
            <a:r>
              <a:rPr lang="en-US">
                <a:latin typeface="Times New Roman"/>
                <a:ea typeface="+mn-lt"/>
                <a:cs typeface="+mn-lt"/>
              </a:rPr>
              <a:t>The tie rods are fitted through the above mentioned components and are hydraulically tightened so that the whole engine can be held in compression.</a:t>
            </a:r>
            <a:endParaRPr lang="en-US">
              <a:latin typeface="Times New Roman"/>
              <a:cs typeface="Times New Roman"/>
            </a:endParaRPr>
          </a:p>
          <a:p>
            <a:endParaRPr lang="en-US">
              <a:cs typeface="Calibri"/>
            </a:endParaRPr>
          </a:p>
        </p:txBody>
      </p:sp>
    </p:spTree>
    <p:extLst>
      <p:ext uri="{BB962C8B-B14F-4D97-AF65-F5344CB8AC3E}">
        <p14:creationId xmlns:p14="http://schemas.microsoft.com/office/powerpoint/2010/main" val="929167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5FBBCC-F62C-4578-9C30-0A87C051B699}"/>
              </a:ext>
            </a:extLst>
          </p:cNvPr>
          <p:cNvSpPr>
            <a:spLocks noGrp="1"/>
          </p:cNvSpPr>
          <p:nvPr>
            <p:ph type="title"/>
          </p:nvPr>
        </p:nvSpPr>
        <p:spPr/>
        <p:txBody>
          <a:bodyPr/>
          <a:lstStyle/>
          <a:p>
            <a:r>
              <a:rPr lang="en-US">
                <a:latin typeface="Times New Roman"/>
                <a:cs typeface="Calibri Light"/>
              </a:rPr>
              <a:t>HOLDING DOWN BOLTS</a:t>
            </a:r>
            <a:endParaRPr lang="en-US">
              <a:latin typeface="Times New Roman"/>
              <a:cs typeface="Times New Roman"/>
            </a:endParaRPr>
          </a:p>
        </p:txBody>
      </p:sp>
      <p:sp>
        <p:nvSpPr>
          <p:cNvPr id="3" name="Content Placeholder 2">
            <a:extLst>
              <a:ext uri="{FF2B5EF4-FFF2-40B4-BE49-F238E27FC236}">
                <a16:creationId xmlns="" xmlns:a16="http://schemas.microsoft.com/office/drawing/2014/main" id="{18CF40DC-1B1F-4AAD-A47A-4AF60F607C3C}"/>
              </a:ext>
            </a:extLst>
          </p:cNvPr>
          <p:cNvSpPr>
            <a:spLocks noGrp="1"/>
          </p:cNvSpPr>
          <p:nvPr>
            <p:ph idx="1"/>
          </p:nvPr>
        </p:nvSpPr>
        <p:spPr/>
        <p:txBody>
          <a:bodyPr vert="horz" lIns="91440" tIns="45720" rIns="91440" bIns="45720" rtlCol="0" anchor="t">
            <a:normAutofit/>
          </a:bodyPr>
          <a:lstStyle/>
          <a:p>
            <a:r>
              <a:rPr lang="en-US">
                <a:latin typeface="Times New Roman"/>
                <a:cs typeface="Calibri"/>
              </a:rPr>
              <a:t>Supported on a series of chocks.</a:t>
            </a:r>
          </a:p>
          <a:p>
            <a:r>
              <a:rPr lang="en-US">
                <a:latin typeface="Times New Roman"/>
                <a:cs typeface="Calibri"/>
              </a:rPr>
              <a:t>Strengthens stiffness of engine.</a:t>
            </a:r>
          </a:p>
          <a:p>
            <a:r>
              <a:rPr lang="en-US">
                <a:latin typeface="Times New Roman"/>
                <a:cs typeface="Calibri"/>
              </a:rPr>
              <a:t>Provides a clamping force.</a:t>
            </a:r>
          </a:p>
          <a:p>
            <a:endParaRPr lang="en-US">
              <a:latin typeface="Times New Roman"/>
              <a:cs typeface="Calibri"/>
            </a:endParaRPr>
          </a:p>
          <a:p>
            <a:endParaRPr lang="en-US">
              <a:cs typeface="Calibri"/>
            </a:endParaRPr>
          </a:p>
        </p:txBody>
      </p:sp>
      <p:pic>
        <p:nvPicPr>
          <p:cNvPr id="4" name="Picture 4" descr="Diagram&#10;&#10;Description automatically generated">
            <a:extLst>
              <a:ext uri="{FF2B5EF4-FFF2-40B4-BE49-F238E27FC236}">
                <a16:creationId xmlns="" xmlns:a16="http://schemas.microsoft.com/office/drawing/2014/main" id="{F74251CA-26BF-4D5A-A533-DFFB64676EEA}"/>
              </a:ext>
            </a:extLst>
          </p:cNvPr>
          <p:cNvPicPr>
            <a:picLocks noChangeAspect="1"/>
          </p:cNvPicPr>
          <p:nvPr/>
        </p:nvPicPr>
        <p:blipFill>
          <a:blip r:embed="rId2"/>
          <a:stretch>
            <a:fillRect/>
          </a:stretch>
        </p:blipFill>
        <p:spPr>
          <a:xfrm>
            <a:off x="6894394" y="1984077"/>
            <a:ext cx="4542345" cy="4643885"/>
          </a:xfrm>
          <a:prstGeom prst="rect">
            <a:avLst/>
          </a:prstGeom>
        </p:spPr>
      </p:pic>
    </p:spTree>
    <p:extLst>
      <p:ext uri="{BB962C8B-B14F-4D97-AF65-F5344CB8AC3E}">
        <p14:creationId xmlns:p14="http://schemas.microsoft.com/office/powerpoint/2010/main" val="3413899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2A86FC-A2FC-41F8-A7CA-1918ECB281B9}"/>
              </a:ext>
            </a:extLst>
          </p:cNvPr>
          <p:cNvSpPr>
            <a:spLocks noGrp="1"/>
          </p:cNvSpPr>
          <p:nvPr>
            <p:ph type="title"/>
          </p:nvPr>
        </p:nvSpPr>
        <p:spPr/>
        <p:txBody>
          <a:bodyPr/>
          <a:lstStyle/>
          <a:p>
            <a:endParaRPr lang="en-US"/>
          </a:p>
        </p:txBody>
      </p:sp>
      <p:pic>
        <p:nvPicPr>
          <p:cNvPr id="4" name="Picture 4" descr="Diagram, engineering drawing&#10;&#10;Description automatically generated">
            <a:extLst>
              <a:ext uri="{FF2B5EF4-FFF2-40B4-BE49-F238E27FC236}">
                <a16:creationId xmlns="" xmlns:a16="http://schemas.microsoft.com/office/drawing/2014/main" id="{8EAC2522-D6C7-4CD9-BFD2-BFC54DDF1E49}"/>
              </a:ext>
            </a:extLst>
          </p:cNvPr>
          <p:cNvPicPr>
            <a:picLocks noGrp="1" noChangeAspect="1"/>
          </p:cNvPicPr>
          <p:nvPr>
            <p:ph idx="1"/>
          </p:nvPr>
        </p:nvPicPr>
        <p:blipFill>
          <a:blip r:embed="rId2"/>
          <a:stretch>
            <a:fillRect/>
          </a:stretch>
        </p:blipFill>
        <p:spPr>
          <a:xfrm>
            <a:off x="233373" y="57210"/>
            <a:ext cx="10330651" cy="7586243"/>
          </a:xfrm>
        </p:spPr>
      </p:pic>
    </p:spTree>
    <p:extLst>
      <p:ext uri="{BB962C8B-B14F-4D97-AF65-F5344CB8AC3E}">
        <p14:creationId xmlns:p14="http://schemas.microsoft.com/office/powerpoint/2010/main" val="1686229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719E278-D8F9-4ED2-A0F7-2DC0D29BA17D}"/>
              </a:ext>
            </a:extLst>
          </p:cNvPr>
          <p:cNvSpPr>
            <a:spLocks noGrp="1"/>
          </p:cNvSpPr>
          <p:nvPr>
            <p:ph type="title"/>
          </p:nvPr>
        </p:nvSpPr>
        <p:spPr/>
        <p:txBody>
          <a:bodyPr/>
          <a:lstStyle/>
          <a:p>
            <a:endParaRPr lang="en-US"/>
          </a:p>
        </p:txBody>
      </p:sp>
      <p:pic>
        <p:nvPicPr>
          <p:cNvPr id="4" name="Picture 4" descr="Diagram, engineering drawing&#10;&#10;Description automatically generated">
            <a:extLst>
              <a:ext uri="{FF2B5EF4-FFF2-40B4-BE49-F238E27FC236}">
                <a16:creationId xmlns="" xmlns:a16="http://schemas.microsoft.com/office/drawing/2014/main" id="{032A13F4-AE83-418B-AA2D-3AA78E787372}"/>
              </a:ext>
            </a:extLst>
          </p:cNvPr>
          <p:cNvPicPr>
            <a:picLocks noGrp="1" noChangeAspect="1"/>
          </p:cNvPicPr>
          <p:nvPr>
            <p:ph idx="1"/>
          </p:nvPr>
        </p:nvPicPr>
        <p:blipFill>
          <a:blip r:embed="rId2"/>
          <a:stretch>
            <a:fillRect/>
          </a:stretch>
        </p:blipFill>
        <p:spPr>
          <a:xfrm>
            <a:off x="588191" y="168069"/>
            <a:ext cx="11015618" cy="6521861"/>
          </a:xfrm>
        </p:spPr>
      </p:pic>
    </p:spTree>
    <p:extLst>
      <p:ext uri="{BB962C8B-B14F-4D97-AF65-F5344CB8AC3E}">
        <p14:creationId xmlns:p14="http://schemas.microsoft.com/office/powerpoint/2010/main" val="172823973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175</TotalTime>
  <Words>344</Words>
  <Application>Microsoft Macintosh PowerPoint</Application>
  <PresentationFormat>Custom</PresentationFormat>
  <Paragraphs>52</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Gallery</vt:lpstr>
      <vt:lpstr>INTERNAL COMB  ENGS</vt:lpstr>
      <vt:lpstr>ENGINE COMPONENTS</vt:lpstr>
      <vt:lpstr>BEDPLATE</vt:lpstr>
      <vt:lpstr>TYPES OF BEDPLATE</vt:lpstr>
      <vt:lpstr>CONTRUCTION OF BEDPLATE</vt:lpstr>
      <vt:lpstr>A-FRAME AND ENTABLATURE</vt:lpstr>
      <vt:lpstr>TIE RODS/TIE BOLTS</vt:lpstr>
      <vt:lpstr>HOLDING DOWN BOLTS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Apple ty</cp:lastModifiedBy>
  <cp:revision>4</cp:revision>
  <dcterms:created xsi:type="dcterms:W3CDTF">2022-03-04T16:10:25Z</dcterms:created>
  <dcterms:modified xsi:type="dcterms:W3CDTF">2022-04-08T06:39:42Z</dcterms:modified>
</cp:coreProperties>
</file>