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CE8122-C3A1-47E1-B1AD-2281C10A6872}" type="datetimeFigureOut">
              <a:rPr lang="en-US" smtClean="0"/>
              <a:t>9/7/2016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550DF-EE58-417C-AD77-F6351DBA9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980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492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79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592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784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384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257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8962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575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B42D8F-5001-4071-89F4-797DBDA31BAD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7777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12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097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A36ED-2655-4C9E-8238-9E1AC381F72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102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C8644-480C-453D-8744-E89F274AE230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029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09890-E927-4619-80BA-BBAB8952703D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6494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2A9-8B8A-4D76-8338-090742D648FA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1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1A052-6A62-4DEB-B39A-DF865DC294D7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74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AB992-C49D-4348-A525-E164DFDC1373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3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6EBD4-D843-440F-970F-CE2EAFC7B9B6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88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A8E3E-CF5D-4FA7-AE13-1DBF934E5A7C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801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247F5-100F-4260-9B69-A3B55AF74742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3748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5382A-FB3C-41FB-984A-BFFAA7F5560F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3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BEA2C-DD99-4E79-ABCE-86762D8C2888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990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88276"/>
            <a:ext cx="10515600" cy="902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BCB05-1F2F-4A45-AFF2-CC62B780D79B}" type="datetime1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07/09/2016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296" y="6464739"/>
            <a:ext cx="4091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FFC551"/>
                </a:solidFill>
                <a:latin typeface="Century Gothic" panose="020B0502020202020204" pitchFamily="34" charset="0"/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9893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rgbClr val="055D13"/>
          </a:solidFill>
          <a:latin typeface="Futura Md BT" panose="020B06020202040203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61801" y="1984833"/>
            <a:ext cx="3357489" cy="1272736"/>
          </a:xfrm>
        </p:spPr>
        <p:txBody>
          <a:bodyPr>
            <a:normAutofit/>
          </a:bodyPr>
          <a:lstStyle/>
          <a:p>
            <a:r>
              <a:rPr lang="en-GB" sz="4000" dirty="0" smtClean="0"/>
              <a:t>AE 460</a:t>
            </a:r>
            <a:endParaRPr lang="en-GB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99" y="3973624"/>
            <a:ext cx="9144000" cy="484764"/>
          </a:xfrm>
        </p:spPr>
        <p:txBody>
          <a:bodyPr/>
          <a:lstStyle/>
          <a:p>
            <a:r>
              <a:rPr lang="en-GB" dirty="0" smtClean="0"/>
              <a:t>Unit </a:t>
            </a:r>
            <a:r>
              <a:rPr lang="en-GB" dirty="0"/>
              <a:t>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61757" y="6464739"/>
            <a:ext cx="1243819" cy="365125"/>
          </a:xfrm>
        </p:spPr>
        <p:txBody>
          <a:bodyPr/>
          <a:lstStyle/>
          <a:p>
            <a:r>
              <a:rPr lang="en-GB" sz="1400" b="1" dirty="0" smtClean="0">
                <a:solidFill>
                  <a:prstClr val="white"/>
                </a:solidFill>
                <a:latin typeface="Century Gothic" panose="020B0502020202020204" pitchFamily="34" charset="0"/>
              </a:rPr>
              <a:t>Sept. </a:t>
            </a:r>
            <a:r>
              <a:rPr lang="en-GB" sz="1400" b="1" dirty="0" smtClean="0">
                <a:solidFill>
                  <a:prstClr val="white"/>
                </a:solidFill>
                <a:latin typeface="Century Gothic" panose="020B0502020202020204" pitchFamily="34" charset="0"/>
              </a:rPr>
              <a:t>2016</a:t>
            </a:r>
            <a:endParaRPr lang="en-GB" sz="1400" b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633045" y="3309498"/>
            <a:ext cx="11015003" cy="66412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</a:pPr>
            <a:r>
              <a:rPr lang="sv-SE" sz="4000" b="1" dirty="0" smtClean="0">
                <a:solidFill>
                  <a:srgbClr val="FFC000">
                    <a:lumMod val="60000"/>
                    <a:lumOff val="40000"/>
                  </a:srgbClr>
                </a:solidFill>
                <a:latin typeface="Arial Black" panose="020B0A04020102020204" pitchFamily="34" charset="0"/>
                <a:ea typeface="Times New Roman" pitchFamily="18" charset="0"/>
                <a:cs typeface="Times New Roman" pitchFamily="18" charset="0"/>
              </a:rPr>
              <a:t>REPAIRS AND MAINTENANCE OF AGRICULTURAL MACHINERY</a:t>
            </a:r>
            <a:endParaRPr lang="sv-SE" sz="4000" b="1" dirty="0">
              <a:solidFill>
                <a:srgbClr val="FFC000">
                  <a:lumMod val="60000"/>
                  <a:lumOff val="40000"/>
                </a:srgbClr>
              </a:solidFill>
              <a:latin typeface="Arial Black" panose="020B0A04020102020204" pitchFamily="34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523999" y="4510317"/>
            <a:ext cx="9144000" cy="59953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defRPr>
            </a:lvl1pPr>
          </a:lstStyle>
          <a:p>
            <a:r>
              <a:rPr lang="en-US" sz="4000" dirty="0" smtClean="0">
                <a:latin typeface="Calibri" pitchFamily="34" charset="0"/>
              </a:rPr>
              <a:t>Prof. Emmanuel Y.H. </a:t>
            </a:r>
            <a:r>
              <a:rPr lang="en-US" sz="4000" dirty="0" err="1">
                <a:latin typeface="Calibri" pitchFamily="34" charset="0"/>
              </a:rPr>
              <a:t>B</a:t>
            </a:r>
            <a:r>
              <a:rPr lang="en-US" sz="4000" dirty="0" err="1" smtClean="0">
                <a:latin typeface="Calibri" pitchFamily="34" charset="0"/>
              </a:rPr>
              <a:t>obobee</a:t>
            </a:r>
            <a:endParaRPr lang="en-US" sz="4000" dirty="0">
              <a:latin typeface="Calibri" pitchFamily="34" charset="0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568546" y="5575147"/>
            <a:ext cx="9144000" cy="440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783666" y="5126252"/>
            <a:ext cx="9108452" cy="448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>
                <a:solidFill>
                  <a:prstClr val="black"/>
                </a:solidFill>
              </a:rPr>
              <a:t>emmanuel.bobobee@gmail.com // 0245431872 </a:t>
            </a:r>
          </a:p>
        </p:txBody>
      </p:sp>
    </p:spTree>
    <p:extLst>
      <p:ext uri="{BB962C8B-B14F-4D97-AF65-F5344CB8AC3E}">
        <p14:creationId xmlns:p14="http://schemas.microsoft.com/office/powerpoint/2010/main" val="3423940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5520" y="1628801"/>
            <a:ext cx="8640960" cy="1971651"/>
          </a:xfrm>
        </p:spPr>
        <p:txBody>
          <a:bodyPr>
            <a:noAutofit/>
          </a:bodyPr>
          <a:lstStyle/>
          <a:p>
            <a:r>
              <a:rPr lang="en-GB" b="1" dirty="0"/>
              <a:t>AE 460 R&amp;M (lecture 2)</a:t>
            </a:r>
            <a:br>
              <a:rPr lang="en-GB" b="1" dirty="0"/>
            </a:br>
            <a:r>
              <a:rPr lang="en-GB" b="1" dirty="0"/>
              <a:t>Notes on Cooling</a:t>
            </a:r>
          </a:p>
        </p:txBody>
      </p:sp>
    </p:spTree>
    <p:extLst>
      <p:ext uri="{BB962C8B-B14F-4D97-AF65-F5344CB8AC3E}">
        <p14:creationId xmlns:p14="http://schemas.microsoft.com/office/powerpoint/2010/main" val="211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8052" y="856357"/>
            <a:ext cx="963235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When fuel burns inside the cylinder of an ICE, there is a rise in temperature equal to </a:t>
            </a: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1600</a:t>
            </a:r>
            <a:r>
              <a:rPr lang="en-GB" sz="2400" b="1" baseline="30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, which if unchecked would be sufficient to melt engine parts. </a:t>
            </a:r>
          </a:p>
          <a:p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Temperature must be reduced to </a:t>
            </a:r>
            <a:r>
              <a:rPr lang="en-GB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90</a:t>
            </a:r>
            <a:r>
              <a:rPr lang="en-GB" sz="2400" b="1" baseline="30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GB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through cooling</a:t>
            </a:r>
          </a:p>
          <a:p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Engine cooling system does two things:</a:t>
            </a:r>
          </a:p>
          <a:p>
            <a:pPr marL="342900" indent="-342900">
              <a:buFont typeface="+mj-lt"/>
              <a:buAutoNum type="alphaLcParenR"/>
            </a:pP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Prevents over heating</a:t>
            </a:r>
          </a:p>
          <a:p>
            <a:pPr marL="342900" indent="-342900">
              <a:buFont typeface="+mj-lt"/>
              <a:buAutoNum type="alphaLcParenR"/>
            </a:pP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Regulates temperature</a:t>
            </a:r>
          </a:p>
          <a:p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Over heating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could burn up the engine parts. Some heat is needed for combustion, but too much heat is generated.</a:t>
            </a:r>
          </a:p>
          <a:p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Regulating temperatures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keeps the engine at best heat level for each operation. During starting, the engine must be warmed up faster. During peak operation, the engine must be cooled.</a:t>
            </a:r>
          </a:p>
        </p:txBody>
      </p:sp>
    </p:spTree>
    <p:extLst>
      <p:ext uri="{BB962C8B-B14F-4D97-AF65-F5344CB8AC3E}">
        <p14:creationId xmlns:p14="http://schemas.microsoft.com/office/powerpoint/2010/main" val="4111365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7528" y="1628801"/>
            <a:ext cx="828092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Running engines too hot can cause: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Pre-ignition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Detonation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Knock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Burned pistons and valves</a:t>
            </a:r>
          </a:p>
          <a:p>
            <a:endParaRPr lang="en-GB" sz="2800" dirty="0"/>
          </a:p>
          <a:p>
            <a:r>
              <a:rPr lang="en-GB" sz="2800" dirty="0"/>
              <a:t>Running engine too cold can cause: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Unnecessary wear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Poor fuel economy</a:t>
            </a:r>
          </a:p>
          <a:p>
            <a:pPr marL="514350" indent="-514350">
              <a:buFont typeface="+mj-lt"/>
              <a:buAutoNum type="alphaLcParenR"/>
            </a:pPr>
            <a:r>
              <a:rPr lang="en-GB" sz="2800" dirty="0"/>
              <a:t>Accumulation of water and sludge in the crankcase.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7983" y="776411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/>
              <a:t>Running engines too hot or too cold</a:t>
            </a:r>
          </a:p>
        </p:txBody>
      </p:sp>
    </p:spTree>
    <p:extLst>
      <p:ext uri="{BB962C8B-B14F-4D97-AF65-F5344CB8AC3E}">
        <p14:creationId xmlns:p14="http://schemas.microsoft.com/office/powerpoint/2010/main" val="292311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9596" y="727394"/>
            <a:ext cx="7128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Types of cooling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5520" y="1340769"/>
            <a:ext cx="84969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/>
              <a:t>Cooling systems are classified on the basis of the coolant used:</a:t>
            </a:r>
          </a:p>
          <a:p>
            <a:endParaRPr lang="en-GB" sz="3600" dirty="0"/>
          </a:p>
          <a:p>
            <a:pPr marL="800100" lvl="1" indent="-342900">
              <a:buFont typeface="+mj-lt"/>
              <a:buAutoNum type="alphaLcParenR"/>
            </a:pPr>
            <a:r>
              <a:rPr lang="en-GB" sz="3600" dirty="0"/>
              <a:t>Air cooled</a:t>
            </a:r>
          </a:p>
          <a:p>
            <a:pPr marL="800100" lvl="1" indent="-342900"/>
            <a:endParaRPr lang="en-GB" sz="3600" dirty="0"/>
          </a:p>
          <a:p>
            <a:pPr marL="800100" lvl="1" indent="-342900">
              <a:buFont typeface="+mj-lt"/>
              <a:buAutoNum type="alphaLcParenR"/>
            </a:pPr>
            <a:r>
              <a:rPr lang="en-GB" sz="3600" dirty="0"/>
              <a:t>Water cooled</a:t>
            </a:r>
          </a:p>
          <a:p>
            <a:pPr marL="800100" lvl="1" indent="-342900"/>
            <a:endParaRPr lang="en-GB" sz="3600" dirty="0"/>
          </a:p>
          <a:p>
            <a:pPr marL="800100" lvl="1" indent="-342900">
              <a:buFont typeface="+mj-lt"/>
              <a:buAutoNum type="alphaLcParenR"/>
            </a:pPr>
            <a:r>
              <a:rPr lang="en-GB" sz="3600" dirty="0"/>
              <a:t>Combined-air-water cooled</a:t>
            </a:r>
          </a:p>
        </p:txBody>
      </p:sp>
    </p:spTree>
    <p:extLst>
      <p:ext uri="{BB962C8B-B14F-4D97-AF65-F5344CB8AC3E}">
        <p14:creationId xmlns:p14="http://schemas.microsoft.com/office/powerpoint/2010/main" val="3692262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automotivetroubleshootingsecrets.com/engine%20cooling%20copy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1357" y="665960"/>
            <a:ext cx="6624736" cy="6192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87801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http://ecx.images-amazon.com/images/I/51VM4C9SHtL._SL500_AA300_.jpg"/>
          <p:cNvPicPr>
            <a:picLocks noChangeAspect="1" noChangeArrowheads="1"/>
          </p:cNvPicPr>
          <p:nvPr/>
        </p:nvPicPr>
        <p:blipFill>
          <a:blip r:embed="rId3" cstate="print"/>
          <a:srcRect l="11018" r="11854"/>
          <a:stretch>
            <a:fillRect/>
          </a:stretch>
        </p:blipFill>
        <p:spPr bwMode="auto">
          <a:xfrm>
            <a:off x="3644069" y="1156447"/>
            <a:ext cx="3923516" cy="50870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5864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2" descr="http://www.autojab.com/wp-content/uploads/2008/05/coolingsystem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9538" y="982432"/>
            <a:ext cx="5181768" cy="424506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4495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www.2carpros.com/images/articles/engine/cooling/system/cooling_system_water_pum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64799" y="1123948"/>
            <a:ext cx="6401930" cy="4546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8198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://www.ms-motor-service.com/ximages/565687_wasserpump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6792" y="809648"/>
            <a:ext cx="6867514" cy="50925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66184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 descr="http://ffden-2.phys.uaf.edu/103_fall2003.web.dir/Chris_Peterson/Pictures%20for%20project/cooling%20system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7013" y="1124744"/>
            <a:ext cx="8518109" cy="4896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6996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2753"/>
            <a:ext cx="9144000" cy="1247210"/>
          </a:xfrm>
        </p:spPr>
        <p:txBody>
          <a:bodyPr/>
          <a:lstStyle/>
          <a:p>
            <a:r>
              <a:rPr lang="en-GB" dirty="0" smtClean="0"/>
              <a:t>Thank You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26404"/>
            <a:ext cx="9144000" cy="1638335"/>
          </a:xfrm>
        </p:spPr>
        <p:txBody>
          <a:bodyPr>
            <a:normAutofit fontScale="85000" lnSpcReduction="20000"/>
          </a:bodyPr>
          <a:lstStyle/>
          <a:p>
            <a:r>
              <a:rPr lang="en-GB" sz="2800" dirty="0" smtClean="0"/>
              <a:t>For any concerns, please contact</a:t>
            </a:r>
          </a:p>
          <a:p>
            <a:r>
              <a:rPr lang="en-GB" sz="2800" b="1" dirty="0" smtClean="0"/>
              <a:t>elearning@knust.edu.gh</a:t>
            </a:r>
          </a:p>
          <a:p>
            <a:r>
              <a:rPr lang="en-GB" sz="2800" b="1" dirty="0" smtClean="0"/>
              <a:t>elearningknust@gmail.com </a:t>
            </a:r>
          </a:p>
          <a:p>
            <a:r>
              <a:rPr lang="en-GB" sz="2800" b="1" dirty="0" smtClean="0"/>
              <a:t>0322 191132</a:t>
            </a:r>
            <a:endParaRPr lang="en-GB" sz="2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61757" y="6464739"/>
            <a:ext cx="1243819" cy="365125"/>
          </a:xfrm>
        </p:spPr>
        <p:txBody>
          <a:bodyPr/>
          <a:lstStyle/>
          <a:p>
            <a:r>
              <a:rPr lang="en-GB" sz="1400" b="1" dirty="0" smtClean="0">
                <a:solidFill>
                  <a:prstClr val="white"/>
                </a:solidFill>
                <a:latin typeface="Century Gothic" panose="020B0502020202020204" pitchFamily="34" charset="0"/>
              </a:rPr>
              <a:t>Aug 2016</a:t>
            </a:r>
            <a:endParaRPr lang="en-GB" sz="1400" b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9922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62A9560-2E7B-41A3-9F82-82295C59A7BE}" vid="{DD833A61-242F-4440-8F8C-EA11C2DDA7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225</Words>
  <Application>Microsoft Office PowerPoint</Application>
  <PresentationFormat>Widescreen</PresentationFormat>
  <Paragraphs>53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Black</vt:lpstr>
      <vt:lpstr>Calibri</vt:lpstr>
      <vt:lpstr>Century Gothic</vt:lpstr>
      <vt:lpstr>Futura Md BT</vt:lpstr>
      <vt:lpstr>Times New Roman</vt:lpstr>
      <vt:lpstr>1_Office Theme</vt:lpstr>
      <vt:lpstr>AE 460</vt:lpstr>
      <vt:lpstr>AE 460 R&amp;M (lecture 2) Notes on Cooling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 460</dc:title>
  <dc:creator>User</dc:creator>
  <cp:lastModifiedBy>User</cp:lastModifiedBy>
  <cp:revision>3</cp:revision>
  <dcterms:created xsi:type="dcterms:W3CDTF">2016-09-07T10:56:25Z</dcterms:created>
  <dcterms:modified xsi:type="dcterms:W3CDTF">2016-09-07T13:44:49Z</dcterms:modified>
</cp:coreProperties>
</file>