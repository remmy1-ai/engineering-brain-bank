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6"/>
  </p:notesMasterIdLst>
  <p:sldIdLst>
    <p:sldId id="256" r:id="rId2"/>
    <p:sldId id="257" r:id="rId3"/>
    <p:sldId id="258" r:id="rId4"/>
    <p:sldId id="259" r:id="rId5"/>
    <p:sldId id="261" r:id="rId6"/>
    <p:sldId id="262" r:id="rId7"/>
    <p:sldId id="266" r:id="rId8"/>
    <p:sldId id="265" r:id="rId9"/>
    <p:sldId id="278" r:id="rId10"/>
    <p:sldId id="279" r:id="rId11"/>
    <p:sldId id="264" r:id="rId12"/>
    <p:sldId id="263" r:id="rId13"/>
    <p:sldId id="260" r:id="rId14"/>
    <p:sldId id="270" r:id="rId15"/>
    <p:sldId id="269" r:id="rId16"/>
    <p:sldId id="280" r:id="rId17"/>
    <p:sldId id="275" r:id="rId18"/>
    <p:sldId id="281" r:id="rId19"/>
    <p:sldId id="282" r:id="rId20"/>
    <p:sldId id="283" r:id="rId21"/>
    <p:sldId id="285" r:id="rId22"/>
    <p:sldId id="284" r:id="rId23"/>
    <p:sldId id="286" r:id="rId24"/>
    <p:sldId id="287" r:id="rId25"/>
    <p:sldId id="288" r:id="rId26"/>
    <p:sldId id="289" r:id="rId27"/>
    <p:sldId id="290" r:id="rId28"/>
    <p:sldId id="291" r:id="rId29"/>
    <p:sldId id="292" r:id="rId30"/>
    <p:sldId id="293" r:id="rId31"/>
    <p:sldId id="268" r:id="rId32"/>
    <p:sldId id="294" r:id="rId33"/>
    <p:sldId id="295" r:id="rId34"/>
    <p:sldId id="313" r:id="rId35"/>
    <p:sldId id="296" r:id="rId36"/>
    <p:sldId id="297" r:id="rId37"/>
    <p:sldId id="298" r:id="rId38"/>
    <p:sldId id="299" r:id="rId39"/>
    <p:sldId id="274" r:id="rId40"/>
    <p:sldId id="273" r:id="rId41"/>
    <p:sldId id="300" r:id="rId42"/>
    <p:sldId id="302" r:id="rId43"/>
    <p:sldId id="271" r:id="rId44"/>
    <p:sldId id="304" r:id="rId45"/>
    <p:sldId id="305" r:id="rId46"/>
    <p:sldId id="306" r:id="rId47"/>
    <p:sldId id="307" r:id="rId48"/>
    <p:sldId id="308" r:id="rId49"/>
    <p:sldId id="309" r:id="rId50"/>
    <p:sldId id="310" r:id="rId51"/>
    <p:sldId id="311" r:id="rId52"/>
    <p:sldId id="312" r:id="rId53"/>
    <p:sldId id="277" r:id="rId54"/>
    <p:sldId id="276"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38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5477B6F-154A-4887-8856-370AF530F436}" type="datetimeFigureOut">
              <a:rPr lang="en-US" smtClean="0"/>
              <a:pPr/>
              <a:t>3/31/2015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ABBBBC-4813-4985-BD8D-07E3DFBCA341}" type="slidenum">
              <a:rPr lang="en-GB" smtClean="0"/>
              <a:pPr/>
              <a:t>‹#›</a:t>
            </a:fld>
            <a:endParaRPr lang="en-GB"/>
          </a:p>
        </p:txBody>
      </p:sp>
    </p:spTree>
    <p:extLst>
      <p:ext uri="{BB962C8B-B14F-4D97-AF65-F5344CB8AC3E}">
        <p14:creationId xmlns:p14="http://schemas.microsoft.com/office/powerpoint/2010/main" val="1992129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87C827C-1F96-4CB6-951C-FF724634CF7E}"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F832E5D-94FA-4255-814E-F246ED46BFA1}"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CF7DE30-0FB6-4391-8F62-DD816CD2B85C}"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62DC40B-E08C-4642-BEB7-00ECC1487038}" type="datetime1">
              <a:rPr lang="en-GB" smtClean="0"/>
              <a:pPr/>
              <a:t>31/03/2015</a:t>
            </a:fld>
            <a:endParaRPr lang="en-US"/>
          </a:p>
        </p:txBody>
      </p:sp>
      <p:sp>
        <p:nvSpPr>
          <p:cNvPr id="6" name="Footer Placeholder 5"/>
          <p:cNvSpPr>
            <a:spLocks noGrp="1"/>
          </p:cNvSpPr>
          <p:nvPr>
            <p:ph type="ftr" sz="quarter" idx="11"/>
          </p:nvPr>
        </p:nvSpPr>
        <p:spPr/>
        <p:txBody>
          <a:bodyPr/>
          <a:lstStyle/>
          <a:p>
            <a:r>
              <a:rPr lang="en-US" smtClean="0"/>
              <a:t>J. K. Afriyie</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4613731-31EC-46AD-B939-66271F362814}" type="datetime1">
              <a:rPr lang="en-GB" smtClean="0"/>
              <a:pPr/>
              <a:t>31/03/2015</a:t>
            </a:fld>
            <a:endParaRPr lang="en-US"/>
          </a:p>
        </p:txBody>
      </p:sp>
      <p:sp>
        <p:nvSpPr>
          <p:cNvPr id="8" name="Footer Placeholder 7"/>
          <p:cNvSpPr>
            <a:spLocks noGrp="1"/>
          </p:cNvSpPr>
          <p:nvPr>
            <p:ph type="ftr" sz="quarter" idx="11"/>
          </p:nvPr>
        </p:nvSpPr>
        <p:spPr/>
        <p:txBody>
          <a:bodyPr/>
          <a:lstStyle/>
          <a:p>
            <a:r>
              <a:rPr lang="en-US" smtClean="0"/>
              <a:t>J. K. Afriyie</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17027B6-0C83-440E-903A-4DD31D77D0A7}" type="datetime1">
              <a:rPr lang="en-GB" smtClean="0"/>
              <a:pPr/>
              <a:t>31/03/2015</a:t>
            </a:fld>
            <a:endParaRPr lang="en-US"/>
          </a:p>
        </p:txBody>
      </p:sp>
      <p:sp>
        <p:nvSpPr>
          <p:cNvPr id="4" name="Footer Placeholder 3"/>
          <p:cNvSpPr>
            <a:spLocks noGrp="1"/>
          </p:cNvSpPr>
          <p:nvPr>
            <p:ph type="ftr" sz="quarter" idx="11"/>
          </p:nvPr>
        </p:nvSpPr>
        <p:spPr/>
        <p:txBody>
          <a:bodyPr/>
          <a:lstStyle/>
          <a:p>
            <a:r>
              <a:rPr lang="en-US" smtClean="0"/>
              <a:t>J. K. Afriyie</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C03338-0066-4F9D-B6DA-1E9FF573FEC9}" type="datetime1">
              <a:rPr lang="en-GB" smtClean="0"/>
              <a:pPr/>
              <a:t>31/03/2015</a:t>
            </a:fld>
            <a:endParaRPr lang="en-US"/>
          </a:p>
        </p:txBody>
      </p:sp>
      <p:sp>
        <p:nvSpPr>
          <p:cNvPr id="3" name="Footer Placeholder 2"/>
          <p:cNvSpPr>
            <a:spLocks noGrp="1"/>
          </p:cNvSpPr>
          <p:nvPr>
            <p:ph type="ftr" sz="quarter" idx="11"/>
          </p:nvPr>
        </p:nvSpPr>
        <p:spPr/>
        <p:txBody>
          <a:bodyPr/>
          <a:lstStyle/>
          <a:p>
            <a:r>
              <a:rPr lang="en-US" smtClean="0"/>
              <a:t>J. K. Afriyie</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696151-5FB3-47DF-BFA0-47681C6E4C7C}" type="datetime1">
              <a:rPr lang="en-GB" smtClean="0"/>
              <a:pPr/>
              <a:t>31/03/2015</a:t>
            </a:fld>
            <a:endParaRPr lang="en-US"/>
          </a:p>
        </p:txBody>
      </p:sp>
      <p:sp>
        <p:nvSpPr>
          <p:cNvPr id="6" name="Footer Placeholder 5"/>
          <p:cNvSpPr>
            <a:spLocks noGrp="1"/>
          </p:cNvSpPr>
          <p:nvPr>
            <p:ph type="ftr" sz="quarter" idx="11"/>
          </p:nvPr>
        </p:nvSpPr>
        <p:spPr/>
        <p:txBody>
          <a:bodyPr/>
          <a:lstStyle/>
          <a:p>
            <a:r>
              <a:rPr lang="en-US" smtClean="0"/>
              <a:t>J. K. Afriyie</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3A2154-FC52-4E08-A98C-E9650B745648}" type="datetime1">
              <a:rPr lang="en-GB" smtClean="0"/>
              <a:pPr/>
              <a:t>31/03/2015</a:t>
            </a:fld>
            <a:endParaRPr lang="en-US"/>
          </a:p>
        </p:txBody>
      </p:sp>
      <p:sp>
        <p:nvSpPr>
          <p:cNvPr id="6" name="Footer Placeholder 5"/>
          <p:cNvSpPr>
            <a:spLocks noGrp="1"/>
          </p:cNvSpPr>
          <p:nvPr>
            <p:ph type="ftr" sz="quarter" idx="11"/>
          </p:nvPr>
        </p:nvSpPr>
        <p:spPr/>
        <p:txBody>
          <a:bodyPr/>
          <a:lstStyle/>
          <a:p>
            <a:r>
              <a:rPr lang="en-US" smtClean="0"/>
              <a:t>J. K. Afriyie</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DC331E-1260-41EA-9DC0-739B56D98A88}"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69B4D4D-69E8-43BB-A77B-55752686E423}"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87A822-3489-42AB-A1F5-064C2235B6A2}" type="datetime1">
              <a:rPr lang="en-GB" smtClean="0"/>
              <a:pPr/>
              <a:t>31/03/2015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J. K. Afriyie</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latin typeface="Times New Roman" pitchFamily="18" charset="0"/>
                <a:cs typeface="Times New Roman" pitchFamily="18" charset="0"/>
              </a:rPr>
              <a:t>AE 460 MAINTENANCE AND REPAIRS</a:t>
            </a:r>
            <a:endParaRPr lang="en-GB"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r>
              <a:rPr lang="en-GB" dirty="0" smtClean="0">
                <a:latin typeface="Times New Roman" pitchFamily="18" charset="0"/>
                <a:cs typeface="Times New Roman" pitchFamily="18" charset="0"/>
              </a:rPr>
              <a:t>J. K. AFRIYIE</a:t>
            </a:r>
            <a:endParaRPr lang="en-GB"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latin typeface="Times New Roman" pitchFamily="18" charset="0"/>
                <a:cs typeface="Times New Roman" pitchFamily="18" charset="0"/>
              </a:rPr>
              <a:t>COURSE OUTLINE</a:t>
            </a:r>
            <a:endParaRPr lang="en-GB"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buNone/>
            </a:pPr>
            <a:r>
              <a:rPr lang="en-GB" dirty="0" smtClean="0">
                <a:latin typeface="Times New Roman" pitchFamily="18" charset="0"/>
                <a:cs typeface="Times New Roman" pitchFamily="18" charset="0"/>
              </a:rPr>
              <a:t>Definitions. </a:t>
            </a:r>
          </a:p>
          <a:p>
            <a:pPr marL="0" indent="0" algn="just">
              <a:buNone/>
            </a:pPr>
            <a:r>
              <a:rPr lang="en-GB" dirty="0" smtClean="0">
                <a:latin typeface="Times New Roman" pitchFamily="18" charset="0"/>
                <a:cs typeface="Times New Roman" pitchFamily="18" charset="0"/>
              </a:rPr>
              <a:t>Concepts of planned maintenance, Decisions relating to maintenance, Planning and organising the maintenance and repair functions.</a:t>
            </a:r>
          </a:p>
          <a:p>
            <a:pPr marL="0" indent="0" algn="just">
              <a:buNone/>
            </a:pPr>
            <a:r>
              <a:rPr lang="en-GB" dirty="0" smtClean="0">
                <a:latin typeface="Times New Roman" pitchFamily="18" charset="0"/>
                <a:cs typeface="Times New Roman" pitchFamily="18" charset="0"/>
              </a:rPr>
              <a:t>Manufacturing and repair accuracy, Repair materials. Basic repair operation. Replacement parts supply and management. Workshop safety.</a:t>
            </a:r>
            <a:endParaRPr lang="en-US" dirty="0" smtClean="0">
              <a:latin typeface="Times New Roman" pitchFamily="18" charset="0"/>
              <a:cs typeface="Times New Roman" pitchFamily="18" charset="0"/>
            </a:endParaRPr>
          </a:p>
          <a:p>
            <a:endParaRPr lang="en-GB"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DB816E3D-1FF7-4AB0-B1EC-647BC664661F}"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lstStyle/>
          <a:p>
            <a:r>
              <a:rPr lang="en-GB" dirty="0" smtClean="0">
                <a:latin typeface="Times New Roman" pitchFamily="18" charset="0"/>
                <a:cs typeface="Times New Roman" pitchFamily="18" charset="0"/>
              </a:rPr>
              <a:t>ADDITIONAL TOPICS</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a:xfrm>
            <a:off x="304800" y="990600"/>
            <a:ext cx="8610600" cy="5334000"/>
          </a:xfrm>
        </p:spPr>
        <p:txBody>
          <a:bodyPr>
            <a:normAutofit fontScale="62500" lnSpcReduction="20000"/>
          </a:bodyPr>
          <a:lstStyle/>
          <a:p>
            <a:pPr marL="571500" indent="-571500">
              <a:buFont typeface="+mj-lt"/>
              <a:buAutoNum type="romanLcPeriod"/>
            </a:pPr>
            <a:r>
              <a:rPr lang="en-GB" dirty="0" smtClean="0">
                <a:latin typeface="Times New Roman" pitchFamily="18" charset="0"/>
                <a:cs typeface="Times New Roman" pitchFamily="18" charset="0"/>
              </a:rPr>
              <a:t>Repairs &amp; Maintenance processes</a:t>
            </a:r>
          </a:p>
          <a:p>
            <a:pPr marL="571500" indent="-571500">
              <a:buFont typeface="+mj-lt"/>
              <a:buAutoNum type="romanLcPeriod"/>
            </a:pPr>
            <a:r>
              <a:rPr lang="en-GB" dirty="0" smtClean="0">
                <a:latin typeface="Times New Roman" pitchFamily="18" charset="0"/>
                <a:cs typeface="Times New Roman" pitchFamily="18" charset="0"/>
              </a:rPr>
              <a:t>Diagnosis</a:t>
            </a:r>
          </a:p>
          <a:p>
            <a:pPr marL="571500" indent="-571500">
              <a:buFont typeface="+mj-lt"/>
              <a:buAutoNum type="romanLcPeriod"/>
            </a:pPr>
            <a:r>
              <a:rPr lang="en-GB" dirty="0" smtClean="0">
                <a:latin typeface="Times New Roman" pitchFamily="18" charset="0"/>
                <a:cs typeface="Times New Roman" pitchFamily="18" charset="0"/>
              </a:rPr>
              <a:t>Clean and washing</a:t>
            </a:r>
          </a:p>
          <a:p>
            <a:pPr marL="571500" indent="-571500">
              <a:buFont typeface="+mj-lt"/>
              <a:buAutoNum type="romanLcPeriod"/>
            </a:pPr>
            <a:r>
              <a:rPr lang="en-GB" dirty="0" smtClean="0">
                <a:latin typeface="Times New Roman" pitchFamily="18" charset="0"/>
                <a:cs typeface="Times New Roman" pitchFamily="18" charset="0"/>
              </a:rPr>
              <a:t>Disassembling</a:t>
            </a:r>
          </a:p>
          <a:p>
            <a:pPr marL="571500" indent="-571500">
              <a:buFont typeface="+mj-lt"/>
              <a:buAutoNum type="romanLcPeriod"/>
            </a:pPr>
            <a:r>
              <a:rPr lang="en-GB" dirty="0" smtClean="0">
                <a:latin typeface="Times New Roman" pitchFamily="18" charset="0"/>
                <a:cs typeface="Times New Roman" pitchFamily="18" charset="0"/>
              </a:rPr>
              <a:t>Inspection</a:t>
            </a:r>
          </a:p>
          <a:p>
            <a:pPr marL="571500" indent="-571500">
              <a:buFont typeface="+mj-lt"/>
              <a:buAutoNum type="romanLcPeriod"/>
            </a:pPr>
            <a:r>
              <a:rPr lang="en-GB" dirty="0" smtClean="0">
                <a:latin typeface="Times New Roman" pitchFamily="18" charset="0"/>
                <a:cs typeface="Times New Roman" pitchFamily="18" charset="0"/>
              </a:rPr>
              <a:t>Repairing and servicing</a:t>
            </a:r>
          </a:p>
          <a:p>
            <a:pPr marL="571500" indent="-571500">
              <a:buFont typeface="+mj-lt"/>
              <a:buAutoNum type="romanLcPeriod"/>
            </a:pPr>
            <a:r>
              <a:rPr lang="en-GB" dirty="0" smtClean="0">
                <a:latin typeface="Times New Roman" pitchFamily="18" charset="0"/>
                <a:cs typeface="Times New Roman" pitchFamily="18" charset="0"/>
              </a:rPr>
              <a:t>Re-assembling and testing</a:t>
            </a:r>
          </a:p>
          <a:p>
            <a:pPr marL="571500" indent="-571500">
              <a:buFont typeface="+mj-lt"/>
              <a:buAutoNum type="romanLcPeriod"/>
            </a:pPr>
            <a:r>
              <a:rPr lang="en-GB" dirty="0" smtClean="0">
                <a:latin typeface="Times New Roman" pitchFamily="18" charset="0"/>
                <a:cs typeface="Times New Roman" pitchFamily="18" charset="0"/>
              </a:rPr>
              <a:t>Types of wear</a:t>
            </a:r>
          </a:p>
          <a:p>
            <a:pPr marL="571500" indent="-571500">
              <a:buFont typeface="+mj-lt"/>
              <a:buAutoNum type="romanLcPeriod"/>
            </a:pPr>
            <a:r>
              <a:rPr lang="en-GB" dirty="0" smtClean="0">
                <a:latin typeface="Times New Roman" pitchFamily="18" charset="0"/>
                <a:cs typeface="Times New Roman" pitchFamily="18" charset="0"/>
              </a:rPr>
              <a:t>Lubrication</a:t>
            </a:r>
          </a:p>
          <a:p>
            <a:pPr marL="571500" indent="-571500">
              <a:buFont typeface="+mj-lt"/>
              <a:buAutoNum type="romanLcPeriod"/>
            </a:pPr>
            <a:r>
              <a:rPr lang="en-GB" dirty="0" smtClean="0">
                <a:latin typeface="Times New Roman" pitchFamily="18" charset="0"/>
                <a:cs typeface="Times New Roman" pitchFamily="18" charset="0"/>
              </a:rPr>
              <a:t>Survey of Workshop Handtools and Machine Tools</a:t>
            </a:r>
          </a:p>
          <a:p>
            <a:pPr marL="571500" indent="-571500">
              <a:buFont typeface="+mj-lt"/>
              <a:buAutoNum type="romanLcPeriod"/>
            </a:pPr>
            <a:r>
              <a:rPr lang="en-GB" dirty="0" smtClean="0">
                <a:latin typeface="Times New Roman" pitchFamily="18" charset="0"/>
                <a:cs typeface="Times New Roman" pitchFamily="18" charset="0"/>
              </a:rPr>
              <a:t>Methods of joining metals: (Basic workshop operations) riveting, welding, bolting, soldering and brazing</a:t>
            </a:r>
          </a:p>
          <a:p>
            <a:pPr marL="571500" indent="-571500">
              <a:buFont typeface="+mj-lt"/>
              <a:buAutoNum type="romanLcPeriod"/>
            </a:pPr>
            <a:r>
              <a:rPr lang="en-GB" dirty="0" smtClean="0">
                <a:latin typeface="Times New Roman" pitchFamily="18" charset="0"/>
                <a:cs typeface="Times New Roman" pitchFamily="18" charset="0"/>
              </a:rPr>
              <a:t>Machinery maintenance: (implementation on farm and large organisation, basic maintenance decisions including concepts of preventive and failure maintenance</a:t>
            </a:r>
          </a:p>
          <a:p>
            <a:pPr marL="571500" indent="-571500">
              <a:buFont typeface="+mj-lt"/>
              <a:buAutoNum type="romanLcPeriod"/>
            </a:pPr>
            <a:r>
              <a:rPr lang="en-GB" dirty="0" smtClean="0">
                <a:latin typeface="Times New Roman" pitchFamily="18" charset="0"/>
                <a:cs typeface="Times New Roman" pitchFamily="18" charset="0"/>
              </a:rPr>
              <a:t>Use of internal and external service personnel</a:t>
            </a:r>
          </a:p>
          <a:p>
            <a:pPr marL="571500" indent="-571500">
              <a:buFont typeface="+mj-lt"/>
              <a:buAutoNum type="romanLcPeriod"/>
            </a:pPr>
            <a:r>
              <a:rPr lang="en-GB" dirty="0" smtClean="0">
                <a:latin typeface="Times New Roman" pitchFamily="18" charset="0"/>
                <a:cs typeface="Times New Roman" pitchFamily="18" charset="0"/>
              </a:rPr>
              <a:t>Contract </a:t>
            </a:r>
            <a:r>
              <a:rPr lang="en-GB" dirty="0" err="1" smtClean="0">
                <a:latin typeface="Times New Roman" pitchFamily="18" charset="0"/>
                <a:cs typeface="Times New Roman" pitchFamily="18" charset="0"/>
              </a:rPr>
              <a:t>vrs</a:t>
            </a:r>
            <a:r>
              <a:rPr lang="en-GB" dirty="0" smtClean="0">
                <a:latin typeface="Times New Roman" pitchFamily="18" charset="0"/>
                <a:cs typeface="Times New Roman" pitchFamily="18" charset="0"/>
              </a:rPr>
              <a:t> incident negotiations for external service, etc</a:t>
            </a:r>
          </a:p>
          <a:p>
            <a:pPr marL="571500" indent="-571500">
              <a:buFont typeface="+mj-lt"/>
              <a:buAutoNum type="romanLcPeriod"/>
            </a:pPr>
            <a:r>
              <a:rPr lang="en-GB" dirty="0" smtClean="0">
                <a:latin typeface="Times New Roman" pitchFamily="18" charset="0"/>
                <a:cs typeface="Times New Roman" pitchFamily="18" charset="0"/>
              </a:rPr>
              <a:t>Spare parts procurement and stocking, etc</a:t>
            </a:r>
            <a:endParaRPr lang="en-GB"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5A84AF77-7425-4E2C-B9DD-29F12E34D8BA}"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a:bodyPr>
          <a:lstStyle/>
          <a:p>
            <a:r>
              <a:rPr lang="en-GB" sz="4000" dirty="0" smtClean="0">
                <a:latin typeface="Times New Roman" pitchFamily="18" charset="0"/>
                <a:cs typeface="Times New Roman" pitchFamily="18" charset="0"/>
              </a:rPr>
              <a:t>REFERENCES</a:t>
            </a:r>
            <a:endParaRPr lang="en-GB" sz="40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14400"/>
            <a:ext cx="8229600" cy="5334000"/>
          </a:xfrm>
        </p:spPr>
        <p:txBody>
          <a:bodyPr>
            <a:normAutofit/>
          </a:bodyPr>
          <a:lstStyle/>
          <a:p>
            <a:r>
              <a:rPr lang="en-GB" dirty="0" smtClean="0">
                <a:latin typeface="Times New Roman" pitchFamily="18" charset="0"/>
                <a:cs typeface="Times New Roman" pitchFamily="18" charset="0"/>
              </a:rPr>
              <a:t>Internet</a:t>
            </a:r>
          </a:p>
          <a:p>
            <a:r>
              <a:rPr lang="en-GB" dirty="0" smtClean="0">
                <a:latin typeface="Times New Roman" pitchFamily="18" charset="0"/>
                <a:cs typeface="Times New Roman" pitchFamily="18" charset="0"/>
              </a:rPr>
              <a:t>Principles of Planned Maintenance</a:t>
            </a:r>
          </a:p>
          <a:p>
            <a:pPr lvl="1"/>
            <a:r>
              <a:rPr lang="en-GB" dirty="0" smtClean="0">
                <a:latin typeface="Times New Roman" pitchFamily="18" charset="0"/>
                <a:cs typeface="Times New Roman" pitchFamily="18" charset="0"/>
              </a:rPr>
              <a:t>R. H. Clifton</a:t>
            </a:r>
          </a:p>
          <a:p>
            <a:pPr lvl="1"/>
            <a:r>
              <a:rPr lang="en-GB" dirty="0" smtClean="0">
                <a:latin typeface="Times New Roman" pitchFamily="18" charset="0"/>
                <a:cs typeface="Times New Roman" pitchFamily="18" charset="0"/>
              </a:rPr>
              <a:t>ISBN: 0 7131 3317 1</a:t>
            </a:r>
          </a:p>
          <a:p>
            <a:pPr lvl="1"/>
            <a:r>
              <a:rPr lang="en-GB" dirty="0" smtClean="0">
                <a:latin typeface="Times New Roman" pitchFamily="18" charset="0"/>
                <a:cs typeface="Times New Roman" pitchFamily="18" charset="0"/>
              </a:rPr>
              <a:t>Edward Arnold (Publications) Ltd.</a:t>
            </a:r>
          </a:p>
          <a:p>
            <a:r>
              <a:rPr lang="en-GB" dirty="0" smtClean="0">
                <a:latin typeface="Times New Roman" pitchFamily="18" charset="0"/>
                <a:cs typeface="Times New Roman" pitchFamily="18" charset="0"/>
              </a:rPr>
              <a:t>Agricultural Mechanics; Fundamentals &amp; Applications; 2</a:t>
            </a:r>
            <a:r>
              <a:rPr lang="en-GB" baseline="30000" dirty="0" smtClean="0">
                <a:latin typeface="Times New Roman" pitchFamily="18" charset="0"/>
                <a:cs typeface="Times New Roman" pitchFamily="18" charset="0"/>
              </a:rPr>
              <a:t>nd</a:t>
            </a:r>
            <a:r>
              <a:rPr lang="en-GB" dirty="0" smtClean="0">
                <a:latin typeface="Times New Roman" pitchFamily="18" charset="0"/>
                <a:cs typeface="Times New Roman" pitchFamily="18" charset="0"/>
              </a:rPr>
              <a:t> edition</a:t>
            </a:r>
          </a:p>
          <a:p>
            <a:pPr lvl="1"/>
            <a:r>
              <a:rPr lang="en-GB" dirty="0" smtClean="0">
                <a:latin typeface="Times New Roman" pitchFamily="18" charset="0"/>
                <a:cs typeface="Times New Roman" pitchFamily="18" charset="0"/>
              </a:rPr>
              <a:t>Elmer L. Cooper, </a:t>
            </a:r>
            <a:r>
              <a:rPr lang="en-GB" dirty="0" err="1" smtClean="0">
                <a:latin typeface="Times New Roman" pitchFamily="18" charset="0"/>
                <a:cs typeface="Times New Roman" pitchFamily="18" charset="0"/>
              </a:rPr>
              <a:t>Ed.D</a:t>
            </a:r>
            <a:r>
              <a:rPr lang="en-GB" dirty="0" smtClean="0">
                <a:latin typeface="Times New Roman" pitchFamily="18" charset="0"/>
                <a:cs typeface="Times New Roman" pitchFamily="18" charset="0"/>
              </a:rPr>
              <a:t>.</a:t>
            </a:r>
          </a:p>
          <a:p>
            <a:pPr lvl="1"/>
            <a:r>
              <a:rPr lang="en-GB" dirty="0" smtClean="0">
                <a:latin typeface="Times New Roman" pitchFamily="18" charset="0"/>
                <a:cs typeface="Times New Roman" pitchFamily="18" charset="0"/>
              </a:rPr>
              <a:t>H. Edward </a:t>
            </a:r>
            <a:r>
              <a:rPr lang="en-GB" dirty="0" err="1" smtClean="0">
                <a:latin typeface="Times New Roman" pitchFamily="18" charset="0"/>
                <a:cs typeface="Times New Roman" pitchFamily="18" charset="0"/>
              </a:rPr>
              <a:t>Reiley</a:t>
            </a:r>
            <a:r>
              <a:rPr lang="en-GB" dirty="0" smtClean="0">
                <a:latin typeface="Times New Roman" pitchFamily="18" charset="0"/>
                <a:cs typeface="Times New Roman" pitchFamily="18" charset="0"/>
              </a:rPr>
              <a:t>, Consulting Editor</a:t>
            </a:r>
          </a:p>
          <a:p>
            <a:pPr lvl="1"/>
            <a:r>
              <a:rPr lang="en-GB" dirty="0" smtClean="0">
                <a:latin typeface="Times New Roman" pitchFamily="18" charset="0"/>
                <a:cs typeface="Times New Roman" pitchFamily="18" charset="0"/>
              </a:rPr>
              <a:t>Delmar Publishers </a:t>
            </a:r>
            <a:r>
              <a:rPr lang="en-GB" smtClean="0">
                <a:latin typeface="Times New Roman" pitchFamily="18" charset="0"/>
                <a:cs typeface="Times New Roman" pitchFamily="18" charset="0"/>
              </a:rPr>
              <a:t>Inc.</a:t>
            </a:r>
            <a:endParaRPr lang="en-GB"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773DDCDA-A094-461D-A296-0824BE7A21C7}"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lstStyle/>
          <a:p>
            <a:r>
              <a:rPr lang="en-GB" dirty="0" smtClean="0">
                <a:latin typeface="Times New Roman" pitchFamily="18" charset="0"/>
                <a:cs typeface="Times New Roman" pitchFamily="18" charset="0"/>
              </a:rPr>
              <a:t>GENERAL INTRODUCTION</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a:xfrm>
            <a:off x="0" y="1066800"/>
            <a:ext cx="9144000" cy="5181600"/>
          </a:xfrm>
        </p:spPr>
        <p:txBody>
          <a:bodyPr>
            <a:normAutofit fontScale="92500" lnSpcReduction="20000"/>
          </a:bodyPr>
          <a:lstStyle/>
          <a:p>
            <a:r>
              <a:rPr lang="en-GB" dirty="0" smtClean="0">
                <a:latin typeface="Times New Roman" pitchFamily="18" charset="0"/>
                <a:cs typeface="Times New Roman" pitchFamily="18" charset="0"/>
              </a:rPr>
              <a:t>Well maintained machinery = Lynch pin of successful farm business</a:t>
            </a:r>
          </a:p>
          <a:p>
            <a:pPr lvl="1"/>
            <a:r>
              <a:rPr lang="en-GB" dirty="0" smtClean="0">
                <a:latin typeface="Times New Roman" pitchFamily="18" charset="0"/>
                <a:cs typeface="Times New Roman" pitchFamily="18" charset="0"/>
              </a:rPr>
              <a:t>Breakdowns cost time and money in the idle time waiting for repairs</a:t>
            </a:r>
          </a:p>
          <a:p>
            <a:pPr lvl="2"/>
            <a:r>
              <a:rPr lang="en-GB" dirty="0" smtClean="0">
                <a:latin typeface="Times New Roman" pitchFamily="18" charset="0"/>
                <a:cs typeface="Times New Roman" pitchFamily="18" charset="0"/>
              </a:rPr>
              <a:t>Time spent waiting for dealer or mechanics to arrive</a:t>
            </a:r>
          </a:p>
          <a:p>
            <a:pPr lvl="2"/>
            <a:r>
              <a:rPr lang="en-GB" dirty="0" smtClean="0">
                <a:latin typeface="Times New Roman" pitchFamily="18" charset="0"/>
                <a:cs typeface="Times New Roman" pitchFamily="18" charset="0"/>
              </a:rPr>
              <a:t>Time and cost of purchase of spare parts</a:t>
            </a:r>
          </a:p>
          <a:p>
            <a:pPr lvl="1"/>
            <a:r>
              <a:rPr lang="en-GB" dirty="0" smtClean="0">
                <a:latin typeface="Times New Roman" pitchFamily="18" charset="0"/>
                <a:cs typeface="Times New Roman" pitchFamily="18" charset="0"/>
              </a:rPr>
              <a:t>Modern plant &amp; equipment require heavy capital expenditure, making downtime extremely costly</a:t>
            </a:r>
          </a:p>
          <a:p>
            <a:r>
              <a:rPr lang="en-GB" dirty="0" smtClean="0">
                <a:latin typeface="Times New Roman" pitchFamily="18" charset="0"/>
                <a:cs typeface="Times New Roman" pitchFamily="18" charset="0"/>
              </a:rPr>
              <a:t>Regular maintenance helps to avoid the above scenarios</a:t>
            </a:r>
          </a:p>
          <a:p>
            <a:r>
              <a:rPr lang="en-GB" dirty="0" smtClean="0">
                <a:latin typeface="Times New Roman" pitchFamily="18" charset="0"/>
                <a:cs typeface="Times New Roman" pitchFamily="18" charset="0"/>
              </a:rPr>
              <a:t>Regular maintenance enables manufacturing plants to operate efficiently and accurately at the required level of production</a:t>
            </a:r>
          </a:p>
          <a:p>
            <a:r>
              <a:rPr lang="en-GB" dirty="0" smtClean="0">
                <a:latin typeface="Times New Roman" pitchFamily="18" charset="0"/>
                <a:cs typeface="Times New Roman" pitchFamily="18" charset="0"/>
              </a:rPr>
              <a:t>It helps to reduce or stabilise manufacturing costs</a:t>
            </a:r>
            <a:endParaRPr lang="en-GB"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4F07460-BEAC-4474-A5AB-7C36E841B074}"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normAutofit fontScale="90000"/>
          </a:bodyPr>
          <a:lstStyle/>
          <a:p>
            <a:r>
              <a:rPr lang="en-GB" dirty="0" smtClean="0">
                <a:latin typeface="Times New Roman" pitchFamily="18" charset="0"/>
                <a:cs typeface="Times New Roman" pitchFamily="18" charset="0"/>
              </a:rPr>
              <a:t>GENERAL INTRODUCTION (contd.)</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a:xfrm>
            <a:off x="228600" y="1036637"/>
            <a:ext cx="8458200" cy="5287963"/>
          </a:xfrm>
        </p:spPr>
        <p:txBody>
          <a:bodyPr>
            <a:normAutofit fontScale="92500"/>
          </a:bodyPr>
          <a:lstStyle/>
          <a:p>
            <a:r>
              <a:rPr lang="en-GB" dirty="0" smtClean="0">
                <a:latin typeface="Times New Roman" pitchFamily="18" charset="0"/>
                <a:cs typeface="Times New Roman" pitchFamily="18" charset="0"/>
              </a:rPr>
              <a:t>Hidden costs lie in lost opportunities, e.g.</a:t>
            </a:r>
          </a:p>
          <a:p>
            <a:pPr lvl="1"/>
            <a:r>
              <a:rPr lang="en-GB" dirty="0" smtClean="0">
                <a:latin typeface="Times New Roman" pitchFamily="18" charset="0"/>
                <a:cs typeface="Times New Roman" pitchFamily="18" charset="0"/>
              </a:rPr>
              <a:t>Grain could not be harvested because the combine harvester was laid up during two (2) fine days before the deluge (sudden heavy downpour, great flood, an overwhelming amount).</a:t>
            </a:r>
          </a:p>
          <a:p>
            <a:pPr lvl="1"/>
            <a:r>
              <a:rPr lang="en-GB" dirty="0" smtClean="0">
                <a:latin typeface="Times New Roman" pitchFamily="18" charset="0"/>
                <a:cs typeface="Times New Roman" pitchFamily="18" charset="0"/>
              </a:rPr>
              <a:t>The silage crop (for animal fodder) was left down to dry because the forage harvester was out of commission.</a:t>
            </a:r>
          </a:p>
          <a:p>
            <a:pPr lvl="1"/>
            <a:r>
              <a:rPr lang="en-GB" dirty="0" smtClean="0">
                <a:latin typeface="Times New Roman" pitchFamily="18" charset="0"/>
                <a:cs typeface="Times New Roman" pitchFamily="18" charset="0"/>
              </a:rPr>
              <a:t>The seed should have been sown two weeks ago but this could not be because the drill was defunct.</a:t>
            </a:r>
          </a:p>
          <a:p>
            <a:pPr lvl="1"/>
            <a:r>
              <a:rPr lang="en-GB" dirty="0" smtClean="0">
                <a:latin typeface="Times New Roman" pitchFamily="18" charset="0"/>
                <a:cs typeface="Times New Roman" pitchFamily="18" charset="0"/>
              </a:rPr>
              <a:t>Frequent breakdowns of the refuse track did not allow effective disposal of refuse. This led to the spread of pests and diseases.</a:t>
            </a:r>
          </a:p>
        </p:txBody>
      </p:sp>
      <p:sp>
        <p:nvSpPr>
          <p:cNvPr id="4" name="Date Placeholder 3"/>
          <p:cNvSpPr>
            <a:spLocks noGrp="1"/>
          </p:cNvSpPr>
          <p:nvPr>
            <p:ph type="dt" sz="half" idx="10"/>
          </p:nvPr>
        </p:nvSpPr>
        <p:spPr/>
        <p:txBody>
          <a:bodyPr/>
          <a:lstStyle/>
          <a:p>
            <a:fld id="{C5A1FFB7-F135-45E1-BBA5-E865A6B60BFE}" type="datetime1">
              <a:rPr lang="en-GB" smtClean="0"/>
              <a:pPr/>
              <a:t>31/03/2015</a:t>
            </a:fld>
            <a:endParaRPr lang="en-US" dirty="0"/>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latin typeface="Times New Roman" pitchFamily="18" charset="0"/>
                <a:cs typeface="Times New Roman" pitchFamily="18" charset="0"/>
              </a:rPr>
              <a:t>GENERAL INTRODUCTION (contd.)</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GB" dirty="0" smtClean="0">
                <a:latin typeface="Times New Roman" pitchFamily="18" charset="0"/>
                <a:cs typeface="Times New Roman" pitchFamily="18" charset="0"/>
              </a:rPr>
              <a:t>The above scenarios and some other problems at times crop up.</a:t>
            </a:r>
          </a:p>
          <a:p>
            <a:pPr lvl="1"/>
            <a:r>
              <a:rPr lang="en-GB" dirty="0" smtClean="0">
                <a:latin typeface="Times New Roman" pitchFamily="18" charset="0"/>
                <a:cs typeface="Times New Roman" pitchFamily="18" charset="0"/>
              </a:rPr>
              <a:t>Therefore, many efficient Units maintain a farm workshop with a capacity for on-the-spot machinery repairs (well-equipped workshop and experienced fitters/mechanics ) to keep the downtime to a minimum.</a:t>
            </a:r>
            <a:endParaRPr lang="en-GB"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EF215C0-4C52-4EB9-A102-68B167B6F1B8}"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r>
              <a:rPr lang="en-GB" dirty="0" smtClean="0">
                <a:latin typeface="Times New Roman" pitchFamily="18" charset="0"/>
                <a:cs typeface="Times New Roman" pitchFamily="18" charset="0"/>
              </a:rPr>
              <a:t>MAINTENANCE</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a:xfrm>
            <a:off x="228600" y="838200"/>
            <a:ext cx="8763000" cy="5486400"/>
          </a:xfrm>
        </p:spPr>
        <p:txBody>
          <a:bodyPr>
            <a:normAutofit fontScale="85000" lnSpcReduction="20000"/>
          </a:bodyPr>
          <a:lstStyle/>
          <a:p>
            <a:r>
              <a:rPr lang="en-GB" dirty="0" smtClean="0">
                <a:latin typeface="Times New Roman" pitchFamily="18" charset="0"/>
                <a:cs typeface="Times New Roman" pitchFamily="18" charset="0"/>
              </a:rPr>
              <a:t>Maintenance is the act of keeping fixed assets in an acceptably functioning condition.</a:t>
            </a:r>
          </a:p>
          <a:p>
            <a:r>
              <a:rPr lang="en-GB" dirty="0" smtClean="0">
                <a:latin typeface="Times New Roman" pitchFamily="18" charset="0"/>
                <a:cs typeface="Times New Roman" pitchFamily="18" charset="0"/>
              </a:rPr>
              <a:t>Maintenance has become more important than ever, due to </a:t>
            </a:r>
          </a:p>
          <a:p>
            <a:pPr lvl="1"/>
            <a:r>
              <a:rPr lang="en-GB" dirty="0" smtClean="0">
                <a:latin typeface="Times New Roman" pitchFamily="18" charset="0"/>
                <a:cs typeface="Times New Roman" pitchFamily="18" charset="0"/>
              </a:rPr>
              <a:t>The emergence of complex modern machines</a:t>
            </a:r>
          </a:p>
          <a:p>
            <a:pPr lvl="1"/>
            <a:r>
              <a:rPr lang="en-GB" dirty="0" smtClean="0">
                <a:latin typeface="Times New Roman" pitchFamily="18" charset="0"/>
                <a:cs typeface="Times New Roman" pitchFamily="18" charset="0"/>
              </a:rPr>
              <a:t>The need to adhere to very tight planning for operations</a:t>
            </a:r>
          </a:p>
          <a:p>
            <a:r>
              <a:rPr lang="en-GB" dirty="0" smtClean="0">
                <a:latin typeface="Times New Roman" pitchFamily="18" charset="0"/>
                <a:cs typeface="Times New Roman" pitchFamily="18" charset="0"/>
              </a:rPr>
              <a:t>It includes</a:t>
            </a:r>
          </a:p>
          <a:p>
            <a:pPr lvl="1"/>
            <a:r>
              <a:rPr lang="en-GB" dirty="0">
                <a:latin typeface="Times New Roman" pitchFamily="18" charset="0"/>
                <a:cs typeface="Times New Roman" pitchFamily="18" charset="0"/>
              </a:rPr>
              <a:t>P</a:t>
            </a:r>
            <a:r>
              <a:rPr lang="en-GB" dirty="0" smtClean="0">
                <a:latin typeface="Times New Roman" pitchFamily="18" charset="0"/>
                <a:cs typeface="Times New Roman" pitchFamily="18" charset="0"/>
              </a:rPr>
              <a:t>reventive maintenance</a:t>
            </a:r>
          </a:p>
          <a:p>
            <a:pPr lvl="1"/>
            <a:r>
              <a:rPr lang="en-GB" dirty="0" smtClean="0">
                <a:latin typeface="Times New Roman" pitchFamily="18" charset="0"/>
                <a:cs typeface="Times New Roman" pitchFamily="18" charset="0"/>
              </a:rPr>
              <a:t>Repairs</a:t>
            </a:r>
          </a:p>
          <a:p>
            <a:pPr lvl="1"/>
            <a:r>
              <a:rPr lang="en-GB" dirty="0" smtClean="0">
                <a:latin typeface="Times New Roman" pitchFamily="18" charset="0"/>
                <a:cs typeface="Times New Roman" pitchFamily="18" charset="0"/>
              </a:rPr>
              <a:t>Cyclical maintenance (component replacement)</a:t>
            </a:r>
          </a:p>
          <a:p>
            <a:pPr lvl="1"/>
            <a:r>
              <a:rPr lang="en-GB" dirty="0" smtClean="0">
                <a:latin typeface="Times New Roman" pitchFamily="18" charset="0"/>
                <a:cs typeface="Times New Roman" pitchFamily="18" charset="0"/>
              </a:rPr>
              <a:t>Activities to address the statutory requirements needed for the asset to achieve its expected life</a:t>
            </a:r>
          </a:p>
          <a:p>
            <a:r>
              <a:rPr lang="en-GB" dirty="0" smtClean="0">
                <a:latin typeface="Times New Roman" pitchFamily="18" charset="0"/>
                <a:cs typeface="Times New Roman" pitchFamily="18" charset="0"/>
              </a:rPr>
              <a:t>It excludes</a:t>
            </a:r>
          </a:p>
          <a:p>
            <a:pPr lvl="1"/>
            <a:r>
              <a:rPr lang="en-GB" dirty="0" smtClean="0">
                <a:latin typeface="Times New Roman" pitchFamily="18" charset="0"/>
                <a:cs typeface="Times New Roman" pitchFamily="18" charset="0"/>
              </a:rPr>
              <a:t>Upgrade activities aimed at expanding the capacity</a:t>
            </a:r>
          </a:p>
          <a:p>
            <a:pPr lvl="1"/>
            <a:r>
              <a:rPr lang="en-GB" dirty="0" smtClean="0">
                <a:latin typeface="Times New Roman" pitchFamily="18" charset="0"/>
                <a:cs typeface="Times New Roman" pitchFamily="18" charset="0"/>
              </a:rPr>
              <a:t>Activities for changing the function of the asset</a:t>
            </a:r>
            <a:endParaRPr lang="en-GB"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7517E7F-C3A5-48ED-ADE5-E2128B285A6A}" type="datetime1">
              <a:rPr lang="en-GB" smtClean="0"/>
              <a:pPr/>
              <a:t>31/03/2015</a:t>
            </a:fld>
            <a:endParaRPr lang="en-US" dirty="0"/>
          </a:p>
        </p:txBody>
      </p:sp>
      <p:sp>
        <p:nvSpPr>
          <p:cNvPr id="5" name="Footer Placeholder 4"/>
          <p:cNvSpPr>
            <a:spLocks noGrp="1"/>
          </p:cNvSpPr>
          <p:nvPr>
            <p:ph type="ftr" sz="quarter" idx="11"/>
          </p:nvPr>
        </p:nvSpPr>
        <p:spPr/>
        <p:txBody>
          <a:bodyPr/>
          <a:lstStyle/>
          <a:p>
            <a:r>
              <a:rPr lang="en-US" dirty="0" smtClean="0"/>
              <a:t>J. K. </a:t>
            </a:r>
            <a:r>
              <a:rPr lang="en-US" dirty="0" err="1" smtClean="0"/>
              <a:t>Afriyie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lstStyle/>
          <a:p>
            <a:r>
              <a:rPr lang="en-GB" dirty="0" smtClean="0">
                <a:latin typeface="Times New Roman" pitchFamily="18" charset="0"/>
                <a:cs typeface="Times New Roman" pitchFamily="18" charset="0"/>
              </a:rPr>
              <a:t>MAINTENANCE (contd.)</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a:xfrm>
            <a:off x="228600" y="1143000"/>
            <a:ext cx="8763000" cy="5059363"/>
          </a:xfrm>
        </p:spPr>
        <p:txBody>
          <a:bodyPr>
            <a:normAutofit/>
          </a:bodyPr>
          <a:lstStyle/>
          <a:p>
            <a:r>
              <a:rPr lang="en-GB" sz="4000" dirty="0" smtClean="0">
                <a:latin typeface="Times New Roman" pitchFamily="18" charset="0"/>
                <a:cs typeface="Times New Roman" pitchFamily="18" charset="0"/>
              </a:rPr>
              <a:t>Maintenance is an indispensable part of a production system</a:t>
            </a:r>
          </a:p>
          <a:p>
            <a:r>
              <a:rPr lang="en-GB" sz="4000" dirty="0" smtClean="0">
                <a:latin typeface="Times New Roman" pitchFamily="18" charset="0"/>
                <a:cs typeface="Times New Roman" pitchFamily="18" charset="0"/>
              </a:rPr>
              <a:t>Prime Objective of maintenance</a:t>
            </a:r>
          </a:p>
          <a:p>
            <a:pPr lvl="1"/>
            <a:r>
              <a:rPr lang="en-GB" sz="3800" dirty="0" smtClean="0">
                <a:latin typeface="Times New Roman" pitchFamily="18" charset="0"/>
                <a:cs typeface="Times New Roman" pitchFamily="18" charset="0"/>
              </a:rPr>
              <a:t>To ensure availability of existing plant, equipment and buildings in a manner required for efficient operation of the farm</a:t>
            </a:r>
          </a:p>
          <a:p>
            <a:pPr>
              <a:buNone/>
            </a:pPr>
            <a:endParaRPr lang="en-GB" sz="40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7B9EE55-FF8C-4733-844C-EDC72BA09424}"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lstStyle/>
          <a:p>
            <a:r>
              <a:rPr lang="en-GB" dirty="0" smtClean="0">
                <a:latin typeface="Times New Roman" pitchFamily="18" charset="0"/>
                <a:cs typeface="Times New Roman" pitchFamily="18" charset="0"/>
              </a:rPr>
              <a:t>MAINTENANCE (contd.)</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a:xfrm>
            <a:off x="228600" y="1143000"/>
            <a:ext cx="8763000" cy="5059363"/>
          </a:xfrm>
        </p:spPr>
        <p:txBody>
          <a:bodyPr>
            <a:normAutofit/>
          </a:bodyPr>
          <a:lstStyle/>
          <a:p>
            <a:r>
              <a:rPr lang="en-GB" dirty="0" smtClean="0">
                <a:latin typeface="Times New Roman" pitchFamily="18" charset="0"/>
                <a:cs typeface="Times New Roman" pitchFamily="18" charset="0"/>
              </a:rPr>
              <a:t>Maintenance must be carefully planned in conjunction with</a:t>
            </a:r>
          </a:p>
          <a:p>
            <a:pPr lvl="1"/>
            <a:r>
              <a:rPr lang="en-GB" dirty="0" smtClean="0">
                <a:latin typeface="Times New Roman" pitchFamily="18" charset="0"/>
                <a:cs typeface="Times New Roman" pitchFamily="18" charset="0"/>
              </a:rPr>
              <a:t>the operational requirements</a:t>
            </a:r>
          </a:p>
          <a:p>
            <a:pPr lvl="1"/>
            <a:r>
              <a:rPr lang="en-GB" dirty="0" smtClean="0">
                <a:latin typeface="Times New Roman" pitchFamily="18" charset="0"/>
                <a:cs typeface="Times New Roman" pitchFamily="18" charset="0"/>
              </a:rPr>
              <a:t>schedules of the farm (or the manufacturing company)</a:t>
            </a:r>
          </a:p>
          <a:p>
            <a:r>
              <a:rPr lang="en-GB" dirty="0" smtClean="0">
                <a:latin typeface="Times New Roman" pitchFamily="18" charset="0"/>
                <a:cs typeface="Times New Roman" pitchFamily="18" charset="0"/>
              </a:rPr>
              <a:t>It must, however, be planned such that it does not obscure the real objectives of the farm or become a ‘tail wagging the dog’</a:t>
            </a:r>
          </a:p>
        </p:txBody>
      </p:sp>
      <p:sp>
        <p:nvSpPr>
          <p:cNvPr id="4" name="Date Placeholder 3"/>
          <p:cNvSpPr>
            <a:spLocks noGrp="1"/>
          </p:cNvSpPr>
          <p:nvPr>
            <p:ph type="dt" sz="half" idx="10"/>
          </p:nvPr>
        </p:nvSpPr>
        <p:spPr/>
        <p:txBody>
          <a:bodyPr/>
          <a:lstStyle/>
          <a:p>
            <a:fld id="{711028E0-F919-4979-8F40-1804CDCFA8EF}"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latin typeface="Times New Roman" pitchFamily="18" charset="0"/>
                <a:cs typeface="Times New Roman" pitchFamily="18" charset="0"/>
              </a:rPr>
              <a:t>PRINCIPLES OF MAINTENANCE</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a:xfrm>
            <a:off x="0" y="1371600"/>
            <a:ext cx="9144000" cy="5105400"/>
          </a:xfrm>
        </p:spPr>
        <p:txBody>
          <a:bodyPr>
            <a:normAutofit/>
          </a:bodyPr>
          <a:lstStyle/>
          <a:p>
            <a:r>
              <a:rPr lang="en-GB" dirty="0" smtClean="0">
                <a:latin typeface="Times New Roman" pitchFamily="18" charset="0"/>
                <a:cs typeface="Times New Roman" pitchFamily="18" charset="0"/>
              </a:rPr>
              <a:t>Maintenance is best performed at a level that is</a:t>
            </a:r>
          </a:p>
          <a:p>
            <a:pPr lvl="1"/>
            <a:r>
              <a:rPr lang="en-GB" dirty="0" smtClean="0">
                <a:latin typeface="Times New Roman" pitchFamily="18" charset="0"/>
                <a:cs typeface="Times New Roman" pitchFamily="18" charset="0"/>
              </a:rPr>
              <a:t>Best qualified</a:t>
            </a:r>
          </a:p>
          <a:p>
            <a:pPr lvl="1"/>
            <a:r>
              <a:rPr lang="en-GB" dirty="0" smtClean="0">
                <a:latin typeface="Times New Roman" pitchFamily="18" charset="0"/>
                <a:cs typeface="Times New Roman" pitchFamily="18" charset="0"/>
              </a:rPr>
              <a:t>Responsive</a:t>
            </a:r>
          </a:p>
          <a:p>
            <a:pPr lvl="1"/>
            <a:r>
              <a:rPr lang="en-GB" dirty="0" smtClean="0">
                <a:latin typeface="Times New Roman" pitchFamily="18" charset="0"/>
                <a:cs typeface="Times New Roman" pitchFamily="18" charset="0"/>
              </a:rPr>
              <a:t>Cost effective</a:t>
            </a:r>
          </a:p>
          <a:p>
            <a:r>
              <a:rPr lang="en-GB" dirty="0" smtClean="0">
                <a:latin typeface="Times New Roman" pitchFamily="18" charset="0"/>
                <a:cs typeface="Times New Roman" pitchFamily="18" charset="0"/>
              </a:rPr>
              <a:t>Repairs beyond organic capability (at natural level of the organisation), delivered to the next level</a:t>
            </a:r>
          </a:p>
          <a:p>
            <a:r>
              <a:rPr lang="en-GB" dirty="0" smtClean="0">
                <a:latin typeface="Times New Roman" pitchFamily="18" charset="0"/>
                <a:cs typeface="Times New Roman" pitchFamily="18" charset="0"/>
              </a:rPr>
              <a:t>Unit performance before evacuated</a:t>
            </a:r>
          </a:p>
          <a:p>
            <a:r>
              <a:rPr lang="en-GB" dirty="0" smtClean="0">
                <a:latin typeface="Times New Roman" pitchFamily="18" charset="0"/>
                <a:cs typeface="Times New Roman" pitchFamily="18" charset="0"/>
              </a:rPr>
              <a:t>Controlled exchange, used to support maintenance</a:t>
            </a:r>
            <a:endParaRPr lang="en-GB"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15527B5B-053B-429A-9CCB-C3622AD3126E}"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Times New Roman" pitchFamily="18" charset="0"/>
                <a:cs typeface="Times New Roman" pitchFamily="18" charset="0"/>
              </a:rPr>
              <a:t>ANNUAL MAINTENANCE (AM)</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r>
              <a:rPr lang="en-GB" dirty="0" smtClean="0">
                <a:latin typeface="Times New Roman" pitchFamily="18" charset="0"/>
                <a:cs typeface="Times New Roman" pitchFamily="18" charset="0"/>
              </a:rPr>
              <a:t>Work performed to maintain serviceability or repair of failures in the year in which they occur</a:t>
            </a:r>
          </a:p>
          <a:p>
            <a:r>
              <a:rPr lang="en-GB" dirty="0" smtClean="0">
                <a:latin typeface="Times New Roman" pitchFamily="18" charset="0"/>
                <a:cs typeface="Times New Roman" pitchFamily="18" charset="0"/>
              </a:rPr>
              <a:t>Includes preventive and cyclic maintenance</a:t>
            </a:r>
          </a:p>
          <a:p>
            <a:r>
              <a:rPr lang="en-GB" dirty="0" smtClean="0">
                <a:latin typeface="Times New Roman" pitchFamily="18" charset="0"/>
                <a:cs typeface="Times New Roman" pitchFamily="18" charset="0"/>
              </a:rPr>
              <a:t>Can be</a:t>
            </a:r>
          </a:p>
          <a:p>
            <a:pPr lvl="1"/>
            <a:r>
              <a:rPr lang="en-GB" dirty="0" smtClean="0">
                <a:latin typeface="Times New Roman" pitchFamily="18" charset="0"/>
                <a:cs typeface="Times New Roman" pitchFamily="18" charset="0"/>
              </a:rPr>
              <a:t>scheduled (planned)</a:t>
            </a:r>
          </a:p>
          <a:p>
            <a:pPr lvl="1"/>
            <a:r>
              <a:rPr lang="en-GB" dirty="0" smtClean="0">
                <a:latin typeface="Times New Roman" pitchFamily="18" charset="0"/>
                <a:cs typeface="Times New Roman" pitchFamily="18" charset="0"/>
              </a:rPr>
              <a:t>unscheduled (unplanned), out of catastrophic failures</a:t>
            </a:r>
          </a:p>
          <a:p>
            <a:r>
              <a:rPr lang="en-GB" dirty="0" smtClean="0">
                <a:latin typeface="Times New Roman" pitchFamily="18" charset="0"/>
                <a:cs typeface="Times New Roman" pitchFamily="18" charset="0"/>
              </a:rPr>
              <a:t>An estimation for this is allowed in reputable organisations by raising the Current Replacement Value by 3-5% </a:t>
            </a:r>
          </a:p>
          <a:p>
            <a:endParaRPr lang="en-GB"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53E2118-6333-4486-AED3-CFCCD16A887E}"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normAutofit/>
          </a:bodyPr>
          <a:lstStyle/>
          <a:p>
            <a:r>
              <a:rPr lang="en-GB" sz="3800" dirty="0" smtClean="0">
                <a:latin typeface="Times New Roman" pitchFamily="18" charset="0"/>
                <a:cs typeface="Times New Roman" pitchFamily="18" charset="0"/>
              </a:rPr>
              <a:t>PREVENTIVE MAINTENANCE (PM)</a:t>
            </a:r>
            <a:endParaRPr lang="en-GB" sz="3800" dirty="0">
              <a:latin typeface="Times New Roman" pitchFamily="18" charset="0"/>
              <a:cs typeface="Times New Roman" pitchFamily="18" charset="0"/>
            </a:endParaRPr>
          </a:p>
        </p:txBody>
      </p:sp>
      <p:sp>
        <p:nvSpPr>
          <p:cNvPr id="3" name="Content Placeholder 2"/>
          <p:cNvSpPr>
            <a:spLocks noGrp="1"/>
          </p:cNvSpPr>
          <p:nvPr>
            <p:ph idx="1"/>
          </p:nvPr>
        </p:nvSpPr>
        <p:spPr>
          <a:xfrm>
            <a:off x="152400" y="1143000"/>
            <a:ext cx="8915400" cy="5105400"/>
          </a:xfrm>
        </p:spPr>
        <p:txBody>
          <a:bodyPr>
            <a:normAutofit fontScale="92500" lnSpcReduction="10000"/>
          </a:bodyPr>
          <a:lstStyle/>
          <a:p>
            <a:r>
              <a:rPr lang="en-GB" dirty="0" smtClean="0">
                <a:latin typeface="Times New Roman" pitchFamily="18" charset="0"/>
                <a:cs typeface="Times New Roman" pitchFamily="18" charset="0"/>
              </a:rPr>
              <a:t>Scheduled (planned) servicing, repairs, inspections and replacement of parts</a:t>
            </a:r>
          </a:p>
          <a:p>
            <a:r>
              <a:rPr lang="en-GB" dirty="0" smtClean="0">
                <a:latin typeface="Times New Roman" pitchFamily="18" charset="0"/>
                <a:cs typeface="Times New Roman" pitchFamily="18" charset="0"/>
              </a:rPr>
              <a:t>It results in fewer breakdowns &amp; fewer premature replacements of parts</a:t>
            </a:r>
          </a:p>
          <a:p>
            <a:r>
              <a:rPr lang="en-GB" dirty="0" smtClean="0">
                <a:latin typeface="Times New Roman" pitchFamily="18" charset="0"/>
                <a:cs typeface="Times New Roman" pitchFamily="18" charset="0"/>
              </a:rPr>
              <a:t>It helps to achieve the expected life of the fixed asset</a:t>
            </a:r>
          </a:p>
          <a:p>
            <a:r>
              <a:rPr lang="en-GB" dirty="0" smtClean="0">
                <a:latin typeface="Times New Roman" pitchFamily="18" charset="0"/>
                <a:cs typeface="Times New Roman" pitchFamily="18" charset="0"/>
              </a:rPr>
              <a:t>Regular inspections are critical part of PM, as they provide </a:t>
            </a:r>
          </a:p>
          <a:p>
            <a:pPr lvl="1"/>
            <a:r>
              <a:rPr lang="en-GB" dirty="0" smtClean="0">
                <a:latin typeface="Times New Roman" pitchFamily="18" charset="0"/>
                <a:cs typeface="Times New Roman" pitchFamily="18" charset="0"/>
              </a:rPr>
              <a:t>Information for scheduling maintenance</a:t>
            </a:r>
          </a:p>
          <a:p>
            <a:pPr lvl="1"/>
            <a:r>
              <a:rPr lang="en-GB" dirty="0" smtClean="0">
                <a:latin typeface="Times New Roman" pitchFamily="18" charset="0"/>
                <a:cs typeface="Times New Roman" pitchFamily="18" charset="0"/>
              </a:rPr>
              <a:t>Information for evaluating the effectiveness of maintenance</a:t>
            </a:r>
          </a:p>
          <a:p>
            <a:r>
              <a:rPr lang="en-GB" dirty="0" smtClean="0">
                <a:latin typeface="Times New Roman" pitchFamily="18" charset="0"/>
                <a:cs typeface="Times New Roman" pitchFamily="18" charset="0"/>
              </a:rPr>
              <a:t>Preventive Maintenance is component of Annual Maintenance</a:t>
            </a:r>
            <a:endParaRPr lang="en-GB"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D40364D-B507-4B38-8619-815CF936792E}"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GB" dirty="0" smtClean="0">
                <a:latin typeface="Times New Roman" pitchFamily="18" charset="0"/>
                <a:cs typeface="Times New Roman" pitchFamily="18" charset="0"/>
              </a:rPr>
              <a:t>DEFERRED MAINTENANCE</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382000" cy="5257800"/>
          </a:xfrm>
        </p:spPr>
        <p:txBody>
          <a:bodyPr>
            <a:normAutofit fontScale="92500"/>
          </a:bodyPr>
          <a:lstStyle/>
          <a:p>
            <a:r>
              <a:rPr lang="en-GB" dirty="0" smtClean="0">
                <a:latin typeface="Times New Roman" pitchFamily="18" charset="0"/>
                <a:cs typeface="Times New Roman" pitchFamily="18" charset="0"/>
              </a:rPr>
              <a:t>A scheduled (planned) maintenance that was not performed at the scheduled time and which was therefore put off or delayed for a future period</a:t>
            </a:r>
          </a:p>
          <a:p>
            <a:r>
              <a:rPr lang="en-GB" dirty="0" smtClean="0">
                <a:latin typeface="Times New Roman" pitchFamily="18" charset="0"/>
                <a:cs typeface="Times New Roman" pitchFamily="18" charset="0"/>
              </a:rPr>
              <a:t>Made up 4 parts</a:t>
            </a:r>
          </a:p>
          <a:p>
            <a:pPr marL="971550" lvl="1" indent="-514350">
              <a:buFont typeface="+mj-lt"/>
              <a:buAutoNum type="alphaLcParenR"/>
            </a:pPr>
            <a:r>
              <a:rPr lang="en-GB" dirty="0" smtClean="0">
                <a:latin typeface="Times New Roman" pitchFamily="18" charset="0"/>
                <a:cs typeface="Times New Roman" pitchFamily="18" charset="0"/>
              </a:rPr>
              <a:t>Cyclic (component replacement) maintenance</a:t>
            </a:r>
          </a:p>
          <a:p>
            <a:pPr marL="971550" lvl="1" indent="-514350">
              <a:buFont typeface="+mj-lt"/>
              <a:buAutoNum type="alphaLcParenR"/>
            </a:pPr>
            <a:r>
              <a:rPr lang="en-GB" dirty="0" smtClean="0">
                <a:latin typeface="Times New Roman" pitchFamily="18" charset="0"/>
                <a:cs typeface="Times New Roman" pitchFamily="18" charset="0"/>
              </a:rPr>
              <a:t>Minor repairs not done as scheduled</a:t>
            </a:r>
          </a:p>
          <a:p>
            <a:pPr marL="971550" lvl="1" indent="-514350">
              <a:buFont typeface="+mj-lt"/>
              <a:buAutoNum type="alphaLcParenR"/>
            </a:pPr>
            <a:r>
              <a:rPr lang="en-GB" dirty="0" smtClean="0">
                <a:latin typeface="Times New Roman" pitchFamily="18" charset="0"/>
                <a:cs typeface="Times New Roman" pitchFamily="18" charset="0"/>
              </a:rPr>
              <a:t>Work needed to meet laws, regulations, etc as long as the original intent of the asset has not been changed</a:t>
            </a:r>
          </a:p>
          <a:p>
            <a:pPr marL="971550" lvl="1" indent="-514350">
              <a:buFont typeface="+mj-lt"/>
              <a:buAutoNum type="alphaLcParenR"/>
            </a:pPr>
            <a:r>
              <a:rPr lang="en-GB" dirty="0" smtClean="0">
                <a:latin typeface="Times New Roman" pitchFamily="18" charset="0"/>
                <a:cs typeface="Times New Roman" pitchFamily="18" charset="0"/>
              </a:rPr>
              <a:t>Functional obsolescence, e.g. A garage, or a workshop that is no more needed as such, and has to be converted to an office</a:t>
            </a:r>
            <a:endParaRPr lang="en-GB"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A17599D2-9415-4A41-BD2F-DB56F9534E6D}"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Autofit/>
          </a:bodyPr>
          <a:lstStyle/>
          <a:p>
            <a:r>
              <a:rPr lang="en-GB" sz="3400" dirty="0" smtClean="0">
                <a:latin typeface="Times New Roman" pitchFamily="18" charset="0"/>
                <a:cs typeface="Times New Roman" pitchFamily="18" charset="0"/>
              </a:rPr>
              <a:t>OPERATIONS &amp; MAINTENANCE (O &amp; M)</a:t>
            </a:r>
            <a:endParaRPr lang="en-GB" sz="3400" dirty="0">
              <a:latin typeface="Times New Roman" pitchFamily="18" charset="0"/>
              <a:cs typeface="Times New Roman" pitchFamily="18" charset="0"/>
            </a:endParaRPr>
          </a:p>
        </p:txBody>
      </p:sp>
      <p:sp>
        <p:nvSpPr>
          <p:cNvPr id="3" name="Content Placeholder 2"/>
          <p:cNvSpPr>
            <a:spLocks noGrp="1"/>
          </p:cNvSpPr>
          <p:nvPr>
            <p:ph idx="1"/>
          </p:nvPr>
        </p:nvSpPr>
        <p:spPr>
          <a:xfrm>
            <a:off x="0" y="990600"/>
            <a:ext cx="9144000" cy="5135563"/>
          </a:xfrm>
        </p:spPr>
        <p:txBody>
          <a:bodyPr>
            <a:normAutofit fontScale="92500" lnSpcReduction="10000"/>
          </a:bodyPr>
          <a:lstStyle/>
          <a:p>
            <a:r>
              <a:rPr lang="en-GB" i="1" dirty="0" smtClean="0">
                <a:latin typeface="Times New Roman" pitchFamily="18" charset="0"/>
                <a:cs typeface="Times New Roman" pitchFamily="18" charset="0"/>
              </a:rPr>
              <a:t>Activities</a:t>
            </a:r>
            <a:r>
              <a:rPr lang="en-GB" dirty="0" smtClean="0">
                <a:latin typeface="Times New Roman" pitchFamily="18" charset="0"/>
                <a:cs typeface="Times New Roman" pitchFamily="18" charset="0"/>
              </a:rPr>
              <a:t> and </a:t>
            </a:r>
            <a:r>
              <a:rPr lang="en-GB" i="1" dirty="0" smtClean="0">
                <a:latin typeface="Times New Roman" pitchFamily="18" charset="0"/>
                <a:cs typeface="Times New Roman" pitchFamily="18" charset="0"/>
              </a:rPr>
              <a:t>resources,</a:t>
            </a:r>
            <a:r>
              <a:rPr lang="en-GB" dirty="0" smtClean="0">
                <a:latin typeface="Times New Roman" pitchFamily="18" charset="0"/>
                <a:cs typeface="Times New Roman" pitchFamily="18" charset="0"/>
              </a:rPr>
              <a:t> required to operate and maintain facilities at a level of quality which meets the </a:t>
            </a:r>
            <a:r>
              <a:rPr lang="en-GB" i="1" dirty="0" smtClean="0">
                <a:latin typeface="Times New Roman" pitchFamily="18" charset="0"/>
                <a:cs typeface="Times New Roman" pitchFamily="18" charset="0"/>
              </a:rPr>
              <a:t>objectives</a:t>
            </a:r>
            <a:r>
              <a:rPr lang="en-GB" dirty="0" smtClean="0">
                <a:latin typeface="Times New Roman" pitchFamily="18" charset="0"/>
                <a:cs typeface="Times New Roman" pitchFamily="18" charset="0"/>
              </a:rPr>
              <a:t> of the farm, organisation etc.</a:t>
            </a:r>
            <a:endParaRPr lang="en-GB" i="1" dirty="0" smtClean="0">
              <a:latin typeface="Times New Roman" pitchFamily="18" charset="0"/>
              <a:cs typeface="Times New Roman" pitchFamily="18" charset="0"/>
            </a:endParaRPr>
          </a:p>
          <a:p>
            <a:r>
              <a:rPr lang="en-GB" dirty="0" smtClean="0">
                <a:latin typeface="Times New Roman" pitchFamily="18" charset="0"/>
                <a:cs typeface="Times New Roman" pitchFamily="18" charset="0"/>
              </a:rPr>
              <a:t>The respective functions of O &amp; M are interrelated </a:t>
            </a:r>
          </a:p>
          <a:p>
            <a:pPr lvl="1"/>
            <a:r>
              <a:rPr lang="en-GB" dirty="0" smtClean="0">
                <a:latin typeface="Times New Roman" pitchFamily="18" charset="0"/>
                <a:cs typeface="Times New Roman" pitchFamily="18" charset="0"/>
              </a:rPr>
              <a:t>it is no longer possible or desirable to consider the functions of O as separate from the functions of M</a:t>
            </a:r>
          </a:p>
          <a:p>
            <a:pPr lvl="1"/>
            <a:r>
              <a:rPr lang="en-GB" dirty="0" smtClean="0">
                <a:latin typeface="Times New Roman" pitchFamily="18" charset="0"/>
                <a:cs typeface="Times New Roman" pitchFamily="18" charset="0"/>
              </a:rPr>
              <a:t>Efforts to reduce the cost of one function may lead to an increase in the cost of the other, and all savings could be lost</a:t>
            </a:r>
          </a:p>
          <a:p>
            <a:r>
              <a:rPr lang="en-GB" dirty="0" smtClean="0">
                <a:latin typeface="Times New Roman" pitchFamily="18" charset="0"/>
                <a:cs typeface="Times New Roman" pitchFamily="18" charset="0"/>
              </a:rPr>
              <a:t>Costs associated with O &amp; M are generally recurrent, as opposed to capital investments, which are generally one-time and non-recurrent</a:t>
            </a:r>
            <a:endParaRPr lang="en-GB"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81AF2832-D96E-47F4-A012-2A999F92A4F4}"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GB" dirty="0" smtClean="0">
                <a:latin typeface="Times New Roman" pitchFamily="18" charset="0"/>
                <a:cs typeface="Times New Roman" pitchFamily="18" charset="0"/>
              </a:rPr>
              <a:t>O &amp; M (contd.)</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a:xfrm>
            <a:off x="228600" y="1143000"/>
            <a:ext cx="8915400" cy="5029199"/>
          </a:xfrm>
        </p:spPr>
        <p:txBody>
          <a:bodyPr>
            <a:normAutofit fontScale="77500" lnSpcReduction="20000"/>
          </a:bodyPr>
          <a:lstStyle/>
          <a:p>
            <a:r>
              <a:rPr lang="en-GB" sz="4000" dirty="0" smtClean="0">
                <a:latin typeface="Times New Roman" pitchFamily="18" charset="0"/>
                <a:cs typeface="Times New Roman" pitchFamily="18" charset="0"/>
              </a:rPr>
              <a:t>4 alternatives of O &amp; M:</a:t>
            </a:r>
          </a:p>
          <a:p>
            <a:pPr marL="914400" lvl="1" indent="-457200">
              <a:buFont typeface="+mj-lt"/>
              <a:buAutoNum type="arabicPeriod"/>
            </a:pPr>
            <a:r>
              <a:rPr lang="en-GB" sz="3600" dirty="0" smtClean="0">
                <a:latin typeface="Times New Roman" pitchFamily="18" charset="0"/>
                <a:cs typeface="Times New Roman" pitchFamily="18" charset="0"/>
              </a:rPr>
              <a:t>Operate the equipment until it breaks down – then scrap it and buy a new one (replacement instead of maintenance)</a:t>
            </a:r>
          </a:p>
          <a:p>
            <a:pPr marL="914400" lvl="1" indent="-457200">
              <a:buFont typeface="+mj-lt"/>
              <a:buAutoNum type="arabicPeriod"/>
            </a:pPr>
            <a:r>
              <a:rPr lang="en-GB" sz="3600" dirty="0" smtClean="0">
                <a:latin typeface="Times New Roman" pitchFamily="18" charset="0"/>
                <a:cs typeface="Times New Roman" pitchFamily="18" charset="0"/>
              </a:rPr>
              <a:t>Operate the equipment and then sell it before it either breaks down, or requires expensive overhaul (planned replacement)</a:t>
            </a:r>
          </a:p>
          <a:p>
            <a:pPr marL="914400" lvl="1" indent="-457200">
              <a:buFont typeface="+mj-lt"/>
              <a:buAutoNum type="arabicPeriod"/>
            </a:pPr>
            <a:r>
              <a:rPr lang="en-GB" sz="3600" dirty="0" smtClean="0">
                <a:latin typeface="Times New Roman" pitchFamily="18" charset="0"/>
                <a:cs typeface="Times New Roman" pitchFamily="18" charset="0"/>
              </a:rPr>
              <a:t>Operate the equipment until it breaks down – then repair it (breakdown maintenance)</a:t>
            </a:r>
          </a:p>
          <a:p>
            <a:pPr marL="914400" lvl="1" indent="-457200">
              <a:buFont typeface="+mj-lt"/>
              <a:buAutoNum type="arabicPeriod"/>
            </a:pPr>
            <a:r>
              <a:rPr lang="en-GB" sz="3600" dirty="0" smtClean="0">
                <a:latin typeface="Times New Roman" pitchFamily="18" charset="0"/>
                <a:cs typeface="Times New Roman" pitchFamily="18" charset="0"/>
              </a:rPr>
              <a:t>Carry out regular maintenance, planned carefully in conjunction with operational requirements to prevent the failure of the equipment during operations (preventive maintenance)</a:t>
            </a:r>
            <a:endParaRPr lang="en-GB" sz="3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B33FAFE8-1EB8-4DAA-A147-4B78CEDD3316}"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lstStyle/>
          <a:p>
            <a:r>
              <a:rPr lang="en-GB" dirty="0" smtClean="0">
                <a:latin typeface="Times New Roman" pitchFamily="18" charset="0"/>
                <a:cs typeface="Times New Roman" pitchFamily="18" charset="0"/>
              </a:rPr>
              <a:t>FORMS OF MAINTENANCE</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a:xfrm>
            <a:off x="228600" y="990600"/>
            <a:ext cx="8610600" cy="5333999"/>
          </a:xfrm>
        </p:spPr>
        <p:txBody>
          <a:bodyPr>
            <a:normAutofit fontScale="92500" lnSpcReduction="20000"/>
          </a:bodyPr>
          <a:lstStyle/>
          <a:p>
            <a:r>
              <a:rPr lang="en-GB" sz="4000" dirty="0" smtClean="0">
                <a:latin typeface="Times New Roman" pitchFamily="18" charset="0"/>
                <a:cs typeface="Times New Roman" pitchFamily="18" charset="0"/>
              </a:rPr>
              <a:t>Replacement instead of maintenance: Possibilities</a:t>
            </a:r>
          </a:p>
          <a:p>
            <a:pPr lvl="1"/>
            <a:r>
              <a:rPr lang="en-GB" sz="4000" dirty="0" smtClean="0">
                <a:latin typeface="Times New Roman" pitchFamily="18" charset="0"/>
                <a:cs typeface="Times New Roman" pitchFamily="18" charset="0"/>
              </a:rPr>
              <a:t>Cost of repairs exceeds cost of replacement</a:t>
            </a:r>
          </a:p>
          <a:p>
            <a:pPr lvl="1"/>
            <a:r>
              <a:rPr lang="en-GB" sz="4000" dirty="0" smtClean="0">
                <a:latin typeface="Times New Roman" pitchFamily="18" charset="0"/>
                <a:cs typeface="Times New Roman" pitchFamily="18" charset="0"/>
              </a:rPr>
              <a:t>Technological advancement causes equipment to become obsolete rapidly</a:t>
            </a:r>
          </a:p>
          <a:p>
            <a:pPr lvl="2"/>
            <a:r>
              <a:rPr lang="en-GB" sz="3200" dirty="0" smtClean="0">
                <a:latin typeface="Times New Roman" pitchFamily="18" charset="0"/>
                <a:cs typeface="Times New Roman" pitchFamily="18" charset="0"/>
              </a:rPr>
              <a:t>Therefore, equipment not designed to last</a:t>
            </a:r>
          </a:p>
          <a:p>
            <a:pPr lvl="1"/>
            <a:r>
              <a:rPr lang="en-GB" sz="4000" dirty="0" smtClean="0">
                <a:latin typeface="Times New Roman" pitchFamily="18" charset="0"/>
                <a:cs typeface="Times New Roman" pitchFamily="18" charset="0"/>
              </a:rPr>
              <a:t>Some items are impossible to repair or designed not to be repaired</a:t>
            </a:r>
          </a:p>
          <a:p>
            <a:pPr lvl="2"/>
            <a:r>
              <a:rPr lang="en-GB" sz="3200" dirty="0" smtClean="0">
                <a:latin typeface="Times New Roman" pitchFamily="18" charset="0"/>
                <a:cs typeface="Times New Roman" pitchFamily="18" charset="0"/>
              </a:rPr>
              <a:t>Their value lies in their cheapness</a:t>
            </a:r>
            <a:endParaRPr lang="en-GB" sz="3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50CEC38D-7C38-4AB0-BB33-ACB9A57C5BC9}"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a:bodyPr>
          <a:lstStyle/>
          <a:p>
            <a:r>
              <a:rPr lang="en-GB" sz="3800" dirty="0" smtClean="0">
                <a:latin typeface="Times New Roman" pitchFamily="18" charset="0"/>
                <a:cs typeface="Times New Roman" pitchFamily="18" charset="0"/>
              </a:rPr>
              <a:t>FORMS OF MAINTENANCE (contd.)</a:t>
            </a:r>
            <a:endParaRPr lang="en-GB" sz="3800" dirty="0">
              <a:latin typeface="Times New Roman" pitchFamily="18" charset="0"/>
              <a:cs typeface="Times New Roman" pitchFamily="18" charset="0"/>
            </a:endParaRPr>
          </a:p>
        </p:txBody>
      </p:sp>
      <p:sp>
        <p:nvSpPr>
          <p:cNvPr id="3" name="Content Placeholder 2"/>
          <p:cNvSpPr>
            <a:spLocks noGrp="1"/>
          </p:cNvSpPr>
          <p:nvPr>
            <p:ph idx="1"/>
          </p:nvPr>
        </p:nvSpPr>
        <p:spPr>
          <a:xfrm>
            <a:off x="0" y="762000"/>
            <a:ext cx="9144000" cy="5638800"/>
          </a:xfrm>
        </p:spPr>
        <p:txBody>
          <a:bodyPr>
            <a:normAutofit fontScale="92500" lnSpcReduction="10000"/>
          </a:bodyPr>
          <a:lstStyle/>
          <a:p>
            <a:r>
              <a:rPr lang="en-GB" sz="3200" dirty="0" smtClean="0">
                <a:latin typeface="Times New Roman" pitchFamily="18" charset="0"/>
                <a:cs typeface="Times New Roman" pitchFamily="18" charset="0"/>
              </a:rPr>
              <a:t>Planned replacement</a:t>
            </a:r>
          </a:p>
          <a:p>
            <a:pPr marL="398463" lvl="1"/>
            <a:r>
              <a:rPr lang="en-GB" sz="2800" dirty="0" smtClean="0">
                <a:latin typeface="Times New Roman" pitchFamily="18" charset="0"/>
                <a:cs typeface="Times New Roman" pitchFamily="18" charset="0"/>
              </a:rPr>
              <a:t>Applied in industries where equipment operate as separate units</a:t>
            </a:r>
          </a:p>
          <a:p>
            <a:pPr lvl="2"/>
            <a:r>
              <a:rPr lang="en-GB" sz="2600" dirty="0" smtClean="0">
                <a:latin typeface="Times New Roman" pitchFamily="18" charset="0"/>
                <a:cs typeface="Times New Roman" pitchFamily="18" charset="0"/>
              </a:rPr>
              <a:t>Machine tools, mobile generators, mobile compressors, motor vehicles, etc</a:t>
            </a:r>
          </a:p>
          <a:p>
            <a:pPr marL="398463" lvl="1"/>
            <a:r>
              <a:rPr lang="en-GB" sz="2800" dirty="0" smtClean="0">
                <a:latin typeface="Times New Roman" pitchFamily="18" charset="0"/>
                <a:cs typeface="Times New Roman" pitchFamily="18" charset="0"/>
              </a:rPr>
              <a:t>Good quality equipment is purchased and only given the basic maintenance (lubrication, servicing and adjustment), then sold, traded in or scrapped before it looses operational efficiency (when breakdowns or failures are expected)</a:t>
            </a:r>
          </a:p>
          <a:p>
            <a:pPr marL="398463" lvl="1"/>
            <a:r>
              <a:rPr lang="en-GB" dirty="0" smtClean="0">
                <a:latin typeface="Times New Roman" pitchFamily="18" charset="0"/>
                <a:cs typeface="Times New Roman" pitchFamily="18" charset="0"/>
              </a:rPr>
              <a:t>Can reduce downtime caused by breakdowns, prevent costly overhauls &amp; minimise maintenance</a:t>
            </a:r>
          </a:p>
          <a:p>
            <a:pPr marL="398463" lvl="1"/>
            <a:r>
              <a:rPr lang="en-GB" sz="2800" dirty="0" smtClean="0">
                <a:latin typeface="Times New Roman" pitchFamily="18" charset="0"/>
                <a:cs typeface="Times New Roman" pitchFamily="18" charset="0"/>
              </a:rPr>
              <a:t>Important in industries where technology changes rapidly</a:t>
            </a:r>
          </a:p>
          <a:p>
            <a:pPr marL="398463" lvl="1"/>
            <a:r>
              <a:rPr lang="en-GB" sz="2800" dirty="0" smtClean="0">
                <a:latin typeface="Times New Roman" pitchFamily="18" charset="0"/>
                <a:cs typeface="Times New Roman" pitchFamily="18" charset="0"/>
              </a:rPr>
              <a:t>Can also be applied in part, </a:t>
            </a:r>
          </a:p>
          <a:p>
            <a:pPr lvl="2"/>
            <a:r>
              <a:rPr lang="en-GB" sz="2600" dirty="0" smtClean="0">
                <a:latin typeface="Times New Roman" pitchFamily="18" charset="0"/>
                <a:cs typeface="Times New Roman" pitchFamily="18" charset="0"/>
              </a:rPr>
              <a:t>e.g. Engine replacement, gearbox replacement</a:t>
            </a:r>
          </a:p>
        </p:txBody>
      </p:sp>
      <p:sp>
        <p:nvSpPr>
          <p:cNvPr id="4" name="Date Placeholder 3"/>
          <p:cNvSpPr>
            <a:spLocks noGrp="1"/>
          </p:cNvSpPr>
          <p:nvPr>
            <p:ph type="dt" sz="half" idx="10"/>
          </p:nvPr>
        </p:nvSpPr>
        <p:spPr/>
        <p:txBody>
          <a:bodyPr/>
          <a:lstStyle/>
          <a:p>
            <a:fld id="{77E8AB5A-CE8F-4FD0-89C1-746EDBA2C82A}"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a:bodyPr>
          <a:lstStyle/>
          <a:p>
            <a:r>
              <a:rPr lang="en-GB" sz="3800" dirty="0" smtClean="0">
                <a:latin typeface="Times New Roman" pitchFamily="18" charset="0"/>
                <a:cs typeface="Times New Roman" pitchFamily="18" charset="0"/>
              </a:rPr>
              <a:t>FORMS OF MAINTENANCE (contd.)</a:t>
            </a:r>
            <a:endParaRPr lang="en-GB" sz="3800" dirty="0">
              <a:latin typeface="Times New Roman" pitchFamily="18" charset="0"/>
              <a:cs typeface="Times New Roman" pitchFamily="18" charset="0"/>
            </a:endParaRPr>
          </a:p>
        </p:txBody>
      </p:sp>
      <p:sp>
        <p:nvSpPr>
          <p:cNvPr id="3" name="Content Placeholder 2"/>
          <p:cNvSpPr>
            <a:spLocks noGrp="1"/>
          </p:cNvSpPr>
          <p:nvPr>
            <p:ph idx="1"/>
          </p:nvPr>
        </p:nvSpPr>
        <p:spPr>
          <a:xfrm>
            <a:off x="0" y="762000"/>
            <a:ext cx="9144000" cy="5638800"/>
          </a:xfrm>
        </p:spPr>
        <p:txBody>
          <a:bodyPr>
            <a:normAutofit fontScale="85000" lnSpcReduction="10000"/>
          </a:bodyPr>
          <a:lstStyle/>
          <a:p>
            <a:r>
              <a:rPr lang="en-GB" sz="4000" dirty="0" smtClean="0">
                <a:latin typeface="Times New Roman" pitchFamily="18" charset="0"/>
                <a:cs typeface="Times New Roman" pitchFamily="18" charset="0"/>
              </a:rPr>
              <a:t>Breakdown</a:t>
            </a:r>
            <a:r>
              <a:rPr lang="en-GB" sz="3200" dirty="0" smtClean="0">
                <a:latin typeface="Times New Roman" pitchFamily="18" charset="0"/>
                <a:cs typeface="Times New Roman" pitchFamily="18" charset="0"/>
              </a:rPr>
              <a:t> </a:t>
            </a:r>
            <a:r>
              <a:rPr lang="en-GB" sz="4000" dirty="0" smtClean="0">
                <a:latin typeface="Times New Roman" pitchFamily="18" charset="0"/>
                <a:cs typeface="Times New Roman" pitchFamily="18" charset="0"/>
              </a:rPr>
              <a:t>maintenance</a:t>
            </a:r>
          </a:p>
          <a:p>
            <a:pPr lvl="1"/>
            <a:r>
              <a:rPr lang="en-GB" sz="3100" dirty="0" smtClean="0">
                <a:latin typeface="Times New Roman" pitchFamily="18" charset="0"/>
                <a:cs typeface="Times New Roman" pitchFamily="18" charset="0"/>
              </a:rPr>
              <a:t>Used where </a:t>
            </a:r>
          </a:p>
          <a:p>
            <a:pPr lvl="2"/>
            <a:r>
              <a:rPr lang="en-GB" sz="3200" dirty="0" smtClean="0">
                <a:latin typeface="Times New Roman" pitchFamily="18" charset="0"/>
                <a:cs typeface="Times New Roman" pitchFamily="18" charset="0"/>
              </a:rPr>
              <a:t>equipment operate as individual unit or are separate from the main operations so that failure would not immediately or greatly affect the overall process or cause any safety hazard </a:t>
            </a:r>
          </a:p>
          <a:p>
            <a:pPr lvl="2"/>
            <a:r>
              <a:rPr lang="en-GB" sz="3200" dirty="0" smtClean="0">
                <a:latin typeface="Times New Roman" pitchFamily="18" charset="0"/>
                <a:cs typeface="Times New Roman" pitchFamily="18" charset="0"/>
              </a:rPr>
              <a:t>the cost of preventing failure may be more than the cost of breakdown, e.g. Sewing machines, Bench tools</a:t>
            </a:r>
          </a:p>
          <a:p>
            <a:pPr lvl="1"/>
            <a:r>
              <a:rPr lang="en-GB" sz="3100" dirty="0" smtClean="0">
                <a:latin typeface="Times New Roman" pitchFamily="18" charset="0"/>
                <a:cs typeface="Times New Roman" pitchFamily="18" charset="0"/>
              </a:rPr>
              <a:t>The broken down equipment (or that whose efficiency has now become too low so that it is no more productive) is replaced with stand-by reconditioned ones </a:t>
            </a:r>
          </a:p>
          <a:p>
            <a:pPr lvl="1"/>
            <a:r>
              <a:rPr lang="en-GB" sz="3100" dirty="0" smtClean="0">
                <a:latin typeface="Times New Roman" pitchFamily="18" charset="0"/>
                <a:cs typeface="Times New Roman" pitchFamily="18" charset="0"/>
              </a:rPr>
              <a:t>The old machine </a:t>
            </a:r>
            <a:r>
              <a:rPr lang="en-GB" sz="3100" smtClean="0">
                <a:latin typeface="Times New Roman" pitchFamily="18" charset="0"/>
                <a:cs typeface="Times New Roman" pitchFamily="18" charset="0"/>
              </a:rPr>
              <a:t>is then, in turn, </a:t>
            </a:r>
            <a:r>
              <a:rPr lang="en-GB" sz="3100" dirty="0" smtClean="0">
                <a:latin typeface="Times New Roman" pitchFamily="18" charset="0"/>
                <a:cs typeface="Times New Roman" pitchFamily="18" charset="0"/>
              </a:rPr>
              <a:t>repaired or reconditioned and kept in stock as future replacement part</a:t>
            </a:r>
          </a:p>
          <a:p>
            <a:pPr lvl="1"/>
            <a:endParaRPr lang="en-GB" sz="32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E0F48DE-3E1C-48BA-ACBC-DD8229B47F9C}"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a:bodyPr>
          <a:lstStyle/>
          <a:p>
            <a:r>
              <a:rPr lang="en-GB" sz="3800" dirty="0" smtClean="0">
                <a:latin typeface="Times New Roman" pitchFamily="18" charset="0"/>
                <a:cs typeface="Times New Roman" pitchFamily="18" charset="0"/>
              </a:rPr>
              <a:t>FORMS OF MAINTENANCE (contd.)</a:t>
            </a:r>
            <a:endParaRPr lang="en-GB" sz="3800" dirty="0">
              <a:latin typeface="Times New Roman" pitchFamily="18" charset="0"/>
              <a:cs typeface="Times New Roman" pitchFamily="18" charset="0"/>
            </a:endParaRPr>
          </a:p>
        </p:txBody>
      </p:sp>
      <p:sp>
        <p:nvSpPr>
          <p:cNvPr id="3" name="Content Placeholder 2"/>
          <p:cNvSpPr>
            <a:spLocks noGrp="1"/>
          </p:cNvSpPr>
          <p:nvPr>
            <p:ph idx="1"/>
          </p:nvPr>
        </p:nvSpPr>
        <p:spPr>
          <a:xfrm>
            <a:off x="0" y="762000"/>
            <a:ext cx="9144000" cy="5638800"/>
          </a:xfrm>
        </p:spPr>
        <p:txBody>
          <a:bodyPr>
            <a:normAutofit/>
          </a:bodyPr>
          <a:lstStyle/>
          <a:p>
            <a:r>
              <a:rPr lang="en-GB" sz="4000" dirty="0" smtClean="0">
                <a:latin typeface="Times New Roman" pitchFamily="18" charset="0"/>
                <a:cs typeface="Times New Roman" pitchFamily="18" charset="0"/>
              </a:rPr>
              <a:t>Preventive Maintenance</a:t>
            </a:r>
          </a:p>
          <a:p>
            <a:pPr lvl="1"/>
            <a:r>
              <a:rPr lang="en-GB" sz="3000" dirty="0" smtClean="0">
                <a:latin typeface="Times New Roman" pitchFamily="18" charset="0"/>
                <a:cs typeface="Times New Roman" pitchFamily="18" charset="0"/>
              </a:rPr>
              <a:t>Advantageous where </a:t>
            </a:r>
          </a:p>
          <a:p>
            <a:pPr lvl="2"/>
            <a:r>
              <a:rPr lang="en-GB" dirty="0" smtClean="0">
                <a:latin typeface="Times New Roman" pitchFamily="18" charset="0"/>
                <a:cs typeface="Times New Roman" pitchFamily="18" charset="0"/>
              </a:rPr>
              <a:t>the operation continues on a tightly planned schedule</a:t>
            </a:r>
          </a:p>
          <a:p>
            <a:pPr lvl="2"/>
            <a:r>
              <a:rPr lang="en-GB" dirty="0" smtClean="0">
                <a:latin typeface="Times New Roman" pitchFamily="18" charset="0"/>
                <a:cs typeface="Times New Roman" pitchFamily="18" charset="0"/>
              </a:rPr>
              <a:t>the cost of breakdown can be extremely high</a:t>
            </a:r>
          </a:p>
          <a:p>
            <a:pPr lvl="2"/>
            <a:r>
              <a:rPr lang="en-GB" dirty="0" smtClean="0">
                <a:latin typeface="Times New Roman" pitchFamily="18" charset="0"/>
                <a:cs typeface="Times New Roman" pitchFamily="18" charset="0"/>
              </a:rPr>
              <a:t>breakdowns can be extremely hazardous</a:t>
            </a:r>
          </a:p>
          <a:p>
            <a:pPr lvl="1"/>
            <a:r>
              <a:rPr lang="en-GB" sz="3000" dirty="0" smtClean="0">
                <a:latin typeface="Times New Roman" pitchFamily="18" charset="0"/>
                <a:cs typeface="Times New Roman" pitchFamily="18" charset="0"/>
              </a:rPr>
              <a:t>Aim is to effect the work of inspection, servicing and adjustment in order to prevent failures</a:t>
            </a:r>
          </a:p>
          <a:p>
            <a:pPr lvl="1"/>
            <a:r>
              <a:rPr lang="en-GB" sz="3000" dirty="0" smtClean="0">
                <a:latin typeface="Times New Roman" pitchFamily="18" charset="0"/>
                <a:cs typeface="Times New Roman" pitchFamily="18" charset="0"/>
              </a:rPr>
              <a:t>Failures must be anticipated and the necessary preventive action adopted before they occur</a:t>
            </a:r>
          </a:p>
          <a:p>
            <a:pPr lvl="1"/>
            <a:r>
              <a:rPr lang="en-GB" sz="3000" dirty="0" smtClean="0">
                <a:latin typeface="Times New Roman" pitchFamily="18" charset="0"/>
                <a:cs typeface="Times New Roman" pitchFamily="18" charset="0"/>
              </a:rPr>
              <a:t>Can be carried out during operation or shut-down period</a:t>
            </a:r>
          </a:p>
          <a:p>
            <a:pPr lvl="1"/>
            <a:endParaRPr lang="en-GB" sz="32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C73EED99-F52B-42DA-B810-39B0CD571C8D}"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lang="en-GB" b="1" dirty="0" smtClean="0">
                <a:latin typeface="Times New Roman" pitchFamily="18" charset="0"/>
                <a:cs typeface="Times New Roman" pitchFamily="18" charset="0"/>
              </a:rPr>
              <a:t>PLANNING AND ORGANISING  MAINTENANCE &amp; REPAIR</a:t>
            </a:r>
            <a:endParaRPr lang="en-GB" b="1" dirty="0">
              <a:latin typeface="Times New Roman" pitchFamily="18" charset="0"/>
              <a:cs typeface="Times New Roman" pitchFamily="18" charset="0"/>
            </a:endParaRPr>
          </a:p>
        </p:txBody>
      </p:sp>
      <p:sp>
        <p:nvSpPr>
          <p:cNvPr id="3" name="Content Placeholder 2"/>
          <p:cNvSpPr>
            <a:spLocks noGrp="1"/>
          </p:cNvSpPr>
          <p:nvPr>
            <p:ph idx="1"/>
          </p:nvPr>
        </p:nvSpPr>
        <p:spPr>
          <a:xfrm>
            <a:off x="0" y="1295400"/>
            <a:ext cx="9144000" cy="5105400"/>
          </a:xfrm>
        </p:spPr>
        <p:txBody>
          <a:bodyPr>
            <a:normAutofit/>
          </a:bodyPr>
          <a:lstStyle/>
          <a:p>
            <a:r>
              <a:rPr lang="en-GB" sz="4000" dirty="0" smtClean="0">
                <a:latin typeface="Times New Roman" pitchFamily="18" charset="0"/>
                <a:cs typeface="Times New Roman" pitchFamily="18" charset="0"/>
              </a:rPr>
              <a:t>Planned maintenance</a:t>
            </a:r>
          </a:p>
          <a:p>
            <a:pPr lvl="1"/>
            <a:r>
              <a:rPr lang="en-GB" sz="3600" dirty="0" smtClean="0">
                <a:latin typeface="Times New Roman" pitchFamily="18" charset="0"/>
                <a:cs typeface="Times New Roman" pitchFamily="18" charset="0"/>
              </a:rPr>
              <a:t>Application of maintenance tackled in a scientific manner</a:t>
            </a:r>
          </a:p>
          <a:p>
            <a:pPr lvl="1"/>
            <a:r>
              <a:rPr lang="en-GB" sz="3600" dirty="0" smtClean="0">
                <a:latin typeface="Times New Roman" pitchFamily="18" charset="0"/>
                <a:cs typeface="Times New Roman" pitchFamily="18" charset="0"/>
              </a:rPr>
              <a:t>Work organised and carried out with forethought</a:t>
            </a:r>
          </a:p>
          <a:p>
            <a:pPr lvl="1"/>
            <a:r>
              <a:rPr lang="en-GB" sz="3600" dirty="0" smtClean="0">
                <a:latin typeface="Times New Roman" pitchFamily="18" charset="0"/>
                <a:cs typeface="Times New Roman" pitchFamily="18" charset="0"/>
              </a:rPr>
              <a:t>May include any or all the forms of maintenance (replacement methods, breakdown and preventive)</a:t>
            </a:r>
            <a:endParaRPr lang="en-GB" sz="2600" dirty="0" smtClean="0">
              <a:latin typeface="Times New Roman" pitchFamily="18" charset="0"/>
              <a:cs typeface="Times New Roman" pitchFamily="18" charset="0"/>
            </a:endParaRPr>
          </a:p>
          <a:p>
            <a:pPr lvl="1"/>
            <a:endParaRPr lang="en-GB" sz="32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C67B377-23B8-4C78-B908-D0292E855404}"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lang="en-GB" sz="4000" b="1" dirty="0" smtClean="0">
                <a:latin typeface="Times New Roman" pitchFamily="18" charset="0"/>
                <a:cs typeface="Times New Roman" pitchFamily="18" charset="0"/>
              </a:rPr>
              <a:t>PLANNING AND ORGANISING THE MAINTENANCE &amp; RAPAIR (contd.)</a:t>
            </a:r>
            <a:endParaRPr lang="en-GB" sz="40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1295400"/>
            <a:ext cx="8610600" cy="5105400"/>
          </a:xfrm>
        </p:spPr>
        <p:txBody>
          <a:bodyPr>
            <a:normAutofit/>
          </a:bodyPr>
          <a:lstStyle/>
          <a:p>
            <a:pPr marL="225425" indent="-225425"/>
            <a:r>
              <a:rPr lang="en-GB" dirty="0" smtClean="0">
                <a:latin typeface="Times New Roman" pitchFamily="18" charset="0"/>
                <a:cs typeface="Times New Roman" pitchFamily="18" charset="0"/>
              </a:rPr>
              <a:t>The maintenance policy must be carefully considered</a:t>
            </a:r>
          </a:p>
          <a:p>
            <a:pPr marL="225425" indent="-225425"/>
            <a:r>
              <a:rPr lang="en-GB" sz="3000" dirty="0" smtClean="0">
                <a:latin typeface="Times New Roman" pitchFamily="18" charset="0"/>
                <a:cs typeface="Times New Roman" pitchFamily="18" charset="0"/>
              </a:rPr>
              <a:t>The application of the policy must be planned in advance</a:t>
            </a:r>
          </a:p>
          <a:p>
            <a:pPr marL="225425" indent="-225425"/>
            <a:r>
              <a:rPr lang="en-GB" sz="3000" dirty="0" smtClean="0">
                <a:latin typeface="Times New Roman" pitchFamily="18" charset="0"/>
                <a:cs typeface="Times New Roman" pitchFamily="18" charset="0"/>
              </a:rPr>
              <a:t>The work must be controlled and directed to conform to the pre-arranged plan</a:t>
            </a:r>
          </a:p>
          <a:p>
            <a:pPr marL="225425" indent="-225425"/>
            <a:r>
              <a:rPr lang="en-GB" sz="3000" dirty="0" smtClean="0">
                <a:latin typeface="Times New Roman" pitchFamily="18" charset="0"/>
                <a:cs typeface="Times New Roman" pitchFamily="18" charset="0"/>
              </a:rPr>
              <a:t>Historical and statistical records must be compiled and maintained to help assess the results and to provide a guide for future policy</a:t>
            </a:r>
          </a:p>
        </p:txBody>
      </p:sp>
      <p:sp>
        <p:nvSpPr>
          <p:cNvPr id="4" name="Date Placeholder 3"/>
          <p:cNvSpPr>
            <a:spLocks noGrp="1"/>
          </p:cNvSpPr>
          <p:nvPr>
            <p:ph type="dt" sz="half" idx="10"/>
          </p:nvPr>
        </p:nvSpPr>
        <p:spPr/>
        <p:txBody>
          <a:bodyPr/>
          <a:lstStyle/>
          <a:p>
            <a:fld id="{A366E46A-04EA-41FD-9ACB-161C3B4EEE65}"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lang="en-GB" sz="4000" b="1" dirty="0" smtClean="0">
                <a:latin typeface="Times New Roman" pitchFamily="18" charset="0"/>
                <a:cs typeface="Times New Roman" pitchFamily="18" charset="0"/>
              </a:rPr>
              <a:t>PLANNING AND ORGANISING THE MAINTENANCE &amp; RAPAIR (contd.)</a:t>
            </a:r>
            <a:endParaRPr lang="en-GB" sz="40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1295400"/>
            <a:ext cx="8610600" cy="5105400"/>
          </a:xfrm>
        </p:spPr>
        <p:txBody>
          <a:bodyPr>
            <a:normAutofit/>
          </a:bodyPr>
          <a:lstStyle/>
          <a:p>
            <a:pPr marL="225425" indent="-225425"/>
            <a:r>
              <a:rPr lang="en-GB" sz="3000" dirty="0" smtClean="0">
                <a:latin typeface="Times New Roman" pitchFamily="18" charset="0"/>
                <a:cs typeface="Times New Roman" pitchFamily="18" charset="0"/>
              </a:rPr>
              <a:t>When a policy of </a:t>
            </a:r>
            <a:r>
              <a:rPr lang="en-GB" sz="3000" i="1" dirty="0" smtClean="0">
                <a:latin typeface="Times New Roman" pitchFamily="18" charset="0"/>
                <a:cs typeface="Times New Roman" pitchFamily="18" charset="0"/>
              </a:rPr>
              <a:t>planned replacement</a:t>
            </a:r>
            <a:r>
              <a:rPr lang="en-GB" sz="3000" dirty="0" smtClean="0">
                <a:latin typeface="Times New Roman" pitchFamily="18" charset="0"/>
                <a:cs typeface="Times New Roman" pitchFamily="18" charset="0"/>
              </a:rPr>
              <a:t> is used, t</a:t>
            </a:r>
            <a:r>
              <a:rPr lang="en-GB" sz="2600" dirty="0" smtClean="0">
                <a:latin typeface="Times New Roman" pitchFamily="18" charset="0"/>
                <a:cs typeface="Times New Roman" pitchFamily="18" charset="0"/>
              </a:rPr>
              <a:t>he planning is dominated by </a:t>
            </a:r>
            <a:r>
              <a:rPr lang="en-GB" sz="2600" i="1" dirty="0" smtClean="0">
                <a:latin typeface="Times New Roman" pitchFamily="18" charset="0"/>
                <a:cs typeface="Times New Roman" pitchFamily="18" charset="0"/>
              </a:rPr>
              <a:t>financial</a:t>
            </a:r>
            <a:r>
              <a:rPr lang="en-GB" sz="2600" dirty="0" smtClean="0">
                <a:latin typeface="Times New Roman" pitchFamily="18" charset="0"/>
                <a:cs typeface="Times New Roman" pitchFamily="18" charset="0"/>
              </a:rPr>
              <a:t> considerations</a:t>
            </a:r>
          </a:p>
          <a:p>
            <a:pPr marL="1025525" lvl="2" indent="-225425"/>
            <a:r>
              <a:rPr lang="en-GB" sz="2200" dirty="0" smtClean="0">
                <a:latin typeface="Times New Roman" pitchFamily="18" charset="0"/>
                <a:cs typeface="Times New Roman" pitchFamily="18" charset="0"/>
              </a:rPr>
              <a:t>Money must always be available for the purchase of new equipment</a:t>
            </a:r>
          </a:p>
          <a:p>
            <a:pPr marL="1025525" lvl="2" indent="-225425"/>
            <a:r>
              <a:rPr lang="en-GB" sz="2200" dirty="0" smtClean="0">
                <a:latin typeface="Times New Roman" pitchFamily="18" charset="0"/>
                <a:cs typeface="Times New Roman" pitchFamily="18" charset="0"/>
              </a:rPr>
              <a:t>The sale or trade-in of old equipment must be negotiated at most affordable price, etc</a:t>
            </a:r>
          </a:p>
          <a:p>
            <a:pPr marL="225425" indent="-225425"/>
            <a:r>
              <a:rPr lang="en-GB" sz="3000" dirty="0" smtClean="0">
                <a:latin typeface="Times New Roman" pitchFamily="18" charset="0"/>
                <a:cs typeface="Times New Roman" pitchFamily="18" charset="0"/>
              </a:rPr>
              <a:t>However, the greater part of planned maintenance is the engineering aspect of maintenance and its relationship to the other activities of the farm (or organisation)</a:t>
            </a:r>
          </a:p>
        </p:txBody>
      </p:sp>
      <p:sp>
        <p:nvSpPr>
          <p:cNvPr id="4" name="Date Placeholder 3"/>
          <p:cNvSpPr>
            <a:spLocks noGrp="1"/>
          </p:cNvSpPr>
          <p:nvPr>
            <p:ph type="dt" sz="half" idx="10"/>
          </p:nvPr>
        </p:nvSpPr>
        <p:spPr/>
        <p:txBody>
          <a:bodyPr/>
          <a:lstStyle/>
          <a:p>
            <a:fld id="{DA8CEA96-AE59-4431-9DAF-542EA7F80FC1}"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lang="en-GB" sz="4000" b="1" dirty="0" smtClean="0">
                <a:latin typeface="Times New Roman" pitchFamily="18" charset="0"/>
                <a:cs typeface="Times New Roman" pitchFamily="18" charset="0"/>
              </a:rPr>
              <a:t>PLANNING AND ORGANISING THE MAINTENANCE &amp; RAPAIR (contd.)</a:t>
            </a:r>
            <a:endParaRPr lang="en-GB" sz="40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1295400"/>
            <a:ext cx="8610600" cy="5105400"/>
          </a:xfrm>
        </p:spPr>
        <p:txBody>
          <a:bodyPr>
            <a:normAutofit/>
          </a:bodyPr>
          <a:lstStyle/>
          <a:p>
            <a:pPr marL="225425" indent="-225425"/>
            <a:r>
              <a:rPr lang="en-GB" sz="3000" dirty="0" smtClean="0">
                <a:latin typeface="Times New Roman" pitchFamily="18" charset="0"/>
                <a:cs typeface="Times New Roman" pitchFamily="18" charset="0"/>
              </a:rPr>
              <a:t>As fundamental basis, one should decide in advance</a:t>
            </a:r>
          </a:p>
          <a:p>
            <a:pPr marL="625475" lvl="1" indent="-225425"/>
            <a:r>
              <a:rPr lang="en-GB" sz="2600" dirty="0" smtClean="0">
                <a:latin typeface="Times New Roman" pitchFamily="18" charset="0"/>
                <a:cs typeface="Times New Roman" pitchFamily="18" charset="0"/>
              </a:rPr>
              <a:t>The individual items of the equipment to be maintained</a:t>
            </a:r>
          </a:p>
          <a:p>
            <a:pPr marL="625475" lvl="1" indent="-225425"/>
            <a:r>
              <a:rPr lang="en-GB" sz="2600" dirty="0" smtClean="0">
                <a:latin typeface="Times New Roman" pitchFamily="18" charset="0"/>
                <a:cs typeface="Times New Roman" pitchFamily="18" charset="0"/>
              </a:rPr>
              <a:t>The form, method and details of how each item is to be maintained</a:t>
            </a:r>
          </a:p>
          <a:p>
            <a:pPr marL="625475" lvl="1" indent="-225425"/>
            <a:r>
              <a:rPr lang="en-GB" sz="2600" dirty="0" smtClean="0">
                <a:latin typeface="Times New Roman" pitchFamily="18" charset="0"/>
                <a:cs typeface="Times New Roman" pitchFamily="18" charset="0"/>
              </a:rPr>
              <a:t>The tools, replacements, spares, tradesmen and time needed to carry out the maintenance</a:t>
            </a:r>
          </a:p>
          <a:p>
            <a:pPr marL="625475" lvl="1" indent="-225425"/>
            <a:r>
              <a:rPr lang="en-GB" sz="2600" dirty="0" smtClean="0">
                <a:latin typeface="Times New Roman" pitchFamily="18" charset="0"/>
                <a:cs typeface="Times New Roman" pitchFamily="18" charset="0"/>
              </a:rPr>
              <a:t>The frequency at which the maintenance operations must be carried out</a:t>
            </a:r>
          </a:p>
          <a:p>
            <a:pPr marL="625475" lvl="1" indent="-225425"/>
            <a:r>
              <a:rPr lang="en-GB" sz="2600" dirty="0" smtClean="0">
                <a:latin typeface="Times New Roman" pitchFamily="18" charset="0"/>
                <a:cs typeface="Times New Roman" pitchFamily="18" charset="0"/>
              </a:rPr>
              <a:t>The method of administering the system</a:t>
            </a:r>
          </a:p>
          <a:p>
            <a:pPr marL="625475" lvl="1" indent="-225425"/>
            <a:r>
              <a:rPr lang="en-GB" sz="2600" dirty="0" smtClean="0">
                <a:latin typeface="Times New Roman" pitchFamily="18" charset="0"/>
                <a:cs typeface="Times New Roman" pitchFamily="18" charset="0"/>
              </a:rPr>
              <a:t>The method of analysing the results</a:t>
            </a:r>
          </a:p>
        </p:txBody>
      </p:sp>
      <p:sp>
        <p:nvSpPr>
          <p:cNvPr id="4" name="Date Placeholder 3"/>
          <p:cNvSpPr>
            <a:spLocks noGrp="1"/>
          </p:cNvSpPr>
          <p:nvPr>
            <p:ph type="dt" sz="half" idx="10"/>
          </p:nvPr>
        </p:nvSpPr>
        <p:spPr/>
        <p:txBody>
          <a:bodyPr/>
          <a:lstStyle/>
          <a:p>
            <a:fld id="{350BA9F2-AE3D-4396-B582-B36818393D60}"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lang="en-GB" sz="4000" b="1" dirty="0" smtClean="0">
                <a:latin typeface="Times New Roman" pitchFamily="18" charset="0"/>
                <a:cs typeface="Times New Roman" pitchFamily="18" charset="0"/>
              </a:rPr>
              <a:t>PLANNING AND ORGANISING THE MAINTENANCE &amp; RAPAIR (contd.)</a:t>
            </a:r>
            <a:endParaRPr lang="en-GB" sz="40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1295400"/>
            <a:ext cx="8610600" cy="5105400"/>
          </a:xfrm>
        </p:spPr>
        <p:txBody>
          <a:bodyPr>
            <a:normAutofit/>
          </a:bodyPr>
          <a:lstStyle/>
          <a:p>
            <a:pPr marL="225425" indent="-225425"/>
            <a:r>
              <a:rPr lang="en-GB" sz="3000" dirty="0" smtClean="0">
                <a:latin typeface="Times New Roman" pitchFamily="18" charset="0"/>
                <a:cs typeface="Times New Roman" pitchFamily="18" charset="0"/>
              </a:rPr>
              <a:t>Thus, to form the structure of a practical system, there must be</a:t>
            </a:r>
          </a:p>
          <a:p>
            <a:pPr marL="688975" lvl="1" indent="-288925">
              <a:buFont typeface="+mj-lt"/>
              <a:buAutoNum type="arabicPeriod"/>
            </a:pPr>
            <a:r>
              <a:rPr lang="en-GB" sz="2200" dirty="0" smtClean="0">
                <a:latin typeface="Times New Roman" pitchFamily="18" charset="0"/>
                <a:cs typeface="Times New Roman" pitchFamily="18" charset="0"/>
              </a:rPr>
              <a:t>A schedule of all the equipment to be maintained</a:t>
            </a:r>
          </a:p>
          <a:p>
            <a:pPr marL="688975" lvl="1" indent="-288925">
              <a:buFont typeface="+mj-lt"/>
              <a:buAutoNum type="arabicPeriod"/>
            </a:pPr>
            <a:r>
              <a:rPr lang="en-GB" sz="2200" dirty="0" smtClean="0">
                <a:latin typeface="Times New Roman" pitchFamily="18" charset="0"/>
                <a:cs typeface="Times New Roman" pitchFamily="18" charset="0"/>
              </a:rPr>
              <a:t>A complete schedule of all the individual tasks that must be carried out on each item</a:t>
            </a:r>
          </a:p>
          <a:p>
            <a:pPr marL="688975" lvl="1" indent="-288925">
              <a:buFont typeface="+mj-lt"/>
              <a:buAutoNum type="arabicPeriod"/>
            </a:pPr>
            <a:r>
              <a:rPr lang="en-GB" sz="2200" dirty="0" smtClean="0">
                <a:latin typeface="Times New Roman" pitchFamily="18" charset="0"/>
                <a:cs typeface="Times New Roman" pitchFamily="18" charset="0"/>
              </a:rPr>
              <a:t>A programme of events that the work listed in the programme is carried out</a:t>
            </a:r>
          </a:p>
          <a:p>
            <a:pPr marL="688975" lvl="1" indent="-288925">
              <a:buFont typeface="+mj-lt"/>
              <a:buAutoNum type="arabicPeriod"/>
            </a:pPr>
            <a:r>
              <a:rPr lang="en-GB" sz="2200" dirty="0" smtClean="0">
                <a:latin typeface="Times New Roman" pitchFamily="18" charset="0"/>
                <a:cs typeface="Times New Roman" pitchFamily="18" charset="0"/>
              </a:rPr>
              <a:t>A method of ensuring that the work listed in the programme is carried out</a:t>
            </a:r>
          </a:p>
          <a:p>
            <a:pPr marL="688975" lvl="1" indent="-288925">
              <a:buFont typeface="+mj-lt"/>
              <a:buAutoNum type="arabicPeriod"/>
            </a:pPr>
            <a:r>
              <a:rPr lang="en-GB" sz="2200" dirty="0" smtClean="0">
                <a:latin typeface="Times New Roman" pitchFamily="18" charset="0"/>
                <a:cs typeface="Times New Roman" pitchFamily="18" charset="0"/>
              </a:rPr>
              <a:t>A method of recording the results and assessing the effectiveness of the programme</a:t>
            </a:r>
          </a:p>
        </p:txBody>
      </p:sp>
      <p:sp>
        <p:nvSpPr>
          <p:cNvPr id="4" name="Date Placeholder 3"/>
          <p:cNvSpPr>
            <a:spLocks noGrp="1"/>
          </p:cNvSpPr>
          <p:nvPr>
            <p:ph type="dt" sz="half" idx="10"/>
          </p:nvPr>
        </p:nvSpPr>
        <p:spPr/>
        <p:txBody>
          <a:bodyPr/>
          <a:lstStyle/>
          <a:p>
            <a:fld id="{D33BD76B-74FF-4FEF-A146-56F742CB8223}"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lang="en-GB" sz="4000" b="1" dirty="0" smtClean="0">
                <a:latin typeface="Times New Roman" pitchFamily="18" charset="0"/>
                <a:cs typeface="Times New Roman" pitchFamily="18" charset="0"/>
              </a:rPr>
              <a:t>PLANNING AND ORGANISING THE MAINTENANCE &amp; RAPAIR (contd.)</a:t>
            </a:r>
            <a:endParaRPr lang="en-GB" sz="40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1295400"/>
            <a:ext cx="8610600" cy="5105400"/>
          </a:xfrm>
        </p:spPr>
        <p:txBody>
          <a:bodyPr>
            <a:normAutofit lnSpcReduction="10000"/>
          </a:bodyPr>
          <a:lstStyle/>
          <a:p>
            <a:pPr marL="225425" indent="-225425"/>
            <a:r>
              <a:rPr lang="en-GB" sz="4000" dirty="0" smtClean="0">
                <a:latin typeface="Times New Roman" pitchFamily="18" charset="0"/>
                <a:cs typeface="Times New Roman" pitchFamily="18" charset="0"/>
              </a:rPr>
              <a:t>A well organised, permanent system of documentation is essential</a:t>
            </a:r>
          </a:p>
          <a:p>
            <a:pPr marL="225425" indent="-225425"/>
            <a:r>
              <a:rPr lang="en-GB" sz="4000" dirty="0" smtClean="0">
                <a:latin typeface="Times New Roman" pitchFamily="18" charset="0"/>
                <a:cs typeface="Times New Roman" pitchFamily="18" charset="0"/>
              </a:rPr>
              <a:t>The document must be capable of indicating</a:t>
            </a:r>
          </a:p>
          <a:p>
            <a:pPr marL="625475" lvl="1" indent="-225425"/>
            <a:r>
              <a:rPr lang="en-GB" sz="3800" i="1" dirty="0" smtClean="0">
                <a:latin typeface="Times New Roman" pitchFamily="18" charset="0"/>
                <a:cs typeface="Times New Roman" pitchFamily="18" charset="0"/>
              </a:rPr>
              <a:t>What</a:t>
            </a:r>
            <a:r>
              <a:rPr lang="en-GB" sz="3800" dirty="0" smtClean="0">
                <a:latin typeface="Times New Roman" pitchFamily="18" charset="0"/>
                <a:cs typeface="Times New Roman" pitchFamily="18" charset="0"/>
              </a:rPr>
              <a:t> is to be maintained</a:t>
            </a:r>
          </a:p>
          <a:p>
            <a:pPr marL="625475" lvl="1" indent="-225425"/>
            <a:r>
              <a:rPr lang="en-GB" sz="3800" i="1" dirty="0" smtClean="0">
                <a:latin typeface="Times New Roman" pitchFamily="18" charset="0"/>
                <a:cs typeface="Times New Roman" pitchFamily="18" charset="0"/>
              </a:rPr>
              <a:t>How</a:t>
            </a:r>
            <a:r>
              <a:rPr lang="en-GB" sz="3800" dirty="0" smtClean="0">
                <a:latin typeface="Times New Roman" pitchFamily="18" charset="0"/>
                <a:cs typeface="Times New Roman" pitchFamily="18" charset="0"/>
              </a:rPr>
              <a:t> it is to be maintained</a:t>
            </a:r>
          </a:p>
          <a:p>
            <a:pPr marL="625475" lvl="1" indent="-225425"/>
            <a:r>
              <a:rPr lang="en-GB" sz="3800" i="1" dirty="0" smtClean="0">
                <a:latin typeface="Times New Roman" pitchFamily="18" charset="0"/>
                <a:cs typeface="Times New Roman" pitchFamily="18" charset="0"/>
              </a:rPr>
              <a:t>When</a:t>
            </a:r>
            <a:r>
              <a:rPr lang="en-GB" sz="3800" dirty="0" smtClean="0">
                <a:latin typeface="Times New Roman" pitchFamily="18" charset="0"/>
                <a:cs typeface="Times New Roman" pitchFamily="18" charset="0"/>
              </a:rPr>
              <a:t> it is to be maintained</a:t>
            </a:r>
          </a:p>
          <a:p>
            <a:pPr marL="625475" lvl="1" indent="-225425"/>
            <a:r>
              <a:rPr lang="en-GB" sz="3800" i="1" dirty="0" smtClean="0">
                <a:latin typeface="Times New Roman" pitchFamily="18" charset="0"/>
                <a:cs typeface="Times New Roman" pitchFamily="18" charset="0"/>
              </a:rPr>
              <a:t>Effectiveness</a:t>
            </a:r>
            <a:r>
              <a:rPr lang="en-GB" sz="3800" dirty="0" smtClean="0">
                <a:latin typeface="Times New Roman" pitchFamily="18" charset="0"/>
                <a:cs typeface="Times New Roman" pitchFamily="18" charset="0"/>
              </a:rPr>
              <a:t> of the maintenance</a:t>
            </a:r>
          </a:p>
        </p:txBody>
      </p:sp>
      <p:sp>
        <p:nvSpPr>
          <p:cNvPr id="4" name="Date Placeholder 3"/>
          <p:cNvSpPr>
            <a:spLocks noGrp="1"/>
          </p:cNvSpPr>
          <p:nvPr>
            <p:ph type="dt" sz="half" idx="10"/>
          </p:nvPr>
        </p:nvSpPr>
        <p:spPr/>
        <p:txBody>
          <a:bodyPr/>
          <a:lstStyle/>
          <a:p>
            <a:fld id="{E943E0A5-209C-47DE-A555-93C5411341F6}"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Autofit/>
          </a:bodyPr>
          <a:lstStyle/>
          <a:p>
            <a:r>
              <a:rPr lang="en-GB" sz="3600" b="1" dirty="0" smtClean="0">
                <a:latin typeface="Times New Roman" pitchFamily="18" charset="0"/>
                <a:cs typeface="Times New Roman" pitchFamily="18" charset="0"/>
              </a:rPr>
              <a:t>BENEFITS OF PLANNED MAINTENANCE</a:t>
            </a:r>
            <a:endParaRPr lang="en-GB"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762000"/>
            <a:ext cx="8229600" cy="5562600"/>
          </a:xfrm>
        </p:spPr>
        <p:txBody>
          <a:bodyPr>
            <a:normAutofit fontScale="92500" lnSpcReduction="20000"/>
          </a:bodyPr>
          <a:lstStyle/>
          <a:p>
            <a:r>
              <a:rPr lang="en-GB" dirty="0" smtClean="0">
                <a:latin typeface="Times New Roman" pitchFamily="18" charset="0"/>
                <a:cs typeface="Times New Roman" pitchFamily="18" charset="0"/>
              </a:rPr>
              <a:t>Benefits of planned maintenance depend on</a:t>
            </a:r>
          </a:p>
          <a:p>
            <a:pPr lvl="1"/>
            <a:r>
              <a:rPr lang="en-GB" dirty="0" smtClean="0">
                <a:latin typeface="Times New Roman" pitchFamily="18" charset="0"/>
                <a:cs typeface="Times New Roman" pitchFamily="18" charset="0"/>
              </a:rPr>
              <a:t>The type of industry</a:t>
            </a:r>
          </a:p>
          <a:p>
            <a:pPr lvl="1"/>
            <a:r>
              <a:rPr lang="en-GB" dirty="0" smtClean="0">
                <a:latin typeface="Times New Roman" pitchFamily="18" charset="0"/>
                <a:cs typeface="Times New Roman" pitchFamily="18" charset="0"/>
              </a:rPr>
              <a:t>The local conditions</a:t>
            </a:r>
          </a:p>
          <a:p>
            <a:pPr lvl="1"/>
            <a:r>
              <a:rPr lang="en-GB" dirty="0" smtClean="0">
                <a:latin typeface="Times New Roman" pitchFamily="18" charset="0"/>
                <a:cs typeface="Times New Roman" pitchFamily="18" charset="0"/>
              </a:rPr>
              <a:t>The depth &amp; scope of maintenance</a:t>
            </a:r>
          </a:p>
          <a:p>
            <a:pPr lvl="1"/>
            <a:r>
              <a:rPr lang="en-GB" dirty="0" smtClean="0">
                <a:latin typeface="Times New Roman" pitchFamily="18" charset="0"/>
                <a:cs typeface="Times New Roman" pitchFamily="18" charset="0"/>
              </a:rPr>
              <a:t>Form of application</a:t>
            </a:r>
          </a:p>
          <a:p>
            <a:r>
              <a:rPr lang="en-GB" dirty="0" smtClean="0">
                <a:latin typeface="Times New Roman" pitchFamily="18" charset="0"/>
                <a:cs typeface="Times New Roman" pitchFamily="18" charset="0"/>
              </a:rPr>
              <a:t>Planned maintenance is not a panacea for every maintenance problem</a:t>
            </a:r>
          </a:p>
          <a:p>
            <a:pPr lvl="1"/>
            <a:r>
              <a:rPr lang="en-GB" dirty="0" smtClean="0">
                <a:latin typeface="Times New Roman" pitchFamily="18" charset="0"/>
                <a:cs typeface="Times New Roman" pitchFamily="18" charset="0"/>
              </a:rPr>
              <a:t>it will not compensate for</a:t>
            </a:r>
          </a:p>
          <a:p>
            <a:pPr lvl="2"/>
            <a:r>
              <a:rPr lang="en-GB" dirty="0" smtClean="0">
                <a:latin typeface="Times New Roman" pitchFamily="18" charset="0"/>
                <a:cs typeface="Times New Roman" pitchFamily="18" charset="0"/>
              </a:rPr>
              <a:t>Poor workmanship</a:t>
            </a:r>
          </a:p>
          <a:p>
            <a:pPr lvl="2"/>
            <a:r>
              <a:rPr lang="en-GB" dirty="0" smtClean="0">
                <a:latin typeface="Times New Roman" pitchFamily="18" charset="0"/>
                <a:cs typeface="Times New Roman" pitchFamily="18" charset="0"/>
              </a:rPr>
              <a:t>Lack of tools</a:t>
            </a:r>
          </a:p>
          <a:p>
            <a:pPr lvl="2"/>
            <a:r>
              <a:rPr lang="en-GB" dirty="0" smtClean="0">
                <a:latin typeface="Times New Roman" pitchFamily="18" charset="0"/>
                <a:cs typeface="Times New Roman" pitchFamily="18" charset="0"/>
              </a:rPr>
              <a:t>Bad design</a:t>
            </a:r>
          </a:p>
          <a:p>
            <a:pPr lvl="2"/>
            <a:r>
              <a:rPr lang="en-GB" dirty="0" smtClean="0">
                <a:latin typeface="Times New Roman" pitchFamily="18" charset="0"/>
                <a:cs typeface="Times New Roman" pitchFamily="18" charset="0"/>
              </a:rPr>
              <a:t>Maloperation of machinery by personnel</a:t>
            </a:r>
          </a:p>
          <a:p>
            <a:pPr lvl="1"/>
            <a:r>
              <a:rPr lang="en-GB" dirty="0" smtClean="0">
                <a:latin typeface="Times New Roman" pitchFamily="18" charset="0"/>
                <a:cs typeface="Times New Roman" pitchFamily="18" charset="0"/>
              </a:rPr>
              <a:t>It will not convert worn-out obsolete equipment into modern, highly efficient units</a:t>
            </a:r>
            <a:endParaRPr lang="en-GB"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0F832E5D-94FA-4255-814E-F246ED46BFA1}"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Autofit/>
          </a:bodyPr>
          <a:lstStyle/>
          <a:p>
            <a:r>
              <a:rPr lang="en-GB" sz="3400" b="1" dirty="0" smtClean="0">
                <a:latin typeface="Times New Roman" pitchFamily="18" charset="0"/>
                <a:cs typeface="Times New Roman" pitchFamily="18" charset="0"/>
              </a:rPr>
              <a:t>BENEFITS OF PLANNED MAINTENANCE (contd.)</a:t>
            </a:r>
            <a:endParaRPr lang="en-GB" sz="3400" b="1" dirty="0">
              <a:latin typeface="Times New Roman" pitchFamily="18" charset="0"/>
              <a:cs typeface="Times New Roman" pitchFamily="18" charset="0"/>
            </a:endParaRPr>
          </a:p>
        </p:txBody>
      </p:sp>
      <p:sp>
        <p:nvSpPr>
          <p:cNvPr id="3" name="Content Placeholder 2"/>
          <p:cNvSpPr>
            <a:spLocks noGrp="1"/>
          </p:cNvSpPr>
          <p:nvPr>
            <p:ph idx="1"/>
          </p:nvPr>
        </p:nvSpPr>
        <p:spPr>
          <a:xfrm>
            <a:off x="304800" y="762000"/>
            <a:ext cx="8382000" cy="5562600"/>
          </a:xfrm>
        </p:spPr>
        <p:txBody>
          <a:bodyPr>
            <a:normAutofit/>
          </a:bodyPr>
          <a:lstStyle/>
          <a:p>
            <a:r>
              <a:rPr lang="en-GB" dirty="0" smtClean="0">
                <a:latin typeface="Times New Roman" pitchFamily="18" charset="0"/>
                <a:cs typeface="Times New Roman" pitchFamily="18" charset="0"/>
              </a:rPr>
              <a:t>However, planned maintenance offers</a:t>
            </a:r>
          </a:p>
          <a:p>
            <a:pPr marL="971550" lvl="1" indent="-514350">
              <a:buFont typeface="+mj-lt"/>
              <a:buAutoNum type="arabicPeriod"/>
            </a:pPr>
            <a:r>
              <a:rPr lang="en-GB" dirty="0" smtClean="0">
                <a:latin typeface="Times New Roman" pitchFamily="18" charset="0"/>
                <a:cs typeface="Times New Roman" pitchFamily="18" charset="0"/>
              </a:rPr>
              <a:t>Greater availability of equipment</a:t>
            </a:r>
          </a:p>
          <a:p>
            <a:pPr lvl="2"/>
            <a:r>
              <a:rPr lang="en-GB" dirty="0" smtClean="0">
                <a:latin typeface="Times New Roman" pitchFamily="18" charset="0"/>
                <a:cs typeface="Times New Roman" pitchFamily="18" charset="0"/>
              </a:rPr>
              <a:t>Fewer breakdowns</a:t>
            </a:r>
          </a:p>
          <a:p>
            <a:pPr lvl="2"/>
            <a:r>
              <a:rPr lang="en-GB" dirty="0" smtClean="0">
                <a:latin typeface="Times New Roman" pitchFamily="18" charset="0"/>
                <a:cs typeface="Times New Roman" pitchFamily="18" charset="0"/>
              </a:rPr>
              <a:t>Maintenance carried out at most convenient time</a:t>
            </a:r>
          </a:p>
          <a:p>
            <a:pPr lvl="2"/>
            <a:r>
              <a:rPr lang="en-GB" dirty="0" smtClean="0">
                <a:latin typeface="Times New Roman" pitchFamily="18" charset="0"/>
                <a:cs typeface="Times New Roman" pitchFamily="18" charset="0"/>
              </a:rPr>
              <a:t>Less downtime than infrequent ad hoc maintenance</a:t>
            </a:r>
          </a:p>
          <a:p>
            <a:pPr lvl="2"/>
            <a:r>
              <a:rPr lang="en-GB" dirty="0" smtClean="0">
                <a:latin typeface="Times New Roman" pitchFamily="18" charset="0"/>
                <a:cs typeface="Times New Roman" pitchFamily="18" charset="0"/>
              </a:rPr>
              <a:t>Reduced length of downtime, as spare and equipment are known in advance and are available when needed</a:t>
            </a:r>
          </a:p>
          <a:p>
            <a:pPr marL="971550" lvl="1" indent="-514350">
              <a:buFont typeface="+mj-lt"/>
              <a:buAutoNum type="arabicPeriod"/>
            </a:pPr>
            <a:r>
              <a:rPr lang="en-GB" dirty="0" smtClean="0">
                <a:latin typeface="Times New Roman" pitchFamily="18" charset="0"/>
                <a:cs typeface="Times New Roman" pitchFamily="18" charset="0"/>
              </a:rPr>
              <a:t>Cheaper servicing (as those servicing are regular &amp; simpler) than sudden expensive stop gap repairs</a:t>
            </a:r>
          </a:p>
          <a:p>
            <a:pPr marL="971550" lvl="1" indent="-514350">
              <a:buFont typeface="+mj-lt"/>
              <a:buAutoNum type="arabicPeriod"/>
            </a:pPr>
            <a:r>
              <a:rPr lang="en-GB" dirty="0" smtClean="0">
                <a:latin typeface="Times New Roman" pitchFamily="18" charset="0"/>
                <a:cs typeface="Times New Roman" pitchFamily="18" charset="0"/>
              </a:rPr>
              <a:t>Continuously high level of operational output, quality, performance and efficiency</a:t>
            </a:r>
          </a:p>
        </p:txBody>
      </p:sp>
      <p:sp>
        <p:nvSpPr>
          <p:cNvPr id="4" name="Date Placeholder 3"/>
          <p:cNvSpPr>
            <a:spLocks noGrp="1"/>
          </p:cNvSpPr>
          <p:nvPr>
            <p:ph type="dt" sz="half" idx="10"/>
          </p:nvPr>
        </p:nvSpPr>
        <p:spPr/>
        <p:txBody>
          <a:bodyPr/>
          <a:lstStyle/>
          <a:p>
            <a:fld id="{0F832E5D-94FA-4255-814E-F246ED46BFA1}"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Autofit/>
          </a:bodyPr>
          <a:lstStyle/>
          <a:p>
            <a:r>
              <a:rPr lang="en-GB" sz="3400" b="1" dirty="0" smtClean="0">
                <a:latin typeface="Times New Roman" pitchFamily="18" charset="0"/>
                <a:cs typeface="Times New Roman" pitchFamily="18" charset="0"/>
              </a:rPr>
              <a:t>BENEFITS OF PLANNED MAINTENANCE (contd.)</a:t>
            </a:r>
            <a:endParaRPr lang="en-GB" sz="3400" b="1" dirty="0">
              <a:latin typeface="Times New Roman" pitchFamily="18" charset="0"/>
              <a:cs typeface="Times New Roman" pitchFamily="18" charset="0"/>
            </a:endParaRPr>
          </a:p>
        </p:txBody>
      </p:sp>
      <p:sp>
        <p:nvSpPr>
          <p:cNvPr id="3" name="Content Placeholder 2"/>
          <p:cNvSpPr>
            <a:spLocks noGrp="1"/>
          </p:cNvSpPr>
          <p:nvPr>
            <p:ph idx="1"/>
          </p:nvPr>
        </p:nvSpPr>
        <p:spPr>
          <a:xfrm>
            <a:off x="304800" y="762000"/>
            <a:ext cx="8382000" cy="5562600"/>
          </a:xfrm>
        </p:spPr>
        <p:txBody>
          <a:bodyPr>
            <a:normAutofit/>
          </a:bodyPr>
          <a:lstStyle/>
          <a:p>
            <a:pPr marL="971550" lvl="1" indent="-514350"/>
            <a:r>
              <a:rPr lang="en-GB" dirty="0" smtClean="0">
                <a:latin typeface="Times New Roman" pitchFamily="18" charset="0"/>
                <a:cs typeface="Times New Roman" pitchFamily="18" charset="0"/>
              </a:rPr>
              <a:t>4. Greater and more effective labour utilization</a:t>
            </a:r>
          </a:p>
          <a:p>
            <a:pPr marL="1371600" lvl="2" indent="-514350"/>
            <a:r>
              <a:rPr lang="en-GB" dirty="0" smtClean="0">
                <a:latin typeface="Times New Roman" pitchFamily="18" charset="0"/>
                <a:cs typeface="Times New Roman" pitchFamily="18" charset="0"/>
              </a:rPr>
              <a:t>The volume of maintenance work is planned so that it is spread evenly throughout the year, and widely fluctuating demands on labour force is reduced.</a:t>
            </a:r>
          </a:p>
          <a:p>
            <a:pPr marL="1371600" lvl="2" indent="-514350"/>
            <a:r>
              <a:rPr lang="en-GB" dirty="0" smtClean="0">
                <a:latin typeface="Times New Roman" pitchFamily="18" charset="0"/>
                <a:cs typeface="Times New Roman" pitchFamily="18" charset="0"/>
              </a:rPr>
              <a:t>The weekly workload is known in advance so that its allocation can be controlled effectively.</a:t>
            </a:r>
          </a:p>
          <a:p>
            <a:pPr marL="1371600" lvl="2" indent="-514350"/>
            <a:r>
              <a:rPr lang="en-GB" dirty="0" smtClean="0">
                <a:latin typeface="Times New Roman" pitchFamily="18" charset="0"/>
                <a:cs typeface="Times New Roman" pitchFamily="18" charset="0"/>
              </a:rPr>
              <a:t>The effectiveness of a positive maintenance policy is frequently reflected in an improved personal attitude of the staff. A purposeful approach – a high morale.</a:t>
            </a:r>
          </a:p>
          <a:p>
            <a:pPr marL="971550" lvl="1" indent="-514350"/>
            <a:r>
              <a:rPr lang="en-GB" dirty="0" smtClean="0">
                <a:latin typeface="Times New Roman" pitchFamily="18" charset="0"/>
                <a:cs typeface="Times New Roman" pitchFamily="18" charset="0"/>
              </a:rPr>
              <a:t>5. Alertness of servicing and adjustments times (i.e. Servicing and adjustments contained in the programme are not overlooked or omitted.)</a:t>
            </a:r>
          </a:p>
          <a:p>
            <a:pPr marL="1371600" lvl="2" indent="-514350"/>
            <a:endParaRPr lang="en-GB"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0F832E5D-94FA-4255-814E-F246ED46BFA1}"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Autofit/>
          </a:bodyPr>
          <a:lstStyle/>
          <a:p>
            <a:r>
              <a:rPr lang="en-GB" sz="3400" b="1" dirty="0" smtClean="0">
                <a:latin typeface="Times New Roman" pitchFamily="18" charset="0"/>
                <a:cs typeface="Times New Roman" pitchFamily="18" charset="0"/>
              </a:rPr>
              <a:t>BENEFITS OF PLANNED MAINTENANCE (contd.)</a:t>
            </a:r>
            <a:endParaRPr lang="en-GB" sz="3400" b="1" dirty="0">
              <a:latin typeface="Times New Roman" pitchFamily="18" charset="0"/>
              <a:cs typeface="Times New Roman" pitchFamily="18" charset="0"/>
            </a:endParaRPr>
          </a:p>
        </p:txBody>
      </p:sp>
      <p:sp>
        <p:nvSpPr>
          <p:cNvPr id="3" name="Content Placeholder 2"/>
          <p:cNvSpPr>
            <a:spLocks noGrp="1"/>
          </p:cNvSpPr>
          <p:nvPr>
            <p:ph idx="1"/>
          </p:nvPr>
        </p:nvSpPr>
        <p:spPr>
          <a:xfrm>
            <a:off x="0" y="762000"/>
            <a:ext cx="9144000" cy="5562600"/>
          </a:xfrm>
        </p:spPr>
        <p:txBody>
          <a:bodyPr>
            <a:normAutofit/>
          </a:bodyPr>
          <a:lstStyle/>
          <a:p>
            <a:pPr marL="571500" indent="-514350"/>
            <a:r>
              <a:rPr lang="en-GB" dirty="0" smtClean="0">
                <a:latin typeface="Times New Roman" pitchFamily="18" charset="0"/>
                <a:cs typeface="Times New Roman" pitchFamily="18" charset="0"/>
              </a:rPr>
              <a:t>Other (indirect) benefits from the documentation</a:t>
            </a:r>
          </a:p>
          <a:p>
            <a:pPr marL="971550" lvl="1" indent="-514350"/>
            <a:r>
              <a:rPr lang="en-GB" dirty="0" smtClean="0">
                <a:latin typeface="Times New Roman" pitchFamily="18" charset="0"/>
                <a:cs typeface="Times New Roman" pitchFamily="18" charset="0"/>
              </a:rPr>
              <a:t>Improved budgetary control – realistic budgets can be formulated and subsequently controlled.</a:t>
            </a:r>
          </a:p>
          <a:p>
            <a:pPr marL="971550" lvl="1" indent="-514350"/>
            <a:r>
              <a:rPr lang="en-GB" dirty="0" smtClean="0">
                <a:latin typeface="Times New Roman" pitchFamily="18" charset="0"/>
                <a:cs typeface="Times New Roman" pitchFamily="18" charset="0"/>
              </a:rPr>
              <a:t>Improved stock control of spares – realistic quantities of spares are stocked and re-ordered.</a:t>
            </a:r>
          </a:p>
          <a:p>
            <a:pPr marL="971550" lvl="1" indent="-514350"/>
            <a:r>
              <a:rPr lang="en-GB" dirty="0" smtClean="0">
                <a:latin typeface="Times New Roman" pitchFamily="18" charset="0"/>
                <a:cs typeface="Times New Roman" pitchFamily="18" charset="0"/>
              </a:rPr>
              <a:t>Provision of information upon which management can make realistic forecasts and decisions</a:t>
            </a:r>
          </a:p>
          <a:p>
            <a:pPr marL="971550" lvl="1" indent="-514350"/>
            <a:r>
              <a:rPr lang="en-GB" dirty="0" smtClean="0">
                <a:latin typeface="Times New Roman" pitchFamily="18" charset="0"/>
                <a:cs typeface="Times New Roman" pitchFamily="18" charset="0"/>
              </a:rPr>
              <a:t>Focusing attention on frequently recurring jobs and types of defect, and the type, frequency and cost of individual repairs</a:t>
            </a:r>
          </a:p>
          <a:p>
            <a:pPr marL="1371600" lvl="2" indent="-514350"/>
            <a:endParaRPr lang="en-GB"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0F832E5D-94FA-4255-814E-F246ED46BFA1}"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latin typeface="Times New Roman" pitchFamily="18" charset="0"/>
                <a:cs typeface="Times New Roman" pitchFamily="18" charset="0"/>
              </a:rPr>
              <a:t>BASIC MECHANICS OF PLANNED MAINTENANCE</a:t>
            </a:r>
            <a:endParaRPr lang="en-GB"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458200" cy="4525963"/>
          </a:xfrm>
        </p:spPr>
        <p:txBody>
          <a:bodyPr>
            <a:normAutofit/>
          </a:bodyPr>
          <a:lstStyle/>
          <a:p>
            <a:r>
              <a:rPr lang="en-GB" b="1" dirty="0" smtClean="0">
                <a:latin typeface="Times New Roman" pitchFamily="18" charset="0"/>
                <a:cs typeface="Times New Roman" pitchFamily="18" charset="0"/>
              </a:rPr>
              <a:t>Initiating the scheme</a:t>
            </a:r>
          </a:p>
          <a:p>
            <a:pPr lvl="1"/>
            <a:r>
              <a:rPr lang="en-GB" sz="3000" dirty="0" smtClean="0">
                <a:latin typeface="Times New Roman" pitchFamily="18" charset="0"/>
                <a:cs typeface="Times New Roman" pitchFamily="18" charset="0"/>
              </a:rPr>
              <a:t>Scheme initially originates from the Management level</a:t>
            </a:r>
          </a:p>
          <a:p>
            <a:pPr lvl="1"/>
            <a:r>
              <a:rPr lang="en-GB" sz="3000" dirty="0" smtClean="0">
                <a:latin typeface="Times New Roman" pitchFamily="18" charset="0"/>
                <a:cs typeface="Times New Roman" pitchFamily="18" charset="0"/>
              </a:rPr>
              <a:t>Upper Management does not formulate the exact details or operation procedures</a:t>
            </a:r>
          </a:p>
          <a:p>
            <a:pPr lvl="1"/>
            <a:r>
              <a:rPr lang="en-GB" sz="3000" dirty="0" smtClean="0">
                <a:latin typeface="Times New Roman" pitchFamily="18" charset="0"/>
                <a:cs typeface="Times New Roman" pitchFamily="18" charset="0"/>
              </a:rPr>
              <a:t>Upper Management must however define clearly </a:t>
            </a:r>
          </a:p>
          <a:p>
            <a:pPr lvl="2"/>
            <a:r>
              <a:rPr lang="en-GB" sz="2800" dirty="0" smtClean="0">
                <a:latin typeface="Times New Roman" pitchFamily="18" charset="0"/>
                <a:cs typeface="Times New Roman" pitchFamily="18" charset="0"/>
              </a:rPr>
              <a:t>the maintenance objectives</a:t>
            </a:r>
          </a:p>
          <a:p>
            <a:pPr lvl="2"/>
            <a:r>
              <a:rPr lang="en-GB" sz="2800" dirty="0" smtClean="0">
                <a:latin typeface="Times New Roman" pitchFamily="18" charset="0"/>
                <a:cs typeface="Times New Roman" pitchFamily="18" charset="0"/>
              </a:rPr>
              <a:t>the framework of operation</a:t>
            </a:r>
          </a:p>
          <a:p>
            <a:pPr lvl="1"/>
            <a:endParaRPr lang="en-GB"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D2AADBF-561D-4878-8799-B579DFFE91CC}"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GB" sz="3600" b="1" dirty="0" smtClean="0">
                <a:latin typeface="Times New Roman" pitchFamily="18" charset="0"/>
                <a:cs typeface="Times New Roman" pitchFamily="18" charset="0"/>
              </a:rPr>
              <a:t>BASIC MECHANICS OF PLANNED MAINTENANCE (contd.)</a:t>
            </a:r>
            <a:endParaRPr lang="en-GB"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0" y="1295400"/>
            <a:ext cx="9144000" cy="5029200"/>
          </a:xfrm>
        </p:spPr>
        <p:txBody>
          <a:bodyPr>
            <a:normAutofit/>
          </a:bodyPr>
          <a:lstStyle/>
          <a:p>
            <a:r>
              <a:rPr lang="en-GB" sz="3600" b="1" dirty="0" smtClean="0">
                <a:latin typeface="Times New Roman" pitchFamily="18" charset="0"/>
                <a:cs typeface="Times New Roman" pitchFamily="18" charset="0"/>
              </a:rPr>
              <a:t>Initiating the scheme (contd.)</a:t>
            </a:r>
          </a:p>
          <a:p>
            <a:pPr lvl="1"/>
            <a:r>
              <a:rPr lang="en-GB" sz="3200" dirty="0">
                <a:latin typeface="Times New Roman" pitchFamily="18" charset="0"/>
                <a:cs typeface="Times New Roman" pitchFamily="18" charset="0"/>
              </a:rPr>
              <a:t>Management appoints a person to whom the task is delegated</a:t>
            </a:r>
          </a:p>
          <a:p>
            <a:pPr lvl="2"/>
            <a:r>
              <a:rPr lang="en-GB" dirty="0">
                <a:latin typeface="Times New Roman" pitchFamily="18" charset="0"/>
                <a:cs typeface="Times New Roman" pitchFamily="18" charset="0"/>
              </a:rPr>
              <a:t>e.g. Works Engineer, Chairman of  Maintenance Committee </a:t>
            </a:r>
            <a:endParaRPr lang="en-GB" dirty="0" smtClean="0">
              <a:latin typeface="Times New Roman" pitchFamily="18" charset="0"/>
              <a:cs typeface="Times New Roman" pitchFamily="18" charset="0"/>
            </a:endParaRPr>
          </a:p>
          <a:p>
            <a:pPr lvl="1"/>
            <a:r>
              <a:rPr lang="en-GB" sz="3200" dirty="0" smtClean="0">
                <a:latin typeface="Times New Roman" pitchFamily="18" charset="0"/>
                <a:cs typeface="Times New Roman" pitchFamily="18" charset="0"/>
              </a:rPr>
              <a:t>The Works Engineer (or the one responsible)</a:t>
            </a:r>
          </a:p>
          <a:p>
            <a:pPr lvl="2"/>
            <a:r>
              <a:rPr lang="en-GB" sz="2800" dirty="0" smtClean="0">
                <a:latin typeface="Times New Roman" pitchFamily="18" charset="0"/>
                <a:cs typeface="Times New Roman" pitchFamily="18" charset="0"/>
              </a:rPr>
              <a:t>Interprets the Management policy in a manner intended</a:t>
            </a:r>
          </a:p>
          <a:p>
            <a:pPr lvl="2"/>
            <a:r>
              <a:rPr lang="en-GB" sz="2800" dirty="0" smtClean="0">
                <a:latin typeface="Times New Roman" pitchFamily="18" charset="0"/>
                <a:cs typeface="Times New Roman" pitchFamily="18" charset="0"/>
              </a:rPr>
              <a:t>Must be </a:t>
            </a:r>
            <a:r>
              <a:rPr lang="en-GB" sz="2800" dirty="0">
                <a:latin typeface="Times New Roman" pitchFamily="18" charset="0"/>
                <a:cs typeface="Times New Roman" pitchFamily="18" charset="0"/>
              </a:rPr>
              <a:t>given  a comprehensive brief about the policy</a:t>
            </a:r>
          </a:p>
          <a:p>
            <a:pPr lvl="2"/>
            <a:endParaRPr lang="en-GB" sz="2600" dirty="0" smtClean="0">
              <a:latin typeface="Times New Roman" pitchFamily="18" charset="0"/>
              <a:cs typeface="Times New Roman" pitchFamily="18" charset="0"/>
            </a:endParaRPr>
          </a:p>
          <a:p>
            <a:pPr lvl="1">
              <a:buNone/>
            </a:pPr>
            <a:endParaRPr lang="en-GB"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D2AADBF-561D-4878-8799-B579DFFE91CC}"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GB" sz="3600" b="1" dirty="0" smtClean="0">
                <a:latin typeface="Times New Roman" pitchFamily="18" charset="0"/>
                <a:cs typeface="Times New Roman" pitchFamily="18" charset="0"/>
              </a:rPr>
              <a:t>BASIC MECHANICS OF PLANNED MAINTENANCE (contd.)</a:t>
            </a:r>
            <a:endParaRPr lang="en-GB"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382000" cy="5289550"/>
          </a:xfrm>
        </p:spPr>
        <p:txBody>
          <a:bodyPr>
            <a:normAutofit fontScale="92500" lnSpcReduction="20000"/>
          </a:bodyPr>
          <a:lstStyle/>
          <a:p>
            <a:r>
              <a:rPr lang="en-GB" b="1" dirty="0" smtClean="0">
                <a:latin typeface="Times New Roman" pitchFamily="18" charset="0"/>
                <a:cs typeface="Times New Roman" pitchFamily="18" charset="0"/>
              </a:rPr>
              <a:t>Initiating the scheme (contd.)</a:t>
            </a:r>
          </a:p>
          <a:p>
            <a:pPr lvl="1"/>
            <a:r>
              <a:rPr lang="en-GB" sz="3200" dirty="0">
                <a:latin typeface="Times New Roman" pitchFamily="18" charset="0"/>
                <a:cs typeface="Times New Roman" pitchFamily="18" charset="0"/>
              </a:rPr>
              <a:t>The Works Engineer (or the one responsible)</a:t>
            </a:r>
            <a:endParaRPr lang="en-GB" sz="3200" dirty="0" smtClean="0">
              <a:latin typeface="Times New Roman" pitchFamily="18" charset="0"/>
              <a:cs typeface="Times New Roman" pitchFamily="18" charset="0"/>
            </a:endParaRPr>
          </a:p>
          <a:p>
            <a:pPr lvl="1"/>
            <a:r>
              <a:rPr lang="en-GB" sz="3200" dirty="0" smtClean="0">
                <a:latin typeface="Times New Roman" pitchFamily="18" charset="0"/>
                <a:cs typeface="Times New Roman" pitchFamily="18" charset="0"/>
              </a:rPr>
              <a:t>Must </a:t>
            </a:r>
            <a:r>
              <a:rPr lang="en-GB" sz="3200" dirty="0">
                <a:latin typeface="Times New Roman" pitchFamily="18" charset="0"/>
                <a:cs typeface="Times New Roman" pitchFamily="18" charset="0"/>
              </a:rPr>
              <a:t>be shown</a:t>
            </a:r>
          </a:p>
          <a:p>
            <a:pPr lvl="2"/>
            <a:r>
              <a:rPr lang="en-GB" sz="3000" dirty="0">
                <a:latin typeface="Times New Roman" pitchFamily="18" charset="0"/>
                <a:cs typeface="Times New Roman" pitchFamily="18" charset="0"/>
              </a:rPr>
              <a:t>the boundaries within which he can operate</a:t>
            </a:r>
          </a:p>
          <a:p>
            <a:pPr lvl="2"/>
            <a:r>
              <a:rPr lang="en-GB" sz="3000" dirty="0">
                <a:latin typeface="Times New Roman" pitchFamily="18" charset="0"/>
                <a:cs typeface="Times New Roman" pitchFamily="18" charset="0"/>
              </a:rPr>
              <a:t>The results he is expected to achieve</a:t>
            </a:r>
          </a:p>
          <a:p>
            <a:pPr lvl="2"/>
            <a:r>
              <a:rPr lang="en-GB" sz="3000" dirty="0">
                <a:latin typeface="Times New Roman" pitchFamily="18" charset="0"/>
                <a:cs typeface="Times New Roman" pitchFamily="18" charset="0"/>
              </a:rPr>
              <a:t>A programme of target dates</a:t>
            </a:r>
          </a:p>
          <a:p>
            <a:pPr lvl="2"/>
            <a:r>
              <a:rPr lang="en-GB" sz="3000" dirty="0">
                <a:latin typeface="Times New Roman" pitchFamily="18" charset="0"/>
                <a:cs typeface="Times New Roman" pitchFamily="18" charset="0"/>
              </a:rPr>
              <a:t>The resources at his disposal</a:t>
            </a:r>
            <a:endParaRPr lang="en-GB" sz="3600" dirty="0" smtClean="0">
              <a:latin typeface="Times New Roman" pitchFamily="18" charset="0"/>
              <a:cs typeface="Times New Roman" pitchFamily="18" charset="0"/>
            </a:endParaRPr>
          </a:p>
          <a:p>
            <a:pPr lvl="1"/>
            <a:r>
              <a:rPr lang="en-GB" sz="3200" dirty="0" smtClean="0">
                <a:latin typeface="Times New Roman" pitchFamily="18" charset="0"/>
                <a:cs typeface="Times New Roman" pitchFamily="18" charset="0"/>
              </a:rPr>
              <a:t>Must be given, within the limits of his brief,</a:t>
            </a:r>
          </a:p>
          <a:p>
            <a:pPr lvl="2"/>
            <a:r>
              <a:rPr lang="en-GB" sz="3000" dirty="0" smtClean="0">
                <a:latin typeface="Times New Roman" pitchFamily="18" charset="0"/>
                <a:cs typeface="Times New Roman" pitchFamily="18" charset="0"/>
              </a:rPr>
              <a:t>Authority to make decisions</a:t>
            </a:r>
          </a:p>
          <a:p>
            <a:pPr lvl="2"/>
            <a:r>
              <a:rPr lang="en-GB" sz="3000" dirty="0" smtClean="0">
                <a:latin typeface="Times New Roman" pitchFamily="18" charset="0"/>
                <a:cs typeface="Times New Roman" pitchFamily="18" charset="0"/>
              </a:rPr>
              <a:t>Power to carry out the decisions</a:t>
            </a:r>
          </a:p>
          <a:p>
            <a:pPr lvl="1"/>
            <a:r>
              <a:rPr lang="en-GB" sz="3200" dirty="0" smtClean="0">
                <a:latin typeface="Times New Roman" pitchFamily="18" charset="0"/>
                <a:cs typeface="Times New Roman" pitchFamily="18" charset="0"/>
              </a:rPr>
              <a:t>Must be made responsible for actions taken</a:t>
            </a:r>
          </a:p>
          <a:p>
            <a:pPr lvl="1"/>
            <a:endParaRPr lang="en-GB"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D2AADBF-561D-4878-8799-B579DFFE91CC}"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GB" sz="3600" b="1" dirty="0" smtClean="0">
                <a:latin typeface="Times New Roman" pitchFamily="18" charset="0"/>
                <a:cs typeface="Times New Roman" pitchFamily="18" charset="0"/>
              </a:rPr>
              <a:t>BASIC MECHANICS OF PLANNED MAINTENANCE (contd.)</a:t>
            </a:r>
            <a:endParaRPr lang="en-GB"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0" y="1066800"/>
            <a:ext cx="8991600" cy="5257800"/>
          </a:xfrm>
        </p:spPr>
        <p:txBody>
          <a:bodyPr>
            <a:normAutofit lnSpcReduction="10000"/>
          </a:bodyPr>
          <a:lstStyle/>
          <a:p>
            <a:r>
              <a:rPr lang="en-GB" b="1" dirty="0" smtClean="0">
                <a:latin typeface="Times New Roman" pitchFamily="18" charset="0"/>
                <a:cs typeface="Times New Roman" pitchFamily="18" charset="0"/>
              </a:rPr>
              <a:t>Initiating the scheme (contd.)</a:t>
            </a:r>
          </a:p>
          <a:p>
            <a:pPr lvl="1"/>
            <a:r>
              <a:rPr lang="en-GB" sz="3000" dirty="0" smtClean="0">
                <a:latin typeface="Times New Roman" pitchFamily="18" charset="0"/>
                <a:cs typeface="Times New Roman" pitchFamily="18" charset="0"/>
              </a:rPr>
              <a:t>The Engineer’s appointment, together with the proposed maintenance procedures may initially create speculations, resentment, resistance etc. with staff</a:t>
            </a:r>
          </a:p>
          <a:p>
            <a:pPr lvl="1"/>
            <a:r>
              <a:rPr lang="en-GB" sz="3000" dirty="0" smtClean="0">
                <a:latin typeface="Times New Roman" pitchFamily="18" charset="0"/>
                <a:cs typeface="Times New Roman" pitchFamily="18" charset="0"/>
              </a:rPr>
              <a:t>Necessary steps must be taken initially to avoid that before a problem escalates</a:t>
            </a:r>
          </a:p>
          <a:p>
            <a:pPr lvl="2"/>
            <a:r>
              <a:rPr lang="en-GB" sz="2800" dirty="0" smtClean="0">
                <a:latin typeface="Times New Roman" pitchFamily="18" charset="0"/>
                <a:cs typeface="Times New Roman" pitchFamily="18" charset="0"/>
              </a:rPr>
              <a:t>Consult and inform staff at the very beginning</a:t>
            </a:r>
          </a:p>
          <a:p>
            <a:pPr lvl="2"/>
            <a:r>
              <a:rPr lang="en-GB" sz="2800" dirty="0" smtClean="0">
                <a:latin typeface="Times New Roman" pitchFamily="18" charset="0"/>
                <a:cs typeface="Times New Roman" pitchFamily="18" charset="0"/>
              </a:rPr>
              <a:t>Keep staff in the picture as the scheme progresses</a:t>
            </a:r>
          </a:p>
          <a:p>
            <a:pPr lvl="2"/>
            <a:r>
              <a:rPr lang="en-GB" sz="2800" dirty="0" smtClean="0">
                <a:latin typeface="Times New Roman" pitchFamily="18" charset="0"/>
                <a:cs typeface="Times New Roman" pitchFamily="18" charset="0"/>
              </a:rPr>
              <a:t>Note the timing and method of his introduction</a:t>
            </a:r>
          </a:p>
          <a:p>
            <a:pPr lvl="2"/>
            <a:r>
              <a:rPr lang="en-GB" sz="2800" dirty="0" smtClean="0">
                <a:latin typeface="Times New Roman" pitchFamily="18" charset="0"/>
                <a:cs typeface="Times New Roman" pitchFamily="18" charset="0"/>
              </a:rPr>
              <a:t>The Engineer must watch his own personal approach</a:t>
            </a:r>
            <a:endParaRPr lang="en-GB" sz="2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D2AADBF-561D-4878-8799-B579DFFE91CC}"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326558705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GB" sz="3600" b="1" dirty="0" smtClean="0">
                <a:latin typeface="Times New Roman" pitchFamily="18" charset="0"/>
                <a:cs typeface="Times New Roman" pitchFamily="18" charset="0"/>
              </a:rPr>
              <a:t>BASIC MECHANICS OF PLANNED MAINTENANCE (contd.)</a:t>
            </a:r>
            <a:endParaRPr lang="en-GB"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0" y="1066800"/>
            <a:ext cx="9144000" cy="5257800"/>
          </a:xfrm>
        </p:spPr>
        <p:txBody>
          <a:bodyPr>
            <a:normAutofit/>
          </a:bodyPr>
          <a:lstStyle/>
          <a:p>
            <a:pPr marL="114300" indent="-114300"/>
            <a:r>
              <a:rPr lang="en-GB" b="1" dirty="0" smtClean="0">
                <a:latin typeface="Times New Roman" pitchFamily="18" charset="0"/>
                <a:cs typeface="Times New Roman" pitchFamily="18" charset="0"/>
              </a:rPr>
              <a:t>Initiating the scheme (contd.)</a:t>
            </a:r>
          </a:p>
          <a:p>
            <a:pPr marL="285750" lvl="1"/>
            <a:r>
              <a:rPr lang="en-GB" sz="3000" dirty="0" smtClean="0">
                <a:latin typeface="Times New Roman" pitchFamily="18" charset="0"/>
                <a:cs typeface="Times New Roman" pitchFamily="18" charset="0"/>
              </a:rPr>
              <a:t>The Works </a:t>
            </a:r>
            <a:r>
              <a:rPr lang="en-GB" sz="3000" dirty="0">
                <a:latin typeface="Times New Roman" pitchFamily="18" charset="0"/>
                <a:cs typeface="Times New Roman" pitchFamily="18" charset="0"/>
              </a:rPr>
              <a:t>Engineer must initially</a:t>
            </a:r>
            <a:endParaRPr lang="en-GB" sz="3000" dirty="0" smtClean="0">
              <a:latin typeface="Times New Roman" pitchFamily="18" charset="0"/>
              <a:cs typeface="Times New Roman" pitchFamily="18" charset="0"/>
            </a:endParaRPr>
          </a:p>
          <a:p>
            <a:pPr marL="571500" lvl="2"/>
            <a:r>
              <a:rPr lang="en-GB" sz="2600" dirty="0" smtClean="0">
                <a:latin typeface="Times New Roman" pitchFamily="18" charset="0"/>
                <a:cs typeface="Times New Roman" pitchFamily="18" charset="0"/>
              </a:rPr>
              <a:t>Make general appraisal of the situation</a:t>
            </a:r>
          </a:p>
          <a:p>
            <a:pPr marL="571500" lvl="2"/>
            <a:r>
              <a:rPr lang="en-GB" sz="2600" dirty="0" smtClean="0">
                <a:latin typeface="Times New Roman" pitchFamily="18" charset="0"/>
                <a:cs typeface="Times New Roman" pitchFamily="18" charset="0"/>
              </a:rPr>
              <a:t>Survey the task in hand and available resources</a:t>
            </a:r>
          </a:p>
          <a:p>
            <a:pPr marL="571500" lvl="2"/>
            <a:r>
              <a:rPr lang="en-GB" sz="2600" dirty="0" smtClean="0">
                <a:latin typeface="Times New Roman" pitchFamily="18" charset="0"/>
                <a:cs typeface="Times New Roman" pitchFamily="18" charset="0"/>
              </a:rPr>
              <a:t>Work out a tentative approach to enable him apply the planned maintenance procedures in a manner that suits the system</a:t>
            </a:r>
          </a:p>
          <a:p>
            <a:pPr marL="285750" lvl="1"/>
            <a:r>
              <a:rPr lang="en-GB" sz="3000" dirty="0" smtClean="0">
                <a:latin typeface="Times New Roman" pitchFamily="18" charset="0"/>
                <a:cs typeface="Times New Roman" pitchFamily="18" charset="0"/>
              </a:rPr>
              <a:t>Even if the Engineer is already a staff, the above tasks could</a:t>
            </a:r>
          </a:p>
          <a:p>
            <a:pPr marL="571500" lvl="2"/>
            <a:r>
              <a:rPr lang="en-GB" sz="2600" dirty="0" smtClean="0">
                <a:latin typeface="Times New Roman" pitchFamily="18" charset="0"/>
                <a:cs typeface="Times New Roman" pitchFamily="18" charset="0"/>
              </a:rPr>
              <a:t>Enable him to have a fresh look</a:t>
            </a:r>
          </a:p>
          <a:p>
            <a:pPr marL="571500" lvl="2"/>
            <a:r>
              <a:rPr lang="en-GB" sz="2600" dirty="0" smtClean="0">
                <a:latin typeface="Times New Roman" pitchFamily="18" charset="0"/>
                <a:cs typeface="Times New Roman" pitchFamily="18" charset="0"/>
              </a:rPr>
              <a:t>Conceive new ideals and solutions for old familiar problems</a:t>
            </a:r>
          </a:p>
        </p:txBody>
      </p:sp>
      <p:sp>
        <p:nvSpPr>
          <p:cNvPr id="4" name="Date Placeholder 3"/>
          <p:cNvSpPr>
            <a:spLocks noGrp="1"/>
          </p:cNvSpPr>
          <p:nvPr>
            <p:ph type="dt" sz="half" idx="10"/>
          </p:nvPr>
        </p:nvSpPr>
        <p:spPr/>
        <p:txBody>
          <a:bodyPr/>
          <a:lstStyle/>
          <a:p>
            <a:fld id="{9D2AADBF-561D-4878-8799-B579DFFE91CC}"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GB" sz="3600" b="1" dirty="0" smtClean="0">
                <a:latin typeface="Times New Roman" pitchFamily="18" charset="0"/>
                <a:cs typeface="Times New Roman" pitchFamily="18" charset="0"/>
              </a:rPr>
              <a:t>BASIC MECHANICS OF PLANNED MAINTENANCE (contd.)</a:t>
            </a:r>
            <a:endParaRPr lang="en-GB"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304800" y="1066800"/>
            <a:ext cx="8839200" cy="5257800"/>
          </a:xfrm>
        </p:spPr>
        <p:txBody>
          <a:bodyPr>
            <a:normAutofit/>
          </a:bodyPr>
          <a:lstStyle/>
          <a:p>
            <a:r>
              <a:rPr lang="en-GB" b="1" dirty="0" smtClean="0">
                <a:latin typeface="Times New Roman" pitchFamily="18" charset="0"/>
                <a:cs typeface="Times New Roman" pitchFamily="18" charset="0"/>
              </a:rPr>
              <a:t>The Inventory</a:t>
            </a:r>
          </a:p>
          <a:p>
            <a:pPr lvl="1"/>
            <a:r>
              <a:rPr lang="en-GB" dirty="0" smtClean="0">
                <a:latin typeface="Times New Roman" pitchFamily="18" charset="0"/>
                <a:cs typeface="Times New Roman" pitchFamily="18" charset="0"/>
              </a:rPr>
              <a:t>Inventory is a list of all facilities (or parts of a site, building and contents) for the purpose of identification</a:t>
            </a:r>
          </a:p>
          <a:p>
            <a:pPr lvl="1"/>
            <a:r>
              <a:rPr lang="en-GB" dirty="0" smtClean="0">
                <a:latin typeface="Times New Roman" pitchFamily="18" charset="0"/>
                <a:cs typeface="Times New Roman" pitchFamily="18" charset="0"/>
              </a:rPr>
              <a:t>This can sometimes be obtained from readily available source, </a:t>
            </a:r>
            <a:r>
              <a:rPr lang="en-GB" dirty="0" smtClean="0">
                <a:latin typeface="Times New Roman" pitchFamily="18" charset="0"/>
                <a:cs typeface="Times New Roman" pitchFamily="18" charset="0"/>
              </a:rPr>
              <a:t>if records have already been kept</a:t>
            </a:r>
            <a:endParaRPr lang="en-GB" dirty="0" smtClean="0">
              <a:latin typeface="Times New Roman" pitchFamily="18" charset="0"/>
              <a:cs typeface="Times New Roman" pitchFamily="18" charset="0"/>
            </a:endParaRPr>
          </a:p>
          <a:p>
            <a:pPr lvl="1"/>
            <a:r>
              <a:rPr lang="en-GB" dirty="0" smtClean="0">
                <a:latin typeface="Times New Roman" pitchFamily="18" charset="0"/>
                <a:cs typeface="Times New Roman" pitchFamily="18" charset="0"/>
              </a:rPr>
              <a:t>However, the records may require some corrections, as </a:t>
            </a:r>
          </a:p>
          <a:p>
            <a:pPr lvl="2"/>
            <a:r>
              <a:rPr lang="en-GB" dirty="0" smtClean="0">
                <a:latin typeface="Times New Roman" pitchFamily="18" charset="0"/>
                <a:cs typeface="Times New Roman" pitchFamily="18" charset="0"/>
              </a:rPr>
              <a:t>Some additions, deletions, replacements </a:t>
            </a:r>
            <a:r>
              <a:rPr lang="en-GB" dirty="0" smtClean="0">
                <a:latin typeface="Times New Roman" pitchFamily="18" charset="0"/>
                <a:cs typeface="Times New Roman" pitchFamily="18" charset="0"/>
              </a:rPr>
              <a:t>or </a:t>
            </a:r>
            <a:r>
              <a:rPr lang="en-GB" dirty="0" smtClean="0">
                <a:latin typeface="Times New Roman" pitchFamily="18" charset="0"/>
                <a:cs typeface="Times New Roman" pitchFamily="18" charset="0"/>
              </a:rPr>
              <a:t>movements may not have been previously recorded</a:t>
            </a:r>
          </a:p>
          <a:p>
            <a:pPr lvl="2"/>
            <a:r>
              <a:rPr lang="en-GB" dirty="0" smtClean="0">
                <a:latin typeface="Times New Roman" pitchFamily="18" charset="0"/>
                <a:cs typeface="Times New Roman" pitchFamily="18" charset="0"/>
              </a:rPr>
              <a:t>Some layout drawings may not be entirely accurate</a:t>
            </a:r>
          </a:p>
          <a:p>
            <a:pPr lvl="1"/>
            <a:r>
              <a:rPr lang="en-GB" dirty="0" smtClean="0">
                <a:latin typeface="Times New Roman" pitchFamily="18" charset="0"/>
                <a:cs typeface="Times New Roman" pitchFamily="18" charset="0"/>
              </a:rPr>
              <a:t>Plans must be based on facts</a:t>
            </a:r>
          </a:p>
          <a:p>
            <a:pPr lvl="2"/>
            <a:r>
              <a:rPr lang="en-GB" dirty="0" smtClean="0">
                <a:latin typeface="Times New Roman" pitchFamily="18" charset="0"/>
                <a:cs typeface="Times New Roman" pitchFamily="18" charset="0"/>
              </a:rPr>
              <a:t>What is actually there, not what is supposed to be there</a:t>
            </a:r>
          </a:p>
        </p:txBody>
      </p:sp>
      <p:sp>
        <p:nvSpPr>
          <p:cNvPr id="4" name="Date Placeholder 3"/>
          <p:cNvSpPr>
            <a:spLocks noGrp="1"/>
          </p:cNvSpPr>
          <p:nvPr>
            <p:ph type="dt" sz="half" idx="10"/>
          </p:nvPr>
        </p:nvSpPr>
        <p:spPr/>
        <p:txBody>
          <a:bodyPr/>
          <a:lstStyle/>
          <a:p>
            <a:fld id="{9D2AADBF-561D-4878-8799-B579DFFE91CC}"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Autofit/>
          </a:bodyPr>
          <a:lstStyle/>
          <a:p>
            <a:r>
              <a:rPr lang="en-GB" sz="3200" b="1" dirty="0" smtClean="0">
                <a:latin typeface="Times New Roman" pitchFamily="18" charset="0"/>
                <a:cs typeface="Times New Roman" pitchFamily="18" charset="0"/>
              </a:rPr>
              <a:t>BASIC MECHANICS OF PLANNED MAINTENANCE (contd.)</a:t>
            </a:r>
            <a:endParaRPr lang="en-GB"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0" y="914400"/>
            <a:ext cx="9144000" cy="5486400"/>
          </a:xfrm>
        </p:spPr>
        <p:txBody>
          <a:bodyPr>
            <a:normAutofit fontScale="92500" lnSpcReduction="10000"/>
          </a:bodyPr>
          <a:lstStyle/>
          <a:p>
            <a:r>
              <a:rPr lang="en-GB" b="1" dirty="0" smtClean="0">
                <a:latin typeface="Times New Roman" pitchFamily="18" charset="0"/>
                <a:cs typeface="Times New Roman" pitchFamily="18" charset="0"/>
              </a:rPr>
              <a:t>The Inventory (contd.)</a:t>
            </a:r>
          </a:p>
          <a:p>
            <a:pPr lvl="1"/>
            <a:r>
              <a:rPr lang="en-GB" dirty="0" smtClean="0">
                <a:latin typeface="Times New Roman" pitchFamily="18" charset="0"/>
                <a:cs typeface="Times New Roman" pitchFamily="18" charset="0"/>
              </a:rPr>
              <a:t>An inventory sheet must be prepared (with additional columns to allow for additions) and filled</a:t>
            </a:r>
          </a:p>
          <a:p>
            <a:pPr lvl="1"/>
            <a:r>
              <a:rPr lang="en-GB" dirty="0" smtClean="0">
                <a:latin typeface="Times New Roman" pitchFamily="18" charset="0"/>
                <a:cs typeface="Times New Roman" pitchFamily="18" charset="0"/>
              </a:rPr>
              <a:t>The sheet normally has</a:t>
            </a:r>
          </a:p>
          <a:p>
            <a:pPr marL="1038225" lvl="2"/>
            <a:r>
              <a:rPr lang="en-GB" dirty="0" smtClean="0">
                <a:latin typeface="Times New Roman" pitchFamily="18" charset="0"/>
                <a:cs typeface="Times New Roman" pitchFamily="18" charset="0"/>
              </a:rPr>
              <a:t>Identification symbol</a:t>
            </a:r>
          </a:p>
          <a:p>
            <a:pPr marL="1495425" lvl="3"/>
            <a:r>
              <a:rPr lang="en-GB" dirty="0" smtClean="0">
                <a:latin typeface="Times New Roman" pitchFamily="18" charset="0"/>
                <a:cs typeface="Times New Roman" pitchFamily="18" charset="0"/>
              </a:rPr>
              <a:t>Each item must have a positive means of identification</a:t>
            </a:r>
          </a:p>
          <a:p>
            <a:pPr marL="1038225" lvl="2"/>
            <a:r>
              <a:rPr lang="en-GB" dirty="0" smtClean="0">
                <a:latin typeface="Times New Roman" pitchFamily="18" charset="0"/>
                <a:cs typeface="Times New Roman" pitchFamily="18" charset="0"/>
              </a:rPr>
              <a:t>Description of Facility </a:t>
            </a:r>
          </a:p>
          <a:p>
            <a:pPr marL="1495425" lvl="3"/>
            <a:r>
              <a:rPr lang="en-GB" dirty="0" smtClean="0">
                <a:latin typeface="Times New Roman" pitchFamily="18" charset="0"/>
                <a:cs typeface="Times New Roman" pitchFamily="18" charset="0"/>
              </a:rPr>
              <a:t>A brief description of the items concerned (sometimes with name plates)</a:t>
            </a:r>
          </a:p>
          <a:p>
            <a:pPr marL="1038225" lvl="2"/>
            <a:r>
              <a:rPr lang="en-GB" dirty="0" smtClean="0">
                <a:latin typeface="Times New Roman" pitchFamily="18" charset="0"/>
                <a:cs typeface="Times New Roman" pitchFamily="18" charset="0"/>
              </a:rPr>
              <a:t>Location</a:t>
            </a:r>
          </a:p>
          <a:p>
            <a:pPr marL="1495425" lvl="3"/>
            <a:r>
              <a:rPr lang="en-GB" dirty="0" smtClean="0">
                <a:latin typeface="Times New Roman" pitchFamily="18" charset="0"/>
                <a:cs typeface="Times New Roman" pitchFamily="18" charset="0"/>
              </a:rPr>
              <a:t>The department, section or area, in which the item is located, e.g. machine shop, boiler house, compressor room</a:t>
            </a:r>
          </a:p>
          <a:p>
            <a:pPr marL="1038225" lvl="2"/>
            <a:r>
              <a:rPr lang="en-GB" dirty="0" smtClean="0">
                <a:latin typeface="Times New Roman" pitchFamily="18" charset="0"/>
                <a:cs typeface="Times New Roman" pitchFamily="18" charset="0"/>
              </a:rPr>
              <a:t>Type</a:t>
            </a:r>
          </a:p>
          <a:p>
            <a:pPr marL="1495425" lvl="3"/>
            <a:r>
              <a:rPr lang="en-GB" dirty="0" smtClean="0">
                <a:latin typeface="Times New Roman" pitchFamily="18" charset="0"/>
                <a:cs typeface="Times New Roman" pitchFamily="18" charset="0"/>
              </a:rPr>
              <a:t>e.g. Mechanical, electrical or sometimes with more detailed classification</a:t>
            </a:r>
          </a:p>
          <a:p>
            <a:pPr marL="1038225" lvl="2"/>
            <a:r>
              <a:rPr lang="en-GB" dirty="0" smtClean="0">
                <a:latin typeface="Times New Roman" pitchFamily="18" charset="0"/>
                <a:cs typeface="Times New Roman" pitchFamily="18" charset="0"/>
              </a:rPr>
              <a:t>Priority rating</a:t>
            </a:r>
          </a:p>
          <a:p>
            <a:pPr marL="1495425" lvl="3"/>
            <a:r>
              <a:rPr lang="en-GB" dirty="0" smtClean="0">
                <a:latin typeface="Times New Roman" pitchFamily="18" charset="0"/>
                <a:cs typeface="Times New Roman" pitchFamily="18" charset="0"/>
              </a:rPr>
              <a:t>Indicating the relative importance of each item</a:t>
            </a:r>
          </a:p>
        </p:txBody>
      </p:sp>
      <p:sp>
        <p:nvSpPr>
          <p:cNvPr id="4" name="Date Placeholder 3"/>
          <p:cNvSpPr>
            <a:spLocks noGrp="1"/>
          </p:cNvSpPr>
          <p:nvPr>
            <p:ph type="dt" sz="half" idx="10"/>
          </p:nvPr>
        </p:nvSpPr>
        <p:spPr/>
        <p:txBody>
          <a:bodyPr/>
          <a:lstStyle/>
          <a:p>
            <a:fld id="{9D2AADBF-561D-4878-8799-B579DFFE91CC}"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Autofit/>
          </a:bodyPr>
          <a:lstStyle/>
          <a:p>
            <a:r>
              <a:rPr lang="en-GB" sz="3200" b="1" dirty="0" smtClean="0">
                <a:latin typeface="Times New Roman" pitchFamily="18" charset="0"/>
                <a:cs typeface="Times New Roman" pitchFamily="18" charset="0"/>
              </a:rPr>
              <a:t>BASIC MECHANICS OF PLANNED MAINTENANCE (contd.)</a:t>
            </a:r>
            <a:endParaRPr lang="en-GB"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0" y="914400"/>
            <a:ext cx="9144000" cy="5486400"/>
          </a:xfrm>
        </p:spPr>
        <p:txBody>
          <a:bodyPr>
            <a:normAutofit/>
          </a:bodyPr>
          <a:lstStyle/>
          <a:p>
            <a:r>
              <a:rPr lang="en-GB" b="1" dirty="0" smtClean="0">
                <a:latin typeface="Times New Roman" pitchFamily="18" charset="0"/>
                <a:cs typeface="Times New Roman" pitchFamily="18" charset="0"/>
              </a:rPr>
              <a:t>Identification of Equipment</a:t>
            </a:r>
          </a:p>
          <a:p>
            <a:r>
              <a:rPr lang="en-GB" dirty="0" smtClean="0">
                <a:latin typeface="Times New Roman" pitchFamily="18" charset="0"/>
                <a:cs typeface="Times New Roman" pitchFamily="18" charset="0"/>
              </a:rPr>
              <a:t>After inventory, it becomes essential to identify each item positively (especially in large workshops)</a:t>
            </a:r>
          </a:p>
          <a:p>
            <a:pPr marL="688975" lvl="1" indent="-231775">
              <a:buFont typeface="+mj-lt"/>
              <a:buAutoNum type="arabicPeriod"/>
            </a:pPr>
            <a:r>
              <a:rPr lang="en-GB" dirty="0" smtClean="0">
                <a:latin typeface="Times New Roman" pitchFamily="18" charset="0"/>
                <a:cs typeface="Times New Roman" pitchFamily="18" charset="0"/>
              </a:rPr>
              <a:t>So that there can be no mistake about which particular item is being referred to</a:t>
            </a:r>
          </a:p>
          <a:p>
            <a:pPr marL="688975" lvl="1" indent="-231775">
              <a:buFont typeface="+mj-lt"/>
              <a:buAutoNum type="arabicPeriod"/>
            </a:pPr>
            <a:r>
              <a:rPr lang="en-GB" dirty="0" smtClean="0">
                <a:latin typeface="Times New Roman" pitchFamily="18" charset="0"/>
                <a:cs typeface="Times New Roman" pitchFamily="18" charset="0"/>
              </a:rPr>
              <a:t>To identify and relate the respective items with their relevant documents, and vice-versa</a:t>
            </a:r>
          </a:p>
          <a:p>
            <a:pPr marL="688975" lvl="1" indent="-231775">
              <a:buFont typeface="+mj-lt"/>
              <a:buAutoNum type="arabicPeriod"/>
            </a:pPr>
            <a:r>
              <a:rPr lang="en-GB" dirty="0" smtClean="0">
                <a:latin typeface="Times New Roman" pitchFamily="18" charset="0"/>
                <a:cs typeface="Times New Roman" pitchFamily="18" charset="0"/>
              </a:rPr>
              <a:t>To locate the whereabouts of the respective items within the site</a:t>
            </a:r>
          </a:p>
          <a:p>
            <a:pPr marL="688975" lvl="1" indent="-231775">
              <a:buFont typeface="+mj-lt"/>
              <a:buAutoNum type="arabicPeriod"/>
            </a:pPr>
            <a:r>
              <a:rPr lang="en-GB" dirty="0" smtClean="0">
                <a:latin typeface="Times New Roman" pitchFamily="18" charset="0"/>
                <a:cs typeface="Times New Roman" pitchFamily="18" charset="0"/>
              </a:rPr>
              <a:t>To indicate the </a:t>
            </a:r>
            <a:r>
              <a:rPr lang="en-GB" b="1" dirty="0" smtClean="0">
                <a:latin typeface="Times New Roman" pitchFamily="18" charset="0"/>
                <a:cs typeface="Times New Roman" pitchFamily="18" charset="0"/>
              </a:rPr>
              <a:t>department</a:t>
            </a:r>
            <a:r>
              <a:rPr lang="en-GB" dirty="0" smtClean="0">
                <a:latin typeface="Times New Roman" pitchFamily="18" charset="0"/>
                <a:cs typeface="Times New Roman" pitchFamily="18" charset="0"/>
              </a:rPr>
              <a:t>, </a:t>
            </a:r>
            <a:r>
              <a:rPr lang="en-GB" b="1" dirty="0" smtClean="0">
                <a:latin typeface="Times New Roman" pitchFamily="18" charset="0"/>
                <a:cs typeface="Times New Roman" pitchFamily="18" charset="0"/>
              </a:rPr>
              <a:t>section</a:t>
            </a:r>
            <a:r>
              <a:rPr lang="en-GB" dirty="0" smtClean="0">
                <a:latin typeface="Times New Roman" pitchFamily="18" charset="0"/>
                <a:cs typeface="Times New Roman" pitchFamily="18" charset="0"/>
              </a:rPr>
              <a:t>, </a:t>
            </a:r>
            <a:r>
              <a:rPr lang="en-GB" b="1" dirty="0" smtClean="0">
                <a:latin typeface="Times New Roman" pitchFamily="18" charset="0"/>
                <a:cs typeface="Times New Roman" pitchFamily="18" charset="0"/>
              </a:rPr>
              <a:t>group</a:t>
            </a:r>
            <a:r>
              <a:rPr lang="en-GB" dirty="0" smtClean="0">
                <a:latin typeface="Times New Roman" pitchFamily="18" charset="0"/>
                <a:cs typeface="Times New Roman" pitchFamily="18" charset="0"/>
              </a:rPr>
              <a:t> or </a:t>
            </a:r>
            <a:r>
              <a:rPr lang="en-GB" b="1" dirty="0" smtClean="0">
                <a:latin typeface="Times New Roman" pitchFamily="18" charset="0"/>
                <a:cs typeface="Times New Roman" pitchFamily="18" charset="0"/>
              </a:rPr>
              <a:t>type</a:t>
            </a:r>
            <a:r>
              <a:rPr lang="en-GB" dirty="0" smtClean="0">
                <a:latin typeface="Times New Roman" pitchFamily="18" charset="0"/>
                <a:cs typeface="Times New Roman" pitchFamily="18" charset="0"/>
              </a:rPr>
              <a:t> of item for cost allocation purposes</a:t>
            </a:r>
          </a:p>
        </p:txBody>
      </p:sp>
      <p:sp>
        <p:nvSpPr>
          <p:cNvPr id="4" name="Date Placeholder 3"/>
          <p:cNvSpPr>
            <a:spLocks noGrp="1"/>
          </p:cNvSpPr>
          <p:nvPr>
            <p:ph type="dt" sz="half" idx="10"/>
          </p:nvPr>
        </p:nvSpPr>
        <p:spPr/>
        <p:txBody>
          <a:bodyPr/>
          <a:lstStyle/>
          <a:p>
            <a:fld id="{9D2AADBF-561D-4878-8799-B579DFFE91CC}"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Autofit/>
          </a:bodyPr>
          <a:lstStyle/>
          <a:p>
            <a:r>
              <a:rPr lang="en-GB" sz="3600" b="1" dirty="0" smtClean="0">
                <a:latin typeface="Times New Roman" pitchFamily="18" charset="0"/>
                <a:cs typeface="Times New Roman" pitchFamily="18" charset="0"/>
              </a:rPr>
              <a:t>BASIC MECHANICS OF PLANNED MAINTENANCE (contd.)</a:t>
            </a:r>
            <a:endParaRPr lang="en-GB" sz="3600" dirty="0">
              <a:latin typeface="Times New Roman" pitchFamily="18" charset="0"/>
              <a:cs typeface="Times New Roman" pitchFamily="18" charset="0"/>
            </a:endParaRPr>
          </a:p>
        </p:txBody>
      </p:sp>
      <p:sp>
        <p:nvSpPr>
          <p:cNvPr id="3" name="Content Placeholder 2"/>
          <p:cNvSpPr>
            <a:spLocks noGrp="1"/>
          </p:cNvSpPr>
          <p:nvPr>
            <p:ph idx="1"/>
          </p:nvPr>
        </p:nvSpPr>
        <p:spPr>
          <a:xfrm>
            <a:off x="228600" y="990601"/>
            <a:ext cx="8686800" cy="5410200"/>
          </a:xfrm>
        </p:spPr>
        <p:txBody>
          <a:bodyPr>
            <a:normAutofit/>
          </a:bodyPr>
          <a:lstStyle/>
          <a:p>
            <a:r>
              <a:rPr lang="en-GB" b="1" dirty="0" smtClean="0">
                <a:latin typeface="Times New Roman" pitchFamily="18" charset="0"/>
                <a:cs typeface="Times New Roman" pitchFamily="18" charset="0"/>
              </a:rPr>
              <a:t>Identification of Equipment (contd.)</a:t>
            </a:r>
            <a:endParaRPr lang="en-GB" dirty="0" smtClean="0">
              <a:latin typeface="Times New Roman" pitchFamily="18" charset="0"/>
              <a:cs typeface="Times New Roman" pitchFamily="18" charset="0"/>
            </a:endParaRPr>
          </a:p>
          <a:p>
            <a:r>
              <a:rPr lang="en-GB" dirty="0" smtClean="0">
                <a:latin typeface="Times New Roman" pitchFamily="18" charset="0"/>
                <a:cs typeface="Times New Roman" pitchFamily="18" charset="0"/>
              </a:rPr>
              <a:t>Identification is done using codes made up of</a:t>
            </a:r>
          </a:p>
          <a:p>
            <a:pPr lvl="1"/>
            <a:r>
              <a:rPr lang="en-GB" dirty="0" smtClean="0">
                <a:latin typeface="Times New Roman" pitchFamily="18" charset="0"/>
                <a:cs typeface="Times New Roman" pitchFamily="18" charset="0"/>
              </a:rPr>
              <a:t>Colours, shapes, patterns, names, letters, numbers, or a combination of any of the above</a:t>
            </a:r>
          </a:p>
          <a:p>
            <a:r>
              <a:rPr lang="en-GB" dirty="0" smtClean="0">
                <a:latin typeface="Times New Roman" pitchFamily="18" charset="0"/>
                <a:cs typeface="Times New Roman" pitchFamily="18" charset="0"/>
              </a:rPr>
              <a:t>The equipment must be clearly marked, and the marks must be standardised where possible</a:t>
            </a:r>
          </a:p>
          <a:p>
            <a:r>
              <a:rPr lang="en-GB" dirty="0" smtClean="0">
                <a:latin typeface="Times New Roman" pitchFamily="18" charset="0"/>
                <a:cs typeface="Times New Roman" pitchFamily="18" charset="0"/>
              </a:rPr>
              <a:t>The mark must be neat, visible and indelible</a:t>
            </a:r>
          </a:p>
          <a:p>
            <a:r>
              <a:rPr lang="en-GB" dirty="0" smtClean="0">
                <a:latin typeface="Times New Roman" pitchFamily="18" charset="0"/>
                <a:cs typeface="Times New Roman" pitchFamily="18" charset="0"/>
              </a:rPr>
              <a:t>It must, however, </a:t>
            </a:r>
            <a:r>
              <a:rPr lang="en-GB" b="1" dirty="0" smtClean="0">
                <a:latin typeface="Times New Roman" pitchFamily="18" charset="0"/>
                <a:cs typeface="Times New Roman" pitchFamily="18" charset="0"/>
              </a:rPr>
              <a:t>not</a:t>
            </a:r>
          </a:p>
          <a:p>
            <a:pPr lvl="1"/>
            <a:r>
              <a:rPr lang="en-GB" dirty="0" smtClean="0">
                <a:latin typeface="Times New Roman" pitchFamily="18" charset="0"/>
                <a:cs typeface="Times New Roman" pitchFamily="18" charset="0"/>
              </a:rPr>
              <a:t>Impair or stress the item or part to which it is attached</a:t>
            </a:r>
          </a:p>
          <a:p>
            <a:pPr lvl="1"/>
            <a:r>
              <a:rPr lang="en-GB" dirty="0" smtClean="0">
                <a:latin typeface="Times New Roman" pitchFamily="18" charset="0"/>
                <a:cs typeface="Times New Roman" pitchFamily="18" charset="0"/>
              </a:rPr>
              <a:t>Cause obstruction, inconvenience or any hazard</a:t>
            </a:r>
          </a:p>
        </p:txBody>
      </p:sp>
      <p:sp>
        <p:nvSpPr>
          <p:cNvPr id="4" name="Date Placeholder 3"/>
          <p:cNvSpPr>
            <a:spLocks noGrp="1"/>
          </p:cNvSpPr>
          <p:nvPr>
            <p:ph type="dt" sz="half" idx="10"/>
          </p:nvPr>
        </p:nvSpPr>
        <p:spPr/>
        <p:txBody>
          <a:bodyPr/>
          <a:lstStyle/>
          <a:p>
            <a:fld id="{55D02451-FCA4-453B-8A83-70842C486F8A}"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GB" sz="3600" b="1" dirty="0" smtClean="0">
                <a:latin typeface="Times New Roman" pitchFamily="18" charset="0"/>
                <a:cs typeface="Times New Roman" pitchFamily="18" charset="0"/>
              </a:rPr>
              <a:t>BASIC MECHANICS OF PLANNED MAINTENANCE (contd.)</a:t>
            </a:r>
            <a:endParaRPr lang="en-GB" sz="3600" dirty="0">
              <a:latin typeface="Times New Roman" pitchFamily="18" charset="0"/>
              <a:cs typeface="Times New Roman" pitchFamily="18" charset="0"/>
            </a:endParaRPr>
          </a:p>
        </p:txBody>
      </p:sp>
      <p:sp>
        <p:nvSpPr>
          <p:cNvPr id="3" name="Content Placeholder 2"/>
          <p:cNvSpPr>
            <a:spLocks noGrp="1"/>
          </p:cNvSpPr>
          <p:nvPr>
            <p:ph idx="1"/>
          </p:nvPr>
        </p:nvSpPr>
        <p:spPr>
          <a:xfrm>
            <a:off x="304800" y="1143000"/>
            <a:ext cx="8839200" cy="4983163"/>
          </a:xfrm>
        </p:spPr>
        <p:txBody>
          <a:bodyPr>
            <a:normAutofit lnSpcReduction="10000"/>
          </a:bodyPr>
          <a:lstStyle/>
          <a:p>
            <a:r>
              <a:rPr lang="en-GB" b="1" dirty="0" smtClean="0">
                <a:latin typeface="Times New Roman" pitchFamily="18" charset="0"/>
                <a:cs typeface="Times New Roman" pitchFamily="18" charset="0"/>
              </a:rPr>
              <a:t>The Facility Register</a:t>
            </a:r>
          </a:p>
          <a:p>
            <a:pPr lvl="1"/>
            <a:r>
              <a:rPr lang="en-GB" dirty="0" smtClean="0">
                <a:latin typeface="Times New Roman" pitchFamily="18" charset="0"/>
                <a:cs typeface="Times New Roman" pitchFamily="18" charset="0"/>
              </a:rPr>
              <a:t>The facility register is a record of facilities, including their technical details of equipment</a:t>
            </a:r>
          </a:p>
          <a:p>
            <a:pPr lvl="1"/>
            <a:r>
              <a:rPr lang="en-GB" b="1" i="1" dirty="0" smtClean="0">
                <a:latin typeface="Times New Roman" pitchFamily="18" charset="0"/>
                <a:cs typeface="Times New Roman" pitchFamily="18" charset="0"/>
              </a:rPr>
              <a:t>Description of items to be maintained</a:t>
            </a:r>
            <a:r>
              <a:rPr lang="en-GB" dirty="0" smtClean="0">
                <a:latin typeface="Times New Roman" pitchFamily="18" charset="0"/>
                <a:cs typeface="Times New Roman" pitchFamily="18" charset="0"/>
              </a:rPr>
              <a:t> are obtained from the facility register</a:t>
            </a:r>
          </a:p>
          <a:p>
            <a:pPr lvl="1"/>
            <a:r>
              <a:rPr lang="en-GB" dirty="0" smtClean="0">
                <a:latin typeface="Times New Roman" pitchFamily="18" charset="0"/>
                <a:cs typeface="Times New Roman" pitchFamily="18" charset="0"/>
              </a:rPr>
              <a:t>The information from the facility register on each item</a:t>
            </a:r>
          </a:p>
          <a:p>
            <a:pPr lvl="2"/>
            <a:r>
              <a:rPr lang="en-GB" dirty="0" smtClean="0">
                <a:latin typeface="Times New Roman" pitchFamily="18" charset="0"/>
                <a:cs typeface="Times New Roman" pitchFamily="18" charset="0"/>
              </a:rPr>
              <a:t>Normally confirms the original specification, performance, manufacturers recommended limits, fits, tolerance</a:t>
            </a:r>
          </a:p>
          <a:p>
            <a:pPr lvl="2"/>
            <a:r>
              <a:rPr lang="en-GB" dirty="0" smtClean="0">
                <a:latin typeface="Times New Roman" pitchFamily="18" charset="0"/>
                <a:cs typeface="Times New Roman" pitchFamily="18" charset="0"/>
              </a:rPr>
              <a:t>Helps in the ordering of correct spares &amp; replacements</a:t>
            </a:r>
          </a:p>
          <a:p>
            <a:pPr lvl="2"/>
            <a:r>
              <a:rPr lang="en-GB" dirty="0" smtClean="0">
                <a:latin typeface="Times New Roman" pitchFamily="18" charset="0"/>
                <a:cs typeface="Times New Roman" pitchFamily="18" charset="0"/>
              </a:rPr>
              <a:t>Provides the necessary information for planning the movement, relocation, access, safe floor loading, and layout of the workshop/unit</a:t>
            </a:r>
          </a:p>
          <a:p>
            <a:pPr lvl="2"/>
            <a:endParaRPr lang="en-GB" dirty="0" smtClean="0">
              <a:latin typeface="Times New Roman" pitchFamily="18" charset="0"/>
              <a:cs typeface="Times New Roman" pitchFamily="18" charset="0"/>
            </a:endParaRPr>
          </a:p>
          <a:p>
            <a:pPr lvl="2"/>
            <a:endParaRPr lang="en-GB"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8437248-1857-4EF7-B029-24B9E1BFBDA0}"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66800"/>
          </a:xfrm>
        </p:spPr>
        <p:txBody>
          <a:bodyPr>
            <a:noAutofit/>
          </a:bodyPr>
          <a:lstStyle/>
          <a:p>
            <a:r>
              <a:rPr lang="en-GB" sz="3400" b="1" dirty="0" smtClean="0">
                <a:latin typeface="Times New Roman" pitchFamily="18" charset="0"/>
                <a:cs typeface="Times New Roman" pitchFamily="18" charset="0"/>
              </a:rPr>
              <a:t>BASIC MECHANICS OF PLANNED MAINTENANCE (contd.)</a:t>
            </a:r>
            <a:endParaRPr lang="en-GB" sz="3400" dirty="0">
              <a:latin typeface="Times New Roman" pitchFamily="18" charset="0"/>
              <a:cs typeface="Times New Roman" pitchFamily="18" charset="0"/>
            </a:endParaRPr>
          </a:p>
        </p:txBody>
      </p:sp>
      <p:sp>
        <p:nvSpPr>
          <p:cNvPr id="3" name="Content Placeholder 2"/>
          <p:cNvSpPr>
            <a:spLocks noGrp="1"/>
          </p:cNvSpPr>
          <p:nvPr>
            <p:ph idx="1"/>
          </p:nvPr>
        </p:nvSpPr>
        <p:spPr>
          <a:xfrm>
            <a:off x="0" y="1143000"/>
            <a:ext cx="9144000" cy="5105400"/>
          </a:xfrm>
        </p:spPr>
        <p:txBody>
          <a:bodyPr>
            <a:normAutofit fontScale="92500" lnSpcReduction="10000"/>
          </a:bodyPr>
          <a:lstStyle/>
          <a:p>
            <a:r>
              <a:rPr lang="en-GB" sz="3000" b="1" dirty="0" smtClean="0">
                <a:latin typeface="Times New Roman" pitchFamily="18" charset="0"/>
                <a:cs typeface="Times New Roman" pitchFamily="18" charset="0"/>
              </a:rPr>
              <a:t>The Facility Register (contd.)</a:t>
            </a:r>
          </a:p>
          <a:p>
            <a:pPr lvl="1"/>
            <a:r>
              <a:rPr lang="en-GB" dirty="0" smtClean="0">
                <a:latin typeface="Times New Roman" pitchFamily="18" charset="0"/>
                <a:cs typeface="Times New Roman" pitchFamily="18" charset="0"/>
              </a:rPr>
              <a:t>In compiling the register, one must decide on the following</a:t>
            </a:r>
          </a:p>
          <a:p>
            <a:pPr lvl="2"/>
            <a:r>
              <a:rPr lang="en-GB" sz="2600" dirty="0" smtClean="0">
                <a:latin typeface="Times New Roman" pitchFamily="18" charset="0"/>
                <a:cs typeface="Times New Roman" pitchFamily="18" charset="0"/>
              </a:rPr>
              <a:t>The nature of information that will be recorded</a:t>
            </a:r>
          </a:p>
          <a:p>
            <a:pPr lvl="2"/>
            <a:r>
              <a:rPr lang="en-GB" sz="2600" dirty="0" smtClean="0">
                <a:latin typeface="Times New Roman" pitchFamily="18" charset="0"/>
                <a:cs typeface="Times New Roman" pitchFamily="18" charset="0"/>
              </a:rPr>
              <a:t>How the information will be recorded</a:t>
            </a:r>
          </a:p>
          <a:p>
            <a:pPr lvl="2"/>
            <a:r>
              <a:rPr lang="en-GB" sz="2600" dirty="0" smtClean="0">
                <a:latin typeface="Times New Roman" pitchFamily="18" charset="0"/>
                <a:cs typeface="Times New Roman" pitchFamily="18" charset="0"/>
              </a:rPr>
              <a:t>How the recorded information will be stored</a:t>
            </a:r>
          </a:p>
          <a:p>
            <a:pPr lvl="2"/>
            <a:r>
              <a:rPr lang="en-GB" sz="2600" dirty="0" smtClean="0">
                <a:latin typeface="Times New Roman" pitchFamily="18" charset="0"/>
                <a:cs typeface="Times New Roman" pitchFamily="18" charset="0"/>
              </a:rPr>
              <a:t>How the register will be formed</a:t>
            </a:r>
          </a:p>
          <a:p>
            <a:pPr lvl="1"/>
            <a:r>
              <a:rPr lang="en-GB" dirty="0" smtClean="0">
                <a:latin typeface="Times New Roman" pitchFamily="18" charset="0"/>
                <a:cs typeface="Times New Roman" pitchFamily="18" charset="0"/>
              </a:rPr>
              <a:t>Registers have for sometime been made of sheets or cards</a:t>
            </a:r>
          </a:p>
          <a:p>
            <a:pPr lvl="2"/>
            <a:r>
              <a:rPr lang="en-GB" sz="2600" dirty="0" smtClean="0">
                <a:latin typeface="Times New Roman" pitchFamily="18" charset="0"/>
                <a:cs typeface="Times New Roman" pitchFamily="18" charset="0"/>
              </a:rPr>
              <a:t>Normally one card or sheet for each item</a:t>
            </a:r>
          </a:p>
          <a:p>
            <a:pPr lvl="2"/>
            <a:r>
              <a:rPr lang="en-GB" sz="2600" dirty="0" smtClean="0">
                <a:latin typeface="Times New Roman" pitchFamily="18" charset="0"/>
                <a:cs typeface="Times New Roman" pitchFamily="18" charset="0"/>
              </a:rPr>
              <a:t>Each sheet or card must bear the identification symbol of the item or equipment being referred to</a:t>
            </a:r>
          </a:p>
          <a:p>
            <a:pPr lvl="2"/>
            <a:r>
              <a:rPr lang="en-GB" sz="2600" dirty="0" smtClean="0">
                <a:latin typeface="Times New Roman" pitchFamily="18" charset="0"/>
                <a:cs typeface="Times New Roman" pitchFamily="18" charset="0"/>
              </a:rPr>
              <a:t>The sheets are filed together into books and the cards are kept together as flat trays</a:t>
            </a:r>
          </a:p>
          <a:p>
            <a:pPr lvl="2"/>
            <a:endParaRPr lang="en-GB" dirty="0" smtClean="0">
              <a:latin typeface="Times New Roman" pitchFamily="18" charset="0"/>
              <a:cs typeface="Times New Roman" pitchFamily="18" charset="0"/>
            </a:endParaRPr>
          </a:p>
          <a:p>
            <a:pPr lvl="2"/>
            <a:endParaRPr lang="en-GB"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8437248-1857-4EF7-B029-24B9E1BFBDA0}"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66800"/>
          </a:xfrm>
        </p:spPr>
        <p:txBody>
          <a:bodyPr>
            <a:noAutofit/>
          </a:bodyPr>
          <a:lstStyle/>
          <a:p>
            <a:r>
              <a:rPr lang="en-GB" sz="3400" b="1" dirty="0" smtClean="0">
                <a:latin typeface="Times New Roman" pitchFamily="18" charset="0"/>
                <a:cs typeface="Times New Roman" pitchFamily="18" charset="0"/>
              </a:rPr>
              <a:t>BASIC MECHANICS OF PLANNED MAINTENANCE (contd.)</a:t>
            </a:r>
            <a:endParaRPr lang="en-GB" sz="3400" dirty="0">
              <a:latin typeface="Times New Roman" pitchFamily="18" charset="0"/>
              <a:cs typeface="Times New Roman" pitchFamily="18" charset="0"/>
            </a:endParaRPr>
          </a:p>
        </p:txBody>
      </p:sp>
      <p:sp>
        <p:nvSpPr>
          <p:cNvPr id="3" name="Content Placeholder 2"/>
          <p:cNvSpPr>
            <a:spLocks noGrp="1"/>
          </p:cNvSpPr>
          <p:nvPr>
            <p:ph idx="1"/>
          </p:nvPr>
        </p:nvSpPr>
        <p:spPr>
          <a:xfrm>
            <a:off x="0" y="1143000"/>
            <a:ext cx="9144000" cy="5105400"/>
          </a:xfrm>
        </p:spPr>
        <p:txBody>
          <a:bodyPr>
            <a:normAutofit fontScale="92500" lnSpcReduction="10000"/>
          </a:bodyPr>
          <a:lstStyle/>
          <a:p>
            <a:r>
              <a:rPr lang="en-GB" sz="3000" b="1" dirty="0" smtClean="0">
                <a:latin typeface="Times New Roman" pitchFamily="18" charset="0"/>
                <a:cs typeface="Times New Roman" pitchFamily="18" charset="0"/>
              </a:rPr>
              <a:t>The Facility Register (contd.)</a:t>
            </a:r>
          </a:p>
          <a:p>
            <a:pPr lvl="1"/>
            <a:r>
              <a:rPr lang="en-GB" dirty="0" smtClean="0">
                <a:latin typeface="Times New Roman" pitchFamily="18" charset="0"/>
                <a:cs typeface="Times New Roman" pitchFamily="18" charset="0"/>
              </a:rPr>
              <a:t>Limitations to the use of sheets or cards</a:t>
            </a:r>
          </a:p>
          <a:p>
            <a:pPr lvl="2"/>
            <a:r>
              <a:rPr lang="en-GB" dirty="0" smtClean="0">
                <a:latin typeface="Times New Roman" pitchFamily="18" charset="0"/>
                <a:cs typeface="Times New Roman" pitchFamily="18" charset="0"/>
              </a:rPr>
              <a:t>Large spaces are required, especially in large firms</a:t>
            </a:r>
          </a:p>
          <a:p>
            <a:pPr lvl="2"/>
            <a:r>
              <a:rPr lang="en-GB" dirty="0" smtClean="0">
                <a:latin typeface="Times New Roman" pitchFamily="18" charset="0"/>
                <a:cs typeface="Times New Roman" pitchFamily="18" charset="0"/>
              </a:rPr>
              <a:t>Retrieval of information has to be done manually</a:t>
            </a:r>
          </a:p>
          <a:p>
            <a:pPr lvl="2"/>
            <a:r>
              <a:rPr lang="en-GB" dirty="0" smtClean="0">
                <a:latin typeface="Times New Roman" pitchFamily="18" charset="0"/>
                <a:cs typeface="Times New Roman" pitchFamily="18" charset="0"/>
              </a:rPr>
              <a:t>This at times, can be very time-consuming, daunting, tedious</a:t>
            </a:r>
          </a:p>
          <a:p>
            <a:pPr lvl="2"/>
            <a:r>
              <a:rPr lang="en-GB" dirty="0" smtClean="0">
                <a:latin typeface="Times New Roman" pitchFamily="18" charset="0"/>
                <a:cs typeface="Times New Roman" pitchFamily="18" charset="0"/>
              </a:rPr>
              <a:t>It is also subject to mistakes</a:t>
            </a:r>
          </a:p>
          <a:p>
            <a:pPr lvl="1"/>
            <a:r>
              <a:rPr lang="en-GB" dirty="0" smtClean="0">
                <a:latin typeface="Times New Roman" pitchFamily="18" charset="0"/>
                <a:cs typeface="Times New Roman" pitchFamily="18" charset="0"/>
              </a:rPr>
              <a:t>The activities with the facility register could be better enhanced by a fully computerised data storage and retrieval system</a:t>
            </a:r>
          </a:p>
          <a:p>
            <a:pPr lvl="1"/>
            <a:r>
              <a:rPr lang="en-GB" dirty="0" smtClean="0">
                <a:latin typeface="Times New Roman" pitchFamily="18" charset="0"/>
                <a:cs typeface="Times New Roman" pitchFamily="18" charset="0"/>
              </a:rPr>
              <a:t>This occupies less space</a:t>
            </a:r>
          </a:p>
          <a:p>
            <a:pPr lvl="1"/>
            <a:r>
              <a:rPr lang="en-GB" dirty="0" smtClean="0">
                <a:latin typeface="Times New Roman" pitchFamily="18" charset="0"/>
                <a:cs typeface="Times New Roman" pitchFamily="18" charset="0"/>
              </a:rPr>
              <a:t>But this is some how costly, and one has to be trained on the Software of the system, with additional cost implications</a:t>
            </a:r>
          </a:p>
        </p:txBody>
      </p:sp>
      <p:sp>
        <p:nvSpPr>
          <p:cNvPr id="4" name="Date Placeholder 3"/>
          <p:cNvSpPr>
            <a:spLocks noGrp="1"/>
          </p:cNvSpPr>
          <p:nvPr>
            <p:ph type="dt" sz="half" idx="10"/>
          </p:nvPr>
        </p:nvSpPr>
        <p:spPr/>
        <p:txBody>
          <a:bodyPr/>
          <a:lstStyle/>
          <a:p>
            <a:fld id="{68437248-1857-4EF7-B029-24B9E1BFBDA0}"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GB" sz="3200" b="1" dirty="0" smtClean="0">
                <a:latin typeface="Times New Roman" pitchFamily="18" charset="0"/>
                <a:cs typeface="Times New Roman" pitchFamily="18" charset="0"/>
              </a:rPr>
              <a:t>BASIC MECHANICS OF PLANNED MAINTENANCE (contd.)</a:t>
            </a:r>
            <a:endParaRPr lang="en-GB" sz="3200" dirty="0">
              <a:latin typeface="Times New Roman" pitchFamily="18" charset="0"/>
              <a:cs typeface="Times New Roman" pitchFamily="18" charset="0"/>
            </a:endParaRPr>
          </a:p>
        </p:txBody>
      </p:sp>
      <p:sp>
        <p:nvSpPr>
          <p:cNvPr id="3" name="Content Placeholder 2"/>
          <p:cNvSpPr>
            <a:spLocks noGrp="1"/>
          </p:cNvSpPr>
          <p:nvPr>
            <p:ph idx="1"/>
          </p:nvPr>
        </p:nvSpPr>
        <p:spPr>
          <a:xfrm>
            <a:off x="304800" y="960437"/>
            <a:ext cx="8686800" cy="5440363"/>
          </a:xfrm>
        </p:spPr>
        <p:txBody>
          <a:bodyPr>
            <a:normAutofit lnSpcReduction="10000"/>
          </a:bodyPr>
          <a:lstStyle/>
          <a:p>
            <a:r>
              <a:rPr lang="en-GB" sz="3000" b="1" dirty="0" smtClean="0">
                <a:latin typeface="Times New Roman" pitchFamily="18" charset="0"/>
                <a:cs typeface="Times New Roman" pitchFamily="18" charset="0"/>
              </a:rPr>
              <a:t>Maintenance schedule</a:t>
            </a:r>
          </a:p>
          <a:p>
            <a:pPr lvl="1"/>
            <a:r>
              <a:rPr lang="en-GB" sz="2600" dirty="0" smtClean="0">
                <a:latin typeface="Times New Roman" pitchFamily="18" charset="0"/>
                <a:cs typeface="Times New Roman" pitchFamily="18" charset="0"/>
              </a:rPr>
              <a:t>Maintenance schedule is a complete list of maintenance and its incidence</a:t>
            </a:r>
          </a:p>
          <a:p>
            <a:pPr lvl="1"/>
            <a:r>
              <a:rPr lang="en-GB" sz="2600" dirty="0" smtClean="0">
                <a:latin typeface="Times New Roman" pitchFamily="18" charset="0"/>
                <a:cs typeface="Times New Roman" pitchFamily="18" charset="0"/>
              </a:rPr>
              <a:t>It indicates </a:t>
            </a:r>
            <a:r>
              <a:rPr lang="en-GB" sz="2600" b="1" i="1" dirty="0" smtClean="0">
                <a:latin typeface="Times New Roman" pitchFamily="18" charset="0"/>
                <a:cs typeface="Times New Roman" pitchFamily="18" charset="0"/>
              </a:rPr>
              <a:t>how</a:t>
            </a:r>
            <a:r>
              <a:rPr lang="en-GB" sz="2600" dirty="0" smtClean="0">
                <a:latin typeface="Times New Roman" pitchFamily="18" charset="0"/>
                <a:cs typeface="Times New Roman" pitchFamily="18" charset="0"/>
              </a:rPr>
              <a:t> the equipment is to be maintained</a:t>
            </a:r>
          </a:p>
          <a:p>
            <a:pPr lvl="2"/>
            <a:r>
              <a:rPr lang="en-GB" sz="2200" dirty="0" smtClean="0">
                <a:latin typeface="Times New Roman" pitchFamily="18" charset="0"/>
                <a:cs typeface="Times New Roman" pitchFamily="18" charset="0"/>
              </a:rPr>
              <a:t>After the details have been gathered in the facility register</a:t>
            </a:r>
          </a:p>
          <a:p>
            <a:pPr lvl="1"/>
            <a:r>
              <a:rPr lang="en-GB" sz="2600" dirty="0" smtClean="0">
                <a:latin typeface="Times New Roman" pitchFamily="18" charset="0"/>
                <a:cs typeface="Times New Roman" pitchFamily="18" charset="0"/>
              </a:rPr>
              <a:t>Must set out </a:t>
            </a:r>
          </a:p>
          <a:p>
            <a:pPr lvl="2"/>
            <a:r>
              <a:rPr lang="en-GB" sz="2200" dirty="0" smtClean="0">
                <a:latin typeface="Times New Roman" pitchFamily="18" charset="0"/>
                <a:cs typeface="Times New Roman" pitchFamily="18" charset="0"/>
              </a:rPr>
              <a:t>All the tasks</a:t>
            </a:r>
          </a:p>
          <a:p>
            <a:pPr lvl="3"/>
            <a:r>
              <a:rPr lang="en-GB" dirty="0" smtClean="0">
                <a:latin typeface="Times New Roman" pitchFamily="18" charset="0"/>
                <a:cs typeface="Times New Roman" pitchFamily="18" charset="0"/>
              </a:rPr>
              <a:t>Inspection, lubrication, adjustments, component replacement, overhaul</a:t>
            </a:r>
          </a:p>
          <a:p>
            <a:pPr lvl="2"/>
            <a:r>
              <a:rPr lang="en-GB" sz="2200" dirty="0" smtClean="0">
                <a:latin typeface="Times New Roman" pitchFamily="18" charset="0"/>
                <a:cs typeface="Times New Roman" pitchFamily="18" charset="0"/>
              </a:rPr>
              <a:t>Frequencies that are considered necessary to maintain the facility efficiently</a:t>
            </a:r>
          </a:p>
          <a:p>
            <a:pPr lvl="1"/>
            <a:r>
              <a:rPr lang="en-GB" sz="2600" dirty="0" smtClean="0">
                <a:latin typeface="Times New Roman" pitchFamily="18" charset="0"/>
                <a:cs typeface="Times New Roman" pitchFamily="18" charset="0"/>
              </a:rPr>
              <a:t>Takes </a:t>
            </a:r>
            <a:r>
              <a:rPr lang="en-GB" sz="2600" smtClean="0">
                <a:latin typeface="Times New Roman" pitchFamily="18" charset="0"/>
                <a:cs typeface="Times New Roman" pitchFamily="18" charset="0"/>
              </a:rPr>
              <a:t>into account </a:t>
            </a:r>
            <a:r>
              <a:rPr lang="en-GB" sz="2600" dirty="0" smtClean="0">
                <a:latin typeface="Times New Roman" pitchFamily="18" charset="0"/>
                <a:cs typeface="Times New Roman" pitchFamily="18" charset="0"/>
              </a:rPr>
              <a:t>the function of equipment and the influence it exerts over the whole operation</a:t>
            </a:r>
            <a:endParaRPr lang="en-GB" sz="2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8FCA9DE-F73C-4E5E-9A20-8ABA4E8BD027}"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Autofit/>
          </a:bodyPr>
          <a:lstStyle/>
          <a:p>
            <a:r>
              <a:rPr lang="en-GB" sz="2800" b="1" dirty="0" smtClean="0">
                <a:latin typeface="Times New Roman" pitchFamily="18" charset="0"/>
                <a:cs typeface="Times New Roman" pitchFamily="18" charset="0"/>
              </a:rPr>
              <a:t>BASIC MECHANICS OF PLANNED MAINTENANCE (contd.)</a:t>
            </a:r>
            <a:endParaRPr lang="en-GB" sz="2800" dirty="0">
              <a:latin typeface="Times New Roman" pitchFamily="18" charset="0"/>
              <a:cs typeface="Times New Roman" pitchFamily="18" charset="0"/>
            </a:endParaRPr>
          </a:p>
        </p:txBody>
      </p:sp>
      <p:sp>
        <p:nvSpPr>
          <p:cNvPr id="3" name="Content Placeholder 2"/>
          <p:cNvSpPr>
            <a:spLocks noGrp="1"/>
          </p:cNvSpPr>
          <p:nvPr>
            <p:ph idx="1"/>
          </p:nvPr>
        </p:nvSpPr>
        <p:spPr>
          <a:xfrm>
            <a:off x="304800" y="838201"/>
            <a:ext cx="8686800" cy="5562600"/>
          </a:xfrm>
        </p:spPr>
        <p:txBody>
          <a:bodyPr>
            <a:normAutofit/>
          </a:bodyPr>
          <a:lstStyle/>
          <a:p>
            <a:r>
              <a:rPr lang="en-GB" sz="2400" b="1" dirty="0" smtClean="0">
                <a:latin typeface="Times New Roman" pitchFamily="18" charset="0"/>
                <a:cs typeface="Times New Roman" pitchFamily="18" charset="0"/>
              </a:rPr>
              <a:t>Maintenance schedule (contd.)</a:t>
            </a:r>
          </a:p>
          <a:p>
            <a:pPr>
              <a:spcBef>
                <a:spcPts val="24"/>
              </a:spcBef>
            </a:pPr>
            <a:r>
              <a:rPr lang="en-GB" sz="2200" dirty="0" smtClean="0">
                <a:latin typeface="Times New Roman" pitchFamily="18" charset="0"/>
                <a:cs typeface="Times New Roman" pitchFamily="18" charset="0"/>
              </a:rPr>
              <a:t>Maintenance schedule for each equipment has</a:t>
            </a:r>
          </a:p>
          <a:p>
            <a:pPr marL="688975" lvl="1" indent="-457200">
              <a:spcBef>
                <a:spcPts val="200"/>
              </a:spcBef>
            </a:pPr>
            <a:r>
              <a:rPr lang="en-GB" sz="2000" dirty="0" smtClean="0">
                <a:latin typeface="Times New Roman" pitchFamily="18" charset="0"/>
                <a:cs typeface="Times New Roman" pitchFamily="18" charset="0"/>
              </a:rPr>
              <a:t>Name and identification no. of equipment</a:t>
            </a:r>
          </a:p>
          <a:p>
            <a:pPr marL="688975" lvl="1" indent="-457200">
              <a:spcBef>
                <a:spcPts val="200"/>
              </a:spcBef>
            </a:pPr>
            <a:r>
              <a:rPr lang="en-GB" sz="2000" dirty="0" smtClean="0">
                <a:latin typeface="Times New Roman" pitchFamily="18" charset="0"/>
                <a:cs typeface="Times New Roman" pitchFamily="18" charset="0"/>
              </a:rPr>
              <a:t>Location of the item</a:t>
            </a:r>
          </a:p>
          <a:p>
            <a:pPr marL="688975" lvl="1" indent="-457200">
              <a:spcBef>
                <a:spcPts val="200"/>
              </a:spcBef>
            </a:pPr>
            <a:r>
              <a:rPr lang="en-GB" sz="2000" dirty="0" smtClean="0">
                <a:latin typeface="Times New Roman" pitchFamily="18" charset="0"/>
                <a:cs typeface="Times New Roman" pitchFamily="18" charset="0"/>
              </a:rPr>
              <a:t>Reference no. of the schedule</a:t>
            </a:r>
          </a:p>
          <a:p>
            <a:pPr marL="688975" lvl="1" indent="-457200">
              <a:spcBef>
                <a:spcPts val="200"/>
              </a:spcBef>
            </a:pPr>
            <a:r>
              <a:rPr lang="en-GB" sz="2000" dirty="0" smtClean="0">
                <a:latin typeface="Times New Roman" pitchFamily="18" charset="0"/>
                <a:cs typeface="Times New Roman" pitchFamily="18" charset="0"/>
              </a:rPr>
              <a:t>Safety procedures to be followed</a:t>
            </a:r>
          </a:p>
          <a:p>
            <a:pPr marL="688975" lvl="1" indent="-457200">
              <a:spcBef>
                <a:spcPts val="200"/>
              </a:spcBef>
            </a:pPr>
            <a:r>
              <a:rPr lang="en-GB" sz="2000" dirty="0" smtClean="0">
                <a:latin typeface="Times New Roman" pitchFamily="18" charset="0"/>
                <a:cs typeface="Times New Roman" pitchFamily="18" charset="0"/>
              </a:rPr>
              <a:t>Detailed list of tasks to be carried out</a:t>
            </a:r>
          </a:p>
          <a:p>
            <a:pPr marL="688975" lvl="1" indent="-457200">
              <a:spcBef>
                <a:spcPts val="200"/>
              </a:spcBef>
            </a:pPr>
            <a:r>
              <a:rPr lang="en-GB" sz="2000" dirty="0" smtClean="0">
                <a:latin typeface="Times New Roman" pitchFamily="18" charset="0"/>
                <a:cs typeface="Times New Roman" pitchFamily="18" charset="0"/>
              </a:rPr>
              <a:t>Frequency at which each task must be carried out</a:t>
            </a:r>
          </a:p>
          <a:p>
            <a:pPr marL="688975" lvl="1" indent="-457200">
              <a:spcBef>
                <a:spcPts val="200"/>
              </a:spcBef>
            </a:pPr>
            <a:r>
              <a:rPr lang="en-GB" sz="2000" dirty="0" smtClean="0">
                <a:latin typeface="Times New Roman" pitchFamily="18" charset="0"/>
                <a:cs typeface="Times New Roman" pitchFamily="18" charset="0"/>
              </a:rPr>
              <a:t>Tradesmen/personnel required to undertake the tasks</a:t>
            </a:r>
            <a:endParaRPr lang="en-GB" sz="2600" dirty="0" smtClean="0">
              <a:latin typeface="Times New Roman" pitchFamily="18" charset="0"/>
              <a:cs typeface="Times New Roman" pitchFamily="18" charset="0"/>
            </a:endParaRPr>
          </a:p>
          <a:p>
            <a:pPr marL="688975" lvl="1" indent="-457200">
              <a:spcBef>
                <a:spcPts val="200"/>
              </a:spcBef>
            </a:pPr>
            <a:r>
              <a:rPr lang="en-GB" sz="2000" dirty="0" smtClean="0">
                <a:latin typeface="Times New Roman" pitchFamily="18" charset="0"/>
                <a:cs typeface="Times New Roman" pitchFamily="18" charset="0"/>
              </a:rPr>
              <a:t>Time required to carry out the task</a:t>
            </a:r>
          </a:p>
          <a:p>
            <a:pPr marL="688975" lvl="1" indent="-457200">
              <a:spcBef>
                <a:spcPts val="200"/>
              </a:spcBef>
            </a:pPr>
            <a:r>
              <a:rPr lang="en-GB" sz="2000" dirty="0" smtClean="0">
                <a:latin typeface="Times New Roman" pitchFamily="18" charset="0"/>
                <a:cs typeface="Times New Roman" pitchFamily="18" charset="0"/>
              </a:rPr>
              <a:t>Special tools or equipment required</a:t>
            </a:r>
          </a:p>
          <a:p>
            <a:pPr marL="688975" lvl="1" indent="-457200">
              <a:spcBef>
                <a:spcPts val="200"/>
              </a:spcBef>
            </a:pPr>
            <a:r>
              <a:rPr lang="en-GB" sz="2000" dirty="0" smtClean="0">
                <a:latin typeface="Times New Roman" pitchFamily="18" charset="0"/>
                <a:cs typeface="Times New Roman" pitchFamily="18" charset="0"/>
              </a:rPr>
              <a:t>Materials, major components or replacements required</a:t>
            </a:r>
          </a:p>
          <a:p>
            <a:pPr marL="688975" lvl="1" indent="-457200">
              <a:spcBef>
                <a:spcPts val="200"/>
              </a:spcBef>
            </a:pPr>
            <a:r>
              <a:rPr lang="en-GB" sz="2000" dirty="0" smtClean="0">
                <a:latin typeface="Times New Roman" pitchFamily="18" charset="0"/>
                <a:cs typeface="Times New Roman" pitchFamily="18" charset="0"/>
              </a:rPr>
              <a:t>When the facility is available for maintenance</a:t>
            </a:r>
          </a:p>
          <a:p>
            <a:pPr marL="1089025" lvl="2" indent="-457200">
              <a:spcBef>
                <a:spcPts val="200"/>
              </a:spcBef>
            </a:pPr>
            <a:r>
              <a:rPr lang="en-GB" sz="1600" dirty="0" smtClean="0">
                <a:latin typeface="Times New Roman" pitchFamily="18" charset="0"/>
                <a:cs typeface="Times New Roman" pitchFamily="18" charset="0"/>
              </a:rPr>
              <a:t>running maintenance, shut down maintenance, etc.</a:t>
            </a:r>
          </a:p>
          <a:p>
            <a:pPr marL="688975" lvl="1" indent="-457200">
              <a:spcBef>
                <a:spcPts val="200"/>
              </a:spcBef>
            </a:pPr>
            <a:r>
              <a:rPr lang="en-GB" sz="2000" dirty="0" smtClean="0">
                <a:latin typeface="Times New Roman" pitchFamily="18" charset="0"/>
                <a:cs typeface="Times New Roman" pitchFamily="18" charset="0"/>
              </a:rPr>
              <a:t>Associated equipment or facilities that should be maintained simultaneously</a:t>
            </a:r>
          </a:p>
          <a:p>
            <a:pPr marL="688975" lvl="1" indent="-457200">
              <a:spcBef>
                <a:spcPts val="200"/>
              </a:spcBef>
            </a:pPr>
            <a:r>
              <a:rPr lang="en-GB" sz="2000" dirty="0" smtClean="0">
                <a:latin typeface="Times New Roman" pitchFamily="18" charset="0"/>
                <a:cs typeface="Times New Roman" pitchFamily="18" charset="0"/>
              </a:rPr>
              <a:t>Details of any contract maintenance</a:t>
            </a:r>
          </a:p>
        </p:txBody>
      </p:sp>
      <p:sp>
        <p:nvSpPr>
          <p:cNvPr id="4" name="Date Placeholder 3"/>
          <p:cNvSpPr>
            <a:spLocks noGrp="1"/>
          </p:cNvSpPr>
          <p:nvPr>
            <p:ph type="dt" sz="half" idx="10"/>
          </p:nvPr>
        </p:nvSpPr>
        <p:spPr/>
        <p:txBody>
          <a:bodyPr/>
          <a:lstStyle/>
          <a:p>
            <a:fld id="{68FCA9DE-F73C-4E5E-9A20-8ABA4E8BD027}"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GB" sz="3200" b="1" dirty="0" smtClean="0">
                <a:latin typeface="Times New Roman" pitchFamily="18" charset="0"/>
                <a:cs typeface="Times New Roman" pitchFamily="18" charset="0"/>
              </a:rPr>
              <a:t>BASIC MECHANICS OF PLANNED MAINTENANCE (contd.)</a:t>
            </a:r>
            <a:endParaRPr lang="en-GB" sz="3200" dirty="0">
              <a:latin typeface="Times New Roman" pitchFamily="18" charset="0"/>
              <a:cs typeface="Times New Roman" pitchFamily="18" charset="0"/>
            </a:endParaRPr>
          </a:p>
        </p:txBody>
      </p:sp>
      <p:sp>
        <p:nvSpPr>
          <p:cNvPr id="3" name="Content Placeholder 2"/>
          <p:cNvSpPr>
            <a:spLocks noGrp="1"/>
          </p:cNvSpPr>
          <p:nvPr>
            <p:ph idx="1"/>
          </p:nvPr>
        </p:nvSpPr>
        <p:spPr>
          <a:xfrm>
            <a:off x="304800" y="1295400"/>
            <a:ext cx="8153400" cy="5105400"/>
          </a:xfrm>
        </p:spPr>
        <p:txBody>
          <a:bodyPr>
            <a:normAutofit/>
          </a:bodyPr>
          <a:lstStyle/>
          <a:p>
            <a:r>
              <a:rPr lang="en-GB" sz="3000" b="1" dirty="0" smtClean="0">
                <a:latin typeface="Times New Roman" pitchFamily="18" charset="0"/>
                <a:cs typeface="Times New Roman" pitchFamily="18" charset="0"/>
              </a:rPr>
              <a:t>Maintenance schedule (contd.)</a:t>
            </a:r>
          </a:p>
          <a:p>
            <a:pPr lvl="1"/>
            <a:r>
              <a:rPr lang="en-GB" dirty="0" smtClean="0">
                <a:latin typeface="Times New Roman" pitchFamily="18" charset="0"/>
                <a:cs typeface="Times New Roman" pitchFamily="18" charset="0"/>
              </a:rPr>
              <a:t>Information should be extracted and acted upon so that </a:t>
            </a:r>
          </a:p>
          <a:p>
            <a:pPr lvl="2"/>
            <a:r>
              <a:rPr lang="en-GB" sz="2600" dirty="0" smtClean="0">
                <a:latin typeface="Times New Roman" pitchFamily="18" charset="0"/>
                <a:cs typeface="Times New Roman" pitchFamily="18" charset="0"/>
              </a:rPr>
              <a:t>Spares, replacements, tools, special equipment and other necessary items could be ordered on time</a:t>
            </a:r>
          </a:p>
          <a:p>
            <a:pPr lvl="2"/>
            <a:r>
              <a:rPr lang="en-GB" sz="2600" dirty="0" smtClean="0">
                <a:latin typeface="Times New Roman" pitchFamily="18" charset="0"/>
                <a:cs typeface="Times New Roman" pitchFamily="18" charset="0"/>
              </a:rPr>
              <a:t>Maintenance contractors could be contacted and all the necessary pre-arrangements could be made and confirmed so that all parties know what is expected of them and are in agreement</a:t>
            </a:r>
            <a:endParaRPr lang="en-GB" sz="2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8FCA9DE-F73C-4E5E-9A20-8ABA4E8BD027}"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GB" sz="3200" b="1" dirty="0" smtClean="0">
                <a:latin typeface="Times New Roman" pitchFamily="18" charset="0"/>
                <a:cs typeface="Times New Roman" pitchFamily="18" charset="0"/>
              </a:rPr>
              <a:t>BASIC MECHANICS OF PLANNED MAINTENANCE (contd.)</a:t>
            </a:r>
            <a:endParaRPr lang="en-GB" sz="3200" dirty="0">
              <a:latin typeface="Times New Roman" pitchFamily="18" charset="0"/>
              <a:cs typeface="Times New Roman" pitchFamily="18" charset="0"/>
            </a:endParaRPr>
          </a:p>
        </p:txBody>
      </p:sp>
      <p:sp>
        <p:nvSpPr>
          <p:cNvPr id="3" name="Content Placeholder 2"/>
          <p:cNvSpPr>
            <a:spLocks noGrp="1"/>
          </p:cNvSpPr>
          <p:nvPr>
            <p:ph idx="1"/>
          </p:nvPr>
        </p:nvSpPr>
        <p:spPr>
          <a:xfrm>
            <a:off x="0" y="1295400"/>
            <a:ext cx="9144000" cy="5105400"/>
          </a:xfrm>
        </p:spPr>
        <p:txBody>
          <a:bodyPr>
            <a:normAutofit/>
          </a:bodyPr>
          <a:lstStyle/>
          <a:p>
            <a:r>
              <a:rPr lang="en-GB" sz="3000" b="1" dirty="0" smtClean="0">
                <a:latin typeface="Times New Roman" pitchFamily="18" charset="0"/>
                <a:cs typeface="Times New Roman" pitchFamily="18" charset="0"/>
              </a:rPr>
              <a:t>Job specification</a:t>
            </a:r>
          </a:p>
          <a:p>
            <a:pPr lvl="1"/>
            <a:r>
              <a:rPr lang="en-GB" sz="2200" dirty="0" smtClean="0">
                <a:latin typeface="Times New Roman" pitchFamily="18" charset="0"/>
                <a:cs typeface="Times New Roman" pitchFamily="18" charset="0"/>
              </a:rPr>
              <a:t>A document describing the work to be done</a:t>
            </a:r>
          </a:p>
          <a:p>
            <a:pPr lvl="1"/>
            <a:r>
              <a:rPr lang="en-GB" sz="2200" b="1" i="1" dirty="0" smtClean="0">
                <a:latin typeface="Times New Roman" pitchFamily="18" charset="0"/>
                <a:cs typeface="Times New Roman" pitchFamily="18" charset="0"/>
              </a:rPr>
              <a:t>A means of communicating </a:t>
            </a:r>
            <a:r>
              <a:rPr lang="en-GB" sz="2200" dirty="0" smtClean="0">
                <a:latin typeface="Times New Roman" pitchFamily="18" charset="0"/>
                <a:cs typeface="Times New Roman" pitchFamily="18" charset="0"/>
              </a:rPr>
              <a:t>the work details to the persons who will effect the work (i.e. a link between the planner and the doer)</a:t>
            </a:r>
          </a:p>
          <a:p>
            <a:pPr lvl="1"/>
            <a:r>
              <a:rPr lang="en-GB" sz="2200" dirty="0" smtClean="0">
                <a:latin typeface="Times New Roman" pitchFamily="18" charset="0"/>
                <a:cs typeface="Times New Roman" pitchFamily="18" charset="0"/>
              </a:rPr>
              <a:t>Each task listed in the maintenance schedule should have its own separate document(s) specifying the work to be done</a:t>
            </a:r>
          </a:p>
          <a:p>
            <a:pPr lvl="1"/>
            <a:r>
              <a:rPr lang="en-GB" sz="2200" dirty="0" smtClean="0">
                <a:latin typeface="Times New Roman" pitchFamily="18" charset="0"/>
                <a:cs typeface="Times New Roman" pitchFamily="18" charset="0"/>
              </a:rPr>
              <a:t>The most elementary form of job specification is a direct extract from the maintenance schedule</a:t>
            </a:r>
          </a:p>
          <a:p>
            <a:pPr lvl="2"/>
            <a:r>
              <a:rPr lang="en-GB" sz="1800" dirty="0" smtClean="0">
                <a:latin typeface="Times New Roman" pitchFamily="18" charset="0"/>
                <a:cs typeface="Times New Roman" pitchFamily="18" charset="0"/>
              </a:rPr>
              <a:t>E.g. withdraw and clean pistons, check that rings are free and the wear is within the recommended tolerance</a:t>
            </a:r>
          </a:p>
          <a:p>
            <a:pPr lvl="1"/>
            <a:r>
              <a:rPr lang="en-GB" sz="2200" dirty="0" smtClean="0">
                <a:latin typeface="Times New Roman" pitchFamily="18" charset="0"/>
                <a:cs typeface="Times New Roman" pitchFamily="18" charset="0"/>
              </a:rPr>
              <a:t>Information could also be obtained from the manufacturer’s manual</a:t>
            </a:r>
          </a:p>
          <a:p>
            <a:pPr lvl="1"/>
            <a:r>
              <a:rPr lang="en-GB" sz="2200" dirty="0" smtClean="0">
                <a:latin typeface="Times New Roman" pitchFamily="18" charset="0"/>
                <a:cs typeface="Times New Roman" pitchFamily="18" charset="0"/>
              </a:rPr>
              <a:t>Otherwise, one has to rely on previous experience, personal judgement, etc.</a:t>
            </a:r>
            <a:endParaRPr lang="en-GB" sz="2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8FCA9DE-F73C-4E5E-9A20-8ABA4E8BD027}"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66800"/>
          </a:xfrm>
        </p:spPr>
        <p:txBody>
          <a:bodyPr>
            <a:normAutofit/>
          </a:bodyPr>
          <a:lstStyle/>
          <a:p>
            <a:r>
              <a:rPr lang="en-GB" sz="3000" b="1" dirty="0" smtClean="0">
                <a:latin typeface="Times New Roman" pitchFamily="18" charset="0"/>
                <a:cs typeface="Times New Roman" pitchFamily="18" charset="0"/>
              </a:rPr>
              <a:t>BASIC MECHANICS OF PLANNED MAINTENANCE (contd.)</a:t>
            </a:r>
            <a:endParaRPr lang="en-GB" sz="3000" dirty="0">
              <a:latin typeface="Times New Roman" pitchFamily="18" charset="0"/>
              <a:cs typeface="Times New Roman" pitchFamily="18" charset="0"/>
            </a:endParaRPr>
          </a:p>
        </p:txBody>
      </p:sp>
      <p:sp>
        <p:nvSpPr>
          <p:cNvPr id="3" name="Content Placeholder 2"/>
          <p:cNvSpPr>
            <a:spLocks noGrp="1"/>
          </p:cNvSpPr>
          <p:nvPr>
            <p:ph idx="1"/>
          </p:nvPr>
        </p:nvSpPr>
        <p:spPr>
          <a:xfrm>
            <a:off x="152400" y="990600"/>
            <a:ext cx="8839200" cy="5410200"/>
          </a:xfrm>
        </p:spPr>
        <p:txBody>
          <a:bodyPr>
            <a:normAutofit lnSpcReduction="10000"/>
          </a:bodyPr>
          <a:lstStyle/>
          <a:p>
            <a:r>
              <a:rPr lang="en-GB" sz="2800" b="1" dirty="0" smtClean="0">
                <a:latin typeface="Times New Roman" pitchFamily="18" charset="0"/>
                <a:cs typeface="Times New Roman" pitchFamily="18" charset="0"/>
              </a:rPr>
              <a:t>Job specification (contd.)</a:t>
            </a:r>
          </a:p>
          <a:p>
            <a:pPr lvl="1"/>
            <a:r>
              <a:rPr lang="en-GB" sz="2400" dirty="0" smtClean="0">
                <a:latin typeface="Times New Roman" pitchFamily="18" charset="0"/>
                <a:cs typeface="Times New Roman" pitchFamily="18" charset="0"/>
              </a:rPr>
              <a:t>Job specification is done basically to ensure that:</a:t>
            </a:r>
          </a:p>
          <a:p>
            <a:pPr marL="914400" lvl="1" indent="-457200">
              <a:buFont typeface="+mj-lt"/>
              <a:buAutoNum type="arabicPeriod"/>
            </a:pPr>
            <a:r>
              <a:rPr lang="en-GB" sz="2200" dirty="0" smtClean="0">
                <a:latin typeface="Times New Roman" pitchFamily="18" charset="0"/>
                <a:cs typeface="Times New Roman" pitchFamily="18" charset="0"/>
              </a:rPr>
              <a:t>The task or job is carried out in the manner intended</a:t>
            </a:r>
          </a:p>
          <a:p>
            <a:pPr marL="914400" lvl="1" indent="-457200">
              <a:buFont typeface="+mj-lt"/>
              <a:buAutoNum type="arabicPeriod"/>
            </a:pPr>
            <a:r>
              <a:rPr lang="en-GB" sz="2200" dirty="0" smtClean="0">
                <a:latin typeface="Times New Roman" pitchFamily="18" charset="0"/>
                <a:cs typeface="Times New Roman" pitchFamily="18" charset="0"/>
              </a:rPr>
              <a:t>The possibility of omitting an operation is minimized</a:t>
            </a:r>
          </a:p>
          <a:p>
            <a:pPr marL="914400" lvl="1" indent="-457200">
              <a:buFont typeface="+mj-lt"/>
              <a:buAutoNum type="arabicPeriod"/>
            </a:pPr>
            <a:r>
              <a:rPr lang="en-GB" sz="2200" dirty="0" smtClean="0">
                <a:latin typeface="Times New Roman" pitchFamily="18" charset="0"/>
                <a:cs typeface="Times New Roman" pitchFamily="18" charset="0"/>
              </a:rPr>
              <a:t>Acceptable limits of wear, etc. and tolerances are clearly defined</a:t>
            </a:r>
          </a:p>
          <a:p>
            <a:pPr marL="914400" lvl="1" indent="-457200">
              <a:buFont typeface="+mj-lt"/>
              <a:buAutoNum type="arabicPeriod"/>
            </a:pPr>
            <a:r>
              <a:rPr lang="en-GB" sz="2200" dirty="0" smtClean="0">
                <a:latin typeface="Times New Roman" pitchFamily="18" charset="0"/>
                <a:cs typeface="Times New Roman" pitchFamily="18" charset="0"/>
              </a:rPr>
              <a:t>The tradesman or operator knows the work and how it is to be done</a:t>
            </a:r>
          </a:p>
          <a:p>
            <a:pPr marL="914400" lvl="1" indent="-457200">
              <a:buFont typeface="+mj-lt"/>
              <a:buAutoNum type="arabicPeriod"/>
            </a:pPr>
            <a:r>
              <a:rPr lang="en-GB" sz="2200" dirty="0" smtClean="0">
                <a:latin typeface="Times New Roman" pitchFamily="18" charset="0"/>
                <a:cs typeface="Times New Roman" pitchFamily="18" charset="0"/>
              </a:rPr>
              <a:t>The operation is always carried out in the same manner and the same allowances are always applied (standardization)</a:t>
            </a:r>
            <a:endParaRPr lang="en-GB" sz="1800" dirty="0" smtClean="0">
              <a:latin typeface="Times New Roman" pitchFamily="18" charset="0"/>
              <a:cs typeface="Times New Roman" pitchFamily="18" charset="0"/>
            </a:endParaRPr>
          </a:p>
          <a:p>
            <a:pPr marL="1314450" lvl="2" indent="-457200"/>
            <a:r>
              <a:rPr lang="en-GB" sz="1800" dirty="0" smtClean="0">
                <a:latin typeface="Times New Roman" pitchFamily="18" charset="0"/>
                <a:cs typeface="Times New Roman" pitchFamily="18" charset="0"/>
              </a:rPr>
              <a:t>Checking for wear, etc., is carried out in the same position and in the </a:t>
            </a:r>
            <a:r>
              <a:rPr lang="en-GB" sz="1800" smtClean="0">
                <a:latin typeface="Times New Roman" pitchFamily="18" charset="0"/>
                <a:cs typeface="Times New Roman" pitchFamily="18" charset="0"/>
              </a:rPr>
              <a:t>same way</a:t>
            </a:r>
          </a:p>
          <a:p>
            <a:pPr marL="1314450" lvl="2" indent="-457200"/>
            <a:r>
              <a:rPr lang="en-GB" sz="1800" smtClean="0">
                <a:latin typeface="Times New Roman" pitchFamily="18" charset="0"/>
                <a:cs typeface="Times New Roman" pitchFamily="18" charset="0"/>
              </a:rPr>
              <a:t>Results </a:t>
            </a:r>
            <a:r>
              <a:rPr lang="en-GB" sz="1800" dirty="0" smtClean="0">
                <a:latin typeface="Times New Roman" pitchFamily="18" charset="0"/>
                <a:cs typeface="Times New Roman" pitchFamily="18" charset="0"/>
              </a:rPr>
              <a:t>over the course of time are all comparable</a:t>
            </a:r>
          </a:p>
          <a:p>
            <a:pPr marL="914400" lvl="1" indent="-457200">
              <a:buFont typeface="+mj-lt"/>
              <a:buAutoNum type="arabicPeriod"/>
            </a:pPr>
            <a:r>
              <a:rPr lang="en-GB" sz="2200" dirty="0" smtClean="0">
                <a:latin typeface="Times New Roman" pitchFamily="18" charset="0"/>
                <a:cs typeface="Times New Roman" pitchFamily="18" charset="0"/>
              </a:rPr>
              <a:t>All persons doing the work, even for the first time, follow the same procedure (continuity)</a:t>
            </a:r>
          </a:p>
          <a:p>
            <a:pPr marL="914400" lvl="1" indent="-457200">
              <a:buFont typeface="+mj-lt"/>
              <a:buAutoNum type="arabicPeriod"/>
            </a:pPr>
            <a:r>
              <a:rPr lang="en-GB" sz="2200" dirty="0" smtClean="0">
                <a:latin typeface="Times New Roman" pitchFamily="18" charset="0"/>
                <a:cs typeface="Times New Roman" pitchFamily="18" charset="0"/>
              </a:rPr>
              <a:t>A reference standard is available with which the job and work content can be compared to detect any variation</a:t>
            </a:r>
          </a:p>
        </p:txBody>
      </p:sp>
      <p:sp>
        <p:nvSpPr>
          <p:cNvPr id="4" name="Date Placeholder 3"/>
          <p:cNvSpPr>
            <a:spLocks noGrp="1"/>
          </p:cNvSpPr>
          <p:nvPr>
            <p:ph type="dt" sz="half" idx="10"/>
          </p:nvPr>
        </p:nvSpPr>
        <p:spPr/>
        <p:txBody>
          <a:bodyPr/>
          <a:lstStyle/>
          <a:p>
            <a:fld id="{68FCA9DE-F73C-4E5E-9A20-8ABA4E8BD027}"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66800"/>
          </a:xfrm>
        </p:spPr>
        <p:txBody>
          <a:bodyPr>
            <a:normAutofit/>
          </a:bodyPr>
          <a:lstStyle/>
          <a:p>
            <a:r>
              <a:rPr lang="en-GB" sz="3000" b="1" dirty="0" smtClean="0">
                <a:latin typeface="Times New Roman" pitchFamily="18" charset="0"/>
                <a:cs typeface="Times New Roman" pitchFamily="18" charset="0"/>
              </a:rPr>
              <a:t>BASIC MECHANICS OF PLANNED MAINTENANCE (contd.)</a:t>
            </a:r>
            <a:endParaRPr lang="en-GB" sz="3000" dirty="0">
              <a:latin typeface="Times New Roman" pitchFamily="18" charset="0"/>
              <a:cs typeface="Times New Roman" pitchFamily="18" charset="0"/>
            </a:endParaRPr>
          </a:p>
        </p:txBody>
      </p:sp>
      <p:sp>
        <p:nvSpPr>
          <p:cNvPr id="3" name="Content Placeholder 2"/>
          <p:cNvSpPr>
            <a:spLocks noGrp="1"/>
          </p:cNvSpPr>
          <p:nvPr>
            <p:ph idx="1"/>
          </p:nvPr>
        </p:nvSpPr>
        <p:spPr>
          <a:xfrm>
            <a:off x="152400" y="990600"/>
            <a:ext cx="8839200" cy="5410200"/>
          </a:xfrm>
        </p:spPr>
        <p:txBody>
          <a:bodyPr>
            <a:normAutofit/>
          </a:bodyPr>
          <a:lstStyle/>
          <a:p>
            <a:r>
              <a:rPr lang="en-GB" sz="2800" b="1" dirty="0" smtClean="0">
                <a:latin typeface="Times New Roman" pitchFamily="18" charset="0"/>
                <a:cs typeface="Times New Roman" pitchFamily="18" charset="0"/>
              </a:rPr>
              <a:t>Job specification (contd.)</a:t>
            </a:r>
          </a:p>
          <a:p>
            <a:pPr lvl="1">
              <a:spcBef>
                <a:spcPts val="50"/>
              </a:spcBef>
            </a:pPr>
            <a:r>
              <a:rPr lang="en-GB" sz="2400" dirty="0" smtClean="0">
                <a:latin typeface="Times New Roman" pitchFamily="18" charset="0"/>
                <a:cs typeface="Times New Roman" pitchFamily="18" charset="0"/>
              </a:rPr>
              <a:t>What to include in a job specification:</a:t>
            </a:r>
          </a:p>
          <a:p>
            <a:pPr marL="914400" lvl="1" indent="-457200">
              <a:spcBef>
                <a:spcPts val="50"/>
              </a:spcBef>
              <a:buFont typeface="+mj-lt"/>
              <a:buAutoNum type="arabicPeriod"/>
            </a:pPr>
            <a:r>
              <a:rPr lang="en-GB" sz="2400" dirty="0" smtClean="0">
                <a:latin typeface="Times New Roman" pitchFamily="18" charset="0"/>
                <a:cs typeface="Times New Roman" pitchFamily="18" charset="0"/>
              </a:rPr>
              <a:t>The identification no. and name of the item of equipment</a:t>
            </a:r>
          </a:p>
          <a:p>
            <a:pPr marL="914400" lvl="1" indent="-457200">
              <a:buFont typeface="+mj-lt"/>
              <a:buAutoNum type="arabicPeriod"/>
            </a:pPr>
            <a:r>
              <a:rPr lang="en-GB" sz="2200" dirty="0" smtClean="0">
                <a:latin typeface="Times New Roman" pitchFamily="18" charset="0"/>
                <a:cs typeface="Times New Roman" pitchFamily="18" charset="0"/>
              </a:rPr>
              <a:t>The location of the item</a:t>
            </a:r>
          </a:p>
          <a:p>
            <a:pPr marL="914400" lvl="1" indent="-457200">
              <a:buFont typeface="+mj-lt"/>
              <a:buAutoNum type="arabicPeriod"/>
            </a:pPr>
            <a:r>
              <a:rPr lang="en-GB" sz="2200" dirty="0" smtClean="0">
                <a:latin typeface="Times New Roman" pitchFamily="18" charset="0"/>
                <a:cs typeface="Times New Roman" pitchFamily="18" charset="0"/>
              </a:rPr>
              <a:t>The maintenance schedule reference no. (and task reference) from which the task is extracted</a:t>
            </a:r>
          </a:p>
          <a:p>
            <a:pPr marL="914400" lvl="1" indent="-457200">
              <a:buFont typeface="+mj-lt"/>
              <a:buAutoNum type="arabicPeriod"/>
            </a:pPr>
            <a:r>
              <a:rPr lang="en-GB" sz="2200" dirty="0" smtClean="0">
                <a:latin typeface="Times New Roman" pitchFamily="18" charset="0"/>
                <a:cs typeface="Times New Roman" pitchFamily="18" charset="0"/>
              </a:rPr>
              <a:t>The job specification reference no.</a:t>
            </a:r>
            <a:endParaRPr lang="en-GB" sz="1800" dirty="0" smtClean="0">
              <a:latin typeface="Times New Roman" pitchFamily="18" charset="0"/>
              <a:cs typeface="Times New Roman" pitchFamily="18" charset="0"/>
            </a:endParaRPr>
          </a:p>
          <a:p>
            <a:pPr marL="1314450" lvl="2" indent="-457200"/>
            <a:r>
              <a:rPr lang="en-GB" sz="1800" dirty="0" smtClean="0">
                <a:latin typeface="Times New Roman" pitchFamily="18" charset="0"/>
                <a:cs typeface="Times New Roman" pitchFamily="18" charset="0"/>
              </a:rPr>
              <a:t>Each job specification must have its own reference no.</a:t>
            </a:r>
          </a:p>
          <a:p>
            <a:pPr marL="914400" lvl="1" indent="-457200">
              <a:buFont typeface="+mj-lt"/>
              <a:buAutoNum type="arabicPeriod"/>
            </a:pPr>
            <a:r>
              <a:rPr lang="en-GB" sz="2200" dirty="0" smtClean="0">
                <a:latin typeface="Times New Roman" pitchFamily="18" charset="0"/>
                <a:cs typeface="Times New Roman" pitchFamily="18" charset="0"/>
              </a:rPr>
              <a:t>The frequency at which that particular task must be carried out</a:t>
            </a:r>
          </a:p>
          <a:p>
            <a:pPr marL="914400" lvl="1" indent="-457200">
              <a:buFont typeface="+mj-lt"/>
              <a:buAutoNum type="arabicPeriod"/>
            </a:pPr>
            <a:r>
              <a:rPr lang="en-GB" sz="2200" dirty="0" smtClean="0">
                <a:latin typeface="Times New Roman" pitchFamily="18" charset="0"/>
                <a:cs typeface="Times New Roman" pitchFamily="18" charset="0"/>
              </a:rPr>
              <a:t>The trade or trades required to carry out each operation</a:t>
            </a:r>
          </a:p>
          <a:p>
            <a:pPr marL="914400" lvl="1" indent="-457200">
              <a:buFont typeface="+mj-lt"/>
              <a:buAutoNum type="arabicPeriod"/>
            </a:pPr>
            <a:r>
              <a:rPr lang="en-GB" sz="2200" dirty="0" smtClean="0">
                <a:latin typeface="Times New Roman" pitchFamily="18" charset="0"/>
                <a:cs typeface="Times New Roman" pitchFamily="18" charset="0"/>
              </a:rPr>
              <a:t>The specific details of the work to be done</a:t>
            </a:r>
          </a:p>
          <a:p>
            <a:pPr marL="1314450" lvl="2" indent="-457200"/>
            <a:r>
              <a:rPr lang="en-GB" sz="1800" dirty="0" smtClean="0">
                <a:latin typeface="Times New Roman" pitchFamily="18" charset="0"/>
                <a:cs typeface="Times New Roman" pitchFamily="18" charset="0"/>
              </a:rPr>
              <a:t>The particular method, details of inspections, tests, servicing, etc., allowable limits and tolerances</a:t>
            </a:r>
          </a:p>
          <a:p>
            <a:pPr marL="914400" lvl="1" indent="-457200">
              <a:buFont typeface="+mj-lt"/>
              <a:buAutoNum type="arabicPeriod"/>
            </a:pPr>
            <a:r>
              <a:rPr lang="en-GB" sz="2200" dirty="0" smtClean="0">
                <a:latin typeface="Times New Roman" pitchFamily="18" charset="0"/>
                <a:cs typeface="Times New Roman" pitchFamily="18" charset="0"/>
              </a:rPr>
              <a:t>Components to be replaced</a:t>
            </a:r>
          </a:p>
        </p:txBody>
      </p:sp>
      <p:sp>
        <p:nvSpPr>
          <p:cNvPr id="4" name="Date Placeholder 3"/>
          <p:cNvSpPr>
            <a:spLocks noGrp="1"/>
          </p:cNvSpPr>
          <p:nvPr>
            <p:ph type="dt" sz="half" idx="10"/>
          </p:nvPr>
        </p:nvSpPr>
        <p:spPr/>
        <p:txBody>
          <a:bodyPr/>
          <a:lstStyle/>
          <a:p>
            <a:fld id="{68FCA9DE-F73C-4E5E-9A20-8ABA4E8BD027}"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295400"/>
          </a:xfrm>
        </p:spPr>
        <p:txBody>
          <a:bodyPr>
            <a:normAutofit/>
          </a:bodyPr>
          <a:lstStyle/>
          <a:p>
            <a:r>
              <a:rPr lang="en-GB" sz="3200" b="1" dirty="0" smtClean="0">
                <a:latin typeface="Times New Roman" pitchFamily="18" charset="0"/>
                <a:cs typeface="Times New Roman" pitchFamily="18" charset="0"/>
              </a:rPr>
              <a:t>BASIC MECHANICS OF PLANNED MAINTENANCE (contd.)</a:t>
            </a:r>
            <a:endParaRPr lang="en-GB" sz="3200" dirty="0">
              <a:latin typeface="Times New Roman" pitchFamily="18" charset="0"/>
              <a:cs typeface="Times New Roman" pitchFamily="18" charset="0"/>
            </a:endParaRPr>
          </a:p>
        </p:txBody>
      </p:sp>
      <p:sp>
        <p:nvSpPr>
          <p:cNvPr id="3" name="Content Placeholder 2"/>
          <p:cNvSpPr>
            <a:spLocks noGrp="1"/>
          </p:cNvSpPr>
          <p:nvPr>
            <p:ph idx="1"/>
          </p:nvPr>
        </p:nvSpPr>
        <p:spPr>
          <a:xfrm>
            <a:off x="0" y="1371600"/>
            <a:ext cx="8991600" cy="5029200"/>
          </a:xfrm>
        </p:spPr>
        <p:txBody>
          <a:bodyPr>
            <a:normAutofit/>
          </a:bodyPr>
          <a:lstStyle/>
          <a:p>
            <a:r>
              <a:rPr lang="en-GB" sz="2800" b="1" dirty="0" smtClean="0">
                <a:latin typeface="Times New Roman" pitchFamily="18" charset="0"/>
                <a:cs typeface="Times New Roman" pitchFamily="18" charset="0"/>
              </a:rPr>
              <a:t>Job specification (contd.)</a:t>
            </a:r>
          </a:p>
          <a:p>
            <a:pPr lvl="1">
              <a:spcBef>
                <a:spcPts val="50"/>
              </a:spcBef>
            </a:pPr>
            <a:r>
              <a:rPr lang="en-GB" sz="2600" dirty="0" smtClean="0">
                <a:latin typeface="Times New Roman" pitchFamily="18" charset="0"/>
                <a:cs typeface="Times New Roman" pitchFamily="18" charset="0"/>
              </a:rPr>
              <a:t>What to include in a job specification (contd.):</a:t>
            </a:r>
          </a:p>
          <a:p>
            <a:pPr marL="914400" lvl="1" indent="-457200">
              <a:spcBef>
                <a:spcPts val="50"/>
              </a:spcBef>
              <a:buFont typeface="+mj-lt"/>
              <a:buAutoNum type="arabicPeriod" startAt="9"/>
            </a:pPr>
            <a:r>
              <a:rPr lang="en-GB" sz="2400" dirty="0" smtClean="0">
                <a:latin typeface="Times New Roman" pitchFamily="18" charset="0"/>
                <a:cs typeface="Times New Roman" pitchFamily="18" charset="0"/>
              </a:rPr>
              <a:t>Special tools and equipment to be used</a:t>
            </a:r>
          </a:p>
          <a:p>
            <a:pPr marL="914400" lvl="1" indent="-457200">
              <a:spcBef>
                <a:spcPts val="50"/>
              </a:spcBef>
              <a:buFont typeface="+mj-lt"/>
              <a:buAutoNum type="arabicPeriod" startAt="9"/>
            </a:pPr>
            <a:r>
              <a:rPr lang="en-GB" sz="2400" dirty="0" smtClean="0">
                <a:latin typeface="Times New Roman" pitchFamily="18" charset="0"/>
                <a:cs typeface="Times New Roman" pitchFamily="18" charset="0"/>
              </a:rPr>
              <a:t>Reference drawings, manuals, etc., applicable</a:t>
            </a:r>
          </a:p>
          <a:p>
            <a:pPr marL="914400" lvl="1" indent="-457200">
              <a:spcBef>
                <a:spcPts val="50"/>
              </a:spcBef>
              <a:buFont typeface="+mj-lt"/>
              <a:buAutoNum type="arabicPeriod" startAt="9"/>
            </a:pPr>
            <a:r>
              <a:rPr lang="en-GB" sz="2400" dirty="0" smtClean="0">
                <a:latin typeface="Times New Roman" pitchFamily="18" charset="0"/>
                <a:cs typeface="Times New Roman" pitchFamily="18" charset="0"/>
              </a:rPr>
              <a:t>Safety procedures to be followed</a:t>
            </a:r>
          </a:p>
          <a:p>
            <a:pPr marL="514350" indent="-457200">
              <a:spcBef>
                <a:spcPts val="50"/>
              </a:spcBef>
            </a:pPr>
            <a:r>
              <a:rPr lang="en-GB" sz="2600" dirty="0" smtClean="0">
                <a:latin typeface="Times New Roman" pitchFamily="18" charset="0"/>
                <a:cs typeface="Times New Roman" pitchFamily="18" charset="0"/>
              </a:rPr>
              <a:t>There should also be a footnote to the effect that:</a:t>
            </a:r>
          </a:p>
          <a:p>
            <a:pPr marL="914400" lvl="1" indent="-457200">
              <a:spcBef>
                <a:spcPts val="50"/>
              </a:spcBef>
            </a:pPr>
            <a:r>
              <a:rPr lang="en-GB" sz="2400" dirty="0" smtClean="0">
                <a:latin typeface="Times New Roman" pitchFamily="18" charset="0"/>
                <a:cs typeface="Times New Roman" pitchFamily="18" charset="0"/>
              </a:rPr>
              <a:t>Any minor defect observed in the course of the specified work but not listed for attention should, if possible, be </a:t>
            </a:r>
            <a:r>
              <a:rPr lang="en-GB" sz="2400" b="1" dirty="0" smtClean="0">
                <a:latin typeface="Times New Roman" pitchFamily="18" charset="0"/>
                <a:cs typeface="Times New Roman" pitchFamily="18" charset="0"/>
              </a:rPr>
              <a:t>corrected</a:t>
            </a:r>
            <a:r>
              <a:rPr lang="en-GB" sz="2400" dirty="0" smtClean="0">
                <a:latin typeface="Times New Roman" pitchFamily="18" charset="0"/>
                <a:cs typeface="Times New Roman" pitchFamily="18" charset="0"/>
              </a:rPr>
              <a:t> </a:t>
            </a:r>
            <a:r>
              <a:rPr lang="en-GB" sz="2400" b="1" dirty="0" smtClean="0">
                <a:latin typeface="Times New Roman" pitchFamily="18" charset="0"/>
                <a:cs typeface="Times New Roman" pitchFamily="18" charset="0"/>
              </a:rPr>
              <a:t>and reported</a:t>
            </a:r>
            <a:r>
              <a:rPr lang="en-GB" sz="2400" dirty="0" smtClean="0">
                <a:latin typeface="Times New Roman" pitchFamily="18" charset="0"/>
                <a:cs typeface="Times New Roman" pitchFamily="18" charset="0"/>
              </a:rPr>
              <a:t>. If it is not possible or convenient to correct the defect in the course of the specified work it should still be </a:t>
            </a:r>
            <a:r>
              <a:rPr lang="en-GB" sz="2400" b="1" dirty="0" smtClean="0">
                <a:latin typeface="Times New Roman" pitchFamily="18" charset="0"/>
                <a:cs typeface="Times New Roman" pitchFamily="18" charset="0"/>
              </a:rPr>
              <a:t>reported</a:t>
            </a:r>
            <a:r>
              <a:rPr lang="en-GB" sz="2400" dirty="0" smtClean="0">
                <a:latin typeface="Times New Roman" pitchFamily="18" charset="0"/>
                <a:cs typeface="Times New Roman" pitchFamily="18" charset="0"/>
              </a:rPr>
              <a:t>. If the defect is considered sufficiently serious it should be brought immediately to the attention of the authorities.</a:t>
            </a:r>
            <a:endParaRPr lang="en-GB" sz="2400" b="1"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8FCA9DE-F73C-4E5E-9A20-8ABA4E8BD027}"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Autofit/>
          </a:bodyPr>
          <a:lstStyle/>
          <a:p>
            <a:r>
              <a:rPr lang="en-GB" sz="3000" b="1" dirty="0" smtClean="0">
                <a:latin typeface="Times New Roman" pitchFamily="18" charset="0"/>
                <a:cs typeface="Times New Roman" pitchFamily="18" charset="0"/>
              </a:rPr>
              <a:t>BASIC MECHANICS OF PLANNED MAINTENANCE (contd.)</a:t>
            </a:r>
            <a:endParaRPr lang="en-GB" sz="3000" dirty="0">
              <a:latin typeface="Times New Roman" pitchFamily="18" charset="0"/>
              <a:cs typeface="Times New Roman" pitchFamily="18" charset="0"/>
            </a:endParaRPr>
          </a:p>
        </p:txBody>
      </p:sp>
      <p:sp>
        <p:nvSpPr>
          <p:cNvPr id="3" name="Content Placeholder 2"/>
          <p:cNvSpPr>
            <a:spLocks noGrp="1"/>
          </p:cNvSpPr>
          <p:nvPr>
            <p:ph idx="1"/>
          </p:nvPr>
        </p:nvSpPr>
        <p:spPr>
          <a:xfrm>
            <a:off x="0" y="990600"/>
            <a:ext cx="9144000" cy="5410200"/>
          </a:xfrm>
        </p:spPr>
        <p:txBody>
          <a:bodyPr>
            <a:normAutofit/>
          </a:bodyPr>
          <a:lstStyle/>
          <a:p>
            <a:r>
              <a:rPr lang="en-GB" sz="2600" b="1" dirty="0" smtClean="0">
                <a:latin typeface="Times New Roman" pitchFamily="18" charset="0"/>
                <a:cs typeface="Times New Roman" pitchFamily="18" charset="0"/>
              </a:rPr>
              <a:t>The maintenance programme</a:t>
            </a:r>
          </a:p>
          <a:p>
            <a:pPr lvl="1">
              <a:spcBef>
                <a:spcPts val="50"/>
              </a:spcBef>
            </a:pPr>
            <a:r>
              <a:rPr lang="en-GB" sz="2200" dirty="0" smtClean="0">
                <a:latin typeface="Times New Roman" pitchFamily="18" charset="0"/>
                <a:cs typeface="Times New Roman" pitchFamily="18" charset="0"/>
              </a:rPr>
              <a:t>A list allocating specific maintenance to a specific period</a:t>
            </a:r>
          </a:p>
          <a:p>
            <a:pPr lvl="2">
              <a:spcBef>
                <a:spcPts val="50"/>
              </a:spcBef>
            </a:pPr>
            <a:r>
              <a:rPr lang="en-GB" sz="2000" dirty="0" smtClean="0">
                <a:latin typeface="Times New Roman" pitchFamily="18" charset="0"/>
                <a:cs typeface="Times New Roman" pitchFamily="18" charset="0"/>
              </a:rPr>
              <a:t>Having established </a:t>
            </a:r>
            <a:r>
              <a:rPr lang="en-GB" sz="2000" b="1" i="1" dirty="0" smtClean="0">
                <a:latin typeface="Times New Roman" pitchFamily="18" charset="0"/>
                <a:cs typeface="Times New Roman" pitchFamily="18" charset="0"/>
              </a:rPr>
              <a:t>what</a:t>
            </a:r>
            <a:r>
              <a:rPr lang="en-GB" sz="2000" dirty="0" smtClean="0">
                <a:latin typeface="Times New Roman" pitchFamily="18" charset="0"/>
                <a:cs typeface="Times New Roman" pitchFamily="18" charset="0"/>
              </a:rPr>
              <a:t> is to be maintain, </a:t>
            </a:r>
            <a:r>
              <a:rPr lang="en-GB" sz="2000" b="1" i="1" dirty="0" smtClean="0">
                <a:latin typeface="Times New Roman" pitchFamily="18" charset="0"/>
                <a:cs typeface="Times New Roman" pitchFamily="18" charset="0"/>
              </a:rPr>
              <a:t>how</a:t>
            </a:r>
            <a:r>
              <a:rPr lang="en-GB" sz="2000" dirty="0" smtClean="0">
                <a:latin typeface="Times New Roman" pitchFamily="18" charset="0"/>
                <a:cs typeface="Times New Roman" pitchFamily="18" charset="0"/>
              </a:rPr>
              <a:t> it is to be maintained, it must now be determined </a:t>
            </a:r>
            <a:r>
              <a:rPr lang="en-GB" sz="2000" b="1" i="1" dirty="0" smtClean="0">
                <a:latin typeface="Times New Roman" pitchFamily="18" charset="0"/>
                <a:cs typeface="Times New Roman" pitchFamily="18" charset="0"/>
              </a:rPr>
              <a:t>when</a:t>
            </a:r>
            <a:r>
              <a:rPr lang="en-GB" sz="2000" dirty="0" smtClean="0">
                <a:latin typeface="Times New Roman" pitchFamily="18" charset="0"/>
                <a:cs typeface="Times New Roman" pitchFamily="18" charset="0"/>
              </a:rPr>
              <a:t> (or </a:t>
            </a:r>
            <a:r>
              <a:rPr lang="en-GB" sz="2000" b="1" i="1" dirty="0" smtClean="0">
                <a:latin typeface="Times New Roman" pitchFamily="18" charset="0"/>
                <a:cs typeface="Times New Roman" pitchFamily="18" charset="0"/>
              </a:rPr>
              <a:t>within what period</a:t>
            </a:r>
            <a:r>
              <a:rPr lang="en-GB" sz="2000" dirty="0" smtClean="0">
                <a:latin typeface="Times New Roman" pitchFamily="18" charset="0"/>
                <a:cs typeface="Times New Roman" pitchFamily="18" charset="0"/>
              </a:rPr>
              <a:t>) it is to be maintained</a:t>
            </a:r>
          </a:p>
          <a:p>
            <a:pPr lvl="1">
              <a:spcBef>
                <a:spcPts val="50"/>
              </a:spcBef>
            </a:pPr>
            <a:r>
              <a:rPr lang="en-GB" sz="2200" dirty="0" smtClean="0">
                <a:latin typeface="Times New Roman" pitchFamily="18" charset="0"/>
                <a:cs typeface="Times New Roman" pitchFamily="18" charset="0"/>
              </a:rPr>
              <a:t>The main purpose of the maintenance programme:</a:t>
            </a:r>
          </a:p>
          <a:p>
            <a:pPr marL="971550" lvl="1" indent="-514350">
              <a:spcBef>
                <a:spcPts val="50"/>
              </a:spcBef>
              <a:buFont typeface="+mj-lt"/>
              <a:buAutoNum type="arabicPeriod"/>
            </a:pPr>
            <a:r>
              <a:rPr lang="en-GB" sz="2200" dirty="0" smtClean="0">
                <a:latin typeface="Times New Roman" pitchFamily="18" charset="0"/>
                <a:cs typeface="Times New Roman" pitchFamily="18" charset="0"/>
              </a:rPr>
              <a:t>To set out a plan of work</a:t>
            </a:r>
          </a:p>
          <a:p>
            <a:pPr marL="1371600" lvl="2" indent="-514350">
              <a:spcBef>
                <a:spcPts val="50"/>
              </a:spcBef>
              <a:buFont typeface="+mj-lt"/>
              <a:buAutoNum type="alphaLcParenR"/>
            </a:pPr>
            <a:r>
              <a:rPr lang="en-GB" sz="2000" dirty="0" smtClean="0">
                <a:latin typeface="Times New Roman" pitchFamily="18" charset="0"/>
                <a:cs typeface="Times New Roman" pitchFamily="18" charset="0"/>
              </a:rPr>
              <a:t>To spread the maintenance work load evenly over the year</a:t>
            </a:r>
          </a:p>
          <a:p>
            <a:pPr marL="1371600" lvl="2" indent="-514350">
              <a:spcBef>
                <a:spcPts val="50"/>
              </a:spcBef>
              <a:buFont typeface="+mj-lt"/>
              <a:buAutoNum type="alphaLcParenR"/>
            </a:pPr>
            <a:r>
              <a:rPr lang="en-GB" sz="2000" dirty="0" smtClean="0">
                <a:latin typeface="Times New Roman" pitchFamily="18" charset="0"/>
                <a:cs typeface="Times New Roman" pitchFamily="18" charset="0"/>
              </a:rPr>
              <a:t>To ensure that no facility or maintenance task is omitted</a:t>
            </a:r>
          </a:p>
          <a:p>
            <a:pPr marL="1371600" lvl="2" indent="-514350">
              <a:spcBef>
                <a:spcPts val="50"/>
              </a:spcBef>
              <a:buFont typeface="+mj-lt"/>
              <a:buAutoNum type="alphaLcParenR"/>
            </a:pPr>
            <a:r>
              <a:rPr lang="en-GB" sz="2000" dirty="0" smtClean="0">
                <a:latin typeface="Times New Roman" pitchFamily="18" charset="0"/>
                <a:cs typeface="Times New Roman" pitchFamily="18" charset="0"/>
              </a:rPr>
              <a:t>To ensure that the required maintenance is carried out at the specified frequency</a:t>
            </a:r>
          </a:p>
          <a:p>
            <a:pPr marL="1371600" lvl="2" indent="-514350">
              <a:spcBef>
                <a:spcPts val="50"/>
              </a:spcBef>
              <a:buFont typeface="+mj-lt"/>
              <a:buAutoNum type="alphaLcParenR"/>
            </a:pPr>
            <a:r>
              <a:rPr lang="en-GB" sz="2000" dirty="0" smtClean="0">
                <a:latin typeface="Times New Roman" pitchFamily="18" charset="0"/>
                <a:cs typeface="Times New Roman" pitchFamily="18" charset="0"/>
              </a:rPr>
              <a:t>To co-ordinate the maintenance of associated facilities</a:t>
            </a:r>
          </a:p>
          <a:p>
            <a:pPr marL="1371600" lvl="2" indent="-514350">
              <a:spcBef>
                <a:spcPts val="50"/>
              </a:spcBef>
              <a:buFont typeface="+mj-lt"/>
              <a:buAutoNum type="alphaLcParenR"/>
            </a:pPr>
            <a:r>
              <a:rPr lang="en-GB" sz="2000" dirty="0" smtClean="0">
                <a:latin typeface="Times New Roman" pitchFamily="18" charset="0"/>
                <a:cs typeface="Times New Roman" pitchFamily="18" charset="0"/>
              </a:rPr>
              <a:t>To co-ordinate the maintenance with operational requirements</a:t>
            </a:r>
          </a:p>
          <a:p>
            <a:pPr marL="971550" lvl="1" indent="-514350">
              <a:spcBef>
                <a:spcPts val="50"/>
              </a:spcBef>
              <a:buFont typeface="+mj-lt"/>
              <a:buAutoNum type="arabicPeriod"/>
            </a:pPr>
            <a:r>
              <a:rPr lang="en-GB" sz="2200" dirty="0" smtClean="0">
                <a:latin typeface="Times New Roman" pitchFamily="18" charset="0"/>
                <a:cs typeface="Times New Roman" pitchFamily="18" charset="0"/>
              </a:rPr>
              <a:t>To present an overall picture of maintenance work, present and future commitments (on short and long term basis)</a:t>
            </a:r>
            <a:endParaRPr lang="en-GB" sz="1800" dirty="0" smtClean="0">
              <a:latin typeface="Times New Roman" pitchFamily="18" charset="0"/>
              <a:cs typeface="Times New Roman" pitchFamily="18" charset="0"/>
            </a:endParaRPr>
          </a:p>
          <a:p>
            <a:pPr marL="1371600" lvl="2" indent="-514350">
              <a:spcBef>
                <a:spcPts val="50"/>
              </a:spcBef>
            </a:pPr>
            <a:r>
              <a:rPr lang="en-GB" sz="1800" dirty="0" smtClean="0">
                <a:latin typeface="Times New Roman" pitchFamily="18" charset="0"/>
                <a:cs typeface="Times New Roman" pitchFamily="18" charset="0"/>
              </a:rPr>
              <a:t>To assist forward planning, ordering of spares, future labour requirements, basis for budgetary control</a:t>
            </a:r>
          </a:p>
        </p:txBody>
      </p:sp>
      <p:sp>
        <p:nvSpPr>
          <p:cNvPr id="4" name="Date Placeholder 3"/>
          <p:cNvSpPr>
            <a:spLocks noGrp="1"/>
          </p:cNvSpPr>
          <p:nvPr>
            <p:ph type="dt" sz="half" idx="10"/>
          </p:nvPr>
        </p:nvSpPr>
        <p:spPr/>
        <p:txBody>
          <a:bodyPr/>
          <a:lstStyle/>
          <a:p>
            <a:fld id="{68FCA9DE-F73C-4E5E-9A20-8ABA4E8BD027}"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Autofit/>
          </a:bodyPr>
          <a:lstStyle/>
          <a:p>
            <a:r>
              <a:rPr lang="en-GB" sz="3000" b="1" dirty="0" smtClean="0">
                <a:latin typeface="Times New Roman" pitchFamily="18" charset="0"/>
                <a:cs typeface="Times New Roman" pitchFamily="18" charset="0"/>
              </a:rPr>
              <a:t>BASIC MECHANICS OF PLANNED MAINTENANCE (contd.)</a:t>
            </a:r>
            <a:endParaRPr lang="en-GB" sz="3000" dirty="0">
              <a:latin typeface="Times New Roman" pitchFamily="18" charset="0"/>
              <a:cs typeface="Times New Roman" pitchFamily="18" charset="0"/>
            </a:endParaRPr>
          </a:p>
        </p:txBody>
      </p:sp>
      <p:sp>
        <p:nvSpPr>
          <p:cNvPr id="3" name="Content Placeholder 2"/>
          <p:cNvSpPr>
            <a:spLocks noGrp="1"/>
          </p:cNvSpPr>
          <p:nvPr>
            <p:ph idx="1"/>
          </p:nvPr>
        </p:nvSpPr>
        <p:spPr>
          <a:xfrm>
            <a:off x="0" y="990600"/>
            <a:ext cx="9144000" cy="5410200"/>
          </a:xfrm>
        </p:spPr>
        <p:txBody>
          <a:bodyPr>
            <a:normAutofit/>
          </a:bodyPr>
          <a:lstStyle/>
          <a:p>
            <a:r>
              <a:rPr lang="en-GB" sz="2600" b="1" dirty="0" smtClean="0">
                <a:latin typeface="Times New Roman" pitchFamily="18" charset="0"/>
                <a:cs typeface="Times New Roman" pitchFamily="18" charset="0"/>
              </a:rPr>
              <a:t>The maintenance programme (contd.)</a:t>
            </a:r>
          </a:p>
          <a:p>
            <a:pPr lvl="1">
              <a:spcBef>
                <a:spcPts val="50"/>
              </a:spcBef>
            </a:pPr>
            <a:r>
              <a:rPr lang="en-GB" sz="2200" dirty="0" smtClean="0">
                <a:latin typeface="Times New Roman" pitchFamily="18" charset="0"/>
                <a:cs typeface="Times New Roman" pitchFamily="18" charset="0"/>
              </a:rPr>
              <a:t>The main purpose of the maintenance programme (contd.):</a:t>
            </a:r>
          </a:p>
          <a:p>
            <a:pPr marL="749300" lvl="1" indent="-292100">
              <a:spcBef>
                <a:spcPts val="50"/>
              </a:spcBef>
              <a:buFont typeface="+mj-lt"/>
              <a:buAutoNum type="arabicPeriod" startAt="3"/>
            </a:pPr>
            <a:r>
              <a:rPr lang="en-GB" sz="2200" dirty="0" smtClean="0">
                <a:latin typeface="Times New Roman" pitchFamily="18" charset="0"/>
                <a:cs typeface="Times New Roman" pitchFamily="18" charset="0"/>
              </a:rPr>
              <a:t>To act as a reminder of future maintenance events (on a short term basis)</a:t>
            </a:r>
          </a:p>
          <a:p>
            <a:pPr marL="1371600" lvl="2" indent="-514350">
              <a:spcBef>
                <a:spcPts val="50"/>
              </a:spcBef>
              <a:buFont typeface="+mj-lt"/>
              <a:buAutoNum type="alphaLcParenR"/>
            </a:pPr>
            <a:r>
              <a:rPr lang="en-GB" sz="2000" dirty="0" smtClean="0">
                <a:latin typeface="Times New Roman" pitchFamily="18" charset="0"/>
                <a:cs typeface="Times New Roman" pitchFamily="18" charset="0"/>
              </a:rPr>
              <a:t>To formulate weekly work plans (for immediate future)</a:t>
            </a:r>
          </a:p>
          <a:p>
            <a:pPr marL="1371600" lvl="2" indent="-514350">
              <a:spcBef>
                <a:spcPts val="50"/>
              </a:spcBef>
              <a:buFont typeface="+mj-lt"/>
              <a:buAutoNum type="alphaLcParenR"/>
            </a:pPr>
            <a:r>
              <a:rPr lang="en-GB" sz="2000" dirty="0" smtClean="0">
                <a:latin typeface="Times New Roman" pitchFamily="18" charset="0"/>
                <a:cs typeface="Times New Roman" pitchFamily="18" charset="0"/>
              </a:rPr>
              <a:t>To arrange for availability of equipment for operation</a:t>
            </a:r>
          </a:p>
          <a:p>
            <a:pPr marL="1371600" lvl="2" indent="-514350">
              <a:spcBef>
                <a:spcPts val="50"/>
              </a:spcBef>
              <a:buFont typeface="+mj-lt"/>
              <a:buAutoNum type="alphaLcParenR"/>
            </a:pPr>
            <a:r>
              <a:rPr lang="en-GB" sz="2000" dirty="0" smtClean="0">
                <a:latin typeface="Times New Roman" pitchFamily="18" charset="0"/>
                <a:cs typeface="Times New Roman" pitchFamily="18" charset="0"/>
              </a:rPr>
              <a:t>To arrange or check availability of labour, spares, sub-contractors, etc.</a:t>
            </a:r>
          </a:p>
          <a:p>
            <a:pPr marL="630238" lvl="3" indent="-171450">
              <a:spcBef>
                <a:spcPts val="50"/>
              </a:spcBef>
            </a:pPr>
            <a:r>
              <a:rPr lang="en-GB" sz="2200" dirty="0" smtClean="0">
                <a:latin typeface="Times New Roman" pitchFamily="18" charset="0"/>
                <a:cs typeface="Times New Roman" pitchFamily="18" charset="0"/>
              </a:rPr>
              <a:t>The  maintenance programme has flexible time span, usually on an annual basis</a:t>
            </a:r>
          </a:p>
          <a:p>
            <a:pPr marL="630238" lvl="3" indent="-171450">
              <a:spcBef>
                <a:spcPts val="50"/>
              </a:spcBef>
            </a:pPr>
            <a:r>
              <a:rPr lang="en-GB" sz="2200" dirty="0" smtClean="0">
                <a:latin typeface="Times New Roman" pitchFamily="18" charset="0"/>
                <a:cs typeface="Times New Roman" pitchFamily="18" charset="0"/>
              </a:rPr>
              <a:t>The programme is normally prepared in consultation with the operators who are able to advise on schedules of operations</a:t>
            </a:r>
          </a:p>
          <a:p>
            <a:pPr marL="630238" lvl="3" indent="-171450">
              <a:spcBef>
                <a:spcPts val="50"/>
              </a:spcBef>
            </a:pPr>
            <a:r>
              <a:rPr lang="en-GB" sz="2200" dirty="0" smtClean="0">
                <a:latin typeface="Times New Roman" pitchFamily="18" charset="0"/>
                <a:cs typeface="Times New Roman" pitchFamily="18" charset="0"/>
              </a:rPr>
              <a:t>The programme must ensure that the planned downtime for the shut down maintenance is considerably less than the downtime previously experienced</a:t>
            </a:r>
          </a:p>
          <a:p>
            <a:pPr marL="630238" lvl="3" indent="-171450">
              <a:spcBef>
                <a:spcPts val="50"/>
              </a:spcBef>
            </a:pPr>
            <a:r>
              <a:rPr lang="en-GB" sz="2200" dirty="0" smtClean="0">
                <a:latin typeface="Times New Roman" pitchFamily="18" charset="0"/>
                <a:cs typeface="Times New Roman" pitchFamily="18" charset="0"/>
              </a:rPr>
              <a:t>A time allowance must be included for unexpected contingencies</a:t>
            </a:r>
          </a:p>
          <a:p>
            <a:pPr marL="630238" lvl="3" indent="-171450">
              <a:spcBef>
                <a:spcPts val="50"/>
              </a:spcBef>
            </a:pPr>
            <a:r>
              <a:rPr lang="en-GB" sz="2200" dirty="0" smtClean="0">
                <a:latin typeface="Times New Roman" pitchFamily="18" charset="0"/>
                <a:cs typeface="Times New Roman" pitchFamily="18" charset="0"/>
              </a:rPr>
              <a:t>The plan must also allow for quick modification</a:t>
            </a:r>
          </a:p>
          <a:p>
            <a:pPr marL="465138" lvl="1" indent="-7938">
              <a:spcBef>
                <a:spcPts val="50"/>
              </a:spcBef>
              <a:buNone/>
            </a:pPr>
            <a:endParaRPr lang="en-GB" sz="2200" dirty="0" smtClean="0">
              <a:latin typeface="Times New Roman" pitchFamily="18" charset="0"/>
              <a:cs typeface="Times New Roman" pitchFamily="18" charset="0"/>
            </a:endParaRPr>
          </a:p>
          <a:p>
            <a:pPr marL="971550" lvl="1" indent="-514350">
              <a:spcBef>
                <a:spcPts val="50"/>
              </a:spcBef>
              <a:buNone/>
            </a:pPr>
            <a:endParaRPr lang="en-GB" sz="2600" b="1"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8FCA9DE-F73C-4E5E-9A20-8ABA4E8BD027}"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Autofit/>
          </a:bodyPr>
          <a:lstStyle/>
          <a:p>
            <a:r>
              <a:rPr lang="en-GB" sz="3000" b="1" dirty="0" smtClean="0">
                <a:latin typeface="Times New Roman" pitchFamily="18" charset="0"/>
                <a:cs typeface="Times New Roman" pitchFamily="18" charset="0"/>
              </a:rPr>
              <a:t>BASIC MECHANICS OF PLANNED MAINTENANCE (contd.)</a:t>
            </a:r>
            <a:endParaRPr lang="en-GB" sz="3000" dirty="0">
              <a:latin typeface="Times New Roman" pitchFamily="18" charset="0"/>
              <a:cs typeface="Times New Roman" pitchFamily="18" charset="0"/>
            </a:endParaRPr>
          </a:p>
        </p:txBody>
      </p:sp>
      <p:sp>
        <p:nvSpPr>
          <p:cNvPr id="3" name="Content Placeholder 2"/>
          <p:cNvSpPr>
            <a:spLocks noGrp="1"/>
          </p:cNvSpPr>
          <p:nvPr>
            <p:ph idx="1"/>
          </p:nvPr>
        </p:nvSpPr>
        <p:spPr>
          <a:xfrm>
            <a:off x="0" y="990600"/>
            <a:ext cx="9144000" cy="5410200"/>
          </a:xfrm>
        </p:spPr>
        <p:txBody>
          <a:bodyPr>
            <a:normAutofit/>
          </a:bodyPr>
          <a:lstStyle/>
          <a:p>
            <a:r>
              <a:rPr lang="en-GB" sz="2800" b="1" dirty="0" smtClean="0">
                <a:latin typeface="Times New Roman" pitchFamily="18" charset="0"/>
                <a:cs typeface="Times New Roman" pitchFamily="18" charset="0"/>
              </a:rPr>
              <a:t>Planning Charts</a:t>
            </a:r>
          </a:p>
          <a:p>
            <a:pPr marL="407988" lvl="2"/>
            <a:r>
              <a:rPr lang="en-GB" sz="2600" dirty="0" smtClean="0">
                <a:latin typeface="Times New Roman" pitchFamily="18" charset="0"/>
                <a:cs typeface="Times New Roman" pitchFamily="18" charset="0"/>
              </a:rPr>
              <a:t>Chats with time scale, usually in days or weeks, marked along the top edge</a:t>
            </a:r>
          </a:p>
          <a:p>
            <a:pPr marL="407988" lvl="2"/>
            <a:r>
              <a:rPr lang="en-GB" sz="2600" dirty="0" smtClean="0">
                <a:latin typeface="Times New Roman" pitchFamily="18" charset="0"/>
                <a:cs typeface="Times New Roman" pitchFamily="18" charset="0"/>
              </a:rPr>
              <a:t>Depict the work in progress and future commitments</a:t>
            </a:r>
          </a:p>
          <a:p>
            <a:pPr marL="407988" lvl="2"/>
            <a:r>
              <a:rPr lang="en-GB" sz="2600" dirty="0" smtClean="0">
                <a:latin typeface="Times New Roman" pitchFamily="18" charset="0"/>
                <a:cs typeface="Times New Roman" pitchFamily="18" charset="0"/>
              </a:rPr>
              <a:t>Present various maintenance programmes with colour coded pins, pegs or crayons</a:t>
            </a:r>
          </a:p>
          <a:p>
            <a:pPr marL="407988" lvl="2"/>
            <a:r>
              <a:rPr lang="en-GB" sz="2600" dirty="0" smtClean="0">
                <a:latin typeface="Times New Roman" pitchFamily="18" charset="0"/>
                <a:cs typeface="Times New Roman" pitchFamily="18" charset="0"/>
              </a:rPr>
              <a:t>The required maintenance and maintenance intervals are entered in appropriate columns (with allowance for holiday periods)</a:t>
            </a:r>
          </a:p>
          <a:p>
            <a:pPr marL="407988" lvl="2"/>
            <a:r>
              <a:rPr lang="en-GB" sz="2600" dirty="0" smtClean="0">
                <a:latin typeface="Times New Roman" pitchFamily="18" charset="0"/>
                <a:cs typeface="Times New Roman" pitchFamily="18" charset="0"/>
              </a:rPr>
              <a:t>Ensure that</a:t>
            </a:r>
          </a:p>
          <a:p>
            <a:pPr marL="865188" lvl="3"/>
            <a:r>
              <a:rPr lang="en-GB" sz="2400" dirty="0" smtClean="0">
                <a:latin typeface="Times New Roman" pitchFamily="18" charset="0"/>
                <a:cs typeface="Times New Roman" pitchFamily="18" charset="0"/>
              </a:rPr>
              <a:t>Every operation falls within the specified time limit</a:t>
            </a:r>
          </a:p>
          <a:p>
            <a:pPr marL="865188" lvl="3"/>
            <a:r>
              <a:rPr lang="en-GB" sz="2400" dirty="0" smtClean="0">
                <a:latin typeface="Times New Roman" pitchFamily="18" charset="0"/>
                <a:cs typeface="Times New Roman" pitchFamily="18" charset="0"/>
              </a:rPr>
              <a:t>The periodic (e.g. weekly) maintenance load is as nearly constant as possible</a:t>
            </a:r>
          </a:p>
        </p:txBody>
      </p:sp>
      <p:sp>
        <p:nvSpPr>
          <p:cNvPr id="4" name="Date Placeholder 3"/>
          <p:cNvSpPr>
            <a:spLocks noGrp="1"/>
          </p:cNvSpPr>
          <p:nvPr>
            <p:ph type="dt" sz="half" idx="10"/>
          </p:nvPr>
        </p:nvSpPr>
        <p:spPr/>
        <p:txBody>
          <a:bodyPr/>
          <a:lstStyle/>
          <a:p>
            <a:fld id="{68FCA9DE-F73C-4E5E-9A20-8ABA4E8BD027}"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GB" dirty="0" smtClean="0">
                <a:latin typeface="Times New Roman" pitchFamily="18" charset="0"/>
                <a:cs typeface="Times New Roman" pitchFamily="18" charset="0"/>
              </a:rPr>
              <a:t>LEVELS OF MAINTENANCE</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a:xfrm>
            <a:off x="76200" y="1295400"/>
            <a:ext cx="8991600" cy="5029200"/>
          </a:xfrm>
        </p:spPr>
        <p:txBody>
          <a:bodyPr>
            <a:normAutofit/>
          </a:bodyPr>
          <a:lstStyle/>
          <a:p>
            <a:r>
              <a:rPr lang="en-GB" dirty="0" smtClean="0">
                <a:latin typeface="Times New Roman" pitchFamily="18" charset="0"/>
                <a:cs typeface="Times New Roman" pitchFamily="18" charset="0"/>
              </a:rPr>
              <a:t>Unit Maintenance:</a:t>
            </a:r>
          </a:p>
          <a:p>
            <a:pPr lvl="1"/>
            <a:r>
              <a:rPr lang="en-GB" dirty="0" smtClean="0">
                <a:latin typeface="Times New Roman" pitchFamily="18" charset="0"/>
                <a:cs typeface="Times New Roman" pitchFamily="18" charset="0"/>
              </a:rPr>
              <a:t>Maintenance which an organisation has responsibility to perform on its own equipment</a:t>
            </a:r>
            <a:endParaRPr lang="en-GB" dirty="0">
              <a:latin typeface="Times New Roman" pitchFamily="18" charset="0"/>
              <a:cs typeface="Times New Roman" pitchFamily="18" charset="0"/>
            </a:endParaRPr>
          </a:p>
          <a:p>
            <a:pPr lvl="1"/>
            <a:r>
              <a:rPr lang="en-GB" dirty="0" smtClean="0">
                <a:latin typeface="Times New Roman" pitchFamily="18" charset="0"/>
                <a:cs typeface="Times New Roman" pitchFamily="18" charset="0"/>
              </a:rPr>
              <a:t>Subdivided into</a:t>
            </a:r>
          </a:p>
          <a:p>
            <a:pPr lvl="2"/>
            <a:r>
              <a:rPr lang="en-GB" dirty="0" smtClean="0">
                <a:latin typeface="Times New Roman" pitchFamily="18" charset="0"/>
                <a:cs typeface="Times New Roman" pitchFamily="18" charset="0"/>
              </a:rPr>
              <a:t>First level (operator)</a:t>
            </a:r>
          </a:p>
          <a:p>
            <a:pPr lvl="2"/>
            <a:r>
              <a:rPr lang="en-GB" dirty="0" smtClean="0">
                <a:latin typeface="Times New Roman" pitchFamily="18" charset="0"/>
                <a:cs typeface="Times New Roman" pitchFamily="18" charset="0"/>
              </a:rPr>
              <a:t>Second level (trained maintenance personnel)</a:t>
            </a:r>
          </a:p>
          <a:p>
            <a:r>
              <a:rPr lang="en-GB" dirty="0" smtClean="0">
                <a:latin typeface="Times New Roman" pitchFamily="18" charset="0"/>
                <a:cs typeface="Times New Roman" pitchFamily="18" charset="0"/>
              </a:rPr>
              <a:t>Direct support</a:t>
            </a:r>
          </a:p>
          <a:p>
            <a:pPr lvl="1"/>
            <a:r>
              <a:rPr lang="en-GB" dirty="0" smtClean="0">
                <a:latin typeface="Times New Roman" pitchFamily="18" charset="0"/>
                <a:cs typeface="Times New Roman" pitchFamily="18" charset="0"/>
              </a:rPr>
              <a:t>Performed by Trained Mechanics and Artisans or Units (Departments) responsible for general maintenance</a:t>
            </a:r>
          </a:p>
          <a:p>
            <a:r>
              <a:rPr lang="en-GB" dirty="0" smtClean="0">
                <a:latin typeface="Times New Roman" pitchFamily="18" charset="0"/>
                <a:cs typeface="Times New Roman" pitchFamily="18" charset="0"/>
              </a:rPr>
              <a:t>“return to user basis”</a:t>
            </a:r>
          </a:p>
        </p:txBody>
      </p:sp>
      <p:sp>
        <p:nvSpPr>
          <p:cNvPr id="4" name="Date Placeholder 3"/>
          <p:cNvSpPr>
            <a:spLocks noGrp="1"/>
          </p:cNvSpPr>
          <p:nvPr>
            <p:ph type="dt" sz="half" idx="10"/>
          </p:nvPr>
        </p:nvSpPr>
        <p:spPr/>
        <p:txBody>
          <a:bodyPr/>
          <a:lstStyle/>
          <a:p>
            <a:fld id="{FFA54E46-EEA5-4565-B77F-E84C97647763}"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020762"/>
          </a:xfrm>
        </p:spPr>
        <p:txBody>
          <a:bodyPr>
            <a:normAutofit/>
          </a:bodyPr>
          <a:lstStyle/>
          <a:p>
            <a:r>
              <a:rPr lang="en-GB" sz="3800" dirty="0" smtClean="0">
                <a:latin typeface="Times New Roman" pitchFamily="18" charset="0"/>
                <a:cs typeface="Times New Roman" pitchFamily="18" charset="0"/>
              </a:rPr>
              <a:t>LEVELS OF MAINTENANCE (contd.)</a:t>
            </a:r>
            <a:endParaRPr lang="en-GB" sz="3800" dirty="0">
              <a:latin typeface="Times New Roman" pitchFamily="18" charset="0"/>
              <a:cs typeface="Times New Roman" pitchFamily="18" charset="0"/>
            </a:endParaRPr>
          </a:p>
        </p:txBody>
      </p:sp>
      <p:sp>
        <p:nvSpPr>
          <p:cNvPr id="3" name="Content Placeholder 2"/>
          <p:cNvSpPr>
            <a:spLocks noGrp="1"/>
          </p:cNvSpPr>
          <p:nvPr>
            <p:ph idx="1"/>
          </p:nvPr>
        </p:nvSpPr>
        <p:spPr>
          <a:xfrm>
            <a:off x="0" y="1143000"/>
            <a:ext cx="9144000" cy="5105400"/>
          </a:xfrm>
        </p:spPr>
        <p:txBody>
          <a:bodyPr>
            <a:normAutofit/>
          </a:bodyPr>
          <a:lstStyle/>
          <a:p>
            <a:r>
              <a:rPr lang="en-GB" dirty="0" smtClean="0">
                <a:latin typeface="Times New Roman" pitchFamily="18" charset="0"/>
                <a:cs typeface="Times New Roman" pitchFamily="18" charset="0"/>
              </a:rPr>
              <a:t>Technical assistance to unit maintenance elements</a:t>
            </a:r>
          </a:p>
          <a:p>
            <a:r>
              <a:rPr lang="en-GB" dirty="0" smtClean="0">
                <a:latin typeface="Times New Roman" pitchFamily="18" charset="0"/>
                <a:cs typeface="Times New Roman" pitchFamily="18" charset="0"/>
              </a:rPr>
              <a:t>Reparable exchange of serviceable items for unserviceable</a:t>
            </a:r>
          </a:p>
          <a:p>
            <a:r>
              <a:rPr lang="en-GB" dirty="0" smtClean="0">
                <a:latin typeface="Times New Roman" pitchFamily="18" charset="0"/>
                <a:cs typeface="Times New Roman" pitchFamily="18" charset="0"/>
              </a:rPr>
              <a:t>General support</a:t>
            </a:r>
          </a:p>
          <a:p>
            <a:pPr lvl="1"/>
            <a:r>
              <a:rPr lang="en-GB" dirty="0" smtClean="0">
                <a:latin typeface="Times New Roman" pitchFamily="18" charset="0"/>
                <a:cs typeface="Times New Roman" pitchFamily="18" charset="0"/>
              </a:rPr>
              <a:t>Maintenance support provided on an area basis</a:t>
            </a:r>
          </a:p>
          <a:p>
            <a:pPr lvl="1"/>
            <a:r>
              <a:rPr lang="en-GB" dirty="0" smtClean="0">
                <a:latin typeface="Times New Roman" pitchFamily="18" charset="0"/>
                <a:cs typeface="Times New Roman" pitchFamily="18" charset="0"/>
              </a:rPr>
              <a:t>Overhaul at this level</a:t>
            </a:r>
          </a:p>
          <a:p>
            <a:r>
              <a:rPr lang="en-GB" dirty="0" smtClean="0">
                <a:latin typeface="Times New Roman" pitchFamily="18" charset="0"/>
                <a:cs typeface="Times New Roman" pitchFamily="18" charset="0"/>
              </a:rPr>
              <a:t>Equipment repaired returned to supply system</a:t>
            </a:r>
          </a:p>
          <a:p>
            <a:r>
              <a:rPr lang="en-GB" dirty="0" smtClean="0">
                <a:latin typeface="Times New Roman" pitchFamily="18" charset="0"/>
                <a:cs typeface="Times New Roman" pitchFamily="18" charset="0"/>
              </a:rPr>
              <a:t>“return to user” beyond scope of local garage</a:t>
            </a:r>
          </a:p>
          <a:p>
            <a:r>
              <a:rPr lang="en-GB" dirty="0" smtClean="0">
                <a:latin typeface="Times New Roman" pitchFamily="18" charset="0"/>
                <a:cs typeface="Times New Roman" pitchFamily="18" charset="0"/>
              </a:rPr>
              <a:t>Repair part stocked for General Service maintenance</a:t>
            </a:r>
            <a:endParaRPr lang="en-GB"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A665B704-74FB-4BEA-912F-5E212A87DB19}" type="datetime1">
              <a:rPr lang="en-GB" smtClean="0"/>
              <a:pPr/>
              <a:t>31/03/2015</a:t>
            </a:fld>
            <a:endParaRPr lang="en-US"/>
          </a:p>
        </p:txBody>
      </p:sp>
      <p:sp>
        <p:nvSpPr>
          <p:cNvPr id="5" name="Footer Placeholder 4"/>
          <p:cNvSpPr>
            <a:spLocks noGrp="1"/>
          </p:cNvSpPr>
          <p:nvPr>
            <p:ph type="ftr" sz="quarter" idx="11"/>
          </p:nvPr>
        </p:nvSpPr>
        <p:spPr/>
        <p:txBody>
          <a:bodyPr/>
          <a:lstStyle/>
          <a:p>
            <a:r>
              <a:rPr lang="en-US" smtClean="0"/>
              <a:t>J. K. Afriyie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2799</TotalTime>
  <Words>4821</Words>
  <Application>Microsoft Office PowerPoint</Application>
  <PresentationFormat>On-screen Show (4:3)</PresentationFormat>
  <Paragraphs>613</Paragraphs>
  <Slides>54</Slides>
  <Notes>0</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Office Theme</vt:lpstr>
      <vt:lpstr>AE 460 MAINTENANCE AND REPAIRS</vt:lpstr>
      <vt:lpstr>COURSE OUTLINE</vt:lpstr>
      <vt:lpstr>ADDITIONAL TOPICS</vt:lpstr>
      <vt:lpstr>REFERENCES</vt:lpstr>
      <vt:lpstr>GENERAL INTRODUCTION</vt:lpstr>
      <vt:lpstr>GENERAL INTRODUCTION (contd.)</vt:lpstr>
      <vt:lpstr>GENERAL INTRODUCTION (contd.)</vt:lpstr>
      <vt:lpstr>MAINTENANCE</vt:lpstr>
      <vt:lpstr>MAINTENANCE (contd.)</vt:lpstr>
      <vt:lpstr>MAINTENANCE (contd.)</vt:lpstr>
      <vt:lpstr>PRINCIPLES OF MAINTENANCE</vt:lpstr>
      <vt:lpstr>ANNUAL MAINTENANCE (AM)</vt:lpstr>
      <vt:lpstr>PREVENTIVE MAINTENANCE (PM)</vt:lpstr>
      <vt:lpstr>DEFERRED MAINTENANCE</vt:lpstr>
      <vt:lpstr>OPERATIONS &amp; MAINTENANCE (O &amp; M)</vt:lpstr>
      <vt:lpstr>O &amp; M (contd.)</vt:lpstr>
      <vt:lpstr>FORMS OF MAINTENANCE</vt:lpstr>
      <vt:lpstr>FORMS OF MAINTENANCE (contd.)</vt:lpstr>
      <vt:lpstr>FORMS OF MAINTENANCE (contd.)</vt:lpstr>
      <vt:lpstr>FORMS OF MAINTENANCE (contd.)</vt:lpstr>
      <vt:lpstr>PLANNING AND ORGANISING  MAINTENANCE &amp; REPAIR</vt:lpstr>
      <vt:lpstr>PLANNING AND ORGANISING THE MAINTENANCE &amp; RAPAIR (contd.)</vt:lpstr>
      <vt:lpstr>PLANNING AND ORGANISING THE MAINTENANCE &amp; RAPAIR (contd.)</vt:lpstr>
      <vt:lpstr>PLANNING AND ORGANISING THE MAINTENANCE &amp; RAPAIR (contd.)</vt:lpstr>
      <vt:lpstr>PLANNING AND ORGANISING THE MAINTENANCE &amp; RAPAIR (contd.)</vt:lpstr>
      <vt:lpstr>PLANNING AND ORGANISING THE MAINTENANCE &amp; RAPAIR (contd.)</vt:lpstr>
      <vt:lpstr>BENEFITS OF PLANNED MAINTENANCE</vt:lpstr>
      <vt:lpstr>BENEFITS OF PLANNED MAINTENANCE (contd.)</vt:lpstr>
      <vt:lpstr>BENEFITS OF PLANNED MAINTENANCE (contd.)</vt:lpstr>
      <vt:lpstr>BENEFITS OF PLANNED MAINTENANCE (contd.)</vt:lpstr>
      <vt:lpstr>BASIC MECHANICS OF PLANNED MAINTENANCE</vt:lpstr>
      <vt:lpstr>BASIC MECHANICS OF PLANNED MAINTENANCE (contd.)</vt:lpstr>
      <vt:lpstr>BASIC MECHANICS OF PLANNED MAINTENANCE (contd.)</vt:lpstr>
      <vt:lpstr>BASIC MECHANICS OF PLANNED MAINTENANCE (contd.)</vt:lpstr>
      <vt:lpstr>BASIC MECHANICS OF PLANNED MAINTENANCE (contd.)</vt:lpstr>
      <vt:lpstr>BASIC MECHANICS OF PLANNED MAINTENANCE (contd.)</vt:lpstr>
      <vt:lpstr>BASIC MECHANICS OF PLANNED MAINTENANCE (contd.)</vt:lpstr>
      <vt:lpstr>BASIC MECHANICS OF PLANNED MAINTENANCE (contd.)</vt:lpstr>
      <vt:lpstr>BASIC MECHANICS OF PLANNED MAINTENANCE (contd.)</vt:lpstr>
      <vt:lpstr>BASIC MECHANICS OF PLANNED MAINTENANCE (contd.)</vt:lpstr>
      <vt:lpstr>BASIC MECHANICS OF PLANNED MAINTENANCE (contd.)</vt:lpstr>
      <vt:lpstr>BASIC MECHANICS OF PLANNED MAINTENANCE (contd.)</vt:lpstr>
      <vt:lpstr>BASIC MECHANICS OF PLANNED MAINTENANCE (contd.)</vt:lpstr>
      <vt:lpstr>BASIC MECHANICS OF PLANNED MAINTENANCE (contd.)</vt:lpstr>
      <vt:lpstr>BASIC MECHANICS OF PLANNED MAINTENANCE (contd.)</vt:lpstr>
      <vt:lpstr>BASIC MECHANICS OF PLANNED MAINTENANCE (contd.)</vt:lpstr>
      <vt:lpstr>BASIC MECHANICS OF PLANNED MAINTENANCE (contd.)</vt:lpstr>
      <vt:lpstr>BASIC MECHANICS OF PLANNED MAINTENANCE (contd.)</vt:lpstr>
      <vt:lpstr>BASIC MECHANICS OF PLANNED MAINTENANCE (contd.)</vt:lpstr>
      <vt:lpstr>BASIC MECHANICS OF PLANNED MAINTENANCE (contd.)</vt:lpstr>
      <vt:lpstr>BASIC MECHANICS OF PLANNED MAINTENANCE (contd.)</vt:lpstr>
      <vt:lpstr>BASIC MECHANICS OF PLANNED MAINTENANCE (contd.)</vt:lpstr>
      <vt:lpstr>LEVELS OF MAINTENANCE</vt:lpstr>
      <vt:lpstr>LEVELS OF MAINTENANCE (contd.)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 460 MAINTENANCE AND REPAIRS</dc:title>
  <dc:creator>John, Afriyie</dc:creator>
  <cp:lastModifiedBy>Gabriel</cp:lastModifiedBy>
  <cp:revision>175</cp:revision>
  <dcterms:created xsi:type="dcterms:W3CDTF">2006-08-16T00:00:00Z</dcterms:created>
  <dcterms:modified xsi:type="dcterms:W3CDTF">2015-03-31T04:33:00Z</dcterms:modified>
</cp:coreProperties>
</file>