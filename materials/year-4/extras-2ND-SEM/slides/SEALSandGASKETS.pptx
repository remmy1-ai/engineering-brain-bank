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65" r:id="rId4"/>
    <p:sldId id="259" r:id="rId5"/>
    <p:sldId id="261" r:id="rId6"/>
    <p:sldId id="262" r:id="rId7"/>
    <p:sldId id="263" r:id="rId8"/>
    <p:sldId id="264" r:id="rId9"/>
    <p:sldId id="260"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8" d="100"/>
          <a:sy n="38" d="100"/>
        </p:scale>
        <p:origin x="64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52F6A-B83F-47B4-9557-B0DE167E8B70}" type="datetimeFigureOut">
              <a:rPr lang="en-US" smtClean="0"/>
              <a:t>10-Apr-2017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060F3-9864-4ABC-B883-25D5923BEC45}" type="slidenum">
              <a:rPr lang="en-US" smtClean="0"/>
              <a:t>‹#›</a:t>
            </a:fld>
            <a:endParaRPr lang="en-US"/>
          </a:p>
        </p:txBody>
      </p:sp>
    </p:spTree>
    <p:extLst>
      <p:ext uri="{BB962C8B-B14F-4D97-AF65-F5344CB8AC3E}">
        <p14:creationId xmlns:p14="http://schemas.microsoft.com/office/powerpoint/2010/main" val="55424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scc</a:t>
            </a:r>
            <a:r>
              <a:rPr lang="en-US" dirty="0" smtClean="0"/>
              <a:t>/sec</a:t>
            </a:r>
            <a:r>
              <a:rPr lang="en-US" baseline="0" dirty="0" smtClean="0"/>
              <a:t> reads as standard cubic centimeter per second</a:t>
            </a:r>
          </a:p>
          <a:p>
            <a:r>
              <a:rPr lang="en-US" baseline="0" dirty="0" smtClean="0"/>
              <a:t>Leak rate value is 1 mbar l/s if in a vacuum –reservoir with a volume of 1 </a:t>
            </a:r>
            <a:r>
              <a:rPr lang="en-US" baseline="0" dirty="0" err="1" smtClean="0"/>
              <a:t>litre</a:t>
            </a:r>
            <a:r>
              <a:rPr lang="en-US" baseline="0" dirty="0" smtClean="0"/>
              <a:t> the pressure rises or drops in 1 second about 1 mbar.</a:t>
            </a:r>
            <a:endParaRPr lang="en-US" dirty="0"/>
          </a:p>
        </p:txBody>
      </p:sp>
      <p:sp>
        <p:nvSpPr>
          <p:cNvPr id="4" name="Slide Number Placeholder 3"/>
          <p:cNvSpPr>
            <a:spLocks noGrp="1"/>
          </p:cNvSpPr>
          <p:nvPr>
            <p:ph type="sldNum" sz="quarter" idx="10"/>
          </p:nvPr>
        </p:nvSpPr>
        <p:spPr/>
        <p:txBody>
          <a:bodyPr/>
          <a:lstStyle/>
          <a:p>
            <a:fld id="{4A4060F3-9864-4ABC-B883-25D5923BEC45}" type="slidenum">
              <a:rPr lang="en-US" smtClean="0"/>
              <a:t>4</a:t>
            </a:fld>
            <a:endParaRPr lang="en-US"/>
          </a:p>
        </p:txBody>
      </p:sp>
    </p:spTree>
    <p:extLst>
      <p:ext uri="{BB962C8B-B14F-4D97-AF65-F5344CB8AC3E}">
        <p14:creationId xmlns:p14="http://schemas.microsoft.com/office/powerpoint/2010/main" val="470146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F3F380-FCFB-4788-83F0-AC5862F37F2B}" type="datetimeFigureOut">
              <a:rPr lang="en-US" smtClean="0"/>
              <a:pPr/>
              <a:t>10-Apr-2017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41C3A-B332-4AC6-8202-2B96E0AB53B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F3F380-FCFB-4788-83F0-AC5862F37F2B}" type="datetimeFigureOut">
              <a:rPr lang="en-US" smtClean="0"/>
              <a:pPr/>
              <a:t>10-Apr-2017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D41C3A-B332-4AC6-8202-2B96E0AB53B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SEALS and GASKETS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304800"/>
            <a:ext cx="7620000" cy="2000548"/>
          </a:xfrm>
          <a:prstGeom prst="rect">
            <a:avLst/>
          </a:prstGeom>
          <a:noFill/>
        </p:spPr>
        <p:txBody>
          <a:bodyPr wrap="square" rtlCol="0">
            <a:spAutoFit/>
          </a:bodyPr>
          <a:lstStyle/>
          <a:p>
            <a:r>
              <a:rPr lang="en-US" sz="2800" dirty="0" smtClean="0"/>
              <a:t>SEALS</a:t>
            </a:r>
            <a:r>
              <a:rPr lang="en-US" dirty="0" smtClean="0"/>
              <a:t/>
            </a:r>
            <a:br>
              <a:rPr lang="en-US" dirty="0" smtClean="0"/>
            </a:br>
            <a:r>
              <a:rPr lang="en-US" sz="2400" dirty="0" smtClean="0"/>
              <a:t>A seal is a device or substance used to join two things together so as to prevent them coming apart or to prevent anything passing between them. Seals are used for both STATIC and DYNAMIC applications.</a:t>
            </a:r>
            <a:endParaRPr lang="en-US" sz="2400" dirty="0"/>
          </a:p>
        </p:txBody>
      </p:sp>
      <p:pic>
        <p:nvPicPr>
          <p:cNvPr id="5" name="Picture 3"/>
          <p:cNvPicPr>
            <a:picLocks noChangeAspect="1" noChangeArrowheads="1"/>
          </p:cNvPicPr>
          <p:nvPr/>
        </p:nvPicPr>
        <p:blipFill>
          <a:blip r:embed="rId2"/>
          <a:srcRect/>
          <a:stretch>
            <a:fillRect/>
          </a:stretch>
        </p:blipFill>
        <p:spPr bwMode="auto">
          <a:xfrm>
            <a:off x="1219200" y="3429000"/>
            <a:ext cx="5791200"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7620000" cy="4678204"/>
          </a:xfrm>
          <a:prstGeom prst="rect">
            <a:avLst/>
          </a:prstGeom>
          <a:noFill/>
        </p:spPr>
        <p:txBody>
          <a:bodyPr wrap="square" rtlCol="0">
            <a:spAutoFit/>
          </a:bodyPr>
          <a:lstStyle/>
          <a:p>
            <a:r>
              <a:rPr lang="en-US" sz="2800" dirty="0" smtClean="0"/>
              <a:t>SEALS</a:t>
            </a:r>
            <a:r>
              <a:rPr lang="en-US" dirty="0" smtClean="0"/>
              <a:t/>
            </a:r>
            <a:br>
              <a:rPr lang="en-US" dirty="0" smtClean="0"/>
            </a:br>
            <a:r>
              <a:rPr lang="en-US" dirty="0" smtClean="0"/>
              <a:t>Machines such as pumps, mixers, compressors, turbines, agitators, and components as hydraulic and pneumatics cylinders, valves, </a:t>
            </a:r>
            <a:r>
              <a:rPr lang="en-US" dirty="0" err="1" smtClean="0"/>
              <a:t>etc</a:t>
            </a:r>
            <a:r>
              <a:rPr lang="en-US" dirty="0" smtClean="0"/>
              <a:t> are constantly being challenged in separating zones. This zone separation is greatly achieved with the aid of mechanical seals and gaskets. The design of these seals have had some success but the industry continues to face some challenges.</a:t>
            </a:r>
          </a:p>
          <a:p>
            <a:r>
              <a:rPr lang="en-US" dirty="0" smtClean="0"/>
              <a:t>All seals leak to some extent and a seal is said to be failed if </a:t>
            </a:r>
            <a:r>
              <a:rPr lang="en-US" b="1" u="sng" dirty="0" smtClean="0"/>
              <a:t>it leaks excessively for that very application.</a:t>
            </a:r>
          </a:p>
          <a:p>
            <a:r>
              <a:rPr lang="en-US" dirty="0" smtClean="0"/>
              <a:t>Measuring Leakage:</a:t>
            </a:r>
          </a:p>
          <a:p>
            <a:r>
              <a:rPr lang="en-US" dirty="0" smtClean="0"/>
              <a:t>It is fluid that leaks and therefore the measurement must track liquid and gas. In measuring </a:t>
            </a:r>
            <a:r>
              <a:rPr lang="en-US" dirty="0" smtClean="0"/>
              <a:t>liquids, </a:t>
            </a:r>
            <a:r>
              <a:rPr lang="en-US" dirty="0" err="1" smtClean="0"/>
              <a:t>litres</a:t>
            </a:r>
            <a:r>
              <a:rPr lang="en-US" dirty="0" smtClean="0"/>
              <a:t> per hour is used, but in this case since very small quantity leaks the units will be milliliters per hour (ml/</a:t>
            </a:r>
            <a:r>
              <a:rPr lang="en-US" dirty="0" err="1" smtClean="0"/>
              <a:t>hr</a:t>
            </a:r>
            <a:r>
              <a:rPr lang="en-US" dirty="0" smtClean="0"/>
              <a:t>) and the gas (volatile organic compounds) be expressed in concentration as particles per million (ppm).</a:t>
            </a:r>
          </a:p>
          <a:p>
            <a:r>
              <a:rPr lang="en-US" dirty="0" smtClean="0"/>
              <a:t>As a rule of </a:t>
            </a:r>
            <a:r>
              <a:rPr lang="en-US" dirty="0" smtClean="0"/>
              <a:t>thumb, </a:t>
            </a:r>
            <a:r>
              <a:rPr lang="en-US" dirty="0" smtClean="0"/>
              <a:t>an emission rate of 100 ppm is equal to a mass leakage rate of 5.6 g/</a:t>
            </a:r>
            <a:r>
              <a:rPr lang="en-US" dirty="0" err="1" smtClean="0"/>
              <a:t>hr</a:t>
            </a:r>
            <a:r>
              <a:rPr lang="en-US" dirty="0" smtClean="0"/>
              <a:t> or a </a:t>
            </a:r>
            <a:r>
              <a:rPr lang="en-US" dirty="0" smtClean="0"/>
              <a:t>milliliter </a:t>
            </a:r>
            <a:r>
              <a:rPr lang="en-US" dirty="0" smtClean="0"/>
              <a:t>of liquid contains about 20 drops </a:t>
            </a:r>
          </a:p>
        </p:txBody>
      </p:sp>
    </p:spTree>
    <p:extLst>
      <p:ext uri="{BB962C8B-B14F-4D97-AF65-F5344CB8AC3E}">
        <p14:creationId xmlns:p14="http://schemas.microsoft.com/office/powerpoint/2010/main" val="4294515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7620000" cy="6432530"/>
          </a:xfrm>
          <a:prstGeom prst="rect">
            <a:avLst/>
          </a:prstGeom>
          <a:noFill/>
        </p:spPr>
        <p:txBody>
          <a:bodyPr wrap="square" rtlCol="0">
            <a:spAutoFit/>
          </a:bodyPr>
          <a:lstStyle/>
          <a:p>
            <a:r>
              <a:rPr lang="en-US" sz="2800" dirty="0" smtClean="0"/>
              <a:t>SEALS</a:t>
            </a:r>
            <a:r>
              <a:rPr lang="en-US" dirty="0" smtClean="0"/>
              <a:t/>
            </a:r>
            <a:br>
              <a:rPr lang="en-US" dirty="0" smtClean="0"/>
            </a:br>
            <a:r>
              <a:rPr lang="en-US" sz="2400" dirty="0" smtClean="0"/>
              <a:t>Static seals such as gaskets, bolt seals, back-up rings and sealants are used to stop leakage through a mechanical joint when there is no relative motion of mating surfaces. In a truly static seal, the mating grand parts are not subject to relative movement except for thermal expansion and movement from application of fluid pressure, </a:t>
            </a:r>
            <a:r>
              <a:rPr lang="en-US" sz="2400" dirty="0" err="1" smtClean="0"/>
              <a:t>ie</a:t>
            </a:r>
            <a:r>
              <a:rPr lang="en-US" sz="2400" dirty="0" smtClean="0"/>
              <a:t> they permit up to 10 – 11 </a:t>
            </a:r>
            <a:r>
              <a:rPr lang="en-US" sz="2400" dirty="0" err="1" smtClean="0"/>
              <a:t>scc</a:t>
            </a:r>
            <a:r>
              <a:rPr lang="en-US" sz="2400" dirty="0" smtClean="0"/>
              <a:t>/sec helium. Truly static seals are designed to provide a complete barrier to a potential leakage path. These seals are ZERO leakage seals. Some design of static seals, </a:t>
            </a:r>
            <a:r>
              <a:rPr lang="en-US" sz="2400" b="1" u="sng" dirty="0" smtClean="0"/>
              <a:t>semi-static seals</a:t>
            </a:r>
            <a:r>
              <a:rPr lang="en-US" sz="2400" dirty="0" smtClean="0"/>
              <a:t>, can accommodate limited movement of the surfaces being sealed due to changes in pressure, vibration or thermal cycling such as an expansion joint</a:t>
            </a:r>
            <a:r>
              <a:rPr lang="en-US" sz="2400" dirty="0" smtClean="0"/>
              <a:t>. Fluid with low viscosity have a higher probability of leaking or flowing at a higher rate. This is so because resistance of a fluid flow at a given temperature is viscosity.</a:t>
            </a:r>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7620000" cy="1723549"/>
          </a:xfrm>
          <a:prstGeom prst="rect">
            <a:avLst/>
          </a:prstGeom>
          <a:noFill/>
        </p:spPr>
        <p:txBody>
          <a:bodyPr wrap="square" rtlCol="0">
            <a:spAutoFit/>
          </a:bodyPr>
          <a:lstStyle/>
          <a:p>
            <a:r>
              <a:rPr lang="en-US" sz="2800" dirty="0" smtClean="0"/>
              <a:t>SEALS</a:t>
            </a:r>
          </a:p>
          <a:p>
            <a:r>
              <a:rPr lang="en-US" dirty="0" smtClean="0"/>
              <a:t>A dynamic seal is a mechanical device used to control leakage of fluid from one</a:t>
            </a:r>
          </a:p>
          <a:p>
            <a:r>
              <a:rPr lang="en-US" dirty="0" smtClean="0"/>
              <a:t>region to another when there is rotating, oscillating or reciprocating motion between the sealing interfaces. </a:t>
            </a:r>
            <a:br>
              <a:rPr lang="en-US" dirty="0" smtClean="0"/>
            </a:b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76200"/>
            <a:ext cx="7620000" cy="6617196"/>
          </a:xfrm>
          <a:prstGeom prst="rect">
            <a:avLst/>
          </a:prstGeom>
          <a:noFill/>
        </p:spPr>
        <p:txBody>
          <a:bodyPr wrap="square" rtlCol="0">
            <a:spAutoFit/>
          </a:bodyPr>
          <a:lstStyle/>
          <a:p>
            <a:r>
              <a:rPr lang="en-US" sz="4000" u="sng" dirty="0" smtClean="0"/>
              <a:t>Failure</a:t>
            </a:r>
          </a:p>
          <a:p>
            <a:r>
              <a:rPr lang="en-US" sz="2400" dirty="0" smtClean="0"/>
              <a:t>A review of failure rate data suggests the following characteristics be included in the failure rate model for gaskets and seals:</a:t>
            </a:r>
          </a:p>
          <a:p>
            <a:r>
              <a:rPr lang="en-US" sz="2400" dirty="0" smtClean="0"/>
              <a:t>- Material characteristics</a:t>
            </a:r>
          </a:p>
          <a:p>
            <a:r>
              <a:rPr lang="en-US" sz="2400" dirty="0" smtClean="0"/>
              <a:t>- Amount of seal compression</a:t>
            </a:r>
          </a:p>
          <a:p>
            <a:r>
              <a:rPr lang="en-US" sz="2400" dirty="0" smtClean="0"/>
              <a:t>- Surface irregularities</a:t>
            </a:r>
          </a:p>
          <a:p>
            <a:pPr>
              <a:buFontTx/>
              <a:buChar char="-"/>
            </a:pPr>
            <a:r>
              <a:rPr lang="en-US" sz="2400" dirty="0" smtClean="0"/>
              <a:t>Seal size. </a:t>
            </a:r>
          </a:p>
          <a:p>
            <a:r>
              <a:rPr lang="en-US" sz="2400" dirty="0" smtClean="0"/>
              <a:t>- Fluid pressure</a:t>
            </a:r>
          </a:p>
          <a:p>
            <a:r>
              <a:rPr lang="en-US" sz="2400" dirty="0" smtClean="0"/>
              <a:t>- Extent of pressure pulses</a:t>
            </a:r>
          </a:p>
          <a:p>
            <a:r>
              <a:rPr lang="en-US" sz="2400" dirty="0" smtClean="0"/>
              <a:t>- Temperature</a:t>
            </a:r>
          </a:p>
          <a:p>
            <a:r>
              <a:rPr lang="en-US" sz="2400" dirty="0" smtClean="0"/>
              <a:t>- Fluid viscosity</a:t>
            </a:r>
          </a:p>
          <a:p>
            <a:r>
              <a:rPr lang="en-US" sz="2400" dirty="0" smtClean="0"/>
              <a:t>- Contamination level</a:t>
            </a:r>
          </a:p>
          <a:p>
            <a:r>
              <a:rPr lang="en-US" sz="2400" dirty="0" smtClean="0"/>
              <a:t>- Fluid/material compatibility</a:t>
            </a:r>
          </a:p>
          <a:p>
            <a:r>
              <a:rPr lang="en-US" sz="2400" dirty="0" smtClean="0"/>
              <a:t>- Leakage requirements</a:t>
            </a:r>
          </a:p>
          <a:p>
            <a:r>
              <a:rPr lang="en-US" sz="2400" dirty="0" smtClean="0"/>
              <a:t>- Assembly/quality control procedures </a:t>
            </a:r>
            <a:r>
              <a:rPr lang="en-US" dirty="0" smtClean="0"/>
              <a:t/>
            </a:r>
            <a:br>
              <a:rPr lang="en-US" dirty="0" smtClean="0"/>
            </a:br>
            <a:endParaRPr 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7620000" cy="4585871"/>
          </a:xfrm>
          <a:prstGeom prst="rect">
            <a:avLst/>
          </a:prstGeom>
          <a:noFill/>
        </p:spPr>
        <p:txBody>
          <a:bodyPr wrap="square" rtlCol="0">
            <a:spAutoFit/>
          </a:bodyPr>
          <a:lstStyle/>
          <a:p>
            <a:r>
              <a:rPr lang="en-US" sz="3600" u="sng" dirty="0" smtClean="0"/>
              <a:t>Benefits of excellent sealing</a:t>
            </a:r>
          </a:p>
          <a:p>
            <a:pPr marL="514350" indent="-514350">
              <a:buFont typeface="Arial" panose="020B0604020202020204" pitchFamily="34" charset="0"/>
              <a:buChar char="•"/>
            </a:pPr>
            <a:r>
              <a:rPr lang="en-US" sz="3200" dirty="0" smtClean="0"/>
              <a:t>Equipment reliability</a:t>
            </a:r>
          </a:p>
          <a:p>
            <a:pPr marL="514350" indent="-514350">
              <a:buFont typeface="Arial" panose="020B0604020202020204" pitchFamily="34" charset="0"/>
              <a:buChar char="•"/>
            </a:pPr>
            <a:r>
              <a:rPr lang="en-US" sz="3200" dirty="0" smtClean="0"/>
              <a:t>Reduction in fluid replacement in some cases</a:t>
            </a:r>
          </a:p>
          <a:p>
            <a:pPr marL="514350" indent="-514350">
              <a:buFont typeface="Arial" panose="020B0604020202020204" pitchFamily="34" charset="0"/>
              <a:buChar char="•"/>
            </a:pPr>
            <a:r>
              <a:rPr lang="en-US" sz="3200" dirty="0" smtClean="0"/>
              <a:t>Reduction or elimination of contamination</a:t>
            </a:r>
          </a:p>
          <a:p>
            <a:pPr marL="514350" indent="-514350">
              <a:buFont typeface="Arial" panose="020B0604020202020204" pitchFamily="34" charset="0"/>
              <a:buChar char="•"/>
            </a:pPr>
            <a:r>
              <a:rPr lang="en-US" sz="3200" dirty="0" smtClean="0"/>
              <a:t>Reduction or elimination of pollution (fugitive emission)</a:t>
            </a:r>
          </a:p>
          <a:p>
            <a:pPr marL="514350" indent="-514350">
              <a:buFont typeface="Arial" panose="020B0604020202020204" pitchFamily="34" charset="0"/>
              <a:buChar char="•"/>
            </a:pPr>
            <a:r>
              <a:rPr lang="en-US" sz="3200" dirty="0" smtClean="0"/>
              <a:t>Improvement in safety</a:t>
            </a:r>
          </a:p>
        </p:txBody>
      </p:sp>
    </p:spTree>
    <p:extLst>
      <p:ext uri="{BB962C8B-B14F-4D97-AF65-F5344CB8AC3E}">
        <p14:creationId xmlns:p14="http://schemas.microsoft.com/office/powerpoint/2010/main" val="33821535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7620000" cy="2862322"/>
          </a:xfrm>
          <a:prstGeom prst="rect">
            <a:avLst/>
          </a:prstGeom>
          <a:noFill/>
        </p:spPr>
        <p:txBody>
          <a:bodyPr wrap="square" rtlCol="0">
            <a:spAutoFit/>
          </a:bodyPr>
          <a:lstStyle/>
          <a:p>
            <a:r>
              <a:rPr lang="en-US" sz="2000" dirty="0" smtClean="0"/>
              <a:t>Seal Materials:</a:t>
            </a:r>
          </a:p>
          <a:p>
            <a:r>
              <a:rPr lang="en-US" sz="2000" dirty="0" smtClean="0"/>
              <a:t>Metals </a:t>
            </a:r>
            <a:r>
              <a:rPr lang="en-US" sz="2000" dirty="0" err="1" smtClean="0"/>
              <a:t>eg</a:t>
            </a:r>
            <a:r>
              <a:rPr lang="en-US" sz="2000" dirty="0" smtClean="0"/>
              <a:t> AISI 316</a:t>
            </a:r>
          </a:p>
          <a:p>
            <a:r>
              <a:rPr lang="en-US" sz="2000" dirty="0" smtClean="0"/>
              <a:t>Elastomers </a:t>
            </a:r>
            <a:r>
              <a:rPr lang="en-US" sz="2000" dirty="0" err="1" smtClean="0"/>
              <a:t>eg</a:t>
            </a:r>
            <a:r>
              <a:rPr lang="en-US" sz="2000" dirty="0" smtClean="0"/>
              <a:t> propylene</a:t>
            </a:r>
          </a:p>
          <a:p>
            <a:r>
              <a:rPr lang="en-US" sz="2000" dirty="0" smtClean="0"/>
              <a:t>Ceramics </a:t>
            </a:r>
            <a:r>
              <a:rPr lang="en-US" sz="2000" dirty="0" err="1" smtClean="0"/>
              <a:t>eg</a:t>
            </a:r>
            <a:r>
              <a:rPr lang="en-US" sz="2000" dirty="0" smtClean="0"/>
              <a:t> silicon carbide, tungsten </a:t>
            </a:r>
            <a:r>
              <a:rPr lang="en-US" sz="2000" dirty="0" smtClean="0"/>
              <a:t>carbide</a:t>
            </a:r>
          </a:p>
          <a:p>
            <a:endParaRPr lang="en-US" sz="2000" dirty="0"/>
          </a:p>
          <a:p>
            <a:r>
              <a:rPr lang="en-US" sz="2000" dirty="0" smtClean="0"/>
              <a:t>Compression set: the permanent deformation that takes place lower than the yield point of the material. The lower the percentage, the better the material resists permanent deformation under a given deflection and temperature range.</a:t>
            </a:r>
            <a:endParaRPr lang="en-US" sz="2000" dirty="0" smtClean="0"/>
          </a:p>
        </p:txBody>
      </p:sp>
    </p:spTree>
    <p:extLst>
      <p:ext uri="{BB962C8B-B14F-4D97-AF65-F5344CB8AC3E}">
        <p14:creationId xmlns:p14="http://schemas.microsoft.com/office/powerpoint/2010/main" val="10824195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15227" t="12500" r="19766" b="8333"/>
          <a:stretch>
            <a:fillRect/>
          </a:stretch>
        </p:blipFill>
        <p:spPr bwMode="auto">
          <a:xfrm>
            <a:off x="152400" y="380999"/>
            <a:ext cx="8839200" cy="60520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TotalTime>
  <Words>227</Words>
  <Application>Microsoft Office PowerPoint</Application>
  <PresentationFormat>On-screen Show (4:3)</PresentationFormat>
  <Paragraphs>40</Paragraphs>
  <Slides>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SEALS and GASKETS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SEALS and GASKETS</dc:title>
  <dc:creator>Peter</dc:creator>
  <cp:lastModifiedBy>Peter Tawiah</cp:lastModifiedBy>
  <cp:revision>67</cp:revision>
  <dcterms:created xsi:type="dcterms:W3CDTF">2014-11-19T17:27:30Z</dcterms:created>
  <dcterms:modified xsi:type="dcterms:W3CDTF">2017-04-10T11:23:11Z</dcterms:modified>
</cp:coreProperties>
</file>