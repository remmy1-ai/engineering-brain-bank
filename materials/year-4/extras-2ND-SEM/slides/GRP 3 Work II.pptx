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2"/>
  </p:notesMasterIdLst>
  <p:sldIdLst>
    <p:sldId id="503" r:id="rId2"/>
    <p:sldId id="472" r:id="rId3"/>
    <p:sldId id="504" r:id="rId4"/>
    <p:sldId id="505" r:id="rId5"/>
    <p:sldId id="506" r:id="rId6"/>
    <p:sldId id="507" r:id="rId7"/>
    <p:sldId id="508" r:id="rId8"/>
    <p:sldId id="511" r:id="rId9"/>
    <p:sldId id="509" r:id="rId10"/>
    <p:sldId id="51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82" autoAdjust="0"/>
    <p:restoredTop sz="94660"/>
  </p:normalViewPr>
  <p:slideViewPr>
    <p:cSldViewPr snapToGrid="0" snapToObjects="1">
      <p:cViewPr varScale="1">
        <p:scale>
          <a:sx n="74" d="100"/>
          <a:sy n="74" d="100"/>
        </p:scale>
        <p:origin x="336" y="36"/>
      </p:cViewPr>
      <p:guideLst>
        <p:guide orient="horz" pos="2208"/>
        <p:guide pos="388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8/6/2023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4F075A-9D75-2B48-9A54-E569C7FF800C}" type="datetime1">
              <a:rPr lang="en-US" smtClean="0"/>
              <a:t>8/6/2023</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C9E489-CF82-AC41-8AC7-E64A8729DB92}" type="datetime1">
              <a:rPr lang="en-US" smtClean="0"/>
              <a:t>8/6/2023</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845A64-44E2-AA44-BF0A-0A6EBB813A36}" type="datetime1">
              <a:rPr lang="en-US" smtClean="0"/>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A303D-75E3-FC4C-ABF8-DBE5552AD690}" type="datetime1">
              <a:rPr lang="en-US" smtClean="0"/>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4B1834-423E-B246-A5D3-FE019AB1BCCC}" type="datetime1">
              <a:rPr lang="en-US" smtClean="0"/>
              <a:t>8/6/2023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2587CF7D-DEA7-4646-BF5A-8F86F47F55E0}" type="datetime1">
              <a:rPr lang="en-US" smtClean="0"/>
              <a:t>8/6/2023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EB0E7-5ABD-4248-BC89-2EF7B115D306}" type="datetime1">
              <a:rPr lang="en-US" smtClean="0"/>
              <a:t>8/6/2023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125B47-57AB-1847-9A5E-9D0228DA2CF8}" type="datetime1">
              <a:rPr lang="en-US" smtClean="0"/>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0DC83-A974-8647-80C3-F692755FAEC3}" type="datetime1">
              <a:rPr lang="en-US" smtClean="0"/>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84B6AA-36AB-384C-89F5-D0AA3660A4E6}" type="datetime1">
              <a:rPr lang="en-US" smtClean="0"/>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3A0C56-AED7-E349-A367-C56B569B58DD}" type="datetime1">
              <a:rPr lang="en-US" smtClean="0"/>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C52A24-3BDA-B749-BE6C-6289322D5558}" type="datetime1">
              <a:rPr lang="en-US" smtClean="0"/>
              <a:t>8/6/2023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n.wikipedia.org/wiki/International_Labour_Organization#International_Labour_Conferenc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Carriage_of_Goods_by_Sea_Act#cite_note-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B02BC7-9B65-A649-A6AA-B9A015F5977F}"/>
              </a:ext>
            </a:extLst>
          </p:cNvPr>
          <p:cNvSpPr>
            <a:spLocks noGrp="1"/>
          </p:cNvSpPr>
          <p:nvPr>
            <p:ph type="ctrTitle"/>
          </p:nvPr>
        </p:nvSpPr>
        <p:spPr>
          <a:xfrm>
            <a:off x="1766055" y="4394696"/>
            <a:ext cx="8265033" cy="2615942"/>
          </a:xfrm>
        </p:spPr>
        <p:txBody>
          <a:bodyPr vert="horz" lIns="68580" tIns="34290" rIns="68580" bIns="34290" rtlCol="0" anchor="b">
            <a:normAutofit fontScale="90000"/>
          </a:bodyPr>
          <a:lstStyle/>
          <a:p>
            <a:pPr>
              <a:lnSpc>
                <a:spcPct val="150000"/>
              </a:lnSpc>
              <a:spcAft>
                <a:spcPts val="750"/>
              </a:spcAft>
            </a:pPr>
            <a:r>
              <a:rPr lang="en-US" sz="2700" b="1" dirty="0"/>
              <a:t>PROJECT TOPIC:</a:t>
            </a:r>
            <a:br>
              <a:rPr lang="en-US" sz="2700" b="1" dirty="0"/>
            </a:br>
            <a:r>
              <a:rPr lang="en-US" sz="4000" b="1" dirty="0"/>
              <a:t>FREIGHT RATE,GOVERNMENT CONTROL,BILL OF LADING &amp; GOOD CARRIAGE BY SEA ACT</a:t>
            </a:r>
            <a:br>
              <a:rPr lang="en-US" sz="1400" dirty="0">
                <a:latin typeface="Times New Roman" panose="02020603050405020304" pitchFamily="18" charset="0"/>
                <a:ea typeface="SimSun" panose="02010600030101010101" pitchFamily="2" charset="-122"/>
              </a:rPr>
            </a:br>
            <a:br>
              <a:rPr lang="en-US" sz="1400" dirty="0">
                <a:latin typeface="Times New Roman" panose="02020603050405020304" pitchFamily="18" charset="0"/>
                <a:ea typeface="SimSun" panose="02010600030101010101" pitchFamily="2" charset="-122"/>
              </a:rPr>
            </a:br>
            <a:endParaRPr lang="en-US" sz="1800" dirty="0">
              <a:solidFill>
                <a:srgbClr val="FFFFFF"/>
              </a:solidFill>
              <a:latin typeface="+mj-lt"/>
            </a:endParaRPr>
          </a:p>
        </p:txBody>
      </p:sp>
      <p:sp>
        <p:nvSpPr>
          <p:cNvPr id="10" name="Text Placeholder 3">
            <a:extLst>
              <a:ext uri="{FF2B5EF4-FFF2-40B4-BE49-F238E27FC236}">
                <a16:creationId xmlns:a16="http://schemas.microsoft.com/office/drawing/2014/main" id="{E81EFB1F-8D7C-2F44-8B60-6C24E97F6990}"/>
              </a:ext>
            </a:extLst>
          </p:cNvPr>
          <p:cNvSpPr txBox="1">
            <a:spLocks/>
          </p:cNvSpPr>
          <p:nvPr/>
        </p:nvSpPr>
        <p:spPr>
          <a:xfrm>
            <a:off x="1963483" y="1756643"/>
            <a:ext cx="8067605" cy="144953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4000" b="1" dirty="0">
                <a:solidFill>
                  <a:schemeClr val="tx1"/>
                </a:solidFill>
                <a:latin typeface="Garamond" panose="02020404030301010803" pitchFamily="18" charset="0"/>
              </a:rPr>
              <a:t>MME 492</a:t>
            </a:r>
          </a:p>
          <a:p>
            <a:pPr algn="ctr"/>
            <a:r>
              <a:rPr lang="en-US" sz="6000" b="1" dirty="0">
                <a:solidFill>
                  <a:schemeClr val="tx1"/>
                </a:solidFill>
                <a:latin typeface="Garamond" panose="02020404030301010803" pitchFamily="18" charset="0"/>
              </a:rPr>
              <a:t>GROUP 3</a:t>
            </a:r>
          </a:p>
        </p:txBody>
      </p:sp>
    </p:spTree>
    <p:extLst>
      <p:ext uri="{BB962C8B-B14F-4D97-AF65-F5344CB8AC3E}">
        <p14:creationId xmlns:p14="http://schemas.microsoft.com/office/powerpoint/2010/main" val="2888871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B1187-138B-B74D-8689-8AC58615CCF9}"/>
              </a:ext>
            </a:extLst>
          </p:cNvPr>
          <p:cNvSpPr>
            <a:spLocks noGrp="1"/>
          </p:cNvSpPr>
          <p:nvPr>
            <p:ph type="title"/>
          </p:nvPr>
        </p:nvSpPr>
        <p:spPr/>
        <p:txBody>
          <a:bodyPr>
            <a:normAutofit fontScale="90000"/>
          </a:bodyPr>
          <a:lstStyle/>
          <a:p>
            <a:r>
              <a:rPr lang="en-US" b="1" dirty="0"/>
              <a:t>GROUP MEMBERS</a:t>
            </a:r>
          </a:p>
        </p:txBody>
      </p:sp>
      <p:sp>
        <p:nvSpPr>
          <p:cNvPr id="3" name="Slide Number Placeholder 2">
            <a:extLst>
              <a:ext uri="{FF2B5EF4-FFF2-40B4-BE49-F238E27FC236}">
                <a16:creationId xmlns:a16="http://schemas.microsoft.com/office/drawing/2014/main" id="{669924B8-FF7D-6649-A6E3-828075C4B5D3}"/>
              </a:ext>
            </a:extLst>
          </p:cNvPr>
          <p:cNvSpPr>
            <a:spLocks noGrp="1"/>
          </p:cNvSpPr>
          <p:nvPr>
            <p:ph type="sldNum" sz="quarter" idx="12"/>
          </p:nvPr>
        </p:nvSpPr>
        <p:spPr/>
        <p:txBody>
          <a:bodyPr/>
          <a:lstStyle/>
          <a:p>
            <a:fld id="{F4801FD5-11B4-DE43-ACA2-E85EEB9A6F9C}" type="slidenum">
              <a:rPr lang="en-US" smtClean="0"/>
              <a:pPr/>
              <a:t>2</a:t>
            </a:fld>
            <a:endParaRPr lang="en-US" dirty="0"/>
          </a:p>
        </p:txBody>
      </p:sp>
      <p:sp>
        <p:nvSpPr>
          <p:cNvPr id="5" name="Content Placeholder 4">
            <a:extLst>
              <a:ext uri="{FF2B5EF4-FFF2-40B4-BE49-F238E27FC236}">
                <a16:creationId xmlns:a16="http://schemas.microsoft.com/office/drawing/2014/main" id="{F5845235-1DC7-1A44-A970-D7FBEF7C70DD}"/>
              </a:ext>
            </a:extLst>
          </p:cNvPr>
          <p:cNvSpPr>
            <a:spLocks noGrp="1"/>
          </p:cNvSpPr>
          <p:nvPr>
            <p:ph sz="half" idx="1"/>
          </p:nvPr>
        </p:nvSpPr>
        <p:spPr/>
        <p:txBody>
          <a:bodyPr/>
          <a:lstStyle/>
          <a:p>
            <a:pPr>
              <a:lnSpc>
                <a:spcPct val="150000"/>
              </a:lnSpc>
              <a:buFont typeface="Wingdings" panose="05000000000000000000" pitchFamily="2" charset="2"/>
              <a:buChar char="Ø"/>
            </a:pPr>
            <a:r>
              <a:rPr lang="en-US" dirty="0"/>
              <a:t>AKUMANE JOSHUA                                  8310319</a:t>
            </a:r>
          </a:p>
          <a:p>
            <a:pPr>
              <a:lnSpc>
                <a:spcPct val="150000"/>
              </a:lnSpc>
              <a:buFont typeface="Wingdings" panose="05000000000000000000" pitchFamily="2" charset="2"/>
              <a:buChar char="Ø"/>
            </a:pPr>
            <a:r>
              <a:rPr lang="en-US" dirty="0"/>
              <a:t>AMOAKO BERNARD                                 8310519 </a:t>
            </a:r>
          </a:p>
          <a:p>
            <a:pPr>
              <a:lnSpc>
                <a:spcPct val="150000"/>
              </a:lnSpc>
              <a:buFont typeface="Wingdings" panose="05000000000000000000" pitchFamily="2" charset="2"/>
              <a:buChar char="Ø"/>
            </a:pPr>
            <a:r>
              <a:rPr lang="en-US" dirty="0"/>
              <a:t>AMANFU EDWIN                                      8310419</a:t>
            </a:r>
          </a:p>
          <a:p>
            <a:pPr>
              <a:lnSpc>
                <a:spcPct val="15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193200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781A-0667-42E7-D73D-197BD00044FA}"/>
              </a:ext>
            </a:extLst>
          </p:cNvPr>
          <p:cNvSpPr>
            <a:spLocks noGrp="1"/>
          </p:cNvSpPr>
          <p:nvPr>
            <p:ph type="title"/>
          </p:nvPr>
        </p:nvSpPr>
        <p:spPr/>
        <p:txBody>
          <a:bodyPr/>
          <a:lstStyle/>
          <a:p>
            <a:r>
              <a:rPr lang="en-US" dirty="0"/>
              <a:t>THEORY OF FREIGHT RATE &amp; FARES</a:t>
            </a:r>
          </a:p>
        </p:txBody>
      </p:sp>
      <p:sp>
        <p:nvSpPr>
          <p:cNvPr id="3" name="Content Placeholder 2">
            <a:extLst>
              <a:ext uri="{FF2B5EF4-FFF2-40B4-BE49-F238E27FC236}">
                <a16:creationId xmlns:a16="http://schemas.microsoft.com/office/drawing/2014/main" id="{8446D25F-05E9-275A-70CF-7C0CC2861060}"/>
              </a:ext>
            </a:extLst>
          </p:cNvPr>
          <p:cNvSpPr>
            <a:spLocks noGrp="1"/>
          </p:cNvSpPr>
          <p:nvPr>
            <p:ph sz="half" idx="1"/>
          </p:nvPr>
        </p:nvSpPr>
        <p:spPr/>
        <p:txBody>
          <a:bodyPr/>
          <a:lstStyle/>
          <a:p>
            <a:r>
              <a:rPr lang="en-US" b="0" i="0" dirty="0">
                <a:solidFill>
                  <a:srgbClr val="202122"/>
                </a:solidFill>
                <a:effectLst/>
                <a:latin typeface="Arial" panose="020B0604020202020204" pitchFamily="34" charset="0"/>
              </a:rPr>
              <a:t>A </a:t>
            </a:r>
            <a:r>
              <a:rPr lang="en-US" b="1" i="0" dirty="0">
                <a:solidFill>
                  <a:srgbClr val="202122"/>
                </a:solidFill>
                <a:effectLst/>
                <a:latin typeface="Arial" panose="020B0604020202020204" pitchFamily="34" charset="0"/>
              </a:rPr>
              <a:t>freight rate </a:t>
            </a:r>
            <a:r>
              <a:rPr lang="en-US" b="0" i="0" dirty="0">
                <a:solidFill>
                  <a:srgbClr val="202122"/>
                </a:solidFill>
                <a:effectLst/>
                <a:latin typeface="Arial" panose="020B0604020202020204" pitchFamily="34" charset="0"/>
              </a:rPr>
              <a:t>is a </a:t>
            </a:r>
            <a:r>
              <a:rPr lang="en-US" b="0" i="0" u="none" strike="noStrike" dirty="0">
                <a:effectLst/>
                <a:latin typeface="Arial" panose="020B0604020202020204" pitchFamily="34" charset="0"/>
              </a:rPr>
              <a:t>price</a:t>
            </a:r>
            <a:r>
              <a:rPr lang="en-US" b="0" i="0" dirty="0">
                <a:solidFill>
                  <a:srgbClr val="202122"/>
                </a:solidFill>
                <a:effectLst/>
                <a:latin typeface="Arial" panose="020B0604020202020204" pitchFamily="34" charset="0"/>
              </a:rPr>
              <a:t> at which a certain </a:t>
            </a:r>
            <a:r>
              <a:rPr lang="en-US" b="0" i="0" u="none" strike="noStrike" dirty="0">
                <a:effectLst/>
                <a:latin typeface="Arial" panose="020B0604020202020204" pitchFamily="34" charset="0"/>
              </a:rPr>
              <a:t>cargo</a:t>
            </a:r>
            <a:r>
              <a:rPr lang="en-US" b="0" i="0" dirty="0">
                <a:solidFill>
                  <a:srgbClr val="202122"/>
                </a:solidFill>
                <a:effectLst/>
                <a:latin typeface="Arial" panose="020B0604020202020204" pitchFamily="34" charset="0"/>
              </a:rPr>
              <a:t> is delivered from one point to another. </a:t>
            </a:r>
          </a:p>
          <a:p>
            <a:endParaRPr lang="en-US" dirty="0">
              <a:solidFill>
                <a:srgbClr val="202122"/>
              </a:solidFill>
              <a:latin typeface="Arial" panose="020B0604020202020204" pitchFamily="34" charset="0"/>
            </a:endParaRPr>
          </a:p>
          <a:p>
            <a:r>
              <a:rPr lang="en-US" b="0" i="0" dirty="0">
                <a:solidFill>
                  <a:srgbClr val="202122"/>
                </a:solidFill>
                <a:effectLst/>
                <a:latin typeface="Arial" panose="020B0604020202020204" pitchFamily="34" charset="0"/>
              </a:rPr>
              <a:t>Freight Rate is also the cost of transporting goods and  is reflective of a number of factors aside from normal transportation costs</a:t>
            </a:r>
          </a:p>
          <a:p>
            <a:endParaRPr lang="en-US" dirty="0">
              <a:solidFill>
                <a:srgbClr val="202122"/>
              </a:solidFill>
              <a:latin typeface="Arial" panose="020B0604020202020204" pitchFamily="34" charset="0"/>
            </a:endParaRPr>
          </a:p>
          <a:p>
            <a:r>
              <a:rPr lang="en-US" b="0" i="0" dirty="0">
                <a:solidFill>
                  <a:srgbClr val="202122"/>
                </a:solidFill>
                <a:effectLst/>
                <a:latin typeface="Arial" panose="020B0604020202020204" pitchFamily="34" charset="0"/>
              </a:rPr>
              <a:t>In ship chartering, freight is the price which a charterer pays a shipowner for the use of a ship in a </a:t>
            </a:r>
            <a:r>
              <a:rPr lang="en-US" b="0" i="0" u="none" strike="noStrike" dirty="0">
                <a:effectLst/>
                <a:latin typeface="Arial" panose="020B0604020202020204" pitchFamily="34" charset="0"/>
              </a:rPr>
              <a:t>voyage charter</a:t>
            </a:r>
            <a:r>
              <a:rPr lang="en-US" u="none" strike="noStrike" dirty="0">
                <a:latin typeface="Arial" panose="020B0604020202020204" pitchFamily="34" charset="0"/>
              </a:rPr>
              <a:t>.</a:t>
            </a:r>
            <a:endParaRPr lang="en-US" dirty="0"/>
          </a:p>
        </p:txBody>
      </p:sp>
      <p:sp>
        <p:nvSpPr>
          <p:cNvPr id="4" name="Slide Number Placeholder 3">
            <a:extLst>
              <a:ext uri="{FF2B5EF4-FFF2-40B4-BE49-F238E27FC236}">
                <a16:creationId xmlns:a16="http://schemas.microsoft.com/office/drawing/2014/main" id="{C2CF4B73-FD67-BBAF-9798-17266D62215F}"/>
              </a:ext>
            </a:extLst>
          </p:cNvPr>
          <p:cNvSpPr>
            <a:spLocks noGrp="1"/>
          </p:cNvSpPr>
          <p:nvPr>
            <p:ph type="sldNum" sz="quarter" idx="12"/>
          </p:nvPr>
        </p:nvSpPr>
        <p:spPr/>
        <p:txBody>
          <a:bodyPr/>
          <a:lstStyle/>
          <a:p>
            <a:fld id="{F4801FD5-11B4-DE43-ACA2-E85EEB9A6F9C}" type="slidenum">
              <a:rPr lang="en-US" smtClean="0"/>
              <a:pPr/>
              <a:t>3</a:t>
            </a:fld>
            <a:endParaRPr lang="en-US" dirty="0"/>
          </a:p>
        </p:txBody>
      </p:sp>
    </p:spTree>
    <p:extLst>
      <p:ext uri="{BB962C8B-B14F-4D97-AF65-F5344CB8AC3E}">
        <p14:creationId xmlns:p14="http://schemas.microsoft.com/office/powerpoint/2010/main" val="124900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FF937-49BE-AF81-E8F3-837437026F45}"/>
              </a:ext>
            </a:extLst>
          </p:cNvPr>
          <p:cNvSpPr>
            <a:spLocks noGrp="1"/>
          </p:cNvSpPr>
          <p:nvPr>
            <p:ph type="title"/>
          </p:nvPr>
        </p:nvSpPr>
        <p:spPr/>
        <p:txBody>
          <a:bodyPr/>
          <a:lstStyle/>
          <a:p>
            <a:r>
              <a:rPr lang="en-US" dirty="0"/>
              <a:t>FACTORS OF FREIGHT RATE</a:t>
            </a:r>
          </a:p>
        </p:txBody>
      </p:sp>
      <p:sp>
        <p:nvSpPr>
          <p:cNvPr id="3" name="Content Placeholder 2">
            <a:extLst>
              <a:ext uri="{FF2B5EF4-FFF2-40B4-BE49-F238E27FC236}">
                <a16:creationId xmlns:a16="http://schemas.microsoft.com/office/drawing/2014/main" id="{6871745C-82EE-28D3-4BC2-7647A0CEF859}"/>
              </a:ext>
            </a:extLst>
          </p:cNvPr>
          <p:cNvSpPr>
            <a:spLocks noGrp="1"/>
          </p:cNvSpPr>
          <p:nvPr>
            <p:ph sz="half" idx="1"/>
          </p:nvPr>
        </p:nvSpPr>
        <p:spPr/>
        <p:txBody>
          <a:bodyPr/>
          <a:lstStyle/>
          <a:p>
            <a:r>
              <a:rPr lang="en-US" b="0" i="0" dirty="0">
                <a:solidFill>
                  <a:srgbClr val="202122"/>
                </a:solidFill>
                <a:effectLst/>
                <a:latin typeface="Arial" panose="020B0604020202020204" pitchFamily="34" charset="0"/>
              </a:rPr>
              <a:t>The main determining factors of freight rate are:</a:t>
            </a:r>
          </a:p>
          <a:p>
            <a:r>
              <a:rPr lang="en-US" b="0" i="0" dirty="0">
                <a:solidFill>
                  <a:srgbClr val="202122"/>
                </a:solidFill>
                <a:effectLst/>
                <a:latin typeface="Arial" panose="020B0604020202020204" pitchFamily="34" charset="0"/>
              </a:rPr>
              <a:t>mode of transportation (truck, ship, train, air craft)</a:t>
            </a:r>
          </a:p>
          <a:p>
            <a:r>
              <a:rPr lang="en-US" b="0" i="0" dirty="0">
                <a:solidFill>
                  <a:srgbClr val="202122"/>
                </a:solidFill>
                <a:effectLst/>
                <a:latin typeface="Arial" panose="020B0604020202020204" pitchFamily="34" charset="0"/>
              </a:rPr>
              <a:t> weight</a:t>
            </a:r>
          </a:p>
          <a:p>
            <a:r>
              <a:rPr lang="en-US" b="0" i="0" dirty="0">
                <a:solidFill>
                  <a:srgbClr val="202122"/>
                </a:solidFill>
                <a:effectLst/>
                <a:latin typeface="Arial" panose="020B0604020202020204" pitchFamily="34" charset="0"/>
              </a:rPr>
              <a:t> size</a:t>
            </a:r>
          </a:p>
          <a:p>
            <a:r>
              <a:rPr lang="en-US" b="0" i="0" dirty="0">
                <a:solidFill>
                  <a:srgbClr val="202122"/>
                </a:solidFill>
                <a:effectLst/>
                <a:latin typeface="Arial" panose="020B0604020202020204" pitchFamily="34" charset="0"/>
              </a:rPr>
              <a:t> distance</a:t>
            </a:r>
          </a:p>
          <a:p>
            <a:r>
              <a:rPr lang="en-US" b="0" i="0" dirty="0">
                <a:solidFill>
                  <a:srgbClr val="202122"/>
                </a:solidFill>
                <a:effectLst/>
                <a:latin typeface="Arial" panose="020B0604020202020204" pitchFamily="34" charset="0"/>
              </a:rPr>
              <a:t> points of pickup and delivery</a:t>
            </a:r>
          </a:p>
          <a:p>
            <a:r>
              <a:rPr lang="en-US" b="0" i="0" dirty="0">
                <a:solidFill>
                  <a:srgbClr val="202122"/>
                </a:solidFill>
                <a:effectLst/>
                <a:latin typeface="Arial" panose="020B0604020202020204" pitchFamily="34" charset="0"/>
              </a:rPr>
              <a:t> and the actual goods being shipped.</a:t>
            </a:r>
          </a:p>
          <a:p>
            <a:pPr marL="0" indent="0">
              <a:buNone/>
            </a:pPr>
            <a:r>
              <a:rPr lang="en-US" b="0" i="0" dirty="0">
                <a:solidFill>
                  <a:srgbClr val="202122"/>
                </a:solidFill>
                <a:effectLst/>
                <a:latin typeface="Arial" panose="020B0604020202020204" pitchFamily="34" charset="0"/>
              </a:rPr>
              <a:t> All of these factors play their own independent role in determining the price or rate at which the freight will be transported but they are also all interconnected.</a:t>
            </a:r>
            <a:endParaRPr lang="en-US" dirty="0"/>
          </a:p>
        </p:txBody>
      </p:sp>
      <p:sp>
        <p:nvSpPr>
          <p:cNvPr id="4" name="Slide Number Placeholder 3">
            <a:extLst>
              <a:ext uri="{FF2B5EF4-FFF2-40B4-BE49-F238E27FC236}">
                <a16:creationId xmlns:a16="http://schemas.microsoft.com/office/drawing/2014/main" id="{A58D1C46-9298-E3A0-B057-7AE7994DA24F}"/>
              </a:ext>
            </a:extLst>
          </p:cNvPr>
          <p:cNvSpPr>
            <a:spLocks noGrp="1"/>
          </p:cNvSpPr>
          <p:nvPr>
            <p:ph type="sldNum" sz="quarter" idx="12"/>
          </p:nvPr>
        </p:nvSpPr>
        <p:spPr/>
        <p:txBody>
          <a:bodyPr/>
          <a:lstStyle/>
          <a:p>
            <a:fld id="{F4801FD5-11B4-DE43-ACA2-E85EEB9A6F9C}" type="slidenum">
              <a:rPr lang="en-US" smtClean="0"/>
              <a:pPr/>
              <a:t>4</a:t>
            </a:fld>
            <a:endParaRPr lang="en-US" dirty="0"/>
          </a:p>
        </p:txBody>
      </p:sp>
    </p:spTree>
    <p:extLst>
      <p:ext uri="{BB962C8B-B14F-4D97-AF65-F5344CB8AC3E}">
        <p14:creationId xmlns:p14="http://schemas.microsoft.com/office/powerpoint/2010/main" val="3659161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453F-72EE-5C43-F02B-6F1E112CE16B}"/>
              </a:ext>
            </a:extLst>
          </p:cNvPr>
          <p:cNvSpPr>
            <a:spLocks noGrp="1"/>
          </p:cNvSpPr>
          <p:nvPr>
            <p:ph type="title"/>
          </p:nvPr>
        </p:nvSpPr>
        <p:spPr/>
        <p:txBody>
          <a:bodyPr/>
          <a:lstStyle/>
          <a:p>
            <a:r>
              <a:rPr lang="en-US" dirty="0"/>
              <a:t>BILL OF LADDING</a:t>
            </a:r>
          </a:p>
        </p:txBody>
      </p:sp>
      <p:sp>
        <p:nvSpPr>
          <p:cNvPr id="3" name="Content Placeholder 2">
            <a:extLst>
              <a:ext uri="{FF2B5EF4-FFF2-40B4-BE49-F238E27FC236}">
                <a16:creationId xmlns:a16="http://schemas.microsoft.com/office/drawing/2014/main" id="{E6554D0D-6177-B4C5-A19F-EB2C729D0B98}"/>
              </a:ext>
            </a:extLst>
          </p:cNvPr>
          <p:cNvSpPr>
            <a:spLocks noGrp="1"/>
          </p:cNvSpPr>
          <p:nvPr>
            <p:ph sz="half" idx="1"/>
          </p:nvPr>
        </p:nvSpPr>
        <p:spPr/>
        <p:txBody>
          <a:bodyPr/>
          <a:lstStyle/>
          <a:p>
            <a:r>
              <a:rPr lang="en-US" b="0" i="0" dirty="0">
                <a:effectLst/>
                <a:latin typeface="Arial" panose="020B0604020202020204" pitchFamily="34" charset="0"/>
                <a:cs typeface="Arial" panose="020B0604020202020204" pitchFamily="34" charset="0"/>
              </a:rPr>
              <a:t>A bill of lading is a contract issued by a transport company to a shipper that spells out the quantity, type, and destination of the goods being shipped.</a:t>
            </a:r>
          </a:p>
          <a:p>
            <a:endParaRPr lang="en-US" dirty="0">
              <a:latin typeface="Arial" panose="020B0604020202020204" pitchFamily="34" charset="0"/>
              <a:cs typeface="Arial" panose="020B0604020202020204" pitchFamily="34" charset="0"/>
            </a:endParaRPr>
          </a:p>
          <a:p>
            <a:r>
              <a:rPr lang="en-US" b="0" i="0" dirty="0">
                <a:effectLst/>
                <a:latin typeface="Arial" panose="020B0604020202020204" pitchFamily="34" charset="0"/>
                <a:cs typeface="Arial" panose="020B0604020202020204" pitchFamily="34" charset="0"/>
              </a:rPr>
              <a:t> It serves as a receipt of the shipment and can help prevent the theft of goods being transported.</a:t>
            </a:r>
          </a:p>
          <a:p>
            <a:endParaRPr lang="en-US" dirty="0">
              <a:latin typeface="Arial" panose="020B0604020202020204" pitchFamily="34" charset="0"/>
              <a:cs typeface="Arial" panose="020B0604020202020204" pitchFamily="34" charset="0"/>
            </a:endParaRPr>
          </a:p>
          <a:p>
            <a:r>
              <a:rPr lang="en-US" b="0" i="0" dirty="0">
                <a:solidFill>
                  <a:srgbClr val="202122"/>
                </a:solidFill>
                <a:effectLst/>
                <a:latin typeface="Arial" panose="020B0604020202020204" pitchFamily="34" charset="0"/>
              </a:rPr>
              <a:t>A bill of lading is a standard-form document that is transferable by endorsement (or by lawful transfer of possession).</a:t>
            </a: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3C5B433-3A1E-C561-92AD-DE7130EF18CC}"/>
              </a:ext>
            </a:extLst>
          </p:cNvPr>
          <p:cNvSpPr>
            <a:spLocks noGrp="1"/>
          </p:cNvSpPr>
          <p:nvPr>
            <p:ph type="sldNum" sz="quarter" idx="12"/>
          </p:nvPr>
        </p:nvSpPr>
        <p:spPr/>
        <p:txBody>
          <a:bodyPr/>
          <a:lstStyle/>
          <a:p>
            <a:fld id="{F4801FD5-11B4-DE43-ACA2-E85EEB9A6F9C}" type="slidenum">
              <a:rPr lang="en-US" smtClean="0"/>
              <a:pPr/>
              <a:t>5</a:t>
            </a:fld>
            <a:endParaRPr lang="en-US" dirty="0"/>
          </a:p>
        </p:txBody>
      </p:sp>
    </p:spTree>
    <p:extLst>
      <p:ext uri="{BB962C8B-B14F-4D97-AF65-F5344CB8AC3E}">
        <p14:creationId xmlns:p14="http://schemas.microsoft.com/office/powerpoint/2010/main" val="54008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A2E58-9FF4-BF4C-23EF-7C81F6E5471D}"/>
              </a:ext>
            </a:extLst>
          </p:cNvPr>
          <p:cNvSpPr>
            <a:spLocks noGrp="1"/>
          </p:cNvSpPr>
          <p:nvPr>
            <p:ph type="title"/>
          </p:nvPr>
        </p:nvSpPr>
        <p:spPr/>
        <p:txBody>
          <a:bodyPr/>
          <a:lstStyle/>
          <a:p>
            <a:r>
              <a:rPr lang="en-US" dirty="0"/>
              <a:t>FUNCTIONS OF BILL OF LADING </a:t>
            </a:r>
          </a:p>
        </p:txBody>
      </p:sp>
      <p:sp>
        <p:nvSpPr>
          <p:cNvPr id="3" name="Content Placeholder 2">
            <a:extLst>
              <a:ext uri="{FF2B5EF4-FFF2-40B4-BE49-F238E27FC236}">
                <a16:creationId xmlns:a16="http://schemas.microsoft.com/office/drawing/2014/main" id="{C5BD5AB5-FFC2-55D7-7148-26831081CE19}"/>
              </a:ext>
            </a:extLst>
          </p:cNvPr>
          <p:cNvSpPr>
            <a:spLocks noGrp="1"/>
          </p:cNvSpPr>
          <p:nvPr>
            <p:ph sz="half" idx="1"/>
          </p:nvPr>
        </p:nvSpPr>
        <p:spPr/>
        <p:txBody>
          <a:bodyPr>
            <a:normAutofit/>
          </a:bodyPr>
          <a:lstStyle/>
          <a:p>
            <a:pPr algn="l"/>
            <a:r>
              <a:rPr lang="en-US" sz="2000" b="1" i="0" dirty="0">
                <a:solidFill>
                  <a:srgbClr val="000000"/>
                </a:solidFill>
                <a:effectLst/>
                <a:latin typeface="Arial" panose="020B0604020202020204" pitchFamily="34" charset="0"/>
              </a:rPr>
              <a:t>As cargo </a:t>
            </a:r>
            <a:r>
              <a:rPr lang="en-US" sz="2000" b="1" i="0" dirty="0" err="1">
                <a:solidFill>
                  <a:srgbClr val="000000"/>
                </a:solidFill>
                <a:effectLst/>
                <a:latin typeface="Arial" panose="020B0604020202020204" pitchFamily="34" charset="0"/>
              </a:rPr>
              <a:t>receipt</a:t>
            </a:r>
            <a:r>
              <a:rPr lang="en-US" sz="2000" dirty="0" err="1">
                <a:solidFill>
                  <a:srgbClr val="54595D"/>
                </a:solidFill>
                <a:latin typeface="Arial" panose="020B0604020202020204" pitchFamily="34" charset="0"/>
              </a:rPr>
              <a:t>:</a:t>
            </a:r>
            <a:r>
              <a:rPr lang="en-US" sz="2000" b="0" i="0" dirty="0" err="1">
                <a:solidFill>
                  <a:srgbClr val="202122"/>
                </a:solidFill>
                <a:effectLst/>
                <a:latin typeface="Arial" panose="020B0604020202020204" pitchFamily="34" charset="0"/>
              </a:rPr>
              <a:t>The</a:t>
            </a:r>
            <a:r>
              <a:rPr lang="en-US" sz="2000" b="0" i="0" dirty="0">
                <a:solidFill>
                  <a:srgbClr val="202122"/>
                </a:solidFill>
                <a:effectLst/>
                <a:latin typeface="Arial" panose="020B0604020202020204" pitchFamily="34" charset="0"/>
              </a:rPr>
              <a:t> principal use of the bill of lading is as a receipt issued by the carrier once the goods have been loaded onto the vessel. This receipt can be used as proof of shipment for customs and insurance purposes, and also as commercial proof of completing a contractual obligation.</a:t>
            </a:r>
          </a:p>
          <a:p>
            <a:pPr algn="l"/>
            <a:endParaRPr lang="en-US" sz="2000" dirty="0">
              <a:solidFill>
                <a:srgbClr val="202122"/>
              </a:solidFill>
              <a:latin typeface="Arial" panose="020B0604020202020204" pitchFamily="34" charset="0"/>
            </a:endParaRPr>
          </a:p>
          <a:p>
            <a:pPr algn="l"/>
            <a:r>
              <a:rPr lang="en-US" sz="2000" b="1" i="0" dirty="0">
                <a:solidFill>
                  <a:srgbClr val="000000"/>
                </a:solidFill>
                <a:effectLst/>
                <a:latin typeface="Arial" panose="020B0604020202020204" pitchFamily="34" charset="0"/>
              </a:rPr>
              <a:t>As evidence of the contract of carriage</a:t>
            </a:r>
            <a:r>
              <a:rPr lang="en-US" sz="2000" dirty="0">
                <a:solidFill>
                  <a:srgbClr val="54595D"/>
                </a:solidFill>
                <a:latin typeface="Arial" panose="020B0604020202020204" pitchFamily="34" charset="0"/>
              </a:rPr>
              <a:t>: </a:t>
            </a:r>
            <a:r>
              <a:rPr lang="en-US" sz="2000" b="0" i="0" dirty="0">
                <a:solidFill>
                  <a:srgbClr val="202122"/>
                </a:solidFill>
                <a:effectLst/>
                <a:latin typeface="Arial" panose="020B0604020202020204" pitchFamily="34" charset="0"/>
              </a:rPr>
              <a:t>The bill of lading from the carrier to the shipper can be used as evidence of the contract of carriage by the fact that the carrier has received the goods and upon the receipt, the carrier would deliver the goods. </a:t>
            </a:r>
          </a:p>
          <a:p>
            <a:pPr algn="l"/>
            <a:endParaRPr lang="en-US" sz="2000" dirty="0"/>
          </a:p>
          <a:p>
            <a:pPr algn="l"/>
            <a:r>
              <a:rPr lang="en-US" sz="2000" b="1" i="0" dirty="0">
                <a:solidFill>
                  <a:srgbClr val="000000"/>
                </a:solidFill>
                <a:effectLst/>
                <a:latin typeface="Arial" panose="020B0604020202020204" pitchFamily="34" charset="0"/>
              </a:rPr>
              <a:t>As title</a:t>
            </a:r>
            <a:r>
              <a:rPr lang="en-US" sz="2000" dirty="0">
                <a:solidFill>
                  <a:srgbClr val="54595D"/>
                </a:solidFill>
                <a:latin typeface="Arial" panose="020B0604020202020204" pitchFamily="34" charset="0"/>
              </a:rPr>
              <a:t>: </a:t>
            </a:r>
            <a:r>
              <a:rPr lang="en-US" sz="2000" b="0" i="0" dirty="0">
                <a:solidFill>
                  <a:srgbClr val="202122"/>
                </a:solidFill>
                <a:effectLst/>
                <a:latin typeface="Arial" panose="020B0604020202020204" pitchFamily="34" charset="0"/>
              </a:rPr>
              <a:t>When the bill of lading is used as a document of title, it is particularly related to the case of the buyer. When the buyer is entitled to receive goods from the carrier, the bill of lading in this case performs as a document of title for the goods. </a:t>
            </a:r>
            <a:endParaRPr lang="en-US" sz="1800" dirty="0"/>
          </a:p>
        </p:txBody>
      </p:sp>
      <p:sp>
        <p:nvSpPr>
          <p:cNvPr id="4" name="Slide Number Placeholder 3">
            <a:extLst>
              <a:ext uri="{FF2B5EF4-FFF2-40B4-BE49-F238E27FC236}">
                <a16:creationId xmlns:a16="http://schemas.microsoft.com/office/drawing/2014/main" id="{47FBC2A5-797A-0934-96F8-E70C73EA1EFA}"/>
              </a:ext>
            </a:extLst>
          </p:cNvPr>
          <p:cNvSpPr>
            <a:spLocks noGrp="1"/>
          </p:cNvSpPr>
          <p:nvPr>
            <p:ph type="sldNum" sz="quarter" idx="12"/>
          </p:nvPr>
        </p:nvSpPr>
        <p:spPr/>
        <p:txBody>
          <a:bodyPr/>
          <a:lstStyle/>
          <a:p>
            <a:fld id="{F4801FD5-11B4-DE43-ACA2-E85EEB9A6F9C}" type="slidenum">
              <a:rPr lang="en-US" smtClean="0"/>
              <a:pPr/>
              <a:t>6</a:t>
            </a:fld>
            <a:endParaRPr lang="en-US" dirty="0"/>
          </a:p>
        </p:txBody>
      </p:sp>
    </p:spTree>
    <p:extLst>
      <p:ext uri="{BB962C8B-B14F-4D97-AF65-F5344CB8AC3E}">
        <p14:creationId xmlns:p14="http://schemas.microsoft.com/office/powerpoint/2010/main" val="3808363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6CE5-DD86-A22F-BD1C-714F982CD557}"/>
              </a:ext>
            </a:extLst>
          </p:cNvPr>
          <p:cNvSpPr>
            <a:spLocks noGrp="1"/>
          </p:cNvSpPr>
          <p:nvPr>
            <p:ph type="title"/>
          </p:nvPr>
        </p:nvSpPr>
        <p:spPr/>
        <p:txBody>
          <a:bodyPr/>
          <a:lstStyle/>
          <a:p>
            <a:r>
              <a:rPr lang="en-US" dirty="0"/>
              <a:t>TYPES OF BILL OF LADING</a:t>
            </a:r>
          </a:p>
        </p:txBody>
      </p:sp>
      <p:sp>
        <p:nvSpPr>
          <p:cNvPr id="3" name="Content Placeholder 2">
            <a:extLst>
              <a:ext uri="{FF2B5EF4-FFF2-40B4-BE49-F238E27FC236}">
                <a16:creationId xmlns:a16="http://schemas.microsoft.com/office/drawing/2014/main" id="{8B58073B-E215-C481-1B09-59902248752B}"/>
              </a:ext>
            </a:extLst>
          </p:cNvPr>
          <p:cNvSpPr>
            <a:spLocks noGrp="1"/>
          </p:cNvSpPr>
          <p:nvPr>
            <p:ph sz="half" idx="1"/>
          </p:nvPr>
        </p:nvSpPr>
        <p:spPr>
          <a:xfrm>
            <a:off x="609601" y="947568"/>
            <a:ext cx="11198085" cy="5175827"/>
          </a:xfrm>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02122"/>
                </a:solidFill>
                <a:effectLst/>
                <a:latin typeface="Arial" panose="020B0604020202020204" pitchFamily="34" charset="0"/>
              </a:rPr>
              <a:t>Bills of lading may take various forms:</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202122"/>
                </a:solidFill>
                <a:effectLst/>
                <a:latin typeface="Arial" panose="020B0604020202020204" pitchFamily="34" charset="0"/>
              </a:rPr>
              <a:t>An </a:t>
            </a:r>
            <a:r>
              <a:rPr kumimoji="0" lang="en-US" altLang="en-US" sz="2800" b="0" i="1" u="none" strike="noStrike" cap="none" normalizeH="0" baseline="0" dirty="0">
                <a:ln>
                  <a:noFill/>
                </a:ln>
                <a:solidFill>
                  <a:srgbClr val="202122"/>
                </a:solidFill>
                <a:effectLst/>
                <a:latin typeface="Arial" panose="020B0604020202020204" pitchFamily="34" charset="0"/>
              </a:rPr>
              <a:t>on-board bill of lading</a:t>
            </a:r>
            <a:r>
              <a:rPr kumimoji="0" lang="en-US" altLang="en-US" sz="2800" b="0" i="0" u="none" strike="noStrike" cap="none" normalizeH="0" baseline="0" dirty="0">
                <a:ln>
                  <a:noFill/>
                </a:ln>
                <a:solidFill>
                  <a:srgbClr val="202122"/>
                </a:solidFill>
                <a:effectLst/>
                <a:latin typeface="Arial" panose="020B0604020202020204" pitchFamily="34" charset="0"/>
              </a:rPr>
              <a:t> denotes that merchandise has been physically loaded onto a shipping vessel, such as a freighter or cargo plane.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202122"/>
                </a:solidFill>
                <a:effectLst/>
                <a:latin typeface="Arial" panose="020B0604020202020204" pitchFamily="34" charset="0"/>
              </a:rPr>
              <a:t>A </a:t>
            </a:r>
            <a:r>
              <a:rPr kumimoji="0" lang="en-US" altLang="en-US" sz="2800" b="0" i="1" u="none" strike="noStrike" cap="none" normalizeH="0" baseline="0" dirty="0">
                <a:ln>
                  <a:noFill/>
                </a:ln>
                <a:solidFill>
                  <a:srgbClr val="202122"/>
                </a:solidFill>
                <a:effectLst/>
                <a:latin typeface="Arial" panose="020B0604020202020204" pitchFamily="34" charset="0"/>
              </a:rPr>
              <a:t>received-for-shipment bill of lading</a:t>
            </a:r>
            <a:r>
              <a:rPr kumimoji="0" lang="en-US" altLang="en-US" sz="2800" b="0" i="0" u="none" strike="noStrike" cap="none" normalizeH="0" baseline="0" dirty="0">
                <a:ln>
                  <a:noFill/>
                </a:ln>
                <a:solidFill>
                  <a:srgbClr val="202122"/>
                </a:solidFill>
                <a:effectLst/>
                <a:latin typeface="Arial" panose="020B0604020202020204" pitchFamily="34" charset="0"/>
              </a:rPr>
              <a:t> denotes that merchandise has been received, but is not guaranteed to have already been loaded onto a shipping vessel.(Typically, it will be issued by a freight-forwarder at a port or depot).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 </a:t>
            </a:r>
            <a:r>
              <a:rPr kumimoji="0" lang="en-US" altLang="en-US" sz="28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straight bill of lading</a:t>
            </a:r>
            <a:r>
              <a:rPr kumimoji="0" lang="en-US" altLang="en-US" sz="28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is used when payment has been made in advance of shipment and requires a carrier to deliver the merchandise to the appropriate party.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An </a:t>
            </a:r>
            <a:r>
              <a:rPr kumimoji="0" lang="en-US" altLang="en-US" sz="28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order bill of lading</a:t>
            </a:r>
            <a:r>
              <a:rPr kumimoji="0" lang="en-US" altLang="en-US" sz="28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is used when shipping merchandise prior to payment, requiring a carrier to deliver the merchandise to the importer, and at the endorsement of the exporter the carrier may transfer title to the importer. </a:t>
            </a:r>
            <a:endParaRPr lang="en-US" dirty="0"/>
          </a:p>
        </p:txBody>
      </p:sp>
      <p:sp>
        <p:nvSpPr>
          <p:cNvPr id="4" name="Slide Number Placeholder 3">
            <a:extLst>
              <a:ext uri="{FF2B5EF4-FFF2-40B4-BE49-F238E27FC236}">
                <a16:creationId xmlns:a16="http://schemas.microsoft.com/office/drawing/2014/main" id="{8BEFCC87-E504-4978-199E-409D0CBC20CC}"/>
              </a:ext>
            </a:extLst>
          </p:cNvPr>
          <p:cNvSpPr>
            <a:spLocks noGrp="1"/>
          </p:cNvSpPr>
          <p:nvPr>
            <p:ph type="sldNum" sz="quarter" idx="12"/>
          </p:nvPr>
        </p:nvSpPr>
        <p:spPr/>
        <p:txBody>
          <a:bodyPr/>
          <a:lstStyle/>
          <a:p>
            <a:fld id="{F4801FD5-11B4-DE43-ACA2-E85EEB9A6F9C}" type="slidenum">
              <a:rPr lang="en-US" smtClean="0"/>
              <a:pPr/>
              <a:t>7</a:t>
            </a:fld>
            <a:endParaRPr lang="en-US" dirty="0"/>
          </a:p>
        </p:txBody>
      </p:sp>
    </p:spTree>
    <p:extLst>
      <p:ext uri="{BB962C8B-B14F-4D97-AF65-F5344CB8AC3E}">
        <p14:creationId xmlns:p14="http://schemas.microsoft.com/office/powerpoint/2010/main" val="3031802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8CEA6-A027-4425-CAB6-8FD9653F048E}"/>
              </a:ext>
            </a:extLst>
          </p:cNvPr>
          <p:cNvSpPr>
            <a:spLocks noGrp="1"/>
          </p:cNvSpPr>
          <p:nvPr>
            <p:ph type="title"/>
          </p:nvPr>
        </p:nvSpPr>
        <p:spPr/>
        <p:txBody>
          <a:bodyPr/>
          <a:lstStyle/>
          <a:p>
            <a:r>
              <a:rPr lang="en-US" dirty="0"/>
              <a:t>GOVERNMENT CONTROL</a:t>
            </a:r>
          </a:p>
        </p:txBody>
      </p:sp>
      <p:sp>
        <p:nvSpPr>
          <p:cNvPr id="4" name="Slide Number Placeholder 3">
            <a:extLst>
              <a:ext uri="{FF2B5EF4-FFF2-40B4-BE49-F238E27FC236}">
                <a16:creationId xmlns:a16="http://schemas.microsoft.com/office/drawing/2014/main" id="{D5D45CE8-DABE-F666-283F-C585BE400B91}"/>
              </a:ext>
            </a:extLst>
          </p:cNvPr>
          <p:cNvSpPr>
            <a:spLocks noGrp="1"/>
          </p:cNvSpPr>
          <p:nvPr>
            <p:ph type="sldNum" sz="quarter" idx="12"/>
          </p:nvPr>
        </p:nvSpPr>
        <p:spPr/>
        <p:txBody>
          <a:bodyPr/>
          <a:lstStyle/>
          <a:p>
            <a:fld id="{F4801FD5-11B4-DE43-ACA2-E85EEB9A6F9C}" type="slidenum">
              <a:rPr lang="en-US" smtClean="0"/>
              <a:pPr/>
              <a:t>8</a:t>
            </a:fld>
            <a:endParaRPr lang="en-US" dirty="0"/>
          </a:p>
        </p:txBody>
      </p:sp>
      <p:sp>
        <p:nvSpPr>
          <p:cNvPr id="5" name="Rectangle 2">
            <a:extLst>
              <a:ext uri="{FF2B5EF4-FFF2-40B4-BE49-F238E27FC236}">
                <a16:creationId xmlns:a16="http://schemas.microsoft.com/office/drawing/2014/main" id="{74708DF5-582B-C5B5-44E6-AC42DE6124C7}"/>
              </a:ext>
            </a:extLst>
          </p:cNvPr>
          <p:cNvSpPr>
            <a:spLocks noGrp="1" noChangeArrowheads="1"/>
          </p:cNvSpPr>
          <p:nvPr>
            <p:ph sz="half" idx="1"/>
          </p:nvPr>
        </p:nvSpPr>
        <p:spPr bwMode="auto">
          <a:xfrm>
            <a:off x="514600" y="1340599"/>
            <a:ext cx="1102002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cs typeface="Arial" panose="020B0604020202020204" pitchFamily="34" charset="0"/>
              </a:rPr>
              <a:t>Minimum Wage-Fixing Machinery Convention, 1928</a:t>
            </a:r>
            <a:r>
              <a:rPr kumimoji="0" lang="en-US" altLang="en-US" b="0" i="0" u="none" strike="noStrike" cap="none" normalizeH="0" baseline="0" dirty="0">
                <a:ln>
                  <a:noFill/>
                </a:ln>
                <a:effectLst/>
                <a:cs typeface="Arial" panose="020B0604020202020204" pitchFamily="34" charset="0"/>
              </a:rPr>
              <a:t> is an International Labour Organization </a:t>
            </a:r>
            <a:r>
              <a:rPr kumimoji="0" lang="en-US" altLang="en-US" b="0" i="0" u="none" strike="noStrike" cap="none" normalizeH="0" baseline="0" dirty="0">
                <a:ln>
                  <a:noFill/>
                </a:ln>
                <a:effectLst/>
                <a:cs typeface="Arial" panose="020B0604020202020204" pitchFamily="34" charset="0"/>
                <a:hlinkClick r:id="rId2" tooltip="International Labour Organization">
                  <a:extLst>
                    <a:ext uri="{A12FA001-AC4F-418D-AE19-62706E023703}">
                      <ahyp:hlinkClr xmlns:ahyp="http://schemas.microsoft.com/office/drawing/2018/hyperlinkcolor" val="tx"/>
                    </a:ext>
                  </a:extLst>
                </a:hlinkClick>
              </a:rPr>
              <a:t>Convention</a:t>
            </a:r>
            <a:r>
              <a:rPr kumimoji="0" lang="en-US" altLang="en-US" b="0" i="0" u="none" strike="noStrike" cap="none" normalizeH="0" baseline="0" dirty="0">
                <a:ln>
                  <a:noFill/>
                </a:ln>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cs typeface="Arial" panose="020B0604020202020204" pitchFamily="34" charset="0"/>
              </a:rPr>
              <a:t>It was established in 1928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cs typeface="Arial" panose="020B0604020202020204" pitchFamily="34" charset="0"/>
              </a:rPr>
              <a:t>Having decided upon the adoption of certain proposals with regard to minimum wage-fixing machinery, the principles of the convention were modified and included in the Minimum Wage Fixing Machinery (Agriculture) Convention, 1951 and Minimum Wage Fixing Convention, 1970.</a:t>
            </a:r>
          </a:p>
          <a:p>
            <a:pPr algn="l"/>
            <a:r>
              <a:rPr lang="en-US" b="0" i="0" dirty="0">
                <a:effectLst/>
                <a:cs typeface="Arial" panose="020B0604020202020204" pitchFamily="34" charset="0"/>
              </a:rPr>
              <a:t>As of 2015, 105 states have ratified the convention. One state, the </a:t>
            </a:r>
            <a:r>
              <a:rPr lang="en-US" b="0" i="0" u="none" strike="noStrike" dirty="0">
                <a:effectLst/>
                <a:cs typeface="Arial" panose="020B0604020202020204" pitchFamily="34" charset="0"/>
              </a:rPr>
              <a:t>United Kingdom</a:t>
            </a:r>
            <a:r>
              <a:rPr lang="en-US" b="0" i="0" dirty="0">
                <a:effectLst/>
                <a:cs typeface="Arial" panose="020B0604020202020204" pitchFamily="34" charset="0"/>
              </a:rPr>
              <a:t>, has ratified it but subsequently denounced it.</a:t>
            </a:r>
          </a:p>
        </p:txBody>
      </p:sp>
    </p:spTree>
    <p:extLst>
      <p:ext uri="{BB962C8B-B14F-4D97-AF65-F5344CB8AC3E}">
        <p14:creationId xmlns:p14="http://schemas.microsoft.com/office/powerpoint/2010/main" val="3900270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F18C9-7809-A8B8-0C3E-6AF46EAC028F}"/>
              </a:ext>
            </a:extLst>
          </p:cNvPr>
          <p:cNvSpPr>
            <a:spLocks noGrp="1"/>
          </p:cNvSpPr>
          <p:nvPr>
            <p:ph type="title"/>
          </p:nvPr>
        </p:nvSpPr>
        <p:spPr/>
        <p:txBody>
          <a:bodyPr/>
          <a:lstStyle/>
          <a:p>
            <a:r>
              <a:rPr lang="en-US" b="1" i="0" dirty="0">
                <a:effectLst/>
                <a:latin typeface="Arial" panose="020B0604020202020204" pitchFamily="34" charset="0"/>
              </a:rPr>
              <a:t>Carriage of Goods by Sea Act</a:t>
            </a:r>
            <a:r>
              <a:rPr lang="en-US" b="0" i="0" dirty="0">
                <a:effectLst/>
                <a:latin typeface="Arial" panose="020B0604020202020204" pitchFamily="34" charset="0"/>
              </a:rPr>
              <a:t> </a:t>
            </a:r>
            <a:endParaRPr lang="en-US" dirty="0"/>
          </a:p>
        </p:txBody>
      </p:sp>
      <p:sp>
        <p:nvSpPr>
          <p:cNvPr id="3" name="Content Placeholder 2">
            <a:extLst>
              <a:ext uri="{FF2B5EF4-FFF2-40B4-BE49-F238E27FC236}">
                <a16:creationId xmlns:a16="http://schemas.microsoft.com/office/drawing/2014/main" id="{FC430C97-26AF-6845-09A9-52C174B7400C}"/>
              </a:ext>
            </a:extLst>
          </p:cNvPr>
          <p:cNvSpPr>
            <a:spLocks noGrp="1"/>
          </p:cNvSpPr>
          <p:nvPr>
            <p:ph sz="half" idx="1"/>
          </p:nvPr>
        </p:nvSpPr>
        <p:spPr/>
        <p:txBody>
          <a:bodyPr>
            <a:normAutofit/>
          </a:bodyPr>
          <a:lstStyle/>
          <a:p>
            <a:r>
              <a:rPr lang="en-US" b="0" i="0" dirty="0">
                <a:effectLst/>
                <a:latin typeface="Arial" panose="020B0604020202020204" pitchFamily="34" charset="0"/>
              </a:rPr>
              <a:t>The </a:t>
            </a:r>
            <a:r>
              <a:rPr lang="en-US" b="1" i="0" dirty="0">
                <a:effectLst/>
                <a:latin typeface="Arial" panose="020B0604020202020204" pitchFamily="34" charset="0"/>
              </a:rPr>
              <a:t>Carriage of Goods by Sea Act</a:t>
            </a:r>
            <a:r>
              <a:rPr lang="en-US" b="0" i="0" dirty="0">
                <a:effectLst/>
                <a:latin typeface="Arial" panose="020B0604020202020204" pitchFamily="34" charset="0"/>
              </a:rPr>
              <a:t> ("COGSA")</a:t>
            </a:r>
            <a:r>
              <a:rPr lang="en-US" b="0" i="0" u="none" strike="noStrike" baseline="30000" dirty="0">
                <a:effectLst/>
                <a:latin typeface="Arial" panose="020B0604020202020204" pitchFamily="34" charset="0"/>
                <a:hlinkClick r:id="rId2">
                  <a:extLst>
                    <a:ext uri="{A12FA001-AC4F-418D-AE19-62706E023703}">
                      <ahyp:hlinkClr xmlns:ahyp="http://schemas.microsoft.com/office/drawing/2018/hyperlinkcolor" val="tx"/>
                    </a:ext>
                  </a:extLst>
                </a:hlinkClick>
              </a:rPr>
              <a:t>[1]</a:t>
            </a:r>
            <a:r>
              <a:rPr lang="en-US" b="0" i="0" dirty="0">
                <a:effectLst/>
                <a:latin typeface="Arial" panose="020B0604020202020204" pitchFamily="34" charset="0"/>
              </a:rPr>
              <a:t> is a </a:t>
            </a:r>
            <a:r>
              <a:rPr lang="en-US" b="0" i="0" u="none" strike="noStrike" dirty="0">
                <a:effectLst/>
                <a:latin typeface="Arial" panose="020B0604020202020204" pitchFamily="34" charset="0"/>
              </a:rPr>
              <a:t>United States</a:t>
            </a:r>
            <a:r>
              <a:rPr lang="en-US" b="0" i="0" dirty="0">
                <a:effectLst/>
                <a:latin typeface="Arial" panose="020B0604020202020204" pitchFamily="34" charset="0"/>
              </a:rPr>
              <a:t> </a:t>
            </a:r>
            <a:r>
              <a:rPr lang="en-US" b="0" i="0" u="none" strike="noStrike" dirty="0">
                <a:effectLst/>
                <a:latin typeface="Arial" panose="020B0604020202020204" pitchFamily="34" charset="0"/>
              </a:rPr>
              <a:t>statute</a:t>
            </a:r>
            <a:r>
              <a:rPr lang="en-US" b="0" i="0" dirty="0">
                <a:effectLst/>
                <a:latin typeface="Arial" panose="020B0604020202020204" pitchFamily="34" charset="0"/>
              </a:rPr>
              <a:t> governing the rights and responsibilities between </a:t>
            </a:r>
            <a:r>
              <a:rPr lang="en-US" b="0" i="0" u="none" strike="noStrike" dirty="0">
                <a:effectLst/>
                <a:latin typeface="Arial" panose="020B0604020202020204" pitchFamily="34" charset="0"/>
              </a:rPr>
              <a:t>shippers</a:t>
            </a:r>
            <a:r>
              <a:rPr lang="en-US" b="0" i="0" dirty="0">
                <a:effectLst/>
                <a:latin typeface="Arial" panose="020B0604020202020204" pitchFamily="34" charset="0"/>
              </a:rPr>
              <a:t> of </a:t>
            </a:r>
            <a:r>
              <a:rPr lang="en-US" b="0" i="0" u="none" strike="noStrike" dirty="0">
                <a:effectLst/>
                <a:latin typeface="Arial" panose="020B0604020202020204" pitchFamily="34" charset="0"/>
              </a:rPr>
              <a:t>cargo</a:t>
            </a:r>
            <a:r>
              <a:rPr lang="en-US" b="0" i="0" dirty="0">
                <a:effectLst/>
                <a:latin typeface="Arial" panose="020B0604020202020204" pitchFamily="34" charset="0"/>
              </a:rPr>
              <a:t> and </a:t>
            </a:r>
            <a:r>
              <a:rPr lang="en-US" b="0" i="0" u="none" strike="noStrike" dirty="0">
                <a:effectLst/>
                <a:latin typeface="Arial" panose="020B0604020202020204" pitchFamily="34" charset="0"/>
              </a:rPr>
              <a:t>ship-owners</a:t>
            </a:r>
            <a:r>
              <a:rPr lang="en-US" b="0" i="0" dirty="0">
                <a:effectLst/>
                <a:latin typeface="Arial" panose="020B0604020202020204" pitchFamily="34" charset="0"/>
              </a:rPr>
              <a:t> regarding ocean shipments to and from the United States.</a:t>
            </a:r>
          </a:p>
          <a:p>
            <a:endParaRPr lang="en-US" b="0" i="0" dirty="0">
              <a:effectLst/>
              <a:latin typeface="Arial" panose="020B0604020202020204" pitchFamily="34" charset="0"/>
            </a:endParaRPr>
          </a:p>
          <a:p>
            <a:r>
              <a:rPr lang="en-US" b="0" i="0" dirty="0">
                <a:effectLst/>
                <a:latin typeface="Arial" panose="020B0604020202020204" pitchFamily="34" charset="0"/>
              </a:rPr>
              <a:t> It is the U.S. enactment of the International Convention Regarding Bills of Lading, commonly known as the "</a:t>
            </a:r>
            <a:r>
              <a:rPr lang="en-US" b="0" i="0" u="none" strike="noStrike" dirty="0">
                <a:effectLst/>
                <a:latin typeface="Arial" panose="020B0604020202020204" pitchFamily="34" charset="0"/>
              </a:rPr>
              <a:t>Hague Rules</a:t>
            </a:r>
            <a:r>
              <a:rPr lang="en-US" b="0" i="0" dirty="0">
                <a:effectLst/>
                <a:latin typeface="Arial" panose="020B0604020202020204" pitchFamily="34" charset="0"/>
              </a:rPr>
              <a:t>".</a:t>
            </a:r>
          </a:p>
          <a:p>
            <a:endParaRPr lang="en-US" dirty="0">
              <a:latin typeface="Arial" panose="020B0604020202020204" pitchFamily="34" charset="0"/>
            </a:endParaRPr>
          </a:p>
          <a:p>
            <a:r>
              <a:rPr lang="en-US" b="0" i="0" dirty="0">
                <a:effectLst/>
                <a:latin typeface="Arial" panose="020B0604020202020204" pitchFamily="34" charset="0"/>
              </a:rPr>
              <a:t> It was found in </a:t>
            </a:r>
            <a:r>
              <a:rPr lang="en-US" b="0" i="0" u="none" strike="noStrike" dirty="0">
                <a:effectLst/>
                <a:latin typeface="Arial" panose="020B0604020202020204" pitchFamily="34" charset="0"/>
              </a:rPr>
              <a:t>Title 46</a:t>
            </a:r>
            <a:r>
              <a:rPr lang="en-US" b="0" i="0" dirty="0">
                <a:effectLst/>
                <a:latin typeface="Arial" panose="020B0604020202020204" pitchFamily="34" charset="0"/>
              </a:rPr>
              <a:t> Appendix of the </a:t>
            </a:r>
            <a:r>
              <a:rPr lang="en-US" b="0" i="0" u="none" strike="noStrike" dirty="0">
                <a:effectLst/>
                <a:latin typeface="Arial" panose="020B0604020202020204" pitchFamily="34" charset="0"/>
              </a:rPr>
              <a:t>United States Code</a:t>
            </a:r>
            <a:r>
              <a:rPr lang="en-US" b="0" i="0" dirty="0">
                <a:effectLst/>
                <a:latin typeface="Arial" panose="020B0604020202020204" pitchFamily="34" charset="0"/>
              </a:rPr>
              <a:t>, starting at Section 1301, but has been moved to a note in 46 </a:t>
            </a:r>
            <a:r>
              <a:rPr lang="en-US" b="0" i="0" u="none" strike="noStrike" dirty="0">
                <a:effectLst/>
                <a:latin typeface="Arial" panose="020B0604020202020204" pitchFamily="34" charset="0"/>
              </a:rPr>
              <a:t>United States Code</a:t>
            </a:r>
            <a:r>
              <a:rPr lang="en-US" b="0" i="0" dirty="0">
                <a:effectLst/>
                <a:latin typeface="Arial" panose="020B0604020202020204" pitchFamily="34" charset="0"/>
              </a:rPr>
              <a:t> 30701.</a:t>
            </a:r>
          </a:p>
        </p:txBody>
      </p:sp>
      <p:sp>
        <p:nvSpPr>
          <p:cNvPr id="4" name="Slide Number Placeholder 3">
            <a:extLst>
              <a:ext uri="{FF2B5EF4-FFF2-40B4-BE49-F238E27FC236}">
                <a16:creationId xmlns:a16="http://schemas.microsoft.com/office/drawing/2014/main" id="{4D3A94C6-9439-C969-E3DD-B5CA06A5C613}"/>
              </a:ext>
            </a:extLst>
          </p:cNvPr>
          <p:cNvSpPr>
            <a:spLocks noGrp="1"/>
          </p:cNvSpPr>
          <p:nvPr>
            <p:ph type="sldNum" sz="quarter" idx="12"/>
          </p:nvPr>
        </p:nvSpPr>
        <p:spPr/>
        <p:txBody>
          <a:bodyPr/>
          <a:lstStyle/>
          <a:p>
            <a:fld id="{F4801FD5-11B4-DE43-ACA2-E85EEB9A6F9C}" type="slidenum">
              <a:rPr lang="en-US" smtClean="0"/>
              <a:pPr/>
              <a:t>9</a:t>
            </a:fld>
            <a:endParaRPr lang="en-US" dirty="0"/>
          </a:p>
        </p:txBody>
      </p:sp>
    </p:spTree>
    <p:extLst>
      <p:ext uri="{BB962C8B-B14F-4D97-AF65-F5344CB8AC3E}">
        <p14:creationId xmlns:p14="http://schemas.microsoft.com/office/powerpoint/2010/main" val="3473913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D90C0-A056-0342-85C8-E69F330F6E86}"/>
              </a:ext>
            </a:extLst>
          </p:cNvPr>
          <p:cNvSpPr>
            <a:spLocks noGrp="1"/>
          </p:cNvSpPr>
          <p:nvPr>
            <p:ph type="title"/>
          </p:nvPr>
        </p:nvSpPr>
        <p:spPr/>
        <p:txBody>
          <a:bodyPr/>
          <a:lstStyle/>
          <a:p>
            <a:r>
              <a:rPr lang="en-US" b="1" i="0" dirty="0">
                <a:effectLst/>
                <a:latin typeface="Arial" panose="020B0604020202020204" pitchFamily="34" charset="0"/>
              </a:rPr>
              <a:t>Carriage of Goods by Sea Act</a:t>
            </a:r>
            <a:r>
              <a:rPr lang="en-US" b="0" i="0" dirty="0">
                <a:effectLst/>
                <a:latin typeface="Arial" panose="020B0604020202020204" pitchFamily="34" charset="0"/>
              </a:rPr>
              <a:t> </a:t>
            </a:r>
            <a:endParaRPr lang="en-US" dirty="0"/>
          </a:p>
        </p:txBody>
      </p:sp>
      <p:sp>
        <p:nvSpPr>
          <p:cNvPr id="3" name="Content Placeholder 2">
            <a:extLst>
              <a:ext uri="{FF2B5EF4-FFF2-40B4-BE49-F238E27FC236}">
                <a16:creationId xmlns:a16="http://schemas.microsoft.com/office/drawing/2014/main" id="{081BDA7A-307D-28A4-45D5-6338FFBD348B}"/>
              </a:ext>
            </a:extLst>
          </p:cNvPr>
          <p:cNvSpPr>
            <a:spLocks noGrp="1"/>
          </p:cNvSpPr>
          <p:nvPr>
            <p:ph sz="half" idx="1"/>
          </p:nvPr>
        </p:nvSpPr>
        <p:spPr/>
        <p:txBody>
          <a:bodyPr/>
          <a:lstStyle/>
          <a:p>
            <a:r>
              <a:rPr lang="en-US" b="0" i="0" dirty="0">
                <a:effectLst/>
                <a:latin typeface="Arial" panose="020B0604020202020204" pitchFamily="34" charset="0"/>
              </a:rPr>
              <a:t>The </a:t>
            </a:r>
            <a:r>
              <a:rPr lang="en-US" b="0" i="0" u="none" strike="noStrike" dirty="0">
                <a:effectLst/>
                <a:latin typeface="Arial" panose="020B0604020202020204" pitchFamily="34" charset="0"/>
              </a:rPr>
              <a:t>United States Congress</a:t>
            </a:r>
            <a:r>
              <a:rPr lang="en-US" b="0" i="0" dirty="0">
                <a:effectLst/>
                <a:latin typeface="Arial" panose="020B0604020202020204" pitchFamily="34" charset="0"/>
              </a:rPr>
              <a:t>, concerned that the Hague Rules did not offer shippers enough protection against damage to cargo by shipowners, amended the Hague Rules in a number of minor, but important, ways.</a:t>
            </a:r>
          </a:p>
          <a:p>
            <a:r>
              <a:rPr lang="en-US" b="0" i="0" dirty="0">
                <a:effectLst/>
                <a:latin typeface="Arial" panose="020B0604020202020204" pitchFamily="34" charset="0"/>
              </a:rPr>
              <a:t> It increased the amount that shipowners would have to pay cargo owners for damage in transit from </a:t>
            </a:r>
            <a:r>
              <a:rPr lang="en-US" b="0" i="0" u="none" strike="noStrike" dirty="0">
                <a:effectLst/>
                <a:latin typeface="Arial" panose="020B0604020202020204" pitchFamily="34" charset="0"/>
              </a:rPr>
              <a:t>GBP</a:t>
            </a:r>
            <a:r>
              <a:rPr lang="en-US" b="0" i="0" dirty="0">
                <a:effectLst/>
                <a:latin typeface="Arial" panose="020B0604020202020204" pitchFamily="34" charset="0"/>
              </a:rPr>
              <a:t> 100 per package to US$500 per package or, for goods not shipped in packages, per customary freight unit.</a:t>
            </a:r>
          </a:p>
          <a:p>
            <a:r>
              <a:rPr lang="en-US" b="0" i="0" dirty="0">
                <a:effectLst/>
                <a:latin typeface="Arial" panose="020B0604020202020204" pitchFamily="34" charset="0"/>
              </a:rPr>
              <a:t> This "package limitation" has become one of the most contentious and litigious areas in the field of cargo damage, particularly as it relates to the transportation of goods by ocean </a:t>
            </a:r>
            <a:r>
              <a:rPr lang="en-US" b="0" i="0" u="none" strike="noStrike" dirty="0">
                <a:effectLst/>
                <a:latin typeface="Arial" panose="020B0604020202020204" pitchFamily="34" charset="0"/>
              </a:rPr>
              <a:t>shipping containers</a:t>
            </a:r>
            <a:r>
              <a:rPr lang="en-US" b="0" i="0" dirty="0">
                <a:effectLst/>
                <a:latin typeface="Arial" panose="020B0604020202020204" pitchFamily="34" charset="0"/>
              </a:rPr>
              <a:t>.</a:t>
            </a:r>
            <a:endParaRPr lang="en-US" dirty="0"/>
          </a:p>
          <a:p>
            <a:endParaRPr lang="en-US" dirty="0"/>
          </a:p>
        </p:txBody>
      </p:sp>
      <p:sp>
        <p:nvSpPr>
          <p:cNvPr id="4" name="Slide Number Placeholder 3">
            <a:extLst>
              <a:ext uri="{FF2B5EF4-FFF2-40B4-BE49-F238E27FC236}">
                <a16:creationId xmlns:a16="http://schemas.microsoft.com/office/drawing/2014/main" id="{6211DB6B-E57A-E793-F6D2-8AF8DEB2B2B0}"/>
              </a:ext>
            </a:extLst>
          </p:cNvPr>
          <p:cNvSpPr>
            <a:spLocks noGrp="1"/>
          </p:cNvSpPr>
          <p:nvPr>
            <p:ph type="sldNum" sz="quarter" idx="12"/>
          </p:nvPr>
        </p:nvSpPr>
        <p:spPr/>
        <p:txBody>
          <a:bodyPr/>
          <a:lstStyle/>
          <a:p>
            <a:fld id="{F4801FD5-11B4-DE43-ACA2-E85EEB9A6F9C}" type="slidenum">
              <a:rPr lang="en-US" smtClean="0"/>
              <a:pPr/>
              <a:t>10</a:t>
            </a:fld>
            <a:endParaRPr lang="en-US" dirty="0"/>
          </a:p>
        </p:txBody>
      </p:sp>
    </p:spTree>
    <p:extLst>
      <p:ext uri="{BB962C8B-B14F-4D97-AF65-F5344CB8AC3E}">
        <p14:creationId xmlns:p14="http://schemas.microsoft.com/office/powerpoint/2010/main" val="423621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34367</TotalTime>
  <Words>900</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Garamond</vt:lpstr>
      <vt:lpstr>Helvetica</vt:lpstr>
      <vt:lpstr>Times New Roman</vt:lpstr>
      <vt:lpstr>Wingdings</vt:lpstr>
      <vt:lpstr>Office Theme</vt:lpstr>
      <vt:lpstr>PROJECT TOPIC: FREIGHT RATE,GOVERNMENT CONTROL,BILL OF LADING &amp; GOOD CARRIAGE BY SEA ACT  </vt:lpstr>
      <vt:lpstr>GROUP MEMBERS</vt:lpstr>
      <vt:lpstr>THEORY OF FREIGHT RATE &amp; FARES</vt:lpstr>
      <vt:lpstr>FACTORS OF FREIGHT RATE</vt:lpstr>
      <vt:lpstr>BILL OF LADDING</vt:lpstr>
      <vt:lpstr>FUNCTIONS OF BILL OF LADING </vt:lpstr>
      <vt:lpstr>TYPES OF BILL OF LADING</vt:lpstr>
      <vt:lpstr>GOVERNMENT CONTROL</vt:lpstr>
      <vt:lpstr>Carriage of Goods by Sea Act </vt:lpstr>
      <vt:lpstr>Carriage of Goods by Sea Act </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Amoako Bernard Kofi</cp:lastModifiedBy>
  <cp:revision>189</cp:revision>
  <dcterms:created xsi:type="dcterms:W3CDTF">2016-11-07T15:28:41Z</dcterms:created>
  <dcterms:modified xsi:type="dcterms:W3CDTF">2023-08-06T18:22:16Z</dcterms:modified>
</cp:coreProperties>
</file>