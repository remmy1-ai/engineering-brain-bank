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503" r:id="rId2"/>
    <p:sldId id="472" r:id="rId3"/>
    <p:sldId id="505" r:id="rId4"/>
    <p:sldId id="506" r:id="rId5"/>
    <p:sldId id="507" r:id="rId6"/>
    <p:sldId id="50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8DF"/>
    <a:srgbClr val="F6C702"/>
    <a:srgbClr val="008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36" y="54"/>
      </p:cViewPr>
      <p:guideLst>
        <p:guide orient="horz" pos="2208"/>
        <p:guide pos="38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070D9-CE4C-4523-84E5-2BCC360EF90C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DD320-4E3A-4CB5-A0BC-F8EFFE6E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6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075A-9D75-2B48-9A54-E569C7FF800C}" type="datetime1">
              <a:rPr lang="en-US" smtClean="0"/>
              <a:t>6/20/2023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12192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13360" y="241270"/>
              <a:ext cx="2519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0123" y="68970"/>
              <a:ext cx="563237" cy="71680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0" y="1096019"/>
            <a:ext cx="10363200" cy="25417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pPr algn="l"/>
            <a:r>
              <a:rPr lang="en-US" dirty="0">
                <a:latin typeface="Helvetica"/>
                <a:cs typeface="Helvetica"/>
              </a:rPr>
              <a:t>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914400" y="4666761"/>
            <a:ext cx="10363200" cy="159933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pPr algn="l"/>
            <a:endParaRPr lang="en-US" b="1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E489-CF82-AC41-8AC7-E64A8729DB92}" type="datetime1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271235"/>
            <a:ext cx="12191997" cy="586764"/>
            <a:chOff x="0" y="6271235"/>
            <a:chExt cx="9144000" cy="586764"/>
          </a:xfrm>
        </p:grpSpPr>
        <p:sp>
          <p:nvSpPr>
            <p:cNvPr id="8" name="Rectangle 7"/>
            <p:cNvSpPr/>
            <p:nvPr/>
          </p:nvSpPr>
          <p:spPr>
            <a:xfrm>
              <a:off x="0" y="6668022"/>
              <a:ext cx="9144000" cy="18997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271235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6489" y="6299719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8027214" y="6314438"/>
              <a:ext cx="10916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0538" y="6320348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7070" y="6308011"/>
              <a:ext cx="292217" cy="292217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3D96D2C-39D2-D146-949D-A56FF12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95127"/>
            <a:ext cx="11198086" cy="59269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8A6806-0C47-8F41-8CB1-123A74FCD28F}"/>
              </a:ext>
            </a:extLst>
          </p:cNvPr>
          <p:cNvCxnSpPr/>
          <p:nvPr userDrawn="1"/>
        </p:nvCxnSpPr>
        <p:spPr>
          <a:xfrm>
            <a:off x="1" y="924340"/>
            <a:ext cx="12207161" cy="0"/>
          </a:xfrm>
          <a:prstGeom prst="line">
            <a:avLst/>
          </a:prstGeom>
          <a:ln w="12700">
            <a:solidFill>
              <a:srgbClr val="00800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14474AE-41FC-854B-B962-6E0C929C5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2088"/>
            <a:ext cx="11198085" cy="51758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708" y="6278605"/>
            <a:ext cx="855784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fld id="{F4801FD5-11B4-DE43-ACA2-E85EEB9A6F9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5A64-44E2-AA44-BF0A-0A6EBB813A36}" type="datetime1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303D-75E3-FC4C-ABF8-DBE5552AD690}" type="datetime1">
              <a:rPr lang="en-US" smtClean="0"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1834-423E-B246-A5D3-FE019AB1BCCC}" type="datetime1">
              <a:rPr lang="en-US" smtClean="0"/>
              <a:t>6/20/2023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CF7D-DEA7-4646-BF5A-8F86F47F55E0}" type="datetime1">
              <a:rPr lang="en-US" smtClean="0"/>
              <a:t>6/20/2023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EB0E7-5ABD-4248-BC89-2EF7B115D306}" type="datetime1">
              <a:rPr lang="en-US" smtClean="0"/>
              <a:t>6/20/2023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25B47-57AB-1847-9A5E-9D0228DA2CF8}" type="datetime1">
              <a:rPr lang="en-US" smtClean="0"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DC83-A974-8647-80C3-F692755FAEC3}" type="datetime1">
              <a:rPr lang="en-US" smtClean="0"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B6AA-36AB-384C-89F5-D0AA3660A4E6}" type="datetime1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0C56-AED7-E349-A367-C56B569B58DD}" type="datetime1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52A24-3BDA-B749-BE6C-6289322D5558}" type="datetime1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B02BC7-9B65-A649-A6AA-B9A015F59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3483" y="3621965"/>
            <a:ext cx="8265033" cy="2615942"/>
          </a:xfrm>
        </p:spPr>
        <p:txBody>
          <a:bodyPr vert="horz" lIns="68580" tIns="34290" rIns="68580" bIns="34290" rtlCol="0" anchor="b">
            <a:normAutofit fontScale="90000"/>
          </a:bodyPr>
          <a:lstStyle/>
          <a:p>
            <a:pPr>
              <a:lnSpc>
                <a:spcPct val="150000"/>
              </a:lnSpc>
              <a:spcAft>
                <a:spcPts val="750"/>
              </a:spcAft>
            </a:pPr>
            <a:r>
              <a:rPr lang="en-US" sz="2700" b="1" dirty="0"/>
              <a:t>PROJECT TOPIC:</a:t>
            </a:r>
            <a:br>
              <a:rPr lang="en-US" sz="2700" b="1" dirty="0"/>
            </a:br>
            <a:br>
              <a:rPr lang="en-US" sz="2700" b="1" dirty="0"/>
            </a:br>
            <a:r>
              <a:rPr lang="en-US" sz="4000" b="1" dirty="0"/>
              <a:t>CLASSIFICATION SOCIETIES</a:t>
            </a:r>
            <a:br>
              <a:rPr lang="en-US" sz="1400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br>
              <a:rPr lang="en-US" sz="1400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endParaRPr lang="en-US" sz="18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1EFB1F-8D7C-2F44-8B60-6C24E97F6990}"/>
              </a:ext>
            </a:extLst>
          </p:cNvPr>
          <p:cNvSpPr txBox="1">
            <a:spLocks/>
          </p:cNvSpPr>
          <p:nvPr/>
        </p:nvSpPr>
        <p:spPr>
          <a:xfrm>
            <a:off x="1963483" y="1756643"/>
            <a:ext cx="8067605" cy="1449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chemeClr val="tx1"/>
                </a:solidFill>
                <a:latin typeface="Garamond" panose="02020404030301010803" pitchFamily="18" charset="0"/>
              </a:rPr>
              <a:t>MME 486</a:t>
            </a:r>
          </a:p>
          <a:p>
            <a:pPr algn="ctr"/>
            <a:r>
              <a:rPr lang="en-US" sz="6000" b="1" dirty="0">
                <a:solidFill>
                  <a:schemeClr val="tx1"/>
                </a:solidFill>
                <a:latin typeface="Garamond" panose="02020404030301010803" pitchFamily="18" charset="0"/>
              </a:rPr>
              <a:t>GROUP 3</a:t>
            </a:r>
          </a:p>
        </p:txBody>
      </p:sp>
    </p:spTree>
    <p:extLst>
      <p:ext uri="{BB962C8B-B14F-4D97-AF65-F5344CB8AC3E}">
        <p14:creationId xmlns:p14="http://schemas.microsoft.com/office/powerpoint/2010/main" val="288887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1187-138B-B74D-8689-8AC58615C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GROUP MEMBERS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924B8-FF7D-6649-A6E3-828075C4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845235-1DC7-1A44-A970-D7FBEF7C70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AKUMANE JOSHUA                                  8310319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AMOAKO BERNARD                                 8310519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AMANFU EDWIN                                      8310419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00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1187-138B-B74D-8689-8AC58615C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CLASSIFICATION SOCIETIES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924B8-FF7D-6649-A6E3-828075C4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845235-1DC7-1A44-A970-D7FBEF7C70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Classification societies are autonomous bodies structured in a number of different ways and whose job is to assign a class to a vessel.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 vast majority of charterers together with underwriters insist that a vessel has to be classed.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However, bearing in mind the very nature of classification (</a:t>
            </a:r>
            <a:r>
              <a:rPr lang="en-US" dirty="0" err="1"/>
              <a:t>i.e</a:t>
            </a:r>
            <a:r>
              <a:rPr lang="en-US" dirty="0"/>
              <a:t> an independent check on the condition of the vessel), it is not difficult to see how and unclassified vessel will be handicapped in obtaining both insurance and employment</a:t>
            </a: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123832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E299A-2C30-E3AD-359A-EA05D913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 SOCIETIES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39E5F-BF5D-56D0-1C10-163643CF49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independent check is carried out by these classification societies. Some are limited liability companies with shareholders. These include </a:t>
            </a:r>
            <a:r>
              <a:rPr lang="en-US" dirty="0" err="1"/>
              <a:t>Germanischer</a:t>
            </a:r>
            <a:r>
              <a:rPr lang="en-US" dirty="0"/>
              <a:t>, Lloyd's, and BV.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There’s also the Lloyd's Register with unusual charitable status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Some are state-owned or licensed like the RS, IRS and CCS.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08536-AEA2-741A-8E22-C7493090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78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78CE-3215-747E-E612-BD6EE128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BAF9C-0D42-9EB0-9BE6-860A64BC75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principal and internationally recognized classification societies are those that are members of the International Association of Classification Societies (IACS), namely: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American Bureau of Shipping (ABS)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Bureau Veritas (BV)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China Classification Society(CCS)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Croatian Register of Shipping (CRS)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DNV GL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Indian Register of Shipping (IRS)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Korean Register (KR)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Lloyd's Register (LR)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Nippon </a:t>
            </a:r>
            <a:r>
              <a:rPr lang="en-US" dirty="0" err="1"/>
              <a:t>Kaiji</a:t>
            </a:r>
            <a:r>
              <a:rPr lang="en-US" dirty="0"/>
              <a:t> </a:t>
            </a:r>
            <a:r>
              <a:rPr lang="en-US" dirty="0" err="1"/>
              <a:t>Kyokai</a:t>
            </a:r>
            <a:r>
              <a:rPr lang="en-US" dirty="0"/>
              <a:t> (Class NK)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Polish Register (PRS)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Registro</a:t>
            </a:r>
            <a:r>
              <a:rPr lang="en-US" dirty="0"/>
              <a:t> </a:t>
            </a:r>
            <a:r>
              <a:rPr lang="en-US" dirty="0" err="1"/>
              <a:t>Italiano</a:t>
            </a:r>
            <a:r>
              <a:rPr lang="en-US" dirty="0"/>
              <a:t> </a:t>
            </a:r>
            <a:r>
              <a:rPr lang="en-US" dirty="0" err="1"/>
              <a:t>Navale</a:t>
            </a:r>
            <a:r>
              <a:rPr lang="en-US" dirty="0"/>
              <a:t> (RINA)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Russian Maritime Register of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10A86-85E9-92B0-53D7-3DB15179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13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6189-6323-800D-2CCB-0679526B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452EF-2D37-0377-B348-F8BA19CB4D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Classification societies draw up detailed specifications of all materials used in the construction of ships.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They also draw up rules concerning not only construction of </a:t>
            </a:r>
            <a:r>
              <a:rPr lang="en-US" dirty="0" err="1"/>
              <a:t>equipments</a:t>
            </a:r>
            <a:r>
              <a:rPr lang="en-US" dirty="0"/>
              <a:t> on board but concerning the ship itself.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order to assist them in enforcing their rules and regulations, they maintain a network of exclusive and part time surveyors throughout the world.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E752E-2153-955A-8A1E-864E3E33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390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34142</TotalTime>
  <Words>328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Garamond</vt:lpstr>
      <vt:lpstr>Helvetica</vt:lpstr>
      <vt:lpstr>Times New Roman</vt:lpstr>
      <vt:lpstr>Wingdings</vt:lpstr>
      <vt:lpstr>Office Theme</vt:lpstr>
      <vt:lpstr>PROJECT TOPIC:  CLASSIFICATION SOCIETIES  </vt:lpstr>
      <vt:lpstr>GROUP MEMBERS</vt:lpstr>
      <vt:lpstr>CLASSIFICATION SOCIETIES</vt:lpstr>
      <vt:lpstr>CLASSIFICATION SOCIETIES</vt:lpstr>
      <vt:lpstr>MEMBERS</vt:lpstr>
      <vt:lpstr>DUTIES</vt:lpstr>
    </vt:vector>
  </TitlesOfParts>
  <Company>UPK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Amoako Bernard Kofi</cp:lastModifiedBy>
  <cp:revision>187</cp:revision>
  <dcterms:created xsi:type="dcterms:W3CDTF">2016-11-07T15:28:41Z</dcterms:created>
  <dcterms:modified xsi:type="dcterms:W3CDTF">2023-06-21T07:50:52Z</dcterms:modified>
</cp:coreProperties>
</file>