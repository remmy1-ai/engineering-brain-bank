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4"/>
  </p:notesMasterIdLst>
  <p:sldIdLst>
    <p:sldId id="257" r:id="rId2"/>
    <p:sldId id="256" r:id="rId3"/>
    <p:sldId id="258" r:id="rId4"/>
    <p:sldId id="260" r:id="rId5"/>
    <p:sldId id="259"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5" autoAdjust="0"/>
    <p:restoredTop sz="94737" autoAdjust="0"/>
  </p:normalViewPr>
  <p:slideViewPr>
    <p:cSldViewPr snapToGrid="0">
      <p:cViewPr varScale="1">
        <p:scale>
          <a:sx n="82" d="100"/>
          <a:sy n="82" d="100"/>
        </p:scale>
        <p:origin x="21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A1BF0C-7452-424A-8F7C-2E83AF724134}" type="datetimeFigureOut">
              <a:rPr lang="en-US" smtClean="0"/>
              <a:t>9/1/2022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90979F-1F26-479E-BD22-23F56B5D3820}" type="slidenum">
              <a:rPr lang="en-US" smtClean="0"/>
              <a:t>‹#›</a:t>
            </a:fld>
            <a:endParaRPr lang="en-US"/>
          </a:p>
        </p:txBody>
      </p:sp>
    </p:spTree>
    <p:extLst>
      <p:ext uri="{BB962C8B-B14F-4D97-AF65-F5344CB8AC3E}">
        <p14:creationId xmlns:p14="http://schemas.microsoft.com/office/powerpoint/2010/main" val="27434511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r>
              <a:rPr lang="en-US"/>
              <a:t>8/31/2022</a:t>
            </a:r>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8/31/2022</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8/31/2022</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8/31/2022</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8/31/2022</a:t>
            </a:r>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8/31/2022</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8/31/2022</a:t>
            </a:r>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8/31/2022</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8/31/2022</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dirty="0"/>
              <a:t>Click icon to add picture</a:t>
            </a:r>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8/31/2022</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8/31/2022</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8/31/2022</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8/31/2022</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r>
              <a:rPr lang="en-US"/>
              <a:t>8/31/2022</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dirty="0"/>
              <a:t>Click icon to add picture</a:t>
            </a:r>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dirty="0"/>
              <a:t>Click icon to add picture</a:t>
            </a:r>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dirty="0"/>
              <a:t>Click icon to add picture</a:t>
            </a:r>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r>
              <a:rPr lang="en-US"/>
              <a:t>8/31/2022</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8/31/2022</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8/31/2022</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r>
              <a:rPr lang="en-US"/>
              <a:t>8/31/2022</a:t>
            </a:r>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DC4B8-7852-2FA0-0C8A-EB0AC8AC3FE3}"/>
              </a:ext>
            </a:extLst>
          </p:cNvPr>
          <p:cNvSpPr>
            <a:spLocks noGrp="1"/>
          </p:cNvSpPr>
          <p:nvPr>
            <p:ph type="ctrTitle"/>
          </p:nvPr>
        </p:nvSpPr>
        <p:spPr/>
        <p:txBody>
          <a:bodyPr/>
          <a:lstStyle/>
          <a:p>
            <a:r>
              <a:rPr lang="en-US" dirty="0"/>
              <a:t>MARINE INSURANCE AND OPERATIONS</a:t>
            </a:r>
          </a:p>
        </p:txBody>
      </p:sp>
      <p:sp>
        <p:nvSpPr>
          <p:cNvPr id="3" name="Subtitle 2">
            <a:extLst>
              <a:ext uri="{FF2B5EF4-FFF2-40B4-BE49-F238E27FC236}">
                <a16:creationId xmlns:a16="http://schemas.microsoft.com/office/drawing/2014/main" id="{0DE0FA6F-0906-9D52-374C-044428422FDC}"/>
              </a:ext>
            </a:extLst>
          </p:cNvPr>
          <p:cNvSpPr>
            <a:spLocks noGrp="1"/>
          </p:cNvSpPr>
          <p:nvPr>
            <p:ph type="subTitle" idx="1"/>
          </p:nvPr>
        </p:nvSpPr>
        <p:spPr/>
        <p:txBody>
          <a:bodyPr/>
          <a:lstStyle/>
          <a:p>
            <a:endParaRPr lang="en-US" dirty="0"/>
          </a:p>
        </p:txBody>
      </p:sp>
      <p:sp>
        <p:nvSpPr>
          <p:cNvPr id="4" name="Slide Number Placeholder 3">
            <a:extLst>
              <a:ext uri="{FF2B5EF4-FFF2-40B4-BE49-F238E27FC236}">
                <a16:creationId xmlns:a16="http://schemas.microsoft.com/office/drawing/2014/main" id="{17DFD4E9-3F2C-FE63-0079-0A18B0AF8D66}"/>
              </a:ext>
            </a:extLst>
          </p:cNvPr>
          <p:cNvSpPr>
            <a:spLocks noGrp="1"/>
          </p:cNvSpPr>
          <p:nvPr>
            <p:ph type="sldNum" sz="quarter" idx="12"/>
          </p:nvPr>
        </p:nvSpPr>
        <p:spPr>
          <a:xfrm>
            <a:off x="11209895" y="6242537"/>
            <a:ext cx="771089" cy="365125"/>
          </a:xfrm>
        </p:spPr>
        <p:txBody>
          <a:bodyPr/>
          <a:lstStyle/>
          <a:p>
            <a:fld id="{6D22F896-40B5-4ADD-8801-0D06FADFA095}" type="slidenum">
              <a:rPr lang="en-US" smtClean="0"/>
              <a:t>1</a:t>
            </a:fld>
            <a:endParaRPr lang="en-US" dirty="0"/>
          </a:p>
        </p:txBody>
      </p:sp>
    </p:spTree>
    <p:extLst>
      <p:ext uri="{BB962C8B-B14F-4D97-AF65-F5344CB8AC3E}">
        <p14:creationId xmlns:p14="http://schemas.microsoft.com/office/powerpoint/2010/main" val="1420438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8BD86-4872-99D0-2078-17EB9FA48BDB}"/>
              </a:ext>
            </a:extLst>
          </p:cNvPr>
          <p:cNvSpPr>
            <a:spLocks noGrp="1"/>
          </p:cNvSpPr>
          <p:nvPr>
            <p:ph type="ctrTitle"/>
          </p:nvPr>
        </p:nvSpPr>
        <p:spPr>
          <a:xfrm>
            <a:off x="4368800" y="225779"/>
            <a:ext cx="3962400" cy="1174043"/>
          </a:xfrm>
        </p:spPr>
        <p:txBody>
          <a:bodyPr/>
          <a:lstStyle/>
          <a:p>
            <a:r>
              <a:rPr lang="en-US" dirty="0"/>
              <a:t>GROUP 3</a:t>
            </a:r>
          </a:p>
        </p:txBody>
      </p:sp>
      <p:sp>
        <p:nvSpPr>
          <p:cNvPr id="3" name="Subtitle 2">
            <a:extLst>
              <a:ext uri="{FF2B5EF4-FFF2-40B4-BE49-F238E27FC236}">
                <a16:creationId xmlns:a16="http://schemas.microsoft.com/office/drawing/2014/main" id="{5FC77D40-FCA8-B4B5-EB43-AFF6AE7A4CBC}"/>
              </a:ext>
            </a:extLst>
          </p:cNvPr>
          <p:cNvSpPr>
            <a:spLocks noGrp="1"/>
          </p:cNvSpPr>
          <p:nvPr>
            <p:ph type="subTitle" idx="1"/>
          </p:nvPr>
        </p:nvSpPr>
        <p:spPr>
          <a:xfrm>
            <a:off x="1876424" y="1715911"/>
            <a:ext cx="8791575" cy="5057421"/>
          </a:xfrm>
        </p:spPr>
        <p:txBody>
          <a:bodyPr>
            <a:normAutofit fontScale="92500" lnSpcReduction="10000"/>
          </a:bodyPr>
          <a:lstStyle/>
          <a:p>
            <a:r>
              <a:rPr lang="en-US" sz="4800" dirty="0">
                <a:solidFill>
                  <a:schemeClr val="bg2"/>
                </a:solidFill>
              </a:rPr>
              <a:t>MEMBERs</a:t>
            </a:r>
          </a:p>
          <a:p>
            <a:r>
              <a:rPr lang="en-US" sz="3500" dirty="0">
                <a:solidFill>
                  <a:schemeClr val="tx1"/>
                </a:solidFill>
              </a:rPr>
              <a:t>EDOGUN RALPH                        3615418</a:t>
            </a:r>
          </a:p>
          <a:p>
            <a:r>
              <a:rPr lang="en-US" sz="3500" dirty="0">
                <a:solidFill>
                  <a:schemeClr val="tx1"/>
                </a:solidFill>
              </a:rPr>
              <a:t>KUMORDZIE JACK KWAME         3615818</a:t>
            </a:r>
          </a:p>
          <a:p>
            <a:r>
              <a:rPr lang="en-US" sz="3500" dirty="0">
                <a:solidFill>
                  <a:schemeClr val="tx1"/>
                </a:solidFill>
              </a:rPr>
              <a:t>ESSIBU PAPPA KOBENA               3615618</a:t>
            </a:r>
          </a:p>
          <a:p>
            <a:r>
              <a:rPr lang="en-US" sz="3500" dirty="0">
                <a:solidFill>
                  <a:schemeClr val="tx1"/>
                </a:solidFill>
              </a:rPr>
              <a:t>GOKU LOUIS                             3615718</a:t>
            </a:r>
          </a:p>
          <a:p>
            <a:r>
              <a:rPr lang="en-US" sz="3500" dirty="0">
                <a:solidFill>
                  <a:schemeClr val="tx1"/>
                </a:solidFill>
              </a:rPr>
              <a:t>BASSAH JOHN NANA KWEKU     3615318  (GL)</a:t>
            </a:r>
          </a:p>
          <a:p>
            <a:r>
              <a:rPr lang="en-US" sz="3500" dirty="0">
                <a:solidFill>
                  <a:schemeClr val="tx1"/>
                </a:solidFill>
              </a:rPr>
              <a:t>FORDI SAMUEL TATA                   3615618</a:t>
            </a:r>
          </a:p>
          <a:p>
            <a:endParaRPr lang="en-US" sz="3500" dirty="0">
              <a:solidFill>
                <a:schemeClr val="tx1"/>
              </a:solidFill>
            </a:endParaRPr>
          </a:p>
          <a:p>
            <a:endParaRPr lang="en-US" sz="2400" dirty="0"/>
          </a:p>
        </p:txBody>
      </p:sp>
      <p:sp>
        <p:nvSpPr>
          <p:cNvPr id="4" name="Slide Number Placeholder 3">
            <a:extLst>
              <a:ext uri="{FF2B5EF4-FFF2-40B4-BE49-F238E27FC236}">
                <a16:creationId xmlns:a16="http://schemas.microsoft.com/office/drawing/2014/main" id="{07687EED-1301-8CF6-26DC-A6BEF975A7B0}"/>
              </a:ext>
            </a:extLst>
          </p:cNvPr>
          <p:cNvSpPr>
            <a:spLocks noGrp="1"/>
          </p:cNvSpPr>
          <p:nvPr>
            <p:ph type="sldNum" sz="quarter" idx="12"/>
          </p:nvPr>
        </p:nvSpPr>
        <p:spPr>
          <a:xfrm>
            <a:off x="11127834" y="6230815"/>
            <a:ext cx="771089" cy="365125"/>
          </a:xfrm>
        </p:spPr>
        <p:txBody>
          <a:bodyPr/>
          <a:lstStyle/>
          <a:p>
            <a:fld id="{6D22F896-40B5-4ADD-8801-0D06FADFA095}" type="slidenum">
              <a:rPr lang="en-US" smtClean="0"/>
              <a:t>2</a:t>
            </a:fld>
            <a:endParaRPr lang="en-US" dirty="0"/>
          </a:p>
        </p:txBody>
      </p:sp>
    </p:spTree>
    <p:extLst>
      <p:ext uri="{BB962C8B-B14F-4D97-AF65-F5344CB8AC3E}">
        <p14:creationId xmlns:p14="http://schemas.microsoft.com/office/powerpoint/2010/main" val="1809399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2975C-0319-B388-3BD2-09B4B9798EE4}"/>
              </a:ext>
            </a:extLst>
          </p:cNvPr>
          <p:cNvSpPr>
            <a:spLocks noGrp="1"/>
          </p:cNvSpPr>
          <p:nvPr>
            <p:ph type="title"/>
          </p:nvPr>
        </p:nvSpPr>
        <p:spPr/>
        <p:txBody>
          <a:bodyPr>
            <a:normAutofit/>
          </a:bodyPr>
          <a:lstStyle/>
          <a:p>
            <a:r>
              <a:rPr lang="en-US" sz="4800" dirty="0"/>
              <a:t>OUTLINE</a:t>
            </a:r>
          </a:p>
        </p:txBody>
      </p:sp>
      <p:sp>
        <p:nvSpPr>
          <p:cNvPr id="3" name="Content Placeholder 2">
            <a:extLst>
              <a:ext uri="{FF2B5EF4-FFF2-40B4-BE49-F238E27FC236}">
                <a16:creationId xmlns:a16="http://schemas.microsoft.com/office/drawing/2014/main" id="{7B782AA0-A78F-46ED-2C22-0AD91BB5E0EB}"/>
              </a:ext>
            </a:extLst>
          </p:cNvPr>
          <p:cNvSpPr>
            <a:spLocks noGrp="1"/>
          </p:cNvSpPr>
          <p:nvPr>
            <p:ph idx="1"/>
          </p:nvPr>
        </p:nvSpPr>
        <p:spPr/>
        <p:txBody>
          <a:bodyPr>
            <a:normAutofit fontScale="85000" lnSpcReduction="20000"/>
          </a:bodyPr>
          <a:lstStyle/>
          <a:p>
            <a:r>
              <a:rPr lang="en-US" dirty="0"/>
              <a:t>RISK MANAGEMENT</a:t>
            </a:r>
          </a:p>
          <a:p>
            <a:r>
              <a:rPr lang="en-US" dirty="0"/>
              <a:t>HULL AND MACHINERY INSURANCE</a:t>
            </a:r>
          </a:p>
          <a:p>
            <a:r>
              <a:rPr lang="en-US" dirty="0"/>
              <a:t>GENERAL AVERAGE</a:t>
            </a:r>
          </a:p>
          <a:p>
            <a:r>
              <a:rPr lang="en-US" dirty="0"/>
              <a:t>CLAIM HANDLING</a:t>
            </a:r>
          </a:p>
          <a:p>
            <a:r>
              <a:rPr lang="en-US" dirty="0"/>
              <a:t>PROTECTION AND INDTMNITY</a:t>
            </a:r>
          </a:p>
          <a:p>
            <a:r>
              <a:rPr lang="en-US" dirty="0"/>
              <a:t>SHIP OPERATIONS</a:t>
            </a:r>
          </a:p>
          <a:p>
            <a:r>
              <a:rPr lang="en-US" dirty="0"/>
              <a:t>VOYAGE PLANNING</a:t>
            </a:r>
          </a:p>
          <a:p>
            <a:r>
              <a:rPr lang="en-US" dirty="0"/>
              <a:t>HIRES AND FREIGHT</a:t>
            </a:r>
          </a:p>
        </p:txBody>
      </p:sp>
      <p:sp>
        <p:nvSpPr>
          <p:cNvPr id="4" name="Slide Number Placeholder 3">
            <a:extLst>
              <a:ext uri="{FF2B5EF4-FFF2-40B4-BE49-F238E27FC236}">
                <a16:creationId xmlns:a16="http://schemas.microsoft.com/office/drawing/2014/main" id="{0A413C7B-2DED-0B58-45CF-C51BF49070FD}"/>
              </a:ext>
            </a:extLst>
          </p:cNvPr>
          <p:cNvSpPr>
            <a:spLocks noGrp="1"/>
          </p:cNvSpPr>
          <p:nvPr>
            <p:ph type="sldNum" sz="quarter" idx="12"/>
          </p:nvPr>
        </p:nvSpPr>
        <p:spPr>
          <a:xfrm>
            <a:off x="10276321" y="5883274"/>
            <a:ext cx="1259187" cy="740264"/>
          </a:xfrm>
        </p:spPr>
        <p:txBody>
          <a:bodyPr/>
          <a:lstStyle/>
          <a:p>
            <a:fld id="{6D22F896-40B5-4ADD-8801-0D06FADFA095}" type="slidenum">
              <a:rPr lang="en-US" smtClean="0"/>
              <a:t>3</a:t>
            </a:fld>
            <a:endParaRPr lang="en-US" dirty="0"/>
          </a:p>
        </p:txBody>
      </p:sp>
    </p:spTree>
    <p:extLst>
      <p:ext uri="{BB962C8B-B14F-4D97-AF65-F5344CB8AC3E}">
        <p14:creationId xmlns:p14="http://schemas.microsoft.com/office/powerpoint/2010/main" val="32345608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46ACC-CF02-542D-42AF-BA111CEA9A0D}"/>
              </a:ext>
            </a:extLst>
          </p:cNvPr>
          <p:cNvSpPr>
            <a:spLocks noGrp="1"/>
          </p:cNvSpPr>
          <p:nvPr>
            <p:ph type="title"/>
          </p:nvPr>
        </p:nvSpPr>
        <p:spPr/>
        <p:txBody>
          <a:bodyPr/>
          <a:lstStyle/>
          <a:p>
            <a:r>
              <a:rPr lang="en-US" dirty="0"/>
              <a:t>RISK MANAGEMENT</a:t>
            </a:r>
          </a:p>
        </p:txBody>
      </p:sp>
      <p:sp>
        <p:nvSpPr>
          <p:cNvPr id="3" name="Content Placeholder 2">
            <a:extLst>
              <a:ext uri="{FF2B5EF4-FFF2-40B4-BE49-F238E27FC236}">
                <a16:creationId xmlns:a16="http://schemas.microsoft.com/office/drawing/2014/main" id="{83CD51AE-5527-DEC9-DBC5-4E074ED8B306}"/>
              </a:ext>
            </a:extLst>
          </p:cNvPr>
          <p:cNvSpPr>
            <a:spLocks noGrp="1"/>
          </p:cNvSpPr>
          <p:nvPr>
            <p:ph idx="1"/>
          </p:nvPr>
        </p:nvSpPr>
        <p:spPr/>
        <p:txBody>
          <a:bodyPr/>
          <a:lstStyle/>
          <a:p>
            <a:r>
              <a:rPr lang="en-US" dirty="0"/>
              <a:t>One way of managing risk is by purchasing insurance, that way the risk is transferred away from the assured allowing it to operate without the burden of financial loss.</a:t>
            </a:r>
          </a:p>
          <a:p>
            <a:r>
              <a:rPr lang="en-US" dirty="0"/>
              <a:t>CHANNELS IN WHICH INSURANCES CAN BE PLACED THROUGH</a:t>
            </a:r>
          </a:p>
          <a:p>
            <a:pPr lvl="1"/>
            <a:r>
              <a:rPr lang="en-US" dirty="0"/>
              <a:t>Syndicated markets</a:t>
            </a:r>
          </a:p>
          <a:p>
            <a:pPr lvl="1"/>
            <a:r>
              <a:rPr lang="en-US" dirty="0"/>
              <a:t>Subscription through commercial insurance companies</a:t>
            </a:r>
          </a:p>
          <a:p>
            <a:pPr lvl="1"/>
            <a:r>
              <a:rPr lang="en-US" dirty="0"/>
              <a:t>Fixed premium P&amp;I clubs</a:t>
            </a:r>
          </a:p>
          <a:p>
            <a:endParaRPr lang="en-US" dirty="0"/>
          </a:p>
        </p:txBody>
      </p:sp>
      <p:sp>
        <p:nvSpPr>
          <p:cNvPr id="4" name="Slide Number Placeholder 3">
            <a:extLst>
              <a:ext uri="{FF2B5EF4-FFF2-40B4-BE49-F238E27FC236}">
                <a16:creationId xmlns:a16="http://schemas.microsoft.com/office/drawing/2014/main" id="{6AA10C10-F2C3-1375-613B-5305AB6A044F}"/>
              </a:ext>
            </a:extLst>
          </p:cNvPr>
          <p:cNvSpPr>
            <a:spLocks noGrp="1"/>
          </p:cNvSpPr>
          <p:nvPr>
            <p:ph type="sldNum" sz="quarter" idx="12"/>
          </p:nvPr>
        </p:nvSpPr>
        <p:spPr/>
        <p:txBody>
          <a:bodyPr/>
          <a:lstStyle/>
          <a:p>
            <a:fld id="{6D22F896-40B5-4ADD-8801-0D06FADFA095}" type="slidenum">
              <a:rPr lang="en-US" smtClean="0"/>
              <a:t>4</a:t>
            </a:fld>
            <a:endParaRPr lang="en-US" dirty="0"/>
          </a:p>
        </p:txBody>
      </p:sp>
    </p:spTree>
    <p:extLst>
      <p:ext uri="{BB962C8B-B14F-4D97-AF65-F5344CB8AC3E}">
        <p14:creationId xmlns:p14="http://schemas.microsoft.com/office/powerpoint/2010/main" val="713715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FEE6A-63BC-ADC8-BEDC-DA3114F9FEF7}"/>
              </a:ext>
            </a:extLst>
          </p:cNvPr>
          <p:cNvSpPr>
            <a:spLocks noGrp="1"/>
          </p:cNvSpPr>
          <p:nvPr>
            <p:ph type="title"/>
          </p:nvPr>
        </p:nvSpPr>
        <p:spPr/>
        <p:txBody>
          <a:bodyPr/>
          <a:lstStyle/>
          <a:p>
            <a:r>
              <a:rPr lang="en-US" dirty="0"/>
              <a:t>HULL AND MACHINERY INSURANCE</a:t>
            </a:r>
          </a:p>
        </p:txBody>
      </p:sp>
      <p:sp>
        <p:nvSpPr>
          <p:cNvPr id="3" name="Content Placeholder 2">
            <a:extLst>
              <a:ext uri="{FF2B5EF4-FFF2-40B4-BE49-F238E27FC236}">
                <a16:creationId xmlns:a16="http://schemas.microsoft.com/office/drawing/2014/main" id="{3626DB43-B980-FE55-8C04-FEE0CA283649}"/>
              </a:ext>
            </a:extLst>
          </p:cNvPr>
          <p:cNvSpPr>
            <a:spLocks noGrp="1"/>
          </p:cNvSpPr>
          <p:nvPr>
            <p:ph idx="1"/>
          </p:nvPr>
        </p:nvSpPr>
        <p:spPr/>
        <p:txBody>
          <a:bodyPr/>
          <a:lstStyle/>
          <a:p>
            <a:r>
              <a:rPr lang="en-US" dirty="0"/>
              <a:t>To conclude</a:t>
            </a:r>
          </a:p>
        </p:txBody>
      </p:sp>
      <p:sp>
        <p:nvSpPr>
          <p:cNvPr id="4" name="Slide Number Placeholder 3">
            <a:extLst>
              <a:ext uri="{FF2B5EF4-FFF2-40B4-BE49-F238E27FC236}">
                <a16:creationId xmlns:a16="http://schemas.microsoft.com/office/drawing/2014/main" id="{C3869035-7735-D5A5-0FED-FED1B39F2824}"/>
              </a:ext>
            </a:extLst>
          </p:cNvPr>
          <p:cNvSpPr>
            <a:spLocks noGrp="1"/>
          </p:cNvSpPr>
          <p:nvPr>
            <p:ph type="sldNum" sz="quarter" idx="12"/>
          </p:nvPr>
        </p:nvSpPr>
        <p:spPr/>
        <p:txBody>
          <a:bodyPr/>
          <a:lstStyle/>
          <a:p>
            <a:fld id="{6D22F896-40B5-4ADD-8801-0D06FADFA095}" type="slidenum">
              <a:rPr lang="en-US" smtClean="0"/>
              <a:t>5</a:t>
            </a:fld>
            <a:endParaRPr lang="en-US" dirty="0"/>
          </a:p>
        </p:txBody>
      </p:sp>
    </p:spTree>
    <p:extLst>
      <p:ext uri="{BB962C8B-B14F-4D97-AF65-F5344CB8AC3E}">
        <p14:creationId xmlns:p14="http://schemas.microsoft.com/office/powerpoint/2010/main" val="8454530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FE732-7002-833F-36F9-99DE9D0ECAF2}"/>
              </a:ext>
            </a:extLst>
          </p:cNvPr>
          <p:cNvSpPr>
            <a:spLocks noGrp="1"/>
          </p:cNvSpPr>
          <p:nvPr>
            <p:ph type="title"/>
          </p:nvPr>
        </p:nvSpPr>
        <p:spPr/>
        <p:txBody>
          <a:bodyPr/>
          <a:lstStyle/>
          <a:p>
            <a:r>
              <a:rPr lang="en-US" dirty="0"/>
              <a:t>GENERAL AVERAGE</a:t>
            </a:r>
          </a:p>
        </p:txBody>
      </p:sp>
      <p:sp>
        <p:nvSpPr>
          <p:cNvPr id="3" name="Content Placeholder 2">
            <a:extLst>
              <a:ext uri="{FF2B5EF4-FFF2-40B4-BE49-F238E27FC236}">
                <a16:creationId xmlns:a16="http://schemas.microsoft.com/office/drawing/2014/main" id="{57436792-E209-2499-C6FF-36E48DB74839}"/>
              </a:ext>
            </a:extLst>
          </p:cNvPr>
          <p:cNvSpPr>
            <a:spLocks noGrp="1"/>
          </p:cNvSpPr>
          <p:nvPr>
            <p:ph idx="1"/>
          </p:nvPr>
        </p:nvSpPr>
        <p:spPr/>
        <p:txBody>
          <a:bodyPr/>
          <a:lstStyle/>
          <a:p>
            <a:r>
              <a:rPr lang="en-US" dirty="0"/>
              <a:t>General Average is a principle of maritime law that essentially establishes that all sea cargo stakeholders evenly share any damage or losses that may occur as a results of voluntary sacrifice of part of the vessel or cargo to save the whole in an emergence. </a:t>
            </a:r>
          </a:p>
        </p:txBody>
      </p:sp>
      <p:sp>
        <p:nvSpPr>
          <p:cNvPr id="4" name="Slide Number Placeholder 3">
            <a:extLst>
              <a:ext uri="{FF2B5EF4-FFF2-40B4-BE49-F238E27FC236}">
                <a16:creationId xmlns:a16="http://schemas.microsoft.com/office/drawing/2014/main" id="{8E198841-22B8-6721-1B35-5220F459E61C}"/>
              </a:ext>
            </a:extLst>
          </p:cNvPr>
          <p:cNvSpPr>
            <a:spLocks noGrp="1"/>
          </p:cNvSpPr>
          <p:nvPr>
            <p:ph type="sldNum" sz="quarter" idx="12"/>
          </p:nvPr>
        </p:nvSpPr>
        <p:spPr/>
        <p:txBody>
          <a:bodyPr/>
          <a:lstStyle/>
          <a:p>
            <a:fld id="{6D22F896-40B5-4ADD-8801-0D06FADFA095}" type="slidenum">
              <a:rPr lang="en-US" smtClean="0"/>
              <a:t>6</a:t>
            </a:fld>
            <a:endParaRPr lang="en-US" dirty="0"/>
          </a:p>
        </p:txBody>
      </p:sp>
    </p:spTree>
    <p:extLst>
      <p:ext uri="{BB962C8B-B14F-4D97-AF65-F5344CB8AC3E}">
        <p14:creationId xmlns:p14="http://schemas.microsoft.com/office/powerpoint/2010/main" val="4020236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FC5FC-9DA4-1FA7-A37D-9B37C4C5942A}"/>
              </a:ext>
            </a:extLst>
          </p:cNvPr>
          <p:cNvSpPr>
            <a:spLocks noGrp="1"/>
          </p:cNvSpPr>
          <p:nvPr>
            <p:ph type="title"/>
          </p:nvPr>
        </p:nvSpPr>
        <p:spPr/>
        <p:txBody>
          <a:bodyPr/>
          <a:lstStyle/>
          <a:p>
            <a:r>
              <a:rPr lang="en-US" dirty="0"/>
              <a:t>CLAIM HANDLING</a:t>
            </a:r>
          </a:p>
        </p:txBody>
      </p:sp>
      <p:sp>
        <p:nvSpPr>
          <p:cNvPr id="3" name="Content Placeholder 2">
            <a:extLst>
              <a:ext uri="{FF2B5EF4-FFF2-40B4-BE49-F238E27FC236}">
                <a16:creationId xmlns:a16="http://schemas.microsoft.com/office/drawing/2014/main" id="{67F0BAE0-8E31-70D8-7334-8AD4CFE87B77}"/>
              </a:ext>
            </a:extLst>
          </p:cNvPr>
          <p:cNvSpPr>
            <a:spLocks noGrp="1"/>
          </p:cNvSpPr>
          <p:nvPr>
            <p:ph idx="1"/>
          </p:nvPr>
        </p:nvSpPr>
        <p:spPr/>
        <p:txBody>
          <a:bodyPr/>
          <a:lstStyle/>
          <a:p>
            <a:r>
              <a:rPr lang="en-US" dirty="0"/>
              <a:t>What is claim handling?</a:t>
            </a:r>
          </a:p>
          <a:p>
            <a:r>
              <a:rPr lang="en-US" dirty="0"/>
              <a:t>Within the ship operator’s organization close liaison and understanding between the insurance and claims department, the technical superintendents and the accountants is most important, so that the flow of information once the claim arises is efficient.</a:t>
            </a:r>
          </a:p>
        </p:txBody>
      </p:sp>
      <p:sp>
        <p:nvSpPr>
          <p:cNvPr id="4" name="Slide Number Placeholder 3">
            <a:extLst>
              <a:ext uri="{FF2B5EF4-FFF2-40B4-BE49-F238E27FC236}">
                <a16:creationId xmlns:a16="http://schemas.microsoft.com/office/drawing/2014/main" id="{2CE11D59-8480-1908-33DE-F4928BBFFF7E}"/>
              </a:ext>
            </a:extLst>
          </p:cNvPr>
          <p:cNvSpPr>
            <a:spLocks noGrp="1"/>
          </p:cNvSpPr>
          <p:nvPr>
            <p:ph type="sldNum" sz="quarter" idx="12"/>
          </p:nvPr>
        </p:nvSpPr>
        <p:spPr/>
        <p:txBody>
          <a:bodyPr/>
          <a:lstStyle/>
          <a:p>
            <a:fld id="{6D22F896-40B5-4ADD-8801-0D06FADFA095}" type="slidenum">
              <a:rPr lang="en-US" smtClean="0"/>
              <a:t>7</a:t>
            </a:fld>
            <a:endParaRPr lang="en-US" dirty="0"/>
          </a:p>
        </p:txBody>
      </p:sp>
    </p:spTree>
    <p:extLst>
      <p:ext uri="{BB962C8B-B14F-4D97-AF65-F5344CB8AC3E}">
        <p14:creationId xmlns:p14="http://schemas.microsoft.com/office/powerpoint/2010/main" val="2474758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4A7FC-A9C1-C4E1-ACE8-BFCF3565BC33}"/>
              </a:ext>
            </a:extLst>
          </p:cNvPr>
          <p:cNvSpPr>
            <a:spLocks noGrp="1"/>
          </p:cNvSpPr>
          <p:nvPr>
            <p:ph type="title"/>
          </p:nvPr>
        </p:nvSpPr>
        <p:spPr/>
        <p:txBody>
          <a:bodyPr/>
          <a:lstStyle/>
          <a:p>
            <a:r>
              <a:rPr lang="en-US" dirty="0"/>
              <a:t>PROTECTION AND INDEMNITY</a:t>
            </a:r>
          </a:p>
        </p:txBody>
      </p:sp>
      <p:sp>
        <p:nvSpPr>
          <p:cNvPr id="3" name="Content Placeholder 2">
            <a:extLst>
              <a:ext uri="{FF2B5EF4-FFF2-40B4-BE49-F238E27FC236}">
                <a16:creationId xmlns:a16="http://schemas.microsoft.com/office/drawing/2014/main" id="{E0EA040A-6236-BCCD-8929-3DBF3F9ABE6F}"/>
              </a:ext>
            </a:extLst>
          </p:cNvPr>
          <p:cNvSpPr>
            <a:spLocks noGrp="1"/>
          </p:cNvSpPr>
          <p:nvPr>
            <p:ph idx="1"/>
          </p:nvPr>
        </p:nvSpPr>
        <p:spPr/>
        <p:txBody>
          <a:bodyPr/>
          <a:lstStyle/>
          <a:p>
            <a:r>
              <a:rPr lang="en-US" dirty="0"/>
              <a:t>Protection and indemnity insurance is a policy ship owners purchase to protect them against liability claims from crews, passengers and third parties. </a:t>
            </a:r>
          </a:p>
          <a:p>
            <a:r>
              <a:rPr lang="en-US" dirty="0"/>
              <a:t>How does a ship owner join a P&amp;I club?</a:t>
            </a:r>
          </a:p>
          <a:p>
            <a:r>
              <a:rPr lang="en-US" dirty="0"/>
              <a:t>What are the risks covered by P&amp;I clubs?</a:t>
            </a:r>
          </a:p>
        </p:txBody>
      </p:sp>
      <p:sp>
        <p:nvSpPr>
          <p:cNvPr id="4" name="Slide Number Placeholder 3">
            <a:extLst>
              <a:ext uri="{FF2B5EF4-FFF2-40B4-BE49-F238E27FC236}">
                <a16:creationId xmlns:a16="http://schemas.microsoft.com/office/drawing/2014/main" id="{5B58C0D9-B455-0980-47BB-0A388CE20D33}"/>
              </a:ext>
            </a:extLst>
          </p:cNvPr>
          <p:cNvSpPr>
            <a:spLocks noGrp="1"/>
          </p:cNvSpPr>
          <p:nvPr>
            <p:ph type="sldNum" sz="quarter" idx="12"/>
          </p:nvPr>
        </p:nvSpPr>
        <p:spPr/>
        <p:txBody>
          <a:bodyPr/>
          <a:lstStyle/>
          <a:p>
            <a:fld id="{6D22F896-40B5-4ADD-8801-0D06FADFA095}" type="slidenum">
              <a:rPr lang="en-US" smtClean="0"/>
              <a:t>8</a:t>
            </a:fld>
            <a:endParaRPr lang="en-US" dirty="0"/>
          </a:p>
        </p:txBody>
      </p:sp>
    </p:spTree>
    <p:extLst>
      <p:ext uri="{BB962C8B-B14F-4D97-AF65-F5344CB8AC3E}">
        <p14:creationId xmlns:p14="http://schemas.microsoft.com/office/powerpoint/2010/main" val="1557025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68DD9-C00E-D0C4-A4C7-FF7E7A20F0F8}"/>
              </a:ext>
            </a:extLst>
          </p:cNvPr>
          <p:cNvSpPr>
            <a:spLocks noGrp="1"/>
          </p:cNvSpPr>
          <p:nvPr>
            <p:ph type="title"/>
          </p:nvPr>
        </p:nvSpPr>
        <p:spPr/>
        <p:txBody>
          <a:bodyPr/>
          <a:lstStyle/>
          <a:p>
            <a:r>
              <a:rPr lang="en-US" dirty="0"/>
              <a:t>SHIP OPERATIONS</a:t>
            </a:r>
          </a:p>
        </p:txBody>
      </p:sp>
      <p:sp>
        <p:nvSpPr>
          <p:cNvPr id="3" name="Content Placeholder 2">
            <a:extLst>
              <a:ext uri="{FF2B5EF4-FFF2-40B4-BE49-F238E27FC236}">
                <a16:creationId xmlns:a16="http://schemas.microsoft.com/office/drawing/2014/main" id="{F08CECF3-316D-645B-22DD-09CF4F9107B2}"/>
              </a:ext>
            </a:extLst>
          </p:cNvPr>
          <p:cNvSpPr>
            <a:spLocks noGrp="1"/>
          </p:cNvSpPr>
          <p:nvPr>
            <p:ph idx="1"/>
          </p:nvPr>
        </p:nvSpPr>
        <p:spPr/>
        <p:txBody>
          <a:bodyPr/>
          <a:lstStyle/>
          <a:p>
            <a:r>
              <a:rPr lang="en-US" dirty="0"/>
              <a:t>The operations department is responsible for the day-to-day operations of the ships, ensuring that each voyage of every vessel is performed safely and efficiently.</a:t>
            </a:r>
          </a:p>
          <a:p>
            <a:r>
              <a:rPr lang="en-US" dirty="0"/>
              <a:t>The primary task of the operations department.</a:t>
            </a:r>
          </a:p>
        </p:txBody>
      </p:sp>
      <p:sp>
        <p:nvSpPr>
          <p:cNvPr id="4" name="Slide Number Placeholder 3">
            <a:extLst>
              <a:ext uri="{FF2B5EF4-FFF2-40B4-BE49-F238E27FC236}">
                <a16:creationId xmlns:a16="http://schemas.microsoft.com/office/drawing/2014/main" id="{7183C2E8-2568-3516-FF80-0BAB9F42F317}"/>
              </a:ext>
            </a:extLst>
          </p:cNvPr>
          <p:cNvSpPr>
            <a:spLocks noGrp="1"/>
          </p:cNvSpPr>
          <p:nvPr>
            <p:ph type="sldNum" sz="quarter" idx="12"/>
          </p:nvPr>
        </p:nvSpPr>
        <p:spPr/>
        <p:txBody>
          <a:bodyPr/>
          <a:lstStyle/>
          <a:p>
            <a:fld id="{6D22F896-40B5-4ADD-8801-0D06FADFA095}" type="slidenum">
              <a:rPr lang="en-US" smtClean="0"/>
              <a:t>9</a:t>
            </a:fld>
            <a:endParaRPr lang="en-US" dirty="0"/>
          </a:p>
        </p:txBody>
      </p:sp>
    </p:spTree>
    <p:extLst>
      <p:ext uri="{BB962C8B-B14F-4D97-AF65-F5344CB8AC3E}">
        <p14:creationId xmlns:p14="http://schemas.microsoft.com/office/powerpoint/2010/main" val="1058463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DC100-FB3E-01C2-5CFA-3D950AECC47A}"/>
              </a:ext>
            </a:extLst>
          </p:cNvPr>
          <p:cNvSpPr>
            <a:spLocks noGrp="1"/>
          </p:cNvSpPr>
          <p:nvPr>
            <p:ph type="title"/>
          </p:nvPr>
        </p:nvSpPr>
        <p:spPr/>
        <p:txBody>
          <a:bodyPr/>
          <a:lstStyle/>
          <a:p>
            <a:r>
              <a:rPr lang="en-US" dirty="0"/>
              <a:t>VOYAGE PLANNING</a:t>
            </a:r>
          </a:p>
        </p:txBody>
      </p:sp>
      <p:sp>
        <p:nvSpPr>
          <p:cNvPr id="3" name="Content Placeholder 2">
            <a:extLst>
              <a:ext uri="{FF2B5EF4-FFF2-40B4-BE49-F238E27FC236}">
                <a16:creationId xmlns:a16="http://schemas.microsoft.com/office/drawing/2014/main" id="{A717A567-CF23-90F6-0506-4CD9837FBDC8}"/>
              </a:ext>
            </a:extLst>
          </p:cNvPr>
          <p:cNvSpPr>
            <a:spLocks noGrp="1"/>
          </p:cNvSpPr>
          <p:nvPr>
            <p:ph idx="1"/>
          </p:nvPr>
        </p:nvSpPr>
        <p:spPr/>
        <p:txBody>
          <a:bodyPr/>
          <a:lstStyle/>
          <a:p>
            <a:r>
              <a:rPr lang="en-US" dirty="0"/>
              <a:t>Part of the role of the operations department is the planning of the movement of vessel from the loading port to the discharge port. This is divided into two interdependent sections.</a:t>
            </a:r>
          </a:p>
          <a:p>
            <a:r>
              <a:rPr lang="en-US" dirty="0"/>
              <a:t>Fuel for the engine and other machineries in ships is still referred to as bunkers. Dating back to the steamships when coal was stowed in a compartment called bunkers.</a:t>
            </a:r>
          </a:p>
          <a:p>
            <a:r>
              <a:rPr lang="en-US" dirty="0"/>
              <a:t>What is </a:t>
            </a:r>
            <a:r>
              <a:rPr lang="en-US" dirty="0" err="1"/>
              <a:t>routeing</a:t>
            </a:r>
            <a:r>
              <a:rPr lang="en-US" dirty="0"/>
              <a:t> and its benefits</a:t>
            </a:r>
          </a:p>
          <a:p>
            <a:endParaRPr lang="en-US" dirty="0"/>
          </a:p>
        </p:txBody>
      </p:sp>
      <p:sp>
        <p:nvSpPr>
          <p:cNvPr id="4" name="Slide Number Placeholder 3">
            <a:extLst>
              <a:ext uri="{FF2B5EF4-FFF2-40B4-BE49-F238E27FC236}">
                <a16:creationId xmlns:a16="http://schemas.microsoft.com/office/drawing/2014/main" id="{F434E72D-E6E0-7F9D-582A-3BADE758388A}"/>
              </a:ext>
            </a:extLst>
          </p:cNvPr>
          <p:cNvSpPr>
            <a:spLocks noGrp="1"/>
          </p:cNvSpPr>
          <p:nvPr>
            <p:ph type="sldNum" sz="quarter" idx="12"/>
          </p:nvPr>
        </p:nvSpPr>
        <p:spPr/>
        <p:txBody>
          <a:bodyPr/>
          <a:lstStyle/>
          <a:p>
            <a:fld id="{6D22F896-40B5-4ADD-8801-0D06FADFA095}" type="slidenum">
              <a:rPr lang="en-US" smtClean="0"/>
              <a:t>10</a:t>
            </a:fld>
            <a:endParaRPr lang="en-US" dirty="0"/>
          </a:p>
        </p:txBody>
      </p:sp>
    </p:spTree>
    <p:extLst>
      <p:ext uri="{BB962C8B-B14F-4D97-AF65-F5344CB8AC3E}">
        <p14:creationId xmlns:p14="http://schemas.microsoft.com/office/powerpoint/2010/main" val="3993537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86B68-66C6-53E9-F980-5D9FB1889E0F}"/>
              </a:ext>
            </a:extLst>
          </p:cNvPr>
          <p:cNvSpPr>
            <a:spLocks noGrp="1"/>
          </p:cNvSpPr>
          <p:nvPr>
            <p:ph type="title"/>
          </p:nvPr>
        </p:nvSpPr>
        <p:spPr/>
        <p:txBody>
          <a:bodyPr/>
          <a:lstStyle/>
          <a:p>
            <a:r>
              <a:rPr lang="en-US" dirty="0"/>
              <a:t>HIRES AND FREIGHT</a:t>
            </a:r>
          </a:p>
        </p:txBody>
      </p:sp>
      <p:sp>
        <p:nvSpPr>
          <p:cNvPr id="3" name="Content Placeholder 2">
            <a:extLst>
              <a:ext uri="{FF2B5EF4-FFF2-40B4-BE49-F238E27FC236}">
                <a16:creationId xmlns:a16="http://schemas.microsoft.com/office/drawing/2014/main" id="{9E4A4B2A-44A9-4B58-E58A-3CD53CC1291D}"/>
              </a:ext>
            </a:extLst>
          </p:cNvPr>
          <p:cNvSpPr>
            <a:spLocks noGrp="1"/>
          </p:cNvSpPr>
          <p:nvPr>
            <p:ph idx="1"/>
          </p:nvPr>
        </p:nvSpPr>
        <p:spPr/>
        <p:txBody>
          <a:bodyPr/>
          <a:lstStyle/>
          <a:p>
            <a:r>
              <a:rPr lang="en-US" dirty="0"/>
              <a:t>Hire is the income derived from a time </a:t>
            </a:r>
            <a:r>
              <a:rPr lang="en-US" dirty="0" err="1"/>
              <a:t>chaterer</a:t>
            </a:r>
            <a:r>
              <a:rPr lang="en-US" dirty="0"/>
              <a:t> and it is usually paid every 15 days in advance.</a:t>
            </a:r>
          </a:p>
          <a:p>
            <a:r>
              <a:rPr lang="en-US" dirty="0"/>
              <a:t>Freights is the income derived from a voyage charter or from a liner operations</a:t>
            </a:r>
          </a:p>
        </p:txBody>
      </p:sp>
      <p:sp>
        <p:nvSpPr>
          <p:cNvPr id="4" name="Slide Number Placeholder 3">
            <a:extLst>
              <a:ext uri="{FF2B5EF4-FFF2-40B4-BE49-F238E27FC236}">
                <a16:creationId xmlns:a16="http://schemas.microsoft.com/office/drawing/2014/main" id="{47A34670-1D0D-E03B-48FD-30DAF0B953E3}"/>
              </a:ext>
            </a:extLst>
          </p:cNvPr>
          <p:cNvSpPr>
            <a:spLocks noGrp="1"/>
          </p:cNvSpPr>
          <p:nvPr>
            <p:ph type="sldNum" sz="quarter" idx="12"/>
          </p:nvPr>
        </p:nvSpPr>
        <p:spPr/>
        <p:txBody>
          <a:bodyPr/>
          <a:lstStyle/>
          <a:p>
            <a:fld id="{6D22F896-40B5-4ADD-8801-0D06FADFA095}" type="slidenum">
              <a:rPr lang="en-US" smtClean="0"/>
              <a:t>11</a:t>
            </a:fld>
            <a:endParaRPr lang="en-US" dirty="0"/>
          </a:p>
        </p:txBody>
      </p:sp>
    </p:spTree>
    <p:extLst>
      <p:ext uri="{BB962C8B-B14F-4D97-AF65-F5344CB8AC3E}">
        <p14:creationId xmlns:p14="http://schemas.microsoft.com/office/powerpoint/2010/main" val="47902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F2304-937E-B249-2815-01CFA37FDEBB}"/>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D183F3FD-9680-3625-8193-1C787F49E8B3}"/>
              </a:ext>
            </a:extLst>
          </p:cNvPr>
          <p:cNvSpPr>
            <a:spLocks noGrp="1"/>
          </p:cNvSpPr>
          <p:nvPr>
            <p:ph idx="1"/>
          </p:nvPr>
        </p:nvSpPr>
        <p:spPr/>
        <p:txBody>
          <a:bodyPr/>
          <a:lstStyle/>
          <a:p>
            <a:r>
              <a:rPr lang="en-US" dirty="0"/>
              <a:t>To conclude it is essential that ship owners become a member of a P&amp;I club or an insurance company to minimize liability cost and also practice safe ship operations to avoid such liabilities</a:t>
            </a:r>
          </a:p>
        </p:txBody>
      </p:sp>
      <p:sp>
        <p:nvSpPr>
          <p:cNvPr id="4" name="Slide Number Placeholder 3">
            <a:extLst>
              <a:ext uri="{FF2B5EF4-FFF2-40B4-BE49-F238E27FC236}">
                <a16:creationId xmlns:a16="http://schemas.microsoft.com/office/drawing/2014/main" id="{32A44D25-86A3-7271-3941-824113BA0118}"/>
              </a:ext>
            </a:extLst>
          </p:cNvPr>
          <p:cNvSpPr>
            <a:spLocks noGrp="1"/>
          </p:cNvSpPr>
          <p:nvPr>
            <p:ph type="sldNum" sz="quarter" idx="12"/>
          </p:nvPr>
        </p:nvSpPr>
        <p:spPr/>
        <p:txBody>
          <a:bodyPr/>
          <a:lstStyle/>
          <a:p>
            <a:fld id="{6D22F896-40B5-4ADD-8801-0D06FADFA095}" type="slidenum">
              <a:rPr lang="en-US" smtClean="0"/>
              <a:t>12</a:t>
            </a:fld>
            <a:endParaRPr lang="en-US" dirty="0"/>
          </a:p>
        </p:txBody>
      </p:sp>
    </p:spTree>
    <p:extLst>
      <p:ext uri="{BB962C8B-B14F-4D97-AF65-F5344CB8AC3E}">
        <p14:creationId xmlns:p14="http://schemas.microsoft.com/office/powerpoint/2010/main" val="385275473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TM04033919[[fn=Circuit]]</Template>
  <TotalTime>918</TotalTime>
  <Words>451</Words>
  <Application>Microsoft Office PowerPoint</Application>
  <PresentationFormat>Widescreen</PresentationFormat>
  <Paragraphs>59</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Tw Cen MT</vt:lpstr>
      <vt:lpstr>Circuit</vt:lpstr>
      <vt:lpstr>MARINE INSURANCE AND OPERATIONS</vt:lpstr>
      <vt:lpstr>GROUP 3</vt:lpstr>
      <vt:lpstr>OUTLINE</vt:lpstr>
      <vt:lpstr>RISK MANAGEMENT</vt:lpstr>
      <vt:lpstr>HULL AND MACHINERY INSURANCE</vt:lpstr>
      <vt:lpstr>GENERAL AVERAGE</vt:lpstr>
      <vt:lpstr>CLAIM HANDLING</vt:lpstr>
      <vt:lpstr>PROTECTION AND INDEMNITY</vt:lpstr>
      <vt:lpstr>SHIP OPERATIONS</vt:lpstr>
      <vt:lpstr>VOYAGE PLANNING</vt:lpstr>
      <vt:lpstr>HIRES AND FREIGHT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MARINE INSURANCE AND OPERATIONS</dc:title>
  <dc:creator>USER</dc:creator>
  <cp:lastModifiedBy>USER</cp:lastModifiedBy>
  <cp:revision>4</cp:revision>
  <dcterms:created xsi:type="dcterms:W3CDTF">2022-08-31T10:34:11Z</dcterms:created>
  <dcterms:modified xsi:type="dcterms:W3CDTF">2022-09-01T10:28:53Z</dcterms:modified>
</cp:coreProperties>
</file>