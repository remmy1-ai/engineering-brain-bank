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33"/>
  </p:notesMasterIdLst>
  <p:sldIdLst>
    <p:sldId id="256" r:id="rId2"/>
    <p:sldId id="257" r:id="rId3"/>
    <p:sldId id="259" r:id="rId4"/>
    <p:sldId id="260" r:id="rId5"/>
    <p:sldId id="284" r:id="rId6"/>
    <p:sldId id="263" r:id="rId7"/>
    <p:sldId id="265" r:id="rId8"/>
    <p:sldId id="285" r:id="rId9"/>
    <p:sldId id="286" r:id="rId10"/>
    <p:sldId id="287" r:id="rId11"/>
    <p:sldId id="288" r:id="rId12"/>
    <p:sldId id="289" r:id="rId13"/>
    <p:sldId id="290" r:id="rId14"/>
    <p:sldId id="291" r:id="rId15"/>
    <p:sldId id="267" r:id="rId16"/>
    <p:sldId id="268" r:id="rId17"/>
    <p:sldId id="282" r:id="rId18"/>
    <p:sldId id="269" r:id="rId19"/>
    <p:sldId id="270" r:id="rId20"/>
    <p:sldId id="271" r:id="rId21"/>
    <p:sldId id="279" r:id="rId22"/>
    <p:sldId id="273" r:id="rId23"/>
    <p:sldId id="274" r:id="rId24"/>
    <p:sldId id="278" r:id="rId25"/>
    <p:sldId id="275" r:id="rId26"/>
    <p:sldId id="276" r:id="rId27"/>
    <p:sldId id="277" r:id="rId28"/>
    <p:sldId id="261" r:id="rId29"/>
    <p:sldId id="283" r:id="rId30"/>
    <p:sldId id="281" r:id="rId31"/>
    <p:sldId id="25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551"/>
    <a:srgbClr val="055D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9" autoAdjust="0"/>
    <p:restoredTop sz="94660"/>
  </p:normalViewPr>
  <p:slideViewPr>
    <p:cSldViewPr snapToGrid="0">
      <p:cViewPr>
        <p:scale>
          <a:sx n="40" d="100"/>
          <a:sy n="40" d="100"/>
        </p:scale>
        <p:origin x="-114" y="57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384BE-9D6B-4024-A985-C0EE99A58AEA}" type="datetimeFigureOut">
              <a:rPr lang="en-GB" smtClean="0"/>
              <a:pPr/>
              <a:t>03/10/2016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F05C70-BB3D-46DD-9A54-15208EA29ECC}" type="slidenum">
              <a:rPr lang="en-GB" smtClean="0"/>
              <a:pPr/>
              <a:t>‹#›</a:t>
            </a:fld>
            <a:endParaRPr lang="en-GB"/>
          </a:p>
        </p:txBody>
      </p:sp>
    </p:spTree>
    <p:extLst>
      <p:ext uri="{BB962C8B-B14F-4D97-AF65-F5344CB8AC3E}">
        <p14:creationId xmlns:p14="http://schemas.microsoft.com/office/powerpoint/2010/main" val="3936860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E7F05C70-BB3D-46DD-9A54-15208EA29ECC}" type="slidenum">
              <a:rPr lang="en-GB" smtClean="0"/>
              <a:pPr/>
              <a:t>0</a:t>
            </a:fld>
            <a:endParaRPr lang="en-GB"/>
          </a:p>
        </p:txBody>
      </p:sp>
    </p:spTree>
    <p:extLst>
      <p:ext uri="{BB962C8B-B14F-4D97-AF65-F5344CB8AC3E}">
        <p14:creationId xmlns:p14="http://schemas.microsoft.com/office/powerpoint/2010/main" val="310040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E7F05C70-BB3D-46DD-9A54-15208EA29ECC}" type="slidenum">
              <a:rPr lang="en-GB" smtClean="0"/>
              <a:pPr/>
              <a:t>1</a:t>
            </a:fld>
            <a:endParaRPr lang="en-GB"/>
          </a:p>
        </p:txBody>
      </p:sp>
    </p:spTree>
    <p:extLst>
      <p:ext uri="{BB962C8B-B14F-4D97-AF65-F5344CB8AC3E}">
        <p14:creationId xmlns:p14="http://schemas.microsoft.com/office/powerpoint/2010/main" val="3337831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E7F05C70-BB3D-46DD-9A54-15208EA29ECC}" type="slidenum">
              <a:rPr lang="en-GB" smtClean="0"/>
              <a:pPr/>
              <a:t>30</a:t>
            </a:fld>
            <a:endParaRPr lang="en-GB"/>
          </a:p>
        </p:txBody>
      </p:sp>
    </p:spTree>
    <p:extLst>
      <p:ext uri="{BB962C8B-B14F-4D97-AF65-F5344CB8AC3E}">
        <p14:creationId xmlns:p14="http://schemas.microsoft.com/office/powerpoint/2010/main" val="65743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800"/>
            </a:lvl1pPr>
          </a:lstStyle>
          <a:p>
            <a:r>
              <a:rPr lang="en-US" smtClean="0"/>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dirty="0"/>
          </a:p>
        </p:txBody>
      </p:sp>
      <p:sp>
        <p:nvSpPr>
          <p:cNvPr id="4" name="Date Placeholder 3"/>
          <p:cNvSpPr>
            <a:spLocks noGrp="1"/>
          </p:cNvSpPr>
          <p:nvPr>
            <p:ph type="dt" sz="half" idx="10"/>
          </p:nvPr>
        </p:nvSpPr>
        <p:spPr/>
        <p:txBody>
          <a:bodyPr/>
          <a:lstStyle/>
          <a:p>
            <a:fld id="{828A36ED-2655-4C9E-8238-9E1AC381F723}" type="datetime1">
              <a:rPr lang="en-GB" smtClean="0"/>
              <a:pPr/>
              <a:t>03/10/2016</a:t>
            </a:fld>
            <a:endParaRPr lang="en-GB"/>
          </a:p>
        </p:txBody>
      </p:sp>
      <p:sp>
        <p:nvSpPr>
          <p:cNvPr id="5" name="Footer Placeholder 4"/>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841235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Date Placeholder 3"/>
          <p:cNvSpPr>
            <a:spLocks noGrp="1"/>
          </p:cNvSpPr>
          <p:nvPr>
            <p:ph type="dt" sz="half" idx="10"/>
          </p:nvPr>
        </p:nvSpPr>
        <p:spPr/>
        <p:txBody>
          <a:bodyPr/>
          <a:lstStyle/>
          <a:p>
            <a:fld id="{4FFC8644-480C-453D-8744-E89F274AE230}" type="datetime1">
              <a:rPr lang="en-GB" smtClean="0"/>
              <a:pPr/>
              <a:t>03/10/2016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2160385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4800"/>
            </a:lvl1pPr>
          </a:lstStyle>
          <a:p>
            <a:r>
              <a:rPr lang="en-US" smtClean="0"/>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409890-E927-4619-80BA-BBAB8952703D}" type="datetime1">
              <a:rPr lang="en-GB" smtClean="0"/>
              <a:pPr/>
              <a:t>03/10/2016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1123777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F40612A9-8B8A-4D76-8338-090742D648FA}" type="datetime1">
              <a:rPr lang="en-GB" smtClean="0"/>
              <a:pPr/>
              <a:t>03/10/2016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2296987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9261A052-6A62-4DEB-B39A-DF865DC294D7}" type="datetime1">
              <a:rPr lang="en-GB" smtClean="0"/>
              <a:pPr/>
              <a:t>03/10/2016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2822826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0B4AB992-C49D-4348-A525-E164DFDC1373}" type="datetime1">
              <a:rPr lang="en-GB" smtClean="0"/>
              <a:pPr/>
              <a:t>03/10/2016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52045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96EBD4-D843-440F-970F-CE2EAFC7B9B6}" type="datetime1">
              <a:rPr lang="en-GB" smtClean="0"/>
              <a:pPr/>
              <a:t>03/10/2016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3113164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4A8E3E-CF5D-4FA7-AE13-1DBF934E5A7C}" type="datetime1">
              <a:rPr lang="en-GB" smtClean="0"/>
              <a:pPr/>
              <a:t>03/10/2016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898239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9247F5-100F-4260-9B69-A3B55AF74742}" type="datetime1">
              <a:rPr lang="en-GB" smtClean="0"/>
              <a:pPr/>
              <a:t>03/10/2016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2900322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145382A-FB3C-41FB-984A-BFFAA7F5560F}" type="datetime1">
              <a:rPr lang="en-GB" smtClean="0"/>
              <a:pPr/>
              <a:t>03/10/2016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322160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5FBEA2C-DD99-4E79-ABCE-86762D8C2888}" type="datetime1">
              <a:rPr lang="en-GB" smtClean="0"/>
              <a:pPr/>
              <a:t>03/10/2016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50C373-F1D0-494F-8D6D-366C958B3429}" type="slidenum">
              <a:rPr lang="en-GB" smtClean="0"/>
              <a:pPr/>
              <a:t>‹#›</a:t>
            </a:fld>
            <a:endParaRPr lang="en-GB"/>
          </a:p>
        </p:txBody>
      </p:sp>
    </p:spTree>
    <p:extLst>
      <p:ext uri="{BB962C8B-B14F-4D97-AF65-F5344CB8AC3E}">
        <p14:creationId xmlns:p14="http://schemas.microsoft.com/office/powerpoint/2010/main" val="3372794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788276"/>
            <a:ext cx="10515600" cy="902412"/>
          </a:xfrm>
          <a:prstGeom prst="rect">
            <a:avLst/>
          </a:prstGeom>
        </p:spPr>
        <p:txBody>
          <a:bodyPr vert="horz" lIns="91440" tIns="45720" rIns="91440" bIns="45720" rtlCol="0" anchor="ctr">
            <a:normAutofit/>
          </a:bodyPr>
          <a:lstStyle/>
          <a:p>
            <a:r>
              <a:rPr lang="en-US" smtClean="0"/>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FBCB05-1F2F-4A45-AFF2-CC62B780D79B}" type="datetime1">
              <a:rPr lang="en-GB" smtClean="0"/>
              <a:pPr/>
              <a:t>03/10/2016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48296" y="6464739"/>
            <a:ext cx="409135" cy="365125"/>
          </a:xfrm>
          <a:prstGeom prst="rect">
            <a:avLst/>
          </a:prstGeom>
        </p:spPr>
        <p:txBody>
          <a:bodyPr vert="horz" lIns="91440" tIns="45720" rIns="91440" bIns="45720" rtlCol="0" anchor="ctr"/>
          <a:lstStyle>
            <a:lvl1pPr algn="r">
              <a:defRPr sz="1400" b="1">
                <a:solidFill>
                  <a:srgbClr val="FFC551"/>
                </a:solidFill>
                <a:latin typeface="Century Gothic" panose="020B0502020202020204" pitchFamily="34" charset="0"/>
              </a:defRPr>
            </a:lvl1p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1534290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600" kern="1200">
          <a:solidFill>
            <a:srgbClr val="055D13"/>
          </a:solidFill>
          <a:latin typeface="Futura Md BT" panose="020B06020202040203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commons.wikimedia.org/wiki/File:Otto-Prozess.jp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3.wmf"/></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8.wmf"/></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417255" y="2454045"/>
            <a:ext cx="3357489" cy="835131"/>
          </a:xfrm>
        </p:spPr>
        <p:txBody>
          <a:bodyPr>
            <a:normAutofit/>
          </a:bodyPr>
          <a:lstStyle/>
          <a:p>
            <a:r>
              <a:rPr lang="en-GB" sz="4000" dirty="0" smtClean="0"/>
              <a:t>AE 482</a:t>
            </a:r>
            <a:endParaRPr lang="en-GB" sz="4000" dirty="0"/>
          </a:p>
        </p:txBody>
      </p:sp>
      <p:sp>
        <p:nvSpPr>
          <p:cNvPr id="3" name="Subtitle 2"/>
          <p:cNvSpPr>
            <a:spLocks noGrp="1"/>
          </p:cNvSpPr>
          <p:nvPr>
            <p:ph type="subTitle" idx="1"/>
          </p:nvPr>
        </p:nvSpPr>
        <p:spPr>
          <a:xfrm>
            <a:off x="1523999" y="4286126"/>
            <a:ext cx="9144000" cy="484764"/>
          </a:xfrm>
        </p:spPr>
        <p:txBody>
          <a:bodyPr/>
          <a:lstStyle/>
          <a:p>
            <a:r>
              <a:rPr lang="en-GB" dirty="0" smtClean="0"/>
              <a:t>Unit 2:		Prime Movers</a:t>
            </a:r>
            <a:endParaRPr lang="en-GB" dirty="0"/>
          </a:p>
        </p:txBody>
      </p:sp>
      <p:sp>
        <p:nvSpPr>
          <p:cNvPr id="4" name="Date Placeholder 3"/>
          <p:cNvSpPr>
            <a:spLocks noGrp="1"/>
          </p:cNvSpPr>
          <p:nvPr>
            <p:ph type="dt" sz="half" idx="10"/>
          </p:nvPr>
        </p:nvSpPr>
        <p:spPr>
          <a:xfrm>
            <a:off x="1161757" y="6464739"/>
            <a:ext cx="1243819" cy="365125"/>
          </a:xfrm>
        </p:spPr>
        <p:txBody>
          <a:bodyPr/>
          <a:lstStyle/>
          <a:p>
            <a:r>
              <a:rPr lang="en-GB" sz="1400" b="1" dirty="0" smtClean="0">
                <a:solidFill>
                  <a:schemeClr val="bg1"/>
                </a:solidFill>
                <a:latin typeface="Century Gothic" panose="020B0502020202020204" pitchFamily="34" charset="0"/>
              </a:rPr>
              <a:t>Jan 2014</a:t>
            </a:r>
            <a:endParaRPr lang="en-GB" sz="1400" b="1" dirty="0">
              <a:solidFill>
                <a:schemeClr val="bg1"/>
              </a:solidFill>
              <a:latin typeface="Century Gothic" panose="020B0502020202020204" pitchFamily="34" charset="0"/>
            </a:endParaRPr>
          </a:p>
        </p:txBody>
      </p:sp>
      <p:sp>
        <p:nvSpPr>
          <p:cNvPr id="5" name="Title 1"/>
          <p:cNvSpPr txBox="1">
            <a:spLocks/>
          </p:cNvSpPr>
          <p:nvPr/>
        </p:nvSpPr>
        <p:spPr>
          <a:xfrm>
            <a:off x="633045" y="3309498"/>
            <a:ext cx="11015003" cy="66412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rgbClr val="055D13"/>
                </a:solidFill>
                <a:latin typeface="Futura Md BT" panose="020B0602020204020303" pitchFamily="34" charset="0"/>
                <a:ea typeface="+mj-ea"/>
                <a:cs typeface="+mj-cs"/>
              </a:defRPr>
            </a:lvl1pPr>
          </a:lstStyle>
          <a:p>
            <a:r>
              <a:rPr lang="en-GB" sz="4000" dirty="0" smtClean="0">
                <a:solidFill>
                  <a:srgbClr val="0070C0"/>
                </a:solidFill>
              </a:rPr>
              <a:t>Agric Engineering Design Project </a:t>
            </a:r>
            <a:endParaRPr lang="en-GB" sz="4000" dirty="0">
              <a:solidFill>
                <a:srgbClr val="0070C0"/>
              </a:solidFill>
            </a:endParaRPr>
          </a:p>
        </p:txBody>
      </p:sp>
      <p:sp>
        <p:nvSpPr>
          <p:cNvPr id="6" name="Title 1"/>
          <p:cNvSpPr txBox="1">
            <a:spLocks/>
          </p:cNvSpPr>
          <p:nvPr/>
        </p:nvSpPr>
        <p:spPr>
          <a:xfrm>
            <a:off x="1523999" y="5212956"/>
            <a:ext cx="9144000" cy="599531"/>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rgbClr val="055D13"/>
                </a:solidFill>
                <a:latin typeface="Futura Md BT" panose="020B0602020204020303" pitchFamily="34" charset="0"/>
                <a:ea typeface="+mj-ea"/>
                <a:cs typeface="+mj-cs"/>
              </a:defRPr>
            </a:lvl1pPr>
          </a:lstStyle>
          <a:p>
            <a:r>
              <a:rPr lang="en-GB" sz="4000" dirty="0" smtClean="0">
                <a:solidFill>
                  <a:schemeClr val="tx1"/>
                </a:solidFill>
              </a:rPr>
              <a:t>Mr. Joseph AVEYIRE</a:t>
            </a:r>
            <a:endParaRPr lang="en-GB" sz="4000" dirty="0">
              <a:solidFill>
                <a:schemeClr val="tx1"/>
              </a:solidFill>
            </a:endParaRPr>
          </a:p>
        </p:txBody>
      </p:sp>
      <p:sp>
        <p:nvSpPr>
          <p:cNvPr id="7" name="Subtitle 2"/>
          <p:cNvSpPr txBox="1">
            <a:spLocks/>
          </p:cNvSpPr>
          <p:nvPr/>
        </p:nvSpPr>
        <p:spPr>
          <a:xfrm>
            <a:off x="1568546" y="5812487"/>
            <a:ext cx="9144000" cy="44069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Century Gothic" panose="020B0502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Century Gothic" panose="020B0502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Century Gothic" panose="020B0502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entury Gothic" panose="020B0502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Century Gothic" panose="020B0502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smtClean="0"/>
              <a:t>aveyire@yahoo.com // 024 4652593</a:t>
            </a:r>
            <a:endParaRPr lang="en-GB" dirty="0"/>
          </a:p>
        </p:txBody>
      </p:sp>
    </p:spTree>
    <p:extLst>
      <p:ext uri="{BB962C8B-B14F-4D97-AF65-F5344CB8AC3E}">
        <p14:creationId xmlns:p14="http://schemas.microsoft.com/office/powerpoint/2010/main" val="19965275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a:t>
            </a:r>
            <a:endParaRPr lang="en-GB" dirty="0"/>
          </a:p>
        </p:txBody>
      </p:sp>
      <p:sp>
        <p:nvSpPr>
          <p:cNvPr id="3" name="Content Placeholder 2"/>
          <p:cNvSpPr>
            <a:spLocks noGrp="1"/>
          </p:cNvSpPr>
          <p:nvPr>
            <p:ph idx="1"/>
          </p:nvPr>
        </p:nvSpPr>
        <p:spPr/>
        <p:txBody>
          <a:bodyPr/>
          <a:lstStyle/>
          <a:p>
            <a:pPr>
              <a:lnSpc>
                <a:spcPct val="120000"/>
              </a:lnSpc>
              <a:spcBef>
                <a:spcPts val="0"/>
              </a:spcBef>
              <a:spcAft>
                <a:spcPts val="600"/>
              </a:spcAft>
              <a:buNone/>
            </a:pPr>
            <a:r>
              <a:rPr lang="en-GB" dirty="0" smtClean="0"/>
              <a:t>Unit two covers the selection of prime movers. It </a:t>
            </a:r>
          </a:p>
          <a:p>
            <a:pPr>
              <a:lnSpc>
                <a:spcPct val="120000"/>
              </a:lnSpc>
              <a:spcBef>
                <a:spcPts val="0"/>
              </a:spcBef>
              <a:spcAft>
                <a:spcPts val="600"/>
              </a:spcAft>
            </a:pPr>
            <a:r>
              <a:rPr lang="en-GB" dirty="0" smtClean="0"/>
              <a:t>Discusses about types of prime movers</a:t>
            </a:r>
          </a:p>
          <a:p>
            <a:pPr>
              <a:lnSpc>
                <a:spcPct val="120000"/>
              </a:lnSpc>
              <a:spcBef>
                <a:spcPts val="0"/>
              </a:spcBef>
              <a:spcAft>
                <a:spcPts val="600"/>
              </a:spcAft>
            </a:pPr>
            <a:r>
              <a:rPr lang="en-GB" dirty="0" smtClean="0"/>
              <a:t>Analysis the relationships between prime movers and mechanical loads</a:t>
            </a:r>
          </a:p>
          <a:p>
            <a:endParaRPr lang="en-GB" dirty="0" smtClean="0"/>
          </a:p>
          <a:p>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1</a:t>
            </a:fld>
            <a:endParaRPr lang="en-GB"/>
          </a:p>
        </p:txBody>
      </p:sp>
    </p:spTree>
    <p:extLst>
      <p:ext uri="{BB962C8B-B14F-4D97-AF65-F5344CB8AC3E}">
        <p14:creationId xmlns:p14="http://schemas.microsoft.com/office/powerpoint/2010/main" val="7638036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UNIT 2:	Learning Objectives</a:t>
            </a:r>
            <a:endParaRPr lang="en-GB" dirty="0"/>
          </a:p>
        </p:txBody>
      </p:sp>
      <p:sp>
        <p:nvSpPr>
          <p:cNvPr id="3" name="Content Placeholder 2"/>
          <p:cNvSpPr>
            <a:spLocks noGrp="1"/>
          </p:cNvSpPr>
          <p:nvPr>
            <p:ph idx="1"/>
          </p:nvPr>
        </p:nvSpPr>
        <p:spPr>
          <a:xfrm>
            <a:off x="838200" y="1667435"/>
            <a:ext cx="10515600" cy="4797304"/>
          </a:xfrm>
        </p:spPr>
        <p:txBody>
          <a:bodyPr>
            <a:normAutofit/>
          </a:bodyPr>
          <a:lstStyle/>
          <a:p>
            <a:pPr lvl="0">
              <a:lnSpc>
                <a:spcPct val="120000"/>
              </a:lnSpc>
              <a:spcBef>
                <a:spcPts val="0"/>
              </a:spcBef>
              <a:spcAft>
                <a:spcPts val="600"/>
              </a:spcAft>
            </a:pPr>
            <a:r>
              <a:rPr lang="en-GB" dirty="0"/>
              <a:t>C</a:t>
            </a:r>
            <a:r>
              <a:rPr lang="en-GB" dirty="0" smtClean="0"/>
              <a:t>lassify prime movers</a:t>
            </a:r>
          </a:p>
          <a:p>
            <a:pPr lvl="0">
              <a:lnSpc>
                <a:spcPct val="120000"/>
              </a:lnSpc>
              <a:spcBef>
                <a:spcPts val="0"/>
              </a:spcBef>
              <a:spcAft>
                <a:spcPts val="600"/>
              </a:spcAft>
            </a:pPr>
            <a:r>
              <a:rPr lang="en-GB" dirty="0" smtClean="0"/>
              <a:t>Explain the principles and operation of IC- engine</a:t>
            </a:r>
          </a:p>
          <a:p>
            <a:pPr lvl="0">
              <a:lnSpc>
                <a:spcPct val="120000"/>
              </a:lnSpc>
              <a:spcBef>
                <a:spcPts val="0"/>
              </a:spcBef>
              <a:spcAft>
                <a:spcPts val="600"/>
              </a:spcAft>
            </a:pPr>
            <a:r>
              <a:rPr lang="en-GB" dirty="0" smtClean="0"/>
              <a:t>Explain the principles and operation of electric motors</a:t>
            </a:r>
          </a:p>
          <a:p>
            <a:pPr lvl="0">
              <a:lnSpc>
                <a:spcPct val="120000"/>
              </a:lnSpc>
              <a:spcBef>
                <a:spcPts val="0"/>
              </a:spcBef>
              <a:spcAft>
                <a:spcPts val="600"/>
              </a:spcAft>
            </a:pPr>
            <a:r>
              <a:rPr lang="en-GB" dirty="0" smtClean="0"/>
              <a:t>Explains and demonstrates power ratings of electrical motors</a:t>
            </a:r>
          </a:p>
          <a:p>
            <a:pPr lvl="0"/>
            <a:r>
              <a:rPr lang="en-GB" dirty="0"/>
              <a:t>Explain the characteristic curves of both prime movers and mechanical loads</a:t>
            </a:r>
          </a:p>
          <a:p>
            <a:r>
              <a:rPr lang="en-GB" dirty="0"/>
              <a:t>Choose suitable prime movers for some mechanical loads</a:t>
            </a:r>
            <a:endParaRPr lang="en-GB" dirty="0" smtClean="0"/>
          </a:p>
        </p:txBody>
      </p:sp>
      <p:sp>
        <p:nvSpPr>
          <p:cNvPr id="4" name="Slide Number Placeholder 3"/>
          <p:cNvSpPr>
            <a:spLocks noGrp="1"/>
          </p:cNvSpPr>
          <p:nvPr>
            <p:ph type="sldNum" sz="quarter" idx="12"/>
          </p:nvPr>
        </p:nvSpPr>
        <p:spPr/>
        <p:txBody>
          <a:bodyPr/>
          <a:lstStyle/>
          <a:p>
            <a:fld id="{7E50C373-F1D0-494F-8D6D-366C958B3429}" type="slidenum">
              <a:rPr lang="en-GB" smtClean="0"/>
              <a:pPr/>
              <a:t>2</a:t>
            </a:fld>
            <a:endParaRPr lang="en-GB"/>
          </a:p>
        </p:txBody>
      </p:sp>
    </p:spTree>
    <p:extLst>
      <p:ext uri="{BB962C8B-B14F-4D97-AF65-F5344CB8AC3E}">
        <p14:creationId xmlns:p14="http://schemas.microsoft.com/office/powerpoint/2010/main" val="13015900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UNIT 2:	Prime mover</a:t>
            </a:r>
            <a:endParaRPr lang="en-GB" dirty="0"/>
          </a:p>
        </p:txBody>
      </p:sp>
      <p:sp>
        <p:nvSpPr>
          <p:cNvPr id="3" name="Content Placeholder 2"/>
          <p:cNvSpPr>
            <a:spLocks noGrp="1"/>
          </p:cNvSpPr>
          <p:nvPr>
            <p:ph idx="1"/>
          </p:nvPr>
        </p:nvSpPr>
        <p:spPr/>
        <p:txBody>
          <a:bodyPr/>
          <a:lstStyle/>
          <a:p>
            <a:pPr>
              <a:lnSpc>
                <a:spcPct val="120000"/>
              </a:lnSpc>
              <a:spcBef>
                <a:spcPts val="0"/>
              </a:spcBef>
              <a:spcAft>
                <a:spcPts val="600"/>
              </a:spcAft>
              <a:buNone/>
            </a:pPr>
            <a:r>
              <a:rPr lang="en-GB" dirty="0" smtClean="0"/>
              <a:t>Definition		Prime mover</a:t>
            </a:r>
          </a:p>
          <a:p>
            <a:pPr marL="635000">
              <a:lnSpc>
                <a:spcPct val="120000"/>
              </a:lnSpc>
              <a:spcBef>
                <a:spcPts val="0"/>
              </a:spcBef>
              <a:spcAft>
                <a:spcPts val="600"/>
              </a:spcAft>
            </a:pPr>
            <a:r>
              <a:rPr lang="en-GB" dirty="0" smtClean="0"/>
              <a:t>It is a source of power or a driving unit</a:t>
            </a:r>
          </a:p>
          <a:p>
            <a:pPr marL="0" indent="0">
              <a:buNone/>
            </a:pPr>
            <a:r>
              <a:rPr lang="en-GB" dirty="0"/>
              <a:t>Besides animal and human power sources, there are two main mechanical types:	</a:t>
            </a:r>
          </a:p>
          <a:p>
            <a:pPr marL="635000" lvl="0"/>
            <a:r>
              <a:rPr lang="en-GB" dirty="0"/>
              <a:t>combustion engine and</a:t>
            </a:r>
          </a:p>
          <a:p>
            <a:pPr marL="635000" lvl="0"/>
            <a:r>
              <a:rPr lang="en-GB" dirty="0"/>
              <a:t>Electric motor.</a:t>
            </a:r>
          </a:p>
        </p:txBody>
      </p:sp>
      <p:sp>
        <p:nvSpPr>
          <p:cNvPr id="4" name="Slide Number Placeholder 3"/>
          <p:cNvSpPr>
            <a:spLocks noGrp="1"/>
          </p:cNvSpPr>
          <p:nvPr>
            <p:ph type="sldNum" sz="quarter" idx="12"/>
          </p:nvPr>
        </p:nvSpPr>
        <p:spPr/>
        <p:txBody>
          <a:bodyPr/>
          <a:lstStyle/>
          <a:p>
            <a:fld id="{7E50C373-F1D0-494F-8D6D-366C958B3429}" type="slidenum">
              <a:rPr lang="en-GB" smtClean="0"/>
              <a:pPr/>
              <a:t>3</a:t>
            </a:fld>
            <a:endParaRPr lang="en-GB"/>
          </a:p>
        </p:txBody>
      </p:sp>
    </p:spTree>
    <p:extLst>
      <p:ext uri="{BB962C8B-B14F-4D97-AF65-F5344CB8AC3E}">
        <p14:creationId xmlns:p14="http://schemas.microsoft.com/office/powerpoint/2010/main" val="11883253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 2</a:t>
            </a:r>
            <a:r>
              <a:rPr lang="en-GB" dirty="0" smtClean="0"/>
              <a:t>: </a:t>
            </a:r>
            <a:r>
              <a:rPr lang="en-GB" dirty="0"/>
              <a:t>Combustion Engine</a:t>
            </a:r>
          </a:p>
        </p:txBody>
      </p:sp>
      <p:sp>
        <p:nvSpPr>
          <p:cNvPr id="3" name="Content Placeholder 2"/>
          <p:cNvSpPr>
            <a:spLocks noGrp="1"/>
          </p:cNvSpPr>
          <p:nvPr>
            <p:ph idx="1"/>
          </p:nvPr>
        </p:nvSpPr>
        <p:spPr/>
        <p:txBody>
          <a:bodyPr/>
          <a:lstStyle/>
          <a:p>
            <a:pPr>
              <a:lnSpc>
                <a:spcPct val="120000"/>
              </a:lnSpc>
              <a:spcBef>
                <a:spcPts val="0"/>
              </a:spcBef>
              <a:spcAft>
                <a:spcPts val="600"/>
              </a:spcAft>
              <a:buNone/>
            </a:pPr>
            <a:r>
              <a:rPr lang="en-GB" dirty="0"/>
              <a:t>Classification</a:t>
            </a:r>
          </a:p>
          <a:p>
            <a:pPr>
              <a:lnSpc>
                <a:spcPct val="120000"/>
              </a:lnSpc>
              <a:spcBef>
                <a:spcPts val="1200"/>
              </a:spcBef>
              <a:spcAft>
                <a:spcPts val="600"/>
              </a:spcAft>
              <a:tabLst>
                <a:tab pos="2339975" algn="l"/>
              </a:tabLst>
            </a:pPr>
            <a:r>
              <a:rPr lang="en-GB" dirty="0"/>
              <a:t>Criterion :	Location of firing</a:t>
            </a:r>
          </a:p>
          <a:p>
            <a:pPr marL="4559300" indent="12700">
              <a:lnSpc>
                <a:spcPct val="120000"/>
              </a:lnSpc>
              <a:spcBef>
                <a:spcPts val="0"/>
              </a:spcBef>
              <a:spcAft>
                <a:spcPts val="600"/>
              </a:spcAft>
              <a:buFont typeface="Wingdings" pitchFamily="2" charset="2"/>
              <a:buChar char="v"/>
            </a:pPr>
            <a:r>
              <a:rPr lang="en-GB" dirty="0"/>
              <a:t>External combustion</a:t>
            </a:r>
          </a:p>
          <a:p>
            <a:pPr marL="4559300" indent="12700">
              <a:lnSpc>
                <a:spcPct val="120000"/>
              </a:lnSpc>
              <a:spcBef>
                <a:spcPts val="0"/>
              </a:spcBef>
              <a:spcAft>
                <a:spcPts val="600"/>
              </a:spcAft>
              <a:buFont typeface="Wingdings" pitchFamily="2" charset="2"/>
              <a:buChar char="v"/>
            </a:pPr>
            <a:r>
              <a:rPr lang="en-GB" dirty="0"/>
              <a:t>Internal combustion</a:t>
            </a:r>
          </a:p>
          <a:p>
            <a:pPr marL="0" indent="0">
              <a:buNone/>
            </a:pP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4</a:t>
            </a:fld>
            <a:endParaRPr lang="en-GB"/>
          </a:p>
        </p:txBody>
      </p:sp>
    </p:spTree>
    <p:extLst>
      <p:ext uri="{BB962C8B-B14F-4D97-AF65-F5344CB8AC3E}">
        <p14:creationId xmlns:p14="http://schemas.microsoft.com/office/powerpoint/2010/main" val="884959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9248"/>
            <a:ext cx="10515600" cy="645458"/>
          </a:xfrm>
        </p:spPr>
        <p:txBody>
          <a:bodyPr/>
          <a:lstStyle/>
          <a:p>
            <a:r>
              <a:rPr lang="en-GB" dirty="0" smtClean="0"/>
              <a:t>UNIT 2:	Type of IC-engines and E-motors</a:t>
            </a:r>
            <a:endParaRPr lang="en-GB" dirty="0"/>
          </a:p>
        </p:txBody>
      </p:sp>
      <p:graphicFrame>
        <p:nvGraphicFramePr>
          <p:cNvPr id="5" name="Content Placeholder 4"/>
          <p:cNvGraphicFramePr>
            <a:graphicFrameLocks noGrp="1"/>
          </p:cNvGraphicFramePr>
          <p:nvPr>
            <p:ph idx="1"/>
          </p:nvPr>
        </p:nvGraphicFramePr>
        <p:xfrm>
          <a:off x="537882" y="1506071"/>
          <a:ext cx="11134165" cy="5136776"/>
        </p:xfrm>
        <a:graphic>
          <a:graphicData uri="http://schemas.openxmlformats.org/drawingml/2006/table">
            <a:tbl>
              <a:tblPr/>
              <a:tblGrid>
                <a:gridCol w="2654433"/>
                <a:gridCol w="2655769"/>
                <a:gridCol w="3413031"/>
                <a:gridCol w="2410932"/>
              </a:tblGrid>
              <a:tr h="469841">
                <a:tc gridSpan="3">
                  <a:txBody>
                    <a:bodyPr/>
                    <a:lstStyle/>
                    <a:p>
                      <a:pPr algn="ctr">
                        <a:lnSpc>
                          <a:spcPct val="115000"/>
                        </a:lnSpc>
                        <a:spcBef>
                          <a:spcPts val="1200"/>
                        </a:spcBef>
                        <a:spcAft>
                          <a:spcPts val="300"/>
                        </a:spcAft>
                      </a:pPr>
                      <a:r>
                        <a:rPr lang="en-US" sz="2400" b="1" i="1" dirty="0">
                          <a:latin typeface="Century Gothic" pitchFamily="34" charset="0"/>
                          <a:ea typeface="Times New Roman"/>
                          <a:cs typeface="Times New Roman"/>
                        </a:rPr>
                        <a:t>Combustion engine</a:t>
                      </a:r>
                      <a:endParaRPr lang="en-GB" sz="2400" b="1" i="1" dirty="0">
                        <a:latin typeface="Century Gothic" pitchFamily="34" charset="0"/>
                        <a:ea typeface="Times New Roman"/>
                        <a:cs typeface="Times New Roman"/>
                      </a:endParaRPr>
                    </a:p>
                  </a:txBody>
                  <a:tcPr marL="27868" marR="278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tc>
                  <a:txBody>
                    <a:bodyPr/>
                    <a:lstStyle/>
                    <a:p>
                      <a:pPr>
                        <a:lnSpc>
                          <a:spcPct val="115000"/>
                        </a:lnSpc>
                        <a:spcBef>
                          <a:spcPts val="1200"/>
                        </a:spcBef>
                        <a:spcAft>
                          <a:spcPts val="300"/>
                        </a:spcAft>
                      </a:pPr>
                      <a:r>
                        <a:rPr lang="en-US" sz="2400" b="1" i="1" dirty="0">
                          <a:latin typeface="Century Gothic" pitchFamily="34" charset="0"/>
                          <a:ea typeface="Times New Roman"/>
                          <a:cs typeface="Times New Roman"/>
                        </a:rPr>
                        <a:t>Electric motor</a:t>
                      </a:r>
                      <a:endParaRPr lang="en-GB" sz="2400" b="1" i="1" dirty="0">
                        <a:latin typeface="Century Gothic" pitchFamily="34" charset="0"/>
                        <a:ea typeface="Times New Roman"/>
                        <a:cs typeface="Times New Roman"/>
                      </a:endParaRPr>
                    </a:p>
                  </a:txBody>
                  <a:tcPr marL="27868" marR="278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08582">
                <a:tc gridSpan="2">
                  <a:txBody>
                    <a:bodyPr/>
                    <a:lstStyle/>
                    <a:p>
                      <a:pPr algn="ctr">
                        <a:lnSpc>
                          <a:spcPct val="115000"/>
                        </a:lnSpc>
                        <a:spcAft>
                          <a:spcPts val="1000"/>
                        </a:spcAft>
                      </a:pPr>
                      <a:r>
                        <a:rPr lang="en-GB" sz="2400" dirty="0">
                          <a:latin typeface="Century Gothic" pitchFamily="34" charset="0"/>
                          <a:ea typeface="Calibri"/>
                          <a:cs typeface="Times New Roman"/>
                        </a:rPr>
                        <a:t>Internal Combustion (combustion gas is the same working medium)</a:t>
                      </a:r>
                    </a:p>
                  </a:txBody>
                  <a:tcPr marL="27868" marR="27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a:txBody>
                    <a:bodyPr/>
                    <a:lstStyle/>
                    <a:p>
                      <a:pPr algn="ctr">
                        <a:lnSpc>
                          <a:spcPct val="115000"/>
                        </a:lnSpc>
                        <a:spcAft>
                          <a:spcPts val="1000"/>
                        </a:spcAft>
                      </a:pPr>
                      <a:r>
                        <a:rPr lang="en-GB" sz="2400">
                          <a:latin typeface="Century Gothic" pitchFamily="34" charset="0"/>
                          <a:ea typeface="Calibri"/>
                          <a:cs typeface="Times New Roman"/>
                        </a:rPr>
                        <a:t>External combustion (combustion gas not the same working medium</a:t>
                      </a:r>
                    </a:p>
                  </a:txBody>
                  <a:tcPr marL="27868" marR="27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1000"/>
                        </a:spcAft>
                      </a:pPr>
                      <a:endParaRPr lang="en-GB" sz="2400" dirty="0">
                        <a:latin typeface="Century Gothic" pitchFamily="34" charset="0"/>
                        <a:ea typeface="Calibri"/>
                        <a:cs typeface="Times New Roman"/>
                      </a:endParaRPr>
                    </a:p>
                  </a:txBody>
                  <a:tcPr marL="27868" marR="27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148">
                <a:tc>
                  <a:txBody>
                    <a:bodyPr/>
                    <a:lstStyle/>
                    <a:p>
                      <a:pPr algn="just">
                        <a:lnSpc>
                          <a:spcPct val="115000"/>
                        </a:lnSpc>
                        <a:spcAft>
                          <a:spcPts val="1000"/>
                        </a:spcAft>
                      </a:pPr>
                      <a:r>
                        <a:rPr lang="en-GB" sz="2400" dirty="0" smtClean="0">
                          <a:latin typeface="Century Gothic" pitchFamily="34" charset="0"/>
                          <a:ea typeface="Calibri"/>
                          <a:cs typeface="Times New Roman"/>
                        </a:rPr>
                        <a:t>Intermittent </a:t>
                      </a:r>
                      <a:r>
                        <a:rPr lang="en-GB" sz="2400" dirty="0">
                          <a:latin typeface="Century Gothic" pitchFamily="34" charset="0"/>
                          <a:ea typeface="Calibri"/>
                          <a:cs typeface="Times New Roman"/>
                        </a:rPr>
                        <a:t>Firing</a:t>
                      </a:r>
                    </a:p>
                  </a:txBody>
                  <a:tcPr marL="27868" marR="27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1000"/>
                        </a:spcAft>
                      </a:pPr>
                      <a:r>
                        <a:rPr lang="en-GB" sz="2400">
                          <a:latin typeface="Century Gothic" pitchFamily="34" charset="0"/>
                          <a:ea typeface="Calibri"/>
                          <a:cs typeface="Times New Roman"/>
                        </a:rPr>
                        <a:t>Continuous Firing</a:t>
                      </a:r>
                    </a:p>
                  </a:txBody>
                  <a:tcPr marL="27868" marR="27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1000"/>
                        </a:spcAft>
                      </a:pPr>
                      <a:endParaRPr lang="en-GB" sz="2400">
                        <a:latin typeface="Century Gothic" pitchFamily="34" charset="0"/>
                        <a:ea typeface="Calibri"/>
                        <a:cs typeface="Times New Roman"/>
                      </a:endParaRPr>
                    </a:p>
                  </a:txBody>
                  <a:tcPr marL="27868" marR="27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1000"/>
                        </a:spcAft>
                      </a:pPr>
                      <a:endParaRPr lang="en-GB" sz="2400" dirty="0">
                        <a:latin typeface="Century Gothic" pitchFamily="34" charset="0"/>
                        <a:ea typeface="Calibri"/>
                        <a:cs typeface="Times New Roman"/>
                      </a:endParaRPr>
                    </a:p>
                  </a:txBody>
                  <a:tcPr marL="27868" marR="27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79364">
                <a:tc>
                  <a:txBody>
                    <a:bodyPr/>
                    <a:lstStyle/>
                    <a:p>
                      <a:pPr marL="342900" lvl="0" indent="-342900" algn="just">
                        <a:lnSpc>
                          <a:spcPct val="115000"/>
                        </a:lnSpc>
                        <a:spcAft>
                          <a:spcPts val="0"/>
                        </a:spcAft>
                        <a:buFont typeface="Times New Roman"/>
                        <a:buChar char="-"/>
                        <a:tabLst>
                          <a:tab pos="180340" algn="l"/>
                        </a:tabLst>
                      </a:pPr>
                      <a:r>
                        <a:rPr lang="en-GB" sz="2400">
                          <a:latin typeface="Century Gothic" pitchFamily="34" charset="0"/>
                          <a:ea typeface="Times New Roman"/>
                          <a:cs typeface="Times New Roman"/>
                        </a:rPr>
                        <a:t>Otto motor</a:t>
                      </a:r>
                    </a:p>
                    <a:p>
                      <a:pPr marL="342900" lvl="0" indent="-342900" algn="just">
                        <a:lnSpc>
                          <a:spcPct val="115000"/>
                        </a:lnSpc>
                        <a:spcAft>
                          <a:spcPts val="0"/>
                        </a:spcAft>
                        <a:buFont typeface="Times New Roman"/>
                        <a:buChar char="-"/>
                        <a:tabLst>
                          <a:tab pos="180340" algn="l"/>
                        </a:tabLst>
                      </a:pPr>
                      <a:r>
                        <a:rPr lang="en-GB" sz="2400">
                          <a:latin typeface="Century Gothic" pitchFamily="34" charset="0"/>
                          <a:ea typeface="Times New Roman"/>
                          <a:cs typeface="Times New Roman"/>
                        </a:rPr>
                        <a:t>Diesel motor</a:t>
                      </a:r>
                    </a:p>
                    <a:p>
                      <a:pPr marL="342900" lvl="0" indent="-342900" algn="just">
                        <a:lnSpc>
                          <a:spcPct val="115000"/>
                        </a:lnSpc>
                        <a:spcAft>
                          <a:spcPts val="0"/>
                        </a:spcAft>
                        <a:buFont typeface="Times New Roman"/>
                        <a:buChar char="-"/>
                        <a:tabLst>
                          <a:tab pos="180340" algn="l"/>
                        </a:tabLst>
                      </a:pPr>
                      <a:r>
                        <a:rPr lang="en-GB" sz="2400">
                          <a:latin typeface="Century Gothic" pitchFamily="34" charset="0"/>
                          <a:ea typeface="Times New Roman"/>
                          <a:cs typeface="Times New Roman"/>
                        </a:rPr>
                        <a:t>Wankel motor</a:t>
                      </a:r>
                    </a:p>
                  </a:txBody>
                  <a:tcPr marL="27868" marR="27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just">
                        <a:lnSpc>
                          <a:spcPct val="115000"/>
                        </a:lnSpc>
                        <a:spcAft>
                          <a:spcPts val="0"/>
                        </a:spcAft>
                        <a:buFont typeface="Times New Roman"/>
                        <a:buChar char="-"/>
                        <a:tabLst>
                          <a:tab pos="124460" algn="l"/>
                        </a:tabLst>
                      </a:pPr>
                      <a:r>
                        <a:rPr lang="en-GB" sz="2400">
                          <a:latin typeface="Century Gothic" pitchFamily="34" charset="0"/>
                          <a:ea typeface="Times New Roman"/>
                          <a:cs typeface="Times New Roman"/>
                        </a:rPr>
                        <a:t>Gas turbines</a:t>
                      </a:r>
                    </a:p>
                    <a:p>
                      <a:pPr marL="342900" lvl="0" indent="-342900" algn="just">
                        <a:lnSpc>
                          <a:spcPct val="115000"/>
                        </a:lnSpc>
                        <a:spcAft>
                          <a:spcPts val="0"/>
                        </a:spcAft>
                        <a:buFont typeface="Times New Roman"/>
                        <a:buChar char="-"/>
                        <a:tabLst>
                          <a:tab pos="124460" algn="l"/>
                        </a:tabLst>
                      </a:pPr>
                      <a:r>
                        <a:rPr lang="en-GB" sz="2400">
                          <a:latin typeface="Century Gothic" pitchFamily="34" charset="0"/>
                          <a:ea typeface="Times New Roman"/>
                          <a:cs typeface="Times New Roman"/>
                        </a:rPr>
                        <a:t>Axial piston motor</a:t>
                      </a:r>
                    </a:p>
                  </a:txBody>
                  <a:tcPr marL="27868" marR="27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just">
                        <a:lnSpc>
                          <a:spcPct val="115000"/>
                        </a:lnSpc>
                        <a:spcAft>
                          <a:spcPts val="0"/>
                        </a:spcAft>
                        <a:buFont typeface="Times New Roman"/>
                        <a:buChar char="-"/>
                        <a:tabLst>
                          <a:tab pos="381635" algn="l"/>
                        </a:tabLst>
                      </a:pPr>
                      <a:r>
                        <a:rPr lang="en-GB" sz="2400" dirty="0">
                          <a:latin typeface="Century Gothic" pitchFamily="34" charset="0"/>
                          <a:ea typeface="Times New Roman"/>
                          <a:cs typeface="Times New Roman"/>
                        </a:rPr>
                        <a:t>Stirling’s motor</a:t>
                      </a:r>
                    </a:p>
                    <a:p>
                      <a:pPr marL="342900" lvl="0" indent="-342900" algn="just">
                        <a:lnSpc>
                          <a:spcPct val="115000"/>
                        </a:lnSpc>
                        <a:spcAft>
                          <a:spcPts val="0"/>
                        </a:spcAft>
                        <a:buFont typeface="Times New Roman"/>
                        <a:buChar char="-"/>
                        <a:tabLst>
                          <a:tab pos="381635" algn="l"/>
                        </a:tabLst>
                      </a:pPr>
                      <a:r>
                        <a:rPr lang="en-GB" sz="2400" dirty="0">
                          <a:latin typeface="Century Gothic" pitchFamily="34" charset="0"/>
                          <a:ea typeface="Times New Roman"/>
                          <a:cs typeface="Times New Roman"/>
                        </a:rPr>
                        <a:t>Steam engine</a:t>
                      </a:r>
                    </a:p>
                  </a:txBody>
                  <a:tcPr marL="27868" marR="27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just">
                        <a:lnSpc>
                          <a:spcPct val="115000"/>
                        </a:lnSpc>
                        <a:spcBef>
                          <a:spcPts val="600"/>
                        </a:spcBef>
                        <a:spcAft>
                          <a:spcPts val="0"/>
                        </a:spcAft>
                        <a:buFont typeface="Times New Roman"/>
                        <a:buChar char="-"/>
                        <a:tabLst>
                          <a:tab pos="201295" algn="l"/>
                        </a:tabLst>
                      </a:pPr>
                      <a:r>
                        <a:rPr lang="en-GB" sz="2400" dirty="0">
                          <a:latin typeface="Century Gothic" pitchFamily="34" charset="0"/>
                          <a:ea typeface="Times New Roman"/>
                          <a:cs typeface="Times New Roman"/>
                        </a:rPr>
                        <a:t>E-motor with battery</a:t>
                      </a:r>
                    </a:p>
                    <a:p>
                      <a:pPr marL="342900" lvl="0" indent="-342900" algn="just">
                        <a:lnSpc>
                          <a:spcPct val="115000"/>
                        </a:lnSpc>
                        <a:spcAft>
                          <a:spcPts val="0"/>
                        </a:spcAft>
                        <a:buFont typeface="Times New Roman"/>
                        <a:buChar char="-"/>
                        <a:tabLst>
                          <a:tab pos="201295" algn="l"/>
                        </a:tabLst>
                      </a:pPr>
                      <a:r>
                        <a:rPr lang="en-GB" sz="2400" dirty="0">
                          <a:latin typeface="Century Gothic" pitchFamily="34" charset="0"/>
                          <a:ea typeface="Times New Roman"/>
                          <a:cs typeface="Times New Roman"/>
                        </a:rPr>
                        <a:t>E-motor with fuel cell</a:t>
                      </a:r>
                    </a:p>
                  </a:txBody>
                  <a:tcPr marL="27868" marR="27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9841">
                <a:tc gridSpan="4">
                  <a:txBody>
                    <a:bodyPr/>
                    <a:lstStyle/>
                    <a:p>
                      <a:pPr algn="ctr">
                        <a:lnSpc>
                          <a:spcPct val="115000"/>
                        </a:lnSpc>
                        <a:spcBef>
                          <a:spcPts val="1200"/>
                        </a:spcBef>
                        <a:spcAft>
                          <a:spcPts val="300"/>
                        </a:spcAft>
                      </a:pPr>
                      <a:r>
                        <a:rPr lang="en-US" sz="2400" b="1" i="1" dirty="0">
                          <a:latin typeface="Century Gothic" pitchFamily="34" charset="0"/>
                          <a:ea typeface="Times New Roman"/>
                          <a:cs typeface="Times New Roman"/>
                        </a:rPr>
                        <a:t>Hybrid-drives</a:t>
                      </a:r>
                      <a:endParaRPr lang="en-GB" sz="2400" b="1" i="1" dirty="0">
                        <a:latin typeface="Century Gothic" pitchFamily="34" charset="0"/>
                        <a:ea typeface="Times New Roman"/>
                        <a:cs typeface="Times New Roman"/>
                      </a:endParaRPr>
                    </a:p>
                  </a:txBody>
                  <a:tcPr marL="27868" marR="278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tc hMerge="1">
                  <a:txBody>
                    <a:bodyPr/>
                    <a:lstStyle/>
                    <a:p>
                      <a:endParaRPr lang="en-GB"/>
                    </a:p>
                  </a:txBody>
                  <a:tcPr/>
                </a:tc>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pPr/>
              <a:t>5</a:t>
            </a:fld>
            <a:endParaRPr lang="en-GB"/>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90900"/>
          </a:xfrm>
        </p:spPr>
        <p:txBody>
          <a:bodyPr>
            <a:normAutofit fontScale="90000"/>
          </a:bodyPr>
          <a:lstStyle/>
          <a:p>
            <a:pPr algn="ctr"/>
            <a:r>
              <a:rPr lang="en-GB" dirty="0" smtClean="0"/>
              <a:t>UNIT </a:t>
            </a:r>
            <a:r>
              <a:rPr lang="en-GB" dirty="0" smtClean="0"/>
              <a:t>2: Classification </a:t>
            </a:r>
            <a:r>
              <a:rPr lang="en-GB" dirty="0" smtClean="0"/>
              <a:t>of Internal Combustion Engine</a:t>
            </a:r>
            <a:endParaRPr lang="en-GB" dirty="0"/>
          </a:p>
        </p:txBody>
      </p:sp>
      <p:sp>
        <p:nvSpPr>
          <p:cNvPr id="3" name="Content Placeholder 2"/>
          <p:cNvSpPr>
            <a:spLocks noGrp="1"/>
          </p:cNvSpPr>
          <p:nvPr>
            <p:ph idx="1"/>
          </p:nvPr>
        </p:nvSpPr>
        <p:spPr>
          <a:xfrm>
            <a:off x="838200" y="1559858"/>
            <a:ext cx="10515600" cy="4894729"/>
          </a:xfrm>
        </p:spPr>
        <p:txBody>
          <a:bodyPr>
            <a:normAutofit/>
          </a:bodyPr>
          <a:lstStyle/>
          <a:p>
            <a:pPr marL="0" indent="0">
              <a:buNone/>
            </a:pPr>
            <a:r>
              <a:rPr lang="en-GB" b="1" dirty="0"/>
              <a:t>Classification</a:t>
            </a:r>
            <a:r>
              <a:rPr lang="en-GB" dirty="0" smtClean="0"/>
              <a:t>:</a:t>
            </a:r>
            <a:endParaRPr lang="en-GB" dirty="0"/>
          </a:p>
          <a:p>
            <a:pPr marL="1346200" lvl="0"/>
            <a:r>
              <a:rPr lang="en-GB" dirty="0"/>
              <a:t>Mode of operation and</a:t>
            </a:r>
          </a:p>
          <a:p>
            <a:pPr marL="1346200" lvl="0"/>
            <a:r>
              <a:rPr lang="en-GB" dirty="0"/>
              <a:t>Fuel </a:t>
            </a:r>
            <a:r>
              <a:rPr lang="en-GB" dirty="0" smtClean="0"/>
              <a:t>used (Otto and Diesel engine)</a:t>
            </a:r>
          </a:p>
          <a:p>
            <a:pPr marL="0" indent="0">
              <a:lnSpc>
                <a:spcPct val="120000"/>
              </a:lnSpc>
              <a:spcBef>
                <a:spcPts val="0"/>
              </a:spcBef>
              <a:spcAft>
                <a:spcPts val="600"/>
              </a:spcAft>
              <a:buNone/>
            </a:pPr>
            <a:r>
              <a:rPr lang="en-GB" b="1" dirty="0"/>
              <a:t>Mode of </a:t>
            </a:r>
            <a:r>
              <a:rPr lang="en-GB" b="1" dirty="0" smtClean="0"/>
              <a:t>Operation</a:t>
            </a:r>
            <a:endParaRPr lang="en-GB" dirty="0" smtClean="0"/>
          </a:p>
          <a:p>
            <a:pPr lvl="0"/>
            <a:r>
              <a:rPr lang="en-GB" dirty="0"/>
              <a:t>Single firing </a:t>
            </a:r>
            <a:r>
              <a:rPr lang="en-GB" dirty="0" smtClean="0"/>
              <a:t> (Rotary engine and Piston engine)</a:t>
            </a:r>
          </a:p>
          <a:p>
            <a:pPr marL="1803400" indent="-457200">
              <a:buFont typeface="Wingdings" panose="05000000000000000000" pitchFamily="2" charset="2"/>
              <a:buChar char="v"/>
            </a:pPr>
            <a:r>
              <a:rPr lang="en-GB" i="1" dirty="0"/>
              <a:t>Four-Stroke Engine</a:t>
            </a:r>
            <a:endParaRPr lang="en-GB" dirty="0"/>
          </a:p>
          <a:p>
            <a:pPr marL="1803400" lvl="0" indent="-457200">
              <a:buFont typeface="Wingdings" panose="05000000000000000000" pitchFamily="2" charset="2"/>
              <a:buChar char="v"/>
            </a:pPr>
            <a:r>
              <a:rPr lang="en-GB" i="1" dirty="0"/>
              <a:t>Two-Stroke </a:t>
            </a:r>
            <a:r>
              <a:rPr lang="en-GB" i="1" dirty="0" smtClean="0"/>
              <a:t>Engine</a:t>
            </a:r>
            <a:endParaRPr lang="en-GB" dirty="0"/>
          </a:p>
          <a:p>
            <a:r>
              <a:rPr lang="en-GB" dirty="0" smtClean="0"/>
              <a:t>Continuous firing (gas turbine)</a:t>
            </a:r>
          </a:p>
        </p:txBody>
      </p:sp>
      <p:sp>
        <p:nvSpPr>
          <p:cNvPr id="4" name="Slide Number Placeholder 3"/>
          <p:cNvSpPr>
            <a:spLocks noGrp="1"/>
          </p:cNvSpPr>
          <p:nvPr>
            <p:ph type="sldNum" sz="quarter" idx="12"/>
          </p:nvPr>
        </p:nvSpPr>
        <p:spPr/>
        <p:txBody>
          <a:bodyPr/>
          <a:lstStyle/>
          <a:p>
            <a:fld id="{7E50C373-F1D0-494F-8D6D-366C958B3429}" type="slidenum">
              <a:rPr lang="en-GB" smtClean="0"/>
              <a:pPr/>
              <a:t>6</a:t>
            </a:fld>
            <a:endParaRPr lang="en-GB"/>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775829"/>
          </a:xfrm>
        </p:spPr>
        <p:txBody>
          <a:bodyPr>
            <a:normAutofit/>
          </a:bodyPr>
          <a:lstStyle/>
          <a:p>
            <a:pPr marL="1346200" indent="-1346200"/>
            <a:r>
              <a:rPr lang="en-GB" sz="3200" dirty="0"/>
              <a:t>UNIT 2: </a:t>
            </a:r>
            <a:r>
              <a:rPr lang="en-GB" sz="3200" dirty="0" smtClean="0"/>
              <a:t>Fuel Used (thermodynamic Cycle Operation)</a:t>
            </a:r>
            <a:endParaRPr lang="en-GB" sz="3200" dirty="0"/>
          </a:p>
        </p:txBody>
      </p:sp>
      <p:sp>
        <p:nvSpPr>
          <p:cNvPr id="3" name="Content Placeholder 2"/>
          <p:cNvSpPr>
            <a:spLocks noGrp="1"/>
          </p:cNvSpPr>
          <p:nvPr>
            <p:ph idx="1"/>
          </p:nvPr>
        </p:nvSpPr>
        <p:spPr>
          <a:xfrm>
            <a:off x="838200" y="2028825"/>
            <a:ext cx="10515600" cy="4351338"/>
          </a:xfrm>
        </p:spPr>
        <p:txBody>
          <a:bodyPr>
            <a:normAutofit lnSpcReduction="10000"/>
          </a:bodyPr>
          <a:lstStyle/>
          <a:p>
            <a:pPr>
              <a:lnSpc>
                <a:spcPct val="120000"/>
              </a:lnSpc>
              <a:spcBef>
                <a:spcPts val="0"/>
              </a:spcBef>
              <a:spcAft>
                <a:spcPts val="600"/>
              </a:spcAft>
              <a:buNone/>
            </a:pPr>
            <a:r>
              <a:rPr lang="en-GB" b="1" i="1" dirty="0"/>
              <a:t>Constant Volume Heat Addition Cycle </a:t>
            </a:r>
            <a:r>
              <a:rPr lang="en-GB" dirty="0"/>
              <a:t>(Ideal Otto engine):</a:t>
            </a:r>
          </a:p>
          <a:p>
            <a:pPr>
              <a:lnSpc>
                <a:spcPct val="120000"/>
              </a:lnSpc>
              <a:spcBef>
                <a:spcPts val="0"/>
              </a:spcBef>
              <a:spcAft>
                <a:spcPts val="600"/>
              </a:spcAft>
            </a:pPr>
            <a:r>
              <a:rPr lang="en-GB" dirty="0"/>
              <a:t>Mixture of air and fuel is ignited in the combustion chamber.</a:t>
            </a:r>
          </a:p>
          <a:p>
            <a:pPr>
              <a:lnSpc>
                <a:spcPct val="120000"/>
              </a:lnSpc>
              <a:spcBef>
                <a:spcPts val="0"/>
              </a:spcBef>
              <a:spcAft>
                <a:spcPts val="600"/>
              </a:spcAft>
            </a:pPr>
            <a:r>
              <a:rPr lang="en-GB" dirty="0"/>
              <a:t>Resulting heat causes an increase in the pressure of the already pre-compressed combustible mixture.</a:t>
            </a:r>
          </a:p>
          <a:p>
            <a:pPr>
              <a:lnSpc>
                <a:spcPct val="120000"/>
              </a:lnSpc>
              <a:spcBef>
                <a:spcPts val="0"/>
              </a:spcBef>
              <a:spcAft>
                <a:spcPts val="600"/>
              </a:spcAft>
            </a:pPr>
            <a:r>
              <a:rPr lang="en-GB" dirty="0"/>
              <a:t>Expansion work or energy is extracted only during the expansion process.</a:t>
            </a:r>
          </a:p>
          <a:p>
            <a:pPr>
              <a:lnSpc>
                <a:spcPct val="120000"/>
              </a:lnSpc>
              <a:spcBef>
                <a:spcPts val="0"/>
              </a:spcBef>
              <a:spcAft>
                <a:spcPts val="600"/>
              </a:spcAft>
            </a:pPr>
            <a:r>
              <a:rPr lang="en-GB" dirty="0"/>
              <a:t>Fresh homogeneous mixture replaces the burnt </a:t>
            </a:r>
            <a:r>
              <a:rPr lang="en-GB" dirty="0" smtClean="0"/>
              <a:t>gases</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7</a:t>
            </a:fld>
            <a:endParaRPr lang="en-GB"/>
          </a:p>
        </p:txBody>
      </p:sp>
    </p:spTree>
    <p:extLst>
      <p:ext uri="{BB962C8B-B14F-4D97-AF65-F5344CB8AC3E}">
        <p14:creationId xmlns:p14="http://schemas.microsoft.com/office/powerpoint/2010/main" val="19505713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5"/>
            <a:ext cx="10515600" cy="1037349"/>
          </a:xfrm>
        </p:spPr>
        <p:txBody>
          <a:bodyPr>
            <a:normAutofit fontScale="90000"/>
          </a:bodyPr>
          <a:lstStyle/>
          <a:p>
            <a:pPr marL="1447800" indent="-1447800"/>
            <a:r>
              <a:rPr lang="en-GB" dirty="0"/>
              <a:t>UNIT 2: </a:t>
            </a:r>
            <a:r>
              <a:rPr lang="en-GB" dirty="0" smtClean="0"/>
              <a:t>Fuel Used </a:t>
            </a:r>
            <a:r>
              <a:rPr lang="en-GB" dirty="0"/>
              <a:t>(thermodynamic Cycle Operation)</a:t>
            </a:r>
          </a:p>
        </p:txBody>
      </p:sp>
      <p:sp>
        <p:nvSpPr>
          <p:cNvPr id="3" name="Content Placeholder 2"/>
          <p:cNvSpPr>
            <a:spLocks noGrp="1"/>
          </p:cNvSpPr>
          <p:nvPr>
            <p:ph idx="1"/>
          </p:nvPr>
        </p:nvSpPr>
        <p:spPr>
          <a:xfrm>
            <a:off x="838200" y="1825625"/>
            <a:ext cx="10515600" cy="536575"/>
          </a:xfrm>
        </p:spPr>
        <p:txBody>
          <a:bodyPr/>
          <a:lstStyle/>
          <a:p>
            <a:pPr marL="0" indent="0">
              <a:buNone/>
            </a:pPr>
            <a:r>
              <a:rPr lang="en-GB" b="1" i="1" dirty="0"/>
              <a:t>Constant Volume Heat Addition Cycle </a:t>
            </a:r>
            <a:r>
              <a:rPr lang="en-GB" dirty="0"/>
              <a:t>(Ideal Otto engine</a:t>
            </a:r>
            <a:r>
              <a:rPr lang="en-GB" dirty="0" smtClean="0"/>
              <a:t>):</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8</a:t>
            </a:fld>
            <a:endParaRPr lang="en-GB"/>
          </a:p>
        </p:txBody>
      </p:sp>
      <p:pic>
        <p:nvPicPr>
          <p:cNvPr id="5" name="Picture 4" descr="http://upload.wikimedia.org/wikipedia/commons/thumb/2/28/Otto-Prozess.jpg/300px-Otto-Prozess.jpg">
            <a:hlinkClick r:id="rId2"/>
          </p:cNvPr>
          <p:cNvPicPr>
            <a:picLocks noChangeAspect="1"/>
          </p:cNvPicPr>
          <p:nvPr/>
        </p:nvPicPr>
        <p:blipFill>
          <a:blip r:embed="rId3" cstate="print"/>
          <a:srcRect/>
          <a:stretch>
            <a:fillRect/>
          </a:stretch>
        </p:blipFill>
        <p:spPr bwMode="auto">
          <a:xfrm>
            <a:off x="764910" y="2439702"/>
            <a:ext cx="3816000" cy="3981360"/>
          </a:xfrm>
          <a:prstGeom prst="rect">
            <a:avLst/>
          </a:prstGeom>
          <a:noFill/>
          <a:ln w="9525">
            <a:noFill/>
            <a:miter lim="800000"/>
            <a:headEnd/>
            <a:tailEnd/>
          </a:ln>
        </p:spPr>
      </p:pic>
      <p:sp>
        <p:nvSpPr>
          <p:cNvPr id="6" name="TextBox 5"/>
          <p:cNvSpPr txBox="1"/>
          <p:nvPr/>
        </p:nvSpPr>
        <p:spPr>
          <a:xfrm>
            <a:off x="5284695" y="2743200"/>
            <a:ext cx="6069106" cy="3170099"/>
          </a:xfrm>
          <a:prstGeom prst="rect">
            <a:avLst/>
          </a:prstGeom>
          <a:noFill/>
        </p:spPr>
        <p:txBody>
          <a:bodyPr wrap="square" rtlCol="0">
            <a:spAutoFit/>
          </a:bodyPr>
          <a:lstStyle/>
          <a:p>
            <a:pPr lvl="0">
              <a:lnSpc>
                <a:spcPct val="130000"/>
              </a:lnSpc>
            </a:pPr>
            <a:r>
              <a:rPr lang="de-DE" sz="2800" dirty="0"/>
              <a:t>1 - 2 : </a:t>
            </a:r>
            <a:r>
              <a:rPr lang="de-DE" sz="2800" dirty="0" err="1"/>
              <a:t>isentropic</a:t>
            </a:r>
            <a:r>
              <a:rPr lang="de-DE" sz="2800" dirty="0"/>
              <a:t> </a:t>
            </a:r>
            <a:r>
              <a:rPr lang="de-DE" sz="2800" dirty="0" err="1"/>
              <a:t>compression</a:t>
            </a:r>
            <a:endParaRPr lang="en-GB" sz="2800" dirty="0"/>
          </a:p>
          <a:p>
            <a:pPr lvl="0">
              <a:lnSpc>
                <a:spcPct val="130000"/>
              </a:lnSpc>
            </a:pPr>
            <a:r>
              <a:rPr lang="de-DE" sz="2800" dirty="0"/>
              <a:t>2 - 3 : </a:t>
            </a:r>
            <a:r>
              <a:rPr lang="de-DE" sz="2800" dirty="0" err="1"/>
              <a:t>isochoric</a:t>
            </a:r>
            <a:r>
              <a:rPr lang="de-DE" sz="2800" dirty="0"/>
              <a:t> </a:t>
            </a:r>
            <a:r>
              <a:rPr lang="de-DE" sz="2800" dirty="0" err="1"/>
              <a:t>heat</a:t>
            </a:r>
            <a:r>
              <a:rPr lang="de-DE" sz="2800" dirty="0"/>
              <a:t> </a:t>
            </a:r>
            <a:r>
              <a:rPr lang="de-DE" sz="2800" dirty="0" err="1"/>
              <a:t>addition</a:t>
            </a:r>
            <a:r>
              <a:rPr lang="de-DE" sz="2800" dirty="0"/>
              <a:t> (</a:t>
            </a:r>
            <a:r>
              <a:rPr lang="de-DE" sz="2800" dirty="0" err="1"/>
              <a:t>hence</a:t>
            </a:r>
            <a:r>
              <a:rPr lang="de-DE" sz="2800" dirty="0"/>
              <a:t> 	</a:t>
            </a:r>
            <a:r>
              <a:rPr lang="de-DE" sz="2800" dirty="0" err="1"/>
              <a:t>constant</a:t>
            </a:r>
            <a:r>
              <a:rPr lang="de-DE" sz="2800" dirty="0"/>
              <a:t> </a:t>
            </a:r>
            <a:r>
              <a:rPr lang="de-DE" sz="2800" dirty="0" err="1"/>
              <a:t>volume</a:t>
            </a:r>
            <a:r>
              <a:rPr lang="de-DE" sz="2800" dirty="0"/>
              <a:t> </a:t>
            </a:r>
            <a:r>
              <a:rPr lang="de-DE" sz="2800" dirty="0" err="1"/>
              <a:t>process</a:t>
            </a:r>
            <a:r>
              <a:rPr lang="de-DE" sz="2800" dirty="0"/>
              <a:t>)</a:t>
            </a:r>
            <a:endParaRPr lang="en-GB" sz="2800" dirty="0"/>
          </a:p>
          <a:p>
            <a:pPr lvl="0">
              <a:lnSpc>
                <a:spcPct val="130000"/>
              </a:lnSpc>
            </a:pPr>
            <a:r>
              <a:rPr lang="de-DE" sz="2800" dirty="0"/>
              <a:t>3 - 4 : </a:t>
            </a:r>
            <a:r>
              <a:rPr lang="de-DE" sz="2800" dirty="0" err="1"/>
              <a:t>isentropic</a:t>
            </a:r>
            <a:r>
              <a:rPr lang="de-DE" sz="2800" dirty="0"/>
              <a:t> </a:t>
            </a:r>
            <a:r>
              <a:rPr lang="de-DE" sz="2800" dirty="0" err="1"/>
              <a:t>expansion</a:t>
            </a:r>
            <a:endParaRPr lang="en-GB" sz="2800" dirty="0"/>
          </a:p>
          <a:p>
            <a:pPr lvl="0">
              <a:lnSpc>
                <a:spcPct val="130000"/>
              </a:lnSpc>
            </a:pPr>
            <a:r>
              <a:rPr lang="de-DE" sz="2800" dirty="0"/>
              <a:t>4 - 1 : </a:t>
            </a:r>
            <a:r>
              <a:rPr lang="de-DE" sz="2800" dirty="0" err="1"/>
              <a:t>isochoric</a:t>
            </a:r>
            <a:r>
              <a:rPr lang="de-DE" sz="2800" dirty="0"/>
              <a:t> </a:t>
            </a:r>
            <a:r>
              <a:rPr lang="de-DE" sz="2800" dirty="0" err="1"/>
              <a:t>heat</a:t>
            </a:r>
            <a:r>
              <a:rPr lang="de-DE" sz="2800" dirty="0"/>
              <a:t> </a:t>
            </a:r>
            <a:r>
              <a:rPr lang="de-DE" sz="2800" dirty="0" err="1"/>
              <a:t>removal</a:t>
            </a:r>
            <a:endParaRPr lang="en-GB" sz="2800" dirty="0"/>
          </a:p>
          <a:p>
            <a:endParaRPr lang="en-GB" dirty="0"/>
          </a:p>
        </p:txBody>
      </p:sp>
    </p:spTree>
    <p:extLst>
      <p:ext uri="{BB962C8B-B14F-4D97-AF65-F5344CB8AC3E}">
        <p14:creationId xmlns:p14="http://schemas.microsoft.com/office/powerpoint/2010/main" val="38709033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347788" indent="-1347788"/>
            <a:r>
              <a:rPr lang="en-GB" sz="3200" dirty="0"/>
              <a:t>UNIT 2: </a:t>
            </a:r>
            <a:r>
              <a:rPr lang="en-GB" sz="3200" dirty="0" smtClean="0"/>
              <a:t>Fuel Used </a:t>
            </a:r>
            <a:r>
              <a:rPr lang="en-GB" sz="3200" dirty="0"/>
              <a:t>(thermodynamic Cycle Operation)</a:t>
            </a:r>
            <a:endParaRPr lang="en-GB" dirty="0"/>
          </a:p>
        </p:txBody>
      </p:sp>
      <p:sp>
        <p:nvSpPr>
          <p:cNvPr id="3" name="Content Placeholder 2"/>
          <p:cNvSpPr>
            <a:spLocks noGrp="1"/>
          </p:cNvSpPr>
          <p:nvPr>
            <p:ph idx="1"/>
          </p:nvPr>
        </p:nvSpPr>
        <p:spPr/>
        <p:txBody>
          <a:bodyPr/>
          <a:lstStyle/>
          <a:p>
            <a:pPr lvl="0">
              <a:lnSpc>
                <a:spcPct val="130000"/>
              </a:lnSpc>
              <a:spcBef>
                <a:spcPts val="0"/>
              </a:spcBef>
              <a:spcAft>
                <a:spcPts val="600"/>
              </a:spcAft>
              <a:buNone/>
            </a:pPr>
            <a:r>
              <a:rPr lang="en-GB" sz="2600" b="1" i="1" dirty="0">
                <a:solidFill>
                  <a:prstClr val="black"/>
                </a:solidFill>
              </a:rPr>
              <a:t>Constant Pressure Heat Addition Cycle (Ideal diesel engine</a:t>
            </a:r>
            <a:r>
              <a:rPr lang="en-GB" sz="2600" dirty="0">
                <a:solidFill>
                  <a:prstClr val="black"/>
                </a:solidFill>
              </a:rPr>
              <a:t>):</a:t>
            </a:r>
          </a:p>
          <a:p>
            <a:pPr lvl="0">
              <a:lnSpc>
                <a:spcPct val="130000"/>
              </a:lnSpc>
              <a:spcBef>
                <a:spcPts val="0"/>
              </a:spcBef>
              <a:spcAft>
                <a:spcPts val="600"/>
              </a:spcAft>
            </a:pPr>
            <a:r>
              <a:rPr lang="en-GB" sz="2600" dirty="0">
                <a:solidFill>
                  <a:prstClr val="black"/>
                </a:solidFill>
              </a:rPr>
              <a:t>Pure air is compressed and fuel is sprayed under high pressure.</a:t>
            </a:r>
          </a:p>
          <a:p>
            <a:pPr lvl="0">
              <a:lnSpc>
                <a:spcPct val="130000"/>
              </a:lnSpc>
              <a:spcBef>
                <a:spcPts val="0"/>
              </a:spcBef>
              <a:spcAft>
                <a:spcPts val="600"/>
              </a:spcAft>
            </a:pPr>
            <a:r>
              <a:rPr lang="en-GB" sz="2600" dirty="0">
                <a:solidFill>
                  <a:prstClr val="black"/>
                </a:solidFill>
              </a:rPr>
              <a:t>Very high compression ratio</a:t>
            </a:r>
          </a:p>
          <a:p>
            <a:pPr lvl="0">
              <a:lnSpc>
                <a:spcPct val="130000"/>
              </a:lnSpc>
              <a:spcBef>
                <a:spcPts val="0"/>
              </a:spcBef>
              <a:spcAft>
                <a:spcPts val="600"/>
              </a:spcAft>
            </a:pPr>
            <a:r>
              <a:rPr lang="en-GB" sz="2600" dirty="0">
                <a:solidFill>
                  <a:prstClr val="black"/>
                </a:solidFill>
              </a:rPr>
              <a:t>Combustible mixture is not homogeneous,</a:t>
            </a:r>
          </a:p>
          <a:p>
            <a:pPr lvl="0">
              <a:lnSpc>
                <a:spcPct val="130000"/>
              </a:lnSpc>
              <a:spcBef>
                <a:spcPts val="0"/>
              </a:spcBef>
              <a:spcAft>
                <a:spcPts val="600"/>
              </a:spcAft>
            </a:pPr>
            <a:r>
              <a:rPr lang="en-GB" sz="2600" dirty="0">
                <a:solidFill>
                  <a:prstClr val="black"/>
                </a:solidFill>
              </a:rPr>
              <a:t>The compressed mixture experiences self-ignition,</a:t>
            </a:r>
          </a:p>
          <a:p>
            <a:pPr lvl="0">
              <a:lnSpc>
                <a:spcPct val="130000"/>
              </a:lnSpc>
              <a:spcBef>
                <a:spcPts val="0"/>
              </a:spcBef>
              <a:spcAft>
                <a:spcPts val="600"/>
              </a:spcAft>
            </a:pPr>
            <a:r>
              <a:rPr lang="en-GB" sz="2600" dirty="0">
                <a:solidFill>
                  <a:prstClr val="black"/>
                </a:solidFill>
              </a:rPr>
              <a:t>High air ratio i.e. low fuel mixture. Results in less loss which would have been due to insufficient oxygen</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9</a:t>
            </a:fld>
            <a:endParaRPr lang="en-GB"/>
          </a:p>
        </p:txBody>
      </p:sp>
    </p:spTree>
    <p:extLst>
      <p:ext uri="{BB962C8B-B14F-4D97-AF65-F5344CB8AC3E}">
        <p14:creationId xmlns:p14="http://schemas.microsoft.com/office/powerpoint/2010/main" val="1628065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1347788" indent="-1347788"/>
            <a:r>
              <a:rPr lang="en-GB" sz="2900" dirty="0"/>
              <a:t>UNIT 2: </a:t>
            </a:r>
            <a:r>
              <a:rPr lang="en-GB" sz="2900" dirty="0" smtClean="0"/>
              <a:t>Fuel Used </a:t>
            </a:r>
            <a:r>
              <a:rPr lang="en-GB" sz="2900" dirty="0"/>
              <a:t>(thermodynamic Cycle Operation)</a:t>
            </a:r>
            <a:endParaRPr lang="en-GB" dirty="0"/>
          </a:p>
        </p:txBody>
      </p:sp>
      <p:sp>
        <p:nvSpPr>
          <p:cNvPr id="3" name="Content Placeholder 2"/>
          <p:cNvSpPr>
            <a:spLocks noGrp="1"/>
          </p:cNvSpPr>
          <p:nvPr>
            <p:ph idx="1"/>
          </p:nvPr>
        </p:nvSpPr>
        <p:spPr>
          <a:xfrm>
            <a:off x="838200" y="1825625"/>
            <a:ext cx="10515600" cy="532564"/>
          </a:xfrm>
        </p:spPr>
        <p:txBody>
          <a:bodyPr/>
          <a:lstStyle/>
          <a:p>
            <a:pPr lvl="0">
              <a:buNone/>
            </a:pPr>
            <a:r>
              <a:rPr lang="en-GB" sz="2600" b="1" i="1" dirty="0">
                <a:solidFill>
                  <a:prstClr val="black"/>
                </a:solidFill>
              </a:rPr>
              <a:t>Constant Pressure Heat Addition Cycle (Ideal diesel engine</a:t>
            </a:r>
            <a:r>
              <a:rPr lang="en-GB" sz="2600" dirty="0" smtClean="0">
                <a:solidFill>
                  <a:prstClr val="black"/>
                </a:solidFill>
              </a:rPr>
              <a:t>):</a:t>
            </a:r>
            <a:endParaRPr lang="en-GB" sz="2600" dirty="0">
              <a:solidFill>
                <a:prstClr val="black"/>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pPr/>
              <a:t>10</a:t>
            </a:fld>
            <a:endParaRPr lang="en-GB"/>
          </a:p>
        </p:txBody>
      </p:sp>
      <p:pic>
        <p:nvPicPr>
          <p:cNvPr id="5" name="Picture 4" descr="http://www.maschinenbau-fh.de/images/t_diesel.gif"/>
          <p:cNvPicPr>
            <a:picLocks noChangeAspect="1" noChangeArrowheads="1"/>
          </p:cNvPicPr>
          <p:nvPr/>
        </p:nvPicPr>
        <p:blipFill>
          <a:blip r:embed="rId2" cstate="print"/>
          <a:srcRect/>
          <a:stretch>
            <a:fillRect/>
          </a:stretch>
        </p:blipFill>
        <p:spPr bwMode="auto">
          <a:xfrm>
            <a:off x="1029013" y="2366609"/>
            <a:ext cx="4068000" cy="4068000"/>
          </a:xfrm>
          <a:prstGeom prst="rect">
            <a:avLst/>
          </a:prstGeom>
          <a:noFill/>
        </p:spPr>
      </p:pic>
      <p:sp>
        <p:nvSpPr>
          <p:cNvPr id="6" name="TextBox 5"/>
          <p:cNvSpPr txBox="1"/>
          <p:nvPr/>
        </p:nvSpPr>
        <p:spPr>
          <a:xfrm>
            <a:off x="5727032" y="2767263"/>
            <a:ext cx="5626768" cy="3170099"/>
          </a:xfrm>
          <a:prstGeom prst="rect">
            <a:avLst/>
          </a:prstGeom>
          <a:noFill/>
        </p:spPr>
        <p:txBody>
          <a:bodyPr wrap="square" rtlCol="0">
            <a:spAutoFit/>
          </a:bodyPr>
          <a:lstStyle/>
          <a:p>
            <a:pPr lvl="0">
              <a:lnSpc>
                <a:spcPct val="130000"/>
              </a:lnSpc>
            </a:pPr>
            <a:r>
              <a:rPr lang="de-DE" sz="2800" dirty="0">
                <a:solidFill>
                  <a:prstClr val="black"/>
                </a:solidFill>
              </a:rPr>
              <a:t>1 – 2: </a:t>
            </a:r>
            <a:r>
              <a:rPr lang="de-DE" sz="2800" dirty="0" err="1">
                <a:solidFill>
                  <a:prstClr val="black"/>
                </a:solidFill>
              </a:rPr>
              <a:t>isentropic</a:t>
            </a:r>
            <a:r>
              <a:rPr lang="de-DE" sz="2800" dirty="0">
                <a:solidFill>
                  <a:prstClr val="black"/>
                </a:solidFill>
              </a:rPr>
              <a:t> </a:t>
            </a:r>
            <a:r>
              <a:rPr lang="de-DE" sz="2800" dirty="0" err="1">
                <a:solidFill>
                  <a:prstClr val="black"/>
                </a:solidFill>
              </a:rPr>
              <a:t>compression</a:t>
            </a:r>
            <a:endParaRPr lang="en-GB" sz="2800" dirty="0">
              <a:solidFill>
                <a:prstClr val="black"/>
              </a:solidFill>
            </a:endParaRPr>
          </a:p>
          <a:p>
            <a:pPr lvl="0">
              <a:lnSpc>
                <a:spcPct val="130000"/>
              </a:lnSpc>
            </a:pPr>
            <a:r>
              <a:rPr lang="de-DE" sz="2800" dirty="0">
                <a:solidFill>
                  <a:prstClr val="black"/>
                </a:solidFill>
              </a:rPr>
              <a:t>2 – 3: </a:t>
            </a:r>
            <a:r>
              <a:rPr lang="de-DE" sz="2800" dirty="0" err="1">
                <a:solidFill>
                  <a:prstClr val="black"/>
                </a:solidFill>
              </a:rPr>
              <a:t>isobaric</a:t>
            </a:r>
            <a:r>
              <a:rPr lang="de-DE" sz="2800" dirty="0">
                <a:solidFill>
                  <a:prstClr val="black"/>
                </a:solidFill>
              </a:rPr>
              <a:t> </a:t>
            </a:r>
            <a:r>
              <a:rPr lang="de-DE" sz="2800" dirty="0" err="1">
                <a:solidFill>
                  <a:prstClr val="black"/>
                </a:solidFill>
              </a:rPr>
              <a:t>heat</a:t>
            </a:r>
            <a:r>
              <a:rPr lang="de-DE" sz="2800" dirty="0">
                <a:solidFill>
                  <a:prstClr val="black"/>
                </a:solidFill>
              </a:rPr>
              <a:t> </a:t>
            </a:r>
            <a:r>
              <a:rPr lang="de-DE" sz="2800" dirty="0" err="1">
                <a:solidFill>
                  <a:prstClr val="black"/>
                </a:solidFill>
              </a:rPr>
              <a:t>addition</a:t>
            </a:r>
            <a:r>
              <a:rPr lang="de-DE" sz="2800" dirty="0">
                <a:solidFill>
                  <a:prstClr val="black"/>
                </a:solidFill>
              </a:rPr>
              <a:t> (</a:t>
            </a:r>
            <a:r>
              <a:rPr lang="de-DE" sz="2800" dirty="0" err="1">
                <a:solidFill>
                  <a:prstClr val="black"/>
                </a:solidFill>
              </a:rPr>
              <a:t>hence</a:t>
            </a:r>
            <a:r>
              <a:rPr lang="de-DE" sz="2800" dirty="0">
                <a:solidFill>
                  <a:prstClr val="black"/>
                </a:solidFill>
              </a:rPr>
              <a:t> 	</a:t>
            </a:r>
            <a:r>
              <a:rPr lang="de-DE" sz="2800" dirty="0" err="1">
                <a:solidFill>
                  <a:prstClr val="black"/>
                </a:solidFill>
              </a:rPr>
              <a:t>constant</a:t>
            </a:r>
            <a:r>
              <a:rPr lang="de-DE" sz="2800" dirty="0">
                <a:solidFill>
                  <a:prstClr val="black"/>
                </a:solidFill>
              </a:rPr>
              <a:t> </a:t>
            </a:r>
            <a:r>
              <a:rPr lang="de-DE" sz="2800" dirty="0" err="1">
                <a:solidFill>
                  <a:prstClr val="black"/>
                </a:solidFill>
              </a:rPr>
              <a:t>pressure</a:t>
            </a:r>
            <a:r>
              <a:rPr lang="de-DE" sz="2800" dirty="0">
                <a:solidFill>
                  <a:prstClr val="black"/>
                </a:solidFill>
              </a:rPr>
              <a:t> </a:t>
            </a:r>
            <a:r>
              <a:rPr lang="de-DE" sz="2800" dirty="0" err="1">
                <a:solidFill>
                  <a:prstClr val="black"/>
                </a:solidFill>
              </a:rPr>
              <a:t>process</a:t>
            </a:r>
            <a:r>
              <a:rPr lang="de-DE" sz="2800" dirty="0">
                <a:solidFill>
                  <a:prstClr val="black"/>
                </a:solidFill>
              </a:rPr>
              <a:t>)</a:t>
            </a:r>
            <a:endParaRPr lang="en-GB" sz="2800" dirty="0">
              <a:solidFill>
                <a:prstClr val="black"/>
              </a:solidFill>
            </a:endParaRPr>
          </a:p>
          <a:p>
            <a:pPr lvl="0">
              <a:lnSpc>
                <a:spcPct val="130000"/>
              </a:lnSpc>
            </a:pPr>
            <a:r>
              <a:rPr lang="de-DE" sz="2800" dirty="0">
                <a:solidFill>
                  <a:prstClr val="black"/>
                </a:solidFill>
              </a:rPr>
              <a:t>3 – 4: </a:t>
            </a:r>
            <a:r>
              <a:rPr lang="de-DE" sz="2800" dirty="0" err="1">
                <a:solidFill>
                  <a:prstClr val="black"/>
                </a:solidFill>
              </a:rPr>
              <a:t>isentropic</a:t>
            </a:r>
            <a:r>
              <a:rPr lang="de-DE" sz="2800" dirty="0">
                <a:solidFill>
                  <a:prstClr val="black"/>
                </a:solidFill>
              </a:rPr>
              <a:t> </a:t>
            </a:r>
            <a:r>
              <a:rPr lang="de-DE" sz="2800" dirty="0" err="1">
                <a:solidFill>
                  <a:prstClr val="black"/>
                </a:solidFill>
              </a:rPr>
              <a:t>expansion</a:t>
            </a:r>
            <a:endParaRPr lang="en-GB" sz="2800" dirty="0">
              <a:solidFill>
                <a:prstClr val="black"/>
              </a:solidFill>
            </a:endParaRPr>
          </a:p>
          <a:p>
            <a:pPr lvl="0">
              <a:lnSpc>
                <a:spcPct val="130000"/>
              </a:lnSpc>
            </a:pPr>
            <a:r>
              <a:rPr lang="de-DE" sz="2800" dirty="0">
                <a:solidFill>
                  <a:prstClr val="black"/>
                </a:solidFill>
              </a:rPr>
              <a:t>4 – 1: </a:t>
            </a:r>
            <a:r>
              <a:rPr lang="de-DE" sz="2800" dirty="0" err="1">
                <a:solidFill>
                  <a:prstClr val="black"/>
                </a:solidFill>
              </a:rPr>
              <a:t>isochoric</a:t>
            </a:r>
            <a:r>
              <a:rPr lang="de-DE" sz="2800" dirty="0">
                <a:solidFill>
                  <a:prstClr val="black"/>
                </a:solidFill>
              </a:rPr>
              <a:t> </a:t>
            </a:r>
            <a:r>
              <a:rPr lang="de-DE" sz="2800" dirty="0" err="1">
                <a:solidFill>
                  <a:prstClr val="black"/>
                </a:solidFill>
              </a:rPr>
              <a:t>heat</a:t>
            </a:r>
            <a:r>
              <a:rPr lang="de-DE" sz="2800" dirty="0">
                <a:solidFill>
                  <a:prstClr val="black"/>
                </a:solidFill>
              </a:rPr>
              <a:t> </a:t>
            </a:r>
            <a:r>
              <a:rPr lang="de-DE" sz="2800" dirty="0" err="1">
                <a:solidFill>
                  <a:prstClr val="black"/>
                </a:solidFill>
              </a:rPr>
              <a:t>addition</a:t>
            </a:r>
            <a:endParaRPr lang="en-GB" sz="2800" dirty="0">
              <a:solidFill>
                <a:prstClr val="black"/>
              </a:solidFill>
            </a:endParaRPr>
          </a:p>
          <a:p>
            <a:endParaRPr lang="en-GB" dirty="0"/>
          </a:p>
        </p:txBody>
      </p:sp>
    </p:spTree>
    <p:extLst>
      <p:ext uri="{BB962C8B-B14F-4D97-AF65-F5344CB8AC3E}">
        <p14:creationId xmlns:p14="http://schemas.microsoft.com/office/powerpoint/2010/main" val="3613964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1443038" indent="-1443038"/>
            <a:r>
              <a:rPr lang="en-GB" dirty="0"/>
              <a:t>UNIT 2: </a:t>
            </a:r>
            <a:r>
              <a:rPr lang="en-GB" dirty="0" smtClean="0"/>
              <a:t>Fuel Used </a:t>
            </a:r>
            <a:r>
              <a:rPr lang="en-GB" dirty="0"/>
              <a:t>(thermodynamic Cycle Operation)</a:t>
            </a:r>
          </a:p>
        </p:txBody>
      </p:sp>
      <p:sp>
        <p:nvSpPr>
          <p:cNvPr id="3" name="Content Placeholder 2"/>
          <p:cNvSpPr>
            <a:spLocks noGrp="1"/>
          </p:cNvSpPr>
          <p:nvPr>
            <p:ph idx="1"/>
          </p:nvPr>
        </p:nvSpPr>
        <p:spPr>
          <a:xfrm>
            <a:off x="838200" y="1825625"/>
            <a:ext cx="10515600" cy="893512"/>
          </a:xfrm>
        </p:spPr>
        <p:txBody>
          <a:bodyPr/>
          <a:lstStyle/>
          <a:p>
            <a:pPr marL="0" indent="0">
              <a:buNone/>
            </a:pPr>
            <a:r>
              <a:rPr lang="en-GB" b="1" i="1" dirty="0"/>
              <a:t>Mixed Constant Volume &amp; Constant Pressure Heat Addition Cycle (Real Otto &amp; diesel engines</a:t>
            </a:r>
            <a:r>
              <a:rPr lang="en-GB" dirty="0" smtClean="0"/>
              <a:t>):</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11</a:t>
            </a:fld>
            <a:endParaRPr lang="en-GB"/>
          </a:p>
        </p:txBody>
      </p:sp>
      <p:pic>
        <p:nvPicPr>
          <p:cNvPr id="5" name="Picture 1"/>
          <p:cNvPicPr>
            <a:picLocks noChangeAspect="1" noChangeArrowheads="1"/>
          </p:cNvPicPr>
          <p:nvPr/>
        </p:nvPicPr>
        <p:blipFill>
          <a:blip r:embed="rId2" cstate="print"/>
          <a:srcRect/>
          <a:stretch>
            <a:fillRect/>
          </a:stretch>
        </p:blipFill>
        <p:spPr bwMode="auto">
          <a:xfrm>
            <a:off x="487154" y="3007916"/>
            <a:ext cx="3288411" cy="2531555"/>
          </a:xfrm>
          <a:prstGeom prst="rect">
            <a:avLst/>
          </a:prstGeom>
          <a:noFill/>
          <a:ln w="9525">
            <a:noFill/>
            <a:miter lim="800000"/>
            <a:headEnd/>
            <a:tailEnd/>
          </a:ln>
        </p:spPr>
      </p:pic>
      <p:pic>
        <p:nvPicPr>
          <p:cNvPr id="6" name="Picture 2"/>
          <p:cNvPicPr>
            <a:picLocks noChangeAspect="1" noChangeArrowheads="1"/>
          </p:cNvPicPr>
          <p:nvPr/>
        </p:nvPicPr>
        <p:blipFill>
          <a:blip r:embed="rId3" cstate="print"/>
          <a:srcRect/>
          <a:stretch>
            <a:fillRect/>
          </a:stretch>
        </p:blipFill>
        <p:spPr bwMode="auto">
          <a:xfrm>
            <a:off x="3841521" y="2742916"/>
            <a:ext cx="3190875" cy="3009900"/>
          </a:xfrm>
          <a:prstGeom prst="rect">
            <a:avLst/>
          </a:prstGeom>
          <a:noFill/>
          <a:ln w="9525">
            <a:noFill/>
            <a:miter lim="800000"/>
            <a:headEnd/>
            <a:tailEnd/>
          </a:ln>
        </p:spPr>
      </p:pic>
      <p:sp>
        <p:nvSpPr>
          <p:cNvPr id="8" name="TextBox 7"/>
          <p:cNvSpPr txBox="1"/>
          <p:nvPr/>
        </p:nvSpPr>
        <p:spPr>
          <a:xfrm>
            <a:off x="7104585" y="3007916"/>
            <a:ext cx="4619406" cy="3170099"/>
          </a:xfrm>
          <a:prstGeom prst="rect">
            <a:avLst/>
          </a:prstGeom>
          <a:noFill/>
        </p:spPr>
        <p:txBody>
          <a:bodyPr wrap="none" rtlCol="0">
            <a:spAutoFit/>
          </a:bodyPr>
          <a:lstStyle/>
          <a:p>
            <a:pPr lvl="0">
              <a:lnSpc>
                <a:spcPct val="130000"/>
              </a:lnSpc>
            </a:pPr>
            <a:r>
              <a:rPr lang="de-DE" sz="2800" dirty="0">
                <a:solidFill>
                  <a:prstClr val="black"/>
                </a:solidFill>
              </a:rPr>
              <a:t>1 – 2:  </a:t>
            </a:r>
            <a:r>
              <a:rPr lang="de-DE" sz="2800" dirty="0" err="1">
                <a:solidFill>
                  <a:prstClr val="black"/>
                </a:solidFill>
              </a:rPr>
              <a:t>isentropic</a:t>
            </a:r>
            <a:r>
              <a:rPr lang="de-DE" sz="2800" dirty="0">
                <a:solidFill>
                  <a:prstClr val="black"/>
                </a:solidFill>
              </a:rPr>
              <a:t> </a:t>
            </a:r>
            <a:r>
              <a:rPr lang="de-DE" sz="2800" dirty="0" err="1">
                <a:solidFill>
                  <a:prstClr val="black"/>
                </a:solidFill>
              </a:rPr>
              <a:t>compression</a:t>
            </a:r>
            <a:r>
              <a:rPr lang="de-DE" sz="2800" dirty="0">
                <a:solidFill>
                  <a:prstClr val="black"/>
                </a:solidFill>
              </a:rPr>
              <a:t>.</a:t>
            </a:r>
            <a:endParaRPr lang="en-GB" sz="2800" dirty="0">
              <a:solidFill>
                <a:prstClr val="black"/>
              </a:solidFill>
            </a:endParaRPr>
          </a:p>
          <a:p>
            <a:pPr lvl="0">
              <a:lnSpc>
                <a:spcPct val="130000"/>
              </a:lnSpc>
            </a:pPr>
            <a:r>
              <a:rPr lang="de-DE" sz="2800" dirty="0">
                <a:solidFill>
                  <a:prstClr val="black"/>
                </a:solidFill>
              </a:rPr>
              <a:t>2 – 3:  </a:t>
            </a:r>
            <a:r>
              <a:rPr lang="de-DE" sz="2800" dirty="0" err="1">
                <a:solidFill>
                  <a:prstClr val="black"/>
                </a:solidFill>
              </a:rPr>
              <a:t>isochoric</a:t>
            </a:r>
            <a:r>
              <a:rPr lang="de-DE" sz="2800" dirty="0">
                <a:solidFill>
                  <a:prstClr val="black"/>
                </a:solidFill>
              </a:rPr>
              <a:t> </a:t>
            </a:r>
            <a:r>
              <a:rPr lang="de-DE" sz="2800" dirty="0" err="1">
                <a:solidFill>
                  <a:prstClr val="black"/>
                </a:solidFill>
              </a:rPr>
              <a:t>compression</a:t>
            </a:r>
            <a:r>
              <a:rPr lang="de-DE" sz="2800" dirty="0">
                <a:solidFill>
                  <a:prstClr val="black"/>
                </a:solidFill>
              </a:rPr>
              <a:t>.</a:t>
            </a:r>
            <a:endParaRPr lang="en-GB" sz="2800" dirty="0">
              <a:solidFill>
                <a:prstClr val="black"/>
              </a:solidFill>
            </a:endParaRPr>
          </a:p>
          <a:p>
            <a:pPr lvl="0">
              <a:lnSpc>
                <a:spcPct val="130000"/>
              </a:lnSpc>
            </a:pPr>
            <a:r>
              <a:rPr lang="de-DE" sz="2800" dirty="0">
                <a:solidFill>
                  <a:prstClr val="black"/>
                </a:solidFill>
              </a:rPr>
              <a:t>3 – 4:  </a:t>
            </a:r>
            <a:r>
              <a:rPr lang="de-DE" sz="2800" dirty="0" err="1">
                <a:solidFill>
                  <a:prstClr val="black"/>
                </a:solidFill>
              </a:rPr>
              <a:t>isobaric</a:t>
            </a:r>
            <a:r>
              <a:rPr lang="de-DE" sz="2800" dirty="0">
                <a:solidFill>
                  <a:prstClr val="black"/>
                </a:solidFill>
              </a:rPr>
              <a:t> </a:t>
            </a:r>
            <a:r>
              <a:rPr lang="de-DE" sz="2800" dirty="0" err="1">
                <a:solidFill>
                  <a:prstClr val="black"/>
                </a:solidFill>
              </a:rPr>
              <a:t>combustion</a:t>
            </a:r>
            <a:r>
              <a:rPr lang="de-DE" sz="2800" dirty="0">
                <a:solidFill>
                  <a:prstClr val="black"/>
                </a:solidFill>
              </a:rPr>
              <a:t> </a:t>
            </a:r>
          </a:p>
          <a:p>
            <a:pPr lvl="0">
              <a:lnSpc>
                <a:spcPct val="130000"/>
              </a:lnSpc>
            </a:pPr>
            <a:r>
              <a:rPr lang="de-DE" sz="2800" dirty="0">
                <a:solidFill>
                  <a:prstClr val="black"/>
                </a:solidFill>
              </a:rPr>
              <a:t>4 – 5:  </a:t>
            </a:r>
            <a:r>
              <a:rPr lang="de-DE" sz="2800" dirty="0" err="1">
                <a:solidFill>
                  <a:prstClr val="black"/>
                </a:solidFill>
              </a:rPr>
              <a:t>isentropic</a:t>
            </a:r>
            <a:r>
              <a:rPr lang="de-DE" sz="2800" dirty="0">
                <a:solidFill>
                  <a:prstClr val="black"/>
                </a:solidFill>
              </a:rPr>
              <a:t> </a:t>
            </a:r>
            <a:r>
              <a:rPr lang="de-DE" sz="2800" dirty="0" err="1">
                <a:solidFill>
                  <a:prstClr val="black"/>
                </a:solidFill>
              </a:rPr>
              <a:t>expansion</a:t>
            </a:r>
            <a:endParaRPr lang="en-GB" sz="2800" dirty="0">
              <a:solidFill>
                <a:prstClr val="black"/>
              </a:solidFill>
            </a:endParaRPr>
          </a:p>
          <a:p>
            <a:pPr lvl="0">
              <a:lnSpc>
                <a:spcPct val="130000"/>
              </a:lnSpc>
            </a:pPr>
            <a:r>
              <a:rPr lang="de-DE" sz="2800" dirty="0">
                <a:solidFill>
                  <a:prstClr val="black"/>
                </a:solidFill>
              </a:rPr>
              <a:t>5 – 1:  </a:t>
            </a:r>
            <a:r>
              <a:rPr lang="de-DE" sz="2800" dirty="0" err="1">
                <a:solidFill>
                  <a:prstClr val="black"/>
                </a:solidFill>
              </a:rPr>
              <a:t>isochoric</a:t>
            </a:r>
            <a:r>
              <a:rPr lang="de-DE" sz="2800" dirty="0">
                <a:solidFill>
                  <a:prstClr val="black"/>
                </a:solidFill>
              </a:rPr>
              <a:t> </a:t>
            </a:r>
            <a:r>
              <a:rPr lang="de-DE" sz="2800" dirty="0" err="1">
                <a:solidFill>
                  <a:prstClr val="black"/>
                </a:solidFill>
              </a:rPr>
              <a:t>exhaustion</a:t>
            </a:r>
            <a:endParaRPr lang="en-GB" sz="2800" dirty="0">
              <a:solidFill>
                <a:prstClr val="black"/>
              </a:solidFill>
            </a:endParaRPr>
          </a:p>
          <a:p>
            <a:endParaRPr lang="en-GB" dirty="0"/>
          </a:p>
        </p:txBody>
      </p:sp>
    </p:spTree>
    <p:extLst>
      <p:ext uri="{BB962C8B-B14F-4D97-AF65-F5344CB8AC3E}">
        <p14:creationId xmlns:p14="http://schemas.microsoft.com/office/powerpoint/2010/main" val="807491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55513"/>
          </a:xfrm>
        </p:spPr>
        <p:txBody>
          <a:bodyPr>
            <a:normAutofit fontScale="90000"/>
          </a:bodyPr>
          <a:lstStyle/>
          <a:p>
            <a:r>
              <a:rPr lang="en-GB" dirty="0"/>
              <a:t>UNIT 2: </a:t>
            </a:r>
            <a:r>
              <a:rPr lang="en-GB" dirty="0" smtClean="0"/>
              <a:t>Mode of Operation (Number of Strokes)</a:t>
            </a:r>
            <a:endParaRPr lang="en-GB" dirty="0"/>
          </a:p>
        </p:txBody>
      </p:sp>
      <p:sp>
        <p:nvSpPr>
          <p:cNvPr id="3" name="Content Placeholder 2"/>
          <p:cNvSpPr>
            <a:spLocks noGrp="1"/>
          </p:cNvSpPr>
          <p:nvPr>
            <p:ph idx="1"/>
          </p:nvPr>
        </p:nvSpPr>
        <p:spPr>
          <a:xfrm>
            <a:off x="838201" y="1443789"/>
            <a:ext cx="5394158" cy="5020950"/>
          </a:xfrm>
        </p:spPr>
        <p:txBody>
          <a:bodyPr>
            <a:normAutofit fontScale="47500" lnSpcReduction="20000"/>
          </a:bodyPr>
          <a:lstStyle/>
          <a:p>
            <a:pPr lvl="0">
              <a:lnSpc>
                <a:spcPct val="120000"/>
              </a:lnSpc>
              <a:spcBef>
                <a:spcPts val="0"/>
              </a:spcBef>
              <a:spcAft>
                <a:spcPts val="600"/>
              </a:spcAft>
              <a:buNone/>
            </a:pPr>
            <a:r>
              <a:rPr lang="en-GB" sz="5500" b="1" dirty="0">
                <a:solidFill>
                  <a:prstClr val="black"/>
                </a:solidFill>
              </a:rPr>
              <a:t>Four-Stroke Engine:</a:t>
            </a:r>
          </a:p>
          <a:p>
            <a:pPr lvl="0">
              <a:lnSpc>
                <a:spcPct val="120000"/>
              </a:lnSpc>
              <a:spcBef>
                <a:spcPts val="0"/>
              </a:spcBef>
              <a:spcAft>
                <a:spcPts val="600"/>
              </a:spcAft>
            </a:pPr>
            <a:r>
              <a:rPr lang="en-GB" sz="5500" dirty="0">
                <a:solidFill>
                  <a:prstClr val="black"/>
                </a:solidFill>
              </a:rPr>
              <a:t>Suction, compression, expansion and exhaust. </a:t>
            </a:r>
          </a:p>
          <a:p>
            <a:pPr lvl="0">
              <a:lnSpc>
                <a:spcPct val="120000"/>
              </a:lnSpc>
              <a:spcBef>
                <a:spcPts val="0"/>
              </a:spcBef>
              <a:spcAft>
                <a:spcPts val="600"/>
              </a:spcAft>
            </a:pPr>
            <a:r>
              <a:rPr lang="en-GB" sz="5500" dirty="0">
                <a:solidFill>
                  <a:prstClr val="black"/>
                </a:solidFill>
              </a:rPr>
              <a:t>Charge changes and work are accomplished by changes in the volume of the combustion chamber.</a:t>
            </a:r>
          </a:p>
          <a:p>
            <a:pPr lvl="0">
              <a:lnSpc>
                <a:spcPct val="120000"/>
              </a:lnSpc>
              <a:spcBef>
                <a:spcPts val="0"/>
              </a:spcBef>
              <a:spcAft>
                <a:spcPts val="600"/>
              </a:spcAft>
            </a:pPr>
            <a:r>
              <a:rPr lang="en-GB" sz="5500" dirty="0">
                <a:solidFill>
                  <a:prstClr val="black"/>
                </a:solidFill>
              </a:rPr>
              <a:t>Control of exhausting gases and intake of fresh combustible mixtures are achieved by the valves.</a:t>
            </a:r>
          </a:p>
          <a:p>
            <a:pPr marL="0" indent="0">
              <a:buNone/>
            </a:pP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12</a:t>
            </a:fld>
            <a:endParaRPr lang="en-GB"/>
          </a:p>
        </p:txBody>
      </p:sp>
      <p:graphicFrame>
        <p:nvGraphicFramePr>
          <p:cNvPr id="5" name="Object 2"/>
          <p:cNvGraphicFramePr>
            <a:graphicFrameLocks noChangeAspect="1"/>
          </p:cNvGraphicFramePr>
          <p:nvPr/>
        </p:nvGraphicFramePr>
        <p:xfrm>
          <a:off x="5918760" y="1609165"/>
          <a:ext cx="5878513" cy="4724400"/>
        </p:xfrm>
        <a:graphic>
          <a:graphicData uri="http://schemas.openxmlformats.org/presentationml/2006/ole">
            <mc:AlternateContent xmlns:mc="http://schemas.openxmlformats.org/markup-compatibility/2006">
              <mc:Choice xmlns:v="urn:schemas-microsoft-com:vml" Requires="v">
                <p:oleObj spid="_x0000_s15362" name="AutoCAD Drawing" r:id="rId3" imgW="2924175" imgH="2343150" progId="AutoCAD.Drawing.18">
                  <p:embed/>
                </p:oleObj>
              </mc:Choice>
              <mc:Fallback>
                <p:oleObj name="AutoCAD Drawing" r:id="rId3" imgW="2924175" imgH="2343150" progId="AutoCAD.Drawing.1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8760" y="1609165"/>
                        <a:ext cx="5878513" cy="472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70649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31450"/>
          </a:xfrm>
        </p:spPr>
        <p:txBody>
          <a:bodyPr/>
          <a:lstStyle/>
          <a:p>
            <a:r>
              <a:rPr lang="en-GB" sz="3200" dirty="0"/>
              <a:t>UNIT 2: Mode of Operation (Number of Strokes)</a:t>
            </a:r>
            <a:endParaRPr lang="en-GB" dirty="0"/>
          </a:p>
        </p:txBody>
      </p:sp>
      <p:sp>
        <p:nvSpPr>
          <p:cNvPr id="3" name="Content Placeholder 2"/>
          <p:cNvSpPr>
            <a:spLocks noGrp="1"/>
          </p:cNvSpPr>
          <p:nvPr>
            <p:ph idx="1"/>
          </p:nvPr>
        </p:nvSpPr>
        <p:spPr>
          <a:xfrm>
            <a:off x="838200" y="1419726"/>
            <a:ext cx="5177589" cy="4757237"/>
          </a:xfrm>
        </p:spPr>
        <p:txBody>
          <a:bodyPr>
            <a:normAutofit fontScale="92500"/>
          </a:bodyPr>
          <a:lstStyle/>
          <a:p>
            <a:pPr lvl="0">
              <a:lnSpc>
                <a:spcPct val="140000"/>
              </a:lnSpc>
              <a:spcBef>
                <a:spcPts val="0"/>
              </a:spcBef>
              <a:spcAft>
                <a:spcPts val="600"/>
              </a:spcAft>
            </a:pPr>
            <a:r>
              <a:rPr lang="en-GB" sz="2400" b="1" dirty="0">
                <a:solidFill>
                  <a:prstClr val="black"/>
                </a:solidFill>
              </a:rPr>
              <a:t>Two-Stroke Engine:</a:t>
            </a:r>
          </a:p>
          <a:p>
            <a:pPr lvl="0">
              <a:lnSpc>
                <a:spcPct val="140000"/>
              </a:lnSpc>
              <a:spcBef>
                <a:spcPts val="0"/>
              </a:spcBef>
              <a:spcAft>
                <a:spcPts val="600"/>
              </a:spcAft>
            </a:pPr>
            <a:r>
              <a:rPr lang="en-GB" sz="2400" dirty="0">
                <a:solidFill>
                  <a:prstClr val="black"/>
                </a:solidFill>
              </a:rPr>
              <a:t>Waste gases are blown out by incoming fresh combustible mixture.</a:t>
            </a:r>
          </a:p>
          <a:p>
            <a:pPr lvl="0">
              <a:lnSpc>
                <a:spcPct val="140000"/>
              </a:lnSpc>
              <a:spcBef>
                <a:spcPts val="0"/>
              </a:spcBef>
              <a:spcAft>
                <a:spcPts val="600"/>
              </a:spcAft>
            </a:pPr>
            <a:r>
              <a:rPr lang="en-GB" sz="2400" dirty="0">
                <a:solidFill>
                  <a:prstClr val="black"/>
                </a:solidFill>
              </a:rPr>
              <a:t>Expelling of exhaust gases and intake of fresh mixture is controlled by the piston</a:t>
            </a:r>
          </a:p>
          <a:p>
            <a:pPr lvl="0">
              <a:lnSpc>
                <a:spcPct val="140000"/>
              </a:lnSpc>
              <a:spcBef>
                <a:spcPts val="0"/>
              </a:spcBef>
              <a:spcAft>
                <a:spcPts val="600"/>
              </a:spcAft>
            </a:pPr>
            <a:r>
              <a:rPr lang="en-GB" sz="2400" dirty="0">
                <a:solidFill>
                  <a:prstClr val="black"/>
                </a:solidFill>
              </a:rPr>
              <a:t>Lower section of piston and housing acts as compression room </a:t>
            </a:r>
          </a:p>
        </p:txBody>
      </p:sp>
      <p:sp>
        <p:nvSpPr>
          <p:cNvPr id="4" name="Slide Number Placeholder 3"/>
          <p:cNvSpPr>
            <a:spLocks noGrp="1"/>
          </p:cNvSpPr>
          <p:nvPr>
            <p:ph type="sldNum" sz="quarter" idx="12"/>
          </p:nvPr>
        </p:nvSpPr>
        <p:spPr/>
        <p:txBody>
          <a:bodyPr/>
          <a:lstStyle/>
          <a:p>
            <a:fld id="{7E50C373-F1D0-494F-8D6D-366C958B3429}" type="slidenum">
              <a:rPr lang="en-GB" smtClean="0"/>
              <a:pPr/>
              <a:t>13</a:t>
            </a:fld>
            <a:endParaRPr lang="en-GB"/>
          </a:p>
        </p:txBody>
      </p:sp>
      <p:graphicFrame>
        <p:nvGraphicFramePr>
          <p:cNvPr id="5" name="Object 2"/>
          <p:cNvGraphicFramePr>
            <a:graphicFrameLocks noChangeAspect="1"/>
          </p:cNvGraphicFramePr>
          <p:nvPr/>
        </p:nvGraphicFramePr>
        <p:xfrm>
          <a:off x="5383212" y="2341419"/>
          <a:ext cx="6808788" cy="3581400"/>
        </p:xfrm>
        <a:graphic>
          <a:graphicData uri="http://schemas.openxmlformats.org/presentationml/2006/ole">
            <mc:AlternateContent xmlns:mc="http://schemas.openxmlformats.org/markup-compatibility/2006">
              <mc:Choice xmlns:v="urn:schemas-microsoft-com:vml" Requires="v">
                <p:oleObj spid="_x0000_s16386" name="AutoCAD Drawing" r:id="rId3" imgW="11115675" imgH="5791200" progId="AutoCAD.Drawing.18">
                  <p:embed/>
                </p:oleObj>
              </mc:Choice>
              <mc:Fallback>
                <p:oleObj name="AutoCAD Drawing" r:id="rId3" imgW="11115675" imgH="5791200" progId="AutoCAD.Drawing.1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3212" y="2341419"/>
                        <a:ext cx="6808788" cy="358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72025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80306"/>
          </a:xfrm>
        </p:spPr>
        <p:txBody>
          <a:bodyPr/>
          <a:lstStyle/>
          <a:p>
            <a:r>
              <a:rPr lang="en-GB" dirty="0" smtClean="0"/>
              <a:t>UNIT 2:	Control of Engine Speed</a:t>
            </a:r>
            <a:endParaRPr lang="en-GB" dirty="0"/>
          </a:p>
        </p:txBody>
      </p:sp>
      <p:sp>
        <p:nvSpPr>
          <p:cNvPr id="3" name="Content Placeholder 2"/>
          <p:cNvSpPr>
            <a:spLocks noGrp="1"/>
          </p:cNvSpPr>
          <p:nvPr>
            <p:ph idx="1"/>
          </p:nvPr>
        </p:nvSpPr>
        <p:spPr>
          <a:xfrm>
            <a:off x="838200" y="1524001"/>
            <a:ext cx="4953000" cy="3276600"/>
          </a:xfrm>
        </p:spPr>
        <p:txBody>
          <a:bodyPr>
            <a:normAutofit/>
          </a:bodyPr>
          <a:lstStyle/>
          <a:p>
            <a:pPr>
              <a:lnSpc>
                <a:spcPct val="120000"/>
              </a:lnSpc>
              <a:spcBef>
                <a:spcPts val="0"/>
              </a:spcBef>
              <a:spcAft>
                <a:spcPts val="600"/>
              </a:spcAft>
            </a:pPr>
            <a:r>
              <a:rPr lang="en-GB" dirty="0"/>
              <a:t>It is desirable to perform agricultural operations at nearly constant speed</a:t>
            </a:r>
            <a:r>
              <a:rPr lang="en-GB" dirty="0" smtClean="0"/>
              <a:t>.</a:t>
            </a:r>
          </a:p>
          <a:p>
            <a:pPr>
              <a:lnSpc>
                <a:spcPct val="120000"/>
              </a:lnSpc>
              <a:spcBef>
                <a:spcPts val="0"/>
              </a:spcBef>
              <a:spcAft>
                <a:spcPts val="600"/>
              </a:spcAft>
            </a:pPr>
            <a:r>
              <a:rPr lang="en-GB" dirty="0" smtClean="0"/>
              <a:t> </a:t>
            </a:r>
            <a:r>
              <a:rPr lang="en-GB" i="1" u="sng" dirty="0"/>
              <a:t>Governors</a:t>
            </a:r>
            <a:r>
              <a:rPr lang="en-GB" dirty="0"/>
              <a:t> control speed of engines by </a:t>
            </a:r>
            <a:r>
              <a:rPr lang="en-GB" dirty="0" smtClean="0"/>
              <a:t>regulating </a:t>
            </a:r>
            <a:r>
              <a:rPr lang="en-GB" dirty="0"/>
              <a:t>fuel delivery to the engine </a:t>
            </a:r>
            <a:endParaRPr lang="en-GB" b="1" dirty="0" smtClean="0"/>
          </a:p>
        </p:txBody>
      </p:sp>
      <p:sp>
        <p:nvSpPr>
          <p:cNvPr id="4" name="Slide Number Placeholder 3"/>
          <p:cNvSpPr>
            <a:spLocks noGrp="1"/>
          </p:cNvSpPr>
          <p:nvPr>
            <p:ph type="sldNum" sz="quarter" idx="12"/>
          </p:nvPr>
        </p:nvSpPr>
        <p:spPr/>
        <p:txBody>
          <a:bodyPr/>
          <a:lstStyle/>
          <a:p>
            <a:fld id="{7E50C373-F1D0-494F-8D6D-366C958B3429}" type="slidenum">
              <a:rPr lang="en-GB" smtClean="0"/>
              <a:pPr/>
              <a:t>14</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31600" y="2107408"/>
            <a:ext cx="5364000" cy="3793109"/>
          </a:xfrm>
          <a:prstGeom prst="rect">
            <a:avLst/>
          </a:prstGeom>
          <a:noFill/>
          <a:ln>
            <a:noFill/>
          </a:ln>
        </p:spPr>
      </p:pic>
      <p:sp>
        <p:nvSpPr>
          <p:cNvPr id="5" name="TextBox 4"/>
          <p:cNvSpPr txBox="1"/>
          <p:nvPr/>
        </p:nvSpPr>
        <p:spPr>
          <a:xfrm>
            <a:off x="6351523" y="6003074"/>
            <a:ext cx="4324153" cy="461665"/>
          </a:xfrm>
          <a:prstGeom prst="rect">
            <a:avLst/>
          </a:prstGeom>
          <a:noFill/>
        </p:spPr>
        <p:txBody>
          <a:bodyPr wrap="square" rtlCol="0">
            <a:spAutoFit/>
          </a:bodyPr>
          <a:lstStyle/>
          <a:p>
            <a:r>
              <a:rPr lang="en-US" sz="2400" dirty="0" smtClean="0"/>
              <a:t>Figure 2-1:   Flyweight governor</a:t>
            </a:r>
            <a:endParaRPr lang="en-GB" sz="2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9588"/>
            <a:ext cx="10515600" cy="416859"/>
          </a:xfrm>
        </p:spPr>
        <p:txBody>
          <a:bodyPr>
            <a:normAutofit fontScale="90000"/>
          </a:bodyPr>
          <a:lstStyle/>
          <a:p>
            <a:r>
              <a:rPr lang="en-GB" dirty="0" smtClean="0"/>
              <a:t>UNIT 2:	Flyweight Governor</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57431" y="1504950"/>
                <a:ext cx="5817969" cy="4838700"/>
              </a:xfrm>
            </p:spPr>
            <p:txBody>
              <a:bodyPr>
                <a:normAutofit fontScale="85000" lnSpcReduction="10000"/>
              </a:bodyPr>
              <a:lstStyle/>
              <a:p>
                <a:pPr>
                  <a:lnSpc>
                    <a:spcPct val="140000"/>
                  </a:lnSpc>
                  <a:spcBef>
                    <a:spcPts val="0"/>
                  </a:spcBef>
                  <a:spcAft>
                    <a:spcPts val="600"/>
                  </a:spcAft>
                </a:pPr>
                <a:r>
                  <a:rPr lang="en-GB" dirty="0" smtClean="0"/>
                  <a:t>Lower half of Figure 2-2 </a:t>
                </a:r>
                <a:r>
                  <a:rPr lang="en-GB" dirty="0"/>
                  <a:t>shows the torque-speed characteristic curve of an internal combustion </a:t>
                </a:r>
                <a:r>
                  <a:rPr lang="en-GB" dirty="0" smtClean="0"/>
                  <a:t>engine</a:t>
                </a:r>
              </a:p>
              <a:p>
                <a:pPr>
                  <a:lnSpc>
                    <a:spcPct val="140000"/>
                  </a:lnSpc>
                  <a:spcBef>
                    <a:spcPts val="0"/>
                  </a:spcBef>
                  <a:spcAft>
                    <a:spcPts val="600"/>
                  </a:spcAft>
                </a:pPr>
                <a:r>
                  <a:rPr lang="en-GB" dirty="0" smtClean="0"/>
                  <a:t>Upper half of Figure 2-2 shows the thrust force </a:t>
                </a:r>
                <a14:m>
                  <m:oMath xmlns:m="http://schemas.openxmlformats.org/officeDocument/2006/math">
                    <m:d>
                      <m:dPr>
                        <m:ctrlPr>
                          <a:rPr lang="en-GB" i="1" smtClean="0">
                            <a:latin typeface="Cambria Math" panose="02040503050406030204" pitchFamily="18" charset="0"/>
                          </a:rPr>
                        </m:ctrlPr>
                      </m:dPr>
                      <m:e>
                        <m:sSup>
                          <m:sSupPr>
                            <m:ctrlPr>
                              <a:rPr lang="en-GB" i="1" smtClean="0">
                                <a:latin typeface="Cambria Math" panose="02040503050406030204" pitchFamily="18" charset="0"/>
                              </a:rPr>
                            </m:ctrlPr>
                          </m:sSupPr>
                          <m:e>
                            <m:r>
                              <a:rPr lang="en-GB"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rPr>
                              <m:t>2</m:t>
                            </m:r>
                          </m:sup>
                        </m:sSup>
                        <m:r>
                          <a:rPr lang="en-US" b="0" i="1" smtClean="0">
                            <a:latin typeface="Cambria Math" panose="02040503050406030204" pitchFamily="18" charset="0"/>
                          </a:rPr>
                          <m:t>𝑟</m:t>
                        </m:r>
                      </m:e>
                    </m:d>
                  </m:oMath>
                </a14:m>
                <a:r>
                  <a:rPr lang="en-GB" dirty="0" smtClean="0"/>
                  <a:t> of the flyweights at varied radius:</a:t>
                </a:r>
              </a:p>
              <a:p>
                <a:pPr marL="712788" lvl="0" indent="-309563">
                  <a:lnSpc>
                    <a:spcPct val="110000"/>
                  </a:lnSpc>
                  <a:spcBef>
                    <a:spcPts val="600"/>
                  </a:spcBef>
                  <a:buFont typeface="Wingdings" panose="05000000000000000000" pitchFamily="2" charset="2"/>
                  <a:buChar char="Ø"/>
                </a:pPr>
                <a:r>
                  <a:rPr lang="en-US" dirty="0" smtClean="0"/>
                  <a:t>Path of flyweight: C-B-A</a:t>
                </a:r>
                <a:endParaRPr lang="en-GB" dirty="0" smtClean="0"/>
              </a:p>
              <a:p>
                <a:pPr marL="712788" lvl="0" indent="-309563">
                  <a:lnSpc>
                    <a:spcPct val="110000"/>
                  </a:lnSpc>
                  <a:spcBef>
                    <a:spcPts val="600"/>
                  </a:spcBef>
                  <a:buFont typeface="Wingdings" panose="05000000000000000000" pitchFamily="2" charset="2"/>
                  <a:buChar char="Ø"/>
                </a:pPr>
                <a:r>
                  <a:rPr lang="en-GB" dirty="0" smtClean="0"/>
                  <a:t>Lowest thrust (C)at lowest radius </a:t>
                </a:r>
                <a:r>
                  <a:rPr lang="en-GB" dirty="0"/>
                  <a:t>(weights in), and</a:t>
                </a:r>
              </a:p>
              <a:p>
                <a:pPr marL="712788" lvl="0" indent="-309563">
                  <a:buFont typeface="Wingdings" panose="05000000000000000000" pitchFamily="2" charset="2"/>
                  <a:buChar char="Ø"/>
                </a:pPr>
                <a:r>
                  <a:rPr lang="en-GB" dirty="0" smtClean="0"/>
                  <a:t>Highest thrust (A) </a:t>
                </a:r>
                <a:r>
                  <a:rPr lang="en-GB" dirty="0"/>
                  <a:t>(weights out).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57431" y="1504950"/>
                <a:ext cx="5817969" cy="4838700"/>
              </a:xfrm>
              <a:blipFill rotWithShape="0">
                <a:blip r:embed="rId2"/>
                <a:stretch>
                  <a:fillRect l="-1361" r="-2827" b="-1385"/>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7E50C373-F1D0-494F-8D6D-366C958B3429}" type="slidenum">
              <a:rPr lang="en-GB" smtClean="0"/>
              <a:pPr/>
              <a:t>15</a:t>
            </a:fld>
            <a:endParaRPr lang="en-GB"/>
          </a:p>
        </p:txBody>
      </p:sp>
      <p:pic>
        <p:nvPicPr>
          <p:cNvPr id="5" name="Picture 4"/>
          <p:cNvPicPr>
            <a:picLocks noChangeAspect="1"/>
          </p:cNvPicPr>
          <p:nvPr/>
        </p:nvPicPr>
        <p:blipFill>
          <a:blip r:embed="rId3"/>
          <a:stretch>
            <a:fillRect/>
          </a:stretch>
        </p:blipFill>
        <p:spPr>
          <a:xfrm>
            <a:off x="6758173" y="1224515"/>
            <a:ext cx="4716000" cy="3965992"/>
          </a:xfrm>
          <a:prstGeom prst="rect">
            <a:avLst/>
          </a:prstGeom>
        </p:spPr>
      </p:pic>
      <p:sp>
        <p:nvSpPr>
          <p:cNvPr id="6" name="TextBox 5"/>
          <p:cNvSpPr txBox="1"/>
          <p:nvPr/>
        </p:nvSpPr>
        <p:spPr>
          <a:xfrm>
            <a:off x="6375400" y="5264410"/>
            <a:ext cx="5098774" cy="1200329"/>
          </a:xfrm>
          <a:prstGeom prst="rect">
            <a:avLst/>
          </a:prstGeom>
          <a:noFill/>
        </p:spPr>
        <p:txBody>
          <a:bodyPr wrap="square" rtlCol="0">
            <a:spAutoFit/>
          </a:bodyPr>
          <a:lstStyle/>
          <a:p>
            <a:pPr marL="1076325" indent="-1076325"/>
            <a:r>
              <a:rPr lang="en-US" sz="2400" dirty="0" smtClean="0"/>
              <a:t>Figure 2-2: C</a:t>
            </a:r>
            <a:r>
              <a:rPr lang="en-GB" sz="2400" dirty="0" err="1" smtClean="0"/>
              <a:t>haracteristic</a:t>
            </a:r>
            <a:r>
              <a:rPr lang="en-GB" sz="2400" dirty="0" smtClean="0"/>
              <a:t> curves </a:t>
            </a:r>
            <a:r>
              <a:rPr lang="en-GB" sz="2400" dirty="0"/>
              <a:t>of </a:t>
            </a:r>
            <a:r>
              <a:rPr lang="en-GB" sz="2400" dirty="0" smtClean="0"/>
              <a:t>flyweight governor and internal </a:t>
            </a:r>
            <a:r>
              <a:rPr lang="en-GB" sz="2400" dirty="0"/>
              <a:t>combustion engine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9588"/>
            <a:ext cx="10515600" cy="706402"/>
          </a:xfrm>
        </p:spPr>
        <p:txBody>
          <a:bodyPr>
            <a:noAutofit/>
          </a:bodyPr>
          <a:lstStyle/>
          <a:p>
            <a:pPr marL="1519238" indent="-1519238"/>
            <a:r>
              <a:rPr lang="en-GB" sz="2800" dirty="0"/>
              <a:t>UNIT 2:	</a:t>
            </a:r>
            <a:r>
              <a:rPr lang="en-GB" sz="2800" dirty="0" smtClean="0"/>
              <a:t>Control of power and torque by flyweight </a:t>
            </a:r>
            <a:r>
              <a:rPr lang="en-GB" sz="2800" dirty="0"/>
              <a:t>Governor</a:t>
            </a:r>
          </a:p>
        </p:txBody>
      </p:sp>
      <p:sp>
        <p:nvSpPr>
          <p:cNvPr id="3" name="Content Placeholder 2"/>
          <p:cNvSpPr>
            <a:spLocks noGrp="1"/>
          </p:cNvSpPr>
          <p:nvPr>
            <p:ph idx="1"/>
          </p:nvPr>
        </p:nvSpPr>
        <p:spPr>
          <a:xfrm>
            <a:off x="838199" y="1825625"/>
            <a:ext cx="5248649" cy="4351338"/>
          </a:xfrm>
        </p:spPr>
        <p:txBody>
          <a:bodyPr>
            <a:normAutofit/>
          </a:bodyPr>
          <a:lstStyle/>
          <a:p>
            <a:r>
              <a:rPr lang="en-GB" dirty="0" smtClean="0"/>
              <a:t>Power rises </a:t>
            </a:r>
            <a:r>
              <a:rPr lang="en-GB" dirty="0"/>
              <a:t>linearly with torque increase in the governor-controlled </a:t>
            </a:r>
            <a:r>
              <a:rPr lang="en-GB" dirty="0" smtClean="0"/>
              <a:t>range (A-C) </a:t>
            </a:r>
            <a:endParaRPr lang="en-US" dirty="0" smtClean="0"/>
          </a:p>
          <a:p>
            <a:r>
              <a:rPr lang="en-GB" dirty="0"/>
              <a:t>In </a:t>
            </a:r>
            <a:r>
              <a:rPr lang="en-GB" dirty="0" smtClean="0"/>
              <a:t>load-controlled </a:t>
            </a:r>
            <a:r>
              <a:rPr lang="en-GB" dirty="0"/>
              <a:t>range, power falls </a:t>
            </a:r>
            <a:r>
              <a:rPr lang="en-GB" dirty="0" smtClean="0"/>
              <a:t>nearly </a:t>
            </a:r>
            <a:r>
              <a:rPr lang="en-GB" dirty="0"/>
              <a:t>direct proportion </a:t>
            </a:r>
            <a:r>
              <a:rPr lang="en-GB" dirty="0" smtClean="0"/>
              <a:t>(C-D)</a:t>
            </a:r>
            <a:endParaRPr lang="en-US" dirty="0" smtClean="0"/>
          </a:p>
          <a:p>
            <a:r>
              <a:rPr lang="en-US" dirty="0" smtClean="0"/>
              <a:t>Torque reserve (from D to stop of engine)</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16</a:t>
            </a:fld>
            <a:endParaRPr lang="en-GB"/>
          </a:p>
        </p:txBody>
      </p:sp>
      <p:pic>
        <p:nvPicPr>
          <p:cNvPr id="5" name="Picture 4"/>
          <p:cNvPicPr>
            <a:picLocks noChangeAspect="1"/>
          </p:cNvPicPr>
          <p:nvPr/>
        </p:nvPicPr>
        <p:blipFill rotWithShape="1">
          <a:blip r:embed="rId2"/>
          <a:srcRect t="5202" b="3725"/>
          <a:stretch/>
        </p:blipFill>
        <p:spPr>
          <a:xfrm>
            <a:off x="6086849" y="1547446"/>
            <a:ext cx="5508000" cy="4318782"/>
          </a:xfrm>
          <a:prstGeom prst="rect">
            <a:avLst/>
          </a:prstGeom>
        </p:spPr>
      </p:pic>
      <p:sp>
        <p:nvSpPr>
          <p:cNvPr id="6" name="TextBox 5"/>
          <p:cNvSpPr txBox="1"/>
          <p:nvPr/>
        </p:nvSpPr>
        <p:spPr>
          <a:xfrm>
            <a:off x="6330462" y="5967684"/>
            <a:ext cx="5264387" cy="646331"/>
          </a:xfrm>
          <a:prstGeom prst="rect">
            <a:avLst/>
          </a:prstGeom>
          <a:noFill/>
        </p:spPr>
        <p:txBody>
          <a:bodyPr wrap="square" rtlCol="0">
            <a:spAutoFit/>
          </a:bodyPr>
          <a:lstStyle/>
          <a:p>
            <a:pPr marL="1252538" indent="-1252538"/>
            <a:r>
              <a:rPr lang="en-US" dirty="0" smtClean="0"/>
              <a:t>Figure 2-3:  Characteristic curves of torque and power against speed of IC engine</a:t>
            </a:r>
            <a:endParaRPr lang="en-GB" dirty="0"/>
          </a:p>
        </p:txBody>
      </p:sp>
    </p:spTree>
    <p:extLst>
      <p:ext uri="{BB962C8B-B14F-4D97-AF65-F5344CB8AC3E}">
        <p14:creationId xmlns:p14="http://schemas.microsoft.com/office/powerpoint/2010/main" val="968779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502642"/>
          </a:xfrm>
        </p:spPr>
        <p:txBody>
          <a:bodyPr>
            <a:normAutofit fontScale="90000"/>
          </a:bodyPr>
          <a:lstStyle/>
          <a:p>
            <a:r>
              <a:rPr lang="en-GB" dirty="0" smtClean="0"/>
              <a:t>UNIT 2:	 Electrical Motor</a:t>
            </a:r>
            <a:endParaRPr lang="en-GB" dirty="0"/>
          </a:p>
        </p:txBody>
      </p:sp>
      <p:sp>
        <p:nvSpPr>
          <p:cNvPr id="3" name="Content Placeholder 2"/>
          <p:cNvSpPr>
            <a:spLocks noGrp="1"/>
          </p:cNvSpPr>
          <p:nvPr>
            <p:ph idx="1"/>
          </p:nvPr>
        </p:nvSpPr>
        <p:spPr>
          <a:xfrm>
            <a:off x="838200" y="1597025"/>
            <a:ext cx="10515600" cy="4351338"/>
          </a:xfrm>
        </p:spPr>
        <p:txBody>
          <a:bodyPr/>
          <a:lstStyle/>
          <a:p>
            <a:pPr>
              <a:buNone/>
            </a:pPr>
            <a:r>
              <a:rPr lang="en-GB" b="1" i="1" dirty="0" smtClean="0"/>
              <a:t>Two Working Principles</a:t>
            </a:r>
            <a:r>
              <a:rPr lang="en-GB" dirty="0" smtClean="0"/>
              <a:t>:</a:t>
            </a:r>
          </a:p>
          <a:p>
            <a:pPr lvl="0"/>
            <a:r>
              <a:rPr lang="en-US" dirty="0" smtClean="0"/>
              <a:t>Principle of electromagnetic induction (Faraday, 1831):</a:t>
            </a:r>
          </a:p>
          <a:p>
            <a:pPr marL="463550" lvl="0" indent="0">
              <a:buNone/>
            </a:pPr>
            <a:r>
              <a:rPr lang="en-US" dirty="0" smtClean="0"/>
              <a:t>“a conductor moving through a magnetic field, experiences an induced current in it (electrical generator).</a:t>
            </a:r>
            <a:endParaRPr lang="en-GB" dirty="0" smtClean="0"/>
          </a:p>
          <a:p>
            <a:pPr lvl="0"/>
            <a:r>
              <a:rPr lang="en-US" dirty="0" smtClean="0"/>
              <a:t>Principle electromagnetic reaction (Ampere, 1820):</a:t>
            </a:r>
          </a:p>
          <a:p>
            <a:pPr marL="460375" lvl="0" indent="3175">
              <a:buNone/>
            </a:pPr>
            <a:r>
              <a:rPr lang="en-US" dirty="0" smtClean="0"/>
              <a:t> If a current is passed through a conductor located in a magnetic field, the field exerts a mechanical force on it (electrical motor).</a:t>
            </a:r>
            <a:endParaRPr lang="en-GB" dirty="0" smtClean="0"/>
          </a:p>
          <a:p>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17</a:t>
            </a:fld>
            <a:endParaRPr lang="en-GB"/>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475748"/>
          </a:xfrm>
        </p:spPr>
        <p:txBody>
          <a:bodyPr>
            <a:normAutofit fontScale="90000"/>
          </a:bodyPr>
          <a:lstStyle/>
          <a:p>
            <a:r>
              <a:rPr lang="en-GB" dirty="0" smtClean="0"/>
              <a:t>UNIT 2:	Name-Plate of E-Motor</a:t>
            </a:r>
            <a:endParaRPr lang="en-GB" dirty="0"/>
          </a:p>
        </p:txBody>
      </p:sp>
      <p:sp>
        <p:nvSpPr>
          <p:cNvPr id="3" name="Content Placeholder 2"/>
          <p:cNvSpPr>
            <a:spLocks noGrp="1"/>
          </p:cNvSpPr>
          <p:nvPr>
            <p:ph idx="1"/>
          </p:nvPr>
        </p:nvSpPr>
        <p:spPr>
          <a:xfrm>
            <a:off x="838200" y="1264024"/>
            <a:ext cx="10515600" cy="5101149"/>
          </a:xfrm>
        </p:spPr>
        <p:txBody>
          <a:bodyPr>
            <a:normAutofit fontScale="85000" lnSpcReduction="10000"/>
          </a:bodyPr>
          <a:lstStyle/>
          <a:p>
            <a:pPr marL="0" lvl="1" indent="0">
              <a:lnSpc>
                <a:spcPct val="130000"/>
              </a:lnSpc>
              <a:spcBef>
                <a:spcPts val="0"/>
              </a:spcBef>
              <a:spcAft>
                <a:spcPts val="600"/>
              </a:spcAft>
              <a:buNone/>
              <a:tabLst>
                <a:tab pos="1603375" algn="l"/>
              </a:tabLst>
            </a:pPr>
            <a:r>
              <a:rPr lang="en-US" sz="2800" i="1" dirty="0" smtClean="0"/>
              <a:t>Vital Information on the Name-plate of E-Motor:</a:t>
            </a:r>
            <a:endParaRPr lang="en-GB" sz="2800" i="1" dirty="0" smtClean="0"/>
          </a:p>
          <a:p>
            <a:pPr marL="631825" lvl="1" indent="-284163">
              <a:lnSpc>
                <a:spcPct val="130000"/>
              </a:lnSpc>
              <a:spcBef>
                <a:spcPts val="0"/>
              </a:spcBef>
              <a:spcAft>
                <a:spcPts val="600"/>
              </a:spcAft>
              <a:tabLst>
                <a:tab pos="1603375" algn="l"/>
              </a:tabLst>
            </a:pPr>
            <a:r>
              <a:rPr lang="en-GB" b="1" i="1" dirty="0" smtClean="0"/>
              <a:t>Voltage</a:t>
            </a:r>
            <a:r>
              <a:rPr lang="en-GB" dirty="0" smtClean="0"/>
              <a:t>:	Proper operating voltage value.</a:t>
            </a:r>
            <a:endParaRPr lang="en-GB" sz="2000" dirty="0" smtClean="0"/>
          </a:p>
          <a:p>
            <a:pPr marL="631825" lvl="1" indent="-284163">
              <a:lnSpc>
                <a:spcPct val="130000"/>
              </a:lnSpc>
              <a:spcBef>
                <a:spcPts val="0"/>
              </a:spcBef>
              <a:spcAft>
                <a:spcPts val="600"/>
              </a:spcAft>
              <a:tabLst>
                <a:tab pos="1603375" algn="l"/>
              </a:tabLst>
            </a:pPr>
            <a:r>
              <a:rPr lang="en-GB" b="1" i="1" dirty="0" smtClean="0"/>
              <a:t>Current</a:t>
            </a:r>
            <a:r>
              <a:rPr lang="en-GB" dirty="0" smtClean="0"/>
              <a:t>:	Full-load current drawn at specified voltage.</a:t>
            </a:r>
            <a:endParaRPr lang="en-GB" sz="2000" dirty="0" smtClean="0"/>
          </a:p>
          <a:p>
            <a:pPr marL="631825" lvl="1" indent="-284163">
              <a:lnSpc>
                <a:spcPct val="130000"/>
              </a:lnSpc>
              <a:spcBef>
                <a:spcPts val="0"/>
              </a:spcBef>
              <a:spcAft>
                <a:spcPts val="600"/>
              </a:spcAft>
              <a:tabLst>
                <a:tab pos="1543050" algn="l"/>
              </a:tabLst>
            </a:pPr>
            <a:r>
              <a:rPr lang="en-GB" b="1" i="1" dirty="0" smtClean="0"/>
              <a:t>Speed</a:t>
            </a:r>
            <a:r>
              <a:rPr lang="en-GB" dirty="0" smtClean="0"/>
              <a:t>:	Rotor speed when the motor is running full-load point on the     torque-speed curve.</a:t>
            </a:r>
            <a:endParaRPr lang="en-GB" sz="2000" dirty="0" smtClean="0"/>
          </a:p>
          <a:p>
            <a:pPr marL="631825" lvl="1" indent="-284163">
              <a:lnSpc>
                <a:spcPct val="130000"/>
              </a:lnSpc>
              <a:spcBef>
                <a:spcPts val="0"/>
              </a:spcBef>
              <a:spcAft>
                <a:spcPts val="600"/>
              </a:spcAft>
              <a:tabLst>
                <a:tab pos="1258888" algn="l"/>
              </a:tabLst>
            </a:pPr>
            <a:r>
              <a:rPr lang="en-GB" b="1" i="1" dirty="0" smtClean="0"/>
              <a:t>Duty</a:t>
            </a:r>
            <a:r>
              <a:rPr lang="en-GB" dirty="0" smtClean="0"/>
              <a:t>:	Rated for continuous or intermittent,</a:t>
            </a:r>
            <a:endParaRPr lang="en-GB" sz="2000" dirty="0" smtClean="0"/>
          </a:p>
          <a:p>
            <a:pPr marL="631825" lvl="1" indent="-284163">
              <a:lnSpc>
                <a:spcPct val="130000"/>
              </a:lnSpc>
              <a:spcBef>
                <a:spcPts val="0"/>
              </a:spcBef>
              <a:spcAft>
                <a:spcPts val="600"/>
              </a:spcAft>
              <a:tabLst>
                <a:tab pos="2173288" algn="l"/>
              </a:tabLst>
            </a:pPr>
            <a:r>
              <a:rPr lang="en-GB" b="1" i="1" dirty="0" smtClean="0"/>
              <a:t>Temperature</a:t>
            </a:r>
            <a:r>
              <a:rPr lang="en-GB" dirty="0" smtClean="0"/>
              <a:t>:	Allowable temperature rise between hottest part above a 40</a:t>
            </a:r>
            <a:r>
              <a:rPr lang="en-GB" baseline="30000" dirty="0" smtClean="0"/>
              <a:t>o</a:t>
            </a:r>
            <a:r>
              <a:rPr lang="en-GB" dirty="0" smtClean="0"/>
              <a:t>C ambient temperature while operating at full load.</a:t>
            </a:r>
            <a:endParaRPr lang="en-GB" sz="2000" dirty="0" smtClean="0"/>
          </a:p>
          <a:p>
            <a:pPr marL="631825" lvl="1" indent="-284163">
              <a:lnSpc>
                <a:spcPct val="130000"/>
              </a:lnSpc>
              <a:spcBef>
                <a:spcPts val="0"/>
              </a:spcBef>
              <a:spcAft>
                <a:spcPts val="600"/>
              </a:spcAft>
              <a:tabLst>
                <a:tab pos="4060825" algn="l"/>
              </a:tabLst>
            </a:pPr>
            <a:r>
              <a:rPr lang="en-GB" b="1" i="1" dirty="0" smtClean="0"/>
              <a:t>Motor Service Factor (SF):	</a:t>
            </a:r>
            <a:r>
              <a:rPr lang="en-GB" dirty="0" smtClean="0"/>
              <a:t>Percentage of overloading that motor can handle for short periods when operating normally within the correct voltage tolerances. For farm duty motors SF=1.35 or more.</a:t>
            </a:r>
            <a:endParaRPr lang="en-GB" sz="2000" dirty="0" smtClean="0"/>
          </a:p>
          <a:p>
            <a:pPr marL="631825" lvl="1" indent="-284163">
              <a:lnSpc>
                <a:spcPct val="130000"/>
              </a:lnSpc>
              <a:spcBef>
                <a:spcPts val="0"/>
              </a:spcBef>
              <a:spcAft>
                <a:spcPts val="600"/>
              </a:spcAft>
            </a:pPr>
            <a:r>
              <a:rPr lang="en-GB" b="1" i="1" dirty="0" smtClean="0"/>
              <a:t>Power output</a:t>
            </a:r>
            <a:r>
              <a:rPr lang="en-GB" dirty="0" smtClean="0"/>
              <a:t>:	Motors are specified in kW (kilowatt)</a:t>
            </a:r>
            <a:endParaRPr lang="en-GB" sz="2000" dirty="0" smtClean="0"/>
          </a:p>
        </p:txBody>
      </p:sp>
      <p:sp>
        <p:nvSpPr>
          <p:cNvPr id="4" name="Slide Number Placeholder 3"/>
          <p:cNvSpPr>
            <a:spLocks noGrp="1"/>
          </p:cNvSpPr>
          <p:nvPr>
            <p:ph type="sldNum" sz="quarter" idx="12"/>
          </p:nvPr>
        </p:nvSpPr>
        <p:spPr/>
        <p:txBody>
          <a:bodyPr/>
          <a:lstStyle/>
          <a:p>
            <a:fld id="{7E50C373-F1D0-494F-8D6D-366C958B3429}" type="slidenum">
              <a:rPr lang="en-GB" smtClean="0"/>
              <a:pPr/>
              <a:t>18</a:t>
            </a:fld>
            <a:endParaRPr lang="en-GB"/>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233" y="788276"/>
            <a:ext cx="5048518" cy="685682"/>
          </a:xfrm>
        </p:spPr>
        <p:txBody>
          <a:bodyPr>
            <a:normAutofit/>
          </a:bodyPr>
          <a:lstStyle/>
          <a:p>
            <a:r>
              <a:rPr lang="en-GB" dirty="0" smtClean="0"/>
              <a:t>UNIT 2: Electric Motor</a:t>
            </a:r>
            <a:endParaRPr lang="en-GB" dirty="0"/>
          </a:p>
        </p:txBody>
      </p:sp>
      <p:sp>
        <p:nvSpPr>
          <p:cNvPr id="3" name="Content Placeholder 2"/>
          <p:cNvSpPr>
            <a:spLocks noGrp="1"/>
          </p:cNvSpPr>
          <p:nvPr>
            <p:ph idx="1"/>
          </p:nvPr>
        </p:nvSpPr>
        <p:spPr>
          <a:xfrm>
            <a:off x="838199" y="1825625"/>
            <a:ext cx="4258235" cy="4351338"/>
          </a:xfrm>
        </p:spPr>
        <p:txBody>
          <a:bodyPr/>
          <a:lstStyle/>
          <a:p>
            <a:pPr>
              <a:buNone/>
            </a:pPr>
            <a:r>
              <a:rPr lang="en-GB" dirty="0" smtClean="0"/>
              <a:t>Classified by:</a:t>
            </a:r>
          </a:p>
          <a:p>
            <a:r>
              <a:rPr lang="en-GB" b="1" i="1" dirty="0" smtClean="0"/>
              <a:t>Electric power supply</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19</a:t>
            </a:fld>
            <a:endParaRPr lang="en-GB"/>
          </a:p>
        </p:txBody>
      </p:sp>
      <p:pic>
        <p:nvPicPr>
          <p:cNvPr id="5" name="Picture 4"/>
          <p:cNvPicPr>
            <a:picLocks noChangeAspect="1"/>
          </p:cNvPicPr>
          <p:nvPr/>
        </p:nvPicPr>
        <p:blipFill>
          <a:blip r:embed="rId2" cstate="print"/>
          <a:srcRect/>
          <a:stretch>
            <a:fillRect/>
          </a:stretch>
        </p:blipFill>
        <p:spPr bwMode="auto">
          <a:xfrm>
            <a:off x="5381751" y="736977"/>
            <a:ext cx="6778937" cy="6173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399079"/>
          </a:xfrm>
        </p:spPr>
        <p:txBody>
          <a:bodyPr>
            <a:normAutofit fontScale="90000"/>
          </a:bodyPr>
          <a:lstStyle/>
          <a:p>
            <a:r>
              <a:rPr lang="en-GB" dirty="0" smtClean="0"/>
              <a:t>UNIT 2:	Electric Motor</a:t>
            </a:r>
            <a:endParaRPr lang="en-GB" dirty="0"/>
          </a:p>
        </p:txBody>
      </p:sp>
      <p:sp>
        <p:nvSpPr>
          <p:cNvPr id="3" name="Content Placeholder 2"/>
          <p:cNvSpPr>
            <a:spLocks noGrp="1"/>
          </p:cNvSpPr>
          <p:nvPr>
            <p:ph idx="1"/>
          </p:nvPr>
        </p:nvSpPr>
        <p:spPr>
          <a:xfrm>
            <a:off x="838200" y="1269242"/>
            <a:ext cx="10515600" cy="5322627"/>
          </a:xfrm>
        </p:spPr>
        <p:txBody>
          <a:bodyPr>
            <a:normAutofit/>
          </a:bodyPr>
          <a:lstStyle/>
          <a:p>
            <a:pPr>
              <a:lnSpc>
                <a:spcPct val="120000"/>
              </a:lnSpc>
              <a:spcBef>
                <a:spcPts val="0"/>
              </a:spcBef>
              <a:spcAft>
                <a:spcPts val="1000"/>
              </a:spcAft>
              <a:buNone/>
            </a:pPr>
            <a:r>
              <a:rPr lang="en-GB" b="1" dirty="0" smtClean="0"/>
              <a:t>Power Ratings</a:t>
            </a:r>
            <a:r>
              <a:rPr lang="en-GB" dirty="0" smtClean="0"/>
              <a:t>-view point of temp</a:t>
            </a:r>
          </a:p>
          <a:p>
            <a:pPr marL="573088" lvl="2" indent="-341313">
              <a:lnSpc>
                <a:spcPct val="120000"/>
              </a:lnSpc>
              <a:spcBef>
                <a:spcPts val="0"/>
              </a:spcBef>
              <a:spcAft>
                <a:spcPts val="1000"/>
              </a:spcAft>
              <a:tabLst>
                <a:tab pos="2401888" algn="l"/>
              </a:tabLst>
            </a:pPr>
            <a:r>
              <a:rPr lang="en-GB" i="1" u="sng" dirty="0" smtClean="0"/>
              <a:t>Continuous</a:t>
            </a:r>
            <a:r>
              <a:rPr lang="en-GB" dirty="0" smtClean="0"/>
              <a:t>:	Continuous output supply without exceeding specific temperature rise above the ambient (40</a:t>
            </a:r>
            <a:r>
              <a:rPr lang="en-GB" baseline="30000" dirty="0" smtClean="0"/>
              <a:t>o</a:t>
            </a:r>
            <a:r>
              <a:rPr lang="en-GB" dirty="0" smtClean="0"/>
              <a:t>). All parts attain a steady temperature. For fans, centrifugal pumps, lathes, conveyors etc.</a:t>
            </a:r>
            <a:endParaRPr lang="en-GB" sz="1800" dirty="0" smtClean="0"/>
          </a:p>
          <a:p>
            <a:pPr marL="573088" lvl="2" indent="-341313">
              <a:lnSpc>
                <a:spcPct val="120000"/>
              </a:lnSpc>
              <a:spcBef>
                <a:spcPts val="0"/>
              </a:spcBef>
              <a:spcAft>
                <a:spcPts val="1000"/>
              </a:spcAft>
              <a:tabLst>
                <a:tab pos="2170113" algn="l"/>
              </a:tabLst>
            </a:pPr>
            <a:r>
              <a:rPr lang="en-GB" i="1" u="sng" dirty="0" smtClean="0"/>
              <a:t>Short-time</a:t>
            </a:r>
            <a:r>
              <a:rPr lang="en-GB" dirty="0" smtClean="0"/>
              <a:t>:	 Output supply for specific period (5, 15, 20, 30 or 60 minutes) without exceeding permissible temperature limit.  Starts from cold and rest period is long enough for the machine to cool to ambient temperature. They are used for opening and closing weirs, lock-gates and bridges etc.</a:t>
            </a:r>
            <a:endParaRPr lang="en-GB" sz="1800" dirty="0" smtClean="0"/>
          </a:p>
          <a:p>
            <a:pPr marL="573088" lvl="2" indent="-341313">
              <a:lnSpc>
                <a:spcPct val="120000"/>
              </a:lnSpc>
              <a:spcBef>
                <a:spcPts val="0"/>
              </a:spcBef>
              <a:spcAft>
                <a:spcPts val="1000"/>
              </a:spcAft>
              <a:tabLst>
                <a:tab pos="2455863" algn="l"/>
              </a:tabLst>
            </a:pPr>
            <a:r>
              <a:rPr lang="en-GB" i="1" u="sng" dirty="0" smtClean="0"/>
              <a:t>Intermittent</a:t>
            </a:r>
            <a:r>
              <a:rPr lang="en-GB" dirty="0" smtClean="0"/>
              <a:t>:	Continuous output supply without exceeding specified temperature for a train of identical duty cycles consisting of loading and rest periods. Rise and fall in temperature for each duty cycle are equal. Suitable for hoisting mechanisms, trams, trolley-buses etc.</a:t>
            </a:r>
            <a:endParaRPr lang="en-GB" sz="1800" dirty="0" smtClean="0"/>
          </a:p>
          <a:p>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20</a:t>
            </a:fld>
            <a:endParaRPr lang="en-GB"/>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690900"/>
          </a:xfrm>
        </p:spPr>
        <p:txBody>
          <a:bodyPr>
            <a:normAutofit fontScale="90000"/>
          </a:bodyPr>
          <a:lstStyle/>
          <a:p>
            <a:r>
              <a:rPr lang="en-GB" dirty="0" smtClean="0"/>
              <a:t>UNIT 2:	Characteristic Curve of Technical System</a:t>
            </a:r>
            <a:endParaRPr lang="en-GB" dirty="0"/>
          </a:p>
        </p:txBody>
      </p:sp>
      <p:sp>
        <p:nvSpPr>
          <p:cNvPr id="3" name="Content Placeholder 2"/>
          <p:cNvSpPr>
            <a:spLocks noGrp="1"/>
          </p:cNvSpPr>
          <p:nvPr>
            <p:ph idx="1"/>
          </p:nvPr>
        </p:nvSpPr>
        <p:spPr/>
        <p:txBody>
          <a:bodyPr/>
          <a:lstStyle/>
          <a:p>
            <a:pPr>
              <a:lnSpc>
                <a:spcPct val="120000"/>
              </a:lnSpc>
              <a:spcBef>
                <a:spcPts val="0"/>
              </a:spcBef>
              <a:spcAft>
                <a:spcPts val="600"/>
              </a:spcAft>
              <a:buNone/>
            </a:pPr>
            <a:r>
              <a:rPr lang="en-GB" b="1" i="1" dirty="0" smtClean="0"/>
              <a:t>Definition</a:t>
            </a:r>
            <a:r>
              <a:rPr lang="en-GB" dirty="0" smtClean="0"/>
              <a:t>:</a:t>
            </a:r>
          </a:p>
          <a:p>
            <a:pPr indent="60325">
              <a:lnSpc>
                <a:spcPct val="120000"/>
              </a:lnSpc>
              <a:spcBef>
                <a:spcPts val="0"/>
              </a:spcBef>
              <a:spcAft>
                <a:spcPts val="600"/>
              </a:spcAft>
              <a:buNone/>
            </a:pPr>
            <a:r>
              <a:rPr lang="en-GB" dirty="0" smtClean="0"/>
              <a:t>Characteristic curve  shows the operating behaviour of technical system in the form of a graph of its variables </a:t>
            </a:r>
          </a:p>
          <a:p>
            <a:pPr>
              <a:lnSpc>
                <a:spcPct val="120000"/>
              </a:lnSpc>
              <a:spcBef>
                <a:spcPts val="0"/>
              </a:spcBef>
              <a:spcAft>
                <a:spcPts val="600"/>
              </a:spcAft>
            </a:pPr>
            <a:endParaRPr lang="en-GB" dirty="0" smtClean="0"/>
          </a:p>
          <a:p>
            <a:pPr>
              <a:lnSpc>
                <a:spcPct val="120000"/>
              </a:lnSpc>
              <a:spcBef>
                <a:spcPts val="0"/>
              </a:spcBef>
              <a:spcAft>
                <a:spcPts val="600"/>
              </a:spcAft>
            </a:pPr>
            <a:r>
              <a:rPr lang="en-GB" dirty="0" smtClean="0"/>
              <a:t>For every prime mover, there is a specific Torque/Speed curve and Power /speed curve</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21</a:t>
            </a:fld>
            <a:endParaRPr lang="en-GB"/>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462300"/>
          </a:xfrm>
        </p:spPr>
        <p:txBody>
          <a:bodyPr>
            <a:normAutofit fontScale="90000"/>
          </a:bodyPr>
          <a:lstStyle/>
          <a:p>
            <a:r>
              <a:rPr lang="en-GB" dirty="0" smtClean="0"/>
              <a:t>UNIT 2:	Characteristic Curve of IC-Engine</a:t>
            </a:r>
            <a:endParaRPr lang="en-GB" dirty="0"/>
          </a:p>
        </p:txBody>
      </p:sp>
      <p:sp>
        <p:nvSpPr>
          <p:cNvPr id="3" name="Content Placeholder 2"/>
          <p:cNvSpPr>
            <a:spLocks noGrp="1"/>
          </p:cNvSpPr>
          <p:nvPr>
            <p:ph idx="1"/>
          </p:nvPr>
        </p:nvSpPr>
        <p:spPr>
          <a:xfrm>
            <a:off x="838200" y="1542197"/>
            <a:ext cx="4648200" cy="4634766"/>
          </a:xfrm>
        </p:spPr>
        <p:txBody>
          <a:bodyPr>
            <a:noAutofit/>
          </a:bodyPr>
          <a:lstStyle/>
          <a:p>
            <a:pPr indent="12700">
              <a:lnSpc>
                <a:spcPct val="140000"/>
              </a:lnSpc>
              <a:spcBef>
                <a:spcPts val="0"/>
              </a:spcBef>
              <a:buNone/>
            </a:pPr>
            <a:r>
              <a:rPr lang="en-GB" sz="1800" dirty="0" smtClean="0"/>
              <a:t>Indicated mean pressure   depends on effective re-charging cylinder. </a:t>
            </a:r>
          </a:p>
          <a:p>
            <a:pPr>
              <a:lnSpc>
                <a:spcPct val="140000"/>
              </a:lnSpc>
              <a:spcBef>
                <a:spcPts val="0"/>
              </a:spcBef>
            </a:pPr>
            <a:r>
              <a:rPr lang="en-GB" sz="1800" dirty="0" smtClean="0"/>
              <a:t>At lower speeds:</a:t>
            </a:r>
          </a:p>
          <a:p>
            <a:pPr marL="452438">
              <a:lnSpc>
                <a:spcPct val="140000"/>
              </a:lnSpc>
              <a:spcBef>
                <a:spcPts val="0"/>
              </a:spcBef>
              <a:buFont typeface="Wingdings" pitchFamily="2" charset="2"/>
              <a:buChar char="v"/>
            </a:pPr>
            <a:r>
              <a:rPr lang="en-GB" sz="1800" dirty="0" smtClean="0"/>
              <a:t>Re-charging efficiency increases due to increasing negative suction pressure. </a:t>
            </a:r>
          </a:p>
          <a:p>
            <a:pPr>
              <a:lnSpc>
                <a:spcPct val="140000"/>
              </a:lnSpc>
              <a:spcBef>
                <a:spcPts val="0"/>
              </a:spcBef>
            </a:pPr>
            <a:r>
              <a:rPr lang="en-GB" sz="1800" dirty="0" smtClean="0"/>
              <a:t>At high speeds:</a:t>
            </a:r>
          </a:p>
          <a:p>
            <a:pPr marL="452438">
              <a:lnSpc>
                <a:spcPct val="140000"/>
              </a:lnSpc>
              <a:spcBef>
                <a:spcPts val="0"/>
              </a:spcBef>
              <a:buFont typeface="Wingdings" pitchFamily="2" charset="2"/>
              <a:buChar char="v"/>
            </a:pPr>
            <a:r>
              <a:rPr lang="en-GB" sz="1800" dirty="0" smtClean="0"/>
              <a:t>losses due to whirl at the inlet and outlet canals</a:t>
            </a:r>
          </a:p>
          <a:p>
            <a:pPr marL="452438">
              <a:lnSpc>
                <a:spcPct val="140000"/>
              </a:lnSpc>
              <a:spcBef>
                <a:spcPts val="0"/>
              </a:spcBef>
              <a:buFont typeface="Wingdings" pitchFamily="2" charset="2"/>
              <a:buChar char="v"/>
            </a:pPr>
            <a:r>
              <a:rPr lang="en-GB" sz="1800" dirty="0" smtClean="0"/>
              <a:t>Re-charging efficiency drops</a:t>
            </a:r>
          </a:p>
          <a:p>
            <a:pPr marL="452438">
              <a:lnSpc>
                <a:spcPct val="140000"/>
              </a:lnSpc>
              <a:spcBef>
                <a:spcPts val="0"/>
              </a:spcBef>
              <a:buFont typeface="Wingdings" pitchFamily="2" charset="2"/>
              <a:buChar char="v"/>
            </a:pPr>
            <a:r>
              <a:rPr lang="en-GB" sz="1800" dirty="0" smtClean="0"/>
              <a:t>Mechanical losses increase with high speeds. </a:t>
            </a:r>
            <a:endParaRPr lang="en-GB" sz="1800"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22</a:t>
            </a:fld>
            <a:endParaRPr lang="en-GB"/>
          </a:p>
        </p:txBody>
      </p:sp>
      <p:sp>
        <p:nvSpPr>
          <p:cNvPr id="3074"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073" name="Object 1"/>
          <p:cNvGraphicFramePr>
            <a:graphicFrameLocks noChangeAspect="1"/>
          </p:cNvGraphicFramePr>
          <p:nvPr/>
        </p:nvGraphicFramePr>
        <p:xfrm>
          <a:off x="5265677" y="1639609"/>
          <a:ext cx="6833346" cy="4710726"/>
        </p:xfrm>
        <a:graphic>
          <a:graphicData uri="http://schemas.openxmlformats.org/presentationml/2006/ole">
            <mc:AlternateContent xmlns:mc="http://schemas.openxmlformats.org/markup-compatibility/2006">
              <mc:Choice xmlns:v="urn:schemas-microsoft-com:vml" Requires="v">
                <p:oleObj spid="_x0000_s3088" name="AutoCAD Drawing" r:id="rId3" imgW="2857773" imgH="1990915" progId="AutoCAD.Drawing.18">
                  <p:embed/>
                </p:oleObj>
              </mc:Choice>
              <mc:Fallback>
                <p:oleObj name="AutoCAD Drawing" r:id="rId3" imgW="2857773" imgH="1990915" progId="AutoCAD.Drawing.18">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5677" y="1639609"/>
                        <a:ext cx="6833346" cy="47107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365" y="788275"/>
            <a:ext cx="3971498" cy="904047"/>
          </a:xfrm>
        </p:spPr>
        <p:txBody>
          <a:bodyPr>
            <a:normAutofit fontScale="90000"/>
          </a:bodyPr>
          <a:lstStyle/>
          <a:p>
            <a:r>
              <a:rPr lang="en-GB" dirty="0" smtClean="0"/>
              <a:t>Characteristic Curve of IC-Engine</a:t>
            </a:r>
            <a:endParaRPr lang="en-GB" dirty="0"/>
          </a:p>
        </p:txBody>
      </p:sp>
      <p:sp>
        <p:nvSpPr>
          <p:cNvPr id="3" name="Content Placeholder 2"/>
          <p:cNvSpPr>
            <a:spLocks noGrp="1"/>
          </p:cNvSpPr>
          <p:nvPr>
            <p:ph idx="1"/>
          </p:nvPr>
        </p:nvSpPr>
        <p:spPr>
          <a:xfrm>
            <a:off x="218365" y="2811439"/>
            <a:ext cx="3971498" cy="3365524"/>
          </a:xfrm>
        </p:spPr>
        <p:txBody>
          <a:bodyPr>
            <a:normAutofit fontScale="92500"/>
          </a:bodyPr>
          <a:lstStyle/>
          <a:p>
            <a:pPr>
              <a:lnSpc>
                <a:spcPct val="120000"/>
              </a:lnSpc>
              <a:spcBef>
                <a:spcPts val="0"/>
              </a:spcBef>
              <a:spcAft>
                <a:spcPts val="1000"/>
              </a:spcAft>
            </a:pPr>
            <a:r>
              <a:rPr lang="en-GB" sz="2200" dirty="0" err="1" smtClean="0"/>
              <a:t>ihp</a:t>
            </a:r>
            <a:r>
              <a:rPr lang="en-GB" sz="2200" dirty="0" smtClean="0"/>
              <a:t>: indicated horse power</a:t>
            </a:r>
          </a:p>
          <a:p>
            <a:pPr>
              <a:lnSpc>
                <a:spcPct val="120000"/>
              </a:lnSpc>
              <a:spcBef>
                <a:spcPts val="0"/>
              </a:spcBef>
              <a:spcAft>
                <a:spcPts val="1000"/>
              </a:spcAft>
            </a:pPr>
            <a:r>
              <a:rPr lang="en-GB" sz="2200" dirty="0" err="1" smtClean="0"/>
              <a:t>bhp</a:t>
            </a:r>
            <a:r>
              <a:rPr lang="en-GB" sz="2200" dirty="0" smtClean="0"/>
              <a:t>: brake horse power</a:t>
            </a:r>
          </a:p>
          <a:p>
            <a:pPr>
              <a:lnSpc>
                <a:spcPct val="120000"/>
              </a:lnSpc>
              <a:spcBef>
                <a:spcPts val="0"/>
              </a:spcBef>
              <a:spcAft>
                <a:spcPts val="1000"/>
              </a:spcAft>
            </a:pPr>
            <a:r>
              <a:rPr lang="en-GB" sz="2200" dirty="0" err="1" smtClean="0"/>
              <a:t>fhp</a:t>
            </a:r>
            <a:r>
              <a:rPr lang="en-GB" sz="2200" dirty="0" smtClean="0"/>
              <a:t>: friction horse power</a:t>
            </a:r>
          </a:p>
          <a:p>
            <a:pPr>
              <a:lnSpc>
                <a:spcPct val="120000"/>
              </a:lnSpc>
              <a:spcBef>
                <a:spcPts val="0"/>
              </a:spcBef>
              <a:spcAft>
                <a:spcPts val="1000"/>
              </a:spcAft>
              <a:tabLst>
                <a:tab pos="1146175" algn="l"/>
              </a:tabLst>
            </a:pPr>
            <a:r>
              <a:rPr lang="en-GB" sz="2200" dirty="0" err="1" smtClean="0"/>
              <a:t>bmep</a:t>
            </a:r>
            <a:r>
              <a:rPr lang="en-GB" sz="2200" dirty="0" smtClean="0"/>
              <a:t>: brake mean 			effective pressure</a:t>
            </a:r>
          </a:p>
          <a:p>
            <a:pPr>
              <a:lnSpc>
                <a:spcPct val="120000"/>
              </a:lnSpc>
              <a:spcBef>
                <a:spcPts val="0"/>
              </a:spcBef>
              <a:spcAft>
                <a:spcPts val="1000"/>
              </a:spcAft>
            </a:pPr>
            <a:r>
              <a:rPr lang="en-GB" sz="2200" dirty="0" err="1" smtClean="0"/>
              <a:t>bsfc</a:t>
            </a:r>
            <a:r>
              <a:rPr lang="en-GB" sz="2200" dirty="0" smtClean="0"/>
              <a:t>: brake specific fuel 	consumption</a:t>
            </a:r>
          </a:p>
          <a:p>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23</a:t>
            </a:fld>
            <a:endParaRPr lang="en-GB"/>
          </a:p>
        </p:txBody>
      </p:sp>
      <p:pic>
        <p:nvPicPr>
          <p:cNvPr id="37890" name="Picture 2"/>
          <p:cNvPicPr>
            <a:picLocks noChangeAspect="1" noChangeArrowheads="1"/>
          </p:cNvPicPr>
          <p:nvPr/>
        </p:nvPicPr>
        <p:blipFill>
          <a:blip r:embed="rId2" cstate="print"/>
          <a:srcRect/>
          <a:stretch>
            <a:fillRect/>
          </a:stretch>
        </p:blipFill>
        <p:spPr bwMode="auto">
          <a:xfrm>
            <a:off x="4251868" y="777513"/>
            <a:ext cx="7480745" cy="599274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511884"/>
          </a:xfrm>
        </p:spPr>
        <p:txBody>
          <a:bodyPr>
            <a:normAutofit fontScale="90000"/>
          </a:bodyPr>
          <a:lstStyle/>
          <a:p>
            <a:r>
              <a:rPr lang="en-GB" dirty="0" smtClean="0"/>
              <a:t>UNIT 2:	Characteristic Curve of E-motors</a:t>
            </a:r>
            <a:endParaRPr lang="en-GB" dirty="0"/>
          </a:p>
        </p:txBody>
      </p:sp>
      <p:sp>
        <p:nvSpPr>
          <p:cNvPr id="3" name="Content Placeholder 2"/>
          <p:cNvSpPr>
            <a:spLocks noGrp="1"/>
          </p:cNvSpPr>
          <p:nvPr>
            <p:ph idx="1"/>
          </p:nvPr>
        </p:nvSpPr>
        <p:spPr>
          <a:xfrm>
            <a:off x="653143" y="1300160"/>
            <a:ext cx="4631376" cy="5148141"/>
          </a:xfrm>
        </p:spPr>
        <p:txBody>
          <a:bodyPr>
            <a:normAutofit fontScale="32500" lnSpcReduction="20000"/>
          </a:bodyPr>
          <a:lstStyle/>
          <a:p>
            <a:pPr marL="285750" lvl="0" indent="-285750">
              <a:lnSpc>
                <a:spcPct val="140000"/>
              </a:lnSpc>
              <a:spcBef>
                <a:spcPts val="0"/>
              </a:spcBef>
              <a:spcAft>
                <a:spcPts val="600"/>
              </a:spcAft>
              <a:buFont typeface="+mj-lt"/>
              <a:buAutoNum type="alphaLcPeriod"/>
              <a:tabLst>
                <a:tab pos="1377950" algn="l"/>
              </a:tabLst>
            </a:pPr>
            <a:r>
              <a:rPr lang="en-US" sz="6200" b="1" i="1" dirty="0" smtClean="0"/>
              <a:t>Flat-type</a:t>
            </a:r>
            <a:r>
              <a:rPr lang="en-US" sz="6200" i="1" dirty="0" smtClean="0"/>
              <a:t>:	E</a:t>
            </a:r>
            <a:r>
              <a:rPr lang="en-US" sz="6200" dirty="0" smtClean="0"/>
              <a:t>lectromagnetic torque  is independent of operating speed (Synchronous motors).</a:t>
            </a:r>
            <a:endParaRPr lang="en-GB" sz="6200" dirty="0" smtClean="0"/>
          </a:p>
          <a:p>
            <a:pPr marL="285750" lvl="0" indent="-285750">
              <a:lnSpc>
                <a:spcPct val="140000"/>
              </a:lnSpc>
              <a:spcBef>
                <a:spcPts val="0"/>
              </a:spcBef>
              <a:spcAft>
                <a:spcPts val="600"/>
              </a:spcAft>
              <a:buFont typeface="+mj-lt"/>
              <a:buAutoNum type="alphaLcPeriod"/>
              <a:tabLst>
                <a:tab pos="1543050" algn="l"/>
              </a:tabLst>
            </a:pPr>
            <a:r>
              <a:rPr lang="en-US" sz="6200" b="1" i="1" dirty="0" smtClean="0"/>
              <a:t>Shunt-type</a:t>
            </a:r>
            <a:r>
              <a:rPr lang="en-US" sz="6200" dirty="0" smtClean="0"/>
              <a:t>:	Speed drops from no-load to full-load by a little percentage (AC-induction and DC-shunt motors).</a:t>
            </a:r>
            <a:endParaRPr lang="en-GB" sz="6200" dirty="0" smtClean="0"/>
          </a:p>
          <a:p>
            <a:pPr marL="285750" lvl="0" indent="-285750">
              <a:lnSpc>
                <a:spcPct val="140000"/>
              </a:lnSpc>
              <a:spcBef>
                <a:spcPts val="0"/>
              </a:spcBef>
              <a:spcAft>
                <a:spcPts val="600"/>
              </a:spcAft>
              <a:buFont typeface="+mj-lt"/>
              <a:buAutoNum type="alphaLcPeriod"/>
              <a:tabLst>
                <a:tab pos="1543050" algn="l"/>
              </a:tabLst>
            </a:pPr>
            <a:r>
              <a:rPr lang="en-US" sz="6200" b="1" i="1" dirty="0" smtClean="0"/>
              <a:t>Series-type</a:t>
            </a:r>
            <a:r>
              <a:rPr lang="en-US" sz="6200" i="1" dirty="0" smtClean="0"/>
              <a:t> </a:t>
            </a:r>
            <a:r>
              <a:rPr lang="en-US" sz="6200" dirty="0" smtClean="0"/>
              <a:t>:	High electromagnetic torque at low speeds and vice-versa (AC-series, universal motors in small size and DC-series)</a:t>
            </a:r>
            <a:endParaRPr lang="en-GB" sz="6200" dirty="0" smtClean="0"/>
          </a:p>
          <a:p>
            <a:pPr marL="285750" indent="-285750">
              <a:buNone/>
              <a:tabLst>
                <a:tab pos="1377950" algn="l"/>
              </a:tabLst>
            </a:pP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24</a:t>
            </a:fld>
            <a:endParaRPr lang="en-GB"/>
          </a:p>
        </p:txBody>
      </p:sp>
      <p:sp>
        <p:nvSpPr>
          <p:cNvPr id="3686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pic>
        <p:nvPicPr>
          <p:cNvPr id="36867" name="Picture 3"/>
          <p:cNvPicPr>
            <a:picLocks noChangeAspect="1" noChangeArrowheads="1"/>
          </p:cNvPicPr>
          <p:nvPr/>
        </p:nvPicPr>
        <p:blipFill rotWithShape="1">
          <a:blip r:embed="rId2" cstate="print"/>
          <a:srcRect l="2524" t="3977" b="6050"/>
          <a:stretch/>
        </p:blipFill>
        <p:spPr bwMode="auto">
          <a:xfrm>
            <a:off x="5311588" y="1828800"/>
            <a:ext cx="6541915" cy="461234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502642"/>
          </a:xfrm>
        </p:spPr>
        <p:txBody>
          <a:bodyPr>
            <a:normAutofit fontScale="90000"/>
          </a:bodyPr>
          <a:lstStyle/>
          <a:p>
            <a:r>
              <a:rPr lang="en-GB" dirty="0" smtClean="0"/>
              <a:t>UNIT 2:	Characteristic Curve of Loads</a:t>
            </a:r>
            <a:endParaRPr lang="en-GB" dirty="0"/>
          </a:p>
        </p:txBody>
      </p:sp>
      <p:sp>
        <p:nvSpPr>
          <p:cNvPr id="3" name="Content Placeholder 2"/>
          <p:cNvSpPr>
            <a:spLocks noGrp="1"/>
          </p:cNvSpPr>
          <p:nvPr>
            <p:ph idx="1"/>
          </p:nvPr>
        </p:nvSpPr>
        <p:spPr>
          <a:xfrm>
            <a:off x="557431" y="1491021"/>
            <a:ext cx="6257416" cy="4815649"/>
          </a:xfrm>
        </p:spPr>
        <p:txBody>
          <a:bodyPr>
            <a:noAutofit/>
          </a:bodyPr>
          <a:lstStyle/>
          <a:p>
            <a:pPr marL="463550" lvl="2" indent="-404813">
              <a:spcBef>
                <a:spcPts val="1000"/>
              </a:spcBef>
              <a:buFont typeface="+mj-lt"/>
              <a:buAutoNum type="arabicPeriod"/>
            </a:pPr>
            <a:r>
              <a:rPr lang="en-GB" b="1" i="1" dirty="0" smtClean="0"/>
              <a:t>Speed-torque characteristics independent of speed:</a:t>
            </a:r>
          </a:p>
          <a:p>
            <a:pPr marL="569913" lvl="2" indent="-284163">
              <a:spcBef>
                <a:spcPts val="1000"/>
              </a:spcBef>
            </a:pPr>
            <a:r>
              <a:rPr lang="en-GB" dirty="0" smtClean="0"/>
              <a:t>Examples are cranes during hoisting, and loads in which friction is dominant like reciprocating pumps, air compressors etc</a:t>
            </a:r>
            <a:endParaRPr lang="en-GB" b="1" i="1" dirty="0" smtClean="0"/>
          </a:p>
          <a:p>
            <a:pPr marL="515937" lvl="2" indent="-457200">
              <a:spcBef>
                <a:spcPts val="1000"/>
              </a:spcBef>
              <a:buFont typeface="+mj-lt"/>
              <a:buAutoNum type="arabicPeriod" startAt="2"/>
            </a:pPr>
            <a:r>
              <a:rPr lang="en-US" b="1" i="1" dirty="0" smtClean="0"/>
              <a:t>Parabolic speed-torque characteristics:</a:t>
            </a:r>
          </a:p>
          <a:p>
            <a:pPr marL="511175" lvl="2" indent="-166688">
              <a:spcBef>
                <a:spcPts val="1000"/>
              </a:spcBef>
            </a:pPr>
            <a:r>
              <a:rPr lang="en-GB" dirty="0" smtClean="0"/>
              <a:t> Examples are fans, centrifugal pumps, propellers in ships etc.</a:t>
            </a:r>
            <a:endParaRPr lang="en-GB" b="1" i="1" dirty="0" smtClean="0"/>
          </a:p>
          <a:p>
            <a:pPr marL="515937" lvl="2" indent="-457200">
              <a:spcBef>
                <a:spcPts val="1000"/>
              </a:spcBef>
              <a:buFont typeface="+mj-lt"/>
              <a:buAutoNum type="arabicPeriod" startAt="3"/>
            </a:pPr>
            <a:r>
              <a:rPr lang="en-US" b="1" i="1" dirty="0" smtClean="0"/>
              <a:t>Hyperbolic speed-torque characteristics:</a:t>
            </a:r>
          </a:p>
          <a:p>
            <a:pPr marL="569913" lvl="2" indent="-284163">
              <a:spcBef>
                <a:spcPts val="1000"/>
              </a:spcBef>
            </a:pPr>
            <a:r>
              <a:rPr lang="en-GB" dirty="0" smtClean="0"/>
              <a:t>lathes, milling machines, machine tools, winches etc</a:t>
            </a:r>
            <a:endParaRPr lang="en-GB" b="1" i="1" dirty="0" smtClean="0"/>
          </a:p>
          <a:p>
            <a:pPr marL="515937" lvl="2" indent="-457200">
              <a:spcBef>
                <a:spcPts val="1000"/>
              </a:spcBef>
              <a:buFont typeface="+mj-lt"/>
              <a:buAutoNum type="arabicPeriod" startAt="4"/>
            </a:pPr>
            <a:r>
              <a:rPr lang="en-US" b="1" i="1" dirty="0" smtClean="0"/>
              <a:t>Linear speed-torque characteristics:</a:t>
            </a:r>
            <a:endParaRPr lang="en-GB" b="1" i="1" dirty="0" smtClean="0"/>
          </a:p>
          <a:p>
            <a:pPr marL="463550" indent="-238125"/>
            <a:r>
              <a:rPr lang="en-GB" sz="2000" dirty="0" smtClean="0"/>
              <a:t>calendering machines, eddy-current brakes and generators feeding fixed resistors</a:t>
            </a:r>
            <a:endParaRPr lang="en-GB" sz="2000"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25</a:t>
            </a:fld>
            <a:endParaRPr lang="en-GB"/>
          </a:p>
        </p:txBody>
      </p:sp>
      <p:pic>
        <p:nvPicPr>
          <p:cNvPr id="5" name="Picture 4"/>
          <p:cNvPicPr>
            <a:picLocks noChangeAspect="1"/>
          </p:cNvPicPr>
          <p:nvPr/>
        </p:nvPicPr>
        <p:blipFill>
          <a:blip r:embed="rId2"/>
          <a:stretch>
            <a:fillRect/>
          </a:stretch>
        </p:blipFill>
        <p:spPr>
          <a:xfrm>
            <a:off x="6814847" y="1571625"/>
            <a:ext cx="4667250" cy="371475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306" y="734488"/>
            <a:ext cx="11116905" cy="542983"/>
          </a:xfrm>
        </p:spPr>
        <p:txBody>
          <a:bodyPr>
            <a:normAutofit/>
          </a:bodyPr>
          <a:lstStyle/>
          <a:p>
            <a:r>
              <a:rPr lang="en-GB" sz="2400" dirty="0"/>
              <a:t>UNIT </a:t>
            </a:r>
            <a:r>
              <a:rPr lang="en-GB" sz="2400" dirty="0" smtClean="0"/>
              <a:t>2: Characteristic </a:t>
            </a:r>
            <a:r>
              <a:rPr lang="en-GB" sz="2400" dirty="0"/>
              <a:t>Curve of </a:t>
            </a:r>
            <a:r>
              <a:rPr lang="en-GB" sz="2400" dirty="0" smtClean="0"/>
              <a:t>Ploughs in Various Soils</a:t>
            </a:r>
            <a:endParaRPr lang="en-GB" sz="2800"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26</a:t>
            </a:fld>
            <a:endParaRPr lang="en-GB"/>
          </a:p>
        </p:txBody>
      </p:sp>
      <p:pic>
        <p:nvPicPr>
          <p:cNvPr id="36866" name="Picture 2"/>
          <p:cNvPicPr>
            <a:picLocks noChangeAspect="1" noChangeArrowheads="1"/>
          </p:cNvPicPr>
          <p:nvPr/>
        </p:nvPicPr>
        <p:blipFill rotWithShape="1">
          <a:blip r:embed="rId2" cstate="print"/>
          <a:srcRect t="2822"/>
          <a:stretch/>
        </p:blipFill>
        <p:spPr bwMode="auto">
          <a:xfrm>
            <a:off x="1577478" y="1319063"/>
            <a:ext cx="6984000" cy="507866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8276"/>
            <a:ext cx="10515600" cy="542983"/>
          </a:xfrm>
        </p:spPr>
        <p:txBody>
          <a:bodyPr>
            <a:normAutofit fontScale="90000"/>
          </a:bodyPr>
          <a:lstStyle/>
          <a:p>
            <a:r>
              <a:rPr lang="en-GB" dirty="0" smtClean="0"/>
              <a:t>UNIT 2:	Prime Mover – Load Matching</a:t>
            </a:r>
            <a:endParaRPr lang="en-GB" dirty="0"/>
          </a:p>
        </p:txBody>
      </p:sp>
      <p:sp>
        <p:nvSpPr>
          <p:cNvPr id="3" name="Content Placeholder 2"/>
          <p:cNvSpPr>
            <a:spLocks noGrp="1"/>
          </p:cNvSpPr>
          <p:nvPr>
            <p:ph idx="1"/>
          </p:nvPr>
        </p:nvSpPr>
        <p:spPr>
          <a:xfrm>
            <a:off x="723331" y="1825625"/>
            <a:ext cx="3821373" cy="4351338"/>
          </a:xfrm>
        </p:spPr>
        <p:txBody>
          <a:bodyPr>
            <a:normAutofit lnSpcReduction="10000"/>
          </a:bodyPr>
          <a:lstStyle/>
          <a:p>
            <a:pPr lvl="0">
              <a:lnSpc>
                <a:spcPct val="130000"/>
              </a:lnSpc>
              <a:spcBef>
                <a:spcPts val="0"/>
              </a:spcBef>
              <a:spcAft>
                <a:spcPts val="600"/>
              </a:spcAft>
            </a:pPr>
            <a:r>
              <a:rPr lang="en-GB" dirty="0" smtClean="0"/>
              <a:t>characteristics of prime mover and load must be known to a fair degree,</a:t>
            </a:r>
          </a:p>
          <a:p>
            <a:pPr lvl="0">
              <a:lnSpc>
                <a:spcPct val="130000"/>
              </a:lnSpc>
              <a:spcBef>
                <a:spcPts val="0"/>
              </a:spcBef>
              <a:spcAft>
                <a:spcPts val="600"/>
              </a:spcAft>
            </a:pPr>
            <a:r>
              <a:rPr lang="en-GB" dirty="0" smtClean="0"/>
              <a:t>Both characteristics must be compatible </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27</a:t>
            </a:fld>
            <a:endParaRPr lang="en-GB"/>
          </a:p>
        </p:txBody>
      </p:sp>
      <p:sp>
        <p:nvSpPr>
          <p:cNvPr id="14338"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4337" name="Object 1"/>
          <p:cNvGraphicFramePr>
            <a:graphicFrameLocks noChangeAspect="1"/>
          </p:cNvGraphicFramePr>
          <p:nvPr/>
        </p:nvGraphicFramePr>
        <p:xfrm>
          <a:off x="4626583" y="1655605"/>
          <a:ext cx="7265194" cy="4179094"/>
        </p:xfrm>
        <a:graphic>
          <a:graphicData uri="http://schemas.openxmlformats.org/presentationml/2006/ole">
            <mc:AlternateContent xmlns:mc="http://schemas.openxmlformats.org/markup-compatibility/2006">
              <mc:Choice xmlns:v="urn:schemas-microsoft-com:vml" Requires="v">
                <p:oleObj spid="_x0000_s14353" name="Drawing" r:id="rId3" imgW="8934450" imgH="5133975" progId="AutoCAD.Drawing.15">
                  <p:embed/>
                </p:oleObj>
              </mc:Choice>
              <mc:Fallback>
                <p:oleObj name="Drawing" r:id="rId3" imgW="8934450" imgH="5133975" progId="AutoCAD.Drawing.15">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6583" y="1655605"/>
                        <a:ext cx="7265194" cy="41790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630408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53037"/>
            <a:ext cx="10515600" cy="282390"/>
          </a:xfrm>
        </p:spPr>
        <p:txBody>
          <a:bodyPr>
            <a:normAutofit fontScale="90000"/>
          </a:bodyPr>
          <a:lstStyle/>
          <a:p>
            <a:r>
              <a:rPr lang="en-GB" dirty="0"/>
              <a:t>UNIT 2:	</a:t>
            </a:r>
            <a:r>
              <a:rPr lang="en-GB" dirty="0" smtClean="0"/>
              <a:t>Static Stability of Prime Mover - Load</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28</a:t>
            </a:fld>
            <a:endParaRPr lang="en-GB"/>
          </a:p>
        </p:txBody>
      </p:sp>
      <p:sp>
        <p:nvSpPr>
          <p:cNvPr id="8" name="TextBox 7"/>
          <p:cNvSpPr txBox="1"/>
          <p:nvPr/>
        </p:nvSpPr>
        <p:spPr>
          <a:xfrm>
            <a:off x="838200" y="4404156"/>
            <a:ext cx="4984376" cy="1938992"/>
          </a:xfrm>
          <a:prstGeom prst="rect">
            <a:avLst/>
          </a:prstGeom>
          <a:noFill/>
        </p:spPr>
        <p:txBody>
          <a:bodyPr wrap="square" rtlCol="0">
            <a:spAutoFit/>
          </a:bodyPr>
          <a:lstStyle/>
          <a:p>
            <a:pPr marL="901700" indent="-901700"/>
            <a:r>
              <a:rPr lang="en-US" sz="2000" b="1" i="1" dirty="0" smtClean="0"/>
              <a:t>Curves:</a:t>
            </a:r>
            <a:r>
              <a:rPr lang="en-US" sz="2000" dirty="0" smtClean="0"/>
              <a:t>  Parabolic load (plough) and IC-Engine</a:t>
            </a:r>
          </a:p>
          <a:p>
            <a:pPr marL="285750" indent="-285750">
              <a:buFont typeface="Arial" panose="020B0604020202020204" pitchFamily="34" charset="0"/>
              <a:buChar char="•"/>
            </a:pPr>
            <a:r>
              <a:rPr lang="en-US" sz="2000" dirty="0" smtClean="0"/>
              <a:t>Increase in resistance to plough leads to increase in torque of load. But with</a:t>
            </a:r>
          </a:p>
          <a:p>
            <a:pPr marL="285750" indent="-285750">
              <a:buFont typeface="Arial" panose="020B0604020202020204" pitchFamily="34" charset="0"/>
              <a:buChar char="•"/>
            </a:pPr>
            <a:r>
              <a:rPr lang="en-US" sz="2000" dirty="0" smtClean="0"/>
              <a:t>Lower torque of prime mover leads to decrease in speed of the two units to operating point.</a:t>
            </a:r>
          </a:p>
        </p:txBody>
      </p:sp>
      <p:sp>
        <p:nvSpPr>
          <p:cNvPr id="9" name="TextBox 8"/>
          <p:cNvSpPr txBox="1"/>
          <p:nvPr/>
        </p:nvSpPr>
        <p:spPr>
          <a:xfrm>
            <a:off x="6258989" y="4402139"/>
            <a:ext cx="5346858" cy="1938992"/>
          </a:xfrm>
          <a:prstGeom prst="rect">
            <a:avLst/>
          </a:prstGeom>
          <a:noFill/>
        </p:spPr>
        <p:txBody>
          <a:bodyPr wrap="square" rtlCol="0">
            <a:spAutoFit/>
          </a:bodyPr>
          <a:lstStyle/>
          <a:p>
            <a:pPr marL="901700" indent="-901700"/>
            <a:r>
              <a:rPr lang="en-US" sz="2000" b="1" i="1" dirty="0" smtClean="0"/>
              <a:t>Curves:</a:t>
            </a:r>
            <a:r>
              <a:rPr lang="en-US" sz="2000" dirty="0" smtClean="0"/>
              <a:t>  Hyperbolic </a:t>
            </a:r>
            <a:r>
              <a:rPr lang="en-US" sz="2000" dirty="0"/>
              <a:t>load </a:t>
            </a:r>
            <a:r>
              <a:rPr lang="en-US" sz="2000" dirty="0" smtClean="0"/>
              <a:t> </a:t>
            </a:r>
            <a:r>
              <a:rPr lang="en-US" sz="2000" dirty="0"/>
              <a:t>and </a:t>
            </a:r>
            <a:r>
              <a:rPr lang="en-US" sz="2000" dirty="0" smtClean="0"/>
              <a:t>AC-series </a:t>
            </a:r>
            <a:r>
              <a:rPr lang="en-US" sz="2000" dirty="0"/>
              <a:t>E-motor</a:t>
            </a:r>
          </a:p>
          <a:p>
            <a:pPr marL="285750" indent="-285750">
              <a:buFont typeface="Arial" panose="020B0604020202020204" pitchFamily="34" charset="0"/>
              <a:buChar char="•"/>
            </a:pPr>
            <a:r>
              <a:rPr lang="en-US" sz="2000" dirty="0" smtClean="0"/>
              <a:t>Decrease </a:t>
            </a:r>
            <a:r>
              <a:rPr lang="en-US" sz="2000" dirty="0"/>
              <a:t>in </a:t>
            </a:r>
            <a:r>
              <a:rPr lang="en-US" sz="2000" dirty="0" smtClean="0"/>
              <a:t>torque of load is accompanied with increase </a:t>
            </a:r>
            <a:r>
              <a:rPr lang="en-US" sz="2000" dirty="0"/>
              <a:t>in </a:t>
            </a:r>
            <a:r>
              <a:rPr lang="en-US" sz="2000" dirty="0" smtClean="0"/>
              <a:t>speed. But with</a:t>
            </a:r>
            <a:endParaRPr lang="en-US" sz="2000" dirty="0"/>
          </a:p>
          <a:p>
            <a:pPr marL="285750" indent="-285750">
              <a:buFont typeface="Arial" panose="020B0604020202020204" pitchFamily="34" charset="0"/>
              <a:buChar char="•"/>
            </a:pPr>
            <a:r>
              <a:rPr lang="en-US" sz="2000" dirty="0" smtClean="0"/>
              <a:t>Higher </a:t>
            </a:r>
            <a:r>
              <a:rPr lang="en-US" sz="2000" dirty="0"/>
              <a:t>torque of prime mover leads to </a:t>
            </a:r>
            <a:r>
              <a:rPr lang="en-US" sz="2000" dirty="0" smtClean="0"/>
              <a:t>further increase </a:t>
            </a:r>
            <a:r>
              <a:rPr lang="en-US" sz="2000" dirty="0"/>
              <a:t>in speed of the two </a:t>
            </a:r>
            <a:r>
              <a:rPr lang="en-US" sz="2000" dirty="0" smtClean="0"/>
              <a:t>units and therefore move further from </a:t>
            </a:r>
            <a:r>
              <a:rPr lang="en-US" sz="2000" dirty="0"/>
              <a:t>operating point</a:t>
            </a:r>
            <a:r>
              <a:rPr lang="en-US" sz="2000" dirty="0" smtClean="0"/>
              <a:t>.</a:t>
            </a:r>
            <a:endParaRPr lang="en-US" sz="2000" dirty="0"/>
          </a:p>
        </p:txBody>
      </p:sp>
      <p:pic>
        <p:nvPicPr>
          <p:cNvPr id="7" name="Picture 6"/>
          <p:cNvPicPr>
            <a:picLocks noChangeAspect="1"/>
          </p:cNvPicPr>
          <p:nvPr/>
        </p:nvPicPr>
        <p:blipFill>
          <a:blip r:embed="rId2"/>
          <a:stretch>
            <a:fillRect/>
          </a:stretch>
        </p:blipFill>
        <p:spPr>
          <a:xfrm>
            <a:off x="838200" y="1211264"/>
            <a:ext cx="3800475" cy="3190875"/>
          </a:xfrm>
          <a:prstGeom prst="rect">
            <a:avLst/>
          </a:prstGeom>
        </p:spPr>
      </p:pic>
      <p:pic>
        <p:nvPicPr>
          <p:cNvPr id="10" name="Picture 9"/>
          <p:cNvPicPr>
            <a:picLocks noChangeAspect="1"/>
          </p:cNvPicPr>
          <p:nvPr/>
        </p:nvPicPr>
        <p:blipFill>
          <a:blip r:embed="rId3"/>
          <a:stretch>
            <a:fillRect/>
          </a:stretch>
        </p:blipFill>
        <p:spPr>
          <a:xfrm>
            <a:off x="7206195" y="1180495"/>
            <a:ext cx="3305175" cy="3076575"/>
          </a:xfrm>
          <a:prstGeom prst="rect">
            <a:avLst/>
          </a:prstGeom>
        </p:spPr>
      </p:pic>
    </p:spTree>
    <p:extLst>
      <p:ext uri="{BB962C8B-B14F-4D97-AF65-F5344CB8AC3E}">
        <p14:creationId xmlns:p14="http://schemas.microsoft.com/office/powerpoint/2010/main" val="4379656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UNIT 2:	Asynchronous Motor Application</a:t>
            </a:r>
            <a:endParaRPr lang="en-GB" dirty="0"/>
          </a:p>
        </p:txBody>
      </p:sp>
      <p:sp>
        <p:nvSpPr>
          <p:cNvPr id="3" name="Content Placeholder 2"/>
          <p:cNvSpPr>
            <a:spLocks noGrp="1"/>
          </p:cNvSpPr>
          <p:nvPr>
            <p:ph idx="1"/>
          </p:nvPr>
        </p:nvSpPr>
        <p:spPr/>
        <p:txBody>
          <a:bodyPr>
            <a:normAutofit fontScale="85000" lnSpcReduction="20000"/>
          </a:bodyPr>
          <a:lstStyle/>
          <a:p>
            <a:pPr lvl="0">
              <a:buNone/>
            </a:pPr>
            <a:endParaRPr lang="en-GB" dirty="0" smtClean="0"/>
          </a:p>
          <a:p>
            <a:pPr lvl="0"/>
            <a:r>
              <a:rPr lang="en-GB" dirty="0" smtClean="0"/>
              <a:t>Petroleum and chemical pumps </a:t>
            </a:r>
          </a:p>
          <a:p>
            <a:pPr lvl="0"/>
            <a:r>
              <a:rPr lang="en-GB" dirty="0" smtClean="0"/>
              <a:t>Cooling towers </a:t>
            </a:r>
          </a:p>
          <a:p>
            <a:pPr lvl="0"/>
            <a:r>
              <a:rPr lang="en-GB" dirty="0" smtClean="0"/>
              <a:t>Air-handling equipment </a:t>
            </a:r>
          </a:p>
          <a:p>
            <a:pPr lvl="0"/>
            <a:r>
              <a:rPr lang="en-GB" dirty="0" smtClean="0"/>
              <a:t>Compressors </a:t>
            </a:r>
          </a:p>
          <a:p>
            <a:pPr lvl="0"/>
            <a:r>
              <a:rPr lang="en-GB" dirty="0" smtClean="0"/>
              <a:t>Process machinery </a:t>
            </a:r>
          </a:p>
          <a:p>
            <a:pPr lvl="0"/>
            <a:r>
              <a:rPr lang="en-GB" dirty="0" smtClean="0"/>
              <a:t>Blowers and fans Drilling machines </a:t>
            </a:r>
          </a:p>
          <a:p>
            <a:pPr lvl="0"/>
            <a:r>
              <a:rPr lang="en-GB" dirty="0" smtClean="0"/>
              <a:t>Grinders </a:t>
            </a:r>
          </a:p>
          <a:p>
            <a:pPr lvl="0"/>
            <a:r>
              <a:rPr lang="en-GB" dirty="0" smtClean="0"/>
              <a:t>Lathes </a:t>
            </a:r>
          </a:p>
          <a:p>
            <a:pPr lvl="0"/>
            <a:r>
              <a:rPr lang="en-GB" dirty="0" smtClean="0"/>
              <a:t>Conveyors </a:t>
            </a:r>
          </a:p>
          <a:p>
            <a:r>
              <a:rPr lang="en-GB" dirty="0" smtClean="0"/>
              <a:t>Crushers, etc</a:t>
            </a:r>
            <a:endParaRPr lang="en-GB" dirty="0"/>
          </a:p>
        </p:txBody>
      </p:sp>
      <p:sp>
        <p:nvSpPr>
          <p:cNvPr id="4" name="Slide Number Placeholder 3"/>
          <p:cNvSpPr>
            <a:spLocks noGrp="1"/>
          </p:cNvSpPr>
          <p:nvPr>
            <p:ph type="sldNum" sz="quarter" idx="12"/>
          </p:nvPr>
        </p:nvSpPr>
        <p:spPr/>
        <p:txBody>
          <a:bodyPr/>
          <a:lstStyle/>
          <a:p>
            <a:fld id="{7E50C373-F1D0-494F-8D6D-366C958B3429}" type="slidenum">
              <a:rPr lang="en-GB" smtClean="0"/>
              <a:pPr/>
              <a:t>29</a:t>
            </a:fld>
            <a:endParaRPr lang="en-GB"/>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62753"/>
            <a:ext cx="9144000" cy="1247210"/>
          </a:xfrm>
        </p:spPr>
        <p:txBody>
          <a:bodyPr/>
          <a:lstStyle/>
          <a:p>
            <a:r>
              <a:rPr lang="en-GB" dirty="0" smtClean="0"/>
              <a:t>Thank You</a:t>
            </a:r>
            <a:endParaRPr lang="en-GB" dirty="0"/>
          </a:p>
        </p:txBody>
      </p:sp>
      <p:sp>
        <p:nvSpPr>
          <p:cNvPr id="4" name="Date Placeholder 3"/>
          <p:cNvSpPr>
            <a:spLocks noGrp="1"/>
          </p:cNvSpPr>
          <p:nvPr>
            <p:ph type="dt" sz="half" idx="10"/>
          </p:nvPr>
        </p:nvSpPr>
        <p:spPr>
          <a:xfrm>
            <a:off x="1161757" y="6464739"/>
            <a:ext cx="1243819" cy="365125"/>
          </a:xfrm>
        </p:spPr>
        <p:txBody>
          <a:bodyPr/>
          <a:lstStyle/>
          <a:p>
            <a:r>
              <a:rPr lang="en-GB" sz="1400" b="1" dirty="0" smtClean="0">
                <a:solidFill>
                  <a:schemeClr val="bg1"/>
                </a:solidFill>
                <a:latin typeface="Century Gothic" panose="020B0502020202020204" pitchFamily="34" charset="0"/>
              </a:rPr>
              <a:t>Jan 2014</a:t>
            </a:r>
            <a:endParaRPr lang="en-GB" sz="1400" b="1" dirty="0">
              <a:solidFill>
                <a:schemeClr val="bg1"/>
              </a:solidFill>
              <a:latin typeface="Century Gothic" panose="020B0502020202020204" pitchFamily="34" charset="0"/>
            </a:endParaRPr>
          </a:p>
        </p:txBody>
      </p:sp>
      <p:sp>
        <p:nvSpPr>
          <p:cNvPr id="5" name="Subtitle 4"/>
          <p:cNvSpPr>
            <a:spLocks noGrp="1"/>
          </p:cNvSpPr>
          <p:nvPr>
            <p:ph type="subTitle" idx="1"/>
          </p:nvPr>
        </p:nvSpPr>
        <p:spPr/>
        <p:txBody>
          <a:bodyPr>
            <a:normAutofit lnSpcReduction="10000"/>
          </a:bodyPr>
          <a:lstStyle/>
          <a:p>
            <a:r>
              <a:rPr lang="en-GB" dirty="0" smtClean="0"/>
              <a:t>For any concerns, please contact</a:t>
            </a:r>
          </a:p>
          <a:p>
            <a:r>
              <a:rPr lang="en-GB" b="1" dirty="0" smtClean="0"/>
              <a:t>elearning@knust.edu.gh</a:t>
            </a:r>
          </a:p>
          <a:p>
            <a:r>
              <a:rPr lang="en-GB" b="1" dirty="0" smtClean="0"/>
              <a:t>elearningknust@gmail.com </a:t>
            </a:r>
          </a:p>
          <a:p>
            <a:r>
              <a:rPr lang="en-GB" b="1" dirty="0" smtClean="0"/>
              <a:t>0322 191132</a:t>
            </a:r>
          </a:p>
          <a:p>
            <a:endParaRPr lang="en-GB" dirty="0"/>
          </a:p>
        </p:txBody>
      </p:sp>
    </p:spTree>
    <p:extLst>
      <p:ext uri="{BB962C8B-B14F-4D97-AF65-F5344CB8AC3E}">
        <p14:creationId xmlns:p14="http://schemas.microsoft.com/office/powerpoint/2010/main" val="1624691109"/>
      </p:ext>
    </p:extLst>
  </p:cSld>
  <p:clrMapOvr>
    <a:masterClrMapping/>
  </p:clrMapOvr>
  <p:timing>
    <p:tnLst>
      <p:par>
        <p:cTn id="1" dur="indefinite" restart="never" nodeType="tmRoot"/>
      </p:par>
    </p:tnLst>
  </p:timing>
</p:sld>
</file>

<file path=ppt/theme/theme1.xml><?xml version="1.0" encoding="utf-8"?>
<a:theme xmlns:a="http://schemas.openxmlformats.org/drawingml/2006/main" name="IDL ppt temp">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62A9560-2E7B-41A3-9F82-82295C59A7BE}" vid="{DD833A61-242F-4440-8F8C-EA11C2DDA7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IDL ppt temp</Template>
  <TotalTime>1823</TotalTime>
  <Words>1171</Words>
  <Application>Microsoft Office PowerPoint</Application>
  <PresentationFormat>Widescreen</PresentationFormat>
  <Paragraphs>228</Paragraphs>
  <Slides>31</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31</vt:i4>
      </vt:variant>
    </vt:vector>
  </HeadingPairs>
  <TitlesOfParts>
    <vt:vector size="41" baseType="lpstr">
      <vt:lpstr>Arial</vt:lpstr>
      <vt:lpstr>Calibri</vt:lpstr>
      <vt:lpstr>Cambria Math</vt:lpstr>
      <vt:lpstr>Century Gothic</vt:lpstr>
      <vt:lpstr>Futura Md BT</vt:lpstr>
      <vt:lpstr>Times New Roman</vt:lpstr>
      <vt:lpstr>Wingdings</vt:lpstr>
      <vt:lpstr>IDL ppt temp</vt:lpstr>
      <vt:lpstr>AutoCAD Drawing</vt:lpstr>
      <vt:lpstr>Drawing</vt:lpstr>
      <vt:lpstr>AE 482</vt:lpstr>
      <vt:lpstr>Introduction</vt:lpstr>
      <vt:lpstr>UNIT 2: Learning Objectives</vt:lpstr>
      <vt:lpstr>UNIT 2: Prime mover</vt:lpstr>
      <vt:lpstr>UNIT 2: Combustion Engine</vt:lpstr>
      <vt:lpstr>UNIT 2: Type of IC-engines and E-motors</vt:lpstr>
      <vt:lpstr>UNIT 2: Classification of Internal Combustion Engine</vt:lpstr>
      <vt:lpstr>UNIT 2: Fuel Used (thermodynamic Cycle Operation)</vt:lpstr>
      <vt:lpstr>UNIT 2: Fuel Used (thermodynamic Cycle Operation)</vt:lpstr>
      <vt:lpstr>UNIT 2: Fuel Used (thermodynamic Cycle Operation)</vt:lpstr>
      <vt:lpstr>UNIT 2: Fuel Used (thermodynamic Cycle Operation)</vt:lpstr>
      <vt:lpstr>UNIT 2: Fuel Used (thermodynamic Cycle Operation)</vt:lpstr>
      <vt:lpstr>UNIT 2: Mode of Operation (Number of Strokes)</vt:lpstr>
      <vt:lpstr>UNIT 2: Mode of Operation (Number of Strokes)</vt:lpstr>
      <vt:lpstr>UNIT 2: Control of Engine Speed</vt:lpstr>
      <vt:lpstr>UNIT 2: Flyweight Governor</vt:lpstr>
      <vt:lpstr>UNIT 2: Control of power and torque by flyweight Governor</vt:lpstr>
      <vt:lpstr>UNIT 2:  Electrical Motor</vt:lpstr>
      <vt:lpstr>UNIT 2: Name-Plate of E-Motor</vt:lpstr>
      <vt:lpstr>UNIT 2: Electric Motor</vt:lpstr>
      <vt:lpstr>UNIT 2: Electric Motor</vt:lpstr>
      <vt:lpstr>UNIT 2: Characteristic Curve of Technical System</vt:lpstr>
      <vt:lpstr>UNIT 2: Characteristic Curve of IC-Engine</vt:lpstr>
      <vt:lpstr>Characteristic Curve of IC-Engine</vt:lpstr>
      <vt:lpstr>UNIT 2: Characteristic Curve of E-motors</vt:lpstr>
      <vt:lpstr>UNIT 2: Characteristic Curve of Loads</vt:lpstr>
      <vt:lpstr>UNIT 2: Characteristic Curve of Ploughs in Various Soils</vt:lpstr>
      <vt:lpstr>UNIT 2: Prime Mover – Load Matching</vt:lpstr>
      <vt:lpstr>UNIT 2: Static Stability of Prime Mover - Load</vt:lpstr>
      <vt:lpstr>UNIT 2: Asynchronous Motor Application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ISD 458</dc:title>
  <dc:creator>A K O</dc:creator>
  <cp:lastModifiedBy>Joseph Aveyire</cp:lastModifiedBy>
  <cp:revision>133</cp:revision>
  <dcterms:created xsi:type="dcterms:W3CDTF">2014-04-14T16:55:09Z</dcterms:created>
  <dcterms:modified xsi:type="dcterms:W3CDTF">2016-10-03T12:19:13Z</dcterms:modified>
</cp:coreProperties>
</file>